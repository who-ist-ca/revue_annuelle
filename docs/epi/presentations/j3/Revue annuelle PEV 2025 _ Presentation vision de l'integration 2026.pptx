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7103725" cy="102342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34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hAvWnqsD0DajO1peSA/Fes+T5f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icrosoft Yahei"/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7c50a7b14_0_67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a7c50a7b14_0_67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7c67f39f2_0_8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a7c67f39f2_0_8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7c67f39f2_0_16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a7c67f39f2_0_16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7c67f39f2_0_24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a7c67f39f2_0_24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7c67f39f2_0_31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a7c67f39f2_0_31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7c67f39f2_0_38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a7c67f39f2_0_38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7c535f4b0_0_342:notes"/>
          <p:cNvSpPr/>
          <p:nvPr>
            <p:ph idx="2" type="sldImg"/>
          </p:nvPr>
        </p:nvSpPr>
        <p:spPr>
          <a:xfrm>
            <a:off x="396296" y="767571"/>
            <a:ext cx="6314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01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a7c535f4b0_0_342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831850" y="3750945"/>
            <a:ext cx="9843135" cy="8115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831850" y="4610028"/>
            <a:ext cx="7321550" cy="647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" type="body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2" type="body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1"/>
          <p:cNvSpPr txBox="1"/>
          <p:nvPr>
            <p:ph idx="2" type="body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3" type="body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1"/>
          <p:cNvSpPr txBox="1"/>
          <p:nvPr>
            <p:ph idx="4" type="body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/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/>
          <p:nvPr>
            <p:ph idx="2" type="pic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34"/>
          <p:cNvSpPr txBox="1"/>
          <p:nvPr>
            <p:ph idx="1" type="body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 rot="5400000">
            <a:off x="7683223" y="2506386"/>
            <a:ext cx="5811838" cy="1529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" type="body"/>
          </p:nvPr>
        </p:nvSpPr>
        <p:spPr>
          <a:xfrm rot="5400000">
            <a:off x="2372260" y="-1168935"/>
            <a:ext cx="5811838" cy="8879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36"/>
          <p:cNvSpPr txBox="1"/>
          <p:nvPr>
            <p:ph idx="1" type="body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7c50a7b14_0_32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2" name="Google Shape;82;g3a7c50a7b14_0_32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83" name="Google Shape;83;g3a7c50a7b14_0_32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7c50a7b14_0_317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86" name="Google Shape;86;g3a7c50a7b14_0_317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87" name="Google Shape;87;g3a7c50a7b14_0_31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7c50a7b14_0_325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0" name="Google Shape;90;g3a7c50a7b14_0_32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7c50a7b14_0_32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3" name="Google Shape;93;g3a7c50a7b14_0_328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4" name="Google Shape;94;g3a7c50a7b14_0_328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5" name="Google Shape;95;g3a7c50a7b14_0_32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7c50a7b14_0_33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8" name="Google Shape;98;g3a7c50a7b14_0_33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7c50a7b14_0_336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01" name="Google Shape;101;g3a7c50a7b14_0_336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2" name="Google Shape;102;g3a7c50a7b14_0_33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7c50a7b14_0_340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05" name="Google Shape;105;g3a7c50a7b14_0_34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7c50a7b14_0_34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a7c50a7b14_0_343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09" name="Google Shape;109;g3a7c50a7b14_0_343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0" name="Google Shape;110;g3a7c50a7b14_0_343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11" name="Google Shape;111;g3a7c50a7b14_0_34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7c50a7b14_0_349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4" name="Google Shape;114;g3a7c50a7b14_0_34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7c50a7b14_0_352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17" name="Google Shape;117;g3a7c50a7b14_0_352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18" name="Google Shape;118;g3a7c50a7b14_0_35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7c50a7b14_0_35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7c50a7b14_0_358"/>
          <p:cNvSpPr txBox="1"/>
          <p:nvPr>
            <p:ph idx="1" type="body"/>
          </p:nvPr>
        </p:nvSpPr>
        <p:spPr>
          <a:xfrm>
            <a:off x="609600" y="457200"/>
            <a:ext cx="4876800" cy="57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23" name="Google Shape;123;g3a7c50a7b14_0_358"/>
          <p:cNvSpPr txBox="1"/>
          <p:nvPr>
            <p:ph type="title"/>
          </p:nvPr>
        </p:nvSpPr>
        <p:spPr>
          <a:xfrm>
            <a:off x="6502400" y="457200"/>
            <a:ext cx="3759300" cy="57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4" name="Google Shape;124;g3a7c50a7b14_0_358"/>
          <p:cNvSpPr txBox="1"/>
          <p:nvPr>
            <p:ph idx="10" type="dt"/>
          </p:nvPr>
        </p:nvSpPr>
        <p:spPr>
          <a:xfrm>
            <a:off x="6502401" y="6426201"/>
            <a:ext cx="375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g3a7c50a7b14_0_358"/>
          <p:cNvSpPr txBox="1"/>
          <p:nvPr>
            <p:ph idx="12" type="sldNum"/>
          </p:nvPr>
        </p:nvSpPr>
        <p:spPr>
          <a:xfrm>
            <a:off x="10363200" y="6400800"/>
            <a:ext cx="7113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g3a7c50a7b14_0_358"/>
          <p:cNvSpPr txBox="1"/>
          <p:nvPr>
            <p:ph idx="11" type="ftr"/>
          </p:nvPr>
        </p:nvSpPr>
        <p:spPr>
          <a:xfrm>
            <a:off x="6500284" y="6296248"/>
            <a:ext cx="3761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">
  <p:cSld name="CUSTOM_1_1_1_3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7c50a7b14_0_364"/>
          <p:cNvSpPr txBox="1"/>
          <p:nvPr/>
        </p:nvSpPr>
        <p:spPr>
          <a:xfrm>
            <a:off x="0" y="0"/>
            <a:ext cx="3495900" cy="68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a7c50a7b14_0_364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g3a7c50a7b14_0_364"/>
          <p:cNvSpPr txBox="1"/>
          <p:nvPr>
            <p:ph type="title"/>
          </p:nvPr>
        </p:nvSpPr>
        <p:spPr>
          <a:xfrm>
            <a:off x="325667" y="2918467"/>
            <a:ext cx="28449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7c50a7b14_0_31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g3a7c50a7b14_0_31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g3a7c50a7b14_0_31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sp>
        <p:nvSpPr>
          <p:cNvPr id="136" name="Google Shape;136;p1"/>
          <p:cNvSpPr txBox="1"/>
          <p:nvPr/>
        </p:nvSpPr>
        <p:spPr>
          <a:xfrm>
            <a:off x="295033" y="5920417"/>
            <a:ext cx="3302000" cy="348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26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October 2024</a:t>
            </a:r>
            <a:endParaRPr b="0" i="0" sz="226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"/>
          <p:cNvPicPr preferRelativeResize="0"/>
          <p:nvPr/>
        </p:nvPicPr>
        <p:blipFill rotWithShape="1">
          <a:blip r:embed="rId3">
            <a:alphaModFix/>
          </a:blip>
          <a:srcRect b="0" l="-17785" r="0" t="0"/>
          <a:stretch/>
        </p:blipFill>
        <p:spPr>
          <a:xfrm>
            <a:off x="-683503" y="1646443"/>
            <a:ext cx="4526453" cy="370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"/>
          <p:cNvSpPr txBox="1"/>
          <p:nvPr/>
        </p:nvSpPr>
        <p:spPr>
          <a:xfrm>
            <a:off x="4719950" y="1537978"/>
            <a:ext cx="7215600" cy="18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4000" u="none" cap="none" strike="noStrike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2025 DU PEV</a:t>
            </a:r>
            <a:endParaRPr b="1" i="0" sz="4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"/>
          <p:cNvSpPr/>
          <p:nvPr/>
        </p:nvSpPr>
        <p:spPr>
          <a:xfrm>
            <a:off x="3660828" y="1516400"/>
            <a:ext cx="373600" cy="1867200"/>
          </a:xfrm>
          <a:prstGeom prst="rect">
            <a:avLst/>
          </a:prstGeom>
          <a:solidFill>
            <a:srgbClr val="145A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4719955" y="3383915"/>
            <a:ext cx="7215505" cy="1064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-US" sz="36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Intégration</a:t>
            </a:r>
            <a:r>
              <a:rPr b="1" i="1" lang="en-US" sz="36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 activités pour 2026: perspective</a:t>
            </a:r>
            <a:endParaRPr b="0" i="1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4719950" y="4765050"/>
            <a:ext cx="29946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2800" u="none" cap="none" strike="noStrike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Decembre 2025</a:t>
            </a:r>
            <a:r>
              <a:rPr b="1" i="0" lang="en-US" sz="3200" u="none" cap="none" strike="noStrike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2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2000" u="none" cap="none" strike="noStrike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6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2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7c50a7b14_0_67"/>
          <p:cNvSpPr txBox="1"/>
          <p:nvPr/>
        </p:nvSpPr>
        <p:spPr>
          <a:xfrm>
            <a:off x="431600" y="1268575"/>
            <a:ext cx="11328900" cy="5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b="1"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Financement</a:t>
            </a: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réduction</a:t>
            </a: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des financements de GAVI avec le plan de transition, retrait des financements USAID, etc. 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Analyse de la mise en oeuvre du PAO 2025 met en </a:t>
            </a: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évidence</a:t>
            </a: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le </a:t>
            </a:r>
            <a:r>
              <a:rPr b="1"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chevauchement des activités et la duplicité des efforts </a:t>
            </a: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et la </a:t>
            </a:r>
            <a:r>
              <a:rPr b="1"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répétitivité</a:t>
            </a:r>
            <a:r>
              <a:rPr b="1"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des campagnes similaires</a:t>
            </a:r>
            <a:endParaRPr b="1"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b="1"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Répétitivité</a:t>
            </a: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campagnes similaires d’année en année sans amélioration mesurable.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Mettre à place un cadre </a:t>
            </a:r>
            <a:r>
              <a:rPr b="1"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coordonné</a:t>
            </a:r>
            <a:r>
              <a:rPr b="1"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pour optimiser la mise en oeuvre et l’impact</a:t>
            </a:r>
            <a:endParaRPr b="1"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Intégrer toutes les activités vaccination dans un cadre unique avec une planification intégrée.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Optimiser l’utilisation des ressources (personnel, matériel, logistique, données).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Éliminer les chevauchements et les lacunes entre VPO, R-R, OCV et Fièvre jaune.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Améliorer les couvertures vaccinales et le suivi des enfants et adultes éligibles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100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Renforcer la durabilité des campagnes et la traçabilité des vaccins</a:t>
            </a:r>
            <a:endParaRPr sz="24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g3a7c50a7b14_0_67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Contexte | Le PAO 2026 sera mise en oeuvre dans un contexte marquée par la baisse des ressources</a:t>
            </a:r>
            <a:endParaRPr sz="25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g3a7c50a7b14_0_6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g3a7c50a7b14_0_6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7c67f39f2_0_8"/>
          <p:cNvSpPr txBox="1"/>
          <p:nvPr/>
        </p:nvSpPr>
        <p:spPr>
          <a:xfrm>
            <a:off x="431600" y="981900"/>
            <a:ext cx="5147400" cy="53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750" lIns="128750" spcFirstLastPara="1" rIns="128750" wrap="square" tIns="128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Prealables</a:t>
            </a:r>
            <a:endParaRPr b="1"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0" marL="482856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Planification intégrée déclinée à en un chronogramme clair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0" marL="482856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Développement des outils de gestion intégrés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0" marL="482856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Mécanisme de coordination unique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73"/>
              </a:spcBef>
              <a:spcAft>
                <a:spcPts val="1056"/>
              </a:spcAft>
              <a:buNone/>
            </a:pPr>
            <a:r>
              <a:t/>
            </a:r>
            <a:endParaRPr b="1"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g3a7c67f39f2_0_8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Préalables et mécanismes de coordination</a:t>
            </a:r>
            <a:endParaRPr sz="25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g3a7c67f39f2_0_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g3a7c67f39f2_0_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a7c67f39f2_0_8"/>
          <p:cNvSpPr txBox="1"/>
          <p:nvPr/>
        </p:nvSpPr>
        <p:spPr>
          <a:xfrm>
            <a:off x="6586092" y="981900"/>
            <a:ext cx="5147400" cy="53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750" lIns="128750" spcFirstLastPara="1" rIns="128750" wrap="square" tIns="128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Mécanisme de coordination proposé pour l'intégration des activités du PAO 2026</a:t>
            </a:r>
            <a:endParaRPr b="1"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0" marL="482856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Cadre de coordination: 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la direction PEV incluant les représentants des partenaires financiers, autorités locales, ONG et leaders communautaires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0" marL="482856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Suivi de la mise en oeuvre: 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Suivi systématique dans la réunion  PEV et partenaires de chaque mardi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73"/>
              </a:spcBef>
              <a:spcAft>
                <a:spcPts val="1056"/>
              </a:spcAft>
              <a:buNone/>
            </a:pPr>
            <a:r>
              <a:t/>
            </a:r>
            <a:endParaRPr b="1"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7c67f39f2_0_16"/>
          <p:cNvSpPr txBox="1"/>
          <p:nvPr/>
        </p:nvSpPr>
        <p:spPr>
          <a:xfrm>
            <a:off x="431600" y="981900"/>
            <a:ext cx="11274900" cy="53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750" lIns="128750" spcFirstLastPara="1" rIns="128750" wrap="square" tIns="128750">
            <a:noAutofit/>
          </a:bodyPr>
          <a:lstStyle/>
          <a:p>
            <a:pPr indent="-368428" lvl="0" marL="482856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Chronogramme unique et modulable: 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1" marL="965711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Regrouper les activités des vaccins dans une fenêtre commune lorsque possible ( sites fixes, avancés, mobiles, écoles, lieux communautaires)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1" marL="965711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Identifier les saisons et événements propices pour chaque vaccin (VPO, R-R, OCV, Fièvre jaune).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0" marL="482856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Priorisation des cibles et vaccins: 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1" marL="965711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Groupes à risque (enfants, filles, femmes enceintes selon vaccin, 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1" marL="965711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Prioriser les vaccins selon la fenêtre vaccinale et l’épidémiologie locale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0" marL="482856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Définition des activités intégrées: 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1" marL="965711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Vaccination ciblée, enregistrement, éducation sanitaire, rappel et suivi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73"/>
              </a:spcBef>
              <a:spcAft>
                <a:spcPts val="1056"/>
              </a:spcAft>
              <a:buNone/>
            </a:pPr>
            <a:r>
              <a:t/>
            </a:r>
            <a:endParaRPr b="1"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g3a7c67f39f2_0_16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Orientation pour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l'intégration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Planification</a:t>
            </a:r>
            <a:endParaRPr sz="25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g3a7c67f39f2_0_1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g3a7c67f39f2_0_1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7c67f39f2_0_24"/>
          <p:cNvSpPr txBox="1"/>
          <p:nvPr/>
        </p:nvSpPr>
        <p:spPr>
          <a:xfrm>
            <a:off x="431600" y="981900"/>
            <a:ext cx="11274900" cy="53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750" lIns="128750" spcFirstLastPara="1" rIns="128750" wrap="square" tIns="128750">
            <a:noAutofit/>
          </a:bodyPr>
          <a:lstStyle/>
          <a:p>
            <a:pPr indent="-368428" lvl="0" marL="482856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Cartographie des ressources: 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1" marL="965711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Budgets, personnel vaccinal et logisticien, matériel (réfrigération, supplies, consommables), véhicules et chaînes du froid.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0" marL="482856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Optimisation des coûts et des ressources : Partage d’équipements (réfrigération, EPI, transports), standardisation des procédures, mutualisation des équipes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0" marL="482856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Chaîne du froid, approvisionnement et gestion de stock : 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1" marL="965711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Traçabilité pour chaque vaccin (VPO, R-R, OCV, Fièvre jaune)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1" marL="965711" marR="0" rtl="0" algn="l">
              <a:lnSpc>
                <a:spcPct val="100000"/>
              </a:lnSpc>
              <a:spcBef>
                <a:spcPts val="1373"/>
              </a:spcBef>
              <a:spcAft>
                <a:spcPts val="1000"/>
              </a:spcAft>
              <a:buClr>
                <a:srgbClr val="222222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Gestion des stocks avec suivi en temps réel si possible.</a:t>
            </a:r>
            <a:endParaRPr b="1"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g3a7c67f39f2_0_24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Orientation pour l'intégration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Logistique et gestion des ressources</a:t>
            </a:r>
            <a:endParaRPr sz="25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g3a7c67f39f2_0_2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g3a7c67f39f2_0_2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7c67f39f2_0_31"/>
          <p:cNvSpPr txBox="1"/>
          <p:nvPr/>
        </p:nvSpPr>
        <p:spPr>
          <a:xfrm>
            <a:off x="431600" y="981900"/>
            <a:ext cx="11274900" cy="53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750" lIns="128750" spcFirstLastPara="1" rIns="128750" wrap="square" tIns="128750">
            <a:noAutofit/>
          </a:bodyPr>
          <a:lstStyle/>
          <a:p>
            <a:pPr indent="-368428" lvl="0" marL="482856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Processus intégrés: outils unique, gestion des doses, traçabilité individuelle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0" marL="482856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Formation et supervision: formation croisée sur les protocoles des antigènes; supervision qualité et sécurité.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0" marL="482856" marR="0" rtl="0" algn="l">
              <a:lnSpc>
                <a:spcPct val="100000"/>
              </a:lnSpc>
              <a:spcBef>
                <a:spcPts val="1373"/>
              </a:spcBef>
              <a:spcAft>
                <a:spcPts val="100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Message unifié sur les avantages de l’intégration, sécurité des vaccins, accessibilité, importance du respect des calendriers.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g3a7c67f39f2_0_31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Orientation pour l'intégration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Opérationnalisation</a:t>
            </a:r>
            <a:endParaRPr sz="25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g3a7c67f39f2_0_31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g3a7c67f39f2_0_31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7c67f39f2_0_38"/>
          <p:cNvSpPr txBox="1"/>
          <p:nvPr/>
        </p:nvSpPr>
        <p:spPr>
          <a:xfrm>
            <a:off x="431600" y="981900"/>
            <a:ext cx="11274900" cy="53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750" lIns="128750" spcFirstLastPara="1" rIns="128750" wrap="square" tIns="128750">
            <a:noAutofit/>
          </a:bodyPr>
          <a:lstStyle/>
          <a:p>
            <a:pPr indent="-368428" lvl="0" marL="482856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Les campagnes d’introduction RR dans les blocs 2, 3 avec les campagnes polio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0" marL="482856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Les campagnes d’introduction RR les blocs 2, 3 avec les campagnes polio et fievre jaune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0" marL="482856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Les campagnes de vaccination contre la </a:t>
            </a: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choléra</a:t>
            </a: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avec les campagnes polio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428" lvl="0" marL="482856" marR="0" rtl="0" algn="l">
              <a:lnSpc>
                <a:spcPct val="100000"/>
              </a:lnSpc>
              <a:spcBef>
                <a:spcPts val="1373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Les IPVS avec les AVS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73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g3a7c67f39f2_0_38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Proposition des integrations pour 2026</a:t>
            </a:r>
            <a:endParaRPr sz="25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g3a7c67f39f2_0_3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g3a7c67f39f2_0_3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7c535f4b0_0_342"/>
          <p:cNvSpPr txBox="1"/>
          <p:nvPr/>
        </p:nvSpPr>
        <p:spPr>
          <a:xfrm>
            <a:off x="733100" y="1202135"/>
            <a:ext cx="10707600" cy="35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b="1" i="0" lang="en-US" sz="53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Merci</a:t>
            </a:r>
            <a:endParaRPr b="1" i="0" sz="53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g3a7c535f4b0_0_342"/>
          <p:cNvSpPr/>
          <p:nvPr/>
        </p:nvSpPr>
        <p:spPr>
          <a:xfrm>
            <a:off x="1588" y="2654952"/>
            <a:ext cx="45009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g3a7c535f4b0_0_342"/>
          <p:cNvSpPr/>
          <p:nvPr/>
        </p:nvSpPr>
        <p:spPr>
          <a:xfrm>
            <a:off x="7689667" y="2654952"/>
            <a:ext cx="45015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F07D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2025-07-23T00:59:00Z</dcterms:created>
  <dc:creator>lenovo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3084-12.2.0.23131</vt:lpwstr>
  </property>
  <property fmtid="{D5CDD505-2E9C-101B-9397-08002B2CF9AE}" pid="3" name="ICV">
    <vt:lpwstr>864046617A2A49699922BB4C2C890CB9_13</vt:lpwstr>
  </property>
</Properties>
</file>