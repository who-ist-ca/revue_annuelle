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12192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4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hBBWcuQapXej7P9mQmPE3vrCf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D11B17-4FA4-4F16-A5E6-5E3ED1B3551D}">
  <a:tblStyle styleId="{C1D11B17-4FA4-4F16-A5E6-5E3ED1B3551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customschemas.google.com/relationships/presentationmetadata" Target="meta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Yahe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7c50a7b14_0_67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a7c50a7b14_0_67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7c50a7b14_0_39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a7c50a7b14_0_39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7c6975d5b_0_84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a7c6975d5b_0_84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7c535f4b0_0_14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a7c535f4b0_0_14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7c535f4b0_0_30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a7c535f4b0_0_30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7c6975d5b_0_336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a7c6975d5b_0_336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7c6975d5b_0_324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a7c6975d5b_0_324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7c6975d5b_0_347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a7c6975d5b_0_347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7c6975d5b_0_358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a7c6975d5b_0_358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7c6975d5b_0_369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a7c6975d5b_0_369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7c6975d5b_0_380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a7c6975d5b_0_380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7c535f4b0_0_281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a7c535f4b0_0_281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7c535f4b0_0_342:notes"/>
          <p:cNvSpPr/>
          <p:nvPr>
            <p:ph idx="2" type="sldImg"/>
          </p:nvPr>
        </p:nvSpPr>
        <p:spPr>
          <a:xfrm>
            <a:off x="396296" y="767571"/>
            <a:ext cx="63144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1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a7c535f4b0_0_342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7c535f4b0_0_39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a7c535f4b0_0_39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7c66dcdfa_0_13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a7c66dcdfa_0_13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7c66dcdfa_0_14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a7c66dcdfa_0_14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7c66dcdfa_0_15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a7c66dcdfa_0_15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7c66dcdfa_0_16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a7c66dcdfa_0_16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7c66dcdfa_0_173:notes"/>
          <p:cNvSpPr/>
          <p:nvPr>
            <p:ph idx="2" type="sldImg"/>
          </p:nvPr>
        </p:nvSpPr>
        <p:spPr>
          <a:xfrm>
            <a:off x="396296" y="767571"/>
            <a:ext cx="6312900" cy="383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3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a7c66dcdfa_0_173:notes"/>
          <p:cNvSpPr txBox="1"/>
          <p:nvPr>
            <p:ph idx="1" type="body"/>
          </p:nvPr>
        </p:nvSpPr>
        <p:spPr>
          <a:xfrm>
            <a:off x="710372" y="4861281"/>
            <a:ext cx="56829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250" lIns="97250" spcFirstLastPara="1" rIns="97250" wrap="square" tIns="97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4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36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c50a7b14_0_3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2" name="Google Shape;82;g3a7c50a7b14_0_32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3" name="Google Shape;83;g3a7c50a7b14_0_32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7c50a7b14_0_31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6" name="Google Shape;86;g3a7c50a7b14_0_31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7" name="Google Shape;87;g3a7c50a7b14_0_3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7c50a7b14_0_32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g3a7c50a7b14_0_3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7c50a7b14_0_3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g3a7c50a7b14_0_328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4" name="Google Shape;94;g3a7c50a7b14_0_328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5" name="Google Shape;95;g3a7c50a7b14_0_3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7c50a7b14_0_33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8" name="Google Shape;98;g3a7c50a7b14_0_33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c50a7b14_0_336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1" name="Google Shape;101;g3a7c50a7b14_0_336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2" name="Google Shape;102;g3a7c50a7b14_0_33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7c50a7b14_0_340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5" name="Google Shape;105;g3a7c50a7b14_0_34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c50a7b14_0_34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a7c50a7b14_0_343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09" name="Google Shape;109;g3a7c50a7b14_0_343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g3a7c50a7b14_0_343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1" name="Google Shape;111;g3a7c50a7b14_0_34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7c50a7b14_0_349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4" name="Google Shape;114;g3a7c50a7b14_0_34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c50a7b14_0_352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17" name="Google Shape;117;g3a7c50a7b14_0_352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8" name="Google Shape;118;g3a7c50a7b14_0_35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7c50a7b14_0_35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7c50a7b14_0_358"/>
          <p:cNvSpPr txBox="1"/>
          <p:nvPr>
            <p:ph idx="1" type="body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3" name="Google Shape;123;g3a7c50a7b14_0_358"/>
          <p:cNvSpPr txBox="1"/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4" name="Google Shape;124;g3a7c50a7b14_0_358"/>
          <p:cNvSpPr txBox="1"/>
          <p:nvPr>
            <p:ph idx="10" type="dt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g3a7c50a7b14_0_358"/>
          <p:cNvSpPr txBox="1"/>
          <p:nvPr>
            <p:ph idx="12" type="sldNum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g3a7c50a7b14_0_358"/>
          <p:cNvSpPr txBox="1"/>
          <p:nvPr>
            <p:ph idx="11" type="ftr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_3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7c50a7b14_0_364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a7c50a7b14_0_36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g3a7c50a7b14_0_364"/>
          <p:cNvSpPr txBox="1"/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7c6975d5b_0_31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g3a7c6975d5b_0_317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9pPr>
          </a:lstStyle>
          <a:p/>
        </p:txBody>
      </p:sp>
      <p:sp>
        <p:nvSpPr>
          <p:cNvPr id="134" name="Google Shape;134;g3a7c6975d5b_0_317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g3a7c6975d5b_0_317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9pPr>
          </a:lstStyle>
          <a:p/>
        </p:txBody>
      </p:sp>
      <p:sp>
        <p:nvSpPr>
          <p:cNvPr id="136" name="Google Shape;136;g3a7c6975d5b_0_317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g3a7c6975d5b_0_3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7c50a7b14_0_3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a7c50a7b14_0_3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a7c50a7b14_0_31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drive/folders/1LAEcRiS8hSBsdeHBPVi7KKxAjAjUub_O?usp=drive_lin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43" name="Google Shape;143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26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October 2024</a:t>
            </a:r>
            <a:endParaRPr b="0" i="0" sz="226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3">
            <a:alphaModFix/>
          </a:blip>
          <a:srcRect b="0" l="-17785" r="0" t="0"/>
          <a:stretch/>
        </p:blipFill>
        <p:spPr>
          <a:xfrm>
            <a:off x="-683503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"/>
          <p:cNvSpPr txBox="1"/>
          <p:nvPr/>
        </p:nvSpPr>
        <p:spPr>
          <a:xfrm>
            <a:off x="4719950" y="1537978"/>
            <a:ext cx="7215600" cy="18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40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2025 DU PEV</a:t>
            </a:r>
            <a:endParaRPr b="1" i="0" sz="4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65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4719955" y="3383915"/>
            <a:ext cx="7215505" cy="1064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36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Orientations d’ordre générales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4719950" y="4765050"/>
            <a:ext cx="299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28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Decembre 2025</a:t>
            </a:r>
            <a:r>
              <a:rPr b="1" i="0" lang="en-US" sz="32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rgbClr val="145A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rgbClr val="145A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7c50a7b14_0_67"/>
          <p:cNvSpPr txBox="1"/>
          <p:nvPr/>
        </p:nvSpPr>
        <p:spPr>
          <a:xfrm>
            <a:off x="431600" y="1268575"/>
            <a:ext cx="11328900" cy="5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Usage des téléphones</a:t>
            </a:r>
            <a:r>
              <a:rPr b="0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: Tous les téléphones doivent être sous silencieux ou vibreur et les appels se prennent en dehors de la salle</a:t>
            </a:r>
            <a:endParaRPr b="0" i="0" sz="24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Respect strict de l’agenda validé </a:t>
            </a:r>
            <a:r>
              <a:rPr b="0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Les sujets abordés sont strictement limité à l’agenda valide. Les points hors agenda sont consignés dans un « parking » sur les différents murs pour être abordé dans un cadre approprié.</a:t>
            </a:r>
            <a:endParaRPr b="0" i="0" sz="24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Prise de parole </a:t>
            </a:r>
            <a:r>
              <a:rPr b="0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Une personne parle à la fois et la parole est systématiquement demandé au modérateur du jour. Pour permettre à tout le monde de contribuer aux échanges, l</a:t>
            </a:r>
            <a:r>
              <a:rPr b="1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es paroles seront accordées pour deux minutes maximum par intervention. Le modérateur a plein pouvoir d'arrêter un intervenant quand les échanges sont hors sujets et pleines des répétitions</a:t>
            </a:r>
            <a:endParaRPr b="1" i="0" sz="24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300"/>
              </a:spcBef>
              <a:spcAft>
                <a:spcPts val="1000"/>
              </a:spcAft>
              <a:buClr>
                <a:srgbClr val="222222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décisions priment sur les débats prolongés: </a:t>
            </a:r>
            <a:r>
              <a:rPr b="0" i="0" lang="en-US" sz="24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lorsque les éléments sont suffisants, le modérateur synthétise et fait valider la décision ou recommandation</a:t>
            </a:r>
            <a:endParaRPr b="0" i="0" sz="24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3a7c50a7b14_0_67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Quatres règles à plus des autres exigences de bons sens, sont établies pour encadrer les échanges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a7c50a7b14_0_6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a7c50a7b14_0_6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7c50a7b14_0_393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ix</a:t>
            </a: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groupes thématiques sont sous la supervision du core groupe | 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éclatement du groupe 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</a:t>
            </a: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service pour fluidifier les échanges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g3a7c50a7b14_0_39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3a7c50a7b14_0_39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g3a7c50a7b14_0_39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g3a7c50a7b14_0_39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6" name="Google Shape;166;g3a7c50a7b14_0_393"/>
          <p:cNvGrpSpPr/>
          <p:nvPr/>
        </p:nvGrpSpPr>
        <p:grpSpPr>
          <a:xfrm>
            <a:off x="458521" y="1135910"/>
            <a:ext cx="7438052" cy="579918"/>
            <a:chOff x="251716" y="907319"/>
            <a:chExt cx="4265427" cy="446400"/>
          </a:xfrm>
        </p:grpSpPr>
        <p:sp>
          <p:nvSpPr>
            <p:cNvPr id="167" name="Google Shape;167;g3a7c50a7b14_0_393"/>
            <p:cNvSpPr txBox="1"/>
            <p:nvPr/>
          </p:nvSpPr>
          <p:spPr>
            <a:xfrm>
              <a:off x="251716" y="907319"/>
              <a:ext cx="4262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775" lIns="118775" spcFirstLastPara="1" rIns="118775" wrap="square" tIns="1187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Groupes thématiques</a:t>
              </a:r>
              <a:endPara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8" name="Google Shape;168;g3a7c50a7b14_0_393"/>
            <p:cNvCxnSpPr/>
            <p:nvPr/>
          </p:nvCxnSpPr>
          <p:spPr>
            <a:xfrm flipH="1" rot="10800000">
              <a:off x="255043" y="1240613"/>
              <a:ext cx="4262100" cy="3600"/>
            </a:xfrm>
            <a:prstGeom prst="straightConnector1">
              <a:avLst/>
            </a:prstGeom>
            <a:noFill/>
            <a:ln cap="flat" cmpd="sng" w="123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" name="Google Shape;169;g3a7c50a7b14_0_393"/>
          <p:cNvGrpSpPr/>
          <p:nvPr/>
        </p:nvGrpSpPr>
        <p:grpSpPr>
          <a:xfrm>
            <a:off x="8069640" y="1135910"/>
            <a:ext cx="3663575" cy="579918"/>
            <a:chOff x="251716" y="907319"/>
            <a:chExt cx="4265427" cy="446400"/>
          </a:xfrm>
        </p:grpSpPr>
        <p:sp>
          <p:nvSpPr>
            <p:cNvPr id="170" name="Google Shape;170;g3a7c50a7b14_0_393"/>
            <p:cNvSpPr txBox="1"/>
            <p:nvPr/>
          </p:nvSpPr>
          <p:spPr>
            <a:xfrm>
              <a:off x="251716" y="907319"/>
              <a:ext cx="4262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8775" lIns="118775" spcFirstLastPara="1" rIns="118775" wrap="square" tIns="11877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groupe</a:t>
              </a:r>
              <a:endPara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1" name="Google Shape;171;g3a7c50a7b14_0_393"/>
            <p:cNvCxnSpPr/>
            <p:nvPr/>
          </p:nvCxnSpPr>
          <p:spPr>
            <a:xfrm flipH="1" rot="10800000">
              <a:off x="255043" y="1240613"/>
              <a:ext cx="4262100" cy="3600"/>
            </a:xfrm>
            <a:prstGeom prst="straightConnector1">
              <a:avLst/>
            </a:prstGeom>
            <a:noFill/>
            <a:ln cap="flat" cmpd="sng" w="123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2" name="Google Shape;172;g3a7c50a7b14_0_393"/>
          <p:cNvGrpSpPr/>
          <p:nvPr/>
        </p:nvGrpSpPr>
        <p:grpSpPr>
          <a:xfrm>
            <a:off x="458590" y="2471609"/>
            <a:ext cx="1500933" cy="1500943"/>
            <a:chOff x="794117" y="1587170"/>
            <a:chExt cx="1650465" cy="1650476"/>
          </a:xfrm>
        </p:grpSpPr>
        <p:grpSp>
          <p:nvGrpSpPr>
            <p:cNvPr id="173" name="Google Shape;173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174" name="Google Shape;174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1" name="Google Shape;181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g3a7c50a7b14_0_393"/>
          <p:cNvSpPr/>
          <p:nvPr/>
        </p:nvSpPr>
        <p:spPr>
          <a:xfrm>
            <a:off x="358700" y="2032450"/>
            <a:ext cx="220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Gestion de programme, financement et ressources humaines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5" name="Google Shape;185;g3a7c50a7b14_0_393"/>
          <p:cNvGrpSpPr/>
          <p:nvPr/>
        </p:nvGrpSpPr>
        <p:grpSpPr>
          <a:xfrm>
            <a:off x="2943315" y="2471609"/>
            <a:ext cx="1500933" cy="1500943"/>
            <a:chOff x="794117" y="1587170"/>
            <a:chExt cx="1650465" cy="1650476"/>
          </a:xfrm>
        </p:grpSpPr>
        <p:grpSp>
          <p:nvGrpSpPr>
            <p:cNvPr id="186" name="Google Shape;186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187" name="Google Shape;187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4" name="Google Shape;194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g3a7c50a7b14_0_393"/>
          <p:cNvSpPr/>
          <p:nvPr/>
        </p:nvSpPr>
        <p:spPr>
          <a:xfrm>
            <a:off x="2665681" y="1952700"/>
            <a:ext cx="2056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 services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8" name="Google Shape;198;g3a7c50a7b14_0_393"/>
          <p:cNvGrpSpPr/>
          <p:nvPr/>
        </p:nvGrpSpPr>
        <p:grpSpPr>
          <a:xfrm>
            <a:off x="5610202" y="2471609"/>
            <a:ext cx="1500933" cy="1500943"/>
            <a:chOff x="794117" y="1587170"/>
            <a:chExt cx="1650465" cy="1650476"/>
          </a:xfrm>
        </p:grpSpPr>
        <p:grpSp>
          <p:nvGrpSpPr>
            <p:cNvPr id="199" name="Google Shape;199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200" name="Google Shape;200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7" name="Google Shape;207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g3a7c50a7b14_0_393"/>
          <p:cNvSpPr/>
          <p:nvPr/>
        </p:nvSpPr>
        <p:spPr>
          <a:xfrm>
            <a:off x="5257118" y="2109250"/>
            <a:ext cx="220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Couverture vaccinale et suivi des MAPI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1" name="Google Shape;211;g3a7c50a7b14_0_393"/>
          <p:cNvGrpSpPr/>
          <p:nvPr/>
        </p:nvGrpSpPr>
        <p:grpSpPr>
          <a:xfrm>
            <a:off x="458577" y="4743014"/>
            <a:ext cx="1500933" cy="1500943"/>
            <a:chOff x="794117" y="1587170"/>
            <a:chExt cx="1650465" cy="1650476"/>
          </a:xfrm>
        </p:grpSpPr>
        <p:grpSp>
          <p:nvGrpSpPr>
            <p:cNvPr id="212" name="Google Shape;212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213" name="Google Shape;213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0" name="Google Shape;220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g3a7c50a7b14_0_393"/>
          <p:cNvSpPr/>
          <p:nvPr/>
        </p:nvSpPr>
        <p:spPr>
          <a:xfrm>
            <a:off x="358700" y="4303868"/>
            <a:ext cx="2156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Approvisionnement, qualité et logistique lié aux vaccins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4" name="Google Shape;224;g3a7c50a7b14_0_393"/>
          <p:cNvGrpSpPr/>
          <p:nvPr/>
        </p:nvGrpSpPr>
        <p:grpSpPr>
          <a:xfrm>
            <a:off x="2943327" y="4833197"/>
            <a:ext cx="1500933" cy="1500943"/>
            <a:chOff x="794117" y="1587170"/>
            <a:chExt cx="1650465" cy="1650476"/>
          </a:xfrm>
        </p:grpSpPr>
        <p:grpSp>
          <p:nvGrpSpPr>
            <p:cNvPr id="225" name="Google Shape;225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226" name="Google Shape;226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3" name="Google Shape;233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g3a7c50a7b14_0_393"/>
          <p:cNvSpPr/>
          <p:nvPr/>
        </p:nvSpPr>
        <p:spPr>
          <a:xfrm>
            <a:off x="2943346" y="4394042"/>
            <a:ext cx="1500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Surveillance des MPV</a:t>
            </a:r>
            <a:endParaRPr b="1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7" name="Google Shape;237;g3a7c50a7b14_0_393"/>
          <p:cNvGrpSpPr/>
          <p:nvPr/>
        </p:nvGrpSpPr>
        <p:grpSpPr>
          <a:xfrm>
            <a:off x="5714740" y="4833197"/>
            <a:ext cx="1500933" cy="1500943"/>
            <a:chOff x="794117" y="1587170"/>
            <a:chExt cx="1650465" cy="1650476"/>
          </a:xfrm>
        </p:grpSpPr>
        <p:grpSp>
          <p:nvGrpSpPr>
            <p:cNvPr id="238" name="Google Shape;238;g3a7c50a7b14_0_393"/>
            <p:cNvGrpSpPr/>
            <p:nvPr/>
          </p:nvGrpSpPr>
          <p:grpSpPr>
            <a:xfrm>
              <a:off x="794117" y="1587181"/>
              <a:ext cx="1650465" cy="1650465"/>
              <a:chOff x="2596900" y="2013025"/>
              <a:chExt cx="1251300" cy="1251300"/>
            </a:xfrm>
          </p:grpSpPr>
          <p:sp>
            <p:nvSpPr>
              <p:cNvPr id="239" name="Google Shape;239;g3a7c50a7b14_0_393"/>
              <p:cNvSpPr/>
              <p:nvPr/>
            </p:nvSpPr>
            <p:spPr>
              <a:xfrm>
                <a:off x="2596900" y="2013025"/>
                <a:ext cx="1251300" cy="1251300"/>
              </a:xfrm>
              <a:prstGeom prst="ellipse">
                <a:avLst/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g3a7c50a7b14_0_393"/>
              <p:cNvSpPr/>
              <p:nvPr/>
            </p:nvSpPr>
            <p:spPr>
              <a:xfrm>
                <a:off x="2723368" y="22949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g3a7c50a7b14_0_393"/>
              <p:cNvSpPr/>
              <p:nvPr/>
            </p:nvSpPr>
            <p:spPr>
              <a:xfrm>
                <a:off x="2933198" y="2055849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g3a7c50a7b14_0_393"/>
              <p:cNvSpPr/>
              <p:nvPr/>
            </p:nvSpPr>
            <p:spPr>
              <a:xfrm>
                <a:off x="293320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g3a7c50a7b14_0_393"/>
              <p:cNvSpPr/>
              <p:nvPr/>
            </p:nvSpPr>
            <p:spPr>
              <a:xfrm>
                <a:off x="2723371" y="2626796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g3a7c50a7b14_0_393"/>
              <p:cNvSpPr/>
              <p:nvPr/>
            </p:nvSpPr>
            <p:spPr>
              <a:xfrm>
                <a:off x="3263750" y="2900871"/>
                <a:ext cx="267600" cy="267600"/>
              </a:xfrm>
              <a:prstGeom prst="flowChartConnector">
                <a:avLst/>
              </a:prstGeom>
              <a:solidFill>
                <a:srgbClr val="11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g3a7c50a7b14_0_393"/>
              <p:cNvSpPr/>
              <p:nvPr/>
            </p:nvSpPr>
            <p:spPr>
              <a:xfrm>
                <a:off x="3497935" y="2569025"/>
                <a:ext cx="267600" cy="267600"/>
              </a:xfrm>
              <a:prstGeom prst="flowChartConnector">
                <a:avLst/>
              </a:prstGeom>
              <a:solidFill>
                <a:srgbClr val="1255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6" name="Google Shape;246;g3a7c50a7b14_0_393"/>
            <p:cNvSpPr/>
            <p:nvPr/>
          </p:nvSpPr>
          <p:spPr>
            <a:xfrm>
              <a:off x="1442804" y="2145627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3a7c50a7b14_0_393"/>
            <p:cNvSpPr/>
            <p:nvPr/>
          </p:nvSpPr>
          <p:spPr>
            <a:xfrm>
              <a:off x="1629420" y="1587170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a7c50a7b14_0_393"/>
            <p:cNvSpPr/>
            <p:nvPr/>
          </p:nvSpPr>
          <p:spPr>
            <a:xfrm>
              <a:off x="1933630" y="1792525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" name="Google Shape;249;g3a7c50a7b14_0_393"/>
          <p:cNvSpPr/>
          <p:nvPr/>
        </p:nvSpPr>
        <p:spPr>
          <a:xfrm>
            <a:off x="5714759" y="4301042"/>
            <a:ext cx="1500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Times New Roman"/>
                <a:ea typeface="Times New Roman"/>
                <a:cs typeface="Times New Roman"/>
                <a:sym typeface="Times New Roman"/>
              </a:rPr>
              <a:t>Génération de la demande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0" name="Google Shape;250;g3a7c50a7b14_0_393"/>
          <p:cNvGrpSpPr/>
          <p:nvPr/>
        </p:nvGrpSpPr>
        <p:grpSpPr>
          <a:xfrm>
            <a:off x="446417" y="6427973"/>
            <a:ext cx="2207096" cy="353100"/>
            <a:chOff x="3284854" y="3852743"/>
            <a:chExt cx="2207096" cy="353100"/>
          </a:xfrm>
        </p:grpSpPr>
        <p:sp>
          <p:nvSpPr>
            <p:cNvPr id="251" name="Google Shape;251;g3a7c50a7b14_0_393"/>
            <p:cNvSpPr/>
            <p:nvPr/>
          </p:nvSpPr>
          <p:spPr>
            <a:xfrm>
              <a:off x="3284854" y="3852743"/>
              <a:ext cx="353100" cy="353100"/>
            </a:xfrm>
            <a:prstGeom prst="flowChartConnector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a7c50a7b14_0_393"/>
            <p:cNvSpPr/>
            <p:nvPr/>
          </p:nvSpPr>
          <p:spPr>
            <a:xfrm>
              <a:off x="3637950" y="3940795"/>
              <a:ext cx="18540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President du groupe</a:t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3" name="Google Shape;253;g3a7c50a7b14_0_393"/>
          <p:cNvGrpSpPr/>
          <p:nvPr/>
        </p:nvGrpSpPr>
        <p:grpSpPr>
          <a:xfrm>
            <a:off x="2972492" y="6427973"/>
            <a:ext cx="2375996" cy="353100"/>
            <a:chOff x="3284854" y="3852743"/>
            <a:chExt cx="2375996" cy="353100"/>
          </a:xfrm>
        </p:grpSpPr>
        <p:sp>
          <p:nvSpPr>
            <p:cNvPr id="254" name="Google Shape;254;g3a7c50a7b14_0_393"/>
            <p:cNvSpPr/>
            <p:nvPr/>
          </p:nvSpPr>
          <p:spPr>
            <a:xfrm>
              <a:off x="3284854" y="3852743"/>
              <a:ext cx="353100" cy="353100"/>
            </a:xfrm>
            <a:prstGeom prst="flowChartConnector">
              <a:avLst/>
            </a:prstGeom>
            <a:solidFill>
              <a:srgbClr val="FFAB4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3a7c50a7b14_0_393"/>
            <p:cNvSpPr/>
            <p:nvPr/>
          </p:nvSpPr>
          <p:spPr>
            <a:xfrm>
              <a:off x="3637950" y="3940795"/>
              <a:ext cx="2022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lang="en-US" sz="1500">
                  <a:latin typeface="Times New Roman"/>
                  <a:ea typeface="Times New Roman"/>
                  <a:cs typeface="Times New Roman"/>
                  <a:sym typeface="Times New Roman"/>
                </a:rPr>
                <a:t>Rapporteur</a:t>
              </a:r>
              <a:r>
                <a:rPr b="1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du groupe</a:t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6" name="Google Shape;256;g3a7c50a7b14_0_393"/>
          <p:cNvGrpSpPr/>
          <p:nvPr/>
        </p:nvGrpSpPr>
        <p:grpSpPr>
          <a:xfrm>
            <a:off x="5348492" y="6427973"/>
            <a:ext cx="2560196" cy="353100"/>
            <a:chOff x="3284854" y="3852743"/>
            <a:chExt cx="2560196" cy="353100"/>
          </a:xfrm>
        </p:grpSpPr>
        <p:sp>
          <p:nvSpPr>
            <p:cNvPr id="257" name="Google Shape;257;g3a7c50a7b14_0_393"/>
            <p:cNvSpPr/>
            <p:nvPr/>
          </p:nvSpPr>
          <p:spPr>
            <a:xfrm>
              <a:off x="3284854" y="3852743"/>
              <a:ext cx="353100" cy="353100"/>
            </a:xfrm>
            <a:prstGeom prst="flowChartConnector">
              <a:avLst/>
            </a:prstGeom>
            <a:solidFill>
              <a:srgbClr val="1255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a7c50a7b14_0_393"/>
            <p:cNvSpPr/>
            <p:nvPr/>
          </p:nvSpPr>
          <p:spPr>
            <a:xfrm>
              <a:off x="3637950" y="3940795"/>
              <a:ext cx="22071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Membres du groupe</a:t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9" name="Google Shape;259;g3a7c50a7b14_0_393"/>
          <p:cNvSpPr txBox="1"/>
          <p:nvPr/>
        </p:nvSpPr>
        <p:spPr>
          <a:xfrm>
            <a:off x="8085700" y="1952700"/>
            <a:ext cx="3663600" cy="1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 core fait la route des travaux des groupes thématiques pour s’assurer de la conformité aux orientations stratégiques des travaux. Deux groupes sont constitutes</a:t>
            </a:r>
            <a:endParaRPr b="0" i="1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a7c50a7b14_0_393"/>
          <p:cNvSpPr txBox="1"/>
          <p:nvPr/>
        </p:nvSpPr>
        <p:spPr>
          <a:xfrm>
            <a:off x="8085700" y="3341150"/>
            <a:ext cx="3663600" cy="1269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groupe 1</a:t>
            </a:r>
            <a:endParaRPr b="1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Directeur du PEV</a:t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Team lead OMS</a:t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Representant des provinces</a:t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Représentant des bailleurs</a:t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g3a7c50a7b14_0_393"/>
          <p:cNvSpPr txBox="1"/>
          <p:nvPr/>
        </p:nvSpPr>
        <p:spPr>
          <a:xfrm>
            <a:off x="8085700" y="4729600"/>
            <a:ext cx="3663600" cy="1269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groupe 2</a:t>
            </a:r>
            <a:endParaRPr b="1" i="0" sz="15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Directeur adjoint du PEV</a:t>
            </a:r>
            <a:endParaRPr b="0" i="0" sz="15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Team lead UNICEF</a:t>
            </a:r>
            <a:endParaRPr b="0" i="0" sz="15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Representant des provinces</a:t>
            </a:r>
            <a:endParaRPr b="0" i="0" sz="15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Times New Roman"/>
              <a:buChar char="●"/>
            </a:pPr>
            <a:r>
              <a:rPr b="0" i="0" lang="en-US" sz="15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Représentant des bailleurs</a:t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g3a7c50a7b14_0_393"/>
          <p:cNvSpPr txBox="1"/>
          <p:nvPr/>
        </p:nvSpPr>
        <p:spPr>
          <a:xfrm>
            <a:off x="2737100" y="4143588"/>
            <a:ext cx="4934100" cy="2214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3a7c50a7b14_0_393"/>
          <p:cNvSpPr txBox="1"/>
          <p:nvPr/>
        </p:nvSpPr>
        <p:spPr>
          <a:xfrm>
            <a:off x="458600" y="1800413"/>
            <a:ext cx="7212600" cy="227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4" name="Google Shape;264;g3a7c50a7b14_0_393"/>
          <p:cNvGrpSpPr/>
          <p:nvPr/>
        </p:nvGrpSpPr>
        <p:grpSpPr>
          <a:xfrm>
            <a:off x="409688" y="4143050"/>
            <a:ext cx="2156141" cy="2215725"/>
            <a:chOff x="6086473" y="1863425"/>
            <a:chExt cx="1787400" cy="2215725"/>
          </a:xfrm>
        </p:grpSpPr>
        <p:cxnSp>
          <p:nvCxnSpPr>
            <p:cNvPr id="265" name="Google Shape;265;g3a7c50a7b14_0_393"/>
            <p:cNvCxnSpPr/>
            <p:nvPr/>
          </p:nvCxnSpPr>
          <p:spPr>
            <a:xfrm>
              <a:off x="6086473" y="1876531"/>
              <a:ext cx="1787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g3a7c50a7b14_0_393"/>
            <p:cNvCxnSpPr/>
            <p:nvPr/>
          </p:nvCxnSpPr>
          <p:spPr>
            <a:xfrm>
              <a:off x="6119625" y="4062400"/>
              <a:ext cx="17541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g3a7c50a7b14_0_393"/>
            <p:cNvCxnSpPr/>
            <p:nvPr/>
          </p:nvCxnSpPr>
          <p:spPr>
            <a:xfrm rot="10800000">
              <a:off x="7860700" y="1872950"/>
              <a:ext cx="0" cy="2206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g3a7c50a7b14_0_393"/>
            <p:cNvCxnSpPr/>
            <p:nvPr/>
          </p:nvCxnSpPr>
          <p:spPr>
            <a:xfrm rot="10800000">
              <a:off x="6125825" y="1863425"/>
              <a:ext cx="0" cy="220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7c6975d5b_0_84"/>
          <p:cNvSpPr/>
          <p:nvPr/>
        </p:nvSpPr>
        <p:spPr>
          <a:xfrm>
            <a:off x="5351425" y="1230450"/>
            <a:ext cx="5376000" cy="4998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Salle N°3 </a:t>
            </a:r>
            <a:endParaRPr b="1" sz="20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des services &amp; AVS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g3a7c6975d5b_0_84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ix</a:t>
            </a:r>
            <a:r>
              <a:rPr b="1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groupes thématiques sont sous la supervision du core groupe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Répartition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salles pour les groupes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g3a7c6975d5b_0_8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g3a7c6975d5b_0_8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g3a7c6975d5b_0_8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g3a7c6975d5b_0_8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g3a7c6975d5b_0_84"/>
          <p:cNvSpPr/>
          <p:nvPr/>
        </p:nvSpPr>
        <p:spPr>
          <a:xfrm>
            <a:off x="1222675" y="1719125"/>
            <a:ext cx="3935400" cy="146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Salle N°1 </a:t>
            </a:r>
            <a:endParaRPr b="1" sz="20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 de programme, financement et ressources humaines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g3a7c6975d5b_0_84"/>
          <p:cNvSpPr/>
          <p:nvPr/>
        </p:nvSpPr>
        <p:spPr>
          <a:xfrm>
            <a:off x="1222675" y="3362800"/>
            <a:ext cx="3935400" cy="146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Salle N°2 </a:t>
            </a:r>
            <a:endParaRPr b="1" sz="20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Prestation des services &amp; AVS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g3a7c6975d5b_0_84"/>
          <p:cNvSpPr/>
          <p:nvPr/>
        </p:nvSpPr>
        <p:spPr>
          <a:xfrm>
            <a:off x="5526700" y="1719125"/>
            <a:ext cx="4887600" cy="92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Approvisionnement, qualité et logistique lié aux vaccins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g3a7c6975d5b_0_84"/>
          <p:cNvSpPr/>
          <p:nvPr/>
        </p:nvSpPr>
        <p:spPr>
          <a:xfrm>
            <a:off x="5526700" y="2865700"/>
            <a:ext cx="4887600" cy="92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Couverture vaccinale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g3a7c6975d5b_0_84"/>
          <p:cNvSpPr/>
          <p:nvPr/>
        </p:nvSpPr>
        <p:spPr>
          <a:xfrm>
            <a:off x="5526700" y="3951950"/>
            <a:ext cx="4887600" cy="92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Surveillance des MPV et suivi des MAPI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g3a7c6975d5b_0_84"/>
          <p:cNvSpPr/>
          <p:nvPr/>
        </p:nvSpPr>
        <p:spPr>
          <a:xfrm>
            <a:off x="5526700" y="5098525"/>
            <a:ext cx="4887600" cy="92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 de la demande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7c535f4b0_0_146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groupes thématiques sont la continuité des groupes établis lors des travaux préliminaires étendus aux nouveaux participants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g3a7c535f4b0_0_14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g3a7c535f4b0_0_14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g3a7c535f4b0_0_14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g3a7c535f4b0_0_14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g3a7c535f4b0_0_14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3a7c535f4b0_0_146"/>
          <p:cNvSpPr txBox="1"/>
          <p:nvPr/>
        </p:nvSpPr>
        <p:spPr>
          <a:xfrm>
            <a:off x="458600" y="1360825"/>
            <a:ext cx="3654000" cy="424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Participants venus de Kinshasa</a:t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Chaque groupe est </a:t>
            </a:r>
            <a:r>
              <a:rPr b="1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présidé par CD / chef de service du PEV</a:t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membres vont rentrer dans leurs groupes fréquentés lors des travaux préparatoires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 secrétaire est désigné par les membres du groupe: </a:t>
            </a:r>
            <a:r>
              <a:rPr b="1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personne la plus agile avec l’ordinateur</a:t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3a7c535f4b0_0_146"/>
          <p:cNvSpPr txBox="1"/>
          <p:nvPr/>
        </p:nvSpPr>
        <p:spPr>
          <a:xfrm>
            <a:off x="4269046" y="1360825"/>
            <a:ext cx="3654000" cy="424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Participants venues des provinces</a:t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participants venus des provinces vont se répartir dans les différents groupes. Les CDPS vont privilégier le groupe Gestion de programme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Deux CDPS choisies par les paires feront parties du core groupe pour assurer la conformité des travaux aux orientations stratégiques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g3a7c535f4b0_0_146"/>
          <p:cNvSpPr txBox="1"/>
          <p:nvPr/>
        </p:nvSpPr>
        <p:spPr>
          <a:xfrm>
            <a:off x="8079492" y="1360825"/>
            <a:ext cx="3654000" cy="424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Autres participants</a:t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autres participants seront libres de choisir le groupe de leurs choix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Ils seront tenus de rester dans le groupe choisi jusqu’à la fin des travaux</a:t>
            </a:r>
            <a:endParaRPr b="0" i="0" sz="20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Groupe de suivi des travaux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 Pablito Nasaka /CD Appui (TL)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 Paul LAME  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 Mymy Mwika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g3a7c535f4b0_0_146"/>
          <p:cNvSpPr txBox="1"/>
          <p:nvPr/>
        </p:nvSpPr>
        <p:spPr>
          <a:xfrm>
            <a:off x="458600" y="5663800"/>
            <a:ext cx="11274900" cy="708000"/>
          </a:xfrm>
          <a:prstGeom prst="rect">
            <a:avLst/>
          </a:prstGeom>
          <a:solidFill>
            <a:srgbClr val="B1CDF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Inscription aux groupes thématiques sera faite à la pause-repas dès le premier jour de la revue annuelle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7c535f4b0_0_306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participants sont tenus de s'enregistrer dans les groupes thématiques suivant les orientations données en consultant les personnes suivantes lors de la pause-repas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3a7c535f4b0_0_30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3a7c535f4b0_0_30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g3a7c535f4b0_0_30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g3a7c535f4b0_0_30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g3a7c535f4b0_0_30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9" name="Google Shape;309;g3a7c535f4b0_0_306"/>
          <p:cNvGraphicFramePr/>
          <p:nvPr/>
        </p:nvGraphicFramePr>
        <p:xfrm>
          <a:off x="458592" y="147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{C1D11B17-4FA4-4F16-A5E6-5E3ED1B3551D}</a:tableStyleId>
              </a:tblPr>
              <a:tblGrid>
                <a:gridCol w="3215800"/>
                <a:gridCol w="4029550"/>
                <a:gridCol w="4029550"/>
              </a:tblGrid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President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Secretaire</a:t>
                      </a:r>
                      <a:endParaRPr b="1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Gestion de programme, financement et ressources humaines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CDAF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Prestation de service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  Technique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Couverture vaccinale et suivi des MAPI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 focal qualité des données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Approvisionnement, qualité et logistique lié aux vaccins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CD Logistique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Surveillance de MPV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 Surveillance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Génération de la demande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 communication</a:t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7c6975d5b_0_336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Gestion de programme, financement et ressources humaines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g3a7c6975d5b_0_33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g3a7c6975d5b_0_33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g3a7c6975d5b_0_33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g3a7c6975d5b_0_33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g3a7c6975d5b_0_33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g3a7c6975d5b_0_336"/>
          <p:cNvSpPr txBox="1"/>
          <p:nvPr>
            <p:ph idx="4294967295" type="body"/>
          </p:nvPr>
        </p:nvSpPr>
        <p:spPr>
          <a:xfrm>
            <a:off x="151152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Honorable President REPACAV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 Didier MBAYA (TL)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Joël MULUBU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 Eric LUMBALA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Julien SALEH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Audry MULUMBA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Mme Nenette NGOIE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Jean Pierre KIJANA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Thomas Noel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Elisabeth MUKAMBA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NGOBEBE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g3a7c6975d5b_0_336"/>
          <p:cNvSpPr txBox="1"/>
          <p:nvPr>
            <p:ph idx="4294967295" type="body"/>
          </p:nvPr>
        </p:nvSpPr>
        <p:spPr>
          <a:xfrm>
            <a:off x="620217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Haut Lomami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Equateur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Kwilu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Haut Katanga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Tanganyika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Lomami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Equateur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Bas Uele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Tshopo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Haut Uele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Sankuru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7c6975d5b_0_324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Prestation &amp; AVS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g3a7c6975d5b_0_32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g3a7c6975d5b_0_32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g3a7c6975d5b_0_32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g3a7c6975d5b_0_32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g3a7c6975d5b_0_32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g3a7c6975d5b_0_324"/>
          <p:cNvSpPr txBox="1"/>
          <p:nvPr>
            <p:ph idx="4294967295" type="body"/>
          </p:nvPr>
        </p:nvSpPr>
        <p:spPr>
          <a:xfrm>
            <a:off x="458600" y="965000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Shidi Calixte (TL)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Papy KABONGO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Dr Leon KINUANI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Marilou ONIEMBA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Eddy MAKENGO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Pitchou LUKOMBO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 Andre TONDA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Jean  Charles KANTU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Charlotte MBUH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Serge SUKANI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BUSHABU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BMGF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Jacquie MATONDO (TL)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Nanou YANGA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Generose SUMAILI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Ignace MWANZA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Nicole LUBANDA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Justin BADIBANGA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g3a7c6975d5b_0_324"/>
          <p:cNvSpPr txBox="1"/>
          <p:nvPr>
            <p:ph idx="4294967295" type="body"/>
          </p:nvPr>
        </p:nvSpPr>
        <p:spPr>
          <a:xfrm>
            <a:off x="5149250" y="965000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ABDON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KOTAZO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Steve MATOMA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Ladys NTUMBA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ETOZA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BMGF/MAKING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MABUNDA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OIM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COUP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Anselme FUMULEKI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AFNET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CDC/ ATLANTA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7c6975d5b_0_347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Couverture vaccinale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g3a7c6975d5b_0_34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g3a7c6975d5b_0_34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g3a7c6975d5b_0_34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g3a7c6975d5b_0_34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g3a7c6975d5b_0_34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g3a7c6975d5b_0_347"/>
          <p:cNvSpPr txBox="1"/>
          <p:nvPr>
            <p:ph idx="4294967295" type="body"/>
          </p:nvPr>
        </p:nvSpPr>
        <p:spPr>
          <a:xfrm>
            <a:off x="151152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Pascal MUKENYI (TL)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Arsène KABWAYA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Guillaume NGOIE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Mireille META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Pablito NASAKA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Mymy MWIKA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 KABASUBABO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 international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Bluesquare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SANRU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g3a7c6975d5b_0_347"/>
          <p:cNvSpPr txBox="1"/>
          <p:nvPr>
            <p:ph idx="4294967295" type="body"/>
          </p:nvPr>
        </p:nvSpPr>
        <p:spPr>
          <a:xfrm>
            <a:off x="620217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ABDON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KOTAZO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Steve MATOMA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Ladys NTUMBA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ETOZA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BMGF/MAKING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MABUNDA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OIM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COUP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7c6975d5b_0_358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Génération de la demande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g3a7c6975d5b_0_35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g3a7c6975d5b_0_35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g3a7c6975d5b_0_35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g3a7c6975d5b_0_35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g3a7c6975d5b_0_35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g3a7c6975d5b_0_358"/>
          <p:cNvSpPr txBox="1"/>
          <p:nvPr>
            <p:ph idx="4294967295" type="body"/>
          </p:nvPr>
        </p:nvSpPr>
        <p:spPr>
          <a:xfrm>
            <a:off x="151152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Christophe KONSO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Christophe KONSO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Mme Nadine KASWA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Valentin AKARASIS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Mme Mireille MUTUALE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SANRU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Croix rouge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ARCC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7c6975d5b_0_369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Surveillance de MPV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g3a7c6975d5b_0_36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g3a7c6975d5b_0_36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g3a7c6975d5b_0_36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g3a7c6975d5b_0_36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g3a7c6975d5b_0_36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g3a7c6975d5b_0_369"/>
          <p:cNvSpPr txBox="1"/>
          <p:nvPr>
            <p:ph idx="4294967295" type="body"/>
          </p:nvPr>
        </p:nvSpPr>
        <p:spPr>
          <a:xfrm>
            <a:off x="151152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Raymond ADHAKU (TL)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 WALUMBA OMARI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Gisele LUHANGA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Anselme MFUMULEKI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KITENGE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pacifique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Natalie  MULONGO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Augustin MUTEB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JB SHULI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Miterant DIBULA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JP WOSA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Pacifique KANKU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g3a7c6975d5b_0_369"/>
          <p:cNvSpPr txBox="1"/>
          <p:nvPr>
            <p:ph idx="4294967295" type="body"/>
          </p:nvPr>
        </p:nvSpPr>
        <p:spPr>
          <a:xfrm>
            <a:off x="620217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BMGF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UNOPS…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7c6975d5b_0_380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Membres des groupes | </a:t>
            </a:r>
            <a:r>
              <a:rPr lang="en-US" sz="25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Approvisionnement, qualité et logistique lié aux vaccins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g3a7c6975d5b_0_38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g3a7c6975d5b_0_38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g3a7c6975d5b_0_38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g3a7c6975d5b_0_38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g3a7c6975d5b_0_38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g3a7c6975d5b_0_380"/>
          <p:cNvSpPr txBox="1"/>
          <p:nvPr>
            <p:ph idx="4294967295" type="body"/>
          </p:nvPr>
        </p:nvSpPr>
        <p:spPr>
          <a:xfrm>
            <a:off x="151152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Serge KABEYA (TL)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Hugo EKWANZALA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 Heritier MAKONGOTE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Rufin KABESA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Mme Sandra MUPUNGU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Joseph OYAYA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Chaltin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Isandjola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KAYIJ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KALUME (MCA)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SALUMU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BOWALE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Marius LONGILA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Pascal GELONGO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Ives MAYELE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g3a7c6975d5b_0_380"/>
          <p:cNvSpPr txBox="1"/>
          <p:nvPr>
            <p:ph idx="4294967295" type="body"/>
          </p:nvPr>
        </p:nvSpPr>
        <p:spPr>
          <a:xfrm>
            <a:off x="6202175" y="965013"/>
            <a:ext cx="4478400" cy="52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UNICEF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ACASUS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UNOPS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Village Reach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GAVI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Paulin BELANGA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JR ISANDJOLA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Alain KAYIJ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Aimé SOBONGO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7c535f4b0_0_281"/>
          <p:cNvSpPr txBox="1"/>
          <p:nvPr/>
        </p:nvSpPr>
        <p:spPr>
          <a:xfrm>
            <a:off x="458592" y="317941"/>
            <a:ext cx="112749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Différents outils sont mise à disposition des groupes pour faciliter les travaux et les échanges sont régis par les mêmes règles que celles de la plénière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g3a7c535f4b0_0_28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g3a7c535f4b0_0_28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g3a7c535f4b0_0_28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g3a7c535f4b0_0_28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g3a7c535f4b0_0_28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g3a7c535f4b0_0_281"/>
          <p:cNvSpPr txBox="1"/>
          <p:nvPr/>
        </p:nvSpPr>
        <p:spPr>
          <a:xfrm>
            <a:off x="458600" y="1360825"/>
            <a:ext cx="11274900" cy="4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outils pour consultation du groupe</a:t>
            </a:r>
            <a:endParaRPr b="1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 document finale de la SNV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 plan Mashako 3.0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 plan de transition GAVI : document final avec les drafts des fiches techniques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La note synthèse des bonnes pratiques, consolidation des perspectives des groupes thématiques et la note des décisions sur les interventions pilotes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Narratif PAO 2025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Caneva du PAO 2026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Cartographie des financements 2026</a:t>
            </a:r>
            <a:endParaRPr b="0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Livrables attendues à la fin des travaux des groupes</a:t>
            </a:r>
            <a:endParaRPr b="1" i="0" sz="18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Caneva du PAO 2026 rempli (toutes les variables renseignées)</a:t>
            </a:r>
            <a:endParaRPr b="0" i="0" sz="18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 fiches techniques finalisés</a:t>
            </a:r>
            <a:endParaRPr b="0" i="0" sz="18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Times New Roman"/>
              <a:buChar char="●"/>
            </a:pPr>
            <a:r>
              <a:rPr b="0" i="0" lang="en-US" sz="1800" u="none" cap="none" strike="noStrike">
                <a:solidFill>
                  <a:srgbClr val="2222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Narratif des PAO 2026</a:t>
            </a:r>
            <a:endParaRPr b="1" i="0" sz="1800" u="none" cap="none" strike="noStrike">
              <a:solidFill>
                <a:srgbClr val="2222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g3a7c535f4b0_0_281"/>
          <p:cNvSpPr txBox="1"/>
          <p:nvPr/>
        </p:nvSpPr>
        <p:spPr>
          <a:xfrm>
            <a:off x="458600" y="5663800"/>
            <a:ext cx="11274900" cy="646500"/>
          </a:xfrm>
          <a:prstGeom prst="rect">
            <a:avLst/>
          </a:prstGeom>
          <a:solidFill>
            <a:srgbClr val="B1CDF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outils pour consultation ainsi que les livrables attendus seront directement postes sur un </a:t>
            </a:r>
            <a:r>
              <a:rPr b="1" i="0" lang="en-US" sz="1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lien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drive. Ce dernier sera partagée aux secrétaires de chaque groupe d’un le début des travaux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7c535f4b0_0_34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</a:t>
            </a:r>
            <a:endParaRPr b="1" i="0" sz="53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g3a7c535f4b0_0_34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g3a7c535f4b0_0_34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2F07D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7c535f4b0_0_39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g3a7c535f4b0_0_39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g3a7c535f4b0_0_39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g3a7c535f4b0_0_39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g3a7c535f4b0_0_39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g3a7c535f4b0_0_39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10" name="Google Shape;410;g3a7c535f4b0_0_39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{C1D11B17-4FA4-4F16-A5E6-5E3ED1B3551D}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Gestion de programme, financement et ressources humaines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7c66dcdfa_0_13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g3a7c66dcdfa_0_13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g3a7c66dcdfa_0_13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g3a7c66dcdfa_0_13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g3a7c66dcdfa_0_13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g3a7c66dcdfa_0_13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21" name="Google Shape;421;g3a7c66dcdfa_0_13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{C1D11B17-4FA4-4F16-A5E6-5E3ED1B3551D}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Prestation de service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7c66dcdfa_0_14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g3a7c66dcdfa_0_14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g3a7c66dcdfa_0_14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g3a7c66dcdfa_0_14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g3a7c66dcdfa_0_14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g3a7c66dcdfa_0_14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32" name="Google Shape;432;g3a7c66dcdfa_0_14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{C1D11B17-4FA4-4F16-A5E6-5E3ED1B3551D}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Couverture vaccinale et suivi des MAPI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7c66dcdfa_0_15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g3a7c66dcdfa_0_15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g3a7c66dcdfa_0_15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g3a7c66dcdfa_0_15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g3a7c66dcdfa_0_15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g3a7c66dcdfa_0_15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43" name="Google Shape;443;g3a7c66dcdfa_0_15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{C1D11B17-4FA4-4F16-A5E6-5E3ED1B3551D}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Approvisionnement, qualité et logistique lié aux vaccins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7c66dcdfa_0_16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g3a7c66dcdfa_0_16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g3a7c66dcdfa_0_16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g3a7c66dcdfa_0_16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g3a7c66dcdfa_0_16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g3a7c66dcdfa_0_16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54" name="Google Shape;454;g3a7c66dcdfa_0_16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{C1D11B17-4FA4-4F16-A5E6-5E3ED1B3551D}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Surveillance de MPV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7c66dcdfa_0_173"/>
          <p:cNvSpPr txBox="1"/>
          <p:nvPr/>
        </p:nvSpPr>
        <p:spPr>
          <a:xfrm>
            <a:off x="458592" y="317941"/>
            <a:ext cx="112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5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PEV 2025 - Fiche de groupe</a:t>
            </a:r>
            <a:endParaRPr b="0" i="0" sz="25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g3a7c66dcdfa_0_17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g3a7c66dcdfa_0_17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g3a7c66dcdfa_0_17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g3a7c66dcdfa_0_17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g3a7c66dcdfa_0_17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Rôle au sein du groupe: President, secrétaire ou membre</a:t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65" name="Google Shape;465;g3a7c66dcdfa_0_173"/>
          <p:cNvGraphicFramePr/>
          <p:nvPr/>
        </p:nvGraphicFramePr>
        <p:xfrm>
          <a:off x="458592" y="10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{C1D11B17-4FA4-4F16-A5E6-5E3ED1B3551D}</a:tableStyleId>
              </a:tblPr>
              <a:tblGrid>
                <a:gridCol w="2490500"/>
                <a:gridCol w="1354175"/>
                <a:gridCol w="1354175"/>
                <a:gridCol w="1746275"/>
                <a:gridCol w="2025325"/>
                <a:gridCol w="2304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Groupe thématique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Génération de la demande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Noms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Organisation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Fonction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Rôle au sein du groupe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Numero de telephone (Whatsapp)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Adresse E-Mail</a:t>
                      </a:r>
                      <a:endParaRPr b="1"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>lenovo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3084-12.2.0.23131</vt:lpwstr>
  </property>
  <property fmtid="{D5CDD505-2E9C-101B-9397-08002B2CF9AE}" pid="3" name="ICV">
    <vt:lpwstr>864046617A2A49699922BB4C2C890CB9_13</vt:lpwstr>
  </property>
</Properties>
</file>