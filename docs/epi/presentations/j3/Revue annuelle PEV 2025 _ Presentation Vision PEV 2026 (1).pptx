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9" r:id="rId2"/>
  </p:sldMasterIdLst>
  <p:notesMasterIdLst>
    <p:notesMasterId r:id="rId16"/>
  </p:notesMasterIdLst>
  <p:sldIdLst>
    <p:sldId id="256" r:id="rId3"/>
    <p:sldId id="257" r:id="rId4"/>
    <p:sldId id="258" r:id="rId5"/>
    <p:sldId id="259" r:id="rId6"/>
    <p:sldId id="260" r:id="rId7"/>
    <p:sldId id="261" r:id="rId8"/>
    <p:sldId id="262" r:id="rId9"/>
    <p:sldId id="267" r:id="rId10"/>
    <p:sldId id="263" r:id="rId11"/>
    <p:sldId id="264" r:id="rId12"/>
    <p:sldId id="265" r:id="rId13"/>
    <p:sldId id="266" r:id="rId14"/>
    <p:sldId id="268" r:id="rId15"/>
  </p:sldIdLst>
  <p:sldSz cx="12192000" cy="6858000"/>
  <p:notesSz cx="7104063"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zmdjFxZjEMgdZ1FNBKJAiymWU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6F025E-3E90-46A3-8380-F9A38D793641}">
  <a:tblStyle styleId="{8D6F025E-3E90-46A3-8380-F9A38D7936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44" y="32"/>
      </p:cViewPr>
      <p:guideLst>
        <p:guide orient="horz" pos="2160"/>
        <p:guide pos="383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21"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163" cy="51276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4" name="Google Shape;4;n"/>
          <p:cNvSpPr txBox="1">
            <a:spLocks noGrp="1"/>
          </p:cNvSpPr>
          <p:nvPr>
            <p:ph type="dt" idx="10"/>
          </p:nvPr>
        </p:nvSpPr>
        <p:spPr>
          <a:xfrm>
            <a:off x="4024313" y="0"/>
            <a:ext cx="3078162" cy="51276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5" name="Google Shape;5;n"/>
          <p:cNvSpPr>
            <a:spLocks noGrp="1" noRot="1" noChangeAspect="1"/>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9pPr>
          </a:lstStyle>
          <a:p>
            <a:endParaRPr/>
          </a:p>
        </p:txBody>
      </p:sp>
      <p:sp>
        <p:nvSpPr>
          <p:cNvPr id="7" name="Google Shape;7;n"/>
          <p:cNvSpPr txBox="1">
            <a:spLocks noGrp="1"/>
          </p:cNvSpPr>
          <p:nvPr>
            <p:ph type="ftr" idx="11"/>
          </p:nvPr>
        </p:nvSpPr>
        <p:spPr>
          <a:xfrm>
            <a:off x="0" y="9721850"/>
            <a:ext cx="3078163" cy="51276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8" name="Google Shape;8;n"/>
          <p:cNvSpPr txBox="1">
            <a:spLocks noGrp="1"/>
          </p:cNvSpPr>
          <p:nvPr>
            <p:ph type="sldNum" idx="12"/>
          </p:nvPr>
        </p:nvSpPr>
        <p:spPr>
          <a:xfrm>
            <a:off x="4024313" y="9721850"/>
            <a:ext cx="3078162" cy="51276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Microsoft Yahei"/>
                <a:ea typeface="Microsoft Yahei"/>
                <a:cs typeface="Microsoft Yahei"/>
                <a:sym typeface="Microsoft Yahei"/>
              </a:rPr>
              <a:t>‹N°›</a:t>
            </a:fld>
            <a:endParaRPr sz="1200" b="0" i="0" u="none" strike="noStrike" cap="none">
              <a:solidFill>
                <a:schemeClr val="dk1"/>
              </a:solidFill>
              <a:latin typeface="Microsoft Yahei"/>
              <a:ea typeface="Microsoft Yahei"/>
              <a:cs typeface="Microsoft Yahei"/>
              <a:sym typeface="Microsoft Yahei"/>
            </a:endParaRPr>
          </a:p>
        </p:txBody>
      </p:sp>
    </p:spTree>
    <p:extLst>
      <p:ext uri="{BB962C8B-B14F-4D97-AF65-F5344CB8AC3E}">
        <p14:creationId xmlns:p14="http://schemas.microsoft.com/office/powerpoint/2010/main" val="15538340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Microsoft Yahei"/>
              <a:buNone/>
            </a:pPr>
            <a:endParaRPr sz="1200">
              <a:solidFill>
                <a:schemeClr val="dk1"/>
              </a:solidFill>
              <a:latin typeface="Microsoft Yahei"/>
              <a:ea typeface="Microsoft Yahei"/>
              <a:cs typeface="Microsoft Yahei"/>
              <a:sym typeface="Microsoft Yahei"/>
            </a:endParaRPr>
          </a:p>
        </p:txBody>
      </p:sp>
    </p:spTree>
    <p:extLst>
      <p:ext uri="{BB962C8B-B14F-4D97-AF65-F5344CB8AC3E}">
        <p14:creationId xmlns:p14="http://schemas.microsoft.com/office/powerpoint/2010/main" val="308528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7c511620c_0_0: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44" name="Google Shape;144;g3a7c511620c_0_0: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2985595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7c61c1dee_0_13: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57" name="Google Shape;157;g3a7c61c1dee_0_13: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3534831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a7c61c1dee_0_0: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03" name="Google Shape;203;g3a7c61c1dee_0_0: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107886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a7c61c1dee_0_109: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12" name="Google Shape;212;g3a7c61c1dee_0_109: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3101880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a7c61c1dee_0_117: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21" name="Google Shape;221;g3a7c61c1dee_0_117: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2632080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a7c62caf5a_0_0: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32" name="Google Shape;232;g3a7c62caf5a_0_0: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1647518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7c62caf5a_0_32: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83" name="Google Shape;283;g3a7c62caf5a_0_32: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767389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7c62caf5a_0_75: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41" name="Google Shape;241;g3a7c62caf5a_0_75: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dirty="0"/>
          </a:p>
        </p:txBody>
      </p:sp>
    </p:spTree>
    <p:extLst>
      <p:ext uri="{BB962C8B-B14F-4D97-AF65-F5344CB8AC3E}">
        <p14:creationId xmlns:p14="http://schemas.microsoft.com/office/powerpoint/2010/main" val="3893474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7c62caf5a_0_8: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56" name="Google Shape;256;g3a7c62caf5a_0_8: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2076410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a7c62caf5a_0_59: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65" name="Google Shape;265;g3a7c62caf5a_0_59: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3365803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a7c62caf5a_0_23:notes"/>
          <p:cNvSpPr>
            <a:spLocks noGrp="1" noRot="1" noChangeAspect="1"/>
          </p:cNvSpPr>
          <p:nvPr>
            <p:ph type="sldImg" idx="2"/>
          </p:nvPr>
        </p:nvSpPr>
        <p:spPr>
          <a:xfrm>
            <a:off x="142875" y="768350"/>
            <a:ext cx="6819900" cy="3836988"/>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74" name="Google Shape;274;g3a7c62caf5a_0_23: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Clr>
                <a:schemeClr val="dk1"/>
              </a:buClr>
              <a:buSzPts val="1300"/>
              <a:buFont typeface="Calibri"/>
              <a:buNone/>
            </a:pPr>
            <a:endParaRPr/>
          </a:p>
        </p:txBody>
      </p:sp>
    </p:spTree>
    <p:extLst>
      <p:ext uri="{BB962C8B-B14F-4D97-AF65-F5344CB8AC3E}">
        <p14:creationId xmlns:p14="http://schemas.microsoft.com/office/powerpoint/2010/main" val="282531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7c546b70d_0_852:notes"/>
          <p:cNvSpPr>
            <a:spLocks noGrp="1" noRot="1" noChangeAspect="1"/>
          </p:cNvSpPr>
          <p:nvPr>
            <p:ph type="sldImg" idx="2"/>
          </p:nvPr>
        </p:nvSpPr>
        <p:spPr>
          <a:xfrm>
            <a:off x="144463" y="768350"/>
            <a:ext cx="6818312" cy="3836988"/>
          </a:xfrm>
          <a:custGeom>
            <a:avLst/>
            <a:gdLst/>
            <a:ahLst/>
            <a:cxnLst/>
            <a:rect l="l" t="t" r="r" b="b"/>
            <a:pathLst>
              <a:path w="120000" h="120000" extrusionOk="0">
                <a:moveTo>
                  <a:pt x="0" y="0"/>
                </a:moveTo>
                <a:lnTo>
                  <a:pt x="120000" y="0"/>
                </a:lnTo>
                <a:lnTo>
                  <a:pt x="120000" y="120000"/>
                </a:lnTo>
                <a:lnTo>
                  <a:pt x="0" y="120000"/>
                </a:lnTo>
                <a:close/>
              </a:path>
            </a:pathLst>
          </a:custGeom>
          <a:noFill/>
          <a:ln w="10125" cap="flat" cmpd="sng">
            <a:solidFill>
              <a:srgbClr val="000000"/>
            </a:solidFill>
            <a:prstDash val="solid"/>
            <a:round/>
            <a:headEnd type="none" w="sm" len="sm"/>
            <a:tailEnd type="none" w="sm" len="sm"/>
          </a:ln>
        </p:spPr>
      </p:sp>
      <p:sp>
        <p:nvSpPr>
          <p:cNvPr id="292" name="Google Shape;292;g3a7c546b70d_0_852:notes"/>
          <p:cNvSpPr txBox="1">
            <a:spLocks noGrp="1"/>
          </p:cNvSpPr>
          <p:nvPr>
            <p:ph type="body" idx="1"/>
          </p:nvPr>
        </p:nvSpPr>
        <p:spPr>
          <a:xfrm>
            <a:off x="710372" y="4861281"/>
            <a:ext cx="5682900" cy="4605300"/>
          </a:xfrm>
          <a:prstGeom prst="rect">
            <a:avLst/>
          </a:prstGeom>
          <a:noFill/>
          <a:ln>
            <a:noFill/>
          </a:ln>
        </p:spPr>
        <p:txBody>
          <a:bodyPr spcFirstLastPara="1" wrap="square" lIns="97250" tIns="97250" rIns="97250" bIns="97250" anchor="t" anchorCtr="0">
            <a:noAutofit/>
          </a:bodyPr>
          <a:lstStyle/>
          <a:p>
            <a:pPr marL="0" lvl="0" indent="0" algn="l" rtl="0">
              <a:lnSpc>
                <a:spcPct val="100000"/>
              </a:lnSpc>
              <a:spcBef>
                <a:spcPts val="0"/>
              </a:spcBef>
              <a:spcAft>
                <a:spcPts val="0"/>
              </a:spcAft>
              <a:buSzPts val="1200"/>
              <a:buNone/>
            </a:pPr>
            <a:endParaRPr/>
          </a:p>
        </p:txBody>
      </p:sp>
    </p:spTree>
    <p:extLst>
      <p:ext uri="{BB962C8B-B14F-4D97-AF65-F5344CB8AC3E}">
        <p14:creationId xmlns:p14="http://schemas.microsoft.com/office/powerpoint/2010/main" val="352788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322962"/>
            <a:ext cx="9144000" cy="2187001"/>
          </a:xfrm>
          <a:prstGeom prst="rect">
            <a:avLst/>
          </a:prstGeom>
          <a:noFill/>
          <a:ln>
            <a:noFill/>
          </a:ln>
        </p:spPr>
        <p:txBody>
          <a:bodyPr spcFirstLastPara="1" wrap="square" lIns="91425" tIns="45700" rIns="91425" bIns="45700" anchor="b" anchorCtr="0">
            <a:normAutofit/>
          </a:bodyPr>
          <a:lstStyle>
            <a:lvl1pPr lvl="0" algn="ctr">
              <a:lnSpc>
                <a:spcPct val="130000"/>
              </a:lnSpc>
              <a:spcBef>
                <a:spcPts val="0"/>
              </a:spcBef>
              <a:spcAft>
                <a:spcPts val="0"/>
              </a:spcAft>
              <a:buClr>
                <a:schemeClr val="dk1"/>
              </a:buClr>
              <a:buSzPts val="6000"/>
              <a:buFont typeface="Calibri"/>
              <a:buNone/>
              <a:defRPr sz="6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
        <p:nvSpPr>
          <p:cNvPr id="20" name="Google Shape;20;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3F3F3F"/>
              </a:buClr>
              <a:buSzPts val="2400"/>
              <a:buNone/>
              <a:defRPr sz="2400">
                <a:solidFill>
                  <a:srgbClr val="3F3F3F"/>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647700" y="25844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sz="4400" b="1">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body" idx="1"/>
          </p:nvPr>
        </p:nvSpPr>
        <p:spPr>
          <a:xfrm>
            <a:off x="6477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marL="914400" lvl="1" indent="-381000" algn="l">
              <a:lnSpc>
                <a:spcPct val="9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marL="1371600" lvl="2" indent="-355600" algn="l">
              <a:lnSpc>
                <a:spcPct val="9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marL="1828800" lvl="3" indent="-3429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marL="2286000" lvl="4" indent="-342900" algn="l">
              <a:lnSpc>
                <a:spcPct val="9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831850" y="3750945"/>
            <a:ext cx="9843135" cy="81153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body" idx="1"/>
          </p:nvPr>
        </p:nvSpPr>
        <p:spPr>
          <a:xfrm>
            <a:off x="831850" y="4610028"/>
            <a:ext cx="7321550" cy="64755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2400"/>
              <a:buNone/>
              <a:defRPr sz="2400">
                <a:solidFill>
                  <a:srgbClr val="7F7F7F"/>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647700" y="25844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sz="4400" b="0" i="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body" idx="1"/>
          </p:nvPr>
        </p:nvSpPr>
        <p:spPr>
          <a:xfrm>
            <a:off x="647700" y="1825625"/>
            <a:ext cx="5181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3F3F3F"/>
              </a:buClr>
              <a:buSzPts val="2800"/>
              <a:buNone/>
              <a:defRPr sz="2800">
                <a:solidFill>
                  <a:srgbClr val="3F3F3F"/>
                </a:solidFill>
                <a:latin typeface="Calibri"/>
                <a:ea typeface="Calibri"/>
                <a:cs typeface="Calibri"/>
                <a:sym typeface="Calibri"/>
              </a:defRPr>
            </a:lvl1pPr>
            <a:lvl2pPr marL="914400" lvl="1" indent="-381000" algn="l">
              <a:lnSpc>
                <a:spcPct val="150000"/>
              </a:lnSpc>
              <a:spcBef>
                <a:spcPts val="500"/>
              </a:spcBef>
              <a:spcAft>
                <a:spcPts val="0"/>
              </a:spcAft>
              <a:buClr>
                <a:srgbClr val="3F3F3F"/>
              </a:buClr>
              <a:buSzPts val="2400"/>
              <a:buChar char="•"/>
              <a:defRPr sz="2400">
                <a:solidFill>
                  <a:srgbClr val="3F3F3F"/>
                </a:solidFill>
                <a:latin typeface="Calibri"/>
                <a:ea typeface="Calibri"/>
                <a:cs typeface="Calibri"/>
                <a:sym typeface="Calibri"/>
              </a:defRPr>
            </a:lvl2pPr>
            <a:lvl3pPr marL="1371600" lvl="2" indent="-355600" algn="l">
              <a:lnSpc>
                <a:spcPct val="150000"/>
              </a:lnSpc>
              <a:spcBef>
                <a:spcPts val="500"/>
              </a:spcBef>
              <a:spcAft>
                <a:spcPts val="0"/>
              </a:spcAft>
              <a:buClr>
                <a:srgbClr val="3F3F3F"/>
              </a:buClr>
              <a:buSzPts val="2000"/>
              <a:buChar char="•"/>
              <a:defRPr sz="2000">
                <a:solidFill>
                  <a:srgbClr val="3F3F3F"/>
                </a:solidFill>
                <a:latin typeface="Calibri"/>
                <a:ea typeface="Calibri"/>
                <a:cs typeface="Calibri"/>
                <a:sym typeface="Calibri"/>
              </a:defRPr>
            </a:lvl3pPr>
            <a:lvl4pPr marL="1828800" lvl="3" indent="-3429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4pPr>
            <a:lvl5pPr marL="2286000" lvl="4" indent="-342900" algn="l">
              <a:lnSpc>
                <a:spcPct val="150000"/>
              </a:lnSpc>
              <a:spcBef>
                <a:spcPts val="500"/>
              </a:spcBef>
              <a:spcAft>
                <a:spcPts val="0"/>
              </a:spcAft>
              <a:buClr>
                <a:srgbClr val="3F3F3F"/>
              </a:buClr>
              <a:buSzPts val="1800"/>
              <a:buChar char="•"/>
              <a:defRPr sz="1800">
                <a:solidFill>
                  <a:srgbClr val="3F3F3F"/>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0"/>
          <p:cNvSpPr txBox="1">
            <a:spLocks noGrp="1"/>
          </p:cNvSpPr>
          <p:nvPr>
            <p:ph type="body" idx="2"/>
          </p:nvPr>
        </p:nvSpPr>
        <p:spPr>
          <a:xfrm>
            <a:off x="5981700" y="1825625"/>
            <a:ext cx="5181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3F3F3F"/>
              </a:buClr>
              <a:buSzPts val="2800"/>
              <a:buNone/>
              <a:defRPr sz="2800" b="0" i="0" u="none" strike="noStrike" cap="none">
                <a:solidFill>
                  <a:srgbClr val="3F3F3F"/>
                </a:solidFill>
                <a:latin typeface="Calibri"/>
                <a:ea typeface="Calibri"/>
                <a:cs typeface="Calibri"/>
                <a:sym typeface="Calibri"/>
              </a:defRPr>
            </a:lvl1pPr>
            <a:lvl2pPr marL="914400" lvl="1" indent="-381000" algn="l">
              <a:lnSpc>
                <a:spcPct val="150000"/>
              </a:lnSpc>
              <a:spcBef>
                <a:spcPts val="500"/>
              </a:spcBef>
              <a:spcAft>
                <a:spcPts val="0"/>
              </a:spcAft>
              <a:buClr>
                <a:srgbClr val="3F3F3F"/>
              </a:buClr>
              <a:buSzPts val="2400"/>
              <a:buChar char="•"/>
              <a:defRPr sz="2400">
                <a:solidFill>
                  <a:srgbClr val="3F3F3F"/>
                </a:solidFill>
              </a:defRPr>
            </a:lvl2pPr>
            <a:lvl3pPr marL="1371600" lvl="2" indent="-355600" algn="l">
              <a:lnSpc>
                <a:spcPct val="150000"/>
              </a:lnSpc>
              <a:spcBef>
                <a:spcPts val="500"/>
              </a:spcBef>
              <a:spcAft>
                <a:spcPts val="0"/>
              </a:spcAft>
              <a:buClr>
                <a:srgbClr val="3F3F3F"/>
              </a:buClr>
              <a:buSzPts val="2000"/>
              <a:buChar char="•"/>
              <a:defRPr sz="2000">
                <a:solidFill>
                  <a:srgbClr val="3F3F3F"/>
                </a:solidFill>
              </a:defRPr>
            </a:lvl3pPr>
            <a:lvl4pPr marL="1828800" lvl="3" indent="-355600" algn="l">
              <a:lnSpc>
                <a:spcPct val="150000"/>
              </a:lnSpc>
              <a:spcBef>
                <a:spcPts val="500"/>
              </a:spcBef>
              <a:spcAft>
                <a:spcPts val="0"/>
              </a:spcAft>
              <a:buClr>
                <a:srgbClr val="3F3F3F"/>
              </a:buClr>
              <a:buSzPts val="2000"/>
              <a:buChar char="•"/>
              <a:defRPr sz="2000">
                <a:solidFill>
                  <a:srgbClr val="3F3F3F"/>
                </a:solidFill>
              </a:defRPr>
            </a:lvl4pPr>
            <a:lvl5pPr marL="2286000" lvl="4" indent="-355600" algn="l">
              <a:lnSpc>
                <a:spcPct val="150000"/>
              </a:lnSpc>
              <a:spcBef>
                <a:spcPts val="500"/>
              </a:spcBef>
              <a:spcAft>
                <a:spcPts val="0"/>
              </a:spcAft>
              <a:buClr>
                <a:srgbClr val="3F3F3F"/>
              </a:buClr>
              <a:buSzPts val="2000"/>
              <a:buChar char="•"/>
              <a:defRPr sz="20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body" idx="1"/>
          </p:nvPr>
        </p:nvSpPr>
        <p:spPr>
          <a:xfrm>
            <a:off x="839788" y="1744961"/>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1"/>
          <p:cNvSpPr txBox="1">
            <a:spLocks noGrp="1"/>
          </p:cNvSpPr>
          <p:nvPr>
            <p:ph type="body" idx="2"/>
          </p:nvPr>
        </p:nvSpPr>
        <p:spPr>
          <a:xfrm>
            <a:off x="839788" y="2615609"/>
            <a:ext cx="5157787" cy="35740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1"/>
          <p:cNvSpPr txBox="1">
            <a:spLocks noGrp="1"/>
          </p:cNvSpPr>
          <p:nvPr>
            <p:ph type="body" idx="3"/>
          </p:nvPr>
        </p:nvSpPr>
        <p:spPr>
          <a:xfrm>
            <a:off x="6172200" y="1744961"/>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1"/>
          <p:cNvSpPr txBox="1">
            <a:spLocks noGrp="1"/>
          </p:cNvSpPr>
          <p:nvPr>
            <p:ph type="body" idx="4"/>
          </p:nvPr>
        </p:nvSpPr>
        <p:spPr>
          <a:xfrm>
            <a:off x="6172200" y="2615609"/>
            <a:ext cx="5183188" cy="35740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838200" y="2766219"/>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Calibri"/>
              <a:buNone/>
              <a:defRPr sz="4400" b="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646747" y="127000"/>
            <a:ext cx="4165200" cy="160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Calibri"/>
              <a:buNone/>
              <a:defRPr sz="3200" b="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a:spLocks noGrp="1"/>
          </p:cNvSpPr>
          <p:nvPr>
            <p:ph type="pic" idx="2"/>
          </p:nvPr>
        </p:nvSpPr>
        <p:spPr>
          <a:xfrm>
            <a:off x="5184000" y="766354"/>
            <a:ext cx="5817375" cy="5094446"/>
          </a:xfrm>
          <a:prstGeom prst="rect">
            <a:avLst/>
          </a:prstGeom>
          <a:noFill/>
          <a:ln>
            <a:noFill/>
          </a:ln>
        </p:spPr>
      </p:sp>
      <p:sp>
        <p:nvSpPr>
          <p:cNvPr id="61" name="Google Shape;61;p34"/>
          <p:cNvSpPr txBox="1">
            <a:spLocks noGrp="1"/>
          </p:cNvSpPr>
          <p:nvPr>
            <p:ph type="body" idx="1"/>
          </p:nvPr>
        </p:nvSpPr>
        <p:spPr>
          <a:xfrm>
            <a:off x="651827" y="2057400"/>
            <a:ext cx="4165200"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rot="5400000">
            <a:off x="7683223" y="2506386"/>
            <a:ext cx="5811838" cy="152931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txBox="1">
            <a:spLocks noGrp="1"/>
          </p:cNvSpPr>
          <p:nvPr>
            <p:ph type="body" idx="1"/>
          </p:nvPr>
        </p:nvSpPr>
        <p:spPr>
          <a:xfrm rot="5400000">
            <a:off x="2372260" y="-1168935"/>
            <a:ext cx="5811838" cy="88799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71"/>
        <p:cNvGrpSpPr/>
        <p:nvPr/>
      </p:nvGrpSpPr>
      <p:grpSpPr>
        <a:xfrm>
          <a:off x="0" y="0"/>
          <a:ext cx="0" cy="0"/>
          <a:chOff x="0" y="0"/>
          <a:chExt cx="0" cy="0"/>
        </a:xfrm>
      </p:grpSpPr>
      <p:sp>
        <p:nvSpPr>
          <p:cNvPr id="72" name="Google Shape;7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
        <p:nvSpPr>
          <p:cNvPr id="75" name="Google Shape;75;p36"/>
          <p:cNvSpPr txBox="1">
            <a:spLocks noGrp="1"/>
          </p:cNvSpPr>
          <p:nvPr>
            <p:ph type="body" idx="1"/>
          </p:nvPr>
        </p:nvSpPr>
        <p:spPr>
          <a:xfrm>
            <a:off x="838200" y="551543"/>
            <a:ext cx="10515600" cy="555897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g3a7c50a7b14_0_32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82" name="Google Shape;82;g3a7c50a7b14_0_32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83" name="Google Shape;83;g3a7c50a7b14_0_321"/>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
        <p:cNvGrpSpPr/>
        <p:nvPr/>
      </p:nvGrpSpPr>
      <p:grpSpPr>
        <a:xfrm>
          <a:off x="0" y="0"/>
          <a:ext cx="0" cy="0"/>
          <a:chOff x="0" y="0"/>
          <a:chExt cx="0" cy="0"/>
        </a:xfrm>
      </p:grpSpPr>
      <p:sp>
        <p:nvSpPr>
          <p:cNvPr id="85" name="Google Shape;85;g3a7c50a7b14_0_31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86" name="Google Shape;86;g3a7c50a7b14_0_31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87" name="Google Shape;87;g3a7c50a7b14_0_31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g3a7c50a7b14_0_325"/>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90" name="Google Shape;90;g3a7c50a7b14_0_32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sp>
        <p:nvSpPr>
          <p:cNvPr id="92" name="Google Shape;92;g3a7c50a7b14_0_32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93" name="Google Shape;93;g3a7c50a7b14_0_328"/>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94" name="Google Shape;94;g3a7c50a7b14_0_328"/>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95" name="Google Shape;95;g3a7c50a7b14_0_328"/>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g3a7c50a7b14_0_33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98" name="Google Shape;98;g3a7c50a7b14_0_33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9"/>
        <p:cNvGrpSpPr/>
        <p:nvPr/>
      </p:nvGrpSpPr>
      <p:grpSpPr>
        <a:xfrm>
          <a:off x="0" y="0"/>
          <a:ext cx="0" cy="0"/>
          <a:chOff x="0" y="0"/>
          <a:chExt cx="0" cy="0"/>
        </a:xfrm>
      </p:grpSpPr>
      <p:sp>
        <p:nvSpPr>
          <p:cNvPr id="100" name="Google Shape;100;g3a7c50a7b14_0_336"/>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101" name="Google Shape;101;g3a7c50a7b14_0_336"/>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102" name="Google Shape;102;g3a7c50a7b14_0_336"/>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3"/>
        <p:cNvGrpSpPr/>
        <p:nvPr/>
      </p:nvGrpSpPr>
      <p:grpSpPr>
        <a:xfrm>
          <a:off x="0" y="0"/>
          <a:ext cx="0" cy="0"/>
          <a:chOff x="0" y="0"/>
          <a:chExt cx="0" cy="0"/>
        </a:xfrm>
      </p:grpSpPr>
      <p:sp>
        <p:nvSpPr>
          <p:cNvPr id="104" name="Google Shape;104;g3a7c50a7b14_0_340"/>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105" name="Google Shape;105;g3a7c50a7b14_0_340"/>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g3a7c50a7b14_0_34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08" name="Google Shape;108;g3a7c50a7b14_0_343"/>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09" name="Google Shape;109;g3a7c50a7b14_0_343"/>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0" name="Google Shape;110;g3a7c50a7b14_0_343"/>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11" name="Google Shape;111;g3a7c50a7b14_0_34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2"/>
        <p:cNvGrpSpPr/>
        <p:nvPr/>
      </p:nvGrpSpPr>
      <p:grpSpPr>
        <a:xfrm>
          <a:off x="0" y="0"/>
          <a:ext cx="0" cy="0"/>
          <a:chOff x="0" y="0"/>
          <a:chExt cx="0" cy="0"/>
        </a:xfrm>
      </p:grpSpPr>
      <p:sp>
        <p:nvSpPr>
          <p:cNvPr id="113" name="Google Shape;113;g3a7c50a7b14_0_349"/>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114" name="Google Shape;114;g3a7c50a7b14_0_349"/>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g3a7c50a7b14_0_352"/>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17" name="Google Shape;117;g3a7c50a7b14_0_352"/>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118" name="Google Shape;118;g3a7c50a7b14_0_352"/>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g3a7c50a7b14_0_356"/>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21"/>
        <p:cNvGrpSpPr/>
        <p:nvPr/>
      </p:nvGrpSpPr>
      <p:grpSpPr>
        <a:xfrm>
          <a:off x="0" y="0"/>
          <a:ext cx="0" cy="0"/>
          <a:chOff x="0" y="0"/>
          <a:chExt cx="0" cy="0"/>
        </a:xfrm>
      </p:grpSpPr>
      <p:sp>
        <p:nvSpPr>
          <p:cNvPr id="122" name="Google Shape;122;g3a7c50a7b14_0_358"/>
          <p:cNvSpPr txBox="1">
            <a:spLocks noGrp="1"/>
          </p:cNvSpPr>
          <p:nvPr>
            <p:ph type="body" idx="1"/>
          </p:nvPr>
        </p:nvSpPr>
        <p:spPr>
          <a:xfrm>
            <a:off x="609600" y="457200"/>
            <a:ext cx="4876800" cy="5715300"/>
          </a:xfrm>
          <a:prstGeom prst="rect">
            <a:avLst/>
          </a:prstGeom>
          <a:noFill/>
          <a:ln>
            <a:noFill/>
          </a:ln>
        </p:spPr>
        <p:txBody>
          <a:bodyPr spcFirstLastPara="1" wrap="square" lIns="121900" tIns="60925" rIns="121900" bIns="60925" anchor="ctr" anchorCtr="0">
            <a:normAutofit/>
          </a:bodyPr>
          <a:lstStyle>
            <a:lvl1pPr marL="457200" lvl="0" indent="-381000" algn="l">
              <a:lnSpc>
                <a:spcPct val="115000"/>
              </a:lnSpc>
              <a:spcBef>
                <a:spcPts val="500"/>
              </a:spcBef>
              <a:spcAft>
                <a:spcPts val="0"/>
              </a:spcAft>
              <a:buSzPts val="2400"/>
              <a:buChar char="●"/>
              <a:defRPr/>
            </a:lvl1pPr>
            <a:lvl2pPr marL="914400" lvl="1" indent="-381000" algn="l">
              <a:lnSpc>
                <a:spcPct val="115000"/>
              </a:lnSpc>
              <a:spcBef>
                <a:spcPts val="500"/>
              </a:spcBef>
              <a:spcAft>
                <a:spcPts val="0"/>
              </a:spcAft>
              <a:buSzPts val="2400"/>
              <a:buChar char="○"/>
              <a:defRPr/>
            </a:lvl2pPr>
            <a:lvl3pPr marL="1371600" lvl="2" indent="-381000" algn="l">
              <a:lnSpc>
                <a:spcPct val="115000"/>
              </a:lnSpc>
              <a:spcBef>
                <a:spcPts val="500"/>
              </a:spcBef>
              <a:spcAft>
                <a:spcPts val="0"/>
              </a:spcAft>
              <a:buSzPts val="2400"/>
              <a:buChar char="■"/>
              <a:defRPr/>
            </a:lvl3pPr>
            <a:lvl4pPr marL="1828800" lvl="3" indent="-381000" algn="l">
              <a:lnSpc>
                <a:spcPct val="115000"/>
              </a:lnSpc>
              <a:spcBef>
                <a:spcPts val="500"/>
              </a:spcBef>
              <a:spcAft>
                <a:spcPts val="0"/>
              </a:spcAft>
              <a:buSzPts val="2400"/>
              <a:buChar char="●"/>
              <a:defRPr/>
            </a:lvl4pPr>
            <a:lvl5pPr marL="2286000" lvl="4" indent="-349250" algn="l">
              <a:lnSpc>
                <a:spcPct val="115000"/>
              </a:lnSpc>
              <a:spcBef>
                <a:spcPts val="400"/>
              </a:spcBef>
              <a:spcAft>
                <a:spcPts val="0"/>
              </a:spcAft>
              <a:buSzPts val="1900"/>
              <a:buChar char="○"/>
              <a:defRPr/>
            </a:lvl5pPr>
            <a:lvl6pPr marL="2743200" lvl="5" indent="-349250" algn="l">
              <a:lnSpc>
                <a:spcPct val="115000"/>
              </a:lnSpc>
              <a:spcBef>
                <a:spcPts val="400"/>
              </a:spcBef>
              <a:spcAft>
                <a:spcPts val="0"/>
              </a:spcAft>
              <a:buSzPts val="1900"/>
              <a:buChar char="■"/>
              <a:defRPr/>
            </a:lvl6pPr>
            <a:lvl7pPr marL="3200400" lvl="6" indent="-349250" algn="l">
              <a:lnSpc>
                <a:spcPct val="115000"/>
              </a:lnSpc>
              <a:spcBef>
                <a:spcPts val="400"/>
              </a:spcBef>
              <a:spcAft>
                <a:spcPts val="0"/>
              </a:spcAft>
              <a:buSzPts val="1900"/>
              <a:buChar char="●"/>
              <a:defRPr/>
            </a:lvl7pPr>
            <a:lvl8pPr marL="3657600" lvl="7" indent="-349250" algn="l">
              <a:lnSpc>
                <a:spcPct val="115000"/>
              </a:lnSpc>
              <a:spcBef>
                <a:spcPts val="400"/>
              </a:spcBef>
              <a:spcAft>
                <a:spcPts val="0"/>
              </a:spcAft>
              <a:buSzPts val="1900"/>
              <a:buChar char="○"/>
              <a:defRPr/>
            </a:lvl8pPr>
            <a:lvl9pPr marL="4114800" lvl="8" indent="-349250" algn="l">
              <a:lnSpc>
                <a:spcPct val="115000"/>
              </a:lnSpc>
              <a:spcBef>
                <a:spcPts val="400"/>
              </a:spcBef>
              <a:spcAft>
                <a:spcPts val="0"/>
              </a:spcAft>
              <a:buSzPts val="1900"/>
              <a:buChar char="■"/>
              <a:defRPr/>
            </a:lvl9pPr>
          </a:lstStyle>
          <a:p>
            <a:endParaRPr/>
          </a:p>
        </p:txBody>
      </p:sp>
      <p:sp>
        <p:nvSpPr>
          <p:cNvPr id="123" name="Google Shape;123;g3a7c50a7b14_0_358"/>
          <p:cNvSpPr txBox="1">
            <a:spLocks noGrp="1"/>
          </p:cNvSpPr>
          <p:nvPr>
            <p:ph type="title"/>
          </p:nvPr>
        </p:nvSpPr>
        <p:spPr>
          <a:xfrm>
            <a:off x="6502400" y="457200"/>
            <a:ext cx="3759300" cy="5715300"/>
          </a:xfrm>
          <a:prstGeom prst="rect">
            <a:avLst/>
          </a:prstGeom>
          <a:noFill/>
          <a:ln>
            <a:noFill/>
          </a:ln>
        </p:spPr>
        <p:txBody>
          <a:bodyPr spcFirstLastPara="1" wrap="square" lIns="121900" tIns="60925" rIns="121900" bIns="60925" anchor="ctr" anchorCtr="0">
            <a:normAutofit/>
          </a:bodyPr>
          <a:lstStyle>
            <a:lvl1pPr lvl="0" algn="r">
              <a:lnSpc>
                <a:spcPct val="100000"/>
              </a:lnSpc>
              <a:spcBef>
                <a:spcPts val="0"/>
              </a:spcBef>
              <a:spcAft>
                <a:spcPts val="0"/>
              </a:spcAft>
              <a:buClr>
                <a:schemeClr val="dk1"/>
              </a:buClr>
              <a:buSzPts val="24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24" name="Google Shape;124;g3a7c50a7b14_0_358"/>
          <p:cNvSpPr txBox="1">
            <a:spLocks noGrp="1"/>
          </p:cNvSpPr>
          <p:nvPr>
            <p:ph type="dt" idx="10"/>
          </p:nvPr>
        </p:nvSpPr>
        <p:spPr>
          <a:xfrm>
            <a:off x="6502401" y="6426201"/>
            <a:ext cx="3759300" cy="126900"/>
          </a:xfrm>
          <a:prstGeom prst="rect">
            <a:avLst/>
          </a:prstGeom>
          <a:noFill/>
          <a:ln>
            <a:noFill/>
          </a:ln>
        </p:spPr>
        <p:txBody>
          <a:bodyPr spcFirstLastPara="1" wrap="square" lIns="121900" tIns="60925" rIns="121900" bIns="60925" anchor="ctr" anchorCtr="0">
            <a:noAutofit/>
          </a:bodyPr>
          <a:lstStyle>
            <a:lvl1pPr marR="0" lvl="0" algn="r"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125" name="Google Shape;125;g3a7c50a7b14_0_358"/>
          <p:cNvSpPr txBox="1">
            <a:spLocks noGrp="1"/>
          </p:cNvSpPr>
          <p:nvPr>
            <p:ph type="sldNum" idx="12"/>
          </p:nvPr>
        </p:nvSpPr>
        <p:spPr>
          <a:xfrm>
            <a:off x="10363200" y="6400800"/>
            <a:ext cx="711300" cy="152400"/>
          </a:xfrm>
          <a:prstGeom prst="rect">
            <a:avLst/>
          </a:prstGeom>
          <a:noFill/>
          <a:ln>
            <a:noFill/>
          </a:ln>
        </p:spPr>
        <p:txBody>
          <a:bodyPr spcFirstLastPara="1" wrap="square" lIns="121900" tIns="60925" rIns="121900" bIns="60925" anchor="ctr" anchorCtr="0">
            <a:normAutofit/>
          </a:bodyPr>
          <a:lstStyle>
            <a:lvl1pPr marL="0" marR="0" lvl="0"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85200"/>
              <a:buFont typeface="Arial"/>
              <a:buNone/>
              <a:defRPr sz="13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‹N°›</a:t>
            </a:fld>
            <a:endParaRPr/>
          </a:p>
        </p:txBody>
      </p:sp>
      <p:sp>
        <p:nvSpPr>
          <p:cNvPr id="126" name="Google Shape;126;g3a7c50a7b14_0_358"/>
          <p:cNvSpPr txBox="1">
            <a:spLocks noGrp="1"/>
          </p:cNvSpPr>
          <p:nvPr>
            <p:ph type="ftr" idx="11"/>
          </p:nvPr>
        </p:nvSpPr>
        <p:spPr>
          <a:xfrm>
            <a:off x="6500284" y="6296248"/>
            <a:ext cx="3761100" cy="152400"/>
          </a:xfrm>
          <a:prstGeom prst="rect">
            <a:avLst/>
          </a:prstGeom>
          <a:noFill/>
          <a:ln>
            <a:noFill/>
          </a:ln>
        </p:spPr>
        <p:txBody>
          <a:bodyPr spcFirstLastPara="1" wrap="square" lIns="121900" tIns="60925" rIns="121900" bIns="60925" anchor="b" anchorCtr="0">
            <a:noAutofit/>
          </a:bodyPr>
          <a:lstStyle>
            <a:lvl1pPr marR="0" lvl="0" algn="r"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stom Layout 2 1 1">
  <p:cSld name="CUSTOM_1_1_1_3_2">
    <p:spTree>
      <p:nvGrpSpPr>
        <p:cNvPr id="1" name="Shape 127"/>
        <p:cNvGrpSpPr/>
        <p:nvPr/>
      </p:nvGrpSpPr>
      <p:grpSpPr>
        <a:xfrm>
          <a:off x="0" y="0"/>
          <a:ext cx="0" cy="0"/>
          <a:chOff x="0" y="0"/>
          <a:chExt cx="0" cy="0"/>
        </a:xfrm>
      </p:grpSpPr>
      <p:sp>
        <p:nvSpPr>
          <p:cNvPr id="128" name="Google Shape;128;g3a7c50a7b14_0_364"/>
          <p:cNvSpPr txBox="1"/>
          <p:nvPr/>
        </p:nvSpPr>
        <p:spPr>
          <a:xfrm>
            <a:off x="0" y="0"/>
            <a:ext cx="3495900" cy="6858000"/>
          </a:xfrm>
          <a:prstGeom prst="rect">
            <a:avLst/>
          </a:prstGeom>
          <a:solidFill>
            <a:srgbClr val="D9D2E9"/>
          </a:solid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29" name="Google Shape;129;g3a7c50a7b14_0_364"/>
          <p:cNvSpPr txBox="1">
            <a:spLocks noGrp="1"/>
          </p:cNvSpPr>
          <p:nvPr>
            <p:ph type="sldNum" idx="12"/>
          </p:nvPr>
        </p:nvSpPr>
        <p:spPr>
          <a:xfrm>
            <a:off x="11409045" y="6333135"/>
            <a:ext cx="731700" cy="524700"/>
          </a:xfrm>
          <a:prstGeom prst="rect">
            <a:avLst/>
          </a:prstGeom>
          <a:noFill/>
          <a:ln>
            <a:noFill/>
          </a:ln>
        </p:spPr>
        <p:txBody>
          <a:bodyPr spcFirstLastPara="1" wrap="square" lIns="121900" tIns="121900" rIns="121900" bIns="121900" anchor="t" anchorCtr="0">
            <a:normAutofit/>
          </a:bodyPr>
          <a:lstStyle>
            <a:lvl1pPr marL="0" marR="0" lvl="0"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
        <p:nvSpPr>
          <p:cNvPr id="130" name="Google Shape;130;g3a7c50a7b14_0_364"/>
          <p:cNvSpPr txBox="1">
            <a:spLocks noGrp="1"/>
          </p:cNvSpPr>
          <p:nvPr>
            <p:ph type="title"/>
          </p:nvPr>
        </p:nvSpPr>
        <p:spPr>
          <a:xfrm>
            <a:off x="325667" y="2918467"/>
            <a:ext cx="2844900" cy="763500"/>
          </a:xfrm>
          <a:prstGeom prst="rect">
            <a:avLst/>
          </a:prstGeom>
          <a:noFill/>
          <a:ln>
            <a:noFill/>
          </a:ln>
        </p:spPr>
        <p:txBody>
          <a:bodyPr spcFirstLastPara="1" wrap="square" lIns="0" tIns="0" rIns="121900" bIns="0" anchor="t" anchorCtr="0">
            <a:spAutoFit/>
          </a:bodyPr>
          <a:lstStyle>
            <a:lvl1pPr lvl="0" algn="l">
              <a:lnSpc>
                <a:spcPct val="100000"/>
              </a:lnSpc>
              <a:spcBef>
                <a:spcPts val="0"/>
              </a:spcBef>
              <a:spcAft>
                <a:spcPts val="0"/>
              </a:spcAft>
              <a:buSzPts val="2700"/>
              <a:buFont typeface="Arial"/>
              <a:buNone/>
              <a:defRPr sz="2700">
                <a:latin typeface="Arial"/>
                <a:ea typeface="Arial"/>
                <a:cs typeface="Arial"/>
                <a:sym typeface="Arial"/>
              </a:defRPr>
            </a:lvl1pPr>
            <a:lvl2pPr lvl="1" algn="l">
              <a:lnSpc>
                <a:spcPct val="100000"/>
              </a:lnSpc>
              <a:spcBef>
                <a:spcPts val="0"/>
              </a:spcBef>
              <a:spcAft>
                <a:spcPts val="0"/>
              </a:spcAft>
              <a:buSzPts val="2700"/>
              <a:buFont typeface="Arial"/>
              <a:buNone/>
              <a:defRPr sz="2700">
                <a:latin typeface="Arial"/>
                <a:ea typeface="Arial"/>
                <a:cs typeface="Arial"/>
                <a:sym typeface="Arial"/>
              </a:defRPr>
            </a:lvl2pPr>
            <a:lvl3pPr lvl="2" algn="l">
              <a:lnSpc>
                <a:spcPct val="100000"/>
              </a:lnSpc>
              <a:spcBef>
                <a:spcPts val="0"/>
              </a:spcBef>
              <a:spcAft>
                <a:spcPts val="0"/>
              </a:spcAft>
              <a:buSzPts val="2700"/>
              <a:buFont typeface="Arial"/>
              <a:buNone/>
              <a:defRPr sz="2700">
                <a:latin typeface="Arial"/>
                <a:ea typeface="Arial"/>
                <a:cs typeface="Arial"/>
                <a:sym typeface="Arial"/>
              </a:defRPr>
            </a:lvl3pPr>
            <a:lvl4pPr lvl="3" algn="l">
              <a:lnSpc>
                <a:spcPct val="100000"/>
              </a:lnSpc>
              <a:spcBef>
                <a:spcPts val="0"/>
              </a:spcBef>
              <a:spcAft>
                <a:spcPts val="0"/>
              </a:spcAft>
              <a:buSzPts val="2700"/>
              <a:buFont typeface="Arial"/>
              <a:buNone/>
              <a:defRPr sz="2700">
                <a:latin typeface="Arial"/>
                <a:ea typeface="Arial"/>
                <a:cs typeface="Arial"/>
                <a:sym typeface="Arial"/>
              </a:defRPr>
            </a:lvl4pPr>
            <a:lvl5pPr lvl="4" algn="l">
              <a:lnSpc>
                <a:spcPct val="100000"/>
              </a:lnSpc>
              <a:spcBef>
                <a:spcPts val="0"/>
              </a:spcBef>
              <a:spcAft>
                <a:spcPts val="0"/>
              </a:spcAft>
              <a:buSzPts val="2700"/>
              <a:buFont typeface="Arial"/>
              <a:buNone/>
              <a:defRPr sz="2700">
                <a:latin typeface="Arial"/>
                <a:ea typeface="Arial"/>
                <a:cs typeface="Arial"/>
                <a:sym typeface="Arial"/>
              </a:defRPr>
            </a:lvl5pPr>
            <a:lvl6pPr lvl="5" algn="l">
              <a:lnSpc>
                <a:spcPct val="100000"/>
              </a:lnSpc>
              <a:spcBef>
                <a:spcPts val="0"/>
              </a:spcBef>
              <a:spcAft>
                <a:spcPts val="0"/>
              </a:spcAft>
              <a:buSzPts val="2700"/>
              <a:buFont typeface="Arial"/>
              <a:buNone/>
              <a:defRPr sz="2700">
                <a:latin typeface="Arial"/>
                <a:ea typeface="Arial"/>
                <a:cs typeface="Arial"/>
                <a:sym typeface="Arial"/>
              </a:defRPr>
            </a:lvl6pPr>
            <a:lvl7pPr lvl="6" algn="l">
              <a:lnSpc>
                <a:spcPct val="100000"/>
              </a:lnSpc>
              <a:spcBef>
                <a:spcPts val="0"/>
              </a:spcBef>
              <a:spcAft>
                <a:spcPts val="0"/>
              </a:spcAft>
              <a:buSzPts val="2700"/>
              <a:buFont typeface="Arial"/>
              <a:buNone/>
              <a:defRPr sz="2700">
                <a:latin typeface="Arial"/>
                <a:ea typeface="Arial"/>
                <a:cs typeface="Arial"/>
                <a:sym typeface="Arial"/>
              </a:defRPr>
            </a:lvl7pPr>
            <a:lvl8pPr lvl="7" algn="l">
              <a:lnSpc>
                <a:spcPct val="100000"/>
              </a:lnSpc>
              <a:spcBef>
                <a:spcPts val="0"/>
              </a:spcBef>
              <a:spcAft>
                <a:spcPts val="0"/>
              </a:spcAft>
              <a:buSzPts val="2700"/>
              <a:buFont typeface="Arial"/>
              <a:buNone/>
              <a:defRPr sz="2700">
                <a:latin typeface="Arial"/>
                <a:ea typeface="Arial"/>
                <a:cs typeface="Arial"/>
                <a:sym typeface="Arial"/>
              </a:defRPr>
            </a:lvl8pPr>
            <a:lvl9pPr lvl="8" algn="l">
              <a:lnSpc>
                <a:spcPct val="100000"/>
              </a:lnSpc>
              <a:spcBef>
                <a:spcPts val="0"/>
              </a:spcBef>
              <a:spcAft>
                <a:spcPts val="0"/>
              </a:spcAft>
              <a:buSzPts val="2700"/>
              <a:buFont typeface="Arial"/>
              <a:buNone/>
              <a:defRPr sz="2700">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Calibri"/>
              <a:buNone/>
              <a:defRPr sz="4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6"/>
        <p:cNvGrpSpPr/>
        <p:nvPr/>
      </p:nvGrpSpPr>
      <p:grpSpPr>
        <a:xfrm>
          <a:off x="0" y="0"/>
          <a:ext cx="0" cy="0"/>
          <a:chOff x="0" y="0"/>
          <a:chExt cx="0" cy="0"/>
        </a:xfrm>
      </p:grpSpPr>
      <p:sp>
        <p:nvSpPr>
          <p:cNvPr id="77" name="Google Shape;77;g3a7c50a7b14_0_31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78" name="Google Shape;78;g3a7c50a7b14_0_313"/>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79" name="Google Shape;79;g3a7c50a7b14_0_313"/>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uyMHFAAi130EQTMlEtvaPBE0QNRrLgWZ/edit?usp=sharing&amp;ouid=108551848774275941062&amp;rtpof=true&amp;sd=true"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Clr>
                <a:srgbClr val="888888"/>
              </a:buClr>
              <a:buSzPts val="1000"/>
              <a:buFont typeface="Calibri"/>
              <a:buNone/>
            </a:pPr>
            <a:fld id="{00000000-1234-1234-1234-123412341234}" type="slidenum">
              <a:rPr lang="en-US" sz="1600"/>
              <a:t>1</a:t>
            </a:fld>
            <a:endParaRPr sz="1600"/>
          </a:p>
        </p:txBody>
      </p:sp>
      <p:sp>
        <p:nvSpPr>
          <p:cNvPr id="136" name="Google Shape;136;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2265" b="0" i="0" u="none" strike="noStrike" cap="none">
                <a:solidFill>
                  <a:srgbClr val="FFFFFF"/>
                </a:solidFill>
                <a:latin typeface="Arial"/>
                <a:ea typeface="Arial"/>
                <a:cs typeface="Arial"/>
                <a:sym typeface="Arial"/>
              </a:rPr>
              <a:t>October 2024</a:t>
            </a:r>
            <a:endParaRPr sz="2265" b="0" i="0" u="none" strike="noStrike" cap="none">
              <a:solidFill>
                <a:srgbClr val="FFFFFF"/>
              </a:solidFill>
              <a:latin typeface="Arial"/>
              <a:ea typeface="Arial"/>
              <a:cs typeface="Arial"/>
              <a:sym typeface="Arial"/>
            </a:endParaRPr>
          </a:p>
        </p:txBody>
      </p:sp>
      <p:pic>
        <p:nvPicPr>
          <p:cNvPr id="137" name="Google Shape;137;p1"/>
          <p:cNvPicPr preferRelativeResize="0"/>
          <p:nvPr/>
        </p:nvPicPr>
        <p:blipFill rotWithShape="1">
          <a:blip r:embed="rId3">
            <a:alphaModFix/>
          </a:blip>
          <a:srcRect l="-17785"/>
          <a:stretch/>
        </p:blipFill>
        <p:spPr>
          <a:xfrm>
            <a:off x="-683503" y="1646443"/>
            <a:ext cx="4526453" cy="3703151"/>
          </a:xfrm>
          <a:prstGeom prst="rect">
            <a:avLst/>
          </a:prstGeom>
          <a:noFill/>
          <a:ln>
            <a:noFill/>
          </a:ln>
        </p:spPr>
      </p:pic>
      <p:sp>
        <p:nvSpPr>
          <p:cNvPr id="138" name="Google Shape;138;p1"/>
          <p:cNvSpPr txBox="1"/>
          <p:nvPr/>
        </p:nvSpPr>
        <p:spPr>
          <a:xfrm>
            <a:off x="4719950" y="1537978"/>
            <a:ext cx="7215600" cy="1890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4000" b="1" i="0" u="none" strike="noStrike" cap="none">
                <a:solidFill>
                  <a:srgbClr val="145ABE"/>
                </a:solidFill>
                <a:latin typeface="Times New Roman"/>
                <a:ea typeface="Times New Roman"/>
                <a:cs typeface="Times New Roman"/>
                <a:sym typeface="Times New Roman"/>
              </a:rPr>
              <a:t>REVUE ANNUELLE 2025 DU PEV</a:t>
            </a:r>
            <a:endParaRPr sz="4000" b="1" i="0" u="none" strike="noStrike" cap="none">
              <a:solidFill>
                <a:srgbClr val="145ABE"/>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4000" b="0" i="0" u="none" strike="noStrike" cap="none">
              <a:solidFill>
                <a:srgbClr val="145ABE"/>
              </a:solidFill>
              <a:latin typeface="Times New Roman"/>
              <a:ea typeface="Times New Roman"/>
              <a:cs typeface="Times New Roman"/>
              <a:sym typeface="Times New Roman"/>
            </a:endParaRPr>
          </a:p>
        </p:txBody>
      </p:sp>
      <p:sp>
        <p:nvSpPr>
          <p:cNvPr id="139" name="Google Shape;139;p1"/>
          <p:cNvSpPr/>
          <p:nvPr/>
        </p:nvSpPr>
        <p:spPr>
          <a:xfrm>
            <a:off x="3660828" y="1516400"/>
            <a:ext cx="373600" cy="1867200"/>
          </a:xfrm>
          <a:prstGeom prst="rect">
            <a:avLst/>
          </a:prstGeom>
          <a:solidFill>
            <a:srgbClr val="145A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465" b="0" i="0" u="none" strike="noStrike" cap="none">
              <a:solidFill>
                <a:srgbClr val="000000"/>
              </a:solidFill>
              <a:latin typeface="Times New Roman"/>
              <a:ea typeface="Times New Roman"/>
              <a:cs typeface="Times New Roman"/>
              <a:sym typeface="Times New Roman"/>
            </a:endParaRPr>
          </a:p>
        </p:txBody>
      </p:sp>
      <p:sp>
        <p:nvSpPr>
          <p:cNvPr id="140" name="Google Shape;140;p1"/>
          <p:cNvSpPr txBox="1"/>
          <p:nvPr/>
        </p:nvSpPr>
        <p:spPr>
          <a:xfrm>
            <a:off x="4719955" y="3383915"/>
            <a:ext cx="7215505" cy="10642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3600" b="1" i="1">
                <a:solidFill>
                  <a:srgbClr val="1155CC"/>
                </a:solidFill>
                <a:latin typeface="Times New Roman"/>
                <a:ea typeface="Times New Roman"/>
                <a:cs typeface="Times New Roman"/>
                <a:sym typeface="Times New Roman"/>
              </a:rPr>
              <a:t>Vision PEV 2026</a:t>
            </a:r>
            <a:endParaRPr sz="1000" b="0"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000" b="0" i="0" u="none" strike="noStrike" cap="none">
              <a:solidFill>
                <a:srgbClr val="000000"/>
              </a:solidFill>
              <a:latin typeface="Arial"/>
              <a:ea typeface="Arial"/>
              <a:cs typeface="Arial"/>
              <a:sym typeface="Arial"/>
            </a:endParaRPr>
          </a:p>
        </p:txBody>
      </p:sp>
      <p:sp>
        <p:nvSpPr>
          <p:cNvPr id="141" name="Google Shape;141;p1"/>
          <p:cNvSpPr txBox="1"/>
          <p:nvPr/>
        </p:nvSpPr>
        <p:spPr>
          <a:xfrm>
            <a:off x="4719950" y="4765050"/>
            <a:ext cx="2994600" cy="637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2800" b="0" i="1" u="none" strike="noStrike" cap="none">
                <a:solidFill>
                  <a:srgbClr val="145ABE"/>
                </a:solidFill>
                <a:latin typeface="Times New Roman"/>
                <a:ea typeface="Times New Roman"/>
                <a:cs typeface="Times New Roman"/>
                <a:sym typeface="Times New Roman"/>
              </a:rPr>
              <a:t>Decembre 2025</a:t>
            </a:r>
            <a:r>
              <a:rPr lang="en-US" sz="3200" b="1" i="0" u="none" strike="noStrike" cap="none">
                <a:solidFill>
                  <a:srgbClr val="145ABE"/>
                </a:solidFill>
                <a:latin typeface="Times New Roman"/>
                <a:ea typeface="Times New Roman"/>
                <a:cs typeface="Times New Roman"/>
                <a:sym typeface="Times New Roman"/>
              </a:rPr>
              <a:t> </a:t>
            </a:r>
            <a:endParaRPr sz="2000" b="1" i="0" u="none" strike="noStrike" cap="none">
              <a:solidFill>
                <a:srgbClr val="145ABE"/>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endParaRPr sz="2000" b="1" i="0" u="none" strike="noStrike" cap="none">
              <a:solidFill>
                <a:srgbClr val="145ABE"/>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500"/>
              <a:buFont typeface="Arial"/>
              <a:buNone/>
            </a:pPr>
            <a:r>
              <a:rPr lang="en-US" sz="2000" b="1" i="0" u="none" strike="noStrike" cap="none">
                <a:solidFill>
                  <a:srgbClr val="145ABE"/>
                </a:solidFill>
                <a:latin typeface="Times New Roman"/>
                <a:ea typeface="Times New Roman"/>
                <a:cs typeface="Times New Roman"/>
                <a:sym typeface="Times New Roman"/>
              </a:rPr>
              <a:t> </a:t>
            </a:r>
            <a:endParaRPr sz="1465"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2000" b="1" i="1" u="none" strike="noStrike" cap="none">
              <a:solidFill>
                <a:srgbClr val="145ABE"/>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a7c511620c_0_0"/>
          <p:cNvSpPr txBox="1"/>
          <p:nvPr/>
        </p:nvSpPr>
        <p:spPr>
          <a:xfrm>
            <a:off x="458592" y="317941"/>
            <a:ext cx="11274900" cy="82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a:solidFill>
                  <a:srgbClr val="1155CC"/>
                </a:solidFill>
                <a:latin typeface="Times New Roman"/>
                <a:ea typeface="Times New Roman"/>
                <a:cs typeface="Times New Roman"/>
                <a:sym typeface="Times New Roman"/>
              </a:rPr>
              <a:t>Pour 2026, le PEV va consolider l’approche antenne comme modèle opérationnel durable</a:t>
            </a:r>
            <a:endParaRPr sz="2500" b="0" i="0" u="none" strike="noStrike" cap="none">
              <a:solidFill>
                <a:srgbClr val="1155CC"/>
              </a:solidFill>
              <a:latin typeface="Times New Roman"/>
              <a:ea typeface="Times New Roman"/>
              <a:cs typeface="Times New Roman"/>
              <a:sym typeface="Times New Roman"/>
            </a:endParaRPr>
          </a:p>
        </p:txBody>
      </p:sp>
      <p:sp>
        <p:nvSpPr>
          <p:cNvPr id="147" name="Google Shape;147;g3a7c511620c_0_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148" name="Google Shape;148;g3a7c511620c_0_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149" name="Google Shape;149;g3a7c511620c_0_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2</a:t>
            </a:fld>
            <a:endParaRPr sz="1200" b="0" i="0" u="none" strike="noStrike" cap="none">
              <a:solidFill>
                <a:srgbClr val="1155CC"/>
              </a:solidFill>
              <a:latin typeface="Arial"/>
              <a:ea typeface="Arial"/>
              <a:cs typeface="Arial"/>
              <a:sym typeface="Arial"/>
            </a:endParaRPr>
          </a:p>
        </p:txBody>
      </p:sp>
      <p:sp>
        <p:nvSpPr>
          <p:cNvPr id="150" name="Google Shape;150;g3a7c511620c_0_0"/>
          <p:cNvSpPr txBox="1"/>
          <p:nvPr/>
        </p:nvSpPr>
        <p:spPr>
          <a:xfrm>
            <a:off x="458600" y="2162349"/>
            <a:ext cx="5890500" cy="3603749"/>
          </a:xfrm>
          <a:prstGeom prst="rect">
            <a:avLst/>
          </a:prstGeom>
          <a:solidFill>
            <a:srgbClr val="C9DAF8"/>
          </a:solidFill>
          <a:ln>
            <a:noFill/>
          </a:ln>
        </p:spPr>
        <p:txBody>
          <a:bodyPr spcFirstLastPara="1" wrap="square" lIns="408000" tIns="121900" rIns="408000" bIns="121900" anchor="t" anchorCtr="0">
            <a:noAutofit/>
          </a:bodyPr>
          <a:lstStyle/>
          <a:p>
            <a:pPr marL="0" marR="0" lvl="0" indent="0" algn="just" rtl="0">
              <a:lnSpc>
                <a:spcPct val="100000"/>
              </a:lnSpc>
              <a:spcBef>
                <a:spcPts val="1300"/>
              </a:spcBef>
              <a:spcAft>
                <a:spcPts val="0"/>
              </a:spcAft>
              <a:buClr>
                <a:srgbClr val="000000"/>
              </a:buClr>
              <a:buSzPts val="2000"/>
              <a:buFont typeface="Arial"/>
              <a:buNone/>
            </a:pPr>
            <a:r>
              <a:rPr lang="en-US" sz="2000" b="1" dirty="0">
                <a:latin typeface="Times New Roman"/>
                <a:ea typeface="Times New Roman"/>
                <a:cs typeface="Times New Roman"/>
                <a:sym typeface="Times New Roman"/>
              </a:rPr>
              <a:t>Vision</a:t>
            </a:r>
            <a:r>
              <a:rPr lang="en-US" sz="2000" b="1" i="0" u="none" strike="noStrike" cap="none" dirty="0">
                <a:solidFill>
                  <a:srgbClr val="000000"/>
                </a:solidFill>
                <a:latin typeface="Times New Roman"/>
                <a:ea typeface="Times New Roman"/>
                <a:cs typeface="Times New Roman"/>
                <a:sym typeface="Times New Roman"/>
              </a:rPr>
              <a:t> </a:t>
            </a:r>
            <a:endParaRPr sz="20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1300"/>
              </a:spcBef>
              <a:spcAft>
                <a:spcPts val="0"/>
              </a:spcAft>
              <a:buClr>
                <a:srgbClr val="000000"/>
              </a:buClr>
              <a:buSzPts val="2000"/>
              <a:buFont typeface="Arial"/>
              <a:buNone/>
            </a:pPr>
            <a:r>
              <a:rPr lang="en-US" sz="2500" dirty="0" err="1">
                <a:latin typeface="Times New Roman"/>
                <a:ea typeface="Times New Roman"/>
                <a:cs typeface="Times New Roman"/>
                <a:sym typeface="Times New Roman"/>
              </a:rPr>
              <a:t>Bâtir</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sur</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l’approche</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antenne</a:t>
            </a:r>
            <a:r>
              <a:rPr lang="en-US" sz="2500" dirty="0">
                <a:latin typeface="Times New Roman"/>
                <a:ea typeface="Times New Roman"/>
                <a:cs typeface="Times New Roman"/>
                <a:sym typeface="Times New Roman"/>
              </a:rPr>
              <a:t> en un </a:t>
            </a:r>
            <a:r>
              <a:rPr lang="en-US" sz="2500" dirty="0" err="1">
                <a:latin typeface="Times New Roman"/>
                <a:ea typeface="Times New Roman"/>
                <a:cs typeface="Times New Roman"/>
                <a:sym typeface="Times New Roman"/>
              </a:rPr>
              <a:t>modèle</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opérationnel</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décentralisé</a:t>
            </a:r>
            <a:r>
              <a:rPr lang="en-US" sz="2500" dirty="0">
                <a:latin typeface="Times New Roman"/>
                <a:ea typeface="Times New Roman"/>
                <a:cs typeface="Times New Roman"/>
                <a:sym typeface="Times New Roman"/>
              </a:rPr>
              <a:t> et durable pour la vaccination de routine, capable de </a:t>
            </a:r>
            <a:r>
              <a:rPr lang="en-US" sz="2500" dirty="0" err="1">
                <a:latin typeface="Times New Roman"/>
                <a:ea typeface="Times New Roman"/>
                <a:cs typeface="Times New Roman"/>
                <a:sym typeface="Times New Roman"/>
              </a:rPr>
              <a:t>s’adapter</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rapidement</a:t>
            </a:r>
            <a:r>
              <a:rPr lang="en-US" sz="2500" dirty="0">
                <a:latin typeface="Times New Roman"/>
                <a:ea typeface="Times New Roman"/>
                <a:cs typeface="Times New Roman"/>
                <a:sym typeface="Times New Roman"/>
              </a:rPr>
              <a:t> aux </a:t>
            </a:r>
            <a:r>
              <a:rPr lang="en-US" sz="2500" dirty="0" err="1">
                <a:latin typeface="Times New Roman"/>
                <a:ea typeface="Times New Roman"/>
                <a:cs typeface="Times New Roman"/>
                <a:sym typeface="Times New Roman"/>
              </a:rPr>
              <a:t>besoins</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locaux</a:t>
            </a:r>
            <a:r>
              <a:rPr lang="en-US" sz="2500" dirty="0">
                <a:latin typeface="Times New Roman"/>
                <a:ea typeface="Times New Roman"/>
                <a:cs typeface="Times New Roman"/>
                <a:sym typeface="Times New Roman"/>
              </a:rPr>
              <a:t> pour </a:t>
            </a:r>
            <a:r>
              <a:rPr lang="en-US" sz="2500" dirty="0" err="1">
                <a:latin typeface="Times New Roman"/>
                <a:ea typeface="Times New Roman"/>
                <a:cs typeface="Times New Roman"/>
                <a:sym typeface="Times New Roman"/>
              </a:rPr>
              <a:t>une</a:t>
            </a:r>
            <a:r>
              <a:rPr lang="en-US" sz="2500" dirty="0">
                <a:latin typeface="Times New Roman"/>
                <a:ea typeface="Times New Roman"/>
                <a:cs typeface="Times New Roman"/>
                <a:sym typeface="Times New Roman"/>
              </a:rPr>
              <a:t> augmentation de la </a:t>
            </a:r>
            <a:r>
              <a:rPr lang="en-US" sz="2500" dirty="0" err="1">
                <a:latin typeface="Times New Roman"/>
                <a:ea typeface="Times New Roman"/>
                <a:cs typeface="Times New Roman"/>
                <a:sym typeface="Times New Roman"/>
              </a:rPr>
              <a:t>couverture</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vaccinale</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équitable</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dans</a:t>
            </a:r>
            <a:r>
              <a:rPr lang="en-US" sz="2500" dirty="0">
                <a:latin typeface="Times New Roman"/>
                <a:ea typeface="Times New Roman"/>
                <a:cs typeface="Times New Roman"/>
                <a:sym typeface="Times New Roman"/>
              </a:rPr>
              <a:t> </a:t>
            </a:r>
            <a:r>
              <a:rPr lang="en-US" sz="2500" dirty="0" err="1">
                <a:latin typeface="Times New Roman"/>
                <a:ea typeface="Times New Roman"/>
                <a:cs typeface="Times New Roman"/>
                <a:sym typeface="Times New Roman"/>
              </a:rPr>
              <a:t>toutes</a:t>
            </a:r>
            <a:r>
              <a:rPr lang="en-US" sz="2500" dirty="0">
                <a:latin typeface="Times New Roman"/>
                <a:ea typeface="Times New Roman"/>
                <a:cs typeface="Times New Roman"/>
                <a:sym typeface="Times New Roman"/>
              </a:rPr>
              <a:t> les Zones de Santé</a:t>
            </a:r>
            <a:endParaRPr sz="2500" b="0" i="0" u="none" strike="noStrike" cap="none" dirty="0">
              <a:solidFill>
                <a:srgbClr val="000000"/>
              </a:solidFill>
              <a:latin typeface="Times New Roman"/>
              <a:ea typeface="Times New Roman"/>
              <a:cs typeface="Times New Roman"/>
              <a:sym typeface="Times New Roman"/>
            </a:endParaRPr>
          </a:p>
          <a:p>
            <a:pPr marL="609600" marR="0" lvl="0" indent="0" algn="just" rtl="0">
              <a:lnSpc>
                <a:spcPct val="100000"/>
              </a:lnSpc>
              <a:spcBef>
                <a:spcPts val="1300"/>
              </a:spcBef>
              <a:spcAft>
                <a:spcPts val="1300"/>
              </a:spcAft>
              <a:buClr>
                <a:srgbClr val="000000"/>
              </a:buClr>
              <a:buSzPts val="2000"/>
              <a:buFont typeface="Arial"/>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151" name="Google Shape;151;g3a7c511620c_0_0"/>
          <p:cNvSpPr/>
          <p:nvPr/>
        </p:nvSpPr>
        <p:spPr>
          <a:xfrm>
            <a:off x="6739250" y="2836918"/>
            <a:ext cx="711900" cy="1478100"/>
          </a:xfrm>
          <a:prstGeom prst="chevron">
            <a:avLst>
              <a:gd name="adj" fmla="val 50000"/>
            </a:avLst>
          </a:prstGeom>
          <a:solidFill>
            <a:srgbClr val="D9D2E9"/>
          </a:solidFill>
          <a:ln>
            <a:noFill/>
          </a:ln>
        </p:spPr>
        <p:txBody>
          <a:bodyPr spcFirstLastPara="1" wrap="square" lIns="90000" tIns="91425" rIns="54000" bIns="90000" anchor="ctr" anchorCtr="0">
            <a:noAutofit/>
          </a:bodyPr>
          <a:lstStyle/>
          <a:p>
            <a:pPr marL="0" lvl="0" indent="0" algn="l" rtl="0">
              <a:spcBef>
                <a:spcPts val="0"/>
              </a:spcBef>
              <a:spcAft>
                <a:spcPts val="0"/>
              </a:spcAft>
              <a:buNone/>
            </a:pPr>
            <a:endParaRPr sz="900" b="1">
              <a:solidFill>
                <a:srgbClr val="FFFFFF"/>
              </a:solidFill>
              <a:latin typeface="Source Serif Pro"/>
              <a:ea typeface="Source Serif Pro"/>
              <a:cs typeface="Source Serif Pro"/>
              <a:sym typeface="Source Serif Pro"/>
            </a:endParaRPr>
          </a:p>
        </p:txBody>
      </p:sp>
      <p:sp>
        <p:nvSpPr>
          <p:cNvPr id="152" name="Google Shape;152;g3a7c511620c_0_0"/>
          <p:cNvSpPr txBox="1"/>
          <p:nvPr/>
        </p:nvSpPr>
        <p:spPr>
          <a:xfrm>
            <a:off x="7841300" y="1145350"/>
            <a:ext cx="3892200" cy="24180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1300"/>
              </a:spcBef>
              <a:spcAft>
                <a:spcPts val="0"/>
              </a:spcAft>
              <a:buNone/>
            </a:pPr>
            <a:r>
              <a:rPr lang="en-US" sz="2500" b="1">
                <a:solidFill>
                  <a:srgbClr val="222222"/>
                </a:solidFill>
                <a:highlight>
                  <a:srgbClr val="FFFFFF"/>
                </a:highlight>
                <a:latin typeface="Times New Roman"/>
                <a:ea typeface="Times New Roman"/>
                <a:cs typeface="Times New Roman"/>
                <a:sym typeface="Times New Roman"/>
              </a:rPr>
              <a:t>Approche antenne</a:t>
            </a:r>
            <a:endParaRPr sz="2500" b="1">
              <a:solidFill>
                <a:srgbClr val="222222"/>
              </a:solidFill>
              <a:highlight>
                <a:srgbClr val="FFFFFF"/>
              </a:highlight>
              <a:latin typeface="Times New Roman"/>
              <a:ea typeface="Times New Roman"/>
              <a:cs typeface="Times New Roman"/>
              <a:sym typeface="Times New Roman"/>
            </a:endParaRPr>
          </a:p>
          <a:p>
            <a:pPr marL="0" marR="0" lvl="0" indent="0" algn="l" rtl="0">
              <a:lnSpc>
                <a:spcPct val="115000"/>
              </a:lnSpc>
              <a:spcBef>
                <a:spcPts val="1300"/>
              </a:spcBef>
              <a:spcAft>
                <a:spcPts val="0"/>
              </a:spcAft>
              <a:buNone/>
            </a:pPr>
            <a:r>
              <a:rPr lang="en-US" sz="1500">
                <a:solidFill>
                  <a:srgbClr val="222222"/>
                </a:solidFill>
                <a:highlight>
                  <a:srgbClr val="FFFFFF"/>
                </a:highlight>
                <a:latin typeface="Times New Roman"/>
                <a:ea typeface="Times New Roman"/>
                <a:cs typeface="Times New Roman"/>
                <a:sym typeface="Times New Roman"/>
              </a:rPr>
              <a:t>Renforcement de la vaccination de routine à travers la mise en œuvre des activités des différentes composantes ACZ en vue d’améliorer les couvertures vaccinales dans chacune des zones de santé d’une antenne PEV</a:t>
            </a:r>
            <a:endParaRPr sz="1500">
              <a:solidFill>
                <a:srgbClr val="222222"/>
              </a:solidFill>
              <a:highlight>
                <a:srgbClr val="FFFFFF"/>
              </a:highlight>
              <a:latin typeface="Times New Roman"/>
              <a:ea typeface="Times New Roman"/>
              <a:cs typeface="Times New Roman"/>
              <a:sym typeface="Times New Roman"/>
            </a:endParaRPr>
          </a:p>
          <a:p>
            <a:pPr marL="0" marR="0" lvl="0" indent="0" algn="l" rtl="0">
              <a:lnSpc>
                <a:spcPct val="100000"/>
              </a:lnSpc>
              <a:spcBef>
                <a:spcPts val="1300"/>
              </a:spcBef>
              <a:spcAft>
                <a:spcPts val="0"/>
              </a:spcAft>
              <a:buClr>
                <a:srgbClr val="000000"/>
              </a:buClr>
              <a:buSzPts val="2400"/>
              <a:buFont typeface="Arial"/>
              <a:buNone/>
            </a:pPr>
            <a:endParaRPr sz="2700" b="0" i="0" u="none" strike="noStrike" cap="none">
              <a:solidFill>
                <a:schemeClr val="dk2"/>
              </a:solidFill>
              <a:latin typeface="Arial"/>
              <a:ea typeface="Arial"/>
              <a:cs typeface="Arial"/>
              <a:sym typeface="Arial"/>
            </a:endParaRPr>
          </a:p>
        </p:txBody>
      </p:sp>
      <p:sp>
        <p:nvSpPr>
          <p:cNvPr id="153" name="Google Shape;153;g3a7c511620c_0_0"/>
          <p:cNvSpPr txBox="1"/>
          <p:nvPr/>
        </p:nvSpPr>
        <p:spPr>
          <a:xfrm>
            <a:off x="7841300" y="3679600"/>
            <a:ext cx="3892200" cy="24180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1300"/>
              </a:spcBef>
              <a:spcAft>
                <a:spcPts val="0"/>
              </a:spcAft>
              <a:buNone/>
            </a:pPr>
            <a:r>
              <a:rPr lang="en-US" sz="2500" b="1">
                <a:solidFill>
                  <a:srgbClr val="222222"/>
                </a:solidFill>
                <a:highlight>
                  <a:srgbClr val="FFFFFF"/>
                </a:highlight>
                <a:latin typeface="Times New Roman"/>
                <a:ea typeface="Times New Roman"/>
                <a:cs typeface="Times New Roman"/>
                <a:sym typeface="Times New Roman"/>
              </a:rPr>
              <a:t>Rôle de l’antenne</a:t>
            </a:r>
            <a:endParaRPr sz="2500" b="1">
              <a:solidFill>
                <a:srgbClr val="222222"/>
              </a:solidFill>
              <a:highlight>
                <a:srgbClr val="FFFFFF"/>
              </a:highlight>
              <a:latin typeface="Times New Roman"/>
              <a:ea typeface="Times New Roman"/>
              <a:cs typeface="Times New Roman"/>
              <a:sym typeface="Times New Roman"/>
            </a:endParaRPr>
          </a:p>
          <a:p>
            <a:pPr marL="342900" marR="0" lvl="0" indent="-323850" algn="l" rtl="0">
              <a:lnSpc>
                <a:spcPct val="115000"/>
              </a:lnSpc>
              <a:spcBef>
                <a:spcPts val="1300"/>
              </a:spcBef>
              <a:spcAft>
                <a:spcPts val="0"/>
              </a:spcAft>
              <a:buClr>
                <a:srgbClr val="222222"/>
              </a:buClr>
              <a:buSzPts val="1500"/>
              <a:buFont typeface="Times New Roman"/>
              <a:buAutoNum type="arabicPeriod"/>
            </a:pPr>
            <a:r>
              <a:rPr lang="en-US" sz="1500" b="1">
                <a:solidFill>
                  <a:srgbClr val="222222"/>
                </a:solidFill>
                <a:highlight>
                  <a:srgbClr val="FFFFFF"/>
                </a:highlight>
                <a:latin typeface="Times New Roman"/>
                <a:ea typeface="Times New Roman"/>
                <a:cs typeface="Times New Roman"/>
                <a:sym typeface="Times New Roman"/>
              </a:rPr>
              <a:t>Appui Technique</a:t>
            </a:r>
            <a:r>
              <a:rPr lang="en-US" sz="1500">
                <a:solidFill>
                  <a:srgbClr val="222222"/>
                </a:solidFill>
                <a:highlight>
                  <a:srgbClr val="FFFFFF"/>
                </a:highlight>
                <a:latin typeface="Times New Roman"/>
                <a:ea typeface="Times New Roman"/>
                <a:cs typeface="Times New Roman"/>
                <a:sym typeface="Times New Roman"/>
              </a:rPr>
              <a:t> : Accompagner techniquement les zones de santé dans l’amélioration des performances du PEV</a:t>
            </a:r>
            <a:endParaRPr sz="1500">
              <a:solidFill>
                <a:srgbClr val="222222"/>
              </a:solidFill>
              <a:highlight>
                <a:srgbClr val="FFFFFF"/>
              </a:highlight>
              <a:latin typeface="Times New Roman"/>
              <a:ea typeface="Times New Roman"/>
              <a:cs typeface="Times New Roman"/>
              <a:sym typeface="Times New Roman"/>
            </a:endParaRPr>
          </a:p>
          <a:p>
            <a:pPr marL="342900" marR="0" lvl="0" indent="-323850" algn="l" rtl="0">
              <a:lnSpc>
                <a:spcPct val="115000"/>
              </a:lnSpc>
              <a:spcBef>
                <a:spcPts val="0"/>
              </a:spcBef>
              <a:spcAft>
                <a:spcPts val="0"/>
              </a:spcAft>
              <a:buClr>
                <a:srgbClr val="222222"/>
              </a:buClr>
              <a:buSzPts val="1500"/>
              <a:buFont typeface="Times New Roman"/>
              <a:buAutoNum type="arabicPeriod"/>
            </a:pPr>
            <a:r>
              <a:rPr lang="en-US" sz="1500" b="1">
                <a:solidFill>
                  <a:srgbClr val="222222"/>
                </a:solidFill>
                <a:highlight>
                  <a:srgbClr val="FFFFFF"/>
                </a:highlight>
                <a:latin typeface="Times New Roman"/>
                <a:ea typeface="Times New Roman"/>
                <a:cs typeface="Times New Roman"/>
                <a:sym typeface="Times New Roman"/>
              </a:rPr>
              <a:t>Appui Logistique</a:t>
            </a:r>
            <a:r>
              <a:rPr lang="en-US" sz="1500">
                <a:solidFill>
                  <a:srgbClr val="222222"/>
                </a:solidFill>
                <a:highlight>
                  <a:srgbClr val="FFFFFF"/>
                </a:highlight>
                <a:latin typeface="Times New Roman"/>
                <a:ea typeface="Times New Roman"/>
                <a:cs typeface="Times New Roman"/>
                <a:sym typeface="Times New Roman"/>
              </a:rPr>
              <a:t> : aux zones de santé pour assurer la disponibilité (Zéro rupture), la distribution, et la gestion des vaccins et du matériel essentiel</a:t>
            </a:r>
            <a:endParaRPr sz="1500">
              <a:solidFill>
                <a:srgbClr val="222222"/>
              </a:solidFill>
              <a:highlight>
                <a:srgbClr val="FFFFFF"/>
              </a:highlight>
              <a:latin typeface="Times New Roman"/>
              <a:ea typeface="Times New Roman"/>
              <a:cs typeface="Times New Roman"/>
              <a:sym typeface="Times New Roman"/>
            </a:endParaRPr>
          </a:p>
          <a:p>
            <a:pPr marL="0" marR="0" lvl="0" indent="0" algn="l" rtl="0">
              <a:lnSpc>
                <a:spcPct val="100000"/>
              </a:lnSpc>
              <a:spcBef>
                <a:spcPts val="1300"/>
              </a:spcBef>
              <a:spcAft>
                <a:spcPts val="0"/>
              </a:spcAft>
              <a:buClr>
                <a:srgbClr val="000000"/>
              </a:buClr>
              <a:buSzPts val="2400"/>
              <a:buFont typeface="Arial"/>
              <a:buNone/>
            </a:pPr>
            <a:endParaRPr sz="2700" b="0" i="0" u="none" strike="noStrike" cap="none">
              <a:solidFill>
                <a:schemeClr val="dk2"/>
              </a:solidFill>
              <a:latin typeface="Arial"/>
              <a:ea typeface="Arial"/>
              <a:cs typeface="Arial"/>
              <a:sym typeface="Arial"/>
            </a:endParaRPr>
          </a:p>
        </p:txBody>
      </p:sp>
      <p:cxnSp>
        <p:nvCxnSpPr>
          <p:cNvPr id="154" name="Google Shape;154;g3a7c511620c_0_0"/>
          <p:cNvCxnSpPr/>
          <p:nvPr/>
        </p:nvCxnSpPr>
        <p:spPr>
          <a:xfrm>
            <a:off x="267700" y="6427967"/>
            <a:ext cx="11640300" cy="0"/>
          </a:xfrm>
          <a:prstGeom prst="straightConnector1">
            <a:avLst/>
          </a:prstGeom>
          <a:noFill/>
          <a:ln w="9525" cap="flat" cmpd="sng">
            <a:solidFill>
              <a:srgbClr val="9E9E9E"/>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a7c61c1dee_0_13"/>
          <p:cNvSpPr txBox="1"/>
          <p:nvPr/>
        </p:nvSpPr>
        <p:spPr>
          <a:xfrm>
            <a:off x="458592" y="317941"/>
            <a:ext cx="11274900" cy="82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Implication des CDPS</a:t>
            </a:r>
            <a:r>
              <a:rPr lang="en-US" sz="2500">
                <a:solidFill>
                  <a:srgbClr val="1155CC"/>
                </a:solidFill>
                <a:latin typeface="Times New Roman"/>
                <a:ea typeface="Times New Roman"/>
                <a:cs typeface="Times New Roman"/>
                <a:sym typeface="Times New Roman"/>
              </a:rPr>
              <a:t> | Les CDPS joue un rôle majeur dans la mise en oeuvre de l’approche antenne pour sa réussite</a:t>
            </a:r>
            <a:endParaRPr sz="2500" b="0" i="0" u="none" strike="noStrike" cap="none">
              <a:solidFill>
                <a:srgbClr val="1155CC"/>
              </a:solidFill>
              <a:latin typeface="Times New Roman"/>
              <a:ea typeface="Times New Roman"/>
              <a:cs typeface="Times New Roman"/>
              <a:sym typeface="Times New Roman"/>
            </a:endParaRPr>
          </a:p>
        </p:txBody>
      </p:sp>
      <p:sp>
        <p:nvSpPr>
          <p:cNvPr id="160" name="Google Shape;160;g3a7c61c1dee_0_13"/>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161" name="Google Shape;161;g3a7c61c1dee_0_13"/>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162" name="Google Shape;162;g3a7c61c1dee_0_13"/>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3</a:t>
            </a:fld>
            <a:endParaRPr sz="1200" b="0" i="0" u="none" strike="noStrike" cap="none">
              <a:solidFill>
                <a:srgbClr val="1155CC"/>
              </a:solidFill>
              <a:latin typeface="Arial"/>
              <a:ea typeface="Arial"/>
              <a:cs typeface="Arial"/>
              <a:sym typeface="Arial"/>
            </a:endParaRPr>
          </a:p>
        </p:txBody>
      </p:sp>
      <p:cxnSp>
        <p:nvCxnSpPr>
          <p:cNvPr id="163" name="Google Shape;163;g3a7c61c1dee_0_13"/>
          <p:cNvCxnSpPr/>
          <p:nvPr/>
        </p:nvCxnSpPr>
        <p:spPr>
          <a:xfrm>
            <a:off x="267700" y="6427967"/>
            <a:ext cx="11640300" cy="0"/>
          </a:xfrm>
          <a:prstGeom prst="straightConnector1">
            <a:avLst/>
          </a:prstGeom>
          <a:noFill/>
          <a:ln w="9525" cap="flat" cmpd="sng">
            <a:solidFill>
              <a:srgbClr val="9E9E9E"/>
            </a:solidFill>
            <a:prstDash val="solid"/>
            <a:round/>
            <a:headEnd type="none" w="sm" len="sm"/>
            <a:tailEnd type="none" w="sm" len="sm"/>
          </a:ln>
        </p:spPr>
      </p:cxnSp>
      <p:grpSp>
        <p:nvGrpSpPr>
          <p:cNvPr id="164" name="Google Shape;164;g3a7c61c1dee_0_13"/>
          <p:cNvGrpSpPr/>
          <p:nvPr/>
        </p:nvGrpSpPr>
        <p:grpSpPr>
          <a:xfrm>
            <a:off x="474574" y="2008572"/>
            <a:ext cx="6901345" cy="3007347"/>
            <a:chOff x="1120575" y="909425"/>
            <a:chExt cx="7230325" cy="2987925"/>
          </a:xfrm>
        </p:grpSpPr>
        <p:cxnSp>
          <p:nvCxnSpPr>
            <p:cNvPr id="165" name="Google Shape;165;g3a7c61c1dee_0_13"/>
            <p:cNvCxnSpPr/>
            <p:nvPr/>
          </p:nvCxnSpPr>
          <p:spPr>
            <a:xfrm>
              <a:off x="1985725" y="2458925"/>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66" name="Google Shape;166;g3a7c61c1dee_0_13"/>
            <p:cNvCxnSpPr/>
            <p:nvPr/>
          </p:nvCxnSpPr>
          <p:spPr>
            <a:xfrm>
              <a:off x="4735750" y="2454750"/>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67" name="Google Shape;167;g3a7c61c1dee_0_13"/>
            <p:cNvCxnSpPr/>
            <p:nvPr/>
          </p:nvCxnSpPr>
          <p:spPr>
            <a:xfrm>
              <a:off x="7485775" y="2454075"/>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68" name="Google Shape;168;g3a7c61c1dee_0_13"/>
            <p:cNvCxnSpPr/>
            <p:nvPr/>
          </p:nvCxnSpPr>
          <p:spPr>
            <a:xfrm>
              <a:off x="7485775" y="1559513"/>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69" name="Google Shape;169;g3a7c61c1dee_0_13"/>
            <p:cNvCxnSpPr/>
            <p:nvPr/>
          </p:nvCxnSpPr>
          <p:spPr>
            <a:xfrm>
              <a:off x="1985650" y="1559513"/>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70" name="Google Shape;170;g3a7c61c1dee_0_13"/>
            <p:cNvCxnSpPr/>
            <p:nvPr/>
          </p:nvCxnSpPr>
          <p:spPr>
            <a:xfrm>
              <a:off x="3819025" y="1559500"/>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71" name="Google Shape;171;g3a7c61c1dee_0_13"/>
            <p:cNvCxnSpPr/>
            <p:nvPr/>
          </p:nvCxnSpPr>
          <p:spPr>
            <a:xfrm>
              <a:off x="4684075" y="1399275"/>
              <a:ext cx="0" cy="184800"/>
            </a:xfrm>
            <a:prstGeom prst="straightConnector1">
              <a:avLst/>
            </a:prstGeom>
            <a:noFill/>
            <a:ln w="9525" cap="flat" cmpd="sng">
              <a:solidFill>
                <a:srgbClr val="595959"/>
              </a:solidFill>
              <a:prstDash val="solid"/>
              <a:round/>
              <a:headEnd type="none" w="med" len="med"/>
              <a:tailEnd type="none" w="med" len="med"/>
            </a:ln>
          </p:spPr>
        </p:cxnSp>
        <p:sp>
          <p:nvSpPr>
            <p:cNvPr id="172" name="Google Shape;172;g3a7c61c1dee_0_13"/>
            <p:cNvSpPr/>
            <p:nvPr/>
          </p:nvSpPr>
          <p:spPr>
            <a:xfrm>
              <a:off x="3295950" y="909425"/>
              <a:ext cx="2552100" cy="5487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Direction du PEV</a:t>
              </a:r>
              <a:endParaRPr b="1">
                <a:latin typeface="Times New Roman"/>
                <a:ea typeface="Times New Roman"/>
                <a:cs typeface="Times New Roman"/>
                <a:sym typeface="Times New Roman"/>
              </a:endParaRPr>
            </a:p>
          </p:txBody>
        </p:sp>
        <p:sp>
          <p:nvSpPr>
            <p:cNvPr id="173" name="Google Shape;173;g3a7c61c1dee_0_13"/>
            <p:cNvSpPr/>
            <p:nvPr/>
          </p:nvSpPr>
          <p:spPr>
            <a:xfrm>
              <a:off x="1120600" y="1692200"/>
              <a:ext cx="1730100" cy="6396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Division technique</a:t>
              </a:r>
              <a:endParaRPr b="1">
                <a:latin typeface="Times New Roman"/>
                <a:ea typeface="Times New Roman"/>
                <a:cs typeface="Times New Roman"/>
                <a:sym typeface="Times New Roman"/>
              </a:endParaRPr>
            </a:p>
          </p:txBody>
        </p:sp>
        <p:sp>
          <p:nvSpPr>
            <p:cNvPr id="174" name="Google Shape;174;g3a7c61c1dee_0_13"/>
            <p:cNvSpPr/>
            <p:nvPr/>
          </p:nvSpPr>
          <p:spPr>
            <a:xfrm>
              <a:off x="2953975" y="1691763"/>
              <a:ext cx="1730100" cy="6396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Division d’Appui</a:t>
              </a:r>
              <a:endParaRPr b="1">
                <a:latin typeface="Times New Roman"/>
                <a:ea typeface="Times New Roman"/>
                <a:cs typeface="Times New Roman"/>
                <a:sym typeface="Times New Roman"/>
              </a:endParaRPr>
            </a:p>
          </p:txBody>
        </p:sp>
        <p:sp>
          <p:nvSpPr>
            <p:cNvPr id="175" name="Google Shape;175;g3a7c61c1dee_0_13"/>
            <p:cNvSpPr/>
            <p:nvPr/>
          </p:nvSpPr>
          <p:spPr>
            <a:xfrm>
              <a:off x="4787350" y="1692200"/>
              <a:ext cx="1730100" cy="6396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Division Logistique</a:t>
              </a:r>
              <a:endParaRPr b="1">
                <a:latin typeface="Times New Roman"/>
                <a:ea typeface="Times New Roman"/>
                <a:cs typeface="Times New Roman"/>
                <a:sym typeface="Times New Roman"/>
              </a:endParaRPr>
            </a:p>
          </p:txBody>
        </p:sp>
        <p:sp>
          <p:nvSpPr>
            <p:cNvPr id="176" name="Google Shape;176;g3a7c61c1dee_0_13"/>
            <p:cNvSpPr/>
            <p:nvPr/>
          </p:nvSpPr>
          <p:spPr>
            <a:xfrm>
              <a:off x="6620724" y="1692200"/>
              <a:ext cx="1730100" cy="6396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Division Administrative et Financière</a:t>
              </a:r>
              <a:endParaRPr b="1">
                <a:latin typeface="Times New Roman"/>
                <a:ea typeface="Times New Roman"/>
                <a:cs typeface="Times New Roman"/>
                <a:sym typeface="Times New Roman"/>
              </a:endParaRPr>
            </a:p>
          </p:txBody>
        </p:sp>
        <p:sp>
          <p:nvSpPr>
            <p:cNvPr id="177" name="Google Shape;177;g3a7c61c1dee_0_13"/>
            <p:cNvSpPr/>
            <p:nvPr/>
          </p:nvSpPr>
          <p:spPr>
            <a:xfrm>
              <a:off x="1120575" y="2565875"/>
              <a:ext cx="7230300" cy="548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Times New Roman"/>
                  <a:ea typeface="Times New Roman"/>
                  <a:cs typeface="Times New Roman"/>
                  <a:sym typeface="Times New Roman"/>
                </a:rPr>
                <a:t>8</a:t>
              </a:r>
              <a:r>
                <a:rPr lang="en-US" b="1" dirty="0" smtClean="0">
                  <a:latin typeface="Times New Roman"/>
                  <a:ea typeface="Times New Roman"/>
                  <a:cs typeface="Times New Roman"/>
                  <a:sym typeface="Times New Roman"/>
                </a:rPr>
                <a:t> </a:t>
              </a:r>
              <a:r>
                <a:rPr lang="en-US" b="1" dirty="0" err="1">
                  <a:latin typeface="Times New Roman"/>
                  <a:ea typeface="Times New Roman"/>
                  <a:cs typeface="Times New Roman"/>
                  <a:sym typeface="Times New Roman"/>
                </a:rPr>
                <a:t>Coordinations</a:t>
              </a:r>
              <a:endParaRPr b="1" dirty="0">
                <a:latin typeface="Times New Roman"/>
                <a:ea typeface="Times New Roman"/>
                <a:cs typeface="Times New Roman"/>
                <a:sym typeface="Times New Roman"/>
              </a:endParaRPr>
            </a:p>
          </p:txBody>
        </p:sp>
        <p:sp>
          <p:nvSpPr>
            <p:cNvPr id="178" name="Google Shape;178;g3a7c61c1dee_0_13"/>
            <p:cNvSpPr/>
            <p:nvPr/>
          </p:nvSpPr>
          <p:spPr>
            <a:xfrm>
              <a:off x="1120600" y="3348650"/>
              <a:ext cx="7230300" cy="5487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52 antennes </a:t>
              </a:r>
              <a:endParaRPr b="1">
                <a:latin typeface="Times New Roman"/>
                <a:ea typeface="Times New Roman"/>
                <a:cs typeface="Times New Roman"/>
                <a:sym typeface="Times New Roman"/>
              </a:endParaRPr>
            </a:p>
          </p:txBody>
        </p:sp>
        <p:cxnSp>
          <p:nvCxnSpPr>
            <p:cNvPr id="179" name="Google Shape;179;g3a7c61c1dee_0_13"/>
            <p:cNvCxnSpPr/>
            <p:nvPr/>
          </p:nvCxnSpPr>
          <p:spPr>
            <a:xfrm>
              <a:off x="1985625" y="1565075"/>
              <a:ext cx="5500200" cy="0"/>
            </a:xfrm>
            <a:prstGeom prst="straightConnector1">
              <a:avLst/>
            </a:prstGeom>
            <a:noFill/>
            <a:ln w="9525" cap="flat" cmpd="sng">
              <a:solidFill>
                <a:srgbClr val="595959"/>
              </a:solidFill>
              <a:prstDash val="solid"/>
              <a:round/>
              <a:headEnd type="none" w="med" len="med"/>
              <a:tailEnd type="none" w="med" len="med"/>
            </a:ln>
          </p:spPr>
        </p:cxnSp>
        <p:cxnSp>
          <p:nvCxnSpPr>
            <p:cNvPr id="180" name="Google Shape;180;g3a7c61c1dee_0_13"/>
            <p:cNvCxnSpPr/>
            <p:nvPr/>
          </p:nvCxnSpPr>
          <p:spPr>
            <a:xfrm>
              <a:off x="1985650" y="2451125"/>
              <a:ext cx="5500200" cy="0"/>
            </a:xfrm>
            <a:prstGeom prst="straightConnector1">
              <a:avLst/>
            </a:prstGeom>
            <a:noFill/>
            <a:ln w="9525" cap="flat" cmpd="sng">
              <a:solidFill>
                <a:srgbClr val="595959"/>
              </a:solidFill>
              <a:prstDash val="solid"/>
              <a:round/>
              <a:headEnd type="none" w="med" len="med"/>
              <a:tailEnd type="none" w="med" len="med"/>
            </a:ln>
          </p:spPr>
        </p:cxnSp>
        <p:cxnSp>
          <p:nvCxnSpPr>
            <p:cNvPr id="181" name="Google Shape;181;g3a7c61c1dee_0_13"/>
            <p:cNvCxnSpPr>
              <a:stCxn id="173" idx="0"/>
              <a:endCxn id="173" idx="0"/>
            </p:cNvCxnSpPr>
            <p:nvPr/>
          </p:nvCxnSpPr>
          <p:spPr>
            <a:xfrm>
              <a:off x="1985650" y="1692200"/>
              <a:ext cx="0" cy="0"/>
            </a:xfrm>
            <a:prstGeom prst="straightConnector1">
              <a:avLst/>
            </a:prstGeom>
            <a:noFill/>
            <a:ln w="9525" cap="flat" cmpd="sng">
              <a:solidFill>
                <a:srgbClr val="595959"/>
              </a:solidFill>
              <a:prstDash val="solid"/>
              <a:round/>
              <a:headEnd type="none" w="med" len="med"/>
              <a:tailEnd type="none" w="med" len="med"/>
            </a:ln>
          </p:spPr>
        </p:cxnSp>
        <p:cxnSp>
          <p:nvCxnSpPr>
            <p:cNvPr id="182" name="Google Shape;182;g3a7c61c1dee_0_13"/>
            <p:cNvCxnSpPr>
              <a:stCxn id="177" idx="2"/>
              <a:endCxn id="178" idx="0"/>
            </p:cNvCxnSpPr>
            <p:nvPr/>
          </p:nvCxnSpPr>
          <p:spPr>
            <a:xfrm>
              <a:off x="4735725" y="3114575"/>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83" name="Google Shape;183;g3a7c61c1dee_0_13"/>
            <p:cNvCxnSpPr/>
            <p:nvPr/>
          </p:nvCxnSpPr>
          <p:spPr>
            <a:xfrm>
              <a:off x="5652400" y="1559513"/>
              <a:ext cx="0" cy="234000"/>
            </a:xfrm>
            <a:prstGeom prst="straightConnector1">
              <a:avLst/>
            </a:prstGeom>
            <a:noFill/>
            <a:ln w="9525" cap="flat" cmpd="sng">
              <a:solidFill>
                <a:srgbClr val="595959"/>
              </a:solidFill>
              <a:prstDash val="solid"/>
              <a:round/>
              <a:headEnd type="none" w="med" len="med"/>
              <a:tailEnd type="none" w="med" len="med"/>
            </a:ln>
          </p:spPr>
        </p:cxnSp>
      </p:grpSp>
      <p:sp>
        <p:nvSpPr>
          <p:cNvPr id="184" name="Google Shape;184;g3a7c61c1dee_0_13"/>
          <p:cNvSpPr/>
          <p:nvPr/>
        </p:nvSpPr>
        <p:spPr>
          <a:xfrm>
            <a:off x="7849000" y="6098493"/>
            <a:ext cx="1938900" cy="2646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Niveau central</a:t>
            </a:r>
            <a:endParaRPr b="1">
              <a:latin typeface="Times New Roman"/>
              <a:ea typeface="Times New Roman"/>
              <a:cs typeface="Times New Roman"/>
              <a:sym typeface="Times New Roman"/>
            </a:endParaRPr>
          </a:p>
        </p:txBody>
      </p:sp>
      <p:sp>
        <p:nvSpPr>
          <p:cNvPr id="185" name="Google Shape;185;g3a7c61c1dee_0_13"/>
          <p:cNvSpPr/>
          <p:nvPr/>
        </p:nvSpPr>
        <p:spPr>
          <a:xfrm>
            <a:off x="9948000" y="6098493"/>
            <a:ext cx="1938900" cy="2646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latin typeface="Times New Roman"/>
                <a:ea typeface="Times New Roman"/>
                <a:cs typeface="Times New Roman"/>
                <a:sym typeface="Times New Roman"/>
              </a:rPr>
              <a:t>Province</a:t>
            </a:r>
            <a:endParaRPr b="1">
              <a:latin typeface="Times New Roman"/>
              <a:ea typeface="Times New Roman"/>
              <a:cs typeface="Times New Roman"/>
              <a:sym typeface="Times New Roman"/>
            </a:endParaRPr>
          </a:p>
        </p:txBody>
      </p:sp>
      <p:sp>
        <p:nvSpPr>
          <p:cNvPr id="186" name="Google Shape;186;g3a7c61c1dee_0_13"/>
          <p:cNvSpPr/>
          <p:nvPr/>
        </p:nvSpPr>
        <p:spPr>
          <a:xfrm>
            <a:off x="7925875" y="3831888"/>
            <a:ext cx="3772500" cy="1184400"/>
          </a:xfrm>
          <a:prstGeom prst="rect">
            <a:avLst/>
          </a:prstGeom>
          <a:solidFill>
            <a:srgbClr val="C9D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Times New Roman"/>
                <a:ea typeface="Times New Roman"/>
                <a:cs typeface="Times New Roman"/>
                <a:sym typeface="Times New Roman"/>
              </a:rPr>
              <a:t>Division provinciale de la santé</a:t>
            </a:r>
            <a:endParaRPr sz="1500" b="1">
              <a:latin typeface="Times New Roman"/>
              <a:ea typeface="Times New Roman"/>
              <a:cs typeface="Times New Roman"/>
              <a:sym typeface="Times New Roman"/>
            </a:endParaRPr>
          </a:p>
        </p:txBody>
      </p:sp>
      <p:grpSp>
        <p:nvGrpSpPr>
          <p:cNvPr id="187" name="Google Shape;187;g3a7c61c1dee_0_13"/>
          <p:cNvGrpSpPr/>
          <p:nvPr/>
        </p:nvGrpSpPr>
        <p:grpSpPr>
          <a:xfrm>
            <a:off x="7389784" y="3959322"/>
            <a:ext cx="536091" cy="929534"/>
            <a:chOff x="7373809" y="3272335"/>
            <a:chExt cx="536091" cy="929534"/>
          </a:xfrm>
        </p:grpSpPr>
        <p:grpSp>
          <p:nvGrpSpPr>
            <p:cNvPr id="188" name="Google Shape;188;g3a7c61c1dee_0_13"/>
            <p:cNvGrpSpPr/>
            <p:nvPr/>
          </p:nvGrpSpPr>
          <p:grpSpPr>
            <a:xfrm rot="5400000">
              <a:off x="7023196" y="3622948"/>
              <a:ext cx="929534" cy="228308"/>
              <a:chOff x="1985650" y="2451125"/>
              <a:chExt cx="5500200" cy="241800"/>
            </a:xfrm>
          </p:grpSpPr>
          <p:cxnSp>
            <p:nvCxnSpPr>
              <p:cNvPr id="189" name="Google Shape;189;g3a7c61c1dee_0_13"/>
              <p:cNvCxnSpPr/>
              <p:nvPr/>
            </p:nvCxnSpPr>
            <p:spPr>
              <a:xfrm>
                <a:off x="1985725" y="2458925"/>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90" name="Google Shape;190;g3a7c61c1dee_0_13"/>
              <p:cNvCxnSpPr/>
              <p:nvPr/>
            </p:nvCxnSpPr>
            <p:spPr>
              <a:xfrm>
                <a:off x="7485775" y="2454075"/>
                <a:ext cx="0" cy="234000"/>
              </a:xfrm>
              <a:prstGeom prst="straightConnector1">
                <a:avLst/>
              </a:prstGeom>
              <a:noFill/>
              <a:ln w="9525" cap="flat" cmpd="sng">
                <a:solidFill>
                  <a:srgbClr val="595959"/>
                </a:solidFill>
                <a:prstDash val="solid"/>
                <a:round/>
                <a:headEnd type="none" w="med" len="med"/>
                <a:tailEnd type="none" w="med" len="med"/>
              </a:ln>
            </p:spPr>
          </p:cxnSp>
          <p:cxnSp>
            <p:nvCxnSpPr>
              <p:cNvPr id="191" name="Google Shape;191;g3a7c61c1dee_0_13"/>
              <p:cNvCxnSpPr/>
              <p:nvPr/>
            </p:nvCxnSpPr>
            <p:spPr>
              <a:xfrm>
                <a:off x="1985650" y="2451125"/>
                <a:ext cx="5500200" cy="0"/>
              </a:xfrm>
              <a:prstGeom prst="straightConnector1">
                <a:avLst/>
              </a:prstGeom>
              <a:noFill/>
              <a:ln w="9525" cap="flat" cmpd="sng">
                <a:solidFill>
                  <a:srgbClr val="595959"/>
                </a:solidFill>
                <a:prstDash val="solid"/>
                <a:round/>
                <a:headEnd type="none" w="med" len="med"/>
                <a:tailEnd type="none" w="med" len="med"/>
              </a:ln>
            </p:spPr>
          </p:cxnSp>
        </p:grpSp>
        <p:cxnSp>
          <p:nvCxnSpPr>
            <p:cNvPr id="192" name="Google Shape;192;g3a7c61c1dee_0_13"/>
            <p:cNvCxnSpPr>
              <a:stCxn id="186" idx="1"/>
            </p:cNvCxnSpPr>
            <p:nvPr/>
          </p:nvCxnSpPr>
          <p:spPr>
            <a:xfrm flipH="1">
              <a:off x="7598200" y="3737100"/>
              <a:ext cx="311700" cy="1500"/>
            </a:xfrm>
            <a:prstGeom prst="straightConnector1">
              <a:avLst/>
            </a:prstGeom>
            <a:noFill/>
            <a:ln w="9525" cap="flat" cmpd="sng">
              <a:solidFill>
                <a:srgbClr val="595959"/>
              </a:solidFill>
              <a:prstDash val="solid"/>
              <a:round/>
              <a:headEnd type="none" w="med" len="med"/>
              <a:tailEnd type="none" w="med" len="med"/>
            </a:ln>
          </p:spPr>
        </p:cxnSp>
      </p:grpSp>
      <p:sp>
        <p:nvSpPr>
          <p:cNvPr id="193" name="Google Shape;193;g3a7c61c1dee_0_13"/>
          <p:cNvSpPr/>
          <p:nvPr/>
        </p:nvSpPr>
        <p:spPr>
          <a:xfrm rot="-5400000">
            <a:off x="7177075" y="2675088"/>
            <a:ext cx="1905600" cy="408000"/>
          </a:xfrm>
          <a:prstGeom prst="rightArrow">
            <a:avLst>
              <a:gd name="adj1" fmla="val 50000"/>
              <a:gd name="adj2" fmla="val 50000"/>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 name="Google Shape;194;g3a7c61c1dee_0_13"/>
          <p:cNvSpPr/>
          <p:nvPr/>
        </p:nvSpPr>
        <p:spPr>
          <a:xfrm>
            <a:off x="8532400" y="1832338"/>
            <a:ext cx="3124800" cy="8463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dk1"/>
                </a:solidFill>
                <a:latin typeface="Times New Roman"/>
                <a:ea typeface="Times New Roman"/>
                <a:cs typeface="Times New Roman"/>
                <a:sym typeface="Times New Roman"/>
              </a:rPr>
              <a:t>Gestion des ressources, suivi des performances et renforcement des capacités</a:t>
            </a:r>
            <a:endParaRPr>
              <a:solidFill>
                <a:schemeClr val="dk1"/>
              </a:solidFill>
              <a:latin typeface="Times New Roman"/>
              <a:ea typeface="Times New Roman"/>
              <a:cs typeface="Times New Roman"/>
              <a:sym typeface="Times New Roman"/>
            </a:endParaRPr>
          </a:p>
        </p:txBody>
      </p:sp>
      <p:sp>
        <p:nvSpPr>
          <p:cNvPr id="195" name="Google Shape;195;g3a7c61c1dee_0_13"/>
          <p:cNvSpPr/>
          <p:nvPr/>
        </p:nvSpPr>
        <p:spPr>
          <a:xfrm>
            <a:off x="8549900" y="2919825"/>
            <a:ext cx="3124800" cy="846300"/>
          </a:xfrm>
          <a:prstGeom prst="rect">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dk1"/>
                </a:solidFill>
                <a:latin typeface="Times New Roman"/>
                <a:ea typeface="Times New Roman"/>
                <a:cs typeface="Times New Roman"/>
                <a:sym typeface="Times New Roman"/>
              </a:rPr>
              <a:t>Coordonner la mise en oeuvre des activités de la vaccination</a:t>
            </a:r>
            <a:r>
              <a:rPr lang="en-US">
                <a:solidFill>
                  <a:schemeClr val="dk1"/>
                </a:solidFill>
                <a:latin typeface="Times New Roman"/>
                <a:ea typeface="Times New Roman"/>
                <a:cs typeface="Times New Roman"/>
                <a:sym typeface="Times New Roman"/>
              </a:rPr>
              <a:t>: PAO, alignement des actions et suivi de l'exécution</a:t>
            </a:r>
            <a:endParaRPr b="1">
              <a:solidFill>
                <a:schemeClr val="dk1"/>
              </a:solidFill>
              <a:latin typeface="Times New Roman"/>
              <a:ea typeface="Times New Roman"/>
              <a:cs typeface="Times New Roman"/>
              <a:sym typeface="Times New Roman"/>
            </a:endParaRPr>
          </a:p>
        </p:txBody>
      </p:sp>
      <p:cxnSp>
        <p:nvCxnSpPr>
          <p:cNvPr id="196" name="Google Shape;196;g3a7c61c1dee_0_13"/>
          <p:cNvCxnSpPr/>
          <p:nvPr/>
        </p:nvCxnSpPr>
        <p:spPr>
          <a:xfrm>
            <a:off x="8235579" y="2581527"/>
            <a:ext cx="290100" cy="0"/>
          </a:xfrm>
          <a:prstGeom prst="straightConnector1">
            <a:avLst/>
          </a:prstGeom>
          <a:noFill/>
          <a:ln w="9525" cap="flat" cmpd="sng">
            <a:solidFill>
              <a:srgbClr val="595959"/>
            </a:solidFill>
            <a:prstDash val="solid"/>
            <a:round/>
            <a:headEnd type="none" w="med" len="med"/>
            <a:tailEnd type="none" w="med" len="med"/>
          </a:ln>
        </p:spPr>
      </p:cxnSp>
      <p:cxnSp>
        <p:nvCxnSpPr>
          <p:cNvPr id="197" name="Google Shape;197;g3a7c61c1dee_0_13"/>
          <p:cNvCxnSpPr/>
          <p:nvPr/>
        </p:nvCxnSpPr>
        <p:spPr>
          <a:xfrm>
            <a:off x="8242303" y="3480757"/>
            <a:ext cx="290100" cy="0"/>
          </a:xfrm>
          <a:prstGeom prst="straightConnector1">
            <a:avLst/>
          </a:prstGeom>
          <a:noFill/>
          <a:ln w="9525" cap="flat" cmpd="sng">
            <a:solidFill>
              <a:srgbClr val="595959"/>
            </a:solidFill>
            <a:prstDash val="solid"/>
            <a:round/>
            <a:headEnd type="none" w="med" len="med"/>
            <a:tailEnd type="none" w="med" len="med"/>
          </a:ln>
        </p:spPr>
      </p:cxnSp>
      <p:sp>
        <p:nvSpPr>
          <p:cNvPr id="198" name="Google Shape;198;g3a7c61c1dee_0_13"/>
          <p:cNvSpPr/>
          <p:nvPr/>
        </p:nvSpPr>
        <p:spPr>
          <a:xfrm>
            <a:off x="7987775" y="2318668"/>
            <a:ext cx="258900" cy="2838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US" sz="1100" b="1">
                <a:solidFill>
                  <a:srgbClr val="451F61"/>
                </a:solidFill>
              </a:rPr>
              <a:t>2</a:t>
            </a:r>
            <a:endParaRPr sz="1100" b="1">
              <a:solidFill>
                <a:srgbClr val="451F61"/>
              </a:solidFill>
            </a:endParaRPr>
          </a:p>
        </p:txBody>
      </p:sp>
      <p:sp>
        <p:nvSpPr>
          <p:cNvPr id="199" name="Google Shape;199;g3a7c61c1dee_0_13"/>
          <p:cNvSpPr/>
          <p:nvPr/>
        </p:nvSpPr>
        <p:spPr>
          <a:xfrm>
            <a:off x="7988175" y="3304831"/>
            <a:ext cx="258900" cy="2838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US" sz="1100" b="1">
                <a:solidFill>
                  <a:srgbClr val="451F61"/>
                </a:solidFill>
              </a:rPr>
              <a:t>1</a:t>
            </a:r>
            <a:endParaRPr sz="1100" b="1">
              <a:solidFill>
                <a:srgbClr val="451F61"/>
              </a:solidFill>
            </a:endParaRPr>
          </a:p>
        </p:txBody>
      </p:sp>
      <p:sp>
        <p:nvSpPr>
          <p:cNvPr id="200" name="Google Shape;200;g3a7c61c1dee_0_13"/>
          <p:cNvSpPr/>
          <p:nvPr/>
        </p:nvSpPr>
        <p:spPr>
          <a:xfrm>
            <a:off x="474575" y="5494475"/>
            <a:ext cx="11274900" cy="520200"/>
          </a:xfrm>
          <a:prstGeom prst="rect">
            <a:avLst/>
          </a:prstGeom>
          <a:solidFill>
            <a:srgbClr val="EFE3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b="1">
                <a:latin typeface="Times New Roman"/>
                <a:ea typeface="Times New Roman"/>
                <a:cs typeface="Times New Roman"/>
                <a:sym typeface="Times New Roman"/>
              </a:rPr>
              <a:t>Les MCP et MCA sont des cadres sous la supervision directe du CDPS et comptables comme les autres</a:t>
            </a:r>
            <a:endParaRPr sz="1800" b="1">
              <a:solidFill>
                <a:srgbClr val="0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a7c61c1dee_0_0"/>
          <p:cNvSpPr txBox="1"/>
          <p:nvPr/>
        </p:nvSpPr>
        <p:spPr>
          <a:xfrm>
            <a:off x="458592" y="317941"/>
            <a:ext cx="11274900" cy="82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Rôle antenne | Appui Technique</a:t>
            </a:r>
            <a:r>
              <a:rPr lang="en-US" sz="2500">
                <a:solidFill>
                  <a:srgbClr val="1155CC"/>
                </a:solidFill>
                <a:latin typeface="Times New Roman"/>
                <a:ea typeface="Times New Roman"/>
                <a:cs typeface="Times New Roman"/>
                <a:sym typeface="Times New Roman"/>
              </a:rPr>
              <a:t> : Accompagner techniquement les zones de santé dans l’amélioration des performances du PEV</a:t>
            </a:r>
            <a:endParaRPr sz="2500" b="0" i="0" u="none" strike="noStrike" cap="none">
              <a:solidFill>
                <a:srgbClr val="1155CC"/>
              </a:solidFill>
              <a:latin typeface="Times New Roman"/>
              <a:ea typeface="Times New Roman"/>
              <a:cs typeface="Times New Roman"/>
              <a:sym typeface="Times New Roman"/>
            </a:endParaRPr>
          </a:p>
        </p:txBody>
      </p:sp>
      <p:sp>
        <p:nvSpPr>
          <p:cNvPr id="206" name="Google Shape;206;g3a7c61c1dee_0_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07" name="Google Shape;207;g3a7c61c1dee_0_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08" name="Google Shape;208;g3a7c61c1dee_0_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4</a:t>
            </a:fld>
            <a:endParaRPr sz="1200" b="0" i="0" u="none" strike="noStrike" cap="none">
              <a:solidFill>
                <a:srgbClr val="1155CC"/>
              </a:solidFill>
              <a:latin typeface="Arial"/>
              <a:ea typeface="Arial"/>
              <a:cs typeface="Arial"/>
              <a:sym typeface="Arial"/>
            </a:endParaRPr>
          </a:p>
        </p:txBody>
      </p:sp>
      <p:sp>
        <p:nvSpPr>
          <p:cNvPr id="209" name="Google Shape;209;g3a7c61c1dee_0_0"/>
          <p:cNvSpPr txBox="1"/>
          <p:nvPr/>
        </p:nvSpPr>
        <p:spPr>
          <a:xfrm>
            <a:off x="422025" y="1377450"/>
            <a:ext cx="11328900" cy="4666500"/>
          </a:xfrm>
          <a:prstGeom prst="rect">
            <a:avLst/>
          </a:prstGeom>
          <a:noFill/>
          <a:ln>
            <a:noFill/>
          </a:ln>
        </p:spPr>
        <p:txBody>
          <a:bodyPr spcFirstLastPara="1" wrap="square" lIns="121900" tIns="121900" rIns="121900" bIns="121900" anchor="t" anchorCtr="0">
            <a:noAutofit/>
          </a:bodyPr>
          <a:lstStyle/>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Appui à l’élaboration de la micro planification (dénombrement, défense et validation)</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000"/>
              </a:spcBef>
              <a:spcAft>
                <a:spcPts val="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Renforcement des capacités des ECZ (formation, supervision, …) </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000"/>
              </a:spcBef>
              <a:spcAft>
                <a:spcPts val="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Assurer le suivi des justificatifs des fonds au niveau des zones de santé</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000"/>
              </a:spcBef>
              <a:spcAft>
                <a:spcPts val="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S’assurer du bon fonctionnement des commissions vaccination du CCPeV provincial</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000"/>
              </a:spcBef>
              <a:spcAft>
                <a:spcPts val="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Assurer l’analyse de données  et des rapports mensuels de  vaccination par zone de santé  avec rétro information aux zones de santé (catégorisation des ZS) </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1000"/>
              </a:spcAft>
              <a:buClr>
                <a:srgbClr val="222222"/>
              </a:buClr>
              <a:buSzPts val="2000"/>
              <a:buFont typeface="Times New Roman"/>
              <a:buAutoNum type="arabicPeriod"/>
            </a:pPr>
            <a:r>
              <a:rPr lang="en-US" sz="2000">
                <a:solidFill>
                  <a:srgbClr val="222222"/>
                </a:solidFill>
                <a:highlight>
                  <a:srgbClr val="FFFFFF"/>
                </a:highlight>
                <a:latin typeface="Times New Roman"/>
                <a:ea typeface="Times New Roman"/>
                <a:cs typeface="Times New Roman"/>
                <a:sym typeface="Times New Roman"/>
              </a:rPr>
              <a:t>Organiser les revues trimestrielles des activités de vaccination des zones  au niveau de l’antenne PEV et assurer le suivi de mise en œuvre du plan de redressement des faiblesses identifiées au niveau des zones de santé</a:t>
            </a:r>
            <a:endParaRPr sz="2000" b="0" i="0" u="none" strike="noStrike" cap="non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a7c61c1dee_0_109"/>
          <p:cNvSpPr txBox="1"/>
          <p:nvPr/>
        </p:nvSpPr>
        <p:spPr>
          <a:xfrm>
            <a:off x="458592" y="317941"/>
            <a:ext cx="11274900" cy="129522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dirty="0" err="1">
                <a:solidFill>
                  <a:srgbClr val="1155CC"/>
                </a:solidFill>
                <a:latin typeface="Times New Roman"/>
                <a:ea typeface="Times New Roman"/>
                <a:cs typeface="Times New Roman"/>
                <a:sym typeface="Times New Roman"/>
              </a:rPr>
              <a:t>Rôle</a:t>
            </a:r>
            <a:r>
              <a:rPr lang="en-US" sz="2500" b="1" dirty="0">
                <a:solidFill>
                  <a:srgbClr val="1155CC"/>
                </a:solidFill>
                <a:latin typeface="Times New Roman"/>
                <a:ea typeface="Times New Roman"/>
                <a:cs typeface="Times New Roman"/>
                <a:sym typeface="Times New Roman"/>
              </a:rPr>
              <a:t> </a:t>
            </a:r>
            <a:r>
              <a:rPr lang="en-US" sz="2500" b="1" dirty="0" err="1">
                <a:solidFill>
                  <a:srgbClr val="1155CC"/>
                </a:solidFill>
                <a:latin typeface="Times New Roman"/>
                <a:ea typeface="Times New Roman"/>
                <a:cs typeface="Times New Roman"/>
                <a:sym typeface="Times New Roman"/>
              </a:rPr>
              <a:t>antenne</a:t>
            </a:r>
            <a:r>
              <a:rPr lang="en-US" sz="2500" b="1" dirty="0">
                <a:solidFill>
                  <a:srgbClr val="1155CC"/>
                </a:solidFill>
                <a:latin typeface="Times New Roman"/>
                <a:ea typeface="Times New Roman"/>
                <a:cs typeface="Times New Roman"/>
                <a:sym typeface="Times New Roman"/>
              </a:rPr>
              <a:t> | </a:t>
            </a:r>
            <a:r>
              <a:rPr lang="en-US" sz="2500" b="1" dirty="0" err="1">
                <a:solidFill>
                  <a:srgbClr val="1155CC"/>
                </a:solidFill>
                <a:latin typeface="Times New Roman"/>
                <a:ea typeface="Times New Roman"/>
                <a:cs typeface="Times New Roman"/>
                <a:sym typeface="Times New Roman"/>
              </a:rPr>
              <a:t>Appui</a:t>
            </a:r>
            <a:r>
              <a:rPr lang="en-US" sz="2500" b="1" dirty="0">
                <a:solidFill>
                  <a:srgbClr val="1155CC"/>
                </a:solidFill>
                <a:latin typeface="Times New Roman"/>
                <a:ea typeface="Times New Roman"/>
                <a:cs typeface="Times New Roman"/>
                <a:sym typeface="Times New Roman"/>
              </a:rPr>
              <a:t> </a:t>
            </a:r>
            <a:r>
              <a:rPr lang="en-US" sz="2500" b="1" dirty="0" err="1">
                <a:solidFill>
                  <a:srgbClr val="1155CC"/>
                </a:solidFill>
                <a:latin typeface="Times New Roman"/>
                <a:ea typeface="Times New Roman"/>
                <a:cs typeface="Times New Roman"/>
                <a:sym typeface="Times New Roman"/>
              </a:rPr>
              <a:t>Logistique</a:t>
            </a:r>
            <a:r>
              <a:rPr lang="en-US" sz="2500" b="1" dirty="0">
                <a:solidFill>
                  <a:srgbClr val="1155CC"/>
                </a:solidFill>
                <a:latin typeface="Times New Roman"/>
                <a:ea typeface="Times New Roman"/>
                <a:cs typeface="Times New Roman"/>
                <a:sym typeface="Times New Roman"/>
              </a:rPr>
              <a:t> </a:t>
            </a:r>
            <a:r>
              <a:rPr lang="en-US" sz="2500" dirty="0">
                <a:solidFill>
                  <a:srgbClr val="1155CC"/>
                </a:solidFill>
                <a:latin typeface="Times New Roman"/>
                <a:ea typeface="Times New Roman"/>
                <a:cs typeface="Times New Roman"/>
                <a:sym typeface="Times New Roman"/>
              </a:rPr>
              <a:t>: </a:t>
            </a:r>
            <a:r>
              <a:rPr lang="en-US" sz="2500" dirty="0" smtClean="0">
                <a:solidFill>
                  <a:srgbClr val="1155CC"/>
                </a:solidFill>
                <a:latin typeface="Times New Roman"/>
                <a:ea typeface="Times New Roman"/>
                <a:cs typeface="Times New Roman"/>
                <a:sym typeface="Times New Roman"/>
              </a:rPr>
              <a:t>Pour </a:t>
            </a:r>
            <a:r>
              <a:rPr lang="en-US" sz="2500" dirty="0">
                <a:solidFill>
                  <a:srgbClr val="1155CC"/>
                </a:solidFill>
                <a:latin typeface="Times New Roman"/>
                <a:ea typeface="Times New Roman"/>
                <a:cs typeface="Times New Roman"/>
                <a:sym typeface="Times New Roman"/>
              </a:rPr>
              <a:t>assurer la </a:t>
            </a:r>
            <a:r>
              <a:rPr lang="en-US" sz="2500" dirty="0" err="1">
                <a:solidFill>
                  <a:srgbClr val="1155CC"/>
                </a:solidFill>
                <a:latin typeface="Times New Roman"/>
                <a:ea typeface="Times New Roman"/>
                <a:cs typeface="Times New Roman"/>
                <a:sym typeface="Times New Roman"/>
              </a:rPr>
              <a:t>disponibilité</a:t>
            </a:r>
            <a:r>
              <a:rPr lang="en-US" sz="2500" dirty="0">
                <a:solidFill>
                  <a:srgbClr val="1155CC"/>
                </a:solidFill>
                <a:latin typeface="Times New Roman"/>
                <a:ea typeface="Times New Roman"/>
                <a:cs typeface="Times New Roman"/>
                <a:sym typeface="Times New Roman"/>
              </a:rPr>
              <a:t> (</a:t>
            </a:r>
            <a:r>
              <a:rPr lang="en-US" sz="2500" dirty="0" err="1">
                <a:solidFill>
                  <a:srgbClr val="1155CC"/>
                </a:solidFill>
                <a:latin typeface="Times New Roman"/>
                <a:ea typeface="Times New Roman"/>
                <a:cs typeface="Times New Roman"/>
                <a:sym typeface="Times New Roman"/>
              </a:rPr>
              <a:t>Zéro</a:t>
            </a:r>
            <a:r>
              <a:rPr lang="en-US" sz="2500" dirty="0">
                <a:solidFill>
                  <a:srgbClr val="1155CC"/>
                </a:solidFill>
                <a:latin typeface="Times New Roman"/>
                <a:ea typeface="Times New Roman"/>
                <a:cs typeface="Times New Roman"/>
                <a:sym typeface="Times New Roman"/>
              </a:rPr>
              <a:t> rupture</a:t>
            </a:r>
            <a:r>
              <a:rPr lang="en-US" sz="2500" dirty="0" smtClean="0">
                <a:solidFill>
                  <a:srgbClr val="1155CC"/>
                </a:solidFill>
                <a:latin typeface="Times New Roman"/>
                <a:ea typeface="Times New Roman"/>
                <a:cs typeface="Times New Roman"/>
                <a:sym typeface="Times New Roman"/>
              </a:rPr>
              <a:t>) : </a:t>
            </a:r>
            <a:r>
              <a:rPr lang="en-US" sz="2500" dirty="0">
                <a:solidFill>
                  <a:srgbClr val="1155CC"/>
                </a:solidFill>
                <a:latin typeface="Times New Roman"/>
                <a:ea typeface="Times New Roman"/>
                <a:cs typeface="Times New Roman"/>
                <a:sym typeface="Times New Roman"/>
              </a:rPr>
              <a:t>la distribution et la </a:t>
            </a:r>
            <a:r>
              <a:rPr lang="en-US" sz="2500" dirty="0" err="1">
                <a:solidFill>
                  <a:srgbClr val="1155CC"/>
                </a:solidFill>
                <a:latin typeface="Times New Roman"/>
                <a:ea typeface="Times New Roman"/>
                <a:cs typeface="Times New Roman"/>
                <a:sym typeface="Times New Roman"/>
              </a:rPr>
              <a:t>gestion</a:t>
            </a:r>
            <a:r>
              <a:rPr lang="en-US" sz="2500" dirty="0">
                <a:solidFill>
                  <a:srgbClr val="1155CC"/>
                </a:solidFill>
                <a:latin typeface="Times New Roman"/>
                <a:ea typeface="Times New Roman"/>
                <a:cs typeface="Times New Roman"/>
                <a:sym typeface="Times New Roman"/>
              </a:rPr>
              <a:t> des </a:t>
            </a:r>
            <a:r>
              <a:rPr lang="en-US" sz="2500" dirty="0" err="1">
                <a:solidFill>
                  <a:srgbClr val="1155CC"/>
                </a:solidFill>
                <a:latin typeface="Times New Roman"/>
                <a:ea typeface="Times New Roman"/>
                <a:cs typeface="Times New Roman"/>
                <a:sym typeface="Times New Roman"/>
              </a:rPr>
              <a:t>vaccins</a:t>
            </a:r>
            <a:r>
              <a:rPr lang="en-US" sz="2500" dirty="0">
                <a:solidFill>
                  <a:srgbClr val="1155CC"/>
                </a:solidFill>
                <a:latin typeface="Times New Roman"/>
                <a:ea typeface="Times New Roman"/>
                <a:cs typeface="Times New Roman"/>
                <a:sym typeface="Times New Roman"/>
              </a:rPr>
              <a:t> et </a:t>
            </a:r>
            <a:r>
              <a:rPr lang="en-US" sz="2500" dirty="0" err="1" smtClean="0">
                <a:solidFill>
                  <a:srgbClr val="1155CC"/>
                </a:solidFill>
                <a:latin typeface="Times New Roman"/>
                <a:ea typeface="Times New Roman"/>
                <a:cs typeface="Times New Roman"/>
                <a:sym typeface="Times New Roman"/>
              </a:rPr>
              <a:t>Equipement</a:t>
            </a:r>
            <a:r>
              <a:rPr lang="en-US" sz="2500" dirty="0" smtClean="0">
                <a:solidFill>
                  <a:srgbClr val="1155CC"/>
                </a:solidFill>
                <a:latin typeface="Times New Roman"/>
                <a:ea typeface="Times New Roman"/>
                <a:cs typeface="Times New Roman"/>
                <a:sym typeface="Times New Roman"/>
              </a:rPr>
              <a:t> de la </a:t>
            </a:r>
            <a:r>
              <a:rPr lang="en-US" sz="2500" dirty="0" err="1" smtClean="0">
                <a:solidFill>
                  <a:srgbClr val="1155CC"/>
                </a:solidFill>
                <a:latin typeface="Times New Roman"/>
                <a:ea typeface="Times New Roman"/>
                <a:cs typeface="Times New Roman"/>
                <a:sym typeface="Times New Roman"/>
              </a:rPr>
              <a:t>Chaîne</a:t>
            </a:r>
            <a:r>
              <a:rPr lang="en-US" sz="2500" dirty="0" smtClean="0">
                <a:solidFill>
                  <a:srgbClr val="1155CC"/>
                </a:solidFill>
                <a:latin typeface="Times New Roman"/>
                <a:ea typeface="Times New Roman"/>
                <a:cs typeface="Times New Roman"/>
                <a:sym typeface="Times New Roman"/>
              </a:rPr>
              <a:t> du </a:t>
            </a:r>
            <a:r>
              <a:rPr lang="en-US" sz="2500" dirty="0" err="1" smtClean="0">
                <a:solidFill>
                  <a:srgbClr val="1155CC"/>
                </a:solidFill>
                <a:latin typeface="Times New Roman"/>
                <a:ea typeface="Times New Roman"/>
                <a:cs typeface="Times New Roman"/>
                <a:sym typeface="Times New Roman"/>
              </a:rPr>
              <a:t>Froid</a:t>
            </a:r>
            <a:endParaRPr sz="2500" i="0" u="none" strike="noStrike" cap="none" dirty="0">
              <a:solidFill>
                <a:srgbClr val="1155CC"/>
              </a:solidFill>
              <a:latin typeface="Times New Roman"/>
              <a:ea typeface="Times New Roman"/>
              <a:cs typeface="Times New Roman"/>
              <a:sym typeface="Times New Roman"/>
            </a:endParaRPr>
          </a:p>
        </p:txBody>
      </p:sp>
      <p:sp>
        <p:nvSpPr>
          <p:cNvPr id="215" name="Google Shape;215;g3a7c61c1dee_0_10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16" name="Google Shape;216;g3a7c61c1dee_0_10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17" name="Google Shape;217;g3a7c61c1dee_0_10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5</a:t>
            </a:fld>
            <a:endParaRPr sz="1200" b="0" i="0" u="none" strike="noStrike" cap="none">
              <a:solidFill>
                <a:srgbClr val="1155CC"/>
              </a:solidFill>
              <a:latin typeface="Arial"/>
              <a:ea typeface="Arial"/>
              <a:cs typeface="Arial"/>
              <a:sym typeface="Arial"/>
            </a:endParaRPr>
          </a:p>
        </p:txBody>
      </p:sp>
      <p:sp>
        <p:nvSpPr>
          <p:cNvPr id="218" name="Google Shape;218;g3a7c61c1dee_0_109"/>
          <p:cNvSpPr txBox="1"/>
          <p:nvPr/>
        </p:nvSpPr>
        <p:spPr>
          <a:xfrm>
            <a:off x="497329" y="1926090"/>
            <a:ext cx="11328900" cy="4666500"/>
          </a:xfrm>
          <a:prstGeom prst="rect">
            <a:avLst/>
          </a:prstGeom>
          <a:noFill/>
          <a:ln>
            <a:noFill/>
          </a:ln>
        </p:spPr>
        <p:txBody>
          <a:bodyPr spcFirstLastPara="1" wrap="square" lIns="121900" tIns="121900" rIns="121900" bIns="121900" anchor="t" anchorCtr="0">
            <a:noAutofit/>
          </a:bodyPr>
          <a:lstStyle/>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err="1">
                <a:solidFill>
                  <a:srgbClr val="222222"/>
                </a:solidFill>
                <a:highlight>
                  <a:srgbClr val="FFFFFF"/>
                </a:highlight>
                <a:latin typeface="Times New Roman"/>
                <a:ea typeface="Times New Roman"/>
                <a:cs typeface="Times New Roman"/>
                <a:sym typeface="Times New Roman"/>
              </a:rPr>
              <a:t>Planifier</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commandes</a:t>
            </a:r>
            <a:r>
              <a:rPr lang="en-US" sz="2000" dirty="0">
                <a:solidFill>
                  <a:srgbClr val="222222"/>
                </a:solidFill>
                <a:highlight>
                  <a:srgbClr val="FFFFFF"/>
                </a:highlight>
                <a:latin typeface="Times New Roman"/>
                <a:ea typeface="Times New Roman"/>
                <a:cs typeface="Times New Roman"/>
                <a:sym typeface="Times New Roman"/>
              </a:rPr>
              <a:t> pour assurer la </a:t>
            </a:r>
            <a:r>
              <a:rPr lang="en-US" sz="2000" dirty="0" err="1">
                <a:solidFill>
                  <a:srgbClr val="222222"/>
                </a:solidFill>
                <a:highlight>
                  <a:srgbClr val="FFFFFF"/>
                </a:highlight>
                <a:latin typeface="Times New Roman"/>
                <a:ea typeface="Times New Roman"/>
                <a:cs typeface="Times New Roman"/>
                <a:sym typeface="Times New Roman"/>
              </a:rPr>
              <a:t>disponibilité</a:t>
            </a:r>
            <a:r>
              <a:rPr lang="en-US" sz="2000" dirty="0">
                <a:solidFill>
                  <a:srgbClr val="222222"/>
                </a:solidFill>
                <a:highlight>
                  <a:srgbClr val="FFFFFF"/>
                </a:highlight>
                <a:latin typeface="Times New Roman"/>
                <a:ea typeface="Times New Roman"/>
                <a:cs typeface="Times New Roman"/>
                <a:sym typeface="Times New Roman"/>
              </a:rPr>
              <a:t> des </a:t>
            </a:r>
            <a:r>
              <a:rPr lang="en-US" sz="2000" dirty="0" err="1">
                <a:solidFill>
                  <a:srgbClr val="222222"/>
                </a:solidFill>
                <a:highlight>
                  <a:srgbClr val="FFFFFF"/>
                </a:highlight>
                <a:latin typeface="Times New Roman"/>
                <a:ea typeface="Times New Roman"/>
                <a:cs typeface="Times New Roman"/>
                <a:sym typeface="Times New Roman"/>
              </a:rPr>
              <a:t>vaccins</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qualité</a:t>
            </a:r>
            <a:r>
              <a:rPr lang="en-US" sz="2000" dirty="0">
                <a:solidFill>
                  <a:srgbClr val="222222"/>
                </a:solidFill>
                <a:highlight>
                  <a:srgbClr val="FFFFFF"/>
                </a:highlight>
                <a:latin typeface="Times New Roman"/>
                <a:ea typeface="Times New Roman"/>
                <a:cs typeface="Times New Roman"/>
                <a:sym typeface="Times New Roman"/>
              </a:rPr>
              <a:t> ; </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err="1">
                <a:solidFill>
                  <a:srgbClr val="222222"/>
                </a:solidFill>
                <a:highlight>
                  <a:srgbClr val="FFFFFF"/>
                </a:highlight>
                <a:latin typeface="Times New Roman"/>
                <a:ea typeface="Times New Roman"/>
                <a:cs typeface="Times New Roman"/>
                <a:sym typeface="Times New Roman"/>
              </a:rPr>
              <a:t>Suivre</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approvisionnements</a:t>
            </a:r>
            <a:r>
              <a:rPr lang="en-US" sz="2000" dirty="0">
                <a:solidFill>
                  <a:srgbClr val="222222"/>
                </a:solidFill>
                <a:highlight>
                  <a:srgbClr val="FFFFFF"/>
                </a:highlight>
                <a:latin typeface="Times New Roman"/>
                <a:ea typeface="Times New Roman"/>
                <a:cs typeface="Times New Roman"/>
                <a:sym typeface="Times New Roman"/>
              </a:rPr>
              <a:t> et la </a:t>
            </a:r>
            <a:r>
              <a:rPr lang="en-US" sz="2000" dirty="0" err="1">
                <a:solidFill>
                  <a:srgbClr val="222222"/>
                </a:solidFill>
                <a:highlight>
                  <a:srgbClr val="FFFFFF"/>
                </a:highlight>
                <a:latin typeface="Times New Roman"/>
                <a:ea typeface="Times New Roman"/>
                <a:cs typeface="Times New Roman"/>
                <a:sym typeface="Times New Roman"/>
              </a:rPr>
              <a:t>gestion</a:t>
            </a:r>
            <a:r>
              <a:rPr lang="en-US" sz="2000" dirty="0">
                <a:solidFill>
                  <a:srgbClr val="222222"/>
                </a:solidFill>
                <a:highlight>
                  <a:srgbClr val="FFFFFF"/>
                </a:highlight>
                <a:latin typeface="Times New Roman"/>
                <a:ea typeface="Times New Roman"/>
                <a:cs typeface="Times New Roman"/>
                <a:sym typeface="Times New Roman"/>
              </a:rPr>
              <a:t> des stocks de </a:t>
            </a:r>
            <a:r>
              <a:rPr lang="en-US" sz="2000" dirty="0" err="1">
                <a:solidFill>
                  <a:srgbClr val="222222"/>
                </a:solidFill>
                <a:highlight>
                  <a:srgbClr val="FFFFFF"/>
                </a:highlight>
                <a:latin typeface="Times New Roman"/>
                <a:ea typeface="Times New Roman"/>
                <a:cs typeface="Times New Roman"/>
                <a:sym typeface="Times New Roman"/>
              </a:rPr>
              <a:t>vaccins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matériels</a:t>
            </a:r>
            <a:r>
              <a:rPr lang="en-US" sz="2000" dirty="0">
                <a:solidFill>
                  <a:srgbClr val="222222"/>
                </a:solidFill>
                <a:highlight>
                  <a:srgbClr val="FFFFFF"/>
                </a:highlight>
                <a:latin typeface="Times New Roman"/>
                <a:ea typeface="Times New Roman"/>
                <a:cs typeface="Times New Roman"/>
                <a:sym typeface="Times New Roman"/>
              </a:rPr>
              <a:t> et des </a:t>
            </a:r>
            <a:r>
              <a:rPr lang="en-US" sz="2000" dirty="0" err="1">
                <a:solidFill>
                  <a:srgbClr val="222222"/>
                </a:solidFill>
                <a:highlight>
                  <a:srgbClr val="FFFFFF"/>
                </a:highlight>
                <a:latin typeface="Times New Roman"/>
                <a:ea typeface="Times New Roman"/>
                <a:cs typeface="Times New Roman"/>
                <a:sym typeface="Times New Roman"/>
              </a:rPr>
              <a:t>outils</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gestion</a:t>
            </a:r>
            <a:r>
              <a:rPr lang="en-US" sz="2000" dirty="0">
                <a:solidFill>
                  <a:srgbClr val="222222"/>
                </a:solidFill>
                <a:highlight>
                  <a:srgbClr val="FFFFFF"/>
                </a:highlight>
                <a:latin typeface="Times New Roman"/>
                <a:ea typeface="Times New Roman"/>
                <a:cs typeface="Times New Roman"/>
                <a:sym typeface="Times New Roman"/>
              </a:rPr>
              <a:t> des </a:t>
            </a:r>
            <a:r>
              <a:rPr lang="en-US" sz="2000" dirty="0" err="1">
                <a:solidFill>
                  <a:srgbClr val="222222"/>
                </a:solidFill>
                <a:highlight>
                  <a:srgbClr val="FFFFFF"/>
                </a:highlight>
                <a:latin typeface="Times New Roman"/>
                <a:ea typeface="Times New Roman"/>
                <a:cs typeface="Times New Roman"/>
                <a:sym typeface="Times New Roman"/>
              </a:rPr>
              <a:t>données</a:t>
            </a:r>
            <a:r>
              <a:rPr lang="en-US" sz="2000" dirty="0">
                <a:solidFill>
                  <a:srgbClr val="222222"/>
                </a:solidFill>
                <a:highlight>
                  <a:srgbClr val="FFFFFF"/>
                </a:highlight>
                <a:latin typeface="Times New Roman"/>
                <a:ea typeface="Times New Roman"/>
                <a:cs typeface="Times New Roman"/>
                <a:sym typeface="Times New Roman"/>
              </a:rPr>
              <a:t>.</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a:solidFill>
                  <a:srgbClr val="222222"/>
                </a:solidFill>
                <a:highlight>
                  <a:srgbClr val="FFFFFF"/>
                </a:highlight>
                <a:latin typeface="Times New Roman"/>
                <a:ea typeface="Times New Roman"/>
                <a:cs typeface="Times New Roman"/>
                <a:sym typeface="Times New Roman"/>
              </a:rPr>
              <a:t>Assurer le bon </a:t>
            </a:r>
            <a:r>
              <a:rPr lang="en-US" sz="2000" dirty="0" err="1">
                <a:solidFill>
                  <a:srgbClr val="222222"/>
                </a:solidFill>
                <a:highlight>
                  <a:srgbClr val="FFFFFF"/>
                </a:highlight>
                <a:latin typeface="Times New Roman"/>
                <a:ea typeface="Times New Roman"/>
                <a:cs typeface="Times New Roman"/>
                <a:sym typeface="Times New Roman"/>
              </a:rPr>
              <a:t>fonctionnement</a:t>
            </a:r>
            <a:r>
              <a:rPr lang="en-US" sz="2000" dirty="0">
                <a:solidFill>
                  <a:srgbClr val="222222"/>
                </a:solidFill>
                <a:highlight>
                  <a:srgbClr val="FFFFFF"/>
                </a:highlight>
                <a:latin typeface="Times New Roman"/>
                <a:ea typeface="Times New Roman"/>
                <a:cs typeface="Times New Roman"/>
                <a:sym typeface="Times New Roman"/>
              </a:rPr>
              <a:t> de la </a:t>
            </a:r>
            <a:r>
              <a:rPr lang="en-US" sz="2000" dirty="0" err="1">
                <a:solidFill>
                  <a:srgbClr val="222222"/>
                </a:solidFill>
                <a:highlight>
                  <a:srgbClr val="FFFFFF"/>
                </a:highlight>
                <a:latin typeface="Times New Roman"/>
                <a:ea typeface="Times New Roman"/>
                <a:cs typeface="Times New Roman"/>
                <a:sym typeface="Times New Roman"/>
              </a:rPr>
              <a:t>chaîne</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froid</a:t>
            </a:r>
            <a:r>
              <a:rPr lang="en-US" sz="2000" dirty="0">
                <a:solidFill>
                  <a:srgbClr val="222222"/>
                </a:solidFill>
                <a:highlight>
                  <a:srgbClr val="FFFFFF"/>
                </a:highlight>
                <a:latin typeface="Times New Roman"/>
                <a:ea typeface="Times New Roman"/>
                <a:cs typeface="Times New Roman"/>
                <a:sym typeface="Times New Roman"/>
              </a:rPr>
              <a:t> ;</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err="1">
                <a:solidFill>
                  <a:srgbClr val="222222"/>
                </a:solidFill>
                <a:highlight>
                  <a:srgbClr val="FFFFFF"/>
                </a:highlight>
                <a:latin typeface="Times New Roman"/>
                <a:ea typeface="Times New Roman"/>
                <a:cs typeface="Times New Roman"/>
                <a:sym typeface="Times New Roman"/>
              </a:rPr>
              <a:t>Effectuer</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inventaires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sur</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matériels</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chaîne</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froid</a:t>
            </a:r>
            <a:r>
              <a:rPr lang="en-US" sz="2000" dirty="0">
                <a:solidFill>
                  <a:srgbClr val="222222"/>
                </a:solidFill>
                <a:highlight>
                  <a:srgbClr val="FFFFFF"/>
                </a:highlight>
                <a:latin typeface="Times New Roman"/>
                <a:ea typeface="Times New Roman"/>
                <a:cs typeface="Times New Roman"/>
                <a:sym typeface="Times New Roman"/>
              </a:rPr>
              <a:t> ;</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a:solidFill>
                  <a:srgbClr val="222222"/>
                </a:solidFill>
                <a:highlight>
                  <a:srgbClr val="FFFFFF"/>
                </a:highlight>
                <a:latin typeface="Times New Roman"/>
                <a:ea typeface="Times New Roman"/>
                <a:cs typeface="Times New Roman"/>
                <a:sym typeface="Times New Roman"/>
              </a:rPr>
              <a:t>Assurer la maintenance </a:t>
            </a:r>
            <a:r>
              <a:rPr lang="en-US" sz="2000" dirty="0" err="1">
                <a:solidFill>
                  <a:srgbClr val="222222"/>
                </a:solidFill>
                <a:highlight>
                  <a:srgbClr val="FFFFFF"/>
                </a:highlight>
                <a:latin typeface="Times New Roman"/>
                <a:ea typeface="Times New Roman"/>
                <a:cs typeface="Times New Roman"/>
                <a:sym typeface="Times New Roman"/>
              </a:rPr>
              <a:t>préventive</a:t>
            </a:r>
            <a:r>
              <a:rPr lang="en-US" sz="2000" dirty="0">
                <a:solidFill>
                  <a:srgbClr val="222222"/>
                </a:solidFill>
                <a:highlight>
                  <a:srgbClr val="FFFFFF"/>
                </a:highlight>
                <a:latin typeface="Times New Roman"/>
                <a:ea typeface="Times New Roman"/>
                <a:cs typeface="Times New Roman"/>
                <a:sym typeface="Times New Roman"/>
              </a:rPr>
              <a:t> et curative des </a:t>
            </a:r>
            <a:r>
              <a:rPr lang="en-US" sz="2000" dirty="0" err="1">
                <a:solidFill>
                  <a:srgbClr val="222222"/>
                </a:solidFill>
                <a:highlight>
                  <a:srgbClr val="FFFFFF"/>
                </a:highlight>
                <a:latin typeface="Times New Roman"/>
                <a:ea typeface="Times New Roman"/>
                <a:cs typeface="Times New Roman"/>
                <a:sym typeface="Times New Roman"/>
              </a:rPr>
              <a:t>matériels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chaînes</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froid</a:t>
            </a:r>
            <a:r>
              <a:rPr lang="en-US" sz="2000" dirty="0">
                <a:solidFill>
                  <a:srgbClr val="222222"/>
                </a:solidFill>
                <a:highlight>
                  <a:srgbClr val="FFFFFF"/>
                </a:highlight>
                <a:latin typeface="Times New Roman"/>
                <a:ea typeface="Times New Roman"/>
                <a:cs typeface="Times New Roman"/>
                <a:sym typeface="Times New Roman"/>
              </a:rPr>
              <a:t> ;</a:t>
            </a:r>
            <a:endParaRPr sz="2000" dirty="0">
              <a:solidFill>
                <a:srgbClr val="222222"/>
              </a:solidFill>
              <a:highlight>
                <a:srgbClr val="FFFFFF"/>
              </a:highlight>
              <a:latin typeface="Times New Roman"/>
              <a:ea typeface="Times New Roman"/>
              <a:cs typeface="Times New Roman"/>
              <a:sym typeface="Times New Roman"/>
            </a:endParaRPr>
          </a:p>
          <a:p>
            <a:pPr marL="0" marR="0" lvl="0" indent="0" algn="l" rtl="0">
              <a:lnSpc>
                <a:spcPct val="100000"/>
              </a:lnSpc>
              <a:spcBef>
                <a:spcPts val="1300"/>
              </a:spcBef>
              <a:spcAft>
                <a:spcPts val="1000"/>
              </a:spcAft>
              <a:buNone/>
            </a:pPr>
            <a:endParaRPr sz="2000" dirty="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a7c61c1dee_0_117"/>
          <p:cNvSpPr txBox="1"/>
          <p:nvPr/>
        </p:nvSpPr>
        <p:spPr>
          <a:xfrm>
            <a:off x="458592" y="317941"/>
            <a:ext cx="11274900" cy="82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Mécanisme de redevabilité | </a:t>
            </a:r>
            <a:r>
              <a:rPr lang="en-US" sz="2500">
                <a:solidFill>
                  <a:srgbClr val="1155CC"/>
                </a:solidFill>
                <a:latin typeface="Times New Roman"/>
                <a:ea typeface="Times New Roman"/>
                <a:cs typeface="Times New Roman"/>
                <a:sym typeface="Times New Roman"/>
              </a:rPr>
              <a:t>Les MCAs, MCPs sont redevables de tous les indicateurs de la vaccination vis à vis du CDPS et de la direction du PEV</a:t>
            </a:r>
            <a:r>
              <a:rPr lang="en-US" sz="2500" b="1">
                <a:solidFill>
                  <a:srgbClr val="1155CC"/>
                </a:solidFill>
                <a:latin typeface="Times New Roman"/>
                <a:ea typeface="Times New Roman"/>
                <a:cs typeface="Times New Roman"/>
                <a:sym typeface="Times New Roman"/>
              </a:rPr>
              <a:t> </a:t>
            </a:r>
            <a:endParaRPr sz="2500" i="0" u="none" strike="noStrike" cap="none">
              <a:solidFill>
                <a:srgbClr val="1155CC"/>
              </a:solidFill>
              <a:latin typeface="Times New Roman"/>
              <a:ea typeface="Times New Roman"/>
              <a:cs typeface="Times New Roman"/>
              <a:sym typeface="Times New Roman"/>
            </a:endParaRPr>
          </a:p>
        </p:txBody>
      </p:sp>
      <p:sp>
        <p:nvSpPr>
          <p:cNvPr id="224" name="Google Shape;224;g3a7c61c1dee_0_11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25" name="Google Shape;225;g3a7c61c1dee_0_11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26" name="Google Shape;226;g3a7c61c1dee_0_11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6</a:t>
            </a:fld>
            <a:endParaRPr sz="1200" b="0" i="0" u="none" strike="noStrike" cap="none">
              <a:solidFill>
                <a:srgbClr val="1155CC"/>
              </a:solidFill>
              <a:latin typeface="Arial"/>
              <a:ea typeface="Arial"/>
              <a:cs typeface="Arial"/>
              <a:sym typeface="Arial"/>
            </a:endParaRPr>
          </a:p>
        </p:txBody>
      </p:sp>
      <p:pic>
        <p:nvPicPr>
          <p:cNvPr id="227" name="Google Shape;227;g3a7c61c1dee_0_117" title="Screenshot 2025-12-16 at 14.57.40.png">
            <a:hlinkClick r:id="rId3"/>
          </p:cNvPr>
          <p:cNvPicPr preferRelativeResize="0"/>
          <p:nvPr/>
        </p:nvPicPr>
        <p:blipFill>
          <a:blip r:embed="rId4">
            <a:alphaModFix/>
          </a:blip>
          <a:stretch>
            <a:fillRect/>
          </a:stretch>
        </p:blipFill>
        <p:spPr>
          <a:xfrm>
            <a:off x="458600" y="1349095"/>
            <a:ext cx="5780152" cy="2054667"/>
          </a:xfrm>
          <a:prstGeom prst="rect">
            <a:avLst/>
          </a:prstGeom>
          <a:noFill/>
          <a:ln>
            <a:noFill/>
          </a:ln>
        </p:spPr>
      </p:pic>
      <p:pic>
        <p:nvPicPr>
          <p:cNvPr id="228" name="Google Shape;228;g3a7c61c1dee_0_117" title="Screenshot 2025-12-16 at 14.58.19.png">
            <a:hlinkClick r:id="rId3"/>
          </p:cNvPr>
          <p:cNvPicPr preferRelativeResize="0"/>
          <p:nvPr/>
        </p:nvPicPr>
        <p:blipFill>
          <a:blip r:embed="rId5">
            <a:alphaModFix/>
          </a:blip>
          <a:stretch>
            <a:fillRect/>
          </a:stretch>
        </p:blipFill>
        <p:spPr>
          <a:xfrm>
            <a:off x="458600" y="3607499"/>
            <a:ext cx="5780157" cy="2757426"/>
          </a:xfrm>
          <a:prstGeom prst="rect">
            <a:avLst/>
          </a:prstGeom>
          <a:noFill/>
          <a:ln>
            <a:noFill/>
          </a:ln>
        </p:spPr>
      </p:pic>
      <p:sp>
        <p:nvSpPr>
          <p:cNvPr id="229" name="Google Shape;229;g3a7c61c1dee_0_117"/>
          <p:cNvSpPr txBox="1"/>
          <p:nvPr/>
        </p:nvSpPr>
        <p:spPr>
          <a:xfrm>
            <a:off x="6323250" y="1377450"/>
            <a:ext cx="5427600" cy="4987500"/>
          </a:xfrm>
          <a:prstGeom prst="rect">
            <a:avLst/>
          </a:prstGeom>
          <a:noFill/>
          <a:ln>
            <a:noFill/>
          </a:ln>
        </p:spPr>
        <p:txBody>
          <a:bodyPr spcFirstLastPara="1" wrap="square" lIns="121900" tIns="121900" rIns="121900" bIns="121900" anchor="t" anchorCtr="0">
            <a:noAutofit/>
          </a:bodyPr>
          <a:lstStyle/>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err="1">
                <a:solidFill>
                  <a:srgbClr val="222222"/>
                </a:solidFill>
                <a:highlight>
                  <a:srgbClr val="FFFFFF"/>
                </a:highlight>
                <a:latin typeface="Times New Roman"/>
                <a:ea typeface="Times New Roman"/>
                <a:cs typeface="Times New Roman"/>
                <a:sym typeface="Times New Roman"/>
              </a:rPr>
              <a:t>Comptable</a:t>
            </a:r>
            <a:r>
              <a:rPr lang="en-US" sz="2000" dirty="0">
                <a:solidFill>
                  <a:srgbClr val="222222"/>
                </a:solidFill>
                <a:highlight>
                  <a:srgbClr val="FFFFFF"/>
                </a:highlight>
                <a:latin typeface="Times New Roman"/>
                <a:ea typeface="Times New Roman"/>
                <a:cs typeface="Times New Roman"/>
                <a:sym typeface="Times New Roman"/>
              </a:rPr>
              <a:t> pour les </a:t>
            </a:r>
            <a:r>
              <a:rPr lang="en-US" sz="2000" dirty="0" err="1">
                <a:solidFill>
                  <a:srgbClr val="222222"/>
                </a:solidFill>
                <a:highlight>
                  <a:srgbClr val="FFFFFF"/>
                </a:highlight>
                <a:latin typeface="Times New Roman"/>
                <a:ea typeface="Times New Roman"/>
                <a:cs typeface="Times New Roman"/>
                <a:sym typeface="Times New Roman"/>
              </a:rPr>
              <a:t>indicateurs</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processus</a:t>
            </a:r>
            <a:r>
              <a:rPr lang="en-US" sz="2000" dirty="0">
                <a:solidFill>
                  <a:srgbClr val="222222"/>
                </a:solidFill>
                <a:highlight>
                  <a:srgbClr val="FFFFFF"/>
                </a:highlight>
                <a:latin typeface="Times New Roman"/>
                <a:ea typeface="Times New Roman"/>
                <a:cs typeface="Times New Roman"/>
                <a:sym typeface="Times New Roman"/>
              </a:rPr>
              <a:t> et des </a:t>
            </a:r>
            <a:r>
              <a:rPr lang="en-US" sz="2000" dirty="0" err="1">
                <a:solidFill>
                  <a:srgbClr val="222222"/>
                </a:solidFill>
                <a:highlight>
                  <a:srgbClr val="FFFFFF"/>
                </a:highlight>
                <a:latin typeface="Times New Roman"/>
                <a:ea typeface="Times New Roman"/>
                <a:cs typeface="Times New Roman"/>
                <a:sym typeface="Times New Roman"/>
              </a:rPr>
              <a:t>résultats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voir</a:t>
            </a:r>
            <a:r>
              <a:rPr lang="en-US" sz="2000" dirty="0">
                <a:solidFill>
                  <a:srgbClr val="222222"/>
                </a:solidFill>
                <a:highlight>
                  <a:srgbClr val="FFFFFF"/>
                </a:highlight>
                <a:latin typeface="Times New Roman"/>
                <a:ea typeface="Times New Roman"/>
                <a:cs typeface="Times New Roman"/>
                <a:sym typeface="Times New Roman"/>
              </a:rPr>
              <a:t> le cadre de </a:t>
            </a:r>
            <a:r>
              <a:rPr lang="en-US" sz="2000" dirty="0" err="1">
                <a:solidFill>
                  <a:srgbClr val="222222"/>
                </a:solidFill>
                <a:highlight>
                  <a:srgbClr val="FFFFFF"/>
                </a:highlight>
                <a:latin typeface="Times New Roman"/>
                <a:ea typeface="Times New Roman"/>
                <a:cs typeface="Times New Roman"/>
                <a:sym typeface="Times New Roman"/>
              </a:rPr>
              <a:t>suivi</a:t>
            </a:r>
            <a:r>
              <a:rPr lang="en-US" sz="2000" dirty="0">
                <a:solidFill>
                  <a:srgbClr val="222222"/>
                </a:solidFill>
                <a:highlight>
                  <a:srgbClr val="FFFFFF"/>
                </a:highlight>
                <a:latin typeface="Times New Roman"/>
                <a:ea typeface="Times New Roman"/>
                <a:cs typeface="Times New Roman"/>
                <a:sym typeface="Times New Roman"/>
              </a:rPr>
              <a:t> et </a:t>
            </a:r>
            <a:r>
              <a:rPr lang="en-US" sz="2000" dirty="0" err="1">
                <a:solidFill>
                  <a:srgbClr val="222222"/>
                </a:solidFill>
                <a:highlight>
                  <a:srgbClr val="FFFFFF"/>
                </a:highlight>
                <a:latin typeface="Times New Roman"/>
                <a:ea typeface="Times New Roman"/>
                <a:cs typeface="Times New Roman"/>
                <a:sym typeface="Times New Roman"/>
              </a:rPr>
              <a:t>évaluation</a:t>
            </a:r>
            <a:r>
              <a:rPr lang="en-US" sz="2000" dirty="0">
                <a:solidFill>
                  <a:srgbClr val="222222"/>
                </a:solidFill>
                <a:highlight>
                  <a:srgbClr val="FFFFFF"/>
                </a:highlight>
                <a:latin typeface="Times New Roman"/>
                <a:ea typeface="Times New Roman"/>
                <a:cs typeface="Times New Roman"/>
                <a:sym typeface="Times New Roman"/>
              </a:rPr>
              <a:t> du PAO 2026</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a:solidFill>
                  <a:srgbClr val="222222"/>
                </a:solidFill>
                <a:highlight>
                  <a:srgbClr val="FFFFFF"/>
                </a:highlight>
                <a:latin typeface="Times New Roman"/>
                <a:ea typeface="Times New Roman"/>
                <a:cs typeface="Times New Roman"/>
                <a:sym typeface="Times New Roman"/>
              </a:rPr>
              <a:t>Reporter </a:t>
            </a:r>
            <a:r>
              <a:rPr lang="en-US" sz="2000" dirty="0" err="1">
                <a:solidFill>
                  <a:srgbClr val="222222"/>
                </a:solidFill>
                <a:highlight>
                  <a:srgbClr val="FFFFFF"/>
                </a:highlight>
                <a:latin typeface="Times New Roman"/>
                <a:ea typeface="Times New Roman"/>
                <a:cs typeface="Times New Roman"/>
                <a:sym typeface="Times New Roman"/>
              </a:rPr>
              <a:t>sur</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tous</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indicateurs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dans</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réunions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statutaires</a:t>
            </a:r>
            <a:r>
              <a:rPr lang="en-US" sz="2000" dirty="0">
                <a:solidFill>
                  <a:srgbClr val="222222"/>
                </a:solidFill>
                <a:highlight>
                  <a:srgbClr val="FFFFFF"/>
                </a:highlight>
                <a:latin typeface="Times New Roman"/>
                <a:ea typeface="Times New Roman"/>
                <a:cs typeface="Times New Roman"/>
                <a:sym typeface="Times New Roman"/>
              </a:rPr>
              <a:t> au </a:t>
            </a:r>
            <a:r>
              <a:rPr lang="en-US" sz="2000" dirty="0" err="1">
                <a:solidFill>
                  <a:srgbClr val="222222"/>
                </a:solidFill>
                <a:highlight>
                  <a:srgbClr val="FFFFFF"/>
                </a:highlight>
                <a:latin typeface="Times New Roman"/>
                <a:ea typeface="Times New Roman"/>
                <a:cs typeface="Times New Roman"/>
                <a:sym typeface="Times New Roman"/>
              </a:rPr>
              <a:t>niveau</a:t>
            </a:r>
            <a:r>
              <a:rPr lang="en-US" sz="2000" dirty="0">
                <a:solidFill>
                  <a:srgbClr val="222222"/>
                </a:solidFill>
                <a:highlight>
                  <a:srgbClr val="FFFFFF"/>
                </a:highlight>
                <a:latin typeface="Times New Roman"/>
                <a:ea typeface="Times New Roman"/>
                <a:cs typeface="Times New Roman"/>
                <a:sym typeface="Times New Roman"/>
              </a:rPr>
              <a:t> de la DPS et de la direction du PEV</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AutoNum type="arabicPeriod"/>
            </a:pPr>
            <a:r>
              <a:rPr lang="en-US" sz="2000" dirty="0">
                <a:solidFill>
                  <a:srgbClr val="222222"/>
                </a:solidFill>
                <a:highlight>
                  <a:srgbClr val="FFFFFF"/>
                </a:highlight>
                <a:latin typeface="Times New Roman"/>
                <a:ea typeface="Times New Roman"/>
                <a:cs typeface="Times New Roman"/>
                <a:sym typeface="Times New Roman"/>
              </a:rPr>
              <a:t>Assurer la </a:t>
            </a:r>
            <a:r>
              <a:rPr lang="en-US" sz="2000" dirty="0" err="1">
                <a:solidFill>
                  <a:srgbClr val="222222"/>
                </a:solidFill>
                <a:highlight>
                  <a:srgbClr val="FFFFFF"/>
                </a:highlight>
                <a:latin typeface="Times New Roman"/>
                <a:ea typeface="Times New Roman"/>
                <a:cs typeface="Times New Roman"/>
                <a:sym typeface="Times New Roman"/>
              </a:rPr>
              <a:t>tenue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smtClean="0">
                <a:solidFill>
                  <a:srgbClr val="222222"/>
                </a:solidFill>
                <a:highlight>
                  <a:srgbClr val="FFFFFF"/>
                </a:highlight>
                <a:latin typeface="Times New Roman"/>
                <a:ea typeface="Times New Roman"/>
                <a:cs typeface="Times New Roman"/>
                <a:sym typeface="Times New Roman"/>
              </a:rPr>
              <a:t>des revues de routines </a:t>
            </a:r>
            <a:r>
              <a:rPr lang="en-US" sz="2000" dirty="0">
                <a:solidFill>
                  <a:srgbClr val="222222"/>
                </a:solidFill>
                <a:highlight>
                  <a:srgbClr val="FFFFFF"/>
                </a:highlight>
                <a:latin typeface="Times New Roman"/>
                <a:ea typeface="Times New Roman"/>
                <a:cs typeface="Times New Roman"/>
                <a:sym typeface="Times New Roman"/>
              </a:rPr>
              <a:t>des performance </a:t>
            </a:r>
            <a:r>
              <a:rPr lang="en-US" sz="2000" dirty="0" err="1">
                <a:solidFill>
                  <a:srgbClr val="222222"/>
                </a:solidFill>
                <a:highlight>
                  <a:srgbClr val="FFFFFF"/>
                </a:highlight>
                <a:latin typeface="Times New Roman"/>
                <a:ea typeface="Times New Roman"/>
                <a:cs typeface="Times New Roman"/>
                <a:sym typeface="Times New Roman"/>
              </a:rPr>
              <a:t>dans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l’antenne</a:t>
            </a:r>
            <a:r>
              <a:rPr lang="en-US" sz="2000" dirty="0">
                <a:solidFill>
                  <a:srgbClr val="222222"/>
                </a:solidFill>
                <a:highlight>
                  <a:srgbClr val="FFFFFF"/>
                </a:highlight>
                <a:latin typeface="Times New Roman"/>
                <a:ea typeface="Times New Roman"/>
                <a:cs typeface="Times New Roman"/>
                <a:sym typeface="Times New Roman"/>
              </a:rPr>
              <a:t>: </a:t>
            </a:r>
            <a:r>
              <a:rPr lang="en-US" sz="2000" i="1" dirty="0" err="1">
                <a:solidFill>
                  <a:srgbClr val="222222"/>
                </a:solidFill>
                <a:highlight>
                  <a:srgbClr val="FFFFFF"/>
                </a:highlight>
                <a:latin typeface="Times New Roman"/>
                <a:ea typeface="Times New Roman"/>
                <a:cs typeface="Times New Roman"/>
                <a:sym typeface="Times New Roman"/>
              </a:rPr>
              <a:t>analyse</a:t>
            </a:r>
            <a:r>
              <a:rPr lang="en-US" sz="2000" i="1" dirty="0">
                <a:solidFill>
                  <a:srgbClr val="222222"/>
                </a:solidFill>
                <a:highlight>
                  <a:srgbClr val="FFFFFF"/>
                </a:highlight>
                <a:latin typeface="Times New Roman"/>
                <a:ea typeface="Times New Roman"/>
                <a:cs typeface="Times New Roman"/>
                <a:sym typeface="Times New Roman"/>
              </a:rPr>
              <a:t> et validation des </a:t>
            </a:r>
            <a:r>
              <a:rPr lang="en-US" sz="2000" i="1" dirty="0" err="1">
                <a:solidFill>
                  <a:srgbClr val="222222"/>
                </a:solidFill>
                <a:highlight>
                  <a:srgbClr val="FFFFFF"/>
                </a:highlight>
                <a:latin typeface="Times New Roman"/>
                <a:ea typeface="Times New Roman"/>
                <a:cs typeface="Times New Roman"/>
                <a:sym typeface="Times New Roman"/>
              </a:rPr>
              <a:t>données</a:t>
            </a:r>
            <a:r>
              <a:rPr lang="en-US" sz="2000" i="1" dirty="0">
                <a:solidFill>
                  <a:srgbClr val="222222"/>
                </a:solidFill>
                <a:highlight>
                  <a:srgbClr val="FFFFFF"/>
                </a:highlight>
                <a:latin typeface="Times New Roman"/>
                <a:ea typeface="Times New Roman"/>
                <a:cs typeface="Times New Roman"/>
                <a:sym typeface="Times New Roman"/>
              </a:rPr>
              <a:t> </a:t>
            </a:r>
            <a:r>
              <a:rPr lang="en-US" sz="2000" i="1" dirty="0" err="1">
                <a:solidFill>
                  <a:srgbClr val="222222"/>
                </a:solidFill>
                <a:highlight>
                  <a:srgbClr val="FFFFFF"/>
                </a:highlight>
                <a:latin typeface="Times New Roman"/>
                <a:ea typeface="Times New Roman"/>
                <a:cs typeface="Times New Roman"/>
                <a:sym typeface="Times New Roman"/>
              </a:rPr>
              <a:t>mensuelle</a:t>
            </a:r>
            <a:r>
              <a:rPr lang="en-US" sz="2000" i="1" dirty="0">
                <a:solidFill>
                  <a:srgbClr val="222222"/>
                </a:solidFill>
                <a:highlight>
                  <a:srgbClr val="FFFFFF"/>
                </a:highlight>
                <a:latin typeface="Times New Roman"/>
                <a:ea typeface="Times New Roman"/>
                <a:cs typeface="Times New Roman"/>
                <a:sym typeface="Times New Roman"/>
              </a:rPr>
              <a:t>, reunion de </a:t>
            </a:r>
            <a:r>
              <a:rPr lang="en-US" sz="2000" i="1" dirty="0" err="1">
                <a:solidFill>
                  <a:srgbClr val="222222"/>
                </a:solidFill>
                <a:highlight>
                  <a:srgbClr val="FFFFFF"/>
                </a:highlight>
                <a:latin typeface="Times New Roman"/>
                <a:ea typeface="Times New Roman"/>
                <a:cs typeface="Times New Roman"/>
                <a:sym typeface="Times New Roman"/>
              </a:rPr>
              <a:t>monitorage</a:t>
            </a:r>
            <a:r>
              <a:rPr lang="en-US" sz="2000" i="1" dirty="0">
                <a:solidFill>
                  <a:srgbClr val="222222"/>
                </a:solidFill>
                <a:highlight>
                  <a:srgbClr val="FFFFFF"/>
                </a:highlight>
                <a:latin typeface="Times New Roman"/>
                <a:ea typeface="Times New Roman"/>
                <a:cs typeface="Times New Roman"/>
                <a:sym typeface="Times New Roman"/>
              </a:rPr>
              <a:t> des zones, debrief bi-</a:t>
            </a:r>
            <a:r>
              <a:rPr lang="en-US" sz="2000" i="1" dirty="0" err="1">
                <a:solidFill>
                  <a:srgbClr val="222222"/>
                </a:solidFill>
                <a:highlight>
                  <a:srgbClr val="FFFFFF"/>
                </a:highlight>
                <a:latin typeface="Times New Roman"/>
                <a:ea typeface="Times New Roman"/>
                <a:cs typeface="Times New Roman"/>
                <a:sym typeface="Times New Roman"/>
              </a:rPr>
              <a:t>mensuel</a:t>
            </a:r>
            <a:r>
              <a:rPr lang="en-US" sz="2000" i="1" dirty="0">
                <a:solidFill>
                  <a:srgbClr val="222222"/>
                </a:solidFill>
                <a:highlight>
                  <a:srgbClr val="FFFFFF"/>
                </a:highlight>
                <a:latin typeface="Times New Roman"/>
                <a:ea typeface="Times New Roman"/>
                <a:cs typeface="Times New Roman"/>
                <a:sym typeface="Times New Roman"/>
              </a:rPr>
              <a:t> avec le </a:t>
            </a:r>
            <a:r>
              <a:rPr lang="en-US" sz="2000" i="1" dirty="0" err="1">
                <a:solidFill>
                  <a:srgbClr val="222222"/>
                </a:solidFill>
                <a:highlight>
                  <a:srgbClr val="FFFFFF"/>
                </a:highlight>
                <a:latin typeface="Times New Roman"/>
                <a:ea typeface="Times New Roman"/>
                <a:cs typeface="Times New Roman"/>
                <a:sym typeface="Times New Roman"/>
              </a:rPr>
              <a:t>suivi</a:t>
            </a:r>
            <a:r>
              <a:rPr lang="en-US" sz="2000" i="1" dirty="0">
                <a:solidFill>
                  <a:srgbClr val="222222"/>
                </a:solidFill>
                <a:highlight>
                  <a:srgbClr val="FFFFFF"/>
                </a:highlight>
                <a:latin typeface="Times New Roman"/>
                <a:ea typeface="Times New Roman"/>
                <a:cs typeface="Times New Roman"/>
                <a:sym typeface="Times New Roman"/>
              </a:rPr>
              <a:t> et </a:t>
            </a:r>
            <a:r>
              <a:rPr lang="en-US" sz="2000" i="1" dirty="0" err="1">
                <a:solidFill>
                  <a:srgbClr val="222222"/>
                </a:solidFill>
                <a:highlight>
                  <a:srgbClr val="FFFFFF"/>
                </a:highlight>
                <a:latin typeface="Times New Roman"/>
                <a:ea typeface="Times New Roman"/>
                <a:cs typeface="Times New Roman"/>
                <a:sym typeface="Times New Roman"/>
              </a:rPr>
              <a:t>évaluation</a:t>
            </a:r>
            <a:r>
              <a:rPr lang="en-US" sz="2000" i="1" dirty="0">
                <a:solidFill>
                  <a:srgbClr val="222222"/>
                </a:solidFill>
                <a:highlight>
                  <a:srgbClr val="FFFFFF"/>
                </a:highlight>
                <a:latin typeface="Times New Roman"/>
                <a:ea typeface="Times New Roman"/>
                <a:cs typeface="Times New Roman"/>
                <a:sym typeface="Times New Roman"/>
              </a:rPr>
              <a:t>, etc.</a:t>
            </a:r>
            <a:endParaRPr sz="2000" i="1" dirty="0">
              <a:solidFill>
                <a:srgbClr val="222222"/>
              </a:solidFill>
              <a:highlight>
                <a:srgbClr val="FFFFFF"/>
              </a:highlight>
              <a:latin typeface="Times New Roman"/>
              <a:ea typeface="Times New Roman"/>
              <a:cs typeface="Times New Roman"/>
              <a:sym typeface="Times New Roman"/>
            </a:endParaRPr>
          </a:p>
          <a:p>
            <a:pPr marL="457200" indent="-355600">
              <a:spcBef>
                <a:spcPts val="1300"/>
              </a:spcBef>
              <a:buClr>
                <a:srgbClr val="222222"/>
              </a:buClr>
              <a:buSzPts val="2000"/>
              <a:buFont typeface="Times New Roman"/>
              <a:buAutoNum type="arabicPeriod"/>
            </a:pPr>
            <a:r>
              <a:rPr lang="en-US" sz="2000" dirty="0" err="1">
                <a:solidFill>
                  <a:srgbClr val="222222"/>
                </a:solidFill>
                <a:highlight>
                  <a:srgbClr val="FFFFFF"/>
                </a:highlight>
                <a:latin typeface="Times New Roman"/>
                <a:ea typeface="Times New Roman"/>
                <a:cs typeface="Times New Roman"/>
                <a:sym typeface="Times New Roman"/>
              </a:rPr>
              <a:t>Envoyer</a:t>
            </a:r>
            <a:r>
              <a:rPr lang="en-US" sz="2000" dirty="0">
                <a:solidFill>
                  <a:srgbClr val="222222"/>
                </a:solidFill>
                <a:highlight>
                  <a:srgbClr val="FFFFFF"/>
                </a:highlight>
                <a:latin typeface="Times New Roman"/>
                <a:ea typeface="Times New Roman"/>
                <a:cs typeface="Times New Roman"/>
                <a:sym typeface="Times New Roman"/>
              </a:rPr>
              <a:t> un rapport </a:t>
            </a:r>
            <a:r>
              <a:rPr lang="en-US" sz="2000" dirty="0" err="1" smtClean="0">
                <a:solidFill>
                  <a:srgbClr val="222222"/>
                </a:solidFill>
                <a:highlight>
                  <a:srgbClr val="FFFFFF"/>
                </a:highlight>
                <a:latin typeface="Times New Roman"/>
                <a:ea typeface="Times New Roman"/>
                <a:cs typeface="Times New Roman"/>
                <a:sym typeface="Times New Roman"/>
              </a:rPr>
              <a:t>trimestriel</a:t>
            </a:r>
            <a:r>
              <a:rPr lang="en-US" sz="2000" dirty="0" smtClean="0">
                <a:solidFill>
                  <a:srgbClr val="222222"/>
                </a:solidFill>
                <a:highlight>
                  <a:srgbClr val="FFFFFF"/>
                </a:highlight>
                <a:latin typeface="Times New Roman"/>
                <a:ea typeface="Times New Roman"/>
                <a:cs typeface="Times New Roman"/>
                <a:sym typeface="Times New Roman"/>
              </a:rPr>
              <a:t>  </a:t>
            </a:r>
            <a:r>
              <a:rPr lang="en-US" sz="2000" dirty="0">
                <a:solidFill>
                  <a:srgbClr val="222222"/>
                </a:solidFill>
                <a:highlight>
                  <a:srgbClr val="FFFFFF"/>
                </a:highlight>
                <a:latin typeface="Times New Roman"/>
                <a:ea typeface="Times New Roman"/>
                <a:cs typeface="Times New Roman"/>
                <a:sym typeface="Times New Roman"/>
              </a:rPr>
              <a:t>au </a:t>
            </a:r>
            <a:r>
              <a:rPr lang="en-US" sz="2000" dirty="0" smtClean="0">
                <a:solidFill>
                  <a:srgbClr val="222222"/>
                </a:solidFill>
                <a:highlight>
                  <a:srgbClr val="FFFFFF"/>
                </a:highlight>
                <a:latin typeface="Times New Roman"/>
                <a:ea typeface="Times New Roman"/>
                <a:cs typeface="Times New Roman"/>
                <a:sym typeface="Times New Roman"/>
              </a:rPr>
              <a:t>CDPS et </a:t>
            </a:r>
            <a:r>
              <a:rPr lang="en-US" sz="2000" dirty="0" smtClean="0">
                <a:solidFill>
                  <a:srgbClr val="222222"/>
                </a:solidFill>
                <a:highlight>
                  <a:srgbClr val="FFFFFF"/>
                </a:highlight>
                <a:latin typeface="Times New Roman"/>
                <a:ea typeface="Times New Roman"/>
                <a:cs typeface="Times New Roman"/>
                <a:sym typeface="Times New Roman"/>
              </a:rPr>
              <a:t>à </a:t>
            </a:r>
            <a:r>
              <a:rPr lang="en-US" sz="2000" dirty="0">
                <a:solidFill>
                  <a:srgbClr val="222222"/>
                </a:solidFill>
                <a:highlight>
                  <a:srgbClr val="FFFFFF"/>
                </a:highlight>
                <a:latin typeface="Times New Roman"/>
                <a:ea typeface="Times New Roman"/>
                <a:cs typeface="Times New Roman"/>
                <a:sym typeface="Times New Roman"/>
              </a:rPr>
              <a:t>la </a:t>
            </a:r>
            <a:r>
              <a:rPr lang="en-US" sz="2000" dirty="0" smtClean="0">
                <a:solidFill>
                  <a:srgbClr val="222222"/>
                </a:solidFill>
                <a:highlight>
                  <a:srgbClr val="FFFFFF"/>
                </a:highlight>
                <a:latin typeface="Times New Roman"/>
                <a:ea typeface="Times New Roman"/>
                <a:cs typeface="Times New Roman"/>
                <a:sym typeface="Times New Roman"/>
              </a:rPr>
              <a:t>direction</a:t>
            </a:r>
            <a:endParaRPr sz="2000" dirty="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a7c62caf5a_0_0"/>
          <p:cNvSpPr txBox="1"/>
          <p:nvPr/>
        </p:nvSpPr>
        <p:spPr>
          <a:xfrm>
            <a:off x="458592" y="317941"/>
            <a:ext cx="11274900" cy="827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Rappel de la déclaration de Lusaka sur l’assistance technique en Afrique</a:t>
            </a:r>
            <a:endParaRPr sz="2500" i="0" u="none" strike="noStrike" cap="none">
              <a:solidFill>
                <a:srgbClr val="1155CC"/>
              </a:solidFill>
              <a:latin typeface="Times New Roman"/>
              <a:ea typeface="Times New Roman"/>
              <a:cs typeface="Times New Roman"/>
              <a:sym typeface="Times New Roman"/>
            </a:endParaRPr>
          </a:p>
        </p:txBody>
      </p:sp>
      <p:sp>
        <p:nvSpPr>
          <p:cNvPr id="235" name="Google Shape;235;g3a7c62caf5a_0_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36" name="Google Shape;236;g3a7c62caf5a_0_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37" name="Google Shape;237;g3a7c62caf5a_0_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7</a:t>
            </a:fld>
            <a:endParaRPr sz="1200" b="0" i="0" u="none" strike="noStrike" cap="none">
              <a:solidFill>
                <a:srgbClr val="1155CC"/>
              </a:solidFill>
              <a:latin typeface="Arial"/>
              <a:ea typeface="Arial"/>
              <a:cs typeface="Arial"/>
              <a:sym typeface="Arial"/>
            </a:endParaRPr>
          </a:p>
        </p:txBody>
      </p:sp>
      <p:sp>
        <p:nvSpPr>
          <p:cNvPr id="238" name="Google Shape;238;g3a7c62caf5a_0_0"/>
          <p:cNvSpPr txBox="1"/>
          <p:nvPr/>
        </p:nvSpPr>
        <p:spPr>
          <a:xfrm>
            <a:off x="407500" y="1147325"/>
            <a:ext cx="11274900" cy="5449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1300"/>
              </a:spcBef>
              <a:spcAft>
                <a:spcPts val="0"/>
              </a:spcAft>
              <a:buNone/>
            </a:pPr>
            <a:r>
              <a:rPr lang="en-US" sz="1800" b="1">
                <a:solidFill>
                  <a:srgbClr val="222222"/>
                </a:solidFill>
                <a:highlight>
                  <a:srgbClr val="FFFFFF"/>
                </a:highlight>
                <a:latin typeface="Times New Roman"/>
                <a:ea typeface="Times New Roman"/>
                <a:cs typeface="Times New Roman"/>
                <a:sym typeface="Times New Roman"/>
              </a:rPr>
              <a:t>Rappel declaration de Lusaka</a:t>
            </a:r>
            <a:endParaRPr sz="1800" b="1">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L’assistance technique doit être pilotée par les pays, qui doivent identifier leurs besoins en AT, définir les profils requis, participer à la sélection et à l’évaluation des experts</a:t>
            </a:r>
            <a:endParaRPr sz="1800">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Priorité au développement des capacités, pas à la substitution, l’AT ne doit pas faire le travail à la place des équipes nationales, son role est de former, Coacher, Mentorer; Quand l’expert part, la capacité reste.</a:t>
            </a:r>
            <a:endParaRPr sz="1800">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Utilisation accrue des compétences locales et régionales, encourager l’expertise nationale ou Sud–Sud</a:t>
            </a:r>
            <a:endParaRPr sz="1800">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Intégration de l’AT dans les systèmes nationaux: l’AT doit être :, Intégrée aux structures existantes, inscrite dans les plans nationaux, Financée de manière prévisible</a:t>
            </a:r>
            <a:endParaRPr sz="1800">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Suivi, évaluation et redevabilité de l’assistance technique, Chaque AT doit avoir : Des objectifs clairs, Des indicateurs de performance, Une évaluation régulière</a:t>
            </a:r>
            <a:endParaRPr sz="1800">
              <a:solidFill>
                <a:srgbClr val="222222"/>
              </a:solidFill>
              <a:highlight>
                <a:srgbClr val="FFFFFF"/>
              </a:highlight>
              <a:latin typeface="Times New Roman"/>
              <a:ea typeface="Times New Roman"/>
              <a:cs typeface="Times New Roman"/>
              <a:sym typeface="Times New Roman"/>
            </a:endParaRPr>
          </a:p>
          <a:p>
            <a:pPr marL="0" marR="0" lvl="0" indent="0" algn="l" rtl="0">
              <a:lnSpc>
                <a:spcPct val="100000"/>
              </a:lnSpc>
              <a:spcBef>
                <a:spcPts val="1300"/>
              </a:spcBef>
              <a:spcAft>
                <a:spcPts val="0"/>
              </a:spcAft>
              <a:buNone/>
            </a:pPr>
            <a:r>
              <a:rPr lang="en-US" sz="1800" b="1">
                <a:solidFill>
                  <a:srgbClr val="222222"/>
                </a:solidFill>
                <a:highlight>
                  <a:srgbClr val="FFFFFF"/>
                </a:highlight>
                <a:latin typeface="Times New Roman"/>
                <a:ea typeface="Times New Roman"/>
                <a:cs typeface="Times New Roman"/>
                <a:sym typeface="Times New Roman"/>
              </a:rPr>
              <a:t>Points important additionnels </a:t>
            </a:r>
            <a:endParaRPr sz="1800" b="1">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L’assistance technique est validée pour une durée précise</a:t>
            </a:r>
            <a:endParaRPr sz="1800">
              <a:solidFill>
                <a:srgbClr val="222222"/>
              </a:solidFill>
              <a:highlight>
                <a:srgbClr val="FFFFFF"/>
              </a:highlight>
              <a:latin typeface="Times New Roman"/>
              <a:ea typeface="Times New Roman"/>
              <a:cs typeface="Times New Roman"/>
              <a:sym typeface="Times New Roman"/>
            </a:endParaRPr>
          </a:p>
          <a:p>
            <a:pPr marL="457200" marR="0" lvl="0" indent="-342900" algn="l" rtl="0">
              <a:lnSpc>
                <a:spcPct val="100000"/>
              </a:lnSpc>
              <a:spcBef>
                <a:spcPts val="1300"/>
              </a:spcBef>
              <a:spcAft>
                <a:spcPts val="1000"/>
              </a:spcAft>
              <a:buClr>
                <a:srgbClr val="222222"/>
              </a:buClr>
              <a:buSzPts val="1800"/>
              <a:buFont typeface="Times New Roman"/>
              <a:buAutoNum type="arabicPeriod"/>
            </a:pPr>
            <a:r>
              <a:rPr lang="en-US" sz="1800">
                <a:solidFill>
                  <a:srgbClr val="222222"/>
                </a:solidFill>
                <a:highlight>
                  <a:srgbClr val="FFFFFF"/>
                </a:highlight>
                <a:latin typeface="Times New Roman"/>
                <a:ea typeface="Times New Roman"/>
                <a:cs typeface="Times New Roman"/>
                <a:sym typeface="Times New Roman"/>
              </a:rPr>
              <a:t>L’assistance techniques est évaluée chaque semestre sur base d’un cadre claire (indicateur clairement défini et aligné sur les indicateurs du cadre de suivi et évaluation du PAO 2026) et consensuel inclus dans le contrat</a:t>
            </a:r>
            <a:endParaRPr sz="18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a7c62caf5a_0_32"/>
          <p:cNvSpPr txBox="1"/>
          <p:nvPr/>
        </p:nvSpPr>
        <p:spPr>
          <a:xfrm>
            <a:off x="458592" y="317941"/>
            <a:ext cx="11274900" cy="384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Éléments clés du profil de l’AT</a:t>
            </a:r>
            <a:endParaRPr sz="2500" i="0" u="none" strike="noStrike" cap="none">
              <a:solidFill>
                <a:srgbClr val="1155CC"/>
              </a:solidFill>
              <a:latin typeface="Times New Roman"/>
              <a:ea typeface="Times New Roman"/>
              <a:cs typeface="Times New Roman"/>
              <a:sym typeface="Times New Roman"/>
            </a:endParaRPr>
          </a:p>
        </p:txBody>
      </p:sp>
      <p:sp>
        <p:nvSpPr>
          <p:cNvPr id="286" name="Google Shape;286;g3a7c62caf5a_0_32"/>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87" name="Google Shape;287;g3a7c62caf5a_0_32"/>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88" name="Google Shape;288;g3a7c62caf5a_0_32"/>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8</a:t>
            </a:fld>
            <a:endParaRPr sz="1200" b="0" i="0" u="none" strike="noStrike" cap="none">
              <a:solidFill>
                <a:srgbClr val="1155CC"/>
              </a:solidFill>
              <a:latin typeface="Arial"/>
              <a:ea typeface="Arial"/>
              <a:cs typeface="Arial"/>
              <a:sym typeface="Arial"/>
            </a:endParaRPr>
          </a:p>
        </p:txBody>
      </p:sp>
      <p:sp>
        <p:nvSpPr>
          <p:cNvPr id="289" name="Google Shape;289;g3a7c62caf5a_0_32"/>
          <p:cNvSpPr txBox="1"/>
          <p:nvPr/>
        </p:nvSpPr>
        <p:spPr>
          <a:xfrm>
            <a:off x="407500" y="1147325"/>
            <a:ext cx="11274900" cy="46665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1300"/>
              </a:spcBef>
              <a:spcAft>
                <a:spcPts val="0"/>
              </a:spcAft>
              <a:buNone/>
            </a:pPr>
            <a:r>
              <a:rPr lang="en-US" sz="2000" dirty="0" err="1">
                <a:solidFill>
                  <a:srgbClr val="222222"/>
                </a:solidFill>
                <a:highlight>
                  <a:srgbClr val="FFFFFF"/>
                </a:highlight>
                <a:latin typeface="Times New Roman"/>
                <a:ea typeface="Times New Roman"/>
                <a:cs typeface="Times New Roman"/>
                <a:sym typeface="Times New Roman"/>
              </a:rPr>
              <a:t>Autres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smtClean="0">
                <a:solidFill>
                  <a:srgbClr val="222222"/>
                </a:solidFill>
                <a:highlight>
                  <a:srgbClr val="FFFFFF"/>
                </a:highlight>
                <a:latin typeface="Times New Roman"/>
                <a:ea typeface="Times New Roman"/>
                <a:cs typeface="Times New Roman"/>
                <a:sym typeface="Times New Roman"/>
              </a:rPr>
              <a:t> </a:t>
            </a:r>
            <a:r>
              <a:rPr lang="en-US" sz="2000" dirty="0">
                <a:solidFill>
                  <a:srgbClr val="222222"/>
                </a:solidFill>
                <a:highlight>
                  <a:srgbClr val="FFFFFF"/>
                </a:highlight>
                <a:latin typeface="Times New Roman"/>
                <a:ea typeface="Times New Roman"/>
                <a:cs typeface="Times New Roman"/>
                <a:sym typeface="Times New Roman"/>
              </a:rPr>
              <a:t>considerations </a:t>
            </a:r>
            <a:r>
              <a:rPr lang="en-US" sz="2000" dirty="0" err="1">
                <a:solidFill>
                  <a:srgbClr val="222222"/>
                </a:solidFill>
                <a:highlight>
                  <a:srgbClr val="FFFFFF"/>
                </a:highlight>
                <a:latin typeface="Times New Roman"/>
                <a:ea typeface="Times New Roman"/>
                <a:cs typeface="Times New Roman"/>
                <a:sym typeface="Times New Roman"/>
              </a:rPr>
              <a:t>utiles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l’AT</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doit</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répondre</a:t>
            </a:r>
            <a:r>
              <a:rPr lang="en-US" sz="2000" dirty="0">
                <a:solidFill>
                  <a:srgbClr val="222222"/>
                </a:solidFill>
                <a:highlight>
                  <a:srgbClr val="FFFFFF"/>
                </a:highlight>
                <a:latin typeface="Times New Roman"/>
                <a:ea typeface="Times New Roman"/>
                <a:cs typeface="Times New Roman"/>
                <a:sym typeface="Times New Roman"/>
              </a:rPr>
              <a:t> aux minimums </a:t>
            </a:r>
            <a:r>
              <a:rPr lang="en-US" sz="2000" dirty="0" err="1">
                <a:solidFill>
                  <a:srgbClr val="222222"/>
                </a:solidFill>
                <a:highlight>
                  <a:srgbClr val="FFFFFF"/>
                </a:highlight>
                <a:latin typeface="Times New Roman"/>
                <a:ea typeface="Times New Roman"/>
                <a:cs typeface="Times New Roman"/>
                <a:sym typeface="Times New Roman"/>
              </a:rPr>
              <a:t>suivants</a:t>
            </a:r>
            <a:r>
              <a:rPr lang="en-US" sz="2000" dirty="0">
                <a:solidFill>
                  <a:srgbClr val="222222"/>
                </a:solidFill>
                <a:highlight>
                  <a:srgbClr val="FFFFFF"/>
                </a:highlight>
                <a:latin typeface="Times New Roman"/>
                <a:ea typeface="Times New Roman"/>
                <a:cs typeface="Times New Roman"/>
                <a:sym typeface="Times New Roman"/>
              </a:rPr>
              <a:t>:</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Char char="●"/>
            </a:pPr>
            <a:r>
              <a:rPr lang="en-US" sz="2000" dirty="0" err="1">
                <a:solidFill>
                  <a:srgbClr val="222222"/>
                </a:solidFill>
                <a:highlight>
                  <a:srgbClr val="FFFFFF"/>
                </a:highlight>
                <a:latin typeface="Times New Roman"/>
                <a:ea typeface="Times New Roman"/>
                <a:cs typeface="Times New Roman"/>
                <a:sym typeface="Times New Roman"/>
              </a:rPr>
              <a:t>Une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connaissance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avérée</a:t>
            </a:r>
            <a:r>
              <a:rPr lang="en-US" sz="2000" dirty="0">
                <a:solidFill>
                  <a:srgbClr val="222222"/>
                </a:solidFill>
                <a:highlight>
                  <a:srgbClr val="FFFFFF"/>
                </a:highlight>
                <a:latin typeface="Times New Roman"/>
                <a:ea typeface="Times New Roman"/>
                <a:cs typeface="Times New Roman"/>
                <a:sym typeface="Times New Roman"/>
              </a:rPr>
              <a:t> du </a:t>
            </a:r>
            <a:r>
              <a:rPr lang="en-US" sz="2000" dirty="0" err="1">
                <a:solidFill>
                  <a:srgbClr val="222222"/>
                </a:solidFill>
                <a:highlight>
                  <a:srgbClr val="FFFFFF"/>
                </a:highlight>
                <a:latin typeface="Times New Roman"/>
                <a:ea typeface="Times New Roman"/>
                <a:cs typeface="Times New Roman"/>
                <a:sym typeface="Times New Roman"/>
              </a:rPr>
              <a:t>système</a:t>
            </a:r>
            <a:r>
              <a:rPr lang="en-US" sz="2000" dirty="0">
                <a:solidFill>
                  <a:srgbClr val="222222"/>
                </a:solidFill>
                <a:highlight>
                  <a:srgbClr val="FFFFFF"/>
                </a:highlight>
                <a:latin typeface="Times New Roman"/>
                <a:ea typeface="Times New Roman"/>
                <a:cs typeface="Times New Roman"/>
                <a:sym typeface="Times New Roman"/>
              </a:rPr>
              <a:t> de santé de la RDC</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Char char="●"/>
            </a:pPr>
            <a:r>
              <a:rPr lang="en-US" sz="2000" dirty="0" err="1">
                <a:solidFill>
                  <a:srgbClr val="222222"/>
                </a:solidFill>
                <a:highlight>
                  <a:srgbClr val="FFFFFF"/>
                </a:highlight>
                <a:latin typeface="Times New Roman"/>
                <a:ea typeface="Times New Roman"/>
                <a:cs typeface="Times New Roman"/>
                <a:sym typeface="Times New Roman"/>
              </a:rPr>
              <a:t>Une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capacité</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transférer</a:t>
            </a:r>
            <a:r>
              <a:rPr lang="en-US" sz="2000" dirty="0">
                <a:solidFill>
                  <a:srgbClr val="222222"/>
                </a:solidFill>
                <a:highlight>
                  <a:srgbClr val="FFFFFF"/>
                </a:highlight>
                <a:latin typeface="Times New Roman"/>
                <a:ea typeface="Times New Roman"/>
                <a:cs typeface="Times New Roman"/>
                <a:sym typeface="Times New Roman"/>
              </a:rPr>
              <a:t> les </a:t>
            </a:r>
            <a:r>
              <a:rPr lang="en-US" sz="2000" dirty="0" err="1">
                <a:solidFill>
                  <a:srgbClr val="222222"/>
                </a:solidFill>
                <a:highlight>
                  <a:srgbClr val="FFFFFF"/>
                </a:highlight>
                <a:latin typeface="Times New Roman"/>
                <a:ea typeface="Times New Roman"/>
                <a:cs typeface="Times New Roman"/>
                <a:sym typeface="Times New Roman"/>
              </a:rPr>
              <a:t>compétences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prouvée</a:t>
            </a:r>
            <a:r>
              <a:rPr lang="en-US" sz="2000" dirty="0">
                <a:solidFill>
                  <a:srgbClr val="222222"/>
                </a:solidFill>
                <a:highlight>
                  <a:srgbClr val="FFFFFF"/>
                </a:highlight>
                <a:latin typeface="Times New Roman"/>
                <a:ea typeface="Times New Roman"/>
                <a:cs typeface="Times New Roman"/>
                <a:sym typeface="Times New Roman"/>
              </a:rPr>
              <a:t> par les </a:t>
            </a:r>
            <a:r>
              <a:rPr lang="en-US" sz="2000" dirty="0" err="1">
                <a:solidFill>
                  <a:srgbClr val="222222"/>
                </a:solidFill>
                <a:highlight>
                  <a:srgbClr val="FFFFFF"/>
                </a:highlight>
                <a:latin typeface="Times New Roman"/>
                <a:ea typeface="Times New Roman"/>
                <a:cs typeface="Times New Roman"/>
                <a:sym typeface="Times New Roman"/>
              </a:rPr>
              <a:t>expériences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dans</a:t>
            </a:r>
            <a:r>
              <a:rPr lang="en-US" sz="2000" dirty="0">
                <a:solidFill>
                  <a:srgbClr val="222222"/>
                </a:solidFill>
                <a:highlight>
                  <a:srgbClr val="FFFFFF"/>
                </a:highlight>
                <a:latin typeface="Times New Roman"/>
                <a:ea typeface="Times New Roman"/>
                <a:cs typeface="Times New Roman"/>
                <a:sym typeface="Times New Roman"/>
              </a:rPr>
              <a:t> le </a:t>
            </a:r>
            <a:r>
              <a:rPr lang="en-US" sz="2000" dirty="0" err="1">
                <a:solidFill>
                  <a:srgbClr val="222222"/>
                </a:solidFill>
                <a:highlight>
                  <a:srgbClr val="FFFFFF"/>
                </a:highlight>
                <a:latin typeface="Times New Roman"/>
                <a:ea typeface="Times New Roman"/>
                <a:cs typeface="Times New Roman"/>
                <a:sym typeface="Times New Roman"/>
              </a:rPr>
              <a:t>secteur</a:t>
            </a:r>
            <a:r>
              <a:rPr lang="en-US" sz="2000" dirty="0">
                <a:solidFill>
                  <a:srgbClr val="222222"/>
                </a:solidFill>
                <a:highlight>
                  <a:srgbClr val="FFFFFF"/>
                </a:highlight>
                <a:latin typeface="Times New Roman"/>
                <a:ea typeface="Times New Roman"/>
                <a:cs typeface="Times New Roman"/>
                <a:sym typeface="Times New Roman"/>
              </a:rPr>
              <a:t> public en </a:t>
            </a:r>
            <a:r>
              <a:rPr lang="en-US" sz="2000" dirty="0" err="1">
                <a:solidFill>
                  <a:srgbClr val="222222"/>
                </a:solidFill>
                <a:highlight>
                  <a:srgbClr val="FFFFFF"/>
                </a:highlight>
                <a:latin typeface="Times New Roman"/>
                <a:ea typeface="Times New Roman"/>
                <a:cs typeface="Times New Roman"/>
                <a:sym typeface="Times New Roman"/>
              </a:rPr>
              <a:t>africaine</a:t>
            </a:r>
            <a:r>
              <a:rPr lang="en-US" sz="2000" dirty="0">
                <a:solidFill>
                  <a:srgbClr val="222222"/>
                </a:solidFill>
                <a:highlight>
                  <a:srgbClr val="FFFFFF"/>
                </a:highlight>
                <a:latin typeface="Times New Roman"/>
                <a:ea typeface="Times New Roman"/>
                <a:cs typeface="Times New Roman"/>
                <a:sym typeface="Times New Roman"/>
              </a:rPr>
              <a:t> sub-</a:t>
            </a:r>
            <a:r>
              <a:rPr lang="en-US" sz="2000" dirty="0" err="1">
                <a:solidFill>
                  <a:srgbClr val="222222"/>
                </a:solidFill>
                <a:highlight>
                  <a:srgbClr val="FFFFFF"/>
                </a:highlight>
                <a:latin typeface="Times New Roman"/>
                <a:ea typeface="Times New Roman"/>
                <a:cs typeface="Times New Roman"/>
                <a:sym typeface="Times New Roman"/>
              </a:rPr>
              <a:t>saharienne</a:t>
            </a:r>
            <a:r>
              <a:rPr lang="en-US" sz="2000" dirty="0">
                <a:solidFill>
                  <a:srgbClr val="222222"/>
                </a:solidFill>
                <a:highlight>
                  <a:srgbClr val="FFFFFF"/>
                </a:highlight>
                <a:latin typeface="Times New Roman"/>
                <a:ea typeface="Times New Roman"/>
                <a:cs typeface="Times New Roman"/>
                <a:sym typeface="Times New Roman"/>
              </a:rPr>
              <a:t> (note de </a:t>
            </a:r>
            <a:r>
              <a:rPr lang="en-US" sz="2000" dirty="0" err="1">
                <a:solidFill>
                  <a:srgbClr val="222222"/>
                </a:solidFill>
                <a:highlight>
                  <a:srgbClr val="FFFFFF"/>
                </a:highlight>
                <a:latin typeface="Times New Roman"/>
                <a:ea typeface="Times New Roman"/>
                <a:cs typeface="Times New Roman"/>
                <a:sym typeface="Times New Roman"/>
              </a:rPr>
              <a:t>recommandation</a:t>
            </a:r>
            <a:r>
              <a:rPr lang="en-US" sz="2000" dirty="0">
                <a:solidFill>
                  <a:srgbClr val="222222"/>
                </a:solidFill>
                <a:highlight>
                  <a:srgbClr val="FFFFFF"/>
                </a:highlight>
                <a:latin typeface="Times New Roman"/>
                <a:ea typeface="Times New Roman"/>
                <a:cs typeface="Times New Roman"/>
                <a:sym typeface="Times New Roman"/>
              </a:rPr>
              <a:t> de </a:t>
            </a:r>
            <a:r>
              <a:rPr lang="en-US" sz="2000" dirty="0" err="1">
                <a:solidFill>
                  <a:srgbClr val="222222"/>
                </a:solidFill>
                <a:highlight>
                  <a:srgbClr val="FFFFFF"/>
                </a:highlight>
                <a:latin typeface="Times New Roman"/>
                <a:ea typeface="Times New Roman"/>
                <a:cs typeface="Times New Roman"/>
                <a:sym typeface="Times New Roman"/>
              </a:rPr>
              <a:t>soutien</a:t>
            </a:r>
            <a:r>
              <a:rPr lang="en-US" sz="2000" dirty="0">
                <a:solidFill>
                  <a:srgbClr val="222222"/>
                </a:solidFill>
                <a:highlight>
                  <a:srgbClr val="FFFFFF"/>
                </a:highlight>
                <a:latin typeface="Times New Roman"/>
                <a:ea typeface="Times New Roman"/>
                <a:cs typeface="Times New Roman"/>
                <a:sym typeface="Times New Roman"/>
              </a:rPr>
              <a:t>)</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0"/>
              </a:spcAft>
              <a:buClr>
                <a:srgbClr val="222222"/>
              </a:buClr>
              <a:buSzPts val="2000"/>
              <a:buFont typeface="Times New Roman"/>
              <a:buChar char="●"/>
            </a:pPr>
            <a:r>
              <a:rPr lang="en-US" sz="2000" dirty="0">
                <a:solidFill>
                  <a:srgbClr val="222222"/>
                </a:solidFill>
                <a:highlight>
                  <a:srgbClr val="FFFFFF"/>
                </a:highlight>
                <a:latin typeface="Times New Roman"/>
                <a:ea typeface="Times New Roman"/>
                <a:cs typeface="Times New Roman"/>
                <a:sym typeface="Times New Roman"/>
              </a:rPr>
              <a:t>Un </a:t>
            </a:r>
            <a:r>
              <a:rPr lang="en-US" sz="2000" dirty="0" err="1">
                <a:solidFill>
                  <a:srgbClr val="222222"/>
                </a:solidFill>
                <a:highlight>
                  <a:srgbClr val="FFFFFF"/>
                </a:highlight>
                <a:latin typeface="Times New Roman"/>
                <a:ea typeface="Times New Roman"/>
                <a:cs typeface="Times New Roman"/>
                <a:sym typeface="Times New Roman"/>
              </a:rPr>
              <a:t>niveau</a:t>
            </a:r>
            <a:r>
              <a:rPr lang="en-US" sz="2000" dirty="0">
                <a:solidFill>
                  <a:srgbClr val="222222"/>
                </a:solidFill>
                <a:highlight>
                  <a:srgbClr val="FFFFFF"/>
                </a:highlight>
                <a:latin typeface="Times New Roman"/>
                <a:ea typeface="Times New Roman"/>
                <a:cs typeface="Times New Roman"/>
                <a:sym typeface="Times New Roman"/>
              </a:rPr>
              <a:t> acceptable de </a:t>
            </a:r>
            <a:r>
              <a:rPr lang="en-US" sz="2000" dirty="0" err="1">
                <a:solidFill>
                  <a:srgbClr val="222222"/>
                </a:solidFill>
                <a:highlight>
                  <a:srgbClr val="FFFFFF"/>
                </a:highlight>
                <a:latin typeface="Times New Roman"/>
                <a:ea typeface="Times New Roman"/>
                <a:cs typeface="Times New Roman"/>
                <a:sym typeface="Times New Roman"/>
              </a:rPr>
              <a:t>recul</a:t>
            </a:r>
            <a:r>
              <a:rPr lang="en-US" sz="2000" dirty="0">
                <a:solidFill>
                  <a:srgbClr val="222222"/>
                </a:solidFill>
                <a:highlight>
                  <a:srgbClr val="FFFFFF"/>
                </a:highlight>
                <a:latin typeface="Times New Roman"/>
                <a:ea typeface="Times New Roman"/>
                <a:cs typeface="Times New Roman"/>
                <a:sym typeface="Times New Roman"/>
              </a:rPr>
              <a:t> par rapport au PEV (technique, </a:t>
            </a:r>
            <a:r>
              <a:rPr lang="en-US" sz="2000" dirty="0" err="1">
                <a:solidFill>
                  <a:srgbClr val="222222"/>
                </a:solidFill>
                <a:highlight>
                  <a:srgbClr val="FFFFFF"/>
                </a:highlight>
                <a:latin typeface="Times New Roman"/>
                <a:ea typeface="Times New Roman"/>
                <a:cs typeface="Times New Roman"/>
                <a:sym typeface="Times New Roman"/>
              </a:rPr>
              <a:t>logistique</a:t>
            </a:r>
            <a:r>
              <a:rPr lang="en-US" sz="2000" dirty="0">
                <a:solidFill>
                  <a:srgbClr val="222222"/>
                </a:solidFill>
                <a:highlight>
                  <a:srgbClr val="FFFFFF"/>
                </a:highlight>
                <a:latin typeface="Times New Roman"/>
                <a:ea typeface="Times New Roman"/>
                <a:cs typeface="Times New Roman"/>
                <a:sym typeface="Times New Roman"/>
              </a:rPr>
              <a:t>, data </a:t>
            </a:r>
            <a:r>
              <a:rPr lang="en-US" sz="2000" dirty="0" err="1">
                <a:solidFill>
                  <a:srgbClr val="222222"/>
                </a:solidFill>
                <a:highlight>
                  <a:srgbClr val="FFFFFF"/>
                </a:highlight>
                <a:latin typeface="Times New Roman"/>
                <a:ea typeface="Times New Roman"/>
                <a:cs typeface="Times New Roman"/>
                <a:sym typeface="Times New Roman"/>
              </a:rPr>
              <a:t>ou</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suivi</a:t>
            </a:r>
            <a:r>
              <a:rPr lang="en-US" sz="2000" dirty="0">
                <a:solidFill>
                  <a:srgbClr val="222222"/>
                </a:solidFill>
                <a:highlight>
                  <a:srgbClr val="FFFFFF"/>
                </a:highlight>
                <a:latin typeface="Times New Roman"/>
                <a:ea typeface="Times New Roman"/>
                <a:cs typeface="Times New Roman"/>
                <a:sym typeface="Times New Roman"/>
              </a:rPr>
              <a:t> et </a:t>
            </a:r>
            <a:r>
              <a:rPr lang="en-US" sz="2000" dirty="0" err="1">
                <a:solidFill>
                  <a:srgbClr val="222222"/>
                </a:solidFill>
                <a:highlight>
                  <a:srgbClr val="FFFFFF"/>
                </a:highlight>
                <a:latin typeface="Times New Roman"/>
                <a:ea typeface="Times New Roman"/>
                <a:cs typeface="Times New Roman"/>
                <a:sym typeface="Times New Roman"/>
              </a:rPr>
              <a:t>évaluation</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demande</a:t>
            </a:r>
            <a:r>
              <a:rPr lang="en-US" sz="2000" dirty="0">
                <a:solidFill>
                  <a:srgbClr val="222222"/>
                </a:solidFill>
                <a:highlight>
                  <a:srgbClr val="FFFFFF"/>
                </a:highlight>
                <a:latin typeface="Times New Roman"/>
                <a:ea typeface="Times New Roman"/>
                <a:cs typeface="Times New Roman"/>
                <a:sym typeface="Times New Roman"/>
              </a:rPr>
              <a:t>)</a:t>
            </a:r>
            <a:endParaRPr sz="2000" dirty="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1000"/>
              </a:spcAft>
              <a:buClr>
                <a:srgbClr val="222222"/>
              </a:buClr>
              <a:buSzPts val="2000"/>
              <a:buFont typeface="Times New Roman"/>
              <a:buChar char="●"/>
            </a:pPr>
            <a:r>
              <a:rPr lang="en-US" sz="2000" dirty="0" err="1">
                <a:solidFill>
                  <a:srgbClr val="222222"/>
                </a:solidFill>
                <a:highlight>
                  <a:srgbClr val="FFFFFF"/>
                </a:highlight>
                <a:latin typeface="Times New Roman"/>
                <a:ea typeface="Times New Roman"/>
                <a:cs typeface="Times New Roman"/>
                <a:sym typeface="Times New Roman"/>
              </a:rPr>
              <a:t>Une</a:t>
            </a:r>
            <a:r>
              <a:rPr lang="en-US" sz="2000" dirty="0">
                <a:solidFill>
                  <a:srgbClr val="222222"/>
                </a:solidFill>
                <a:highlight>
                  <a:srgbClr val="FFFFFF"/>
                </a:highlight>
                <a:latin typeface="Times New Roman"/>
                <a:ea typeface="Times New Roman"/>
                <a:cs typeface="Times New Roman"/>
                <a:sym typeface="Times New Roman"/>
              </a:rPr>
              <a:t> expertise </a:t>
            </a:r>
            <a:r>
              <a:rPr lang="en-US" sz="2000" dirty="0" err="1">
                <a:solidFill>
                  <a:srgbClr val="222222"/>
                </a:solidFill>
                <a:highlight>
                  <a:srgbClr val="FFFFFF"/>
                </a:highlight>
                <a:latin typeface="Times New Roman"/>
                <a:ea typeface="Times New Roman"/>
                <a:cs typeface="Times New Roman"/>
                <a:sym typeface="Times New Roman"/>
              </a:rPr>
              <a:t>avérée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dans</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l’accompagnement</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d’une</a:t>
            </a:r>
            <a:r>
              <a:rPr lang="en-US" sz="2000" dirty="0">
                <a:solidFill>
                  <a:srgbClr val="222222"/>
                </a:solidFill>
                <a:highlight>
                  <a:srgbClr val="FFFFFF"/>
                </a:highlight>
                <a:latin typeface="Times New Roman"/>
                <a:ea typeface="Times New Roman"/>
                <a:cs typeface="Times New Roman"/>
                <a:sym typeface="Times New Roman"/>
              </a:rPr>
              <a:t> institution </a:t>
            </a:r>
            <a:r>
              <a:rPr lang="en-US" sz="2000" dirty="0" err="1">
                <a:solidFill>
                  <a:srgbClr val="222222"/>
                </a:solidFill>
                <a:highlight>
                  <a:srgbClr val="FFFFFF"/>
                </a:highlight>
                <a:latin typeface="Times New Roman"/>
                <a:ea typeface="Times New Roman"/>
                <a:cs typeface="Times New Roman"/>
                <a:sym typeface="Times New Roman"/>
              </a:rPr>
              <a:t>publique</a:t>
            </a:r>
            <a:r>
              <a:rPr lang="en-US" sz="2000" dirty="0">
                <a:solidFill>
                  <a:srgbClr val="222222"/>
                </a:solidFill>
                <a:highlight>
                  <a:srgbClr val="FFFFFF"/>
                </a:highlight>
                <a:latin typeface="Times New Roman"/>
                <a:ea typeface="Times New Roman"/>
                <a:cs typeface="Times New Roman"/>
                <a:sym typeface="Times New Roman"/>
              </a:rPr>
              <a:t> en </a:t>
            </a:r>
            <a:r>
              <a:rPr lang="en-US" sz="2000" dirty="0" err="1">
                <a:solidFill>
                  <a:srgbClr val="222222"/>
                </a:solidFill>
                <a:highlight>
                  <a:srgbClr val="FFFFFF"/>
                </a:highlight>
                <a:latin typeface="Times New Roman"/>
                <a:ea typeface="Times New Roman"/>
                <a:cs typeface="Times New Roman"/>
                <a:sym typeface="Times New Roman"/>
              </a:rPr>
              <a:t>africaine</a:t>
            </a:r>
            <a:r>
              <a:rPr lang="en-US" sz="2000" dirty="0">
                <a:solidFill>
                  <a:srgbClr val="222222"/>
                </a:solidFill>
                <a:highlight>
                  <a:srgbClr val="FFFFFF"/>
                </a:highlight>
                <a:latin typeface="Times New Roman"/>
                <a:ea typeface="Times New Roman"/>
                <a:cs typeface="Times New Roman"/>
                <a:sym typeface="Times New Roman"/>
              </a:rPr>
              <a:t> </a:t>
            </a:r>
            <a:r>
              <a:rPr lang="en-US" sz="2000" dirty="0" err="1">
                <a:solidFill>
                  <a:srgbClr val="222222"/>
                </a:solidFill>
                <a:highlight>
                  <a:srgbClr val="FFFFFF"/>
                </a:highlight>
                <a:latin typeface="Times New Roman"/>
                <a:ea typeface="Times New Roman"/>
                <a:cs typeface="Times New Roman"/>
                <a:sym typeface="Times New Roman"/>
              </a:rPr>
              <a:t>subsaharienne</a:t>
            </a:r>
            <a:endParaRPr sz="2000" dirty="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a7c62caf5a_0_75"/>
          <p:cNvSpPr txBox="1"/>
          <p:nvPr/>
        </p:nvSpPr>
        <p:spPr>
          <a:xfrm>
            <a:off x="458592" y="317941"/>
            <a:ext cx="11274900" cy="384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Cadre de redevabilité de l'assistance technique</a:t>
            </a:r>
            <a:endParaRPr sz="2500" i="0" u="none" strike="noStrike" cap="none">
              <a:solidFill>
                <a:srgbClr val="1155CC"/>
              </a:solidFill>
              <a:latin typeface="Times New Roman"/>
              <a:ea typeface="Times New Roman"/>
              <a:cs typeface="Times New Roman"/>
              <a:sym typeface="Times New Roman"/>
            </a:endParaRPr>
          </a:p>
        </p:txBody>
      </p:sp>
      <p:sp>
        <p:nvSpPr>
          <p:cNvPr id="244" name="Google Shape;244;g3a7c62caf5a_0_75"/>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45" name="Google Shape;245;g3a7c62caf5a_0_75"/>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46" name="Google Shape;246;g3a7c62caf5a_0_75"/>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9</a:t>
            </a:fld>
            <a:endParaRPr sz="1200" b="0" i="0" u="none" strike="noStrike" cap="none">
              <a:solidFill>
                <a:srgbClr val="1155CC"/>
              </a:solidFill>
              <a:latin typeface="Arial"/>
              <a:ea typeface="Arial"/>
              <a:cs typeface="Arial"/>
              <a:sym typeface="Arial"/>
            </a:endParaRPr>
          </a:p>
        </p:txBody>
      </p:sp>
      <p:pic>
        <p:nvPicPr>
          <p:cNvPr id="247" name="Google Shape;247;g3a7c62caf5a_0_75" title="Screenshot 2025-12-16 at 19.26.46.png"/>
          <p:cNvPicPr preferRelativeResize="0"/>
          <p:nvPr/>
        </p:nvPicPr>
        <p:blipFill>
          <a:blip r:embed="rId3">
            <a:alphaModFix/>
          </a:blip>
          <a:stretch>
            <a:fillRect/>
          </a:stretch>
        </p:blipFill>
        <p:spPr>
          <a:xfrm>
            <a:off x="1828150" y="1587300"/>
            <a:ext cx="10071649" cy="3716220"/>
          </a:xfrm>
          <a:prstGeom prst="rect">
            <a:avLst/>
          </a:prstGeom>
          <a:noFill/>
          <a:ln>
            <a:noFill/>
          </a:ln>
        </p:spPr>
      </p:pic>
      <p:sp>
        <p:nvSpPr>
          <p:cNvPr id="248" name="Google Shape;248;g3a7c62caf5a_0_75"/>
          <p:cNvSpPr/>
          <p:nvPr/>
        </p:nvSpPr>
        <p:spPr>
          <a:xfrm>
            <a:off x="1842050" y="4139350"/>
            <a:ext cx="9905400" cy="10035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g3a7c62caf5a_0_75"/>
          <p:cNvSpPr/>
          <p:nvPr/>
        </p:nvSpPr>
        <p:spPr>
          <a:xfrm>
            <a:off x="1828100" y="3366100"/>
            <a:ext cx="9905400" cy="768900"/>
          </a:xfrm>
          <a:prstGeom prst="rect">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g3a7c62caf5a_0_75"/>
          <p:cNvSpPr/>
          <p:nvPr/>
        </p:nvSpPr>
        <p:spPr>
          <a:xfrm>
            <a:off x="1828150" y="2910925"/>
            <a:ext cx="9905400" cy="455100"/>
          </a:xfrm>
          <a:prstGeom prst="rect">
            <a:avLst/>
          </a:prstGeom>
          <a:noFill/>
          <a:ln w="19050" cap="flat" cmpd="sng">
            <a:solidFill>
              <a:srgbClr val="783F04"/>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g3a7c62caf5a_0_75"/>
          <p:cNvSpPr/>
          <p:nvPr/>
        </p:nvSpPr>
        <p:spPr>
          <a:xfrm>
            <a:off x="235500" y="2637300"/>
            <a:ext cx="1438500" cy="655200"/>
          </a:xfrm>
          <a:prstGeom prst="wedgeRectCallout">
            <a:avLst>
              <a:gd name="adj1" fmla="val 62789"/>
              <a:gd name="adj2" fmla="val 22693"/>
            </a:avLst>
          </a:prstGeom>
          <a:solidFill>
            <a:srgbClr val="EFE3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Effet de l’intervention de l’AT</a:t>
            </a:r>
            <a:endParaRPr>
              <a:latin typeface="Times New Roman"/>
              <a:ea typeface="Times New Roman"/>
              <a:cs typeface="Times New Roman"/>
              <a:sym typeface="Times New Roman"/>
            </a:endParaRPr>
          </a:p>
        </p:txBody>
      </p:sp>
      <p:sp>
        <p:nvSpPr>
          <p:cNvPr id="252" name="Google Shape;252;g3a7c62caf5a_0_75"/>
          <p:cNvSpPr/>
          <p:nvPr/>
        </p:nvSpPr>
        <p:spPr>
          <a:xfrm>
            <a:off x="235500" y="3422950"/>
            <a:ext cx="1438500" cy="655200"/>
          </a:xfrm>
          <a:prstGeom prst="wedgeRectCallout">
            <a:avLst>
              <a:gd name="adj1" fmla="val 62789"/>
              <a:gd name="adj2" fmla="val 22693"/>
            </a:avLst>
          </a:prstGeom>
          <a:solidFill>
            <a:srgbClr val="EFE3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Produit de son assistance</a:t>
            </a:r>
            <a:endParaRPr>
              <a:latin typeface="Times New Roman"/>
              <a:ea typeface="Times New Roman"/>
              <a:cs typeface="Times New Roman"/>
              <a:sym typeface="Times New Roman"/>
            </a:endParaRPr>
          </a:p>
        </p:txBody>
      </p:sp>
      <p:sp>
        <p:nvSpPr>
          <p:cNvPr id="253" name="Google Shape;253;g3a7c62caf5a_0_75"/>
          <p:cNvSpPr/>
          <p:nvPr/>
        </p:nvSpPr>
        <p:spPr>
          <a:xfrm>
            <a:off x="235500" y="4208600"/>
            <a:ext cx="1438500" cy="934200"/>
          </a:xfrm>
          <a:prstGeom prst="wedgeRectCallout">
            <a:avLst>
              <a:gd name="adj1" fmla="val 62789"/>
              <a:gd name="adj2" fmla="val 22693"/>
            </a:avLst>
          </a:prstGeom>
          <a:solidFill>
            <a:srgbClr val="EFE3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Times New Roman"/>
                <a:ea typeface="Times New Roman"/>
                <a:cs typeface="Times New Roman"/>
                <a:sym typeface="Times New Roman"/>
              </a:rPr>
              <a:t>Résultats intermédiaires auxquelles AT contribue</a:t>
            </a:r>
            <a:endParaRPr>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3a7c62caf5a_0_8"/>
          <p:cNvSpPr txBox="1"/>
          <p:nvPr/>
        </p:nvSpPr>
        <p:spPr>
          <a:xfrm>
            <a:off x="458592" y="317941"/>
            <a:ext cx="11274900" cy="384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L'aperçu des besoins du PEV pour 2026 (1/2)</a:t>
            </a:r>
            <a:endParaRPr sz="2500" i="0" u="none" strike="noStrike" cap="none">
              <a:solidFill>
                <a:srgbClr val="1155CC"/>
              </a:solidFill>
              <a:latin typeface="Times New Roman"/>
              <a:ea typeface="Times New Roman"/>
              <a:cs typeface="Times New Roman"/>
              <a:sym typeface="Times New Roman"/>
            </a:endParaRPr>
          </a:p>
        </p:txBody>
      </p:sp>
      <p:sp>
        <p:nvSpPr>
          <p:cNvPr id="259" name="Google Shape;259;g3a7c62caf5a_0_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60" name="Google Shape;260;g3a7c62caf5a_0_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61" name="Google Shape;261;g3a7c62caf5a_0_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10</a:t>
            </a:fld>
            <a:endParaRPr sz="1200" b="0" i="0" u="none" strike="noStrike" cap="none">
              <a:solidFill>
                <a:srgbClr val="1155CC"/>
              </a:solidFill>
              <a:latin typeface="Arial"/>
              <a:ea typeface="Arial"/>
              <a:cs typeface="Arial"/>
              <a:sym typeface="Arial"/>
            </a:endParaRPr>
          </a:p>
        </p:txBody>
      </p:sp>
      <p:graphicFrame>
        <p:nvGraphicFramePr>
          <p:cNvPr id="262" name="Google Shape;262;g3a7c62caf5a_0_8"/>
          <p:cNvGraphicFramePr/>
          <p:nvPr/>
        </p:nvGraphicFramePr>
        <p:xfrm>
          <a:off x="449025" y="1127800"/>
          <a:ext cx="11274900" cy="5074650"/>
        </p:xfrm>
        <a:graphic>
          <a:graphicData uri="http://schemas.openxmlformats.org/drawingml/2006/table">
            <a:tbl>
              <a:tblPr>
                <a:noFill/>
                <a:tableStyleId>{8D6F025E-3E90-46A3-8380-F9A38D793641}</a:tableStyleId>
              </a:tblPr>
              <a:tblGrid>
                <a:gridCol w="11274900"/>
              </a:tblGrid>
              <a:tr h="381000">
                <a:tc>
                  <a:txBody>
                    <a:bodyPr/>
                    <a:lstStyle/>
                    <a:p>
                      <a:pPr marL="0" lvl="0" indent="0" algn="l" rtl="0">
                        <a:spcBef>
                          <a:spcPts val="0"/>
                        </a:spcBef>
                        <a:spcAft>
                          <a:spcPts val="0"/>
                        </a:spcAft>
                        <a:buNone/>
                      </a:pPr>
                      <a:r>
                        <a:rPr lang="en-US" sz="1500" b="1">
                          <a:latin typeface="Times New Roman"/>
                          <a:ea typeface="Times New Roman"/>
                          <a:cs typeface="Times New Roman"/>
                          <a:sym typeface="Times New Roman"/>
                        </a:rPr>
                        <a:t>Besoins en assistance technique identifié par le Pays</a:t>
                      </a:r>
                      <a:endParaRPr sz="1500" b="1">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1. Appui au renforcement de la vaccination de routine par l’approche « antenne »  des 5 provinces prioritaires (Maindombe, Tshopo, Mongala, Kasaï oriental et Haut-Katanga)</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2. Appui au renforcement de la vaccination de routine par l’approche « antenne » dans la province de la Tshuapa</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3. Appui à la préparation et à la mise en œuvre de l’introduction du VAP dans les Bloc 3 et 4</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4. Suivi et évaluation: Appui sur l’introduction d’un nouveau vaccin rougeole-rubéole (RR) pour le bloc 2 et le bloc 3, l'intégration du vaccin RR dans la routine et le renforcement de la routine avec Mashako</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5. Agent de monitorage (AM) pour le suivi programmatique des blocs 2 et 3 de la campagne de rattrapage contre la rougeole rubéole</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6. Appuyer le développement et la mise en œuvre de l’approche de micro planification digitalisée à l'aide de DHIS2 pour optimiser l'offre de service de vaccination spécialement dans la province du Kasaï Oriental</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7. Appuyer la Commission Logistique pour l’estimation des besoins en vaccins et intrants, l’acquisition, la distribution, le suivi des stocks/température, l’auto-évaluation GEV, la mise en place de la GEV, et l’implémentation de l’eLMIS</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8. Appuyer la Commission Logistique pour les estimations de besoins en vaccins et autres intrants et à l'acquisition du matériel de chaîne de froid ainsi qu'à l'élaboration des commandes de vaccins, et à la distribution des vaccins et intrants du premier jusqu'au dernier kilomètre et le suivi des stocks et de température, auto-évaluation GEV au niveau central et au niveau de chaque province, appuyer à la mise en place de la GEV, eLMS </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a7c62caf5a_0_59"/>
          <p:cNvSpPr txBox="1"/>
          <p:nvPr/>
        </p:nvSpPr>
        <p:spPr>
          <a:xfrm>
            <a:off x="458592" y="317941"/>
            <a:ext cx="11274900" cy="384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L'aperçu des besoins du PEV pour 2026 (2/2)</a:t>
            </a:r>
            <a:endParaRPr sz="2500" i="0" u="none" strike="noStrike" cap="none">
              <a:solidFill>
                <a:srgbClr val="1155CC"/>
              </a:solidFill>
              <a:latin typeface="Times New Roman"/>
              <a:ea typeface="Times New Roman"/>
              <a:cs typeface="Times New Roman"/>
              <a:sym typeface="Times New Roman"/>
            </a:endParaRPr>
          </a:p>
        </p:txBody>
      </p:sp>
      <p:sp>
        <p:nvSpPr>
          <p:cNvPr id="268" name="Google Shape;268;g3a7c62caf5a_0_5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69" name="Google Shape;269;g3a7c62caf5a_0_5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70" name="Google Shape;270;g3a7c62caf5a_0_5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11</a:t>
            </a:fld>
            <a:endParaRPr sz="1200" b="0" i="0" u="none" strike="noStrike" cap="none">
              <a:solidFill>
                <a:srgbClr val="1155CC"/>
              </a:solidFill>
              <a:latin typeface="Arial"/>
              <a:ea typeface="Arial"/>
              <a:cs typeface="Arial"/>
              <a:sym typeface="Arial"/>
            </a:endParaRPr>
          </a:p>
        </p:txBody>
      </p:sp>
      <p:graphicFrame>
        <p:nvGraphicFramePr>
          <p:cNvPr id="271" name="Google Shape;271;g3a7c62caf5a_0_59"/>
          <p:cNvGraphicFramePr/>
          <p:nvPr/>
        </p:nvGraphicFramePr>
        <p:xfrm>
          <a:off x="449025" y="1127800"/>
          <a:ext cx="11274900" cy="1691550"/>
        </p:xfrm>
        <a:graphic>
          <a:graphicData uri="http://schemas.openxmlformats.org/drawingml/2006/table">
            <a:tbl>
              <a:tblPr>
                <a:noFill/>
                <a:tableStyleId>{8D6F025E-3E90-46A3-8380-F9A38D793641}</a:tableStyleId>
              </a:tblPr>
              <a:tblGrid>
                <a:gridCol w="11274900"/>
              </a:tblGrid>
              <a:tr h="381000">
                <a:tc>
                  <a:txBody>
                    <a:bodyPr/>
                    <a:lstStyle/>
                    <a:p>
                      <a:pPr marL="0" lvl="0" indent="0" algn="l" rtl="0">
                        <a:spcBef>
                          <a:spcPts val="0"/>
                        </a:spcBef>
                        <a:spcAft>
                          <a:spcPts val="0"/>
                        </a:spcAft>
                        <a:buNone/>
                      </a:pPr>
                      <a:r>
                        <a:rPr lang="en-US" sz="1500" b="1">
                          <a:latin typeface="Times New Roman"/>
                          <a:ea typeface="Times New Roman"/>
                          <a:cs typeface="Times New Roman"/>
                          <a:sym typeface="Times New Roman"/>
                        </a:rPr>
                        <a:t>Besoins en assistance technique identifié par le Pays</a:t>
                      </a:r>
                      <a:endParaRPr sz="1500" b="1">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9. Appui à la gestion logistique au niveau des antennes. Les résultats consisteront au renforcement des capacités à gérer les vaccins pour la  réduction des ruptures des vaccins dans les antennes appuyées et renforcement des capacités ; utiliser les données du GEV pour améliorer la qualité du dispositif de la chaîne d'approvisionnement</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D9D9D9"/>
                      </a:solidFill>
                      <a:prstDash val="solid"/>
                      <a:round/>
                      <a:headEnd type="none" w="sm" len="sm"/>
                      <a:tailEnd type="none" w="sm" len="sm"/>
                    </a:lnB>
                  </a:tcPr>
                </a:tc>
              </a:tr>
              <a:tr h="381000">
                <a:tc>
                  <a:txBody>
                    <a:bodyPr/>
                    <a:lstStyle/>
                    <a:p>
                      <a:pPr marL="0" lvl="0" indent="0" algn="l" rtl="0">
                        <a:spcBef>
                          <a:spcPts val="0"/>
                        </a:spcBef>
                        <a:spcAft>
                          <a:spcPts val="0"/>
                        </a:spcAft>
                        <a:buNone/>
                      </a:pPr>
                      <a:r>
                        <a:rPr lang="en-US" sz="1500">
                          <a:latin typeface="Times New Roman"/>
                          <a:ea typeface="Times New Roman"/>
                          <a:cs typeface="Times New Roman"/>
                          <a:sym typeface="Times New Roman"/>
                        </a:rPr>
                        <a:t>10. Appui à la mise en œuvre du plan d’amélioration de la qualité des données de vaccination de routine y compris la stratégie digitale </a:t>
                      </a:r>
                      <a:endParaRPr sz="1500">
                        <a:latin typeface="Times New Roman"/>
                        <a:ea typeface="Times New Roman"/>
                        <a:cs typeface="Times New Roman"/>
                        <a:sym typeface="Times New Rom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a7c62caf5a_0_23"/>
          <p:cNvSpPr txBox="1"/>
          <p:nvPr/>
        </p:nvSpPr>
        <p:spPr>
          <a:xfrm>
            <a:off x="458592" y="317941"/>
            <a:ext cx="11274900" cy="384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600"/>
              </a:spcBef>
              <a:spcAft>
                <a:spcPts val="1600"/>
              </a:spcAft>
              <a:buClr>
                <a:schemeClr val="dk1"/>
              </a:buClr>
              <a:buSzPts val="1500"/>
              <a:buFont typeface="Arial"/>
              <a:buNone/>
            </a:pPr>
            <a:r>
              <a:rPr lang="en-US" sz="2500" b="1">
                <a:solidFill>
                  <a:srgbClr val="1155CC"/>
                </a:solidFill>
                <a:latin typeface="Times New Roman"/>
                <a:ea typeface="Times New Roman"/>
                <a:cs typeface="Times New Roman"/>
                <a:sym typeface="Times New Roman"/>
              </a:rPr>
              <a:t>Assistance technique | </a:t>
            </a:r>
            <a:r>
              <a:rPr lang="en-US" sz="2500">
                <a:solidFill>
                  <a:srgbClr val="1155CC"/>
                </a:solidFill>
                <a:latin typeface="Times New Roman"/>
                <a:ea typeface="Times New Roman"/>
                <a:cs typeface="Times New Roman"/>
                <a:sym typeface="Times New Roman"/>
              </a:rPr>
              <a:t>Cartographie des gaps</a:t>
            </a:r>
            <a:endParaRPr sz="2500" i="0" u="none" strike="noStrike" cap="none">
              <a:solidFill>
                <a:srgbClr val="1155CC"/>
              </a:solidFill>
              <a:latin typeface="Times New Roman"/>
              <a:ea typeface="Times New Roman"/>
              <a:cs typeface="Times New Roman"/>
              <a:sym typeface="Times New Roman"/>
            </a:endParaRPr>
          </a:p>
        </p:txBody>
      </p:sp>
      <p:sp>
        <p:nvSpPr>
          <p:cNvPr id="277" name="Google Shape;277;g3a7c62caf5a_0_23"/>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70C0"/>
              </a:solidFill>
              <a:latin typeface="Times New Roman"/>
              <a:ea typeface="Times New Roman"/>
              <a:cs typeface="Times New Roman"/>
              <a:sym typeface="Times New Roman"/>
            </a:endParaRPr>
          </a:p>
        </p:txBody>
      </p:sp>
      <p:sp>
        <p:nvSpPr>
          <p:cNvPr id="278" name="Google Shape;278;g3a7c62caf5a_0_23"/>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1155CC"/>
              </a:solidFill>
              <a:latin typeface="Times New Roman"/>
              <a:ea typeface="Times New Roman"/>
              <a:cs typeface="Times New Roman"/>
              <a:sym typeface="Times New Roman"/>
            </a:endParaRPr>
          </a:p>
        </p:txBody>
      </p:sp>
      <p:sp>
        <p:nvSpPr>
          <p:cNvPr id="279" name="Google Shape;279;g3a7c62caf5a_0_23"/>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1155CC"/>
                </a:solidFill>
                <a:latin typeface="Arial"/>
                <a:ea typeface="Arial"/>
                <a:cs typeface="Arial"/>
                <a:sym typeface="Arial"/>
              </a:rPr>
              <a:t>12</a:t>
            </a:fld>
            <a:endParaRPr sz="1200" b="0" i="0" u="none" strike="noStrike" cap="none">
              <a:solidFill>
                <a:srgbClr val="1155CC"/>
              </a:solidFill>
              <a:latin typeface="Arial"/>
              <a:ea typeface="Arial"/>
              <a:cs typeface="Arial"/>
              <a:sym typeface="Arial"/>
            </a:endParaRPr>
          </a:p>
        </p:txBody>
      </p:sp>
      <p:sp>
        <p:nvSpPr>
          <p:cNvPr id="280" name="Google Shape;280;g3a7c62caf5a_0_23"/>
          <p:cNvSpPr txBox="1"/>
          <p:nvPr/>
        </p:nvSpPr>
        <p:spPr>
          <a:xfrm>
            <a:off x="407500" y="1147325"/>
            <a:ext cx="11274900" cy="4666500"/>
          </a:xfrm>
          <a:prstGeom prst="rect">
            <a:avLst/>
          </a:prstGeom>
          <a:noFill/>
          <a:ln>
            <a:noFill/>
          </a:ln>
        </p:spPr>
        <p:txBody>
          <a:bodyPr spcFirstLastPara="1" wrap="square" lIns="121900" tIns="121900" rIns="121900" bIns="121900" anchor="t" anchorCtr="0">
            <a:noAutofit/>
          </a:bodyPr>
          <a:lstStyle/>
          <a:p>
            <a:pPr marL="457200" marR="0" lvl="0" indent="-355600" algn="l" rtl="0">
              <a:lnSpc>
                <a:spcPct val="100000"/>
              </a:lnSpc>
              <a:spcBef>
                <a:spcPts val="1300"/>
              </a:spcBef>
              <a:spcAft>
                <a:spcPts val="0"/>
              </a:spcAft>
              <a:buClr>
                <a:srgbClr val="222222"/>
              </a:buClr>
              <a:buSzPts val="2000"/>
              <a:buFont typeface="Times New Roman"/>
              <a:buChar char="●"/>
            </a:pPr>
            <a:r>
              <a:rPr lang="en-US" sz="2000">
                <a:solidFill>
                  <a:srgbClr val="222222"/>
                </a:solidFill>
                <a:highlight>
                  <a:srgbClr val="FFFFFF"/>
                </a:highlight>
                <a:latin typeface="Times New Roman"/>
                <a:ea typeface="Times New Roman"/>
                <a:cs typeface="Times New Roman"/>
                <a:sym typeface="Times New Roman"/>
              </a:rPr>
              <a:t>Les antennes vont exprimer les besoins dans les travaux de groupe en s’alignant aux besoins exprimés par les pays</a:t>
            </a:r>
            <a:endParaRPr sz="2000">
              <a:solidFill>
                <a:srgbClr val="222222"/>
              </a:solidFill>
              <a:highlight>
                <a:srgbClr val="FFFFFF"/>
              </a:highlight>
              <a:latin typeface="Times New Roman"/>
              <a:ea typeface="Times New Roman"/>
              <a:cs typeface="Times New Roman"/>
              <a:sym typeface="Times New Roman"/>
            </a:endParaRPr>
          </a:p>
          <a:p>
            <a:pPr marL="457200" marR="0" lvl="0" indent="-355600" algn="l" rtl="0">
              <a:lnSpc>
                <a:spcPct val="100000"/>
              </a:lnSpc>
              <a:spcBef>
                <a:spcPts val="1300"/>
              </a:spcBef>
              <a:spcAft>
                <a:spcPts val="1000"/>
              </a:spcAft>
              <a:buClr>
                <a:srgbClr val="222222"/>
              </a:buClr>
              <a:buSzPts val="2000"/>
              <a:buFont typeface="Times New Roman"/>
              <a:buChar char="●"/>
            </a:pPr>
            <a:r>
              <a:rPr lang="en-US" sz="2000">
                <a:solidFill>
                  <a:srgbClr val="222222"/>
                </a:solidFill>
                <a:highlight>
                  <a:srgbClr val="FFFFFF"/>
                </a:highlight>
                <a:latin typeface="Times New Roman"/>
                <a:ea typeface="Times New Roman"/>
                <a:cs typeface="Times New Roman"/>
                <a:sym typeface="Times New Roman"/>
              </a:rPr>
              <a:t>Le feedback des antennes va permettre à la direction de finaliser la cartographie des gap pour le déploiement des assistants pour 2026</a:t>
            </a:r>
            <a:endParaRPr sz="20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a7c546b70d_0_852"/>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300"/>
              <a:buFont typeface="Arial"/>
              <a:buNone/>
            </a:pPr>
            <a:r>
              <a:rPr lang="en-US" sz="5300" b="1" i="0" u="none" strike="noStrike" cap="none">
                <a:solidFill>
                  <a:srgbClr val="0070C0"/>
                </a:solidFill>
                <a:latin typeface="Times New Roman"/>
                <a:ea typeface="Times New Roman"/>
                <a:cs typeface="Times New Roman"/>
                <a:sym typeface="Times New Roman"/>
              </a:rPr>
              <a:t>Merci</a:t>
            </a:r>
            <a:endParaRPr sz="5300" b="1" i="0" u="none" strike="noStrike" cap="none">
              <a:solidFill>
                <a:srgbClr val="0070C0"/>
              </a:solidFill>
              <a:latin typeface="Times New Roman"/>
              <a:ea typeface="Times New Roman"/>
              <a:cs typeface="Times New Roman"/>
              <a:sym typeface="Times New Roman"/>
            </a:endParaRPr>
          </a:p>
        </p:txBody>
      </p:sp>
      <p:sp>
        <p:nvSpPr>
          <p:cNvPr id="295" name="Google Shape;295;g3a7c546b70d_0_852"/>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
        <p:nvSpPr>
          <p:cNvPr id="296" name="Google Shape;296;g3a7c546b70d_0_852"/>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2F07D7"/>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1364</Words>
  <Application>Microsoft Office PowerPoint</Application>
  <PresentationFormat>Grand écran</PresentationFormat>
  <Paragraphs>98</Paragraphs>
  <Slides>13</Slides>
  <Notes>13</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13</vt:i4>
      </vt:variant>
    </vt:vector>
  </HeadingPairs>
  <TitlesOfParts>
    <vt:vector size="20" baseType="lpstr">
      <vt:lpstr>Microsoft Yahei</vt:lpstr>
      <vt:lpstr>Arial</vt:lpstr>
      <vt:lpstr>Calibri</vt:lpstr>
      <vt:lpstr>Source Serif Pro</vt:lpstr>
      <vt:lpstr>Times New Roman</vt:lpstr>
      <vt:lpstr>Office Theme</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lenovo</dc:creator>
  <cp:lastModifiedBy>Compte Microsoft</cp:lastModifiedBy>
  <cp:revision>5</cp:revision>
  <dcterms:created xsi:type="dcterms:W3CDTF">2025-07-23T00:59:00Z</dcterms:created>
  <dcterms:modified xsi:type="dcterms:W3CDTF">2025-12-17T10:14:27Z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3084-12.2.0.23131</vt:lpwstr>
  </property>
  <property fmtid="{D5CDD505-2E9C-101B-9397-08002B2CF9AE}" pid="3" name="ICV">
    <vt:lpwstr>864046617A2A49699922BB4C2C890CB9_13</vt:lpwstr>
  </property>
</Properties>
</file>