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56" r:id="rId2"/>
    <p:sldId id="2147471382" r:id="rId3"/>
    <p:sldId id="2147471351" r:id="rId4"/>
    <p:sldId id="2147471425" r:id="rId5"/>
    <p:sldId id="2147471383" r:id="rId6"/>
    <p:sldId id="2147471397" r:id="rId7"/>
    <p:sldId id="2147471398" r:id="rId8"/>
    <p:sldId id="2147471393" r:id="rId9"/>
    <p:sldId id="2147471387" r:id="rId10"/>
    <p:sldId id="2147471388" r:id="rId11"/>
    <p:sldId id="2147471435" r:id="rId12"/>
    <p:sldId id="2147471384" r:id="rId13"/>
    <p:sldId id="2147471412" r:id="rId14"/>
    <p:sldId id="2147471417" r:id="rId15"/>
    <p:sldId id="2147471418" r:id="rId16"/>
    <p:sldId id="2147471419" r:id="rId17"/>
    <p:sldId id="2147471420" r:id="rId18"/>
    <p:sldId id="2147471421" r:id="rId19"/>
    <p:sldId id="2147471437" r:id="rId20"/>
    <p:sldId id="2147471436" r:id="rId21"/>
    <p:sldId id="2147471440" r:id="rId22"/>
    <p:sldId id="2147471406" r:id="rId23"/>
    <p:sldId id="312" r:id="rId24"/>
  </p:sldIdLst>
  <p:sldSz cx="12192000" cy="6858000"/>
  <p:notesSz cx="10002838" cy="688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41" autoAdjust="0"/>
    <p:restoredTop sz="93910" autoAdjust="0"/>
  </p:normalViewPr>
  <p:slideViewPr>
    <p:cSldViewPr>
      <p:cViewPr varScale="1">
        <p:scale>
          <a:sx n="63" d="100"/>
          <a:sy n="63" d="100"/>
        </p:scale>
        <p:origin x="452"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54" d="100"/>
          <a:sy n="54" d="100"/>
        </p:scale>
        <p:origin x="2748"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EFE41EDA-58B6-423B-A5FC-F5764139ADE6}"/>
              </a:ext>
            </a:extLst>
          </p:cNvPr>
          <p:cNvSpPr>
            <a:spLocks noGrp="1"/>
          </p:cNvSpPr>
          <p:nvPr>
            <p:ph type="sldNum" sz="quarter" idx="3"/>
          </p:nvPr>
        </p:nvSpPr>
        <p:spPr>
          <a:xfrm>
            <a:off x="5665960" y="6536528"/>
            <a:ext cx="4334563" cy="345285"/>
          </a:xfrm>
          <a:prstGeom prst="rect">
            <a:avLst/>
          </a:prstGeom>
        </p:spPr>
        <p:txBody>
          <a:bodyPr vert="horz" lIns="91870" tIns="45935" rIns="91870" bIns="45935" rtlCol="0" anchor="b"/>
          <a:lstStyle>
            <a:lvl1pPr algn="r">
              <a:defRPr sz="1200"/>
            </a:lvl1pPr>
          </a:lstStyle>
          <a:p>
            <a:fld id="{EFAC8F19-A333-42A5-B76B-90275CE99669}" type="slidenum">
              <a:rPr lang="fr-FR" smtClean="0"/>
              <a:t>‹N°›</a:t>
            </a:fld>
            <a:endParaRPr lang="fr-FR"/>
          </a:p>
        </p:txBody>
      </p:sp>
    </p:spTree>
    <p:extLst>
      <p:ext uri="{BB962C8B-B14F-4D97-AF65-F5344CB8AC3E}">
        <p14:creationId xmlns:p14="http://schemas.microsoft.com/office/powerpoint/2010/main" val="15467146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Espace réservé du numéro de diapositive 6"/>
          <p:cNvSpPr>
            <a:spLocks noGrp="1"/>
          </p:cNvSpPr>
          <p:nvPr>
            <p:ph type="sldNum" sz="quarter" idx="5"/>
          </p:nvPr>
        </p:nvSpPr>
        <p:spPr>
          <a:xfrm>
            <a:off x="5665960" y="6536528"/>
            <a:ext cx="4334563" cy="345285"/>
          </a:xfrm>
          <a:prstGeom prst="rect">
            <a:avLst/>
          </a:prstGeom>
        </p:spPr>
        <p:txBody>
          <a:bodyPr vert="horz" lIns="91870" tIns="45935" rIns="91870" bIns="45935" rtlCol="0" anchor="b"/>
          <a:lstStyle>
            <a:lvl1pPr algn="r">
              <a:defRPr sz="1200"/>
            </a:lvl1pPr>
          </a:lstStyle>
          <a:p>
            <a:fld id="{DD390B36-3758-4D8A-A6C4-7DA30A7FF528}" type="slidenum">
              <a:rPr lang="fr-FR" smtClean="0"/>
              <a:t>‹N°›</a:t>
            </a:fld>
            <a:endParaRPr lang="fr-FR" dirty="0"/>
          </a:p>
        </p:txBody>
      </p:sp>
    </p:spTree>
    <p:extLst>
      <p:ext uri="{BB962C8B-B14F-4D97-AF65-F5344CB8AC3E}">
        <p14:creationId xmlns:p14="http://schemas.microsoft.com/office/powerpoint/2010/main" val="188340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936875" y="860425"/>
            <a:ext cx="4129088" cy="2322513"/>
          </a:xfrm>
          <a:prstGeom prst="rect">
            <a:avLst/>
          </a:prstGeom>
          <a:noFill/>
          <a:ln w="12700">
            <a:solidFill>
              <a:prstClr val="black"/>
            </a:solidFill>
          </a:ln>
        </p:spPr>
      </p:sp>
      <p:sp>
        <p:nvSpPr>
          <p:cNvPr id="3" name="Espace réservé des notes 2"/>
          <p:cNvSpPr>
            <a:spLocks noGrp="1"/>
          </p:cNvSpPr>
          <p:nvPr>
            <p:ph type="body" idx="1"/>
          </p:nvPr>
        </p:nvSpPr>
        <p:spPr>
          <a:xfrm>
            <a:off x="1000285" y="3312408"/>
            <a:ext cx="8002270" cy="2709453"/>
          </a:xfrm>
          <a:prstGeom prst="rect">
            <a:avLst/>
          </a:prstGeom>
        </p:spPr>
        <p:txBody>
          <a:bodyPr lIns="91870" tIns="45935" rIns="91870" bIns="45935"/>
          <a:lstStyle/>
          <a:p>
            <a:endParaRPr lang="fr-FR"/>
          </a:p>
        </p:txBody>
      </p:sp>
      <p:sp>
        <p:nvSpPr>
          <p:cNvPr id="4" name="Espace réservé du numéro de diapositive 3"/>
          <p:cNvSpPr>
            <a:spLocks noGrp="1"/>
          </p:cNvSpPr>
          <p:nvPr>
            <p:ph type="sldNum" sz="quarter" idx="5"/>
          </p:nvPr>
        </p:nvSpPr>
        <p:spPr/>
        <p:txBody>
          <a:bodyPr/>
          <a:lstStyle/>
          <a:p>
            <a:fld id="{DD390B36-3758-4D8A-A6C4-7DA30A7FF528}" type="slidenum">
              <a:rPr lang="fr-FR" smtClean="0"/>
              <a:t>1</a:t>
            </a:fld>
            <a:endParaRPr lang="fr-FR" dirty="0"/>
          </a:p>
        </p:txBody>
      </p:sp>
    </p:spTree>
    <p:extLst>
      <p:ext uri="{BB962C8B-B14F-4D97-AF65-F5344CB8AC3E}">
        <p14:creationId xmlns:p14="http://schemas.microsoft.com/office/powerpoint/2010/main" val="1567178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6"/>
            <a:ext cx="10363200" cy="1470025"/>
          </a:xfrm>
        </p:spPr>
        <p:txBody>
          <a:bodyPr/>
          <a:lstStyle/>
          <a:p>
            <a:r>
              <a:rPr lang="fr-FR"/>
              <a:t>Modifiez le style du titre</a:t>
            </a:r>
          </a:p>
        </p:txBody>
      </p:sp>
      <p:sp>
        <p:nvSpPr>
          <p:cNvPr id="3" name="Sous-titr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DA03E53E-5FB6-42A1-9DDA-0AACE355583A}" type="datetime1">
              <a:rPr lang="fr-FR" smtClean="0"/>
              <a:t>16/12/2025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44C1BB5-D3AE-4CC0-B5EF-886510362FCB}" type="slidenum">
              <a:rPr lang="fr-FR" smtClean="0"/>
              <a:t>‹N°›</a:t>
            </a:fld>
            <a:endParaRPr lang="fr-FR"/>
          </a:p>
        </p:txBody>
      </p:sp>
    </p:spTree>
    <p:extLst>
      <p:ext uri="{BB962C8B-B14F-4D97-AF65-F5344CB8AC3E}">
        <p14:creationId xmlns:p14="http://schemas.microsoft.com/office/powerpoint/2010/main" val="3534260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A32ABDE-D7AC-4CE1-ABAD-47C5D696443B}" type="datetime1">
              <a:rPr lang="fr-FR" smtClean="0"/>
              <a:t>16/12/2025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44C1BB5-D3AE-4CC0-B5EF-886510362FCB}" type="slidenum">
              <a:rPr lang="fr-FR" smtClean="0"/>
              <a:t>‹N°›</a:t>
            </a:fld>
            <a:endParaRPr lang="fr-FR"/>
          </a:p>
        </p:txBody>
      </p:sp>
    </p:spTree>
    <p:extLst>
      <p:ext uri="{BB962C8B-B14F-4D97-AF65-F5344CB8AC3E}">
        <p14:creationId xmlns:p14="http://schemas.microsoft.com/office/powerpoint/2010/main" val="3287131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01"/>
            <a:ext cx="103632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918E7491-66C9-421A-9086-17C80AF60D90}" type="datetime1">
              <a:rPr lang="fr-FR" smtClean="0"/>
              <a:t>16/12/2025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44C1BB5-D3AE-4CC0-B5EF-886510362FCB}" type="slidenum">
              <a:rPr lang="fr-FR" smtClean="0"/>
              <a:t>‹N°›</a:t>
            </a:fld>
            <a:endParaRPr lang="fr-FR"/>
          </a:p>
        </p:txBody>
      </p:sp>
    </p:spTree>
    <p:extLst>
      <p:ext uri="{BB962C8B-B14F-4D97-AF65-F5344CB8AC3E}">
        <p14:creationId xmlns:p14="http://schemas.microsoft.com/office/powerpoint/2010/main" val="4229867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3986813F-2F7E-4044-BB57-EF39CEEC74FB}" type="datetime1">
              <a:rPr lang="fr-FR" smtClean="0"/>
              <a:t>16/12/2025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44C1BB5-D3AE-4CC0-B5EF-886510362FCB}" type="slidenum">
              <a:rPr lang="fr-FR" smtClean="0"/>
              <a:t>‹N°›</a:t>
            </a:fld>
            <a:endParaRPr lang="fr-FR"/>
          </a:p>
        </p:txBody>
      </p:sp>
    </p:spTree>
    <p:extLst>
      <p:ext uri="{BB962C8B-B14F-4D97-AF65-F5344CB8AC3E}">
        <p14:creationId xmlns:p14="http://schemas.microsoft.com/office/powerpoint/2010/main" val="4227371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07CC9E63-3CA0-4912-9B1B-BB95F3F2F486}" type="datetime1">
              <a:rPr lang="fr-FR" smtClean="0"/>
              <a:t>16/12/2025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E44C1BB5-D3AE-4CC0-B5EF-886510362FCB}" type="slidenum">
              <a:rPr lang="fr-FR" smtClean="0"/>
              <a:t>‹N°›</a:t>
            </a:fld>
            <a:endParaRPr lang="fr-FR"/>
          </a:p>
        </p:txBody>
      </p:sp>
    </p:spTree>
    <p:extLst>
      <p:ext uri="{BB962C8B-B14F-4D97-AF65-F5344CB8AC3E}">
        <p14:creationId xmlns:p14="http://schemas.microsoft.com/office/powerpoint/2010/main" val="2799002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E64790BF-AA96-4371-A31A-3C81C9202A27}" type="datetime1">
              <a:rPr lang="fr-FR" smtClean="0"/>
              <a:t>16/12/2025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E44C1BB5-D3AE-4CC0-B5EF-886510362FCB}" type="slidenum">
              <a:rPr lang="fr-FR" smtClean="0"/>
              <a:t>‹N°›</a:t>
            </a:fld>
            <a:endParaRPr lang="fr-FR"/>
          </a:p>
        </p:txBody>
      </p:sp>
    </p:spTree>
    <p:extLst>
      <p:ext uri="{BB962C8B-B14F-4D97-AF65-F5344CB8AC3E}">
        <p14:creationId xmlns:p14="http://schemas.microsoft.com/office/powerpoint/2010/main" val="2374313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857EFC10-82FD-4848-8BD6-BA4D3922035B}" type="datetime1">
              <a:rPr lang="fr-FR" smtClean="0"/>
              <a:t>16/12/2025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E44C1BB5-D3AE-4CC0-B5EF-886510362FCB}" type="slidenum">
              <a:rPr lang="fr-FR" smtClean="0"/>
              <a:t>‹N°›</a:t>
            </a:fld>
            <a:endParaRPr lang="fr-FR"/>
          </a:p>
        </p:txBody>
      </p:sp>
    </p:spTree>
    <p:extLst>
      <p:ext uri="{BB962C8B-B14F-4D97-AF65-F5344CB8AC3E}">
        <p14:creationId xmlns:p14="http://schemas.microsoft.com/office/powerpoint/2010/main" val="3496777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1" y="273050"/>
            <a:ext cx="4011084"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701C01E-A713-4C7D-B04D-21F626964B56}" type="datetime1">
              <a:rPr lang="fr-FR" smtClean="0"/>
              <a:t>16/12/2025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44C1BB5-D3AE-4CC0-B5EF-886510362FCB}" type="slidenum">
              <a:rPr lang="fr-FR" smtClean="0"/>
              <a:t>‹N°›</a:t>
            </a:fld>
            <a:endParaRPr lang="fr-FR"/>
          </a:p>
        </p:txBody>
      </p:sp>
    </p:spTree>
    <p:extLst>
      <p:ext uri="{BB962C8B-B14F-4D97-AF65-F5344CB8AC3E}">
        <p14:creationId xmlns:p14="http://schemas.microsoft.com/office/powerpoint/2010/main" val="943124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0"/>
            <a:ext cx="73152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C49E64DC-96D1-41D8-A0FB-8E6A37DC796F}" type="datetime1">
              <a:rPr lang="fr-FR" smtClean="0"/>
              <a:t>16/12/2025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44C1BB5-D3AE-4CC0-B5EF-886510362FCB}" type="slidenum">
              <a:rPr lang="fr-FR" smtClean="0"/>
              <a:t>‹N°›</a:t>
            </a:fld>
            <a:endParaRPr lang="fr-FR"/>
          </a:p>
        </p:txBody>
      </p:sp>
    </p:spTree>
    <p:extLst>
      <p:ext uri="{BB962C8B-B14F-4D97-AF65-F5344CB8AC3E}">
        <p14:creationId xmlns:p14="http://schemas.microsoft.com/office/powerpoint/2010/main" val="1200940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5F11F8D-A0FB-4510-993E-9127F7773AD7}" type="datetime1">
              <a:rPr lang="fr-FR" smtClean="0"/>
              <a:t>16/12/2025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44C1BB5-D3AE-4CC0-B5EF-886510362FCB}" type="slidenum">
              <a:rPr lang="fr-FR" smtClean="0"/>
              <a:t>‹N°›</a:t>
            </a:fld>
            <a:endParaRPr lang="fr-FR"/>
          </a:p>
        </p:txBody>
      </p:sp>
    </p:spTree>
    <p:extLst>
      <p:ext uri="{BB962C8B-B14F-4D97-AF65-F5344CB8AC3E}">
        <p14:creationId xmlns:p14="http://schemas.microsoft.com/office/powerpoint/2010/main" val="4111941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839200" y="274639"/>
            <a:ext cx="27432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609600" y="274639"/>
            <a:ext cx="80264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5D95DA8-277F-4A3E-9E16-4C813C6DAA60}" type="datetime1">
              <a:rPr lang="fr-FR" smtClean="0"/>
              <a:t>16/12/2025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44C1BB5-D3AE-4CC0-B5EF-886510362FCB}" type="slidenum">
              <a:rPr lang="fr-FR" smtClean="0"/>
              <a:t>‹N°›</a:t>
            </a:fld>
            <a:endParaRPr lang="fr-FR"/>
          </a:p>
        </p:txBody>
      </p:sp>
    </p:spTree>
    <p:extLst>
      <p:ext uri="{BB962C8B-B14F-4D97-AF65-F5344CB8AC3E}">
        <p14:creationId xmlns:p14="http://schemas.microsoft.com/office/powerpoint/2010/main" val="1110158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8CBF0C-7989-4503-A896-1EBBC23B4078}" type="datetime1">
              <a:rPr lang="fr-FR" smtClean="0"/>
              <a:t>16/12/2025</a:t>
            </a:fld>
            <a:endParaRPr lang="fr-FR"/>
          </a:p>
        </p:txBody>
      </p:sp>
      <p:sp>
        <p:nvSpPr>
          <p:cNvPr id="5" name="Espace réservé du pied de page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4C1BB5-D3AE-4CC0-B5EF-886510362FCB}" type="slidenum">
              <a:rPr lang="fr-FR" smtClean="0"/>
              <a:t>‹N°›</a:t>
            </a:fld>
            <a:endParaRPr lang="fr-FR"/>
          </a:p>
        </p:txBody>
      </p:sp>
    </p:spTree>
    <p:extLst>
      <p:ext uri="{BB962C8B-B14F-4D97-AF65-F5344CB8AC3E}">
        <p14:creationId xmlns:p14="http://schemas.microsoft.com/office/powerpoint/2010/main" val="11997774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282FF83-8A85-4400-814A-617C38FDF8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p:cNvSpPr>
            <a:spLocks noGrp="1"/>
          </p:cNvSpPr>
          <p:nvPr>
            <p:ph type="ctrTitle"/>
          </p:nvPr>
        </p:nvSpPr>
        <p:spPr>
          <a:xfrm>
            <a:off x="1145551" y="995036"/>
            <a:ext cx="6839473" cy="3024242"/>
          </a:xfrm>
        </p:spPr>
        <p:txBody>
          <a:bodyPr anchor="t">
            <a:normAutofit fontScale="90000"/>
          </a:bodyPr>
          <a:lstStyle/>
          <a:p>
            <a:pPr marL="0" marR="0" algn="l">
              <a:lnSpc>
                <a:spcPct val="90000"/>
              </a:lnSpc>
              <a:spcBef>
                <a:spcPts val="0"/>
              </a:spcBef>
              <a:spcAft>
                <a:spcPts val="1000"/>
              </a:spcAft>
            </a:pPr>
            <a:r>
              <a:rPr lang="fr-FR" sz="3200" b="1" kern="100" dirty="0">
                <a:effectLst/>
                <a:latin typeface="Arial Narrow" panose="020B0606020202030204" pitchFamily="34" charset="0"/>
                <a:ea typeface="Arial Narrow" panose="020B0606020202030204" pitchFamily="34" charset="0"/>
                <a:cs typeface="Arial Narrow" panose="020B0606020202030204" pitchFamily="34" charset="0"/>
              </a:rPr>
              <a:t>AUDIT ORGANISATIONNEL DU PROGRAMME ELARGI DE VACCINATION (PEV) DE LA REPUBLIQUE DEMOCRATIQUE DU CONGO </a:t>
            </a:r>
            <a:br>
              <a:rPr lang="fr-FR" sz="3200" b="1" kern="100" dirty="0">
                <a:effectLst/>
                <a:latin typeface="Arial Narrow" panose="020B0606020202030204" pitchFamily="34" charset="0"/>
                <a:ea typeface="Arial Narrow" panose="020B0606020202030204" pitchFamily="34" charset="0"/>
                <a:cs typeface="Arial Narrow" panose="020B0606020202030204" pitchFamily="34" charset="0"/>
              </a:rPr>
            </a:br>
            <a:br>
              <a:rPr lang="fr-FR" sz="3200" b="1" kern="100" dirty="0">
                <a:effectLst/>
                <a:latin typeface="Arial Narrow" panose="020B0606020202030204" pitchFamily="34" charset="0"/>
                <a:ea typeface="Arial Narrow" panose="020B0606020202030204" pitchFamily="34" charset="0"/>
                <a:cs typeface="Arial Narrow" panose="020B0606020202030204" pitchFamily="34" charset="0"/>
              </a:rPr>
            </a:br>
            <a:br>
              <a:rPr lang="fr-FR" sz="3200" b="1" kern="100" dirty="0">
                <a:effectLst/>
                <a:latin typeface="Arial Narrow" panose="020B0606020202030204" pitchFamily="34" charset="0"/>
                <a:ea typeface="Arial Narrow" panose="020B0606020202030204" pitchFamily="34" charset="0"/>
                <a:cs typeface="Arial Narrow" panose="020B0606020202030204" pitchFamily="34" charset="0"/>
              </a:rPr>
            </a:br>
            <a:r>
              <a:rPr lang="fr-FR" sz="3600" b="1" kern="100" dirty="0">
                <a:effectLst/>
                <a:latin typeface="Arial Narrow" panose="020B0606020202030204" pitchFamily="34" charset="0"/>
                <a:ea typeface="Arial Narrow" panose="020B0606020202030204" pitchFamily="34" charset="0"/>
                <a:cs typeface="Arial Narrow" panose="020B0606020202030204" pitchFamily="34" charset="0"/>
              </a:rPr>
              <a:t>Présentation du rapport synthèse</a:t>
            </a:r>
            <a:br>
              <a:rPr lang="fr-FR" sz="3200" b="1" kern="100" dirty="0">
                <a:effectLst/>
                <a:latin typeface="Arial Narrow" panose="020B0606020202030204" pitchFamily="34" charset="0"/>
                <a:ea typeface="Arial Narrow" panose="020B0606020202030204" pitchFamily="34" charset="0"/>
                <a:cs typeface="Arial Narrow" panose="020B0606020202030204" pitchFamily="34" charset="0"/>
              </a:rPr>
            </a:br>
            <a:r>
              <a:rPr lang="fr-FR" sz="3200" b="1" kern="100" dirty="0">
                <a:effectLst/>
                <a:latin typeface="Arial Narrow" panose="020B0606020202030204" pitchFamily="34" charset="0"/>
                <a:ea typeface="Arial Narrow" panose="020B0606020202030204" pitchFamily="34" charset="0"/>
                <a:cs typeface="Arial Narrow" panose="020B0606020202030204" pitchFamily="34" charset="0"/>
              </a:rPr>
              <a:t>Matadi, Décembre </a:t>
            </a:r>
            <a:r>
              <a:rPr lang="fr-FR" sz="2700" b="1" kern="100" dirty="0">
                <a:effectLst/>
                <a:latin typeface="Arial Narrow" panose="020B0606020202030204" pitchFamily="34" charset="0"/>
                <a:ea typeface="Arial Narrow" panose="020B0606020202030204" pitchFamily="34" charset="0"/>
                <a:cs typeface="Arial Narrow" panose="020B0606020202030204" pitchFamily="34" charset="0"/>
              </a:rPr>
              <a:t>2025</a:t>
            </a:r>
            <a:endParaRPr lang="en-US" sz="2700" kern="100" dirty="0">
              <a:effectLst/>
              <a:latin typeface="Calibri" panose="020F0502020204030204" pitchFamily="34" charset="0"/>
              <a:ea typeface="SimSun" panose="02010600030101010101" pitchFamily="2" charset="-122"/>
            </a:endParaRPr>
          </a:p>
        </p:txBody>
      </p:sp>
      <p:grpSp>
        <p:nvGrpSpPr>
          <p:cNvPr id="14" name="Group 13">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03868"/>
            <a:ext cx="731521" cy="673460"/>
            <a:chOff x="3940602" y="308034"/>
            <a:chExt cx="2116791" cy="3428999"/>
          </a:xfrm>
          <a:solidFill>
            <a:schemeClr val="accent4"/>
          </a:solidFill>
        </p:grpSpPr>
        <p:sp>
          <p:nvSpPr>
            <p:cNvPr id="15" name="Rectangle 14">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089A89A-1E9C-4761-9DFF-53C275FBF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29414" y="232757"/>
            <a:ext cx="3765762" cy="625948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yellow sign with images of people and a book&#10;&#10;Description automatically generated">
            <a:extLst>
              <a:ext uri="{FF2B5EF4-FFF2-40B4-BE49-F238E27FC236}">
                <a16:creationId xmlns:a16="http://schemas.microsoft.com/office/drawing/2014/main" id="{C63821F9-2796-4B73-A629-9854500A1C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54442" y="412205"/>
            <a:ext cx="1509848" cy="1822494"/>
          </a:xfrm>
          <a:prstGeom prst="rect">
            <a:avLst/>
          </a:prstGeom>
        </p:spPr>
      </p:pic>
      <p:pic>
        <p:nvPicPr>
          <p:cNvPr id="6" name="Picture 5">
            <a:extLst>
              <a:ext uri="{FF2B5EF4-FFF2-40B4-BE49-F238E27FC236}">
                <a16:creationId xmlns:a16="http://schemas.microsoft.com/office/drawing/2014/main" id="{02AA57A2-CF4C-45C0-A067-51C13F69D19F}"/>
              </a:ext>
            </a:extLst>
          </p:cNvPr>
          <p:cNvPicPr>
            <a:picLocks noChangeAspect="1"/>
          </p:cNvPicPr>
          <p:nvPr/>
        </p:nvPicPr>
        <p:blipFill rotWithShape="1">
          <a:blip r:embed="rId4"/>
          <a:srcRect l="25278" t="57009" r="51296" b="31674"/>
          <a:stretch/>
        </p:blipFill>
        <p:spPr>
          <a:xfrm>
            <a:off x="8298151" y="4943138"/>
            <a:ext cx="3259287" cy="838446"/>
          </a:xfrm>
          <a:prstGeom prst="rect">
            <a:avLst/>
          </a:prstGeom>
        </p:spPr>
      </p:pic>
      <p:pic>
        <p:nvPicPr>
          <p:cNvPr id="7" name="Picture 6" descr="PEV RDC - Programme Elargi de Vaccination">
            <a:extLst>
              <a:ext uri="{FF2B5EF4-FFF2-40B4-BE49-F238E27FC236}">
                <a16:creationId xmlns:a16="http://schemas.microsoft.com/office/drawing/2014/main" id="{29E3DAF9-25C3-4627-A83D-30AB266E1626}"/>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8298150" y="2943714"/>
            <a:ext cx="3259287" cy="1075564"/>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numéro de diapositive 3">
            <a:extLst>
              <a:ext uri="{FF2B5EF4-FFF2-40B4-BE49-F238E27FC236}">
                <a16:creationId xmlns:a16="http://schemas.microsoft.com/office/drawing/2014/main" id="{8CA8625D-C0D4-4657-9D8B-BB74DD699321}"/>
              </a:ext>
            </a:extLst>
          </p:cNvPr>
          <p:cNvSpPr>
            <a:spLocks noGrp="1"/>
          </p:cNvSpPr>
          <p:nvPr>
            <p:ph type="sldNum" sz="quarter" idx="12"/>
          </p:nvPr>
        </p:nvSpPr>
        <p:spPr>
          <a:xfrm>
            <a:off x="8610600" y="6492240"/>
            <a:ext cx="1871749" cy="365125"/>
          </a:xfrm>
        </p:spPr>
        <p:txBody>
          <a:bodyPr>
            <a:normAutofit/>
          </a:bodyPr>
          <a:lstStyle/>
          <a:p>
            <a:pPr>
              <a:spcAft>
                <a:spcPts val="600"/>
              </a:spcAft>
            </a:pPr>
            <a:fld id="{E44C1BB5-D3AE-4CC0-B5EF-886510362FCB}" type="slidenum">
              <a:rPr lang="fr-FR" smtClean="0"/>
              <a:pPr>
                <a:spcAft>
                  <a:spcPts val="600"/>
                </a:spcAft>
              </a:pPr>
              <a:t>1</a:t>
            </a:fld>
            <a:endParaRPr lang="fr-FR"/>
          </a:p>
        </p:txBody>
      </p:sp>
      <p:pic>
        <p:nvPicPr>
          <p:cNvPr id="1028" name="Picture 4" descr="Image result for Vaccination covid-19">
            <a:extLst>
              <a:ext uri="{FF2B5EF4-FFF2-40B4-BE49-F238E27FC236}">
                <a16:creationId xmlns:a16="http://schemas.microsoft.com/office/drawing/2014/main" id="{E84420E0-9805-4889-B77B-9506AD80941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4922520"/>
            <a:ext cx="1650240" cy="109728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VID-19: Can Behavior Insights Address Vaccine Hesitancy and Increase ...">
            <a:extLst>
              <a:ext uri="{FF2B5EF4-FFF2-40B4-BE49-F238E27FC236}">
                <a16:creationId xmlns:a16="http://schemas.microsoft.com/office/drawing/2014/main" id="{6D18FDD9-AC0D-48CF-8558-FAC4A448DCF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2200" y="4800600"/>
            <a:ext cx="3140765" cy="13716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Where Covax, the Vast Global Vaccine Program, Went Wrong - The New York ...">
            <a:extLst>
              <a:ext uri="{FF2B5EF4-FFF2-40B4-BE49-F238E27FC236}">
                <a16:creationId xmlns:a16="http://schemas.microsoft.com/office/drawing/2014/main" id="{CE32438C-95D8-473F-AC05-B6B971ECD5D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593588" y="4922520"/>
            <a:ext cx="1950212" cy="1097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8470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339364" y="1635282"/>
            <a:ext cx="9597269" cy="4841718"/>
          </a:xfrm>
        </p:spPr>
        <p:txBody>
          <a:bodyPr>
            <a:normAutofit fontScale="92500" lnSpcReduction="10000"/>
          </a:bodyPr>
          <a:lstStyle/>
          <a:p>
            <a:pPr marL="514350" indent="-514350" algn="just">
              <a:spcAft>
                <a:spcPts val="1200"/>
              </a:spcAft>
              <a:buFont typeface="+mj-lt"/>
              <a:buAutoNum type="arabicPeriod"/>
            </a:pPr>
            <a:r>
              <a:rPr lang="fr-FR" dirty="0">
                <a:latin typeface="Times New Roman" panose="02020603050405020304" pitchFamily="18" charset="0"/>
                <a:cs typeface="Times New Roman" panose="02020603050405020304" pitchFamily="18" charset="0"/>
              </a:rPr>
              <a:t>Objectif de l’étude</a:t>
            </a:r>
          </a:p>
          <a:p>
            <a:pPr marL="514350" indent="-514350" algn="just">
              <a:spcAft>
                <a:spcPts val="1200"/>
              </a:spcAft>
              <a:buFont typeface="+mj-lt"/>
              <a:buAutoNum type="arabicPeriod"/>
            </a:pPr>
            <a:r>
              <a:rPr lang="fr-FR" dirty="0">
                <a:latin typeface="Times New Roman" panose="02020603050405020304" pitchFamily="18" charset="0"/>
                <a:cs typeface="Times New Roman" panose="02020603050405020304" pitchFamily="18" charset="0"/>
              </a:rPr>
              <a:t>Méthodologie</a:t>
            </a:r>
          </a:p>
          <a:p>
            <a:pPr marL="514350" indent="-514350" algn="just">
              <a:spcAft>
                <a:spcPts val="1200"/>
              </a:spcAft>
              <a:buFont typeface="+mj-lt"/>
              <a:buAutoNum type="arabicPeriod"/>
            </a:pPr>
            <a:r>
              <a:rPr lang="fr-FR" dirty="0">
                <a:latin typeface="Times New Roman" panose="02020603050405020304" pitchFamily="18" charset="0"/>
                <a:cs typeface="Times New Roman" panose="02020603050405020304" pitchFamily="18" charset="0"/>
              </a:rPr>
              <a:t>Principaux résultats</a:t>
            </a:r>
          </a:p>
          <a:p>
            <a:pPr lvl="1">
              <a:spcBef>
                <a:spcPts val="0"/>
              </a:spcBef>
            </a:pPr>
            <a:r>
              <a:rPr lang="fr-FR" dirty="0">
                <a:latin typeface="Times New Roman" panose="02020603050405020304" pitchFamily="18" charset="0"/>
                <a:cs typeface="Times New Roman" panose="02020603050405020304" pitchFamily="18" charset="0"/>
              </a:rPr>
              <a:t>Analyse du cadre organique </a:t>
            </a:r>
          </a:p>
          <a:p>
            <a:pPr lvl="1">
              <a:spcBef>
                <a:spcPts val="0"/>
              </a:spcBef>
            </a:pPr>
            <a:r>
              <a:rPr lang="fr-FR" dirty="0">
                <a:latin typeface="Times New Roman" panose="02020603050405020304" pitchFamily="18" charset="0"/>
                <a:cs typeface="Times New Roman" panose="02020603050405020304" pitchFamily="18" charset="0"/>
              </a:rPr>
              <a:t>Analyse des capacités organisationnelles et fonctionnelles</a:t>
            </a:r>
          </a:p>
          <a:p>
            <a:pPr marL="514350" indent="-514350" algn="just">
              <a:spcAft>
                <a:spcPts val="1200"/>
              </a:spcAft>
              <a:buFont typeface="+mj-lt"/>
              <a:buAutoNum type="arabicPeriod"/>
            </a:pPr>
            <a:r>
              <a:rPr lang="fr-FR" dirty="0">
                <a:latin typeface="Times New Roman" panose="02020603050405020304" pitchFamily="18" charset="0"/>
                <a:cs typeface="Times New Roman" panose="02020603050405020304" pitchFamily="18" charset="0"/>
              </a:rPr>
              <a:t>Recommandations</a:t>
            </a:r>
          </a:p>
          <a:p>
            <a:pPr lvl="1">
              <a:lnSpc>
                <a:spcPct val="110000"/>
              </a:lnSpc>
              <a:spcBef>
                <a:spcPts val="0"/>
              </a:spcBef>
            </a:pPr>
            <a:r>
              <a:rPr lang="fr-FR" dirty="0">
                <a:latin typeface="Times New Roman" panose="02020603050405020304" pitchFamily="18" charset="0"/>
                <a:cs typeface="Times New Roman" panose="02020603050405020304" pitchFamily="18" charset="0"/>
              </a:rPr>
              <a:t>Sur les capacités organisationnelles et fonctionnelles</a:t>
            </a:r>
          </a:p>
          <a:p>
            <a:pPr lvl="1">
              <a:lnSpc>
                <a:spcPct val="110000"/>
              </a:lnSpc>
              <a:spcBef>
                <a:spcPts val="0"/>
              </a:spcBef>
            </a:pPr>
            <a:r>
              <a:rPr lang="fr-FR" dirty="0">
                <a:latin typeface="Times New Roman" panose="02020603050405020304" pitchFamily="18" charset="0"/>
                <a:cs typeface="Times New Roman" panose="02020603050405020304" pitchFamily="18" charset="0"/>
              </a:rPr>
              <a:t>Draft d’un nouvel Organigramme du PEV </a:t>
            </a:r>
          </a:p>
          <a:p>
            <a:pPr marL="514350" indent="-514350" algn="just">
              <a:spcAft>
                <a:spcPts val="1200"/>
              </a:spcAft>
              <a:buFont typeface="+mj-lt"/>
              <a:buAutoNum type="arabicPeriod"/>
            </a:pPr>
            <a:r>
              <a:rPr lang="fr-FR" dirty="0">
                <a:latin typeface="Times New Roman" panose="02020603050405020304" pitchFamily="18" charset="0"/>
                <a:cs typeface="Times New Roman" panose="02020603050405020304" pitchFamily="18" charset="0"/>
              </a:rPr>
              <a:t>Conclusion</a:t>
            </a:r>
          </a:p>
        </p:txBody>
      </p:sp>
      <p:sp>
        <p:nvSpPr>
          <p:cNvPr id="4" name="Espace réservé du numéro de diapositive 3">
            <a:extLst>
              <a:ext uri="{FF2B5EF4-FFF2-40B4-BE49-F238E27FC236}">
                <a16:creationId xmlns:a16="http://schemas.microsoft.com/office/drawing/2014/main" id="{B7A3CC64-CC89-42AE-88DA-B46A8B753D11}"/>
              </a:ext>
            </a:extLst>
          </p:cNvPr>
          <p:cNvSpPr>
            <a:spLocks noGrp="1"/>
          </p:cNvSpPr>
          <p:nvPr>
            <p:ph type="sldNum" sz="quarter" idx="12"/>
          </p:nvPr>
        </p:nvSpPr>
        <p:spPr>
          <a:xfrm>
            <a:off x="8737600" y="6400799"/>
            <a:ext cx="2844800" cy="365125"/>
          </a:xfrm>
        </p:spPr>
        <p:txBody>
          <a:bodyPr/>
          <a:lstStyle/>
          <a:p>
            <a:fld id="{E44C1BB5-D3AE-4CC0-B5EF-886510362FCB}" type="slidenum">
              <a:rPr lang="fr-FR" smtClean="0"/>
              <a:t>2</a:t>
            </a:fld>
            <a:endParaRPr lang="fr-FR" dirty="0"/>
          </a:p>
        </p:txBody>
      </p:sp>
      <p:grpSp>
        <p:nvGrpSpPr>
          <p:cNvPr id="5" name="Group 4">
            <a:extLst>
              <a:ext uri="{FF2B5EF4-FFF2-40B4-BE49-F238E27FC236}">
                <a16:creationId xmlns:a16="http://schemas.microsoft.com/office/drawing/2014/main" id="{BB01AADA-19C1-47BD-BB40-B89B70F020DA}"/>
              </a:ext>
            </a:extLst>
          </p:cNvPr>
          <p:cNvGrpSpPr/>
          <p:nvPr/>
        </p:nvGrpSpPr>
        <p:grpSpPr>
          <a:xfrm>
            <a:off x="9829800" y="152400"/>
            <a:ext cx="2170556" cy="457200"/>
            <a:chOff x="1070731" y="4876800"/>
            <a:chExt cx="2170556" cy="457200"/>
          </a:xfrm>
        </p:grpSpPr>
        <p:pic>
          <p:nvPicPr>
            <p:cNvPr id="6" name="Picture 5" descr="A yellow sign with images of people and a book&#10;&#10;Description automatically generated">
              <a:extLst>
                <a:ext uri="{FF2B5EF4-FFF2-40B4-BE49-F238E27FC236}">
                  <a16:creationId xmlns:a16="http://schemas.microsoft.com/office/drawing/2014/main" id="{BEAC9974-8A3A-42E4-AEA2-C448869C45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731" y="4878851"/>
              <a:ext cx="377069" cy="455149"/>
            </a:xfrm>
            <a:prstGeom prst="rect">
              <a:avLst/>
            </a:prstGeom>
          </p:spPr>
        </p:pic>
        <p:pic>
          <p:nvPicPr>
            <p:cNvPr id="7" name="Picture 6">
              <a:extLst>
                <a:ext uri="{FF2B5EF4-FFF2-40B4-BE49-F238E27FC236}">
                  <a16:creationId xmlns:a16="http://schemas.microsoft.com/office/drawing/2014/main" id="{F496F42F-914F-4779-AF9E-22D7CF7FCE5F}"/>
                </a:ext>
              </a:extLst>
            </p:cNvPr>
            <p:cNvPicPr>
              <a:picLocks noChangeAspect="1"/>
            </p:cNvPicPr>
            <p:nvPr/>
          </p:nvPicPr>
          <p:blipFill rotWithShape="1">
            <a:blip r:embed="rId3"/>
            <a:srcRect l="25278" t="57008" r="67210" b="31919"/>
            <a:stretch/>
          </p:blipFill>
          <p:spPr>
            <a:xfrm>
              <a:off x="1600200" y="4876800"/>
              <a:ext cx="582444" cy="457200"/>
            </a:xfrm>
            <a:prstGeom prst="rect">
              <a:avLst/>
            </a:prstGeom>
          </p:spPr>
        </p:pic>
        <p:pic>
          <p:nvPicPr>
            <p:cNvPr id="8" name="Picture 7" descr="PEV RDC - Programme Elargi de Vaccination">
              <a:extLst>
                <a:ext uri="{FF2B5EF4-FFF2-40B4-BE49-F238E27FC236}">
                  <a16:creationId xmlns:a16="http://schemas.microsoft.com/office/drawing/2014/main" id="{A58F2162-6185-4AB1-AD29-8A312BE9229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6949" r="47304"/>
            <a:stretch/>
          </p:blipFill>
          <p:spPr bwMode="auto">
            <a:xfrm>
              <a:off x="2362200" y="4876800"/>
              <a:ext cx="879087" cy="457200"/>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Titre 1">
            <a:extLst>
              <a:ext uri="{FF2B5EF4-FFF2-40B4-BE49-F238E27FC236}">
                <a16:creationId xmlns:a16="http://schemas.microsoft.com/office/drawing/2014/main" id="{01342246-182C-479F-B1B0-51E95207120D}"/>
              </a:ext>
            </a:extLst>
          </p:cNvPr>
          <p:cNvSpPr txBox="1">
            <a:spLocks/>
          </p:cNvSpPr>
          <p:nvPr/>
        </p:nvSpPr>
        <p:spPr>
          <a:xfrm>
            <a:off x="609600" y="381000"/>
            <a:ext cx="10972800" cy="94456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4000" b="1" dirty="0">
                <a:latin typeface="Times New Roman" panose="02020603050405020304" pitchFamily="18" charset="0"/>
                <a:cs typeface="Times New Roman" panose="02020603050405020304" pitchFamily="18" charset="0"/>
              </a:rPr>
              <a:t>Plan </a:t>
            </a:r>
            <a:r>
              <a:rPr lang="fr-FR" b="1" dirty="0">
                <a:latin typeface="Times New Roman" panose="02020603050405020304" pitchFamily="18" charset="0"/>
                <a:cs typeface="Times New Roman" panose="02020603050405020304" pitchFamily="18" charset="0"/>
              </a:rPr>
              <a:t>de</a:t>
            </a:r>
            <a:r>
              <a:rPr lang="fr-FR" sz="4000" b="1" dirty="0">
                <a:latin typeface="Times New Roman" panose="02020603050405020304" pitchFamily="18" charset="0"/>
                <a:cs typeface="Times New Roman" panose="02020603050405020304" pitchFamily="18" charset="0"/>
              </a:rPr>
              <a:t> présentation</a:t>
            </a:r>
          </a:p>
        </p:txBody>
      </p:sp>
    </p:spTree>
    <p:extLst>
      <p:ext uri="{BB962C8B-B14F-4D97-AF65-F5344CB8AC3E}">
        <p14:creationId xmlns:p14="http://schemas.microsoft.com/office/powerpoint/2010/main" val="1931726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61720" y="1792604"/>
            <a:ext cx="10059549" cy="4455796"/>
          </a:xfrm>
        </p:spPr>
        <p:txBody>
          <a:bodyPr>
            <a:normAutofit/>
          </a:bodyPr>
          <a:lstStyle/>
          <a:p>
            <a:pPr marL="0" indent="0" algn="just">
              <a:buNone/>
            </a:pPr>
            <a:r>
              <a:rPr lang="fr-FR" sz="4400" dirty="0">
                <a:latin typeface="Times New Roman" panose="02020603050405020304" pitchFamily="18" charset="0"/>
                <a:cs typeface="Times New Roman" panose="02020603050405020304" pitchFamily="18" charset="0"/>
              </a:rPr>
              <a:t>Objectif général:</a:t>
            </a:r>
          </a:p>
          <a:p>
            <a:pPr marL="0" indent="0">
              <a:buNone/>
            </a:pPr>
            <a:r>
              <a:rPr lang="fr-CD" dirty="0">
                <a:effectLst/>
                <a:latin typeface="Times New Roman" panose="02020603050405020304" pitchFamily="18" charset="0"/>
                <a:ea typeface="Arial Narrow" panose="020B0606020202030204" pitchFamily="34" charset="0"/>
                <a:cs typeface="Times New Roman" panose="02020603050405020304" pitchFamily="18" charset="0"/>
              </a:rPr>
              <a:t>Proposer la mise à jour du cadre institutionnel du programme élargi de vaccination (PEV) en République Démocratique du Congo, pour lui permettre d’assurer efficacement ses missions. </a:t>
            </a:r>
          </a:p>
        </p:txBody>
      </p:sp>
      <p:sp>
        <p:nvSpPr>
          <p:cNvPr id="4" name="Espace réservé du numéro de diapositive 3">
            <a:extLst>
              <a:ext uri="{FF2B5EF4-FFF2-40B4-BE49-F238E27FC236}">
                <a16:creationId xmlns:a16="http://schemas.microsoft.com/office/drawing/2014/main" id="{B7A3CC64-CC89-42AE-88DA-B46A8B753D11}"/>
              </a:ext>
            </a:extLst>
          </p:cNvPr>
          <p:cNvSpPr>
            <a:spLocks noGrp="1"/>
          </p:cNvSpPr>
          <p:nvPr>
            <p:ph type="sldNum" sz="quarter" idx="12"/>
          </p:nvPr>
        </p:nvSpPr>
        <p:spPr>
          <a:xfrm>
            <a:off x="8737600" y="6400799"/>
            <a:ext cx="2844800" cy="365125"/>
          </a:xfrm>
        </p:spPr>
        <p:txBody>
          <a:bodyPr/>
          <a:lstStyle/>
          <a:p>
            <a:fld id="{E44C1BB5-D3AE-4CC0-B5EF-886510362FCB}" type="slidenum">
              <a:rPr lang="fr-FR" smtClean="0"/>
              <a:t>3</a:t>
            </a:fld>
            <a:endParaRPr lang="fr-FR" dirty="0"/>
          </a:p>
        </p:txBody>
      </p:sp>
      <p:grpSp>
        <p:nvGrpSpPr>
          <p:cNvPr id="5" name="Group 4">
            <a:extLst>
              <a:ext uri="{FF2B5EF4-FFF2-40B4-BE49-F238E27FC236}">
                <a16:creationId xmlns:a16="http://schemas.microsoft.com/office/drawing/2014/main" id="{BB01AADA-19C1-47BD-BB40-B89B70F020DA}"/>
              </a:ext>
            </a:extLst>
          </p:cNvPr>
          <p:cNvGrpSpPr/>
          <p:nvPr/>
        </p:nvGrpSpPr>
        <p:grpSpPr>
          <a:xfrm>
            <a:off x="9829800" y="152400"/>
            <a:ext cx="2170556" cy="457200"/>
            <a:chOff x="1070731" y="4876800"/>
            <a:chExt cx="2170556" cy="457200"/>
          </a:xfrm>
        </p:grpSpPr>
        <p:pic>
          <p:nvPicPr>
            <p:cNvPr id="6" name="Picture 5" descr="A yellow sign with images of people and a book&#10;&#10;Description automatically generated">
              <a:extLst>
                <a:ext uri="{FF2B5EF4-FFF2-40B4-BE49-F238E27FC236}">
                  <a16:creationId xmlns:a16="http://schemas.microsoft.com/office/drawing/2014/main" id="{BEAC9974-8A3A-42E4-AEA2-C448869C45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731" y="4878851"/>
              <a:ext cx="377069" cy="455149"/>
            </a:xfrm>
            <a:prstGeom prst="rect">
              <a:avLst/>
            </a:prstGeom>
          </p:spPr>
        </p:pic>
        <p:pic>
          <p:nvPicPr>
            <p:cNvPr id="7" name="Picture 6">
              <a:extLst>
                <a:ext uri="{FF2B5EF4-FFF2-40B4-BE49-F238E27FC236}">
                  <a16:creationId xmlns:a16="http://schemas.microsoft.com/office/drawing/2014/main" id="{F496F42F-914F-4779-AF9E-22D7CF7FCE5F}"/>
                </a:ext>
              </a:extLst>
            </p:cNvPr>
            <p:cNvPicPr>
              <a:picLocks noChangeAspect="1"/>
            </p:cNvPicPr>
            <p:nvPr/>
          </p:nvPicPr>
          <p:blipFill rotWithShape="1">
            <a:blip r:embed="rId3"/>
            <a:srcRect l="25278" t="57008" r="67210" b="31919"/>
            <a:stretch/>
          </p:blipFill>
          <p:spPr>
            <a:xfrm>
              <a:off x="1600200" y="4876800"/>
              <a:ext cx="582444" cy="457200"/>
            </a:xfrm>
            <a:prstGeom prst="rect">
              <a:avLst/>
            </a:prstGeom>
          </p:spPr>
        </p:pic>
        <p:pic>
          <p:nvPicPr>
            <p:cNvPr id="8" name="Picture 7" descr="PEV RDC - Programme Elargi de Vaccination">
              <a:extLst>
                <a:ext uri="{FF2B5EF4-FFF2-40B4-BE49-F238E27FC236}">
                  <a16:creationId xmlns:a16="http://schemas.microsoft.com/office/drawing/2014/main" id="{A58F2162-6185-4AB1-AD29-8A312BE9229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6949" r="47304"/>
            <a:stretch/>
          </p:blipFill>
          <p:spPr bwMode="auto">
            <a:xfrm>
              <a:off x="2362200" y="4876800"/>
              <a:ext cx="879087" cy="457200"/>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Titre 1">
            <a:extLst>
              <a:ext uri="{FF2B5EF4-FFF2-40B4-BE49-F238E27FC236}">
                <a16:creationId xmlns:a16="http://schemas.microsoft.com/office/drawing/2014/main" id="{01342246-182C-479F-B1B0-51E95207120D}"/>
              </a:ext>
            </a:extLst>
          </p:cNvPr>
          <p:cNvSpPr txBox="1">
            <a:spLocks/>
          </p:cNvSpPr>
          <p:nvPr/>
        </p:nvSpPr>
        <p:spPr>
          <a:xfrm>
            <a:off x="0" y="381000"/>
            <a:ext cx="12192000" cy="94456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4000" b="1" dirty="0">
                <a:latin typeface="Times New Roman" panose="02020603050405020304" pitchFamily="18" charset="0"/>
                <a:cs typeface="Times New Roman" panose="02020603050405020304" pitchFamily="18" charset="0"/>
              </a:rPr>
              <a:t>Objectifs</a:t>
            </a:r>
          </a:p>
        </p:txBody>
      </p:sp>
    </p:spTree>
    <p:extLst>
      <p:ext uri="{BB962C8B-B14F-4D97-AF65-F5344CB8AC3E}">
        <p14:creationId xmlns:p14="http://schemas.microsoft.com/office/powerpoint/2010/main" val="3119283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5849E-8919-61C1-B09D-89EA60F2F72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1D98EF1-7DEF-F392-9EE6-8CA335B995B0}"/>
              </a:ext>
            </a:extLst>
          </p:cNvPr>
          <p:cNvSpPr>
            <a:spLocks noGrp="1"/>
          </p:cNvSpPr>
          <p:nvPr>
            <p:ph type="title"/>
          </p:nvPr>
        </p:nvSpPr>
        <p:spPr>
          <a:xfrm>
            <a:off x="609600" y="381000"/>
            <a:ext cx="10972800" cy="819471"/>
          </a:xfrm>
        </p:spPr>
        <p:txBody>
          <a:bodyPr/>
          <a:lstStyle/>
          <a:p>
            <a:r>
              <a:rPr lang="fr-FR" b="1" dirty="0">
                <a:latin typeface="Times New Roman" panose="02020603050405020304" pitchFamily="18" charset="0"/>
                <a:ea typeface="Times New Roman" panose="02020603050405020304" pitchFamily="18" charset="0"/>
              </a:rPr>
              <a:t>Méthodes</a:t>
            </a:r>
            <a:endParaRPr lang="fr-CD" b="1" dirty="0">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320E262F-B950-81F0-E04B-E4BB24E8FD51}"/>
              </a:ext>
            </a:extLst>
          </p:cNvPr>
          <p:cNvSpPr>
            <a:spLocks noGrp="1"/>
          </p:cNvSpPr>
          <p:nvPr>
            <p:ph idx="1"/>
          </p:nvPr>
        </p:nvSpPr>
        <p:spPr>
          <a:xfrm>
            <a:off x="762000" y="1362394"/>
            <a:ext cx="10972800" cy="4862513"/>
          </a:xfrm>
        </p:spPr>
        <p:txBody>
          <a:bodyPr>
            <a:normAutofit lnSpcReduction="10000"/>
          </a:bodyPr>
          <a:lstStyle/>
          <a:p>
            <a:pPr>
              <a:spcBef>
                <a:spcPts val="600"/>
              </a:spcBef>
              <a:spcAft>
                <a:spcPts val="1200"/>
              </a:spcAft>
            </a:pPr>
            <a:r>
              <a:rPr lang="fr-FR" sz="3200" b="1" dirty="0">
                <a:effectLst/>
                <a:latin typeface="Times New Roman" panose="02020603050405020304" pitchFamily="18" charset="0"/>
                <a:ea typeface="Times New Roman" panose="02020603050405020304" pitchFamily="18" charset="0"/>
              </a:rPr>
              <a:t>Etude </a:t>
            </a:r>
            <a:r>
              <a:rPr lang="fr-CD" sz="3200" b="1" dirty="0">
                <a:effectLst/>
                <a:latin typeface="Times New Roman" panose="02020603050405020304" pitchFamily="18" charset="0"/>
                <a:ea typeface="Calibri" panose="020F0502020204030204" pitchFamily="34" charset="0"/>
              </a:rPr>
              <a:t>de cas </a:t>
            </a:r>
            <a:r>
              <a:rPr lang="fr-CD" sz="3200" dirty="0">
                <a:effectLst/>
                <a:latin typeface="Times New Roman" panose="02020603050405020304" pitchFamily="18" charset="0"/>
                <a:ea typeface="Calibri" panose="020F0502020204030204" pitchFamily="34" charset="0"/>
              </a:rPr>
              <a:t>de type exploratoire, utilisant une approche qualitative, menée à </a:t>
            </a:r>
            <a:r>
              <a:rPr lang="fr-FR" kern="100" dirty="0">
                <a:latin typeface="Times New Roman" panose="02020603050405020304" pitchFamily="18" charset="0"/>
                <a:ea typeface="Times New Roman" panose="02020603050405020304" pitchFamily="18" charset="0"/>
                <a:cs typeface="Times New Roman" panose="02020603050405020304" pitchFamily="18" charset="0"/>
              </a:rPr>
              <a:t>Kinshasa et dans 3 provinces sélectionnées au hasard </a:t>
            </a:r>
            <a:r>
              <a:rPr lang="fr-FR" kern="100" dirty="0">
                <a:latin typeface="Times New Roman" panose="02020603050405020304" pitchFamily="18" charset="0"/>
                <a:cs typeface="Times New Roman" panose="02020603050405020304" pitchFamily="18" charset="0"/>
              </a:rPr>
              <a:t>(Haut </a:t>
            </a:r>
            <a:r>
              <a:rPr lang="fr-FR" kern="100" dirty="0" err="1">
                <a:latin typeface="Times New Roman" panose="02020603050405020304" pitchFamily="18" charset="0"/>
                <a:cs typeface="Times New Roman" panose="02020603050405020304" pitchFamily="18" charset="0"/>
              </a:rPr>
              <a:t>Lomami</a:t>
            </a:r>
            <a:r>
              <a:rPr lang="fr-FR" kern="100" dirty="0">
                <a:latin typeface="Times New Roman" panose="02020603050405020304" pitchFamily="18" charset="0"/>
                <a:cs typeface="Times New Roman" panose="02020603050405020304" pitchFamily="18" charset="0"/>
              </a:rPr>
              <a:t>, Kasaï central, </a:t>
            </a:r>
            <a:r>
              <a:rPr lang="fr-FR" kern="100" dirty="0" err="1">
                <a:latin typeface="Times New Roman" panose="02020603050405020304" pitchFamily="18" charset="0"/>
                <a:cs typeface="Times New Roman" panose="02020603050405020304" pitchFamily="18" charset="0"/>
              </a:rPr>
              <a:t>Mongala</a:t>
            </a:r>
            <a:r>
              <a:rPr lang="fr-FR" kern="100" dirty="0">
                <a:latin typeface="Times New Roman" panose="02020603050405020304" pitchFamily="18" charset="0"/>
                <a:cs typeface="Times New Roman" panose="02020603050405020304" pitchFamily="18" charset="0"/>
              </a:rPr>
              <a:t>) </a:t>
            </a:r>
          </a:p>
          <a:p>
            <a:pPr>
              <a:spcBef>
                <a:spcPts val="600"/>
              </a:spcBef>
              <a:spcAft>
                <a:spcPts val="1200"/>
              </a:spcAft>
            </a:pPr>
            <a:r>
              <a:rPr lang="fr-FR" sz="3200" b="1" kern="100" dirty="0">
                <a:effectLst/>
                <a:latin typeface="Times New Roman" panose="02020603050405020304" pitchFamily="18" charset="0"/>
                <a:ea typeface="Times New Roman" panose="02020603050405020304" pitchFamily="18" charset="0"/>
                <a:cs typeface="Times New Roman" panose="02020603050405020304" pitchFamily="18" charset="0"/>
              </a:rPr>
              <a:t>Participants identifiés </a:t>
            </a:r>
            <a:r>
              <a:rPr lang="fr-FR" sz="3200" kern="100" dirty="0">
                <a:effectLst/>
                <a:latin typeface="Times New Roman" panose="02020603050405020304" pitchFamily="18" charset="0"/>
                <a:ea typeface="Times New Roman" panose="02020603050405020304" pitchFamily="18" charset="0"/>
                <a:cs typeface="Times New Roman" panose="02020603050405020304" pitchFamily="18" charset="0"/>
              </a:rPr>
              <a:t>par sélection empirique en tant que</a:t>
            </a:r>
            <a:r>
              <a:rPr lang="fr-FR" kern="100" dirty="0">
                <a:latin typeface="Times New Roman" panose="02020603050405020304" pitchFamily="18" charset="0"/>
                <a:ea typeface="Times New Roman" panose="02020603050405020304" pitchFamily="18" charset="0"/>
                <a:cs typeface="Times New Roman" panose="02020603050405020304" pitchFamily="18" charset="0"/>
              </a:rPr>
              <a:t> « </a:t>
            </a:r>
            <a:r>
              <a:rPr lang="fr-FR" sz="3200" kern="100" dirty="0">
                <a:effectLst/>
                <a:latin typeface="Times New Roman" panose="02020603050405020304" pitchFamily="18" charset="0"/>
                <a:ea typeface="Times New Roman" panose="02020603050405020304" pitchFamily="18" charset="0"/>
                <a:cs typeface="Times New Roman" panose="02020603050405020304" pitchFamily="18" charset="0"/>
              </a:rPr>
              <a:t>informateurs clés »; pour </a:t>
            </a:r>
            <a:r>
              <a:rPr lang="fr-CD" b="1" kern="100" dirty="0">
                <a:latin typeface="Times New Roman" panose="02020603050405020304" pitchFamily="18" charset="0"/>
                <a:cs typeface="Times New Roman" panose="02020603050405020304" pitchFamily="18" charset="0"/>
              </a:rPr>
              <a:t>74 interviews réalisées</a:t>
            </a:r>
          </a:p>
          <a:p>
            <a:pPr>
              <a:spcBef>
                <a:spcPts val="0"/>
              </a:spcBef>
              <a:spcAft>
                <a:spcPts val="1200"/>
              </a:spcAft>
            </a:pPr>
            <a:r>
              <a:rPr lang="fr-FR" b="1" dirty="0">
                <a:latin typeface="Times New Roman" panose="02020603050405020304" pitchFamily="18" charset="0"/>
                <a:ea typeface="Calibri" panose="020F0502020204030204" pitchFamily="34" charset="0"/>
              </a:rPr>
              <a:t>Techniques et outils de collecte des données: </a:t>
            </a:r>
            <a:r>
              <a:rPr lang="fr-FR" dirty="0">
                <a:latin typeface="Times New Roman" panose="02020603050405020304" pitchFamily="18" charset="0"/>
                <a:ea typeface="Calibri" panose="020F0502020204030204" pitchFamily="34" charset="0"/>
              </a:rPr>
              <a:t>Revue documentaire, Observation directe, Questionnaire PICAL, Entretiens individuels, </a:t>
            </a:r>
            <a:r>
              <a:rPr lang="fr-CD" dirty="0">
                <a:latin typeface="Times New Roman" panose="02020603050405020304" pitchFamily="18" charset="0"/>
                <a:ea typeface="Calibri" panose="020F0502020204030204" pitchFamily="34" charset="0"/>
              </a:rPr>
              <a:t>Focus group. </a:t>
            </a:r>
            <a:r>
              <a:rPr lang="fr-FR" dirty="0">
                <a:latin typeface="Times New Roman" panose="02020603050405020304" pitchFamily="18" charset="0"/>
                <a:ea typeface="Calibri" panose="020F0502020204030204" pitchFamily="34" charset="0"/>
              </a:rPr>
              <a:t>  </a:t>
            </a:r>
          </a:p>
          <a:p>
            <a:r>
              <a:rPr lang="fr-FR" sz="2800" b="1" dirty="0">
                <a:latin typeface="Times New Roman" panose="02020603050405020304" pitchFamily="18" charset="0"/>
                <a:ea typeface="Calibri" panose="020F0502020204030204" pitchFamily="34" charset="0"/>
              </a:rPr>
              <a:t>Analyses </a:t>
            </a:r>
            <a:r>
              <a:rPr lang="fr-FR" sz="2800" dirty="0">
                <a:latin typeface="Times New Roman" panose="02020603050405020304" pitchFamily="18" charset="0"/>
                <a:ea typeface="Calibri" panose="020F0502020204030204" pitchFamily="34" charset="0"/>
              </a:rPr>
              <a:t>des transcriptions avec le logiciel </a:t>
            </a:r>
            <a:r>
              <a:rPr lang="fr-FR" sz="2800" b="1" dirty="0" err="1">
                <a:latin typeface="Times New Roman" panose="02020603050405020304" pitchFamily="18" charset="0"/>
                <a:ea typeface="Calibri" panose="020F0502020204030204" pitchFamily="34" charset="0"/>
              </a:rPr>
              <a:t>NVivo</a:t>
            </a:r>
            <a:endParaRPr lang="fr-FR" sz="2800" b="1" dirty="0">
              <a:latin typeface="Times New Roman" panose="02020603050405020304" pitchFamily="18" charset="0"/>
              <a:ea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ECA60992-7E74-C6C0-EBC5-309090AE88F4}"/>
              </a:ext>
            </a:extLst>
          </p:cNvPr>
          <p:cNvSpPr>
            <a:spLocks noGrp="1"/>
          </p:cNvSpPr>
          <p:nvPr>
            <p:ph type="sldNum" sz="quarter" idx="12"/>
          </p:nvPr>
        </p:nvSpPr>
        <p:spPr/>
        <p:txBody>
          <a:bodyPr/>
          <a:lstStyle/>
          <a:p>
            <a:fld id="{E44C1BB5-D3AE-4CC0-B5EF-886510362FCB}" type="slidenum">
              <a:rPr lang="fr-FR" smtClean="0"/>
              <a:t>4</a:t>
            </a:fld>
            <a:endParaRPr lang="fr-FR"/>
          </a:p>
        </p:txBody>
      </p:sp>
    </p:spTree>
    <p:extLst>
      <p:ext uri="{BB962C8B-B14F-4D97-AF65-F5344CB8AC3E}">
        <p14:creationId xmlns:p14="http://schemas.microsoft.com/office/powerpoint/2010/main" val="544245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081AD-74A7-119A-BC6E-8F9C21AA5D9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B3347B7-A816-6E01-2E00-3F12AF522A5B}"/>
              </a:ext>
            </a:extLst>
          </p:cNvPr>
          <p:cNvSpPr>
            <a:spLocks noGrp="1"/>
          </p:cNvSpPr>
          <p:nvPr>
            <p:ph type="ctrTitle"/>
          </p:nvPr>
        </p:nvSpPr>
        <p:spPr>
          <a:xfrm>
            <a:off x="1143000" y="1981200"/>
            <a:ext cx="10439399" cy="1447800"/>
          </a:xfrm>
        </p:spPr>
        <p:txBody>
          <a:bodyPr>
            <a:noAutofit/>
          </a:bodyPr>
          <a:lstStyle/>
          <a:p>
            <a:r>
              <a:rPr lang="fr-FR" sz="6000" b="1" dirty="0">
                <a:latin typeface="Times New Roman" panose="02020603050405020304" pitchFamily="18" charset="0"/>
                <a:cs typeface="Times New Roman" panose="02020603050405020304" pitchFamily="18" charset="0"/>
              </a:rPr>
              <a:t>Principaux</a:t>
            </a:r>
            <a:r>
              <a:rPr lang="fr-FR" sz="6600" b="1" dirty="0">
                <a:latin typeface="Times New Roman" panose="02020603050405020304" pitchFamily="18" charset="0"/>
                <a:cs typeface="Times New Roman" panose="02020603050405020304" pitchFamily="18" charset="0"/>
              </a:rPr>
              <a:t> résultats</a:t>
            </a:r>
          </a:p>
        </p:txBody>
      </p:sp>
      <p:sp>
        <p:nvSpPr>
          <p:cNvPr id="4" name="Espace réservé du numéro de diapositive 3">
            <a:extLst>
              <a:ext uri="{FF2B5EF4-FFF2-40B4-BE49-F238E27FC236}">
                <a16:creationId xmlns:a16="http://schemas.microsoft.com/office/drawing/2014/main" id="{B2428073-880E-081B-4364-41417869298E}"/>
              </a:ext>
            </a:extLst>
          </p:cNvPr>
          <p:cNvSpPr>
            <a:spLocks noGrp="1"/>
          </p:cNvSpPr>
          <p:nvPr>
            <p:ph type="sldNum" sz="quarter" idx="12"/>
          </p:nvPr>
        </p:nvSpPr>
        <p:spPr/>
        <p:txBody>
          <a:bodyPr/>
          <a:lstStyle/>
          <a:p>
            <a:fld id="{E44C1BB5-D3AE-4CC0-B5EF-886510362FCB}" type="slidenum">
              <a:rPr lang="fr-FR" smtClean="0"/>
              <a:t>5</a:t>
            </a:fld>
            <a:endParaRPr lang="fr-FR"/>
          </a:p>
        </p:txBody>
      </p:sp>
      <p:grpSp>
        <p:nvGrpSpPr>
          <p:cNvPr id="5" name="Group 4">
            <a:extLst>
              <a:ext uri="{FF2B5EF4-FFF2-40B4-BE49-F238E27FC236}">
                <a16:creationId xmlns:a16="http://schemas.microsoft.com/office/drawing/2014/main" id="{AC8DB7C7-AFDA-FC83-1AEE-08677BE3FE3E}"/>
              </a:ext>
            </a:extLst>
          </p:cNvPr>
          <p:cNvGrpSpPr/>
          <p:nvPr/>
        </p:nvGrpSpPr>
        <p:grpSpPr>
          <a:xfrm>
            <a:off x="9829800" y="152400"/>
            <a:ext cx="2170556" cy="457200"/>
            <a:chOff x="1070731" y="4876800"/>
            <a:chExt cx="2170556" cy="457200"/>
          </a:xfrm>
        </p:grpSpPr>
        <p:pic>
          <p:nvPicPr>
            <p:cNvPr id="6" name="Picture 5" descr="A yellow sign with images of people and a book&#10;&#10;Description automatically generated">
              <a:extLst>
                <a:ext uri="{FF2B5EF4-FFF2-40B4-BE49-F238E27FC236}">
                  <a16:creationId xmlns:a16="http://schemas.microsoft.com/office/drawing/2014/main" id="{B2786AB0-0E26-E704-0C14-8DC084EC7D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731" y="4878851"/>
              <a:ext cx="377069" cy="455149"/>
            </a:xfrm>
            <a:prstGeom prst="rect">
              <a:avLst/>
            </a:prstGeom>
          </p:spPr>
        </p:pic>
        <p:pic>
          <p:nvPicPr>
            <p:cNvPr id="7" name="Picture 6">
              <a:extLst>
                <a:ext uri="{FF2B5EF4-FFF2-40B4-BE49-F238E27FC236}">
                  <a16:creationId xmlns:a16="http://schemas.microsoft.com/office/drawing/2014/main" id="{0F0E327F-E8A1-A3DF-A4FF-A5B61A8DDB49}"/>
                </a:ext>
              </a:extLst>
            </p:cNvPr>
            <p:cNvPicPr>
              <a:picLocks noChangeAspect="1"/>
            </p:cNvPicPr>
            <p:nvPr/>
          </p:nvPicPr>
          <p:blipFill rotWithShape="1">
            <a:blip r:embed="rId3"/>
            <a:srcRect l="25278" t="57008" r="67210" b="31919"/>
            <a:stretch/>
          </p:blipFill>
          <p:spPr>
            <a:xfrm>
              <a:off x="1600200" y="4876800"/>
              <a:ext cx="582444" cy="457200"/>
            </a:xfrm>
            <a:prstGeom prst="rect">
              <a:avLst/>
            </a:prstGeom>
          </p:spPr>
        </p:pic>
        <p:pic>
          <p:nvPicPr>
            <p:cNvPr id="8" name="Picture 7" descr="PEV RDC - Programme Elargi de Vaccination">
              <a:extLst>
                <a:ext uri="{FF2B5EF4-FFF2-40B4-BE49-F238E27FC236}">
                  <a16:creationId xmlns:a16="http://schemas.microsoft.com/office/drawing/2014/main" id="{999ECB93-B93C-390A-6C73-E418BC008A2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6949" r="47304"/>
            <a:stretch/>
          </p:blipFill>
          <p:spPr bwMode="auto">
            <a:xfrm>
              <a:off x="2362200" y="4876800"/>
              <a:ext cx="879087" cy="457200"/>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ZoneTexte 2">
            <a:extLst>
              <a:ext uri="{FF2B5EF4-FFF2-40B4-BE49-F238E27FC236}">
                <a16:creationId xmlns:a16="http://schemas.microsoft.com/office/drawing/2014/main" id="{515078F9-94FB-A10A-184C-1449C3B0F157}"/>
              </a:ext>
            </a:extLst>
          </p:cNvPr>
          <p:cNvSpPr txBox="1"/>
          <p:nvPr/>
        </p:nvSpPr>
        <p:spPr>
          <a:xfrm>
            <a:off x="2768600" y="3429000"/>
            <a:ext cx="8691880" cy="1723549"/>
          </a:xfrm>
          <a:prstGeom prst="rect">
            <a:avLst/>
          </a:prstGeom>
          <a:noFill/>
        </p:spPr>
        <p:txBody>
          <a:bodyPr wrap="square" rtlCol="0">
            <a:spAutoFit/>
          </a:bodyPr>
          <a:lstStyle/>
          <a:p>
            <a:pPr marL="457200" indent="-457200">
              <a:spcAft>
                <a:spcPts val="1200"/>
              </a:spcAft>
              <a:buFont typeface="Arial" panose="020B0604020202020204" pitchFamily="34" charset="0"/>
              <a:buChar char="•"/>
            </a:pPr>
            <a:r>
              <a:rPr lang="fr-FR" sz="3200" b="1" dirty="0">
                <a:latin typeface="Times New Roman" panose="02020603050405020304" pitchFamily="18" charset="0"/>
                <a:cs typeface="Times New Roman" panose="02020603050405020304" pitchFamily="18" charset="0"/>
              </a:rPr>
              <a:t>Analyse du cadre organique </a:t>
            </a:r>
          </a:p>
          <a:p>
            <a:pPr marL="457200" indent="-457200">
              <a:spcAft>
                <a:spcPts val="1200"/>
              </a:spcAft>
              <a:buFont typeface="Arial" panose="020B0604020202020204" pitchFamily="34" charset="0"/>
              <a:buChar char="•"/>
            </a:pPr>
            <a:r>
              <a:rPr lang="fr-FR" sz="3200" b="1" dirty="0">
                <a:latin typeface="Times New Roman" panose="02020603050405020304" pitchFamily="18" charset="0"/>
                <a:cs typeface="Times New Roman" panose="02020603050405020304" pitchFamily="18" charset="0"/>
              </a:rPr>
              <a:t>Analyse des capacités organisationnelles et fonctionnelles</a:t>
            </a:r>
            <a:endParaRPr lang="fr-FR" sz="3200" dirty="0"/>
          </a:p>
        </p:txBody>
      </p:sp>
    </p:spTree>
    <p:extLst>
      <p:ext uri="{BB962C8B-B14F-4D97-AF65-F5344CB8AC3E}">
        <p14:creationId xmlns:p14="http://schemas.microsoft.com/office/powerpoint/2010/main" val="3079015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A1BC40-89EC-8949-855A-B0087DDD8020}"/>
              </a:ext>
            </a:extLst>
          </p:cNvPr>
          <p:cNvSpPr>
            <a:spLocks noGrp="1"/>
          </p:cNvSpPr>
          <p:nvPr>
            <p:ph type="title"/>
          </p:nvPr>
        </p:nvSpPr>
        <p:spPr>
          <a:xfrm>
            <a:off x="594360" y="304800"/>
            <a:ext cx="10972800" cy="793116"/>
          </a:xfrm>
        </p:spPr>
        <p:txBody>
          <a:bodyPr>
            <a:normAutofit/>
          </a:bodyPr>
          <a:lstStyle/>
          <a:p>
            <a:r>
              <a:rPr lang="fr-FR" dirty="0"/>
              <a:t>Des fondements juridiques et légaux solides</a:t>
            </a:r>
          </a:p>
        </p:txBody>
      </p:sp>
      <p:sp>
        <p:nvSpPr>
          <p:cNvPr id="3" name="Espace réservé du contenu 2">
            <a:extLst>
              <a:ext uri="{FF2B5EF4-FFF2-40B4-BE49-F238E27FC236}">
                <a16:creationId xmlns:a16="http://schemas.microsoft.com/office/drawing/2014/main" id="{930AEAEF-C139-7A39-E15B-C99E02CD684D}"/>
              </a:ext>
            </a:extLst>
          </p:cNvPr>
          <p:cNvSpPr>
            <a:spLocks noGrp="1"/>
          </p:cNvSpPr>
          <p:nvPr>
            <p:ph idx="1"/>
          </p:nvPr>
        </p:nvSpPr>
        <p:spPr>
          <a:xfrm>
            <a:off x="609600" y="1447800"/>
            <a:ext cx="10972800" cy="5013325"/>
          </a:xfrm>
        </p:spPr>
        <p:txBody>
          <a:bodyPr>
            <a:normAutofit/>
          </a:bodyPr>
          <a:lstStyle/>
          <a:p>
            <a:pPr>
              <a:spcAft>
                <a:spcPts val="1200"/>
              </a:spcAft>
            </a:pPr>
            <a:r>
              <a:rPr lang="fr-FR" dirty="0"/>
              <a:t>Arrêté départemental N° BUR/CE/SP/0033/88 DU 12 Octobre </a:t>
            </a:r>
            <a:r>
              <a:rPr lang="fr-FR" b="1" dirty="0"/>
              <a:t>1988</a:t>
            </a:r>
            <a:r>
              <a:rPr lang="fr-FR" dirty="0"/>
              <a:t> portant organisation et fonctionnement du « PEV/LMTE »</a:t>
            </a:r>
          </a:p>
          <a:p>
            <a:pPr>
              <a:spcAft>
                <a:spcPts val="1200"/>
              </a:spcAft>
            </a:pPr>
            <a:r>
              <a:rPr lang="fr-FR" dirty="0"/>
              <a:t>Arrêté N° CABMIN/FP/JMK/PPJ/</a:t>
            </a:r>
            <a:r>
              <a:rPr lang="fr-FR" b="1" dirty="0"/>
              <a:t>044</a:t>
            </a:r>
            <a:r>
              <a:rPr lang="fr-FR" dirty="0"/>
              <a:t>/2003 du 28 Mars </a:t>
            </a:r>
            <a:r>
              <a:rPr lang="fr-FR" b="1" dirty="0"/>
              <a:t>2003</a:t>
            </a:r>
            <a:r>
              <a:rPr lang="fr-FR" dirty="0"/>
              <a:t> portant agrément provisoire du Cadre et des structures organiques du Ministère de la Santé</a:t>
            </a:r>
          </a:p>
          <a:p>
            <a:pPr>
              <a:spcAft>
                <a:spcPts val="1200"/>
              </a:spcAft>
            </a:pPr>
            <a:r>
              <a:rPr lang="fr-FR" dirty="0"/>
              <a:t>Loi N° 18/035 du 13 </a:t>
            </a:r>
            <a:r>
              <a:rPr lang="fr-FR" b="1" dirty="0"/>
              <a:t>Décembre 2018 </a:t>
            </a:r>
            <a:r>
              <a:rPr lang="fr-FR" dirty="0"/>
              <a:t>fixant les principes fondamentaux relatifs à l’organisation de la Santé Publique; dans son Titre IV dédié à la vaccination</a:t>
            </a:r>
          </a:p>
        </p:txBody>
      </p:sp>
      <p:sp>
        <p:nvSpPr>
          <p:cNvPr id="4" name="Espace réservé du numéro de diapositive 3">
            <a:extLst>
              <a:ext uri="{FF2B5EF4-FFF2-40B4-BE49-F238E27FC236}">
                <a16:creationId xmlns:a16="http://schemas.microsoft.com/office/drawing/2014/main" id="{5FD862AF-FEA4-CBBE-9C95-FB0571881BDA}"/>
              </a:ext>
            </a:extLst>
          </p:cNvPr>
          <p:cNvSpPr>
            <a:spLocks noGrp="1"/>
          </p:cNvSpPr>
          <p:nvPr>
            <p:ph type="sldNum" sz="quarter" idx="12"/>
          </p:nvPr>
        </p:nvSpPr>
        <p:spPr/>
        <p:txBody>
          <a:bodyPr/>
          <a:lstStyle/>
          <a:p>
            <a:fld id="{E44C1BB5-D3AE-4CC0-B5EF-886510362FCB}" type="slidenum">
              <a:rPr lang="fr-FR" smtClean="0"/>
              <a:t>6</a:t>
            </a:fld>
            <a:endParaRPr lang="fr-FR"/>
          </a:p>
        </p:txBody>
      </p:sp>
    </p:spTree>
    <p:extLst>
      <p:ext uri="{BB962C8B-B14F-4D97-AF65-F5344CB8AC3E}">
        <p14:creationId xmlns:p14="http://schemas.microsoft.com/office/powerpoint/2010/main" val="450883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F52317-DF54-4BC9-C10D-4679745FEC23}"/>
              </a:ext>
            </a:extLst>
          </p:cNvPr>
          <p:cNvSpPr>
            <a:spLocks noGrp="1"/>
          </p:cNvSpPr>
          <p:nvPr>
            <p:ph type="title"/>
          </p:nvPr>
        </p:nvSpPr>
        <p:spPr>
          <a:xfrm>
            <a:off x="609600" y="136524"/>
            <a:ext cx="10972800" cy="1143000"/>
          </a:xfrm>
        </p:spPr>
        <p:txBody>
          <a:bodyPr/>
          <a:lstStyle/>
          <a:p>
            <a:r>
              <a:rPr lang="fr-FR" b="1" dirty="0"/>
              <a:t>Un Organigramme dépassé </a:t>
            </a:r>
          </a:p>
        </p:txBody>
      </p:sp>
      <p:sp>
        <p:nvSpPr>
          <p:cNvPr id="4" name="Espace réservé du numéro de diapositive 3">
            <a:extLst>
              <a:ext uri="{FF2B5EF4-FFF2-40B4-BE49-F238E27FC236}">
                <a16:creationId xmlns:a16="http://schemas.microsoft.com/office/drawing/2014/main" id="{8874FB88-D550-5A01-93F4-67D11F9373D6}"/>
              </a:ext>
            </a:extLst>
          </p:cNvPr>
          <p:cNvSpPr>
            <a:spLocks noGrp="1"/>
          </p:cNvSpPr>
          <p:nvPr>
            <p:ph type="sldNum" sz="quarter" idx="12"/>
          </p:nvPr>
        </p:nvSpPr>
        <p:spPr/>
        <p:txBody>
          <a:bodyPr/>
          <a:lstStyle/>
          <a:p>
            <a:fld id="{E44C1BB5-D3AE-4CC0-B5EF-886510362FCB}" type="slidenum">
              <a:rPr lang="fr-FR" smtClean="0"/>
              <a:t>7</a:t>
            </a:fld>
            <a:endParaRPr lang="fr-FR"/>
          </a:p>
        </p:txBody>
      </p:sp>
      <p:sp>
        <p:nvSpPr>
          <p:cNvPr id="7" name="Espace réservé du contenu 6">
            <a:extLst>
              <a:ext uri="{FF2B5EF4-FFF2-40B4-BE49-F238E27FC236}">
                <a16:creationId xmlns:a16="http://schemas.microsoft.com/office/drawing/2014/main" id="{987B0614-5340-C60E-B59B-DC826171C68A}"/>
              </a:ext>
            </a:extLst>
          </p:cNvPr>
          <p:cNvSpPr>
            <a:spLocks noGrp="1"/>
          </p:cNvSpPr>
          <p:nvPr>
            <p:ph idx="1"/>
          </p:nvPr>
        </p:nvSpPr>
        <p:spPr>
          <a:xfrm>
            <a:off x="640080" y="1127441"/>
            <a:ext cx="10972800" cy="5349876"/>
          </a:xfrm>
        </p:spPr>
        <p:txBody>
          <a:bodyPr>
            <a:normAutofit/>
          </a:bodyPr>
          <a:lstStyle/>
          <a:p>
            <a:pPr marL="285750" indent="-285750">
              <a:spcAft>
                <a:spcPts val="600"/>
              </a:spcAft>
              <a:buFont typeface="Arial" panose="020B0604020202020204" pitchFamily="34" charset="0"/>
              <a:buChar char="•"/>
            </a:pPr>
            <a:r>
              <a:rPr lang="fr-FR" sz="3200" kern="0" dirty="0">
                <a:latin typeface="Arial" panose="020B0604020202020204" pitchFamily="34" charset="0"/>
                <a:ea typeface="Calibri" panose="020F0502020204030204" pitchFamily="34" charset="0"/>
                <a:cs typeface="Arial" panose="020B0604020202020204" pitchFamily="34" charset="0"/>
              </a:rPr>
              <a:t>Basé sur le Cadre organique de 2003</a:t>
            </a:r>
          </a:p>
          <a:p>
            <a:pPr marL="285750" indent="-285750">
              <a:spcAft>
                <a:spcPts val="600"/>
              </a:spcAft>
              <a:buFont typeface="Arial" panose="020B0604020202020204" pitchFamily="34" charset="0"/>
              <a:buChar char="•"/>
            </a:pPr>
            <a:r>
              <a:rPr lang="fr-FR" kern="0" dirty="0">
                <a:latin typeface="Arial" panose="020B0604020202020204" pitchFamily="34" charset="0"/>
                <a:ea typeface="Calibri" panose="020F0502020204030204" pitchFamily="34" charset="0"/>
                <a:cs typeface="Arial" panose="020B0604020202020204" pitchFamily="34" charset="0"/>
              </a:rPr>
              <a:t>Elaboré en 2009, avec un répertoire de descriptions de poste</a:t>
            </a:r>
            <a:endParaRPr lang="fr-FR" sz="3200" kern="0" dirty="0">
              <a:latin typeface="Arial" panose="020B0604020202020204" pitchFamily="34" charset="0"/>
              <a:ea typeface="Calibri" panose="020F0502020204030204" pitchFamily="34" charset="0"/>
              <a:cs typeface="Arial" panose="020B0604020202020204" pitchFamily="34" charset="0"/>
            </a:endParaRPr>
          </a:p>
          <a:p>
            <a:pPr marL="285750" indent="-285750">
              <a:spcAft>
                <a:spcPts val="600"/>
              </a:spcAft>
              <a:buFont typeface="Arial" panose="020B0604020202020204" pitchFamily="34" charset="0"/>
              <a:buChar char="•"/>
            </a:pPr>
            <a:r>
              <a:rPr lang="fr-FR" sz="3200" kern="0" dirty="0">
                <a:latin typeface="Arial" panose="020B0604020202020204" pitchFamily="34" charset="0"/>
                <a:ea typeface="Calibri" panose="020F0502020204030204" pitchFamily="34" charset="0"/>
                <a:cs typeface="Arial" panose="020B0604020202020204" pitchFamily="34" charset="0"/>
              </a:rPr>
              <a:t>Structure organisée en 4 Divisions et une déclinaison de 18 Services et 45 Sections, en plus du Directeur et du Directeur Adjoint </a:t>
            </a:r>
          </a:p>
          <a:p>
            <a:pPr marL="285750" indent="-285750">
              <a:spcAft>
                <a:spcPts val="600"/>
              </a:spcAft>
              <a:buFont typeface="Arial" panose="020B0604020202020204" pitchFamily="34" charset="0"/>
              <a:buChar char="•"/>
            </a:pPr>
            <a:r>
              <a:rPr lang="fr-FR" sz="3200" kern="0" dirty="0">
                <a:latin typeface="Arial" panose="020B0604020202020204" pitchFamily="34" charset="0"/>
                <a:ea typeface="Calibri" panose="020F0502020204030204" pitchFamily="34" charset="0"/>
                <a:cs typeface="Arial" panose="020B0604020202020204" pitchFamily="34" charset="0"/>
              </a:rPr>
              <a:t>Structure avec </a:t>
            </a:r>
            <a:r>
              <a:rPr lang="fr-FR" sz="3200" kern="0" dirty="0">
                <a:effectLst/>
                <a:latin typeface="Arial" panose="020B0604020202020204" pitchFamily="34" charset="0"/>
                <a:ea typeface="Calibri" panose="020F0502020204030204" pitchFamily="34" charset="0"/>
                <a:cs typeface="Arial" panose="020B0604020202020204" pitchFamily="34" charset="0"/>
              </a:rPr>
              <a:t>un effectif de </a:t>
            </a:r>
            <a:r>
              <a:rPr lang="fr-FR" sz="3200" dirty="0">
                <a:latin typeface="Arial" panose="020B0604020202020204" pitchFamily="34" charset="0"/>
                <a:cs typeface="Arial" panose="020B0604020202020204" pitchFamily="34" charset="0"/>
              </a:rPr>
              <a:t>242 agents sur la liste déclarative en début 2025</a:t>
            </a:r>
          </a:p>
          <a:p>
            <a:pPr marL="285750" indent="-285750">
              <a:spcAft>
                <a:spcPts val="600"/>
              </a:spcAft>
              <a:buFont typeface="Arial" panose="020B0604020202020204" pitchFamily="34" charset="0"/>
              <a:buChar char="•"/>
            </a:pPr>
            <a:r>
              <a:rPr lang="fr-FR" dirty="0">
                <a:latin typeface="Arial" panose="020B0604020202020204" pitchFamily="34" charset="0"/>
                <a:cs typeface="Arial" panose="020B0604020202020204" pitchFamily="34" charset="0"/>
              </a:rPr>
              <a:t>Il s’agit donc d’une structure actuellement </a:t>
            </a:r>
            <a:r>
              <a:rPr lang="fr-FR" sz="3200" dirty="0">
                <a:latin typeface="Arial" panose="020B0604020202020204" pitchFamily="34" charset="0"/>
                <a:cs typeface="Arial" panose="020B0604020202020204" pitchFamily="34" charset="0"/>
              </a:rPr>
              <a:t>désuète </a:t>
            </a:r>
          </a:p>
          <a:p>
            <a:endParaRPr lang="fr-FR" dirty="0"/>
          </a:p>
        </p:txBody>
      </p:sp>
    </p:spTree>
    <p:extLst>
      <p:ext uri="{BB962C8B-B14F-4D97-AF65-F5344CB8AC3E}">
        <p14:creationId xmlns:p14="http://schemas.microsoft.com/office/powerpoint/2010/main" val="2652018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1E56C2-D7C2-001F-45C3-7198385DD4FD}"/>
              </a:ext>
            </a:extLst>
          </p:cNvPr>
          <p:cNvSpPr>
            <a:spLocks noGrp="1"/>
          </p:cNvSpPr>
          <p:nvPr>
            <p:ph type="title"/>
          </p:nvPr>
        </p:nvSpPr>
        <p:spPr>
          <a:xfrm>
            <a:off x="609600" y="274638"/>
            <a:ext cx="10972800" cy="792162"/>
          </a:xfrm>
        </p:spPr>
        <p:txBody>
          <a:bodyPr>
            <a:normAutofit/>
          </a:bodyPr>
          <a:lstStyle/>
          <a:p>
            <a:r>
              <a:rPr lang="fr-FR" b="1" dirty="0"/>
              <a:t>Distribution des effectifs</a:t>
            </a:r>
          </a:p>
        </p:txBody>
      </p:sp>
      <p:sp>
        <p:nvSpPr>
          <p:cNvPr id="3" name="Espace réservé du contenu 2">
            <a:extLst>
              <a:ext uri="{FF2B5EF4-FFF2-40B4-BE49-F238E27FC236}">
                <a16:creationId xmlns:a16="http://schemas.microsoft.com/office/drawing/2014/main" id="{B39A4CA2-34D3-004B-0A93-F62417F74ACF}"/>
              </a:ext>
            </a:extLst>
          </p:cNvPr>
          <p:cNvSpPr>
            <a:spLocks noGrp="1"/>
          </p:cNvSpPr>
          <p:nvPr>
            <p:ph idx="1"/>
          </p:nvPr>
        </p:nvSpPr>
        <p:spPr/>
        <p:txBody>
          <a:bodyPr/>
          <a:lstStyle/>
          <a:p>
            <a:pPr marL="0" indent="0">
              <a:buNone/>
            </a:pPr>
            <a:endParaRPr lang="fr-FR" sz="3200" kern="0" dirty="0">
              <a:effectLst/>
              <a:latin typeface="Arial" panose="020B0604020202020204" pitchFamily="34" charset="0"/>
              <a:ea typeface="Calibri" panose="020F0502020204030204" pitchFamily="34" charset="0"/>
            </a:endParaRPr>
          </a:p>
          <a:p>
            <a:pPr marL="0" indent="0">
              <a:buNone/>
            </a:pPr>
            <a:endParaRPr lang="fr-FR" dirty="0"/>
          </a:p>
        </p:txBody>
      </p:sp>
      <p:sp>
        <p:nvSpPr>
          <p:cNvPr id="4" name="Espace réservé du numéro de diapositive 3">
            <a:extLst>
              <a:ext uri="{FF2B5EF4-FFF2-40B4-BE49-F238E27FC236}">
                <a16:creationId xmlns:a16="http://schemas.microsoft.com/office/drawing/2014/main" id="{D5BD0901-A64B-FBE2-CE31-288369D6BC88}"/>
              </a:ext>
            </a:extLst>
          </p:cNvPr>
          <p:cNvSpPr>
            <a:spLocks noGrp="1"/>
          </p:cNvSpPr>
          <p:nvPr>
            <p:ph type="sldNum" sz="quarter" idx="12"/>
          </p:nvPr>
        </p:nvSpPr>
        <p:spPr/>
        <p:txBody>
          <a:bodyPr/>
          <a:lstStyle/>
          <a:p>
            <a:fld id="{E44C1BB5-D3AE-4CC0-B5EF-886510362FCB}" type="slidenum">
              <a:rPr lang="fr-FR" smtClean="0"/>
              <a:t>8</a:t>
            </a:fld>
            <a:endParaRPr lang="fr-FR"/>
          </a:p>
        </p:txBody>
      </p:sp>
      <p:graphicFrame>
        <p:nvGraphicFramePr>
          <p:cNvPr id="9" name="Tableau 8">
            <a:extLst>
              <a:ext uri="{FF2B5EF4-FFF2-40B4-BE49-F238E27FC236}">
                <a16:creationId xmlns:a16="http://schemas.microsoft.com/office/drawing/2014/main" id="{178AF0A7-FA3E-2A42-E2F1-0D8877ED401A}"/>
              </a:ext>
            </a:extLst>
          </p:cNvPr>
          <p:cNvGraphicFramePr>
            <a:graphicFrameLocks noGrp="1"/>
          </p:cNvGraphicFramePr>
          <p:nvPr>
            <p:extLst>
              <p:ext uri="{D42A27DB-BD31-4B8C-83A1-F6EECF244321}">
                <p14:modId xmlns:p14="http://schemas.microsoft.com/office/powerpoint/2010/main" val="1410292262"/>
              </p:ext>
            </p:extLst>
          </p:nvPr>
        </p:nvGraphicFramePr>
        <p:xfrm>
          <a:off x="1066800" y="1159987"/>
          <a:ext cx="10058399" cy="2851945"/>
        </p:xfrm>
        <a:graphic>
          <a:graphicData uri="http://schemas.openxmlformats.org/drawingml/2006/table">
            <a:tbl>
              <a:tblPr firstRow="1" firstCol="1" bandRow="1">
                <a:tableStyleId>{5C22544A-7EE6-4342-B048-85BDC9FD1C3A}</a:tableStyleId>
              </a:tblPr>
              <a:tblGrid>
                <a:gridCol w="480751">
                  <a:extLst>
                    <a:ext uri="{9D8B030D-6E8A-4147-A177-3AD203B41FA5}">
                      <a16:colId xmlns:a16="http://schemas.microsoft.com/office/drawing/2014/main" val="2504558733"/>
                    </a:ext>
                  </a:extLst>
                </a:gridCol>
                <a:gridCol w="2948249">
                  <a:extLst>
                    <a:ext uri="{9D8B030D-6E8A-4147-A177-3AD203B41FA5}">
                      <a16:colId xmlns:a16="http://schemas.microsoft.com/office/drawing/2014/main" val="3796948172"/>
                    </a:ext>
                  </a:extLst>
                </a:gridCol>
                <a:gridCol w="1676400">
                  <a:extLst>
                    <a:ext uri="{9D8B030D-6E8A-4147-A177-3AD203B41FA5}">
                      <a16:colId xmlns:a16="http://schemas.microsoft.com/office/drawing/2014/main" val="2189315941"/>
                    </a:ext>
                  </a:extLst>
                </a:gridCol>
                <a:gridCol w="838200">
                  <a:extLst>
                    <a:ext uri="{9D8B030D-6E8A-4147-A177-3AD203B41FA5}">
                      <a16:colId xmlns:a16="http://schemas.microsoft.com/office/drawing/2014/main" val="709067762"/>
                    </a:ext>
                  </a:extLst>
                </a:gridCol>
                <a:gridCol w="1600200">
                  <a:extLst>
                    <a:ext uri="{9D8B030D-6E8A-4147-A177-3AD203B41FA5}">
                      <a16:colId xmlns:a16="http://schemas.microsoft.com/office/drawing/2014/main" val="178855707"/>
                    </a:ext>
                  </a:extLst>
                </a:gridCol>
                <a:gridCol w="762000">
                  <a:extLst>
                    <a:ext uri="{9D8B030D-6E8A-4147-A177-3AD203B41FA5}">
                      <a16:colId xmlns:a16="http://schemas.microsoft.com/office/drawing/2014/main" val="4005604661"/>
                    </a:ext>
                  </a:extLst>
                </a:gridCol>
                <a:gridCol w="1752599">
                  <a:extLst>
                    <a:ext uri="{9D8B030D-6E8A-4147-A177-3AD203B41FA5}">
                      <a16:colId xmlns:a16="http://schemas.microsoft.com/office/drawing/2014/main" val="4065477603"/>
                    </a:ext>
                  </a:extLst>
                </a:gridCol>
              </a:tblGrid>
              <a:tr h="440213">
                <a:tc gridSpan="7">
                  <a:txBody>
                    <a:bodyPr/>
                    <a:lstStyle/>
                    <a:p>
                      <a:pPr>
                        <a:lnSpc>
                          <a:spcPct val="100000"/>
                        </a:lnSpc>
                        <a:spcAft>
                          <a:spcPts val="0"/>
                        </a:spcAft>
                        <a:buNone/>
                      </a:pPr>
                      <a:r>
                        <a:rPr lang="fr-FR" sz="3200" dirty="0">
                          <a:solidFill>
                            <a:schemeClr val="tx1"/>
                          </a:solidFill>
                        </a:rPr>
                        <a:t>PEV central </a:t>
                      </a:r>
                      <a:endParaRPr lang="fr-FR" sz="3200" kern="1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tx2">
                        <a:lumMod val="40000"/>
                        <a:lumOff val="60000"/>
                      </a:schemeClr>
                    </a:solidFill>
                  </a:tcPr>
                </a:tc>
                <a:tc hMerge="1">
                  <a:txBody>
                    <a:bodyPr/>
                    <a:lstStyle/>
                    <a:p>
                      <a:pPr>
                        <a:lnSpc>
                          <a:spcPct val="107000"/>
                        </a:lnSpc>
                        <a:spcAft>
                          <a:spcPts val="800"/>
                        </a:spcAft>
                        <a:buNone/>
                      </a:pPr>
                      <a:endParaRPr lang="fr-FR" sz="24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hMerge="1">
                  <a:txBody>
                    <a:bodyPr/>
                    <a:lstStyle/>
                    <a:p>
                      <a:pPr>
                        <a:lnSpc>
                          <a:spcPct val="107000"/>
                        </a:lnSpc>
                        <a:spcAft>
                          <a:spcPts val="800"/>
                        </a:spcAft>
                        <a:buNone/>
                      </a:pPr>
                      <a:endParaRPr lang="fr-FR" sz="24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hMerge="1">
                  <a:txBody>
                    <a:bodyPr/>
                    <a:lstStyle/>
                    <a:p>
                      <a:endParaRPr lang="fr-FR"/>
                    </a:p>
                  </a:txBody>
                  <a:tcPr/>
                </a:tc>
                <a:tc hMerge="1">
                  <a:txBody>
                    <a:bodyPr/>
                    <a:lstStyle/>
                    <a:p>
                      <a:pPr>
                        <a:lnSpc>
                          <a:spcPct val="107000"/>
                        </a:lnSpc>
                        <a:spcAft>
                          <a:spcPts val="800"/>
                        </a:spcAft>
                        <a:buNone/>
                      </a:pPr>
                      <a:endParaRPr lang="fr-FR" sz="24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hMerge="1">
                  <a:txBody>
                    <a:bodyPr/>
                    <a:lstStyle/>
                    <a:p>
                      <a:endParaRPr lang="fr-FR"/>
                    </a:p>
                  </a:txBody>
                  <a:tcPr/>
                </a:tc>
                <a:tc hMerge="1">
                  <a:txBody>
                    <a:bodyPr/>
                    <a:lstStyle/>
                    <a:p>
                      <a:pPr>
                        <a:lnSpc>
                          <a:spcPct val="107000"/>
                        </a:lnSpc>
                        <a:spcAft>
                          <a:spcPts val="800"/>
                        </a:spcAft>
                        <a:buNone/>
                      </a:pPr>
                      <a:endParaRPr lang="fr-FR" sz="24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80323149"/>
                  </a:ext>
                </a:extLst>
              </a:tr>
              <a:tr h="485933">
                <a:tc>
                  <a:txBody>
                    <a:bodyPr/>
                    <a:lstStyle/>
                    <a:p>
                      <a:pPr>
                        <a:lnSpc>
                          <a:spcPct val="107000"/>
                        </a:lnSpc>
                        <a:spcAft>
                          <a:spcPts val="800"/>
                        </a:spcAft>
                        <a:buNone/>
                      </a:pPr>
                      <a:r>
                        <a:rPr lang="fr-FR" sz="2400" kern="100">
                          <a:effectLst/>
                          <a:latin typeface="Arial" panose="020B0604020202020204" pitchFamily="34" charset="0"/>
                          <a:cs typeface="Arial" panose="020B0604020202020204" pitchFamily="34" charset="0"/>
                        </a:rPr>
                        <a:t>N°</a:t>
                      </a:r>
                      <a:endParaRPr lang="fr-FR" sz="24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tx2">
                        <a:lumMod val="40000"/>
                        <a:lumOff val="60000"/>
                      </a:schemeClr>
                    </a:solidFill>
                  </a:tcPr>
                </a:tc>
                <a:tc>
                  <a:txBody>
                    <a:bodyPr/>
                    <a:lstStyle/>
                    <a:p>
                      <a:pPr>
                        <a:lnSpc>
                          <a:spcPct val="107000"/>
                        </a:lnSpc>
                        <a:spcAft>
                          <a:spcPts val="800"/>
                        </a:spcAft>
                        <a:buNone/>
                      </a:pPr>
                      <a:r>
                        <a:rPr lang="fr-FR" sz="2400" b="1" kern="100" dirty="0">
                          <a:effectLst/>
                          <a:latin typeface="Arial" panose="020B0604020202020204" pitchFamily="34" charset="0"/>
                          <a:cs typeface="Arial" panose="020B0604020202020204" pitchFamily="34" charset="0"/>
                        </a:rPr>
                        <a:t>CATEGORIE</a:t>
                      </a:r>
                      <a:endParaRPr lang="fr-FR" sz="2400" b="1"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r">
                        <a:lnSpc>
                          <a:spcPct val="107000"/>
                        </a:lnSpc>
                        <a:spcAft>
                          <a:spcPts val="800"/>
                        </a:spcAft>
                        <a:buNone/>
                      </a:pPr>
                      <a:r>
                        <a:rPr lang="fr-FR" sz="2400" b="1" kern="100" dirty="0">
                          <a:effectLst/>
                          <a:latin typeface="Arial" panose="020B0604020202020204" pitchFamily="34" charset="0"/>
                          <a:cs typeface="Arial" panose="020B0604020202020204" pitchFamily="34" charset="0"/>
                        </a:rPr>
                        <a:t>HOMMES</a:t>
                      </a:r>
                      <a:endParaRPr lang="fr-FR" sz="2400" b="1"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a:lnSpc>
                          <a:spcPct val="107000"/>
                        </a:lnSpc>
                        <a:spcAft>
                          <a:spcPts val="800"/>
                        </a:spcAft>
                        <a:buNone/>
                      </a:pPr>
                      <a:r>
                        <a:rPr lang="fr-FR" sz="2400" b="1" kern="100" dirty="0">
                          <a:effectLst/>
                          <a:latin typeface="Arial" panose="020B0604020202020204" pitchFamily="34" charset="0"/>
                          <a:ea typeface="Calibri" panose="020F0502020204030204" pitchFamily="34" charset="0"/>
                          <a:cs typeface="Arial" panose="020B0604020202020204" pitchFamily="34" charset="0"/>
                        </a:rPr>
                        <a:t>%</a:t>
                      </a:r>
                    </a:p>
                  </a:txBody>
                  <a:tcPr marL="68580" marR="68580" marT="0" marB="0" anchor="ctr"/>
                </a:tc>
                <a:tc>
                  <a:txBody>
                    <a:bodyPr/>
                    <a:lstStyle/>
                    <a:p>
                      <a:pPr algn="r">
                        <a:lnSpc>
                          <a:spcPct val="107000"/>
                        </a:lnSpc>
                        <a:spcAft>
                          <a:spcPts val="800"/>
                        </a:spcAft>
                        <a:buNone/>
                      </a:pPr>
                      <a:r>
                        <a:rPr lang="fr-FR" sz="2400" b="1" kern="100" dirty="0">
                          <a:effectLst/>
                          <a:latin typeface="Arial" panose="020B0604020202020204" pitchFamily="34" charset="0"/>
                          <a:cs typeface="Arial" panose="020B0604020202020204" pitchFamily="34" charset="0"/>
                        </a:rPr>
                        <a:t>FEMMES</a:t>
                      </a:r>
                      <a:endParaRPr lang="fr-FR" sz="2400" b="1"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a:lnSpc>
                          <a:spcPct val="107000"/>
                        </a:lnSpc>
                        <a:spcAft>
                          <a:spcPts val="800"/>
                        </a:spcAft>
                        <a:buNone/>
                      </a:pPr>
                      <a:r>
                        <a:rPr lang="fr-FR" sz="2400" b="1" kern="100" dirty="0">
                          <a:effectLst/>
                          <a:latin typeface="Arial" panose="020B0604020202020204" pitchFamily="34" charset="0"/>
                          <a:ea typeface="Calibri" panose="020F0502020204030204" pitchFamily="34" charset="0"/>
                          <a:cs typeface="Arial" panose="020B0604020202020204" pitchFamily="34" charset="0"/>
                        </a:rPr>
                        <a:t>%</a:t>
                      </a:r>
                    </a:p>
                  </a:txBody>
                  <a:tcPr marL="68580" marR="68580" marT="0" marB="0" anchor="ctr"/>
                </a:tc>
                <a:tc>
                  <a:txBody>
                    <a:bodyPr/>
                    <a:lstStyle/>
                    <a:p>
                      <a:pPr algn="r">
                        <a:lnSpc>
                          <a:spcPct val="107000"/>
                        </a:lnSpc>
                        <a:spcAft>
                          <a:spcPts val="800"/>
                        </a:spcAft>
                        <a:buNone/>
                      </a:pPr>
                      <a:r>
                        <a:rPr lang="fr-FR" sz="2400" b="1" kern="100" dirty="0">
                          <a:effectLst/>
                          <a:latin typeface="Arial" panose="020B0604020202020204" pitchFamily="34" charset="0"/>
                          <a:cs typeface="Arial" panose="020B0604020202020204" pitchFamily="34" charset="0"/>
                        </a:rPr>
                        <a:t>TOTAL</a:t>
                      </a:r>
                      <a:endParaRPr lang="fr-FR" sz="2400" b="1"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593182239"/>
                  </a:ext>
                </a:extLst>
              </a:tr>
              <a:tr h="469583">
                <a:tc>
                  <a:txBody>
                    <a:bodyPr/>
                    <a:lstStyle/>
                    <a:p>
                      <a:pPr>
                        <a:lnSpc>
                          <a:spcPct val="107000"/>
                        </a:lnSpc>
                        <a:spcAft>
                          <a:spcPts val="800"/>
                        </a:spcAft>
                        <a:buNone/>
                      </a:pPr>
                      <a:r>
                        <a:rPr lang="fr-FR" sz="2400" kern="100">
                          <a:effectLst/>
                          <a:latin typeface="Arial" panose="020B0604020202020204" pitchFamily="34" charset="0"/>
                          <a:cs typeface="Arial" panose="020B0604020202020204" pitchFamily="34" charset="0"/>
                        </a:rPr>
                        <a:t>1</a:t>
                      </a:r>
                      <a:endParaRPr lang="fr-FR" sz="24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tx2">
                        <a:lumMod val="40000"/>
                        <a:lumOff val="60000"/>
                      </a:schemeClr>
                    </a:solidFill>
                  </a:tcPr>
                </a:tc>
                <a:tc>
                  <a:txBody>
                    <a:bodyPr/>
                    <a:lstStyle/>
                    <a:p>
                      <a:pPr>
                        <a:lnSpc>
                          <a:spcPct val="107000"/>
                        </a:lnSpc>
                        <a:spcAft>
                          <a:spcPts val="800"/>
                        </a:spcAft>
                        <a:buNone/>
                      </a:pPr>
                      <a:r>
                        <a:rPr lang="fr-FR" sz="2400" kern="100" dirty="0">
                          <a:effectLst/>
                          <a:latin typeface="Arial" panose="020B0604020202020204" pitchFamily="34" charset="0"/>
                          <a:cs typeface="Arial" panose="020B0604020202020204" pitchFamily="34" charset="0"/>
                        </a:rPr>
                        <a:t>MEDECINS</a:t>
                      </a:r>
                      <a:endParaRPr lang="fr-FR" sz="24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a:lnSpc>
                          <a:spcPct val="107000"/>
                        </a:lnSpc>
                        <a:spcAft>
                          <a:spcPts val="800"/>
                        </a:spcAft>
                        <a:buNone/>
                      </a:pPr>
                      <a:r>
                        <a:rPr lang="fr-FR" sz="2400" kern="100" dirty="0">
                          <a:effectLst/>
                          <a:latin typeface="Arial" panose="020B0604020202020204" pitchFamily="34" charset="0"/>
                          <a:cs typeface="Arial" panose="020B0604020202020204" pitchFamily="34" charset="0"/>
                        </a:rPr>
                        <a:t>50</a:t>
                      </a:r>
                      <a:endParaRPr lang="fr-FR" sz="24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fontAlgn="b"/>
                      <a:r>
                        <a:rPr lang="fr-FR" sz="2400" b="0" i="0" u="none" strike="noStrike" dirty="0">
                          <a:solidFill>
                            <a:srgbClr val="000000"/>
                          </a:solidFill>
                          <a:effectLst/>
                          <a:latin typeface="Arial" panose="020B0604020202020204" pitchFamily="34" charset="0"/>
                          <a:cs typeface="Arial" panose="020B0604020202020204" pitchFamily="34" charset="0"/>
                        </a:rPr>
                        <a:t>67%</a:t>
                      </a:r>
                    </a:p>
                  </a:txBody>
                  <a:tcPr marL="6350" marR="6350" marT="6350" marB="0" anchor="ctr"/>
                </a:tc>
                <a:tc>
                  <a:txBody>
                    <a:bodyPr/>
                    <a:lstStyle/>
                    <a:p>
                      <a:pPr algn="r">
                        <a:lnSpc>
                          <a:spcPct val="107000"/>
                        </a:lnSpc>
                        <a:spcAft>
                          <a:spcPts val="800"/>
                        </a:spcAft>
                        <a:buNone/>
                      </a:pPr>
                      <a:r>
                        <a:rPr lang="fr-FR" sz="2400" kern="100" dirty="0">
                          <a:effectLst/>
                          <a:latin typeface="Arial" panose="020B0604020202020204" pitchFamily="34" charset="0"/>
                          <a:cs typeface="Arial" panose="020B0604020202020204" pitchFamily="34" charset="0"/>
                        </a:rPr>
                        <a:t>25</a:t>
                      </a:r>
                      <a:endParaRPr lang="fr-FR" sz="24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fontAlgn="b"/>
                      <a:r>
                        <a:rPr lang="fr-FR" sz="2400" b="0" i="0" u="none" strike="noStrike" dirty="0">
                          <a:solidFill>
                            <a:srgbClr val="000000"/>
                          </a:solidFill>
                          <a:effectLst/>
                          <a:latin typeface="Arial" panose="020B0604020202020204" pitchFamily="34" charset="0"/>
                          <a:cs typeface="Arial" panose="020B0604020202020204" pitchFamily="34" charset="0"/>
                        </a:rPr>
                        <a:t>33%</a:t>
                      </a:r>
                    </a:p>
                  </a:txBody>
                  <a:tcPr marL="6350" marR="6350" marT="6350" marB="0" anchor="ctr"/>
                </a:tc>
                <a:tc>
                  <a:txBody>
                    <a:bodyPr/>
                    <a:lstStyle/>
                    <a:p>
                      <a:pPr algn="r">
                        <a:lnSpc>
                          <a:spcPct val="107000"/>
                        </a:lnSpc>
                        <a:spcAft>
                          <a:spcPts val="800"/>
                        </a:spcAft>
                        <a:buNone/>
                      </a:pPr>
                      <a:r>
                        <a:rPr lang="fr-FR" sz="2400" kern="100" dirty="0">
                          <a:effectLst/>
                          <a:latin typeface="Arial" panose="020B0604020202020204" pitchFamily="34" charset="0"/>
                          <a:cs typeface="Arial" panose="020B0604020202020204" pitchFamily="34" charset="0"/>
                        </a:rPr>
                        <a:t>75</a:t>
                      </a:r>
                      <a:endParaRPr lang="fr-FR" sz="24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718251994"/>
                  </a:ext>
                </a:extLst>
              </a:tr>
              <a:tr h="469583">
                <a:tc>
                  <a:txBody>
                    <a:bodyPr/>
                    <a:lstStyle/>
                    <a:p>
                      <a:pPr>
                        <a:lnSpc>
                          <a:spcPct val="107000"/>
                        </a:lnSpc>
                        <a:spcAft>
                          <a:spcPts val="800"/>
                        </a:spcAft>
                        <a:buNone/>
                      </a:pPr>
                      <a:r>
                        <a:rPr lang="fr-FR" sz="2400" kern="100">
                          <a:effectLst/>
                          <a:latin typeface="Arial" panose="020B0604020202020204" pitchFamily="34" charset="0"/>
                          <a:cs typeface="Arial" panose="020B0604020202020204" pitchFamily="34" charset="0"/>
                        </a:rPr>
                        <a:t>2</a:t>
                      </a:r>
                      <a:endParaRPr lang="fr-FR" sz="24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tx2">
                        <a:lumMod val="40000"/>
                        <a:lumOff val="60000"/>
                      </a:schemeClr>
                    </a:solidFill>
                  </a:tcPr>
                </a:tc>
                <a:tc>
                  <a:txBody>
                    <a:bodyPr/>
                    <a:lstStyle/>
                    <a:p>
                      <a:pPr>
                        <a:lnSpc>
                          <a:spcPct val="107000"/>
                        </a:lnSpc>
                        <a:spcAft>
                          <a:spcPts val="800"/>
                        </a:spcAft>
                        <a:buNone/>
                      </a:pPr>
                      <a:r>
                        <a:rPr lang="fr-FR" sz="2400" kern="100" dirty="0">
                          <a:effectLst/>
                          <a:latin typeface="Arial" panose="020B0604020202020204" pitchFamily="34" charset="0"/>
                          <a:cs typeface="Arial" panose="020B0604020202020204" pitchFamily="34" charset="0"/>
                        </a:rPr>
                        <a:t>PRO-SANTES</a:t>
                      </a:r>
                      <a:endParaRPr lang="fr-FR" sz="24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a:lnSpc>
                          <a:spcPct val="107000"/>
                        </a:lnSpc>
                        <a:spcAft>
                          <a:spcPts val="800"/>
                        </a:spcAft>
                        <a:buNone/>
                      </a:pPr>
                      <a:r>
                        <a:rPr lang="fr-FR" sz="2400" kern="100">
                          <a:effectLst/>
                          <a:latin typeface="Arial" panose="020B0604020202020204" pitchFamily="34" charset="0"/>
                          <a:cs typeface="Arial" panose="020B0604020202020204" pitchFamily="34" charset="0"/>
                        </a:rPr>
                        <a:t>14</a:t>
                      </a:r>
                      <a:endParaRPr lang="fr-FR" sz="24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fontAlgn="b"/>
                      <a:r>
                        <a:rPr lang="fr-FR" sz="2400" b="0" i="0" u="none" strike="noStrike" dirty="0">
                          <a:solidFill>
                            <a:srgbClr val="000000"/>
                          </a:solidFill>
                          <a:effectLst/>
                          <a:latin typeface="Arial" panose="020B0604020202020204" pitchFamily="34" charset="0"/>
                          <a:cs typeface="Arial" panose="020B0604020202020204" pitchFamily="34" charset="0"/>
                        </a:rPr>
                        <a:t>38%</a:t>
                      </a:r>
                    </a:p>
                  </a:txBody>
                  <a:tcPr marL="6350" marR="6350" marT="6350" marB="0" anchor="ctr"/>
                </a:tc>
                <a:tc>
                  <a:txBody>
                    <a:bodyPr/>
                    <a:lstStyle/>
                    <a:p>
                      <a:pPr algn="r">
                        <a:lnSpc>
                          <a:spcPct val="107000"/>
                        </a:lnSpc>
                        <a:spcAft>
                          <a:spcPts val="800"/>
                        </a:spcAft>
                        <a:buNone/>
                      </a:pPr>
                      <a:r>
                        <a:rPr lang="fr-FR" sz="2400" kern="100">
                          <a:effectLst/>
                          <a:latin typeface="Arial" panose="020B0604020202020204" pitchFamily="34" charset="0"/>
                          <a:cs typeface="Arial" panose="020B0604020202020204" pitchFamily="34" charset="0"/>
                        </a:rPr>
                        <a:t>23</a:t>
                      </a:r>
                      <a:endParaRPr lang="fr-FR" sz="24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fontAlgn="b"/>
                      <a:r>
                        <a:rPr lang="fr-FR" sz="2400" b="0" i="0" u="none" strike="noStrike" dirty="0">
                          <a:solidFill>
                            <a:srgbClr val="C00000"/>
                          </a:solidFill>
                          <a:effectLst/>
                          <a:latin typeface="Arial" panose="020B0604020202020204" pitchFamily="34" charset="0"/>
                          <a:cs typeface="Arial" panose="020B0604020202020204" pitchFamily="34" charset="0"/>
                        </a:rPr>
                        <a:t>62%</a:t>
                      </a:r>
                    </a:p>
                  </a:txBody>
                  <a:tcPr marL="6350" marR="6350" marT="6350" marB="0" anchor="ctr"/>
                </a:tc>
                <a:tc>
                  <a:txBody>
                    <a:bodyPr/>
                    <a:lstStyle/>
                    <a:p>
                      <a:pPr algn="r">
                        <a:lnSpc>
                          <a:spcPct val="107000"/>
                        </a:lnSpc>
                        <a:spcAft>
                          <a:spcPts val="800"/>
                        </a:spcAft>
                        <a:buNone/>
                      </a:pPr>
                      <a:r>
                        <a:rPr lang="fr-FR" sz="2400" kern="100" dirty="0">
                          <a:effectLst/>
                          <a:latin typeface="Arial" panose="020B0604020202020204" pitchFamily="34" charset="0"/>
                          <a:cs typeface="Arial" panose="020B0604020202020204" pitchFamily="34" charset="0"/>
                        </a:rPr>
                        <a:t>37</a:t>
                      </a:r>
                      <a:endParaRPr lang="fr-FR" sz="24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357693509"/>
                  </a:ext>
                </a:extLst>
              </a:tr>
              <a:tr h="469583">
                <a:tc>
                  <a:txBody>
                    <a:bodyPr/>
                    <a:lstStyle/>
                    <a:p>
                      <a:pPr>
                        <a:lnSpc>
                          <a:spcPct val="107000"/>
                        </a:lnSpc>
                        <a:spcAft>
                          <a:spcPts val="800"/>
                        </a:spcAft>
                        <a:buNone/>
                      </a:pPr>
                      <a:r>
                        <a:rPr lang="fr-FR" sz="2400" kern="100">
                          <a:effectLst/>
                          <a:latin typeface="Arial" panose="020B0604020202020204" pitchFamily="34" charset="0"/>
                          <a:cs typeface="Arial" panose="020B0604020202020204" pitchFamily="34" charset="0"/>
                        </a:rPr>
                        <a:t>3</a:t>
                      </a:r>
                      <a:endParaRPr lang="fr-FR" sz="24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tx2">
                        <a:lumMod val="40000"/>
                        <a:lumOff val="60000"/>
                      </a:schemeClr>
                    </a:solidFill>
                  </a:tcPr>
                </a:tc>
                <a:tc>
                  <a:txBody>
                    <a:bodyPr/>
                    <a:lstStyle/>
                    <a:p>
                      <a:pPr>
                        <a:lnSpc>
                          <a:spcPct val="107000"/>
                        </a:lnSpc>
                        <a:spcAft>
                          <a:spcPts val="800"/>
                        </a:spcAft>
                        <a:buNone/>
                      </a:pPr>
                      <a:r>
                        <a:rPr lang="fr-FR" sz="2400" kern="100">
                          <a:effectLst/>
                          <a:latin typeface="Arial" panose="020B0604020202020204" pitchFamily="34" charset="0"/>
                          <a:cs typeface="Arial" panose="020B0604020202020204" pitchFamily="34" charset="0"/>
                        </a:rPr>
                        <a:t>ADMINISTRATIFS</a:t>
                      </a:r>
                      <a:endParaRPr lang="fr-FR" sz="24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a:lnSpc>
                          <a:spcPct val="107000"/>
                        </a:lnSpc>
                        <a:spcAft>
                          <a:spcPts val="800"/>
                        </a:spcAft>
                        <a:buNone/>
                      </a:pPr>
                      <a:r>
                        <a:rPr lang="fr-FR" sz="2400" kern="100">
                          <a:effectLst/>
                          <a:latin typeface="Arial" panose="020B0604020202020204" pitchFamily="34" charset="0"/>
                          <a:cs typeface="Arial" panose="020B0604020202020204" pitchFamily="34" charset="0"/>
                        </a:rPr>
                        <a:t>85</a:t>
                      </a:r>
                      <a:endParaRPr lang="fr-FR" sz="24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fontAlgn="b"/>
                      <a:r>
                        <a:rPr lang="fr-FR" sz="2400" b="0" i="0" u="none" strike="noStrike" dirty="0">
                          <a:solidFill>
                            <a:srgbClr val="000000"/>
                          </a:solidFill>
                          <a:effectLst/>
                          <a:latin typeface="Arial" panose="020B0604020202020204" pitchFamily="34" charset="0"/>
                          <a:cs typeface="Arial" panose="020B0604020202020204" pitchFamily="34" charset="0"/>
                        </a:rPr>
                        <a:t>65%</a:t>
                      </a:r>
                    </a:p>
                  </a:txBody>
                  <a:tcPr marL="6350" marR="6350" marT="6350" marB="0" anchor="ctr"/>
                </a:tc>
                <a:tc>
                  <a:txBody>
                    <a:bodyPr/>
                    <a:lstStyle/>
                    <a:p>
                      <a:pPr algn="r">
                        <a:lnSpc>
                          <a:spcPct val="107000"/>
                        </a:lnSpc>
                        <a:spcAft>
                          <a:spcPts val="800"/>
                        </a:spcAft>
                        <a:buNone/>
                      </a:pPr>
                      <a:r>
                        <a:rPr lang="fr-FR" sz="2400" kern="100">
                          <a:effectLst/>
                          <a:latin typeface="Arial" panose="020B0604020202020204" pitchFamily="34" charset="0"/>
                          <a:cs typeface="Arial" panose="020B0604020202020204" pitchFamily="34" charset="0"/>
                        </a:rPr>
                        <a:t>45</a:t>
                      </a:r>
                      <a:endParaRPr lang="fr-FR" sz="24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fontAlgn="b"/>
                      <a:r>
                        <a:rPr lang="fr-FR" sz="2400" b="0" i="0" u="none" strike="noStrike" dirty="0">
                          <a:solidFill>
                            <a:srgbClr val="000000"/>
                          </a:solidFill>
                          <a:effectLst/>
                          <a:latin typeface="Arial" panose="020B0604020202020204" pitchFamily="34" charset="0"/>
                          <a:cs typeface="Arial" panose="020B0604020202020204" pitchFamily="34" charset="0"/>
                        </a:rPr>
                        <a:t>35%</a:t>
                      </a:r>
                    </a:p>
                  </a:txBody>
                  <a:tcPr marL="6350" marR="6350" marT="6350" marB="0" anchor="ctr"/>
                </a:tc>
                <a:tc>
                  <a:txBody>
                    <a:bodyPr/>
                    <a:lstStyle/>
                    <a:p>
                      <a:pPr algn="r">
                        <a:lnSpc>
                          <a:spcPct val="107000"/>
                        </a:lnSpc>
                        <a:spcAft>
                          <a:spcPts val="800"/>
                        </a:spcAft>
                        <a:buNone/>
                      </a:pPr>
                      <a:r>
                        <a:rPr lang="fr-FR" sz="2400" kern="100" dirty="0">
                          <a:effectLst/>
                          <a:latin typeface="Arial" panose="020B0604020202020204" pitchFamily="34" charset="0"/>
                          <a:cs typeface="Arial" panose="020B0604020202020204" pitchFamily="34" charset="0"/>
                        </a:rPr>
                        <a:t>130</a:t>
                      </a:r>
                      <a:endParaRPr lang="fr-FR" sz="24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180251109"/>
                  </a:ext>
                </a:extLst>
              </a:tr>
              <a:tr h="469583">
                <a:tc>
                  <a:txBody>
                    <a:bodyPr/>
                    <a:lstStyle/>
                    <a:p>
                      <a:pPr>
                        <a:lnSpc>
                          <a:spcPct val="107000"/>
                        </a:lnSpc>
                        <a:spcAft>
                          <a:spcPts val="800"/>
                        </a:spcAft>
                        <a:buNone/>
                      </a:pPr>
                      <a:r>
                        <a:rPr lang="fr-FR" sz="2400" kern="100" dirty="0">
                          <a:effectLst/>
                          <a:latin typeface="Arial" panose="020B0604020202020204" pitchFamily="34" charset="0"/>
                          <a:cs typeface="Arial" panose="020B0604020202020204" pitchFamily="34" charset="0"/>
                        </a:rPr>
                        <a:t> </a:t>
                      </a:r>
                      <a:endParaRPr lang="fr-FR" sz="24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tx2">
                        <a:lumMod val="40000"/>
                        <a:lumOff val="60000"/>
                      </a:schemeClr>
                    </a:solidFill>
                  </a:tcPr>
                </a:tc>
                <a:tc>
                  <a:txBody>
                    <a:bodyPr/>
                    <a:lstStyle/>
                    <a:p>
                      <a:pPr>
                        <a:lnSpc>
                          <a:spcPct val="107000"/>
                        </a:lnSpc>
                        <a:spcAft>
                          <a:spcPts val="800"/>
                        </a:spcAft>
                        <a:buNone/>
                      </a:pPr>
                      <a:r>
                        <a:rPr lang="fr-FR" sz="2400" b="1" kern="100" dirty="0">
                          <a:effectLst/>
                          <a:latin typeface="Arial" panose="020B0604020202020204" pitchFamily="34" charset="0"/>
                          <a:cs typeface="Arial" panose="020B0604020202020204" pitchFamily="34" charset="0"/>
                        </a:rPr>
                        <a:t>TOTAUX</a:t>
                      </a:r>
                      <a:endParaRPr lang="fr-FR" sz="2400" b="1"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a:lnSpc>
                          <a:spcPct val="107000"/>
                        </a:lnSpc>
                        <a:spcAft>
                          <a:spcPts val="800"/>
                        </a:spcAft>
                        <a:buNone/>
                      </a:pPr>
                      <a:r>
                        <a:rPr lang="fr-FR" sz="2400" b="1" kern="100" dirty="0">
                          <a:effectLst/>
                          <a:latin typeface="Arial" panose="020B0604020202020204" pitchFamily="34" charset="0"/>
                          <a:cs typeface="Arial" panose="020B0604020202020204" pitchFamily="34" charset="0"/>
                        </a:rPr>
                        <a:t>149</a:t>
                      </a:r>
                      <a:endParaRPr lang="fr-FR" sz="2400" b="1"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fontAlgn="b"/>
                      <a:r>
                        <a:rPr lang="fr-FR" sz="2400" b="1" i="0" u="none" strike="noStrike" dirty="0">
                          <a:solidFill>
                            <a:srgbClr val="C00000"/>
                          </a:solidFill>
                          <a:effectLst/>
                          <a:latin typeface="Arial" panose="020B0604020202020204" pitchFamily="34" charset="0"/>
                          <a:cs typeface="Arial" panose="020B0604020202020204" pitchFamily="34" charset="0"/>
                        </a:rPr>
                        <a:t>62%</a:t>
                      </a:r>
                    </a:p>
                  </a:txBody>
                  <a:tcPr marL="6350" marR="6350" marT="6350" marB="0" anchor="ctr"/>
                </a:tc>
                <a:tc>
                  <a:txBody>
                    <a:bodyPr/>
                    <a:lstStyle/>
                    <a:p>
                      <a:pPr algn="r">
                        <a:lnSpc>
                          <a:spcPct val="107000"/>
                        </a:lnSpc>
                        <a:spcAft>
                          <a:spcPts val="800"/>
                        </a:spcAft>
                        <a:buNone/>
                      </a:pPr>
                      <a:r>
                        <a:rPr lang="fr-FR" sz="2400" b="1" kern="100" dirty="0">
                          <a:effectLst/>
                          <a:latin typeface="Arial" panose="020B0604020202020204" pitchFamily="34" charset="0"/>
                          <a:cs typeface="Arial" panose="020B0604020202020204" pitchFamily="34" charset="0"/>
                        </a:rPr>
                        <a:t>93</a:t>
                      </a:r>
                      <a:endParaRPr lang="fr-FR" sz="2400" b="1"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fontAlgn="b"/>
                      <a:r>
                        <a:rPr lang="fr-FR" sz="2400" b="1" i="0" u="none" strike="noStrike" dirty="0">
                          <a:solidFill>
                            <a:srgbClr val="C00000"/>
                          </a:solidFill>
                          <a:effectLst/>
                          <a:latin typeface="Arial" panose="020B0604020202020204" pitchFamily="34" charset="0"/>
                          <a:cs typeface="Arial" panose="020B0604020202020204" pitchFamily="34" charset="0"/>
                        </a:rPr>
                        <a:t>38%</a:t>
                      </a:r>
                    </a:p>
                  </a:txBody>
                  <a:tcPr marL="6350" marR="6350" marT="6350" marB="0" anchor="ctr"/>
                </a:tc>
                <a:tc>
                  <a:txBody>
                    <a:bodyPr/>
                    <a:lstStyle/>
                    <a:p>
                      <a:pPr algn="r">
                        <a:lnSpc>
                          <a:spcPct val="107000"/>
                        </a:lnSpc>
                        <a:spcAft>
                          <a:spcPts val="800"/>
                        </a:spcAft>
                        <a:buNone/>
                      </a:pPr>
                      <a:r>
                        <a:rPr lang="fr-FR" sz="2400" b="1" kern="100" dirty="0">
                          <a:effectLst/>
                          <a:latin typeface="Arial" panose="020B0604020202020204" pitchFamily="34" charset="0"/>
                          <a:cs typeface="Arial" panose="020B0604020202020204" pitchFamily="34" charset="0"/>
                        </a:rPr>
                        <a:t>242</a:t>
                      </a:r>
                      <a:endParaRPr lang="fr-FR" sz="2400" b="1"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134717620"/>
                  </a:ext>
                </a:extLst>
              </a:tr>
            </a:tbl>
          </a:graphicData>
        </a:graphic>
      </p:graphicFrame>
      <p:graphicFrame>
        <p:nvGraphicFramePr>
          <p:cNvPr id="10" name="Tableau 9">
            <a:extLst>
              <a:ext uri="{FF2B5EF4-FFF2-40B4-BE49-F238E27FC236}">
                <a16:creationId xmlns:a16="http://schemas.microsoft.com/office/drawing/2014/main" id="{59151F9F-0A53-2845-BFA7-26D7F128BB98}"/>
              </a:ext>
            </a:extLst>
          </p:cNvPr>
          <p:cNvGraphicFramePr>
            <a:graphicFrameLocks noGrp="1"/>
          </p:cNvGraphicFramePr>
          <p:nvPr>
            <p:extLst>
              <p:ext uri="{D42A27DB-BD31-4B8C-83A1-F6EECF244321}">
                <p14:modId xmlns:p14="http://schemas.microsoft.com/office/powerpoint/2010/main" val="1506946876"/>
              </p:ext>
            </p:extLst>
          </p:nvPr>
        </p:nvGraphicFramePr>
        <p:xfrm>
          <a:off x="1066800" y="4800600"/>
          <a:ext cx="10058399" cy="1143000"/>
        </p:xfrm>
        <a:graphic>
          <a:graphicData uri="http://schemas.openxmlformats.org/drawingml/2006/table">
            <a:tbl>
              <a:tblPr firstRow="1" firstCol="1" bandRow="1">
                <a:tableStyleId>{5C22544A-7EE6-4342-B048-85BDC9FD1C3A}</a:tableStyleId>
              </a:tblPr>
              <a:tblGrid>
                <a:gridCol w="2185922">
                  <a:extLst>
                    <a:ext uri="{9D8B030D-6E8A-4147-A177-3AD203B41FA5}">
                      <a16:colId xmlns:a16="http://schemas.microsoft.com/office/drawing/2014/main" val="231976923"/>
                    </a:ext>
                  </a:extLst>
                </a:gridCol>
                <a:gridCol w="2624616">
                  <a:extLst>
                    <a:ext uri="{9D8B030D-6E8A-4147-A177-3AD203B41FA5}">
                      <a16:colId xmlns:a16="http://schemas.microsoft.com/office/drawing/2014/main" val="1657086484"/>
                    </a:ext>
                  </a:extLst>
                </a:gridCol>
                <a:gridCol w="3038062">
                  <a:extLst>
                    <a:ext uri="{9D8B030D-6E8A-4147-A177-3AD203B41FA5}">
                      <a16:colId xmlns:a16="http://schemas.microsoft.com/office/drawing/2014/main" val="2184202899"/>
                    </a:ext>
                  </a:extLst>
                </a:gridCol>
                <a:gridCol w="2209799">
                  <a:extLst>
                    <a:ext uri="{9D8B030D-6E8A-4147-A177-3AD203B41FA5}">
                      <a16:colId xmlns:a16="http://schemas.microsoft.com/office/drawing/2014/main" val="2837836227"/>
                    </a:ext>
                  </a:extLst>
                </a:gridCol>
              </a:tblGrid>
              <a:tr h="381000">
                <a:tc gridSpan="4">
                  <a:txBody>
                    <a:bodyPr/>
                    <a:lstStyle/>
                    <a:p>
                      <a:pPr>
                        <a:lnSpc>
                          <a:spcPct val="107000"/>
                        </a:lnSpc>
                        <a:spcAft>
                          <a:spcPts val="800"/>
                        </a:spcAft>
                        <a:buNone/>
                      </a:pPr>
                      <a:r>
                        <a:rPr lang="fr-FR" sz="2400" kern="100" dirty="0">
                          <a:solidFill>
                            <a:schemeClr val="tx1"/>
                          </a:solidFill>
                          <a:effectLst/>
                          <a:latin typeface="Arial" panose="020B0604020202020204" pitchFamily="34" charset="0"/>
                          <a:cs typeface="Arial" panose="020B0604020202020204" pitchFamily="34" charset="0"/>
                        </a:rPr>
                        <a:t>COORDINATIONS ET ANTENNES DANS LES DPS</a:t>
                      </a:r>
                      <a:endParaRPr lang="fr-FR" sz="2400" kern="1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tx2">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621827169"/>
                  </a:ext>
                </a:extLst>
              </a:tr>
              <a:tr h="381000">
                <a:tc>
                  <a:txBody>
                    <a:bodyPr/>
                    <a:lstStyle/>
                    <a:p>
                      <a:pPr marL="0" algn="ctr" defTabSz="914400" rtl="0" eaLnBrk="1" latinLnBrk="0" hangingPunct="1">
                        <a:lnSpc>
                          <a:spcPct val="107000"/>
                        </a:lnSpc>
                        <a:spcAft>
                          <a:spcPts val="800"/>
                        </a:spcAft>
                        <a:buNone/>
                      </a:pPr>
                      <a:r>
                        <a:rPr lang="fr-FR" sz="2400" b="0" kern="100" dirty="0">
                          <a:solidFill>
                            <a:schemeClr val="dk1"/>
                          </a:solidFill>
                          <a:effectLst/>
                          <a:latin typeface="Arial" panose="020B0604020202020204" pitchFamily="34" charset="0"/>
                          <a:ea typeface="+mn-ea"/>
                          <a:cs typeface="Arial" panose="020B0604020202020204" pitchFamily="34" charset="0"/>
                        </a:rPr>
                        <a:t>MEDECINS</a:t>
                      </a:r>
                    </a:p>
                  </a:txBody>
                  <a:tcPr marL="68580" marR="68580" marT="0" marB="0">
                    <a:solidFill>
                      <a:schemeClr val="accent1">
                        <a:lumMod val="20000"/>
                        <a:lumOff val="80000"/>
                      </a:schemeClr>
                    </a:solidFill>
                  </a:tcPr>
                </a:tc>
                <a:tc>
                  <a:txBody>
                    <a:bodyPr/>
                    <a:lstStyle/>
                    <a:p>
                      <a:pPr algn="ctr">
                        <a:lnSpc>
                          <a:spcPct val="107000"/>
                        </a:lnSpc>
                        <a:spcAft>
                          <a:spcPts val="800"/>
                        </a:spcAft>
                        <a:buNone/>
                      </a:pPr>
                      <a:r>
                        <a:rPr lang="fr-FR" sz="2400" kern="100" dirty="0">
                          <a:effectLst/>
                          <a:latin typeface="Arial" panose="020B0604020202020204" pitchFamily="34" charset="0"/>
                          <a:cs typeface="Arial" panose="020B0604020202020204" pitchFamily="34" charset="0"/>
                        </a:rPr>
                        <a:t>PRO-SANTES</a:t>
                      </a:r>
                      <a:endParaRPr lang="fr-FR" sz="24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accent1">
                        <a:lumMod val="20000"/>
                        <a:lumOff val="80000"/>
                      </a:schemeClr>
                    </a:solidFill>
                  </a:tcPr>
                </a:tc>
                <a:tc>
                  <a:txBody>
                    <a:bodyPr/>
                    <a:lstStyle/>
                    <a:p>
                      <a:pPr algn="ctr">
                        <a:lnSpc>
                          <a:spcPct val="107000"/>
                        </a:lnSpc>
                        <a:spcAft>
                          <a:spcPts val="800"/>
                        </a:spcAft>
                        <a:buNone/>
                      </a:pPr>
                      <a:r>
                        <a:rPr lang="fr-FR" sz="2400" kern="100" dirty="0">
                          <a:effectLst/>
                          <a:latin typeface="Arial" panose="020B0604020202020204" pitchFamily="34" charset="0"/>
                          <a:cs typeface="Arial" panose="020B0604020202020204" pitchFamily="34" charset="0"/>
                        </a:rPr>
                        <a:t>ADMINISTRATIFS</a:t>
                      </a:r>
                      <a:endParaRPr lang="fr-FR" sz="24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accent1">
                        <a:lumMod val="20000"/>
                        <a:lumOff val="80000"/>
                      </a:schemeClr>
                    </a:solidFill>
                  </a:tcPr>
                </a:tc>
                <a:tc>
                  <a:txBody>
                    <a:bodyPr/>
                    <a:lstStyle/>
                    <a:p>
                      <a:pPr algn="ctr">
                        <a:lnSpc>
                          <a:spcPct val="107000"/>
                        </a:lnSpc>
                        <a:spcAft>
                          <a:spcPts val="800"/>
                        </a:spcAft>
                        <a:buNone/>
                      </a:pPr>
                      <a:r>
                        <a:rPr lang="fr-FR" sz="2400" b="1" kern="100" dirty="0">
                          <a:effectLst/>
                          <a:latin typeface="Arial" panose="020B0604020202020204" pitchFamily="34" charset="0"/>
                          <a:cs typeface="Arial" panose="020B0604020202020204" pitchFamily="34" charset="0"/>
                        </a:rPr>
                        <a:t>TOTAL</a:t>
                      </a:r>
                      <a:endParaRPr lang="fr-FR" sz="2400" b="1"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accent1">
                        <a:lumMod val="20000"/>
                        <a:lumOff val="80000"/>
                      </a:schemeClr>
                    </a:solidFill>
                  </a:tcPr>
                </a:tc>
                <a:extLst>
                  <a:ext uri="{0D108BD9-81ED-4DB2-BD59-A6C34878D82A}">
                    <a16:rowId xmlns:a16="http://schemas.microsoft.com/office/drawing/2014/main" val="2080108482"/>
                  </a:ext>
                </a:extLst>
              </a:tr>
              <a:tr h="381000">
                <a:tc>
                  <a:txBody>
                    <a:bodyPr/>
                    <a:lstStyle/>
                    <a:p>
                      <a:pPr marL="0" algn="ctr" defTabSz="914400" rtl="0" eaLnBrk="1" latinLnBrk="0" hangingPunct="1">
                        <a:lnSpc>
                          <a:spcPct val="107000"/>
                        </a:lnSpc>
                        <a:spcAft>
                          <a:spcPts val="800"/>
                        </a:spcAft>
                        <a:buNone/>
                      </a:pPr>
                      <a:r>
                        <a:rPr lang="fr-FR" sz="2400" b="0" kern="100" dirty="0">
                          <a:solidFill>
                            <a:schemeClr val="dk1"/>
                          </a:solidFill>
                          <a:effectLst/>
                          <a:latin typeface="Arial" panose="020B0604020202020204" pitchFamily="34" charset="0"/>
                          <a:ea typeface="+mn-ea"/>
                          <a:cs typeface="Arial" panose="020B0604020202020204" pitchFamily="34" charset="0"/>
                        </a:rPr>
                        <a:t>84</a:t>
                      </a:r>
                    </a:p>
                  </a:txBody>
                  <a:tcPr marL="68580" marR="68580" marT="0" marB="0">
                    <a:solidFill>
                      <a:schemeClr val="accent1">
                        <a:lumMod val="20000"/>
                        <a:lumOff val="80000"/>
                      </a:schemeClr>
                    </a:solidFill>
                  </a:tcPr>
                </a:tc>
                <a:tc>
                  <a:txBody>
                    <a:bodyPr/>
                    <a:lstStyle/>
                    <a:p>
                      <a:pPr algn="ctr">
                        <a:lnSpc>
                          <a:spcPct val="107000"/>
                        </a:lnSpc>
                        <a:spcAft>
                          <a:spcPts val="800"/>
                        </a:spcAft>
                        <a:buNone/>
                      </a:pPr>
                      <a:r>
                        <a:rPr lang="fr-FR" sz="2400" kern="100" dirty="0">
                          <a:effectLst/>
                          <a:latin typeface="Arial" panose="020B0604020202020204" pitchFamily="34" charset="0"/>
                          <a:cs typeface="Arial" panose="020B0604020202020204" pitchFamily="34" charset="0"/>
                        </a:rPr>
                        <a:t>319</a:t>
                      </a:r>
                      <a:endParaRPr lang="fr-FR" sz="24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accent1">
                        <a:lumMod val="20000"/>
                        <a:lumOff val="80000"/>
                      </a:schemeClr>
                    </a:solidFill>
                  </a:tcPr>
                </a:tc>
                <a:tc>
                  <a:txBody>
                    <a:bodyPr/>
                    <a:lstStyle/>
                    <a:p>
                      <a:pPr algn="ctr">
                        <a:lnSpc>
                          <a:spcPct val="107000"/>
                        </a:lnSpc>
                        <a:spcAft>
                          <a:spcPts val="800"/>
                        </a:spcAft>
                        <a:buNone/>
                      </a:pPr>
                      <a:r>
                        <a:rPr lang="fr-FR" sz="2400" kern="100">
                          <a:effectLst/>
                          <a:latin typeface="Arial" panose="020B0604020202020204" pitchFamily="34" charset="0"/>
                          <a:cs typeface="Arial" panose="020B0604020202020204" pitchFamily="34" charset="0"/>
                        </a:rPr>
                        <a:t>306</a:t>
                      </a:r>
                      <a:endParaRPr lang="fr-FR" sz="24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accent1">
                        <a:lumMod val="20000"/>
                        <a:lumOff val="80000"/>
                      </a:schemeClr>
                    </a:solidFill>
                  </a:tcPr>
                </a:tc>
                <a:tc>
                  <a:txBody>
                    <a:bodyPr/>
                    <a:lstStyle/>
                    <a:p>
                      <a:pPr algn="ctr">
                        <a:lnSpc>
                          <a:spcPct val="107000"/>
                        </a:lnSpc>
                        <a:spcAft>
                          <a:spcPts val="800"/>
                        </a:spcAft>
                        <a:buNone/>
                      </a:pPr>
                      <a:r>
                        <a:rPr lang="fr-FR" sz="2400" b="1" kern="100" dirty="0">
                          <a:effectLst/>
                          <a:latin typeface="Arial" panose="020B0604020202020204" pitchFamily="34" charset="0"/>
                          <a:cs typeface="Arial" panose="020B0604020202020204" pitchFamily="34" charset="0"/>
                        </a:rPr>
                        <a:t>709</a:t>
                      </a:r>
                      <a:endParaRPr lang="fr-FR" sz="2400" b="1"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accent1">
                        <a:lumMod val="20000"/>
                        <a:lumOff val="80000"/>
                      </a:schemeClr>
                    </a:solidFill>
                  </a:tcPr>
                </a:tc>
                <a:extLst>
                  <a:ext uri="{0D108BD9-81ED-4DB2-BD59-A6C34878D82A}">
                    <a16:rowId xmlns:a16="http://schemas.microsoft.com/office/drawing/2014/main" val="76069122"/>
                  </a:ext>
                </a:extLst>
              </a:tr>
            </a:tbl>
          </a:graphicData>
        </a:graphic>
      </p:graphicFrame>
    </p:spTree>
    <p:extLst>
      <p:ext uri="{BB962C8B-B14F-4D97-AF65-F5344CB8AC3E}">
        <p14:creationId xmlns:p14="http://schemas.microsoft.com/office/powerpoint/2010/main" val="4016361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D90440-F4C8-984A-2C95-9B7288D0F059}"/>
              </a:ext>
            </a:extLst>
          </p:cNvPr>
          <p:cNvSpPr>
            <a:spLocks noGrp="1"/>
          </p:cNvSpPr>
          <p:nvPr>
            <p:ph type="title"/>
          </p:nvPr>
        </p:nvSpPr>
        <p:spPr>
          <a:xfrm>
            <a:off x="609600" y="136524"/>
            <a:ext cx="10972800" cy="639762"/>
          </a:xfrm>
        </p:spPr>
        <p:txBody>
          <a:bodyPr>
            <a:normAutofit fontScale="90000"/>
          </a:bodyPr>
          <a:lstStyle/>
          <a:p>
            <a:r>
              <a:rPr lang="fr-FR" b="1" dirty="0"/>
              <a:t>Capacités</a:t>
            </a:r>
            <a:r>
              <a:rPr lang="fr-FR" dirty="0"/>
              <a:t> très moyennes du PEV selon le PICAL</a:t>
            </a:r>
          </a:p>
        </p:txBody>
      </p:sp>
      <p:graphicFrame>
        <p:nvGraphicFramePr>
          <p:cNvPr id="5" name="Espace réservé du contenu 4">
            <a:extLst>
              <a:ext uri="{FF2B5EF4-FFF2-40B4-BE49-F238E27FC236}">
                <a16:creationId xmlns:a16="http://schemas.microsoft.com/office/drawing/2014/main" id="{ECABC872-745A-D30E-197F-DDBD02394AA4}"/>
              </a:ext>
            </a:extLst>
          </p:cNvPr>
          <p:cNvGraphicFramePr>
            <a:graphicFrameLocks noGrp="1"/>
          </p:cNvGraphicFramePr>
          <p:nvPr>
            <p:ph idx="1"/>
            <p:extLst>
              <p:ext uri="{D42A27DB-BD31-4B8C-83A1-F6EECF244321}">
                <p14:modId xmlns:p14="http://schemas.microsoft.com/office/powerpoint/2010/main" val="3739639134"/>
              </p:ext>
            </p:extLst>
          </p:nvPr>
        </p:nvGraphicFramePr>
        <p:xfrm>
          <a:off x="609600" y="1001457"/>
          <a:ext cx="10972802" cy="5190685"/>
        </p:xfrm>
        <a:graphic>
          <a:graphicData uri="http://schemas.openxmlformats.org/drawingml/2006/table">
            <a:tbl>
              <a:tblPr firstRow="1" firstCol="1" bandRow="1"/>
              <a:tblGrid>
                <a:gridCol w="447080">
                  <a:extLst>
                    <a:ext uri="{9D8B030D-6E8A-4147-A177-3AD203B41FA5}">
                      <a16:colId xmlns:a16="http://schemas.microsoft.com/office/drawing/2014/main" val="1897378264"/>
                    </a:ext>
                  </a:extLst>
                </a:gridCol>
                <a:gridCol w="4201120">
                  <a:extLst>
                    <a:ext uri="{9D8B030D-6E8A-4147-A177-3AD203B41FA5}">
                      <a16:colId xmlns:a16="http://schemas.microsoft.com/office/drawing/2014/main" val="1165283059"/>
                    </a:ext>
                  </a:extLst>
                </a:gridCol>
                <a:gridCol w="990600">
                  <a:extLst>
                    <a:ext uri="{9D8B030D-6E8A-4147-A177-3AD203B41FA5}">
                      <a16:colId xmlns:a16="http://schemas.microsoft.com/office/drawing/2014/main" val="2339344777"/>
                    </a:ext>
                  </a:extLst>
                </a:gridCol>
                <a:gridCol w="901935">
                  <a:extLst>
                    <a:ext uri="{9D8B030D-6E8A-4147-A177-3AD203B41FA5}">
                      <a16:colId xmlns:a16="http://schemas.microsoft.com/office/drawing/2014/main" val="717564407"/>
                    </a:ext>
                  </a:extLst>
                </a:gridCol>
                <a:gridCol w="1272005">
                  <a:extLst>
                    <a:ext uri="{9D8B030D-6E8A-4147-A177-3AD203B41FA5}">
                      <a16:colId xmlns:a16="http://schemas.microsoft.com/office/drawing/2014/main" val="859859718"/>
                    </a:ext>
                  </a:extLst>
                </a:gridCol>
                <a:gridCol w="1102660">
                  <a:extLst>
                    <a:ext uri="{9D8B030D-6E8A-4147-A177-3AD203B41FA5}">
                      <a16:colId xmlns:a16="http://schemas.microsoft.com/office/drawing/2014/main" val="2760531933"/>
                    </a:ext>
                  </a:extLst>
                </a:gridCol>
                <a:gridCol w="948507">
                  <a:extLst>
                    <a:ext uri="{9D8B030D-6E8A-4147-A177-3AD203B41FA5}">
                      <a16:colId xmlns:a16="http://schemas.microsoft.com/office/drawing/2014/main" val="1038251003"/>
                    </a:ext>
                  </a:extLst>
                </a:gridCol>
                <a:gridCol w="1108895">
                  <a:extLst>
                    <a:ext uri="{9D8B030D-6E8A-4147-A177-3AD203B41FA5}">
                      <a16:colId xmlns:a16="http://schemas.microsoft.com/office/drawing/2014/main" val="4193971649"/>
                    </a:ext>
                  </a:extLst>
                </a:gridCol>
              </a:tblGrid>
              <a:tr h="584388">
                <a:tc>
                  <a:txBody>
                    <a:bodyPr/>
                    <a:lstStyle/>
                    <a:p>
                      <a:pPr algn="r">
                        <a:lnSpc>
                          <a:spcPct val="107000"/>
                        </a:lnSpc>
                        <a:spcAft>
                          <a:spcPts val="800"/>
                        </a:spcAft>
                        <a:buNone/>
                      </a:pPr>
                      <a:r>
                        <a:rPr lang="fr-FR" sz="1600" b="1"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Nb</a:t>
                      </a:r>
                      <a:endParaRPr lang="fr-FR" sz="16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CB9CA"/>
                    </a:solidFill>
                  </a:tcPr>
                </a:tc>
                <a:tc>
                  <a:txBody>
                    <a:bodyPr/>
                    <a:lstStyle/>
                    <a:p>
                      <a:pPr>
                        <a:lnSpc>
                          <a:spcPct val="107000"/>
                        </a:lnSpc>
                        <a:spcAft>
                          <a:spcPts val="800"/>
                        </a:spcAft>
                        <a:buNone/>
                      </a:pPr>
                      <a:r>
                        <a:rPr lang="fr-FR" sz="16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DIMENSIONS INSTITUTIONNELLES ET COMPOSANTES </a:t>
                      </a:r>
                      <a:endParaRPr lang="fr-FR" sz="16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CB9CA"/>
                    </a:solidFill>
                  </a:tcPr>
                </a:tc>
                <a:tc>
                  <a:txBody>
                    <a:bodyPr/>
                    <a:lstStyle/>
                    <a:p>
                      <a:pPr algn="r">
                        <a:lnSpc>
                          <a:spcPct val="107000"/>
                        </a:lnSpc>
                        <a:spcAft>
                          <a:spcPts val="800"/>
                        </a:spcAft>
                        <a:buNone/>
                      </a:pPr>
                      <a:r>
                        <a:rPr lang="fr-FR" sz="16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Maxi</a:t>
                      </a:r>
                      <a:endParaRPr lang="fr-FR" sz="1600" kern="100" dirty="0">
                        <a:effectLst/>
                        <a:latin typeface="Arial" panose="020B0604020202020204" pitchFamily="34" charset="0"/>
                        <a:ea typeface="Calibri" panose="020F0502020204030204" pitchFamily="34" charset="0"/>
                        <a:cs typeface="Arial" panose="020B0604020202020204" pitchFamily="34" charset="0"/>
                      </a:endParaRPr>
                    </a:p>
                    <a:p>
                      <a:pPr algn="r">
                        <a:lnSpc>
                          <a:spcPct val="107000"/>
                        </a:lnSpc>
                        <a:spcAft>
                          <a:spcPts val="800"/>
                        </a:spcAft>
                        <a:buNone/>
                      </a:pPr>
                      <a:r>
                        <a:rPr lang="fr-FR" sz="1600" b="1" kern="0" dirty="0">
                          <a:solidFill>
                            <a:srgbClr val="000000"/>
                          </a:solidFill>
                          <a:effectLst/>
                          <a:latin typeface="Arial" panose="020B0604020202020204" pitchFamily="34" charset="0"/>
                          <a:ea typeface="Calibri" panose="020F0502020204030204" pitchFamily="34" charset="0"/>
                          <a:cs typeface="Arial" panose="020B0604020202020204" pitchFamily="34" charset="0"/>
                        </a:rPr>
                        <a:t>PICAL</a:t>
                      </a:r>
                      <a:endParaRPr lang="fr-FR" sz="16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CB9CA"/>
                    </a:solidFill>
                  </a:tcPr>
                </a:tc>
                <a:tc>
                  <a:txBody>
                    <a:bodyPr/>
                    <a:lstStyle/>
                    <a:p>
                      <a:pPr algn="r">
                        <a:lnSpc>
                          <a:spcPct val="107000"/>
                        </a:lnSpc>
                        <a:spcAft>
                          <a:spcPts val="800"/>
                        </a:spcAft>
                        <a:buNone/>
                      </a:pPr>
                      <a:r>
                        <a:rPr lang="fr-FR" sz="160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PEV</a:t>
                      </a:r>
                      <a:endParaRPr lang="fr-FR" sz="1600" kern="100">
                        <a:effectLst/>
                        <a:latin typeface="Arial" panose="020B0604020202020204" pitchFamily="34" charset="0"/>
                        <a:ea typeface="Calibri" panose="020F0502020204030204" pitchFamily="34" charset="0"/>
                        <a:cs typeface="Arial" panose="020B0604020202020204" pitchFamily="34" charset="0"/>
                      </a:endParaRPr>
                    </a:p>
                    <a:p>
                      <a:pPr algn="r">
                        <a:lnSpc>
                          <a:spcPct val="107000"/>
                        </a:lnSpc>
                        <a:spcAft>
                          <a:spcPts val="800"/>
                        </a:spcAft>
                        <a:buNone/>
                      </a:pPr>
                      <a:r>
                        <a:rPr lang="fr-FR" sz="160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Central</a:t>
                      </a:r>
                      <a:endParaRPr lang="fr-FR" sz="16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CB9CA"/>
                    </a:solidFill>
                  </a:tcPr>
                </a:tc>
                <a:tc>
                  <a:txBody>
                    <a:bodyPr/>
                    <a:lstStyle/>
                    <a:p>
                      <a:pPr algn="r">
                        <a:lnSpc>
                          <a:spcPct val="107000"/>
                        </a:lnSpc>
                        <a:spcAft>
                          <a:spcPts val="800"/>
                        </a:spcAft>
                        <a:buNone/>
                      </a:pPr>
                      <a:r>
                        <a:rPr lang="fr-FR" sz="16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Moyenne Prov.</a:t>
                      </a:r>
                      <a:endParaRPr lang="fr-FR" sz="16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CB9CA"/>
                    </a:solidFill>
                  </a:tcPr>
                </a:tc>
                <a:tc>
                  <a:txBody>
                    <a:bodyPr/>
                    <a:lstStyle/>
                    <a:p>
                      <a:pPr algn="r">
                        <a:lnSpc>
                          <a:spcPct val="107000"/>
                        </a:lnSpc>
                        <a:spcAft>
                          <a:spcPts val="800"/>
                        </a:spcAft>
                        <a:buNone/>
                      </a:pPr>
                      <a:r>
                        <a:rPr lang="fr-FR" sz="1600" b="1"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Haut Lomami</a:t>
                      </a:r>
                      <a:endParaRPr lang="fr-FR" sz="16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CB9CA"/>
                    </a:solidFill>
                  </a:tcPr>
                </a:tc>
                <a:tc>
                  <a:txBody>
                    <a:bodyPr/>
                    <a:lstStyle/>
                    <a:p>
                      <a:pPr algn="r">
                        <a:lnSpc>
                          <a:spcPct val="107000"/>
                        </a:lnSpc>
                        <a:spcAft>
                          <a:spcPts val="800"/>
                        </a:spcAft>
                        <a:buNone/>
                      </a:pPr>
                      <a:r>
                        <a:rPr lang="fr-FR" sz="1600" b="1"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Kasaï</a:t>
                      </a:r>
                      <a:endParaRPr lang="fr-FR" sz="1600" kern="100">
                        <a:effectLst/>
                        <a:latin typeface="Arial" panose="020B0604020202020204" pitchFamily="34" charset="0"/>
                        <a:ea typeface="Calibri" panose="020F0502020204030204" pitchFamily="34" charset="0"/>
                        <a:cs typeface="Arial" panose="020B0604020202020204" pitchFamily="34" charset="0"/>
                      </a:endParaRPr>
                    </a:p>
                    <a:p>
                      <a:pPr algn="r">
                        <a:lnSpc>
                          <a:spcPct val="107000"/>
                        </a:lnSpc>
                        <a:spcAft>
                          <a:spcPts val="800"/>
                        </a:spcAft>
                        <a:buNone/>
                      </a:pPr>
                      <a:r>
                        <a:rPr lang="fr-FR" sz="1600" b="1"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Central</a:t>
                      </a:r>
                      <a:endParaRPr lang="fr-FR" sz="16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CB9CA"/>
                    </a:solidFill>
                  </a:tcPr>
                </a:tc>
                <a:tc>
                  <a:txBody>
                    <a:bodyPr/>
                    <a:lstStyle/>
                    <a:p>
                      <a:pPr algn="r">
                        <a:lnSpc>
                          <a:spcPct val="107000"/>
                        </a:lnSpc>
                        <a:spcAft>
                          <a:spcPts val="800"/>
                        </a:spcAft>
                        <a:buNone/>
                      </a:pPr>
                      <a:r>
                        <a:rPr lang="fr-FR" sz="1600" b="1" kern="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Mongala</a:t>
                      </a:r>
                      <a:endParaRPr lang="fr-FR" sz="16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CB9CA"/>
                    </a:solidFill>
                  </a:tcPr>
                </a:tc>
                <a:extLst>
                  <a:ext uri="{0D108BD9-81ED-4DB2-BD59-A6C34878D82A}">
                    <a16:rowId xmlns:a16="http://schemas.microsoft.com/office/drawing/2014/main" val="793731117"/>
                  </a:ext>
                </a:extLst>
              </a:tr>
              <a:tr h="546939">
                <a:tc>
                  <a:txBody>
                    <a:bodyPr/>
                    <a:lstStyle/>
                    <a:p>
                      <a:pPr algn="r">
                        <a:lnSpc>
                          <a:spcPct val="107000"/>
                        </a:lnSpc>
                        <a:spcAft>
                          <a:spcPts val="800"/>
                        </a:spcAft>
                        <a:buNone/>
                      </a:pPr>
                      <a:r>
                        <a:rPr lang="fr-FR" sz="18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fr-FR" sz="18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fr-FR" sz="18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Capacités d’organisation et de fonctionnement administratif</a:t>
                      </a:r>
                      <a:endParaRPr lang="fr-FR" sz="18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b="1" kern="100" dirty="0">
                          <a:effectLst/>
                          <a:latin typeface="Arial" panose="020B0604020202020204" pitchFamily="34" charset="0"/>
                          <a:ea typeface="Times New Roman" panose="02020603050405020304" pitchFamily="18" charset="0"/>
                          <a:cs typeface="Arial" panose="020B0604020202020204" pitchFamily="34" charset="0"/>
                        </a:rPr>
                        <a:t>45</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b="1"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19</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800"/>
                        </a:spcAft>
                        <a:buNone/>
                      </a:pPr>
                      <a:r>
                        <a:rPr lang="fr-FR" sz="20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20</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800"/>
                        </a:spcAft>
                        <a:buNone/>
                      </a:pPr>
                      <a:r>
                        <a:rPr lang="fr-FR" sz="20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23</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21</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16</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4139655"/>
                  </a:ext>
                </a:extLst>
              </a:tr>
              <a:tr h="546939">
                <a:tc>
                  <a:txBody>
                    <a:bodyPr/>
                    <a:lstStyle/>
                    <a:p>
                      <a:pPr algn="r">
                        <a:lnSpc>
                          <a:spcPct val="107000"/>
                        </a:lnSpc>
                        <a:spcAft>
                          <a:spcPts val="800"/>
                        </a:spcAft>
                        <a:buNone/>
                      </a:pPr>
                      <a:r>
                        <a:rPr lang="fr-FR" sz="18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fr-FR" sz="18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fr-FR" sz="18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Capacités en ressources matérielles et financières</a:t>
                      </a:r>
                      <a:endParaRPr lang="fr-FR" sz="18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b="1" kern="100" dirty="0">
                          <a:effectLst/>
                          <a:latin typeface="Arial" panose="020B0604020202020204" pitchFamily="34" charset="0"/>
                          <a:ea typeface="Times New Roman" panose="02020603050405020304" pitchFamily="18" charset="0"/>
                          <a:cs typeface="Arial" panose="020B0604020202020204" pitchFamily="34" charset="0"/>
                        </a:rPr>
                        <a:t>25</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b="1"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12</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800"/>
                        </a:spcAft>
                        <a:buNone/>
                      </a:pPr>
                      <a:r>
                        <a:rPr lang="fr-FR" sz="20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14</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800"/>
                        </a:spcAft>
                        <a:buNone/>
                      </a:pPr>
                      <a:r>
                        <a:rPr lang="fr-FR" sz="20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19</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11</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11</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8106982"/>
                  </a:ext>
                </a:extLst>
              </a:tr>
              <a:tr h="830691">
                <a:tc>
                  <a:txBody>
                    <a:bodyPr/>
                    <a:lstStyle/>
                    <a:p>
                      <a:pPr algn="r">
                        <a:lnSpc>
                          <a:spcPct val="107000"/>
                        </a:lnSpc>
                        <a:spcAft>
                          <a:spcPts val="800"/>
                        </a:spcAft>
                        <a:buNone/>
                      </a:pPr>
                      <a:r>
                        <a:rPr lang="fr-FR" sz="18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endParaRPr lang="fr-FR" sz="18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fr-FR"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Capacités d’opérations, d’assurer l’apprentissage institutionnel et la génération des connaissances</a:t>
                      </a:r>
                      <a:endParaRPr lang="fr-FR" sz="18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b="1" kern="100">
                          <a:effectLst/>
                          <a:latin typeface="Arial" panose="020B0604020202020204" pitchFamily="34" charset="0"/>
                          <a:ea typeface="Times New Roman" panose="02020603050405020304" pitchFamily="18" charset="0"/>
                          <a:cs typeface="Arial" panose="020B0604020202020204" pitchFamily="34" charset="0"/>
                        </a:rPr>
                        <a:t>35</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b="1"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17</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800"/>
                        </a:spcAft>
                        <a:buNone/>
                      </a:pPr>
                      <a:r>
                        <a:rPr lang="fr-FR" sz="200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17</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800"/>
                        </a:spcAft>
                        <a:buNone/>
                      </a:pPr>
                      <a:r>
                        <a:rPr lang="fr-FR" sz="2000" kern="100">
                          <a:solidFill>
                            <a:srgbClr val="000000"/>
                          </a:solidFill>
                          <a:effectLst/>
                          <a:latin typeface="Arial" panose="020B0604020202020204" pitchFamily="34" charset="0"/>
                          <a:ea typeface="Calibri" panose="020F0502020204030204" pitchFamily="34" charset="0"/>
                          <a:cs typeface="Arial" panose="020B0604020202020204" pitchFamily="34" charset="0"/>
                        </a:rPr>
                        <a:t>21</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kern="100">
                          <a:solidFill>
                            <a:srgbClr val="000000"/>
                          </a:solidFill>
                          <a:effectLst/>
                          <a:latin typeface="Arial" panose="020B0604020202020204" pitchFamily="34" charset="0"/>
                          <a:ea typeface="Calibri" panose="020F0502020204030204" pitchFamily="34" charset="0"/>
                          <a:cs typeface="Arial" panose="020B0604020202020204" pitchFamily="34" charset="0"/>
                        </a:rPr>
                        <a:t>15</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15</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1202669"/>
                  </a:ext>
                </a:extLst>
              </a:tr>
              <a:tr h="546939">
                <a:tc>
                  <a:txBody>
                    <a:bodyPr/>
                    <a:lstStyle/>
                    <a:p>
                      <a:pPr algn="r">
                        <a:lnSpc>
                          <a:spcPct val="107000"/>
                        </a:lnSpc>
                        <a:spcAft>
                          <a:spcPts val="800"/>
                        </a:spcAft>
                        <a:buNone/>
                      </a:pPr>
                      <a:r>
                        <a:rPr lang="fr-FR" sz="18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endParaRPr lang="fr-FR" sz="18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fr-FR" sz="18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Capacités d’intégration et d’alignement au système de santé du pays</a:t>
                      </a:r>
                      <a:endParaRPr lang="fr-FR" sz="18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b="1" kern="100">
                          <a:effectLst/>
                          <a:latin typeface="Arial" panose="020B0604020202020204" pitchFamily="34" charset="0"/>
                          <a:ea typeface="Times New Roman" panose="02020603050405020304" pitchFamily="18" charset="0"/>
                          <a:cs typeface="Arial" panose="020B0604020202020204" pitchFamily="34" charset="0"/>
                        </a:rPr>
                        <a:t>35</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b="1"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21</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800"/>
                        </a:spcAft>
                        <a:buNone/>
                      </a:pPr>
                      <a:r>
                        <a:rPr lang="fr-FR" sz="200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19</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800"/>
                        </a:spcAft>
                        <a:buNone/>
                      </a:pPr>
                      <a:r>
                        <a:rPr lang="fr-FR" sz="2000" kern="100">
                          <a:solidFill>
                            <a:srgbClr val="000000"/>
                          </a:solidFill>
                          <a:effectLst/>
                          <a:latin typeface="Arial" panose="020B0604020202020204" pitchFamily="34" charset="0"/>
                          <a:ea typeface="Calibri" panose="020F0502020204030204" pitchFamily="34" charset="0"/>
                          <a:cs typeface="Arial" panose="020B0604020202020204" pitchFamily="34" charset="0"/>
                        </a:rPr>
                        <a:t>25</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kern="100">
                          <a:solidFill>
                            <a:srgbClr val="000000"/>
                          </a:solidFill>
                          <a:effectLst/>
                          <a:latin typeface="Arial" panose="020B0604020202020204" pitchFamily="34" charset="0"/>
                          <a:ea typeface="Calibri" panose="020F0502020204030204" pitchFamily="34" charset="0"/>
                          <a:cs typeface="Arial" panose="020B0604020202020204" pitchFamily="34" charset="0"/>
                        </a:rPr>
                        <a:t>15</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16</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7615645"/>
                  </a:ext>
                </a:extLst>
              </a:tr>
              <a:tr h="546939">
                <a:tc>
                  <a:txBody>
                    <a:bodyPr/>
                    <a:lstStyle/>
                    <a:p>
                      <a:pPr algn="r">
                        <a:lnSpc>
                          <a:spcPct val="107000"/>
                        </a:lnSpc>
                        <a:spcAft>
                          <a:spcPts val="800"/>
                        </a:spcAft>
                        <a:buNone/>
                      </a:pPr>
                      <a:r>
                        <a:rPr lang="fr-FR" sz="18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5</a:t>
                      </a:r>
                      <a:endParaRPr lang="fr-FR" sz="18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fr-FR" sz="18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Capacités d'incitation à la performance organisationnelle</a:t>
                      </a:r>
                      <a:endParaRPr lang="fr-FR" sz="18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b="1" kern="100">
                          <a:effectLst/>
                          <a:latin typeface="Arial" panose="020B0604020202020204" pitchFamily="34" charset="0"/>
                          <a:ea typeface="Times New Roman" panose="02020603050405020304" pitchFamily="18" charset="0"/>
                          <a:cs typeface="Arial" panose="020B0604020202020204" pitchFamily="34" charset="0"/>
                        </a:rPr>
                        <a:t>35</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b="1"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21</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800"/>
                        </a:spcAft>
                        <a:buNone/>
                      </a:pPr>
                      <a:r>
                        <a:rPr lang="fr-FR" sz="200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23</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800"/>
                        </a:spcAft>
                        <a:buNone/>
                      </a:pPr>
                      <a:r>
                        <a:rPr lang="fr-FR" sz="2000" kern="100">
                          <a:solidFill>
                            <a:srgbClr val="000000"/>
                          </a:solidFill>
                          <a:effectLst/>
                          <a:latin typeface="Arial" panose="020B0604020202020204" pitchFamily="34" charset="0"/>
                          <a:ea typeface="Calibri" panose="020F0502020204030204" pitchFamily="34" charset="0"/>
                          <a:cs typeface="Arial" panose="020B0604020202020204" pitchFamily="34" charset="0"/>
                        </a:rPr>
                        <a:t>22</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kern="100">
                          <a:solidFill>
                            <a:srgbClr val="000000"/>
                          </a:solidFill>
                          <a:effectLst/>
                          <a:latin typeface="Arial" panose="020B0604020202020204" pitchFamily="34" charset="0"/>
                          <a:ea typeface="Calibri" panose="020F0502020204030204" pitchFamily="34" charset="0"/>
                          <a:cs typeface="Arial" panose="020B0604020202020204" pitchFamily="34" charset="0"/>
                        </a:rPr>
                        <a:t>25</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21</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541222"/>
                  </a:ext>
                </a:extLst>
              </a:tr>
              <a:tr h="830691">
                <a:tc>
                  <a:txBody>
                    <a:bodyPr/>
                    <a:lstStyle/>
                    <a:p>
                      <a:pPr algn="r">
                        <a:lnSpc>
                          <a:spcPct val="107000"/>
                        </a:lnSpc>
                        <a:spcAft>
                          <a:spcPts val="800"/>
                        </a:spcAft>
                        <a:buNone/>
                      </a:pPr>
                      <a:r>
                        <a:rPr lang="fr-FR" sz="18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6</a:t>
                      </a:r>
                      <a:endParaRPr lang="fr-FR" sz="18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fr-FR" sz="18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Capacités d’atteindre les résultats escomptés à la satisfaction des partenaires et des bénéficiaires</a:t>
                      </a:r>
                      <a:endParaRPr lang="fr-FR" sz="18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b="1" kern="100">
                          <a:effectLst/>
                          <a:latin typeface="Arial" panose="020B0604020202020204" pitchFamily="34" charset="0"/>
                          <a:ea typeface="Times New Roman" panose="02020603050405020304" pitchFamily="18" charset="0"/>
                          <a:cs typeface="Arial" panose="020B0604020202020204" pitchFamily="34" charset="0"/>
                        </a:rPr>
                        <a:t>40</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b="1"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26</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800"/>
                        </a:spcAft>
                        <a:buNone/>
                      </a:pPr>
                      <a:r>
                        <a:rPr lang="fr-FR" sz="20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28</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800"/>
                        </a:spcAft>
                        <a:buNone/>
                      </a:pPr>
                      <a:r>
                        <a:rPr lang="fr-FR" sz="2000" kern="100">
                          <a:solidFill>
                            <a:srgbClr val="000000"/>
                          </a:solidFill>
                          <a:effectLst/>
                          <a:latin typeface="Arial" panose="020B0604020202020204" pitchFamily="34" charset="0"/>
                          <a:ea typeface="Calibri" panose="020F0502020204030204" pitchFamily="34" charset="0"/>
                          <a:cs typeface="Arial" panose="020B0604020202020204" pitchFamily="34" charset="0"/>
                        </a:rPr>
                        <a:t>29</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kern="100">
                          <a:solidFill>
                            <a:srgbClr val="000000"/>
                          </a:solidFill>
                          <a:effectLst/>
                          <a:latin typeface="Arial" panose="020B0604020202020204" pitchFamily="34" charset="0"/>
                          <a:ea typeface="Calibri" panose="020F0502020204030204" pitchFamily="34" charset="0"/>
                          <a:cs typeface="Arial" panose="020B0604020202020204" pitchFamily="34" charset="0"/>
                        </a:rPr>
                        <a:t>30</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24</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79830864"/>
                  </a:ext>
                </a:extLst>
              </a:tr>
              <a:tr h="292409">
                <a:tc>
                  <a:txBody>
                    <a:bodyPr/>
                    <a:lstStyle/>
                    <a:p>
                      <a:pPr algn="r">
                        <a:lnSpc>
                          <a:spcPct val="107000"/>
                        </a:lnSpc>
                        <a:spcAft>
                          <a:spcPts val="800"/>
                        </a:spcAft>
                        <a:buNone/>
                      </a:pPr>
                      <a:r>
                        <a:rPr lang="fr-FR" sz="18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fr-FR" sz="18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18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TOTAL </a:t>
                      </a:r>
                      <a:endParaRPr lang="fr-FR" sz="18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b="1"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215</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b="1"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116</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800"/>
                        </a:spcAft>
                        <a:buNone/>
                      </a:pPr>
                      <a:r>
                        <a:rPr lang="fr-FR" sz="200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120</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800"/>
                        </a:spcAft>
                        <a:buNone/>
                      </a:pPr>
                      <a:r>
                        <a:rPr lang="fr-FR" sz="2000" kern="100">
                          <a:solidFill>
                            <a:srgbClr val="000000"/>
                          </a:solidFill>
                          <a:effectLst/>
                          <a:latin typeface="Arial" panose="020B0604020202020204" pitchFamily="34" charset="0"/>
                          <a:ea typeface="Calibri" panose="020F0502020204030204" pitchFamily="34" charset="0"/>
                          <a:cs typeface="Arial" panose="020B0604020202020204" pitchFamily="34" charset="0"/>
                        </a:rPr>
                        <a:t>139</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kern="100">
                          <a:solidFill>
                            <a:srgbClr val="000000"/>
                          </a:solidFill>
                          <a:effectLst/>
                          <a:latin typeface="Arial" panose="020B0604020202020204" pitchFamily="34" charset="0"/>
                          <a:ea typeface="Calibri" panose="020F0502020204030204" pitchFamily="34" charset="0"/>
                          <a:cs typeface="Arial" panose="020B0604020202020204" pitchFamily="34" charset="0"/>
                        </a:rPr>
                        <a:t>117</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103</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3501710"/>
                  </a:ext>
                </a:extLst>
              </a:tr>
              <a:tr h="292409">
                <a:tc>
                  <a:txBody>
                    <a:bodyPr/>
                    <a:lstStyle/>
                    <a:p>
                      <a:pPr algn="r">
                        <a:lnSpc>
                          <a:spcPct val="107000"/>
                        </a:lnSpc>
                        <a:spcAft>
                          <a:spcPts val="800"/>
                        </a:spcAft>
                        <a:buNone/>
                      </a:pPr>
                      <a:r>
                        <a:rPr lang="fr-FR" sz="18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fr-FR" sz="18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fr-FR"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fr-FR" sz="18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b="1"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b="1" kern="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54%</a:t>
                      </a:r>
                      <a:endParaRPr lang="fr-FR" sz="2000" kern="100" dirty="0">
                        <a:solidFill>
                          <a:srgbClr val="C00000"/>
                        </a:solidFill>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800"/>
                        </a:spcAft>
                        <a:buNone/>
                      </a:pPr>
                      <a:r>
                        <a:rPr lang="fr-FR" sz="2000" b="1" kern="100" dirty="0">
                          <a:solidFill>
                            <a:srgbClr val="C00000"/>
                          </a:solidFill>
                          <a:effectLst/>
                          <a:latin typeface="Arial" panose="020B0604020202020204" pitchFamily="34" charset="0"/>
                          <a:ea typeface="Calibri" panose="020F0502020204030204" pitchFamily="34" charset="0"/>
                          <a:cs typeface="Arial" panose="020B0604020202020204" pitchFamily="34" charset="0"/>
                        </a:rPr>
                        <a:t>56%</a:t>
                      </a:r>
                      <a:endParaRPr lang="fr-FR" sz="2000" kern="100" dirty="0">
                        <a:solidFill>
                          <a:srgbClr val="C00000"/>
                        </a:solidFill>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lnSpc>
                          <a:spcPct val="107000"/>
                        </a:lnSpc>
                        <a:spcAft>
                          <a:spcPts val="800"/>
                        </a:spcAft>
                        <a:buNone/>
                      </a:pPr>
                      <a:r>
                        <a:rPr lang="fr-FR" sz="2000" kern="100">
                          <a:solidFill>
                            <a:srgbClr val="000000"/>
                          </a:solidFill>
                          <a:effectLst/>
                          <a:latin typeface="Arial" panose="020B0604020202020204" pitchFamily="34" charset="0"/>
                          <a:ea typeface="Calibri" panose="020F0502020204030204" pitchFamily="34" charset="0"/>
                          <a:cs typeface="Arial" panose="020B0604020202020204" pitchFamily="34" charset="0"/>
                        </a:rPr>
                        <a:t>65%</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kern="100">
                          <a:solidFill>
                            <a:srgbClr val="000000"/>
                          </a:solidFill>
                          <a:effectLst/>
                          <a:latin typeface="Arial" panose="020B0604020202020204" pitchFamily="34" charset="0"/>
                          <a:ea typeface="Calibri" panose="020F0502020204030204" pitchFamily="34" charset="0"/>
                          <a:cs typeface="Arial" panose="020B0604020202020204" pitchFamily="34" charset="0"/>
                        </a:rPr>
                        <a:t>54%</a:t>
                      </a:r>
                      <a:endParaRPr lang="fr-FR" sz="2000" kern="10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buNone/>
                      </a:pPr>
                      <a:r>
                        <a:rPr lang="fr-FR" sz="20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48%</a:t>
                      </a:r>
                      <a:endParaRPr lang="fr-FR" sz="2000" kern="100" dirty="0">
                        <a:effectLst/>
                        <a:latin typeface="Arial" panose="020B0604020202020204" pitchFamily="34" charset="0"/>
                        <a:ea typeface="Calibri" panose="020F0502020204030204" pitchFamily="34" charset="0"/>
                        <a:cs typeface="Arial" panose="020B0604020202020204" pitchFamily="34" charset="0"/>
                      </a:endParaRPr>
                    </a:p>
                  </a:txBody>
                  <a:tcPr marL="40796" marR="407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6078691"/>
                  </a:ext>
                </a:extLst>
              </a:tr>
            </a:tbl>
          </a:graphicData>
        </a:graphic>
      </p:graphicFrame>
      <p:sp>
        <p:nvSpPr>
          <p:cNvPr id="4" name="Espace réservé du numéro de diapositive 3">
            <a:extLst>
              <a:ext uri="{FF2B5EF4-FFF2-40B4-BE49-F238E27FC236}">
                <a16:creationId xmlns:a16="http://schemas.microsoft.com/office/drawing/2014/main" id="{005E5147-0FEC-652F-C648-8549B8F45A1F}"/>
              </a:ext>
            </a:extLst>
          </p:cNvPr>
          <p:cNvSpPr>
            <a:spLocks noGrp="1"/>
          </p:cNvSpPr>
          <p:nvPr>
            <p:ph type="sldNum" sz="quarter" idx="12"/>
          </p:nvPr>
        </p:nvSpPr>
        <p:spPr/>
        <p:txBody>
          <a:bodyPr/>
          <a:lstStyle/>
          <a:p>
            <a:fld id="{E44C1BB5-D3AE-4CC0-B5EF-886510362FCB}" type="slidenum">
              <a:rPr lang="fr-FR" smtClean="0"/>
              <a:t>9</a:t>
            </a:fld>
            <a:endParaRPr lang="fr-FR"/>
          </a:p>
        </p:txBody>
      </p:sp>
    </p:spTree>
    <p:extLst>
      <p:ext uri="{BB962C8B-B14F-4D97-AF65-F5344CB8AC3E}">
        <p14:creationId xmlns:p14="http://schemas.microsoft.com/office/powerpoint/2010/main" val="106401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128476-EBC9-3E60-0A69-D431BA89E457}"/>
              </a:ext>
            </a:extLst>
          </p:cNvPr>
          <p:cNvSpPr>
            <a:spLocks noGrp="1"/>
          </p:cNvSpPr>
          <p:nvPr>
            <p:ph type="title"/>
          </p:nvPr>
        </p:nvSpPr>
        <p:spPr>
          <a:xfrm>
            <a:off x="609600" y="368300"/>
            <a:ext cx="10972800" cy="868362"/>
          </a:xfrm>
        </p:spPr>
        <p:txBody>
          <a:bodyPr>
            <a:normAutofit/>
          </a:bodyPr>
          <a:lstStyle/>
          <a:p>
            <a:r>
              <a:rPr lang="fr-FR" dirty="0"/>
              <a:t>Analyse des Capacités du PEV (1/2)</a:t>
            </a:r>
          </a:p>
        </p:txBody>
      </p:sp>
      <p:sp>
        <p:nvSpPr>
          <p:cNvPr id="3" name="Espace réservé du contenu 2">
            <a:extLst>
              <a:ext uri="{FF2B5EF4-FFF2-40B4-BE49-F238E27FC236}">
                <a16:creationId xmlns:a16="http://schemas.microsoft.com/office/drawing/2014/main" id="{1B209BE4-4535-6447-BFB0-133F03598AC9}"/>
              </a:ext>
            </a:extLst>
          </p:cNvPr>
          <p:cNvSpPr>
            <a:spLocks noGrp="1"/>
          </p:cNvSpPr>
          <p:nvPr>
            <p:ph idx="1"/>
          </p:nvPr>
        </p:nvSpPr>
        <p:spPr>
          <a:xfrm>
            <a:off x="609600" y="1371600"/>
            <a:ext cx="10972800" cy="4984751"/>
          </a:xfrm>
        </p:spPr>
        <p:txBody>
          <a:bodyPr>
            <a:normAutofit fontScale="92500" lnSpcReduction="10000"/>
          </a:bodyPr>
          <a:lstStyle/>
          <a:p>
            <a:pPr marL="514350" indent="-514350">
              <a:spcAft>
                <a:spcPts val="600"/>
              </a:spcAft>
              <a:buAutoNum type="arabicPeriod"/>
            </a:pPr>
            <a:r>
              <a:rPr lang="fr-FR" dirty="0"/>
              <a:t>Capacités d’organisation et de fonctionnement</a:t>
            </a:r>
          </a:p>
          <a:p>
            <a:pPr>
              <a:spcAft>
                <a:spcPts val="600"/>
              </a:spcAft>
            </a:pPr>
            <a:r>
              <a:rPr lang="fr-FR" b="1" dirty="0"/>
              <a:t>Nécessité de mettre à jour le Cadre organique et l’Organigramme du PEV</a:t>
            </a:r>
          </a:p>
          <a:p>
            <a:pPr marL="0" indent="0">
              <a:spcAft>
                <a:spcPts val="600"/>
              </a:spcAft>
              <a:buNone/>
            </a:pPr>
            <a:r>
              <a:rPr lang="fr-FR" dirty="0"/>
              <a:t>2. Capacités en ressources financières et matérielles</a:t>
            </a:r>
          </a:p>
          <a:p>
            <a:pPr>
              <a:spcAft>
                <a:spcPts val="600"/>
              </a:spcAft>
            </a:pPr>
            <a:r>
              <a:rPr lang="fr-CD" sz="3200" b="1" dirty="0">
                <a:ea typeface="Calibri" panose="020F0502020204030204" pitchFamily="34" charset="0"/>
              </a:rPr>
              <a:t>Très forte dépendance aux financements extérieures, infrastructures insuffisantes </a:t>
            </a:r>
          </a:p>
          <a:p>
            <a:pPr marL="0" indent="0">
              <a:spcAft>
                <a:spcPts val="600"/>
              </a:spcAft>
              <a:buNone/>
            </a:pPr>
            <a:r>
              <a:rPr lang="fr-FR" dirty="0"/>
              <a:t>3. Capacités de mettre en œuvre les opérations</a:t>
            </a:r>
          </a:p>
          <a:p>
            <a:pPr>
              <a:spcAft>
                <a:spcPts val="600"/>
              </a:spcAft>
            </a:pPr>
            <a:r>
              <a:rPr lang="fr-FR" b="1" dirty="0"/>
              <a:t>Capacités opérationnelles reconnues pour les activités de vaccination, mais faiblesses dans la génération des connaissances </a:t>
            </a:r>
          </a:p>
          <a:p>
            <a:pPr marL="0" indent="0">
              <a:spcAft>
                <a:spcPts val="600"/>
              </a:spcAft>
              <a:buNone/>
            </a:pPr>
            <a:endParaRPr lang="fr-FR" b="1" dirty="0"/>
          </a:p>
        </p:txBody>
      </p:sp>
      <p:sp>
        <p:nvSpPr>
          <p:cNvPr id="4" name="Espace réservé du numéro de diapositive 3">
            <a:extLst>
              <a:ext uri="{FF2B5EF4-FFF2-40B4-BE49-F238E27FC236}">
                <a16:creationId xmlns:a16="http://schemas.microsoft.com/office/drawing/2014/main" id="{10D28F4C-4ED0-9BAB-819F-71DBD5E503D2}"/>
              </a:ext>
            </a:extLst>
          </p:cNvPr>
          <p:cNvSpPr>
            <a:spLocks noGrp="1"/>
          </p:cNvSpPr>
          <p:nvPr>
            <p:ph type="sldNum" sz="quarter" idx="12"/>
          </p:nvPr>
        </p:nvSpPr>
        <p:spPr/>
        <p:txBody>
          <a:bodyPr/>
          <a:lstStyle/>
          <a:p>
            <a:fld id="{E44C1BB5-D3AE-4CC0-B5EF-886510362FCB}" type="slidenum">
              <a:rPr lang="fr-FR" smtClean="0"/>
              <a:t>10</a:t>
            </a:fld>
            <a:endParaRPr lang="fr-FR"/>
          </a:p>
        </p:txBody>
      </p:sp>
    </p:spTree>
    <p:extLst>
      <p:ext uri="{BB962C8B-B14F-4D97-AF65-F5344CB8AC3E}">
        <p14:creationId xmlns:p14="http://schemas.microsoft.com/office/powerpoint/2010/main" val="4149932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C492E-D179-5272-30E2-B7DB9E9CAFE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1C889C5-1076-9C99-8141-A125AB90524B}"/>
              </a:ext>
            </a:extLst>
          </p:cNvPr>
          <p:cNvSpPr>
            <a:spLocks noGrp="1"/>
          </p:cNvSpPr>
          <p:nvPr>
            <p:ph type="title"/>
          </p:nvPr>
        </p:nvSpPr>
        <p:spPr>
          <a:xfrm>
            <a:off x="609600" y="172084"/>
            <a:ext cx="10972800" cy="868362"/>
          </a:xfrm>
        </p:spPr>
        <p:txBody>
          <a:bodyPr>
            <a:normAutofit/>
          </a:bodyPr>
          <a:lstStyle/>
          <a:p>
            <a:r>
              <a:rPr lang="fr-FR" dirty="0"/>
              <a:t>Analyse des Capacités du PEV (2/2)</a:t>
            </a:r>
          </a:p>
        </p:txBody>
      </p:sp>
      <p:sp>
        <p:nvSpPr>
          <p:cNvPr id="3" name="Espace réservé du contenu 2">
            <a:extLst>
              <a:ext uri="{FF2B5EF4-FFF2-40B4-BE49-F238E27FC236}">
                <a16:creationId xmlns:a16="http://schemas.microsoft.com/office/drawing/2014/main" id="{DF100634-F65B-494F-E1F3-B90EB30E9C7F}"/>
              </a:ext>
            </a:extLst>
          </p:cNvPr>
          <p:cNvSpPr>
            <a:spLocks noGrp="1"/>
          </p:cNvSpPr>
          <p:nvPr>
            <p:ph idx="1"/>
          </p:nvPr>
        </p:nvSpPr>
        <p:spPr>
          <a:xfrm>
            <a:off x="609600" y="1204913"/>
            <a:ext cx="11201400" cy="5176838"/>
          </a:xfrm>
        </p:spPr>
        <p:txBody>
          <a:bodyPr>
            <a:normAutofit fontScale="92500" lnSpcReduction="20000"/>
          </a:bodyPr>
          <a:lstStyle/>
          <a:p>
            <a:pPr marL="0" indent="0">
              <a:spcAft>
                <a:spcPts val="600"/>
              </a:spcAft>
              <a:buNone/>
            </a:pPr>
            <a:r>
              <a:rPr lang="fr-FR" dirty="0"/>
              <a:t>4. Capacités d’intégration et d’alignement au système de santé</a:t>
            </a:r>
          </a:p>
          <a:p>
            <a:pPr>
              <a:spcAft>
                <a:spcPts val="600"/>
              </a:spcAft>
            </a:pPr>
            <a:r>
              <a:rPr lang="fr-FR" b="1" dirty="0"/>
              <a:t>Bonne intégration du PEV au système de santé, et Programme très attractif pour les PTF</a:t>
            </a:r>
          </a:p>
          <a:p>
            <a:pPr marL="0" indent="0">
              <a:spcAft>
                <a:spcPts val="600"/>
              </a:spcAft>
              <a:buNone/>
            </a:pPr>
            <a:r>
              <a:rPr lang="fr-FR" dirty="0"/>
              <a:t>5. Capacités d'incitation à la performance organisationnelle</a:t>
            </a:r>
            <a:endParaRPr lang="fr-FR" b="1" dirty="0"/>
          </a:p>
          <a:p>
            <a:pPr>
              <a:spcAft>
                <a:spcPts val="600"/>
              </a:spcAft>
            </a:pPr>
            <a:r>
              <a:rPr lang="fr-FR" sz="3200" b="1" dirty="0"/>
              <a:t>Leadership et expertise en vaccination au niveau central, mais des faiblesses au niveau opérationnel </a:t>
            </a:r>
          </a:p>
          <a:p>
            <a:pPr marL="0" indent="0">
              <a:spcAft>
                <a:spcPts val="600"/>
              </a:spcAft>
              <a:buNone/>
            </a:pPr>
            <a:r>
              <a:rPr lang="fr-FR" dirty="0"/>
              <a:t>6. Capacités d’atteindre les résultats escomptés à la satisfaction des partenaires et des bénéficiaires</a:t>
            </a:r>
          </a:p>
          <a:p>
            <a:pPr>
              <a:spcAft>
                <a:spcPts val="600"/>
              </a:spcAft>
            </a:pPr>
            <a:r>
              <a:rPr lang="fr-FR" sz="3200" b="1" dirty="0"/>
              <a:t>Résultats contradictoires entre les données administratives de routine (DHIS2) et les données des enquêtes indépendantes de CV; et satisfaction mitigée sur les résultats du PEV</a:t>
            </a:r>
          </a:p>
          <a:p>
            <a:pPr marL="0" indent="0">
              <a:spcAft>
                <a:spcPts val="600"/>
              </a:spcAft>
              <a:buNone/>
            </a:pPr>
            <a:endParaRPr lang="fr-FR" dirty="0"/>
          </a:p>
          <a:p>
            <a:pPr marL="0" indent="0">
              <a:spcAft>
                <a:spcPts val="600"/>
              </a:spcAft>
              <a:buNone/>
            </a:pPr>
            <a:endParaRPr lang="fr-FR" sz="3200" b="1" dirty="0"/>
          </a:p>
          <a:p>
            <a:pPr marL="0" indent="0">
              <a:spcAft>
                <a:spcPts val="600"/>
              </a:spcAft>
              <a:buNone/>
            </a:pPr>
            <a:endParaRPr lang="fr-FR" b="1" dirty="0"/>
          </a:p>
        </p:txBody>
      </p:sp>
      <p:sp>
        <p:nvSpPr>
          <p:cNvPr id="4" name="Espace réservé du numéro de diapositive 3">
            <a:extLst>
              <a:ext uri="{FF2B5EF4-FFF2-40B4-BE49-F238E27FC236}">
                <a16:creationId xmlns:a16="http://schemas.microsoft.com/office/drawing/2014/main" id="{72584C3F-FCD2-35FA-DDC6-F2D14D203CE2}"/>
              </a:ext>
            </a:extLst>
          </p:cNvPr>
          <p:cNvSpPr>
            <a:spLocks noGrp="1"/>
          </p:cNvSpPr>
          <p:nvPr>
            <p:ph type="sldNum" sz="quarter" idx="12"/>
          </p:nvPr>
        </p:nvSpPr>
        <p:spPr/>
        <p:txBody>
          <a:bodyPr/>
          <a:lstStyle/>
          <a:p>
            <a:fld id="{E44C1BB5-D3AE-4CC0-B5EF-886510362FCB}" type="slidenum">
              <a:rPr lang="fr-FR" smtClean="0"/>
              <a:t>11</a:t>
            </a:fld>
            <a:endParaRPr lang="fr-FR"/>
          </a:p>
        </p:txBody>
      </p:sp>
    </p:spTree>
    <p:extLst>
      <p:ext uri="{BB962C8B-B14F-4D97-AF65-F5344CB8AC3E}">
        <p14:creationId xmlns:p14="http://schemas.microsoft.com/office/powerpoint/2010/main" val="4114515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75E84-0784-C89A-374B-D5AA850C410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1585040-E5A6-2F06-8C1A-B3718E5370F7}"/>
              </a:ext>
            </a:extLst>
          </p:cNvPr>
          <p:cNvSpPr>
            <a:spLocks noGrp="1"/>
          </p:cNvSpPr>
          <p:nvPr>
            <p:ph type="ctrTitle"/>
          </p:nvPr>
        </p:nvSpPr>
        <p:spPr>
          <a:xfrm>
            <a:off x="914400" y="2438400"/>
            <a:ext cx="10546080" cy="1447800"/>
          </a:xfrm>
        </p:spPr>
        <p:txBody>
          <a:bodyPr>
            <a:normAutofit/>
          </a:bodyPr>
          <a:lstStyle/>
          <a:p>
            <a:r>
              <a:rPr lang="fr-FR" sz="4800" b="1" dirty="0">
                <a:latin typeface="Times New Roman" panose="02020603050405020304" pitchFamily="18" charset="0"/>
                <a:cs typeface="Times New Roman" panose="02020603050405020304" pitchFamily="18" charset="0"/>
              </a:rPr>
              <a:t>Principales recommandations</a:t>
            </a:r>
          </a:p>
        </p:txBody>
      </p:sp>
      <p:sp>
        <p:nvSpPr>
          <p:cNvPr id="4" name="Espace réservé du numéro de diapositive 3">
            <a:extLst>
              <a:ext uri="{FF2B5EF4-FFF2-40B4-BE49-F238E27FC236}">
                <a16:creationId xmlns:a16="http://schemas.microsoft.com/office/drawing/2014/main" id="{ECE29D19-C20F-3F85-51D3-39D7B619494C}"/>
              </a:ext>
            </a:extLst>
          </p:cNvPr>
          <p:cNvSpPr>
            <a:spLocks noGrp="1"/>
          </p:cNvSpPr>
          <p:nvPr>
            <p:ph type="sldNum" sz="quarter" idx="12"/>
          </p:nvPr>
        </p:nvSpPr>
        <p:spPr/>
        <p:txBody>
          <a:bodyPr/>
          <a:lstStyle/>
          <a:p>
            <a:fld id="{E44C1BB5-D3AE-4CC0-B5EF-886510362FCB}" type="slidenum">
              <a:rPr lang="fr-FR" smtClean="0"/>
              <a:t>12</a:t>
            </a:fld>
            <a:endParaRPr lang="fr-FR"/>
          </a:p>
        </p:txBody>
      </p:sp>
      <p:grpSp>
        <p:nvGrpSpPr>
          <p:cNvPr id="5" name="Group 4">
            <a:extLst>
              <a:ext uri="{FF2B5EF4-FFF2-40B4-BE49-F238E27FC236}">
                <a16:creationId xmlns:a16="http://schemas.microsoft.com/office/drawing/2014/main" id="{31C9184A-0D2C-025C-3DC4-19D58598DE20}"/>
              </a:ext>
            </a:extLst>
          </p:cNvPr>
          <p:cNvGrpSpPr/>
          <p:nvPr/>
        </p:nvGrpSpPr>
        <p:grpSpPr>
          <a:xfrm>
            <a:off x="9829800" y="152400"/>
            <a:ext cx="2170556" cy="457200"/>
            <a:chOff x="1070731" y="4876800"/>
            <a:chExt cx="2170556" cy="457200"/>
          </a:xfrm>
        </p:grpSpPr>
        <p:pic>
          <p:nvPicPr>
            <p:cNvPr id="6" name="Picture 5" descr="A yellow sign with images of people and a book&#10;&#10;Description automatically generated">
              <a:extLst>
                <a:ext uri="{FF2B5EF4-FFF2-40B4-BE49-F238E27FC236}">
                  <a16:creationId xmlns:a16="http://schemas.microsoft.com/office/drawing/2014/main" id="{8DB93E5C-1046-729E-3D7C-C8D146F086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731" y="4878851"/>
              <a:ext cx="377069" cy="455149"/>
            </a:xfrm>
            <a:prstGeom prst="rect">
              <a:avLst/>
            </a:prstGeom>
          </p:spPr>
        </p:pic>
        <p:pic>
          <p:nvPicPr>
            <p:cNvPr id="7" name="Picture 6">
              <a:extLst>
                <a:ext uri="{FF2B5EF4-FFF2-40B4-BE49-F238E27FC236}">
                  <a16:creationId xmlns:a16="http://schemas.microsoft.com/office/drawing/2014/main" id="{F36292B3-346A-786F-4D3D-66945A8229AC}"/>
                </a:ext>
              </a:extLst>
            </p:cNvPr>
            <p:cNvPicPr>
              <a:picLocks noChangeAspect="1"/>
            </p:cNvPicPr>
            <p:nvPr/>
          </p:nvPicPr>
          <p:blipFill rotWithShape="1">
            <a:blip r:embed="rId3"/>
            <a:srcRect l="25278" t="57008" r="67210" b="31919"/>
            <a:stretch/>
          </p:blipFill>
          <p:spPr>
            <a:xfrm>
              <a:off x="1600200" y="4876800"/>
              <a:ext cx="582444" cy="457200"/>
            </a:xfrm>
            <a:prstGeom prst="rect">
              <a:avLst/>
            </a:prstGeom>
          </p:spPr>
        </p:pic>
        <p:pic>
          <p:nvPicPr>
            <p:cNvPr id="8" name="Picture 7" descr="PEV RDC - Programme Elargi de Vaccination">
              <a:extLst>
                <a:ext uri="{FF2B5EF4-FFF2-40B4-BE49-F238E27FC236}">
                  <a16:creationId xmlns:a16="http://schemas.microsoft.com/office/drawing/2014/main" id="{7D362315-324B-F383-2675-461D89680279}"/>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6949" r="47304"/>
            <a:stretch/>
          </p:blipFill>
          <p:spPr bwMode="auto">
            <a:xfrm>
              <a:off x="2362200" y="4876800"/>
              <a:ext cx="879087"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269416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4DA9EC-0F45-4AE9-D99F-902D921166D9}"/>
              </a:ext>
            </a:extLst>
          </p:cNvPr>
          <p:cNvSpPr>
            <a:spLocks noGrp="1"/>
          </p:cNvSpPr>
          <p:nvPr>
            <p:ph type="title"/>
          </p:nvPr>
        </p:nvSpPr>
        <p:spPr>
          <a:xfrm>
            <a:off x="401320" y="35877"/>
            <a:ext cx="11811000" cy="954723"/>
          </a:xfrm>
        </p:spPr>
        <p:txBody>
          <a:bodyPr>
            <a:noAutofit/>
          </a:bodyPr>
          <a:lstStyle/>
          <a:p>
            <a:r>
              <a:rPr lang="fr-FR" b="1" dirty="0"/>
              <a:t>1. Sur les capacités de fonctionnement</a:t>
            </a:r>
          </a:p>
        </p:txBody>
      </p:sp>
      <p:sp>
        <p:nvSpPr>
          <p:cNvPr id="3" name="Espace réservé du contenu 2">
            <a:extLst>
              <a:ext uri="{FF2B5EF4-FFF2-40B4-BE49-F238E27FC236}">
                <a16:creationId xmlns:a16="http://schemas.microsoft.com/office/drawing/2014/main" id="{5A52CDFA-75A2-F61C-9A3E-43F035EA03CF}"/>
              </a:ext>
            </a:extLst>
          </p:cNvPr>
          <p:cNvSpPr>
            <a:spLocks noGrp="1"/>
          </p:cNvSpPr>
          <p:nvPr>
            <p:ph idx="1"/>
          </p:nvPr>
        </p:nvSpPr>
        <p:spPr>
          <a:xfrm>
            <a:off x="609600" y="1219201"/>
            <a:ext cx="11049000" cy="5389562"/>
          </a:xfrm>
        </p:spPr>
        <p:txBody>
          <a:bodyPr>
            <a:normAutofit fontScale="92500" lnSpcReduction="20000"/>
          </a:bodyPr>
          <a:lstStyle/>
          <a:p>
            <a:pPr>
              <a:spcAft>
                <a:spcPts val="1200"/>
              </a:spcAft>
            </a:pPr>
            <a:r>
              <a:rPr lang="fr-FR" dirty="0"/>
              <a:t>Mettre à jour le cadre organique du PEV pour aligner le mandat, les missions et les fonctions du PEV au contexte national et international</a:t>
            </a:r>
          </a:p>
          <a:p>
            <a:pPr>
              <a:lnSpc>
                <a:spcPct val="110000"/>
              </a:lnSpc>
              <a:spcAft>
                <a:spcPts val="1200"/>
              </a:spcAft>
            </a:pPr>
            <a:r>
              <a:rPr lang="fr-FR" b="1" dirty="0"/>
              <a:t>Mettre à jour l’organigramme du PEV, selon l’approche par fonction, pour l’adapter aux nouvelles missions et stratégies de vaccination</a:t>
            </a:r>
          </a:p>
          <a:p>
            <a:pPr>
              <a:lnSpc>
                <a:spcPct val="110000"/>
              </a:lnSpc>
              <a:spcAft>
                <a:spcPts val="600"/>
              </a:spcAft>
            </a:pPr>
            <a:r>
              <a:rPr lang="fr-FR" dirty="0"/>
              <a:t>Renforcer l’audit interne et les impliquer dans le suivi et la traçabilité des fonds utilisés par le PEV, avec le budget contrôle ou la vérification à priori pour la conformité aux procédures</a:t>
            </a:r>
          </a:p>
          <a:p>
            <a:pPr>
              <a:lnSpc>
                <a:spcPct val="110000"/>
              </a:lnSpc>
              <a:spcAft>
                <a:spcPts val="600"/>
              </a:spcAft>
            </a:pPr>
            <a:r>
              <a:rPr lang="fr-FR" dirty="0"/>
              <a:t>Renforcer la coordination des PTF et autres organisations, en revisitant la composition du CCIA</a:t>
            </a:r>
          </a:p>
        </p:txBody>
      </p:sp>
      <p:sp>
        <p:nvSpPr>
          <p:cNvPr id="4" name="Espace réservé du numéro de diapositive 3">
            <a:extLst>
              <a:ext uri="{FF2B5EF4-FFF2-40B4-BE49-F238E27FC236}">
                <a16:creationId xmlns:a16="http://schemas.microsoft.com/office/drawing/2014/main" id="{210B1FF2-F2D3-4AA5-6B08-352840CA67D3}"/>
              </a:ext>
            </a:extLst>
          </p:cNvPr>
          <p:cNvSpPr>
            <a:spLocks noGrp="1"/>
          </p:cNvSpPr>
          <p:nvPr>
            <p:ph type="sldNum" sz="quarter" idx="12"/>
          </p:nvPr>
        </p:nvSpPr>
        <p:spPr/>
        <p:txBody>
          <a:bodyPr/>
          <a:lstStyle/>
          <a:p>
            <a:fld id="{E44C1BB5-D3AE-4CC0-B5EF-886510362FCB}" type="slidenum">
              <a:rPr lang="fr-FR" smtClean="0"/>
              <a:t>13</a:t>
            </a:fld>
            <a:endParaRPr lang="fr-FR"/>
          </a:p>
        </p:txBody>
      </p:sp>
    </p:spTree>
    <p:extLst>
      <p:ext uri="{BB962C8B-B14F-4D97-AF65-F5344CB8AC3E}">
        <p14:creationId xmlns:p14="http://schemas.microsoft.com/office/powerpoint/2010/main" val="2200478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D64DD-6027-1148-929D-756F254C39B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78E25D6-877B-C2A1-159D-E6D11A74C430}"/>
              </a:ext>
            </a:extLst>
          </p:cNvPr>
          <p:cNvSpPr>
            <a:spLocks noGrp="1"/>
          </p:cNvSpPr>
          <p:nvPr>
            <p:ph type="title"/>
          </p:nvPr>
        </p:nvSpPr>
        <p:spPr>
          <a:xfrm>
            <a:off x="609600" y="274638"/>
            <a:ext cx="10972800" cy="1095376"/>
          </a:xfrm>
        </p:spPr>
        <p:txBody>
          <a:bodyPr>
            <a:normAutofit/>
          </a:bodyPr>
          <a:lstStyle/>
          <a:p>
            <a:r>
              <a:rPr lang="fr-FR" b="1" dirty="0"/>
              <a:t>2. Sur les capacités en ressources financières</a:t>
            </a:r>
          </a:p>
        </p:txBody>
      </p:sp>
      <p:sp>
        <p:nvSpPr>
          <p:cNvPr id="3" name="Espace réservé du contenu 2">
            <a:extLst>
              <a:ext uri="{FF2B5EF4-FFF2-40B4-BE49-F238E27FC236}">
                <a16:creationId xmlns:a16="http://schemas.microsoft.com/office/drawing/2014/main" id="{A3B597C6-C0D7-503F-3024-10E25E0C2189}"/>
              </a:ext>
            </a:extLst>
          </p:cNvPr>
          <p:cNvSpPr>
            <a:spLocks noGrp="1"/>
          </p:cNvSpPr>
          <p:nvPr>
            <p:ph idx="1"/>
          </p:nvPr>
        </p:nvSpPr>
        <p:spPr>
          <a:xfrm>
            <a:off x="609600" y="1555752"/>
            <a:ext cx="10972800" cy="4983161"/>
          </a:xfrm>
        </p:spPr>
        <p:txBody>
          <a:bodyPr>
            <a:normAutofit/>
          </a:bodyPr>
          <a:lstStyle/>
          <a:p>
            <a:pPr>
              <a:spcAft>
                <a:spcPts val="1200"/>
              </a:spcAft>
            </a:pPr>
            <a:r>
              <a:rPr lang="fr-FR" b="1" dirty="0"/>
              <a:t>Décentraliser l’affectation des ressources financières jusqu’au niveau des Zones de santé pour accroître leur autonomie</a:t>
            </a:r>
          </a:p>
          <a:p>
            <a:pPr>
              <a:spcAft>
                <a:spcPts val="1200"/>
              </a:spcAft>
            </a:pPr>
            <a:r>
              <a:rPr lang="fr-FR" dirty="0"/>
              <a:t>Informatiser la gestion financière à l’aide d’un logiciel de gestion standard, à généraliser à tous les niveaux pour la gestion des fonds de la vaccination</a:t>
            </a:r>
          </a:p>
          <a:p>
            <a:pPr>
              <a:spcAft>
                <a:spcPts val="1200"/>
              </a:spcAft>
            </a:pPr>
            <a:r>
              <a:rPr lang="fr-FR" dirty="0"/>
              <a:t>Vulgariser les directives de la gestion financière pour les gestionnaires des fonds à tous les niveaux et mieux les préparer à la collecte des justificatifs des fonds dépensés</a:t>
            </a:r>
          </a:p>
        </p:txBody>
      </p:sp>
      <p:sp>
        <p:nvSpPr>
          <p:cNvPr id="4" name="Espace réservé du numéro de diapositive 3">
            <a:extLst>
              <a:ext uri="{FF2B5EF4-FFF2-40B4-BE49-F238E27FC236}">
                <a16:creationId xmlns:a16="http://schemas.microsoft.com/office/drawing/2014/main" id="{B46C4686-802E-8481-CD35-F35710DD7C43}"/>
              </a:ext>
            </a:extLst>
          </p:cNvPr>
          <p:cNvSpPr>
            <a:spLocks noGrp="1"/>
          </p:cNvSpPr>
          <p:nvPr>
            <p:ph type="sldNum" sz="quarter" idx="12"/>
          </p:nvPr>
        </p:nvSpPr>
        <p:spPr/>
        <p:txBody>
          <a:bodyPr/>
          <a:lstStyle/>
          <a:p>
            <a:fld id="{E44C1BB5-D3AE-4CC0-B5EF-886510362FCB}" type="slidenum">
              <a:rPr lang="fr-FR" smtClean="0"/>
              <a:t>14</a:t>
            </a:fld>
            <a:endParaRPr lang="fr-FR"/>
          </a:p>
        </p:txBody>
      </p:sp>
    </p:spTree>
    <p:extLst>
      <p:ext uri="{BB962C8B-B14F-4D97-AF65-F5344CB8AC3E}">
        <p14:creationId xmlns:p14="http://schemas.microsoft.com/office/powerpoint/2010/main" val="2991900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C21DF-DDAD-FB25-167C-75325A56825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F25AE19-B74B-8914-FF1A-9BD14BB56755}"/>
              </a:ext>
            </a:extLst>
          </p:cNvPr>
          <p:cNvSpPr>
            <a:spLocks noGrp="1"/>
          </p:cNvSpPr>
          <p:nvPr>
            <p:ph type="title"/>
          </p:nvPr>
        </p:nvSpPr>
        <p:spPr>
          <a:xfrm>
            <a:off x="762000" y="304800"/>
            <a:ext cx="11353800" cy="777876"/>
          </a:xfrm>
        </p:spPr>
        <p:txBody>
          <a:bodyPr>
            <a:noAutofit/>
          </a:bodyPr>
          <a:lstStyle/>
          <a:p>
            <a:r>
              <a:rPr lang="fr-FR" b="1" dirty="0"/>
              <a:t>3. Sur les capacités de mise en œuvre</a:t>
            </a:r>
          </a:p>
        </p:txBody>
      </p:sp>
      <p:sp>
        <p:nvSpPr>
          <p:cNvPr id="3" name="Espace réservé du contenu 2">
            <a:extLst>
              <a:ext uri="{FF2B5EF4-FFF2-40B4-BE49-F238E27FC236}">
                <a16:creationId xmlns:a16="http://schemas.microsoft.com/office/drawing/2014/main" id="{833692B3-923F-AEDB-9C91-F3981B266AA0}"/>
              </a:ext>
            </a:extLst>
          </p:cNvPr>
          <p:cNvSpPr>
            <a:spLocks noGrp="1"/>
          </p:cNvSpPr>
          <p:nvPr>
            <p:ph idx="1"/>
          </p:nvPr>
        </p:nvSpPr>
        <p:spPr>
          <a:xfrm>
            <a:off x="762000" y="1368744"/>
            <a:ext cx="10972800" cy="4987607"/>
          </a:xfrm>
        </p:spPr>
        <p:txBody>
          <a:bodyPr>
            <a:normAutofit/>
          </a:bodyPr>
          <a:lstStyle/>
          <a:p>
            <a:pPr>
              <a:spcBef>
                <a:spcPts val="0"/>
              </a:spcBef>
              <a:spcAft>
                <a:spcPts val="1200"/>
              </a:spcAft>
            </a:pPr>
            <a:r>
              <a:rPr lang="fr-FR" b="1" dirty="0"/>
              <a:t>Relancer le programme de formation continue (</a:t>
            </a:r>
            <a:r>
              <a:rPr lang="fr-FR" b="1" dirty="0" err="1"/>
              <a:t>coe</a:t>
            </a:r>
            <a:r>
              <a:rPr lang="fr-FR" b="1" dirty="0"/>
              <a:t> MLM) surtout pour les agents de terrain, à focaliser sur les techniques de vaccination, la logistique et la chaîne de froid</a:t>
            </a:r>
          </a:p>
          <a:p>
            <a:pPr>
              <a:spcBef>
                <a:spcPts val="0"/>
              </a:spcBef>
              <a:spcAft>
                <a:spcPts val="1200"/>
              </a:spcAft>
            </a:pPr>
            <a:r>
              <a:rPr lang="fr-FR" dirty="0"/>
              <a:t>Développer des mécanismes de supervision dans les coins réputés à accès difficile pour garantir une couverture équitable des structures supervisées</a:t>
            </a:r>
          </a:p>
          <a:p>
            <a:pPr>
              <a:spcBef>
                <a:spcPts val="0"/>
              </a:spcBef>
              <a:spcAft>
                <a:spcPts val="1200"/>
              </a:spcAft>
            </a:pPr>
            <a:r>
              <a:rPr lang="fr-FR" dirty="0"/>
              <a:t>S’assurer que les RECO et les OAC impliqués dans la mobilisation des communautés reçoivent effectivement leurs primes</a:t>
            </a:r>
          </a:p>
        </p:txBody>
      </p:sp>
      <p:sp>
        <p:nvSpPr>
          <p:cNvPr id="4" name="Espace réservé du numéro de diapositive 3">
            <a:extLst>
              <a:ext uri="{FF2B5EF4-FFF2-40B4-BE49-F238E27FC236}">
                <a16:creationId xmlns:a16="http://schemas.microsoft.com/office/drawing/2014/main" id="{E93C727D-8727-7CAB-5380-6ED355C25D4C}"/>
              </a:ext>
            </a:extLst>
          </p:cNvPr>
          <p:cNvSpPr>
            <a:spLocks noGrp="1"/>
          </p:cNvSpPr>
          <p:nvPr>
            <p:ph type="sldNum" sz="quarter" idx="12"/>
          </p:nvPr>
        </p:nvSpPr>
        <p:spPr/>
        <p:txBody>
          <a:bodyPr/>
          <a:lstStyle/>
          <a:p>
            <a:fld id="{E44C1BB5-D3AE-4CC0-B5EF-886510362FCB}" type="slidenum">
              <a:rPr lang="fr-FR" smtClean="0"/>
              <a:t>15</a:t>
            </a:fld>
            <a:endParaRPr lang="fr-FR"/>
          </a:p>
        </p:txBody>
      </p:sp>
    </p:spTree>
    <p:extLst>
      <p:ext uri="{BB962C8B-B14F-4D97-AF65-F5344CB8AC3E}">
        <p14:creationId xmlns:p14="http://schemas.microsoft.com/office/powerpoint/2010/main" val="3313806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98CDD-EB97-8420-D63B-237F53A1257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874E83A-1E8E-921C-C0C6-CCDACA01178A}"/>
              </a:ext>
            </a:extLst>
          </p:cNvPr>
          <p:cNvSpPr>
            <a:spLocks noGrp="1"/>
          </p:cNvSpPr>
          <p:nvPr>
            <p:ph type="title"/>
          </p:nvPr>
        </p:nvSpPr>
        <p:spPr>
          <a:xfrm>
            <a:off x="990600" y="157162"/>
            <a:ext cx="9982200" cy="1095376"/>
          </a:xfrm>
        </p:spPr>
        <p:txBody>
          <a:bodyPr>
            <a:noAutofit/>
          </a:bodyPr>
          <a:lstStyle/>
          <a:p>
            <a:r>
              <a:rPr lang="fr-FR" b="1" dirty="0"/>
              <a:t>4. Sur les capacités d’intégration d’alignement au système de santé </a:t>
            </a:r>
          </a:p>
        </p:txBody>
      </p:sp>
      <p:sp>
        <p:nvSpPr>
          <p:cNvPr id="3" name="Espace réservé du contenu 2">
            <a:extLst>
              <a:ext uri="{FF2B5EF4-FFF2-40B4-BE49-F238E27FC236}">
                <a16:creationId xmlns:a16="http://schemas.microsoft.com/office/drawing/2014/main" id="{137388B5-2C39-BF01-03AC-E9B2C603B05F}"/>
              </a:ext>
            </a:extLst>
          </p:cNvPr>
          <p:cNvSpPr>
            <a:spLocks noGrp="1"/>
          </p:cNvSpPr>
          <p:nvPr>
            <p:ph idx="1"/>
          </p:nvPr>
        </p:nvSpPr>
        <p:spPr>
          <a:xfrm>
            <a:off x="609600" y="1717677"/>
            <a:ext cx="11201400" cy="4983161"/>
          </a:xfrm>
        </p:spPr>
        <p:txBody>
          <a:bodyPr>
            <a:noAutofit/>
          </a:bodyPr>
          <a:lstStyle/>
          <a:p>
            <a:pPr>
              <a:lnSpc>
                <a:spcPct val="90000"/>
              </a:lnSpc>
              <a:spcAft>
                <a:spcPts val="600"/>
              </a:spcAft>
            </a:pPr>
            <a:r>
              <a:rPr lang="fr-FR" sz="3000" dirty="0"/>
              <a:t>Harmoniser avec les autres programmes qui rejoignent le PEV sur l’introduction des nouveaux vaccins ou sur des d’interventions en synergie sur les mêmes populations cibles</a:t>
            </a:r>
          </a:p>
          <a:p>
            <a:pPr>
              <a:lnSpc>
                <a:spcPct val="90000"/>
              </a:lnSpc>
              <a:spcAft>
                <a:spcPts val="600"/>
              </a:spcAft>
            </a:pPr>
            <a:r>
              <a:rPr lang="fr-FR" sz="3000" b="1" dirty="0"/>
              <a:t>Revaloriser les données des </a:t>
            </a:r>
            <a:r>
              <a:rPr lang="fr-FR" sz="3000" b="1" dirty="0" err="1"/>
              <a:t>microplans</a:t>
            </a:r>
            <a:r>
              <a:rPr lang="fr-FR" sz="3000" b="1" dirty="0"/>
              <a:t> des Aires de santé pour répondre à leurs besoins en vaccins, intrants et fonds</a:t>
            </a:r>
          </a:p>
          <a:p>
            <a:pPr>
              <a:lnSpc>
                <a:spcPct val="90000"/>
              </a:lnSpc>
              <a:spcAft>
                <a:spcPts val="600"/>
              </a:spcAft>
            </a:pPr>
            <a:r>
              <a:rPr lang="fr-FR" sz="3000" b="1" dirty="0"/>
              <a:t>Améliorer la logistique et la distribution des vaccins des ZS vers les CS, et des CS vers les sites de vaccination</a:t>
            </a:r>
          </a:p>
          <a:p>
            <a:pPr>
              <a:lnSpc>
                <a:spcPct val="90000"/>
              </a:lnSpc>
              <a:spcAft>
                <a:spcPts val="600"/>
              </a:spcAft>
            </a:pPr>
            <a:r>
              <a:rPr lang="fr-FR" sz="3000" dirty="0"/>
              <a:t>Mettre en place des mécanismes de transparence et de redevabilité pour la gestion des fonds avec des processus administratifs plus fluides pour éviter la mauvaise gestion</a:t>
            </a:r>
          </a:p>
        </p:txBody>
      </p:sp>
      <p:sp>
        <p:nvSpPr>
          <p:cNvPr id="4" name="Espace réservé du numéro de diapositive 3">
            <a:extLst>
              <a:ext uri="{FF2B5EF4-FFF2-40B4-BE49-F238E27FC236}">
                <a16:creationId xmlns:a16="http://schemas.microsoft.com/office/drawing/2014/main" id="{E3722C4F-576D-E91C-2522-303FFBF2F034}"/>
              </a:ext>
            </a:extLst>
          </p:cNvPr>
          <p:cNvSpPr>
            <a:spLocks noGrp="1"/>
          </p:cNvSpPr>
          <p:nvPr>
            <p:ph type="sldNum" sz="quarter" idx="12"/>
          </p:nvPr>
        </p:nvSpPr>
        <p:spPr/>
        <p:txBody>
          <a:bodyPr/>
          <a:lstStyle/>
          <a:p>
            <a:fld id="{E44C1BB5-D3AE-4CC0-B5EF-886510362FCB}" type="slidenum">
              <a:rPr lang="fr-FR" smtClean="0"/>
              <a:t>16</a:t>
            </a:fld>
            <a:endParaRPr lang="fr-FR"/>
          </a:p>
        </p:txBody>
      </p:sp>
    </p:spTree>
    <p:extLst>
      <p:ext uri="{BB962C8B-B14F-4D97-AF65-F5344CB8AC3E}">
        <p14:creationId xmlns:p14="http://schemas.microsoft.com/office/powerpoint/2010/main" val="1704541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FE6DE-2AAB-CFB3-63DC-2606F17EB04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405A635-BD21-57C7-B51E-CBD1E96C3483}"/>
              </a:ext>
            </a:extLst>
          </p:cNvPr>
          <p:cNvSpPr>
            <a:spLocks noGrp="1"/>
          </p:cNvSpPr>
          <p:nvPr>
            <p:ph type="title"/>
          </p:nvPr>
        </p:nvSpPr>
        <p:spPr>
          <a:xfrm>
            <a:off x="609600" y="126682"/>
            <a:ext cx="10972800" cy="1095376"/>
          </a:xfrm>
        </p:spPr>
        <p:txBody>
          <a:bodyPr>
            <a:noAutofit/>
          </a:bodyPr>
          <a:lstStyle/>
          <a:p>
            <a:r>
              <a:rPr lang="fr-FR" b="1" dirty="0"/>
              <a:t>5. Sur les capacités d’incitation à la performance</a:t>
            </a:r>
          </a:p>
        </p:txBody>
      </p:sp>
      <p:sp>
        <p:nvSpPr>
          <p:cNvPr id="3" name="Espace réservé du contenu 2">
            <a:extLst>
              <a:ext uri="{FF2B5EF4-FFF2-40B4-BE49-F238E27FC236}">
                <a16:creationId xmlns:a16="http://schemas.microsoft.com/office/drawing/2014/main" id="{CB8CABA4-A2FE-9288-4B59-7E8A16886259}"/>
              </a:ext>
            </a:extLst>
          </p:cNvPr>
          <p:cNvSpPr>
            <a:spLocks noGrp="1"/>
          </p:cNvSpPr>
          <p:nvPr>
            <p:ph idx="1"/>
          </p:nvPr>
        </p:nvSpPr>
        <p:spPr>
          <a:xfrm>
            <a:off x="609600" y="1297624"/>
            <a:ext cx="10972800" cy="5255576"/>
          </a:xfrm>
        </p:spPr>
        <p:txBody>
          <a:bodyPr>
            <a:normAutofit fontScale="92500" lnSpcReduction="20000"/>
          </a:bodyPr>
          <a:lstStyle/>
          <a:p>
            <a:pPr>
              <a:spcAft>
                <a:spcPts val="600"/>
              </a:spcAft>
            </a:pPr>
            <a:r>
              <a:rPr lang="fr-FR" dirty="0"/>
              <a:t>Former les responsables locaux (DPS et ZS) en leadership pour la mobilisation des équipes sur terrain et pour garantir les bonnes pratiques de gestion</a:t>
            </a:r>
          </a:p>
          <a:p>
            <a:pPr>
              <a:spcAft>
                <a:spcPts val="600"/>
              </a:spcAft>
            </a:pPr>
            <a:r>
              <a:rPr lang="fr-FR" b="1" dirty="0"/>
              <a:t>Encourager un leadership participatif, impliquant les acteurs locaux dans les décisions et dans les activités de vaccination de routine </a:t>
            </a:r>
          </a:p>
          <a:p>
            <a:pPr>
              <a:spcAft>
                <a:spcPts val="600"/>
              </a:spcAft>
            </a:pPr>
            <a:r>
              <a:rPr lang="fr-FR" dirty="0"/>
              <a:t>Généraliser et accélérer le processus des paiements par «mobile money» et améliorer le système avec une décentralisation des centres de paiement en province</a:t>
            </a:r>
          </a:p>
          <a:p>
            <a:pPr>
              <a:spcAft>
                <a:spcPts val="600"/>
              </a:spcAft>
            </a:pPr>
            <a:r>
              <a:rPr lang="fr-FR" dirty="0"/>
              <a:t>Renforcer les contrôles de gestion dans les provinces et s’assurer du bon usage des fonds, avec des outils, directives et procédures transparentes pour lutter contre la fraude</a:t>
            </a:r>
          </a:p>
          <a:p>
            <a:endParaRPr lang="fr-FR" dirty="0"/>
          </a:p>
        </p:txBody>
      </p:sp>
      <p:sp>
        <p:nvSpPr>
          <p:cNvPr id="4" name="Espace réservé du numéro de diapositive 3">
            <a:extLst>
              <a:ext uri="{FF2B5EF4-FFF2-40B4-BE49-F238E27FC236}">
                <a16:creationId xmlns:a16="http://schemas.microsoft.com/office/drawing/2014/main" id="{935186E4-78B2-9B2F-52DF-4771407DA146}"/>
              </a:ext>
            </a:extLst>
          </p:cNvPr>
          <p:cNvSpPr>
            <a:spLocks noGrp="1"/>
          </p:cNvSpPr>
          <p:nvPr>
            <p:ph type="sldNum" sz="quarter" idx="12"/>
          </p:nvPr>
        </p:nvSpPr>
        <p:spPr/>
        <p:txBody>
          <a:bodyPr/>
          <a:lstStyle/>
          <a:p>
            <a:fld id="{E44C1BB5-D3AE-4CC0-B5EF-886510362FCB}" type="slidenum">
              <a:rPr lang="fr-FR" smtClean="0"/>
              <a:t>17</a:t>
            </a:fld>
            <a:endParaRPr lang="fr-FR"/>
          </a:p>
        </p:txBody>
      </p:sp>
    </p:spTree>
    <p:extLst>
      <p:ext uri="{BB962C8B-B14F-4D97-AF65-F5344CB8AC3E}">
        <p14:creationId xmlns:p14="http://schemas.microsoft.com/office/powerpoint/2010/main" val="456012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0CAA5-FDEB-80C3-D79F-E4DB9B262C7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07518DA-EBBE-FF7C-602C-EBFF2537D93A}"/>
              </a:ext>
            </a:extLst>
          </p:cNvPr>
          <p:cNvSpPr>
            <a:spLocks noGrp="1"/>
          </p:cNvSpPr>
          <p:nvPr>
            <p:ph type="title"/>
          </p:nvPr>
        </p:nvSpPr>
        <p:spPr>
          <a:xfrm>
            <a:off x="609600" y="156844"/>
            <a:ext cx="10972800" cy="1203324"/>
          </a:xfrm>
        </p:spPr>
        <p:txBody>
          <a:bodyPr>
            <a:noAutofit/>
          </a:bodyPr>
          <a:lstStyle/>
          <a:p>
            <a:r>
              <a:rPr lang="fr-FR" b="1" dirty="0"/>
              <a:t>6. Sur les capacités d’atteindre les résultats à la satisfaction des parties prenantes</a:t>
            </a:r>
          </a:p>
        </p:txBody>
      </p:sp>
      <p:sp>
        <p:nvSpPr>
          <p:cNvPr id="3" name="Espace réservé du contenu 2">
            <a:extLst>
              <a:ext uri="{FF2B5EF4-FFF2-40B4-BE49-F238E27FC236}">
                <a16:creationId xmlns:a16="http://schemas.microsoft.com/office/drawing/2014/main" id="{14AE7AA5-C0E8-9839-EA16-C3089C5766A9}"/>
              </a:ext>
            </a:extLst>
          </p:cNvPr>
          <p:cNvSpPr>
            <a:spLocks noGrp="1"/>
          </p:cNvSpPr>
          <p:nvPr>
            <p:ph idx="1"/>
          </p:nvPr>
        </p:nvSpPr>
        <p:spPr>
          <a:xfrm>
            <a:off x="609600" y="1752600"/>
            <a:ext cx="10972800" cy="4685031"/>
          </a:xfrm>
        </p:spPr>
        <p:txBody>
          <a:bodyPr>
            <a:normAutofit fontScale="55000" lnSpcReduction="20000"/>
          </a:bodyPr>
          <a:lstStyle/>
          <a:p>
            <a:pPr>
              <a:lnSpc>
                <a:spcPct val="120000"/>
              </a:lnSpc>
              <a:spcAft>
                <a:spcPts val="600"/>
              </a:spcAft>
            </a:pPr>
            <a:r>
              <a:rPr lang="fr-FR" sz="5500" b="1" dirty="0"/>
              <a:t>Renforcer le contrôle de qualité des données PEV encodées dans le DHIS2 pour réduire l’écart entre les données administratives et les enquêtes indépendantes</a:t>
            </a:r>
          </a:p>
          <a:p>
            <a:pPr>
              <a:lnSpc>
                <a:spcPct val="120000"/>
              </a:lnSpc>
              <a:spcAft>
                <a:spcPts val="600"/>
              </a:spcAft>
            </a:pPr>
            <a:r>
              <a:rPr lang="fr-FR" sz="5500" dirty="0"/>
              <a:t>Mettre en place des mécanismes de supervision électronique pour garantir une traçabilité des missions sur le terrain et faire le suivi des superviseurs dans les coins reculés du pays</a:t>
            </a:r>
          </a:p>
          <a:p>
            <a:pPr>
              <a:lnSpc>
                <a:spcPct val="120000"/>
              </a:lnSpc>
              <a:spcAft>
                <a:spcPts val="600"/>
              </a:spcAft>
            </a:pPr>
            <a:r>
              <a:rPr lang="fr-FR" sz="5500" dirty="0"/>
              <a:t>Développer des campagnes de sensibilisation ciblées destinées aux communautés d’accès difficile en impliquant davantage les leaders communautaires et religieux</a:t>
            </a:r>
          </a:p>
        </p:txBody>
      </p:sp>
      <p:sp>
        <p:nvSpPr>
          <p:cNvPr id="4" name="Espace réservé du numéro de diapositive 3">
            <a:extLst>
              <a:ext uri="{FF2B5EF4-FFF2-40B4-BE49-F238E27FC236}">
                <a16:creationId xmlns:a16="http://schemas.microsoft.com/office/drawing/2014/main" id="{A2F3425A-F1B9-A6C3-A873-D171A79029AB}"/>
              </a:ext>
            </a:extLst>
          </p:cNvPr>
          <p:cNvSpPr>
            <a:spLocks noGrp="1"/>
          </p:cNvSpPr>
          <p:nvPr>
            <p:ph type="sldNum" sz="quarter" idx="12"/>
          </p:nvPr>
        </p:nvSpPr>
        <p:spPr/>
        <p:txBody>
          <a:bodyPr/>
          <a:lstStyle/>
          <a:p>
            <a:fld id="{E44C1BB5-D3AE-4CC0-B5EF-886510362FCB}" type="slidenum">
              <a:rPr lang="fr-FR" smtClean="0"/>
              <a:t>18</a:t>
            </a:fld>
            <a:endParaRPr lang="fr-FR"/>
          </a:p>
        </p:txBody>
      </p:sp>
    </p:spTree>
    <p:extLst>
      <p:ext uri="{BB962C8B-B14F-4D97-AF65-F5344CB8AC3E}">
        <p14:creationId xmlns:p14="http://schemas.microsoft.com/office/powerpoint/2010/main" val="2123706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B6696D-215C-0A69-650E-958A62A555DC}"/>
              </a:ext>
            </a:extLst>
          </p:cNvPr>
          <p:cNvSpPr>
            <a:spLocks noGrp="1"/>
          </p:cNvSpPr>
          <p:nvPr>
            <p:ph type="title"/>
          </p:nvPr>
        </p:nvSpPr>
        <p:spPr>
          <a:xfrm>
            <a:off x="609600" y="228600"/>
            <a:ext cx="10972800" cy="792162"/>
          </a:xfrm>
        </p:spPr>
        <p:txBody>
          <a:bodyPr>
            <a:normAutofit/>
          </a:bodyPr>
          <a:lstStyle/>
          <a:p>
            <a:r>
              <a:rPr lang="fr-FR" dirty="0"/>
              <a:t>Draft nouvelle structure du PEV central </a:t>
            </a:r>
          </a:p>
        </p:txBody>
      </p:sp>
      <p:graphicFrame>
        <p:nvGraphicFramePr>
          <p:cNvPr id="5" name="Espace réservé du contenu 4">
            <a:extLst>
              <a:ext uri="{FF2B5EF4-FFF2-40B4-BE49-F238E27FC236}">
                <a16:creationId xmlns:a16="http://schemas.microsoft.com/office/drawing/2014/main" id="{86C2D5AE-D567-CC9F-5784-2218FD7DA3B8}"/>
              </a:ext>
            </a:extLst>
          </p:cNvPr>
          <p:cNvGraphicFramePr>
            <a:graphicFrameLocks noGrp="1"/>
          </p:cNvGraphicFramePr>
          <p:nvPr>
            <p:ph idx="1"/>
            <p:extLst>
              <p:ext uri="{D42A27DB-BD31-4B8C-83A1-F6EECF244321}">
                <p14:modId xmlns:p14="http://schemas.microsoft.com/office/powerpoint/2010/main" val="3810006403"/>
              </p:ext>
            </p:extLst>
          </p:nvPr>
        </p:nvGraphicFramePr>
        <p:xfrm>
          <a:off x="609600" y="1235709"/>
          <a:ext cx="10972800" cy="5120640"/>
        </p:xfrm>
        <a:graphic>
          <a:graphicData uri="http://schemas.openxmlformats.org/drawingml/2006/table">
            <a:tbl>
              <a:tblPr firstRow="1" firstCol="1" bandRow="1">
                <a:tableStyleId>{5C22544A-7EE6-4342-B048-85BDC9FD1C3A}</a:tableStyleId>
              </a:tblPr>
              <a:tblGrid>
                <a:gridCol w="680502">
                  <a:extLst>
                    <a:ext uri="{9D8B030D-6E8A-4147-A177-3AD203B41FA5}">
                      <a16:colId xmlns:a16="http://schemas.microsoft.com/office/drawing/2014/main" val="1215483412"/>
                    </a:ext>
                  </a:extLst>
                </a:gridCol>
                <a:gridCol w="6522895">
                  <a:extLst>
                    <a:ext uri="{9D8B030D-6E8A-4147-A177-3AD203B41FA5}">
                      <a16:colId xmlns:a16="http://schemas.microsoft.com/office/drawing/2014/main" val="1253297633"/>
                    </a:ext>
                  </a:extLst>
                </a:gridCol>
                <a:gridCol w="1884096">
                  <a:extLst>
                    <a:ext uri="{9D8B030D-6E8A-4147-A177-3AD203B41FA5}">
                      <a16:colId xmlns:a16="http://schemas.microsoft.com/office/drawing/2014/main" val="3877237993"/>
                    </a:ext>
                  </a:extLst>
                </a:gridCol>
                <a:gridCol w="1885307">
                  <a:extLst>
                    <a:ext uri="{9D8B030D-6E8A-4147-A177-3AD203B41FA5}">
                      <a16:colId xmlns:a16="http://schemas.microsoft.com/office/drawing/2014/main" val="3074675362"/>
                    </a:ext>
                  </a:extLst>
                </a:gridCol>
              </a:tblGrid>
              <a:tr h="640080">
                <a:tc>
                  <a:txBody>
                    <a:bodyPr/>
                    <a:lstStyle/>
                    <a:p>
                      <a:pPr>
                        <a:lnSpc>
                          <a:spcPct val="100000"/>
                        </a:lnSpc>
                        <a:spcAft>
                          <a:spcPts val="0"/>
                        </a:spcAft>
                        <a:buNone/>
                      </a:pPr>
                      <a:r>
                        <a:rPr lang="fr-FR" sz="2800" kern="100">
                          <a:effectLst/>
                        </a:rPr>
                        <a:t>N°</a:t>
                      </a:r>
                      <a:endParaRPr lang="fr-FR"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0000"/>
                        </a:lnSpc>
                        <a:spcAft>
                          <a:spcPts val="0"/>
                        </a:spcAft>
                        <a:buNone/>
                      </a:pPr>
                      <a:r>
                        <a:rPr lang="fr-FR" sz="2800" kern="100" dirty="0">
                          <a:effectLst/>
                        </a:rPr>
                        <a:t>Divisions </a:t>
                      </a:r>
                      <a:endParaRPr lang="fr-FR"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0000"/>
                        </a:lnSpc>
                        <a:spcAft>
                          <a:spcPts val="0"/>
                        </a:spcAft>
                        <a:buNone/>
                      </a:pPr>
                      <a:r>
                        <a:rPr lang="fr-FR" sz="2800" kern="100">
                          <a:effectLst/>
                        </a:rPr>
                        <a:t>Services</a:t>
                      </a:r>
                      <a:endParaRPr lang="fr-FR"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0000"/>
                        </a:lnSpc>
                        <a:spcAft>
                          <a:spcPts val="0"/>
                        </a:spcAft>
                        <a:buNone/>
                      </a:pPr>
                      <a:r>
                        <a:rPr lang="fr-FR" sz="2800" kern="100">
                          <a:effectLst/>
                        </a:rPr>
                        <a:t>Sections</a:t>
                      </a:r>
                      <a:endParaRPr lang="fr-FR"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42505252"/>
                  </a:ext>
                </a:extLst>
              </a:tr>
              <a:tr h="640080">
                <a:tc>
                  <a:txBody>
                    <a:bodyPr/>
                    <a:lstStyle/>
                    <a:p>
                      <a:pPr algn="ctr">
                        <a:lnSpc>
                          <a:spcPct val="100000"/>
                        </a:lnSpc>
                        <a:spcAft>
                          <a:spcPts val="0"/>
                        </a:spcAft>
                        <a:buNone/>
                      </a:pPr>
                      <a:r>
                        <a:rPr lang="fr-FR" sz="2800" kern="100">
                          <a:effectLst/>
                        </a:rPr>
                        <a:t>0</a:t>
                      </a:r>
                      <a:endParaRPr lang="fr-FR"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0000"/>
                        </a:lnSpc>
                        <a:spcAft>
                          <a:spcPts val="0"/>
                        </a:spcAft>
                        <a:buNone/>
                      </a:pPr>
                      <a:r>
                        <a:rPr lang="fr-FR" sz="2800" kern="100" dirty="0">
                          <a:effectLst/>
                        </a:rPr>
                        <a:t>Direction du Programme</a:t>
                      </a:r>
                      <a:endParaRPr lang="fr-FR"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0000"/>
                        </a:lnSpc>
                        <a:spcAft>
                          <a:spcPts val="0"/>
                        </a:spcAft>
                        <a:buNone/>
                      </a:pPr>
                      <a:r>
                        <a:rPr lang="fr-FR" sz="2800" kern="100">
                          <a:effectLst/>
                        </a:rPr>
                        <a:t>2</a:t>
                      </a:r>
                      <a:endParaRPr lang="fr-FR"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r">
                        <a:lnSpc>
                          <a:spcPct val="100000"/>
                        </a:lnSpc>
                        <a:spcAft>
                          <a:spcPts val="0"/>
                        </a:spcAft>
                        <a:buNone/>
                      </a:pPr>
                      <a:r>
                        <a:rPr lang="fr-FR" sz="2800" kern="100">
                          <a:effectLst/>
                        </a:rPr>
                        <a:t>4</a:t>
                      </a:r>
                      <a:endParaRPr lang="fr-FR"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958264316"/>
                  </a:ext>
                </a:extLst>
              </a:tr>
              <a:tr h="640080">
                <a:tc>
                  <a:txBody>
                    <a:bodyPr/>
                    <a:lstStyle/>
                    <a:p>
                      <a:pPr algn="ctr">
                        <a:lnSpc>
                          <a:spcPct val="100000"/>
                        </a:lnSpc>
                        <a:spcAft>
                          <a:spcPts val="0"/>
                        </a:spcAft>
                        <a:buNone/>
                      </a:pPr>
                      <a:r>
                        <a:rPr lang="fr-FR" sz="2800" kern="100">
                          <a:effectLst/>
                        </a:rPr>
                        <a:t>1</a:t>
                      </a:r>
                      <a:endParaRPr lang="fr-FR"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0000"/>
                        </a:lnSpc>
                        <a:spcAft>
                          <a:spcPts val="0"/>
                        </a:spcAft>
                        <a:buNone/>
                      </a:pPr>
                      <a:r>
                        <a:rPr lang="fr-FR" sz="2800" kern="100" dirty="0">
                          <a:effectLst/>
                        </a:rPr>
                        <a:t>Division technique et surveillance </a:t>
                      </a:r>
                      <a:endParaRPr lang="fr-FR"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0000"/>
                        </a:lnSpc>
                        <a:spcAft>
                          <a:spcPts val="0"/>
                        </a:spcAft>
                        <a:buNone/>
                      </a:pPr>
                      <a:r>
                        <a:rPr lang="fr-FR" sz="2800" kern="100" dirty="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nchor="ctr"/>
                </a:tc>
                <a:tc>
                  <a:txBody>
                    <a:bodyPr/>
                    <a:lstStyle/>
                    <a:p>
                      <a:pPr algn="r">
                        <a:lnSpc>
                          <a:spcPct val="100000"/>
                        </a:lnSpc>
                        <a:spcAft>
                          <a:spcPts val="0"/>
                        </a:spcAft>
                        <a:buNone/>
                      </a:pPr>
                      <a:r>
                        <a:rPr lang="fr-FR" sz="2800" kern="100" dirty="0">
                          <a:effectLst/>
                        </a:rPr>
                        <a:t>16</a:t>
                      </a:r>
                      <a:endParaRPr lang="fr-FR"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1012317"/>
                  </a:ext>
                </a:extLst>
              </a:tr>
              <a:tr h="640080">
                <a:tc>
                  <a:txBody>
                    <a:bodyPr/>
                    <a:lstStyle/>
                    <a:p>
                      <a:pPr algn="ctr">
                        <a:lnSpc>
                          <a:spcPct val="100000"/>
                        </a:lnSpc>
                        <a:spcAft>
                          <a:spcPts val="0"/>
                        </a:spcAft>
                        <a:buNone/>
                      </a:pPr>
                      <a:r>
                        <a:rPr lang="fr-FR" sz="2800" kern="100" dirty="0">
                          <a:effectLst/>
                        </a:rPr>
                        <a:t>2</a:t>
                      </a:r>
                      <a:endParaRPr lang="fr-FR"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0000"/>
                        </a:lnSpc>
                        <a:spcAft>
                          <a:spcPts val="0"/>
                        </a:spcAft>
                        <a:buNone/>
                      </a:pPr>
                      <a:r>
                        <a:rPr lang="fr-FR" sz="2800" kern="100" dirty="0">
                          <a:effectLst/>
                        </a:rPr>
                        <a:t>Division logistique</a:t>
                      </a:r>
                      <a:endParaRPr lang="fr-FR"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0000"/>
                        </a:lnSpc>
                        <a:spcAft>
                          <a:spcPts val="0"/>
                        </a:spcAft>
                        <a:buNone/>
                      </a:pPr>
                      <a:r>
                        <a:rPr lang="fr-FR" sz="2800" kern="100">
                          <a:effectLst/>
                        </a:rPr>
                        <a:t>4</a:t>
                      </a:r>
                      <a:endParaRPr lang="fr-FR"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r">
                        <a:lnSpc>
                          <a:spcPct val="100000"/>
                        </a:lnSpc>
                        <a:spcAft>
                          <a:spcPts val="0"/>
                        </a:spcAft>
                        <a:buNone/>
                      </a:pPr>
                      <a:r>
                        <a:rPr lang="fr-FR" sz="2800" kern="100" dirty="0">
                          <a:effectLst/>
                        </a:rPr>
                        <a:t>9</a:t>
                      </a:r>
                      <a:endParaRPr lang="fr-FR"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62377514"/>
                  </a:ext>
                </a:extLst>
              </a:tr>
              <a:tr h="640080">
                <a:tc>
                  <a:txBody>
                    <a:bodyPr/>
                    <a:lstStyle/>
                    <a:p>
                      <a:pPr algn="ctr">
                        <a:lnSpc>
                          <a:spcPct val="100000"/>
                        </a:lnSpc>
                        <a:spcAft>
                          <a:spcPts val="0"/>
                        </a:spcAft>
                        <a:buNone/>
                      </a:pPr>
                      <a:r>
                        <a:rPr lang="fr-FR" sz="2800" kern="1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tc>
                <a:tc>
                  <a:txBody>
                    <a:bodyPr/>
                    <a:lstStyle/>
                    <a:p>
                      <a:pPr>
                        <a:lnSpc>
                          <a:spcPct val="100000"/>
                        </a:lnSpc>
                        <a:spcAft>
                          <a:spcPts val="0"/>
                        </a:spcAft>
                        <a:buNone/>
                      </a:pPr>
                      <a:r>
                        <a:rPr lang="fr-FR" sz="2800" kern="100" dirty="0">
                          <a:effectLst/>
                        </a:rPr>
                        <a:t>Division de planification, S &amp; E et recherche</a:t>
                      </a:r>
                      <a:endParaRPr lang="fr-FR"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0000"/>
                        </a:lnSpc>
                        <a:spcAft>
                          <a:spcPts val="0"/>
                        </a:spcAft>
                        <a:buNone/>
                      </a:pPr>
                      <a:r>
                        <a:rPr lang="fr-FR" sz="2800" kern="100" dirty="0">
                          <a:effectLst/>
                        </a:rPr>
                        <a:t>4</a:t>
                      </a:r>
                      <a:endParaRPr lang="fr-FR"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r">
                        <a:lnSpc>
                          <a:spcPct val="100000"/>
                        </a:lnSpc>
                        <a:spcAft>
                          <a:spcPts val="0"/>
                        </a:spcAft>
                        <a:buNone/>
                      </a:pPr>
                      <a:r>
                        <a:rPr lang="fr-FR" sz="2800" kern="100" dirty="0">
                          <a:effectLst/>
                        </a:rPr>
                        <a:t>12</a:t>
                      </a:r>
                      <a:endParaRPr lang="fr-FR"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95223241"/>
                  </a:ext>
                </a:extLst>
              </a:tr>
              <a:tr h="640080">
                <a:tc>
                  <a:txBody>
                    <a:bodyPr/>
                    <a:lstStyle/>
                    <a:p>
                      <a:pPr algn="ctr">
                        <a:lnSpc>
                          <a:spcPct val="100000"/>
                        </a:lnSpc>
                        <a:spcAft>
                          <a:spcPts val="0"/>
                        </a:spcAft>
                        <a:buNone/>
                      </a:pPr>
                      <a:r>
                        <a:rPr lang="fr-FR" sz="2800" kern="1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tc>
                <a:tc>
                  <a:txBody>
                    <a:bodyPr/>
                    <a:lstStyle/>
                    <a:p>
                      <a:pPr>
                        <a:lnSpc>
                          <a:spcPct val="100000"/>
                        </a:lnSpc>
                        <a:spcAft>
                          <a:spcPts val="0"/>
                        </a:spcAft>
                        <a:buNone/>
                      </a:pPr>
                      <a:r>
                        <a:rPr lang="fr-FR" sz="2800" kern="100" dirty="0">
                          <a:effectLst/>
                        </a:rPr>
                        <a:t>Division communication et partenariat</a:t>
                      </a:r>
                      <a:endParaRPr lang="fr-FR"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0000"/>
                        </a:lnSpc>
                        <a:spcAft>
                          <a:spcPts val="0"/>
                        </a:spcAft>
                        <a:buNone/>
                      </a:pPr>
                      <a:r>
                        <a:rPr lang="fr-FR" sz="2800" kern="100" dirty="0">
                          <a:effectLst/>
                        </a:rPr>
                        <a:t>4</a:t>
                      </a:r>
                      <a:endParaRPr lang="fr-FR"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r">
                        <a:lnSpc>
                          <a:spcPct val="100000"/>
                        </a:lnSpc>
                        <a:spcAft>
                          <a:spcPts val="0"/>
                        </a:spcAft>
                        <a:buNone/>
                      </a:pPr>
                      <a:r>
                        <a:rPr lang="fr-FR" sz="2800" kern="100" dirty="0">
                          <a:effectLst/>
                        </a:rPr>
                        <a:t>11</a:t>
                      </a:r>
                      <a:endParaRPr lang="fr-FR"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43363090"/>
                  </a:ext>
                </a:extLst>
              </a:tr>
              <a:tr h="640080">
                <a:tc>
                  <a:txBody>
                    <a:bodyPr/>
                    <a:lstStyle/>
                    <a:p>
                      <a:pPr algn="ctr">
                        <a:lnSpc>
                          <a:spcPct val="100000"/>
                        </a:lnSpc>
                        <a:spcAft>
                          <a:spcPts val="0"/>
                        </a:spcAft>
                        <a:buNone/>
                      </a:pPr>
                      <a:r>
                        <a:rPr lang="fr-FR" sz="2800" kern="100" dirty="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tc>
                <a:tc>
                  <a:txBody>
                    <a:bodyPr/>
                    <a:lstStyle/>
                    <a:p>
                      <a:pPr>
                        <a:lnSpc>
                          <a:spcPct val="100000"/>
                        </a:lnSpc>
                        <a:spcAft>
                          <a:spcPts val="0"/>
                        </a:spcAft>
                        <a:buNone/>
                      </a:pPr>
                      <a:r>
                        <a:rPr lang="fr-FR" sz="2800" kern="100" dirty="0">
                          <a:effectLst/>
                        </a:rPr>
                        <a:t>Division administration et finances</a:t>
                      </a:r>
                      <a:endParaRPr lang="fr-FR"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0000"/>
                        </a:lnSpc>
                        <a:spcAft>
                          <a:spcPts val="0"/>
                        </a:spcAft>
                        <a:buNone/>
                      </a:pPr>
                      <a:r>
                        <a:rPr lang="fr-FR" sz="2800" kern="100">
                          <a:effectLst/>
                        </a:rPr>
                        <a:t>4</a:t>
                      </a:r>
                      <a:endParaRPr lang="fr-FR"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r">
                        <a:lnSpc>
                          <a:spcPct val="100000"/>
                        </a:lnSpc>
                        <a:spcAft>
                          <a:spcPts val="0"/>
                        </a:spcAft>
                        <a:buNone/>
                      </a:pPr>
                      <a:r>
                        <a:rPr lang="fr-FR" sz="2800" kern="100">
                          <a:effectLst/>
                        </a:rPr>
                        <a:t>12</a:t>
                      </a:r>
                      <a:endParaRPr lang="fr-FR"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36842663"/>
                  </a:ext>
                </a:extLst>
              </a:tr>
              <a:tr h="640080">
                <a:tc>
                  <a:txBody>
                    <a:bodyPr/>
                    <a:lstStyle/>
                    <a:p>
                      <a:pPr algn="ctr">
                        <a:lnSpc>
                          <a:spcPct val="100000"/>
                        </a:lnSpc>
                        <a:spcAft>
                          <a:spcPts val="0"/>
                        </a:spcAft>
                        <a:buNone/>
                      </a:pPr>
                      <a:r>
                        <a:rPr lang="fr-FR" sz="2800" kern="100">
                          <a:effectLst/>
                        </a:rPr>
                        <a:t> </a:t>
                      </a:r>
                      <a:endParaRPr lang="fr-FR"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0000"/>
                        </a:lnSpc>
                        <a:spcAft>
                          <a:spcPts val="0"/>
                        </a:spcAft>
                        <a:buNone/>
                      </a:pPr>
                      <a:r>
                        <a:rPr lang="fr-FR" sz="2800" b="1" kern="100" dirty="0">
                          <a:effectLst/>
                        </a:rPr>
                        <a:t>Direction et 5 Divisions </a:t>
                      </a:r>
                      <a:endParaRPr lang="fr-FR" sz="2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0000"/>
                        </a:lnSpc>
                        <a:spcAft>
                          <a:spcPts val="0"/>
                        </a:spcAft>
                        <a:buNone/>
                      </a:pPr>
                      <a:r>
                        <a:rPr lang="fr-FR" sz="2800" b="1" kern="100" dirty="0">
                          <a:effectLst/>
                        </a:rPr>
                        <a:t>23</a:t>
                      </a:r>
                      <a:endParaRPr lang="fr-FR" sz="2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r">
                        <a:lnSpc>
                          <a:spcPct val="100000"/>
                        </a:lnSpc>
                        <a:spcAft>
                          <a:spcPts val="0"/>
                        </a:spcAft>
                        <a:buNone/>
                      </a:pPr>
                      <a:r>
                        <a:rPr lang="fr-FR" sz="2800" b="1" kern="100" dirty="0">
                          <a:effectLst/>
                        </a:rPr>
                        <a:t>64</a:t>
                      </a:r>
                      <a:endParaRPr lang="fr-FR" sz="2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56961535"/>
                  </a:ext>
                </a:extLst>
              </a:tr>
            </a:tbl>
          </a:graphicData>
        </a:graphic>
      </p:graphicFrame>
      <p:sp>
        <p:nvSpPr>
          <p:cNvPr id="4" name="Espace réservé du numéro de diapositive 3">
            <a:extLst>
              <a:ext uri="{FF2B5EF4-FFF2-40B4-BE49-F238E27FC236}">
                <a16:creationId xmlns:a16="http://schemas.microsoft.com/office/drawing/2014/main" id="{FFAFB57C-0652-C109-E028-E9EF1ECB8A9D}"/>
              </a:ext>
            </a:extLst>
          </p:cNvPr>
          <p:cNvSpPr>
            <a:spLocks noGrp="1"/>
          </p:cNvSpPr>
          <p:nvPr>
            <p:ph type="sldNum" sz="quarter" idx="12"/>
          </p:nvPr>
        </p:nvSpPr>
        <p:spPr/>
        <p:txBody>
          <a:bodyPr/>
          <a:lstStyle/>
          <a:p>
            <a:fld id="{E44C1BB5-D3AE-4CC0-B5EF-886510362FCB}" type="slidenum">
              <a:rPr lang="fr-FR" smtClean="0"/>
              <a:t>19</a:t>
            </a:fld>
            <a:endParaRPr lang="fr-FR"/>
          </a:p>
        </p:txBody>
      </p:sp>
    </p:spTree>
    <p:extLst>
      <p:ext uri="{BB962C8B-B14F-4D97-AF65-F5344CB8AC3E}">
        <p14:creationId xmlns:p14="http://schemas.microsoft.com/office/powerpoint/2010/main" val="2886491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FDDA92-480A-A5DA-CCD3-31893242940B}"/>
              </a:ext>
            </a:extLst>
          </p:cNvPr>
          <p:cNvSpPr>
            <a:spLocks noGrp="1"/>
          </p:cNvSpPr>
          <p:nvPr>
            <p:ph type="title"/>
          </p:nvPr>
        </p:nvSpPr>
        <p:spPr>
          <a:xfrm>
            <a:off x="609600" y="0"/>
            <a:ext cx="10972800" cy="715962"/>
          </a:xfrm>
        </p:spPr>
        <p:txBody>
          <a:bodyPr>
            <a:normAutofit fontScale="90000"/>
          </a:bodyPr>
          <a:lstStyle/>
          <a:p>
            <a:r>
              <a:rPr lang="fr-FR" dirty="0"/>
              <a:t>Draft d’un nouvel Organigramme du PEV</a:t>
            </a:r>
          </a:p>
        </p:txBody>
      </p:sp>
      <p:sp>
        <p:nvSpPr>
          <p:cNvPr id="4" name="Espace réservé du numéro de diapositive 3">
            <a:extLst>
              <a:ext uri="{FF2B5EF4-FFF2-40B4-BE49-F238E27FC236}">
                <a16:creationId xmlns:a16="http://schemas.microsoft.com/office/drawing/2014/main" id="{C9878093-3E33-5B3E-43F6-7CEFC079A5D4}"/>
              </a:ext>
            </a:extLst>
          </p:cNvPr>
          <p:cNvSpPr>
            <a:spLocks noGrp="1"/>
          </p:cNvSpPr>
          <p:nvPr>
            <p:ph type="sldNum" sz="quarter" idx="12"/>
          </p:nvPr>
        </p:nvSpPr>
        <p:spPr/>
        <p:txBody>
          <a:bodyPr/>
          <a:lstStyle/>
          <a:p>
            <a:fld id="{E44C1BB5-D3AE-4CC0-B5EF-886510362FCB}" type="slidenum">
              <a:rPr lang="fr-FR" smtClean="0"/>
              <a:t>20</a:t>
            </a:fld>
            <a:endParaRPr lang="fr-FR"/>
          </a:p>
        </p:txBody>
      </p:sp>
      <p:pic>
        <p:nvPicPr>
          <p:cNvPr id="10" name="Espace réservé du contenu 9">
            <a:extLst>
              <a:ext uri="{FF2B5EF4-FFF2-40B4-BE49-F238E27FC236}">
                <a16:creationId xmlns:a16="http://schemas.microsoft.com/office/drawing/2014/main" id="{18334ACA-75C8-916E-3CFE-023239A56A21}"/>
              </a:ext>
            </a:extLst>
          </p:cNvPr>
          <p:cNvPicPr>
            <a:picLocks noGrp="1" noChangeAspect="1"/>
          </p:cNvPicPr>
          <p:nvPr>
            <p:ph idx="1"/>
          </p:nvPr>
        </p:nvPicPr>
        <p:blipFill>
          <a:blip r:embed="rId2"/>
          <a:stretch>
            <a:fillRect/>
          </a:stretch>
        </p:blipFill>
        <p:spPr>
          <a:xfrm>
            <a:off x="228600" y="609600"/>
            <a:ext cx="11506199" cy="6111876"/>
          </a:xfrm>
          <a:prstGeom prst="rect">
            <a:avLst/>
          </a:prstGeom>
        </p:spPr>
      </p:pic>
    </p:spTree>
    <p:extLst>
      <p:ext uri="{BB962C8B-B14F-4D97-AF65-F5344CB8AC3E}">
        <p14:creationId xmlns:p14="http://schemas.microsoft.com/office/powerpoint/2010/main" val="2449976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C9FBB9-7963-7E1E-D375-FA71E9F878D5}"/>
              </a:ext>
            </a:extLst>
          </p:cNvPr>
          <p:cNvSpPr>
            <a:spLocks noGrp="1"/>
          </p:cNvSpPr>
          <p:nvPr>
            <p:ph type="title"/>
          </p:nvPr>
        </p:nvSpPr>
        <p:spPr>
          <a:xfrm>
            <a:off x="609600" y="167004"/>
            <a:ext cx="10972800" cy="563562"/>
          </a:xfrm>
        </p:spPr>
        <p:txBody>
          <a:bodyPr>
            <a:normAutofit fontScale="90000"/>
          </a:bodyPr>
          <a:lstStyle/>
          <a:p>
            <a:r>
              <a:rPr lang="fr-FR" altLang="fr-FR" b="1" dirty="0">
                <a:latin typeface="Times New Roman" panose="02020603050405020304" pitchFamily="18" charset="0"/>
                <a:ea typeface="Calibri" panose="020F0502020204030204" pitchFamily="34" charset="0"/>
                <a:cs typeface="Times New Roman" panose="02020603050405020304" pitchFamily="18" charset="0"/>
              </a:rPr>
              <a:t>Composition d’une Antenne PEV</a:t>
            </a:r>
            <a:endParaRPr lang="fr-FR" dirty="0"/>
          </a:p>
        </p:txBody>
      </p:sp>
      <p:graphicFrame>
        <p:nvGraphicFramePr>
          <p:cNvPr id="5" name="Espace réservé du contenu 4">
            <a:extLst>
              <a:ext uri="{FF2B5EF4-FFF2-40B4-BE49-F238E27FC236}">
                <a16:creationId xmlns:a16="http://schemas.microsoft.com/office/drawing/2014/main" id="{C83D5146-7466-02EE-6B89-BD226855AF83}"/>
              </a:ext>
            </a:extLst>
          </p:cNvPr>
          <p:cNvGraphicFramePr>
            <a:graphicFrameLocks noGrp="1"/>
          </p:cNvGraphicFramePr>
          <p:nvPr>
            <p:ph idx="1"/>
            <p:extLst>
              <p:ext uri="{D42A27DB-BD31-4B8C-83A1-F6EECF244321}">
                <p14:modId xmlns:p14="http://schemas.microsoft.com/office/powerpoint/2010/main" val="1552277495"/>
              </p:ext>
            </p:extLst>
          </p:nvPr>
        </p:nvGraphicFramePr>
        <p:xfrm>
          <a:off x="533400" y="914400"/>
          <a:ext cx="10972800" cy="5663178"/>
        </p:xfrm>
        <a:graphic>
          <a:graphicData uri="http://schemas.openxmlformats.org/drawingml/2006/table">
            <a:tbl>
              <a:tblPr firstRow="1" firstCol="1" bandRow="1">
                <a:tableStyleId>{5C22544A-7EE6-4342-B048-85BDC9FD1C3A}</a:tableStyleId>
              </a:tblPr>
              <a:tblGrid>
                <a:gridCol w="381000">
                  <a:extLst>
                    <a:ext uri="{9D8B030D-6E8A-4147-A177-3AD203B41FA5}">
                      <a16:colId xmlns:a16="http://schemas.microsoft.com/office/drawing/2014/main" val="1252411802"/>
                    </a:ext>
                  </a:extLst>
                </a:gridCol>
                <a:gridCol w="1981200">
                  <a:extLst>
                    <a:ext uri="{9D8B030D-6E8A-4147-A177-3AD203B41FA5}">
                      <a16:colId xmlns:a16="http://schemas.microsoft.com/office/drawing/2014/main" val="3919097171"/>
                    </a:ext>
                  </a:extLst>
                </a:gridCol>
                <a:gridCol w="8610600">
                  <a:extLst>
                    <a:ext uri="{9D8B030D-6E8A-4147-A177-3AD203B41FA5}">
                      <a16:colId xmlns:a16="http://schemas.microsoft.com/office/drawing/2014/main" val="4014308503"/>
                    </a:ext>
                  </a:extLst>
                </a:gridCol>
              </a:tblGrid>
              <a:tr h="454747">
                <a:tc>
                  <a:txBody>
                    <a:bodyPr/>
                    <a:lstStyle/>
                    <a:p>
                      <a:pPr>
                        <a:lnSpc>
                          <a:spcPct val="100000"/>
                        </a:lnSpc>
                        <a:spcAft>
                          <a:spcPts val="800"/>
                        </a:spcAft>
                        <a:buNone/>
                      </a:pPr>
                      <a:r>
                        <a:rPr lang="fr-FR" sz="2000" kern="100">
                          <a:effectLst/>
                        </a:rPr>
                        <a:t> </a:t>
                      </a:r>
                      <a:endParaRPr lang="fr-FR"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tc>
                  <a:txBody>
                    <a:bodyPr/>
                    <a:lstStyle/>
                    <a:p>
                      <a:pPr>
                        <a:lnSpc>
                          <a:spcPct val="100000"/>
                        </a:lnSpc>
                        <a:spcAft>
                          <a:spcPts val="800"/>
                        </a:spcAft>
                        <a:buNone/>
                      </a:pPr>
                      <a:r>
                        <a:rPr lang="fr-FR" sz="2000" b="1" kern="100">
                          <a:effectLst/>
                        </a:rPr>
                        <a:t>POSTES DE TRAVAIL</a:t>
                      </a:r>
                      <a:endParaRPr lang="fr-FR" sz="20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tc>
                  <a:txBody>
                    <a:bodyPr/>
                    <a:lstStyle/>
                    <a:p>
                      <a:pPr>
                        <a:lnSpc>
                          <a:spcPct val="100000"/>
                        </a:lnSpc>
                        <a:spcAft>
                          <a:spcPts val="800"/>
                        </a:spcAft>
                        <a:buNone/>
                      </a:pPr>
                      <a:r>
                        <a:rPr lang="fr-FR" sz="2000" kern="100">
                          <a:effectLst/>
                        </a:rPr>
                        <a:t>MISSIONS PRINCIPALES </a:t>
                      </a:r>
                      <a:endParaRPr lang="fr-FR"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extLst>
                  <a:ext uri="{0D108BD9-81ED-4DB2-BD59-A6C34878D82A}">
                    <a16:rowId xmlns:a16="http://schemas.microsoft.com/office/drawing/2014/main" val="454927082"/>
                  </a:ext>
                </a:extLst>
              </a:tr>
              <a:tr h="990600">
                <a:tc>
                  <a:txBody>
                    <a:bodyPr/>
                    <a:lstStyle/>
                    <a:p>
                      <a:pPr>
                        <a:lnSpc>
                          <a:spcPct val="100000"/>
                        </a:lnSpc>
                        <a:spcAft>
                          <a:spcPts val="800"/>
                        </a:spcAft>
                        <a:buNone/>
                      </a:pPr>
                      <a:r>
                        <a:rPr lang="fr-FR" sz="2000" kern="100">
                          <a:effectLst/>
                        </a:rPr>
                        <a:t>1</a:t>
                      </a:r>
                      <a:endParaRPr lang="fr-FR"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tc>
                  <a:txBody>
                    <a:bodyPr/>
                    <a:lstStyle/>
                    <a:p>
                      <a:pPr>
                        <a:lnSpc>
                          <a:spcPct val="100000"/>
                        </a:lnSpc>
                        <a:spcAft>
                          <a:spcPts val="800"/>
                        </a:spcAft>
                        <a:buNone/>
                      </a:pPr>
                      <a:r>
                        <a:rPr lang="fr-CD" sz="2000" b="1" kern="100" dirty="0">
                          <a:effectLst/>
                        </a:rPr>
                        <a:t>Médecin Chef d’Antenne PEV (MCA) </a:t>
                      </a:r>
                      <a:endParaRPr lang="fr-FR"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tc>
                  <a:txBody>
                    <a:bodyPr/>
                    <a:lstStyle/>
                    <a:p>
                      <a:pPr marL="0" indent="0" algn="just">
                        <a:lnSpc>
                          <a:spcPct val="100000"/>
                        </a:lnSpc>
                        <a:spcAft>
                          <a:spcPts val="800"/>
                        </a:spcAft>
                        <a:buNone/>
                      </a:pPr>
                      <a:r>
                        <a:rPr lang="fr-CD" sz="2000" kern="100" dirty="0">
                          <a:effectLst/>
                        </a:rPr>
                        <a:t>Assurer la planification, la mise en œuvre, la supervision, le suivi et l’évaluation des activités de l’antenne provinciale du PEV, conformément aux politiques, normes et stratégies édictées par le niveau central du programme.</a:t>
                      </a:r>
                      <a:endParaRPr lang="fr-FR"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extLst>
                  <a:ext uri="{0D108BD9-81ED-4DB2-BD59-A6C34878D82A}">
                    <a16:rowId xmlns:a16="http://schemas.microsoft.com/office/drawing/2014/main" val="2937528183"/>
                  </a:ext>
                </a:extLst>
              </a:tr>
              <a:tr h="990600">
                <a:tc>
                  <a:txBody>
                    <a:bodyPr/>
                    <a:lstStyle/>
                    <a:p>
                      <a:pPr>
                        <a:lnSpc>
                          <a:spcPct val="100000"/>
                        </a:lnSpc>
                        <a:spcAft>
                          <a:spcPts val="800"/>
                        </a:spcAft>
                        <a:buNone/>
                      </a:pPr>
                      <a:r>
                        <a:rPr lang="fr-FR" sz="2000" kern="100">
                          <a:effectLst/>
                        </a:rPr>
                        <a:t>2</a:t>
                      </a:r>
                      <a:endParaRPr lang="fr-FR"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tc>
                  <a:txBody>
                    <a:bodyPr/>
                    <a:lstStyle/>
                    <a:p>
                      <a:pPr>
                        <a:lnSpc>
                          <a:spcPct val="100000"/>
                        </a:lnSpc>
                        <a:spcAft>
                          <a:spcPts val="800"/>
                        </a:spcAft>
                        <a:buNone/>
                      </a:pPr>
                      <a:r>
                        <a:rPr lang="fr-CD" sz="2000" b="1" kern="100" dirty="0">
                          <a:effectLst/>
                        </a:rPr>
                        <a:t>Assistant au MCA de l’Antenne</a:t>
                      </a:r>
                      <a:endParaRPr lang="fr-FR"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tc>
                  <a:txBody>
                    <a:bodyPr/>
                    <a:lstStyle/>
                    <a:p>
                      <a:pPr algn="just">
                        <a:lnSpc>
                          <a:spcPct val="100000"/>
                        </a:lnSpc>
                        <a:spcAft>
                          <a:spcPts val="800"/>
                        </a:spcAft>
                        <a:buNone/>
                      </a:pPr>
                      <a:r>
                        <a:rPr lang="fr-CD" sz="2000" kern="100">
                          <a:effectLst/>
                        </a:rPr>
                        <a:t>Assister le MCA dans la planification, la mise en œuvre, la supervision, le suivi et l’évaluation des activités de l’antenne provinciale du PEV, conformément aux politiques, normes et stratégies édictées par le niveau central du programme.</a:t>
                      </a:r>
                      <a:endParaRPr lang="fr-FR"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extLst>
                  <a:ext uri="{0D108BD9-81ED-4DB2-BD59-A6C34878D82A}">
                    <a16:rowId xmlns:a16="http://schemas.microsoft.com/office/drawing/2014/main" val="1964414592"/>
                  </a:ext>
                </a:extLst>
              </a:tr>
              <a:tr h="685800">
                <a:tc>
                  <a:txBody>
                    <a:bodyPr/>
                    <a:lstStyle/>
                    <a:p>
                      <a:pPr>
                        <a:lnSpc>
                          <a:spcPct val="100000"/>
                        </a:lnSpc>
                        <a:spcAft>
                          <a:spcPts val="800"/>
                        </a:spcAft>
                        <a:buNone/>
                      </a:pPr>
                      <a:r>
                        <a:rPr lang="fr-FR" sz="2000" kern="100">
                          <a:effectLst/>
                        </a:rPr>
                        <a:t>3</a:t>
                      </a:r>
                      <a:endParaRPr lang="fr-FR"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tc>
                  <a:txBody>
                    <a:bodyPr/>
                    <a:lstStyle/>
                    <a:p>
                      <a:pPr>
                        <a:lnSpc>
                          <a:spcPct val="100000"/>
                        </a:lnSpc>
                        <a:spcAft>
                          <a:spcPts val="800"/>
                        </a:spcAft>
                        <a:buNone/>
                      </a:pPr>
                      <a:r>
                        <a:rPr lang="fr-CD" sz="2000" b="1" kern="100">
                          <a:effectLst/>
                        </a:rPr>
                        <a:t>Logisticien de l’Antenne PEV</a:t>
                      </a:r>
                      <a:endParaRPr lang="fr-FR" sz="20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tc>
                  <a:txBody>
                    <a:bodyPr/>
                    <a:lstStyle/>
                    <a:p>
                      <a:pPr>
                        <a:lnSpc>
                          <a:spcPct val="100000"/>
                        </a:lnSpc>
                        <a:spcAft>
                          <a:spcPts val="800"/>
                        </a:spcAft>
                        <a:buNone/>
                      </a:pPr>
                      <a:r>
                        <a:rPr lang="fr-CD" sz="2000" kern="100">
                          <a:effectLst/>
                        </a:rPr>
                        <a:t>Planifier, coordonner, suivre et évaluer la gestion des stocks et la conservation des vaccins et autres intrants au niveau de l’antenne provinciale du PEV.</a:t>
                      </a:r>
                      <a:endParaRPr lang="fr-FR"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extLst>
                  <a:ext uri="{0D108BD9-81ED-4DB2-BD59-A6C34878D82A}">
                    <a16:rowId xmlns:a16="http://schemas.microsoft.com/office/drawing/2014/main" val="3198131221"/>
                  </a:ext>
                </a:extLst>
              </a:tr>
              <a:tr h="687832">
                <a:tc>
                  <a:txBody>
                    <a:bodyPr/>
                    <a:lstStyle/>
                    <a:p>
                      <a:pPr>
                        <a:lnSpc>
                          <a:spcPct val="100000"/>
                        </a:lnSpc>
                        <a:spcAft>
                          <a:spcPts val="800"/>
                        </a:spcAft>
                        <a:buNone/>
                      </a:pPr>
                      <a:r>
                        <a:rPr lang="fr-FR" sz="2000" kern="100">
                          <a:effectLst/>
                        </a:rPr>
                        <a:t>4</a:t>
                      </a:r>
                      <a:endParaRPr lang="fr-FR"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tc>
                  <a:txBody>
                    <a:bodyPr/>
                    <a:lstStyle/>
                    <a:p>
                      <a:pPr>
                        <a:lnSpc>
                          <a:spcPct val="100000"/>
                        </a:lnSpc>
                        <a:spcAft>
                          <a:spcPts val="800"/>
                        </a:spcAft>
                        <a:buNone/>
                      </a:pPr>
                      <a:r>
                        <a:rPr lang="fr-CD" sz="2000" b="1" kern="100">
                          <a:effectLst/>
                        </a:rPr>
                        <a:t>Maintenancier de l’Antenne PEV</a:t>
                      </a:r>
                      <a:endParaRPr lang="fr-FR" sz="20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tc>
                  <a:txBody>
                    <a:bodyPr/>
                    <a:lstStyle/>
                    <a:p>
                      <a:pPr algn="just">
                        <a:lnSpc>
                          <a:spcPct val="100000"/>
                        </a:lnSpc>
                        <a:spcAft>
                          <a:spcPts val="800"/>
                        </a:spcAft>
                        <a:buNone/>
                      </a:pPr>
                      <a:r>
                        <a:rPr lang="fr-CD" sz="2000" kern="100">
                          <a:effectLst/>
                        </a:rPr>
                        <a:t>Planifier, superviser et assurer la maintenance des équipements et l’entretien des infrastructures.</a:t>
                      </a:r>
                      <a:endParaRPr lang="fr-FR"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extLst>
                  <a:ext uri="{0D108BD9-81ED-4DB2-BD59-A6C34878D82A}">
                    <a16:rowId xmlns:a16="http://schemas.microsoft.com/office/drawing/2014/main" val="762625646"/>
                  </a:ext>
                </a:extLst>
              </a:tr>
              <a:tr h="1010914">
                <a:tc>
                  <a:txBody>
                    <a:bodyPr/>
                    <a:lstStyle/>
                    <a:p>
                      <a:pPr>
                        <a:lnSpc>
                          <a:spcPct val="100000"/>
                        </a:lnSpc>
                        <a:spcAft>
                          <a:spcPts val="800"/>
                        </a:spcAft>
                        <a:buNone/>
                      </a:pPr>
                      <a:r>
                        <a:rPr lang="fr-FR" sz="2000" kern="100">
                          <a:effectLst/>
                        </a:rPr>
                        <a:t>5</a:t>
                      </a:r>
                      <a:endParaRPr lang="fr-FR"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tc>
                  <a:txBody>
                    <a:bodyPr/>
                    <a:lstStyle/>
                    <a:p>
                      <a:pPr>
                        <a:lnSpc>
                          <a:spcPct val="100000"/>
                        </a:lnSpc>
                        <a:spcAft>
                          <a:spcPts val="800"/>
                        </a:spcAft>
                        <a:buNone/>
                      </a:pPr>
                      <a:r>
                        <a:rPr lang="fr-CD" sz="2000" b="1" kern="100" dirty="0">
                          <a:effectLst/>
                        </a:rPr>
                        <a:t>Chauffeur </a:t>
                      </a:r>
                      <a:r>
                        <a:rPr lang="fr-CD" sz="2000" b="1" kern="100">
                          <a:effectLst/>
                        </a:rPr>
                        <a:t>– Mécanicien</a:t>
                      </a:r>
                      <a:endParaRPr lang="fr-FR"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tc>
                  <a:txBody>
                    <a:bodyPr/>
                    <a:lstStyle/>
                    <a:p>
                      <a:pPr algn="just">
                        <a:lnSpc>
                          <a:spcPct val="100000"/>
                        </a:lnSpc>
                        <a:spcAft>
                          <a:spcPts val="800"/>
                        </a:spcAft>
                        <a:buNone/>
                      </a:pPr>
                      <a:r>
                        <a:rPr lang="fr-CD" sz="2000" kern="100">
                          <a:effectLst/>
                        </a:rPr>
                        <a:t>Planifier, assurer et superviser la gestion rationnelle du charroi automobile de l’Antenne provinciale du PEV.</a:t>
                      </a:r>
                      <a:endParaRPr lang="fr-FR"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extLst>
                  <a:ext uri="{0D108BD9-81ED-4DB2-BD59-A6C34878D82A}">
                    <a16:rowId xmlns:a16="http://schemas.microsoft.com/office/drawing/2014/main" val="3590269132"/>
                  </a:ext>
                </a:extLst>
              </a:tr>
              <a:tr h="687832">
                <a:tc>
                  <a:txBody>
                    <a:bodyPr/>
                    <a:lstStyle/>
                    <a:p>
                      <a:pPr>
                        <a:lnSpc>
                          <a:spcPct val="100000"/>
                        </a:lnSpc>
                        <a:spcAft>
                          <a:spcPts val="800"/>
                        </a:spcAft>
                        <a:buNone/>
                      </a:pPr>
                      <a:r>
                        <a:rPr lang="fr-FR" sz="2000" kern="100">
                          <a:effectLst/>
                        </a:rPr>
                        <a:t>6</a:t>
                      </a:r>
                      <a:endParaRPr lang="fr-FR"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tc>
                  <a:txBody>
                    <a:bodyPr/>
                    <a:lstStyle/>
                    <a:p>
                      <a:pPr>
                        <a:lnSpc>
                          <a:spcPct val="100000"/>
                        </a:lnSpc>
                        <a:spcAft>
                          <a:spcPts val="800"/>
                        </a:spcAft>
                        <a:buNone/>
                      </a:pPr>
                      <a:r>
                        <a:rPr lang="fr-CD" sz="2000" b="1" kern="100" dirty="0">
                          <a:effectLst/>
                        </a:rPr>
                        <a:t>Gardien de l’Antenne </a:t>
                      </a:r>
                      <a:endParaRPr lang="fr-FR"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tc>
                  <a:txBody>
                    <a:bodyPr/>
                    <a:lstStyle/>
                    <a:p>
                      <a:pPr>
                        <a:lnSpc>
                          <a:spcPct val="100000"/>
                        </a:lnSpc>
                        <a:spcAft>
                          <a:spcPts val="800"/>
                        </a:spcAft>
                        <a:buNone/>
                      </a:pPr>
                      <a:r>
                        <a:rPr lang="fr-CD" sz="2000" kern="100" dirty="0">
                          <a:effectLst/>
                        </a:rPr>
                        <a:t>Assurer la sécurité du personnel sur les lieux du travail, des biens meubles et immeubles de l’Antenne provinciale du PEV</a:t>
                      </a:r>
                      <a:endParaRPr lang="fr-FR"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7041" marR="67041" marT="0" marB="0"/>
                </a:tc>
                <a:extLst>
                  <a:ext uri="{0D108BD9-81ED-4DB2-BD59-A6C34878D82A}">
                    <a16:rowId xmlns:a16="http://schemas.microsoft.com/office/drawing/2014/main" val="635202061"/>
                  </a:ext>
                </a:extLst>
              </a:tr>
            </a:tbl>
          </a:graphicData>
        </a:graphic>
      </p:graphicFrame>
      <p:sp>
        <p:nvSpPr>
          <p:cNvPr id="4" name="Espace réservé du numéro de diapositive 3">
            <a:extLst>
              <a:ext uri="{FF2B5EF4-FFF2-40B4-BE49-F238E27FC236}">
                <a16:creationId xmlns:a16="http://schemas.microsoft.com/office/drawing/2014/main" id="{24D93701-F230-CBBC-C693-2F24F713C117}"/>
              </a:ext>
            </a:extLst>
          </p:cNvPr>
          <p:cNvSpPr>
            <a:spLocks noGrp="1"/>
          </p:cNvSpPr>
          <p:nvPr>
            <p:ph type="sldNum" sz="quarter" idx="12"/>
          </p:nvPr>
        </p:nvSpPr>
        <p:spPr/>
        <p:txBody>
          <a:bodyPr/>
          <a:lstStyle/>
          <a:p>
            <a:fld id="{E44C1BB5-D3AE-4CC0-B5EF-886510362FCB}" type="slidenum">
              <a:rPr lang="fr-FR" smtClean="0"/>
              <a:t>21</a:t>
            </a:fld>
            <a:endParaRPr lang="fr-FR"/>
          </a:p>
        </p:txBody>
      </p:sp>
    </p:spTree>
    <p:extLst>
      <p:ext uri="{BB962C8B-B14F-4D97-AF65-F5344CB8AC3E}">
        <p14:creationId xmlns:p14="http://schemas.microsoft.com/office/powerpoint/2010/main" val="675692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1622F1-55C0-7803-1CA8-D49818FD201D}"/>
              </a:ext>
            </a:extLst>
          </p:cNvPr>
          <p:cNvSpPr>
            <a:spLocks noGrp="1"/>
          </p:cNvSpPr>
          <p:nvPr>
            <p:ph type="title"/>
          </p:nvPr>
        </p:nvSpPr>
        <p:spPr>
          <a:xfrm>
            <a:off x="609600" y="274638"/>
            <a:ext cx="10972800" cy="792162"/>
          </a:xfrm>
        </p:spPr>
        <p:txBody>
          <a:bodyPr/>
          <a:lstStyle/>
          <a:p>
            <a:r>
              <a:rPr lang="fr-FR" dirty="0"/>
              <a:t>Conclusion</a:t>
            </a:r>
          </a:p>
        </p:txBody>
      </p:sp>
      <p:sp>
        <p:nvSpPr>
          <p:cNvPr id="3" name="Espace réservé du contenu 2">
            <a:extLst>
              <a:ext uri="{FF2B5EF4-FFF2-40B4-BE49-F238E27FC236}">
                <a16:creationId xmlns:a16="http://schemas.microsoft.com/office/drawing/2014/main" id="{F5D1CA24-7810-E6E8-6D21-082288445CB3}"/>
              </a:ext>
            </a:extLst>
          </p:cNvPr>
          <p:cNvSpPr>
            <a:spLocks noGrp="1"/>
          </p:cNvSpPr>
          <p:nvPr>
            <p:ph idx="1"/>
          </p:nvPr>
        </p:nvSpPr>
        <p:spPr>
          <a:xfrm>
            <a:off x="609600" y="1175386"/>
            <a:ext cx="10972800" cy="5407975"/>
          </a:xfrm>
        </p:spPr>
        <p:txBody>
          <a:bodyPr>
            <a:normAutofit fontScale="92500"/>
          </a:bodyPr>
          <a:lstStyle/>
          <a:p>
            <a:pPr>
              <a:spcAft>
                <a:spcPts val="1200"/>
              </a:spcAft>
            </a:pPr>
            <a:r>
              <a:rPr lang="fr-FR" dirty="0"/>
              <a:t>L’audit organisationnel du PEV a permis d’identifier ses forces et faiblesses et de proposer des recommandations</a:t>
            </a:r>
          </a:p>
          <a:p>
            <a:pPr>
              <a:spcAft>
                <a:spcPts val="1200"/>
              </a:spcAft>
            </a:pPr>
            <a:r>
              <a:rPr lang="fr-FR" dirty="0"/>
              <a:t>La prochaine étape est de proposer un « </a:t>
            </a:r>
            <a:r>
              <a:rPr lang="fr-FR" b="1" i="1" dirty="0"/>
              <a:t>Nouveau cadre organique avec un mandat clair, des missions basées sur les fonctions actuelles, un organigramme à agrandir et des fiches de description de poste à réécrire, et des volets entiers des capacités de travail à renforcer et à inclure dans le PAO 2026 »</a:t>
            </a:r>
            <a:r>
              <a:rPr lang="fr-FR" dirty="0"/>
              <a:t>     </a:t>
            </a:r>
          </a:p>
          <a:p>
            <a:pPr>
              <a:spcAft>
                <a:spcPts val="1200"/>
              </a:spcAft>
            </a:pPr>
            <a:r>
              <a:rPr lang="fr-FR" dirty="0"/>
              <a:t>Des changements en perspective, mais il faut gérer les résistances aux changements; et surtout il faut néanmoins commencer à introduire les changements. </a:t>
            </a:r>
          </a:p>
        </p:txBody>
      </p:sp>
      <p:sp>
        <p:nvSpPr>
          <p:cNvPr id="4" name="Espace réservé du numéro de diapositive 3">
            <a:extLst>
              <a:ext uri="{FF2B5EF4-FFF2-40B4-BE49-F238E27FC236}">
                <a16:creationId xmlns:a16="http://schemas.microsoft.com/office/drawing/2014/main" id="{1CF7023E-0599-0F04-7B67-4A0805106175}"/>
              </a:ext>
            </a:extLst>
          </p:cNvPr>
          <p:cNvSpPr>
            <a:spLocks noGrp="1"/>
          </p:cNvSpPr>
          <p:nvPr>
            <p:ph type="sldNum" sz="quarter" idx="12"/>
          </p:nvPr>
        </p:nvSpPr>
        <p:spPr/>
        <p:txBody>
          <a:bodyPr/>
          <a:lstStyle/>
          <a:p>
            <a:fld id="{E44C1BB5-D3AE-4CC0-B5EF-886510362FCB}" type="slidenum">
              <a:rPr lang="fr-FR" smtClean="0"/>
              <a:t>22</a:t>
            </a:fld>
            <a:endParaRPr lang="fr-FR"/>
          </a:p>
        </p:txBody>
      </p:sp>
    </p:spTree>
    <p:extLst>
      <p:ext uri="{BB962C8B-B14F-4D97-AF65-F5344CB8AC3E}">
        <p14:creationId xmlns:p14="http://schemas.microsoft.com/office/powerpoint/2010/main" val="1308322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AF9A96A-2638-4208-B7D4-055325194C8F}"/>
              </a:ext>
            </a:extLst>
          </p:cNvPr>
          <p:cNvSpPr>
            <a:spLocks noGrp="1"/>
          </p:cNvSpPr>
          <p:nvPr>
            <p:ph idx="1"/>
          </p:nvPr>
        </p:nvSpPr>
        <p:spPr/>
        <p:txBody>
          <a:bodyPr/>
          <a:lstStyle/>
          <a:p>
            <a:endParaRPr lang="fr-FR" dirty="0"/>
          </a:p>
          <a:p>
            <a:endParaRPr lang="fr-FR" dirty="0"/>
          </a:p>
          <a:p>
            <a:endParaRPr lang="fr-FR" dirty="0"/>
          </a:p>
          <a:p>
            <a:pPr marL="0" indent="0" algn="ctr">
              <a:buNone/>
            </a:pPr>
            <a:r>
              <a:rPr lang="fr-FR" sz="4400" b="1" dirty="0">
                <a:latin typeface="Comic Sans MS" panose="030F0702030302020204" pitchFamily="66" charset="0"/>
              </a:rPr>
              <a:t>Merci de votre attention</a:t>
            </a:r>
          </a:p>
          <a:p>
            <a:pPr marL="0" indent="0">
              <a:buNone/>
            </a:pPr>
            <a:endParaRPr lang="fr-FR" dirty="0"/>
          </a:p>
        </p:txBody>
      </p:sp>
      <p:sp>
        <p:nvSpPr>
          <p:cNvPr id="4" name="Espace réservé du numéro de diapositive 3">
            <a:extLst>
              <a:ext uri="{FF2B5EF4-FFF2-40B4-BE49-F238E27FC236}">
                <a16:creationId xmlns:a16="http://schemas.microsoft.com/office/drawing/2014/main" id="{9F5C63DF-C5AE-4CB7-B279-DB34FE323830}"/>
              </a:ext>
            </a:extLst>
          </p:cNvPr>
          <p:cNvSpPr>
            <a:spLocks noGrp="1"/>
          </p:cNvSpPr>
          <p:nvPr>
            <p:ph type="sldNum" sz="quarter" idx="12"/>
          </p:nvPr>
        </p:nvSpPr>
        <p:spPr/>
        <p:txBody>
          <a:bodyPr/>
          <a:lstStyle/>
          <a:p>
            <a:fld id="{E44C1BB5-D3AE-4CC0-B5EF-886510362FCB}" type="slidenum">
              <a:rPr lang="fr-FR" smtClean="0"/>
              <a:t>23</a:t>
            </a:fld>
            <a:endParaRPr lang="fr-FR"/>
          </a:p>
        </p:txBody>
      </p:sp>
      <p:grpSp>
        <p:nvGrpSpPr>
          <p:cNvPr id="5" name="Group 4">
            <a:extLst>
              <a:ext uri="{FF2B5EF4-FFF2-40B4-BE49-F238E27FC236}">
                <a16:creationId xmlns:a16="http://schemas.microsoft.com/office/drawing/2014/main" id="{3110DC9D-8D24-4781-8AFF-E4CD9E690CE3}"/>
              </a:ext>
            </a:extLst>
          </p:cNvPr>
          <p:cNvGrpSpPr>
            <a:grpSpLocks noChangeAspect="1"/>
          </p:cNvGrpSpPr>
          <p:nvPr/>
        </p:nvGrpSpPr>
        <p:grpSpPr>
          <a:xfrm>
            <a:off x="4170200" y="4968240"/>
            <a:ext cx="3907000" cy="822960"/>
            <a:chOff x="1070731" y="4876800"/>
            <a:chExt cx="2170556" cy="457200"/>
          </a:xfrm>
        </p:grpSpPr>
        <p:pic>
          <p:nvPicPr>
            <p:cNvPr id="6" name="Picture 5" descr="A yellow sign with images of people and a book&#10;&#10;Description automatically generated">
              <a:extLst>
                <a:ext uri="{FF2B5EF4-FFF2-40B4-BE49-F238E27FC236}">
                  <a16:creationId xmlns:a16="http://schemas.microsoft.com/office/drawing/2014/main" id="{89B37A7C-05DE-4E9C-95E9-D54917FA65C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731" y="4878851"/>
              <a:ext cx="377069" cy="455149"/>
            </a:xfrm>
            <a:prstGeom prst="rect">
              <a:avLst/>
            </a:prstGeom>
          </p:spPr>
        </p:pic>
        <p:pic>
          <p:nvPicPr>
            <p:cNvPr id="7" name="Picture 6">
              <a:extLst>
                <a:ext uri="{FF2B5EF4-FFF2-40B4-BE49-F238E27FC236}">
                  <a16:creationId xmlns:a16="http://schemas.microsoft.com/office/drawing/2014/main" id="{ABD3B2CB-AF92-40D8-BA0F-398E139EE89A}"/>
                </a:ext>
              </a:extLst>
            </p:cNvPr>
            <p:cNvPicPr>
              <a:picLocks noChangeAspect="1"/>
            </p:cNvPicPr>
            <p:nvPr/>
          </p:nvPicPr>
          <p:blipFill rotWithShape="1">
            <a:blip r:embed="rId3"/>
            <a:srcRect l="25278" t="57008" r="67210" b="31919"/>
            <a:stretch/>
          </p:blipFill>
          <p:spPr>
            <a:xfrm>
              <a:off x="1600200" y="4876800"/>
              <a:ext cx="582444" cy="457200"/>
            </a:xfrm>
            <a:prstGeom prst="rect">
              <a:avLst/>
            </a:prstGeom>
          </p:spPr>
        </p:pic>
        <p:pic>
          <p:nvPicPr>
            <p:cNvPr id="8" name="Picture 7" descr="PEV RDC - Programme Elargi de Vaccination">
              <a:extLst>
                <a:ext uri="{FF2B5EF4-FFF2-40B4-BE49-F238E27FC236}">
                  <a16:creationId xmlns:a16="http://schemas.microsoft.com/office/drawing/2014/main" id="{0EB75318-6DE6-4340-A30E-5F72C7F2AB2A}"/>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6949" r="47304"/>
            <a:stretch/>
          </p:blipFill>
          <p:spPr bwMode="auto">
            <a:xfrm>
              <a:off x="2362200" y="4876800"/>
              <a:ext cx="879087"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97108877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1661</Words>
  <Application>Microsoft Office PowerPoint</Application>
  <PresentationFormat>Grand écran</PresentationFormat>
  <Paragraphs>285</Paragraphs>
  <Slides>23</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23</vt:i4>
      </vt:variant>
    </vt:vector>
  </HeadingPairs>
  <TitlesOfParts>
    <vt:vector size="29" baseType="lpstr">
      <vt:lpstr>Arial</vt:lpstr>
      <vt:lpstr>Arial Narrow</vt:lpstr>
      <vt:lpstr>Calibri</vt:lpstr>
      <vt:lpstr>Comic Sans MS</vt:lpstr>
      <vt:lpstr>Times New Roman</vt:lpstr>
      <vt:lpstr>Thème Office</vt:lpstr>
      <vt:lpstr>AUDIT ORGANISATIONNEL DU PROGRAMME ELARGI DE VACCINATION (PEV) DE LA REPUBLIQUE DEMOCRATIQUE DU CONGO    Présentation du rapport synthèse Matadi, Décembre 2025</vt:lpstr>
      <vt:lpstr>Présentation PowerPoint</vt:lpstr>
      <vt:lpstr>Présentation PowerPoint</vt:lpstr>
      <vt:lpstr>Méthodes</vt:lpstr>
      <vt:lpstr>Principaux résultats</vt:lpstr>
      <vt:lpstr>Des fondements juridiques et légaux solides</vt:lpstr>
      <vt:lpstr>Un Organigramme dépassé </vt:lpstr>
      <vt:lpstr>Distribution des effectifs</vt:lpstr>
      <vt:lpstr>Capacités très moyennes du PEV selon le PICAL</vt:lpstr>
      <vt:lpstr>Analyse des Capacités du PEV (1/2)</vt:lpstr>
      <vt:lpstr>Analyse des Capacités du PEV (2/2)</vt:lpstr>
      <vt:lpstr>Principales recommandations</vt:lpstr>
      <vt:lpstr>1. Sur les capacités de fonctionnement</vt:lpstr>
      <vt:lpstr>2. Sur les capacités en ressources financières</vt:lpstr>
      <vt:lpstr>3. Sur les capacités de mise en œuvre</vt:lpstr>
      <vt:lpstr>4. Sur les capacités d’intégration d’alignement au système de santé </vt:lpstr>
      <vt:lpstr>5. Sur les capacités d’incitation à la performance</vt:lpstr>
      <vt:lpstr>6. Sur les capacités d’atteindre les résultats à la satisfaction des parties prenantes</vt:lpstr>
      <vt:lpstr>Draft nouvelle structure du PEV central </vt:lpstr>
      <vt:lpstr>Draft d’un nouvel Organigramme du PEV</vt:lpstr>
      <vt:lpstr>Composition d’une Antenne PEV</vt:lpstr>
      <vt:lpstr>Conclusion</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Lusamba-Dikassa Paul-Samson</dc:creator>
  <cp:lastModifiedBy>Dosithee Ngo Bebe</cp:lastModifiedBy>
  <cp:revision>267</cp:revision>
  <cp:lastPrinted>2025-12-13T19:15:12Z</cp:lastPrinted>
  <dcterms:created xsi:type="dcterms:W3CDTF">2014-06-16T06:17:03Z</dcterms:created>
  <dcterms:modified xsi:type="dcterms:W3CDTF">2025-12-16T12:02:55Z</dcterms:modified>
</cp:coreProperties>
</file>