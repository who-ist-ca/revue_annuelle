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819" r:id="rId2"/>
  </p:sldMasterIdLst>
  <p:notesMasterIdLst>
    <p:notesMasterId r:id="rId22"/>
  </p:notesMasterIdLst>
  <p:sldIdLst>
    <p:sldId id="276" r:id="rId3"/>
    <p:sldId id="400" r:id="rId4"/>
    <p:sldId id="411" r:id="rId5"/>
    <p:sldId id="422" r:id="rId6"/>
    <p:sldId id="423" r:id="rId7"/>
    <p:sldId id="417" r:id="rId8"/>
    <p:sldId id="420" r:id="rId9"/>
    <p:sldId id="432" r:id="rId10"/>
    <p:sldId id="447" r:id="rId11"/>
    <p:sldId id="449" r:id="rId12"/>
    <p:sldId id="452" r:id="rId13"/>
    <p:sldId id="453" r:id="rId14"/>
    <p:sldId id="451" r:id="rId15"/>
    <p:sldId id="448" r:id="rId16"/>
    <p:sldId id="455" r:id="rId17"/>
    <p:sldId id="454" r:id="rId18"/>
    <p:sldId id="459" r:id="rId19"/>
    <p:sldId id="460" r:id="rId20"/>
    <p:sldId id="434" r:id="rId21"/>
  </p:sldIdLst>
  <p:sldSz cx="9144000" cy="6858000" type="screen4x3"/>
  <p:notesSz cx="6858000" cy="9144000"/>
  <p:defaultTextStyle>
    <a:defPPr>
      <a:defRPr lang="fr-BE"/>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5B9C0"/>
    <a:srgbClr val="4A76C6"/>
    <a:srgbClr val="E95D6E"/>
    <a:srgbClr val="D2CE3E"/>
    <a:srgbClr val="B755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1603" autoAdjust="0"/>
  </p:normalViewPr>
  <p:slideViewPr>
    <p:cSldViewPr>
      <p:cViewPr varScale="1">
        <p:scale>
          <a:sx n="53" d="100"/>
          <a:sy n="53" d="100"/>
        </p:scale>
        <p:origin x="1572"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9664AF-8BCA-413F-A421-65FE684D44F7}" type="doc">
      <dgm:prSet loTypeId="urn:microsoft.com/office/officeart/2005/8/layout/vList6" loCatId="process" qsTypeId="urn:microsoft.com/office/officeart/2005/8/quickstyle/simple1" qsCatId="simple" csTypeId="urn:microsoft.com/office/officeart/2005/8/colors/accent1_2" csCatId="accent1" phldr="1"/>
      <dgm:spPr/>
      <dgm:t>
        <a:bodyPr/>
        <a:lstStyle/>
        <a:p>
          <a:endParaRPr lang="fr-FR"/>
        </a:p>
      </dgm:t>
    </dgm:pt>
    <dgm:pt modelId="{DC55B1CB-1587-4742-9907-F45D85A3E71A}" type="pres">
      <dgm:prSet presAssocID="{549664AF-8BCA-413F-A421-65FE684D44F7}" presName="Name0" presStyleCnt="0">
        <dgm:presLayoutVars>
          <dgm:dir/>
          <dgm:animLvl val="lvl"/>
          <dgm:resizeHandles/>
        </dgm:presLayoutVars>
      </dgm:prSet>
      <dgm:spPr/>
    </dgm:pt>
  </dgm:ptLst>
  <dgm:cxnLst>
    <dgm:cxn modelId="{8772126C-F05C-410C-A4B9-2C892E00B643}" type="presOf" srcId="{549664AF-8BCA-413F-A421-65FE684D44F7}" destId="{DC55B1CB-1587-4742-9907-F45D85A3E71A}" srcOrd="0"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1491C6F8-4B56-A967-E997-DBAFF43EC70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fr-FR"/>
          </a:p>
        </p:txBody>
      </p:sp>
      <p:sp>
        <p:nvSpPr>
          <p:cNvPr id="3" name="Espace réservé de la date 2">
            <a:extLst>
              <a:ext uri="{FF2B5EF4-FFF2-40B4-BE49-F238E27FC236}">
                <a16:creationId xmlns:a16="http://schemas.microsoft.com/office/drawing/2014/main" id="{040BC8D2-7811-7F80-519B-4E5F1AC7E06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529842EF-8BAB-41DC-BB05-E0BD378092A7}" type="datetimeFigureOut">
              <a:rPr lang="fr-FR"/>
              <a:pPr>
                <a:defRPr/>
              </a:pPr>
              <a:t>17/12/2025</a:t>
            </a:fld>
            <a:endParaRPr lang="fr-FR"/>
          </a:p>
        </p:txBody>
      </p:sp>
      <p:sp>
        <p:nvSpPr>
          <p:cNvPr id="4" name="Espace réservé de l'image des diapositives 3">
            <a:extLst>
              <a:ext uri="{FF2B5EF4-FFF2-40B4-BE49-F238E27FC236}">
                <a16:creationId xmlns:a16="http://schemas.microsoft.com/office/drawing/2014/main" id="{D39C4032-7744-CEF6-86C4-1BB12A62A54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a:extLst>
              <a:ext uri="{FF2B5EF4-FFF2-40B4-BE49-F238E27FC236}">
                <a16:creationId xmlns:a16="http://schemas.microsoft.com/office/drawing/2014/main" id="{CFC4B06D-90C1-7ACF-388E-8B2E33C393B4}"/>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a:extLst>
              <a:ext uri="{FF2B5EF4-FFF2-40B4-BE49-F238E27FC236}">
                <a16:creationId xmlns:a16="http://schemas.microsoft.com/office/drawing/2014/main" id="{D87FBFC1-EF88-35D8-FE95-B9DCA2C43DA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fr-FR"/>
          </a:p>
        </p:txBody>
      </p:sp>
      <p:sp>
        <p:nvSpPr>
          <p:cNvPr id="7" name="Espace réservé du numéro de diapositive 6">
            <a:extLst>
              <a:ext uri="{FF2B5EF4-FFF2-40B4-BE49-F238E27FC236}">
                <a16:creationId xmlns:a16="http://schemas.microsoft.com/office/drawing/2014/main" id="{56592BD6-636F-3749-2048-D544D0BE20A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70D68AEB-8D9B-4EAD-918E-60FAF5EEF1DD}" type="slidenum">
              <a:rPr lang="fr-BE" altLang="fr-FR"/>
              <a:pPr/>
              <a:t>‹N°›</a:t>
            </a:fld>
            <a:endParaRPr lang="fr-BE" altLang="fr-F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a:extLst>
              <a:ext uri="{FF2B5EF4-FFF2-40B4-BE49-F238E27FC236}">
                <a16:creationId xmlns:a16="http://schemas.microsoft.com/office/drawing/2014/main" id="{EF317BAD-6D87-1AD3-48F3-BA2A0EF5124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Espace réservé des commentaires 2">
            <a:extLst>
              <a:ext uri="{FF2B5EF4-FFF2-40B4-BE49-F238E27FC236}">
                <a16:creationId xmlns:a16="http://schemas.microsoft.com/office/drawing/2014/main" id="{170905AD-4C66-EBEA-119E-54AA85073A6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dirty="0"/>
          </a:p>
        </p:txBody>
      </p:sp>
      <p:sp>
        <p:nvSpPr>
          <p:cNvPr id="70660" name="Espace réservé du numéro de diapositive 3">
            <a:extLst>
              <a:ext uri="{FF2B5EF4-FFF2-40B4-BE49-F238E27FC236}">
                <a16:creationId xmlns:a16="http://schemas.microsoft.com/office/drawing/2014/main" id="{C9D75B97-0A54-2A82-E651-8907A1DF095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A5294492-DE37-45F3-912B-155AE19DA361}" type="slidenum">
              <a:rPr lang="fr-BE" altLang="fr-FR">
                <a:solidFill>
                  <a:srgbClr val="000000"/>
                </a:solidFill>
              </a:rPr>
              <a:pPr/>
              <a:t>1</a:t>
            </a:fld>
            <a:endParaRPr lang="fr-BE" altLang="fr-FR">
              <a:solidFill>
                <a:srgbClr val="000000"/>
              </a:solidFill>
            </a:endParaRPr>
          </a:p>
        </p:txBody>
      </p:sp>
      <p:sp>
        <p:nvSpPr>
          <p:cNvPr id="70661" name="Espace réservé du pied de page 1">
            <a:extLst>
              <a:ext uri="{FF2B5EF4-FFF2-40B4-BE49-F238E27FC236}">
                <a16:creationId xmlns:a16="http://schemas.microsoft.com/office/drawing/2014/main" id="{3779667B-9176-CD68-CFDF-BC3DCE9D596B}"/>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fr-BE" altLang="fr-FR">
                <a:solidFill>
                  <a:srgbClr val="000000"/>
                </a:solidFill>
              </a:rPr>
              <a:t>réalisations, progrès et défis igs hôtel béatrice octobre 2022</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0D68AEB-8D9B-4EAD-918E-60FAF5EEF1DD}" type="slidenum">
              <a:rPr lang="fr-BE" altLang="fr-FR" smtClean="0"/>
              <a:pPr/>
              <a:t>19</a:t>
            </a:fld>
            <a:endParaRPr lang="fr-BE" altLang="fr-FR"/>
          </a:p>
        </p:txBody>
      </p:sp>
    </p:spTree>
    <p:extLst>
      <p:ext uri="{BB962C8B-B14F-4D97-AF65-F5344CB8AC3E}">
        <p14:creationId xmlns:p14="http://schemas.microsoft.com/office/powerpoint/2010/main" val="1012378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143000" y="1122363"/>
            <a:ext cx="6858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CB95D31-625F-2BD0-76C6-F487A6C12A35}"/>
              </a:ext>
            </a:extLst>
          </p:cNvPr>
          <p:cNvSpPr>
            <a:spLocks noGrp="1"/>
          </p:cNvSpPr>
          <p:nvPr>
            <p:ph type="dt" sz="half" idx="10"/>
          </p:nvPr>
        </p:nvSpPr>
        <p:spPr/>
        <p:txBody>
          <a:bodyPr/>
          <a:lstStyle>
            <a:lvl1pPr>
              <a:defRPr smtClean="0"/>
            </a:lvl1pPr>
          </a:lstStyle>
          <a:p>
            <a:pPr>
              <a:defRPr/>
            </a:pPr>
            <a:fld id="{DC2C98A2-BB9E-4061-86A6-F523907822E0}" type="datetime1">
              <a:rPr lang="fr-FR" smtClean="0"/>
              <a:t>17/12/2025</a:t>
            </a:fld>
            <a:endParaRPr lang="fr-FR"/>
          </a:p>
        </p:txBody>
      </p:sp>
      <p:sp>
        <p:nvSpPr>
          <p:cNvPr id="5" name="Espace réservé du pied de page 4">
            <a:extLst>
              <a:ext uri="{FF2B5EF4-FFF2-40B4-BE49-F238E27FC236}">
                <a16:creationId xmlns:a16="http://schemas.microsoft.com/office/drawing/2014/main" id="{8C717D9B-ACD3-05AD-283D-0FA2DA980409}"/>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1859EBEF-19BF-E8B8-01C0-8381B243661C}"/>
              </a:ext>
            </a:extLst>
          </p:cNvPr>
          <p:cNvSpPr>
            <a:spLocks noGrp="1"/>
          </p:cNvSpPr>
          <p:nvPr>
            <p:ph type="sldNum" sz="quarter" idx="12"/>
          </p:nvPr>
        </p:nvSpPr>
        <p:spPr/>
        <p:txBody>
          <a:bodyPr/>
          <a:lstStyle>
            <a:lvl1pPr>
              <a:defRPr/>
            </a:lvl1pPr>
          </a:lstStyle>
          <a:p>
            <a:fld id="{4E9342C1-C487-4F49-9AAD-8629BACFB1EE}" type="slidenum">
              <a:rPr lang="fr-BE" altLang="fr-FR"/>
              <a:pPr/>
              <a:t>‹N°›</a:t>
            </a:fld>
            <a:endParaRPr lang="fr-BE" altLang="fr-FR"/>
          </a:p>
        </p:txBody>
      </p:sp>
    </p:spTree>
    <p:extLst>
      <p:ext uri="{BB962C8B-B14F-4D97-AF65-F5344CB8AC3E}">
        <p14:creationId xmlns:p14="http://schemas.microsoft.com/office/powerpoint/2010/main" val="4110083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3F26364-8961-4D25-B2DC-151747B861A6}"/>
              </a:ext>
            </a:extLst>
          </p:cNvPr>
          <p:cNvSpPr>
            <a:spLocks noGrp="1"/>
          </p:cNvSpPr>
          <p:nvPr>
            <p:ph type="dt" sz="half" idx="10"/>
          </p:nvPr>
        </p:nvSpPr>
        <p:spPr/>
        <p:txBody>
          <a:bodyPr/>
          <a:lstStyle>
            <a:lvl1pPr>
              <a:defRPr smtClean="0"/>
            </a:lvl1pPr>
          </a:lstStyle>
          <a:p>
            <a:pPr>
              <a:defRPr/>
            </a:pPr>
            <a:fld id="{9BDDCCCA-B046-4D71-9EEA-EADF848B1EBF}" type="datetime1">
              <a:rPr lang="fr-FR" smtClean="0"/>
              <a:t>17/12/2025</a:t>
            </a:fld>
            <a:endParaRPr lang="fr-FR"/>
          </a:p>
        </p:txBody>
      </p:sp>
      <p:sp>
        <p:nvSpPr>
          <p:cNvPr id="5" name="Espace réservé du pied de page 4">
            <a:extLst>
              <a:ext uri="{FF2B5EF4-FFF2-40B4-BE49-F238E27FC236}">
                <a16:creationId xmlns:a16="http://schemas.microsoft.com/office/drawing/2014/main" id="{ABCBF971-884E-4F07-499E-12BE4E72CEB0}"/>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8E93EED6-07AA-9AE0-53E2-0BBB8820B867}"/>
              </a:ext>
            </a:extLst>
          </p:cNvPr>
          <p:cNvSpPr>
            <a:spLocks noGrp="1"/>
          </p:cNvSpPr>
          <p:nvPr>
            <p:ph type="sldNum" sz="quarter" idx="12"/>
          </p:nvPr>
        </p:nvSpPr>
        <p:spPr/>
        <p:txBody>
          <a:bodyPr/>
          <a:lstStyle>
            <a:lvl1pPr>
              <a:defRPr/>
            </a:lvl1pPr>
          </a:lstStyle>
          <a:p>
            <a:fld id="{32FD63C8-66A6-4F73-AA9E-060D51E1FAAA}" type="slidenum">
              <a:rPr lang="fr-BE" altLang="fr-FR"/>
              <a:pPr/>
              <a:t>‹N°›</a:t>
            </a:fld>
            <a:endParaRPr lang="fr-BE" altLang="fr-FR"/>
          </a:p>
        </p:txBody>
      </p:sp>
    </p:spTree>
    <p:extLst>
      <p:ext uri="{BB962C8B-B14F-4D97-AF65-F5344CB8AC3E}">
        <p14:creationId xmlns:p14="http://schemas.microsoft.com/office/powerpoint/2010/main" val="2366166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623888" y="1709759"/>
            <a:ext cx="78867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623888" y="458948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a:extLst>
              <a:ext uri="{FF2B5EF4-FFF2-40B4-BE49-F238E27FC236}">
                <a16:creationId xmlns:a16="http://schemas.microsoft.com/office/drawing/2014/main" id="{2FC1A6A8-A7FA-0F71-A608-8F0DA428D82C}"/>
              </a:ext>
            </a:extLst>
          </p:cNvPr>
          <p:cNvSpPr>
            <a:spLocks noGrp="1"/>
          </p:cNvSpPr>
          <p:nvPr>
            <p:ph type="dt" sz="half" idx="10"/>
          </p:nvPr>
        </p:nvSpPr>
        <p:spPr/>
        <p:txBody>
          <a:bodyPr/>
          <a:lstStyle>
            <a:lvl1pPr>
              <a:defRPr smtClean="0"/>
            </a:lvl1pPr>
          </a:lstStyle>
          <a:p>
            <a:pPr>
              <a:defRPr/>
            </a:pPr>
            <a:fld id="{7DBA14CA-3199-41C6-BB64-D4B94E60AB57}" type="datetime1">
              <a:rPr lang="fr-FR" smtClean="0"/>
              <a:t>17/12/2025</a:t>
            </a:fld>
            <a:endParaRPr lang="fr-FR"/>
          </a:p>
        </p:txBody>
      </p:sp>
      <p:sp>
        <p:nvSpPr>
          <p:cNvPr id="5" name="Espace réservé du pied de page 4">
            <a:extLst>
              <a:ext uri="{FF2B5EF4-FFF2-40B4-BE49-F238E27FC236}">
                <a16:creationId xmlns:a16="http://schemas.microsoft.com/office/drawing/2014/main" id="{4985EBB5-DC59-95E9-19C7-EC40E14FC92C}"/>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C91C054A-D21F-6BC0-7FEA-429BA052CC3C}"/>
              </a:ext>
            </a:extLst>
          </p:cNvPr>
          <p:cNvSpPr>
            <a:spLocks noGrp="1"/>
          </p:cNvSpPr>
          <p:nvPr>
            <p:ph type="sldNum" sz="quarter" idx="12"/>
          </p:nvPr>
        </p:nvSpPr>
        <p:spPr/>
        <p:txBody>
          <a:bodyPr/>
          <a:lstStyle>
            <a:lvl1pPr>
              <a:defRPr/>
            </a:lvl1pPr>
          </a:lstStyle>
          <a:p>
            <a:fld id="{DF2A9998-6F0F-4D8D-BF0C-69CDF84EF88B}" type="slidenum">
              <a:rPr lang="fr-BE" altLang="fr-FR"/>
              <a:pPr/>
              <a:t>‹N°›</a:t>
            </a:fld>
            <a:endParaRPr lang="fr-BE" altLang="fr-FR"/>
          </a:p>
        </p:txBody>
      </p:sp>
    </p:spTree>
    <p:extLst>
      <p:ext uri="{BB962C8B-B14F-4D97-AF65-F5344CB8AC3E}">
        <p14:creationId xmlns:p14="http://schemas.microsoft.com/office/powerpoint/2010/main" val="2305866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286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29150" y="1825625"/>
            <a:ext cx="38862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a:extLst>
              <a:ext uri="{FF2B5EF4-FFF2-40B4-BE49-F238E27FC236}">
                <a16:creationId xmlns:a16="http://schemas.microsoft.com/office/drawing/2014/main" id="{5945E80F-8990-4E3C-ABCC-B149684AD014}"/>
              </a:ext>
            </a:extLst>
          </p:cNvPr>
          <p:cNvSpPr>
            <a:spLocks noGrp="1"/>
          </p:cNvSpPr>
          <p:nvPr>
            <p:ph type="dt" sz="half" idx="10"/>
          </p:nvPr>
        </p:nvSpPr>
        <p:spPr/>
        <p:txBody>
          <a:bodyPr/>
          <a:lstStyle>
            <a:lvl1pPr>
              <a:defRPr smtClean="0"/>
            </a:lvl1pPr>
          </a:lstStyle>
          <a:p>
            <a:pPr>
              <a:defRPr/>
            </a:pPr>
            <a:fld id="{DDB35000-BBB4-4825-B953-4618C070E2E3}" type="datetime1">
              <a:rPr lang="fr-FR" smtClean="0"/>
              <a:t>17/12/2025</a:t>
            </a:fld>
            <a:endParaRPr lang="fr-FR"/>
          </a:p>
        </p:txBody>
      </p:sp>
      <p:sp>
        <p:nvSpPr>
          <p:cNvPr id="6" name="Espace réservé du pied de page 4">
            <a:extLst>
              <a:ext uri="{FF2B5EF4-FFF2-40B4-BE49-F238E27FC236}">
                <a16:creationId xmlns:a16="http://schemas.microsoft.com/office/drawing/2014/main" id="{70EA78EB-91A1-E85B-DA41-76D2D90F697F}"/>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id="{21C512B8-6A7F-E149-1CE1-3B96DC5276A6}"/>
              </a:ext>
            </a:extLst>
          </p:cNvPr>
          <p:cNvSpPr>
            <a:spLocks noGrp="1"/>
          </p:cNvSpPr>
          <p:nvPr>
            <p:ph type="sldNum" sz="quarter" idx="12"/>
          </p:nvPr>
        </p:nvSpPr>
        <p:spPr/>
        <p:txBody>
          <a:bodyPr/>
          <a:lstStyle>
            <a:lvl1pPr>
              <a:defRPr/>
            </a:lvl1pPr>
          </a:lstStyle>
          <a:p>
            <a:fld id="{7CF9A396-91A1-4F34-B347-988864601021}" type="slidenum">
              <a:rPr lang="fr-BE" altLang="fr-FR"/>
              <a:pPr/>
              <a:t>‹N°›</a:t>
            </a:fld>
            <a:endParaRPr lang="fr-BE" altLang="fr-FR"/>
          </a:p>
        </p:txBody>
      </p:sp>
    </p:spTree>
    <p:extLst>
      <p:ext uri="{BB962C8B-B14F-4D97-AF65-F5344CB8AC3E}">
        <p14:creationId xmlns:p14="http://schemas.microsoft.com/office/powerpoint/2010/main" val="2970240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629841" y="365129"/>
            <a:ext cx="7886700" cy="1325563"/>
          </a:xfrm>
        </p:spPr>
        <p:txBody>
          <a:bodyPr/>
          <a:lstStyle/>
          <a:p>
            <a:r>
              <a:rPr lang="fr-FR"/>
              <a:t>Modifiez le style du titre</a:t>
            </a:r>
          </a:p>
        </p:txBody>
      </p:sp>
      <p:sp>
        <p:nvSpPr>
          <p:cNvPr id="3" name="Espace réservé du texte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629842" y="2505075"/>
            <a:ext cx="3868340"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29152"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29152" y="2505075"/>
            <a:ext cx="3887391"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a:extLst>
              <a:ext uri="{FF2B5EF4-FFF2-40B4-BE49-F238E27FC236}">
                <a16:creationId xmlns:a16="http://schemas.microsoft.com/office/drawing/2014/main" id="{48054B04-D188-132A-C5CF-1AF5E754C704}"/>
              </a:ext>
            </a:extLst>
          </p:cNvPr>
          <p:cNvSpPr>
            <a:spLocks noGrp="1"/>
          </p:cNvSpPr>
          <p:nvPr>
            <p:ph type="dt" sz="half" idx="10"/>
          </p:nvPr>
        </p:nvSpPr>
        <p:spPr/>
        <p:txBody>
          <a:bodyPr/>
          <a:lstStyle>
            <a:lvl1pPr>
              <a:defRPr smtClean="0"/>
            </a:lvl1pPr>
          </a:lstStyle>
          <a:p>
            <a:pPr>
              <a:defRPr/>
            </a:pPr>
            <a:fld id="{9C8D6991-2E45-4680-AF46-7BDA50CE6CCF}" type="datetime1">
              <a:rPr lang="fr-FR" smtClean="0"/>
              <a:t>17/12/2025</a:t>
            </a:fld>
            <a:endParaRPr lang="fr-FR"/>
          </a:p>
        </p:txBody>
      </p:sp>
      <p:sp>
        <p:nvSpPr>
          <p:cNvPr id="8" name="Espace réservé du pied de page 4">
            <a:extLst>
              <a:ext uri="{FF2B5EF4-FFF2-40B4-BE49-F238E27FC236}">
                <a16:creationId xmlns:a16="http://schemas.microsoft.com/office/drawing/2014/main" id="{5E1DB472-902B-149E-1739-7D58659B3750}"/>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9" name="Espace réservé du numéro de diapositive 5">
            <a:extLst>
              <a:ext uri="{FF2B5EF4-FFF2-40B4-BE49-F238E27FC236}">
                <a16:creationId xmlns:a16="http://schemas.microsoft.com/office/drawing/2014/main" id="{B9F73D83-F7A9-B1DB-1B33-A313BFC7B057}"/>
              </a:ext>
            </a:extLst>
          </p:cNvPr>
          <p:cNvSpPr>
            <a:spLocks noGrp="1"/>
          </p:cNvSpPr>
          <p:nvPr>
            <p:ph type="sldNum" sz="quarter" idx="12"/>
          </p:nvPr>
        </p:nvSpPr>
        <p:spPr/>
        <p:txBody>
          <a:bodyPr/>
          <a:lstStyle>
            <a:lvl1pPr>
              <a:defRPr/>
            </a:lvl1pPr>
          </a:lstStyle>
          <a:p>
            <a:fld id="{9262ACEF-F092-4A7B-B4A1-9A65A2EB81A6}" type="slidenum">
              <a:rPr lang="fr-BE" altLang="fr-FR"/>
              <a:pPr/>
              <a:t>‹N°›</a:t>
            </a:fld>
            <a:endParaRPr lang="fr-BE" altLang="fr-FR"/>
          </a:p>
        </p:txBody>
      </p:sp>
    </p:spTree>
    <p:extLst>
      <p:ext uri="{BB962C8B-B14F-4D97-AF65-F5344CB8AC3E}">
        <p14:creationId xmlns:p14="http://schemas.microsoft.com/office/powerpoint/2010/main" val="4104099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a:extLst>
              <a:ext uri="{FF2B5EF4-FFF2-40B4-BE49-F238E27FC236}">
                <a16:creationId xmlns:a16="http://schemas.microsoft.com/office/drawing/2014/main" id="{FD76217F-CAD4-3AD4-9DAE-B015D5BA3AD7}"/>
              </a:ext>
            </a:extLst>
          </p:cNvPr>
          <p:cNvSpPr>
            <a:spLocks noGrp="1"/>
          </p:cNvSpPr>
          <p:nvPr>
            <p:ph type="dt" sz="half" idx="10"/>
          </p:nvPr>
        </p:nvSpPr>
        <p:spPr/>
        <p:txBody>
          <a:bodyPr/>
          <a:lstStyle>
            <a:lvl1pPr>
              <a:defRPr smtClean="0"/>
            </a:lvl1pPr>
          </a:lstStyle>
          <a:p>
            <a:pPr>
              <a:defRPr/>
            </a:pPr>
            <a:fld id="{DE23857D-10EA-4E05-B414-2E20D11ECE7D}" type="datetime1">
              <a:rPr lang="fr-FR" smtClean="0"/>
              <a:t>17/12/2025</a:t>
            </a:fld>
            <a:endParaRPr lang="fr-FR"/>
          </a:p>
        </p:txBody>
      </p:sp>
      <p:sp>
        <p:nvSpPr>
          <p:cNvPr id="4" name="Espace réservé du pied de page 4">
            <a:extLst>
              <a:ext uri="{FF2B5EF4-FFF2-40B4-BE49-F238E27FC236}">
                <a16:creationId xmlns:a16="http://schemas.microsoft.com/office/drawing/2014/main" id="{DE6AF432-22DF-81D0-EBB1-E975988C6C43}"/>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5" name="Espace réservé du numéro de diapositive 5">
            <a:extLst>
              <a:ext uri="{FF2B5EF4-FFF2-40B4-BE49-F238E27FC236}">
                <a16:creationId xmlns:a16="http://schemas.microsoft.com/office/drawing/2014/main" id="{7C87E1B3-B31B-C6B1-86C5-8AA66A8A4EFA}"/>
              </a:ext>
            </a:extLst>
          </p:cNvPr>
          <p:cNvSpPr>
            <a:spLocks noGrp="1"/>
          </p:cNvSpPr>
          <p:nvPr>
            <p:ph type="sldNum" sz="quarter" idx="12"/>
          </p:nvPr>
        </p:nvSpPr>
        <p:spPr/>
        <p:txBody>
          <a:bodyPr/>
          <a:lstStyle>
            <a:lvl1pPr>
              <a:defRPr/>
            </a:lvl1pPr>
          </a:lstStyle>
          <a:p>
            <a:fld id="{74339E1D-87C9-4FCC-8AF0-C688B866A1E5}" type="slidenum">
              <a:rPr lang="fr-BE" altLang="fr-FR"/>
              <a:pPr/>
              <a:t>‹N°›</a:t>
            </a:fld>
            <a:endParaRPr lang="fr-BE" altLang="fr-FR"/>
          </a:p>
        </p:txBody>
      </p:sp>
    </p:spTree>
    <p:extLst>
      <p:ext uri="{BB962C8B-B14F-4D97-AF65-F5344CB8AC3E}">
        <p14:creationId xmlns:p14="http://schemas.microsoft.com/office/powerpoint/2010/main" val="4145720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a:extLst>
              <a:ext uri="{FF2B5EF4-FFF2-40B4-BE49-F238E27FC236}">
                <a16:creationId xmlns:a16="http://schemas.microsoft.com/office/drawing/2014/main" id="{ED94A472-F039-F10E-67BC-26EF887AB2FF}"/>
              </a:ext>
            </a:extLst>
          </p:cNvPr>
          <p:cNvSpPr>
            <a:spLocks noGrp="1"/>
          </p:cNvSpPr>
          <p:nvPr>
            <p:ph type="dt" sz="half" idx="10"/>
          </p:nvPr>
        </p:nvSpPr>
        <p:spPr/>
        <p:txBody>
          <a:bodyPr/>
          <a:lstStyle>
            <a:lvl1pPr>
              <a:defRPr smtClean="0"/>
            </a:lvl1pPr>
          </a:lstStyle>
          <a:p>
            <a:pPr>
              <a:defRPr/>
            </a:pPr>
            <a:fld id="{E723D717-A5CF-40A0-8978-CEAEFC0A5346}" type="datetime1">
              <a:rPr lang="fr-FR" smtClean="0"/>
              <a:t>17/12/2025</a:t>
            </a:fld>
            <a:endParaRPr lang="fr-FR"/>
          </a:p>
        </p:txBody>
      </p:sp>
      <p:sp>
        <p:nvSpPr>
          <p:cNvPr id="3" name="Espace réservé du pied de page 4">
            <a:extLst>
              <a:ext uri="{FF2B5EF4-FFF2-40B4-BE49-F238E27FC236}">
                <a16:creationId xmlns:a16="http://schemas.microsoft.com/office/drawing/2014/main" id="{8E6BF5CA-0013-B12E-AF9B-E87E14E63F8F}"/>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4" name="Espace réservé du numéro de diapositive 5">
            <a:extLst>
              <a:ext uri="{FF2B5EF4-FFF2-40B4-BE49-F238E27FC236}">
                <a16:creationId xmlns:a16="http://schemas.microsoft.com/office/drawing/2014/main" id="{AB9643F3-467F-0821-C32D-F0AD63250A66}"/>
              </a:ext>
            </a:extLst>
          </p:cNvPr>
          <p:cNvSpPr>
            <a:spLocks noGrp="1"/>
          </p:cNvSpPr>
          <p:nvPr>
            <p:ph type="sldNum" sz="quarter" idx="12"/>
          </p:nvPr>
        </p:nvSpPr>
        <p:spPr/>
        <p:txBody>
          <a:bodyPr/>
          <a:lstStyle>
            <a:lvl1pPr>
              <a:defRPr/>
            </a:lvl1pPr>
          </a:lstStyle>
          <a:p>
            <a:fld id="{BB084C91-9AE5-40E3-98A2-BBD1112FDE14}" type="slidenum">
              <a:rPr lang="fr-BE" altLang="fr-FR"/>
              <a:pPr/>
              <a:t>‹N°›</a:t>
            </a:fld>
            <a:endParaRPr lang="fr-BE" altLang="fr-FR"/>
          </a:p>
        </p:txBody>
      </p:sp>
    </p:spTree>
    <p:extLst>
      <p:ext uri="{BB962C8B-B14F-4D97-AF65-F5344CB8AC3E}">
        <p14:creationId xmlns:p14="http://schemas.microsoft.com/office/powerpoint/2010/main" val="521125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29841" y="457200"/>
            <a:ext cx="2949178"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3887391" y="98744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id="{A3096707-561B-2C6F-B6DC-40451CED7614}"/>
              </a:ext>
            </a:extLst>
          </p:cNvPr>
          <p:cNvSpPr>
            <a:spLocks noGrp="1"/>
          </p:cNvSpPr>
          <p:nvPr>
            <p:ph type="dt" sz="half" idx="10"/>
          </p:nvPr>
        </p:nvSpPr>
        <p:spPr/>
        <p:txBody>
          <a:bodyPr/>
          <a:lstStyle>
            <a:lvl1pPr>
              <a:defRPr smtClean="0"/>
            </a:lvl1pPr>
          </a:lstStyle>
          <a:p>
            <a:pPr>
              <a:defRPr/>
            </a:pPr>
            <a:fld id="{AF348171-B8B2-4CD0-A97A-622FADC91EE9}" type="datetime1">
              <a:rPr lang="fr-FR" smtClean="0"/>
              <a:t>17/12/2025</a:t>
            </a:fld>
            <a:endParaRPr lang="fr-FR"/>
          </a:p>
        </p:txBody>
      </p:sp>
      <p:sp>
        <p:nvSpPr>
          <p:cNvPr id="6" name="Espace réservé du pied de page 4">
            <a:extLst>
              <a:ext uri="{FF2B5EF4-FFF2-40B4-BE49-F238E27FC236}">
                <a16:creationId xmlns:a16="http://schemas.microsoft.com/office/drawing/2014/main" id="{71C0E8A9-B60D-1B30-3FC0-691ADD69753C}"/>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id="{350FD5A8-8E78-A0AF-2EAF-9B8BF2C9D7B9}"/>
              </a:ext>
            </a:extLst>
          </p:cNvPr>
          <p:cNvSpPr>
            <a:spLocks noGrp="1"/>
          </p:cNvSpPr>
          <p:nvPr>
            <p:ph type="sldNum" sz="quarter" idx="12"/>
          </p:nvPr>
        </p:nvSpPr>
        <p:spPr/>
        <p:txBody>
          <a:bodyPr/>
          <a:lstStyle>
            <a:lvl1pPr>
              <a:defRPr/>
            </a:lvl1pPr>
          </a:lstStyle>
          <a:p>
            <a:fld id="{926D6BDA-3F54-41FD-8CF6-6BBA33387201}" type="slidenum">
              <a:rPr lang="fr-BE" altLang="fr-FR"/>
              <a:pPr/>
              <a:t>‹N°›</a:t>
            </a:fld>
            <a:endParaRPr lang="fr-BE" altLang="fr-FR"/>
          </a:p>
        </p:txBody>
      </p:sp>
    </p:spTree>
    <p:extLst>
      <p:ext uri="{BB962C8B-B14F-4D97-AF65-F5344CB8AC3E}">
        <p14:creationId xmlns:p14="http://schemas.microsoft.com/office/powerpoint/2010/main" val="1092626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29841" y="457200"/>
            <a:ext cx="2949178"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3887391" y="98744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p>
        </p:txBody>
      </p:sp>
      <p:sp>
        <p:nvSpPr>
          <p:cNvPr id="4" name="Espace réservé du texte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id="{E6E91F74-62AE-6279-66F9-743FB17B412E}"/>
              </a:ext>
            </a:extLst>
          </p:cNvPr>
          <p:cNvSpPr>
            <a:spLocks noGrp="1"/>
          </p:cNvSpPr>
          <p:nvPr>
            <p:ph type="dt" sz="half" idx="10"/>
          </p:nvPr>
        </p:nvSpPr>
        <p:spPr/>
        <p:txBody>
          <a:bodyPr/>
          <a:lstStyle>
            <a:lvl1pPr>
              <a:defRPr smtClean="0"/>
            </a:lvl1pPr>
          </a:lstStyle>
          <a:p>
            <a:pPr>
              <a:defRPr/>
            </a:pPr>
            <a:fld id="{6418C8B8-3263-44DD-A913-C2A90007B495}" type="datetime1">
              <a:rPr lang="fr-FR" smtClean="0"/>
              <a:t>17/12/2025</a:t>
            </a:fld>
            <a:endParaRPr lang="fr-FR"/>
          </a:p>
        </p:txBody>
      </p:sp>
      <p:sp>
        <p:nvSpPr>
          <p:cNvPr id="6" name="Espace réservé du pied de page 4">
            <a:extLst>
              <a:ext uri="{FF2B5EF4-FFF2-40B4-BE49-F238E27FC236}">
                <a16:creationId xmlns:a16="http://schemas.microsoft.com/office/drawing/2014/main" id="{B6FEFDCF-3B07-7E1C-F355-F03F27A3504E}"/>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7" name="Espace réservé du numéro de diapositive 5">
            <a:extLst>
              <a:ext uri="{FF2B5EF4-FFF2-40B4-BE49-F238E27FC236}">
                <a16:creationId xmlns:a16="http://schemas.microsoft.com/office/drawing/2014/main" id="{1C7191EB-968F-74E9-E7B9-70384C66C210}"/>
              </a:ext>
            </a:extLst>
          </p:cNvPr>
          <p:cNvSpPr>
            <a:spLocks noGrp="1"/>
          </p:cNvSpPr>
          <p:nvPr>
            <p:ph type="sldNum" sz="quarter" idx="12"/>
          </p:nvPr>
        </p:nvSpPr>
        <p:spPr/>
        <p:txBody>
          <a:bodyPr/>
          <a:lstStyle>
            <a:lvl1pPr>
              <a:defRPr/>
            </a:lvl1pPr>
          </a:lstStyle>
          <a:p>
            <a:fld id="{2A50728B-C2C2-4130-9CBB-7A49ADBE109E}" type="slidenum">
              <a:rPr lang="fr-BE" altLang="fr-FR"/>
              <a:pPr/>
              <a:t>‹N°›</a:t>
            </a:fld>
            <a:endParaRPr lang="fr-BE" altLang="fr-FR"/>
          </a:p>
        </p:txBody>
      </p:sp>
    </p:spTree>
    <p:extLst>
      <p:ext uri="{BB962C8B-B14F-4D97-AF65-F5344CB8AC3E}">
        <p14:creationId xmlns:p14="http://schemas.microsoft.com/office/powerpoint/2010/main" val="206074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B4A6BDB-96ED-1DF3-64D7-15F0F41DC13E}"/>
              </a:ext>
            </a:extLst>
          </p:cNvPr>
          <p:cNvSpPr>
            <a:spLocks noGrp="1"/>
          </p:cNvSpPr>
          <p:nvPr>
            <p:ph type="dt" sz="half" idx="10"/>
          </p:nvPr>
        </p:nvSpPr>
        <p:spPr/>
        <p:txBody>
          <a:bodyPr/>
          <a:lstStyle>
            <a:lvl1pPr>
              <a:defRPr smtClean="0"/>
            </a:lvl1pPr>
          </a:lstStyle>
          <a:p>
            <a:pPr>
              <a:defRPr/>
            </a:pPr>
            <a:fld id="{DEF46A6E-0A06-4EEF-BFB4-37C6966AA32C}" type="datetime1">
              <a:rPr lang="fr-FR" smtClean="0"/>
              <a:t>17/12/2025</a:t>
            </a:fld>
            <a:endParaRPr lang="fr-FR"/>
          </a:p>
        </p:txBody>
      </p:sp>
      <p:sp>
        <p:nvSpPr>
          <p:cNvPr id="5" name="Espace réservé du pied de page 4">
            <a:extLst>
              <a:ext uri="{FF2B5EF4-FFF2-40B4-BE49-F238E27FC236}">
                <a16:creationId xmlns:a16="http://schemas.microsoft.com/office/drawing/2014/main" id="{08D532AB-855D-B9A7-898F-3DABC58BC436}"/>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3C574773-3F18-EA87-D302-789C5720E7C6}"/>
              </a:ext>
            </a:extLst>
          </p:cNvPr>
          <p:cNvSpPr>
            <a:spLocks noGrp="1"/>
          </p:cNvSpPr>
          <p:nvPr>
            <p:ph type="sldNum" sz="quarter" idx="12"/>
          </p:nvPr>
        </p:nvSpPr>
        <p:spPr/>
        <p:txBody>
          <a:bodyPr/>
          <a:lstStyle>
            <a:lvl1pPr>
              <a:defRPr/>
            </a:lvl1pPr>
          </a:lstStyle>
          <a:p>
            <a:fld id="{B703E47E-41A3-4073-A079-5178433E2008}" type="slidenum">
              <a:rPr lang="fr-BE" altLang="fr-FR"/>
              <a:pPr/>
              <a:t>‹N°›</a:t>
            </a:fld>
            <a:endParaRPr lang="fr-BE" altLang="fr-FR"/>
          </a:p>
        </p:txBody>
      </p:sp>
    </p:spTree>
    <p:extLst>
      <p:ext uri="{BB962C8B-B14F-4D97-AF65-F5344CB8AC3E}">
        <p14:creationId xmlns:p14="http://schemas.microsoft.com/office/powerpoint/2010/main" val="88496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43676" y="365125"/>
            <a:ext cx="1971675"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28652" y="365125"/>
            <a:ext cx="5800725"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5B4630-7C43-0A36-1F33-E70306854897}"/>
              </a:ext>
            </a:extLst>
          </p:cNvPr>
          <p:cNvSpPr>
            <a:spLocks noGrp="1"/>
          </p:cNvSpPr>
          <p:nvPr>
            <p:ph type="dt" sz="half" idx="10"/>
          </p:nvPr>
        </p:nvSpPr>
        <p:spPr/>
        <p:txBody>
          <a:bodyPr/>
          <a:lstStyle>
            <a:lvl1pPr>
              <a:defRPr smtClean="0"/>
            </a:lvl1pPr>
          </a:lstStyle>
          <a:p>
            <a:pPr>
              <a:defRPr/>
            </a:pPr>
            <a:fld id="{EB442636-8CDB-4359-A1B0-CC6F2086E70A}" type="datetime1">
              <a:rPr lang="fr-FR" smtClean="0"/>
              <a:t>17/12/2025</a:t>
            </a:fld>
            <a:endParaRPr lang="fr-FR"/>
          </a:p>
        </p:txBody>
      </p:sp>
      <p:sp>
        <p:nvSpPr>
          <p:cNvPr id="5" name="Espace réservé du pied de page 4">
            <a:extLst>
              <a:ext uri="{FF2B5EF4-FFF2-40B4-BE49-F238E27FC236}">
                <a16:creationId xmlns:a16="http://schemas.microsoft.com/office/drawing/2014/main" id="{96EFC2F0-739A-C3E6-5A2E-ABF00D2763DE}"/>
              </a:ext>
            </a:extLst>
          </p:cNvPr>
          <p:cNvSpPr>
            <a:spLocks noGrp="1"/>
          </p:cNvSpPr>
          <p:nvPr>
            <p:ph type="ftr" sz="quarter" idx="11"/>
          </p:nvPr>
        </p:nvSpPr>
        <p:spPr/>
        <p:txBody>
          <a:bodyPr/>
          <a:lstStyle>
            <a:lvl1pPr>
              <a:defRPr smtClean="0"/>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51EFAF26-DF40-88CC-8871-E5E429623BBE}"/>
              </a:ext>
            </a:extLst>
          </p:cNvPr>
          <p:cNvSpPr>
            <a:spLocks noGrp="1"/>
          </p:cNvSpPr>
          <p:nvPr>
            <p:ph type="sldNum" sz="quarter" idx="12"/>
          </p:nvPr>
        </p:nvSpPr>
        <p:spPr/>
        <p:txBody>
          <a:bodyPr/>
          <a:lstStyle>
            <a:lvl1pPr>
              <a:defRPr/>
            </a:lvl1pPr>
          </a:lstStyle>
          <a:p>
            <a:fld id="{31581729-3654-48A2-B3FB-1273C98D7581}" type="slidenum">
              <a:rPr lang="fr-BE" altLang="fr-FR"/>
              <a:pPr/>
              <a:t>‹N°›</a:t>
            </a:fld>
            <a:endParaRPr lang="fr-BE" altLang="fr-FR"/>
          </a:p>
        </p:txBody>
      </p:sp>
    </p:spTree>
    <p:extLst>
      <p:ext uri="{BB962C8B-B14F-4D97-AF65-F5344CB8AC3E}">
        <p14:creationId xmlns:p14="http://schemas.microsoft.com/office/powerpoint/2010/main" val="19263369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B60C39-865F-A528-D3D5-5138894FB7EB}"/>
              </a:ext>
            </a:extLst>
          </p:cNvPr>
          <p:cNvSpPr>
            <a:spLocks noGrp="1"/>
          </p:cNvSpPr>
          <p:nvPr>
            <p:ph type="ctrTitle"/>
          </p:nvPr>
        </p:nvSpPr>
        <p:spPr>
          <a:xfrm>
            <a:off x="1143000" y="1122363"/>
            <a:ext cx="6858000" cy="23876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C723FC6B-CE7C-8209-7087-C94673459145}"/>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055D5A5-8520-3BFC-F6EE-02D9873F1F67}"/>
              </a:ext>
            </a:extLst>
          </p:cNvPr>
          <p:cNvSpPr>
            <a:spLocks noGrp="1"/>
          </p:cNvSpPr>
          <p:nvPr>
            <p:ph type="dt" sz="half" idx="10"/>
          </p:nvPr>
        </p:nvSpPr>
        <p:spPr/>
        <p:txBody>
          <a:bodyPr/>
          <a:lstStyle/>
          <a:p>
            <a:pPr>
              <a:defRPr/>
            </a:pPr>
            <a:fld id="{8D549E20-5FBB-4C40-9B30-FADE27FF624D}" type="datetime1">
              <a:rPr lang="fr-FR" smtClean="0"/>
              <a:t>17/12/2025</a:t>
            </a:fld>
            <a:endParaRPr lang="fr-FR"/>
          </a:p>
        </p:txBody>
      </p:sp>
      <p:sp>
        <p:nvSpPr>
          <p:cNvPr id="5" name="Espace réservé du pied de page 4">
            <a:extLst>
              <a:ext uri="{FF2B5EF4-FFF2-40B4-BE49-F238E27FC236}">
                <a16:creationId xmlns:a16="http://schemas.microsoft.com/office/drawing/2014/main" id="{25F9FD7D-0D81-9B22-DC8C-0B9CEE2016D9}"/>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94F0A274-E47A-F9E7-4B61-BDEEBA91E2E5}"/>
              </a:ext>
            </a:extLst>
          </p:cNvPr>
          <p:cNvSpPr>
            <a:spLocks noGrp="1"/>
          </p:cNvSpPr>
          <p:nvPr>
            <p:ph type="sldNum" sz="quarter" idx="12"/>
          </p:nvPr>
        </p:nvSpPr>
        <p:spPr/>
        <p:txBody>
          <a:bodyPr/>
          <a:lstStyle/>
          <a:p>
            <a:fld id="{B0F18228-CA27-4BCC-BC90-901300C53FB1}" type="slidenum">
              <a:rPr lang="fr-BE" altLang="fr-FR" smtClean="0"/>
              <a:pPr/>
              <a:t>‹N°›</a:t>
            </a:fld>
            <a:endParaRPr lang="fr-BE" altLang="fr-FR"/>
          </a:p>
        </p:txBody>
      </p:sp>
    </p:spTree>
    <p:extLst>
      <p:ext uri="{BB962C8B-B14F-4D97-AF65-F5344CB8AC3E}">
        <p14:creationId xmlns:p14="http://schemas.microsoft.com/office/powerpoint/2010/main" val="287503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5001B8-CEEA-A8F1-0C5C-6E189CDDEB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2E923E6-789C-3632-B089-8E30C9250C1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E52B94-E4AF-1FB0-6D2E-B67E106AD718}"/>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8F220F67-1193-9C4A-ED07-49D2C4F1A186}"/>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3226DC44-B69D-431A-C1D6-48040F0A9DC0}"/>
              </a:ext>
            </a:extLst>
          </p:cNvPr>
          <p:cNvSpPr>
            <a:spLocks noGrp="1"/>
          </p:cNvSpPr>
          <p:nvPr>
            <p:ph type="sldNum" sz="quarter" idx="12"/>
          </p:nvPr>
        </p:nvSpPr>
        <p:spPr/>
        <p:txBody>
          <a:bodyPr/>
          <a:lstStyle/>
          <a:p>
            <a:fld id="{62F8AC48-0110-4E03-96A9-424428372C43}" type="slidenum">
              <a:rPr lang="fr-BE" altLang="fr-FR" smtClean="0"/>
              <a:pPr/>
              <a:t>‹N°›</a:t>
            </a:fld>
            <a:endParaRPr lang="fr-BE" altLang="fr-FR"/>
          </a:p>
        </p:txBody>
      </p:sp>
    </p:spTree>
    <p:extLst>
      <p:ext uri="{BB962C8B-B14F-4D97-AF65-F5344CB8AC3E}">
        <p14:creationId xmlns:p14="http://schemas.microsoft.com/office/powerpoint/2010/main" val="37865082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E0F148-4642-2410-5390-FF66D71010C1}"/>
              </a:ext>
            </a:extLst>
          </p:cNvPr>
          <p:cNvSpPr>
            <a:spLocks noGrp="1"/>
          </p:cNvSpPr>
          <p:nvPr>
            <p:ph type="title"/>
          </p:nvPr>
        </p:nvSpPr>
        <p:spPr>
          <a:xfrm>
            <a:off x="623888" y="1709739"/>
            <a:ext cx="7886700" cy="2852737"/>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BD65C1A2-10F9-C230-ED2B-46D3BC6EF050}"/>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6C68247-CEAC-26A0-10F4-C58034900CD7}"/>
              </a:ext>
            </a:extLst>
          </p:cNvPr>
          <p:cNvSpPr>
            <a:spLocks noGrp="1"/>
          </p:cNvSpPr>
          <p:nvPr>
            <p:ph type="dt" sz="half" idx="10"/>
          </p:nvPr>
        </p:nvSpPr>
        <p:spPr/>
        <p:txBody>
          <a:bodyPr/>
          <a:lstStyle/>
          <a:p>
            <a:pPr>
              <a:defRPr/>
            </a:pPr>
            <a:fld id="{2F158BDE-F788-4C8E-A298-DC79DBBADFE1}" type="datetime1">
              <a:rPr lang="fr-FR" smtClean="0"/>
              <a:t>17/12/2025</a:t>
            </a:fld>
            <a:endParaRPr lang="fr-FR"/>
          </a:p>
        </p:txBody>
      </p:sp>
      <p:sp>
        <p:nvSpPr>
          <p:cNvPr id="5" name="Espace réservé du pied de page 4">
            <a:extLst>
              <a:ext uri="{FF2B5EF4-FFF2-40B4-BE49-F238E27FC236}">
                <a16:creationId xmlns:a16="http://schemas.microsoft.com/office/drawing/2014/main" id="{D6402B55-53EE-FA68-DE7D-B18D04C1A36C}"/>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34143B1C-483D-519D-ADDE-2BF5F7F7A9F1}"/>
              </a:ext>
            </a:extLst>
          </p:cNvPr>
          <p:cNvSpPr>
            <a:spLocks noGrp="1"/>
          </p:cNvSpPr>
          <p:nvPr>
            <p:ph type="sldNum" sz="quarter" idx="12"/>
          </p:nvPr>
        </p:nvSpPr>
        <p:spPr/>
        <p:txBody>
          <a:bodyPr/>
          <a:lstStyle/>
          <a:p>
            <a:fld id="{F74C2EB4-DD69-4289-B0F9-E53EEEDE6ABB}" type="slidenum">
              <a:rPr lang="fr-BE" altLang="fr-FR" smtClean="0"/>
              <a:pPr/>
              <a:t>‹N°›</a:t>
            </a:fld>
            <a:endParaRPr lang="fr-BE" altLang="fr-FR"/>
          </a:p>
        </p:txBody>
      </p:sp>
    </p:spTree>
    <p:extLst>
      <p:ext uri="{BB962C8B-B14F-4D97-AF65-F5344CB8AC3E}">
        <p14:creationId xmlns:p14="http://schemas.microsoft.com/office/powerpoint/2010/main" val="16003152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6212DD-71EE-F084-2467-F053CF16DED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B0E5F0C-4C55-BC50-D660-B71FDD14F443}"/>
              </a:ext>
            </a:extLst>
          </p:cNvPr>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D071BE4-B67B-678F-69BC-2068C5809F9F}"/>
              </a:ext>
            </a:extLst>
          </p:cNvPr>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3978696-33D7-5E54-4310-7081C334649F}"/>
              </a:ext>
            </a:extLst>
          </p:cNvPr>
          <p:cNvSpPr>
            <a:spLocks noGrp="1"/>
          </p:cNvSpPr>
          <p:nvPr>
            <p:ph type="dt" sz="half" idx="10"/>
          </p:nvPr>
        </p:nvSpPr>
        <p:spPr/>
        <p:txBody>
          <a:bodyPr/>
          <a:lstStyle/>
          <a:p>
            <a:pPr>
              <a:defRPr/>
            </a:pPr>
            <a:fld id="{4BFD0B57-7B17-481B-8602-F21DA0573685}" type="datetime1">
              <a:rPr lang="fr-FR" smtClean="0"/>
              <a:t>17/12/2025</a:t>
            </a:fld>
            <a:endParaRPr lang="fr-FR"/>
          </a:p>
        </p:txBody>
      </p:sp>
      <p:sp>
        <p:nvSpPr>
          <p:cNvPr id="6" name="Espace réservé du pied de page 5">
            <a:extLst>
              <a:ext uri="{FF2B5EF4-FFF2-40B4-BE49-F238E27FC236}">
                <a16:creationId xmlns:a16="http://schemas.microsoft.com/office/drawing/2014/main" id="{BD88D8C7-095D-F0AD-5830-8F47704C9B69}"/>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id="{F8A977E6-26DE-AAA8-1B5C-23A7CBF6B5C4}"/>
              </a:ext>
            </a:extLst>
          </p:cNvPr>
          <p:cNvSpPr>
            <a:spLocks noGrp="1"/>
          </p:cNvSpPr>
          <p:nvPr>
            <p:ph type="sldNum" sz="quarter" idx="12"/>
          </p:nvPr>
        </p:nvSpPr>
        <p:spPr/>
        <p:txBody>
          <a:bodyPr/>
          <a:lstStyle/>
          <a:p>
            <a:fld id="{242E2756-8022-41FF-B185-BF7C3BE36561}" type="slidenum">
              <a:rPr lang="fr-BE" altLang="fr-FR" smtClean="0"/>
              <a:pPr/>
              <a:t>‹N°›</a:t>
            </a:fld>
            <a:endParaRPr lang="fr-BE" altLang="fr-FR"/>
          </a:p>
        </p:txBody>
      </p:sp>
    </p:spTree>
    <p:extLst>
      <p:ext uri="{BB962C8B-B14F-4D97-AF65-F5344CB8AC3E}">
        <p14:creationId xmlns:p14="http://schemas.microsoft.com/office/powerpoint/2010/main" val="4170873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C7E1BC-E976-8CD8-B4E3-5A3D07563B13}"/>
              </a:ext>
            </a:extLst>
          </p:cNvPr>
          <p:cNvSpPr>
            <a:spLocks noGrp="1"/>
          </p:cNvSpPr>
          <p:nvPr>
            <p:ph type="title"/>
          </p:nvPr>
        </p:nvSpPr>
        <p:spPr>
          <a:xfrm>
            <a:off x="629841" y="365126"/>
            <a:ext cx="78867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80C60D7-E753-4301-5E56-A5416E519ED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708353C-A927-B5A7-9DEA-98943E6E0FBD}"/>
              </a:ext>
            </a:extLst>
          </p:cNvPr>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72D7A50-75EE-7E5C-C0E3-A07DC059E2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A243595-09B2-64FD-F9DB-791396DAAF15}"/>
              </a:ext>
            </a:extLst>
          </p:cNvPr>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79BC073-A0C7-AE30-C229-FBFECD0253AA}"/>
              </a:ext>
            </a:extLst>
          </p:cNvPr>
          <p:cNvSpPr>
            <a:spLocks noGrp="1"/>
          </p:cNvSpPr>
          <p:nvPr>
            <p:ph type="dt" sz="half" idx="10"/>
          </p:nvPr>
        </p:nvSpPr>
        <p:spPr/>
        <p:txBody>
          <a:bodyPr/>
          <a:lstStyle/>
          <a:p>
            <a:pPr>
              <a:defRPr/>
            </a:pPr>
            <a:fld id="{D528C651-13EC-4B44-89F3-16E3EA098F94}" type="datetime1">
              <a:rPr lang="fr-FR" smtClean="0"/>
              <a:t>17/12/2025</a:t>
            </a:fld>
            <a:endParaRPr lang="fr-FR"/>
          </a:p>
        </p:txBody>
      </p:sp>
      <p:sp>
        <p:nvSpPr>
          <p:cNvPr id="8" name="Espace réservé du pied de page 7">
            <a:extLst>
              <a:ext uri="{FF2B5EF4-FFF2-40B4-BE49-F238E27FC236}">
                <a16:creationId xmlns:a16="http://schemas.microsoft.com/office/drawing/2014/main" id="{90FCCD4C-CF47-ADB2-FA58-A84FC62899DE}"/>
              </a:ext>
            </a:extLst>
          </p:cNvPr>
          <p:cNvSpPr>
            <a:spLocks noGrp="1"/>
          </p:cNvSpPr>
          <p:nvPr>
            <p:ph type="ftr" sz="quarter" idx="11"/>
          </p:nvPr>
        </p:nvSpPr>
        <p:spPr/>
        <p:txBody>
          <a:bodyPr/>
          <a:lstStyle/>
          <a:p>
            <a:pPr>
              <a:defRPr/>
            </a:pPr>
            <a:r>
              <a:rPr lang="fr-FR"/>
              <a:t>Revue_IGS_nov 2024</a:t>
            </a:r>
          </a:p>
        </p:txBody>
      </p:sp>
      <p:sp>
        <p:nvSpPr>
          <p:cNvPr id="9" name="Espace réservé du numéro de diapositive 8">
            <a:extLst>
              <a:ext uri="{FF2B5EF4-FFF2-40B4-BE49-F238E27FC236}">
                <a16:creationId xmlns:a16="http://schemas.microsoft.com/office/drawing/2014/main" id="{FEE444B3-88A3-4914-08C3-1D190F7DB929}"/>
              </a:ext>
            </a:extLst>
          </p:cNvPr>
          <p:cNvSpPr>
            <a:spLocks noGrp="1"/>
          </p:cNvSpPr>
          <p:nvPr>
            <p:ph type="sldNum" sz="quarter" idx="12"/>
          </p:nvPr>
        </p:nvSpPr>
        <p:spPr/>
        <p:txBody>
          <a:bodyPr/>
          <a:lstStyle/>
          <a:p>
            <a:fld id="{7884B78F-3CAB-4081-BC40-79BC8D8242A6}" type="slidenum">
              <a:rPr lang="fr-BE" altLang="fr-FR" smtClean="0"/>
              <a:pPr/>
              <a:t>‹N°›</a:t>
            </a:fld>
            <a:endParaRPr lang="fr-BE" altLang="fr-FR"/>
          </a:p>
        </p:txBody>
      </p:sp>
    </p:spTree>
    <p:extLst>
      <p:ext uri="{BB962C8B-B14F-4D97-AF65-F5344CB8AC3E}">
        <p14:creationId xmlns:p14="http://schemas.microsoft.com/office/powerpoint/2010/main" val="29531509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BC2572-6FA2-C09E-0C7C-A23280F9283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C326F4F-9690-E5F2-7FE3-E8F9F6FEC39C}"/>
              </a:ext>
            </a:extLst>
          </p:cNvPr>
          <p:cNvSpPr>
            <a:spLocks noGrp="1"/>
          </p:cNvSpPr>
          <p:nvPr>
            <p:ph type="dt" sz="half" idx="10"/>
          </p:nvPr>
        </p:nvSpPr>
        <p:spPr/>
        <p:txBody>
          <a:bodyPr/>
          <a:lstStyle/>
          <a:p>
            <a:pPr>
              <a:defRPr/>
            </a:pPr>
            <a:fld id="{39928D89-49B5-4548-8B5F-325FC056C163}" type="datetime1">
              <a:rPr lang="fr-FR" smtClean="0"/>
              <a:t>17/12/2025</a:t>
            </a:fld>
            <a:endParaRPr lang="fr-FR"/>
          </a:p>
        </p:txBody>
      </p:sp>
      <p:sp>
        <p:nvSpPr>
          <p:cNvPr id="4" name="Espace réservé du pied de page 3">
            <a:extLst>
              <a:ext uri="{FF2B5EF4-FFF2-40B4-BE49-F238E27FC236}">
                <a16:creationId xmlns:a16="http://schemas.microsoft.com/office/drawing/2014/main" id="{F48C1870-C0EF-C3EB-7E02-1513B488D96B}"/>
              </a:ext>
            </a:extLst>
          </p:cNvPr>
          <p:cNvSpPr>
            <a:spLocks noGrp="1"/>
          </p:cNvSpPr>
          <p:nvPr>
            <p:ph type="ftr" sz="quarter" idx="11"/>
          </p:nvPr>
        </p:nvSpPr>
        <p:spPr/>
        <p:txBody>
          <a:bodyPr/>
          <a:lstStyle/>
          <a:p>
            <a:pPr>
              <a:defRPr/>
            </a:pPr>
            <a:r>
              <a:rPr lang="fr-FR"/>
              <a:t>Revue_IGS_nov 2024</a:t>
            </a:r>
          </a:p>
        </p:txBody>
      </p:sp>
      <p:sp>
        <p:nvSpPr>
          <p:cNvPr id="5" name="Espace réservé du numéro de diapositive 4">
            <a:extLst>
              <a:ext uri="{FF2B5EF4-FFF2-40B4-BE49-F238E27FC236}">
                <a16:creationId xmlns:a16="http://schemas.microsoft.com/office/drawing/2014/main" id="{D56CF26B-3087-3625-14F8-C9453BE38581}"/>
              </a:ext>
            </a:extLst>
          </p:cNvPr>
          <p:cNvSpPr>
            <a:spLocks noGrp="1"/>
          </p:cNvSpPr>
          <p:nvPr>
            <p:ph type="sldNum" sz="quarter" idx="12"/>
          </p:nvPr>
        </p:nvSpPr>
        <p:spPr/>
        <p:txBody>
          <a:bodyPr/>
          <a:lstStyle/>
          <a:p>
            <a:fld id="{B2757681-7B38-44BA-B4F6-578541C898D0}" type="slidenum">
              <a:rPr lang="fr-BE" altLang="fr-FR" smtClean="0"/>
              <a:pPr/>
              <a:t>‹N°›</a:t>
            </a:fld>
            <a:endParaRPr lang="fr-BE" altLang="fr-FR"/>
          </a:p>
        </p:txBody>
      </p:sp>
    </p:spTree>
    <p:extLst>
      <p:ext uri="{BB962C8B-B14F-4D97-AF65-F5344CB8AC3E}">
        <p14:creationId xmlns:p14="http://schemas.microsoft.com/office/powerpoint/2010/main" val="2672001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C6A8937-EB61-36B0-D285-CBE7FF72AD90}"/>
              </a:ext>
            </a:extLst>
          </p:cNvPr>
          <p:cNvSpPr>
            <a:spLocks noGrp="1"/>
          </p:cNvSpPr>
          <p:nvPr>
            <p:ph type="dt" sz="half" idx="10"/>
          </p:nvPr>
        </p:nvSpPr>
        <p:spPr/>
        <p:txBody>
          <a:bodyPr/>
          <a:lstStyle/>
          <a:p>
            <a:pPr>
              <a:defRPr/>
            </a:pPr>
            <a:fld id="{AA8CA646-E291-4523-94D9-2F18CAFA0978}" type="datetime1">
              <a:rPr lang="fr-FR" smtClean="0"/>
              <a:t>17/12/2025</a:t>
            </a:fld>
            <a:endParaRPr lang="fr-FR"/>
          </a:p>
        </p:txBody>
      </p:sp>
      <p:sp>
        <p:nvSpPr>
          <p:cNvPr id="3" name="Espace réservé du pied de page 2">
            <a:extLst>
              <a:ext uri="{FF2B5EF4-FFF2-40B4-BE49-F238E27FC236}">
                <a16:creationId xmlns:a16="http://schemas.microsoft.com/office/drawing/2014/main" id="{596EB958-4E78-EFD3-627E-C9F599B5676A}"/>
              </a:ext>
            </a:extLst>
          </p:cNvPr>
          <p:cNvSpPr>
            <a:spLocks noGrp="1"/>
          </p:cNvSpPr>
          <p:nvPr>
            <p:ph type="ftr" sz="quarter" idx="11"/>
          </p:nvPr>
        </p:nvSpPr>
        <p:spPr/>
        <p:txBody>
          <a:bodyPr/>
          <a:lstStyle/>
          <a:p>
            <a:pPr>
              <a:defRPr/>
            </a:pPr>
            <a:r>
              <a:rPr lang="fr-FR"/>
              <a:t>Revue_IGS_nov 2024</a:t>
            </a:r>
          </a:p>
        </p:txBody>
      </p:sp>
      <p:sp>
        <p:nvSpPr>
          <p:cNvPr id="4" name="Espace réservé du numéro de diapositive 3">
            <a:extLst>
              <a:ext uri="{FF2B5EF4-FFF2-40B4-BE49-F238E27FC236}">
                <a16:creationId xmlns:a16="http://schemas.microsoft.com/office/drawing/2014/main" id="{336AD9CC-3AAE-C067-7AC4-9C535404AC2B}"/>
              </a:ext>
            </a:extLst>
          </p:cNvPr>
          <p:cNvSpPr>
            <a:spLocks noGrp="1"/>
          </p:cNvSpPr>
          <p:nvPr>
            <p:ph type="sldNum" sz="quarter" idx="12"/>
          </p:nvPr>
        </p:nvSpPr>
        <p:spPr/>
        <p:txBody>
          <a:bodyPr/>
          <a:lstStyle/>
          <a:p>
            <a:fld id="{D762762B-EA0F-4327-834E-2B0A8FE9B1CC}" type="slidenum">
              <a:rPr lang="fr-BE" altLang="fr-FR" smtClean="0"/>
              <a:pPr/>
              <a:t>‹N°›</a:t>
            </a:fld>
            <a:endParaRPr lang="fr-BE" altLang="fr-FR"/>
          </a:p>
        </p:txBody>
      </p:sp>
    </p:spTree>
    <p:extLst>
      <p:ext uri="{BB962C8B-B14F-4D97-AF65-F5344CB8AC3E}">
        <p14:creationId xmlns:p14="http://schemas.microsoft.com/office/powerpoint/2010/main" val="13933875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2B3850-87CD-5021-A70A-8F972ADB1ABD}"/>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27C2CBDB-EE2C-B237-98D8-A759D1E9549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9473387-3AAC-4FCA-930F-987FADFAFF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80A2B46-FC44-E7B6-1CF7-9B8EF6C289F2}"/>
              </a:ext>
            </a:extLst>
          </p:cNvPr>
          <p:cNvSpPr>
            <a:spLocks noGrp="1"/>
          </p:cNvSpPr>
          <p:nvPr>
            <p:ph type="dt" sz="half" idx="10"/>
          </p:nvPr>
        </p:nvSpPr>
        <p:spPr/>
        <p:txBody>
          <a:bodyPr/>
          <a:lstStyle/>
          <a:p>
            <a:pPr>
              <a:defRPr/>
            </a:pPr>
            <a:fld id="{AE6B36B4-13A9-4D36-A887-7668EB616F7C}" type="datetime1">
              <a:rPr lang="fr-FR" smtClean="0"/>
              <a:t>17/12/2025</a:t>
            </a:fld>
            <a:endParaRPr lang="fr-FR"/>
          </a:p>
        </p:txBody>
      </p:sp>
      <p:sp>
        <p:nvSpPr>
          <p:cNvPr id="6" name="Espace réservé du pied de page 5">
            <a:extLst>
              <a:ext uri="{FF2B5EF4-FFF2-40B4-BE49-F238E27FC236}">
                <a16:creationId xmlns:a16="http://schemas.microsoft.com/office/drawing/2014/main" id="{1BEED028-1784-A11B-3FAB-9CBCBCA51B43}"/>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id="{237CDE27-87A5-2099-865C-E1231ABAA014}"/>
              </a:ext>
            </a:extLst>
          </p:cNvPr>
          <p:cNvSpPr>
            <a:spLocks noGrp="1"/>
          </p:cNvSpPr>
          <p:nvPr>
            <p:ph type="sldNum" sz="quarter" idx="12"/>
          </p:nvPr>
        </p:nvSpPr>
        <p:spPr/>
        <p:txBody>
          <a:bodyPr/>
          <a:lstStyle/>
          <a:p>
            <a:fld id="{82F1156D-8CD2-4423-BCBC-5E15DA3FE990}" type="slidenum">
              <a:rPr lang="fr-BE" altLang="fr-FR" smtClean="0"/>
              <a:pPr/>
              <a:t>‹N°›</a:t>
            </a:fld>
            <a:endParaRPr lang="fr-BE" altLang="fr-FR"/>
          </a:p>
        </p:txBody>
      </p:sp>
    </p:spTree>
    <p:extLst>
      <p:ext uri="{BB962C8B-B14F-4D97-AF65-F5344CB8AC3E}">
        <p14:creationId xmlns:p14="http://schemas.microsoft.com/office/powerpoint/2010/main" val="41616881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C9E087-6522-C255-D25E-7F7C8C760965}"/>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956E53B8-AF94-2A57-F43A-7B2ECADCB88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742301B5-17E5-E459-A2E9-B7D49EDEC95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89507A0-DC59-B6DD-F5B6-3C4BDF0C8078}"/>
              </a:ext>
            </a:extLst>
          </p:cNvPr>
          <p:cNvSpPr>
            <a:spLocks noGrp="1"/>
          </p:cNvSpPr>
          <p:nvPr>
            <p:ph type="dt" sz="half" idx="10"/>
          </p:nvPr>
        </p:nvSpPr>
        <p:spPr/>
        <p:txBody>
          <a:bodyPr/>
          <a:lstStyle/>
          <a:p>
            <a:pPr>
              <a:defRPr/>
            </a:pPr>
            <a:fld id="{52D7A1FF-58F6-4CB4-8F9A-4818C621C85C}" type="datetime1">
              <a:rPr lang="fr-FR" smtClean="0"/>
              <a:t>17/12/2025</a:t>
            </a:fld>
            <a:endParaRPr lang="fr-FR"/>
          </a:p>
        </p:txBody>
      </p:sp>
      <p:sp>
        <p:nvSpPr>
          <p:cNvPr id="6" name="Espace réservé du pied de page 5">
            <a:extLst>
              <a:ext uri="{FF2B5EF4-FFF2-40B4-BE49-F238E27FC236}">
                <a16:creationId xmlns:a16="http://schemas.microsoft.com/office/drawing/2014/main" id="{D20B9E55-2172-5116-1A5E-2F34AFBF0C44}"/>
              </a:ext>
            </a:extLst>
          </p:cNvPr>
          <p:cNvSpPr>
            <a:spLocks noGrp="1"/>
          </p:cNvSpPr>
          <p:nvPr>
            <p:ph type="ftr" sz="quarter" idx="11"/>
          </p:nvPr>
        </p:nvSpPr>
        <p:spPr/>
        <p:txBody>
          <a:bodyPr/>
          <a:lstStyle/>
          <a:p>
            <a:pPr>
              <a:defRPr/>
            </a:pPr>
            <a:r>
              <a:rPr lang="fr-FR"/>
              <a:t>Revue_IGS_nov 2024</a:t>
            </a:r>
          </a:p>
        </p:txBody>
      </p:sp>
      <p:sp>
        <p:nvSpPr>
          <p:cNvPr id="7" name="Espace réservé du numéro de diapositive 6">
            <a:extLst>
              <a:ext uri="{FF2B5EF4-FFF2-40B4-BE49-F238E27FC236}">
                <a16:creationId xmlns:a16="http://schemas.microsoft.com/office/drawing/2014/main" id="{7FA29078-EF26-C43A-D050-D7CE5D52601C}"/>
              </a:ext>
            </a:extLst>
          </p:cNvPr>
          <p:cNvSpPr>
            <a:spLocks noGrp="1"/>
          </p:cNvSpPr>
          <p:nvPr>
            <p:ph type="sldNum" sz="quarter" idx="12"/>
          </p:nvPr>
        </p:nvSpPr>
        <p:spPr/>
        <p:txBody>
          <a:bodyPr/>
          <a:lstStyle/>
          <a:p>
            <a:fld id="{970DA170-4D8E-4DA2-8299-A74FF00435DC}" type="slidenum">
              <a:rPr lang="fr-BE" altLang="fr-FR" smtClean="0"/>
              <a:pPr/>
              <a:t>‹N°›</a:t>
            </a:fld>
            <a:endParaRPr lang="fr-BE" altLang="fr-FR"/>
          </a:p>
        </p:txBody>
      </p:sp>
    </p:spTree>
    <p:extLst>
      <p:ext uri="{BB962C8B-B14F-4D97-AF65-F5344CB8AC3E}">
        <p14:creationId xmlns:p14="http://schemas.microsoft.com/office/powerpoint/2010/main" val="3388164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3C08B-760F-2839-1C8B-87CB26DAFF4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E87B6F5-7DCA-3181-6BF2-963F6EDF3D7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F00D569-ED55-203E-28E4-1C4DEC3F5CC9}"/>
              </a:ext>
            </a:extLst>
          </p:cNvPr>
          <p:cNvSpPr>
            <a:spLocks noGrp="1"/>
          </p:cNvSpPr>
          <p:nvPr>
            <p:ph type="dt" sz="half" idx="10"/>
          </p:nvPr>
        </p:nvSpPr>
        <p:spPr/>
        <p:txBody>
          <a:bodyPr/>
          <a:lstStyle/>
          <a:p>
            <a:pPr>
              <a:defRPr/>
            </a:pPr>
            <a:fld id="{2143A1BF-10D9-4EE7-ABB3-0ECCC8F64C52}" type="datetime1">
              <a:rPr lang="fr-FR" smtClean="0"/>
              <a:t>17/12/2025</a:t>
            </a:fld>
            <a:endParaRPr lang="fr-FR"/>
          </a:p>
        </p:txBody>
      </p:sp>
      <p:sp>
        <p:nvSpPr>
          <p:cNvPr id="5" name="Espace réservé du pied de page 4">
            <a:extLst>
              <a:ext uri="{FF2B5EF4-FFF2-40B4-BE49-F238E27FC236}">
                <a16:creationId xmlns:a16="http://schemas.microsoft.com/office/drawing/2014/main" id="{3A34108B-75E3-B052-2E5D-5A5C60F36FE5}"/>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84B22F14-3687-1E9D-C972-316F18247299}"/>
              </a:ext>
            </a:extLst>
          </p:cNvPr>
          <p:cNvSpPr>
            <a:spLocks noGrp="1"/>
          </p:cNvSpPr>
          <p:nvPr>
            <p:ph type="sldNum" sz="quarter" idx="12"/>
          </p:nvPr>
        </p:nvSpPr>
        <p:spPr/>
        <p:txBody>
          <a:bodyPr/>
          <a:lstStyle/>
          <a:p>
            <a:fld id="{2C2359A2-DE3A-44EC-A5EA-74CFA0F19051}" type="slidenum">
              <a:rPr lang="fr-BE" altLang="fr-FR" smtClean="0"/>
              <a:pPr/>
              <a:t>‹N°›</a:t>
            </a:fld>
            <a:endParaRPr lang="fr-BE" altLang="fr-FR"/>
          </a:p>
        </p:txBody>
      </p:sp>
    </p:spTree>
    <p:extLst>
      <p:ext uri="{BB962C8B-B14F-4D97-AF65-F5344CB8AC3E}">
        <p14:creationId xmlns:p14="http://schemas.microsoft.com/office/powerpoint/2010/main" val="29264190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CE532E4-D402-A68F-B784-A63677671BD2}"/>
              </a:ext>
            </a:extLst>
          </p:cNvPr>
          <p:cNvSpPr>
            <a:spLocks noGrp="1"/>
          </p:cNvSpPr>
          <p:nvPr>
            <p:ph type="title" orient="vert"/>
          </p:nvPr>
        </p:nvSpPr>
        <p:spPr>
          <a:xfrm>
            <a:off x="6543675" y="365125"/>
            <a:ext cx="1971675"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02BDB86-2967-479F-002E-5AF7156489C9}"/>
              </a:ext>
            </a:extLst>
          </p:cNvPr>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610A2D2-F4E5-001C-55EF-31A8EDDE1238}"/>
              </a:ext>
            </a:extLst>
          </p:cNvPr>
          <p:cNvSpPr>
            <a:spLocks noGrp="1"/>
          </p:cNvSpPr>
          <p:nvPr>
            <p:ph type="dt" sz="half" idx="10"/>
          </p:nvPr>
        </p:nvSpPr>
        <p:spPr/>
        <p:txBody>
          <a:bodyPr/>
          <a:lstStyle/>
          <a:p>
            <a:pPr>
              <a:defRPr/>
            </a:pPr>
            <a:fld id="{932C84D1-C030-4461-8344-FD227603A361}" type="datetime1">
              <a:rPr lang="fr-FR" smtClean="0"/>
              <a:t>17/12/2025</a:t>
            </a:fld>
            <a:endParaRPr lang="fr-FR"/>
          </a:p>
        </p:txBody>
      </p:sp>
      <p:sp>
        <p:nvSpPr>
          <p:cNvPr id="5" name="Espace réservé du pied de page 4">
            <a:extLst>
              <a:ext uri="{FF2B5EF4-FFF2-40B4-BE49-F238E27FC236}">
                <a16:creationId xmlns:a16="http://schemas.microsoft.com/office/drawing/2014/main" id="{C57771BE-FFF0-9AF6-36D1-C528715D4A7D}"/>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8AC9DEAA-59F2-5533-BBC3-99C8E8C8CC50}"/>
              </a:ext>
            </a:extLst>
          </p:cNvPr>
          <p:cNvSpPr>
            <a:spLocks noGrp="1"/>
          </p:cNvSpPr>
          <p:nvPr>
            <p:ph type="sldNum" sz="quarter" idx="12"/>
          </p:nvPr>
        </p:nvSpPr>
        <p:spPr/>
        <p:txBody>
          <a:bodyPr/>
          <a:lstStyle/>
          <a:p>
            <a:fld id="{4C9D24E8-994D-4562-893D-FB4FDD9C43C7}" type="slidenum">
              <a:rPr lang="fr-BE" altLang="fr-FR" smtClean="0"/>
              <a:pPr/>
              <a:t>‹N°›</a:t>
            </a:fld>
            <a:endParaRPr lang="fr-BE" altLang="fr-FR"/>
          </a:p>
        </p:txBody>
      </p:sp>
    </p:spTree>
    <p:extLst>
      <p:ext uri="{BB962C8B-B14F-4D97-AF65-F5344CB8AC3E}">
        <p14:creationId xmlns:p14="http://schemas.microsoft.com/office/powerpoint/2010/main" val="4156402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Espace réservé du titre 1">
            <a:extLst>
              <a:ext uri="{FF2B5EF4-FFF2-40B4-BE49-F238E27FC236}">
                <a16:creationId xmlns:a16="http://schemas.microsoft.com/office/drawing/2014/main" id="{04A80B2C-FD02-3DBC-CB5E-EEA1D08F63C8}"/>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BE" altLang="fr-FR"/>
              <a:t>Modifiez le style du titre</a:t>
            </a:r>
          </a:p>
        </p:txBody>
      </p:sp>
      <p:sp>
        <p:nvSpPr>
          <p:cNvPr id="2051" name="Espace réservé du texte 2">
            <a:extLst>
              <a:ext uri="{FF2B5EF4-FFF2-40B4-BE49-F238E27FC236}">
                <a16:creationId xmlns:a16="http://schemas.microsoft.com/office/drawing/2014/main" id="{3D040445-49D2-B8F5-DD6A-742B487AD16F}"/>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BE" altLang="fr-FR"/>
              <a:t>Modifier les styles du texte du masque</a:t>
            </a:r>
          </a:p>
          <a:p>
            <a:pPr lvl="1"/>
            <a:r>
              <a:rPr lang="fr-BE" altLang="fr-FR"/>
              <a:t>Deuxième niveau</a:t>
            </a:r>
          </a:p>
          <a:p>
            <a:pPr lvl="2"/>
            <a:r>
              <a:rPr lang="fr-BE" altLang="fr-FR"/>
              <a:t>Troisième niveau</a:t>
            </a:r>
          </a:p>
          <a:p>
            <a:pPr lvl="3"/>
            <a:r>
              <a:rPr lang="fr-BE" altLang="fr-FR"/>
              <a:t>Quatrième niveau</a:t>
            </a:r>
          </a:p>
          <a:p>
            <a:pPr lvl="4"/>
            <a:r>
              <a:rPr lang="fr-BE" altLang="fr-FR"/>
              <a:t>Cinquième niveau</a:t>
            </a:r>
          </a:p>
        </p:txBody>
      </p:sp>
      <p:sp>
        <p:nvSpPr>
          <p:cNvPr id="4" name="Espace réservé de la date 3">
            <a:extLst>
              <a:ext uri="{FF2B5EF4-FFF2-40B4-BE49-F238E27FC236}">
                <a16:creationId xmlns:a16="http://schemas.microsoft.com/office/drawing/2014/main" id="{45F127B6-3BE6-0CF8-4CB3-BC1CC4C6500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prstClr val="black">
                    <a:tint val="75000"/>
                  </a:prstClr>
                </a:solidFill>
                <a:latin typeface="+mn-lt"/>
                <a:cs typeface="+mn-cs"/>
              </a:defRPr>
            </a:lvl1pPr>
          </a:lstStyle>
          <a:p>
            <a:pPr>
              <a:defRPr/>
            </a:pPr>
            <a:fld id="{5785B294-216F-4531-B128-3479DCEF07F0}" type="datetime1">
              <a:rPr lang="fr-FR" smtClean="0"/>
              <a:t>17/12/2025</a:t>
            </a:fld>
            <a:endParaRPr lang="fr-FR"/>
          </a:p>
        </p:txBody>
      </p:sp>
      <p:sp>
        <p:nvSpPr>
          <p:cNvPr id="5" name="Espace réservé du pied de page 4">
            <a:extLst>
              <a:ext uri="{FF2B5EF4-FFF2-40B4-BE49-F238E27FC236}">
                <a16:creationId xmlns:a16="http://schemas.microsoft.com/office/drawing/2014/main" id="{4DD771FF-5F01-111A-30C3-01AB7F8AFB8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smtClean="0">
                <a:solidFill>
                  <a:prstClr val="black">
                    <a:tint val="75000"/>
                  </a:prstClr>
                </a:solidFill>
                <a:latin typeface="+mn-lt"/>
                <a:cs typeface="+mn-cs"/>
              </a:defRPr>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5469D05B-9AB4-7664-2BC5-C61952FC7F95}"/>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7C93AF97-1E84-43B6-A95E-348F66B2C4D5}" type="slidenum">
              <a:rPr lang="fr-BE" altLang="fr-FR"/>
              <a:pPr/>
              <a:t>‹N°›</a:t>
            </a:fld>
            <a:endParaRPr lang="fr-BE" altLang="fr-FR"/>
          </a:p>
        </p:txBody>
      </p:sp>
    </p:spTree>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hdr="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eaLnBrk="1" fontAlgn="base" hangingPunct="1">
        <a:lnSpc>
          <a:spcPct val="90000"/>
        </a:lnSpc>
        <a:spcBef>
          <a:spcPct val="0"/>
        </a:spcBef>
        <a:spcAft>
          <a:spcPct val="0"/>
        </a:spcAft>
        <a:defRPr sz="4400">
          <a:solidFill>
            <a:schemeClr val="tx1"/>
          </a:solidFill>
          <a:latin typeface="Calibri Light" pitchFamily="34" charset="0"/>
        </a:defRPr>
      </a:lvl6pPr>
      <a:lvl7pPr marL="914400" algn="l" rtl="0" eaLnBrk="1" fontAlgn="base" hangingPunct="1">
        <a:lnSpc>
          <a:spcPct val="90000"/>
        </a:lnSpc>
        <a:spcBef>
          <a:spcPct val="0"/>
        </a:spcBef>
        <a:spcAft>
          <a:spcPct val="0"/>
        </a:spcAft>
        <a:defRPr sz="4400">
          <a:solidFill>
            <a:schemeClr val="tx1"/>
          </a:solidFill>
          <a:latin typeface="Calibri Light" pitchFamily="34" charset="0"/>
        </a:defRPr>
      </a:lvl7pPr>
      <a:lvl8pPr marL="1371600" algn="l" rtl="0" eaLnBrk="1" fontAlgn="base" hangingPunct="1">
        <a:lnSpc>
          <a:spcPct val="90000"/>
        </a:lnSpc>
        <a:spcBef>
          <a:spcPct val="0"/>
        </a:spcBef>
        <a:spcAft>
          <a:spcPct val="0"/>
        </a:spcAft>
        <a:defRPr sz="4400">
          <a:solidFill>
            <a:schemeClr val="tx1"/>
          </a:solidFill>
          <a:latin typeface="Calibri Light" pitchFamily="34" charset="0"/>
        </a:defRPr>
      </a:lvl8pPr>
      <a:lvl9pPr marL="1828800" algn="l" rtl="0" eaLnBrk="1" fontAlgn="base" hangingPunct="1">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FC89AF6-13D1-EB1E-B094-51688A53590B}"/>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69CD851-D19B-4C21-F9AC-2D987AC62B6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6E452BB-E1EB-7E7E-0499-3FFE4845351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56A57E8F-58C7-4D61-A191-8F0051A68B0F}" type="datetime1">
              <a:rPr lang="fr-FR" smtClean="0"/>
              <a:t>17/12/2025</a:t>
            </a:fld>
            <a:endParaRPr lang="fr-FR"/>
          </a:p>
        </p:txBody>
      </p:sp>
      <p:sp>
        <p:nvSpPr>
          <p:cNvPr id="5" name="Espace réservé du pied de page 4">
            <a:extLst>
              <a:ext uri="{FF2B5EF4-FFF2-40B4-BE49-F238E27FC236}">
                <a16:creationId xmlns:a16="http://schemas.microsoft.com/office/drawing/2014/main" id="{9CA760B2-2FE6-9768-F825-CFA15D3B14B5}"/>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8B60A6BE-AAD3-2957-E3FF-21A753AC8E4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1547B44-6F97-4DB2-92B1-EB62D7777F1A}" type="slidenum">
              <a:rPr lang="fr-BE" altLang="fr-FR" smtClean="0"/>
              <a:pPr/>
              <a:t>‹N°›</a:t>
            </a:fld>
            <a:endParaRPr lang="fr-BE" altLang="fr-FR"/>
          </a:p>
        </p:txBody>
      </p:sp>
    </p:spTree>
    <p:extLst>
      <p:ext uri="{BB962C8B-B14F-4D97-AF65-F5344CB8AC3E}">
        <p14:creationId xmlns:p14="http://schemas.microsoft.com/office/powerpoint/2010/main" val="3819803212"/>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14.png"/><Relationship Id="rId3" Type="http://schemas.openxmlformats.org/officeDocument/2006/relationships/image" Target="../media/image2.gif"/><Relationship Id="rId7" Type="http://schemas.openxmlformats.org/officeDocument/2006/relationships/diagramColors" Target="../diagrams/colors1.xml"/><Relationship Id="rId12" Type="http://schemas.openxmlformats.org/officeDocument/2006/relationships/image" Target="../media/image13.png"/><Relationship Id="rId2" Type="http://schemas.openxmlformats.org/officeDocument/2006/relationships/image" Target="../media/image4.png"/><Relationship Id="rId16" Type="http://schemas.openxmlformats.org/officeDocument/2006/relationships/image" Target="../media/image17.png"/><Relationship Id="rId1" Type="http://schemas.openxmlformats.org/officeDocument/2006/relationships/slideLayout" Target="../slideLayouts/slideLayout13.xml"/><Relationship Id="rId6" Type="http://schemas.openxmlformats.org/officeDocument/2006/relationships/diagramQuickStyle" Target="../diagrams/quickStyle1.xml"/><Relationship Id="rId11" Type="http://schemas.openxmlformats.org/officeDocument/2006/relationships/image" Target="../media/image12.png"/><Relationship Id="rId5" Type="http://schemas.openxmlformats.org/officeDocument/2006/relationships/diagramLayout" Target="../diagrams/layout1.xml"/><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diagramData" Target="../diagrams/data1.xml"/><Relationship Id="rId9" Type="http://schemas.openxmlformats.org/officeDocument/2006/relationships/image" Target="../media/image10.pn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gi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8428C8D-3A1A-E8A5-03EF-768718DA7DFF}"/>
              </a:ext>
            </a:extLst>
          </p:cNvPr>
          <p:cNvSpPr>
            <a:spLocks noGrp="1"/>
          </p:cNvSpPr>
          <p:nvPr>
            <p:ph idx="1"/>
          </p:nvPr>
        </p:nvSpPr>
        <p:spPr>
          <a:xfrm>
            <a:off x="733425" y="4214964"/>
            <a:ext cx="7677150" cy="1052562"/>
          </a:xfrm>
        </p:spPr>
        <p:txBody>
          <a:bodyPr rtlCol="0">
            <a:normAutofit/>
          </a:bodyPr>
          <a:lstStyle/>
          <a:p>
            <a:pPr marL="0" indent="0" algn="ctr" fontAlgn="auto">
              <a:spcAft>
                <a:spcPts val="0"/>
              </a:spcAft>
              <a:buFont typeface="Arial" panose="020B0604020202020204" pitchFamily="34" charset="0"/>
              <a:buNone/>
              <a:defRPr/>
            </a:pPr>
            <a:r>
              <a:rPr lang="fr-FR" dirty="0">
                <a:latin typeface="Berlin Sans FB Demi" pitchFamily="34" charset="0"/>
              </a:rPr>
              <a:t>        </a:t>
            </a:r>
            <a:endParaRPr lang="fr-FR" sz="4800" b="1" dirty="0">
              <a:solidFill>
                <a:srgbClr val="0070C0"/>
              </a:solidFill>
              <a:latin typeface="Berlin Sans FB Demi" pitchFamily="34" charset="0"/>
            </a:endParaRPr>
          </a:p>
        </p:txBody>
      </p:sp>
      <p:pic>
        <p:nvPicPr>
          <p:cNvPr id="51204" name="Picture 2">
            <a:extLst>
              <a:ext uri="{FF2B5EF4-FFF2-40B4-BE49-F238E27FC236}">
                <a16:creationId xmlns:a16="http://schemas.microsoft.com/office/drawing/2014/main" id="{644E48CD-3C5C-726C-D626-5E287D8C8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5" y="326771"/>
            <a:ext cx="1469115" cy="699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6" name="Image 4" descr="Description: Description: Description: drapeau-anim012">
            <a:extLst>
              <a:ext uri="{FF2B5EF4-FFF2-40B4-BE49-F238E27FC236}">
                <a16:creationId xmlns:a16="http://schemas.microsoft.com/office/drawing/2014/main" id="{13156971-CFF6-7F2C-4B16-FFEEFE706E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336" y="318231"/>
            <a:ext cx="981871" cy="700527"/>
          </a:xfrm>
          <a:prstGeom prst="rect">
            <a:avLst/>
          </a:prstGeom>
          <a:solidFill>
            <a:srgbClr val="FFFFFF"/>
          </a:solidFill>
          <a:ln w="25400">
            <a:solidFill>
              <a:srgbClr val="FFFFFF"/>
            </a:solidFill>
            <a:miter lim="800000"/>
            <a:headEnd/>
            <a:tailEnd/>
          </a:ln>
        </p:spPr>
      </p:pic>
      <p:sp>
        <p:nvSpPr>
          <p:cNvPr id="10" name="Espace réservé du contenu 2">
            <a:extLst>
              <a:ext uri="{FF2B5EF4-FFF2-40B4-BE49-F238E27FC236}">
                <a16:creationId xmlns:a16="http://schemas.microsoft.com/office/drawing/2014/main" id="{77CDBCBE-BFCD-1B5F-FDC8-22FD14A364CC}"/>
              </a:ext>
            </a:extLst>
          </p:cNvPr>
          <p:cNvSpPr txBox="1">
            <a:spLocks/>
          </p:cNvSpPr>
          <p:nvPr/>
        </p:nvSpPr>
        <p:spPr bwMode="auto">
          <a:xfrm>
            <a:off x="571262" y="2551966"/>
            <a:ext cx="8096956" cy="756872"/>
          </a:xfrm>
          <a:prstGeom prst="rect">
            <a:avLst/>
          </a:prstGeom>
          <a:noFill/>
          <a:ln w="9525">
            <a:noFill/>
            <a:miter lim="800000"/>
            <a:headEnd/>
            <a:tailEnd/>
          </a:ln>
        </p:spPr>
        <p:txBody>
          <a:bodyPr>
            <a:normAutofit fontScale="250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charset="0"/>
              <a:buNone/>
              <a:defRPr/>
            </a:pPr>
            <a:r>
              <a:rPr lang="fr-FR" sz="176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Revue Annuelle du PEV 2025</a:t>
            </a:r>
          </a:p>
          <a:p>
            <a:pPr marL="0" indent="0" algn="ctr" fontAlgn="auto">
              <a:spcAft>
                <a:spcPts val="0"/>
              </a:spcAft>
              <a:buFont typeface="Arial" charset="0"/>
              <a:buNone/>
              <a:defRPr/>
            </a:pPr>
            <a:endParaRPr lang="fr-FR" sz="96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Espace réservé du contenu 2">
            <a:extLst>
              <a:ext uri="{FF2B5EF4-FFF2-40B4-BE49-F238E27FC236}">
                <a16:creationId xmlns:a16="http://schemas.microsoft.com/office/drawing/2014/main" id="{84F2E76E-81E6-F346-7D23-772DEA9A23DE}"/>
              </a:ext>
            </a:extLst>
          </p:cNvPr>
          <p:cNvSpPr txBox="1">
            <a:spLocks/>
          </p:cNvSpPr>
          <p:nvPr/>
        </p:nvSpPr>
        <p:spPr bwMode="auto">
          <a:xfrm>
            <a:off x="3095836" y="6093296"/>
            <a:ext cx="2952839" cy="437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panose="020B0604020202020204" pitchFamily="34" charset="0"/>
              <a:buNone/>
              <a:defRPr/>
            </a:pPr>
            <a:r>
              <a:rPr lang="fr-FR" sz="2400" dirty="0">
                <a:latin typeface="Berlin Sans FB Demi" pitchFamily="34" charset="0"/>
              </a:rPr>
              <a:t>Décembre 2025</a:t>
            </a:r>
            <a:endParaRPr lang="fr-FR" sz="4400" b="1" dirty="0">
              <a:solidFill>
                <a:srgbClr val="0070C0"/>
              </a:solidFill>
              <a:latin typeface="Berlin Sans FB Demi" pitchFamily="34" charset="0"/>
            </a:endParaRPr>
          </a:p>
        </p:txBody>
      </p:sp>
      <p:grpSp>
        <p:nvGrpSpPr>
          <p:cNvPr id="9" name="Groupe 8">
            <a:extLst>
              <a:ext uri="{FF2B5EF4-FFF2-40B4-BE49-F238E27FC236}">
                <a16:creationId xmlns:a16="http://schemas.microsoft.com/office/drawing/2014/main" id="{85908DF2-AA71-12B6-D4F9-9546B14A5DDA}"/>
              </a:ext>
            </a:extLst>
          </p:cNvPr>
          <p:cNvGrpSpPr/>
          <p:nvPr/>
        </p:nvGrpSpPr>
        <p:grpSpPr>
          <a:xfrm>
            <a:off x="-2" y="1"/>
            <a:ext cx="107506" cy="6829254"/>
            <a:chOff x="-2" y="-1"/>
            <a:chExt cx="45721" cy="5797731"/>
          </a:xfrm>
        </p:grpSpPr>
        <p:sp>
          <p:nvSpPr>
            <p:cNvPr id="4" name="Rectangle 3">
              <a:extLst>
                <a:ext uri="{FF2B5EF4-FFF2-40B4-BE49-F238E27FC236}">
                  <a16:creationId xmlns:a16="http://schemas.microsoft.com/office/drawing/2014/main" id="{D1D12989-D285-1DDE-E23F-57A820DB82F9}"/>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5" name="Rectangle 4">
              <a:extLst>
                <a:ext uri="{FF2B5EF4-FFF2-40B4-BE49-F238E27FC236}">
                  <a16:creationId xmlns:a16="http://schemas.microsoft.com/office/drawing/2014/main" id="{8AFC901F-289E-10E0-C8E5-8578AFA7E783}"/>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8" name="Rectangle 7">
              <a:extLst>
                <a:ext uri="{FF2B5EF4-FFF2-40B4-BE49-F238E27FC236}">
                  <a16:creationId xmlns:a16="http://schemas.microsoft.com/office/drawing/2014/main" id="{36B0B610-4AB4-18ED-6C5B-0A94C1D7A317}"/>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pic>
        <p:nvPicPr>
          <p:cNvPr id="11" name="Image 10">
            <a:extLst>
              <a:ext uri="{FF2B5EF4-FFF2-40B4-BE49-F238E27FC236}">
                <a16:creationId xmlns:a16="http://schemas.microsoft.com/office/drawing/2014/main" id="{2BB91CF8-A453-4F1D-D39E-EE09C187BA0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1921" y="175891"/>
            <a:ext cx="2550883" cy="850154"/>
          </a:xfrm>
          <a:prstGeom prst="rect">
            <a:avLst/>
          </a:prstGeom>
          <a:noFill/>
          <a:ln>
            <a:noFill/>
          </a:ln>
        </p:spPr>
      </p:pic>
      <p:sp>
        <p:nvSpPr>
          <p:cNvPr id="6" name="Espace réservé du contenu 2">
            <a:extLst>
              <a:ext uri="{FF2B5EF4-FFF2-40B4-BE49-F238E27FC236}">
                <a16:creationId xmlns:a16="http://schemas.microsoft.com/office/drawing/2014/main" id="{E28DEE96-EC08-8784-AC02-C8976C0AA907}"/>
              </a:ext>
            </a:extLst>
          </p:cNvPr>
          <p:cNvSpPr txBox="1">
            <a:spLocks/>
          </p:cNvSpPr>
          <p:nvPr/>
        </p:nvSpPr>
        <p:spPr bwMode="auto">
          <a:xfrm>
            <a:off x="781164" y="4372178"/>
            <a:ext cx="7677151" cy="738133"/>
          </a:xfrm>
          <a:prstGeom prst="rect">
            <a:avLst/>
          </a:prstGeom>
          <a:noFill/>
          <a:ln w="9525">
            <a:noFill/>
            <a:miter lim="800000"/>
            <a:headEnd/>
            <a:tailEnd/>
          </a:ln>
        </p:spPr>
        <p:txBody>
          <a:bodyPr>
            <a:normAutofit fontScale="250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auto">
              <a:spcAft>
                <a:spcPts val="0"/>
              </a:spcAft>
              <a:buFont typeface="Arial" charset="0"/>
              <a:buNone/>
              <a:defRPr/>
            </a:pPr>
            <a:r>
              <a:rPr lang="fr-FR" sz="16000" b="1" dirty="0">
                <a:solidFill>
                  <a:srgbClr val="00B0F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Présentation de l’IGS </a:t>
            </a:r>
            <a:endParaRPr lang="fr-FR" sz="160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Espace réservé du contenu 2">
            <a:extLst>
              <a:ext uri="{FF2B5EF4-FFF2-40B4-BE49-F238E27FC236}">
                <a16:creationId xmlns:a16="http://schemas.microsoft.com/office/drawing/2014/main" id="{A7A148DE-E14C-688B-7C9C-21334A9AC44A}"/>
              </a:ext>
            </a:extLst>
          </p:cNvPr>
          <p:cNvSpPr txBox="1">
            <a:spLocks/>
          </p:cNvSpPr>
          <p:nvPr/>
        </p:nvSpPr>
        <p:spPr bwMode="auto">
          <a:xfrm>
            <a:off x="274992" y="2870587"/>
            <a:ext cx="8689496" cy="850154"/>
          </a:xfrm>
          <a:prstGeom prst="rect">
            <a:avLst/>
          </a:prstGeom>
          <a:noFill/>
          <a:ln w="9525">
            <a:noFill/>
            <a:miter lim="800000"/>
            <a:headEnd/>
            <a:tailEnd/>
          </a:ln>
        </p:spPr>
        <p:txBody>
          <a:bodyPr>
            <a:normAutofit fontScale="47500" lnSpcReduction="20000"/>
          </a:bodyPr>
          <a:lst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itchFamily="34" charset="0"/>
              <a:buNone/>
              <a:defRPr/>
            </a:pPr>
            <a:r>
              <a:rPr lang="fr-FR" sz="14500" b="1" dirty="0">
                <a:solidFill>
                  <a:srgbClr val="00B050"/>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 </a:t>
            </a:r>
            <a:endParaRPr lang="fr-FR" sz="80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41FD5-295E-E28B-C0B0-92EE7C91D8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17A5477-3C37-6074-DB21-94558C2249B7}"/>
              </a:ext>
            </a:extLst>
          </p:cNvPr>
          <p:cNvSpPr>
            <a:spLocks noGrp="1"/>
          </p:cNvSpPr>
          <p:nvPr>
            <p:ph type="title"/>
          </p:nvPr>
        </p:nvSpPr>
        <p:spPr>
          <a:xfrm>
            <a:off x="369726" y="292759"/>
            <a:ext cx="7874682" cy="750370"/>
          </a:xfrm>
        </p:spPr>
        <p:txBody>
          <a:bodyPr>
            <a:normAutofit/>
          </a:bodyPr>
          <a:lstStyle/>
          <a:p>
            <a:pPr algn="ctr">
              <a:defRPr/>
            </a:pPr>
            <a:r>
              <a:rPr lang="fr-FR" sz="4000" dirty="0">
                <a:latin typeface="Berlin Sans FB Demi" pitchFamily="34" charset="0"/>
              </a:rPr>
              <a:t>Plan de présentation</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id="{FEE4FAE1-1C6D-AAB1-002F-719C9408CE73}"/>
              </a:ext>
            </a:extLst>
          </p:cNvPr>
          <p:cNvSpPr>
            <a:spLocks noGrp="1"/>
          </p:cNvSpPr>
          <p:nvPr>
            <p:ph type="dt" sz="half" idx="10"/>
          </p:nvPr>
        </p:nvSpPr>
        <p:spPr>
          <a:xfrm>
            <a:off x="107499" y="6586001"/>
            <a:ext cx="2057400" cy="365125"/>
          </a:xfrm>
        </p:spPr>
        <p:txBody>
          <a:bodyPr/>
          <a:lstStyle/>
          <a:p>
            <a:pPr>
              <a:defRPr/>
            </a:pPr>
            <a:fld id="{B23F6963-392E-484E-AB5C-7ADB93DFD877}"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72A1DA8C-3BA2-6076-9D16-C30A48E16A4C}"/>
              </a:ext>
            </a:extLst>
          </p:cNvPr>
          <p:cNvSpPr>
            <a:spLocks noGrp="1"/>
          </p:cNvSpPr>
          <p:nvPr>
            <p:ph type="ftr" sz="quarter" idx="11"/>
          </p:nvPr>
        </p:nvSpPr>
        <p:spPr>
          <a:xfrm>
            <a:off x="3131840" y="6517738"/>
            <a:ext cx="3559274" cy="501649"/>
          </a:xfrm>
        </p:spPr>
        <p:txBody>
          <a:bodyPr/>
          <a:lstStyle/>
          <a:p>
            <a:pPr>
              <a:defRPr/>
            </a:pPr>
            <a:r>
              <a:rPr lang="fr-FR"/>
              <a:t>Revue_PEV_Dec 2025</a:t>
            </a:r>
            <a:endParaRPr lang="fr-FR" dirty="0"/>
          </a:p>
        </p:txBody>
      </p:sp>
      <p:sp>
        <p:nvSpPr>
          <p:cNvPr id="6" name="Espace réservé du numéro de diapositive 5">
            <a:extLst>
              <a:ext uri="{FF2B5EF4-FFF2-40B4-BE49-F238E27FC236}">
                <a16:creationId xmlns:a16="http://schemas.microsoft.com/office/drawing/2014/main" id="{C5801702-C2A4-C1EE-DD7E-CB0AFD5DB74E}"/>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2</a:t>
            </a:fld>
            <a:endParaRPr lang="fr-BE" altLang="fr-FR" dirty="0"/>
          </a:p>
        </p:txBody>
      </p:sp>
      <p:pic>
        <p:nvPicPr>
          <p:cNvPr id="7" name="Picture 2">
            <a:extLst>
              <a:ext uri="{FF2B5EF4-FFF2-40B4-BE49-F238E27FC236}">
                <a16:creationId xmlns:a16="http://schemas.microsoft.com/office/drawing/2014/main" id="{3A6C4EE6-8E31-B43F-15F5-39147FB3E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38021DE2-A9BD-F28A-49B7-A1B8D9FAB5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8424" y="22449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FE8A66D0-724D-4775-3B90-57E45F763C22}"/>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7C0A242E-BE1E-3974-3560-CC335833DB12}"/>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6604EE72-65A6-C39E-E9FC-41FB2615BE00}"/>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609BFCF8-9CA8-F921-1119-172385CBEA7A}"/>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84DB5730-07E7-2468-6651-FDB9C33B48B8}"/>
              </a:ext>
            </a:extLst>
          </p:cNvPr>
          <p:cNvSpPr txBox="1">
            <a:spLocks/>
          </p:cNvSpPr>
          <p:nvPr/>
        </p:nvSpPr>
        <p:spPr>
          <a:xfrm>
            <a:off x="911142" y="1043129"/>
            <a:ext cx="7321716" cy="489089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00000"/>
              </a:lnSpc>
              <a:spcAft>
                <a:spcPts val="0"/>
              </a:spcAft>
            </a:pPr>
            <a:endParaRPr lang="fr-FR" sz="3200" dirty="0">
              <a:solidFill>
                <a:srgbClr val="FF0000"/>
              </a:solidFill>
              <a:latin typeface="Helvetica" panose="020B0604020202020204" pitchFamily="34" charset="0"/>
              <a:cs typeface="Helvetica" panose="020B0604020202020204" pitchFamily="34" charset="0"/>
            </a:endParaRPr>
          </a:p>
          <a:p>
            <a:pPr fontAlgn="auto">
              <a:lnSpc>
                <a:spcPct val="200000"/>
              </a:lnSpc>
              <a:spcAft>
                <a:spcPts val="0"/>
              </a:spcAft>
            </a:pPr>
            <a:r>
              <a:rPr lang="fr-FR" sz="3600" b="1" dirty="0">
                <a:latin typeface="Helvetica" panose="020B0604020202020204" pitchFamily="34" charset="0"/>
                <a:cs typeface="Helvetica" panose="020B0604020202020204" pitchFamily="34" charset="0"/>
              </a:rPr>
              <a:t>IGS : qu’est-ce ?</a:t>
            </a:r>
          </a:p>
          <a:p>
            <a:pPr fontAlgn="auto">
              <a:lnSpc>
                <a:spcPct val="200000"/>
              </a:lnSpc>
              <a:spcAft>
                <a:spcPts val="0"/>
              </a:spcAft>
            </a:pPr>
            <a:r>
              <a:rPr lang="fr-FR" sz="3600" b="1" dirty="0">
                <a:latin typeface="Helvetica" panose="020B0604020202020204" pitchFamily="34" charset="0"/>
                <a:cs typeface="Helvetica" panose="020B0604020202020204" pitchFamily="34" charset="0"/>
              </a:rPr>
              <a:t>Activités PEV en 2025</a:t>
            </a:r>
          </a:p>
          <a:p>
            <a:pPr fontAlgn="auto">
              <a:lnSpc>
                <a:spcPct val="200000"/>
              </a:lnSpc>
              <a:spcAft>
                <a:spcPts val="0"/>
              </a:spcAft>
            </a:pPr>
            <a:r>
              <a:rPr lang="fr-FR" sz="3600" b="1" dirty="0">
                <a:latin typeface="Helvetica" panose="020B0604020202020204" pitchFamily="34" charset="0"/>
                <a:cs typeface="Helvetica" panose="020B0604020202020204" pitchFamily="34" charset="0"/>
              </a:rPr>
              <a:t>Conclusion</a:t>
            </a:r>
          </a:p>
          <a:p>
            <a:pPr marL="0" indent="0" fontAlgn="auto">
              <a:lnSpc>
                <a:spcPct val="2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647367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7EDBC-C3BE-B677-C215-48BFBE4BBDD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5AC041B-7667-AB10-9FF8-9CE550927B2E}"/>
              </a:ext>
            </a:extLst>
          </p:cNvPr>
          <p:cNvSpPr>
            <a:spLocks noGrp="1"/>
          </p:cNvSpPr>
          <p:nvPr>
            <p:ph type="title"/>
          </p:nvPr>
        </p:nvSpPr>
        <p:spPr>
          <a:xfrm>
            <a:off x="634655" y="279563"/>
            <a:ext cx="7874682" cy="457610"/>
          </a:xfrm>
        </p:spPr>
        <p:txBody>
          <a:bodyPr>
            <a:normAutofit fontScale="90000"/>
          </a:bodyPr>
          <a:lstStyle/>
          <a:p>
            <a:pPr algn="ctr">
              <a:defRPr/>
            </a:pPr>
            <a:r>
              <a:rPr lang="fr-FR" sz="4000" dirty="0">
                <a:latin typeface="Berlin Sans FB Demi" pitchFamily="34" charset="0"/>
              </a:rPr>
              <a:t>Assise légale</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id="{F1A0C025-41FF-5034-9513-69A12235ED93}"/>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770613B9-F0CF-39D9-B2E7-25C1FEC903DC}"/>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66B188D6-6AEC-8990-656E-72C8BE2132D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3</a:t>
            </a:fld>
            <a:endParaRPr lang="fr-BE" altLang="fr-FR" dirty="0"/>
          </a:p>
        </p:txBody>
      </p:sp>
      <p:pic>
        <p:nvPicPr>
          <p:cNvPr id="7" name="Picture 2">
            <a:extLst>
              <a:ext uri="{FF2B5EF4-FFF2-40B4-BE49-F238E27FC236}">
                <a16:creationId xmlns:a16="http://schemas.microsoft.com/office/drawing/2014/main" id="{1BF5504E-7F18-166C-6A4D-9B9B35AB4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8CE6B5F2-011F-9179-7165-B3F4EC4D0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672" y="197651"/>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BBCA8FA6-6D8D-63D3-A785-8C7232179FBA}"/>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36A8DB72-1917-6E4B-C71F-B9DC8F0553A2}"/>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77EFCBFE-993B-6FB3-19BF-A8FE2311A4CE}"/>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43C65728-104A-EAFB-37E5-0D1D512EEC51}"/>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893EF92E-0B9B-EA5D-0FC0-AE98A207F468}"/>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26682E25-EACE-EE8C-47AF-4D906E88C10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4A7D1312-6A94-8ECF-1B1C-26A609C1334A}"/>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3" name="Espace réservé du contenu 5">
            <a:extLst>
              <a:ext uri="{FF2B5EF4-FFF2-40B4-BE49-F238E27FC236}">
                <a16:creationId xmlns:a16="http://schemas.microsoft.com/office/drawing/2014/main" id="{19E0B134-4EAD-8956-3EDB-A74E6869413C}"/>
              </a:ext>
            </a:extLst>
          </p:cNvPr>
          <p:cNvSpPr txBox="1">
            <a:spLocks/>
          </p:cNvSpPr>
          <p:nvPr/>
        </p:nvSpPr>
        <p:spPr>
          <a:xfrm>
            <a:off x="180214" y="895735"/>
            <a:ext cx="8663406" cy="5304102"/>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spcBef>
                <a:spcPct val="0"/>
              </a:spcBef>
              <a:defRPr/>
            </a:pPr>
            <a:r>
              <a:rPr lang="fr-FR" sz="3600" b="1" dirty="0">
                <a:solidFill>
                  <a:srgbClr val="0070C0"/>
                </a:solidFill>
                <a:latin typeface="Helvetica" panose="020B0604020202020204" pitchFamily="34" charset="0"/>
                <a:ea typeface="Calibri" panose="020F0502020204030204" pitchFamily="34" charset="0"/>
                <a:cs typeface="Helvetica" panose="020B0604020202020204" pitchFamily="34" charset="0"/>
              </a:rPr>
              <a:t>Loi n°18/035 du 13 Décembre 2018 </a:t>
            </a:r>
            <a:r>
              <a:rPr lang="fr-FR" sz="4000" dirty="0">
                <a:latin typeface="Helvetica" panose="020B0604020202020204" pitchFamily="34" charset="0"/>
                <a:ea typeface="Calibri" panose="020F0502020204030204" pitchFamily="34" charset="0"/>
                <a:cs typeface="Helvetica" panose="020B0604020202020204" pitchFamily="34" charset="0"/>
              </a:rPr>
              <a:t>fixant les principes fondamentaux relatifs à l’organisation de la santé publique</a:t>
            </a:r>
          </a:p>
          <a:p>
            <a:pPr>
              <a:lnSpc>
                <a:spcPct val="150000"/>
              </a:lnSpc>
              <a:spcBef>
                <a:spcPct val="0"/>
              </a:spcBef>
              <a:defRPr/>
            </a:pPr>
            <a:r>
              <a:rPr lang="fr-FR" sz="3900" b="1" dirty="0">
                <a:solidFill>
                  <a:srgbClr val="0070C0"/>
                </a:solidFill>
                <a:latin typeface="Helvetica" panose="020B0604020202020204" pitchFamily="34" charset="0"/>
                <a:ea typeface="Calibri" panose="020F0502020204030204" pitchFamily="34" charset="0"/>
                <a:cs typeface="Helvetica" panose="020B0604020202020204" pitchFamily="34" charset="0"/>
              </a:rPr>
              <a:t>Ordonnance-Loi n°23/006 du 3 Mars 2023</a:t>
            </a:r>
            <a:r>
              <a:rPr lang="fr-FR" sz="3900" dirty="0">
                <a:solidFill>
                  <a:srgbClr val="0070C0"/>
                </a:solidFill>
                <a:latin typeface="Helvetica" panose="020B0604020202020204" pitchFamily="34" charset="0"/>
                <a:ea typeface="Calibri" panose="020F0502020204030204" pitchFamily="34" charset="0"/>
                <a:cs typeface="Helvetica" panose="020B0604020202020204" pitchFamily="34" charset="0"/>
              </a:rPr>
              <a:t> </a:t>
            </a:r>
            <a:r>
              <a:rPr lang="fr-FR" sz="3900" dirty="0">
                <a:latin typeface="Helvetica" panose="020B0604020202020204" pitchFamily="34" charset="0"/>
                <a:ea typeface="Calibri" panose="020F0502020204030204" pitchFamily="34" charset="0"/>
                <a:cs typeface="Helvetica" panose="020B0604020202020204" pitchFamily="34" charset="0"/>
              </a:rPr>
              <a:t>modifiant et complétant la</a:t>
            </a:r>
            <a:r>
              <a:rPr lang="fr-FR" sz="3900" b="1" dirty="0">
                <a:latin typeface="Helvetica" panose="020B0604020202020204" pitchFamily="34" charset="0"/>
                <a:ea typeface="Calibri" panose="020F0502020204030204" pitchFamily="34" charset="0"/>
                <a:cs typeface="Helvetica" panose="020B0604020202020204" pitchFamily="34" charset="0"/>
              </a:rPr>
              <a:t> </a:t>
            </a:r>
            <a:r>
              <a:rPr lang="fr-FR" sz="3900" dirty="0">
                <a:solidFill>
                  <a:schemeClr val="tx1">
                    <a:lumMod val="95000"/>
                    <a:lumOff val="5000"/>
                  </a:schemeClr>
                </a:solidFill>
                <a:latin typeface="Helvetica" panose="020B0604020202020204" pitchFamily="34" charset="0"/>
                <a:ea typeface="Calibri" panose="020F0502020204030204" pitchFamily="34" charset="0"/>
                <a:cs typeface="Helvetica" panose="020B0604020202020204" pitchFamily="34" charset="0"/>
              </a:rPr>
              <a:t>Loi n°18/035 du 13 Décembre 2018</a:t>
            </a:r>
            <a:endParaRPr lang="fr-FR" sz="5500" b="1" dirty="0">
              <a:solidFill>
                <a:srgbClr val="FF0000"/>
              </a:solidFill>
              <a:latin typeface="Helvetica" panose="020B0604020202020204" pitchFamily="34" charset="0"/>
              <a:cs typeface="Helvetica" panose="020B0604020202020204" pitchFamily="34" charset="0"/>
            </a:endParaRPr>
          </a:p>
          <a:p>
            <a:pPr marL="0" indent="0" algn="just">
              <a:buNone/>
            </a:pPr>
            <a:endParaRPr lang="fr-BE" altLang="fr-FR" sz="2400" b="1" dirty="0">
              <a:solidFill>
                <a:srgbClr val="00B0F0"/>
              </a:solidFill>
              <a:effectLst>
                <a:outerShdw blurRad="38100" dist="38100" dir="2700000" algn="tl">
                  <a:srgbClr val="C0C0C0"/>
                </a:outerShdw>
              </a:effectLst>
              <a:latin typeface="Helvetica" panose="020B0604020202020204" pitchFamily="34" charset="0"/>
              <a:cs typeface="Helvetica" panose="020B0604020202020204" pitchFamily="34" charset="0"/>
            </a:endParaRPr>
          </a:p>
          <a:p>
            <a:pPr marL="0" indent="0" fontAlgn="auto">
              <a:lnSpc>
                <a:spcPct val="100000"/>
              </a:lnSpc>
              <a:spcAft>
                <a:spcPts val="0"/>
              </a:spcAft>
              <a:buFont typeface="Arial" panose="020B0604020202020204" pitchFamily="34" charset="0"/>
              <a:buNone/>
            </a:pPr>
            <a:endParaRPr lang="fr-CD" altLang="fr-FR" sz="800" b="1" dirty="0">
              <a:solidFill>
                <a:srgbClr val="00B050"/>
              </a:solidFill>
              <a:latin typeface="Helvetica" panose="020B0604020202020204" pitchFamily="34" charset="0"/>
              <a:ea typeface="Cambria Math" panose="02040503050406030204" pitchFamily="18" charset="0"/>
              <a:cs typeface="Cambria Math" panose="02040503050406030204" pitchFamily="18" charset="0"/>
            </a:endParaRPr>
          </a:p>
          <a:p>
            <a:pPr marL="0" indent="0" fontAlgn="auto">
              <a:lnSpc>
                <a:spcPct val="100000"/>
              </a:lnSpc>
              <a:spcAft>
                <a:spcPts val="0"/>
              </a:spcAft>
              <a:buFont typeface="Arial" panose="020B0604020202020204" pitchFamily="34" charset="0"/>
              <a:buNone/>
            </a:pPr>
            <a:endParaRPr lang="fr-BE" altLang="fr-FR" sz="7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4747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96000-AD73-2201-929A-D5263F70E23E}"/>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D707A9D8-0443-2C6D-1C11-BBE337F99C84}"/>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10A645B1-1B27-83BD-6D1F-475FEF65B931}"/>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1C28944A-B5AE-72AB-D7BC-35E3216C342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4</a:t>
            </a:fld>
            <a:endParaRPr lang="fr-BE" altLang="fr-FR" dirty="0"/>
          </a:p>
        </p:txBody>
      </p:sp>
      <p:pic>
        <p:nvPicPr>
          <p:cNvPr id="7" name="Picture 2">
            <a:extLst>
              <a:ext uri="{FF2B5EF4-FFF2-40B4-BE49-F238E27FC236}">
                <a16:creationId xmlns:a16="http://schemas.microsoft.com/office/drawing/2014/main" id="{14EF3825-394B-8EB5-A41D-A7BEBDC986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618C84E4-4347-2191-C1E3-89A908F55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4672" y="108720"/>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B3E1983B-24A6-9A9E-DA03-5D4369A23D01}"/>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A8838877-4A90-5BB1-8496-068B65F15532}"/>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A10519CF-F03F-D055-D400-7398989E4BC6}"/>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B9E6C3CD-F9A7-BEBF-B559-02DE6B3B2C07}"/>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F95E703A-B3FD-04C8-B2EC-BB4EE5454D8B}"/>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DE217631-92D4-F8E6-FE9A-C8C5CE48607A}"/>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6D97FCAE-413C-7595-AB25-267BC9560580}"/>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3" name="Picture 2">
            <a:extLst>
              <a:ext uri="{FF2B5EF4-FFF2-40B4-BE49-F238E27FC236}">
                <a16:creationId xmlns:a16="http://schemas.microsoft.com/office/drawing/2014/main" id="{96BFEBDB-B8C5-4982-2C1D-DB2CCFB5D9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19" y="1264514"/>
            <a:ext cx="5531675" cy="5329790"/>
          </a:xfrm>
          <a:prstGeom prst="rect">
            <a:avLst/>
          </a:prstGeom>
          <a:ln w="889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15" name="Image 14">
            <a:extLst>
              <a:ext uri="{FF2B5EF4-FFF2-40B4-BE49-F238E27FC236}">
                <a16:creationId xmlns:a16="http://schemas.microsoft.com/office/drawing/2014/main" id="{AFF8F244-39D9-F2CA-0518-4E7EF6491E43}"/>
              </a:ext>
            </a:extLst>
          </p:cNvPr>
          <p:cNvPicPr>
            <a:picLocks noChangeAspect="1"/>
          </p:cNvPicPr>
          <p:nvPr/>
        </p:nvPicPr>
        <p:blipFill>
          <a:blip r:embed="rId5"/>
          <a:stretch>
            <a:fillRect/>
          </a:stretch>
        </p:blipFill>
        <p:spPr>
          <a:xfrm>
            <a:off x="2164899" y="511157"/>
            <a:ext cx="4892175" cy="607036"/>
          </a:xfrm>
          <a:prstGeom prst="rect">
            <a:avLst/>
          </a:prstGeom>
        </p:spPr>
      </p:pic>
      <p:sp>
        <p:nvSpPr>
          <p:cNvPr id="18" name="Titre 4">
            <a:extLst>
              <a:ext uri="{FF2B5EF4-FFF2-40B4-BE49-F238E27FC236}">
                <a16:creationId xmlns:a16="http://schemas.microsoft.com/office/drawing/2014/main" id="{C19F4A02-984C-B004-FF2D-9F5E216D1AC3}"/>
              </a:ext>
            </a:extLst>
          </p:cNvPr>
          <p:cNvSpPr>
            <a:spLocks noGrp="1"/>
          </p:cNvSpPr>
          <p:nvPr>
            <p:ph type="title"/>
          </p:nvPr>
        </p:nvSpPr>
        <p:spPr>
          <a:xfrm>
            <a:off x="598996" y="30839"/>
            <a:ext cx="7874000" cy="458788"/>
          </a:xfrm>
        </p:spPr>
        <p:txBody>
          <a:bodyPr>
            <a:normAutofit fontScale="90000"/>
          </a:bodyPr>
          <a:lstStyle/>
          <a:p>
            <a:pPr algn="ctr">
              <a:defRPr/>
            </a:pPr>
            <a:r>
              <a:rPr lang="fr-FR" sz="4000" dirty="0">
                <a:solidFill>
                  <a:srgbClr val="FF0000"/>
                </a:solidFill>
                <a:latin typeface="Berlin Sans FB Demi" pitchFamily="34" charset="0"/>
              </a:rPr>
              <a:t>I</a:t>
            </a:r>
            <a:r>
              <a:rPr lang="fr-FR" sz="2400" dirty="0">
                <a:solidFill>
                  <a:srgbClr val="00B0F0"/>
                </a:solidFill>
                <a:latin typeface="Berlin Sans FB Demi" pitchFamily="34" charset="0"/>
              </a:rPr>
              <a:t>NSPECTION </a:t>
            </a:r>
            <a:r>
              <a:rPr lang="fr-FR" sz="4000" dirty="0">
                <a:solidFill>
                  <a:srgbClr val="FF0000"/>
                </a:solidFill>
                <a:latin typeface="Berlin Sans FB Demi" pitchFamily="34" charset="0"/>
              </a:rPr>
              <a:t>G</a:t>
            </a:r>
            <a:r>
              <a:rPr lang="fr-FR" sz="2400" dirty="0">
                <a:solidFill>
                  <a:srgbClr val="00B0F0"/>
                </a:solidFill>
                <a:latin typeface="Berlin Sans FB Demi" pitchFamily="34" charset="0"/>
              </a:rPr>
              <a:t>ENERALE DU </a:t>
            </a:r>
            <a:r>
              <a:rPr lang="fr-FR" sz="4000" dirty="0">
                <a:solidFill>
                  <a:srgbClr val="FF0000"/>
                </a:solidFill>
                <a:latin typeface="Berlin Sans FB Demi" pitchFamily="34" charset="0"/>
              </a:rPr>
              <a:t>S</a:t>
            </a:r>
            <a:r>
              <a:rPr lang="fr-FR" sz="2400" dirty="0">
                <a:solidFill>
                  <a:srgbClr val="00B0F0"/>
                </a:solidFill>
                <a:latin typeface="Berlin Sans FB Demi" pitchFamily="34" charset="0"/>
              </a:rPr>
              <a:t>YSTÈME DE </a:t>
            </a:r>
            <a:r>
              <a:rPr lang="fr-FR" sz="4000" dirty="0">
                <a:solidFill>
                  <a:srgbClr val="FF0000"/>
                </a:solidFill>
                <a:latin typeface="Berlin Sans FB Demi" pitchFamily="34" charset="0"/>
              </a:rPr>
              <a:t>S</a:t>
            </a:r>
            <a:r>
              <a:rPr lang="fr-FR" sz="2400" dirty="0">
                <a:solidFill>
                  <a:srgbClr val="00B0F0"/>
                </a:solidFill>
                <a:latin typeface="Berlin Sans FB Demi" pitchFamily="34" charset="0"/>
              </a:rPr>
              <a:t>ANTE</a:t>
            </a:r>
            <a:r>
              <a:rPr lang="fr-CD" sz="2400" b="1" dirty="0">
                <a:solidFill>
                  <a:srgbClr val="0070C0"/>
                </a:solidFill>
                <a:effectLst>
                  <a:outerShdw blurRad="38100" dist="38100" dir="2700000" algn="tl">
                    <a:srgbClr val="000000">
                      <a:alpha val="43137"/>
                    </a:srgbClr>
                  </a:outerShdw>
                </a:effectLst>
                <a:latin typeface="Helvetica" pitchFamily="34" charset="0"/>
                <a:cs typeface="Helvetica" pitchFamily="34" charset="0"/>
              </a:rPr>
              <a:t> </a:t>
            </a:r>
            <a:endParaRPr lang="fr-FR" sz="2400" b="1" dirty="0">
              <a:solidFill>
                <a:srgbClr val="0070C0"/>
              </a:solidFill>
              <a:effectLst>
                <a:outerShdw blurRad="38100" dist="38100" dir="2700000" algn="tl">
                  <a:srgbClr val="000000">
                    <a:alpha val="43137"/>
                  </a:srgbClr>
                </a:outerShdw>
              </a:effectLst>
              <a:latin typeface="Helvetica" pitchFamily="34" charset="0"/>
              <a:cs typeface="Helvetica" pitchFamily="34" charset="0"/>
            </a:endParaRPr>
          </a:p>
        </p:txBody>
      </p:sp>
      <p:pic>
        <p:nvPicPr>
          <p:cNvPr id="19" name="Picture 2">
            <a:extLst>
              <a:ext uri="{FF2B5EF4-FFF2-40B4-BE49-F238E27FC236}">
                <a16:creationId xmlns:a16="http://schemas.microsoft.com/office/drawing/2014/main" id="{B6834A89-4E01-C44F-8E20-59125B6922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8305" y="1439314"/>
            <a:ext cx="2952328" cy="2662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a:extLst>
              <a:ext uri="{FF2B5EF4-FFF2-40B4-BE49-F238E27FC236}">
                <a16:creationId xmlns:a16="http://schemas.microsoft.com/office/drawing/2014/main" id="{96D9F92E-F5A4-0A2C-10A8-5FE165856F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8324" y="4422722"/>
            <a:ext cx="2592289" cy="19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35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7C93E-295D-0DF6-493E-1F8FB397CE8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54C054D-2F52-6F0C-4583-5F8A81B1C3B4}"/>
              </a:ext>
            </a:extLst>
          </p:cNvPr>
          <p:cNvSpPr>
            <a:spLocks noGrp="1"/>
          </p:cNvSpPr>
          <p:nvPr>
            <p:ph type="title"/>
          </p:nvPr>
        </p:nvSpPr>
        <p:spPr>
          <a:xfrm>
            <a:off x="796423" y="251351"/>
            <a:ext cx="7874682" cy="457610"/>
          </a:xfrm>
        </p:spPr>
        <p:txBody>
          <a:bodyPr>
            <a:normAutofit fontScale="90000"/>
          </a:bodyPr>
          <a:lstStyle/>
          <a:p>
            <a:pPr algn="ctr">
              <a:defRPr/>
            </a:pPr>
            <a:r>
              <a:rPr lang="fr-FR" sz="4000" dirty="0">
                <a:latin typeface="Berlin Sans FB Demi" pitchFamily="34" charset="0"/>
              </a:rPr>
              <a:t>Fonctionnement et mission</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id="{485F9524-418C-C41E-C3C2-998E1ABC4F01}"/>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DC507DC5-66C8-F39E-C293-F12B58F2E111}"/>
              </a:ext>
            </a:extLst>
          </p:cNvPr>
          <p:cNvSpPr>
            <a:spLocks noGrp="1"/>
          </p:cNvSpPr>
          <p:nvPr>
            <p:ph type="ftr" sz="quarter" idx="11"/>
          </p:nvPr>
        </p:nvSpPr>
        <p:spPr>
          <a:xfrm>
            <a:off x="3131840" y="6517738"/>
            <a:ext cx="3559274" cy="501649"/>
          </a:xfrm>
        </p:spPr>
        <p:txBody>
          <a:bodyPr/>
          <a:lstStyle/>
          <a:p>
            <a:pPr>
              <a:defRPr/>
            </a:pPr>
            <a:r>
              <a:rPr lang="fr-FR"/>
              <a:t>Revue_IGS_nov 2024</a:t>
            </a:r>
            <a:endParaRPr lang="fr-FR" dirty="0"/>
          </a:p>
        </p:txBody>
      </p:sp>
      <p:sp>
        <p:nvSpPr>
          <p:cNvPr id="6" name="Espace réservé du numéro de diapositive 5">
            <a:extLst>
              <a:ext uri="{FF2B5EF4-FFF2-40B4-BE49-F238E27FC236}">
                <a16:creationId xmlns:a16="http://schemas.microsoft.com/office/drawing/2014/main" id="{800AC0EE-9283-FC05-80EF-34E82509B2DF}"/>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5</a:t>
            </a:fld>
            <a:endParaRPr lang="fr-BE" altLang="fr-FR" dirty="0"/>
          </a:p>
        </p:txBody>
      </p:sp>
      <p:pic>
        <p:nvPicPr>
          <p:cNvPr id="7" name="Picture 2">
            <a:extLst>
              <a:ext uri="{FF2B5EF4-FFF2-40B4-BE49-F238E27FC236}">
                <a16:creationId xmlns:a16="http://schemas.microsoft.com/office/drawing/2014/main" id="{69F76D7C-969B-B893-BFED-E70624275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9A1A190D-F37F-7101-866B-5FCB7BD2F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3867" y="183089"/>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29BF1B4E-41BD-AAB6-5502-DB53EAD15758}"/>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B09BE4B2-42D7-2685-296E-C0522FE00F9D}"/>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E0655CCB-6FAE-2307-24F2-46A34768F3C7}"/>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207F3E46-84B6-06AE-52F5-74F50E58B84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C3F9BB5F-D531-6675-8F7D-778CC510F158}"/>
              </a:ext>
            </a:extLst>
          </p:cNvPr>
          <p:cNvSpPr txBox="1">
            <a:spLocks/>
          </p:cNvSpPr>
          <p:nvPr/>
        </p:nvSpPr>
        <p:spPr>
          <a:xfrm>
            <a:off x="911142" y="806450"/>
            <a:ext cx="7321716" cy="5127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F1FDE42F-97BF-F11E-2973-04C6131C0C65}"/>
              </a:ext>
            </a:extLst>
          </p:cNvPr>
          <p:cNvSpPr>
            <a:spLocks noGrp="1"/>
          </p:cNvSpPr>
          <p:nvPr>
            <p:ph idx="1"/>
          </p:nvPr>
        </p:nvSpPr>
        <p:spPr>
          <a:xfrm>
            <a:off x="323528" y="1199028"/>
            <a:ext cx="8820472" cy="5157322"/>
          </a:xfrm>
        </p:spPr>
        <p:txBody>
          <a:bodyPr/>
          <a:lstStyle/>
          <a:p>
            <a:pPr>
              <a:lnSpc>
                <a:spcPct val="100000"/>
              </a:lnSpc>
            </a:pPr>
            <a:r>
              <a:rPr lang="fr-BE" altLang="fr-FR" sz="2800" b="1" dirty="0">
                <a:solidFill>
                  <a:srgbClr val="FF0000"/>
                </a:solidFill>
                <a:latin typeface="Helvetica" panose="020B0604020202020204" pitchFamily="34" charset="0"/>
                <a:cs typeface="Helvetica" panose="020B0604020202020204" pitchFamily="34" charset="0"/>
              </a:rPr>
              <a:t>Structure d’appui à la bonne gouvernance</a:t>
            </a:r>
            <a:r>
              <a:rPr lang="fr-BE" altLang="fr-FR" dirty="0">
                <a:solidFill>
                  <a:srgbClr val="FF0000"/>
                </a:solidFill>
                <a:latin typeface="Helvetica" panose="020B0604020202020204" pitchFamily="34" charset="0"/>
                <a:cs typeface="Helvetica" panose="020B0604020202020204" pitchFamily="34" charset="0"/>
              </a:rPr>
              <a:t> </a:t>
            </a:r>
            <a:r>
              <a:rPr lang="fr-BE" altLang="fr-FR" sz="2800" dirty="0">
                <a:latin typeface="Helvetica" panose="020B0604020202020204" pitchFamily="34" charset="0"/>
                <a:cs typeface="Helvetica" panose="020B0604020202020204" pitchFamily="34" charset="0"/>
              </a:rPr>
              <a:t>du MSPHPS, placée  sous  </a:t>
            </a:r>
            <a:r>
              <a:rPr lang="fr-BE" altLang="fr-FR" sz="2800" b="1" dirty="0">
                <a:solidFill>
                  <a:srgbClr val="00B050"/>
                </a:solidFill>
                <a:latin typeface="Helvetica" panose="020B0604020202020204" pitchFamily="34" charset="0"/>
                <a:cs typeface="Helvetica" panose="020B0604020202020204" pitchFamily="34" charset="0"/>
              </a:rPr>
              <a:t>la tutelle du  Ministre </a:t>
            </a:r>
          </a:p>
          <a:p>
            <a:pPr marL="0" indent="0">
              <a:lnSpc>
                <a:spcPct val="100000"/>
              </a:lnSpc>
              <a:buNone/>
            </a:pPr>
            <a:endParaRPr lang="fr-BE" altLang="fr-FR" sz="2800" dirty="0">
              <a:latin typeface="Helvetica" panose="020B0604020202020204" pitchFamily="34" charset="0"/>
              <a:cs typeface="Helvetica" panose="020B0604020202020204" pitchFamily="34" charset="0"/>
            </a:endParaRPr>
          </a:p>
          <a:p>
            <a:pPr>
              <a:lnSpc>
                <a:spcPct val="100000"/>
              </a:lnSpc>
              <a:spcBef>
                <a:spcPct val="20000"/>
              </a:spcBef>
            </a:pPr>
            <a:r>
              <a:rPr lang="fr-BE" altLang="fr-FR" sz="2800" b="1" dirty="0">
                <a:solidFill>
                  <a:srgbClr val="FF0000"/>
                </a:solidFill>
                <a:latin typeface="Helvetica" panose="020B0604020202020204" pitchFamily="34" charset="0"/>
                <a:cs typeface="Helvetica" panose="020B0604020202020204" pitchFamily="34" charset="0"/>
              </a:rPr>
              <a:t>Assister  le Ministre </a:t>
            </a:r>
            <a:r>
              <a:rPr lang="fr-BE" altLang="fr-FR" sz="2800" dirty="0">
                <a:latin typeface="Helvetica" panose="020B0604020202020204" pitchFamily="34" charset="0"/>
                <a:cs typeface="Helvetica" panose="020B0604020202020204" pitchFamily="34" charset="0"/>
              </a:rPr>
              <a:t>dans son rôle de contrôle du Fonctionnement Régulier et des Performances  des  </a:t>
            </a:r>
            <a:r>
              <a:rPr lang="fr-BE" altLang="fr-FR" dirty="0">
                <a:latin typeface="Helvetica" panose="020B0604020202020204" pitchFamily="34" charset="0"/>
                <a:cs typeface="Helvetica" panose="020B0604020202020204" pitchFamily="34" charset="0"/>
              </a:rPr>
              <a:t>Structures/organes du ministère et Organismes sous tutelle, …</a:t>
            </a:r>
          </a:p>
          <a:p>
            <a:pPr marL="0" indent="0">
              <a:lnSpc>
                <a:spcPct val="100000"/>
              </a:lnSpc>
              <a:spcBef>
                <a:spcPct val="20000"/>
              </a:spcBef>
              <a:buNone/>
            </a:pPr>
            <a:endParaRPr lang="fr-BE" altLang="fr-FR" dirty="0">
              <a:latin typeface="Helvetica" panose="020B0604020202020204" pitchFamily="34" charset="0"/>
              <a:cs typeface="Helvetica" panose="020B0604020202020204" pitchFamily="34" charset="0"/>
            </a:endParaRPr>
          </a:p>
          <a:p>
            <a:pPr>
              <a:lnSpc>
                <a:spcPct val="100000"/>
              </a:lnSpc>
              <a:spcBef>
                <a:spcPct val="20000"/>
              </a:spcBef>
            </a:pPr>
            <a:r>
              <a:rPr lang="fr-BE" altLang="fr-FR" sz="2800" b="1" dirty="0">
                <a:solidFill>
                  <a:srgbClr val="FF0000"/>
                </a:solidFill>
                <a:latin typeface="Helvetica" panose="020B0604020202020204" pitchFamily="34" charset="0"/>
                <a:cs typeface="Helvetica" panose="020B0604020202020204" pitchFamily="34" charset="0"/>
              </a:rPr>
              <a:t>Rechercher et détecter les irrégularités </a:t>
            </a:r>
            <a:r>
              <a:rPr lang="fr-FR" sz="2800" b="1" dirty="0">
                <a:solidFill>
                  <a:srgbClr val="FF0000"/>
                </a:solidFill>
                <a:latin typeface="Helvetica" panose="020B0604020202020204" pitchFamily="34" charset="0"/>
                <a:cs typeface="Helvetica" panose="020B0604020202020204" pitchFamily="34" charset="0"/>
              </a:rPr>
              <a:t>et les infractions</a:t>
            </a:r>
            <a:r>
              <a:rPr lang="fr-FR" sz="2800" dirty="0">
                <a:latin typeface="Helvetica" panose="020B0604020202020204" pitchFamily="34" charset="0"/>
                <a:cs typeface="Helvetica" panose="020B0604020202020204" pitchFamily="34" charset="0"/>
              </a:rPr>
              <a:t> dans le secteur de la Santé</a:t>
            </a:r>
            <a:endParaRPr lang="fr-BE" altLang="fr-FR" sz="2800" b="1" dirty="0">
              <a:solidFill>
                <a:srgbClr val="FF0000"/>
              </a:solidFill>
              <a:latin typeface="Helvetica" panose="020B0604020202020204" pitchFamily="34" charset="0"/>
              <a:cs typeface="Helvetica" panose="020B0604020202020204" pitchFamily="34" charset="0"/>
            </a:endParaRPr>
          </a:p>
          <a:p>
            <a:pPr>
              <a:lnSpc>
                <a:spcPct val="100000"/>
              </a:lnSpc>
            </a:pPr>
            <a:endParaRPr lang="fr-FR"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06644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7053-9478-5B90-B50B-185DDDEBC5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B8E3DC-AE14-133E-F4DF-10C4EE3E2720}"/>
              </a:ext>
            </a:extLst>
          </p:cNvPr>
          <p:cNvSpPr>
            <a:spLocks noGrp="1"/>
          </p:cNvSpPr>
          <p:nvPr>
            <p:ph type="title"/>
          </p:nvPr>
        </p:nvSpPr>
        <p:spPr>
          <a:xfrm>
            <a:off x="369726" y="265626"/>
            <a:ext cx="7874682" cy="457610"/>
          </a:xfrm>
        </p:spPr>
        <p:txBody>
          <a:bodyPr>
            <a:normAutofit fontScale="90000"/>
          </a:bodyPr>
          <a:lstStyle/>
          <a:p>
            <a:pPr algn="ctr">
              <a:defRPr/>
            </a:pPr>
            <a:r>
              <a:rPr lang="fr-FR" sz="3600" dirty="0">
                <a:latin typeface="Berlin Sans FB Demi" pitchFamily="34" charset="0"/>
              </a:rPr>
              <a:t>Place de l’IGS dans la pyramide sanitaire</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8A0E7566-8DC3-E347-59B7-312A0042603F}"/>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B0075FE4-D357-FC7D-444C-C08AB8B4DB84}"/>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574C2783-1C92-BB72-058B-E0445DA6FA31}"/>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6</a:t>
            </a:fld>
            <a:endParaRPr lang="fr-BE" altLang="fr-FR" dirty="0"/>
          </a:p>
        </p:txBody>
      </p:sp>
      <p:pic>
        <p:nvPicPr>
          <p:cNvPr id="7" name="Picture 2">
            <a:extLst>
              <a:ext uri="{FF2B5EF4-FFF2-40B4-BE49-F238E27FC236}">
                <a16:creationId xmlns:a16="http://schemas.microsoft.com/office/drawing/2014/main" id="{E5BA5256-1D40-7E6B-B16C-39E4D75F54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637CA81C-A008-791A-A813-A383EF0B7D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3C0C2A21-F62D-D487-AE0A-CDBBCE12392F}"/>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5084B9AD-3B3B-9887-E6A4-00FD33B39EC7}"/>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D5FC2531-4095-43E7-0669-1E9F6562DC65}"/>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3592C8B2-A51E-F2B6-91B1-262A189BDDD5}"/>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E0B31035-4B6D-8CE6-6AFD-AF7058299DD9}"/>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F7E8B66A-6666-4FE3-1DEC-024DA73D78E0}"/>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BC50AD01-7570-0251-DBA1-CC4F2CAF943D}"/>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5" name="Image 14">
            <a:extLst>
              <a:ext uri="{FF2B5EF4-FFF2-40B4-BE49-F238E27FC236}">
                <a16:creationId xmlns:a16="http://schemas.microsoft.com/office/drawing/2014/main" id="{5C9C0E7A-203F-6405-0D70-E61EF01FE35E}"/>
              </a:ext>
            </a:extLst>
          </p:cNvPr>
          <p:cNvPicPr>
            <a:picLocks noChangeAspect="1"/>
          </p:cNvPicPr>
          <p:nvPr/>
        </p:nvPicPr>
        <p:blipFill>
          <a:blip r:embed="rId4"/>
          <a:stretch>
            <a:fillRect/>
          </a:stretch>
        </p:blipFill>
        <p:spPr>
          <a:xfrm>
            <a:off x="923358" y="967191"/>
            <a:ext cx="6768265" cy="5052633"/>
          </a:xfrm>
          <a:prstGeom prst="rect">
            <a:avLst/>
          </a:prstGeom>
        </p:spPr>
      </p:pic>
    </p:spTree>
    <p:extLst>
      <p:ext uri="{BB962C8B-B14F-4D97-AF65-F5344CB8AC3E}">
        <p14:creationId xmlns:p14="http://schemas.microsoft.com/office/powerpoint/2010/main" val="4028266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4718-6F52-63ED-DC1E-3BEAA0B069A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881FAAB-BB9F-98E9-1D38-955459D8C52E}"/>
              </a:ext>
            </a:extLst>
          </p:cNvPr>
          <p:cNvSpPr>
            <a:spLocks noGrp="1"/>
          </p:cNvSpPr>
          <p:nvPr>
            <p:ph type="title"/>
          </p:nvPr>
        </p:nvSpPr>
        <p:spPr>
          <a:xfrm>
            <a:off x="634659" y="41672"/>
            <a:ext cx="7874682" cy="457610"/>
          </a:xfrm>
        </p:spPr>
        <p:txBody>
          <a:bodyPr>
            <a:normAutofit fontScale="90000"/>
          </a:bodyPr>
          <a:lstStyle/>
          <a:p>
            <a:pPr algn="ctr">
              <a:defRPr/>
            </a:pPr>
            <a:r>
              <a:rPr lang="fr-FR" sz="4000" dirty="0">
                <a:latin typeface="Berlin Sans FB Demi" pitchFamily="34" charset="0"/>
              </a:rPr>
              <a:t>Logiques d’intervention </a:t>
            </a:r>
            <a:endParaRPr lang="fr-BE" sz="4000" dirty="0">
              <a:solidFill>
                <a:srgbClr val="FF0000"/>
              </a:solidFill>
              <a:latin typeface="Berlin Sans FB Demi" pitchFamily="34" charset="0"/>
            </a:endParaRPr>
          </a:p>
        </p:txBody>
      </p:sp>
      <p:sp>
        <p:nvSpPr>
          <p:cNvPr id="4" name="Espace réservé de la date 3">
            <a:extLst>
              <a:ext uri="{FF2B5EF4-FFF2-40B4-BE49-F238E27FC236}">
                <a16:creationId xmlns:a16="http://schemas.microsoft.com/office/drawing/2014/main" id="{5B26B115-3B70-5287-6D3F-5C375FCDA3C2}"/>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4DF52D38-A771-CDAB-388D-8D17FAAA8C46}"/>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696074FE-3AB4-AAFA-830C-8A7CA8033C59}"/>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7</a:t>
            </a:fld>
            <a:endParaRPr lang="fr-BE" altLang="fr-FR" dirty="0"/>
          </a:p>
        </p:txBody>
      </p:sp>
      <p:pic>
        <p:nvPicPr>
          <p:cNvPr id="7" name="Picture 2">
            <a:extLst>
              <a:ext uri="{FF2B5EF4-FFF2-40B4-BE49-F238E27FC236}">
                <a16:creationId xmlns:a16="http://schemas.microsoft.com/office/drawing/2014/main" id="{AFACF6A8-AD23-1347-6902-F5286CB898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164326CE-6896-D845-05B4-08EF155AC7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5788" y="202215"/>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4047541D-E896-9C9F-45DD-5B6642333499}"/>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9E2411C0-7A84-34E1-90C0-D393690120A8}"/>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36264837-9021-140C-5372-65B0D4669E12}"/>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FBADF4D3-5DBE-BCC8-88E0-52CA969182E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1AED2CF5-C580-92C3-0B98-1861B45DCDA2}"/>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DB97A50E-559A-F9C4-C0C5-DD2154711E31}"/>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E8767EEE-B40D-EC8E-34B9-DC32C91ACA2F}"/>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pSp>
        <p:nvGrpSpPr>
          <p:cNvPr id="13" name="Groupe 12">
            <a:extLst>
              <a:ext uri="{FF2B5EF4-FFF2-40B4-BE49-F238E27FC236}">
                <a16:creationId xmlns:a16="http://schemas.microsoft.com/office/drawing/2014/main" id="{FEF79E38-35FF-3BC3-8A06-45641209E113}"/>
              </a:ext>
            </a:extLst>
          </p:cNvPr>
          <p:cNvGrpSpPr/>
          <p:nvPr/>
        </p:nvGrpSpPr>
        <p:grpSpPr>
          <a:xfrm>
            <a:off x="259256" y="1043565"/>
            <a:ext cx="6992525" cy="5452520"/>
            <a:chOff x="-28478" y="21721"/>
            <a:chExt cx="7836085" cy="5065435"/>
          </a:xfrm>
        </p:grpSpPr>
        <p:grpSp>
          <p:nvGrpSpPr>
            <p:cNvPr id="14" name="Groupe 13">
              <a:extLst>
                <a:ext uri="{FF2B5EF4-FFF2-40B4-BE49-F238E27FC236}">
                  <a16:creationId xmlns:a16="http://schemas.microsoft.com/office/drawing/2014/main" id="{514CED9B-071D-905A-A8F7-699F00095F35}"/>
                </a:ext>
              </a:extLst>
            </p:cNvPr>
            <p:cNvGrpSpPr/>
            <p:nvPr/>
          </p:nvGrpSpPr>
          <p:grpSpPr>
            <a:xfrm>
              <a:off x="39793" y="219158"/>
              <a:ext cx="2421411" cy="821934"/>
              <a:chOff x="-1004242" y="219183"/>
              <a:chExt cx="2422133" cy="822029"/>
            </a:xfrm>
          </p:grpSpPr>
          <p:sp>
            <p:nvSpPr>
              <p:cNvPr id="39" name="Zone de texte 945663095">
                <a:extLst>
                  <a:ext uri="{FF2B5EF4-FFF2-40B4-BE49-F238E27FC236}">
                    <a16:creationId xmlns:a16="http://schemas.microsoft.com/office/drawing/2014/main" id="{F1AA6738-1D13-24DD-6642-45C236617B9C}"/>
                  </a:ext>
                </a:extLst>
              </p:cNvPr>
              <p:cNvSpPr txBox="1"/>
              <p:nvPr/>
            </p:nvSpPr>
            <p:spPr>
              <a:xfrm>
                <a:off x="-57954" y="219183"/>
                <a:ext cx="1475845" cy="438590"/>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Encadrement</a:t>
                </a:r>
                <a:r>
                  <a:rPr lang="fr-FR" sz="1200" b="1" kern="100" dirty="0">
                    <a:effectLst/>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p:txBody>
          </p:sp>
          <p:sp>
            <p:nvSpPr>
              <p:cNvPr id="41" name="Zone de texte 603228324">
                <a:extLst>
                  <a:ext uri="{FF2B5EF4-FFF2-40B4-BE49-F238E27FC236}">
                    <a16:creationId xmlns:a16="http://schemas.microsoft.com/office/drawing/2014/main" id="{7382C612-D649-7F3E-C269-6B5453B7C0D4}"/>
                  </a:ext>
                </a:extLst>
              </p:cNvPr>
              <p:cNvSpPr txBox="1"/>
              <p:nvPr/>
            </p:nvSpPr>
            <p:spPr>
              <a:xfrm>
                <a:off x="-1004242" y="566677"/>
                <a:ext cx="1294981" cy="474535"/>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effectLst/>
                    <a:ea typeface="Calibri" panose="020F0502020204030204" pitchFamily="34" charset="0"/>
                    <a:cs typeface="Times New Roman" panose="02020603050405020304" pitchFamily="18" charset="0"/>
                  </a:rPr>
                  <a:t>Managéria</a:t>
                </a:r>
                <a:r>
                  <a:rPr lang="fr-FR" sz="1400" b="1" kern="100" dirty="0">
                    <a:effectLst/>
                    <a:ea typeface="Calibri" panose="020F0502020204030204" pitchFamily="34" charset="0"/>
                    <a:cs typeface="Times New Roman" panose="02020603050405020304" pitchFamily="18" charset="0"/>
                  </a:rPr>
                  <a:t>l</a:t>
                </a:r>
                <a:endParaRPr lang="fr-FR" sz="14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grpSp>
        <p:grpSp>
          <p:nvGrpSpPr>
            <p:cNvPr id="15" name="Groupe 14">
              <a:extLst>
                <a:ext uri="{FF2B5EF4-FFF2-40B4-BE49-F238E27FC236}">
                  <a16:creationId xmlns:a16="http://schemas.microsoft.com/office/drawing/2014/main" id="{B1794ADA-7302-2915-46EE-8395A54B9268}"/>
                </a:ext>
              </a:extLst>
            </p:cNvPr>
            <p:cNvGrpSpPr/>
            <p:nvPr/>
          </p:nvGrpSpPr>
          <p:grpSpPr>
            <a:xfrm>
              <a:off x="4598025" y="21721"/>
              <a:ext cx="2923498" cy="1038512"/>
              <a:chOff x="-1" y="-55854"/>
              <a:chExt cx="2923967" cy="1039172"/>
            </a:xfrm>
          </p:grpSpPr>
          <p:sp>
            <p:nvSpPr>
              <p:cNvPr id="35" name="Zone de texte 457658731">
                <a:extLst>
                  <a:ext uri="{FF2B5EF4-FFF2-40B4-BE49-F238E27FC236}">
                    <a16:creationId xmlns:a16="http://schemas.microsoft.com/office/drawing/2014/main" id="{D7B3AA89-7739-A71B-C9D8-C446557442D6}"/>
                  </a:ext>
                </a:extLst>
              </p:cNvPr>
              <p:cNvSpPr txBox="1"/>
              <p:nvPr/>
            </p:nvSpPr>
            <p:spPr>
              <a:xfrm>
                <a:off x="830577" y="308589"/>
                <a:ext cx="1095147" cy="354662"/>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Contrôle </a:t>
                </a:r>
                <a:endParaRPr lang="fr-FR" sz="1200" kern="100" dirty="0">
                  <a:effectLst/>
                  <a:ea typeface="Calibri" panose="020F0502020204030204" pitchFamily="34" charset="0"/>
                  <a:cs typeface="Times New Roman" panose="02020603050405020304" pitchFamily="18" charset="0"/>
                </a:endParaRPr>
              </a:p>
            </p:txBody>
          </p:sp>
          <p:sp>
            <p:nvSpPr>
              <p:cNvPr id="36" name="Zone de texte 2066711744">
                <a:extLst>
                  <a:ext uri="{FF2B5EF4-FFF2-40B4-BE49-F238E27FC236}">
                    <a16:creationId xmlns:a16="http://schemas.microsoft.com/office/drawing/2014/main" id="{D1116877-4D2D-4D33-08C2-0CC9DEFE85EF}"/>
                  </a:ext>
                </a:extLst>
              </p:cNvPr>
              <p:cNvSpPr txBox="1"/>
              <p:nvPr/>
            </p:nvSpPr>
            <p:spPr>
              <a:xfrm>
                <a:off x="1058684" y="-55854"/>
                <a:ext cx="765810" cy="270456"/>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A priori</a:t>
                </a:r>
                <a:endParaRPr lang="fr-FR" sz="1100" kern="100" dirty="0">
                  <a:effectLst/>
                  <a:ea typeface="Calibri" panose="020F0502020204030204" pitchFamily="34" charset="0"/>
                  <a:cs typeface="Times New Roman" panose="02020603050405020304" pitchFamily="18" charset="0"/>
                </a:endParaRPr>
              </a:p>
            </p:txBody>
          </p:sp>
          <p:sp>
            <p:nvSpPr>
              <p:cNvPr id="37" name="Zone de texte 607450336">
                <a:extLst>
                  <a:ext uri="{FF2B5EF4-FFF2-40B4-BE49-F238E27FC236}">
                    <a16:creationId xmlns:a16="http://schemas.microsoft.com/office/drawing/2014/main" id="{45E080D5-A6C0-7EAA-035A-18B347EB6F55}"/>
                  </a:ext>
                </a:extLst>
              </p:cNvPr>
              <p:cNvSpPr txBox="1"/>
              <p:nvPr/>
            </p:nvSpPr>
            <p:spPr>
              <a:xfrm>
                <a:off x="1629163" y="650547"/>
                <a:ext cx="1294803" cy="313617"/>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Concomitant</a:t>
                </a:r>
                <a:endParaRPr lang="fr-FR" sz="1100" kern="100" dirty="0">
                  <a:effectLst/>
                  <a:ea typeface="Calibri" panose="020F0502020204030204" pitchFamily="34" charset="0"/>
                  <a:cs typeface="Times New Roman" panose="02020603050405020304" pitchFamily="18" charset="0"/>
                </a:endParaRPr>
              </a:p>
            </p:txBody>
          </p:sp>
          <p:sp>
            <p:nvSpPr>
              <p:cNvPr id="38" name="Zone de texte 4289967">
                <a:extLst>
                  <a:ext uri="{FF2B5EF4-FFF2-40B4-BE49-F238E27FC236}">
                    <a16:creationId xmlns:a16="http://schemas.microsoft.com/office/drawing/2014/main" id="{B6049BB4-A330-BE11-1A62-36C4AEC5EB5C}"/>
                  </a:ext>
                </a:extLst>
              </p:cNvPr>
              <p:cNvSpPr txBox="1"/>
              <p:nvPr/>
            </p:nvSpPr>
            <p:spPr>
              <a:xfrm>
                <a:off x="-1" y="669700"/>
                <a:ext cx="1056066" cy="313618"/>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ea typeface="Calibri" panose="020F0502020204030204" pitchFamily="34" charset="0"/>
                    <a:cs typeface="Times New Roman" panose="02020603050405020304" pitchFamily="18" charset="0"/>
                  </a:rPr>
                  <a:t>A posteriori</a:t>
                </a:r>
                <a:endParaRPr lang="fr-FR" sz="1100" kern="100" dirty="0">
                  <a:effectLst/>
                  <a:ea typeface="Calibri" panose="020F0502020204030204" pitchFamily="34" charset="0"/>
                  <a:cs typeface="Times New Roman" panose="02020603050405020304" pitchFamily="18" charset="0"/>
                </a:endParaRPr>
              </a:p>
            </p:txBody>
          </p:sp>
        </p:grpSp>
        <p:grpSp>
          <p:nvGrpSpPr>
            <p:cNvPr id="18" name="Groupe 17">
              <a:extLst>
                <a:ext uri="{FF2B5EF4-FFF2-40B4-BE49-F238E27FC236}">
                  <a16:creationId xmlns:a16="http://schemas.microsoft.com/office/drawing/2014/main" id="{273F5EDA-9111-9518-A5E3-9A5DE1EC37F3}"/>
                </a:ext>
              </a:extLst>
            </p:cNvPr>
            <p:cNvGrpSpPr/>
            <p:nvPr/>
          </p:nvGrpSpPr>
          <p:grpSpPr>
            <a:xfrm>
              <a:off x="-28478" y="1197736"/>
              <a:ext cx="3576830" cy="2389299"/>
              <a:chOff x="-28478" y="0"/>
              <a:chExt cx="3576830" cy="2389299"/>
            </a:xfrm>
          </p:grpSpPr>
          <p:sp>
            <p:nvSpPr>
              <p:cNvPr id="30" name="Zone de texte 474076190">
                <a:extLst>
                  <a:ext uri="{FF2B5EF4-FFF2-40B4-BE49-F238E27FC236}">
                    <a16:creationId xmlns:a16="http://schemas.microsoft.com/office/drawing/2014/main" id="{77C200EF-B186-F2B9-BA58-208BB09E2C7A}"/>
                  </a:ext>
                </a:extLst>
              </p:cNvPr>
              <p:cNvSpPr txBox="1"/>
              <p:nvPr/>
            </p:nvSpPr>
            <p:spPr>
              <a:xfrm>
                <a:off x="1239143" y="959182"/>
                <a:ext cx="1046284" cy="495649"/>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Enquête</a:t>
                </a:r>
                <a:endParaRPr lang="fr-FR" sz="1200" kern="100" dirty="0">
                  <a:effectLst/>
                  <a:ea typeface="Calibri" panose="020F0502020204030204" pitchFamily="34" charset="0"/>
                  <a:cs typeface="Times New Roman" panose="02020603050405020304" pitchFamily="18" charset="0"/>
                </a:endParaRPr>
              </a:p>
            </p:txBody>
          </p:sp>
          <p:sp>
            <p:nvSpPr>
              <p:cNvPr id="31" name="Zone de texte 2028069172">
                <a:extLst>
                  <a:ext uri="{FF2B5EF4-FFF2-40B4-BE49-F238E27FC236}">
                    <a16:creationId xmlns:a16="http://schemas.microsoft.com/office/drawing/2014/main" id="{065597FE-3356-CC9F-4A03-448297B994FC}"/>
                  </a:ext>
                </a:extLst>
              </p:cNvPr>
              <p:cNvSpPr txBox="1"/>
              <p:nvPr/>
            </p:nvSpPr>
            <p:spPr>
              <a:xfrm>
                <a:off x="-28478" y="103989"/>
                <a:ext cx="1294596" cy="882472"/>
              </a:xfrm>
              <a:prstGeom prst="rect">
                <a:avLst/>
              </a:prstGeom>
              <a:solidFill>
                <a:schemeClr val="bg2"/>
              </a:solidFill>
              <a:ln w="381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Officier Police Judiciaire (OPJ)</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2" name="Zone de texte 291920215">
                <a:extLst>
                  <a:ext uri="{FF2B5EF4-FFF2-40B4-BE49-F238E27FC236}">
                    <a16:creationId xmlns:a16="http://schemas.microsoft.com/office/drawing/2014/main" id="{1E52D12C-3642-C393-08B7-CBBB36C473C3}"/>
                  </a:ext>
                </a:extLst>
              </p:cNvPr>
              <p:cNvSpPr txBox="1"/>
              <p:nvPr/>
            </p:nvSpPr>
            <p:spPr>
              <a:xfrm>
                <a:off x="70834" y="1320084"/>
                <a:ext cx="1294596" cy="1069215"/>
              </a:xfrm>
              <a:prstGeom prst="rect">
                <a:avLst/>
              </a:prstGeom>
              <a:solidFill>
                <a:schemeClr val="bg2"/>
              </a:solidFill>
              <a:ln w="28575">
                <a:solidFill>
                  <a:srgbClr val="002060"/>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Contre-vérification </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des actions et des résultats de </a:t>
                </a:r>
                <a:r>
                  <a:rPr lang="fr-FR" sz="900" b="1" kern="100" dirty="0">
                    <a:effectLst/>
                    <a:latin typeface="Arial" panose="020B0604020202020204" pitchFamily="34" charset="0"/>
                    <a:ea typeface="Calibri" panose="020F0502020204030204" pitchFamily="34" charset="0"/>
                    <a:cs typeface="Times New Roman" panose="02020603050405020304" pitchFamily="18" charset="0"/>
                  </a:rPr>
                  <a:t>Santé Publique</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200" b="1" kern="100" dirty="0">
                    <a:solidFill>
                      <a:srgbClr val="0070C0"/>
                    </a:solidFill>
                    <a:effectLst/>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3" name="Zone de texte 1479897775">
                <a:extLst>
                  <a:ext uri="{FF2B5EF4-FFF2-40B4-BE49-F238E27FC236}">
                    <a16:creationId xmlns:a16="http://schemas.microsoft.com/office/drawing/2014/main" id="{8DA6D309-44FB-FF70-963D-62CD0EAC37AC}"/>
                  </a:ext>
                </a:extLst>
              </p:cNvPr>
              <p:cNvSpPr txBox="1"/>
              <p:nvPr/>
            </p:nvSpPr>
            <p:spPr>
              <a:xfrm>
                <a:off x="2118575" y="0"/>
                <a:ext cx="1368625" cy="1040074"/>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kern="100" dirty="0">
                    <a:effectLst/>
                    <a:latin typeface="Arial" panose="020B0604020202020204" pitchFamily="34" charset="0"/>
                    <a:ea typeface="Calibri" panose="020F0502020204030204" pitchFamily="34" charset="0"/>
                    <a:cs typeface="Times New Roman" panose="02020603050405020304" pitchFamily="18" charset="0"/>
                  </a:rPr>
                  <a:t>Enquête administrative </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susceptibles de déclencher les mesures </a:t>
                </a:r>
                <a:r>
                  <a:rPr lang="fr-FR" sz="900" b="1" kern="100" dirty="0">
                    <a:effectLst/>
                    <a:latin typeface="Arial" panose="020B0604020202020204" pitchFamily="34" charset="0"/>
                    <a:ea typeface="Calibri" panose="020F0502020204030204" pitchFamily="34" charset="0"/>
                    <a:cs typeface="Times New Roman" panose="02020603050405020304" pitchFamily="18" charset="0"/>
                  </a:rPr>
                  <a:t>disciplinaires</a:t>
                </a:r>
                <a:r>
                  <a:rPr lang="fr-FR" sz="1000" b="1" kern="100" dirty="0">
                    <a:effectLst/>
                    <a:latin typeface="Arial" panose="020B0604020202020204" pitchFamily="34" charset="0"/>
                    <a:ea typeface="Calibri" panose="020F0502020204030204" pitchFamily="34" charset="0"/>
                    <a:cs typeface="Times New Roman" panose="02020603050405020304" pitchFamily="18" charset="0"/>
                  </a:rPr>
                  <a:t> </a:t>
                </a:r>
                <a:endParaRPr lang="fr-FR" sz="11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sp>
            <p:nvSpPr>
              <p:cNvPr id="34" name="Zone de texte 1126772533">
                <a:extLst>
                  <a:ext uri="{FF2B5EF4-FFF2-40B4-BE49-F238E27FC236}">
                    <a16:creationId xmlns:a16="http://schemas.microsoft.com/office/drawing/2014/main" id="{24DBF777-47A3-7B37-D364-BEA31C33EE10}"/>
                  </a:ext>
                </a:extLst>
              </p:cNvPr>
              <p:cNvSpPr txBox="1"/>
              <p:nvPr/>
            </p:nvSpPr>
            <p:spPr>
              <a:xfrm>
                <a:off x="2112136" y="1365159"/>
                <a:ext cx="1436216" cy="965062"/>
              </a:xfrm>
              <a:prstGeom prst="rect">
                <a:avLst/>
              </a:prstGeom>
              <a:solidFill>
                <a:schemeClr val="bg2"/>
              </a:solidFill>
              <a:ln w="28575">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just"/>
                <a:r>
                  <a:rPr lang="fr-FR" sz="1400" b="1" dirty="0">
                    <a:effectLst/>
                    <a:ea typeface="Calibri" panose="020F0502020204030204" pitchFamily="34" charset="0"/>
                    <a:cs typeface="Times New Roman" panose="02020603050405020304" pitchFamily="18" charset="0"/>
                  </a:rPr>
                  <a:t>Recherche opérationnelle </a:t>
                </a:r>
                <a:r>
                  <a:rPr lang="fr-FR" sz="1200" b="1" dirty="0">
                    <a:effectLst/>
                    <a:ea typeface="Calibri" panose="020F0502020204030204" pitchFamily="34" charset="0"/>
                    <a:cs typeface="Times New Roman" panose="02020603050405020304" pitchFamily="18" charset="0"/>
                  </a:rPr>
                  <a:t>inspection sanitaire</a:t>
                </a:r>
                <a:r>
                  <a:rPr lang="fr-FR" sz="1200" b="1" dirty="0">
                    <a:effectLst/>
                    <a:ea typeface="Calibri" panose="020F0502020204030204" pitchFamily="34" charset="0"/>
                    <a:cs typeface="Calibri" panose="020F0502020204030204" pitchFamily="34" charset="0"/>
                  </a:rPr>
                  <a:t> </a:t>
                </a:r>
                <a:endParaRPr lang="fr-FR" sz="1100" dirty="0">
                  <a:effectLst/>
                  <a:ea typeface="Calibri" panose="020F0502020204030204" pitchFamily="34" charset="0"/>
                  <a:cs typeface="Times New Roman" panose="02020603050405020304" pitchFamily="18" charset="0"/>
                </a:endParaRPr>
              </a:p>
              <a:p>
                <a:pPr>
                  <a:lnSpc>
                    <a:spcPct val="107000"/>
                  </a:lnSpc>
                  <a:spcAft>
                    <a:spcPts val="800"/>
                  </a:spcAft>
                </a:pPr>
                <a:r>
                  <a:rPr lang="fr-FR" sz="1100" kern="100" dirty="0">
                    <a:effectLst/>
                    <a:ea typeface="Calibri" panose="020F0502020204030204" pitchFamily="34" charset="0"/>
                    <a:cs typeface="Times New Roman" panose="02020603050405020304" pitchFamily="18" charset="0"/>
                  </a:rPr>
                  <a:t> </a:t>
                </a:r>
              </a:p>
            </p:txBody>
          </p:sp>
        </p:grpSp>
        <p:grpSp>
          <p:nvGrpSpPr>
            <p:cNvPr id="19" name="Groupe 18">
              <a:extLst>
                <a:ext uri="{FF2B5EF4-FFF2-40B4-BE49-F238E27FC236}">
                  <a16:creationId xmlns:a16="http://schemas.microsoft.com/office/drawing/2014/main" id="{6AEAFC3F-3EA8-BE8E-D40A-3E4C0D43CE0B}"/>
                </a:ext>
              </a:extLst>
            </p:cNvPr>
            <p:cNvGrpSpPr/>
            <p:nvPr/>
          </p:nvGrpSpPr>
          <p:grpSpPr>
            <a:xfrm>
              <a:off x="4217878" y="1476504"/>
              <a:ext cx="3589729" cy="1466562"/>
              <a:chOff x="-347683" y="-120477"/>
              <a:chExt cx="3589729" cy="1466562"/>
            </a:xfrm>
          </p:grpSpPr>
          <p:sp>
            <p:nvSpPr>
              <p:cNvPr id="25" name="Rectangle 24">
                <a:extLst>
                  <a:ext uri="{FF2B5EF4-FFF2-40B4-BE49-F238E27FC236}">
                    <a16:creationId xmlns:a16="http://schemas.microsoft.com/office/drawing/2014/main" id="{F1ECC984-56E0-C5A0-772A-B1A518314FE6}"/>
                  </a:ext>
                </a:extLst>
              </p:cNvPr>
              <p:cNvSpPr/>
              <p:nvPr/>
            </p:nvSpPr>
            <p:spPr>
              <a:xfrm>
                <a:off x="948536" y="212769"/>
                <a:ext cx="977124" cy="740535"/>
              </a:xfrm>
              <a:prstGeom prst="rect">
                <a:avLst/>
              </a:prstGeom>
              <a:solidFill>
                <a:srgbClr val="FFFF00"/>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Audit interne du SS</a:t>
                </a:r>
                <a:endParaRPr lang="fr-FR" sz="1200" kern="100" dirty="0">
                  <a:effectLst/>
                  <a:ea typeface="Calibri" panose="020F0502020204030204" pitchFamily="34" charset="0"/>
                  <a:cs typeface="Times New Roman" panose="02020603050405020304" pitchFamily="18" charset="0"/>
                </a:endParaRPr>
              </a:p>
            </p:txBody>
          </p:sp>
          <p:sp>
            <p:nvSpPr>
              <p:cNvPr id="26" name="Rectangle 25">
                <a:extLst>
                  <a:ext uri="{FF2B5EF4-FFF2-40B4-BE49-F238E27FC236}">
                    <a16:creationId xmlns:a16="http://schemas.microsoft.com/office/drawing/2014/main" id="{21998ED9-85FF-2551-5463-4A19A1361AA5}"/>
                  </a:ext>
                </a:extLst>
              </p:cNvPr>
              <p:cNvSpPr/>
              <p:nvPr/>
            </p:nvSpPr>
            <p:spPr>
              <a:xfrm>
                <a:off x="-225904" y="-21413"/>
                <a:ext cx="1094970" cy="507313"/>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Qualité</a:t>
                </a:r>
                <a:endParaRPr lang="fr-FR" sz="1100" kern="100" dirty="0">
                  <a:effectLst/>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2C66DCDE-19CA-FDB7-630C-443F0B2D732D}"/>
                  </a:ext>
                </a:extLst>
              </p:cNvPr>
              <p:cNvSpPr/>
              <p:nvPr/>
            </p:nvSpPr>
            <p:spPr>
              <a:xfrm>
                <a:off x="-347683" y="798465"/>
                <a:ext cx="1219111" cy="54762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des performances</a:t>
                </a:r>
                <a:endParaRPr lang="fr-FR" sz="1100" kern="100" dirty="0">
                  <a:effectLst/>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752660F9-36E8-710D-4C9E-FCD03AF9AF1A}"/>
                  </a:ext>
                </a:extLst>
              </p:cNvPr>
              <p:cNvSpPr/>
              <p:nvPr/>
            </p:nvSpPr>
            <p:spPr>
              <a:xfrm>
                <a:off x="1835239" y="856444"/>
                <a:ext cx="1165806" cy="489640"/>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financier</a:t>
                </a:r>
                <a:endParaRPr lang="fr-FR" sz="1100" kern="100" dirty="0">
                  <a:effectLst/>
                  <a:ea typeface="Calibri" panose="020F0502020204030204" pitchFamily="34" charset="0"/>
                  <a:cs typeface="Times New Roman" panose="02020603050405020304" pitchFamily="18" charset="0"/>
                </a:endParaRPr>
              </a:p>
            </p:txBody>
          </p:sp>
          <p:sp>
            <p:nvSpPr>
              <p:cNvPr id="29" name="Rectangle 28">
                <a:extLst>
                  <a:ext uri="{FF2B5EF4-FFF2-40B4-BE49-F238E27FC236}">
                    <a16:creationId xmlns:a16="http://schemas.microsoft.com/office/drawing/2014/main" id="{1140F1C3-C908-C3E8-CE53-6D30B2A05729}"/>
                  </a:ext>
                </a:extLst>
              </p:cNvPr>
              <p:cNvSpPr/>
              <p:nvPr/>
            </p:nvSpPr>
            <p:spPr>
              <a:xfrm>
                <a:off x="1784776" y="-120477"/>
                <a:ext cx="1457270" cy="502544"/>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Audit programmatique</a:t>
                </a:r>
                <a:endParaRPr lang="fr-FR" sz="1100" kern="100" dirty="0">
                  <a:effectLst/>
                  <a:ea typeface="Calibri" panose="020F0502020204030204" pitchFamily="34" charset="0"/>
                  <a:cs typeface="Times New Roman" panose="02020603050405020304" pitchFamily="18" charset="0"/>
                </a:endParaRPr>
              </a:p>
            </p:txBody>
          </p:sp>
        </p:grpSp>
        <p:grpSp>
          <p:nvGrpSpPr>
            <p:cNvPr id="20" name="Groupe 19">
              <a:extLst>
                <a:ext uri="{FF2B5EF4-FFF2-40B4-BE49-F238E27FC236}">
                  <a16:creationId xmlns:a16="http://schemas.microsoft.com/office/drawing/2014/main" id="{83AAFD64-3C3C-83E6-E389-2F7F78EDB833}"/>
                </a:ext>
              </a:extLst>
            </p:cNvPr>
            <p:cNvGrpSpPr/>
            <p:nvPr/>
          </p:nvGrpSpPr>
          <p:grpSpPr>
            <a:xfrm>
              <a:off x="2421228" y="4011769"/>
              <a:ext cx="3510446" cy="1075387"/>
              <a:chOff x="0" y="0"/>
              <a:chExt cx="3510446" cy="1075387"/>
            </a:xfrm>
          </p:grpSpPr>
          <p:sp>
            <p:nvSpPr>
              <p:cNvPr id="21" name="Zone de texte 562636033">
                <a:extLst>
                  <a:ext uri="{FF2B5EF4-FFF2-40B4-BE49-F238E27FC236}">
                    <a16:creationId xmlns:a16="http://schemas.microsoft.com/office/drawing/2014/main" id="{9053AF23-678B-427B-1154-2CBAF416A98A}"/>
                  </a:ext>
                </a:extLst>
              </p:cNvPr>
              <p:cNvSpPr txBox="1"/>
              <p:nvPr/>
            </p:nvSpPr>
            <p:spPr>
              <a:xfrm>
                <a:off x="1178685" y="418811"/>
                <a:ext cx="1127125" cy="430462"/>
              </a:xfrm>
              <a:prstGeom prst="rect">
                <a:avLst/>
              </a:prstGeom>
              <a:solidFill>
                <a:srgbClr val="FFFF00"/>
              </a:solidFill>
              <a:ln w="28575">
                <a:solidFill>
                  <a:srgbClr val="FF0000"/>
                </a:solidFill>
              </a:ln>
            </p:spPr>
            <p:style>
              <a:lnRef idx="2">
                <a:schemeClr val="accent2"/>
              </a:lnRef>
              <a:fillRef idx="1">
                <a:schemeClr val="lt1"/>
              </a:fillRef>
              <a:effectRef idx="0">
                <a:schemeClr val="accent2"/>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600" b="1" kern="100" dirty="0">
                    <a:solidFill>
                      <a:srgbClr val="FF0000"/>
                    </a:solidFill>
                    <a:effectLst/>
                    <a:ea typeface="Calibri" panose="020F0502020204030204" pitchFamily="34" charset="0"/>
                    <a:cs typeface="Times New Roman" panose="02020603050405020304" pitchFamily="18" charset="0"/>
                  </a:rPr>
                  <a:t>Sanctions </a:t>
                </a:r>
                <a:endParaRPr lang="fr-FR" sz="1200" kern="100" dirty="0">
                  <a:effectLst/>
                  <a:ea typeface="Calibri" panose="020F0502020204030204" pitchFamily="34" charset="0"/>
                  <a:cs typeface="Times New Roman" panose="02020603050405020304" pitchFamily="18" charset="0"/>
                </a:endParaRPr>
              </a:p>
            </p:txBody>
          </p:sp>
          <p:sp>
            <p:nvSpPr>
              <p:cNvPr id="22" name="Rectangle 21">
                <a:extLst>
                  <a:ext uri="{FF2B5EF4-FFF2-40B4-BE49-F238E27FC236}">
                    <a16:creationId xmlns:a16="http://schemas.microsoft.com/office/drawing/2014/main" id="{CD131C44-9CC8-FAFE-2FB3-ECD1E1F0C9C2}"/>
                  </a:ext>
                </a:extLst>
              </p:cNvPr>
              <p:cNvSpPr/>
              <p:nvPr/>
            </p:nvSpPr>
            <p:spPr>
              <a:xfrm>
                <a:off x="0" y="709955"/>
                <a:ext cx="1127125" cy="365432"/>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Judiciaires </a:t>
                </a:r>
                <a:endParaRPr lang="fr-FR" sz="1100" kern="100" dirty="0">
                  <a:effectLst/>
                  <a:ea typeface="Calibri" panose="020F0502020204030204" pitchFamily="34" charset="0"/>
                  <a:cs typeface="Times New Roman" panose="02020603050405020304" pitchFamily="18" charset="0"/>
                </a:endParaRPr>
              </a:p>
            </p:txBody>
          </p:sp>
          <p:sp>
            <p:nvSpPr>
              <p:cNvPr id="23" name="Rectangle 22">
                <a:extLst>
                  <a:ext uri="{FF2B5EF4-FFF2-40B4-BE49-F238E27FC236}">
                    <a16:creationId xmlns:a16="http://schemas.microsoft.com/office/drawing/2014/main" id="{5FA68392-AA0C-4AD5-087E-9E9E64B05380}"/>
                  </a:ext>
                </a:extLst>
              </p:cNvPr>
              <p:cNvSpPr/>
              <p:nvPr/>
            </p:nvSpPr>
            <p:spPr>
              <a:xfrm>
                <a:off x="2383311" y="709955"/>
                <a:ext cx="1127135" cy="365432"/>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Ordinales </a:t>
                </a:r>
                <a:endParaRPr lang="fr-FR" sz="1100" kern="100" dirty="0">
                  <a:effectLst/>
                  <a:ea typeface="Calibri" panose="020F0502020204030204" pitchFamily="34" charset="0"/>
                  <a:cs typeface="Times New Roman" panose="02020603050405020304" pitchFamily="18" charset="0"/>
                </a:endParaRPr>
              </a:p>
            </p:txBody>
          </p:sp>
          <p:sp>
            <p:nvSpPr>
              <p:cNvPr id="24" name="Rectangle 23">
                <a:extLst>
                  <a:ext uri="{FF2B5EF4-FFF2-40B4-BE49-F238E27FC236}">
                    <a16:creationId xmlns:a16="http://schemas.microsoft.com/office/drawing/2014/main" id="{F6E63046-3C4D-7F30-677A-C48488081C65}"/>
                  </a:ext>
                </a:extLst>
              </p:cNvPr>
              <p:cNvSpPr/>
              <p:nvPr/>
            </p:nvSpPr>
            <p:spPr>
              <a:xfrm>
                <a:off x="1056067" y="0"/>
                <a:ext cx="1327249" cy="322240"/>
              </a:xfrm>
              <a:prstGeom prst="rect">
                <a:avLst/>
              </a:prstGeom>
              <a:solidFill>
                <a:schemeClr val="bg2"/>
              </a:solidFill>
              <a:ln w="28575"/>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200" b="1" kern="100" dirty="0">
                    <a:solidFill>
                      <a:srgbClr val="000000"/>
                    </a:solidFill>
                    <a:effectLst/>
                    <a:ea typeface="Calibri" panose="020F0502020204030204" pitchFamily="34" charset="0"/>
                    <a:cs typeface="Times New Roman" panose="02020603050405020304" pitchFamily="18" charset="0"/>
                  </a:rPr>
                  <a:t>Administratives</a:t>
                </a:r>
                <a:endParaRPr lang="fr-FR" sz="1100" kern="100" dirty="0">
                  <a:effectLst/>
                  <a:ea typeface="Calibri" panose="020F0502020204030204" pitchFamily="34" charset="0"/>
                  <a:cs typeface="Times New Roman" panose="02020603050405020304" pitchFamily="18" charset="0"/>
                </a:endParaRPr>
              </a:p>
            </p:txBody>
          </p:sp>
        </p:grpSp>
      </p:grpSp>
      <p:sp>
        <p:nvSpPr>
          <p:cNvPr id="42" name="Accolade fermante 41">
            <a:extLst>
              <a:ext uri="{FF2B5EF4-FFF2-40B4-BE49-F238E27FC236}">
                <a16:creationId xmlns:a16="http://schemas.microsoft.com/office/drawing/2014/main" id="{18B5D387-E0D2-93C7-E963-1958AE7771C7}"/>
              </a:ext>
            </a:extLst>
          </p:cNvPr>
          <p:cNvSpPr/>
          <p:nvPr/>
        </p:nvSpPr>
        <p:spPr>
          <a:xfrm>
            <a:off x="6961627" y="796349"/>
            <a:ext cx="791956" cy="5789652"/>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sz="3600" b="1" dirty="0"/>
          </a:p>
        </p:txBody>
      </p:sp>
      <p:sp>
        <p:nvSpPr>
          <p:cNvPr id="43" name="Zone de texte 460797543">
            <a:extLst>
              <a:ext uri="{FF2B5EF4-FFF2-40B4-BE49-F238E27FC236}">
                <a16:creationId xmlns:a16="http://schemas.microsoft.com/office/drawing/2014/main" id="{45482CAF-DF6E-DAF4-88BA-3AEC943FBCE0}"/>
              </a:ext>
            </a:extLst>
          </p:cNvPr>
          <p:cNvSpPr txBox="1"/>
          <p:nvPr/>
        </p:nvSpPr>
        <p:spPr>
          <a:xfrm>
            <a:off x="7660561" y="1941491"/>
            <a:ext cx="1389776" cy="1208406"/>
          </a:xfrm>
          <a:prstGeom prst="rect">
            <a:avLst/>
          </a:prstGeom>
          <a:noFill/>
          <a:ln w="28575">
            <a:solidFill>
              <a:srgbClr val="0070C0"/>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latin typeface="Helvetica" panose="020B0604020202020204" pitchFamily="34" charset="0"/>
                <a:ea typeface="Calibri" panose="020F0502020204030204" pitchFamily="34" charset="0"/>
                <a:cs typeface="Helvetica" panose="020B0604020202020204" pitchFamily="34" charset="0"/>
              </a:rPr>
              <a:t>Renforcement de la gouvernance dans le SS</a:t>
            </a:r>
            <a:endParaRPr lang="fr-FR" sz="1200" kern="100" dirty="0">
              <a:effectLst/>
              <a:latin typeface="Helvetica" panose="020B0604020202020204" pitchFamily="34" charset="0"/>
              <a:ea typeface="Calibri" panose="020F0502020204030204" pitchFamily="34" charset="0"/>
              <a:cs typeface="Helvetica" panose="020B0604020202020204" pitchFamily="34" charset="0"/>
            </a:endParaRPr>
          </a:p>
        </p:txBody>
      </p:sp>
      <p:sp>
        <p:nvSpPr>
          <p:cNvPr id="44" name="Zone de texte 31">
            <a:extLst>
              <a:ext uri="{FF2B5EF4-FFF2-40B4-BE49-F238E27FC236}">
                <a16:creationId xmlns:a16="http://schemas.microsoft.com/office/drawing/2014/main" id="{709EFB6D-DBE3-9733-665F-DC22591D9254}"/>
              </a:ext>
            </a:extLst>
          </p:cNvPr>
          <p:cNvSpPr txBox="1"/>
          <p:nvPr/>
        </p:nvSpPr>
        <p:spPr>
          <a:xfrm>
            <a:off x="7681689" y="4207189"/>
            <a:ext cx="1349205" cy="1208406"/>
          </a:xfrm>
          <a:prstGeom prst="rect">
            <a:avLst/>
          </a:prstGeom>
          <a:noFill/>
          <a:ln w="28575">
            <a:solidFill>
              <a:srgbClr val="0070C0"/>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latin typeface="Helvetica" panose="020B0604020202020204" pitchFamily="34" charset="0"/>
                <a:ea typeface="Calibri" panose="020F0502020204030204" pitchFamily="34" charset="0"/>
                <a:cs typeface="Helvetica" panose="020B0604020202020204" pitchFamily="34" charset="0"/>
              </a:rPr>
              <a:t>Maintien et amélioration continue de la qualité</a:t>
            </a:r>
            <a:endParaRPr lang="fr-FR" sz="1200" kern="100" dirty="0">
              <a:effectLst/>
              <a:latin typeface="Helvetica" panose="020B0604020202020204" pitchFamily="34" charset="0"/>
              <a:ea typeface="Calibri" panose="020F0502020204030204" pitchFamily="34" charset="0"/>
              <a:cs typeface="Helvetica" panose="020B0604020202020204" pitchFamily="34" charset="0"/>
            </a:endParaRPr>
          </a:p>
        </p:txBody>
      </p:sp>
      <p:sp>
        <p:nvSpPr>
          <p:cNvPr id="45" name="Zone de texte 607450336">
            <a:extLst>
              <a:ext uri="{FF2B5EF4-FFF2-40B4-BE49-F238E27FC236}">
                <a16:creationId xmlns:a16="http://schemas.microsoft.com/office/drawing/2014/main" id="{C11DC2E5-458F-2410-2712-766685AA173D}"/>
              </a:ext>
            </a:extLst>
          </p:cNvPr>
          <p:cNvSpPr txBox="1"/>
          <p:nvPr/>
        </p:nvSpPr>
        <p:spPr>
          <a:xfrm>
            <a:off x="2400499" y="930986"/>
            <a:ext cx="1155231" cy="337368"/>
          </a:xfrm>
          <a:prstGeom prst="rect">
            <a:avLst/>
          </a:prstGeom>
          <a:solidFill>
            <a:schemeClr val="bg2"/>
          </a:solidFill>
          <a:ln w="28575">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400" b="1" kern="100" dirty="0">
                <a:effectLst/>
                <a:ea typeface="Calibri" panose="020F0502020204030204" pitchFamily="34" charset="0"/>
                <a:cs typeface="Times New Roman" panose="02020603050405020304" pitchFamily="18" charset="0"/>
              </a:rPr>
              <a:t>Normatif</a:t>
            </a:r>
            <a:endParaRPr lang="fr-FR" sz="12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74528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E92D-3159-D16B-A8CD-FD1F8C6BBF6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F3656B9-FA74-9F3D-9391-D93098D40E2F}"/>
              </a:ext>
            </a:extLst>
          </p:cNvPr>
          <p:cNvSpPr>
            <a:spLocks noGrp="1"/>
          </p:cNvSpPr>
          <p:nvPr>
            <p:ph type="title"/>
          </p:nvPr>
        </p:nvSpPr>
        <p:spPr>
          <a:xfrm>
            <a:off x="563900" y="309235"/>
            <a:ext cx="7874682" cy="457610"/>
          </a:xfrm>
        </p:spPr>
        <p:txBody>
          <a:bodyPr>
            <a:normAutofit fontScale="90000"/>
          </a:bodyPr>
          <a:lstStyle/>
          <a:p>
            <a:pPr algn="ctr">
              <a:defRPr/>
            </a:pPr>
            <a:r>
              <a:rPr lang="fr-FR" sz="4000" dirty="0">
                <a:latin typeface="Berlin Sans FB Demi" pitchFamily="34" charset="0"/>
              </a:rPr>
              <a:t>Domaines d’intervention </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B5E19533-4A0D-C26B-BC63-078A0E652545}"/>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DEC536A7-74BA-50BE-85EC-DC829360E8C1}"/>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21554E3E-ABDF-AC7C-0055-1A58B7D1489A}"/>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8</a:t>
            </a:fld>
            <a:endParaRPr lang="fr-BE" altLang="fr-FR" dirty="0"/>
          </a:p>
        </p:txBody>
      </p:sp>
      <p:pic>
        <p:nvPicPr>
          <p:cNvPr id="7" name="Picture 2">
            <a:extLst>
              <a:ext uri="{FF2B5EF4-FFF2-40B4-BE49-F238E27FC236}">
                <a16:creationId xmlns:a16="http://schemas.microsoft.com/office/drawing/2014/main" id="{03F1A401-A2B1-4378-6534-D936A2289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F8A261C0-807F-8FA6-A9C8-44691878B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5601" y="233869"/>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FB01C068-62CD-09B6-AB00-A2F87430E601}"/>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B5ACB882-819F-DB00-24FC-DF3C25A2851F}"/>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7F8E6606-7C26-850D-5572-7613ED65EE99}"/>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A3AE01D8-1E66-4397-459B-F0B71E5D436E}"/>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D211D7D5-2A3A-1BCB-B26F-741358046C21}"/>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74551094-1A3F-5330-06AE-A10D03AECDCF}"/>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5D18D13A-999C-2185-925D-1CE80C02A2C8}"/>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Diagramme 12">
            <a:extLst>
              <a:ext uri="{FF2B5EF4-FFF2-40B4-BE49-F238E27FC236}">
                <a16:creationId xmlns:a16="http://schemas.microsoft.com/office/drawing/2014/main" id="{7FAE7B29-4987-ED82-4868-DCFEA67AA21C}"/>
              </a:ext>
            </a:extLst>
          </p:cNvPr>
          <p:cNvGraphicFramePr/>
          <p:nvPr>
            <p:extLst>
              <p:ext uri="{D42A27DB-BD31-4B8C-83A1-F6EECF244321}">
                <p14:modId xmlns:p14="http://schemas.microsoft.com/office/powerpoint/2010/main" val="1933266082"/>
              </p:ext>
            </p:extLst>
          </p:nvPr>
        </p:nvGraphicFramePr>
        <p:xfrm>
          <a:off x="209531" y="805949"/>
          <a:ext cx="8884320" cy="56757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Image 14">
            <a:extLst>
              <a:ext uri="{FF2B5EF4-FFF2-40B4-BE49-F238E27FC236}">
                <a16:creationId xmlns:a16="http://schemas.microsoft.com/office/drawing/2014/main" id="{9F56C1C1-73BA-0700-4F31-110871ED27B9}"/>
              </a:ext>
            </a:extLst>
          </p:cNvPr>
          <p:cNvPicPr>
            <a:picLocks noChangeAspect="1"/>
          </p:cNvPicPr>
          <p:nvPr/>
        </p:nvPicPr>
        <p:blipFill>
          <a:blip r:embed="rId9"/>
          <a:stretch>
            <a:fillRect/>
          </a:stretch>
        </p:blipFill>
        <p:spPr>
          <a:xfrm>
            <a:off x="2321839" y="4004622"/>
            <a:ext cx="6354616" cy="1422048"/>
          </a:xfrm>
          <a:prstGeom prst="rect">
            <a:avLst/>
          </a:prstGeom>
        </p:spPr>
      </p:pic>
      <p:pic>
        <p:nvPicPr>
          <p:cNvPr id="19" name="Image 18">
            <a:extLst>
              <a:ext uri="{FF2B5EF4-FFF2-40B4-BE49-F238E27FC236}">
                <a16:creationId xmlns:a16="http://schemas.microsoft.com/office/drawing/2014/main" id="{2CB4F874-6D3D-3E4B-25E5-88DB0E124765}"/>
              </a:ext>
            </a:extLst>
          </p:cNvPr>
          <p:cNvPicPr>
            <a:picLocks noChangeAspect="1"/>
          </p:cNvPicPr>
          <p:nvPr/>
        </p:nvPicPr>
        <p:blipFill>
          <a:blip r:embed="rId10"/>
          <a:stretch>
            <a:fillRect/>
          </a:stretch>
        </p:blipFill>
        <p:spPr>
          <a:xfrm>
            <a:off x="332483" y="4173912"/>
            <a:ext cx="1931064" cy="1102687"/>
          </a:xfrm>
          <a:prstGeom prst="rect">
            <a:avLst/>
          </a:prstGeom>
        </p:spPr>
      </p:pic>
      <p:pic>
        <p:nvPicPr>
          <p:cNvPr id="21" name="Image 20">
            <a:extLst>
              <a:ext uri="{FF2B5EF4-FFF2-40B4-BE49-F238E27FC236}">
                <a16:creationId xmlns:a16="http://schemas.microsoft.com/office/drawing/2014/main" id="{F34C4F00-AEA2-5873-4FB8-4ABB79E308D3}"/>
              </a:ext>
            </a:extLst>
          </p:cNvPr>
          <p:cNvPicPr>
            <a:picLocks noChangeAspect="1"/>
          </p:cNvPicPr>
          <p:nvPr/>
        </p:nvPicPr>
        <p:blipFill>
          <a:blip r:embed="rId11"/>
          <a:stretch>
            <a:fillRect/>
          </a:stretch>
        </p:blipFill>
        <p:spPr>
          <a:xfrm>
            <a:off x="2309646" y="5532864"/>
            <a:ext cx="6294802" cy="975445"/>
          </a:xfrm>
          <a:prstGeom prst="rect">
            <a:avLst/>
          </a:prstGeom>
        </p:spPr>
      </p:pic>
      <p:pic>
        <p:nvPicPr>
          <p:cNvPr id="23" name="Image 22">
            <a:extLst>
              <a:ext uri="{FF2B5EF4-FFF2-40B4-BE49-F238E27FC236}">
                <a16:creationId xmlns:a16="http://schemas.microsoft.com/office/drawing/2014/main" id="{75005B77-9A4D-1A5A-E18C-51E61B0733DB}"/>
              </a:ext>
            </a:extLst>
          </p:cNvPr>
          <p:cNvPicPr>
            <a:picLocks noChangeAspect="1"/>
          </p:cNvPicPr>
          <p:nvPr/>
        </p:nvPicPr>
        <p:blipFill>
          <a:blip r:embed="rId12"/>
          <a:stretch>
            <a:fillRect/>
          </a:stretch>
        </p:blipFill>
        <p:spPr>
          <a:xfrm>
            <a:off x="350954" y="5420245"/>
            <a:ext cx="1975275" cy="1005927"/>
          </a:xfrm>
          <a:prstGeom prst="rect">
            <a:avLst/>
          </a:prstGeom>
        </p:spPr>
      </p:pic>
      <p:pic>
        <p:nvPicPr>
          <p:cNvPr id="18" name="Image 17">
            <a:extLst>
              <a:ext uri="{FF2B5EF4-FFF2-40B4-BE49-F238E27FC236}">
                <a16:creationId xmlns:a16="http://schemas.microsoft.com/office/drawing/2014/main" id="{E0E6AC7C-8F61-701F-9346-ADC4D8A189DA}"/>
              </a:ext>
            </a:extLst>
          </p:cNvPr>
          <p:cNvPicPr>
            <a:picLocks noChangeAspect="1"/>
          </p:cNvPicPr>
          <p:nvPr/>
        </p:nvPicPr>
        <p:blipFill>
          <a:blip r:embed="rId13"/>
          <a:stretch>
            <a:fillRect/>
          </a:stretch>
        </p:blipFill>
        <p:spPr>
          <a:xfrm>
            <a:off x="317956" y="1268760"/>
            <a:ext cx="1871208" cy="787996"/>
          </a:xfrm>
          <a:prstGeom prst="rect">
            <a:avLst/>
          </a:prstGeom>
        </p:spPr>
      </p:pic>
      <p:pic>
        <p:nvPicPr>
          <p:cNvPr id="22" name="Image 21">
            <a:extLst>
              <a:ext uri="{FF2B5EF4-FFF2-40B4-BE49-F238E27FC236}">
                <a16:creationId xmlns:a16="http://schemas.microsoft.com/office/drawing/2014/main" id="{024C515B-60A9-729A-3F29-DBFD6DA4AA3A}"/>
              </a:ext>
            </a:extLst>
          </p:cNvPr>
          <p:cNvPicPr>
            <a:picLocks noChangeAspect="1"/>
          </p:cNvPicPr>
          <p:nvPr/>
        </p:nvPicPr>
        <p:blipFill>
          <a:blip r:embed="rId14"/>
          <a:stretch>
            <a:fillRect/>
          </a:stretch>
        </p:blipFill>
        <p:spPr>
          <a:xfrm>
            <a:off x="2244757" y="1181379"/>
            <a:ext cx="6431698" cy="993734"/>
          </a:xfrm>
          <a:prstGeom prst="rect">
            <a:avLst/>
          </a:prstGeom>
        </p:spPr>
      </p:pic>
      <p:pic>
        <p:nvPicPr>
          <p:cNvPr id="25" name="Image 24">
            <a:extLst>
              <a:ext uri="{FF2B5EF4-FFF2-40B4-BE49-F238E27FC236}">
                <a16:creationId xmlns:a16="http://schemas.microsoft.com/office/drawing/2014/main" id="{EFBD8F8D-8006-CEC0-DF3B-741899A2E8CF}"/>
              </a:ext>
            </a:extLst>
          </p:cNvPr>
          <p:cNvPicPr>
            <a:picLocks noChangeAspect="1"/>
          </p:cNvPicPr>
          <p:nvPr/>
        </p:nvPicPr>
        <p:blipFill>
          <a:blip r:embed="rId15"/>
          <a:stretch>
            <a:fillRect/>
          </a:stretch>
        </p:blipFill>
        <p:spPr>
          <a:xfrm>
            <a:off x="289202" y="2303249"/>
            <a:ext cx="1978073" cy="1392315"/>
          </a:xfrm>
          <a:prstGeom prst="rect">
            <a:avLst/>
          </a:prstGeom>
        </p:spPr>
      </p:pic>
      <p:pic>
        <p:nvPicPr>
          <p:cNvPr id="27" name="Image 26">
            <a:extLst>
              <a:ext uri="{FF2B5EF4-FFF2-40B4-BE49-F238E27FC236}">
                <a16:creationId xmlns:a16="http://schemas.microsoft.com/office/drawing/2014/main" id="{DBE3B028-4E90-B661-7987-A2D1680A4F76}"/>
              </a:ext>
            </a:extLst>
          </p:cNvPr>
          <p:cNvPicPr>
            <a:picLocks noChangeAspect="1"/>
          </p:cNvPicPr>
          <p:nvPr/>
        </p:nvPicPr>
        <p:blipFill>
          <a:blip r:embed="rId16"/>
          <a:stretch>
            <a:fillRect/>
          </a:stretch>
        </p:blipFill>
        <p:spPr>
          <a:xfrm>
            <a:off x="2289806" y="2056756"/>
            <a:ext cx="6386649" cy="1853345"/>
          </a:xfrm>
          <a:prstGeom prst="rect">
            <a:avLst/>
          </a:prstGeom>
        </p:spPr>
      </p:pic>
    </p:spTree>
    <p:extLst>
      <p:ext uri="{BB962C8B-B14F-4D97-AF65-F5344CB8AC3E}">
        <p14:creationId xmlns:p14="http://schemas.microsoft.com/office/powerpoint/2010/main" val="3990081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6A159-84F7-BC51-D5B5-41D3075A8F0C}"/>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14E79021-4F10-FA24-A7AB-A53B7FF87E96}"/>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2B9473F2-F018-98BC-66A5-D18E321D484A}"/>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826D65FC-691B-F154-E426-55CAC3F7D002}"/>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9</a:t>
            </a:fld>
            <a:endParaRPr lang="fr-BE" altLang="fr-FR" dirty="0"/>
          </a:p>
        </p:txBody>
      </p:sp>
      <p:pic>
        <p:nvPicPr>
          <p:cNvPr id="7" name="Picture 2">
            <a:extLst>
              <a:ext uri="{FF2B5EF4-FFF2-40B4-BE49-F238E27FC236}">
                <a16:creationId xmlns:a16="http://schemas.microsoft.com/office/drawing/2014/main" id="{451F8004-1C05-2ED3-1989-8F88948C9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AB11D16F-2418-F483-13D2-5C90D8C5B9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5788" y="276161"/>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9C1D39B5-9740-162A-2FE4-F6A9CA813559}"/>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5C5CC99D-74C9-EB73-D585-9BCFB1298409}"/>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3914710A-50EB-55E9-D133-CAF330128A63}"/>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F163BA3C-E2F2-977C-14E8-A79169BA87E8}"/>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B3D55ADA-F36F-2B77-F093-CB2ACEAAA034}"/>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C89946CA-6A2E-23FF-4F06-BA4C470DBBA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3BCDC207-B03C-930A-D6D7-00EFF44420F8}"/>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pic>
        <p:nvPicPr>
          <p:cNvPr id="19" name="Google Shape;84;p1">
            <a:extLst>
              <a:ext uri="{FF2B5EF4-FFF2-40B4-BE49-F238E27FC236}">
                <a16:creationId xmlns:a16="http://schemas.microsoft.com/office/drawing/2014/main" id="{F7E1C86A-BF68-7FDD-3B3B-479271BD76D2}"/>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l="-17786"/>
          <a:stretch>
            <a:fillRect/>
          </a:stretch>
        </p:blipFill>
        <p:spPr bwMode="auto">
          <a:xfrm>
            <a:off x="1561895" y="1462179"/>
            <a:ext cx="5129219" cy="417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5954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DDC5E-1F34-3F65-328D-61EBA047CBC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4CB08C4-E62D-A0D9-F848-490C762A45D9}"/>
              </a:ext>
            </a:extLst>
          </p:cNvPr>
          <p:cNvSpPr>
            <a:spLocks noGrp="1"/>
          </p:cNvSpPr>
          <p:nvPr>
            <p:ph type="title"/>
          </p:nvPr>
        </p:nvSpPr>
        <p:spPr>
          <a:xfrm>
            <a:off x="369726" y="265626"/>
            <a:ext cx="7874682" cy="457610"/>
          </a:xfrm>
        </p:spPr>
        <p:txBody>
          <a:bodyPr>
            <a:normAutofit fontScale="90000"/>
          </a:bodyPr>
          <a:lstStyle/>
          <a:p>
            <a:pPr algn="ctr">
              <a:defRPr/>
            </a:pPr>
            <a:r>
              <a:rPr lang="fr-FR" sz="3600" dirty="0">
                <a:latin typeface="Berlin Sans FB Demi" pitchFamily="34" charset="0"/>
              </a:rPr>
              <a:t>Activités sur la vaccination en 2025</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DC6104A2-332E-FB46-9E49-BEF304993328}"/>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5C2467A9-509F-9BD4-0A70-C129D4F6C478}"/>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67887FA0-D99C-A38B-28AA-583845DE5D37}"/>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10</a:t>
            </a:fld>
            <a:endParaRPr lang="fr-BE" altLang="fr-FR" dirty="0"/>
          </a:p>
        </p:txBody>
      </p:sp>
      <p:pic>
        <p:nvPicPr>
          <p:cNvPr id="7" name="Picture 2">
            <a:extLst>
              <a:ext uri="{FF2B5EF4-FFF2-40B4-BE49-F238E27FC236}">
                <a16:creationId xmlns:a16="http://schemas.microsoft.com/office/drawing/2014/main" id="{B22B4935-1910-356C-8406-8EFEF05E3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CBD30596-B0E5-23D2-EA39-3C3A3B5FE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800" y="1058110"/>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E54278B9-5E42-F0B0-4C7F-875B72CA21EC}"/>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F52EF835-0DC9-6F08-B1F9-D81DC8F483D6}"/>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5DAD2AEB-1E45-AA1F-B096-C4D28AD6E28F}"/>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2F38127C-828A-C728-34DF-6C3C7E088922}"/>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7CB238FF-E2A4-FE22-28BD-C1571F2F8C07}"/>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DD30F19D-84A6-D3DB-E046-571985303C72}"/>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3F618C51-40E6-A773-C40F-EEB6FE04DCC7}"/>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id="{4BF72ACA-C45F-04D5-87B3-D20E5EAE7057}"/>
              </a:ext>
            </a:extLst>
          </p:cNvPr>
          <p:cNvGraphicFramePr>
            <a:graphicFrameLocks noGrp="1"/>
          </p:cNvGraphicFramePr>
          <p:nvPr>
            <p:extLst>
              <p:ext uri="{D42A27DB-BD31-4B8C-83A1-F6EECF244321}">
                <p14:modId xmlns:p14="http://schemas.microsoft.com/office/powerpoint/2010/main" val="2505788429"/>
              </p:ext>
            </p:extLst>
          </p:nvPr>
        </p:nvGraphicFramePr>
        <p:xfrm>
          <a:off x="242740" y="963675"/>
          <a:ext cx="8676896" cy="5705189"/>
        </p:xfrm>
        <a:graphic>
          <a:graphicData uri="http://schemas.openxmlformats.org/drawingml/2006/table">
            <a:tbl>
              <a:tblPr/>
              <a:tblGrid>
                <a:gridCol w="1642666">
                  <a:extLst>
                    <a:ext uri="{9D8B030D-6E8A-4147-A177-3AD203B41FA5}">
                      <a16:colId xmlns:a16="http://schemas.microsoft.com/office/drawing/2014/main" val="20000"/>
                    </a:ext>
                  </a:extLst>
                </a:gridCol>
                <a:gridCol w="2153693">
                  <a:extLst>
                    <a:ext uri="{9D8B030D-6E8A-4147-A177-3AD203B41FA5}">
                      <a16:colId xmlns:a16="http://schemas.microsoft.com/office/drawing/2014/main" val="20001"/>
                    </a:ext>
                  </a:extLst>
                </a:gridCol>
                <a:gridCol w="4880537">
                  <a:extLst>
                    <a:ext uri="{9D8B030D-6E8A-4147-A177-3AD203B41FA5}">
                      <a16:colId xmlns:a16="http://schemas.microsoft.com/office/drawing/2014/main" val="20002"/>
                    </a:ext>
                  </a:extLst>
                </a:gridCol>
              </a:tblGrid>
              <a:tr h="671991">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val="10000"/>
                  </a:ext>
                </a:extLst>
              </a:tr>
              <a:tr h="447263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fr-FR" altLang="fr-FR" sz="1600" b="0" i="0" u="none" strike="noStrike" cap="none" normalizeH="0" baseline="0" dirty="0">
                          <a:ln>
                            <a:noFill/>
                          </a:ln>
                          <a:solidFill>
                            <a:srgbClr val="000000"/>
                          </a:solidFill>
                          <a:effectLst/>
                          <a:latin typeface="Arial Narrow" panose="020B0606020202030204" pitchFamily="34" charset="0"/>
                          <a:cs typeface="Calibri" panose="020F0502020204030204" pitchFamily="34" charset="0"/>
                          <a:sym typeface="Arial" panose="020B0604020202020204" pitchFamily="34" charset="0"/>
                        </a:rPr>
                        <a:t>1. Mission d’IC de la fonctionnalité des coordinations/ antennes PEV, gestion des ressources et activités de vaccination </a:t>
                      </a:r>
                      <a:endParaRPr kumimoji="0" lang="fr-FR" altLang="fr-FR" sz="1500" b="1" i="0" u="none" strike="noStrike" cap="none" normalizeH="0" baseline="0" dirty="0">
                        <a:ln>
                          <a:noFill/>
                        </a:ln>
                        <a:solidFill>
                          <a:srgbClr val="1F3CA6"/>
                        </a:solidFill>
                        <a:effectLst/>
                        <a:latin typeface="Mulish" charset="0"/>
                        <a:cs typeface="Mulish" charset="0"/>
                        <a:sym typeface="Mulish"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2E75B6"/>
                        </a:buClr>
                        <a:buSzTx/>
                        <a:buFont typeface="Wingdings" panose="05000000000000000000" pitchFamily="2" charset="2"/>
                        <a:buNone/>
                        <a:tabLst/>
                      </a:pPr>
                      <a:r>
                        <a:rPr kumimoji="0" lang="fr-FR" altLang="fr-FR"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Arial" panose="020B0604020202020204" pitchFamily="34" charset="0"/>
                        </a:rPr>
                        <a:t>KWILU, TANGANYIKA, LOMAMI, HAUT-LOMAMI, KWANGO et KINSHASA (6 DPS)</a:t>
                      </a:r>
                      <a:endParaRPr lang="fr-CD" sz="1200" kern="1200" dirty="0">
                        <a:solidFill>
                          <a:srgbClr val="000000"/>
                        </a:solidFill>
                        <a:effectLst/>
                        <a:latin typeface="Arial" panose="020B0604020202020204" pitchFamily="34" charset="0"/>
                        <a:ea typeface="+mn-ea"/>
                        <a:cs typeface="Arial" panose="020B0604020202020204" pitchFamily="34" charset="0"/>
                        <a:sym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
                          <a:srgbClr val="2E75B6"/>
                        </a:buClr>
                        <a:buSzTx/>
                        <a:buFont typeface="Wingdings" panose="05000000000000000000" pitchFamily="2" charset="2"/>
                        <a:buNone/>
                        <a:tabLst/>
                      </a:pPr>
                      <a:endParaRPr kumimoji="0" lang="fr-FR" altLang="fr-FR"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Rupture de stock en vaccin (BCG) et autres diluants dans quelques structures ; . </a:t>
                      </a:r>
                      <a:endParaRPr kumimoji="0" lang="en-GB"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Présence de </a:t>
                      </a:r>
                      <a:r>
                        <a:rPr kumimoji="0" lang="fr-CD" altLang="fr-FR" sz="1800" b="1" i="0" u="none" strike="noStrike"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1.145 doses </a:t>
                      </a:r>
                      <a:r>
                        <a:rPr kumimoji="0" lang="fr-CD"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de vaccins VPI avec Pastille de Contrôle de Vaccin (PCV) </a:t>
                      </a:r>
                      <a:r>
                        <a:rPr kumimoji="0" lang="fr-CD" altLang="fr-FR" sz="1800" b="1" i="0" u="none" strike="noStrike"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virée</a:t>
                      </a:r>
                      <a:r>
                        <a:rPr kumimoji="0" lang="fr-CD"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 (MWENE DITU)</a:t>
                      </a:r>
                      <a:endParaRPr kumimoji="0" lang="en-GB"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Inexistence de plan de maintenance des matériels de chaine de froid ;</a:t>
                      </a:r>
                      <a:endParaRPr kumimoji="0" lang="en-GB"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FR" altLang="fr-FR" sz="1800" b="0" i="0" u="none" strike="noStrike"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Discordance des données observée pour certains antigènes, sur le document des collectes et de transmission des données (DHIS2, le canevas SNIS, fiche de pointage, formulaire 1,), ce qui compromet la fiabilité des données</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rgbClr val="000000"/>
                          </a:solidFill>
                          <a:effectLst/>
                          <a:latin typeface="Arial" panose="020B0604020202020204" pitchFamily="34" charset="0"/>
                          <a:ea typeface="+mn-ea"/>
                          <a:cs typeface="Arial" panose="020B0604020202020204" pitchFamily="34" charset="0"/>
                          <a:sym typeface="Arial" panose="020B0604020202020204" pitchFamily="34" charset="0"/>
                        </a:rPr>
                        <a:t>Absence d’espace aménagé d’entreposage pour les intrants secs/entreposés à l’extérieur</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rgbClr val="FF0000"/>
                          </a:solidFill>
                          <a:effectLst/>
                          <a:latin typeface="Arial" panose="020B0604020202020204" pitchFamily="34" charset="0"/>
                          <a:ea typeface="+mn-ea"/>
                          <a:cs typeface="Arial" panose="020B0604020202020204" pitchFamily="34" charset="0"/>
                          <a:sym typeface="Arial" panose="020B0604020202020204" pitchFamily="34" charset="0"/>
                        </a:rPr>
                        <a:t>Mauvaise pratique </a:t>
                      </a:r>
                      <a:r>
                        <a:rPr lang="fr-CD" sz="1800" kern="1200">
                          <a:solidFill>
                            <a:srgbClr val="FF0000"/>
                          </a:solidFill>
                          <a:effectLst/>
                          <a:latin typeface="Arial" panose="020B0604020202020204" pitchFamily="34" charset="0"/>
                          <a:ea typeface="+mn-ea"/>
                          <a:cs typeface="Arial" panose="020B0604020202020204" pitchFamily="34" charset="0"/>
                          <a:sym typeface="Arial" panose="020B0604020202020204" pitchFamily="34" charset="0"/>
                        </a:rPr>
                        <a:t>dans l’utilisation des BI </a:t>
                      </a:r>
                      <a:endParaRPr lang="fr-CD" sz="1800" kern="1200" dirty="0">
                        <a:solidFill>
                          <a:srgbClr val="FF0000"/>
                        </a:solidFill>
                        <a:effectLst/>
                        <a:latin typeface="Arial" panose="020B0604020202020204" pitchFamily="34" charset="0"/>
                        <a:ea typeface="+mn-ea"/>
                        <a:cs typeface="Arial" panose="020B060402020202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lang="fr-CD" sz="1800" kern="1200" dirty="0">
                          <a:solidFill>
                            <a:srgbClr val="FF0000"/>
                          </a:solidFill>
                          <a:effectLst/>
                          <a:latin typeface="Arial" panose="020B0604020202020204" pitchFamily="34" charset="0"/>
                          <a:ea typeface="+mn-ea"/>
                          <a:cs typeface="Arial" panose="020B0604020202020204" pitchFamily="34" charset="0"/>
                          <a:sym typeface="Arial" panose="020B0604020202020204" pitchFamily="34" charset="0"/>
                        </a:rPr>
                        <a:t>Mauvaise tenue des fiches de pointage  pendant les séances de vaccinations </a:t>
                      </a: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7002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86EA4D-9B69-545E-9B8F-5BEC32968200}"/>
              </a:ext>
            </a:extLst>
          </p:cNvPr>
          <p:cNvSpPr>
            <a:spLocks noGrp="1"/>
          </p:cNvSpPr>
          <p:nvPr>
            <p:ph type="title"/>
          </p:nvPr>
        </p:nvSpPr>
        <p:spPr>
          <a:xfrm>
            <a:off x="628650" y="365127"/>
            <a:ext cx="7886700" cy="1003386"/>
          </a:xfrm>
        </p:spPr>
        <p:txBody>
          <a:bodyPr>
            <a:noAutofit/>
          </a:bodyPr>
          <a:lstStyle/>
          <a:p>
            <a:r>
              <a:rPr lang="fr-FR" sz="2400" b="1" dirty="0"/>
              <a:t>A gauche entrepôt des intrants secs au BCZS KAMINA, à droite utilisation de la BI lors de la vaccination de routine  au CS ZS de KAMINA </a:t>
            </a:r>
            <a:endParaRPr lang="fr-CD" sz="2400" b="1" dirty="0"/>
          </a:p>
        </p:txBody>
      </p:sp>
      <p:sp>
        <p:nvSpPr>
          <p:cNvPr id="4" name="Espace réservé de la date 3">
            <a:extLst>
              <a:ext uri="{FF2B5EF4-FFF2-40B4-BE49-F238E27FC236}">
                <a16:creationId xmlns:a16="http://schemas.microsoft.com/office/drawing/2014/main" id="{C7339DC3-965F-D5EA-98F9-ABC8C8B3AB71}"/>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700887BA-446D-6863-A598-160D9740FFE7}"/>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CA5ACF05-26EF-BDDF-EB3E-4A6AC3D891F5}"/>
              </a:ext>
            </a:extLst>
          </p:cNvPr>
          <p:cNvSpPr>
            <a:spLocks noGrp="1"/>
          </p:cNvSpPr>
          <p:nvPr>
            <p:ph type="sldNum" sz="quarter" idx="12"/>
          </p:nvPr>
        </p:nvSpPr>
        <p:spPr/>
        <p:txBody>
          <a:bodyPr/>
          <a:lstStyle/>
          <a:p>
            <a:fld id="{62F8AC48-0110-4E03-96A9-424428372C43}" type="slidenum">
              <a:rPr lang="fr-BE" altLang="fr-FR" smtClean="0"/>
              <a:pPr/>
              <a:t>11</a:t>
            </a:fld>
            <a:endParaRPr lang="fr-BE" altLang="fr-FR"/>
          </a:p>
        </p:txBody>
      </p:sp>
      <p:pic>
        <p:nvPicPr>
          <p:cNvPr id="7" name="Espace réservé du contenu 6">
            <a:extLst>
              <a:ext uri="{FF2B5EF4-FFF2-40B4-BE49-F238E27FC236}">
                <a16:creationId xmlns:a16="http://schemas.microsoft.com/office/drawing/2014/main" id="{AB517EB5-70D5-B33F-D971-09265B7D3B7E}"/>
              </a:ext>
            </a:extLst>
          </p:cNvPr>
          <p:cNvPicPr>
            <a:picLocks noGrp="1" noChangeAspect="1"/>
          </p:cNvPicPr>
          <p:nvPr>
            <p:ph idx="1"/>
          </p:nvPr>
        </p:nvPicPr>
        <p:blipFill>
          <a:blip r:embed="rId2"/>
          <a:stretch>
            <a:fillRect/>
          </a:stretch>
        </p:blipFill>
        <p:spPr>
          <a:xfrm>
            <a:off x="628650" y="1686763"/>
            <a:ext cx="3943350" cy="4351338"/>
          </a:xfrm>
          <a:prstGeom prst="rect">
            <a:avLst/>
          </a:prstGeom>
        </p:spPr>
      </p:pic>
      <p:pic>
        <p:nvPicPr>
          <p:cNvPr id="8" name="Image 7">
            <a:extLst>
              <a:ext uri="{FF2B5EF4-FFF2-40B4-BE49-F238E27FC236}">
                <a16:creationId xmlns:a16="http://schemas.microsoft.com/office/drawing/2014/main" id="{4E805AE1-1AF7-1104-F69B-97A0816CE4DC}"/>
              </a:ext>
            </a:extLst>
          </p:cNvPr>
          <p:cNvPicPr>
            <a:picLocks noChangeAspect="1"/>
          </p:cNvPicPr>
          <p:nvPr/>
        </p:nvPicPr>
        <p:blipFill>
          <a:blip r:embed="rId3"/>
          <a:stretch>
            <a:fillRect/>
          </a:stretch>
        </p:blipFill>
        <p:spPr>
          <a:xfrm>
            <a:off x="4788025" y="1686763"/>
            <a:ext cx="3762330" cy="4351338"/>
          </a:xfrm>
          <a:prstGeom prst="rect">
            <a:avLst/>
          </a:prstGeom>
        </p:spPr>
      </p:pic>
    </p:spTree>
    <p:extLst>
      <p:ext uri="{BB962C8B-B14F-4D97-AF65-F5344CB8AC3E}">
        <p14:creationId xmlns:p14="http://schemas.microsoft.com/office/powerpoint/2010/main" val="1651938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A7DF3A-8D1D-1E38-4F4B-FCFF1E7CC01F}"/>
              </a:ext>
            </a:extLst>
          </p:cNvPr>
          <p:cNvSpPr>
            <a:spLocks noGrp="1"/>
          </p:cNvSpPr>
          <p:nvPr>
            <p:ph type="title"/>
          </p:nvPr>
        </p:nvSpPr>
        <p:spPr>
          <a:xfrm>
            <a:off x="628650" y="365127"/>
            <a:ext cx="7886700" cy="1011238"/>
          </a:xfrm>
        </p:spPr>
        <p:txBody>
          <a:bodyPr>
            <a:noAutofit/>
          </a:bodyPr>
          <a:lstStyle/>
          <a:p>
            <a:r>
              <a:rPr lang="fr-FR" sz="2400" b="1" dirty="0"/>
              <a:t>A gauche, fiche de pointage rempli lors de la vaccination de routine et à droite entreposage des intrants secs à l’antenne PEV KAMINA</a:t>
            </a:r>
            <a:endParaRPr lang="fr-CD" sz="2400" b="1" dirty="0"/>
          </a:p>
        </p:txBody>
      </p:sp>
      <p:pic>
        <p:nvPicPr>
          <p:cNvPr id="8" name="Espace réservé du contenu 7">
            <a:extLst>
              <a:ext uri="{FF2B5EF4-FFF2-40B4-BE49-F238E27FC236}">
                <a16:creationId xmlns:a16="http://schemas.microsoft.com/office/drawing/2014/main" id="{63A8735D-15F0-7B90-F19D-6B44BC7B5BED}"/>
              </a:ext>
            </a:extLst>
          </p:cNvPr>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755576" y="1690689"/>
            <a:ext cx="3263503" cy="4351338"/>
          </a:xfrm>
        </p:spPr>
      </p:pic>
      <p:sp>
        <p:nvSpPr>
          <p:cNvPr id="4" name="Espace réservé de la date 3">
            <a:extLst>
              <a:ext uri="{FF2B5EF4-FFF2-40B4-BE49-F238E27FC236}">
                <a16:creationId xmlns:a16="http://schemas.microsoft.com/office/drawing/2014/main" id="{1B1C1173-2306-E270-9D80-7D8FE76BD3F2}"/>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E650A3DF-4AC2-52BA-56E8-AC264607ED19}"/>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3A277011-16D5-E5AF-9EDC-A815287D3F40}"/>
              </a:ext>
            </a:extLst>
          </p:cNvPr>
          <p:cNvSpPr>
            <a:spLocks noGrp="1"/>
          </p:cNvSpPr>
          <p:nvPr>
            <p:ph type="sldNum" sz="quarter" idx="12"/>
          </p:nvPr>
        </p:nvSpPr>
        <p:spPr/>
        <p:txBody>
          <a:bodyPr/>
          <a:lstStyle/>
          <a:p>
            <a:fld id="{62F8AC48-0110-4E03-96A9-424428372C43}" type="slidenum">
              <a:rPr lang="fr-BE" altLang="fr-FR" smtClean="0"/>
              <a:pPr/>
              <a:t>12</a:t>
            </a:fld>
            <a:endParaRPr lang="fr-BE" altLang="fr-FR"/>
          </a:p>
        </p:txBody>
      </p:sp>
      <p:pic>
        <p:nvPicPr>
          <p:cNvPr id="10" name="Image 9">
            <a:extLst>
              <a:ext uri="{FF2B5EF4-FFF2-40B4-BE49-F238E27FC236}">
                <a16:creationId xmlns:a16="http://schemas.microsoft.com/office/drawing/2014/main" id="{B78F6AF8-53AD-AC0F-93BD-685F65DAD1D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11960" y="1690688"/>
            <a:ext cx="4303390" cy="4351339"/>
          </a:xfrm>
          <a:prstGeom prst="rect">
            <a:avLst/>
          </a:prstGeom>
        </p:spPr>
      </p:pic>
    </p:spTree>
    <p:extLst>
      <p:ext uri="{BB962C8B-B14F-4D97-AF65-F5344CB8AC3E}">
        <p14:creationId xmlns:p14="http://schemas.microsoft.com/office/powerpoint/2010/main" val="639171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86BF0-035A-EEDD-40BE-AB4CE955457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4C2B10-70A9-F00A-BF14-D1030214B4CE}"/>
              </a:ext>
            </a:extLst>
          </p:cNvPr>
          <p:cNvSpPr>
            <a:spLocks noGrp="1"/>
          </p:cNvSpPr>
          <p:nvPr>
            <p:ph type="title"/>
          </p:nvPr>
        </p:nvSpPr>
        <p:spPr>
          <a:xfrm>
            <a:off x="369726" y="265626"/>
            <a:ext cx="7874682" cy="457610"/>
          </a:xfrm>
        </p:spPr>
        <p:txBody>
          <a:bodyPr>
            <a:normAutofit fontScale="90000"/>
          </a:bodyPr>
          <a:lstStyle/>
          <a:p>
            <a:pPr algn="ctr">
              <a:defRPr/>
            </a:pPr>
            <a:r>
              <a:rPr lang="fr-FR" sz="3600" dirty="0">
                <a:latin typeface="Berlin Sans FB Demi" pitchFamily="34" charset="0"/>
              </a:rPr>
              <a:t>Activités sur la vaccination en 2025</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643F4791-0756-1AC7-9921-FCAA681709A9}"/>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3DF2799E-D631-ED3A-CD24-72A80D4A8BB5}"/>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583324B1-3E05-39B8-AA3C-0E044FB5D644}"/>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13</a:t>
            </a:fld>
            <a:endParaRPr lang="fr-BE" altLang="fr-FR" dirty="0"/>
          </a:p>
        </p:txBody>
      </p:sp>
      <p:pic>
        <p:nvPicPr>
          <p:cNvPr id="7" name="Picture 2">
            <a:extLst>
              <a:ext uri="{FF2B5EF4-FFF2-40B4-BE49-F238E27FC236}">
                <a16:creationId xmlns:a16="http://schemas.microsoft.com/office/drawing/2014/main" id="{1BBE6517-A9A5-3AEB-DE72-B62EBB5A51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673CD3C2-B089-BAAF-33CF-57AE9D449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5054B521-6612-6DB0-928B-A3A7383A74EE}"/>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5F72C8EF-A018-1162-6DA1-C1BC2AE8E917}"/>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362DF3B7-ACD2-5651-6B7D-5D80256548AD}"/>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2B77FAA9-8DE0-3130-9617-B2741EF13959}"/>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DA788E23-61C8-612B-F0D6-9BDF32425C05}"/>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EE8EFDC6-43AC-A7B9-A63F-48AF17846131}"/>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05EDDAA3-3299-2991-79FD-D34AEACBBECD}"/>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id="{AC1A5755-CD0E-CB08-1322-7FD58D04244D}"/>
              </a:ext>
            </a:extLst>
          </p:cNvPr>
          <p:cNvGraphicFramePr>
            <a:graphicFrameLocks noGrp="1"/>
          </p:cNvGraphicFramePr>
          <p:nvPr>
            <p:extLst>
              <p:ext uri="{D42A27DB-BD31-4B8C-83A1-F6EECF244321}">
                <p14:modId xmlns:p14="http://schemas.microsoft.com/office/powerpoint/2010/main" val="3335798521"/>
              </p:ext>
            </p:extLst>
          </p:nvPr>
        </p:nvGraphicFramePr>
        <p:xfrm>
          <a:off x="242740" y="963675"/>
          <a:ext cx="8676896" cy="5273637"/>
        </p:xfrm>
        <a:graphic>
          <a:graphicData uri="http://schemas.openxmlformats.org/drawingml/2006/table">
            <a:tbl>
              <a:tblPr/>
              <a:tblGrid>
                <a:gridCol w="1642666">
                  <a:extLst>
                    <a:ext uri="{9D8B030D-6E8A-4147-A177-3AD203B41FA5}">
                      <a16:colId xmlns:a16="http://schemas.microsoft.com/office/drawing/2014/main" val="20000"/>
                    </a:ext>
                  </a:extLst>
                </a:gridCol>
                <a:gridCol w="2153693">
                  <a:extLst>
                    <a:ext uri="{9D8B030D-6E8A-4147-A177-3AD203B41FA5}">
                      <a16:colId xmlns:a16="http://schemas.microsoft.com/office/drawing/2014/main" val="20001"/>
                    </a:ext>
                  </a:extLst>
                </a:gridCol>
                <a:gridCol w="4880537">
                  <a:extLst>
                    <a:ext uri="{9D8B030D-6E8A-4147-A177-3AD203B41FA5}">
                      <a16:colId xmlns:a16="http://schemas.microsoft.com/office/drawing/2014/main" val="20002"/>
                    </a:ext>
                  </a:extLst>
                </a:gridCol>
              </a:tblGrid>
              <a:tr h="964950">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val="10000"/>
                  </a:ext>
                </a:extLst>
              </a:tr>
              <a:tr h="4308687">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fr-FR" altLang="fr-FR" sz="1600" b="0" i="0" u="none" strike="noStrike" kern="1200" cap="none" normalizeH="0" baseline="0" dirty="0">
                          <a:ln>
                            <a:noFill/>
                          </a:ln>
                          <a:solidFill>
                            <a:srgbClr val="000000"/>
                          </a:solidFill>
                          <a:effectLst/>
                          <a:latin typeface="Arial Narrow" panose="020B0606020202030204" pitchFamily="34" charset="0"/>
                          <a:ea typeface="+mn-ea"/>
                          <a:cs typeface="Calibri" panose="020F0502020204030204" pitchFamily="34" charset="0"/>
                          <a:sym typeface="Arial" panose="020B0604020202020204" pitchFamily="34" charset="0"/>
                        </a:rPr>
                        <a:t>2. Mission d’IC de la gestion des vaccins et autres ressources au HUB KINKOLE</a:t>
                      </a:r>
                      <a:endParaRPr kumimoji="0" lang="fr-FR" altLang="fr-FR" sz="1600" b="0" i="0" u="none" strike="noStrike" kern="1200" cap="none" normalizeH="0" baseline="0" dirty="0">
                        <a:ln>
                          <a:noFill/>
                        </a:ln>
                        <a:solidFill>
                          <a:srgbClr val="000000"/>
                        </a:solidFill>
                        <a:effectLst/>
                        <a:latin typeface="Arial Narrow" panose="020B0606020202030204" pitchFamily="34" charset="0"/>
                        <a:ea typeface="+mn-ea"/>
                        <a:cs typeface="Calibri" panose="020F0502020204030204" pitchFamily="34" charset="0"/>
                        <a:sym typeface="Mulish"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182563" marR="0" lvl="0" indent="-182563"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None/>
                        <a:tabLst/>
                      </a:pPr>
                      <a:r>
                        <a:rPr kumimoji="0" lang="fr-FR" altLang="fr-FR" sz="1600" b="0" i="0" u="none" strike="noStrike" kern="1200" cap="none" normalizeH="0" baseline="0" dirty="0">
                          <a:ln>
                            <a:noFill/>
                          </a:ln>
                          <a:solidFill>
                            <a:srgbClr val="000000"/>
                          </a:solidFill>
                          <a:effectLst/>
                          <a:latin typeface="Arial Narrow" panose="020B0606020202030204" pitchFamily="34" charset="0"/>
                          <a:ea typeface="+mn-ea"/>
                          <a:cs typeface="Calibri" panose="020F0502020204030204" pitchFamily="34" charset="0"/>
                          <a:sym typeface="Arial" panose="020B0604020202020204" pitchFamily="34" charset="0"/>
                        </a:rPr>
                        <a:t>HUB KINKOLE</a:t>
                      </a:r>
                      <a:endParaRPr kumimoji="0" lang="en-GB" altLang="fr-FR" sz="1600" b="0" i="0" u="none" strike="noStrike" kern="1200" cap="none" normalizeH="0" baseline="0" dirty="0">
                        <a:ln>
                          <a:noFill/>
                        </a:ln>
                        <a:solidFill>
                          <a:srgbClr val="000000"/>
                        </a:solidFill>
                        <a:effectLst/>
                        <a:latin typeface="Arial Narrow" panose="020B0606020202030204" pitchFamily="34" charset="0"/>
                        <a:ea typeface="+mn-ea"/>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marL="182563" indent="-182563">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Absence de bons de livraison du carburant par ENGEN (09, 20 et 23 juin 2025)</a:t>
                      </a:r>
                      <a:r>
                        <a:rPr kumimoji="0" lang="fr-CD"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 ;</a:t>
                      </a:r>
                      <a:endParaRPr kumimoji="0" lang="en-GB"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Incohérences entre les approvisionnements, les consommations et les stocks des carburants restant du 01 janvier au 30 juin 2025. </a:t>
                      </a:r>
                      <a:endParaRPr kumimoji="0" lang="en-GB"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Mauvaise tenue de certains outils (bon livraison, bon de sortie, fiches de stock), des fiches non à jour, </a:t>
                      </a:r>
                      <a:endParaRPr kumimoji="0" lang="en-GB"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pPr>
                      <a:r>
                        <a:rPr kumimoji="0" lang="fr-CD" altLang="fr-FR"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Non-respect de principe PEPS dans les sorties des vaccins</a:t>
                      </a:r>
                      <a:r>
                        <a:rPr kumimoji="0" lang="fr-CD"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a:t>
                      </a:r>
                      <a:endParaRPr kumimoji="0" lang="en-GB" altLang="fr-FR"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txBody>
                  <a:tcPr marL="91450" marR="91450" marT="47719" marB="47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86237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98DF1-077D-BFAF-3C28-BF40812AB12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4A25F8E-8345-C5D2-B50C-20BFF9BB3211}"/>
              </a:ext>
            </a:extLst>
          </p:cNvPr>
          <p:cNvSpPr>
            <a:spLocks noGrp="1"/>
          </p:cNvSpPr>
          <p:nvPr>
            <p:ph type="title"/>
          </p:nvPr>
        </p:nvSpPr>
        <p:spPr>
          <a:xfrm>
            <a:off x="369726" y="265626"/>
            <a:ext cx="7874682" cy="457610"/>
          </a:xfrm>
        </p:spPr>
        <p:txBody>
          <a:bodyPr>
            <a:normAutofit fontScale="90000"/>
          </a:bodyPr>
          <a:lstStyle/>
          <a:p>
            <a:pPr algn="ctr">
              <a:defRPr/>
            </a:pPr>
            <a:r>
              <a:rPr lang="fr-FR" sz="3600" dirty="0">
                <a:latin typeface="Berlin Sans FB Demi" pitchFamily="34" charset="0"/>
              </a:rPr>
              <a:t>Activités sur la vaccination en 2025</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DD341ABD-9765-B40A-9DDE-805E8F925326}"/>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F82BFFB8-3BC1-654D-3F89-140718E56EA9}"/>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93253B23-30AD-7B43-0496-ADB316476F0E}"/>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14</a:t>
            </a:fld>
            <a:endParaRPr lang="fr-BE" altLang="fr-FR" dirty="0"/>
          </a:p>
        </p:txBody>
      </p:sp>
      <p:pic>
        <p:nvPicPr>
          <p:cNvPr id="7" name="Picture 2">
            <a:extLst>
              <a:ext uri="{FF2B5EF4-FFF2-40B4-BE49-F238E27FC236}">
                <a16:creationId xmlns:a16="http://schemas.microsoft.com/office/drawing/2014/main" id="{3261C085-03BE-E30C-3236-149D99FABD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368B8A64-3657-BC4A-35CC-2D1D2C966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9D358DF2-23A0-2AC9-22C3-3E6510CD529D}"/>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A998A024-64E0-F176-6235-58FE016162E4}"/>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E2169CBC-DD85-716E-2403-DA82B7D73C69}"/>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0A5355E4-A1F0-F3C9-6CA5-F301021DD401}"/>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FB2B4CEA-26EE-6133-24AD-8CEAF8E207F5}"/>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D1CCE6B9-9544-3243-6C3C-5B79FE065BFE}"/>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D5C36004-9BAB-860D-10FB-1028A94D1EE3}"/>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id="{49B43BBB-ED4E-24B9-88E6-D060B5401500}"/>
              </a:ext>
            </a:extLst>
          </p:cNvPr>
          <p:cNvGraphicFramePr>
            <a:graphicFrameLocks noGrp="1"/>
          </p:cNvGraphicFramePr>
          <p:nvPr>
            <p:extLst>
              <p:ext uri="{D42A27DB-BD31-4B8C-83A1-F6EECF244321}">
                <p14:modId xmlns:p14="http://schemas.microsoft.com/office/powerpoint/2010/main" val="763284063"/>
              </p:ext>
            </p:extLst>
          </p:nvPr>
        </p:nvGraphicFramePr>
        <p:xfrm>
          <a:off x="233548" y="907864"/>
          <a:ext cx="8676896" cy="5090508"/>
        </p:xfrm>
        <a:graphic>
          <a:graphicData uri="http://schemas.openxmlformats.org/drawingml/2006/table">
            <a:tbl>
              <a:tblPr/>
              <a:tblGrid>
                <a:gridCol w="210620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4410452">
                  <a:extLst>
                    <a:ext uri="{9D8B030D-6E8A-4147-A177-3AD203B41FA5}">
                      <a16:colId xmlns:a16="http://schemas.microsoft.com/office/drawing/2014/main" val="20002"/>
                    </a:ext>
                  </a:extLst>
                </a:gridCol>
              </a:tblGrid>
              <a:tr h="788848">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val="10000"/>
                  </a:ext>
                </a:extLst>
              </a:tr>
              <a:tr h="4252568">
                <a:tc>
                  <a:txBody>
                    <a:bodyPr/>
                    <a:lstStyle/>
                    <a:p>
                      <a:pPr marL="0" marR="0" lvl="0" indent="0" algn="just" rtl="0">
                        <a:spcBef>
                          <a:spcPts val="0"/>
                        </a:spcBef>
                        <a:spcAft>
                          <a:spcPts val="0"/>
                        </a:spcAft>
                        <a:buClr>
                          <a:schemeClr val="dk1"/>
                        </a:buClr>
                        <a:buSzPts val="1800"/>
                        <a:buFont typeface="Calibri"/>
                        <a:buNone/>
                      </a:pPr>
                      <a:r>
                        <a:rPr lang="fr-FR" sz="1600" dirty="0">
                          <a:latin typeface="Arial Narrow" panose="020B0606020202030204" pitchFamily="34" charset="0"/>
                        </a:rPr>
                        <a:t>3.</a:t>
                      </a:r>
                      <a:r>
                        <a:rPr lang="fr-FR" sz="1600" baseline="0" dirty="0">
                          <a:latin typeface="Arial Narrow" panose="020B0606020202030204" pitchFamily="34" charset="0"/>
                        </a:rPr>
                        <a:t> </a:t>
                      </a:r>
                      <a:r>
                        <a:rPr lang="fr-FR" sz="1600" dirty="0">
                          <a:solidFill>
                            <a:schemeClr val="tx1"/>
                          </a:solidFill>
                          <a:latin typeface="Arial Narrow" panose="020B0606020202030204" pitchFamily="34" charset="0"/>
                        </a:rPr>
                        <a:t>Mission d’</a:t>
                      </a:r>
                      <a:r>
                        <a:rPr lang="fr-FR" sz="1600" dirty="0" err="1">
                          <a:solidFill>
                            <a:schemeClr val="tx1"/>
                          </a:solidFill>
                          <a:latin typeface="Arial Narrow" panose="020B0606020202030204" pitchFamily="34" charset="0"/>
                        </a:rPr>
                        <a:t>iIC</a:t>
                      </a:r>
                      <a:r>
                        <a:rPr lang="fr-FR" sz="1600" dirty="0">
                          <a:solidFill>
                            <a:schemeClr val="tx1"/>
                          </a:solidFill>
                          <a:latin typeface="Arial Narrow" panose="020B0606020202030204" pitchFamily="34" charset="0"/>
                        </a:rPr>
                        <a:t> des activités de vaccination contre la fièvre jaune</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685800" rtl="0" eaLnBrk="1" fontAlgn="auto" latinLnBrk="0" hangingPunct="1">
                        <a:lnSpc>
                          <a:spcPct val="100000"/>
                        </a:lnSpc>
                        <a:spcBef>
                          <a:spcPts val="0"/>
                        </a:spcBef>
                        <a:spcAft>
                          <a:spcPts val="0"/>
                        </a:spcAft>
                        <a:buClr>
                          <a:schemeClr val="accent1">
                            <a:lumMod val="75000"/>
                          </a:schemeClr>
                        </a:buClr>
                        <a:buSzTx/>
                        <a:buFont typeface="Wingdings" panose="05000000000000000000" pitchFamily="2" charset="2"/>
                        <a:buNone/>
                        <a:tabLst/>
                        <a:defRPr/>
                      </a:pPr>
                      <a:r>
                        <a:rPr lang="fr-FR" sz="1600" dirty="0"/>
                        <a:t>LUALABA, HAUT-KATANGA, HAUT-LOMAMI et TANGANYIKA  (4DPS)</a:t>
                      </a:r>
                    </a:p>
                    <a:p>
                      <a:pPr marL="0" indent="0" fontAlgn="auto">
                        <a:spcAft>
                          <a:spcPts val="0"/>
                        </a:spcAft>
                        <a:buClr>
                          <a:schemeClr val="accent1">
                            <a:lumMod val="75000"/>
                          </a:schemeClr>
                        </a:buClr>
                        <a:buFont typeface="Wingdings" panose="05000000000000000000" pitchFamily="2" charset="2"/>
                        <a:buNone/>
                        <a:defRPr/>
                      </a:pPr>
                      <a:endParaRPr lang="fr-FR" sz="1600" dirty="0"/>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Livraison insuffisante en vaccin par rapport à la cible attendue </a:t>
                      </a:r>
                      <a:endParaRPr kumimoji="0" lang="en-GB"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Absence de fiches de stock des intrants ainsi que de l’inventaire actualisé </a:t>
                      </a:r>
                      <a:endParaRPr kumimoji="0" lang="en-GB"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Fonds non disponibles jusqu’à la fin de la campagne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rPr>
                        <a:t>Existence d’un lot de plus de 200 doses VAA sans diluants (antenne Kalemie)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rPr>
                        <a:t>Absence des fiches de relevés de T</a:t>
                      </a:r>
                      <a:r>
                        <a:rPr kumimoji="0" lang="fr-CD" sz="2000" b="0" i="0" u="none" strike="noStrike" kern="1200" cap="none" normalizeH="0" baseline="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rPr>
                        <a:t>° sur certains </a:t>
                      </a:r>
                      <a:r>
                        <a:rPr kumimoji="0" lang="fr-CD"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rPr>
                        <a:t>réfrigérateurs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CD" sz="20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rPr>
                        <a:t>Entreposage de certains intrants secs et réfrigérateurs aux vérandas du BCZS ou à même le sol dans les CS ;</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endParaRPr kumimoji="0" lang="en-GB" sz="1600" b="0" i="0" u="none" strike="noStrike" kern="1200" cap="none" normalizeH="0" baseline="0" dirty="0">
                        <a:ln>
                          <a:noFill/>
                        </a:ln>
                        <a:solidFill>
                          <a:srgbClr val="000000"/>
                        </a:solidFill>
                        <a:effectLst/>
                        <a:latin typeface="Arial Narrow" panose="020B0606020202030204" pitchFamily="34" charset="0"/>
                        <a:ea typeface="Cambria" panose="02040503050406030204" pitchFamily="18" charset="0"/>
                        <a:cs typeface="Calibri" panose="020F0502020204030204" pitchFamily="34" charset="0"/>
                        <a:sym typeface="Arial" panose="020B0604020202020204" pitchFamily="34" charset="0"/>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486675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326913-3968-8240-D225-C5A237ADE1F5}"/>
              </a:ext>
            </a:extLst>
          </p:cNvPr>
          <p:cNvSpPr>
            <a:spLocks noGrp="1"/>
          </p:cNvSpPr>
          <p:nvPr>
            <p:ph type="title"/>
          </p:nvPr>
        </p:nvSpPr>
        <p:spPr>
          <a:xfrm>
            <a:off x="628650" y="365127"/>
            <a:ext cx="7886700" cy="1099558"/>
          </a:xfrm>
        </p:spPr>
        <p:txBody>
          <a:bodyPr>
            <a:noAutofit/>
          </a:bodyPr>
          <a:lstStyle/>
          <a:p>
            <a:r>
              <a:rPr lang="fr-FR" sz="2800" dirty="0"/>
              <a:t>A gauche traitement des déchets de la campagne FJ 2 semaine après au CS ZS KABALO, à droite 2 réfrigérateurs installé à la véranda du BCZS KABALO</a:t>
            </a:r>
            <a:endParaRPr lang="fr-CD" sz="2800" dirty="0"/>
          </a:p>
        </p:txBody>
      </p:sp>
      <p:pic>
        <p:nvPicPr>
          <p:cNvPr id="8" name="Espace réservé du contenu 7">
            <a:extLst>
              <a:ext uri="{FF2B5EF4-FFF2-40B4-BE49-F238E27FC236}">
                <a16:creationId xmlns:a16="http://schemas.microsoft.com/office/drawing/2014/main" id="{410DB19B-8B54-582D-0B40-824FC6301376}"/>
              </a:ext>
            </a:extLst>
          </p:cNvPr>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628650" y="1696881"/>
            <a:ext cx="3263503" cy="4351338"/>
          </a:xfrm>
        </p:spPr>
      </p:pic>
      <p:sp>
        <p:nvSpPr>
          <p:cNvPr id="4" name="Espace réservé de la date 3">
            <a:extLst>
              <a:ext uri="{FF2B5EF4-FFF2-40B4-BE49-F238E27FC236}">
                <a16:creationId xmlns:a16="http://schemas.microsoft.com/office/drawing/2014/main" id="{93782D8D-9881-11C8-1E47-B29A3CAEB399}"/>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21DA9164-7C2F-7EE3-CDB1-16E23D74BFF1}"/>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86148697-1406-4F02-555E-2EBD70D5467C}"/>
              </a:ext>
            </a:extLst>
          </p:cNvPr>
          <p:cNvSpPr>
            <a:spLocks noGrp="1"/>
          </p:cNvSpPr>
          <p:nvPr>
            <p:ph type="sldNum" sz="quarter" idx="12"/>
          </p:nvPr>
        </p:nvSpPr>
        <p:spPr/>
        <p:txBody>
          <a:bodyPr/>
          <a:lstStyle/>
          <a:p>
            <a:fld id="{62F8AC48-0110-4E03-96A9-424428372C43}" type="slidenum">
              <a:rPr lang="fr-BE" altLang="fr-FR" smtClean="0"/>
              <a:pPr/>
              <a:t>15</a:t>
            </a:fld>
            <a:endParaRPr lang="fr-BE" altLang="fr-FR"/>
          </a:p>
        </p:txBody>
      </p:sp>
      <p:pic>
        <p:nvPicPr>
          <p:cNvPr id="10" name="Image 9">
            <a:extLst>
              <a:ext uri="{FF2B5EF4-FFF2-40B4-BE49-F238E27FC236}">
                <a16:creationId xmlns:a16="http://schemas.microsoft.com/office/drawing/2014/main" id="{BE9555F5-8741-256B-3CE8-E0BCA20915F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127426" y="1696881"/>
            <a:ext cx="4387924" cy="4351338"/>
          </a:xfrm>
          <a:prstGeom prst="rect">
            <a:avLst/>
          </a:prstGeom>
        </p:spPr>
      </p:pic>
    </p:spTree>
    <p:extLst>
      <p:ext uri="{BB962C8B-B14F-4D97-AF65-F5344CB8AC3E}">
        <p14:creationId xmlns:p14="http://schemas.microsoft.com/office/powerpoint/2010/main" val="408887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3D2D8-CC1C-CDCD-C3AD-A0D6DF2C7B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8671759-B3D7-B062-D377-C8809268C5D6}"/>
              </a:ext>
            </a:extLst>
          </p:cNvPr>
          <p:cNvSpPr>
            <a:spLocks noGrp="1"/>
          </p:cNvSpPr>
          <p:nvPr>
            <p:ph type="title"/>
          </p:nvPr>
        </p:nvSpPr>
        <p:spPr>
          <a:xfrm>
            <a:off x="369726" y="265626"/>
            <a:ext cx="7874682" cy="457610"/>
          </a:xfrm>
        </p:spPr>
        <p:txBody>
          <a:bodyPr>
            <a:normAutofit fontScale="90000"/>
          </a:bodyPr>
          <a:lstStyle/>
          <a:p>
            <a:pPr algn="ctr">
              <a:defRPr/>
            </a:pPr>
            <a:r>
              <a:rPr lang="fr-FR" sz="3600" dirty="0">
                <a:latin typeface="Berlin Sans FB Demi" pitchFamily="34" charset="0"/>
              </a:rPr>
              <a:t>Activités sur la vaccination en 2025</a:t>
            </a:r>
            <a:endParaRPr lang="fr-BE" sz="4000" dirty="0">
              <a:latin typeface="Berlin Sans FB Demi" pitchFamily="34" charset="0"/>
            </a:endParaRPr>
          </a:p>
        </p:txBody>
      </p:sp>
      <p:sp>
        <p:nvSpPr>
          <p:cNvPr id="4" name="Espace réservé de la date 3">
            <a:extLst>
              <a:ext uri="{FF2B5EF4-FFF2-40B4-BE49-F238E27FC236}">
                <a16:creationId xmlns:a16="http://schemas.microsoft.com/office/drawing/2014/main" id="{50631D7A-43F8-10E6-F492-2311D0A7F08B}"/>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9A3388B0-E8F2-2CEC-B30B-AFE420DCCFB4}"/>
              </a:ext>
            </a:extLst>
          </p:cNvPr>
          <p:cNvSpPr>
            <a:spLocks noGrp="1"/>
          </p:cNvSpPr>
          <p:nvPr>
            <p:ph type="ftr" sz="quarter" idx="11"/>
          </p:nvPr>
        </p:nvSpPr>
        <p:spPr>
          <a:xfrm>
            <a:off x="3131840" y="6517738"/>
            <a:ext cx="3559274" cy="501649"/>
          </a:xfrm>
        </p:spPr>
        <p:txBody>
          <a:bodyPr/>
          <a:lstStyle/>
          <a:p>
            <a:pPr>
              <a:defRPr/>
            </a:pPr>
            <a:r>
              <a:rPr lang="fr-FR" dirty="0" err="1"/>
              <a:t>Revue_IGS_nov</a:t>
            </a:r>
            <a:r>
              <a:rPr lang="fr-FR" dirty="0"/>
              <a:t> 2024</a:t>
            </a:r>
          </a:p>
        </p:txBody>
      </p:sp>
      <p:sp>
        <p:nvSpPr>
          <p:cNvPr id="6" name="Espace réservé du numéro de diapositive 5">
            <a:extLst>
              <a:ext uri="{FF2B5EF4-FFF2-40B4-BE49-F238E27FC236}">
                <a16:creationId xmlns:a16="http://schemas.microsoft.com/office/drawing/2014/main" id="{D9E515C7-9010-D4C7-D1E5-B68DC872897F}"/>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16</a:t>
            </a:fld>
            <a:endParaRPr lang="fr-BE" altLang="fr-FR" dirty="0"/>
          </a:p>
        </p:txBody>
      </p:sp>
      <p:pic>
        <p:nvPicPr>
          <p:cNvPr id="7" name="Picture 2">
            <a:extLst>
              <a:ext uri="{FF2B5EF4-FFF2-40B4-BE49-F238E27FC236}">
                <a16:creationId xmlns:a16="http://schemas.microsoft.com/office/drawing/2014/main" id="{2C55D6FF-660B-0337-E627-8BF5DEC7A9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B41F567E-6662-8302-4EC4-6D97AB6BF0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0083" y="213748"/>
            <a:ext cx="539552" cy="594134"/>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4673A4C2-B142-B749-A0FF-89E691A28A55}"/>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1A073FD6-0F63-3AF1-7ED7-ECAC734E3CF4}"/>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C438AB10-A796-7403-8BA5-35B024B24CAA}"/>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2D2D4899-D9E2-9616-A3D3-5CF2AAD664F4}"/>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C22EA44A-2319-B038-3592-2FCAB4CBE37F}"/>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3" name="Espace réservé du contenu 2">
            <a:extLst>
              <a:ext uri="{FF2B5EF4-FFF2-40B4-BE49-F238E27FC236}">
                <a16:creationId xmlns:a16="http://schemas.microsoft.com/office/drawing/2014/main" id="{0F8D8295-D229-829A-32A0-9819AA6CC56B}"/>
              </a:ext>
            </a:extLst>
          </p:cNvPr>
          <p:cNvSpPr txBox="1">
            <a:spLocks/>
          </p:cNvSpPr>
          <p:nvPr/>
        </p:nvSpPr>
        <p:spPr>
          <a:xfrm>
            <a:off x="467539" y="4994212"/>
            <a:ext cx="7272813" cy="135542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7" name="Espace réservé du contenu 2">
            <a:extLst>
              <a:ext uri="{FF2B5EF4-FFF2-40B4-BE49-F238E27FC236}">
                <a16:creationId xmlns:a16="http://schemas.microsoft.com/office/drawing/2014/main" id="{C5BDA6E6-A719-7483-2E7F-315FF60FD89B}"/>
              </a:ext>
            </a:extLst>
          </p:cNvPr>
          <p:cNvSpPr txBox="1">
            <a:spLocks/>
          </p:cNvSpPr>
          <p:nvPr/>
        </p:nvSpPr>
        <p:spPr>
          <a:xfrm>
            <a:off x="467538" y="749704"/>
            <a:ext cx="8208917" cy="5664084"/>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graphicFrame>
        <p:nvGraphicFramePr>
          <p:cNvPr id="13" name="Google Shape;165;p4">
            <a:extLst>
              <a:ext uri="{FF2B5EF4-FFF2-40B4-BE49-F238E27FC236}">
                <a16:creationId xmlns:a16="http://schemas.microsoft.com/office/drawing/2014/main" id="{0063C4EA-4122-3016-A181-399DD63D9F76}"/>
              </a:ext>
            </a:extLst>
          </p:cNvPr>
          <p:cNvGraphicFramePr>
            <a:graphicFrameLocks noGrp="1"/>
          </p:cNvGraphicFramePr>
          <p:nvPr>
            <p:extLst>
              <p:ext uri="{D42A27DB-BD31-4B8C-83A1-F6EECF244321}">
                <p14:modId xmlns:p14="http://schemas.microsoft.com/office/powerpoint/2010/main" val="3740281489"/>
              </p:ext>
            </p:extLst>
          </p:nvPr>
        </p:nvGraphicFramePr>
        <p:xfrm>
          <a:off x="233548" y="1207451"/>
          <a:ext cx="8676896" cy="4708656"/>
        </p:xfrm>
        <a:graphic>
          <a:graphicData uri="http://schemas.openxmlformats.org/drawingml/2006/table">
            <a:tbl>
              <a:tblPr/>
              <a:tblGrid>
                <a:gridCol w="2106204">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4410452">
                  <a:extLst>
                    <a:ext uri="{9D8B030D-6E8A-4147-A177-3AD203B41FA5}">
                      <a16:colId xmlns:a16="http://schemas.microsoft.com/office/drawing/2014/main" val="20002"/>
                    </a:ext>
                  </a:extLst>
                </a:gridCol>
              </a:tblGrid>
              <a:tr h="518081">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ACTIVITES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CIBLES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tc>
                  <a:txBody>
                    <a:bodyPr/>
                    <a:lstStyle>
                      <a:lvl1pPr>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2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
                          <a:srgbClr val="000000"/>
                        </a:buClr>
                        <a:buSzPts val="1800"/>
                        <a:buFont typeface="Calibri" panose="020F0502020204030204" pitchFamily="34" charset="0"/>
                        <a:buNone/>
                        <a:tabLst/>
                      </a:pPr>
                      <a:r>
                        <a:rPr kumimoji="0" lang="en-US" altLang="fr-FR" sz="1500" b="1" i="0" u="none" strike="noStrike" cap="none" normalizeH="0" baseline="0" dirty="0">
                          <a:ln>
                            <a:noFill/>
                          </a:ln>
                          <a:solidFill>
                            <a:srgbClr val="FFFFFF"/>
                          </a:solidFill>
                          <a:effectLst/>
                          <a:latin typeface="Mulish" charset="0"/>
                          <a:cs typeface="Mulish" charset="0"/>
                          <a:sym typeface="Mulish" charset="0"/>
                        </a:rPr>
                        <a:t>IRREGULARITES PHARES COMMUNES</a:t>
                      </a:r>
                      <a:endParaRPr kumimoji="0" lang="fr-FR" altLang="fr-FR" sz="1500" b="1" i="0" u="none" strike="noStrike" cap="none" normalizeH="0" baseline="0" dirty="0">
                        <a:ln>
                          <a:noFill/>
                        </a:ln>
                        <a:solidFill>
                          <a:srgbClr val="FFFFFF"/>
                        </a:solidFill>
                        <a:effectLst/>
                        <a:latin typeface="Mulish" charset="0"/>
                        <a:cs typeface="Mulish" charset="0"/>
                        <a:sym typeface="Mulish" charset="0"/>
                      </a:endParaRPr>
                    </a:p>
                  </a:txBody>
                  <a:tcPr marL="91450" marR="91450" marT="47719" marB="47719" anchor="ctr" horzOverflow="overflow">
                    <a:lnL w="12700" cap="flat" cmpd="sng" algn="ctr">
                      <a:solidFill>
                        <a:schemeClr val="bg1"/>
                      </a:solidFill>
                      <a:prstDash val="solid"/>
                      <a:round/>
                      <a:headEnd type="none" w="sm" len="sm"/>
                      <a:tailEnd type="none" w="sm" len="sm"/>
                    </a:lnL>
                    <a:lnR w="12700" cap="flat" cmpd="sng" algn="ctr">
                      <a:solidFill>
                        <a:schemeClr val="bg1"/>
                      </a:solidFill>
                      <a:prstDash val="solid"/>
                      <a:round/>
                      <a:headEnd type="none" w="sm" len="sm"/>
                      <a:tailEnd type="none" w="sm" len="sm"/>
                    </a:lnR>
                    <a:lnT w="12700" cap="flat" cmpd="sng" algn="ctr">
                      <a:solidFill>
                        <a:schemeClr val="bg1"/>
                      </a:solidFill>
                      <a:prstDash val="solid"/>
                      <a:round/>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solidFill>
                      <a:srgbClr val="1F3CA5"/>
                    </a:solidFill>
                  </a:tcPr>
                </a:tc>
                <a:extLst>
                  <a:ext uri="{0D108BD9-81ED-4DB2-BD59-A6C34878D82A}">
                    <a16:rowId xmlns:a16="http://schemas.microsoft.com/office/drawing/2014/main" val="10000"/>
                  </a:ext>
                </a:extLst>
              </a:tr>
              <a:tr h="1351955">
                <a:tc>
                  <a:txBody>
                    <a:bodyPr/>
                    <a:lstStyle/>
                    <a:p>
                      <a:pPr marL="0" marR="0" lvl="0" indent="0" algn="just" rtl="0">
                        <a:spcBef>
                          <a:spcPts val="0"/>
                        </a:spcBef>
                        <a:spcAft>
                          <a:spcPts val="0"/>
                        </a:spcAft>
                        <a:buClr>
                          <a:schemeClr val="dk1"/>
                        </a:buClr>
                        <a:buSzPts val="1800"/>
                        <a:buFont typeface="Calibri"/>
                        <a:buNone/>
                      </a:pPr>
                      <a:r>
                        <a:rPr lang="fr-FR" sz="1600" dirty="0"/>
                        <a:t>4.</a:t>
                      </a:r>
                      <a:r>
                        <a:rPr lang="fr-FR" sz="1600" kern="1200" dirty="0">
                          <a:solidFill>
                            <a:schemeClr val="tx1"/>
                          </a:solidFill>
                          <a:latin typeface="Arial Narrow" panose="020B0606020202030204" pitchFamily="34" charset="0"/>
                          <a:ea typeface="+mn-ea"/>
                          <a:cs typeface="+mn-cs"/>
                        </a:rPr>
                        <a:t>Mission d’IC des activités de vaccination contre la rougeole et la rubéole</a:t>
                      </a:r>
                      <a:endParaRPr sz="1600" kern="1200" dirty="0">
                        <a:solidFill>
                          <a:schemeClr val="tx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just" defTabSz="685800" rtl="0" eaLnBrk="1" fontAlgn="auto" latinLnBrk="0" hangingPunct="1">
                        <a:lnSpc>
                          <a:spcPct val="100000"/>
                        </a:lnSpc>
                        <a:spcBef>
                          <a:spcPts val="0"/>
                        </a:spcBef>
                        <a:spcAft>
                          <a:spcPts val="0"/>
                        </a:spcAft>
                        <a:buClr>
                          <a:schemeClr val="accent1">
                            <a:lumMod val="75000"/>
                          </a:schemeClr>
                        </a:buClr>
                        <a:buSzTx/>
                        <a:buFont typeface="Wingdings" panose="05000000000000000000" pitchFamily="2" charset="2"/>
                        <a:buNone/>
                        <a:tabLst/>
                        <a:defRPr/>
                      </a:pPr>
                      <a:r>
                        <a:rPr lang="fr-CD" sz="1600" dirty="0"/>
                        <a:t>LUALABA, HAUT-KATANGA, HAUT-LOMAMI, ITURI, BAS-UELE, HAUT-UELE et TANGANYIKA (7DPS)</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rtl="0">
                        <a:spcBef>
                          <a:spcPts val="0"/>
                        </a:spcBef>
                        <a:spcAft>
                          <a:spcPts val="0"/>
                        </a:spcAft>
                        <a:buClr>
                          <a:schemeClr val="dk1"/>
                        </a:buClr>
                        <a:buSzPts val="1800"/>
                        <a:buFont typeface="Calibri"/>
                        <a:buNone/>
                      </a:pPr>
                      <a:endParaRPr lang="en-US" sz="1600" kern="1200" dirty="0">
                        <a:solidFill>
                          <a:schemeClr val="accent1"/>
                        </a:solidFill>
                        <a:latin typeface="Arial Narrow" panose="020B0606020202030204" pitchFamily="34" charset="0"/>
                        <a:ea typeface="+mn-ea"/>
                        <a:cs typeface="+mn-cs"/>
                        <a:sym typeface="Mulish"/>
                      </a:endParaRPr>
                    </a:p>
                    <a:p>
                      <a:pPr marL="0" marR="0" lvl="0" indent="0" algn="l" rtl="0">
                        <a:spcBef>
                          <a:spcPts val="0"/>
                        </a:spcBef>
                        <a:spcAft>
                          <a:spcPts val="0"/>
                        </a:spcAft>
                        <a:buClr>
                          <a:schemeClr val="dk1"/>
                        </a:buClr>
                        <a:buSzPts val="1800"/>
                        <a:buFont typeface="Calibri"/>
                        <a:buNone/>
                      </a:pPr>
                      <a:endParaRPr lang="en-US" sz="1600" kern="1200" dirty="0">
                        <a:solidFill>
                          <a:schemeClr val="accent1"/>
                        </a:solidFill>
                        <a:latin typeface="Arial Narrow" panose="020B0606020202030204" pitchFamily="34" charset="0"/>
                        <a:ea typeface="+mn-ea"/>
                        <a:cs typeface="+mn-cs"/>
                        <a:sym typeface="Mulish"/>
                      </a:endParaRPr>
                    </a:p>
                    <a:p>
                      <a:pPr marL="0" marR="0" lvl="0" indent="0" algn="ctr" rtl="0">
                        <a:spcBef>
                          <a:spcPts val="0"/>
                        </a:spcBef>
                        <a:spcAft>
                          <a:spcPts val="0"/>
                        </a:spcAft>
                        <a:buClr>
                          <a:schemeClr val="dk1"/>
                        </a:buClr>
                        <a:buSzPts val="1800"/>
                        <a:buFont typeface="Calibri"/>
                        <a:buNone/>
                      </a:pPr>
                      <a:r>
                        <a:rPr lang="en-US" sz="1600" kern="1200" dirty="0">
                          <a:solidFill>
                            <a:schemeClr val="accent1"/>
                          </a:solidFill>
                          <a:latin typeface="Arial Narrow" panose="020B0606020202030204" pitchFamily="34" charset="0"/>
                          <a:ea typeface="+mn-ea"/>
                          <a:cs typeface="+mn-cs"/>
                          <a:sym typeface="Mulish"/>
                        </a:rPr>
                        <a:t>Mission en </a:t>
                      </a:r>
                      <a:r>
                        <a:rPr lang="en-US" sz="1600" kern="1200" dirty="0" err="1">
                          <a:solidFill>
                            <a:schemeClr val="accent1"/>
                          </a:solidFill>
                          <a:latin typeface="Arial Narrow" panose="020B0606020202030204" pitchFamily="34" charset="0"/>
                          <a:ea typeface="+mn-ea"/>
                          <a:cs typeface="+mn-cs"/>
                          <a:sym typeface="Mulish"/>
                        </a:rPr>
                        <a:t>cours</a:t>
                      </a:r>
                      <a:endParaRPr sz="1600" kern="1200" dirty="0">
                        <a:solidFill>
                          <a:schemeClr val="accent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351955">
                <a:tc>
                  <a:txBody>
                    <a:bodyPr/>
                    <a:lstStyle/>
                    <a:p>
                      <a:r>
                        <a:rPr lang="fr-FR" sz="1600" kern="1200" dirty="0">
                          <a:solidFill>
                            <a:schemeClr val="tx1"/>
                          </a:solidFill>
                          <a:latin typeface="Arial Narrow" panose="020B0606020202030204" pitchFamily="34" charset="0"/>
                          <a:ea typeface="+mn-ea"/>
                          <a:cs typeface="+mn-cs"/>
                        </a:rPr>
                        <a:t>5. Mission de recouvrement des pièces</a:t>
                      </a:r>
                    </a:p>
                    <a:p>
                      <a:r>
                        <a:rPr lang="fr-FR" sz="1600" kern="1200" dirty="0">
                          <a:solidFill>
                            <a:schemeClr val="tx1"/>
                          </a:solidFill>
                          <a:latin typeface="Arial Narrow" panose="020B0606020202030204" pitchFamily="34" charset="0"/>
                          <a:ea typeface="+mn-ea"/>
                          <a:cs typeface="+mn-cs"/>
                        </a:rPr>
                        <a:t>justificatives </a:t>
                      </a:r>
                      <a:r>
                        <a:rPr lang="fr-FR" sz="1600" kern="1200" dirty="0" err="1">
                          <a:solidFill>
                            <a:schemeClr val="tx1"/>
                          </a:solidFill>
                          <a:latin typeface="Arial Narrow" panose="020B0606020202030204" pitchFamily="34" charset="0"/>
                          <a:ea typeface="+mn-ea"/>
                          <a:cs typeface="+mn-cs"/>
                        </a:rPr>
                        <a:t>agées_GAVI</a:t>
                      </a:r>
                      <a:r>
                        <a:rPr lang="fr-FR" sz="1600" kern="1200" dirty="0">
                          <a:solidFill>
                            <a:schemeClr val="tx1"/>
                          </a:solidFill>
                          <a:latin typeface="Arial Narrow" panose="020B0606020202030204" pitchFamily="34" charset="0"/>
                          <a:ea typeface="+mn-ea"/>
                          <a:cs typeface="+mn-cs"/>
                        </a:rPr>
                        <a:t> 2023-2024 auprès des entités de mise en œuvre du Ministère de la Santé Publique, Hygiène. et  Prévoyance Sociale</a:t>
                      </a:r>
                      <a:endParaRPr sz="1600" kern="1200" dirty="0">
                        <a:solidFill>
                          <a:schemeClr val="tx1"/>
                        </a:solidFill>
                        <a:latin typeface="Arial Narrow" panose="020B0606020202030204" pitchFamily="34" charset="0"/>
                        <a:ea typeface="+mn-ea"/>
                        <a:cs typeface="+mn-cs"/>
                        <a:sym typeface="Mulish"/>
                      </a:endParaRP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indent="0" fontAlgn="auto">
                        <a:spcAft>
                          <a:spcPts val="0"/>
                        </a:spcAft>
                        <a:buClr>
                          <a:schemeClr val="accent1">
                            <a:lumMod val="75000"/>
                          </a:schemeClr>
                        </a:buClr>
                        <a:buFont typeface="Wingdings" panose="05000000000000000000" pitchFamily="2" charset="2"/>
                        <a:buNone/>
                        <a:defRPr/>
                      </a:pPr>
                      <a:r>
                        <a:rPr lang="fr-CD" sz="1600" dirty="0"/>
                        <a:t>19 DPS et 6 Services du niveau Central</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rPr>
                        <a:t>Pièces justificatives incomplètes (absence des états de besoin, TDR, OM, ,rapports de mission de maintenance (Cas de la maintenance de la chaine de froid)</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rPr>
                        <a:t>Paiement sans preuve de participation aux réunions (CPC)</a:t>
                      </a:r>
                    </a:p>
                    <a:p>
                      <a:pPr marL="285750" marR="0" lvl="0" indent="-285750" algn="just" defTabSz="914400" rtl="0" eaLnBrk="1" fontAlgn="base" latinLnBrk="0" hangingPunct="1">
                        <a:lnSpc>
                          <a:spcPct val="100000"/>
                        </a:lnSpc>
                        <a:spcBef>
                          <a:spcPct val="0"/>
                        </a:spcBef>
                        <a:spcAft>
                          <a:spcPct val="0"/>
                        </a:spcAft>
                        <a:buClr>
                          <a:srgbClr val="2E75B6"/>
                        </a:buClr>
                        <a:buSzTx/>
                        <a:buFont typeface="Arial" panose="020B0604020202020204" pitchFamily="34" charset="0"/>
                        <a:buChar char="•"/>
                        <a:tabLst/>
                        <a:defRPr/>
                      </a:pPr>
                      <a:r>
                        <a:rPr kumimoji="0" lang="fr-FR" sz="2000" b="0" i="0" u="none" strike="noStrike" kern="1200" cap="none" normalizeH="0" baseline="0" dirty="0">
                          <a:ln>
                            <a:noFill/>
                          </a:ln>
                          <a:solidFill>
                            <a:srgbClr val="FF0000"/>
                          </a:solidFill>
                          <a:effectLst/>
                          <a:latin typeface="Arial Narrow" panose="020B0606020202030204" pitchFamily="34" charset="0"/>
                          <a:ea typeface="Cambria" panose="02040503050406030204" pitchFamily="18" charset="0"/>
                          <a:cs typeface="Calibri" panose="020F0502020204030204" pitchFamily="34" charset="0"/>
                        </a:rPr>
                        <a:t>Non-respect de la fiche technique sur la répartition des fonds des activités (Cas de la collation du personnel PEV)</a:t>
                      </a:r>
                    </a:p>
                  </a:txBody>
                  <a:tcPr marL="91443" marR="91443" marT="47710" marB="4771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12950945"/>
                  </a:ext>
                </a:extLst>
              </a:tr>
            </a:tbl>
          </a:graphicData>
        </a:graphic>
      </p:graphicFrame>
    </p:spTree>
    <p:extLst>
      <p:ext uri="{BB962C8B-B14F-4D97-AF65-F5344CB8AC3E}">
        <p14:creationId xmlns:p14="http://schemas.microsoft.com/office/powerpoint/2010/main" val="2666596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5DD2FB-BDE2-9E42-139D-F4D22E033605}"/>
              </a:ext>
            </a:extLst>
          </p:cNvPr>
          <p:cNvSpPr>
            <a:spLocks noGrp="1"/>
          </p:cNvSpPr>
          <p:nvPr>
            <p:ph type="title"/>
          </p:nvPr>
        </p:nvSpPr>
        <p:spPr>
          <a:xfrm>
            <a:off x="628650" y="365127"/>
            <a:ext cx="6463630" cy="687610"/>
          </a:xfrm>
        </p:spPr>
        <p:txBody>
          <a:bodyPr/>
          <a:lstStyle/>
          <a:p>
            <a:pPr algn="ctr"/>
            <a:r>
              <a:rPr lang="fr-CD" sz="3200" dirty="0">
                <a:latin typeface="Berlin Sans FB Demi" pitchFamily="34" charset="0"/>
              </a:rPr>
              <a:t>Conclusion</a:t>
            </a:r>
            <a:endParaRPr lang="fr-FR" dirty="0"/>
          </a:p>
        </p:txBody>
      </p:sp>
      <p:sp>
        <p:nvSpPr>
          <p:cNvPr id="3" name="Espace réservé du contenu 2">
            <a:extLst>
              <a:ext uri="{FF2B5EF4-FFF2-40B4-BE49-F238E27FC236}">
                <a16:creationId xmlns:a16="http://schemas.microsoft.com/office/drawing/2014/main" id="{E939EC1A-CFBA-49E0-0C62-CDDAF9BBAE4B}"/>
              </a:ext>
            </a:extLst>
          </p:cNvPr>
          <p:cNvSpPr>
            <a:spLocks noGrp="1"/>
          </p:cNvSpPr>
          <p:nvPr>
            <p:ph idx="1"/>
          </p:nvPr>
        </p:nvSpPr>
        <p:spPr>
          <a:xfrm>
            <a:off x="628650" y="1196752"/>
            <a:ext cx="7886700" cy="4980211"/>
          </a:xfrm>
        </p:spPr>
        <p:txBody>
          <a:bodyPr/>
          <a:lstStyle/>
          <a:p>
            <a:pPr marL="427038" indent="-342900" algn="just"/>
            <a:endParaRPr lang="fr-FR" sz="2700" dirty="0"/>
          </a:p>
          <a:p>
            <a:pPr marL="427038" indent="-342900" algn="just"/>
            <a:r>
              <a:rPr lang="fr-FR" sz="2700" dirty="0"/>
              <a:t>La mission de  la fonctionnalité a montré que : </a:t>
            </a:r>
          </a:p>
          <a:p>
            <a:pPr marL="769938" lvl="2" indent="-342900" algn="just"/>
            <a:r>
              <a:rPr lang="fr-FR" sz="2400" dirty="0">
                <a:solidFill>
                  <a:srgbClr val="FF0000"/>
                </a:solidFill>
              </a:rPr>
              <a:t>La fonctionnalité </a:t>
            </a:r>
            <a:r>
              <a:rPr lang="fr-FR" sz="2400" dirty="0"/>
              <a:t>des différentes structures est globalement </a:t>
            </a:r>
            <a:r>
              <a:rPr lang="fr-FR" sz="2400" dirty="0">
                <a:solidFill>
                  <a:srgbClr val="FF0000"/>
                </a:solidFill>
              </a:rPr>
              <a:t>insuffisante et inadéquate</a:t>
            </a:r>
            <a:r>
              <a:rPr lang="fr-FR" sz="2400" dirty="0"/>
              <a:t>. </a:t>
            </a:r>
          </a:p>
          <a:p>
            <a:pPr marL="769938" lvl="2" indent="-342900" algn="just"/>
            <a:r>
              <a:rPr lang="fr-FR" sz="2400" dirty="0">
                <a:solidFill>
                  <a:srgbClr val="FF0000"/>
                </a:solidFill>
              </a:rPr>
              <a:t>Des incohérence entre les données collectées par les missionnaires, enregistrés et encodées</a:t>
            </a:r>
            <a:r>
              <a:rPr lang="fr-FR" sz="2400" dirty="0"/>
              <a:t> ; Cette discordance met en doute la fiabilité des données rapportées</a:t>
            </a:r>
          </a:p>
          <a:p>
            <a:pPr marL="444500" indent="-360363" algn="just"/>
            <a:r>
              <a:rPr lang="fr-FR" sz="2700" dirty="0"/>
              <a:t>Pour la campagne contre la fièvre jaune : </a:t>
            </a:r>
          </a:p>
          <a:p>
            <a:pPr marL="769938" lvl="2" indent="-342900" algn="just"/>
            <a:r>
              <a:rPr lang="fr-FR" sz="2400" dirty="0"/>
              <a:t>Activité étant préfinancé, le taux de satisfaction en vaccins étant faible donc l’objectif de la campagne </a:t>
            </a:r>
            <a:r>
              <a:rPr lang="fr-FR" sz="2400" dirty="0" err="1"/>
              <a:t>risua</a:t>
            </a:r>
            <a:r>
              <a:rPr lang="fr-FR" sz="2400" dirty="0"/>
              <a:t> de ne pas être atteint en rapport avec la couverture vaccinale</a:t>
            </a:r>
          </a:p>
          <a:p>
            <a:endParaRPr lang="fr-FR" dirty="0"/>
          </a:p>
        </p:txBody>
      </p:sp>
      <p:sp>
        <p:nvSpPr>
          <p:cNvPr id="4" name="Espace réservé de la date 3">
            <a:extLst>
              <a:ext uri="{FF2B5EF4-FFF2-40B4-BE49-F238E27FC236}">
                <a16:creationId xmlns:a16="http://schemas.microsoft.com/office/drawing/2014/main" id="{BA9BDABF-5239-4645-28A1-FEE51C2FC34B}"/>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30877B10-9459-D2F9-0C2D-567030CD5222}"/>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00DF1691-5558-D6BD-0A26-1BBB23E657FC}"/>
              </a:ext>
            </a:extLst>
          </p:cNvPr>
          <p:cNvSpPr>
            <a:spLocks noGrp="1"/>
          </p:cNvSpPr>
          <p:nvPr>
            <p:ph type="sldNum" sz="quarter" idx="12"/>
          </p:nvPr>
        </p:nvSpPr>
        <p:spPr/>
        <p:txBody>
          <a:bodyPr/>
          <a:lstStyle/>
          <a:p>
            <a:fld id="{62F8AC48-0110-4E03-96A9-424428372C43}" type="slidenum">
              <a:rPr lang="fr-BE" altLang="fr-FR" smtClean="0"/>
              <a:pPr/>
              <a:t>17</a:t>
            </a:fld>
            <a:endParaRPr lang="fr-BE" altLang="fr-FR"/>
          </a:p>
        </p:txBody>
      </p:sp>
      <p:pic>
        <p:nvPicPr>
          <p:cNvPr id="7" name="Image 4" descr="Description: Description: Description: drapeau-anim012">
            <a:extLst>
              <a:ext uri="{FF2B5EF4-FFF2-40B4-BE49-F238E27FC236}">
                <a16:creationId xmlns:a16="http://schemas.microsoft.com/office/drawing/2014/main" id="{BF616288-C06B-78AD-F67B-469378E9E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5798" y="264866"/>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968371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514E-26A0-C6C9-674C-B08FA87AF4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CFDB1E5-ED86-708A-C577-5824282E95BC}"/>
              </a:ext>
            </a:extLst>
          </p:cNvPr>
          <p:cNvSpPr>
            <a:spLocks noGrp="1"/>
          </p:cNvSpPr>
          <p:nvPr>
            <p:ph type="title"/>
          </p:nvPr>
        </p:nvSpPr>
        <p:spPr>
          <a:xfrm>
            <a:off x="628650" y="365127"/>
            <a:ext cx="6463630" cy="687610"/>
          </a:xfrm>
        </p:spPr>
        <p:txBody>
          <a:bodyPr/>
          <a:lstStyle/>
          <a:p>
            <a:pPr algn="ctr"/>
            <a:r>
              <a:rPr lang="fr-CD" sz="3200" dirty="0">
                <a:latin typeface="Berlin Sans FB Demi" pitchFamily="34" charset="0"/>
              </a:rPr>
              <a:t>Conclusion</a:t>
            </a:r>
            <a:endParaRPr lang="fr-FR" dirty="0"/>
          </a:p>
        </p:txBody>
      </p:sp>
      <p:sp>
        <p:nvSpPr>
          <p:cNvPr id="3" name="Espace réservé du contenu 2">
            <a:extLst>
              <a:ext uri="{FF2B5EF4-FFF2-40B4-BE49-F238E27FC236}">
                <a16:creationId xmlns:a16="http://schemas.microsoft.com/office/drawing/2014/main" id="{959D0D58-32EF-ADD1-15F2-2A79826B5CC7}"/>
              </a:ext>
            </a:extLst>
          </p:cNvPr>
          <p:cNvSpPr>
            <a:spLocks noGrp="1"/>
          </p:cNvSpPr>
          <p:nvPr>
            <p:ph idx="1"/>
          </p:nvPr>
        </p:nvSpPr>
        <p:spPr>
          <a:xfrm>
            <a:off x="628650" y="1196752"/>
            <a:ext cx="7886700" cy="4980211"/>
          </a:xfrm>
        </p:spPr>
        <p:txBody>
          <a:bodyPr/>
          <a:lstStyle/>
          <a:p>
            <a:endParaRPr lang="fr-FR" sz="2700" dirty="0"/>
          </a:p>
          <a:p>
            <a:r>
              <a:rPr lang="fr-FR" sz="2700" dirty="0"/>
              <a:t>Au niveau du HUB KINKOLE les faiblesses constatées ne garantissent pas la bonne gestion des vaccins, autres intrants, carburants et les immobilisions : </a:t>
            </a:r>
            <a:endParaRPr lang="fr-CD" sz="2700" dirty="0"/>
          </a:p>
          <a:p>
            <a:pPr lvl="1"/>
            <a:r>
              <a:rPr lang="fr-FR" sz="2400" dirty="0">
                <a:solidFill>
                  <a:srgbClr val="FF0000"/>
                </a:solidFill>
              </a:rPr>
              <a:t>Mauvaise tenue des outils de gestion ;</a:t>
            </a:r>
            <a:endParaRPr lang="fr-CD" sz="2400" dirty="0">
              <a:solidFill>
                <a:srgbClr val="FF0000"/>
              </a:solidFill>
            </a:endParaRPr>
          </a:p>
          <a:p>
            <a:pPr lvl="1"/>
            <a:r>
              <a:rPr lang="fr-FR" sz="2400" dirty="0">
                <a:solidFill>
                  <a:srgbClr val="FF0000"/>
                </a:solidFill>
              </a:rPr>
              <a:t>Des incohérences entre des expéditions et les quantités reçues dans les antennes ;</a:t>
            </a:r>
            <a:endParaRPr lang="fr-CD" sz="2400" dirty="0">
              <a:solidFill>
                <a:srgbClr val="FF0000"/>
              </a:solidFill>
            </a:endParaRPr>
          </a:p>
          <a:p>
            <a:pPr lvl="1"/>
            <a:r>
              <a:rPr lang="fr-FR" sz="2400" dirty="0">
                <a:solidFill>
                  <a:srgbClr val="FF0000"/>
                </a:solidFill>
              </a:rPr>
              <a:t>Des incohérences et écarts non justifiées dans la gestion du carburant ;</a:t>
            </a:r>
            <a:endParaRPr lang="fr-CD" sz="2400" dirty="0">
              <a:solidFill>
                <a:srgbClr val="FF0000"/>
              </a:solidFill>
            </a:endParaRPr>
          </a:p>
          <a:p>
            <a:pPr lvl="1"/>
            <a:r>
              <a:rPr lang="fr-FR" sz="2400" dirty="0">
                <a:solidFill>
                  <a:srgbClr val="FF0000"/>
                </a:solidFill>
              </a:rPr>
              <a:t>La non réalisation des inventaires des intrants sec, matériels de la chaine froide et les immobilisations</a:t>
            </a:r>
            <a:r>
              <a:rPr lang="fr-FR" sz="2400" dirty="0"/>
              <a:t>.</a:t>
            </a:r>
          </a:p>
          <a:p>
            <a:endParaRPr lang="fr-FR" dirty="0"/>
          </a:p>
        </p:txBody>
      </p:sp>
      <p:sp>
        <p:nvSpPr>
          <p:cNvPr id="4" name="Espace réservé de la date 3">
            <a:extLst>
              <a:ext uri="{FF2B5EF4-FFF2-40B4-BE49-F238E27FC236}">
                <a16:creationId xmlns:a16="http://schemas.microsoft.com/office/drawing/2014/main" id="{E8A5F6EB-B9C0-BAB4-BAF7-BCCB527B227F}"/>
              </a:ext>
            </a:extLst>
          </p:cNvPr>
          <p:cNvSpPr>
            <a:spLocks noGrp="1"/>
          </p:cNvSpPr>
          <p:nvPr>
            <p:ph type="dt" sz="half" idx="10"/>
          </p:nvPr>
        </p:nvSpPr>
        <p:spPr/>
        <p:txBody>
          <a:bodyPr/>
          <a:lstStyle/>
          <a:p>
            <a:pPr>
              <a:defRPr/>
            </a:pPr>
            <a:fld id="{F7E2CD02-8DAF-4C73-8E89-BDC2B1C6C1F5}" type="datetime1">
              <a:rPr lang="fr-FR" smtClean="0"/>
              <a:t>17/12/2025</a:t>
            </a:fld>
            <a:endParaRPr lang="fr-FR"/>
          </a:p>
        </p:txBody>
      </p:sp>
      <p:sp>
        <p:nvSpPr>
          <p:cNvPr id="5" name="Espace réservé du pied de page 4">
            <a:extLst>
              <a:ext uri="{FF2B5EF4-FFF2-40B4-BE49-F238E27FC236}">
                <a16:creationId xmlns:a16="http://schemas.microsoft.com/office/drawing/2014/main" id="{695CB903-1395-1B25-1BB4-D3DE09C91AD5}"/>
              </a:ext>
            </a:extLst>
          </p:cNvPr>
          <p:cNvSpPr>
            <a:spLocks noGrp="1"/>
          </p:cNvSpPr>
          <p:nvPr>
            <p:ph type="ftr" sz="quarter" idx="11"/>
          </p:nvPr>
        </p:nvSpPr>
        <p:spPr/>
        <p:txBody>
          <a:bodyPr/>
          <a:lstStyle/>
          <a:p>
            <a:pPr>
              <a:defRPr/>
            </a:pPr>
            <a:r>
              <a:rPr lang="fr-FR"/>
              <a:t>Revue_IGS_nov 2024</a:t>
            </a:r>
          </a:p>
        </p:txBody>
      </p:sp>
      <p:sp>
        <p:nvSpPr>
          <p:cNvPr id="6" name="Espace réservé du numéro de diapositive 5">
            <a:extLst>
              <a:ext uri="{FF2B5EF4-FFF2-40B4-BE49-F238E27FC236}">
                <a16:creationId xmlns:a16="http://schemas.microsoft.com/office/drawing/2014/main" id="{44ACB4C9-E0D8-E33B-86F8-496B8BF4BD62}"/>
              </a:ext>
            </a:extLst>
          </p:cNvPr>
          <p:cNvSpPr>
            <a:spLocks noGrp="1"/>
          </p:cNvSpPr>
          <p:nvPr>
            <p:ph type="sldNum" sz="quarter" idx="12"/>
          </p:nvPr>
        </p:nvSpPr>
        <p:spPr/>
        <p:txBody>
          <a:bodyPr/>
          <a:lstStyle/>
          <a:p>
            <a:fld id="{62F8AC48-0110-4E03-96A9-424428372C43}" type="slidenum">
              <a:rPr lang="fr-BE" altLang="fr-FR" smtClean="0"/>
              <a:pPr/>
              <a:t>18</a:t>
            </a:fld>
            <a:endParaRPr lang="fr-BE" altLang="fr-FR"/>
          </a:p>
        </p:txBody>
      </p:sp>
      <p:pic>
        <p:nvPicPr>
          <p:cNvPr id="7" name="Image 4" descr="Description: Description: Description: drapeau-anim012">
            <a:extLst>
              <a:ext uri="{FF2B5EF4-FFF2-40B4-BE49-F238E27FC236}">
                <a16:creationId xmlns:a16="http://schemas.microsoft.com/office/drawing/2014/main" id="{658BCA36-9567-9DBA-E752-C1FAD0FAB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5798" y="264866"/>
            <a:ext cx="539552" cy="594134"/>
          </a:xfrm>
          <a:prstGeom prst="rect">
            <a:avLst/>
          </a:prstGeom>
          <a:solidFill>
            <a:srgbClr val="FFFFFF"/>
          </a:solidFill>
          <a:ln w="25400">
            <a:solidFill>
              <a:srgbClr val="FFFFFF"/>
            </a:solidFill>
            <a:miter lim="800000"/>
            <a:headEnd/>
            <a:tailEnd/>
          </a:ln>
        </p:spPr>
      </p:pic>
    </p:spTree>
    <p:extLst>
      <p:ext uri="{BB962C8B-B14F-4D97-AF65-F5344CB8AC3E}">
        <p14:creationId xmlns:p14="http://schemas.microsoft.com/office/powerpoint/2010/main" val="2172213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A793-1CF4-991B-DD89-0387AA79C2D5}"/>
            </a:ext>
          </a:extLst>
        </p:cNvPr>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1549859-4E6E-FE2B-41F2-D308C6EC394C}"/>
              </a:ext>
            </a:extLst>
          </p:cNvPr>
          <p:cNvSpPr>
            <a:spLocks noGrp="1"/>
          </p:cNvSpPr>
          <p:nvPr>
            <p:ph type="dt" sz="half" idx="10"/>
          </p:nvPr>
        </p:nvSpPr>
        <p:spPr>
          <a:xfrm>
            <a:off x="107499" y="6586001"/>
            <a:ext cx="2057400" cy="365125"/>
          </a:xfrm>
        </p:spPr>
        <p:txBody>
          <a:bodyPr/>
          <a:lstStyle/>
          <a:p>
            <a:pPr>
              <a:defRPr/>
            </a:pPr>
            <a:fld id="{B9E91FD5-DA1A-4A7C-B3DB-BF4422C52204}" type="datetime1">
              <a:rPr lang="fr-FR" smtClean="0"/>
              <a:t>17/12/2025</a:t>
            </a:fld>
            <a:endParaRPr lang="fr-FR" dirty="0"/>
          </a:p>
        </p:txBody>
      </p:sp>
      <p:sp>
        <p:nvSpPr>
          <p:cNvPr id="5" name="Espace réservé du pied de page 4">
            <a:extLst>
              <a:ext uri="{FF2B5EF4-FFF2-40B4-BE49-F238E27FC236}">
                <a16:creationId xmlns:a16="http://schemas.microsoft.com/office/drawing/2014/main" id="{1FB2B957-694F-311F-B189-E3299B00BB07}"/>
              </a:ext>
            </a:extLst>
          </p:cNvPr>
          <p:cNvSpPr>
            <a:spLocks noGrp="1"/>
          </p:cNvSpPr>
          <p:nvPr>
            <p:ph type="ftr" sz="quarter" idx="11"/>
          </p:nvPr>
        </p:nvSpPr>
        <p:spPr>
          <a:xfrm>
            <a:off x="3131840" y="6517738"/>
            <a:ext cx="3559274" cy="501649"/>
          </a:xfrm>
        </p:spPr>
        <p:txBody>
          <a:bodyPr/>
          <a:lstStyle/>
          <a:p>
            <a:pPr>
              <a:defRPr/>
            </a:pPr>
            <a:r>
              <a:rPr lang="fr-FR"/>
              <a:t>Revue_IGS_nov 2024</a:t>
            </a:r>
            <a:endParaRPr lang="fr-FR" dirty="0"/>
          </a:p>
        </p:txBody>
      </p:sp>
      <p:sp>
        <p:nvSpPr>
          <p:cNvPr id="6" name="Espace réservé du numéro de diapositive 5">
            <a:extLst>
              <a:ext uri="{FF2B5EF4-FFF2-40B4-BE49-F238E27FC236}">
                <a16:creationId xmlns:a16="http://schemas.microsoft.com/office/drawing/2014/main" id="{AE87E1F8-82FF-5F29-727C-8143A4D9D30C}"/>
              </a:ext>
            </a:extLst>
          </p:cNvPr>
          <p:cNvSpPr>
            <a:spLocks noGrp="1"/>
          </p:cNvSpPr>
          <p:nvPr>
            <p:ph type="sldNum" sz="quarter" idx="12"/>
          </p:nvPr>
        </p:nvSpPr>
        <p:spPr>
          <a:xfrm>
            <a:off x="7078810" y="6538912"/>
            <a:ext cx="2057400" cy="365125"/>
          </a:xfrm>
        </p:spPr>
        <p:txBody>
          <a:bodyPr/>
          <a:lstStyle/>
          <a:p>
            <a:fld id="{62F8AC48-0110-4E03-96A9-424428372C43}" type="slidenum">
              <a:rPr lang="fr-BE" altLang="fr-FR" smtClean="0"/>
              <a:pPr/>
              <a:t>19</a:t>
            </a:fld>
            <a:endParaRPr lang="fr-BE" altLang="fr-FR" dirty="0"/>
          </a:p>
        </p:txBody>
      </p:sp>
      <p:pic>
        <p:nvPicPr>
          <p:cNvPr id="7" name="Picture 2">
            <a:extLst>
              <a:ext uri="{FF2B5EF4-FFF2-40B4-BE49-F238E27FC236}">
                <a16:creationId xmlns:a16="http://schemas.microsoft.com/office/drawing/2014/main" id="{529F8184-0CC6-69C9-8C82-B567A0D0C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0563" b="46487"/>
          <a:stretch>
            <a:fillRect/>
          </a:stretch>
        </p:blipFill>
        <p:spPr bwMode="auto">
          <a:xfrm>
            <a:off x="17934" y="1"/>
            <a:ext cx="449610" cy="671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 4" descr="Description: Description: Description: drapeau-anim012">
            <a:extLst>
              <a:ext uri="{FF2B5EF4-FFF2-40B4-BE49-F238E27FC236}">
                <a16:creationId xmlns:a16="http://schemas.microsoft.com/office/drawing/2014/main" id="{3F84A4A1-5BF0-46BB-B09E-04C86A1B20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8384" y="290342"/>
            <a:ext cx="648072" cy="713632"/>
          </a:xfrm>
          <a:prstGeom prst="rect">
            <a:avLst/>
          </a:prstGeom>
          <a:solidFill>
            <a:srgbClr val="FFFFFF"/>
          </a:solidFill>
          <a:ln w="25400">
            <a:solidFill>
              <a:srgbClr val="FFFFFF"/>
            </a:solidFill>
            <a:miter lim="800000"/>
            <a:headEnd/>
            <a:tailEnd/>
          </a:ln>
        </p:spPr>
      </p:pic>
      <p:grpSp>
        <p:nvGrpSpPr>
          <p:cNvPr id="9" name="Groupe 8">
            <a:extLst>
              <a:ext uri="{FF2B5EF4-FFF2-40B4-BE49-F238E27FC236}">
                <a16:creationId xmlns:a16="http://schemas.microsoft.com/office/drawing/2014/main" id="{F3941634-3DB3-9894-A273-D96E58D30431}"/>
              </a:ext>
            </a:extLst>
          </p:cNvPr>
          <p:cNvGrpSpPr/>
          <p:nvPr/>
        </p:nvGrpSpPr>
        <p:grpSpPr>
          <a:xfrm>
            <a:off x="-2" y="1"/>
            <a:ext cx="107506" cy="6829254"/>
            <a:chOff x="-2" y="-1"/>
            <a:chExt cx="45721" cy="5797731"/>
          </a:xfrm>
        </p:grpSpPr>
        <p:sp>
          <p:nvSpPr>
            <p:cNvPr id="10" name="Rectangle 9">
              <a:extLst>
                <a:ext uri="{FF2B5EF4-FFF2-40B4-BE49-F238E27FC236}">
                  <a16:creationId xmlns:a16="http://schemas.microsoft.com/office/drawing/2014/main" id="{1FD6A98A-02B0-48A1-475F-3E53A6BD21D4}"/>
                </a:ext>
              </a:extLst>
            </p:cNvPr>
            <p:cNvSpPr/>
            <p:nvPr/>
          </p:nvSpPr>
          <p:spPr>
            <a:xfrm>
              <a:off x="-1" y="1775225"/>
              <a:ext cx="45719" cy="1797791"/>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1" name="Rectangle 10">
              <a:extLst>
                <a:ext uri="{FF2B5EF4-FFF2-40B4-BE49-F238E27FC236}">
                  <a16:creationId xmlns:a16="http://schemas.microsoft.com/office/drawing/2014/main" id="{86576409-3EE8-152D-D3CB-001BD88982B9}"/>
                </a:ext>
              </a:extLst>
            </p:cNvPr>
            <p:cNvSpPr/>
            <p:nvPr/>
          </p:nvSpPr>
          <p:spPr>
            <a:xfrm>
              <a:off x="-2" y="3573016"/>
              <a:ext cx="45719" cy="222471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sp>
          <p:nvSpPr>
            <p:cNvPr id="12" name="Rectangle 11">
              <a:extLst>
                <a:ext uri="{FF2B5EF4-FFF2-40B4-BE49-F238E27FC236}">
                  <a16:creationId xmlns:a16="http://schemas.microsoft.com/office/drawing/2014/main" id="{DAFBD33A-B7F0-6775-7FED-8F1DE66776ED}"/>
                </a:ext>
              </a:extLst>
            </p:cNvPr>
            <p:cNvSpPr/>
            <p:nvPr/>
          </p:nvSpPr>
          <p:spPr>
            <a:xfrm>
              <a:off x="0" y="-1"/>
              <a:ext cx="45719" cy="1775225"/>
            </a:xfrm>
            <a:prstGeom prst="rect">
              <a:avLst/>
            </a:prstGeom>
            <a:solidFill>
              <a:srgbClr val="4A76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ln w="22225">
                  <a:solidFill>
                    <a:schemeClr val="accent2"/>
                  </a:solidFill>
                  <a:prstDash val="solid"/>
                </a:ln>
                <a:solidFill>
                  <a:schemeClr val="accent2">
                    <a:lumMod val="40000"/>
                    <a:lumOff val="60000"/>
                  </a:schemeClr>
                </a:solidFill>
              </a:endParaRPr>
            </a:p>
          </p:txBody>
        </p:sp>
      </p:grpSp>
      <p:sp>
        <p:nvSpPr>
          <p:cNvPr id="16" name="Espace réservé du contenu 2">
            <a:extLst>
              <a:ext uri="{FF2B5EF4-FFF2-40B4-BE49-F238E27FC236}">
                <a16:creationId xmlns:a16="http://schemas.microsoft.com/office/drawing/2014/main" id="{269B7BB9-6690-FA3F-F6D0-9599AEB5927F}"/>
              </a:ext>
            </a:extLst>
          </p:cNvPr>
          <p:cNvSpPr txBox="1">
            <a:spLocks/>
          </p:cNvSpPr>
          <p:nvPr/>
        </p:nvSpPr>
        <p:spPr>
          <a:xfrm>
            <a:off x="467544" y="749704"/>
            <a:ext cx="8406680" cy="548760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a:p>
            <a:pPr marL="0" indent="0" fontAlgn="auto">
              <a:lnSpc>
                <a:spcPct val="100000"/>
              </a:lnSpc>
              <a:spcAft>
                <a:spcPts val="0"/>
              </a:spcAft>
              <a:buNone/>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fontAlgn="auto">
              <a:lnSpc>
                <a:spcPct val="100000"/>
              </a:lnSpc>
              <a:spcAft>
                <a:spcPts val="0"/>
              </a:spcAft>
            </a:pPr>
            <a:endParaRPr lang="fr-FR" sz="28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lvl="1" fontAlgn="auto">
              <a:lnSpc>
                <a:spcPct val="100000"/>
              </a:lnSpc>
              <a:spcAft>
                <a:spcPts val="0"/>
              </a:spcAft>
            </a:pPr>
            <a:endParaRPr lang="fr-FR" sz="2500" dirty="0">
              <a:latin typeface="Helvetica" panose="020B0604020202020204" pitchFamily="34" charset="0"/>
              <a:cs typeface="Helvetica" panose="020B0604020202020204" pitchFamily="34" charset="0"/>
            </a:endParaRPr>
          </a:p>
          <a:p>
            <a:pPr marL="342900" lvl="1" indent="0" fontAlgn="auto">
              <a:lnSpc>
                <a:spcPct val="100000"/>
              </a:lnSpc>
              <a:spcAft>
                <a:spcPts val="0"/>
              </a:spcAft>
              <a:buNone/>
            </a:pPr>
            <a:endParaRPr lang="fr-FR" sz="2500" dirty="0">
              <a:latin typeface="Helvetica" panose="020B0604020202020204" pitchFamily="34" charset="0"/>
              <a:cs typeface="Helvetica" panose="020B0604020202020204" pitchFamily="34" charset="0"/>
            </a:endParaRPr>
          </a:p>
        </p:txBody>
      </p:sp>
      <p:sp>
        <p:nvSpPr>
          <p:cNvPr id="15" name="Google Shape;297;p12">
            <a:extLst>
              <a:ext uri="{FF2B5EF4-FFF2-40B4-BE49-F238E27FC236}">
                <a16:creationId xmlns:a16="http://schemas.microsoft.com/office/drawing/2014/main" id="{4ACD2E8D-5987-F6AE-B9C2-A6C8164C2011}"/>
              </a:ext>
            </a:extLst>
          </p:cNvPr>
          <p:cNvSpPr txBox="1">
            <a:spLocks noChangeArrowheads="1"/>
          </p:cNvSpPr>
          <p:nvPr/>
        </p:nvSpPr>
        <p:spPr bwMode="auto">
          <a:xfrm>
            <a:off x="1023181" y="1952835"/>
            <a:ext cx="7294959" cy="2952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eaLnBrk="1" hangingPunct="1">
              <a:buSzPts val="3200"/>
            </a:pPr>
            <a:r>
              <a:rPr lang="en-US" altLang="fr-FR" sz="3200" b="1" dirty="0">
                <a:solidFill>
                  <a:srgbClr val="0070C0"/>
                </a:solidFill>
                <a:latin typeface="Times New Roman" panose="02020603050405020304" pitchFamily="18" charset="0"/>
                <a:cs typeface="Times New Roman" panose="02020603050405020304" pitchFamily="18" charset="0"/>
                <a:sym typeface="Times New Roman" panose="02020603050405020304" pitchFamily="18" charset="0"/>
              </a:rPr>
              <a:t>Merci</a:t>
            </a:r>
          </a:p>
        </p:txBody>
      </p:sp>
      <p:sp>
        <p:nvSpPr>
          <p:cNvPr id="17" name="Google Shape;298;p12">
            <a:extLst>
              <a:ext uri="{FF2B5EF4-FFF2-40B4-BE49-F238E27FC236}">
                <a16:creationId xmlns:a16="http://schemas.microsoft.com/office/drawing/2014/main" id="{4213D8C8-F42B-FA88-65BE-838B63D8D8B0}"/>
              </a:ext>
            </a:extLst>
          </p:cNvPr>
          <p:cNvSpPr>
            <a:spLocks noChangeArrowheads="1"/>
          </p:cNvSpPr>
          <p:nvPr/>
        </p:nvSpPr>
        <p:spPr bwMode="auto">
          <a:xfrm>
            <a:off x="212719" y="3160863"/>
            <a:ext cx="3423178" cy="671494"/>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00" tIns="91400" rIns="91400" bIns="914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SzPts val="1500"/>
            </a:pPr>
            <a:endParaRPr lang="fr-FR" altLang="fr-FR" sz="150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8" name="Google Shape;298;p12">
            <a:extLst>
              <a:ext uri="{FF2B5EF4-FFF2-40B4-BE49-F238E27FC236}">
                <a16:creationId xmlns:a16="http://schemas.microsoft.com/office/drawing/2014/main" id="{FD6ED0A8-F91D-4873-5C89-0FA3B4628510}"/>
              </a:ext>
            </a:extLst>
          </p:cNvPr>
          <p:cNvSpPr>
            <a:spLocks noChangeArrowheads="1"/>
          </p:cNvSpPr>
          <p:nvPr/>
        </p:nvSpPr>
        <p:spPr bwMode="auto">
          <a:xfrm>
            <a:off x="5930084" y="3174250"/>
            <a:ext cx="3001198" cy="671494"/>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00" tIns="91400" rIns="91400" bIns="91400" anchor="ct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SzPts val="1500"/>
            </a:pPr>
            <a:endParaRPr lang="fr-FR" altLang="fr-FR" sz="150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3270458955"/>
      </p:ext>
    </p:extLst>
  </p:cSld>
  <p:clrMapOvr>
    <a:masterClrMapping/>
  </p:clrMapOvr>
</p:sld>
</file>

<file path=ppt/theme/theme1.xml><?xml version="1.0" encoding="utf-8"?>
<a:theme xmlns:a="http://schemas.openxmlformats.org/drawingml/2006/main" name="Présentation chef ok">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 DE L’IGS_Revue annuelle 2021 VF</Template>
  <TotalTime>34360</TotalTime>
  <Words>1131</Words>
  <Application>Microsoft Office PowerPoint</Application>
  <PresentationFormat>Affichage à l'écran (4:3)</PresentationFormat>
  <Paragraphs>356</Paragraphs>
  <Slides>19</Slides>
  <Notes>2</Notes>
  <HiddenSlides>0</HiddenSlides>
  <MMClips>0</MMClips>
  <ScaleCrop>false</ScaleCrop>
  <HeadingPairs>
    <vt:vector size="6" baseType="variant">
      <vt:variant>
        <vt:lpstr>Polices utilisées</vt:lpstr>
      </vt:variant>
      <vt:variant>
        <vt:i4>9</vt:i4>
      </vt:variant>
      <vt:variant>
        <vt:lpstr>Thème</vt:lpstr>
      </vt:variant>
      <vt:variant>
        <vt:i4>2</vt:i4>
      </vt:variant>
      <vt:variant>
        <vt:lpstr>Titres des diapositives</vt:lpstr>
      </vt:variant>
      <vt:variant>
        <vt:i4>19</vt:i4>
      </vt:variant>
    </vt:vector>
  </HeadingPairs>
  <TitlesOfParts>
    <vt:vector size="30" baseType="lpstr">
      <vt:lpstr>Arial</vt:lpstr>
      <vt:lpstr>Arial Narrow</vt:lpstr>
      <vt:lpstr>Berlin Sans FB Demi</vt:lpstr>
      <vt:lpstr>Calibri</vt:lpstr>
      <vt:lpstr>Calibri Light</vt:lpstr>
      <vt:lpstr>Helvetica</vt:lpstr>
      <vt:lpstr>Mulish</vt:lpstr>
      <vt:lpstr>Times New Roman</vt:lpstr>
      <vt:lpstr>Wingdings</vt:lpstr>
      <vt:lpstr>Présentation chef ok</vt:lpstr>
      <vt:lpstr>1_Thème Office</vt:lpstr>
      <vt:lpstr>Présentation PowerPoint</vt:lpstr>
      <vt:lpstr>Plan de présentation</vt:lpstr>
      <vt:lpstr>Assise légale</vt:lpstr>
      <vt:lpstr>INSPECTION GENERALE DU SYSTÈME DE SANTE </vt:lpstr>
      <vt:lpstr>Fonctionnement et mission</vt:lpstr>
      <vt:lpstr>Place de l’IGS dans la pyramide sanitaire</vt:lpstr>
      <vt:lpstr>Logiques d’intervention </vt:lpstr>
      <vt:lpstr>Domaines d’intervention </vt:lpstr>
      <vt:lpstr>Présentation PowerPoint</vt:lpstr>
      <vt:lpstr>Activités sur la vaccination en 2025</vt:lpstr>
      <vt:lpstr>A gauche entrepôt des intrants secs au BCZS KAMINA, à droite utilisation de la BI lors de la vaccination de routine  au CS ZS de KAMINA </vt:lpstr>
      <vt:lpstr>A gauche, fiche de pointage rempli lors de la vaccination de routine et à droite entreposage des intrants secs à l’antenne PEV KAMINA</vt:lpstr>
      <vt:lpstr>Activités sur la vaccination en 2025</vt:lpstr>
      <vt:lpstr>Activités sur la vaccination en 2025</vt:lpstr>
      <vt:lpstr>A gauche traitement des déchets de la campagne FJ 2 semaine après au CS ZS KABALO, à droite 2 réfrigérateurs installé à la véranda du BCZS KABALO</vt:lpstr>
      <vt:lpstr>Activités sur la vaccination en 2025</vt:lpstr>
      <vt:lpstr>Conclusion</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REPUBLIQUE DEMOCRATIQUE DU CONGO                                                                                            MINISTERE DE LA SANTE PUBLIQUE, HYGIENE ET PREVENTION     INSPECTION GÉNÉRALE DE LA SANTÉ</dc:title>
  <dc:creator>Agnes</dc:creator>
  <cp:lastModifiedBy>HP</cp:lastModifiedBy>
  <cp:revision>368</cp:revision>
  <dcterms:created xsi:type="dcterms:W3CDTF">2022-11-17T09:12:40Z</dcterms:created>
  <dcterms:modified xsi:type="dcterms:W3CDTF">2025-12-17T12:35:20Z</dcterms:modified>
</cp:coreProperties>
</file>