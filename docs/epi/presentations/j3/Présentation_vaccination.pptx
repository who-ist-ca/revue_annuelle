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147377726" r:id="rId2"/>
    <p:sldId id="2147377717" r:id="rId3"/>
    <p:sldId id="270" r:id="rId4"/>
    <p:sldId id="309" r:id="rId5"/>
    <p:sldId id="2147377737" r:id="rId6"/>
    <p:sldId id="1019" r:id="rId7"/>
    <p:sldId id="1002" r:id="rId8"/>
    <p:sldId id="257" r:id="rId9"/>
    <p:sldId id="2147377727" r:id="rId10"/>
    <p:sldId id="2147377730" r:id="rId11"/>
    <p:sldId id="2147377729" r:id="rId12"/>
    <p:sldId id="1022" r:id="rId13"/>
    <p:sldId id="2147377733" r:id="rId14"/>
    <p:sldId id="2147377738" r:id="rId15"/>
    <p:sldId id="2147377745" r:id="rId16"/>
    <p:sldId id="2147377746" r:id="rId17"/>
    <p:sldId id="2147377739" r:id="rId18"/>
    <p:sldId id="2147377740" r:id="rId19"/>
    <p:sldId id="2147377713" r:id="rId20"/>
    <p:sldId id="214737774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EAE"/>
    <a:srgbClr val="ABA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385" autoAdjust="0"/>
    <p:restoredTop sz="93571" autoAdjust="0"/>
  </p:normalViewPr>
  <p:slideViewPr>
    <p:cSldViewPr snapToGrid="0">
      <p:cViewPr varScale="1">
        <p:scale>
          <a:sx n="60" d="100"/>
          <a:sy n="60" d="100"/>
        </p:scale>
        <p:origin x="79"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C17B3-2162-4DFB-B10D-84D08FC25266}" type="doc">
      <dgm:prSet loTypeId="urn:microsoft.com/office/officeart/2005/8/layout/vList4" loCatId="list" qsTypeId="urn:microsoft.com/office/officeart/2005/8/quickstyle/simple1" qsCatId="simple" csTypeId="urn:microsoft.com/office/officeart/2005/8/colors/colorful2" csCatId="colorful" phldr="1"/>
      <dgm:spPr/>
      <dgm:t>
        <a:bodyPr/>
        <a:lstStyle/>
        <a:p>
          <a:endParaRPr lang="fr-FR"/>
        </a:p>
      </dgm:t>
    </dgm:pt>
    <dgm:pt modelId="{71D0D2A6-412E-403E-A7B9-E69093112838}">
      <dgm:prSet phldrT="[Text]"/>
      <dgm:spPr/>
      <dgm:t>
        <a:bodyPr/>
        <a:lstStyle/>
        <a:p>
          <a:pPr algn="l"/>
          <a:r>
            <a:rPr lang="fr" b="1" dirty="0"/>
            <a:t>Tendances attendues d'une année à l'autre</a:t>
          </a:r>
          <a:r>
            <a:rPr lang="fr" dirty="0"/>
            <a:t>
Pour les interventions clés à couverture élevée (par exemple, CPN1, Penta1), une variation limitée d'une année à l'autre est attendue.
De grandes variations suggèrent généralement des problèmes de qualité des données, à moins qu'il n'y ait une explication programmatique connue.</a:t>
          </a:r>
          <a:endParaRPr lang="en-US" dirty="0"/>
        </a:p>
      </dgm:t>
    </dgm:pt>
    <dgm:pt modelId="{B372BCFD-CC77-49AF-B751-D81219A3307B}" type="parTrans" cxnId="{EA71EA08-434D-4D81-9EF2-7E12C35DADDA}">
      <dgm:prSet/>
      <dgm:spPr/>
      <dgm:t>
        <a:bodyPr/>
        <a:lstStyle/>
        <a:p>
          <a:endParaRPr lang="en-US"/>
        </a:p>
      </dgm:t>
    </dgm:pt>
    <dgm:pt modelId="{C909346A-C488-491B-B4EE-372F8E21F577}" type="sibTrans" cxnId="{EA71EA08-434D-4D81-9EF2-7E12C35DADDA}">
      <dgm:prSet/>
      <dgm:spPr/>
      <dgm:t>
        <a:bodyPr/>
        <a:lstStyle/>
        <a:p>
          <a:endParaRPr lang="en-US"/>
        </a:p>
      </dgm:t>
    </dgm:pt>
    <dgm:pt modelId="{29C9FBCC-277A-437F-BAF5-0E866D42C71F}">
      <dgm:prSet phldrT="[Text]"/>
      <dgm:spPr/>
      <dgm:t>
        <a:bodyPr/>
        <a:lstStyle/>
        <a:p>
          <a:pPr algn="l"/>
          <a:r>
            <a:rPr lang="fr" b="1"/>
            <a:t>Identification des données </a:t>
          </a:r>
          <a:r>
            <a:rPr lang="fr"/>
            <a:t>bruyantes
Les données bruitées font référence à de grandes fluctuations inexpliquées du nombre d'interventions signalées.
Les données bruitées compromettent la fiabilité des statistiques de santé de routine.</a:t>
          </a:r>
          <a:endParaRPr lang="en-US"/>
        </a:p>
      </dgm:t>
    </dgm:pt>
    <dgm:pt modelId="{F703B8F3-141A-45F5-9220-BB262ED0F618}" type="parTrans" cxnId="{8C0AD25C-B73B-4E6D-A052-1E0A6047E904}">
      <dgm:prSet/>
      <dgm:spPr/>
      <dgm:t>
        <a:bodyPr/>
        <a:lstStyle/>
        <a:p>
          <a:endParaRPr lang="en-US"/>
        </a:p>
      </dgm:t>
    </dgm:pt>
    <dgm:pt modelId="{2B3DDDC3-C4C2-440B-9427-9ACF96A40386}" type="sibTrans" cxnId="{8C0AD25C-B73B-4E6D-A052-1E0A6047E904}">
      <dgm:prSet/>
      <dgm:spPr/>
      <dgm:t>
        <a:bodyPr/>
        <a:lstStyle/>
        <a:p>
          <a:endParaRPr lang="en-US"/>
        </a:p>
      </dgm:t>
    </dgm:pt>
    <dgm:pt modelId="{7D950BD0-4B05-42D4-A231-D6FBD9557300}">
      <dgm:prSet phldrT="[Text]"/>
      <dgm:spPr/>
      <dgm:t>
        <a:bodyPr/>
        <a:lstStyle/>
        <a:p>
          <a:pPr algn="l"/>
          <a:r>
            <a:rPr lang="fr" b="1"/>
            <a:t>Détection et correction des valeurs aberrantes</a:t>
          </a:r>
        </a:p>
        <a:p>
          <a:pPr algn="l">
            <a:buFont typeface="Arial" panose="020B0604020202020204" pitchFamily="34" charset="0"/>
            <a:buChar char="•"/>
          </a:pPr>
          <a:r>
            <a:rPr lang="fr" b="0"/>
            <a:t>Les valeurs aberrantes extrêmes sont définies comme des valeurs supérieures à 5 écarts-types (STD) par rapport à l'écart absolu médian (MAD) au cours des 3 années précédentes.</a:t>
          </a:r>
        </a:p>
        <a:p>
          <a:pPr algn="l">
            <a:buFont typeface="Arial" panose="020B0604020202020204" pitchFamily="34" charset="0"/>
            <a:buChar char="•"/>
          </a:pPr>
          <a:r>
            <a:rPr lang="fr" b="0"/>
            <a:t>Approche de correction :</a:t>
          </a:r>
        </a:p>
        <a:p>
          <a:pPr algn="l">
            <a:buFont typeface="Arial" panose="020B0604020202020204" pitchFamily="34" charset="0"/>
            <a:buChar char="•"/>
          </a:pPr>
          <a:r>
            <a:rPr lang="fr" b="0"/>
            <a:t>Remplacez les valeurs aberrantes extrêmes par la valeur médiane de l'année.</a:t>
          </a:r>
        </a:p>
        <a:p>
          <a:pPr algn="l">
            <a:buFont typeface="Arial" panose="020B0604020202020204" pitchFamily="34" charset="0"/>
            <a:buChar char="•"/>
          </a:pPr>
          <a:r>
            <a:rPr lang="fr" b="0"/>
            <a:t>Une imputation similaire est effectuée pour les valeurs manquantes.</a:t>
          </a:r>
          <a:endParaRPr lang="en-US" b="0"/>
        </a:p>
      </dgm:t>
    </dgm:pt>
    <dgm:pt modelId="{23C6ADAD-A915-445B-A7D3-47D4EFF59B1F}" type="parTrans" cxnId="{AD669256-C877-4A4B-8955-02506E5CEF1C}">
      <dgm:prSet/>
      <dgm:spPr/>
      <dgm:t>
        <a:bodyPr/>
        <a:lstStyle/>
        <a:p>
          <a:endParaRPr lang="en-US"/>
        </a:p>
      </dgm:t>
    </dgm:pt>
    <dgm:pt modelId="{008B9D2E-CC35-4891-AA9C-8AD9AC89B081}" type="sibTrans" cxnId="{AD669256-C877-4A4B-8955-02506E5CEF1C}">
      <dgm:prSet/>
      <dgm:spPr/>
      <dgm:t>
        <a:bodyPr/>
        <a:lstStyle/>
        <a:p>
          <a:endParaRPr lang="en-US"/>
        </a:p>
      </dgm:t>
    </dgm:pt>
    <dgm:pt modelId="{89A20D20-C924-4577-AEB2-1D76FB0A7F0A}" type="pres">
      <dgm:prSet presAssocID="{635C17B3-2162-4DFB-B10D-84D08FC25266}" presName="linear" presStyleCnt="0">
        <dgm:presLayoutVars>
          <dgm:dir/>
          <dgm:resizeHandles val="exact"/>
        </dgm:presLayoutVars>
      </dgm:prSet>
      <dgm:spPr/>
    </dgm:pt>
    <dgm:pt modelId="{614CBEBB-E830-401A-8039-BAFC7C999A43}" type="pres">
      <dgm:prSet presAssocID="{71D0D2A6-412E-403E-A7B9-E69093112838}" presName="comp" presStyleCnt="0"/>
      <dgm:spPr/>
    </dgm:pt>
    <dgm:pt modelId="{DDFEEFD6-B8C1-46A3-98A9-037B8C3BEE02}" type="pres">
      <dgm:prSet presAssocID="{71D0D2A6-412E-403E-A7B9-E69093112838}" presName="box" presStyleLbl="node1" presStyleIdx="0" presStyleCnt="3"/>
      <dgm:spPr/>
    </dgm:pt>
    <dgm:pt modelId="{0767C6D3-0D12-44BF-A49B-0F506FA69CDB}" type="pres">
      <dgm:prSet presAssocID="{71D0D2A6-412E-403E-A7B9-E69093112838}"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58000" b="-58000"/>
          </a:stretch>
        </a:blipFill>
      </dgm:spPr>
      <dgm:extLst>
        <a:ext uri="{E40237B7-FDA0-4F09-8148-C483321AD2D9}">
          <dgm14:cNvPr xmlns:dgm14="http://schemas.microsoft.com/office/drawing/2010/diagram" id="0" name="" descr="Tendance à la hausse avec remplissage solide"/>
        </a:ext>
      </dgm:extLst>
    </dgm:pt>
    <dgm:pt modelId="{4F51B74E-D222-47C5-A25F-B81F53480DFD}" type="pres">
      <dgm:prSet presAssocID="{71D0D2A6-412E-403E-A7B9-E69093112838}" presName="text" presStyleLbl="node1" presStyleIdx="0" presStyleCnt="3">
        <dgm:presLayoutVars>
          <dgm:bulletEnabled val="1"/>
        </dgm:presLayoutVars>
      </dgm:prSet>
      <dgm:spPr/>
    </dgm:pt>
    <dgm:pt modelId="{2FFC5777-D9D0-43D1-89DF-A6C7C815DFD6}" type="pres">
      <dgm:prSet presAssocID="{C909346A-C488-491B-B4EE-372F8E21F577}" presName="spacer" presStyleCnt="0"/>
      <dgm:spPr/>
    </dgm:pt>
    <dgm:pt modelId="{1D15B106-7232-4489-BE41-001ADC5FC923}" type="pres">
      <dgm:prSet presAssocID="{29C9FBCC-277A-437F-BAF5-0E866D42C71F}" presName="comp" presStyleCnt="0"/>
      <dgm:spPr/>
    </dgm:pt>
    <dgm:pt modelId="{0FF7AB20-D29B-4DCC-BDF2-D472E4D98E69}" type="pres">
      <dgm:prSet presAssocID="{29C9FBCC-277A-437F-BAF5-0E866D42C71F}" presName="box" presStyleLbl="node1" presStyleIdx="1" presStyleCnt="3"/>
      <dgm:spPr/>
    </dgm:pt>
    <dgm:pt modelId="{7983D88D-EC9F-448C-9D1C-822581E90CC4}" type="pres">
      <dgm:prSet presAssocID="{29C9FBCC-277A-437F-BAF5-0E866D42C71F}" presName="img"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000" b="-3000"/>
          </a:stretch>
        </a:blipFill>
      </dgm:spPr>
    </dgm:pt>
    <dgm:pt modelId="{31D70C8C-59CB-4CE8-ACA3-491E5CF3B6D2}" type="pres">
      <dgm:prSet presAssocID="{29C9FBCC-277A-437F-BAF5-0E866D42C71F}" presName="text" presStyleLbl="node1" presStyleIdx="1" presStyleCnt="3">
        <dgm:presLayoutVars>
          <dgm:bulletEnabled val="1"/>
        </dgm:presLayoutVars>
      </dgm:prSet>
      <dgm:spPr/>
    </dgm:pt>
    <dgm:pt modelId="{61D58281-2085-4194-AAF1-C10B46F8E85F}" type="pres">
      <dgm:prSet presAssocID="{2B3DDDC3-C4C2-440B-9427-9ACF96A40386}" presName="spacer" presStyleCnt="0"/>
      <dgm:spPr/>
    </dgm:pt>
    <dgm:pt modelId="{C2787408-EC90-4D29-8365-629AFCBDDD66}" type="pres">
      <dgm:prSet presAssocID="{7D950BD0-4B05-42D4-A231-D6FBD9557300}" presName="comp" presStyleCnt="0"/>
      <dgm:spPr/>
    </dgm:pt>
    <dgm:pt modelId="{EEEB6E97-F525-4C86-BFFB-8AA4C2B93BA6}" type="pres">
      <dgm:prSet presAssocID="{7D950BD0-4B05-42D4-A231-D6FBD9557300}" presName="box" presStyleLbl="node1" presStyleIdx="2" presStyleCnt="3"/>
      <dgm:spPr/>
    </dgm:pt>
    <dgm:pt modelId="{1D5107DB-1014-4E40-84AB-87C83A33FEB3}" type="pres">
      <dgm:prSet presAssocID="{7D950BD0-4B05-42D4-A231-D6FBD9557300}" presName="img"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3000" b="-3000"/>
          </a:stretch>
        </a:blipFill>
      </dgm:spPr>
      <dgm:extLst>
        <a:ext uri="{E40237B7-FDA0-4F09-8148-C483321AD2D9}">
          <dgm14:cNvPr xmlns:dgm14="http://schemas.microsoft.com/office/drawing/2010/diagram" id="0" name="" descr="Outils avec remplissage solide"/>
        </a:ext>
      </dgm:extLst>
    </dgm:pt>
    <dgm:pt modelId="{C0EA5BAB-1A19-4F81-8686-B4063C8A0573}" type="pres">
      <dgm:prSet presAssocID="{7D950BD0-4B05-42D4-A231-D6FBD9557300}" presName="text" presStyleLbl="node1" presStyleIdx="2" presStyleCnt="3">
        <dgm:presLayoutVars>
          <dgm:bulletEnabled val="1"/>
        </dgm:presLayoutVars>
      </dgm:prSet>
      <dgm:spPr/>
    </dgm:pt>
  </dgm:ptLst>
  <dgm:cxnLst>
    <dgm:cxn modelId="{EA71EA08-434D-4D81-9EF2-7E12C35DADDA}" srcId="{635C17B3-2162-4DFB-B10D-84D08FC25266}" destId="{71D0D2A6-412E-403E-A7B9-E69093112838}" srcOrd="0" destOrd="0" parTransId="{B372BCFD-CC77-49AF-B751-D81219A3307B}" sibTransId="{C909346A-C488-491B-B4EE-372F8E21F577}"/>
    <dgm:cxn modelId="{66896739-4EE1-4E3B-B500-2744105B2AA2}" type="presOf" srcId="{29C9FBCC-277A-437F-BAF5-0E866D42C71F}" destId="{0FF7AB20-D29B-4DCC-BDF2-D472E4D98E69}" srcOrd="0" destOrd="0" presId="urn:microsoft.com/office/officeart/2005/8/layout/vList4"/>
    <dgm:cxn modelId="{751B1D3B-6D05-486F-B95F-5A17156C7405}" type="presOf" srcId="{7D950BD0-4B05-42D4-A231-D6FBD9557300}" destId="{C0EA5BAB-1A19-4F81-8686-B4063C8A0573}" srcOrd="1" destOrd="0" presId="urn:microsoft.com/office/officeart/2005/8/layout/vList4"/>
    <dgm:cxn modelId="{8C0AD25C-B73B-4E6D-A052-1E0A6047E904}" srcId="{635C17B3-2162-4DFB-B10D-84D08FC25266}" destId="{29C9FBCC-277A-437F-BAF5-0E866D42C71F}" srcOrd="1" destOrd="0" parTransId="{F703B8F3-141A-45F5-9220-BB262ED0F618}" sibTransId="{2B3DDDC3-C4C2-440B-9427-9ACF96A40386}"/>
    <dgm:cxn modelId="{AD669256-C877-4A4B-8955-02506E5CEF1C}" srcId="{635C17B3-2162-4DFB-B10D-84D08FC25266}" destId="{7D950BD0-4B05-42D4-A231-D6FBD9557300}" srcOrd="2" destOrd="0" parTransId="{23C6ADAD-A915-445B-A7D3-47D4EFF59B1F}" sibTransId="{008B9D2E-CC35-4891-AA9C-8AD9AC89B081}"/>
    <dgm:cxn modelId="{003862A8-4A8B-45BE-9973-99430D994746}" type="presOf" srcId="{71D0D2A6-412E-403E-A7B9-E69093112838}" destId="{4F51B74E-D222-47C5-A25F-B81F53480DFD}" srcOrd="1" destOrd="0" presId="urn:microsoft.com/office/officeart/2005/8/layout/vList4"/>
    <dgm:cxn modelId="{87E824C1-5A55-4056-8D75-98C4E7476401}" type="presOf" srcId="{635C17B3-2162-4DFB-B10D-84D08FC25266}" destId="{89A20D20-C924-4577-AEB2-1D76FB0A7F0A}" srcOrd="0" destOrd="0" presId="urn:microsoft.com/office/officeart/2005/8/layout/vList4"/>
    <dgm:cxn modelId="{9CE8E9DB-4676-40EE-B7FE-FBBBCBDE8957}" type="presOf" srcId="{29C9FBCC-277A-437F-BAF5-0E866D42C71F}" destId="{31D70C8C-59CB-4CE8-ACA3-491E5CF3B6D2}" srcOrd="1" destOrd="0" presId="urn:microsoft.com/office/officeart/2005/8/layout/vList4"/>
    <dgm:cxn modelId="{217C09ED-DC28-4158-B8CC-631A3AA07910}" type="presOf" srcId="{71D0D2A6-412E-403E-A7B9-E69093112838}" destId="{DDFEEFD6-B8C1-46A3-98A9-037B8C3BEE02}" srcOrd="0" destOrd="0" presId="urn:microsoft.com/office/officeart/2005/8/layout/vList4"/>
    <dgm:cxn modelId="{711808F0-E788-4A1D-B136-70277BE1F19C}" type="presOf" srcId="{7D950BD0-4B05-42D4-A231-D6FBD9557300}" destId="{EEEB6E97-F525-4C86-BFFB-8AA4C2B93BA6}" srcOrd="0" destOrd="0" presId="urn:microsoft.com/office/officeart/2005/8/layout/vList4"/>
    <dgm:cxn modelId="{B0306598-FE21-4F14-880E-3468DD956420}" type="presParOf" srcId="{89A20D20-C924-4577-AEB2-1D76FB0A7F0A}" destId="{614CBEBB-E830-401A-8039-BAFC7C999A43}" srcOrd="0" destOrd="0" presId="urn:microsoft.com/office/officeart/2005/8/layout/vList4"/>
    <dgm:cxn modelId="{6D2EE5A8-888C-48C0-AB47-C1C453421519}" type="presParOf" srcId="{614CBEBB-E830-401A-8039-BAFC7C999A43}" destId="{DDFEEFD6-B8C1-46A3-98A9-037B8C3BEE02}" srcOrd="0" destOrd="0" presId="urn:microsoft.com/office/officeart/2005/8/layout/vList4"/>
    <dgm:cxn modelId="{181C4931-A15B-44C8-AE7F-1D08E635376C}" type="presParOf" srcId="{614CBEBB-E830-401A-8039-BAFC7C999A43}" destId="{0767C6D3-0D12-44BF-A49B-0F506FA69CDB}" srcOrd="1" destOrd="0" presId="urn:microsoft.com/office/officeart/2005/8/layout/vList4"/>
    <dgm:cxn modelId="{32EF09EA-2C15-46DA-A701-FADFAF21BF9E}" type="presParOf" srcId="{614CBEBB-E830-401A-8039-BAFC7C999A43}" destId="{4F51B74E-D222-47C5-A25F-B81F53480DFD}" srcOrd="2" destOrd="0" presId="urn:microsoft.com/office/officeart/2005/8/layout/vList4"/>
    <dgm:cxn modelId="{2CBA35EF-43A0-49E2-8FC2-2B97FAABDF00}" type="presParOf" srcId="{89A20D20-C924-4577-AEB2-1D76FB0A7F0A}" destId="{2FFC5777-D9D0-43D1-89DF-A6C7C815DFD6}" srcOrd="1" destOrd="0" presId="urn:microsoft.com/office/officeart/2005/8/layout/vList4"/>
    <dgm:cxn modelId="{2F4D489C-9BA6-47B0-A6DB-7FC4673F454D}" type="presParOf" srcId="{89A20D20-C924-4577-AEB2-1D76FB0A7F0A}" destId="{1D15B106-7232-4489-BE41-001ADC5FC923}" srcOrd="2" destOrd="0" presId="urn:microsoft.com/office/officeart/2005/8/layout/vList4"/>
    <dgm:cxn modelId="{3B606BBC-E26D-4EB5-83A6-E53165467308}" type="presParOf" srcId="{1D15B106-7232-4489-BE41-001ADC5FC923}" destId="{0FF7AB20-D29B-4DCC-BDF2-D472E4D98E69}" srcOrd="0" destOrd="0" presId="urn:microsoft.com/office/officeart/2005/8/layout/vList4"/>
    <dgm:cxn modelId="{8161BF51-C8AC-4B3B-BD18-D7EC966A0B71}" type="presParOf" srcId="{1D15B106-7232-4489-BE41-001ADC5FC923}" destId="{7983D88D-EC9F-448C-9D1C-822581E90CC4}" srcOrd="1" destOrd="0" presId="urn:microsoft.com/office/officeart/2005/8/layout/vList4"/>
    <dgm:cxn modelId="{04C226AC-3B41-47A0-9EBE-62DE846B2483}" type="presParOf" srcId="{1D15B106-7232-4489-BE41-001ADC5FC923}" destId="{31D70C8C-59CB-4CE8-ACA3-491E5CF3B6D2}" srcOrd="2" destOrd="0" presId="urn:microsoft.com/office/officeart/2005/8/layout/vList4"/>
    <dgm:cxn modelId="{D7AB4A7B-5120-4645-AE3A-D60E91CD2088}" type="presParOf" srcId="{89A20D20-C924-4577-AEB2-1D76FB0A7F0A}" destId="{61D58281-2085-4194-AAF1-C10B46F8E85F}" srcOrd="3" destOrd="0" presId="urn:microsoft.com/office/officeart/2005/8/layout/vList4"/>
    <dgm:cxn modelId="{1EDEAAD1-E593-48C4-B1A4-52D7BAEECE86}" type="presParOf" srcId="{89A20D20-C924-4577-AEB2-1D76FB0A7F0A}" destId="{C2787408-EC90-4D29-8365-629AFCBDDD66}" srcOrd="4" destOrd="0" presId="urn:microsoft.com/office/officeart/2005/8/layout/vList4"/>
    <dgm:cxn modelId="{2E34BAAB-DEE2-4907-A287-6FF3F22D6291}" type="presParOf" srcId="{C2787408-EC90-4D29-8365-629AFCBDDD66}" destId="{EEEB6E97-F525-4C86-BFFB-8AA4C2B93BA6}" srcOrd="0" destOrd="0" presId="urn:microsoft.com/office/officeart/2005/8/layout/vList4"/>
    <dgm:cxn modelId="{AD562C9B-8AC6-426B-81E2-28E8E273250C}" type="presParOf" srcId="{C2787408-EC90-4D29-8365-629AFCBDDD66}" destId="{1D5107DB-1014-4E40-84AB-87C83A33FEB3}" srcOrd="1" destOrd="0" presId="urn:microsoft.com/office/officeart/2005/8/layout/vList4"/>
    <dgm:cxn modelId="{A9F612E2-8A3C-4797-A11E-C1757BE980CF}" type="presParOf" srcId="{C2787408-EC90-4D29-8365-629AFCBDDD66}" destId="{C0EA5BAB-1A19-4F81-8686-B4063C8A0573}"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EEFD6-B8C1-46A3-98A9-037B8C3BEE02}">
      <dsp:nvSpPr>
        <dsp:cNvPr id="0" name=""/>
        <dsp:cNvSpPr/>
      </dsp:nvSpPr>
      <dsp:spPr>
        <a:xfrm>
          <a:off x="0" y="0"/>
          <a:ext cx="5861355" cy="169989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fr" sz="1100" b="1" kern="1200" dirty="0"/>
            <a:t>Tendances attendues d'une année à l'autre</a:t>
          </a:r>
          <a:r>
            <a:rPr lang="fr" sz="1100" kern="1200" dirty="0"/>
            <a:t>
Pour les interventions clés à couverture élevée (par exemple, CPN1, Penta1), une variation limitée d'une année à l'autre est attendue.
De grandes variations suggèrent généralement des problèmes de qualité des données, à moins qu'il n'y ait une explication programmatique connue.</a:t>
          </a:r>
          <a:endParaRPr lang="en-US" sz="1100" kern="1200" dirty="0"/>
        </a:p>
      </dsp:txBody>
      <dsp:txXfrm>
        <a:off x="1342260" y="0"/>
        <a:ext cx="4519094" cy="1699891"/>
      </dsp:txXfrm>
    </dsp:sp>
    <dsp:sp modelId="{0767C6D3-0D12-44BF-A49B-0F506FA69CDB}">
      <dsp:nvSpPr>
        <dsp:cNvPr id="0" name=""/>
        <dsp:cNvSpPr/>
      </dsp:nvSpPr>
      <dsp:spPr>
        <a:xfrm>
          <a:off x="169989" y="169989"/>
          <a:ext cx="1172271" cy="1359913"/>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58000" b="-5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F7AB20-D29B-4DCC-BDF2-D472E4D98E69}">
      <dsp:nvSpPr>
        <dsp:cNvPr id="0" name=""/>
        <dsp:cNvSpPr/>
      </dsp:nvSpPr>
      <dsp:spPr>
        <a:xfrm>
          <a:off x="0" y="1869881"/>
          <a:ext cx="5861355" cy="1699891"/>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fr" sz="1100" b="1" kern="1200"/>
            <a:t>Identification des données </a:t>
          </a:r>
          <a:r>
            <a:rPr lang="fr" sz="1100" kern="1200"/>
            <a:t>bruyantes
Les données bruitées font référence à de grandes fluctuations inexpliquées du nombre d'interventions signalées.
Les données bruitées compromettent la fiabilité des statistiques de santé de routine.</a:t>
          </a:r>
          <a:endParaRPr lang="en-US" sz="1100" kern="1200"/>
        </a:p>
      </dsp:txBody>
      <dsp:txXfrm>
        <a:off x="1342260" y="1869881"/>
        <a:ext cx="4519094" cy="1699891"/>
      </dsp:txXfrm>
    </dsp:sp>
    <dsp:sp modelId="{7983D88D-EC9F-448C-9D1C-822581E90CC4}">
      <dsp:nvSpPr>
        <dsp:cNvPr id="0" name=""/>
        <dsp:cNvSpPr/>
      </dsp:nvSpPr>
      <dsp:spPr>
        <a:xfrm>
          <a:off x="169989" y="2039870"/>
          <a:ext cx="1172271" cy="1359913"/>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000" b="-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EB6E97-F525-4C86-BFFB-8AA4C2B93BA6}">
      <dsp:nvSpPr>
        <dsp:cNvPr id="0" name=""/>
        <dsp:cNvSpPr/>
      </dsp:nvSpPr>
      <dsp:spPr>
        <a:xfrm>
          <a:off x="0" y="3739762"/>
          <a:ext cx="5861355" cy="1699891"/>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fr" sz="1100" b="1" kern="1200"/>
            <a:t>Détection et correction des valeurs aberrantes</a:t>
          </a:r>
        </a:p>
        <a:p>
          <a:pPr marL="0" lvl="0" indent="0" algn="l" defTabSz="488950">
            <a:lnSpc>
              <a:spcPct val="90000"/>
            </a:lnSpc>
            <a:spcBef>
              <a:spcPct val="0"/>
            </a:spcBef>
            <a:spcAft>
              <a:spcPct val="35000"/>
            </a:spcAft>
            <a:buFont typeface="Arial" panose="020B0604020202020204" pitchFamily="34" charset="0"/>
            <a:buNone/>
          </a:pPr>
          <a:r>
            <a:rPr lang="fr" sz="1100" b="0" kern="1200"/>
            <a:t>Les valeurs aberrantes extrêmes sont définies comme des valeurs supérieures à 5 écarts-types (STD) par rapport à l'écart absolu médian (MAD) au cours des 3 années précédentes.</a:t>
          </a:r>
        </a:p>
        <a:p>
          <a:pPr marL="0" lvl="0" indent="0" algn="l" defTabSz="488950">
            <a:lnSpc>
              <a:spcPct val="90000"/>
            </a:lnSpc>
            <a:spcBef>
              <a:spcPct val="0"/>
            </a:spcBef>
            <a:spcAft>
              <a:spcPct val="35000"/>
            </a:spcAft>
            <a:buFont typeface="Arial" panose="020B0604020202020204" pitchFamily="34" charset="0"/>
            <a:buNone/>
          </a:pPr>
          <a:r>
            <a:rPr lang="fr" sz="1100" b="0" kern="1200"/>
            <a:t>Approche de correction :</a:t>
          </a:r>
        </a:p>
        <a:p>
          <a:pPr marL="0" lvl="0" indent="0" algn="l" defTabSz="488950">
            <a:lnSpc>
              <a:spcPct val="90000"/>
            </a:lnSpc>
            <a:spcBef>
              <a:spcPct val="0"/>
            </a:spcBef>
            <a:spcAft>
              <a:spcPct val="35000"/>
            </a:spcAft>
            <a:buFont typeface="Arial" panose="020B0604020202020204" pitchFamily="34" charset="0"/>
            <a:buNone/>
          </a:pPr>
          <a:r>
            <a:rPr lang="fr" sz="1100" b="0" kern="1200"/>
            <a:t>Remplacez les valeurs aberrantes extrêmes par la valeur médiane de l'année.</a:t>
          </a:r>
        </a:p>
        <a:p>
          <a:pPr marL="0" lvl="0" indent="0" algn="l" defTabSz="488950">
            <a:lnSpc>
              <a:spcPct val="90000"/>
            </a:lnSpc>
            <a:spcBef>
              <a:spcPct val="0"/>
            </a:spcBef>
            <a:spcAft>
              <a:spcPct val="35000"/>
            </a:spcAft>
            <a:buFont typeface="Arial" panose="020B0604020202020204" pitchFamily="34" charset="0"/>
            <a:buNone/>
          </a:pPr>
          <a:r>
            <a:rPr lang="fr" sz="1100" b="0" kern="1200"/>
            <a:t>Une imputation similaire est effectuée pour les valeurs manquantes.</a:t>
          </a:r>
          <a:endParaRPr lang="en-US" sz="1100" b="0" kern="1200"/>
        </a:p>
      </dsp:txBody>
      <dsp:txXfrm>
        <a:off x="1342260" y="3739762"/>
        <a:ext cx="4519094" cy="1699891"/>
      </dsp:txXfrm>
    </dsp:sp>
    <dsp:sp modelId="{1D5107DB-1014-4E40-84AB-87C83A33FEB3}">
      <dsp:nvSpPr>
        <dsp:cNvPr id="0" name=""/>
        <dsp:cNvSpPr/>
      </dsp:nvSpPr>
      <dsp:spPr>
        <a:xfrm>
          <a:off x="169989" y="3909751"/>
          <a:ext cx="1172271" cy="1359913"/>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3000" b="-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571B2-13D3-45EF-A667-948031D53134}" type="datetimeFigureOut">
              <a:rPr lang="fr-FR" smtClean="0"/>
              <a:t>15/12/2025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F6F59-882B-47F7-ACCA-4C7F4B71856B}" type="slidenum">
              <a:rPr lang="fr-FR" smtClean="0"/>
              <a:t>‹N°›</a:t>
            </a:fld>
            <a:endParaRPr lang="fr-FR"/>
          </a:p>
        </p:txBody>
      </p:sp>
    </p:spTree>
    <p:extLst>
      <p:ext uri="{BB962C8B-B14F-4D97-AF65-F5344CB8AC3E}">
        <p14:creationId xmlns:p14="http://schemas.microsoft.com/office/powerpoint/2010/main" val="4119980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a:t>
            </a:fld>
            <a:endParaRPr lang="fr-FR"/>
          </a:p>
        </p:txBody>
      </p:sp>
    </p:spTree>
    <p:extLst>
      <p:ext uri="{BB962C8B-B14F-4D97-AF65-F5344CB8AC3E}">
        <p14:creationId xmlns:p14="http://schemas.microsoft.com/office/powerpoint/2010/main" val="346307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endParaRPr lang="fr-CD" sz="1800" dirty="0">
              <a:solidFill>
                <a:srgbClr val="000000"/>
              </a:solidFill>
              <a:effectLst/>
              <a:latin typeface="Garamond" panose="02020404030301010803" pitchFamily="18"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2</a:t>
            </a:fld>
            <a:endParaRPr lang="fr-FR"/>
          </a:p>
        </p:txBody>
      </p:sp>
    </p:spTree>
    <p:extLst>
      <p:ext uri="{BB962C8B-B14F-4D97-AF65-F5344CB8AC3E}">
        <p14:creationId xmlns:p14="http://schemas.microsoft.com/office/powerpoint/2010/main" val="4059326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3</a:t>
            </a:fld>
            <a:endParaRPr lang="fr-FR"/>
          </a:p>
        </p:txBody>
      </p:sp>
    </p:spTree>
    <p:extLst>
      <p:ext uri="{BB962C8B-B14F-4D97-AF65-F5344CB8AC3E}">
        <p14:creationId xmlns:p14="http://schemas.microsoft.com/office/powerpoint/2010/main" val="3902946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FB36B8-E2DA-4440-AFF0-A28642707E0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459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9</a:t>
            </a:fld>
            <a:endParaRPr lang="fr-FR"/>
          </a:p>
        </p:txBody>
      </p:sp>
    </p:spTree>
    <p:extLst>
      <p:ext uri="{BB962C8B-B14F-4D97-AF65-F5344CB8AC3E}">
        <p14:creationId xmlns:p14="http://schemas.microsoft.com/office/powerpoint/2010/main" val="3469724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10</a:t>
            </a:fld>
            <a:endParaRPr lang="fr-FR"/>
          </a:p>
        </p:txBody>
      </p:sp>
    </p:spTree>
    <p:extLst>
      <p:ext uri="{BB962C8B-B14F-4D97-AF65-F5344CB8AC3E}">
        <p14:creationId xmlns:p14="http://schemas.microsoft.com/office/powerpoint/2010/main" val="1853803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11</a:t>
            </a:fld>
            <a:endParaRPr lang="fr-FR"/>
          </a:p>
        </p:txBody>
      </p:sp>
    </p:spTree>
    <p:extLst>
      <p:ext uri="{BB962C8B-B14F-4D97-AF65-F5344CB8AC3E}">
        <p14:creationId xmlns:p14="http://schemas.microsoft.com/office/powerpoint/2010/main" val="3532298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53554A-94E5-4841-AE7F-ADDBAB20052A}" type="slidenum">
              <a:rPr lang="en-JP" smtClean="0"/>
              <a:t>12</a:t>
            </a:fld>
            <a:endParaRPr lang="en-JP"/>
          </a:p>
        </p:txBody>
      </p:sp>
    </p:spTree>
    <p:extLst>
      <p:ext uri="{BB962C8B-B14F-4D97-AF65-F5344CB8AC3E}">
        <p14:creationId xmlns:p14="http://schemas.microsoft.com/office/powerpoint/2010/main" val="3068321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13</a:t>
            </a:fld>
            <a:endParaRPr lang="fr-FR"/>
          </a:p>
        </p:txBody>
      </p:sp>
    </p:spTree>
    <p:extLst>
      <p:ext uri="{BB962C8B-B14F-4D97-AF65-F5344CB8AC3E}">
        <p14:creationId xmlns:p14="http://schemas.microsoft.com/office/powerpoint/2010/main" val="783193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14</a:t>
            </a:fld>
            <a:endParaRPr lang="fr-FR"/>
          </a:p>
        </p:txBody>
      </p:sp>
    </p:spTree>
    <p:extLst>
      <p:ext uri="{BB962C8B-B14F-4D97-AF65-F5344CB8AC3E}">
        <p14:creationId xmlns:p14="http://schemas.microsoft.com/office/powerpoint/2010/main" val="1873812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15</a:t>
            </a:fld>
            <a:endParaRPr lang="fr-FR"/>
          </a:p>
        </p:txBody>
      </p:sp>
    </p:spTree>
    <p:extLst>
      <p:ext uri="{BB962C8B-B14F-4D97-AF65-F5344CB8AC3E}">
        <p14:creationId xmlns:p14="http://schemas.microsoft.com/office/powerpoint/2010/main" val="2315502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17</a:t>
            </a:fld>
            <a:endParaRPr lang="fr-FR"/>
          </a:p>
        </p:txBody>
      </p:sp>
    </p:spTree>
    <p:extLst>
      <p:ext uri="{BB962C8B-B14F-4D97-AF65-F5344CB8AC3E}">
        <p14:creationId xmlns:p14="http://schemas.microsoft.com/office/powerpoint/2010/main" val="809362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18</a:t>
            </a:fld>
            <a:endParaRPr lang="fr-FR"/>
          </a:p>
        </p:txBody>
      </p:sp>
    </p:spTree>
    <p:extLst>
      <p:ext uri="{BB962C8B-B14F-4D97-AF65-F5344CB8AC3E}">
        <p14:creationId xmlns:p14="http://schemas.microsoft.com/office/powerpoint/2010/main" val="1932917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D" dirty="0"/>
          </a:p>
        </p:txBody>
      </p:sp>
      <p:sp>
        <p:nvSpPr>
          <p:cNvPr id="4" name="Espace réservé du numéro de diapositive 3"/>
          <p:cNvSpPr>
            <a:spLocks noGrp="1"/>
          </p:cNvSpPr>
          <p:nvPr>
            <p:ph type="sldNum" sz="quarter" idx="5"/>
          </p:nvPr>
        </p:nvSpPr>
        <p:spPr/>
        <p:txBody>
          <a:bodyPr/>
          <a:lstStyle/>
          <a:p>
            <a:fld id="{89AF6F59-882B-47F7-ACCA-4C7F4B71856B}" type="slidenum">
              <a:rPr lang="fr-FR" smtClean="0"/>
              <a:t>19</a:t>
            </a:fld>
            <a:endParaRPr lang="fr-FR"/>
          </a:p>
        </p:txBody>
      </p:sp>
    </p:spTree>
    <p:extLst>
      <p:ext uri="{BB962C8B-B14F-4D97-AF65-F5344CB8AC3E}">
        <p14:creationId xmlns:p14="http://schemas.microsoft.com/office/powerpoint/2010/main" val="2792118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E9FEE-C1D1-001C-8B1B-89204CD01B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81E1E9B-9DFE-0C80-DB4E-8FC16F0BF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B29B234-DAA2-E8CD-8FBF-1BF958F7B319}"/>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BEE3F384-066B-0F80-A3E9-D2040B144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4B7558-6EDE-8FFF-212D-736048975E04}"/>
              </a:ext>
            </a:extLst>
          </p:cNvPr>
          <p:cNvSpPr>
            <a:spLocks noGrp="1"/>
          </p:cNvSpPr>
          <p:nvPr>
            <p:ph type="sldNum" sz="quarter" idx="12"/>
          </p:nvPr>
        </p:nvSpPr>
        <p:spPr/>
        <p:txBody>
          <a:bodyPr/>
          <a:lstStyle/>
          <a:p>
            <a:fld id="{F76153AD-1157-D14B-A73A-0E7B8DC90CD9}" type="slidenum">
              <a:rPr lang="en-US" smtClean="0"/>
              <a:t>‹N°›</a:t>
            </a:fld>
            <a:endParaRPr lang="en-US"/>
          </a:p>
        </p:txBody>
      </p:sp>
      <p:pic>
        <p:nvPicPr>
          <p:cNvPr id="7" name="Picture 10" descr="PNLP RDC | Kinshasa">
            <a:extLst>
              <a:ext uri="{FF2B5EF4-FFF2-40B4-BE49-F238E27FC236}">
                <a16:creationId xmlns:a16="http://schemas.microsoft.com/office/drawing/2014/main" id="{EA4EFB29-A115-85D4-8E74-5D0986FCA58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82200" y="4723946"/>
            <a:ext cx="1960880" cy="19608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Programme Élargi de Vaccination de la RDCongo | LinkedIn">
            <a:extLst>
              <a:ext uri="{FF2B5EF4-FFF2-40B4-BE49-F238E27FC236}">
                <a16:creationId xmlns:a16="http://schemas.microsoft.com/office/drawing/2014/main" id="{D3B71929-2EEB-44D7-D121-832C2986117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8920" y="4608513"/>
            <a:ext cx="2023381" cy="2023381"/>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441557572">
            <a:extLst>
              <a:ext uri="{FF2B5EF4-FFF2-40B4-BE49-F238E27FC236}">
                <a16:creationId xmlns:a16="http://schemas.microsoft.com/office/drawing/2014/main" id="{6416F65A-FB59-DE54-10E1-C102920F53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48920" y="136525"/>
            <a:ext cx="2023381" cy="1921273"/>
          </a:xfrm>
          <a:prstGeom prst="rect">
            <a:avLst/>
          </a:prstGeom>
        </p:spPr>
      </p:pic>
    </p:spTree>
    <p:extLst>
      <p:ext uri="{BB962C8B-B14F-4D97-AF65-F5344CB8AC3E}">
        <p14:creationId xmlns:p14="http://schemas.microsoft.com/office/powerpoint/2010/main" val="2724522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9B6C-DDEE-A49D-7EEE-469D01B7871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94BCCAC-F144-3F03-56B3-8C2F2F7FD60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19D972-E1BA-C77D-F8D1-370FD8F33833}"/>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8EFB66B6-767C-212E-00AA-08C3C76D2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21EC9-D38C-6C44-C9EA-93B108CF6861}"/>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1706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FF30-B73F-D9DB-AF04-109B9A9743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59FD77E-DE63-84A0-25B0-ACCCFBE4C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19C419-B40E-084E-5574-47EE348A68DF}"/>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C8612A38-B1A8-2BA5-3C7F-33FC30BFA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17BFE-65AD-DBE0-B492-B3C4E84C8963}"/>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331573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2EAF-BDDE-5997-4FC3-85C64478A84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97EE1E0-9DC6-B41F-0533-0E1F4789B0D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C9EB8B8-731F-8A8D-D374-E9C762E5470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1B4739-8DB1-0A01-3F9D-863076AEEF89}"/>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6" name="Footer Placeholder 5">
            <a:extLst>
              <a:ext uri="{FF2B5EF4-FFF2-40B4-BE49-F238E27FC236}">
                <a16:creationId xmlns:a16="http://schemas.microsoft.com/office/drawing/2014/main" id="{D63DE7DB-814C-1E55-A980-B5DBBDD61B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67CC2-14FC-939F-8D7A-A030E5247BA0}"/>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1379307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02F-552F-0CA8-BFCF-17D8B685F79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B1C2541-408C-5109-3D16-44E5B8ED2F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A258FA1-E39F-9CDC-55C7-1A5060BFF49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26161A7-FC0D-3FDB-B014-41AB6E4998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428EAE-50B2-BD29-83B3-DF17531682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4342E09-C74E-D940-6024-5F10CAC599B3}"/>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8" name="Footer Placeholder 7">
            <a:extLst>
              <a:ext uri="{FF2B5EF4-FFF2-40B4-BE49-F238E27FC236}">
                <a16:creationId xmlns:a16="http://schemas.microsoft.com/office/drawing/2014/main" id="{9A808A29-BB19-C898-E49A-28A2ECE96F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513812-911C-1BAE-0A39-A5D1387390EB}"/>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2736056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750D7-941A-80E1-02DD-493D1A473A4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A820473-D0C2-DFE8-2753-8608E44B4B82}"/>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4" name="Footer Placeholder 3">
            <a:extLst>
              <a:ext uri="{FF2B5EF4-FFF2-40B4-BE49-F238E27FC236}">
                <a16:creationId xmlns:a16="http://schemas.microsoft.com/office/drawing/2014/main" id="{A583ACAC-1C35-4A8A-EBD2-20CE0F964E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E67076-FD4B-42BD-7CD2-8E0F47600475}"/>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4257387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0A4EED-1800-A36F-6278-693647CBD930}"/>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3" name="Footer Placeholder 2">
            <a:extLst>
              <a:ext uri="{FF2B5EF4-FFF2-40B4-BE49-F238E27FC236}">
                <a16:creationId xmlns:a16="http://schemas.microsoft.com/office/drawing/2014/main" id="{E294EDF7-920B-F796-5701-782C842BD1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2E3150-4626-9449-A03B-1E6570926FA1}"/>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55639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2AC0-99D0-3FBD-5B84-A3BAB594FC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075AE41-FD67-C229-8581-D5CCE599FA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479C2DD-A5AA-FD33-0770-406E428CA0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4AC38F-D68D-C349-992C-A4CF83427EAC}"/>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6" name="Footer Placeholder 5">
            <a:extLst>
              <a:ext uri="{FF2B5EF4-FFF2-40B4-BE49-F238E27FC236}">
                <a16:creationId xmlns:a16="http://schemas.microsoft.com/office/drawing/2014/main" id="{A57F7F11-48BC-D781-74CB-A4D91BEF50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51377C-342E-DA0A-6F84-F87BD8840051}"/>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1332499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75F4-6B3C-CC24-1BD8-36A50CFCB0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957F5CA-87CF-29B7-58EE-9707E319C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3B0DA0-FDA7-B4BF-4F93-DBA0EF3DB0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BF3E4C-C8BA-98B6-1B7C-F67A23D03914}"/>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6" name="Footer Placeholder 5">
            <a:extLst>
              <a:ext uri="{FF2B5EF4-FFF2-40B4-BE49-F238E27FC236}">
                <a16:creationId xmlns:a16="http://schemas.microsoft.com/office/drawing/2014/main" id="{61813AA7-CFA2-5D8B-BDEE-5199F73780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3ABC2-31DA-6E11-6588-FA7D4B21118B}"/>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2780793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BBBBB-8971-BA25-0511-54C548CBA1B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E8A0C6-F4DB-A001-2BE6-61771FA38EE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96C4C1-81F2-7ACA-6D1B-50AB0B2B6AF2}"/>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C3AD3B3F-D19A-D99F-8960-E164E6190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59664-3DF6-D0F3-EB98-2AA9E779E7BB}"/>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3460817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76ECBC-4786-A046-1E38-5EDAF56FC5D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A272CA-B308-99A6-E511-6714B702ED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3405701-189E-38F0-7BA7-0AB06E63D166}"/>
              </a:ext>
            </a:extLst>
          </p:cNvPr>
          <p:cNvSpPr>
            <a:spLocks noGrp="1"/>
          </p:cNvSpPr>
          <p:nvPr>
            <p:ph type="dt" sz="half" idx="10"/>
          </p:nvPr>
        </p:nvSpPr>
        <p:spPr/>
        <p:txBody>
          <a:body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552D2460-D350-C77B-FCEA-134850D73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E109C-F79A-4E38-AAE1-B3235506675E}"/>
              </a:ext>
            </a:extLst>
          </p:cNvPr>
          <p:cNvSpPr>
            <a:spLocks noGrp="1"/>
          </p:cNvSpPr>
          <p:nvPr>
            <p:ph type="sldNum" sz="quarter" idx="12"/>
          </p:nvPr>
        </p:nvSpPr>
        <p:spPr/>
        <p:txBody>
          <a:bodyPr/>
          <a:lstStyle/>
          <a:p>
            <a:fld id="{F76153AD-1157-D14B-A73A-0E7B8DC90CD9}" type="slidenum">
              <a:rPr lang="en-US" smtClean="0"/>
              <a:t>‹N°›</a:t>
            </a:fld>
            <a:endParaRPr lang="en-US"/>
          </a:p>
        </p:txBody>
      </p:sp>
    </p:spTree>
    <p:extLst>
      <p:ext uri="{BB962C8B-B14F-4D97-AF65-F5344CB8AC3E}">
        <p14:creationId xmlns:p14="http://schemas.microsoft.com/office/powerpoint/2010/main" val="584069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4DC4B-6132-5F8E-F099-305DAF21A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9C04C8B-164E-7C16-0617-1FFBC4D94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F39AEF-4B0A-FDA5-E2A8-35B639294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ACF0F5-EB37-C94D-9625-3AB1E2DC74E8}" type="datetimeFigureOut">
              <a:rPr lang="en-US" smtClean="0"/>
              <a:t>12/15/2025</a:t>
            </a:fld>
            <a:endParaRPr lang="en-US"/>
          </a:p>
        </p:txBody>
      </p:sp>
      <p:sp>
        <p:nvSpPr>
          <p:cNvPr id="5" name="Footer Placeholder 4">
            <a:extLst>
              <a:ext uri="{FF2B5EF4-FFF2-40B4-BE49-F238E27FC236}">
                <a16:creationId xmlns:a16="http://schemas.microsoft.com/office/drawing/2014/main" id="{EC789F53-777B-D19D-84C4-91F7C4C97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1CEE58-4E09-2F13-954D-CA15C910C1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6153AD-1157-D14B-A73A-0E7B8DC90CD9}" type="slidenum">
              <a:rPr lang="en-US" smtClean="0"/>
              <a:t>‹N°›</a:t>
            </a:fld>
            <a:endParaRPr lang="en-US"/>
          </a:p>
        </p:txBody>
      </p:sp>
    </p:spTree>
    <p:extLst>
      <p:ext uri="{BB962C8B-B14F-4D97-AF65-F5344CB8AC3E}">
        <p14:creationId xmlns:p14="http://schemas.microsoft.com/office/powerpoint/2010/main" val="3254586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CCF11AE-68E0-CEBF-6883-F9209D8ACD06}"/>
              </a:ext>
            </a:extLst>
          </p:cNvPr>
          <p:cNvPicPr>
            <a:picLocks noChangeAspect="1"/>
          </p:cNvPicPr>
          <p:nvPr/>
        </p:nvPicPr>
        <p:blipFill>
          <a:blip r:embed="rId3"/>
          <a:stretch>
            <a:fillRect/>
          </a:stretch>
        </p:blipFill>
        <p:spPr>
          <a:xfrm>
            <a:off x="7125341" y="166972"/>
            <a:ext cx="1101542" cy="1119027"/>
          </a:xfrm>
          <a:prstGeom prst="rect">
            <a:avLst/>
          </a:prstGeom>
        </p:spPr>
      </p:pic>
      <p:sp>
        <p:nvSpPr>
          <p:cNvPr id="8" name="Titre 1">
            <a:extLst>
              <a:ext uri="{FF2B5EF4-FFF2-40B4-BE49-F238E27FC236}">
                <a16:creationId xmlns:a16="http://schemas.microsoft.com/office/drawing/2014/main" id="{45D82DEF-9B6D-2480-3A93-5E6035664656}"/>
              </a:ext>
            </a:extLst>
          </p:cNvPr>
          <p:cNvSpPr txBox="1">
            <a:spLocks/>
          </p:cNvSpPr>
          <p:nvPr/>
        </p:nvSpPr>
        <p:spPr>
          <a:xfrm>
            <a:off x="1524000" y="2170024"/>
            <a:ext cx="9144000"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a:solidFill>
                  <a:srgbClr val="7030A0"/>
                </a:solidFill>
              </a:rPr>
              <a:t>Couverture vaccinale et les inégalités en RDC, données DHIS2 2019 - 2024</a:t>
            </a:r>
          </a:p>
        </p:txBody>
      </p:sp>
      <p:pic>
        <p:nvPicPr>
          <p:cNvPr id="11" name="object 31">
            <a:extLst>
              <a:ext uri="{FF2B5EF4-FFF2-40B4-BE49-F238E27FC236}">
                <a16:creationId xmlns:a16="http://schemas.microsoft.com/office/drawing/2014/main" id="{25D030EB-D8B2-5966-2BC8-F1BFF758EDA8}"/>
              </a:ext>
            </a:extLst>
          </p:cNvPr>
          <p:cNvPicPr/>
          <p:nvPr/>
        </p:nvPicPr>
        <p:blipFill>
          <a:blip r:embed="rId4" cstate="print"/>
          <a:stretch>
            <a:fillRect/>
          </a:stretch>
        </p:blipFill>
        <p:spPr>
          <a:xfrm>
            <a:off x="3685361" y="229136"/>
            <a:ext cx="2720969" cy="1118578"/>
          </a:xfrm>
          <a:prstGeom prst="rect">
            <a:avLst/>
          </a:prstGeom>
        </p:spPr>
      </p:pic>
      <p:pic>
        <p:nvPicPr>
          <p:cNvPr id="12" name="object 34">
            <a:extLst>
              <a:ext uri="{FF2B5EF4-FFF2-40B4-BE49-F238E27FC236}">
                <a16:creationId xmlns:a16="http://schemas.microsoft.com/office/drawing/2014/main" id="{5F56B822-9931-2FC2-C221-ED7BE0F46E19}"/>
              </a:ext>
            </a:extLst>
          </p:cNvPr>
          <p:cNvPicPr/>
          <p:nvPr/>
        </p:nvPicPr>
        <p:blipFill>
          <a:blip r:embed="rId5" cstate="print"/>
          <a:stretch>
            <a:fillRect/>
          </a:stretch>
        </p:blipFill>
        <p:spPr>
          <a:xfrm>
            <a:off x="465107" y="417468"/>
            <a:ext cx="2720968" cy="848089"/>
          </a:xfrm>
          <a:prstGeom prst="rect">
            <a:avLst/>
          </a:prstGeom>
        </p:spPr>
      </p:pic>
      <p:pic>
        <p:nvPicPr>
          <p:cNvPr id="13" name="object 32">
            <a:extLst>
              <a:ext uri="{FF2B5EF4-FFF2-40B4-BE49-F238E27FC236}">
                <a16:creationId xmlns:a16="http://schemas.microsoft.com/office/drawing/2014/main" id="{9843A164-A13A-A738-27E6-52CC925D8F75}"/>
              </a:ext>
            </a:extLst>
          </p:cNvPr>
          <p:cNvPicPr/>
          <p:nvPr/>
        </p:nvPicPr>
        <p:blipFill>
          <a:blip r:embed="rId6" cstate="print"/>
          <a:stretch>
            <a:fillRect/>
          </a:stretch>
        </p:blipFill>
        <p:spPr>
          <a:xfrm>
            <a:off x="8650991" y="5379934"/>
            <a:ext cx="2267732" cy="838967"/>
          </a:xfrm>
          <a:prstGeom prst="rect">
            <a:avLst/>
          </a:prstGeom>
        </p:spPr>
      </p:pic>
      <p:pic>
        <p:nvPicPr>
          <p:cNvPr id="14" name="object 27">
            <a:extLst>
              <a:ext uri="{FF2B5EF4-FFF2-40B4-BE49-F238E27FC236}">
                <a16:creationId xmlns:a16="http://schemas.microsoft.com/office/drawing/2014/main" id="{EB14C5EA-31D9-CEB8-1DCB-DA175CEEDBFE}"/>
              </a:ext>
            </a:extLst>
          </p:cNvPr>
          <p:cNvPicPr/>
          <p:nvPr/>
        </p:nvPicPr>
        <p:blipFill>
          <a:blip r:embed="rId7" cstate="print"/>
          <a:stretch>
            <a:fillRect/>
          </a:stretch>
        </p:blipFill>
        <p:spPr>
          <a:xfrm>
            <a:off x="6096000" y="5173063"/>
            <a:ext cx="1538098" cy="1302797"/>
          </a:xfrm>
          <a:prstGeom prst="rect">
            <a:avLst/>
          </a:prstGeom>
        </p:spPr>
      </p:pic>
      <p:pic>
        <p:nvPicPr>
          <p:cNvPr id="15" name="object 25">
            <a:extLst>
              <a:ext uri="{FF2B5EF4-FFF2-40B4-BE49-F238E27FC236}">
                <a16:creationId xmlns:a16="http://schemas.microsoft.com/office/drawing/2014/main" id="{A53907A7-3EA2-6487-384F-753D970ECF02}"/>
              </a:ext>
            </a:extLst>
          </p:cNvPr>
          <p:cNvPicPr/>
          <p:nvPr/>
        </p:nvPicPr>
        <p:blipFill>
          <a:blip r:embed="rId8" cstate="print"/>
          <a:stretch>
            <a:fillRect/>
          </a:stretch>
        </p:blipFill>
        <p:spPr>
          <a:xfrm>
            <a:off x="1229443" y="5379934"/>
            <a:ext cx="1451710" cy="1130327"/>
          </a:xfrm>
          <a:prstGeom prst="rect">
            <a:avLst/>
          </a:prstGeom>
        </p:spPr>
      </p:pic>
      <p:pic>
        <p:nvPicPr>
          <p:cNvPr id="16" name="object 26">
            <a:extLst>
              <a:ext uri="{FF2B5EF4-FFF2-40B4-BE49-F238E27FC236}">
                <a16:creationId xmlns:a16="http://schemas.microsoft.com/office/drawing/2014/main" id="{F2524267-D0C5-4B17-E8E8-7306A14805A3}"/>
              </a:ext>
            </a:extLst>
          </p:cNvPr>
          <p:cNvPicPr/>
          <p:nvPr/>
        </p:nvPicPr>
        <p:blipFill>
          <a:blip r:embed="rId9" cstate="print"/>
          <a:stretch>
            <a:fillRect/>
          </a:stretch>
        </p:blipFill>
        <p:spPr>
          <a:xfrm>
            <a:off x="3488432" y="5173063"/>
            <a:ext cx="1451710" cy="1455801"/>
          </a:xfrm>
          <a:prstGeom prst="rect">
            <a:avLst/>
          </a:prstGeom>
        </p:spPr>
      </p:pic>
      <p:pic>
        <p:nvPicPr>
          <p:cNvPr id="18" name="Image 17">
            <a:extLst>
              <a:ext uri="{FF2B5EF4-FFF2-40B4-BE49-F238E27FC236}">
                <a16:creationId xmlns:a16="http://schemas.microsoft.com/office/drawing/2014/main" id="{AF0FB4FB-03FC-13CF-B704-A6C4909E1C1B}"/>
              </a:ext>
            </a:extLst>
          </p:cNvPr>
          <p:cNvPicPr>
            <a:picLocks noChangeAspect="1"/>
          </p:cNvPicPr>
          <p:nvPr/>
        </p:nvPicPr>
        <p:blipFill>
          <a:blip r:embed="rId10"/>
          <a:stretch>
            <a:fillRect/>
          </a:stretch>
        </p:blipFill>
        <p:spPr>
          <a:xfrm>
            <a:off x="9213407" y="306851"/>
            <a:ext cx="1905000" cy="766929"/>
          </a:xfrm>
          <a:prstGeom prst="rect">
            <a:avLst/>
          </a:prstGeom>
        </p:spPr>
      </p:pic>
      <p:sp>
        <p:nvSpPr>
          <p:cNvPr id="2" name="ZoneTexte 1">
            <a:extLst>
              <a:ext uri="{FF2B5EF4-FFF2-40B4-BE49-F238E27FC236}">
                <a16:creationId xmlns:a16="http://schemas.microsoft.com/office/drawing/2014/main" id="{EA2FE7ED-5668-EF4A-3C7E-3704E4F04A04}"/>
              </a:ext>
            </a:extLst>
          </p:cNvPr>
          <p:cNvSpPr txBox="1"/>
          <p:nvPr/>
        </p:nvSpPr>
        <p:spPr>
          <a:xfrm>
            <a:off x="2747953" y="4326791"/>
            <a:ext cx="7036904" cy="461665"/>
          </a:xfrm>
          <a:prstGeom prst="rect">
            <a:avLst/>
          </a:prstGeom>
          <a:noFill/>
        </p:spPr>
        <p:txBody>
          <a:bodyPr wrap="square" rtlCol="0">
            <a:spAutoFit/>
          </a:bodyPr>
          <a:lstStyle/>
          <a:p>
            <a:pPr algn="ctr"/>
            <a:r>
              <a:rPr lang="fr-FR" sz="2400" b="1" dirty="0">
                <a:solidFill>
                  <a:schemeClr val="accent4">
                    <a:lumMod val="75000"/>
                  </a:schemeClr>
                </a:solidFill>
              </a:rPr>
              <a:t>Francis KABASUBABO, MD, MPH, </a:t>
            </a:r>
            <a:r>
              <a:rPr lang="fr-FR" sz="2400" b="1" dirty="0" err="1">
                <a:solidFill>
                  <a:schemeClr val="accent4">
                    <a:lumMod val="75000"/>
                  </a:schemeClr>
                </a:solidFill>
              </a:rPr>
              <a:t>PhDs</a:t>
            </a:r>
            <a:endParaRPr lang="fr-CD" sz="2400" b="1" dirty="0">
              <a:solidFill>
                <a:schemeClr val="accent4">
                  <a:lumMod val="75000"/>
                </a:schemeClr>
              </a:solidFill>
            </a:endParaRPr>
          </a:p>
        </p:txBody>
      </p:sp>
    </p:spTree>
    <p:extLst>
      <p:ext uri="{BB962C8B-B14F-4D97-AF65-F5344CB8AC3E}">
        <p14:creationId xmlns:p14="http://schemas.microsoft.com/office/powerpoint/2010/main" val="414531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17">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75DCAD6-15C9-035C-CB02-CF34E26DE026}"/>
              </a:ext>
            </a:extLst>
          </p:cNvPr>
          <p:cNvSpPr>
            <a:spLocks noGrp="1"/>
          </p:cNvSpPr>
          <p:nvPr>
            <p:ph type="title"/>
          </p:nvPr>
        </p:nvSpPr>
        <p:spPr>
          <a:xfrm>
            <a:off x="6525113" y="147469"/>
            <a:ext cx="4156512" cy="470451"/>
          </a:xfrm>
        </p:spPr>
        <p:txBody>
          <a:bodyPr vert="horz" lIns="91440" tIns="45720" rIns="91440" bIns="45720" rtlCol="0" anchor="ctr">
            <a:normAutofit fontScale="90000"/>
          </a:bodyPr>
          <a:lstStyle/>
          <a:p>
            <a:r>
              <a:rPr lang="en-US" sz="4000" b="1" dirty="0" err="1"/>
              <a:t>Contexte</a:t>
            </a:r>
            <a:endParaRPr lang="en-US" sz="4000" b="1" dirty="0"/>
          </a:p>
        </p:txBody>
      </p:sp>
      <p:pic>
        <p:nvPicPr>
          <p:cNvPr id="5" name="Picture 12">
            <a:extLst>
              <a:ext uri="{FF2B5EF4-FFF2-40B4-BE49-F238E27FC236}">
                <a16:creationId xmlns:a16="http://schemas.microsoft.com/office/drawing/2014/main" id="{63AEEF39-957E-274F-17D2-A537F8C0D366}"/>
              </a:ext>
            </a:extLst>
          </p:cNvPr>
          <p:cNvPicPr>
            <a:picLocks noChangeAspect="1"/>
          </p:cNvPicPr>
          <p:nvPr/>
        </p:nvPicPr>
        <p:blipFill rotWithShape="1">
          <a:blip r:embed="rId3"/>
          <a:srcRect l="19472" r="21417"/>
          <a:stretch>
            <a:fillRect/>
          </a:stretch>
        </p:blipFill>
        <p:spPr>
          <a:xfrm>
            <a:off x="-68176" y="0"/>
            <a:ext cx="5485002" cy="6933094"/>
          </a:xfrm>
          <a:prstGeom prst="rect">
            <a:avLst/>
          </a:prstGeom>
        </p:spPr>
      </p:pic>
      <p:sp>
        <p:nvSpPr>
          <p:cNvPr id="6" name="ZoneTexte 5">
            <a:extLst>
              <a:ext uri="{FF2B5EF4-FFF2-40B4-BE49-F238E27FC236}">
                <a16:creationId xmlns:a16="http://schemas.microsoft.com/office/drawing/2014/main" id="{0D43C78F-7777-A8E1-DBE4-C57006A63876}"/>
              </a:ext>
            </a:extLst>
          </p:cNvPr>
          <p:cNvSpPr txBox="1"/>
          <p:nvPr/>
        </p:nvSpPr>
        <p:spPr>
          <a:xfrm>
            <a:off x="5623724" y="765389"/>
            <a:ext cx="5792690" cy="544764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fr-CD" sz="20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La vaccination demeure une priorité majeure de SP en RDC</a:t>
            </a:r>
          </a:p>
          <a:p>
            <a:pPr marL="285750" indent="-285750" algn="just">
              <a:lnSpc>
                <a:spcPct val="150000"/>
              </a:lnSpc>
              <a:buFont typeface="Wingdings" panose="05000000000000000000" pitchFamily="2" charset="2"/>
              <a:buChar char="q"/>
            </a:pPr>
            <a:r>
              <a:rPr lang="fr-CD" sz="2000" dirty="0">
                <a:solidFill>
                  <a:srgbClr val="000000"/>
                </a:solidFill>
                <a:latin typeface="Garamond" panose="02020404030301010803" pitchFamily="18" charset="0"/>
                <a:ea typeface="Calibri" panose="020F0502020204030204" pitchFamily="34" charset="0"/>
                <a:cs typeface="Arial" panose="020B0604020202020204" pitchFamily="34" charset="0"/>
              </a:rPr>
              <a:t>D</a:t>
            </a:r>
            <a:r>
              <a:rPr lang="fr-CD" sz="20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ifficultés résultent de disparités géographiques, de contraintes logistiques, d’instabilités sécuritaires et de barrières sociocommunautaires.</a:t>
            </a:r>
          </a:p>
          <a:p>
            <a:pPr marL="285750" indent="-285750" algn="just">
              <a:lnSpc>
                <a:spcPct val="150000"/>
              </a:lnSpc>
              <a:buFont typeface="Wingdings" panose="05000000000000000000" pitchFamily="2" charset="2"/>
              <a:buChar char="q"/>
            </a:pPr>
            <a:r>
              <a:rPr lang="fr-CD" sz="20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EDS, MICS: sont peu fréquentes</a:t>
            </a:r>
          </a:p>
          <a:p>
            <a:pPr marL="285750" indent="-285750" algn="just">
              <a:lnSpc>
                <a:spcPct val="150000"/>
              </a:lnSpc>
              <a:buFont typeface="Wingdings" panose="05000000000000000000" pitchFamily="2" charset="2"/>
              <a:buChar char="q"/>
            </a:pPr>
            <a:r>
              <a:rPr lang="fr-CD" sz="2000" dirty="0">
                <a:solidFill>
                  <a:srgbClr val="7030A0"/>
                </a:solidFill>
                <a:effectLst/>
                <a:latin typeface="Garamond" panose="02020404030301010803" pitchFamily="18" charset="0"/>
                <a:ea typeface="Calibri" panose="020F0502020204030204" pitchFamily="34" charset="0"/>
                <a:cs typeface="Arial" panose="020B0604020202020204" pitchFamily="34" charset="0"/>
              </a:rPr>
              <a:t>L’analyse des données de routine issues du DHIS2 devient essentielle pour générer des proxys fiables, suivre les tendances, identifier les zones à faible performance et appuyer la prise de décision programmative.</a:t>
            </a:r>
            <a:endParaRPr lang="fr-CD" sz="1800" dirty="0">
              <a:solidFill>
                <a:srgbClr val="7030A0"/>
              </a:solidFill>
              <a:effectLst/>
              <a:latin typeface="Garamond" panose="02020404030301010803" pitchFamily="18" charset="0"/>
              <a:ea typeface="Calibri" panose="020F0502020204030204" pitchFamily="34" charset="0"/>
              <a:cs typeface="Arial" panose="020B0604020202020204" pitchFamily="34" charset="0"/>
            </a:endParaRPr>
          </a:p>
          <a:p>
            <a:pPr marL="285750" indent="-285750">
              <a:buFont typeface="Wingdings" panose="05000000000000000000" pitchFamily="2" charset="2"/>
              <a:buChar char="q"/>
            </a:pPr>
            <a:endParaRPr lang="fr-CD" dirty="0"/>
          </a:p>
        </p:txBody>
      </p:sp>
    </p:spTree>
    <p:extLst>
      <p:ext uri="{BB962C8B-B14F-4D97-AF65-F5344CB8AC3E}">
        <p14:creationId xmlns:p14="http://schemas.microsoft.com/office/powerpoint/2010/main" val="398351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86523B9-26DF-F8D0-D049-8912797C4670}"/>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4000" kern="1200" dirty="0">
                <a:solidFill>
                  <a:schemeClr val="tx1"/>
                </a:solidFill>
                <a:latin typeface="+mj-lt"/>
                <a:ea typeface="+mj-ea"/>
                <a:cs typeface="+mj-cs"/>
              </a:rPr>
              <a:t>Données: extraction de données mensuelles par ZS dans le DHIS2 2019 à 2024</a:t>
            </a:r>
          </a:p>
        </p:txBody>
      </p:sp>
      <p:pic>
        <p:nvPicPr>
          <p:cNvPr id="16" name="Image 15">
            <a:extLst>
              <a:ext uri="{FF2B5EF4-FFF2-40B4-BE49-F238E27FC236}">
                <a16:creationId xmlns:a16="http://schemas.microsoft.com/office/drawing/2014/main" id="{778D48B8-E96F-960C-E32B-A7BCE46D3BD1}"/>
              </a:ext>
            </a:extLst>
          </p:cNvPr>
          <p:cNvPicPr>
            <a:picLocks noChangeAspect="1"/>
          </p:cNvPicPr>
          <p:nvPr/>
        </p:nvPicPr>
        <p:blipFill>
          <a:blip r:embed="rId3"/>
          <a:stretch>
            <a:fillRect/>
          </a:stretch>
        </p:blipFill>
        <p:spPr>
          <a:xfrm>
            <a:off x="1072584" y="2110260"/>
            <a:ext cx="3845104" cy="4497198"/>
          </a:xfrm>
          <a:prstGeom prst="rect">
            <a:avLst/>
          </a:prstGeom>
        </p:spPr>
      </p:pic>
      <p:pic>
        <p:nvPicPr>
          <p:cNvPr id="20" name="Image 19" descr="Une image contenant texte, capture d’écran, logo, Police&#10;&#10;Description générée automatiquement">
            <a:extLst>
              <a:ext uri="{FF2B5EF4-FFF2-40B4-BE49-F238E27FC236}">
                <a16:creationId xmlns:a16="http://schemas.microsoft.com/office/drawing/2014/main" id="{28A35782-75AA-8D5E-2E67-086E1D654EE0}"/>
              </a:ext>
            </a:extLst>
          </p:cNvPr>
          <p:cNvPicPr>
            <a:picLocks noChangeAspect="1"/>
          </p:cNvPicPr>
          <p:nvPr/>
        </p:nvPicPr>
        <p:blipFill>
          <a:blip r:embed="rId4"/>
          <a:stretch>
            <a:fillRect/>
          </a:stretch>
        </p:blipFill>
        <p:spPr>
          <a:xfrm>
            <a:off x="5569936" y="2413677"/>
            <a:ext cx="5828261" cy="3890364"/>
          </a:xfrm>
          <a:prstGeom prst="rect">
            <a:avLst/>
          </a:prstGeom>
        </p:spPr>
      </p:pic>
    </p:spTree>
    <p:extLst>
      <p:ext uri="{BB962C8B-B14F-4D97-AF65-F5344CB8AC3E}">
        <p14:creationId xmlns:p14="http://schemas.microsoft.com/office/powerpoint/2010/main" val="335271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9F57-1D79-4374-4F10-7CAD726B55CC}"/>
            </a:ext>
          </a:extLst>
        </p:cNvPr>
        <p:cNvGrpSpPr/>
        <p:nvPr/>
      </p:nvGrpSpPr>
      <p:grpSpPr>
        <a:xfrm>
          <a:off x="0" y="0"/>
          <a:ext cx="0" cy="0"/>
          <a:chOff x="0" y="0"/>
          <a:chExt cx="0" cy="0"/>
        </a:xfrm>
      </p:grpSpPr>
      <p:pic>
        <p:nvPicPr>
          <p:cNvPr id="11" name="Image 10">
            <a:extLst>
              <a:ext uri="{FF2B5EF4-FFF2-40B4-BE49-F238E27FC236}">
                <a16:creationId xmlns:a16="http://schemas.microsoft.com/office/drawing/2014/main" id="{FE5969CD-BC4B-B8BD-363B-AE1A8651011A}"/>
              </a:ext>
            </a:extLst>
          </p:cNvPr>
          <p:cNvPicPr>
            <a:picLocks noChangeAspect="1"/>
          </p:cNvPicPr>
          <p:nvPr/>
        </p:nvPicPr>
        <p:blipFill>
          <a:blip r:embed="rId2"/>
          <a:stretch>
            <a:fillRect/>
          </a:stretch>
        </p:blipFill>
        <p:spPr>
          <a:xfrm>
            <a:off x="0" y="705796"/>
            <a:ext cx="12192000" cy="5705272"/>
          </a:xfrm>
          <a:prstGeom prst="rect">
            <a:avLst/>
          </a:prstGeom>
        </p:spPr>
      </p:pic>
      <p:sp>
        <p:nvSpPr>
          <p:cNvPr id="2" name="ZoneTexte 1">
            <a:extLst>
              <a:ext uri="{FF2B5EF4-FFF2-40B4-BE49-F238E27FC236}">
                <a16:creationId xmlns:a16="http://schemas.microsoft.com/office/drawing/2014/main" id="{73B79F87-6006-DDCE-9C6F-CDC66F2EF717}"/>
              </a:ext>
            </a:extLst>
          </p:cNvPr>
          <p:cNvSpPr txBox="1"/>
          <p:nvPr/>
        </p:nvSpPr>
        <p:spPr>
          <a:xfrm>
            <a:off x="361122" y="6411068"/>
            <a:ext cx="5734878" cy="377687"/>
          </a:xfrm>
          <a:prstGeom prst="rect">
            <a:avLst/>
          </a:prstGeom>
          <a:noFill/>
        </p:spPr>
        <p:txBody>
          <a:bodyPr wrap="square" rtlCol="0">
            <a:spAutoFit/>
          </a:bodyPr>
          <a:lstStyle/>
          <a:p>
            <a:r>
              <a:rPr lang="fr-FR" dirty="0">
                <a:solidFill>
                  <a:srgbClr val="FF0000"/>
                </a:solidFill>
              </a:rPr>
              <a:t>Données d’entrée par mois, par district et par indicateur</a:t>
            </a:r>
            <a:endParaRPr lang="fr-CD" dirty="0">
              <a:solidFill>
                <a:srgbClr val="FF0000"/>
              </a:solidFill>
            </a:endParaRPr>
          </a:p>
        </p:txBody>
      </p:sp>
    </p:spTree>
    <p:extLst>
      <p:ext uri="{BB962C8B-B14F-4D97-AF65-F5344CB8AC3E}">
        <p14:creationId xmlns:p14="http://schemas.microsoft.com/office/powerpoint/2010/main" val="425816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9E6ACDA-83D8-EB78-E004-C518D00EFB70}"/>
              </a:ext>
            </a:extLst>
          </p:cNvPr>
          <p:cNvSpPr>
            <a:spLocks noGrp="1"/>
          </p:cNvSpPr>
          <p:nvPr>
            <p:ph idx="1"/>
          </p:nvPr>
        </p:nvSpPr>
        <p:spPr>
          <a:xfrm>
            <a:off x="629479" y="478078"/>
            <a:ext cx="10515600" cy="5972418"/>
          </a:xfrm>
        </p:spPr>
        <p:txBody>
          <a:bodyPr>
            <a:normAutofit lnSpcReduction="10000"/>
          </a:bodyPr>
          <a:lstStyle/>
          <a:p>
            <a:pPr algn="just">
              <a:lnSpc>
                <a:spcPct val="150000"/>
              </a:lnSpc>
            </a:pPr>
            <a:r>
              <a:rPr lang="fr-FR" dirty="0">
                <a:latin typeface="Garamond" panose="02020404030301010803" pitchFamily="18" charset="0"/>
              </a:rPr>
              <a:t>Les données des CS régulièrement déclarées constituent une source importante de données pour les indicateurs de santé</a:t>
            </a:r>
          </a:p>
          <a:p>
            <a:pPr algn="just">
              <a:lnSpc>
                <a:spcPct val="150000"/>
              </a:lnSpc>
            </a:pPr>
            <a:r>
              <a:rPr lang="fr-FR" dirty="0">
                <a:latin typeface="Garamond" panose="02020404030301010803" pitchFamily="18" charset="0"/>
              </a:rPr>
              <a:t>Ces données sont rapportées par le CS sur des évènements tels que la vaccination administrée ou les naissances vivantes</a:t>
            </a:r>
          </a:p>
          <a:p>
            <a:pPr algn="just">
              <a:lnSpc>
                <a:spcPct val="150000"/>
              </a:lnSpc>
            </a:pPr>
            <a:r>
              <a:rPr lang="fr-FR" dirty="0">
                <a:latin typeface="Garamond" panose="02020404030301010803" pitchFamily="18" charset="0"/>
              </a:rPr>
              <a:t>Comme pour toutes les données, la qualité est un problème.</a:t>
            </a:r>
          </a:p>
          <a:p>
            <a:pPr algn="just">
              <a:lnSpc>
                <a:spcPct val="150000"/>
              </a:lnSpc>
            </a:pPr>
            <a:r>
              <a:rPr lang="fr-FR" dirty="0">
                <a:latin typeface="Garamond" panose="02020404030301010803" pitchFamily="18" charset="0"/>
              </a:rPr>
              <a:t>Les données sont évaluées pour vérifier l’exhaustivité des rapports des CS, la présence des valeurs aberrantes extrêmes et la cohérence interne</a:t>
            </a:r>
          </a:p>
          <a:p>
            <a:pPr algn="just">
              <a:lnSpc>
                <a:spcPct val="150000"/>
              </a:lnSpc>
            </a:pPr>
            <a:r>
              <a:rPr lang="fr-FR" dirty="0">
                <a:latin typeface="Garamond" panose="02020404030301010803" pitchFamily="18" charset="0"/>
              </a:rPr>
              <a:t>Des ajustements appropriés sont apportés aux données avant leur utilisation pour les calculs des statistiques</a:t>
            </a:r>
            <a:endParaRPr lang="fr-CD" dirty="0">
              <a:latin typeface="Garamond" panose="02020404030301010803" pitchFamily="18" charset="0"/>
            </a:endParaRPr>
          </a:p>
        </p:txBody>
      </p:sp>
    </p:spTree>
    <p:extLst>
      <p:ext uri="{BB962C8B-B14F-4D97-AF65-F5344CB8AC3E}">
        <p14:creationId xmlns:p14="http://schemas.microsoft.com/office/powerpoint/2010/main" val="650671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3C014D1-180E-254A-D1AD-9DD6BFB4C356}"/>
              </a:ext>
            </a:extLst>
          </p:cNvPr>
          <p:cNvSpPr/>
          <p:nvPr/>
        </p:nvSpPr>
        <p:spPr>
          <a:xfrm>
            <a:off x="0" y="3432002"/>
            <a:ext cx="12191999" cy="3418393"/>
          </a:xfrm>
          <a:prstGeom prst="rect">
            <a:avLst/>
          </a:prstGeom>
          <a:solidFill>
            <a:srgbClr val="00B0F0"/>
          </a:solid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699B0D29-F791-3744-7107-E4C30E2A9782}"/>
              </a:ext>
            </a:extLst>
          </p:cNvPr>
          <p:cNvSpPr/>
          <p:nvPr/>
        </p:nvSpPr>
        <p:spPr>
          <a:xfrm>
            <a:off x="0" y="597028"/>
            <a:ext cx="12192000" cy="2820982"/>
          </a:xfrm>
          <a:prstGeom prst="rect">
            <a:avLst/>
          </a:prstGeom>
          <a:solidFill>
            <a:srgbClr val="92D050"/>
          </a:solid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Title 4">
            <a:extLst>
              <a:ext uri="{FF2B5EF4-FFF2-40B4-BE49-F238E27FC236}">
                <a16:creationId xmlns:a16="http://schemas.microsoft.com/office/drawing/2014/main" id="{B9C387BE-8627-44F8-8133-1926A56D6DFF}"/>
              </a:ext>
            </a:extLst>
          </p:cNvPr>
          <p:cNvSpPr>
            <a:spLocks noGrp="1"/>
          </p:cNvSpPr>
          <p:nvPr>
            <p:ph type="title"/>
          </p:nvPr>
        </p:nvSpPr>
        <p:spPr>
          <a:xfrm>
            <a:off x="0" y="-37221"/>
            <a:ext cx="12192000" cy="661118"/>
          </a:xfrm>
        </p:spPr>
        <p:txBody>
          <a:bodyPr/>
          <a:lstStyle/>
          <a:p>
            <a:r>
              <a:rPr lang="fr" sz="3199" dirty="0"/>
              <a:t>Étapes méthodologiques</a:t>
            </a:r>
          </a:p>
        </p:txBody>
      </p:sp>
      <p:grpSp>
        <p:nvGrpSpPr>
          <p:cNvPr id="53" name="Group 52">
            <a:extLst>
              <a:ext uri="{FF2B5EF4-FFF2-40B4-BE49-F238E27FC236}">
                <a16:creationId xmlns:a16="http://schemas.microsoft.com/office/drawing/2014/main" id="{95833F91-510F-BB41-ACBE-CA3E71A4E0A9}"/>
              </a:ext>
            </a:extLst>
          </p:cNvPr>
          <p:cNvGrpSpPr/>
          <p:nvPr/>
        </p:nvGrpSpPr>
        <p:grpSpPr>
          <a:xfrm>
            <a:off x="331211" y="649717"/>
            <a:ext cx="11529578" cy="6046280"/>
            <a:chOff x="330460" y="649355"/>
            <a:chExt cx="11531079" cy="6047067"/>
          </a:xfrm>
        </p:grpSpPr>
        <p:sp>
          <p:nvSpPr>
            <p:cNvPr id="158" name="Arrow: Down 157">
              <a:extLst>
                <a:ext uri="{FF2B5EF4-FFF2-40B4-BE49-F238E27FC236}">
                  <a16:creationId xmlns:a16="http://schemas.microsoft.com/office/drawing/2014/main" id="{897C695C-3632-FF65-229E-BFE851F260AB}"/>
                </a:ext>
              </a:extLst>
            </p:cNvPr>
            <p:cNvSpPr/>
            <p:nvPr/>
          </p:nvSpPr>
          <p:spPr>
            <a:xfrm>
              <a:off x="6278772" y="3224036"/>
              <a:ext cx="182880" cy="228600"/>
            </a:xfrm>
            <a:prstGeom prst="downArrow">
              <a:avLst/>
            </a:prstGeom>
            <a:solidFill>
              <a:srgbClr val="843C0C"/>
            </a:solidFill>
            <a:ln>
              <a:solidFill>
                <a:srgbClr val="843C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Arrow: Down 9">
              <a:extLst>
                <a:ext uri="{FF2B5EF4-FFF2-40B4-BE49-F238E27FC236}">
                  <a16:creationId xmlns:a16="http://schemas.microsoft.com/office/drawing/2014/main" id="{D2988086-59E4-CD9D-D2F3-12B2CDCA7FFF}"/>
                </a:ext>
              </a:extLst>
            </p:cNvPr>
            <p:cNvSpPr/>
            <p:nvPr/>
          </p:nvSpPr>
          <p:spPr>
            <a:xfrm>
              <a:off x="5400207" y="4230755"/>
              <a:ext cx="189085" cy="274320"/>
            </a:xfrm>
            <a:prstGeom prst="downArrow">
              <a:avLst/>
            </a:prstGeom>
            <a:solidFill>
              <a:srgbClr val="843C0C"/>
            </a:solidFill>
            <a:ln>
              <a:solidFill>
                <a:srgbClr val="843C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3" name="Group 42">
              <a:extLst>
                <a:ext uri="{FF2B5EF4-FFF2-40B4-BE49-F238E27FC236}">
                  <a16:creationId xmlns:a16="http://schemas.microsoft.com/office/drawing/2014/main" id="{05B4F4A7-F444-1706-A1A0-DECB395B5963}"/>
                </a:ext>
              </a:extLst>
            </p:cNvPr>
            <p:cNvGrpSpPr/>
            <p:nvPr/>
          </p:nvGrpSpPr>
          <p:grpSpPr>
            <a:xfrm>
              <a:off x="330460" y="649355"/>
              <a:ext cx="11531079" cy="6047067"/>
              <a:chOff x="320282" y="722704"/>
              <a:chExt cx="11531079" cy="6047067"/>
            </a:xfrm>
          </p:grpSpPr>
          <p:grpSp>
            <p:nvGrpSpPr>
              <p:cNvPr id="71" name="Group 70">
                <a:extLst>
                  <a:ext uri="{FF2B5EF4-FFF2-40B4-BE49-F238E27FC236}">
                    <a16:creationId xmlns:a16="http://schemas.microsoft.com/office/drawing/2014/main" id="{21252565-3497-8A2A-A909-A64CD1996436}"/>
                  </a:ext>
                </a:extLst>
              </p:cNvPr>
              <p:cNvGrpSpPr/>
              <p:nvPr/>
            </p:nvGrpSpPr>
            <p:grpSpPr>
              <a:xfrm>
                <a:off x="320282" y="722704"/>
                <a:ext cx="11531079" cy="6047067"/>
                <a:chOff x="442118" y="528636"/>
                <a:chExt cx="11531079" cy="6047067"/>
              </a:xfrm>
            </p:grpSpPr>
            <p:grpSp>
              <p:nvGrpSpPr>
                <p:cNvPr id="119" name="Group 118">
                  <a:extLst>
                    <a:ext uri="{FF2B5EF4-FFF2-40B4-BE49-F238E27FC236}">
                      <a16:creationId xmlns:a16="http://schemas.microsoft.com/office/drawing/2014/main" id="{92CB5A70-AE6B-50B1-FD4C-C645EC6682CC}"/>
                    </a:ext>
                  </a:extLst>
                </p:cNvPr>
                <p:cNvGrpSpPr/>
                <p:nvPr/>
              </p:nvGrpSpPr>
              <p:grpSpPr>
                <a:xfrm>
                  <a:off x="442118" y="528636"/>
                  <a:ext cx="10208061" cy="5976686"/>
                  <a:chOff x="3027892" y="-118966"/>
                  <a:chExt cx="8728930" cy="3821587"/>
                </a:xfrm>
              </p:grpSpPr>
              <p:grpSp>
                <p:nvGrpSpPr>
                  <p:cNvPr id="127" name="Group 126">
                    <a:extLst>
                      <a:ext uri="{FF2B5EF4-FFF2-40B4-BE49-F238E27FC236}">
                        <a16:creationId xmlns:a16="http://schemas.microsoft.com/office/drawing/2014/main" id="{9695A59B-10B6-1853-E891-220F76E635AD}"/>
                      </a:ext>
                    </a:extLst>
                  </p:cNvPr>
                  <p:cNvGrpSpPr/>
                  <p:nvPr/>
                </p:nvGrpSpPr>
                <p:grpSpPr>
                  <a:xfrm>
                    <a:off x="3027892" y="-118966"/>
                    <a:ext cx="8728930" cy="3821587"/>
                    <a:chOff x="193672" y="-118966"/>
                    <a:chExt cx="8728930" cy="3821587"/>
                  </a:xfrm>
                </p:grpSpPr>
                <p:grpSp>
                  <p:nvGrpSpPr>
                    <p:cNvPr id="129" name="Group 128">
                      <a:extLst>
                        <a:ext uri="{FF2B5EF4-FFF2-40B4-BE49-F238E27FC236}">
                          <a16:creationId xmlns:a16="http://schemas.microsoft.com/office/drawing/2014/main" id="{3251EC6F-7976-4D64-BB61-83FA3063F217}"/>
                        </a:ext>
                      </a:extLst>
                    </p:cNvPr>
                    <p:cNvGrpSpPr/>
                    <p:nvPr/>
                  </p:nvGrpSpPr>
                  <p:grpSpPr>
                    <a:xfrm>
                      <a:off x="830741" y="-118966"/>
                      <a:ext cx="2229562" cy="3821586"/>
                      <a:chOff x="419068" y="-118966"/>
                      <a:chExt cx="2229562" cy="3821586"/>
                    </a:xfrm>
                  </p:grpSpPr>
                  <p:sp>
                    <p:nvSpPr>
                      <p:cNvPr id="151" name="Rectangle: Rounded Corners 150">
                        <a:extLst>
                          <a:ext uri="{FF2B5EF4-FFF2-40B4-BE49-F238E27FC236}">
                            <a16:creationId xmlns:a16="http://schemas.microsoft.com/office/drawing/2014/main" id="{FD1ECAA4-871E-717B-44B1-E96CEA853E56}"/>
                          </a:ext>
                        </a:extLst>
                      </p:cNvPr>
                      <p:cNvSpPr/>
                      <p:nvPr/>
                    </p:nvSpPr>
                    <p:spPr>
                      <a:xfrm>
                        <a:off x="459296" y="-118966"/>
                        <a:ext cx="2189334" cy="560239"/>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dirty="0">
                            <a:solidFill>
                              <a:prstClr val="white"/>
                            </a:solidFill>
                            <a:latin typeface="Calibri" panose="020F0502020204030204"/>
                          </a:rPr>
                          <a:t>Compiler et normaliser les données mensuelles au niveau de ZS</a:t>
                        </a:r>
                      </a:p>
                    </p:txBody>
                  </p:sp>
                  <p:sp>
                    <p:nvSpPr>
                      <p:cNvPr id="152" name="Rectangle: Rounded Corners 151">
                        <a:extLst>
                          <a:ext uri="{FF2B5EF4-FFF2-40B4-BE49-F238E27FC236}">
                            <a16:creationId xmlns:a16="http://schemas.microsoft.com/office/drawing/2014/main" id="{939CF410-28BE-2263-E5DF-2E6B8188446B}"/>
                          </a:ext>
                        </a:extLst>
                      </p:cNvPr>
                      <p:cNvSpPr/>
                      <p:nvPr/>
                    </p:nvSpPr>
                    <p:spPr>
                      <a:xfrm>
                        <a:off x="459296" y="610226"/>
                        <a:ext cx="2189334" cy="409277"/>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a:solidFill>
                              <a:prstClr val="white"/>
                            </a:solidFill>
                            <a:latin typeface="Calibri" panose="020F0502020204030204"/>
                          </a:rPr>
                          <a:t>Exécuter des contrôles de qualité des données</a:t>
                        </a:r>
                      </a:p>
                    </p:txBody>
                  </p:sp>
                  <p:sp>
                    <p:nvSpPr>
                      <p:cNvPr id="153" name="Rectangle: Rounded Corners 152">
                        <a:extLst>
                          <a:ext uri="{FF2B5EF4-FFF2-40B4-BE49-F238E27FC236}">
                            <a16:creationId xmlns:a16="http://schemas.microsoft.com/office/drawing/2014/main" id="{DBB11B52-975B-47C9-2803-B79392241BFA}"/>
                          </a:ext>
                        </a:extLst>
                      </p:cNvPr>
                      <p:cNvSpPr/>
                      <p:nvPr/>
                    </p:nvSpPr>
                    <p:spPr>
                      <a:xfrm>
                        <a:off x="430632" y="1240836"/>
                        <a:ext cx="2189334" cy="409277"/>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a:solidFill>
                              <a:prstClr val="white"/>
                            </a:solidFill>
                            <a:latin typeface="Calibri" panose="020F0502020204030204"/>
                          </a:rPr>
                          <a:t>Ensemble de données correct</a:t>
                        </a:r>
                      </a:p>
                    </p:txBody>
                  </p:sp>
                  <p:sp>
                    <p:nvSpPr>
                      <p:cNvPr id="154" name="Rectangle: Rounded Corners 153">
                        <a:extLst>
                          <a:ext uri="{FF2B5EF4-FFF2-40B4-BE49-F238E27FC236}">
                            <a16:creationId xmlns:a16="http://schemas.microsoft.com/office/drawing/2014/main" id="{1562FB6F-7B20-12D3-53E6-7C3FA8852FAB}"/>
                          </a:ext>
                        </a:extLst>
                      </p:cNvPr>
                      <p:cNvSpPr/>
                      <p:nvPr/>
                    </p:nvSpPr>
                    <p:spPr>
                      <a:xfrm>
                        <a:off x="451160" y="1888334"/>
                        <a:ext cx="2189334" cy="467745"/>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a:solidFill>
                              <a:prstClr val="white"/>
                            </a:solidFill>
                            <a:latin typeface="Calibri" panose="020F0502020204030204"/>
                          </a:rPr>
                          <a:t>Analyser le volume des services de santé (niveau, différence, tendances, etc.)</a:t>
                        </a:r>
                      </a:p>
                    </p:txBody>
                  </p:sp>
                  <p:sp>
                    <p:nvSpPr>
                      <p:cNvPr id="155" name="Arrow: Down 154">
                        <a:extLst>
                          <a:ext uri="{FF2B5EF4-FFF2-40B4-BE49-F238E27FC236}">
                            <a16:creationId xmlns:a16="http://schemas.microsoft.com/office/drawing/2014/main" id="{E80EB86C-C645-4186-DAF0-71D10FBC8340}"/>
                          </a:ext>
                        </a:extLst>
                      </p:cNvPr>
                      <p:cNvSpPr/>
                      <p:nvPr/>
                    </p:nvSpPr>
                    <p:spPr>
                      <a:xfrm>
                        <a:off x="1405921" y="445981"/>
                        <a:ext cx="300842" cy="175404"/>
                      </a:xfrm>
                      <a:prstGeom prst="downArrow">
                        <a:avLst/>
                      </a:prstGeom>
                      <a:solidFill>
                        <a:srgbClr val="70AD47">
                          <a:lumMod val="50000"/>
                        </a:srgbClr>
                      </a:solidFill>
                      <a:ln w="12700" cap="flat" cmpd="sng" algn="ctr">
                        <a:solidFill>
                          <a:srgbClr val="70AD47">
                            <a:lumMod val="50000"/>
                          </a:srgbClr>
                        </a:solidFill>
                        <a:prstDash val="solid"/>
                        <a:miter lim="800000"/>
                      </a:ln>
                      <a:effectLst/>
                    </p:spPr>
                    <p:txBody>
                      <a:bodyPr rtlCol="0" anchor="ctr"/>
                      <a:lstStyle/>
                      <a:p>
                        <a:pPr algn="ctr" defTabSz="914217">
                          <a:defRPr/>
                        </a:pPr>
                        <a:endParaRPr lang="en-US" sz="1600" b="1">
                          <a:solidFill>
                            <a:prstClr val="white"/>
                          </a:solidFill>
                          <a:latin typeface="Calibri" panose="020F0502020204030204"/>
                        </a:endParaRPr>
                      </a:p>
                    </p:txBody>
                  </p:sp>
                  <p:sp>
                    <p:nvSpPr>
                      <p:cNvPr id="156" name="Arrow: Down 155">
                        <a:extLst>
                          <a:ext uri="{FF2B5EF4-FFF2-40B4-BE49-F238E27FC236}">
                            <a16:creationId xmlns:a16="http://schemas.microsoft.com/office/drawing/2014/main" id="{6616602B-A36C-9700-21F9-43057ACDD08C}"/>
                          </a:ext>
                        </a:extLst>
                      </p:cNvPr>
                      <p:cNvSpPr/>
                      <p:nvPr/>
                    </p:nvSpPr>
                    <p:spPr>
                      <a:xfrm>
                        <a:off x="1395407" y="1018812"/>
                        <a:ext cx="300842" cy="233873"/>
                      </a:xfrm>
                      <a:prstGeom prst="downArrow">
                        <a:avLst/>
                      </a:prstGeom>
                      <a:solidFill>
                        <a:srgbClr val="70AD47">
                          <a:lumMod val="50000"/>
                        </a:srgbClr>
                      </a:solidFill>
                      <a:ln w="12700" cap="flat" cmpd="sng" algn="ctr">
                        <a:solidFill>
                          <a:srgbClr val="70AD47">
                            <a:lumMod val="50000"/>
                          </a:srgbClr>
                        </a:solidFill>
                        <a:prstDash val="solid"/>
                        <a:miter lim="800000"/>
                      </a:ln>
                      <a:effectLst/>
                    </p:spPr>
                    <p:txBody>
                      <a:bodyPr rtlCol="0" anchor="ctr"/>
                      <a:lstStyle/>
                      <a:p>
                        <a:pPr algn="ctr" defTabSz="914217">
                          <a:defRPr/>
                        </a:pPr>
                        <a:endParaRPr lang="en-US" sz="1600" b="1">
                          <a:solidFill>
                            <a:prstClr val="white"/>
                          </a:solidFill>
                          <a:latin typeface="Calibri" panose="020F0502020204030204"/>
                        </a:endParaRPr>
                      </a:p>
                    </p:txBody>
                  </p:sp>
                  <p:sp>
                    <p:nvSpPr>
                      <p:cNvPr id="157" name="Arrow: Down 156">
                        <a:extLst>
                          <a:ext uri="{FF2B5EF4-FFF2-40B4-BE49-F238E27FC236}">
                            <a16:creationId xmlns:a16="http://schemas.microsoft.com/office/drawing/2014/main" id="{54CCBC01-C4DF-165C-1CF0-74D4774BE6C8}"/>
                          </a:ext>
                        </a:extLst>
                      </p:cNvPr>
                      <p:cNvSpPr/>
                      <p:nvPr/>
                    </p:nvSpPr>
                    <p:spPr>
                      <a:xfrm>
                        <a:off x="1395407" y="1647349"/>
                        <a:ext cx="300842" cy="233873"/>
                      </a:xfrm>
                      <a:prstGeom prst="downArrow">
                        <a:avLst/>
                      </a:prstGeom>
                      <a:solidFill>
                        <a:srgbClr val="70AD47">
                          <a:lumMod val="50000"/>
                        </a:srgbClr>
                      </a:solidFill>
                      <a:ln w="12700" cap="flat" cmpd="sng" algn="ctr">
                        <a:solidFill>
                          <a:srgbClr val="70AD47">
                            <a:lumMod val="50000"/>
                          </a:srgbClr>
                        </a:solidFill>
                        <a:prstDash val="solid"/>
                        <a:miter lim="800000"/>
                      </a:ln>
                      <a:effectLst/>
                    </p:spPr>
                    <p:txBody>
                      <a:bodyPr rtlCol="0" anchor="ctr"/>
                      <a:lstStyle/>
                      <a:p>
                        <a:pPr algn="ctr" defTabSz="914217">
                          <a:defRPr/>
                        </a:pPr>
                        <a:endParaRPr lang="en-US" sz="1600" b="1">
                          <a:solidFill>
                            <a:prstClr val="white"/>
                          </a:solidFill>
                          <a:latin typeface="Calibri" panose="020F0502020204030204"/>
                        </a:endParaRPr>
                      </a:p>
                    </p:txBody>
                  </p:sp>
                  <p:sp>
                    <p:nvSpPr>
                      <p:cNvPr id="6" name="Rectangle: Rounded Corners 5">
                        <a:extLst>
                          <a:ext uri="{FF2B5EF4-FFF2-40B4-BE49-F238E27FC236}">
                            <a16:creationId xmlns:a16="http://schemas.microsoft.com/office/drawing/2014/main" id="{00430015-F5B4-8112-3DC0-4ABD8E36A3CA}"/>
                          </a:ext>
                        </a:extLst>
                      </p:cNvPr>
                      <p:cNvSpPr/>
                      <p:nvPr/>
                    </p:nvSpPr>
                    <p:spPr>
                      <a:xfrm>
                        <a:off x="833891" y="2439125"/>
                        <a:ext cx="1786074" cy="459317"/>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a:solidFill>
                              <a:prstClr val="white"/>
                            </a:solidFill>
                            <a:latin typeface="Calibri" panose="020F0502020204030204"/>
                          </a:rPr>
                          <a:t>Calculer le dénominateur</a:t>
                        </a:r>
                      </a:p>
                    </p:txBody>
                  </p:sp>
                  <p:sp>
                    <p:nvSpPr>
                      <p:cNvPr id="11" name="Rectangle: Rounded Corners 10">
                        <a:extLst>
                          <a:ext uri="{FF2B5EF4-FFF2-40B4-BE49-F238E27FC236}">
                            <a16:creationId xmlns:a16="http://schemas.microsoft.com/office/drawing/2014/main" id="{68695A5B-E3E5-69FB-4277-25D845D54207}"/>
                          </a:ext>
                        </a:extLst>
                      </p:cNvPr>
                      <p:cNvSpPr/>
                      <p:nvPr/>
                    </p:nvSpPr>
                    <p:spPr>
                      <a:xfrm>
                        <a:off x="419068" y="3185863"/>
                        <a:ext cx="2189334" cy="516757"/>
                      </a:xfrm>
                      <a:prstGeom prst="round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algn="ctr" defTabSz="914217">
                          <a:defRPr/>
                        </a:pPr>
                        <a:r>
                          <a:rPr lang="fr" sz="1600" b="1">
                            <a:solidFill>
                              <a:prstClr val="white"/>
                            </a:solidFill>
                            <a:latin typeface="Calibri" panose="020F0502020204030204"/>
                          </a:rPr>
                          <a:t>Calculer la couverture des services de santé</a:t>
                        </a:r>
                      </a:p>
                    </p:txBody>
                  </p:sp>
                </p:grpSp>
                <p:sp>
                  <p:nvSpPr>
                    <p:cNvPr id="130" name="Dodecagon 129">
                      <a:extLst>
                        <a:ext uri="{FF2B5EF4-FFF2-40B4-BE49-F238E27FC236}">
                          <a16:creationId xmlns:a16="http://schemas.microsoft.com/office/drawing/2014/main" id="{D15DAC79-09FA-11B6-0C6F-EBC26944EB83}"/>
                        </a:ext>
                      </a:extLst>
                    </p:cNvPr>
                    <p:cNvSpPr/>
                    <p:nvPr/>
                  </p:nvSpPr>
                  <p:spPr>
                    <a:xfrm>
                      <a:off x="212135" y="-54899"/>
                      <a:ext cx="419594" cy="379714"/>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1</a:t>
                      </a:r>
                    </a:p>
                  </p:txBody>
                </p:sp>
                <p:sp>
                  <p:nvSpPr>
                    <p:cNvPr id="131" name="Dodecagon 130">
                      <a:extLst>
                        <a:ext uri="{FF2B5EF4-FFF2-40B4-BE49-F238E27FC236}">
                          <a16:creationId xmlns:a16="http://schemas.microsoft.com/office/drawing/2014/main" id="{F9684F51-0E69-93A3-8D49-DF9B8793FB71}"/>
                        </a:ext>
                      </a:extLst>
                    </p:cNvPr>
                    <p:cNvSpPr/>
                    <p:nvPr/>
                  </p:nvSpPr>
                  <p:spPr>
                    <a:xfrm>
                      <a:off x="194452" y="621385"/>
                      <a:ext cx="419594" cy="340426"/>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2</a:t>
                      </a:r>
                    </a:p>
                  </p:txBody>
                </p:sp>
                <p:sp>
                  <p:nvSpPr>
                    <p:cNvPr id="132" name="Dodecagon 131">
                      <a:extLst>
                        <a:ext uri="{FF2B5EF4-FFF2-40B4-BE49-F238E27FC236}">
                          <a16:creationId xmlns:a16="http://schemas.microsoft.com/office/drawing/2014/main" id="{583E7C3C-A0C6-806C-8AC9-C8400A4AD394}"/>
                        </a:ext>
                      </a:extLst>
                    </p:cNvPr>
                    <p:cNvSpPr/>
                    <p:nvPr/>
                  </p:nvSpPr>
                  <p:spPr>
                    <a:xfrm>
                      <a:off x="194451" y="1268582"/>
                      <a:ext cx="419594" cy="340426"/>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3</a:t>
                      </a:r>
                    </a:p>
                  </p:txBody>
                </p:sp>
                <p:sp>
                  <p:nvSpPr>
                    <p:cNvPr id="133" name="Dodecagon 132">
                      <a:extLst>
                        <a:ext uri="{FF2B5EF4-FFF2-40B4-BE49-F238E27FC236}">
                          <a16:creationId xmlns:a16="http://schemas.microsoft.com/office/drawing/2014/main" id="{E24A77A4-D288-7F9F-5CD9-08E98D41AC37}"/>
                        </a:ext>
                      </a:extLst>
                    </p:cNvPr>
                    <p:cNvSpPr/>
                    <p:nvPr/>
                  </p:nvSpPr>
                  <p:spPr>
                    <a:xfrm>
                      <a:off x="193672" y="1915780"/>
                      <a:ext cx="419594" cy="340426"/>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4</a:t>
                      </a:r>
                    </a:p>
                  </p:txBody>
                </p:sp>
                <p:grpSp>
                  <p:nvGrpSpPr>
                    <p:cNvPr id="134" name="Group 133">
                      <a:extLst>
                        <a:ext uri="{FF2B5EF4-FFF2-40B4-BE49-F238E27FC236}">
                          <a16:creationId xmlns:a16="http://schemas.microsoft.com/office/drawing/2014/main" id="{C3DDAD48-085F-A1AE-93A5-C89611C0469D}"/>
                        </a:ext>
                      </a:extLst>
                    </p:cNvPr>
                    <p:cNvGrpSpPr/>
                    <p:nvPr/>
                  </p:nvGrpSpPr>
                  <p:grpSpPr>
                    <a:xfrm>
                      <a:off x="1043933" y="172831"/>
                      <a:ext cx="7377638" cy="2866428"/>
                      <a:chOff x="1043933" y="172831"/>
                      <a:chExt cx="7377638" cy="2866428"/>
                    </a:xfrm>
                  </p:grpSpPr>
                  <p:sp>
                    <p:nvSpPr>
                      <p:cNvPr id="144" name="Rectangle: Rounded Corners 143">
                        <a:extLst>
                          <a:ext uri="{FF2B5EF4-FFF2-40B4-BE49-F238E27FC236}">
                            <a16:creationId xmlns:a16="http://schemas.microsoft.com/office/drawing/2014/main" id="{E6880508-23C0-EA5B-9813-F0F76F5BE233}"/>
                          </a:ext>
                        </a:extLst>
                      </p:cNvPr>
                      <p:cNvSpPr/>
                      <p:nvPr/>
                    </p:nvSpPr>
                    <p:spPr>
                      <a:xfrm>
                        <a:off x="3439895" y="172835"/>
                        <a:ext cx="1504208"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1. Exhaustivité des rapports</a:t>
                        </a:r>
                      </a:p>
                    </p:txBody>
                  </p:sp>
                  <p:sp>
                    <p:nvSpPr>
                      <p:cNvPr id="145" name="Rectangle: Rounded Corners 144">
                        <a:extLst>
                          <a:ext uri="{FF2B5EF4-FFF2-40B4-BE49-F238E27FC236}">
                            <a16:creationId xmlns:a16="http://schemas.microsoft.com/office/drawing/2014/main" id="{355DEFF0-87E6-7EF3-5936-0F2EC3250F32}"/>
                          </a:ext>
                        </a:extLst>
                      </p:cNvPr>
                      <p:cNvSpPr/>
                      <p:nvPr/>
                    </p:nvSpPr>
                    <p:spPr>
                      <a:xfrm>
                        <a:off x="5216230" y="172835"/>
                        <a:ext cx="1504208"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2. Cohérence</a:t>
                        </a:r>
                      </a:p>
                    </p:txBody>
                  </p:sp>
                  <p:sp>
                    <p:nvSpPr>
                      <p:cNvPr id="146" name="Rectangle: Rounded Corners 145">
                        <a:extLst>
                          <a:ext uri="{FF2B5EF4-FFF2-40B4-BE49-F238E27FC236}">
                            <a16:creationId xmlns:a16="http://schemas.microsoft.com/office/drawing/2014/main" id="{324368F6-EBCD-5250-7CA9-B4E8A4DABE86}"/>
                          </a:ext>
                        </a:extLst>
                      </p:cNvPr>
                      <p:cNvSpPr/>
                      <p:nvPr/>
                    </p:nvSpPr>
                    <p:spPr>
                      <a:xfrm>
                        <a:off x="6917363" y="172831"/>
                        <a:ext cx="1504208"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3. Valeurs aberrantes et manquantes</a:t>
                        </a:r>
                        <a:endParaRPr lang="en-US" sz="1600">
                          <a:solidFill>
                            <a:prstClr val="white"/>
                          </a:solidFill>
                          <a:latin typeface="Calibri" panose="020F0502020204030204"/>
                        </a:endParaRPr>
                      </a:p>
                    </p:txBody>
                  </p:sp>
                  <p:cxnSp>
                    <p:nvCxnSpPr>
                      <p:cNvPr id="147" name="Straight Connector 146">
                        <a:extLst>
                          <a:ext uri="{FF2B5EF4-FFF2-40B4-BE49-F238E27FC236}">
                            <a16:creationId xmlns:a16="http://schemas.microsoft.com/office/drawing/2014/main" id="{5F83C386-AC2D-E95D-3156-2D752E08A918}"/>
                          </a:ext>
                        </a:extLst>
                      </p:cNvPr>
                      <p:cNvCxnSpPr>
                        <a:cxnSpLocks/>
                      </p:cNvCxnSpPr>
                      <p:nvPr/>
                    </p:nvCxnSpPr>
                    <p:spPr>
                      <a:xfrm flipV="1">
                        <a:off x="3039699" y="815530"/>
                        <a:ext cx="4691430" cy="2"/>
                      </a:xfrm>
                      <a:prstGeom prst="line">
                        <a:avLst/>
                      </a:prstGeom>
                      <a:noFill/>
                      <a:ln w="76200" cap="flat" cmpd="sng" algn="ctr">
                        <a:solidFill>
                          <a:srgbClr val="ED7D31">
                            <a:lumMod val="50000"/>
                          </a:srgbClr>
                        </a:solidFill>
                        <a:prstDash val="solid"/>
                        <a:miter lim="800000"/>
                      </a:ln>
                      <a:effectLst/>
                    </p:spPr>
                  </p:cxnSp>
                  <p:sp>
                    <p:nvSpPr>
                      <p:cNvPr id="148" name="Arrow: Right 147">
                        <a:extLst>
                          <a:ext uri="{FF2B5EF4-FFF2-40B4-BE49-F238E27FC236}">
                            <a16:creationId xmlns:a16="http://schemas.microsoft.com/office/drawing/2014/main" id="{82C7ED76-3AFE-4F09-701B-B34A86D52229}"/>
                          </a:ext>
                        </a:extLst>
                      </p:cNvPr>
                      <p:cNvSpPr/>
                      <p:nvPr/>
                    </p:nvSpPr>
                    <p:spPr>
                      <a:xfrm rot="16200000">
                        <a:off x="4108382" y="625653"/>
                        <a:ext cx="163261"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149" name="Arrow: Right 148">
                        <a:extLst>
                          <a:ext uri="{FF2B5EF4-FFF2-40B4-BE49-F238E27FC236}">
                            <a16:creationId xmlns:a16="http://schemas.microsoft.com/office/drawing/2014/main" id="{082EF8E3-E939-5C68-65FB-376C83462665}"/>
                          </a:ext>
                        </a:extLst>
                      </p:cNvPr>
                      <p:cNvSpPr/>
                      <p:nvPr/>
                    </p:nvSpPr>
                    <p:spPr>
                      <a:xfrm rot="16200000">
                        <a:off x="5887685" y="620681"/>
                        <a:ext cx="163261"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150" name="Arrow: Right 149">
                        <a:extLst>
                          <a:ext uri="{FF2B5EF4-FFF2-40B4-BE49-F238E27FC236}">
                            <a16:creationId xmlns:a16="http://schemas.microsoft.com/office/drawing/2014/main" id="{916B19E7-EC90-7B3C-2285-35D4767AF2D5}"/>
                          </a:ext>
                        </a:extLst>
                      </p:cNvPr>
                      <p:cNvSpPr/>
                      <p:nvPr/>
                    </p:nvSpPr>
                    <p:spPr>
                      <a:xfrm rot="16200000">
                        <a:off x="7581213" y="629047"/>
                        <a:ext cx="193913"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cxnSp>
                    <p:nvCxnSpPr>
                      <p:cNvPr id="31" name="Straight Connector 30">
                        <a:extLst>
                          <a:ext uri="{FF2B5EF4-FFF2-40B4-BE49-F238E27FC236}">
                            <a16:creationId xmlns:a16="http://schemas.microsoft.com/office/drawing/2014/main" id="{2EADF546-8851-6908-66B6-B56B0D17F7EB}"/>
                          </a:ext>
                        </a:extLst>
                      </p:cNvPr>
                      <p:cNvCxnSpPr>
                        <a:cxnSpLocks/>
                      </p:cNvCxnSpPr>
                      <p:nvPr/>
                    </p:nvCxnSpPr>
                    <p:spPr>
                      <a:xfrm>
                        <a:off x="1043933" y="3039259"/>
                        <a:ext cx="2189334" cy="0"/>
                      </a:xfrm>
                      <a:prstGeom prst="line">
                        <a:avLst/>
                      </a:prstGeom>
                      <a:noFill/>
                      <a:ln w="76200" cap="flat" cmpd="sng" algn="ctr">
                        <a:solidFill>
                          <a:srgbClr val="ED7D31">
                            <a:lumMod val="50000"/>
                          </a:srgbClr>
                        </a:solidFill>
                        <a:prstDash val="solid"/>
                        <a:miter lim="800000"/>
                      </a:ln>
                      <a:effectLst/>
                    </p:spPr>
                  </p:cxnSp>
                </p:grpSp>
                <p:grpSp>
                  <p:nvGrpSpPr>
                    <p:cNvPr id="135" name="Group 134">
                      <a:extLst>
                        <a:ext uri="{FF2B5EF4-FFF2-40B4-BE49-F238E27FC236}">
                          <a16:creationId xmlns:a16="http://schemas.microsoft.com/office/drawing/2014/main" id="{E7D67F83-6809-1CE8-2B91-BBB84BCD3C8F}"/>
                        </a:ext>
                      </a:extLst>
                    </p:cNvPr>
                    <p:cNvGrpSpPr/>
                    <p:nvPr/>
                  </p:nvGrpSpPr>
                  <p:grpSpPr>
                    <a:xfrm>
                      <a:off x="3002462" y="911547"/>
                      <a:ext cx="5920140" cy="2791074"/>
                      <a:chOff x="3020263" y="-8792"/>
                      <a:chExt cx="5920140" cy="2791074"/>
                    </a:xfrm>
                  </p:grpSpPr>
                  <p:sp>
                    <p:nvSpPr>
                      <p:cNvPr id="137" name="Rectangle: Rounded Corners 136">
                        <a:extLst>
                          <a:ext uri="{FF2B5EF4-FFF2-40B4-BE49-F238E27FC236}">
                            <a16:creationId xmlns:a16="http://schemas.microsoft.com/office/drawing/2014/main" id="{0469E2DD-B043-872C-0FA4-C4C9C5A142BC}"/>
                          </a:ext>
                        </a:extLst>
                      </p:cNvPr>
                      <p:cNvSpPr/>
                      <p:nvPr/>
                    </p:nvSpPr>
                    <p:spPr>
                      <a:xfrm>
                        <a:off x="3457696" y="-6264"/>
                        <a:ext cx="1504208"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1. Ajustement pour assurer l'exhaustivité</a:t>
                        </a:r>
                      </a:p>
                    </p:txBody>
                  </p:sp>
                  <p:sp>
                    <p:nvSpPr>
                      <p:cNvPr id="138" name="Rectangle: Rounded Corners 137">
                        <a:extLst>
                          <a:ext uri="{FF2B5EF4-FFF2-40B4-BE49-F238E27FC236}">
                            <a16:creationId xmlns:a16="http://schemas.microsoft.com/office/drawing/2014/main" id="{B8CC7324-C22C-7612-38EB-302D161498CE}"/>
                          </a:ext>
                        </a:extLst>
                      </p:cNvPr>
                      <p:cNvSpPr/>
                      <p:nvPr/>
                    </p:nvSpPr>
                    <p:spPr>
                      <a:xfrm>
                        <a:off x="5217211" y="-8792"/>
                        <a:ext cx="1504208"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2. Correction avec un essai d'audit clair</a:t>
                        </a:r>
                        <a:endParaRPr lang="en-US" sz="1600">
                          <a:solidFill>
                            <a:prstClr val="white"/>
                          </a:solidFill>
                          <a:latin typeface="Calibri" panose="020F0502020204030204"/>
                        </a:endParaRPr>
                      </a:p>
                    </p:txBody>
                  </p:sp>
                  <p:sp>
                    <p:nvSpPr>
                      <p:cNvPr id="139" name="Rectangle: Rounded Corners 138">
                        <a:extLst>
                          <a:ext uri="{FF2B5EF4-FFF2-40B4-BE49-F238E27FC236}">
                            <a16:creationId xmlns:a16="http://schemas.microsoft.com/office/drawing/2014/main" id="{11AF7E86-D9A0-4F86-0EFB-2B751633E6B6}"/>
                          </a:ext>
                        </a:extLst>
                      </p:cNvPr>
                      <p:cNvSpPr/>
                      <p:nvPr/>
                    </p:nvSpPr>
                    <p:spPr>
                      <a:xfrm>
                        <a:off x="6840172" y="6631"/>
                        <a:ext cx="1683332" cy="443346"/>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400" dirty="0">
                            <a:solidFill>
                              <a:prstClr val="white"/>
                            </a:solidFill>
                            <a:latin typeface="Calibri" panose="020F0502020204030204"/>
                          </a:rPr>
                          <a:t>3. Correction des valeurs aberrantes et des manquements</a:t>
                        </a:r>
                        <a:endParaRPr lang="en-US" sz="1400" dirty="0">
                          <a:solidFill>
                            <a:prstClr val="white"/>
                          </a:solidFill>
                          <a:latin typeface="Calibri" panose="020F0502020204030204"/>
                        </a:endParaRPr>
                      </a:p>
                    </p:txBody>
                  </p:sp>
                  <p:cxnSp>
                    <p:nvCxnSpPr>
                      <p:cNvPr id="140" name="Straight Connector 139">
                        <a:extLst>
                          <a:ext uri="{FF2B5EF4-FFF2-40B4-BE49-F238E27FC236}">
                            <a16:creationId xmlns:a16="http://schemas.microsoft.com/office/drawing/2014/main" id="{7670A24A-196C-2600-1227-EE09167205F2}"/>
                          </a:ext>
                        </a:extLst>
                      </p:cNvPr>
                      <p:cNvCxnSpPr/>
                      <p:nvPr/>
                    </p:nvCxnSpPr>
                    <p:spPr>
                      <a:xfrm>
                        <a:off x="3038878" y="587452"/>
                        <a:ext cx="4691430" cy="0"/>
                      </a:xfrm>
                      <a:prstGeom prst="line">
                        <a:avLst/>
                      </a:prstGeom>
                      <a:noFill/>
                      <a:ln w="76200" cap="flat" cmpd="sng" algn="ctr">
                        <a:solidFill>
                          <a:srgbClr val="ED7D31">
                            <a:lumMod val="50000"/>
                          </a:srgbClr>
                        </a:solidFill>
                        <a:prstDash val="solid"/>
                        <a:miter lim="800000"/>
                      </a:ln>
                      <a:effectLst/>
                    </p:spPr>
                  </p:cxnSp>
                  <p:sp>
                    <p:nvSpPr>
                      <p:cNvPr id="141" name="Arrow: Right 140">
                        <a:extLst>
                          <a:ext uri="{FF2B5EF4-FFF2-40B4-BE49-F238E27FC236}">
                            <a16:creationId xmlns:a16="http://schemas.microsoft.com/office/drawing/2014/main" id="{80246D42-0D50-00A5-C322-BCD774DBD7A7}"/>
                          </a:ext>
                        </a:extLst>
                      </p:cNvPr>
                      <p:cNvSpPr/>
                      <p:nvPr/>
                    </p:nvSpPr>
                    <p:spPr>
                      <a:xfrm rot="16200000">
                        <a:off x="4131544" y="412157"/>
                        <a:ext cx="116936"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142" name="Arrow: Right 141">
                        <a:extLst>
                          <a:ext uri="{FF2B5EF4-FFF2-40B4-BE49-F238E27FC236}">
                            <a16:creationId xmlns:a16="http://schemas.microsoft.com/office/drawing/2014/main" id="{E9E040BF-2816-628D-345F-785E6B99B017}"/>
                          </a:ext>
                        </a:extLst>
                      </p:cNvPr>
                      <p:cNvSpPr/>
                      <p:nvPr/>
                    </p:nvSpPr>
                    <p:spPr>
                      <a:xfrm rot="16200000">
                        <a:off x="5910846" y="421101"/>
                        <a:ext cx="116936"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143" name="Arrow: Right 142">
                        <a:extLst>
                          <a:ext uri="{FF2B5EF4-FFF2-40B4-BE49-F238E27FC236}">
                            <a16:creationId xmlns:a16="http://schemas.microsoft.com/office/drawing/2014/main" id="{1B64DC60-89F1-9267-EF09-97463D85E209}"/>
                          </a:ext>
                        </a:extLst>
                      </p:cNvPr>
                      <p:cNvSpPr/>
                      <p:nvPr/>
                    </p:nvSpPr>
                    <p:spPr>
                      <a:xfrm rot="16200000">
                        <a:off x="7619700" y="423907"/>
                        <a:ext cx="116936"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7" name="Rectangle: Rounded Corners 6">
                        <a:extLst>
                          <a:ext uri="{FF2B5EF4-FFF2-40B4-BE49-F238E27FC236}">
                            <a16:creationId xmlns:a16="http://schemas.microsoft.com/office/drawing/2014/main" id="{A1DCCA62-4874-ED75-994A-05DAE36B106C}"/>
                          </a:ext>
                        </a:extLst>
                      </p:cNvPr>
                      <p:cNvSpPr/>
                      <p:nvPr/>
                    </p:nvSpPr>
                    <p:spPr>
                      <a:xfrm>
                        <a:off x="3646091" y="1439355"/>
                        <a:ext cx="1988243" cy="486939"/>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dirty="0">
                            <a:solidFill>
                              <a:prstClr val="white"/>
                            </a:solidFill>
                            <a:latin typeface="Calibri" panose="020F0502020204030204"/>
                          </a:rPr>
                          <a:t>Dénominateur dérivé du service de santé (p. ex., CPN1, Penta1)</a:t>
                        </a:r>
                      </a:p>
                    </p:txBody>
                  </p:sp>
                  <p:sp>
                    <p:nvSpPr>
                      <p:cNvPr id="8" name="Rectangle: Rounded Corners 7">
                        <a:extLst>
                          <a:ext uri="{FF2B5EF4-FFF2-40B4-BE49-F238E27FC236}">
                            <a16:creationId xmlns:a16="http://schemas.microsoft.com/office/drawing/2014/main" id="{00DF71F3-F3C9-F26A-BFE4-52E831A4AD59}"/>
                          </a:ext>
                        </a:extLst>
                      </p:cNvPr>
                      <p:cNvSpPr/>
                      <p:nvPr/>
                    </p:nvSpPr>
                    <p:spPr>
                      <a:xfrm>
                        <a:off x="6116642" y="1441675"/>
                        <a:ext cx="1950519" cy="477554"/>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Dénominateur dérivé de la population (p. ex. RC, naissances vivantes)</a:t>
                        </a:r>
                      </a:p>
                    </p:txBody>
                  </p:sp>
                  <p:cxnSp>
                    <p:nvCxnSpPr>
                      <p:cNvPr id="9" name="Straight Connector 8">
                        <a:extLst>
                          <a:ext uri="{FF2B5EF4-FFF2-40B4-BE49-F238E27FC236}">
                            <a16:creationId xmlns:a16="http://schemas.microsoft.com/office/drawing/2014/main" id="{512EEF0A-92EA-C0DD-D2E8-1894BC4D333D}"/>
                          </a:ext>
                        </a:extLst>
                      </p:cNvPr>
                      <p:cNvCxnSpPr/>
                      <p:nvPr/>
                    </p:nvCxnSpPr>
                    <p:spPr>
                      <a:xfrm>
                        <a:off x="3076116" y="1248699"/>
                        <a:ext cx="5864287" cy="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cxnSp>
                    <p:nvCxnSpPr>
                      <p:cNvPr id="13" name="Straight Connector 12">
                        <a:extLst>
                          <a:ext uri="{FF2B5EF4-FFF2-40B4-BE49-F238E27FC236}">
                            <a16:creationId xmlns:a16="http://schemas.microsoft.com/office/drawing/2014/main" id="{3B629D74-B889-5BAE-6AF0-A20335032314}"/>
                          </a:ext>
                        </a:extLst>
                      </p:cNvPr>
                      <p:cNvCxnSpPr/>
                      <p:nvPr/>
                    </p:nvCxnSpPr>
                    <p:spPr>
                      <a:xfrm>
                        <a:off x="3519192" y="2126530"/>
                        <a:ext cx="5395144" cy="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sp>
                    <p:nvSpPr>
                      <p:cNvPr id="20" name="Rectangle: Rounded Corners 19">
                        <a:extLst>
                          <a:ext uri="{FF2B5EF4-FFF2-40B4-BE49-F238E27FC236}">
                            <a16:creationId xmlns:a16="http://schemas.microsoft.com/office/drawing/2014/main" id="{9922FBC3-6CCD-09BE-5BD2-0BA19CD966B2}"/>
                          </a:ext>
                        </a:extLst>
                      </p:cNvPr>
                      <p:cNvSpPr/>
                      <p:nvPr/>
                    </p:nvSpPr>
                    <p:spPr>
                      <a:xfrm>
                        <a:off x="4409093" y="2295343"/>
                        <a:ext cx="2017140" cy="486939"/>
                      </a:xfrm>
                      <a:prstGeom prst="roundRect">
                        <a:avLst/>
                      </a:prstGeom>
                      <a:solidFill>
                        <a:srgbClr val="ED7D31">
                          <a:lumMod val="75000"/>
                        </a:srgbClr>
                      </a:solidFill>
                      <a:ln w="12700" cap="flat" cmpd="sng" algn="ctr">
                        <a:solidFill>
                          <a:srgbClr val="ED7D31">
                            <a:lumMod val="75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Couverture des services de santé</a:t>
                        </a:r>
                      </a:p>
                    </p:txBody>
                  </p:sp>
                  <p:cxnSp>
                    <p:nvCxnSpPr>
                      <p:cNvPr id="24" name="Straight Connector 23">
                        <a:extLst>
                          <a:ext uri="{FF2B5EF4-FFF2-40B4-BE49-F238E27FC236}">
                            <a16:creationId xmlns:a16="http://schemas.microsoft.com/office/drawing/2014/main" id="{2EB7761A-3864-75D1-8196-1EF9066A66DD}"/>
                          </a:ext>
                        </a:extLst>
                      </p:cNvPr>
                      <p:cNvCxnSpPr/>
                      <p:nvPr/>
                    </p:nvCxnSpPr>
                    <p:spPr>
                      <a:xfrm>
                        <a:off x="3020263" y="2528210"/>
                        <a:ext cx="1407429" cy="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cxnSp>
                    <p:nvCxnSpPr>
                      <p:cNvPr id="40" name="Straight Connector 39">
                        <a:extLst>
                          <a:ext uri="{FF2B5EF4-FFF2-40B4-BE49-F238E27FC236}">
                            <a16:creationId xmlns:a16="http://schemas.microsoft.com/office/drawing/2014/main" id="{44E6DA1F-3AB8-378A-7FB0-C6C900C907B6}"/>
                          </a:ext>
                        </a:extLst>
                      </p:cNvPr>
                      <p:cNvCxnSpPr/>
                      <p:nvPr/>
                    </p:nvCxnSpPr>
                    <p:spPr>
                      <a:xfrm>
                        <a:off x="6429304" y="2549086"/>
                        <a:ext cx="2502096" cy="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sp>
                    <p:nvSpPr>
                      <p:cNvPr id="51" name="Arrow: Right 50">
                        <a:extLst>
                          <a:ext uri="{FF2B5EF4-FFF2-40B4-BE49-F238E27FC236}">
                            <a16:creationId xmlns:a16="http://schemas.microsoft.com/office/drawing/2014/main" id="{F684AEC6-8491-B454-6405-EE540868D415}"/>
                          </a:ext>
                        </a:extLst>
                      </p:cNvPr>
                      <p:cNvSpPr/>
                      <p:nvPr/>
                    </p:nvSpPr>
                    <p:spPr>
                      <a:xfrm rot="16200000">
                        <a:off x="4482106" y="1935544"/>
                        <a:ext cx="175405"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sp>
                    <p:nvSpPr>
                      <p:cNvPr id="52" name="Arrow: Right 51">
                        <a:extLst>
                          <a:ext uri="{FF2B5EF4-FFF2-40B4-BE49-F238E27FC236}">
                            <a16:creationId xmlns:a16="http://schemas.microsoft.com/office/drawing/2014/main" id="{5BBFCB70-B983-AF12-3458-E43783E3F3FE}"/>
                          </a:ext>
                        </a:extLst>
                      </p:cNvPr>
                      <p:cNvSpPr/>
                      <p:nvPr/>
                    </p:nvSpPr>
                    <p:spPr>
                      <a:xfrm rot="16200000">
                        <a:off x="7013029" y="1927919"/>
                        <a:ext cx="175405" cy="172156"/>
                      </a:xfrm>
                      <a:prstGeom prst="rightArrow">
                        <a:avLst/>
                      </a:prstGeom>
                      <a:solidFill>
                        <a:srgbClr val="ED7D31">
                          <a:lumMod val="50000"/>
                        </a:srgbClr>
                      </a:solidFill>
                      <a:ln w="12700" cap="flat" cmpd="sng" algn="ctr">
                        <a:solidFill>
                          <a:srgbClr val="ED7D31">
                            <a:lumMod val="50000"/>
                          </a:srgbClr>
                        </a:solidFill>
                        <a:prstDash val="solid"/>
                        <a:miter lim="800000"/>
                      </a:ln>
                      <a:effectLst/>
                    </p:spPr>
                    <p:txBody>
                      <a:bodyPr rtlCol="0" anchor="ctr"/>
                      <a:lstStyle/>
                      <a:p>
                        <a:pPr algn="ctr" defTabSz="914217">
                          <a:defRPr/>
                        </a:pPr>
                        <a:endParaRPr lang="en-US" sz="1600">
                          <a:solidFill>
                            <a:prstClr val="white"/>
                          </a:solidFill>
                          <a:latin typeface="Calibri" panose="020F0502020204030204"/>
                        </a:endParaRPr>
                      </a:p>
                    </p:txBody>
                  </p:sp>
                </p:grpSp>
                <p:sp>
                  <p:nvSpPr>
                    <p:cNvPr id="45" name="Dodecagon 44">
                      <a:extLst>
                        <a:ext uri="{FF2B5EF4-FFF2-40B4-BE49-F238E27FC236}">
                          <a16:creationId xmlns:a16="http://schemas.microsoft.com/office/drawing/2014/main" id="{76E00032-D01A-1A3D-81B9-AC2D2B5382F5}"/>
                        </a:ext>
                      </a:extLst>
                    </p:cNvPr>
                    <p:cNvSpPr/>
                    <p:nvPr/>
                  </p:nvSpPr>
                  <p:spPr>
                    <a:xfrm>
                      <a:off x="211702" y="2581453"/>
                      <a:ext cx="419594" cy="340426"/>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5</a:t>
                      </a:r>
                    </a:p>
                  </p:txBody>
                </p:sp>
                <p:sp>
                  <p:nvSpPr>
                    <p:cNvPr id="46" name="Dodecagon 45">
                      <a:extLst>
                        <a:ext uri="{FF2B5EF4-FFF2-40B4-BE49-F238E27FC236}">
                          <a16:creationId xmlns:a16="http://schemas.microsoft.com/office/drawing/2014/main" id="{D312EEF7-EF63-9C4C-103A-AE9B7DB9F1EE}"/>
                        </a:ext>
                      </a:extLst>
                    </p:cNvPr>
                    <p:cNvSpPr/>
                    <p:nvPr/>
                  </p:nvSpPr>
                  <p:spPr>
                    <a:xfrm>
                      <a:off x="215652" y="3263334"/>
                      <a:ext cx="419594" cy="340426"/>
                    </a:xfrm>
                    <a:prstGeom prst="dodecagon">
                      <a:avLst/>
                    </a:prstGeom>
                    <a:solidFill>
                      <a:srgbClr val="70AD47"/>
                    </a:solidFill>
                    <a:ln w="12700" cap="flat" cmpd="sng" algn="ctr">
                      <a:solidFill>
                        <a:srgbClr val="70AD47">
                          <a:shade val="50000"/>
                        </a:srgbClr>
                      </a:solidFill>
                      <a:prstDash val="solid"/>
                      <a:miter lim="800000"/>
                    </a:ln>
                    <a:effectLst/>
                  </p:spPr>
                  <p:txBody>
                    <a:bodyPr rtlCol="0" anchor="ctr"/>
                    <a:lstStyle/>
                    <a:p>
                      <a:pPr algn="ctr" defTabSz="914217">
                        <a:defRPr/>
                      </a:pPr>
                      <a:r>
                        <a:rPr lang="fr" sz="1600">
                          <a:solidFill>
                            <a:prstClr val="white"/>
                          </a:solidFill>
                          <a:latin typeface="Calibri" panose="020F0502020204030204"/>
                        </a:rPr>
                        <a:t>6</a:t>
                      </a:r>
                    </a:p>
                  </p:txBody>
                </p:sp>
              </p:grpSp>
              <p:sp>
                <p:nvSpPr>
                  <p:cNvPr id="128" name="Rectangle 127">
                    <a:extLst>
                      <a:ext uri="{FF2B5EF4-FFF2-40B4-BE49-F238E27FC236}">
                        <a16:creationId xmlns:a16="http://schemas.microsoft.com/office/drawing/2014/main" id="{CBAECAB7-59ED-AA45-6BAC-AEB3B84D154C}"/>
                      </a:ext>
                    </a:extLst>
                  </p:cNvPr>
                  <p:cNvSpPr/>
                  <p:nvPr/>
                </p:nvSpPr>
                <p:spPr>
                  <a:xfrm>
                    <a:off x="7024233" y="1690674"/>
                    <a:ext cx="2333996" cy="395319"/>
                  </a:xfrm>
                  <a:prstGeom prst="rect">
                    <a:avLst/>
                  </a:prstGeom>
                  <a:solidFill>
                    <a:srgbClr val="00B050"/>
                  </a:solidFill>
                  <a:ln w="12700" cap="flat" cmpd="sng" algn="ctr">
                    <a:solidFill>
                      <a:srgbClr val="00B050"/>
                    </a:solidFill>
                    <a:prstDash val="solid"/>
                    <a:miter lim="800000"/>
                  </a:ln>
                  <a:effectLst/>
                </p:spPr>
                <p:txBody>
                  <a:bodyPr rtlCol="0" anchor="ctr"/>
                  <a:lstStyle/>
                  <a:p>
                    <a:pPr algn="ctr" defTabSz="914217">
                      <a:defRPr/>
                    </a:pPr>
                    <a:r>
                      <a:rPr lang="fr" sz="1600" b="1" u="sng" dirty="0">
                        <a:solidFill>
                          <a:prstClr val="white"/>
                        </a:solidFill>
                        <a:latin typeface="Calibri" panose="020F0502020204030204"/>
                      </a:rPr>
                      <a:t>Nettoyer l'ensemble de données pour l'analyse</a:t>
                    </a:r>
                  </a:p>
                </p:txBody>
              </p:sp>
            </p:grpSp>
            <p:sp>
              <p:nvSpPr>
                <p:cNvPr id="120" name="TextBox 119">
                  <a:extLst>
                    <a:ext uri="{FF2B5EF4-FFF2-40B4-BE49-F238E27FC236}">
                      <a16:creationId xmlns:a16="http://schemas.microsoft.com/office/drawing/2014/main" id="{B06A239B-7852-B192-B54C-470DD1B79355}"/>
                    </a:ext>
                  </a:extLst>
                </p:cNvPr>
                <p:cNvSpPr txBox="1"/>
                <p:nvPr/>
              </p:nvSpPr>
              <p:spPr>
                <a:xfrm>
                  <a:off x="10623806" y="1022709"/>
                  <a:ext cx="1275472" cy="64641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 sz="1200">
                      <a:solidFill>
                        <a:schemeClr val="bg1"/>
                      </a:solidFill>
                    </a:rPr>
                    <a:t>Rapport DQ</a:t>
                  </a:r>
                </a:p>
                <a:p>
                  <a:pPr algn="ctr"/>
                  <a:r>
                    <a:rPr lang="fr" sz="1200">
                      <a:solidFill>
                        <a:schemeClr val="bg1"/>
                      </a:solidFill>
                    </a:rPr>
                    <a:t>Carte (checks.xlxs)</a:t>
                  </a:r>
                  <a:endParaRPr lang="en-CA" sz="1200">
                    <a:solidFill>
                      <a:schemeClr val="bg1"/>
                    </a:solidFill>
                  </a:endParaRPr>
                </a:p>
              </p:txBody>
            </p:sp>
            <p:cxnSp>
              <p:nvCxnSpPr>
                <p:cNvPr id="121" name="Straight Arrow Connector 120">
                  <a:extLst>
                    <a:ext uri="{FF2B5EF4-FFF2-40B4-BE49-F238E27FC236}">
                      <a16:creationId xmlns:a16="http://schemas.microsoft.com/office/drawing/2014/main" id="{96CE3CAA-94DE-0686-EADC-1698BF2FFA44}"/>
                    </a:ext>
                  </a:extLst>
                </p:cNvPr>
                <p:cNvCxnSpPr>
                  <a:cxnSpLocks/>
                </p:cNvCxnSpPr>
                <p:nvPr/>
              </p:nvCxnSpPr>
              <p:spPr>
                <a:xfrm flipV="1">
                  <a:off x="10042444" y="1331681"/>
                  <a:ext cx="567608" cy="7766"/>
                </a:xfrm>
                <a:prstGeom prst="straightConnector1">
                  <a:avLst/>
                </a:prstGeom>
                <a:ln w="76200">
                  <a:solidFill>
                    <a:srgbClr val="843C0C"/>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1AA9B4E2-D876-10FD-5308-534C8D981E37}"/>
                    </a:ext>
                  </a:extLst>
                </p:cNvPr>
                <p:cNvCxnSpPr>
                  <a:cxnSpLocks/>
                </p:cNvCxnSpPr>
                <p:nvPr/>
              </p:nvCxnSpPr>
              <p:spPr>
                <a:xfrm flipV="1">
                  <a:off x="10162634" y="2567255"/>
                  <a:ext cx="457200" cy="0"/>
                </a:xfrm>
                <a:prstGeom prst="straightConnector1">
                  <a:avLst/>
                </a:prstGeom>
                <a:ln w="76200">
                  <a:solidFill>
                    <a:srgbClr val="843C0C"/>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BD66B94D-0843-9709-DD71-64A9B0C51C97}"/>
                    </a:ext>
                  </a:extLst>
                </p:cNvPr>
                <p:cNvSpPr txBox="1"/>
                <p:nvPr/>
              </p:nvSpPr>
              <p:spPr>
                <a:xfrm>
                  <a:off x="10619695" y="2195057"/>
                  <a:ext cx="1290469" cy="27703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 sz="1200" dirty="0">
                      <a:solidFill>
                        <a:schemeClr val="bg1"/>
                      </a:solidFill>
                    </a:rPr>
                    <a:t>Profils de la ZS</a:t>
                  </a:r>
                  <a:endParaRPr lang="en-CA" sz="1200" dirty="0">
                    <a:solidFill>
                      <a:schemeClr val="bg1"/>
                    </a:solidFill>
                  </a:endParaRPr>
                </a:p>
              </p:txBody>
            </p:sp>
            <p:cxnSp>
              <p:nvCxnSpPr>
                <p:cNvPr id="125" name="Straight Arrow Connector 124">
                  <a:extLst>
                    <a:ext uri="{FF2B5EF4-FFF2-40B4-BE49-F238E27FC236}">
                      <a16:creationId xmlns:a16="http://schemas.microsoft.com/office/drawing/2014/main" id="{ACF41C48-8345-03C0-49BC-E77384404F10}"/>
                    </a:ext>
                  </a:extLst>
                </p:cNvPr>
                <p:cNvCxnSpPr/>
                <p:nvPr/>
              </p:nvCxnSpPr>
              <p:spPr>
                <a:xfrm>
                  <a:off x="706788" y="1244449"/>
                  <a:ext cx="0" cy="41148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AB22866E-D24F-C35E-BF67-074DCF1E4056}"/>
                    </a:ext>
                  </a:extLst>
                </p:cNvPr>
                <p:cNvCxnSpPr/>
                <p:nvPr/>
              </p:nvCxnSpPr>
              <p:spPr>
                <a:xfrm>
                  <a:off x="702282" y="2278622"/>
                  <a:ext cx="0" cy="41148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03C0D3B-F7E7-E954-959B-9166B2872B61}"/>
                    </a:ext>
                  </a:extLst>
                </p:cNvPr>
                <p:cNvSpPr txBox="1"/>
                <p:nvPr/>
              </p:nvSpPr>
              <p:spPr>
                <a:xfrm>
                  <a:off x="10682728" y="3859042"/>
                  <a:ext cx="1290469" cy="46172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 sz="1200">
                      <a:solidFill>
                        <a:schemeClr val="bg1"/>
                      </a:solidFill>
                    </a:rPr>
                    <a:t>Couverture du numérateur</a:t>
                  </a:r>
                  <a:endParaRPr lang="en-CA" sz="1200">
                    <a:solidFill>
                      <a:schemeClr val="bg1"/>
                    </a:solidFill>
                  </a:endParaRPr>
                </a:p>
              </p:txBody>
            </p:sp>
            <p:sp>
              <p:nvSpPr>
                <p:cNvPr id="39" name="TextBox 38">
                  <a:extLst>
                    <a:ext uri="{FF2B5EF4-FFF2-40B4-BE49-F238E27FC236}">
                      <a16:creationId xmlns:a16="http://schemas.microsoft.com/office/drawing/2014/main" id="{7D93741C-F529-F4E4-8B10-E17A9D92FF96}"/>
                    </a:ext>
                  </a:extLst>
                </p:cNvPr>
                <p:cNvSpPr txBox="1"/>
                <p:nvPr/>
              </p:nvSpPr>
              <p:spPr>
                <a:xfrm>
                  <a:off x="10616307" y="5155570"/>
                  <a:ext cx="1290469" cy="46172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 sz="1200">
                      <a:solidFill>
                        <a:schemeClr val="bg1"/>
                      </a:solidFill>
                    </a:rPr>
                    <a:t>Couverture du dénominateur</a:t>
                  </a:r>
                  <a:endParaRPr lang="en-CA" sz="1200">
                    <a:solidFill>
                      <a:schemeClr val="bg1"/>
                    </a:solidFill>
                  </a:endParaRPr>
                </a:p>
              </p:txBody>
            </p:sp>
            <p:sp>
              <p:nvSpPr>
                <p:cNvPr id="42" name="TextBox 41">
                  <a:extLst>
                    <a:ext uri="{FF2B5EF4-FFF2-40B4-BE49-F238E27FC236}">
                      <a16:creationId xmlns:a16="http://schemas.microsoft.com/office/drawing/2014/main" id="{9B1B7923-F03F-2BB9-1900-4097DB429E32}"/>
                    </a:ext>
                  </a:extLst>
                </p:cNvPr>
                <p:cNvSpPr txBox="1"/>
                <p:nvPr/>
              </p:nvSpPr>
              <p:spPr>
                <a:xfrm>
                  <a:off x="10643241" y="5929288"/>
                  <a:ext cx="1290469" cy="64641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 sz="1200">
                      <a:solidFill>
                        <a:schemeClr val="bg1"/>
                      </a:solidFill>
                    </a:rPr>
                    <a:t>Couverture des services de santé</a:t>
                  </a:r>
                  <a:endParaRPr lang="en-CA" sz="1200">
                    <a:solidFill>
                      <a:schemeClr val="bg1"/>
                    </a:solidFill>
                  </a:endParaRPr>
                </a:p>
              </p:txBody>
            </p:sp>
            <p:cxnSp>
              <p:nvCxnSpPr>
                <p:cNvPr id="47" name="Straight Arrow Connector 46">
                  <a:extLst>
                    <a:ext uri="{FF2B5EF4-FFF2-40B4-BE49-F238E27FC236}">
                      <a16:creationId xmlns:a16="http://schemas.microsoft.com/office/drawing/2014/main" id="{F1035353-53F6-2B37-A3DE-AE9B62362497}"/>
                    </a:ext>
                  </a:extLst>
                </p:cNvPr>
                <p:cNvCxnSpPr/>
                <p:nvPr/>
              </p:nvCxnSpPr>
              <p:spPr>
                <a:xfrm>
                  <a:off x="709056" y="3291025"/>
                  <a:ext cx="0" cy="41148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6F47AA7-75AD-889A-CED5-1A1BF40AB114}"/>
                    </a:ext>
                  </a:extLst>
                </p:cNvPr>
                <p:cNvCxnSpPr/>
                <p:nvPr/>
              </p:nvCxnSpPr>
              <p:spPr>
                <a:xfrm>
                  <a:off x="694586" y="4323565"/>
                  <a:ext cx="0" cy="41148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48D5E9A-9A90-AFD9-3F92-3BB0484AB62A}"/>
                    </a:ext>
                  </a:extLst>
                </p:cNvPr>
                <p:cNvCxnSpPr/>
                <p:nvPr/>
              </p:nvCxnSpPr>
              <p:spPr>
                <a:xfrm>
                  <a:off x="709056" y="5348530"/>
                  <a:ext cx="0" cy="41148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1D2D34FC-9989-F6BF-9C2D-12BAA30CDE9F}"/>
                  </a:ext>
                </a:extLst>
              </p:cNvPr>
              <p:cNvCxnSpPr>
                <a:cxnSpLocks/>
              </p:cNvCxnSpPr>
              <p:nvPr/>
            </p:nvCxnSpPr>
            <p:spPr>
              <a:xfrm flipH="1">
                <a:off x="1278744" y="4599655"/>
                <a:ext cx="0" cy="1097280"/>
              </a:xfrm>
              <a:prstGeom prst="line">
                <a:avLst/>
              </a:prstGeom>
              <a:noFill/>
              <a:ln w="76200" cap="flat" cmpd="sng" algn="ctr">
                <a:solidFill>
                  <a:srgbClr val="ED7D31">
                    <a:lumMod val="50000"/>
                  </a:srgbClr>
                </a:solidFill>
                <a:prstDash val="solid"/>
                <a:miter lim="800000"/>
              </a:ln>
              <a:effectLst/>
            </p:spPr>
          </p:cxnSp>
          <p:cxnSp>
            <p:nvCxnSpPr>
              <p:cNvPr id="32" name="Straight Connector 31">
                <a:extLst>
                  <a:ext uri="{FF2B5EF4-FFF2-40B4-BE49-F238E27FC236}">
                    <a16:creationId xmlns:a16="http://schemas.microsoft.com/office/drawing/2014/main" id="{8FACB7A4-E16E-705D-3B0E-6A5B2C41D22C}"/>
                  </a:ext>
                </a:extLst>
              </p:cNvPr>
              <p:cNvCxnSpPr>
                <a:cxnSpLocks/>
              </p:cNvCxnSpPr>
              <p:nvPr/>
            </p:nvCxnSpPr>
            <p:spPr>
              <a:xfrm>
                <a:off x="3844672" y="5661968"/>
                <a:ext cx="0" cy="64008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grpSp>
        <p:grpSp>
          <p:nvGrpSpPr>
            <p:cNvPr id="44" name="Group 43">
              <a:extLst>
                <a:ext uri="{FF2B5EF4-FFF2-40B4-BE49-F238E27FC236}">
                  <a16:creationId xmlns:a16="http://schemas.microsoft.com/office/drawing/2014/main" id="{2080A586-B585-D5EC-265B-B0BDC830C23E}"/>
                </a:ext>
              </a:extLst>
            </p:cNvPr>
            <p:cNvGrpSpPr/>
            <p:nvPr/>
          </p:nvGrpSpPr>
          <p:grpSpPr>
            <a:xfrm>
              <a:off x="3650031" y="4955274"/>
              <a:ext cx="548640" cy="1280160"/>
              <a:chOff x="3650031" y="4955274"/>
              <a:chExt cx="548640" cy="1280160"/>
            </a:xfrm>
          </p:grpSpPr>
          <p:cxnSp>
            <p:nvCxnSpPr>
              <p:cNvPr id="16" name="Straight Connector 15">
                <a:extLst>
                  <a:ext uri="{FF2B5EF4-FFF2-40B4-BE49-F238E27FC236}">
                    <a16:creationId xmlns:a16="http://schemas.microsoft.com/office/drawing/2014/main" id="{13F93FE1-A240-C962-D5B2-0FE343D8C3E4}"/>
                  </a:ext>
                </a:extLst>
              </p:cNvPr>
              <p:cNvCxnSpPr>
                <a:cxnSpLocks/>
              </p:cNvCxnSpPr>
              <p:nvPr/>
            </p:nvCxnSpPr>
            <p:spPr>
              <a:xfrm flipH="1">
                <a:off x="4169106" y="4955274"/>
                <a:ext cx="4726" cy="1280160"/>
              </a:xfrm>
              <a:prstGeom prst="line">
                <a:avLst/>
              </a:prstGeom>
              <a:noFill/>
              <a:ln w="76200" cap="flat" cmpd="sng" algn="ctr">
                <a:solidFill>
                  <a:srgbClr val="ED7D31">
                    <a:lumMod val="50000"/>
                  </a:srgbClr>
                </a:solidFill>
                <a:prstDash val="solid"/>
                <a:miter lim="800000"/>
                <a:headEnd type="none" w="med" len="med"/>
                <a:tailEnd type="triangle" w="med" len="med"/>
              </a:ln>
              <a:effectLst/>
            </p:spPr>
          </p:cxnSp>
          <p:cxnSp>
            <p:nvCxnSpPr>
              <p:cNvPr id="34" name="Straight Connector 33">
                <a:extLst>
                  <a:ext uri="{FF2B5EF4-FFF2-40B4-BE49-F238E27FC236}">
                    <a16:creationId xmlns:a16="http://schemas.microsoft.com/office/drawing/2014/main" id="{F67CF4B6-0637-A3FC-68BE-ED5BD79D03D4}"/>
                  </a:ext>
                </a:extLst>
              </p:cNvPr>
              <p:cNvCxnSpPr>
                <a:cxnSpLocks/>
              </p:cNvCxnSpPr>
              <p:nvPr/>
            </p:nvCxnSpPr>
            <p:spPr>
              <a:xfrm>
                <a:off x="3650031" y="4966160"/>
                <a:ext cx="548640" cy="0"/>
              </a:xfrm>
              <a:prstGeom prst="line">
                <a:avLst/>
              </a:prstGeom>
              <a:noFill/>
              <a:ln w="76200" cap="flat" cmpd="sng" algn="ctr">
                <a:solidFill>
                  <a:srgbClr val="ED7D31">
                    <a:lumMod val="50000"/>
                  </a:srgbClr>
                </a:solidFill>
                <a:prstDash val="solid"/>
                <a:miter lim="800000"/>
                <a:headEnd type="none" w="med" len="med"/>
                <a:tailEnd type="none" w="med" len="med"/>
              </a:ln>
              <a:effectLst/>
            </p:spPr>
          </p:cxnSp>
        </p:grpSp>
      </p:grpSp>
    </p:spTree>
    <p:extLst>
      <p:ext uri="{BB962C8B-B14F-4D97-AF65-F5344CB8AC3E}">
        <p14:creationId xmlns:p14="http://schemas.microsoft.com/office/powerpoint/2010/main" val="3710181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DD7701-5881-DFF7-04B4-9612C92C42BC}"/>
              </a:ext>
            </a:extLst>
          </p:cNvPr>
          <p:cNvSpPr>
            <a:spLocks noGrp="1"/>
          </p:cNvSpPr>
          <p:nvPr>
            <p:ph type="title"/>
          </p:nvPr>
        </p:nvSpPr>
        <p:spPr>
          <a:xfrm>
            <a:off x="85793" y="447"/>
            <a:ext cx="12106207" cy="1125905"/>
          </a:xfrm>
        </p:spPr>
        <p:txBody>
          <a:bodyPr>
            <a:normAutofit/>
          </a:bodyPr>
          <a:lstStyle/>
          <a:p>
            <a:pPr algn="ctr"/>
            <a:r>
              <a:rPr lang="fr" sz="4000" dirty="0"/>
              <a:t>Ajustements des valeurs aberrantes extrêmes</a:t>
            </a:r>
            <a:endParaRPr lang="en-US" sz="5400" dirty="0"/>
          </a:p>
        </p:txBody>
      </p:sp>
      <p:graphicFrame>
        <p:nvGraphicFramePr>
          <p:cNvPr id="5" name="Content Placeholder 4">
            <a:extLst>
              <a:ext uri="{FF2B5EF4-FFF2-40B4-BE49-F238E27FC236}">
                <a16:creationId xmlns:a16="http://schemas.microsoft.com/office/drawing/2014/main" id="{CDD530D0-9691-3A30-4C0A-324BAEC7529B}"/>
              </a:ext>
            </a:extLst>
          </p:cNvPr>
          <p:cNvGraphicFramePr>
            <a:graphicFrameLocks noGrp="1"/>
          </p:cNvGraphicFramePr>
          <p:nvPr>
            <p:ph sz="half" idx="1"/>
            <p:extLst>
              <p:ext uri="{D42A27DB-BD31-4B8C-83A1-F6EECF244321}">
                <p14:modId xmlns:p14="http://schemas.microsoft.com/office/powerpoint/2010/main" val="83385281"/>
              </p:ext>
            </p:extLst>
          </p:nvPr>
        </p:nvGraphicFramePr>
        <p:xfrm>
          <a:off x="129090" y="1236948"/>
          <a:ext cx="5861355" cy="54396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6">
            <a:extLst>
              <a:ext uri="{FF2B5EF4-FFF2-40B4-BE49-F238E27FC236}">
                <a16:creationId xmlns:a16="http://schemas.microsoft.com/office/drawing/2014/main" id="{6205DB91-CB52-5F5F-B94E-47EF05ADE294}"/>
              </a:ext>
            </a:extLst>
          </p:cNvPr>
          <p:cNvSpPr>
            <a:spLocks noGrp="1"/>
          </p:cNvSpPr>
          <p:nvPr>
            <p:ph sz="half" idx="2"/>
          </p:nvPr>
        </p:nvSpPr>
        <p:spPr>
          <a:xfrm>
            <a:off x="6201554" y="1236948"/>
            <a:ext cx="5749403" cy="1399993"/>
          </a:xfrm>
        </p:spPr>
        <p:txBody>
          <a:bodyPr/>
          <a:lstStyle/>
          <a:p>
            <a:pPr marL="0" indent="0" algn="ctr">
              <a:lnSpc>
                <a:spcPct val="100000"/>
              </a:lnSpc>
              <a:spcBef>
                <a:spcPts val="600"/>
              </a:spcBef>
              <a:spcAft>
                <a:spcPts val="600"/>
              </a:spcAft>
              <a:buNone/>
            </a:pPr>
            <a:r>
              <a:rPr lang="fr" sz="2400" b="1"/>
              <a:t>Corrigez la valeur aberrante si </a:t>
            </a:r>
          </a:p>
          <a:p>
            <a:pPr marL="0" indent="0" algn="ctr">
              <a:lnSpc>
                <a:spcPct val="100000"/>
              </a:lnSpc>
              <a:spcBef>
                <a:spcPts val="600"/>
              </a:spcBef>
              <a:spcAft>
                <a:spcPts val="600"/>
              </a:spcAft>
              <a:buNone/>
            </a:pPr>
            <a:r>
              <a:rPr lang="fr" sz="1800"/>
              <a:t>Médiane-1,4826*5*MAD &lt; xi &gt; médiane+1,4826*5*MAD</a:t>
            </a:r>
            <a:r>
              <a:rPr lang="fr" sz="1800" baseline="30000"/>
              <a:t> ¥</a:t>
            </a:r>
          </a:p>
          <a:p>
            <a:endParaRPr lang="en-US"/>
          </a:p>
        </p:txBody>
      </p:sp>
      <p:sp>
        <p:nvSpPr>
          <p:cNvPr id="8" name="TextBox 7">
            <a:extLst>
              <a:ext uri="{FF2B5EF4-FFF2-40B4-BE49-F238E27FC236}">
                <a16:creationId xmlns:a16="http://schemas.microsoft.com/office/drawing/2014/main" id="{24F9F506-73AC-FA56-2003-2B9B86DE280E}"/>
              </a:ext>
            </a:extLst>
          </p:cNvPr>
          <p:cNvSpPr txBox="1"/>
          <p:nvPr/>
        </p:nvSpPr>
        <p:spPr>
          <a:xfrm>
            <a:off x="6201555" y="2747538"/>
            <a:ext cx="5749403" cy="2544671"/>
          </a:xfrm>
          <a:prstGeom prst="rect">
            <a:avLst/>
          </a:prstGeom>
          <a:solidFill>
            <a:schemeClr val="bg2">
              <a:lumMod val="20000"/>
              <a:lumOff val="80000"/>
            </a:schemeClr>
          </a:solidFill>
          <a:ln w="12700" cap="flat" cmpd="sng" algn="ctr">
            <a:solidFill>
              <a:srgbClr val="4472C4"/>
            </a:solidFill>
            <a:prstDash val="solid"/>
            <a:miter lim="800000"/>
          </a:ln>
          <a:effectLst/>
        </p:spPr>
        <p:txBody>
          <a:bodyPr wrap="square" rtlCol="0">
            <a:spAutoFit/>
          </a:bodyPr>
          <a:lstStyle/>
          <a:p>
            <a:pPr lvl="1" defTabSz="914217">
              <a:lnSpc>
                <a:spcPct val="120000"/>
              </a:lnSpc>
              <a:defRPr/>
            </a:pPr>
            <a:r>
              <a:rPr lang="fr" sz="2200" i="1">
                <a:solidFill>
                  <a:prstClr val="black"/>
                </a:solidFill>
                <a:latin typeface="Calibri" panose="020F0502020204030204"/>
              </a:rPr>
              <a:t>  LB </a:t>
            </a:r>
            <a:r>
              <a:rPr lang="fr" sz="2200">
                <a:solidFill>
                  <a:prstClr val="black"/>
                </a:solidFill>
                <a:latin typeface="Calibri" panose="020F0502020204030204"/>
              </a:rPr>
              <a:t>= Médiane - 1,4826 * 5 * MAD</a:t>
            </a:r>
          </a:p>
          <a:p>
            <a:pPr lvl="1" defTabSz="914217">
              <a:lnSpc>
                <a:spcPct val="120000"/>
              </a:lnSpc>
              <a:defRPr/>
            </a:pPr>
            <a:r>
              <a:rPr lang="fr" sz="2200" i="1">
                <a:solidFill>
                  <a:prstClr val="black"/>
                </a:solidFill>
                <a:latin typeface="Calibri" panose="020F0502020204030204"/>
              </a:rPr>
              <a:t>  UB </a:t>
            </a:r>
            <a:r>
              <a:rPr lang="fr" sz="2200">
                <a:solidFill>
                  <a:prstClr val="black"/>
                </a:solidFill>
                <a:latin typeface="Calibri" panose="020F0502020204030204"/>
              </a:rPr>
              <a:t>= Médiane + 1,4826 * 5 * MAD</a:t>
            </a:r>
          </a:p>
          <a:p>
            <a:pPr marL="285693" lvl="1" indent="-285693" defTabSz="914217">
              <a:lnSpc>
                <a:spcPct val="120000"/>
              </a:lnSpc>
              <a:buFont typeface="Arial" panose="020B0604020202020204" pitchFamily="34" charset="0"/>
              <a:buChar char="•"/>
              <a:defRPr/>
            </a:pPr>
            <a:r>
              <a:rPr lang="fr">
                <a:solidFill>
                  <a:prstClr val="black"/>
                </a:solidFill>
                <a:latin typeface="Calibri" panose="020F0502020204030204"/>
              </a:rPr>
              <a:t>X</a:t>
            </a:r>
            <a:r>
              <a:rPr lang="fr" i="1">
                <a:solidFill>
                  <a:prstClr val="black"/>
                </a:solidFill>
                <a:latin typeface="Calibri" panose="020F0502020204030204"/>
              </a:rPr>
              <a:t>i</a:t>
            </a:r>
            <a:r>
              <a:rPr lang="fr">
                <a:solidFill>
                  <a:prstClr val="black"/>
                </a:solidFill>
                <a:latin typeface="Calibri" panose="020F0502020204030204"/>
              </a:rPr>
              <a:t> est la valeur de l'observation pour une période donnée (année) </a:t>
            </a:r>
          </a:p>
          <a:p>
            <a:pPr marL="285693" lvl="1" indent="-285693" defTabSz="914217">
              <a:lnSpc>
                <a:spcPct val="120000"/>
              </a:lnSpc>
              <a:buFont typeface="Arial" panose="020B0604020202020204" pitchFamily="34" charset="0"/>
              <a:buChar char="•"/>
              <a:defRPr/>
            </a:pPr>
            <a:r>
              <a:rPr lang="fr">
                <a:solidFill>
                  <a:prstClr val="black"/>
                </a:solidFill>
                <a:latin typeface="Calibri" panose="020F0502020204030204"/>
              </a:rPr>
              <a:t>La MAD est définie comme l'écart absolu médian (MAD = médiane(|X</a:t>
            </a:r>
            <a:r>
              <a:rPr lang="fr" i="1">
                <a:solidFill>
                  <a:prstClr val="black"/>
                </a:solidFill>
                <a:latin typeface="Calibri" panose="020F0502020204030204"/>
              </a:rPr>
              <a:t>i </a:t>
            </a:r>
            <a:r>
              <a:rPr lang="fr">
                <a:solidFill>
                  <a:prstClr val="black"/>
                </a:solidFill>
                <a:latin typeface="Calibri" panose="020F0502020204030204"/>
              </a:rPr>
              <a:t>- X~|), </a:t>
            </a:r>
          </a:p>
          <a:p>
            <a:pPr marL="285693" lvl="1" indent="-285693" defTabSz="914217">
              <a:lnSpc>
                <a:spcPct val="120000"/>
              </a:lnSpc>
              <a:buFont typeface="Arial" panose="020B0604020202020204" pitchFamily="34" charset="0"/>
              <a:buChar char="•"/>
              <a:defRPr/>
            </a:pPr>
            <a:r>
              <a:rPr lang="fr">
                <a:solidFill>
                  <a:prstClr val="black"/>
                </a:solidFill>
                <a:latin typeface="Calibri" panose="020F0502020204030204"/>
              </a:rPr>
              <a:t>X~ est la médiane des trois années précédentes).</a:t>
            </a:r>
            <a:endParaRPr lang="en-CA">
              <a:solidFill>
                <a:prstClr val="black"/>
              </a:solidFill>
              <a:latin typeface="Calibri" panose="020F0502020204030204"/>
            </a:endParaRPr>
          </a:p>
        </p:txBody>
      </p:sp>
      <p:sp>
        <p:nvSpPr>
          <p:cNvPr id="9" name="TextBox 8">
            <a:extLst>
              <a:ext uri="{FF2B5EF4-FFF2-40B4-BE49-F238E27FC236}">
                <a16:creationId xmlns:a16="http://schemas.microsoft.com/office/drawing/2014/main" id="{3692DA3C-4D98-9B23-2035-643F6AD90A0B}"/>
              </a:ext>
            </a:extLst>
          </p:cNvPr>
          <p:cNvSpPr txBox="1"/>
          <p:nvPr/>
        </p:nvSpPr>
        <p:spPr>
          <a:xfrm>
            <a:off x="6201555" y="5678653"/>
            <a:ext cx="5749403" cy="523220"/>
          </a:xfrm>
          <a:prstGeom prst="rect">
            <a:avLst/>
          </a:prstGeom>
          <a:noFill/>
        </p:spPr>
        <p:txBody>
          <a:bodyPr wrap="square" rtlCol="0">
            <a:spAutoFit/>
          </a:bodyPr>
          <a:lstStyle/>
          <a:p>
            <a:r>
              <a:rPr lang="fr" sz="1400" i="1" baseline="100000"/>
              <a:t>¥</a:t>
            </a:r>
            <a:r>
              <a:rPr lang="fr" sz="1400" i="1"/>
              <a:t>Pour une distribution normale, un écart-type de la moyenne est d'environ 1,4826 MADs (règle de Hampel X84)</a:t>
            </a:r>
          </a:p>
        </p:txBody>
      </p:sp>
    </p:spTree>
    <p:extLst>
      <p:ext uri="{BB962C8B-B14F-4D97-AF65-F5344CB8AC3E}">
        <p14:creationId xmlns:p14="http://schemas.microsoft.com/office/powerpoint/2010/main" val="437372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5C19E6-F277-953F-F015-6A425A3FF7F5}"/>
              </a:ext>
            </a:extLst>
          </p:cNvPr>
          <p:cNvSpPr>
            <a:spLocks noGrp="1"/>
          </p:cNvSpPr>
          <p:nvPr>
            <p:ph type="title"/>
          </p:nvPr>
        </p:nvSpPr>
        <p:spPr>
          <a:xfrm>
            <a:off x="0" y="446"/>
            <a:ext cx="12192000" cy="823805"/>
          </a:xfrm>
        </p:spPr>
        <p:txBody>
          <a:bodyPr/>
          <a:lstStyle/>
          <a:p>
            <a:pPr algn="ctr"/>
            <a:r>
              <a:rPr lang="fr" dirty="0"/>
              <a:t>Évaluation de la qualité DHIS-2</a:t>
            </a:r>
          </a:p>
        </p:txBody>
      </p:sp>
      <p:sp>
        <p:nvSpPr>
          <p:cNvPr id="5" name="Text Placeholder 4">
            <a:extLst>
              <a:ext uri="{FF2B5EF4-FFF2-40B4-BE49-F238E27FC236}">
                <a16:creationId xmlns:a16="http://schemas.microsoft.com/office/drawing/2014/main" id="{656692C4-C25D-9679-70AD-82DCAF4862D1}"/>
              </a:ext>
            </a:extLst>
          </p:cNvPr>
          <p:cNvSpPr>
            <a:spLocks noGrp="1"/>
          </p:cNvSpPr>
          <p:nvPr>
            <p:ph type="body" idx="1"/>
          </p:nvPr>
        </p:nvSpPr>
        <p:spPr>
          <a:xfrm>
            <a:off x="866955" y="1024413"/>
            <a:ext cx="3117377" cy="502135"/>
          </a:xfrm>
        </p:spPr>
        <p:txBody>
          <a:bodyPr>
            <a:noAutofit/>
          </a:bodyPr>
          <a:lstStyle/>
          <a:p>
            <a:pPr>
              <a:lnSpc>
                <a:spcPct val="100000"/>
              </a:lnSpc>
            </a:pPr>
            <a:r>
              <a:rPr lang="fr" sz="2000" dirty="0">
                <a:solidFill>
                  <a:srgbClr val="FF0000"/>
                </a:solidFill>
              </a:rPr>
              <a:t>Rapport ANC-1/Penta-1 </a:t>
            </a:r>
          </a:p>
        </p:txBody>
      </p:sp>
      <p:sp>
        <p:nvSpPr>
          <p:cNvPr id="6" name="Content Placeholder 5">
            <a:extLst>
              <a:ext uri="{FF2B5EF4-FFF2-40B4-BE49-F238E27FC236}">
                <a16:creationId xmlns:a16="http://schemas.microsoft.com/office/drawing/2014/main" id="{9DC1646F-674B-8AAC-7EDA-71AE144A237A}"/>
              </a:ext>
            </a:extLst>
          </p:cNvPr>
          <p:cNvSpPr>
            <a:spLocks noGrp="1"/>
          </p:cNvSpPr>
          <p:nvPr>
            <p:ph sz="half" idx="2"/>
          </p:nvPr>
        </p:nvSpPr>
        <p:spPr>
          <a:xfrm>
            <a:off x="491620" y="1740728"/>
            <a:ext cx="4117896" cy="5032861"/>
          </a:xfrm>
        </p:spPr>
        <p:txBody>
          <a:bodyPr>
            <a:normAutofit fontScale="47500" lnSpcReduction="20000"/>
          </a:bodyPr>
          <a:lstStyle/>
          <a:p>
            <a:pPr marL="285693" lvl="1" indent="-285693" defTabSz="888822">
              <a:lnSpc>
                <a:spcPct val="170000"/>
              </a:lnSpc>
              <a:spcBef>
                <a:spcPct val="0"/>
              </a:spcBef>
              <a:spcAft>
                <a:spcPct val="15000"/>
              </a:spcAft>
              <a:buFont typeface="Wingdings" panose="05000000000000000000" pitchFamily="2" charset="2"/>
              <a:buChar char="§"/>
            </a:pPr>
            <a:r>
              <a:rPr lang="fr" sz="2949" dirty="0"/>
              <a:t>% de grossesses ayant donné naissance à des enfants survivants ( %penta)</a:t>
            </a:r>
          </a:p>
          <a:p>
            <a:pPr marL="514247" lvl="2" indent="-285693" defTabSz="888822">
              <a:lnSpc>
                <a:spcPct val="170000"/>
              </a:lnSpc>
              <a:spcBef>
                <a:spcPct val="0"/>
              </a:spcBef>
              <a:spcAft>
                <a:spcPct val="15000"/>
              </a:spcAft>
            </a:pPr>
            <a:r>
              <a:rPr lang="fr" sz="2549" dirty="0"/>
              <a:t>Assume universal ANC-1 (100%)</a:t>
            </a:r>
          </a:p>
          <a:p>
            <a:pPr marL="514247" lvl="2" indent="-285693" defTabSz="888822">
              <a:lnSpc>
                <a:spcPct val="170000"/>
              </a:lnSpc>
              <a:spcBef>
                <a:spcPct val="0"/>
              </a:spcBef>
              <a:spcAft>
                <a:spcPct val="15000"/>
              </a:spcAft>
            </a:pPr>
            <a:r>
              <a:rPr lang="fr" sz="2549" dirty="0"/>
              <a:t>Tenir compte de la perte de grossesse (3 %), des taux de gémellité (1,5 %), du taux de mortinatalité (2 %) et de la RMN (3 %)</a:t>
            </a:r>
          </a:p>
          <a:p>
            <a:pPr marL="285693" lvl="1" indent="-285693" defTabSz="888822">
              <a:lnSpc>
                <a:spcPct val="170000"/>
              </a:lnSpc>
              <a:spcBef>
                <a:spcPct val="0"/>
              </a:spcBef>
              <a:spcAft>
                <a:spcPct val="15000"/>
              </a:spcAft>
              <a:buFont typeface="Wingdings" panose="05000000000000000000" pitchFamily="2" charset="2"/>
              <a:buChar char="§"/>
            </a:pPr>
            <a:r>
              <a:rPr lang="fr" sz="2949" dirty="0"/>
              <a:t> Rapport </a:t>
            </a:r>
            <a:r>
              <a:rPr lang="fr" sz="2949" b="1" dirty="0"/>
              <a:t>ANC-1/Penta-1 calculé DHIS-2 </a:t>
            </a:r>
          </a:p>
          <a:p>
            <a:pPr marL="285693" lvl="1" indent="-285693" defTabSz="888822">
              <a:lnSpc>
                <a:spcPct val="170000"/>
              </a:lnSpc>
              <a:spcBef>
                <a:spcPct val="0"/>
              </a:spcBef>
              <a:spcAft>
                <a:spcPct val="15000"/>
              </a:spcAft>
              <a:buFont typeface="Wingdings" panose="05000000000000000000" pitchFamily="2" charset="2"/>
              <a:buChar char="§"/>
            </a:pPr>
            <a:r>
              <a:rPr lang="fr" sz="2949" dirty="0"/>
              <a:t>Rapport attendu : le produit de </a:t>
            </a:r>
          </a:p>
          <a:p>
            <a:pPr marL="228554" lvl="2" indent="0" defTabSz="888822">
              <a:lnSpc>
                <a:spcPct val="170000"/>
              </a:lnSpc>
              <a:spcBef>
                <a:spcPct val="0"/>
              </a:spcBef>
              <a:spcAft>
                <a:spcPct val="15000"/>
              </a:spcAft>
              <a:buNone/>
            </a:pPr>
            <a:r>
              <a:rPr lang="fr" sz="2549" b="1" dirty="0"/>
              <a:t>ANC-1 (100 %) </a:t>
            </a:r>
            <a:r>
              <a:rPr lang="fr" sz="3399" b="1" dirty="0"/>
              <a:t>/ </a:t>
            </a:r>
            <a:r>
              <a:rPr lang="fr" sz="2549" b="1" dirty="0"/>
              <a:t>%Penta  </a:t>
            </a:r>
            <a:r>
              <a:rPr lang="fr" sz="2549" dirty="0"/>
              <a:t>et </a:t>
            </a:r>
          </a:p>
          <a:p>
            <a:pPr marL="228554" lvl="2" indent="0" defTabSz="888822">
              <a:lnSpc>
                <a:spcPct val="170000"/>
              </a:lnSpc>
              <a:spcBef>
                <a:spcPct val="0"/>
              </a:spcBef>
              <a:spcAft>
                <a:spcPct val="15000"/>
              </a:spcAft>
              <a:buNone/>
            </a:pPr>
            <a:r>
              <a:rPr lang="fr" sz="2549" b="1" dirty="0"/>
              <a:t>rapport ANC-1 </a:t>
            </a:r>
            <a:r>
              <a:rPr lang="fr" sz="2699" b="1" dirty="0"/>
              <a:t>/ </a:t>
            </a:r>
            <a:r>
              <a:rPr lang="fr" sz="2549" b="1" dirty="0"/>
              <a:t>Penta-1</a:t>
            </a:r>
          </a:p>
          <a:p>
            <a:pPr marL="285693" lvl="1" indent="-285693" defTabSz="888822">
              <a:lnSpc>
                <a:spcPct val="170000"/>
              </a:lnSpc>
              <a:spcBef>
                <a:spcPct val="0"/>
              </a:spcBef>
              <a:spcAft>
                <a:spcPct val="15000"/>
              </a:spcAft>
              <a:buFont typeface="Wingdings" panose="05000000000000000000" pitchFamily="2" charset="2"/>
              <a:buChar char="§"/>
            </a:pPr>
            <a:r>
              <a:rPr lang="fr" sz="2949" dirty="0"/>
              <a:t>Une plage de plus ou moins 0,05 est considérée comme acceptable pour l'évaluation des données de l'installation</a:t>
            </a:r>
          </a:p>
          <a:p>
            <a:pPr marL="285693" lvl="1" indent="-285693" defTabSz="888822">
              <a:lnSpc>
                <a:spcPct val="170000"/>
              </a:lnSpc>
              <a:spcBef>
                <a:spcPct val="0"/>
              </a:spcBef>
              <a:spcAft>
                <a:spcPct val="15000"/>
              </a:spcAft>
              <a:buFont typeface="Wingdings" panose="05000000000000000000" pitchFamily="2" charset="2"/>
              <a:buChar char="§"/>
            </a:pPr>
            <a:r>
              <a:rPr lang="fr" sz="2949" b="1" dirty="0">
                <a:solidFill>
                  <a:schemeClr val="accent1"/>
                </a:solidFill>
              </a:rPr>
              <a:t>90 % du ZS doit se situer dans la fourchette attendue</a:t>
            </a:r>
          </a:p>
        </p:txBody>
      </p:sp>
      <p:sp>
        <p:nvSpPr>
          <p:cNvPr id="7" name="Text Placeholder 6">
            <a:extLst>
              <a:ext uri="{FF2B5EF4-FFF2-40B4-BE49-F238E27FC236}">
                <a16:creationId xmlns:a16="http://schemas.microsoft.com/office/drawing/2014/main" id="{4E401D41-AEA4-DA2C-D65E-D7AE0DA8131E}"/>
              </a:ext>
            </a:extLst>
          </p:cNvPr>
          <p:cNvSpPr>
            <a:spLocks noGrp="1"/>
          </p:cNvSpPr>
          <p:nvPr>
            <p:ph type="body" sz="quarter" idx="3"/>
          </p:nvPr>
        </p:nvSpPr>
        <p:spPr>
          <a:xfrm>
            <a:off x="8888564" y="901410"/>
            <a:ext cx="3183676" cy="600050"/>
          </a:xfrm>
        </p:spPr>
        <p:txBody>
          <a:bodyPr>
            <a:normAutofit/>
          </a:bodyPr>
          <a:lstStyle/>
          <a:p>
            <a:pPr>
              <a:lnSpc>
                <a:spcPct val="100000"/>
              </a:lnSpc>
            </a:pPr>
            <a:r>
              <a:rPr lang="fr" sz="2000" dirty="0">
                <a:solidFill>
                  <a:srgbClr val="FF0000"/>
                </a:solidFill>
              </a:rPr>
              <a:t>Exhaustivité des rapports </a:t>
            </a:r>
          </a:p>
        </p:txBody>
      </p:sp>
      <p:sp>
        <p:nvSpPr>
          <p:cNvPr id="8" name="Content Placeholder 7">
            <a:extLst>
              <a:ext uri="{FF2B5EF4-FFF2-40B4-BE49-F238E27FC236}">
                <a16:creationId xmlns:a16="http://schemas.microsoft.com/office/drawing/2014/main" id="{485B311A-2956-77CF-F119-03EFABC2027F}"/>
              </a:ext>
            </a:extLst>
          </p:cNvPr>
          <p:cNvSpPr>
            <a:spLocks noGrp="1"/>
          </p:cNvSpPr>
          <p:nvPr>
            <p:ph sz="quarter" idx="4"/>
          </p:nvPr>
        </p:nvSpPr>
        <p:spPr>
          <a:xfrm>
            <a:off x="8888564" y="1740727"/>
            <a:ext cx="2907647" cy="4715117"/>
          </a:xfrm>
        </p:spPr>
        <p:txBody>
          <a:bodyPr>
            <a:noAutofit/>
          </a:bodyPr>
          <a:lstStyle/>
          <a:p>
            <a:pPr marL="285693" lvl="1" indent="-285693" defTabSz="888822">
              <a:lnSpc>
                <a:spcPct val="170000"/>
              </a:lnSpc>
              <a:spcBef>
                <a:spcPct val="0"/>
              </a:spcBef>
              <a:spcAft>
                <a:spcPct val="15000"/>
              </a:spcAft>
              <a:buFont typeface="Wingdings" panose="05000000000000000000" pitchFamily="2" charset="2"/>
              <a:buChar char="§"/>
            </a:pPr>
            <a:r>
              <a:rPr lang="fr" sz="1400" dirty="0">
                <a:sym typeface="Arial"/>
              </a:rPr>
              <a:t>Pour l'indicateur de suivi de l'utilisation des établissements de santé: </a:t>
            </a:r>
            <a:r>
              <a:rPr lang="fr" sz="1200" dirty="0">
                <a:sym typeface="Arial"/>
              </a:rPr>
              <a:t>Vaccination </a:t>
            </a:r>
          </a:p>
          <a:p>
            <a:pPr marL="285693" lvl="1" indent="-285693" defTabSz="888822">
              <a:lnSpc>
                <a:spcPct val="170000"/>
              </a:lnSpc>
              <a:spcBef>
                <a:spcPct val="0"/>
              </a:spcBef>
              <a:spcAft>
                <a:spcPct val="15000"/>
              </a:spcAft>
              <a:buFont typeface="Wingdings" panose="05000000000000000000" pitchFamily="2" charset="2"/>
              <a:buChar char="§"/>
            </a:pPr>
            <a:r>
              <a:rPr lang="fr" sz="1400" b="1" dirty="0">
                <a:solidFill>
                  <a:schemeClr val="accent1"/>
                </a:solidFill>
                <a:sym typeface="Arial"/>
              </a:rPr>
              <a:t>Les taux de déclaration supérieurs à 90 % sont bons</a:t>
            </a:r>
          </a:p>
          <a:p>
            <a:pPr marL="285693" lvl="1" indent="-285693" defTabSz="888822">
              <a:lnSpc>
                <a:spcPct val="170000"/>
              </a:lnSpc>
              <a:spcBef>
                <a:spcPct val="0"/>
              </a:spcBef>
              <a:spcAft>
                <a:spcPct val="15000"/>
              </a:spcAft>
              <a:buFont typeface="Wingdings" panose="05000000000000000000" pitchFamily="2" charset="2"/>
              <a:buChar char="§"/>
            </a:pPr>
            <a:r>
              <a:rPr lang="fr" sz="1400" b="1" dirty="0">
                <a:solidFill>
                  <a:schemeClr val="accent1"/>
                </a:solidFill>
                <a:sym typeface="Arial"/>
              </a:rPr>
              <a:t>90 % des ZS devraient avoir un taux de déclaration de 90 % +</a:t>
            </a:r>
          </a:p>
          <a:p>
            <a:pPr marL="285693" lvl="1" indent="-285693" defTabSz="888822">
              <a:lnSpc>
                <a:spcPct val="170000"/>
              </a:lnSpc>
              <a:spcBef>
                <a:spcPct val="0"/>
              </a:spcBef>
              <a:spcAft>
                <a:spcPct val="15000"/>
              </a:spcAft>
              <a:buFont typeface="Wingdings" panose="05000000000000000000" pitchFamily="2" charset="2"/>
              <a:buChar char="§"/>
            </a:pPr>
            <a:r>
              <a:rPr lang="fr" sz="1400" b="1" dirty="0">
                <a:solidFill>
                  <a:schemeClr val="accent1"/>
                </a:solidFill>
                <a:sym typeface="Arial"/>
              </a:rPr>
              <a:t>90 % du ZS ne doit pas avoir de valeur manquante</a:t>
            </a:r>
            <a:endParaRPr lang="en-US" sz="1400" b="1" dirty="0">
              <a:solidFill>
                <a:schemeClr val="accent1"/>
              </a:solidFill>
              <a:sym typeface="Arial"/>
            </a:endParaRPr>
          </a:p>
        </p:txBody>
      </p:sp>
      <p:sp>
        <p:nvSpPr>
          <p:cNvPr id="9" name="Content Placeholder 5">
            <a:extLst>
              <a:ext uri="{FF2B5EF4-FFF2-40B4-BE49-F238E27FC236}">
                <a16:creationId xmlns:a16="http://schemas.microsoft.com/office/drawing/2014/main" id="{85FE1EC9-2553-AE20-E6E5-1E0A0D51338E}"/>
              </a:ext>
            </a:extLst>
          </p:cNvPr>
          <p:cNvSpPr txBox="1">
            <a:spLocks/>
          </p:cNvSpPr>
          <p:nvPr/>
        </p:nvSpPr>
        <p:spPr>
          <a:xfrm>
            <a:off x="5222112" y="1886089"/>
            <a:ext cx="3220994" cy="4794206"/>
          </a:xfrm>
          <a:prstGeom prst="rect">
            <a:avLst/>
          </a:prstGeom>
        </p:spPr>
        <p:txBody>
          <a:bodyPr vert="horz" lIns="91428" tIns="45714" rIns="91428" bIns="4571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93" lvl="1" indent="-285693" defTabSz="888822">
              <a:lnSpc>
                <a:spcPct val="150000"/>
              </a:lnSpc>
              <a:spcBef>
                <a:spcPct val="0"/>
              </a:spcBef>
              <a:spcAft>
                <a:spcPct val="15000"/>
              </a:spcAft>
              <a:buClr>
                <a:schemeClr val="dk1"/>
              </a:buClr>
              <a:buSzPts val="4800"/>
              <a:buFont typeface="Wingdings" panose="05000000000000000000" pitchFamily="2" charset="2"/>
              <a:buChar char="§"/>
            </a:pPr>
            <a:r>
              <a:rPr lang="fr" sz="1400" dirty="0">
                <a:solidFill>
                  <a:schemeClr val="dk1"/>
                </a:solidFill>
                <a:ea typeface="Calibri"/>
                <a:cs typeface="Calibri"/>
                <a:sym typeface="Calibri"/>
              </a:rPr>
              <a:t>Calculer </a:t>
            </a:r>
            <a:r>
              <a:rPr lang="fr" sz="1400" b="1" dirty="0">
                <a:solidFill>
                  <a:schemeClr val="dk1"/>
                </a:solidFill>
                <a:ea typeface="Calibri"/>
                <a:cs typeface="Calibri"/>
                <a:sym typeface="Calibri"/>
              </a:rPr>
              <a:t>le rapport DHIS-2 Penta-1/Penta-3</a:t>
            </a:r>
          </a:p>
          <a:p>
            <a:pPr marL="285693" lvl="1" indent="-285693" defTabSz="888822">
              <a:lnSpc>
                <a:spcPct val="150000"/>
              </a:lnSpc>
              <a:spcBef>
                <a:spcPct val="0"/>
              </a:spcBef>
              <a:spcAft>
                <a:spcPct val="15000"/>
              </a:spcAft>
              <a:buClr>
                <a:schemeClr val="dk1"/>
              </a:buClr>
              <a:buSzPts val="4800"/>
              <a:buFont typeface="Wingdings" panose="05000000000000000000" pitchFamily="2" charset="2"/>
              <a:buChar char="§"/>
            </a:pPr>
            <a:r>
              <a:rPr lang="fr" sz="1400" dirty="0">
                <a:solidFill>
                  <a:schemeClr val="dk1"/>
                </a:solidFill>
                <a:ea typeface="Calibri"/>
                <a:cs typeface="Calibri"/>
                <a:sym typeface="Calibri"/>
              </a:rPr>
              <a:t>Calculer  le </a:t>
            </a:r>
            <a:r>
              <a:rPr lang="fr" sz="1400" b="1" dirty="0">
                <a:solidFill>
                  <a:schemeClr val="dk1"/>
                </a:solidFill>
                <a:ea typeface="Calibri"/>
                <a:cs typeface="Calibri"/>
                <a:sym typeface="Calibri"/>
              </a:rPr>
              <a:t>rapport penta-1/penta-3 attendu </a:t>
            </a:r>
            <a:r>
              <a:rPr lang="fr" sz="1400" dirty="0">
                <a:solidFill>
                  <a:schemeClr val="dk1"/>
                </a:solidFill>
                <a:ea typeface="Calibri"/>
                <a:cs typeface="Calibri"/>
                <a:sym typeface="Calibri"/>
              </a:rPr>
              <a:t>sur la base de l'enquête la plus récente</a:t>
            </a:r>
          </a:p>
          <a:p>
            <a:pPr marL="285693" lvl="1" indent="-285693" defTabSz="888822">
              <a:lnSpc>
                <a:spcPct val="150000"/>
              </a:lnSpc>
              <a:spcBef>
                <a:spcPct val="0"/>
              </a:spcBef>
              <a:spcAft>
                <a:spcPct val="15000"/>
              </a:spcAft>
              <a:buClr>
                <a:schemeClr val="dk1"/>
              </a:buClr>
              <a:buSzPts val="4800"/>
              <a:buFont typeface="Wingdings" panose="05000000000000000000" pitchFamily="2" charset="2"/>
              <a:buChar char="§"/>
            </a:pPr>
            <a:r>
              <a:rPr lang="fr" sz="1400" dirty="0">
                <a:solidFill>
                  <a:schemeClr val="dk1"/>
                </a:solidFill>
                <a:ea typeface="Calibri"/>
                <a:cs typeface="Calibri"/>
                <a:sym typeface="Calibri"/>
              </a:rPr>
              <a:t>Une plage de plus ou moins 0,05 est considérée comme acceptable pour l'évaluation des données de l'installation</a:t>
            </a:r>
          </a:p>
          <a:p>
            <a:pPr marL="285693" lvl="1" indent="-285693" defTabSz="888822">
              <a:lnSpc>
                <a:spcPct val="150000"/>
              </a:lnSpc>
              <a:spcBef>
                <a:spcPct val="0"/>
              </a:spcBef>
              <a:spcAft>
                <a:spcPct val="15000"/>
              </a:spcAft>
              <a:buClr>
                <a:schemeClr val="dk1"/>
              </a:buClr>
              <a:buSzPts val="4800"/>
              <a:buFont typeface="Wingdings" panose="05000000000000000000" pitchFamily="2" charset="2"/>
              <a:buChar char="§"/>
            </a:pPr>
            <a:r>
              <a:rPr lang="fr" sz="1400" b="1" dirty="0">
                <a:solidFill>
                  <a:schemeClr val="accent1"/>
                </a:solidFill>
                <a:ea typeface="Calibri"/>
                <a:cs typeface="Calibri"/>
                <a:sym typeface="Calibri"/>
              </a:rPr>
              <a:t>90 % du ZS doit se situer dans la fourchette attendue</a:t>
            </a:r>
          </a:p>
          <a:p>
            <a:endParaRPr lang="en-GB" sz="2799" dirty="0">
              <a:solidFill>
                <a:srgbClr val="343A40"/>
              </a:solidFill>
              <a:latin typeface="Source Sans Pro" panose="020B0503030403020204" pitchFamily="34" charset="0"/>
            </a:endParaRPr>
          </a:p>
          <a:p>
            <a:endParaRPr lang="en-US" sz="2799" dirty="0"/>
          </a:p>
        </p:txBody>
      </p:sp>
      <p:sp>
        <p:nvSpPr>
          <p:cNvPr id="10" name="Text Placeholder 4">
            <a:extLst>
              <a:ext uri="{FF2B5EF4-FFF2-40B4-BE49-F238E27FC236}">
                <a16:creationId xmlns:a16="http://schemas.microsoft.com/office/drawing/2014/main" id="{B53BD287-2F6E-BAE4-F252-45A050437FAA}"/>
              </a:ext>
            </a:extLst>
          </p:cNvPr>
          <p:cNvSpPr txBox="1">
            <a:spLocks/>
          </p:cNvSpPr>
          <p:nvPr/>
        </p:nvSpPr>
        <p:spPr>
          <a:xfrm>
            <a:off x="5214029" y="986694"/>
            <a:ext cx="3118300" cy="514766"/>
          </a:xfrm>
          <a:prstGeom prst="rect">
            <a:avLst/>
          </a:prstGeom>
        </p:spPr>
        <p:txBody>
          <a:bodyPr vert="horz" lIns="91428" tIns="45714" rIns="91428" bIns="45714" rtlCol="0" anchor="b">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 dirty="0">
                <a:solidFill>
                  <a:srgbClr val="FF0000"/>
                </a:solidFill>
              </a:rPr>
              <a:t>Rapport Penta-1/Penta-3 </a:t>
            </a:r>
          </a:p>
        </p:txBody>
      </p:sp>
      <p:cxnSp>
        <p:nvCxnSpPr>
          <p:cNvPr id="2" name="Straight Connector 1">
            <a:extLst>
              <a:ext uri="{FF2B5EF4-FFF2-40B4-BE49-F238E27FC236}">
                <a16:creationId xmlns:a16="http://schemas.microsoft.com/office/drawing/2014/main" id="{75278097-0ECE-B85C-5CD7-D42211056A94}"/>
              </a:ext>
            </a:extLst>
          </p:cNvPr>
          <p:cNvCxnSpPr>
            <a:cxnSpLocks/>
          </p:cNvCxnSpPr>
          <p:nvPr/>
        </p:nvCxnSpPr>
        <p:spPr>
          <a:xfrm>
            <a:off x="4851287" y="824251"/>
            <a:ext cx="0" cy="6033302"/>
          </a:xfrm>
          <a:prstGeom prst="line">
            <a:avLst/>
          </a:prstGeom>
        </p:spPr>
        <p:style>
          <a:lnRef idx="2">
            <a:schemeClr val="accent4"/>
          </a:lnRef>
          <a:fillRef idx="0">
            <a:schemeClr val="accent4"/>
          </a:fillRef>
          <a:effectRef idx="1">
            <a:schemeClr val="accent4"/>
          </a:effectRef>
          <a:fontRef idx="minor">
            <a:schemeClr val="tx1"/>
          </a:fontRef>
        </p:style>
      </p:cxnSp>
      <p:cxnSp>
        <p:nvCxnSpPr>
          <p:cNvPr id="12" name="Straight Connector 11">
            <a:extLst>
              <a:ext uri="{FF2B5EF4-FFF2-40B4-BE49-F238E27FC236}">
                <a16:creationId xmlns:a16="http://schemas.microsoft.com/office/drawing/2014/main" id="{009CD186-F321-C35F-A43E-CDD1C19213D8}"/>
              </a:ext>
            </a:extLst>
          </p:cNvPr>
          <p:cNvCxnSpPr>
            <a:cxnSpLocks/>
          </p:cNvCxnSpPr>
          <p:nvPr/>
        </p:nvCxnSpPr>
        <p:spPr>
          <a:xfrm>
            <a:off x="8517740" y="824251"/>
            <a:ext cx="0" cy="6033302"/>
          </a:xfrm>
          <a:prstGeom prst="line">
            <a:avLst/>
          </a:prstGeom>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532556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4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C2F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texte, capture d’écran, nombre, Parallèle&#10;&#10;Description générée automatiquement">
            <a:extLst>
              <a:ext uri="{FF2B5EF4-FFF2-40B4-BE49-F238E27FC236}">
                <a16:creationId xmlns:a16="http://schemas.microsoft.com/office/drawing/2014/main" id="{BB94C1C6-84A4-E97D-2B32-988EEE6A9B64}"/>
              </a:ext>
            </a:extLst>
          </p:cNvPr>
          <p:cNvPicPr>
            <a:picLocks noChangeAspect="1"/>
          </p:cNvPicPr>
          <p:nvPr/>
        </p:nvPicPr>
        <p:blipFill>
          <a:blip r:embed="rId3"/>
          <a:stretch>
            <a:fillRect/>
          </a:stretch>
        </p:blipFill>
        <p:spPr>
          <a:xfrm>
            <a:off x="724388" y="617016"/>
            <a:ext cx="10905066" cy="5534321"/>
          </a:xfrm>
          <a:prstGeom prst="rect">
            <a:avLst/>
          </a:prstGeom>
        </p:spPr>
      </p:pic>
      <p:sp>
        <p:nvSpPr>
          <p:cNvPr id="2" name="Rectangle 1">
            <a:extLst>
              <a:ext uri="{FF2B5EF4-FFF2-40B4-BE49-F238E27FC236}">
                <a16:creationId xmlns:a16="http://schemas.microsoft.com/office/drawing/2014/main" id="{046576C3-B51D-4537-F138-5C1B5018A049}"/>
              </a:ext>
            </a:extLst>
          </p:cNvPr>
          <p:cNvSpPr/>
          <p:nvPr/>
        </p:nvSpPr>
        <p:spPr>
          <a:xfrm>
            <a:off x="6983507" y="5663679"/>
            <a:ext cx="4428564" cy="35858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3" name="Rectangle 2">
            <a:extLst>
              <a:ext uri="{FF2B5EF4-FFF2-40B4-BE49-F238E27FC236}">
                <a16:creationId xmlns:a16="http://schemas.microsoft.com/office/drawing/2014/main" id="{8150C68D-17E5-0A16-8AF5-7AA13AF68B5C}"/>
              </a:ext>
            </a:extLst>
          </p:cNvPr>
          <p:cNvSpPr/>
          <p:nvPr/>
        </p:nvSpPr>
        <p:spPr>
          <a:xfrm>
            <a:off x="6983507" y="1921023"/>
            <a:ext cx="4428564" cy="35858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6" name="Ellipse 5">
            <a:extLst>
              <a:ext uri="{FF2B5EF4-FFF2-40B4-BE49-F238E27FC236}">
                <a16:creationId xmlns:a16="http://schemas.microsoft.com/office/drawing/2014/main" id="{640EB9B3-4AE0-0E5A-20CC-5EBD999AF187}"/>
              </a:ext>
            </a:extLst>
          </p:cNvPr>
          <p:cNvSpPr/>
          <p:nvPr/>
        </p:nvSpPr>
        <p:spPr>
          <a:xfrm>
            <a:off x="11044519" y="3327313"/>
            <a:ext cx="349624" cy="3585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7" name="Rectangle 6">
            <a:extLst>
              <a:ext uri="{FF2B5EF4-FFF2-40B4-BE49-F238E27FC236}">
                <a16:creationId xmlns:a16="http://schemas.microsoft.com/office/drawing/2014/main" id="{827E657D-AB36-30A6-4589-9D1486DF56CF}"/>
              </a:ext>
            </a:extLst>
          </p:cNvPr>
          <p:cNvSpPr/>
          <p:nvPr/>
        </p:nvSpPr>
        <p:spPr>
          <a:xfrm>
            <a:off x="6965579" y="4773520"/>
            <a:ext cx="4428564" cy="35858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9" name="ZoneTexte 8">
            <a:extLst>
              <a:ext uri="{FF2B5EF4-FFF2-40B4-BE49-F238E27FC236}">
                <a16:creationId xmlns:a16="http://schemas.microsoft.com/office/drawing/2014/main" id="{79419BDF-14A8-531A-F2C5-995AB5E4A1B4}"/>
              </a:ext>
            </a:extLst>
          </p:cNvPr>
          <p:cNvSpPr txBox="1"/>
          <p:nvPr/>
        </p:nvSpPr>
        <p:spPr>
          <a:xfrm>
            <a:off x="477012" y="6151337"/>
            <a:ext cx="11237976" cy="584775"/>
          </a:xfrm>
          <a:prstGeom prst="rect">
            <a:avLst/>
          </a:prstGeom>
          <a:solidFill>
            <a:schemeClr val="bg1"/>
          </a:solidFill>
        </p:spPr>
        <p:txBody>
          <a:bodyPr wrap="square" rtlCol="0">
            <a:spAutoFit/>
          </a:bodyPr>
          <a:lstStyle/>
          <a:p>
            <a:r>
              <a:rPr lang="fr-FR" sz="1600" dirty="0">
                <a:solidFill>
                  <a:srgbClr val="FF0000"/>
                </a:solidFill>
              </a:rPr>
              <a:t>2024: Sous rapportage de Penta 1 dans 18 des 26 provinces avec rapport de vaccination CPN1/Penta 1 de 75% à 72% en raison d’une grève prolongée du personnel infirmier et médical de + 6 mois et de la défaillance des outils de gestion</a:t>
            </a:r>
            <a:endParaRPr lang="fr-CD" sz="1600" dirty="0">
              <a:solidFill>
                <a:srgbClr val="FF0000"/>
              </a:solidFill>
            </a:endParaRPr>
          </a:p>
        </p:txBody>
      </p:sp>
      <p:sp>
        <p:nvSpPr>
          <p:cNvPr id="10" name="Rectangle 9">
            <a:extLst>
              <a:ext uri="{FF2B5EF4-FFF2-40B4-BE49-F238E27FC236}">
                <a16:creationId xmlns:a16="http://schemas.microsoft.com/office/drawing/2014/main" id="{7068DBA6-77D1-24DD-480A-8E5C32AFDFD7}"/>
              </a:ext>
            </a:extLst>
          </p:cNvPr>
          <p:cNvSpPr/>
          <p:nvPr/>
        </p:nvSpPr>
        <p:spPr>
          <a:xfrm>
            <a:off x="6977973" y="4029896"/>
            <a:ext cx="4416170" cy="38545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11" name="ZoneTexte 10">
            <a:extLst>
              <a:ext uri="{FF2B5EF4-FFF2-40B4-BE49-F238E27FC236}">
                <a16:creationId xmlns:a16="http://schemas.microsoft.com/office/drawing/2014/main" id="{2A724B80-52C7-268C-B5AD-D0348C35F3CE}"/>
              </a:ext>
            </a:extLst>
          </p:cNvPr>
          <p:cNvSpPr txBox="1"/>
          <p:nvPr/>
        </p:nvSpPr>
        <p:spPr>
          <a:xfrm>
            <a:off x="1358348" y="461766"/>
            <a:ext cx="9442174" cy="400110"/>
          </a:xfrm>
          <a:prstGeom prst="rect">
            <a:avLst/>
          </a:prstGeom>
          <a:noFill/>
        </p:spPr>
        <p:txBody>
          <a:bodyPr wrap="square" rtlCol="0">
            <a:spAutoFit/>
          </a:bodyPr>
          <a:lstStyle/>
          <a:p>
            <a:r>
              <a:rPr lang="fr" sz="2000" b="1" dirty="0">
                <a:solidFill>
                  <a:srgbClr val="0070C0"/>
                </a:solidFill>
              </a:rPr>
              <a:t>Tableau de bord de la qualité des données: DHIS2 RDC (Numérateur)</a:t>
            </a:r>
            <a:endParaRPr lang="fr-CD" sz="2000" b="1" dirty="0">
              <a:solidFill>
                <a:srgbClr val="0070C0"/>
              </a:solidFill>
            </a:endParaRPr>
          </a:p>
        </p:txBody>
      </p:sp>
      <p:sp>
        <p:nvSpPr>
          <p:cNvPr id="5" name="ZoneTexte 4">
            <a:extLst>
              <a:ext uri="{FF2B5EF4-FFF2-40B4-BE49-F238E27FC236}">
                <a16:creationId xmlns:a16="http://schemas.microsoft.com/office/drawing/2014/main" id="{B90EEB91-3673-2404-0115-1C2F17E74750}"/>
              </a:ext>
            </a:extLst>
          </p:cNvPr>
          <p:cNvSpPr txBox="1"/>
          <p:nvPr/>
        </p:nvSpPr>
        <p:spPr>
          <a:xfrm>
            <a:off x="3687417" y="5622929"/>
            <a:ext cx="3001618" cy="369332"/>
          </a:xfrm>
          <a:prstGeom prst="rect">
            <a:avLst/>
          </a:prstGeom>
          <a:noFill/>
        </p:spPr>
        <p:txBody>
          <a:bodyPr wrap="square" rtlCol="0">
            <a:spAutoFit/>
          </a:bodyPr>
          <a:lstStyle/>
          <a:p>
            <a:r>
              <a:rPr lang="fr-FR" dirty="0">
                <a:solidFill>
                  <a:srgbClr val="FF0000"/>
                </a:solidFill>
              </a:rPr>
              <a:t>(1a+1b+2a+2b+3a+3b)/6</a:t>
            </a:r>
            <a:endParaRPr lang="fr-CD" dirty="0">
              <a:solidFill>
                <a:srgbClr val="FF0000"/>
              </a:solidFill>
            </a:endParaRPr>
          </a:p>
        </p:txBody>
      </p:sp>
    </p:spTree>
    <p:extLst>
      <p:ext uri="{BB962C8B-B14F-4D97-AF65-F5344CB8AC3E}">
        <p14:creationId xmlns:p14="http://schemas.microsoft.com/office/powerpoint/2010/main" val="214038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diagramme, carré&#10;&#10;Description générée automatiquement">
            <a:extLst>
              <a:ext uri="{FF2B5EF4-FFF2-40B4-BE49-F238E27FC236}">
                <a16:creationId xmlns:a16="http://schemas.microsoft.com/office/drawing/2014/main" id="{C5C91E35-F8AD-FA15-E7D8-0C75B5B51F8D}"/>
              </a:ext>
            </a:extLst>
          </p:cNvPr>
          <p:cNvPicPr>
            <a:picLocks noChangeAspect="1"/>
          </p:cNvPicPr>
          <p:nvPr/>
        </p:nvPicPr>
        <p:blipFill>
          <a:blip r:embed="rId3"/>
          <a:srcRect b="19"/>
          <a:stretch>
            <a:fillRect/>
          </a:stretch>
        </p:blipFill>
        <p:spPr>
          <a:xfrm>
            <a:off x="692196" y="229368"/>
            <a:ext cx="11377884" cy="6398836"/>
          </a:xfrm>
          <a:prstGeom prst="rect">
            <a:avLst/>
          </a:prstGeom>
        </p:spPr>
      </p:pic>
      <p:sp>
        <p:nvSpPr>
          <p:cNvPr id="2" name="Ellipse 1">
            <a:extLst>
              <a:ext uri="{FF2B5EF4-FFF2-40B4-BE49-F238E27FC236}">
                <a16:creationId xmlns:a16="http://schemas.microsoft.com/office/drawing/2014/main" id="{DC515093-73EA-120F-4C65-466251125302}"/>
              </a:ext>
            </a:extLst>
          </p:cNvPr>
          <p:cNvSpPr/>
          <p:nvPr/>
        </p:nvSpPr>
        <p:spPr>
          <a:xfrm rot="8075128">
            <a:off x="1554071" y="5785266"/>
            <a:ext cx="1147223" cy="6343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3" name="Ellipse 2">
            <a:extLst>
              <a:ext uri="{FF2B5EF4-FFF2-40B4-BE49-F238E27FC236}">
                <a16:creationId xmlns:a16="http://schemas.microsoft.com/office/drawing/2014/main" id="{B898653B-67B6-7E4B-10B6-093C41884F12}"/>
              </a:ext>
            </a:extLst>
          </p:cNvPr>
          <p:cNvSpPr/>
          <p:nvPr/>
        </p:nvSpPr>
        <p:spPr>
          <a:xfrm rot="8075128">
            <a:off x="4117975" y="5812160"/>
            <a:ext cx="1147223" cy="6343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4" name="Ellipse 3">
            <a:extLst>
              <a:ext uri="{FF2B5EF4-FFF2-40B4-BE49-F238E27FC236}">
                <a16:creationId xmlns:a16="http://schemas.microsoft.com/office/drawing/2014/main" id="{DF579B98-28A8-43E8-E2AD-5CF7AA0D0C14}"/>
              </a:ext>
            </a:extLst>
          </p:cNvPr>
          <p:cNvSpPr/>
          <p:nvPr/>
        </p:nvSpPr>
        <p:spPr>
          <a:xfrm rot="8075128">
            <a:off x="5847928" y="5886294"/>
            <a:ext cx="912839" cy="3334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6" name="Ellipse 5">
            <a:extLst>
              <a:ext uri="{FF2B5EF4-FFF2-40B4-BE49-F238E27FC236}">
                <a16:creationId xmlns:a16="http://schemas.microsoft.com/office/drawing/2014/main" id="{CD4AADFB-8257-6FA2-3CE3-2728F3B8EB58}"/>
              </a:ext>
            </a:extLst>
          </p:cNvPr>
          <p:cNvSpPr/>
          <p:nvPr/>
        </p:nvSpPr>
        <p:spPr>
          <a:xfrm rot="8075128">
            <a:off x="7318138" y="5886296"/>
            <a:ext cx="912839" cy="3334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7" name="Ellipse 6">
            <a:extLst>
              <a:ext uri="{FF2B5EF4-FFF2-40B4-BE49-F238E27FC236}">
                <a16:creationId xmlns:a16="http://schemas.microsoft.com/office/drawing/2014/main" id="{90ED9AFD-073F-6B35-1656-5EB2378113AD}"/>
              </a:ext>
            </a:extLst>
          </p:cNvPr>
          <p:cNvSpPr/>
          <p:nvPr/>
        </p:nvSpPr>
        <p:spPr>
          <a:xfrm rot="8075128">
            <a:off x="8402870" y="5895262"/>
            <a:ext cx="912839" cy="3334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8" name="ZoneTexte 7">
            <a:extLst>
              <a:ext uri="{FF2B5EF4-FFF2-40B4-BE49-F238E27FC236}">
                <a16:creationId xmlns:a16="http://schemas.microsoft.com/office/drawing/2014/main" id="{E811A6C5-20DA-056C-59C0-2C78170C025E}"/>
              </a:ext>
            </a:extLst>
          </p:cNvPr>
          <p:cNvSpPr txBox="1"/>
          <p:nvPr/>
        </p:nvSpPr>
        <p:spPr>
          <a:xfrm>
            <a:off x="914376" y="123961"/>
            <a:ext cx="6997172" cy="400110"/>
          </a:xfrm>
          <a:prstGeom prst="rect">
            <a:avLst/>
          </a:prstGeom>
          <a:noFill/>
        </p:spPr>
        <p:txBody>
          <a:bodyPr wrap="square" rtlCol="0">
            <a:spAutoFit/>
          </a:bodyPr>
          <a:lstStyle/>
          <a:p>
            <a:r>
              <a:rPr lang="fr" sz="2000" b="1" dirty="0">
                <a:solidFill>
                  <a:srgbClr val="0070C0"/>
                </a:solidFill>
              </a:rPr>
              <a:t>Reporting rate par province </a:t>
            </a:r>
            <a:endParaRPr lang="fr-CD" sz="2000" b="1" dirty="0">
              <a:solidFill>
                <a:srgbClr val="0070C0"/>
              </a:solidFill>
            </a:endParaRPr>
          </a:p>
        </p:txBody>
      </p:sp>
    </p:spTree>
    <p:extLst>
      <p:ext uri="{BB962C8B-B14F-4D97-AF65-F5344CB8AC3E}">
        <p14:creationId xmlns:p14="http://schemas.microsoft.com/office/powerpoint/2010/main" val="175205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texte, diagramme, capture d’écran, ligne&#10;&#10;Description générée automatiquement">
            <a:extLst>
              <a:ext uri="{FF2B5EF4-FFF2-40B4-BE49-F238E27FC236}">
                <a16:creationId xmlns:a16="http://schemas.microsoft.com/office/drawing/2014/main" id="{B7BCC113-D14D-D160-3812-E0A261F9ACEE}"/>
              </a:ext>
            </a:extLst>
          </p:cNvPr>
          <p:cNvPicPr>
            <a:picLocks noChangeAspect="1"/>
          </p:cNvPicPr>
          <p:nvPr/>
        </p:nvPicPr>
        <p:blipFill>
          <a:blip r:embed="rId3"/>
          <a:stretch>
            <a:fillRect/>
          </a:stretch>
        </p:blipFill>
        <p:spPr>
          <a:xfrm>
            <a:off x="273267" y="190684"/>
            <a:ext cx="9350400" cy="5259600"/>
          </a:xfrm>
          <a:prstGeom prst="rect">
            <a:avLst/>
          </a:prstGeom>
        </p:spPr>
      </p:pic>
      <p:sp>
        <p:nvSpPr>
          <p:cNvPr id="8" name="ZoneTexte 7">
            <a:extLst>
              <a:ext uri="{FF2B5EF4-FFF2-40B4-BE49-F238E27FC236}">
                <a16:creationId xmlns:a16="http://schemas.microsoft.com/office/drawing/2014/main" id="{A8D425AE-92E9-C6EE-7DCE-75F5DFF9CE81}"/>
              </a:ext>
            </a:extLst>
          </p:cNvPr>
          <p:cNvSpPr txBox="1"/>
          <p:nvPr/>
        </p:nvSpPr>
        <p:spPr>
          <a:xfrm>
            <a:off x="944998" y="6072878"/>
            <a:ext cx="10345270" cy="646331"/>
          </a:xfrm>
          <a:prstGeom prst="rect">
            <a:avLst/>
          </a:prstGeom>
          <a:noFill/>
        </p:spPr>
        <p:txBody>
          <a:bodyPr wrap="square" rtlCol="0">
            <a:spAutoFit/>
          </a:bodyPr>
          <a:lstStyle/>
          <a:p>
            <a:r>
              <a:rPr lang="fr-FR" dirty="0">
                <a:solidFill>
                  <a:srgbClr val="FF0000"/>
                </a:solidFill>
              </a:rPr>
              <a:t>Amélioration dans les districts où le taux de complétude et promptitude sont &gt; 90% pour les CPN, les accouchements en ESS et la vaccination</a:t>
            </a:r>
            <a:endParaRPr lang="fr-CD" dirty="0">
              <a:solidFill>
                <a:srgbClr val="FF0000"/>
              </a:solidFill>
            </a:endParaRPr>
          </a:p>
        </p:txBody>
      </p:sp>
      <p:sp>
        <p:nvSpPr>
          <p:cNvPr id="9" name="Ellipse 8">
            <a:extLst>
              <a:ext uri="{FF2B5EF4-FFF2-40B4-BE49-F238E27FC236}">
                <a16:creationId xmlns:a16="http://schemas.microsoft.com/office/drawing/2014/main" id="{2BFC8C59-A04D-26CD-D78A-10FCD7F11118}"/>
              </a:ext>
            </a:extLst>
          </p:cNvPr>
          <p:cNvSpPr/>
          <p:nvPr/>
        </p:nvSpPr>
        <p:spPr>
          <a:xfrm>
            <a:off x="3080928" y="4003789"/>
            <a:ext cx="268941" cy="6275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10" name="Ellipse 9">
            <a:extLst>
              <a:ext uri="{FF2B5EF4-FFF2-40B4-BE49-F238E27FC236}">
                <a16:creationId xmlns:a16="http://schemas.microsoft.com/office/drawing/2014/main" id="{0146CF85-1B09-0AAB-0FC1-6E0826D5785A}"/>
              </a:ext>
            </a:extLst>
          </p:cNvPr>
          <p:cNvSpPr/>
          <p:nvPr/>
        </p:nvSpPr>
        <p:spPr>
          <a:xfrm>
            <a:off x="6117633" y="4017638"/>
            <a:ext cx="268941" cy="6275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11" name="Ellipse 10">
            <a:extLst>
              <a:ext uri="{FF2B5EF4-FFF2-40B4-BE49-F238E27FC236}">
                <a16:creationId xmlns:a16="http://schemas.microsoft.com/office/drawing/2014/main" id="{307E99F7-4AC6-F154-5637-C6A570149D7F}"/>
              </a:ext>
            </a:extLst>
          </p:cNvPr>
          <p:cNvSpPr/>
          <p:nvPr/>
        </p:nvSpPr>
        <p:spPr>
          <a:xfrm>
            <a:off x="9186095" y="4047187"/>
            <a:ext cx="268941" cy="6275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12" name="ZoneTexte 11">
            <a:extLst>
              <a:ext uri="{FF2B5EF4-FFF2-40B4-BE49-F238E27FC236}">
                <a16:creationId xmlns:a16="http://schemas.microsoft.com/office/drawing/2014/main" id="{746EAC02-6A24-C065-7A11-7206EB41C11C}"/>
              </a:ext>
            </a:extLst>
          </p:cNvPr>
          <p:cNvSpPr txBox="1"/>
          <p:nvPr/>
        </p:nvSpPr>
        <p:spPr>
          <a:xfrm>
            <a:off x="3215398" y="5305769"/>
            <a:ext cx="3652532" cy="369332"/>
          </a:xfrm>
          <a:prstGeom prst="rect">
            <a:avLst/>
          </a:prstGeom>
          <a:noFill/>
        </p:spPr>
        <p:txBody>
          <a:bodyPr wrap="square" rtlCol="0">
            <a:spAutoFit/>
          </a:bodyPr>
          <a:lstStyle/>
          <a:p>
            <a:r>
              <a:rPr lang="fr-FR" dirty="0">
                <a:solidFill>
                  <a:srgbClr val="0070C0"/>
                </a:solidFill>
              </a:rPr>
              <a:t>Taux de complétude des districts</a:t>
            </a:r>
            <a:endParaRPr lang="fr-CD" dirty="0">
              <a:solidFill>
                <a:srgbClr val="0070C0"/>
              </a:solidFill>
            </a:endParaRPr>
          </a:p>
        </p:txBody>
      </p:sp>
      <p:sp>
        <p:nvSpPr>
          <p:cNvPr id="13" name="ZoneTexte 12">
            <a:extLst>
              <a:ext uri="{FF2B5EF4-FFF2-40B4-BE49-F238E27FC236}">
                <a16:creationId xmlns:a16="http://schemas.microsoft.com/office/drawing/2014/main" id="{CDBBE1DF-A2FA-83AA-11B4-A820F988BC71}"/>
              </a:ext>
            </a:extLst>
          </p:cNvPr>
          <p:cNvSpPr txBox="1"/>
          <p:nvPr/>
        </p:nvSpPr>
        <p:spPr>
          <a:xfrm>
            <a:off x="6648888" y="4674716"/>
            <a:ext cx="5343354" cy="1477328"/>
          </a:xfrm>
          <a:prstGeom prst="rect">
            <a:avLst/>
          </a:prstGeom>
          <a:noFill/>
        </p:spPr>
        <p:txBody>
          <a:bodyPr wrap="square" rtlCol="0">
            <a:spAutoFit/>
          </a:bodyPr>
          <a:lstStyle/>
          <a:p>
            <a:pPr algn="just"/>
            <a:r>
              <a:rPr lang="fr-FR" dirty="0">
                <a:solidFill>
                  <a:schemeClr val="accent5">
                    <a:lumMod val="75000"/>
                  </a:schemeClr>
                </a:solidFill>
              </a:rPr>
              <a:t>Ajustement statistique pour compenser le rapportage incomplet en attribuant un coefficient k différencié selon le type de service (CPN, accouchement, vaccination)</a:t>
            </a:r>
            <a:endParaRPr lang="fr-CD" dirty="0">
              <a:solidFill>
                <a:schemeClr val="accent5">
                  <a:lumMod val="75000"/>
                </a:schemeClr>
              </a:solidFill>
            </a:endParaRPr>
          </a:p>
          <a:p>
            <a:r>
              <a:rPr lang="fr-FR" dirty="0">
                <a:solidFill>
                  <a:srgbClr val="0070C0"/>
                </a:solidFill>
              </a:rPr>
              <a:t>k= 0.25</a:t>
            </a:r>
          </a:p>
        </p:txBody>
      </p:sp>
    </p:spTree>
    <p:extLst>
      <p:ext uri="{BB962C8B-B14F-4D97-AF65-F5344CB8AC3E}">
        <p14:creationId xmlns:p14="http://schemas.microsoft.com/office/powerpoint/2010/main" val="210559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0DCCE26-21E2-6A63-3411-603410864C1A}"/>
              </a:ext>
            </a:extLst>
          </p:cNvPr>
          <p:cNvSpPr/>
          <p:nvPr/>
        </p:nvSpPr>
        <p:spPr>
          <a:xfrm>
            <a:off x="26668" y="5503923"/>
            <a:ext cx="12127661" cy="108989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30" name="Group 29">
            <a:extLst>
              <a:ext uri="{FF2B5EF4-FFF2-40B4-BE49-F238E27FC236}">
                <a16:creationId xmlns:a16="http://schemas.microsoft.com/office/drawing/2014/main" id="{00DDB864-4FB2-5E45-1913-EB11E8F931B9}"/>
              </a:ext>
            </a:extLst>
          </p:cNvPr>
          <p:cNvGrpSpPr/>
          <p:nvPr/>
        </p:nvGrpSpPr>
        <p:grpSpPr>
          <a:xfrm>
            <a:off x="313703" y="1276527"/>
            <a:ext cx="11461113" cy="2019247"/>
            <a:chOff x="312950" y="2430250"/>
            <a:chExt cx="11462605" cy="2019510"/>
          </a:xfrm>
          <a:solidFill>
            <a:schemeClr val="accent2">
              <a:lumMod val="60000"/>
              <a:lumOff val="40000"/>
            </a:schemeClr>
          </a:solidFill>
        </p:grpSpPr>
        <p:sp>
          <p:nvSpPr>
            <p:cNvPr id="2" name="Rectangle 1">
              <a:extLst>
                <a:ext uri="{FF2B5EF4-FFF2-40B4-BE49-F238E27FC236}">
                  <a16:creationId xmlns:a16="http://schemas.microsoft.com/office/drawing/2014/main" id="{72C43390-A9A6-F09C-D29D-F7018A502DB4}"/>
                </a:ext>
              </a:extLst>
            </p:cNvPr>
            <p:cNvSpPr/>
            <p:nvPr/>
          </p:nvSpPr>
          <p:spPr>
            <a:xfrm>
              <a:off x="312950" y="2430250"/>
              <a:ext cx="1310477"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#Pregnancies</a:t>
              </a:r>
            </a:p>
          </p:txBody>
        </p:sp>
        <p:sp>
          <p:nvSpPr>
            <p:cNvPr id="3" name="Rectangle 2">
              <a:extLst>
                <a:ext uri="{FF2B5EF4-FFF2-40B4-BE49-F238E27FC236}">
                  <a16:creationId xmlns:a16="http://schemas.microsoft.com/office/drawing/2014/main" id="{C8063655-716E-B009-EDB9-D6DEAE2CA65B}"/>
                </a:ext>
              </a:extLst>
            </p:cNvPr>
            <p:cNvSpPr/>
            <p:nvPr/>
          </p:nvSpPr>
          <p:spPr>
            <a:xfrm>
              <a:off x="2485669" y="2440029"/>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#Deliveries</a:t>
              </a:r>
            </a:p>
          </p:txBody>
        </p:sp>
        <p:sp>
          <p:nvSpPr>
            <p:cNvPr id="5" name="Rectangle 4">
              <a:extLst>
                <a:ext uri="{FF2B5EF4-FFF2-40B4-BE49-F238E27FC236}">
                  <a16:creationId xmlns:a16="http://schemas.microsoft.com/office/drawing/2014/main" id="{33275074-232B-CB42-E7A2-8FD01BAEBC96}"/>
                </a:ext>
              </a:extLst>
            </p:cNvPr>
            <p:cNvSpPr/>
            <p:nvPr/>
          </p:nvSpPr>
          <p:spPr>
            <a:xfrm>
              <a:off x="4527181" y="2479147"/>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#Births</a:t>
              </a:r>
            </a:p>
          </p:txBody>
        </p:sp>
        <p:sp>
          <p:nvSpPr>
            <p:cNvPr id="6" name="Rectangle 5">
              <a:extLst>
                <a:ext uri="{FF2B5EF4-FFF2-40B4-BE49-F238E27FC236}">
                  <a16:creationId xmlns:a16="http://schemas.microsoft.com/office/drawing/2014/main" id="{E648FC98-B0D5-B3E6-2315-F5C032EBC1F2}"/>
                </a:ext>
              </a:extLst>
            </p:cNvPr>
            <p:cNvSpPr/>
            <p:nvPr/>
          </p:nvSpPr>
          <p:spPr>
            <a:xfrm>
              <a:off x="6461107" y="2488934"/>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 Naissances vivantes</a:t>
              </a:r>
            </a:p>
          </p:txBody>
        </p:sp>
        <p:sp>
          <p:nvSpPr>
            <p:cNvPr id="7" name="Rectangle 6">
              <a:extLst>
                <a:ext uri="{FF2B5EF4-FFF2-40B4-BE49-F238E27FC236}">
                  <a16:creationId xmlns:a16="http://schemas.microsoft.com/office/drawing/2014/main" id="{CB7ED8C4-D13B-FE42-85DD-FEB2B1CC8660}"/>
                </a:ext>
              </a:extLst>
            </p:cNvPr>
            <p:cNvSpPr/>
            <p:nvPr/>
          </p:nvSpPr>
          <p:spPr>
            <a:xfrm>
              <a:off x="8492431" y="2493824"/>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 Nourrissons éligibles au DTC1</a:t>
              </a:r>
            </a:p>
          </p:txBody>
        </p:sp>
        <p:sp>
          <p:nvSpPr>
            <p:cNvPr id="8" name="Rectangle 7">
              <a:extLst>
                <a:ext uri="{FF2B5EF4-FFF2-40B4-BE49-F238E27FC236}">
                  <a16:creationId xmlns:a16="http://schemas.microsoft.com/office/drawing/2014/main" id="{11883968-F4FC-7083-F34C-753ED0C677DD}"/>
                </a:ext>
              </a:extLst>
            </p:cNvPr>
            <p:cNvSpPr/>
            <p:nvPr/>
          </p:nvSpPr>
          <p:spPr>
            <a:xfrm>
              <a:off x="10465077" y="2493824"/>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 Nourrissons éligibles pour la rougeole </a:t>
              </a:r>
            </a:p>
          </p:txBody>
        </p:sp>
        <p:sp>
          <p:nvSpPr>
            <p:cNvPr id="9" name="Rectangle 8">
              <a:extLst>
                <a:ext uri="{FF2B5EF4-FFF2-40B4-BE49-F238E27FC236}">
                  <a16:creationId xmlns:a16="http://schemas.microsoft.com/office/drawing/2014/main" id="{61267CA8-C744-53C4-7C61-D44CDBD8768A}"/>
                </a:ext>
              </a:extLst>
            </p:cNvPr>
            <p:cNvSpPr/>
            <p:nvPr/>
          </p:nvSpPr>
          <p:spPr>
            <a:xfrm>
              <a:off x="1394417" y="3633960"/>
              <a:ext cx="1310478" cy="8158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400" b="1">
                  <a:solidFill>
                    <a:schemeClr val="tx1"/>
                  </a:solidFill>
                </a:rPr>
                <a:t>Supprimer les pertes #pregnancy</a:t>
              </a:r>
            </a:p>
          </p:txBody>
        </p:sp>
        <p:sp>
          <p:nvSpPr>
            <p:cNvPr id="10" name="Rectangle 9">
              <a:extLst>
                <a:ext uri="{FF2B5EF4-FFF2-40B4-BE49-F238E27FC236}">
                  <a16:creationId xmlns:a16="http://schemas.microsoft.com/office/drawing/2014/main" id="{6FB32F50-7A18-7485-9E6B-30F7B8620A26}"/>
                </a:ext>
              </a:extLst>
            </p:cNvPr>
            <p:cNvSpPr/>
            <p:nvPr/>
          </p:nvSpPr>
          <p:spPr>
            <a:xfrm>
              <a:off x="3536977" y="3726062"/>
              <a:ext cx="1274620" cy="723698"/>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Ajouter # la moitié des jumeaux</a:t>
              </a:r>
            </a:p>
          </p:txBody>
        </p:sp>
        <p:sp>
          <p:nvSpPr>
            <p:cNvPr id="11" name="Rectangle 10">
              <a:extLst>
                <a:ext uri="{FF2B5EF4-FFF2-40B4-BE49-F238E27FC236}">
                  <a16:creationId xmlns:a16="http://schemas.microsoft.com/office/drawing/2014/main" id="{A3D7EDF3-6B9A-7326-4BE1-A15BD174F385}"/>
                </a:ext>
              </a:extLst>
            </p:cNvPr>
            <p:cNvSpPr/>
            <p:nvPr/>
          </p:nvSpPr>
          <p:spPr>
            <a:xfrm>
              <a:off x="5507585" y="3708936"/>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Supprimer #stillbirths</a:t>
              </a:r>
            </a:p>
          </p:txBody>
        </p:sp>
        <p:sp>
          <p:nvSpPr>
            <p:cNvPr id="12" name="Rectangle 11">
              <a:extLst>
                <a:ext uri="{FF2B5EF4-FFF2-40B4-BE49-F238E27FC236}">
                  <a16:creationId xmlns:a16="http://schemas.microsoft.com/office/drawing/2014/main" id="{F60FF2B6-CFE4-8F7D-05E9-3AD9C7949D5E}"/>
                </a:ext>
              </a:extLst>
            </p:cNvPr>
            <p:cNvSpPr/>
            <p:nvPr/>
          </p:nvSpPr>
          <p:spPr>
            <a:xfrm>
              <a:off x="7483083" y="3704056"/>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Supprimer #neonatal décès</a:t>
              </a:r>
            </a:p>
          </p:txBody>
        </p:sp>
        <p:sp>
          <p:nvSpPr>
            <p:cNvPr id="13" name="Rectangle 12">
              <a:extLst>
                <a:ext uri="{FF2B5EF4-FFF2-40B4-BE49-F238E27FC236}">
                  <a16:creationId xmlns:a16="http://schemas.microsoft.com/office/drawing/2014/main" id="{8795FE27-0165-BD00-B8E2-661E59FC540E}"/>
                </a:ext>
              </a:extLst>
            </p:cNvPr>
            <p:cNvSpPr/>
            <p:nvPr/>
          </p:nvSpPr>
          <p:spPr>
            <a:xfrm>
              <a:off x="9488730" y="3704056"/>
              <a:ext cx="1310478" cy="723697"/>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 sz="1600" b="1">
                  <a:solidFill>
                    <a:schemeClr val="tx1"/>
                  </a:solidFill>
                </a:rPr>
                <a:t>Retirer #deaths 1-9 mois</a:t>
              </a:r>
            </a:p>
          </p:txBody>
        </p:sp>
        <p:cxnSp>
          <p:nvCxnSpPr>
            <p:cNvPr id="15" name="Straight Arrow Connector 14">
              <a:extLst>
                <a:ext uri="{FF2B5EF4-FFF2-40B4-BE49-F238E27FC236}">
                  <a16:creationId xmlns:a16="http://schemas.microsoft.com/office/drawing/2014/main" id="{98DD0F44-B36D-41FB-2E6C-35553236E3D2}"/>
                </a:ext>
              </a:extLst>
            </p:cNvPr>
            <p:cNvCxnSpPr>
              <a:stCxn id="2" idx="3"/>
              <a:endCxn id="3" idx="1"/>
            </p:cNvCxnSpPr>
            <p:nvPr/>
          </p:nvCxnSpPr>
          <p:spPr>
            <a:xfrm>
              <a:off x="1623427" y="2792099"/>
              <a:ext cx="862242" cy="977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021ED1E-34BD-E88A-C868-838AE2678AEC}"/>
                </a:ext>
              </a:extLst>
            </p:cNvPr>
            <p:cNvCxnSpPr/>
            <p:nvPr/>
          </p:nvCxnSpPr>
          <p:spPr>
            <a:xfrm>
              <a:off x="2054548" y="2792098"/>
              <a:ext cx="0" cy="753036"/>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6323850-124D-A4CB-30CE-12A3B162F1AB}"/>
                </a:ext>
              </a:extLst>
            </p:cNvPr>
            <p:cNvCxnSpPr>
              <a:cxnSpLocks/>
            </p:cNvCxnSpPr>
            <p:nvPr/>
          </p:nvCxnSpPr>
          <p:spPr>
            <a:xfrm>
              <a:off x="3814889" y="2880929"/>
              <a:ext cx="712292" cy="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A277865-6A9E-E427-75BF-36B293BF4CB8}"/>
                </a:ext>
              </a:extLst>
            </p:cNvPr>
            <p:cNvCxnSpPr>
              <a:cxnSpLocks/>
            </p:cNvCxnSpPr>
            <p:nvPr/>
          </p:nvCxnSpPr>
          <p:spPr>
            <a:xfrm>
              <a:off x="5839267" y="2846700"/>
              <a:ext cx="515076" cy="8967"/>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268EAB5-AC07-6AC1-EFB4-8B365F35636C}"/>
                </a:ext>
              </a:extLst>
            </p:cNvPr>
            <p:cNvCxnSpPr>
              <a:cxnSpLocks/>
            </p:cNvCxnSpPr>
            <p:nvPr/>
          </p:nvCxnSpPr>
          <p:spPr>
            <a:xfrm>
              <a:off x="7775625" y="2876039"/>
              <a:ext cx="619408" cy="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3D3AF23-6594-0A40-9701-6479373ED890}"/>
                </a:ext>
              </a:extLst>
            </p:cNvPr>
            <p:cNvCxnSpPr>
              <a:cxnSpLocks/>
            </p:cNvCxnSpPr>
            <p:nvPr/>
          </p:nvCxnSpPr>
          <p:spPr>
            <a:xfrm>
              <a:off x="9834254" y="2880929"/>
              <a:ext cx="619408" cy="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D52723D-3A69-6DA3-105F-D8D116C62142}"/>
                </a:ext>
              </a:extLst>
            </p:cNvPr>
            <p:cNvCxnSpPr/>
            <p:nvPr/>
          </p:nvCxnSpPr>
          <p:spPr>
            <a:xfrm>
              <a:off x="4177550" y="2876042"/>
              <a:ext cx="0" cy="753036"/>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077FD71-46CD-FEED-A70A-B8E8C4605536}"/>
                </a:ext>
              </a:extLst>
            </p:cNvPr>
            <p:cNvCxnSpPr/>
            <p:nvPr/>
          </p:nvCxnSpPr>
          <p:spPr>
            <a:xfrm>
              <a:off x="6128574" y="2841810"/>
              <a:ext cx="0" cy="753036"/>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6B6C112-7C66-9373-87A9-4815F85E29B5}"/>
                </a:ext>
              </a:extLst>
            </p:cNvPr>
            <p:cNvCxnSpPr/>
            <p:nvPr/>
          </p:nvCxnSpPr>
          <p:spPr>
            <a:xfrm>
              <a:off x="8118732" y="2871150"/>
              <a:ext cx="0" cy="753036"/>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4D7D556-03A6-2FDC-BA30-4A3F007862C0}"/>
                </a:ext>
              </a:extLst>
            </p:cNvPr>
            <p:cNvCxnSpPr/>
            <p:nvPr/>
          </p:nvCxnSpPr>
          <p:spPr>
            <a:xfrm>
              <a:off x="10118658" y="2876038"/>
              <a:ext cx="0" cy="753036"/>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CB4EC29B-4A67-B17A-FD93-E528B976F6FD}"/>
              </a:ext>
            </a:extLst>
          </p:cNvPr>
          <p:cNvGrpSpPr/>
          <p:nvPr/>
        </p:nvGrpSpPr>
        <p:grpSpPr>
          <a:xfrm>
            <a:off x="89420" y="5710926"/>
            <a:ext cx="11862011" cy="830997"/>
            <a:chOff x="62760" y="5676721"/>
            <a:chExt cx="11863556" cy="831105"/>
          </a:xfrm>
        </p:grpSpPr>
        <p:sp>
          <p:nvSpPr>
            <p:cNvPr id="35" name="TextBox 34">
              <a:extLst>
                <a:ext uri="{FF2B5EF4-FFF2-40B4-BE49-F238E27FC236}">
                  <a16:creationId xmlns:a16="http://schemas.microsoft.com/office/drawing/2014/main" id="{B35B677B-283E-F17F-5E6A-C2D4F3DF306D}"/>
                </a:ext>
              </a:extLst>
            </p:cNvPr>
            <p:cNvSpPr txBox="1"/>
            <p:nvPr/>
          </p:nvSpPr>
          <p:spPr>
            <a:xfrm>
              <a:off x="1193121" y="5730895"/>
              <a:ext cx="1696774" cy="584851"/>
            </a:xfrm>
            <a:prstGeom prst="rect">
              <a:avLst/>
            </a:prstGeom>
            <a:noFill/>
          </p:spPr>
          <p:txBody>
            <a:bodyPr wrap="square" rtlCol="0">
              <a:spAutoFit/>
            </a:bodyPr>
            <a:lstStyle/>
            <a:p>
              <a:r>
                <a:rPr lang="fr" sz="1600" b="1">
                  <a:latin typeface="Calibri" panose="020F0502020204030204" pitchFamily="34" charset="0"/>
                  <a:ea typeface="Calibri" panose="020F0502020204030204" pitchFamily="34" charset="0"/>
                  <a:cs typeface="Calibri" panose="020F0502020204030204" pitchFamily="34" charset="0"/>
                </a:rPr>
                <a:t>Taux de perte de grossesse = 0,03</a:t>
              </a:r>
            </a:p>
          </p:txBody>
        </p:sp>
        <p:sp>
          <p:nvSpPr>
            <p:cNvPr id="36" name="TextBox 35">
              <a:extLst>
                <a:ext uri="{FF2B5EF4-FFF2-40B4-BE49-F238E27FC236}">
                  <a16:creationId xmlns:a16="http://schemas.microsoft.com/office/drawing/2014/main" id="{9D4336D1-2D2B-4C26-CDAE-BC446BB18B5B}"/>
                </a:ext>
              </a:extLst>
            </p:cNvPr>
            <p:cNvSpPr txBox="1"/>
            <p:nvPr/>
          </p:nvSpPr>
          <p:spPr>
            <a:xfrm>
              <a:off x="3447335" y="5748014"/>
              <a:ext cx="1893182" cy="338598"/>
            </a:xfrm>
            <a:prstGeom prst="rect">
              <a:avLst/>
            </a:prstGeom>
            <a:noFill/>
          </p:spPr>
          <p:txBody>
            <a:bodyPr wrap="square" rtlCol="0">
              <a:spAutoFit/>
            </a:bodyPr>
            <a:lstStyle/>
            <a:p>
              <a:r>
                <a:rPr lang="fr" sz="1600" b="1" dirty="0">
                  <a:latin typeface="Calibri" panose="020F0502020204030204" pitchFamily="34" charset="0"/>
                  <a:ea typeface="Calibri" panose="020F0502020204030204" pitchFamily="34" charset="0"/>
                  <a:cs typeface="Calibri" panose="020F0502020204030204" pitchFamily="34" charset="0"/>
                </a:rPr>
                <a:t>Twin births= 0,015 </a:t>
              </a:r>
            </a:p>
          </p:txBody>
        </p:sp>
        <p:sp>
          <p:nvSpPr>
            <p:cNvPr id="37" name="TextBox 36">
              <a:extLst>
                <a:ext uri="{FF2B5EF4-FFF2-40B4-BE49-F238E27FC236}">
                  <a16:creationId xmlns:a16="http://schemas.microsoft.com/office/drawing/2014/main" id="{C0BDA171-EF5C-A01A-53B0-B5585F21FD0D}"/>
                </a:ext>
              </a:extLst>
            </p:cNvPr>
            <p:cNvSpPr txBox="1"/>
            <p:nvPr/>
          </p:nvSpPr>
          <p:spPr>
            <a:xfrm>
              <a:off x="5937890" y="5815221"/>
              <a:ext cx="2018699" cy="584851"/>
            </a:xfrm>
            <a:prstGeom prst="rect">
              <a:avLst/>
            </a:prstGeom>
            <a:noFill/>
          </p:spPr>
          <p:txBody>
            <a:bodyPr wrap="square" rtlCol="0">
              <a:spAutoFit/>
            </a:bodyPr>
            <a:lstStyle/>
            <a:p>
              <a:r>
                <a:rPr lang="fr" sz="1600" b="1">
                  <a:latin typeface="Calibri" panose="020F0502020204030204" pitchFamily="34" charset="0"/>
                  <a:ea typeface="Calibri" panose="020F0502020204030204" pitchFamily="34" charset="0"/>
                  <a:cs typeface="Calibri" panose="020F0502020204030204" pitchFamily="34" charset="0"/>
                </a:rPr>
                <a:t>Taux de mortinatalité = 0,02</a:t>
              </a:r>
            </a:p>
          </p:txBody>
        </p:sp>
        <p:sp>
          <p:nvSpPr>
            <p:cNvPr id="38" name="TextBox 37">
              <a:extLst>
                <a:ext uri="{FF2B5EF4-FFF2-40B4-BE49-F238E27FC236}">
                  <a16:creationId xmlns:a16="http://schemas.microsoft.com/office/drawing/2014/main" id="{16D7B9AE-FAE0-A432-4D7C-5A8CBEA355E8}"/>
                </a:ext>
              </a:extLst>
            </p:cNvPr>
            <p:cNvSpPr txBox="1"/>
            <p:nvPr/>
          </p:nvSpPr>
          <p:spPr>
            <a:xfrm>
              <a:off x="8270346" y="5793222"/>
              <a:ext cx="1696774" cy="338598"/>
            </a:xfrm>
            <a:prstGeom prst="rect">
              <a:avLst/>
            </a:prstGeom>
            <a:noFill/>
          </p:spPr>
          <p:txBody>
            <a:bodyPr wrap="square" rtlCol="0">
              <a:spAutoFit/>
            </a:bodyPr>
            <a:lstStyle/>
            <a:p>
              <a:r>
                <a:rPr lang="fr" sz="1600" b="1">
                  <a:latin typeface="Calibri" panose="020F0502020204030204" pitchFamily="34" charset="0"/>
                  <a:ea typeface="Calibri" panose="020F0502020204030204" pitchFamily="34" charset="0"/>
                  <a:cs typeface="Calibri" panose="020F0502020204030204" pitchFamily="34" charset="0"/>
                </a:rPr>
                <a:t>RMN = 0,03</a:t>
              </a:r>
            </a:p>
          </p:txBody>
        </p:sp>
        <p:sp>
          <p:nvSpPr>
            <p:cNvPr id="39" name="TextBox 38">
              <a:extLst>
                <a:ext uri="{FF2B5EF4-FFF2-40B4-BE49-F238E27FC236}">
                  <a16:creationId xmlns:a16="http://schemas.microsoft.com/office/drawing/2014/main" id="{88640E7C-3372-020B-A780-C0FE9F262C6E}"/>
                </a:ext>
              </a:extLst>
            </p:cNvPr>
            <p:cNvSpPr txBox="1"/>
            <p:nvPr/>
          </p:nvSpPr>
          <p:spPr>
            <a:xfrm>
              <a:off x="62760" y="5676721"/>
              <a:ext cx="1041536" cy="831105"/>
            </a:xfrm>
            <a:prstGeom prst="rect">
              <a:avLst/>
            </a:prstGeom>
            <a:noFill/>
          </p:spPr>
          <p:txBody>
            <a:bodyPr wrap="square" rtlCol="0">
              <a:spAutoFit/>
            </a:bodyPr>
            <a:lstStyle/>
            <a:p>
              <a:r>
                <a:rPr lang="fr" sz="1600" b="1">
                  <a:latin typeface="Calibri" panose="020F0502020204030204" pitchFamily="34" charset="0"/>
                  <a:ea typeface="Calibri" panose="020F0502020204030204" pitchFamily="34" charset="0"/>
                  <a:cs typeface="Calibri" panose="020F0502020204030204" pitchFamily="34" charset="0"/>
                </a:rPr>
                <a:t>Valeurs par défaut</a:t>
              </a:r>
            </a:p>
          </p:txBody>
        </p:sp>
        <p:sp>
          <p:nvSpPr>
            <p:cNvPr id="40" name="TextBox 39">
              <a:extLst>
                <a:ext uri="{FF2B5EF4-FFF2-40B4-BE49-F238E27FC236}">
                  <a16:creationId xmlns:a16="http://schemas.microsoft.com/office/drawing/2014/main" id="{BC2913DB-BF39-2ABD-0A28-8A2EAD5A477B}"/>
                </a:ext>
              </a:extLst>
            </p:cNvPr>
            <p:cNvSpPr txBox="1"/>
            <p:nvPr/>
          </p:nvSpPr>
          <p:spPr>
            <a:xfrm>
              <a:off x="10333049" y="5794465"/>
              <a:ext cx="1593267" cy="338598"/>
            </a:xfrm>
            <a:prstGeom prst="rect">
              <a:avLst/>
            </a:prstGeom>
            <a:noFill/>
          </p:spPr>
          <p:txBody>
            <a:bodyPr wrap="square" rtlCol="0">
              <a:spAutoFit/>
            </a:bodyPr>
            <a:lstStyle/>
            <a:p>
              <a:r>
                <a:rPr lang="fr" sz="1600" b="1">
                  <a:latin typeface="Calibri" panose="020F0502020204030204" pitchFamily="34" charset="0"/>
                  <a:ea typeface="Calibri" panose="020F0502020204030204" pitchFamily="34" charset="0"/>
                  <a:cs typeface="Calibri" panose="020F0502020204030204" pitchFamily="34" charset="0"/>
                </a:rPr>
                <a:t>PNMR = 0,02</a:t>
              </a:r>
            </a:p>
          </p:txBody>
        </p:sp>
      </p:grpSp>
      <p:sp>
        <p:nvSpPr>
          <p:cNvPr id="44" name="TextBox 43">
            <a:extLst>
              <a:ext uri="{FF2B5EF4-FFF2-40B4-BE49-F238E27FC236}">
                <a16:creationId xmlns:a16="http://schemas.microsoft.com/office/drawing/2014/main" id="{537C5A1E-7940-944D-8499-1EE1077A7766}"/>
              </a:ext>
            </a:extLst>
          </p:cNvPr>
          <p:cNvSpPr txBox="1"/>
          <p:nvPr/>
        </p:nvSpPr>
        <p:spPr>
          <a:xfrm>
            <a:off x="0" y="122677"/>
            <a:ext cx="12154329" cy="707758"/>
          </a:xfrm>
          <a:prstGeom prst="rect">
            <a:avLst/>
          </a:prstGeom>
          <a:noFill/>
        </p:spPr>
        <p:txBody>
          <a:bodyPr wrap="square" rtlCol="0">
            <a:spAutoFit/>
          </a:bodyPr>
          <a:lstStyle/>
          <a:p>
            <a:pPr algn="ctr"/>
            <a:r>
              <a:rPr lang="fr" sz="3999" b="1"/>
              <a:t>Dénominateurs d'estimation</a:t>
            </a:r>
          </a:p>
        </p:txBody>
      </p:sp>
      <p:sp>
        <p:nvSpPr>
          <p:cNvPr id="46" name="Arrow: Right 45">
            <a:extLst>
              <a:ext uri="{FF2B5EF4-FFF2-40B4-BE49-F238E27FC236}">
                <a16:creationId xmlns:a16="http://schemas.microsoft.com/office/drawing/2014/main" id="{4325186E-9271-9625-5110-3BA739CFBA03}"/>
              </a:ext>
            </a:extLst>
          </p:cNvPr>
          <p:cNvSpPr/>
          <p:nvPr/>
        </p:nvSpPr>
        <p:spPr>
          <a:xfrm>
            <a:off x="421276" y="761158"/>
            <a:ext cx="11421163" cy="404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1020F938-2EB9-09F8-AFFA-279C19CDC1EA}"/>
              </a:ext>
            </a:extLst>
          </p:cNvPr>
          <p:cNvSpPr/>
          <p:nvPr/>
        </p:nvSpPr>
        <p:spPr>
          <a:xfrm>
            <a:off x="652474" y="3860365"/>
            <a:ext cx="2351139" cy="13232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a:t>#Deliveries = #Pregnancies* (1- Taux de perte de grossesse)</a:t>
            </a:r>
          </a:p>
        </p:txBody>
      </p:sp>
      <p:sp>
        <p:nvSpPr>
          <p:cNvPr id="14" name="Rectangle 13">
            <a:extLst>
              <a:ext uri="{FF2B5EF4-FFF2-40B4-BE49-F238E27FC236}">
                <a16:creationId xmlns:a16="http://schemas.microsoft.com/office/drawing/2014/main" id="{6CF15991-8237-69B6-2197-B4FD73B28494}"/>
              </a:ext>
            </a:extLst>
          </p:cNvPr>
          <p:cNvSpPr/>
          <p:nvPr/>
        </p:nvSpPr>
        <p:spPr>
          <a:xfrm>
            <a:off x="3249691" y="3873413"/>
            <a:ext cx="2048581" cy="13232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dirty="0"/>
              <a:t>#Births = #Deliveries/(1- (twin births)/2)</a:t>
            </a:r>
          </a:p>
        </p:txBody>
      </p:sp>
      <p:sp>
        <p:nvSpPr>
          <p:cNvPr id="16" name="Rectangle 15">
            <a:extLst>
              <a:ext uri="{FF2B5EF4-FFF2-40B4-BE49-F238E27FC236}">
                <a16:creationId xmlns:a16="http://schemas.microsoft.com/office/drawing/2014/main" id="{DD42D7B8-CB60-1D9E-71D8-D5B6F8F15B07}"/>
              </a:ext>
            </a:extLst>
          </p:cNvPr>
          <p:cNvSpPr/>
          <p:nvPr/>
        </p:nvSpPr>
        <p:spPr>
          <a:xfrm>
            <a:off x="5583884" y="3898054"/>
            <a:ext cx="1921053" cy="1318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a:t>#Live naissances = #Deliveries* (1- Taux de mortinatalité)</a:t>
            </a:r>
          </a:p>
        </p:txBody>
      </p:sp>
      <p:sp>
        <p:nvSpPr>
          <p:cNvPr id="19" name="Rectangle 18">
            <a:extLst>
              <a:ext uri="{FF2B5EF4-FFF2-40B4-BE49-F238E27FC236}">
                <a16:creationId xmlns:a16="http://schemas.microsoft.com/office/drawing/2014/main" id="{C1C045D9-C496-11C4-FC59-7437ECDBC173}"/>
              </a:ext>
            </a:extLst>
          </p:cNvPr>
          <p:cNvSpPr/>
          <p:nvPr/>
        </p:nvSpPr>
        <p:spPr>
          <a:xfrm>
            <a:off x="7797441" y="3898054"/>
            <a:ext cx="1883564" cy="1318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a:t>#Infants éligibles au DTC1 = #Live naissances * (1- RMN)</a:t>
            </a:r>
          </a:p>
        </p:txBody>
      </p:sp>
      <p:sp>
        <p:nvSpPr>
          <p:cNvPr id="21" name="Rectangle 20">
            <a:extLst>
              <a:ext uri="{FF2B5EF4-FFF2-40B4-BE49-F238E27FC236}">
                <a16:creationId xmlns:a16="http://schemas.microsoft.com/office/drawing/2014/main" id="{0216E962-C6C3-B4C0-3A07-88D309B20B7A}"/>
              </a:ext>
            </a:extLst>
          </p:cNvPr>
          <p:cNvSpPr/>
          <p:nvPr/>
        </p:nvSpPr>
        <p:spPr>
          <a:xfrm>
            <a:off x="9966616" y="3893250"/>
            <a:ext cx="2048581" cy="1318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a:t>#Infants éligible à la rougeole = #Infants éligible au DPT1* (1- PNMR)</a:t>
            </a:r>
          </a:p>
        </p:txBody>
      </p:sp>
      <p:grpSp>
        <p:nvGrpSpPr>
          <p:cNvPr id="52" name="Group 51">
            <a:extLst>
              <a:ext uri="{FF2B5EF4-FFF2-40B4-BE49-F238E27FC236}">
                <a16:creationId xmlns:a16="http://schemas.microsoft.com/office/drawing/2014/main" id="{5183F511-FAD7-2272-9C66-B4E1EF5F7054}"/>
              </a:ext>
            </a:extLst>
          </p:cNvPr>
          <p:cNvGrpSpPr/>
          <p:nvPr/>
        </p:nvGrpSpPr>
        <p:grpSpPr>
          <a:xfrm>
            <a:off x="1801328" y="1446622"/>
            <a:ext cx="8557044" cy="34503"/>
            <a:chOff x="1800769" y="1446364"/>
            <a:chExt cx="8558158" cy="34507"/>
          </a:xfrm>
        </p:grpSpPr>
        <p:cxnSp>
          <p:nvCxnSpPr>
            <p:cNvPr id="47" name="Straight Arrow Connector 46">
              <a:extLst>
                <a:ext uri="{FF2B5EF4-FFF2-40B4-BE49-F238E27FC236}">
                  <a16:creationId xmlns:a16="http://schemas.microsoft.com/office/drawing/2014/main" id="{45D063FB-5393-9593-9F25-9348B102A2BC}"/>
                </a:ext>
              </a:extLst>
            </p:cNvPr>
            <p:cNvCxnSpPr/>
            <p:nvPr/>
          </p:nvCxnSpPr>
          <p:spPr>
            <a:xfrm flipH="1">
              <a:off x="9903125" y="1457864"/>
              <a:ext cx="455802"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582847E-7FD8-9CA2-E104-CFB68F292895}"/>
                </a:ext>
              </a:extLst>
            </p:cNvPr>
            <p:cNvCxnSpPr/>
            <p:nvPr/>
          </p:nvCxnSpPr>
          <p:spPr>
            <a:xfrm flipH="1">
              <a:off x="7864423" y="1480871"/>
              <a:ext cx="455802"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022F47B-8462-E955-8D58-ED2BA645D406}"/>
                </a:ext>
              </a:extLst>
            </p:cNvPr>
            <p:cNvCxnSpPr/>
            <p:nvPr/>
          </p:nvCxnSpPr>
          <p:spPr>
            <a:xfrm flipH="1">
              <a:off x="5906225" y="1446364"/>
              <a:ext cx="455802"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0A0202F-8B85-E985-E9C0-4C1481DC5810}"/>
                </a:ext>
              </a:extLst>
            </p:cNvPr>
            <p:cNvCxnSpPr/>
            <p:nvPr/>
          </p:nvCxnSpPr>
          <p:spPr>
            <a:xfrm flipH="1">
              <a:off x="3904905" y="1472240"/>
              <a:ext cx="455802"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11BD6C3-18D0-378A-4D04-46FFB205C3AC}"/>
                </a:ext>
              </a:extLst>
            </p:cNvPr>
            <p:cNvCxnSpPr/>
            <p:nvPr/>
          </p:nvCxnSpPr>
          <p:spPr>
            <a:xfrm flipH="1">
              <a:off x="1800769" y="1446364"/>
              <a:ext cx="455802" cy="0"/>
            </a:xfrm>
            <a:prstGeom prst="straightConnector1">
              <a:avLst/>
            </a:prstGeom>
            <a:ln w="571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F60E7529-6ECD-9A12-4A9D-4DCFF0328430}"/>
              </a:ext>
            </a:extLst>
          </p:cNvPr>
          <p:cNvSpPr/>
          <p:nvPr/>
        </p:nvSpPr>
        <p:spPr>
          <a:xfrm>
            <a:off x="325568" y="1985439"/>
            <a:ext cx="1310306" cy="405828"/>
          </a:xfrm>
          <a:prstGeom prst="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sz="1000" b="1">
                <a:solidFill>
                  <a:srgbClr val="002060"/>
                </a:solidFill>
              </a:rPr>
              <a:t>ANC1/(Enquête (Couverture)</a:t>
            </a:r>
          </a:p>
        </p:txBody>
      </p:sp>
      <p:sp>
        <p:nvSpPr>
          <p:cNvPr id="24" name="Rectangle 23">
            <a:extLst>
              <a:ext uri="{FF2B5EF4-FFF2-40B4-BE49-F238E27FC236}">
                <a16:creationId xmlns:a16="http://schemas.microsoft.com/office/drawing/2014/main" id="{28568179-0AD9-6D09-DB00-ACD1E2139E82}"/>
              </a:ext>
            </a:extLst>
          </p:cNvPr>
          <p:cNvSpPr/>
          <p:nvPr/>
        </p:nvSpPr>
        <p:spPr>
          <a:xfrm>
            <a:off x="8492120" y="2059847"/>
            <a:ext cx="1341648" cy="405828"/>
          </a:xfrm>
          <a:prstGeom prst="rect">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 sz="1000" b="1">
                <a:solidFill>
                  <a:srgbClr val="002060"/>
                </a:solidFill>
              </a:rPr>
              <a:t>DPT1/(couverture de l'enquête)</a:t>
            </a:r>
          </a:p>
        </p:txBody>
      </p:sp>
    </p:spTree>
    <p:extLst>
      <p:ext uri="{BB962C8B-B14F-4D97-AF65-F5344CB8AC3E}">
        <p14:creationId xmlns:p14="http://schemas.microsoft.com/office/powerpoint/2010/main" val="2049663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313BFFF-7869-B444-51BF-44D3B10C08B1}"/>
              </a:ext>
            </a:extLst>
          </p:cNvPr>
          <p:cNvSpPr txBox="1"/>
          <p:nvPr/>
        </p:nvSpPr>
        <p:spPr>
          <a:xfrm>
            <a:off x="642730" y="117049"/>
            <a:ext cx="4197625" cy="400110"/>
          </a:xfrm>
          <a:prstGeom prst="rect">
            <a:avLst/>
          </a:prstGeom>
          <a:noFill/>
        </p:spPr>
        <p:txBody>
          <a:bodyPr wrap="square" rtlCol="0">
            <a:spAutoFit/>
          </a:bodyPr>
          <a:lstStyle/>
          <a:p>
            <a:r>
              <a:rPr lang="fr" sz="2000" b="1" dirty="0">
                <a:solidFill>
                  <a:srgbClr val="0070C0"/>
                </a:solidFill>
              </a:rPr>
              <a:t>Choix du dénominateur</a:t>
            </a:r>
            <a:endParaRPr lang="fr-CD" sz="2000" b="1" dirty="0">
              <a:solidFill>
                <a:srgbClr val="0070C0"/>
              </a:solidFill>
            </a:endParaRPr>
          </a:p>
        </p:txBody>
      </p:sp>
      <p:pic>
        <p:nvPicPr>
          <p:cNvPr id="9" name="Image 8">
            <a:extLst>
              <a:ext uri="{FF2B5EF4-FFF2-40B4-BE49-F238E27FC236}">
                <a16:creationId xmlns:a16="http://schemas.microsoft.com/office/drawing/2014/main" id="{3622F112-212B-EB3B-453E-EE22F508D958}"/>
              </a:ext>
            </a:extLst>
          </p:cNvPr>
          <p:cNvPicPr>
            <a:picLocks noChangeAspect="1"/>
          </p:cNvPicPr>
          <p:nvPr/>
        </p:nvPicPr>
        <p:blipFill>
          <a:blip r:embed="rId3"/>
          <a:stretch>
            <a:fillRect/>
          </a:stretch>
        </p:blipFill>
        <p:spPr>
          <a:xfrm>
            <a:off x="885132" y="3412232"/>
            <a:ext cx="3712820" cy="2978106"/>
          </a:xfrm>
          <a:prstGeom prst="rect">
            <a:avLst/>
          </a:prstGeom>
          <a:ln>
            <a:solidFill>
              <a:schemeClr val="tx2">
                <a:lumMod val="50000"/>
              </a:schemeClr>
            </a:solidFill>
          </a:ln>
        </p:spPr>
      </p:pic>
      <p:pic>
        <p:nvPicPr>
          <p:cNvPr id="11" name="Image 10" descr="Une image contenant texte, capture d’écran, ligne, Tracé&#10;&#10;Description générée automatiquement">
            <a:extLst>
              <a:ext uri="{FF2B5EF4-FFF2-40B4-BE49-F238E27FC236}">
                <a16:creationId xmlns:a16="http://schemas.microsoft.com/office/drawing/2014/main" id="{8F9EECC2-768F-78AB-04D8-8E59A6A3038A}"/>
              </a:ext>
            </a:extLst>
          </p:cNvPr>
          <p:cNvPicPr>
            <a:picLocks noChangeAspect="1"/>
          </p:cNvPicPr>
          <p:nvPr/>
        </p:nvPicPr>
        <p:blipFill>
          <a:blip r:embed="rId4"/>
          <a:stretch>
            <a:fillRect/>
          </a:stretch>
        </p:blipFill>
        <p:spPr>
          <a:xfrm>
            <a:off x="490057" y="517159"/>
            <a:ext cx="5056708" cy="2844398"/>
          </a:xfrm>
          <a:prstGeom prst="rect">
            <a:avLst/>
          </a:prstGeom>
        </p:spPr>
      </p:pic>
      <p:pic>
        <p:nvPicPr>
          <p:cNvPr id="14" name="Image 13" descr="Une image contenant texte, capture d’écran, ligne, diagramme&#10;&#10;Description générée automatiquement">
            <a:extLst>
              <a:ext uri="{FF2B5EF4-FFF2-40B4-BE49-F238E27FC236}">
                <a16:creationId xmlns:a16="http://schemas.microsoft.com/office/drawing/2014/main" id="{788052B4-4E6F-74CA-2690-4B051ED6FEB5}"/>
              </a:ext>
            </a:extLst>
          </p:cNvPr>
          <p:cNvPicPr>
            <a:picLocks noChangeAspect="1"/>
          </p:cNvPicPr>
          <p:nvPr/>
        </p:nvPicPr>
        <p:blipFill>
          <a:blip r:embed="rId5"/>
          <a:stretch>
            <a:fillRect/>
          </a:stretch>
        </p:blipFill>
        <p:spPr>
          <a:xfrm>
            <a:off x="5741114" y="671688"/>
            <a:ext cx="4828915" cy="2716264"/>
          </a:xfrm>
          <a:prstGeom prst="rect">
            <a:avLst/>
          </a:prstGeom>
        </p:spPr>
      </p:pic>
      <p:sp>
        <p:nvSpPr>
          <p:cNvPr id="16" name="Ellipse 15">
            <a:extLst>
              <a:ext uri="{FF2B5EF4-FFF2-40B4-BE49-F238E27FC236}">
                <a16:creationId xmlns:a16="http://schemas.microsoft.com/office/drawing/2014/main" id="{BE00F853-BD52-5B51-A5C2-2F20FF9A46E9}"/>
              </a:ext>
            </a:extLst>
          </p:cNvPr>
          <p:cNvSpPr/>
          <p:nvPr/>
        </p:nvSpPr>
        <p:spPr>
          <a:xfrm rot="21232168">
            <a:off x="5855717" y="540326"/>
            <a:ext cx="5009062" cy="143059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18" name="ZoneTexte 17">
            <a:extLst>
              <a:ext uri="{FF2B5EF4-FFF2-40B4-BE49-F238E27FC236}">
                <a16:creationId xmlns:a16="http://schemas.microsoft.com/office/drawing/2014/main" id="{8B869920-09BD-44B8-E86C-93C6ED1D85B6}"/>
              </a:ext>
            </a:extLst>
          </p:cNvPr>
          <p:cNvSpPr txBox="1"/>
          <p:nvPr/>
        </p:nvSpPr>
        <p:spPr>
          <a:xfrm>
            <a:off x="5793650" y="3440424"/>
            <a:ext cx="5497287" cy="923330"/>
          </a:xfrm>
          <a:prstGeom prst="rect">
            <a:avLst/>
          </a:prstGeom>
          <a:noFill/>
        </p:spPr>
        <p:txBody>
          <a:bodyPr wrap="square" rtlCol="0">
            <a:spAutoFit/>
          </a:bodyPr>
          <a:lstStyle/>
          <a:p>
            <a:pPr algn="just"/>
            <a:r>
              <a:rPr lang="fr-FR" sz="1800" b="0" i="0" u="none" strike="noStrike" baseline="0" dirty="0">
                <a:solidFill>
                  <a:srgbClr val="FF0000"/>
                </a:solidFill>
                <a:latin typeface="Aptos" panose="020B0004020202020204" pitchFamily="34" charset="0"/>
              </a:rPr>
              <a:t>Les projections issues du recensement de 1984 se sont avérées inadéquates pour définir les dénominateurs des indicateurs de couverture.</a:t>
            </a:r>
            <a:endParaRPr lang="fr-CD" dirty="0">
              <a:solidFill>
                <a:srgbClr val="FF0000"/>
              </a:solidFill>
            </a:endParaRPr>
          </a:p>
        </p:txBody>
      </p:sp>
      <p:sp>
        <p:nvSpPr>
          <p:cNvPr id="20" name="ZoneTexte 19">
            <a:extLst>
              <a:ext uri="{FF2B5EF4-FFF2-40B4-BE49-F238E27FC236}">
                <a16:creationId xmlns:a16="http://schemas.microsoft.com/office/drawing/2014/main" id="{316509D1-7D09-5984-97F7-FAB33F2963FA}"/>
              </a:ext>
            </a:extLst>
          </p:cNvPr>
          <p:cNvSpPr txBox="1"/>
          <p:nvPr/>
        </p:nvSpPr>
        <p:spPr>
          <a:xfrm>
            <a:off x="4996542" y="4646545"/>
            <a:ext cx="5497287" cy="923330"/>
          </a:xfrm>
          <a:prstGeom prst="rect">
            <a:avLst/>
          </a:prstGeom>
          <a:noFill/>
        </p:spPr>
        <p:txBody>
          <a:bodyPr wrap="square" rtlCol="0">
            <a:spAutoFit/>
          </a:bodyPr>
          <a:lstStyle/>
          <a:p>
            <a:pPr algn="just"/>
            <a:r>
              <a:rPr lang="fr-FR" sz="1800" b="0" i="0" u="none" strike="noStrike" baseline="0" dirty="0">
                <a:solidFill>
                  <a:srgbClr val="0070C0"/>
                </a:solidFill>
                <a:latin typeface="Aptos" panose="020B0004020202020204" pitchFamily="34" charset="0"/>
              </a:rPr>
              <a:t>L'ajustement permet une estimation plus réaliste des populations cibles, en renforçant la validité des analyses du DHIS2.</a:t>
            </a:r>
            <a:endParaRPr lang="fr-CD" dirty="0">
              <a:solidFill>
                <a:srgbClr val="0070C0"/>
              </a:solidFill>
            </a:endParaRPr>
          </a:p>
        </p:txBody>
      </p:sp>
      <p:sp>
        <p:nvSpPr>
          <p:cNvPr id="22" name="ZoneTexte 21">
            <a:extLst>
              <a:ext uri="{FF2B5EF4-FFF2-40B4-BE49-F238E27FC236}">
                <a16:creationId xmlns:a16="http://schemas.microsoft.com/office/drawing/2014/main" id="{A700F754-5965-5A98-3953-6161B91524E2}"/>
              </a:ext>
            </a:extLst>
          </p:cNvPr>
          <p:cNvSpPr txBox="1"/>
          <p:nvPr/>
        </p:nvSpPr>
        <p:spPr>
          <a:xfrm>
            <a:off x="4996541" y="5816980"/>
            <a:ext cx="5497287" cy="369332"/>
          </a:xfrm>
          <a:prstGeom prst="rect">
            <a:avLst/>
          </a:prstGeom>
          <a:noFill/>
        </p:spPr>
        <p:txBody>
          <a:bodyPr wrap="square" rtlCol="0">
            <a:spAutoFit/>
          </a:bodyPr>
          <a:lstStyle/>
          <a:p>
            <a:r>
              <a:rPr lang="fr-FR" dirty="0">
                <a:solidFill>
                  <a:schemeClr val="accent6">
                    <a:lumMod val="75000"/>
                  </a:schemeClr>
                </a:solidFill>
              </a:rPr>
              <a:t>La ligne verte indique l’estimation de l’enquête</a:t>
            </a:r>
            <a:endParaRPr lang="fr-CD" dirty="0">
              <a:solidFill>
                <a:schemeClr val="accent6">
                  <a:lumMod val="75000"/>
                </a:schemeClr>
              </a:solidFill>
            </a:endParaRPr>
          </a:p>
        </p:txBody>
      </p:sp>
      <p:sp>
        <p:nvSpPr>
          <p:cNvPr id="23" name="ZoneTexte 22">
            <a:extLst>
              <a:ext uri="{FF2B5EF4-FFF2-40B4-BE49-F238E27FC236}">
                <a16:creationId xmlns:a16="http://schemas.microsoft.com/office/drawing/2014/main" id="{75516B1F-9A35-8440-3D27-FFD33388A29C}"/>
              </a:ext>
            </a:extLst>
          </p:cNvPr>
          <p:cNvSpPr txBox="1"/>
          <p:nvPr/>
        </p:nvSpPr>
        <p:spPr>
          <a:xfrm>
            <a:off x="598713" y="6396387"/>
            <a:ext cx="5497287" cy="369332"/>
          </a:xfrm>
          <a:prstGeom prst="rect">
            <a:avLst/>
          </a:prstGeom>
          <a:noFill/>
        </p:spPr>
        <p:txBody>
          <a:bodyPr wrap="square" rtlCol="0">
            <a:spAutoFit/>
          </a:bodyPr>
          <a:lstStyle/>
          <a:p>
            <a:r>
              <a:rPr lang="fr-FR" b="1" dirty="0"/>
              <a:t>Couverture Penta 3 basée sur le DHIS2</a:t>
            </a:r>
            <a:endParaRPr lang="fr-CD" b="1" dirty="0"/>
          </a:p>
        </p:txBody>
      </p:sp>
    </p:spTree>
    <p:extLst>
      <p:ext uri="{BB962C8B-B14F-4D97-AF65-F5344CB8AC3E}">
        <p14:creationId xmlns:p14="http://schemas.microsoft.com/office/powerpoint/2010/main" val="129807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D5811ED-08A0-C165-2721-293982B9258E}"/>
              </a:ext>
            </a:extLst>
          </p:cNvPr>
          <p:cNvSpPr txBox="1"/>
          <p:nvPr/>
        </p:nvSpPr>
        <p:spPr>
          <a:xfrm>
            <a:off x="401371" y="3799486"/>
            <a:ext cx="5453270" cy="369332"/>
          </a:xfrm>
          <a:prstGeom prst="rect">
            <a:avLst/>
          </a:prstGeom>
          <a:noFill/>
        </p:spPr>
        <p:txBody>
          <a:bodyPr wrap="square" rtlCol="0">
            <a:spAutoFit/>
          </a:bodyPr>
          <a:lstStyle/>
          <a:p>
            <a:pPr algn="ctr"/>
            <a:r>
              <a:rPr lang="fr" b="1" dirty="0"/>
              <a:t>Fig. Couverture VAR1</a:t>
            </a:r>
            <a:endParaRPr lang="fr-CD" b="1" dirty="0"/>
          </a:p>
        </p:txBody>
      </p:sp>
      <p:pic>
        <p:nvPicPr>
          <p:cNvPr id="9" name="Image 8">
            <a:extLst>
              <a:ext uri="{FF2B5EF4-FFF2-40B4-BE49-F238E27FC236}">
                <a16:creationId xmlns:a16="http://schemas.microsoft.com/office/drawing/2014/main" id="{9EF0A467-AA08-77B9-A076-2DAE019FB1C0}"/>
              </a:ext>
            </a:extLst>
          </p:cNvPr>
          <p:cNvPicPr>
            <a:picLocks noChangeAspect="1"/>
          </p:cNvPicPr>
          <p:nvPr/>
        </p:nvPicPr>
        <p:blipFill>
          <a:blip r:embed="rId3"/>
          <a:stretch>
            <a:fillRect/>
          </a:stretch>
        </p:blipFill>
        <p:spPr bwMode="auto">
          <a:xfrm>
            <a:off x="6096000" y="2895600"/>
            <a:ext cx="5947910" cy="3345699"/>
          </a:xfrm>
          <a:prstGeom prst="rect">
            <a:avLst/>
          </a:prstGeom>
          <a:noFill/>
        </p:spPr>
      </p:pic>
      <p:pic>
        <p:nvPicPr>
          <p:cNvPr id="10" name="Image 9">
            <a:extLst>
              <a:ext uri="{FF2B5EF4-FFF2-40B4-BE49-F238E27FC236}">
                <a16:creationId xmlns:a16="http://schemas.microsoft.com/office/drawing/2014/main" id="{44802B7B-8AC3-BBED-2115-76F80826E43B}"/>
              </a:ext>
            </a:extLst>
          </p:cNvPr>
          <p:cNvPicPr>
            <a:picLocks noChangeAspect="1"/>
          </p:cNvPicPr>
          <p:nvPr/>
        </p:nvPicPr>
        <p:blipFill>
          <a:blip r:embed="rId4"/>
          <a:stretch>
            <a:fillRect/>
          </a:stretch>
        </p:blipFill>
        <p:spPr bwMode="auto">
          <a:xfrm>
            <a:off x="160012" y="400823"/>
            <a:ext cx="6135234" cy="3451069"/>
          </a:xfrm>
          <a:prstGeom prst="rect">
            <a:avLst/>
          </a:prstGeom>
          <a:noFill/>
        </p:spPr>
      </p:pic>
      <p:sp>
        <p:nvSpPr>
          <p:cNvPr id="11" name="ZoneTexte 10">
            <a:extLst>
              <a:ext uri="{FF2B5EF4-FFF2-40B4-BE49-F238E27FC236}">
                <a16:creationId xmlns:a16="http://schemas.microsoft.com/office/drawing/2014/main" id="{CB72CF1E-5514-B0CB-DB12-087A5D963068}"/>
              </a:ext>
            </a:extLst>
          </p:cNvPr>
          <p:cNvSpPr txBox="1"/>
          <p:nvPr/>
        </p:nvSpPr>
        <p:spPr>
          <a:xfrm>
            <a:off x="6352965" y="772588"/>
            <a:ext cx="5497287" cy="1200329"/>
          </a:xfrm>
          <a:prstGeom prst="rect">
            <a:avLst/>
          </a:prstGeom>
          <a:noFill/>
        </p:spPr>
        <p:txBody>
          <a:bodyPr wrap="square" rtlCol="0">
            <a:spAutoFit/>
          </a:bodyPr>
          <a:lstStyle/>
          <a:p>
            <a:pPr algn="just"/>
            <a:r>
              <a:rPr lang="fr-FR" sz="1800" b="0" i="0" u="none" strike="noStrike" baseline="0" dirty="0">
                <a:solidFill>
                  <a:srgbClr val="FF0000"/>
                </a:solidFill>
                <a:latin typeface="Aptos" panose="020B0004020202020204" pitchFamily="34" charset="0"/>
              </a:rPr>
              <a:t>Les données administratives du DHIS2 sont supérieures aux estimations du WUENIC et des enquêtes menées de 2019 à 2024 pour la 1</a:t>
            </a:r>
            <a:r>
              <a:rPr lang="fr-FR" sz="1800" b="0" i="0" u="none" strike="noStrike" baseline="30000" dirty="0">
                <a:solidFill>
                  <a:srgbClr val="FF0000"/>
                </a:solidFill>
                <a:latin typeface="Aptos" panose="020B0004020202020204" pitchFamily="34" charset="0"/>
              </a:rPr>
              <a:t>ère</a:t>
            </a:r>
            <a:r>
              <a:rPr lang="fr-FR" sz="1800" b="0" i="0" u="none" strike="noStrike" baseline="0" dirty="0">
                <a:solidFill>
                  <a:srgbClr val="FF0000"/>
                </a:solidFill>
                <a:latin typeface="Aptos" panose="020B0004020202020204" pitchFamily="34" charset="0"/>
              </a:rPr>
              <a:t> dose de vaccin contre la rougeole</a:t>
            </a:r>
            <a:endParaRPr lang="fr-CD" dirty="0">
              <a:solidFill>
                <a:srgbClr val="FF0000"/>
              </a:solidFill>
            </a:endParaRPr>
          </a:p>
        </p:txBody>
      </p:sp>
      <p:sp>
        <p:nvSpPr>
          <p:cNvPr id="12" name="ZoneTexte 11">
            <a:extLst>
              <a:ext uri="{FF2B5EF4-FFF2-40B4-BE49-F238E27FC236}">
                <a16:creationId xmlns:a16="http://schemas.microsoft.com/office/drawing/2014/main" id="{400FB63F-110E-ECBF-2F9C-DD7897B46717}"/>
              </a:ext>
            </a:extLst>
          </p:cNvPr>
          <p:cNvSpPr txBox="1"/>
          <p:nvPr/>
        </p:nvSpPr>
        <p:spPr>
          <a:xfrm>
            <a:off x="642730" y="24760"/>
            <a:ext cx="5453270" cy="400110"/>
          </a:xfrm>
          <a:prstGeom prst="rect">
            <a:avLst/>
          </a:prstGeom>
          <a:noFill/>
        </p:spPr>
        <p:txBody>
          <a:bodyPr wrap="square" rtlCol="0">
            <a:spAutoFit/>
          </a:bodyPr>
          <a:lstStyle/>
          <a:p>
            <a:r>
              <a:rPr lang="fr" sz="2000" b="1" dirty="0">
                <a:solidFill>
                  <a:srgbClr val="0070C0"/>
                </a:solidFill>
              </a:rPr>
              <a:t>Tendances de la couverture nationale</a:t>
            </a:r>
            <a:endParaRPr lang="fr-CD" sz="2000" b="1" dirty="0">
              <a:solidFill>
                <a:srgbClr val="0070C0"/>
              </a:solidFill>
            </a:endParaRPr>
          </a:p>
        </p:txBody>
      </p:sp>
      <p:sp>
        <p:nvSpPr>
          <p:cNvPr id="13" name="ZoneTexte 12">
            <a:extLst>
              <a:ext uri="{FF2B5EF4-FFF2-40B4-BE49-F238E27FC236}">
                <a16:creationId xmlns:a16="http://schemas.microsoft.com/office/drawing/2014/main" id="{E59F2844-2B5B-6D22-8B24-9BCE982850B7}"/>
              </a:ext>
            </a:extLst>
          </p:cNvPr>
          <p:cNvSpPr txBox="1"/>
          <p:nvPr/>
        </p:nvSpPr>
        <p:spPr>
          <a:xfrm>
            <a:off x="6352965" y="6241299"/>
            <a:ext cx="5453270" cy="369332"/>
          </a:xfrm>
          <a:prstGeom prst="rect">
            <a:avLst/>
          </a:prstGeom>
          <a:noFill/>
        </p:spPr>
        <p:txBody>
          <a:bodyPr wrap="square" rtlCol="0">
            <a:spAutoFit/>
          </a:bodyPr>
          <a:lstStyle/>
          <a:p>
            <a:pPr algn="ctr"/>
            <a:r>
              <a:rPr lang="fr" b="1" dirty="0"/>
              <a:t>Fig. Couverture d’abandon penta 1 à penta 3</a:t>
            </a:r>
            <a:endParaRPr lang="fr-CD" b="1" dirty="0"/>
          </a:p>
        </p:txBody>
      </p:sp>
      <p:sp>
        <p:nvSpPr>
          <p:cNvPr id="14" name="ZoneTexte 13">
            <a:extLst>
              <a:ext uri="{FF2B5EF4-FFF2-40B4-BE49-F238E27FC236}">
                <a16:creationId xmlns:a16="http://schemas.microsoft.com/office/drawing/2014/main" id="{0F776513-9505-61CB-DDE7-7FD89D299B10}"/>
              </a:ext>
            </a:extLst>
          </p:cNvPr>
          <p:cNvSpPr txBox="1"/>
          <p:nvPr/>
        </p:nvSpPr>
        <p:spPr>
          <a:xfrm>
            <a:off x="620721" y="4451409"/>
            <a:ext cx="5497287" cy="646331"/>
          </a:xfrm>
          <a:prstGeom prst="rect">
            <a:avLst/>
          </a:prstGeom>
          <a:noFill/>
        </p:spPr>
        <p:txBody>
          <a:bodyPr wrap="square" rtlCol="0">
            <a:spAutoFit/>
          </a:bodyPr>
          <a:lstStyle/>
          <a:p>
            <a:pPr algn="just"/>
            <a:r>
              <a:rPr lang="fr-FR" sz="1800" b="0" i="0" u="none" strike="noStrike" baseline="0" dirty="0">
                <a:solidFill>
                  <a:srgbClr val="FF0000"/>
                </a:solidFill>
                <a:latin typeface="Aptos" panose="020B0004020202020204" pitchFamily="34" charset="0"/>
              </a:rPr>
              <a:t>Taux d’abandon de moins de 10% de penta 1 à penta 3 selon les estimations du DHIS2</a:t>
            </a:r>
          </a:p>
        </p:txBody>
      </p:sp>
      <p:sp>
        <p:nvSpPr>
          <p:cNvPr id="15" name="ZoneTexte 14">
            <a:extLst>
              <a:ext uri="{FF2B5EF4-FFF2-40B4-BE49-F238E27FC236}">
                <a16:creationId xmlns:a16="http://schemas.microsoft.com/office/drawing/2014/main" id="{A7E1C7A2-E499-70D4-A818-F17CCE587D7A}"/>
              </a:ext>
            </a:extLst>
          </p:cNvPr>
          <p:cNvSpPr txBox="1"/>
          <p:nvPr/>
        </p:nvSpPr>
        <p:spPr>
          <a:xfrm>
            <a:off x="598713" y="5918133"/>
            <a:ext cx="5497287" cy="646331"/>
          </a:xfrm>
          <a:prstGeom prst="rect">
            <a:avLst/>
          </a:prstGeom>
          <a:noFill/>
        </p:spPr>
        <p:txBody>
          <a:bodyPr wrap="square" rtlCol="0">
            <a:spAutoFit/>
          </a:bodyPr>
          <a:lstStyle/>
          <a:p>
            <a:pPr algn="just"/>
            <a:r>
              <a:rPr lang="fr-FR" sz="1800" b="0" i="0" u="none" strike="noStrike" baseline="0" dirty="0">
                <a:solidFill>
                  <a:srgbClr val="FF0000"/>
                </a:solidFill>
                <a:latin typeface="Aptos" panose="020B0004020202020204" pitchFamily="34" charset="0"/>
              </a:rPr>
              <a:t>Aucun district n’a atteint les cibles des NU pour la couverture vaccinale Penta-3 ou rougeole</a:t>
            </a:r>
            <a:endParaRPr lang="fr-CD" dirty="0">
              <a:solidFill>
                <a:srgbClr val="FF0000"/>
              </a:solidFill>
            </a:endParaRPr>
          </a:p>
        </p:txBody>
      </p:sp>
    </p:spTree>
    <p:extLst>
      <p:ext uri="{BB962C8B-B14F-4D97-AF65-F5344CB8AC3E}">
        <p14:creationId xmlns:p14="http://schemas.microsoft.com/office/powerpoint/2010/main" val="3973375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06938F5-48B2-A7FE-F7F5-4299DC9C27BF}"/>
              </a:ext>
            </a:extLst>
          </p:cNvPr>
          <p:cNvSpPr txBox="1"/>
          <p:nvPr/>
        </p:nvSpPr>
        <p:spPr>
          <a:xfrm>
            <a:off x="39732" y="0"/>
            <a:ext cx="6997172" cy="400110"/>
          </a:xfrm>
          <a:prstGeom prst="rect">
            <a:avLst/>
          </a:prstGeom>
          <a:noFill/>
        </p:spPr>
        <p:txBody>
          <a:bodyPr wrap="square" rtlCol="0">
            <a:spAutoFit/>
          </a:bodyPr>
          <a:lstStyle/>
          <a:p>
            <a:r>
              <a:rPr lang="fr" sz="2000" b="1" dirty="0">
                <a:solidFill>
                  <a:srgbClr val="0070C0"/>
                </a:solidFill>
              </a:rPr>
              <a:t>Tendances de la couverture infranationale penta 3</a:t>
            </a:r>
            <a:endParaRPr lang="fr-CD" sz="2000" b="1" dirty="0">
              <a:solidFill>
                <a:srgbClr val="0070C0"/>
              </a:solidFill>
            </a:endParaRPr>
          </a:p>
        </p:txBody>
      </p:sp>
      <p:pic>
        <p:nvPicPr>
          <p:cNvPr id="5" name="Image 4" descr="Une image contenant carte, texte, atlas&#10;&#10;Description générée automatiquement">
            <a:extLst>
              <a:ext uri="{FF2B5EF4-FFF2-40B4-BE49-F238E27FC236}">
                <a16:creationId xmlns:a16="http://schemas.microsoft.com/office/drawing/2014/main" id="{B427D496-311F-03BE-5F66-F4DB008E601C}"/>
              </a:ext>
            </a:extLst>
          </p:cNvPr>
          <p:cNvPicPr>
            <a:picLocks noChangeAspect="1"/>
          </p:cNvPicPr>
          <p:nvPr/>
        </p:nvPicPr>
        <p:blipFill rotWithShape="1">
          <a:blip r:embed="rId3"/>
          <a:srcRect l="6186" r="9167"/>
          <a:stretch/>
        </p:blipFill>
        <p:spPr>
          <a:xfrm>
            <a:off x="0" y="586910"/>
            <a:ext cx="5047488" cy="3354154"/>
          </a:xfrm>
          <a:prstGeom prst="rect">
            <a:avLst/>
          </a:prstGeom>
        </p:spPr>
      </p:pic>
      <p:pic>
        <p:nvPicPr>
          <p:cNvPr id="6" name="Image 5">
            <a:extLst>
              <a:ext uri="{FF2B5EF4-FFF2-40B4-BE49-F238E27FC236}">
                <a16:creationId xmlns:a16="http://schemas.microsoft.com/office/drawing/2014/main" id="{018AC370-2F55-3DB7-38AC-A98464440100}"/>
              </a:ext>
            </a:extLst>
          </p:cNvPr>
          <p:cNvPicPr>
            <a:picLocks noChangeAspect="1"/>
          </p:cNvPicPr>
          <p:nvPr/>
        </p:nvPicPr>
        <p:blipFill>
          <a:blip r:embed="rId4"/>
          <a:stretch>
            <a:fillRect/>
          </a:stretch>
        </p:blipFill>
        <p:spPr>
          <a:xfrm>
            <a:off x="5047488" y="2518325"/>
            <a:ext cx="7080996" cy="3983059"/>
          </a:xfrm>
          <a:prstGeom prst="rect">
            <a:avLst/>
          </a:prstGeom>
        </p:spPr>
      </p:pic>
      <p:sp>
        <p:nvSpPr>
          <p:cNvPr id="2" name="Ellipse 1">
            <a:extLst>
              <a:ext uri="{FF2B5EF4-FFF2-40B4-BE49-F238E27FC236}">
                <a16:creationId xmlns:a16="http://schemas.microsoft.com/office/drawing/2014/main" id="{0000B83A-2E50-6063-9214-14C582E095AB}"/>
              </a:ext>
            </a:extLst>
          </p:cNvPr>
          <p:cNvSpPr/>
          <p:nvPr/>
        </p:nvSpPr>
        <p:spPr>
          <a:xfrm>
            <a:off x="5047488" y="2822714"/>
            <a:ext cx="5627138" cy="7056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Tree>
    <p:extLst>
      <p:ext uri="{BB962C8B-B14F-4D97-AF65-F5344CB8AC3E}">
        <p14:creationId xmlns:p14="http://schemas.microsoft.com/office/powerpoint/2010/main" val="1499043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06938F5-48B2-A7FE-F7F5-4299DC9C27BF}"/>
              </a:ext>
            </a:extLst>
          </p:cNvPr>
          <p:cNvSpPr txBox="1"/>
          <p:nvPr/>
        </p:nvSpPr>
        <p:spPr>
          <a:xfrm>
            <a:off x="110035" y="0"/>
            <a:ext cx="6888442" cy="400110"/>
          </a:xfrm>
          <a:prstGeom prst="rect">
            <a:avLst/>
          </a:prstGeom>
          <a:noFill/>
        </p:spPr>
        <p:txBody>
          <a:bodyPr wrap="square" rtlCol="0">
            <a:spAutoFit/>
          </a:bodyPr>
          <a:lstStyle/>
          <a:p>
            <a:r>
              <a:rPr lang="fr" sz="2000" b="1" dirty="0">
                <a:solidFill>
                  <a:srgbClr val="0070C0"/>
                </a:solidFill>
              </a:rPr>
              <a:t>Tendances de la couverture infranationale VAR1</a:t>
            </a:r>
            <a:endParaRPr lang="fr-CD" sz="2000" b="1" dirty="0">
              <a:solidFill>
                <a:srgbClr val="0070C0"/>
              </a:solidFill>
            </a:endParaRPr>
          </a:p>
        </p:txBody>
      </p:sp>
      <p:pic>
        <p:nvPicPr>
          <p:cNvPr id="2" name="Image 1" descr="Une image contenant carte, texte, atlas&#10;&#10;Description générée automatiquement">
            <a:extLst>
              <a:ext uri="{FF2B5EF4-FFF2-40B4-BE49-F238E27FC236}">
                <a16:creationId xmlns:a16="http://schemas.microsoft.com/office/drawing/2014/main" id="{346EE4A0-C27D-57FE-D860-F85A65D115F4}"/>
              </a:ext>
            </a:extLst>
          </p:cNvPr>
          <p:cNvPicPr>
            <a:picLocks noChangeAspect="1"/>
          </p:cNvPicPr>
          <p:nvPr/>
        </p:nvPicPr>
        <p:blipFill rotWithShape="1">
          <a:blip r:embed="rId2"/>
          <a:srcRect l="6388" r="8704"/>
          <a:stretch/>
        </p:blipFill>
        <p:spPr>
          <a:xfrm>
            <a:off x="110035" y="1038176"/>
            <a:ext cx="5111189" cy="3386040"/>
          </a:xfrm>
          <a:prstGeom prst="rect">
            <a:avLst/>
          </a:prstGeom>
        </p:spPr>
      </p:pic>
      <p:pic>
        <p:nvPicPr>
          <p:cNvPr id="3" name="Image 2" descr="Une image contenant texte, diagramme, capture d’écran, ligne&#10;&#10;Description générée automatiquement">
            <a:extLst>
              <a:ext uri="{FF2B5EF4-FFF2-40B4-BE49-F238E27FC236}">
                <a16:creationId xmlns:a16="http://schemas.microsoft.com/office/drawing/2014/main" id="{BA31F97B-55A2-4AAC-A2C5-26047BB54F57}"/>
              </a:ext>
            </a:extLst>
          </p:cNvPr>
          <p:cNvPicPr>
            <a:picLocks noChangeAspect="1"/>
          </p:cNvPicPr>
          <p:nvPr/>
        </p:nvPicPr>
        <p:blipFill>
          <a:blip r:embed="rId3"/>
          <a:stretch>
            <a:fillRect/>
          </a:stretch>
        </p:blipFill>
        <p:spPr>
          <a:xfrm>
            <a:off x="5221224" y="2624410"/>
            <a:ext cx="6888442" cy="3874748"/>
          </a:xfrm>
          <a:prstGeom prst="rect">
            <a:avLst/>
          </a:prstGeom>
        </p:spPr>
      </p:pic>
      <p:sp>
        <p:nvSpPr>
          <p:cNvPr id="7" name="Ellipse 6">
            <a:extLst>
              <a:ext uri="{FF2B5EF4-FFF2-40B4-BE49-F238E27FC236}">
                <a16:creationId xmlns:a16="http://schemas.microsoft.com/office/drawing/2014/main" id="{09FB9A47-B20F-581B-9911-E1731C3F9C75}"/>
              </a:ext>
            </a:extLst>
          </p:cNvPr>
          <p:cNvSpPr/>
          <p:nvPr/>
        </p:nvSpPr>
        <p:spPr>
          <a:xfrm>
            <a:off x="5794248" y="3054096"/>
            <a:ext cx="301752" cy="310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
        <p:nvSpPr>
          <p:cNvPr id="8" name="Ellipse 7">
            <a:extLst>
              <a:ext uri="{FF2B5EF4-FFF2-40B4-BE49-F238E27FC236}">
                <a16:creationId xmlns:a16="http://schemas.microsoft.com/office/drawing/2014/main" id="{A31D5ADF-95C5-D634-33A2-C069B8F035DF}"/>
              </a:ext>
            </a:extLst>
          </p:cNvPr>
          <p:cNvSpPr/>
          <p:nvPr/>
        </p:nvSpPr>
        <p:spPr>
          <a:xfrm>
            <a:off x="10079736" y="3041904"/>
            <a:ext cx="301752" cy="310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D"/>
          </a:p>
        </p:txBody>
      </p:sp>
    </p:spTree>
    <p:extLst>
      <p:ext uri="{BB962C8B-B14F-4D97-AF65-F5344CB8AC3E}">
        <p14:creationId xmlns:p14="http://schemas.microsoft.com/office/powerpoint/2010/main" val="1744532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6741849" cy="589788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Une image contenant texte, capture d’écran, diagramme, ligne&#10;&#10;Description générée automatiquement">
            <a:extLst>
              <a:ext uri="{FF2B5EF4-FFF2-40B4-BE49-F238E27FC236}">
                <a16:creationId xmlns:a16="http://schemas.microsoft.com/office/drawing/2014/main" id="{8F3FE0A2-8D84-94B5-8EC4-BACBCA0A7E7F}"/>
              </a:ext>
            </a:extLst>
          </p:cNvPr>
          <p:cNvPicPr>
            <a:picLocks noChangeAspect="1"/>
          </p:cNvPicPr>
          <p:nvPr/>
        </p:nvPicPr>
        <p:blipFill>
          <a:blip r:embed="rId3"/>
          <a:stretch>
            <a:fillRect/>
          </a:stretch>
        </p:blipFill>
        <p:spPr>
          <a:xfrm>
            <a:off x="562286" y="1368922"/>
            <a:ext cx="6410084" cy="3605671"/>
          </a:xfrm>
          <a:prstGeom prst="rect">
            <a:avLst/>
          </a:prstGeom>
        </p:spPr>
      </p:pic>
      <p:sp>
        <p:nvSpPr>
          <p:cNvPr id="18" name="Rectangle 17">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48006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diagramme, ligne&#10;&#10;Description générée automatiquement">
            <a:extLst>
              <a:ext uri="{FF2B5EF4-FFF2-40B4-BE49-F238E27FC236}">
                <a16:creationId xmlns:a16="http://schemas.microsoft.com/office/drawing/2014/main" id="{4D64E2E8-8109-AE3E-A1A9-2E2935F23D03}"/>
              </a:ext>
            </a:extLst>
          </p:cNvPr>
          <p:cNvPicPr>
            <a:picLocks noChangeAspect="1"/>
          </p:cNvPicPr>
          <p:nvPr/>
        </p:nvPicPr>
        <p:blipFill>
          <a:blip r:embed="rId4"/>
          <a:stretch>
            <a:fillRect/>
          </a:stretch>
        </p:blipFill>
        <p:spPr>
          <a:xfrm>
            <a:off x="7695873" y="797090"/>
            <a:ext cx="3854945" cy="2168406"/>
          </a:xfrm>
          <a:prstGeom prst="rect">
            <a:avLst/>
          </a:prstGeom>
        </p:spPr>
      </p:pic>
      <p:sp>
        <p:nvSpPr>
          <p:cNvPr id="20" name="Rectangle 19">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60367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descr="Une image contenant texte, capture d’écran, diagramme, ligne&#10;&#10;Description générée automatiquement">
            <a:extLst>
              <a:ext uri="{FF2B5EF4-FFF2-40B4-BE49-F238E27FC236}">
                <a16:creationId xmlns:a16="http://schemas.microsoft.com/office/drawing/2014/main" id="{FD6946B0-E155-65C0-7D2C-C224825B0DF4}"/>
              </a:ext>
            </a:extLst>
          </p:cNvPr>
          <p:cNvPicPr>
            <a:picLocks noChangeAspect="1"/>
          </p:cNvPicPr>
          <p:nvPr/>
        </p:nvPicPr>
        <p:blipFill>
          <a:blip r:embed="rId5"/>
          <a:stretch>
            <a:fillRect/>
          </a:stretch>
        </p:blipFill>
        <p:spPr>
          <a:xfrm>
            <a:off x="7695873" y="3899806"/>
            <a:ext cx="3854945" cy="2168406"/>
          </a:xfrm>
          <a:prstGeom prst="rect">
            <a:avLst/>
          </a:prstGeom>
        </p:spPr>
      </p:pic>
      <p:sp>
        <p:nvSpPr>
          <p:cNvPr id="10" name="ZoneTexte 9">
            <a:extLst>
              <a:ext uri="{FF2B5EF4-FFF2-40B4-BE49-F238E27FC236}">
                <a16:creationId xmlns:a16="http://schemas.microsoft.com/office/drawing/2014/main" id="{B4E7F3B9-2BA9-4965-4B37-AAA9E47E866A}"/>
              </a:ext>
            </a:extLst>
          </p:cNvPr>
          <p:cNvSpPr txBox="1"/>
          <p:nvPr/>
        </p:nvSpPr>
        <p:spPr>
          <a:xfrm>
            <a:off x="642730" y="117049"/>
            <a:ext cx="5453270" cy="400110"/>
          </a:xfrm>
          <a:prstGeom prst="rect">
            <a:avLst/>
          </a:prstGeom>
          <a:noFill/>
        </p:spPr>
        <p:txBody>
          <a:bodyPr wrap="square" rtlCol="0">
            <a:spAutoFit/>
          </a:bodyPr>
          <a:lstStyle/>
          <a:p>
            <a:r>
              <a:rPr lang="fr" sz="2000" b="1" dirty="0">
                <a:solidFill>
                  <a:srgbClr val="0070C0"/>
                </a:solidFill>
              </a:rPr>
              <a:t>Analyses d’équité: couverture penta 3</a:t>
            </a:r>
            <a:endParaRPr lang="fr-CD" sz="2000" b="1" dirty="0">
              <a:solidFill>
                <a:srgbClr val="0070C0"/>
              </a:solidFill>
            </a:endParaRPr>
          </a:p>
        </p:txBody>
      </p:sp>
      <p:sp>
        <p:nvSpPr>
          <p:cNvPr id="11" name="ZoneTexte 10">
            <a:extLst>
              <a:ext uri="{FF2B5EF4-FFF2-40B4-BE49-F238E27FC236}">
                <a16:creationId xmlns:a16="http://schemas.microsoft.com/office/drawing/2014/main" id="{1FEC8335-9F4F-D395-734E-E6B48AA2DE5D}"/>
              </a:ext>
            </a:extLst>
          </p:cNvPr>
          <p:cNvSpPr txBox="1"/>
          <p:nvPr/>
        </p:nvSpPr>
        <p:spPr>
          <a:xfrm>
            <a:off x="641182" y="5079617"/>
            <a:ext cx="6416462" cy="1200329"/>
          </a:xfrm>
          <a:prstGeom prst="rect">
            <a:avLst/>
          </a:prstGeom>
          <a:noFill/>
        </p:spPr>
        <p:txBody>
          <a:bodyPr wrap="square" rtlCol="0">
            <a:spAutoFit/>
          </a:bodyPr>
          <a:lstStyle/>
          <a:p>
            <a:pPr marL="285750" indent="-285750" algn="just">
              <a:buFont typeface="Courier New" panose="02070309020205020404" pitchFamily="49" charset="0"/>
              <a:buChar char="o"/>
            </a:pPr>
            <a:r>
              <a:rPr lang="fr-FR" sz="1800" b="0" i="0" u="none" strike="noStrike" baseline="0" dirty="0">
                <a:solidFill>
                  <a:srgbClr val="FF0000"/>
                </a:solidFill>
                <a:latin typeface="Aptos" panose="020B0004020202020204" pitchFamily="34" charset="0"/>
              </a:rPr>
              <a:t>Persistance de l’inégalité supérieure suivant la couverture du penta 3 en rapport avec le niveau d’éducation de la mère.</a:t>
            </a:r>
            <a:endParaRPr lang="fr-FR" dirty="0">
              <a:solidFill>
                <a:srgbClr val="FF0000"/>
              </a:solidFill>
              <a:latin typeface="Aptos" panose="020B0004020202020204" pitchFamily="34" charset="0"/>
            </a:endParaRPr>
          </a:p>
          <a:p>
            <a:pPr marL="285750" indent="-285750" algn="just">
              <a:buFont typeface="Courier New" panose="02070309020205020404" pitchFamily="49" charset="0"/>
              <a:buChar char="o"/>
            </a:pPr>
            <a:r>
              <a:rPr lang="fr-FR" dirty="0">
                <a:solidFill>
                  <a:srgbClr val="FF0000"/>
                </a:solidFill>
                <a:latin typeface="Aptos" panose="020B0004020202020204" pitchFamily="34" charset="0"/>
              </a:rPr>
              <a:t>Forte inégalité supérieure entre les riches (78%) et pauvres (30%) au fils des années</a:t>
            </a:r>
            <a:endParaRPr lang="fr-CD" dirty="0">
              <a:solidFill>
                <a:srgbClr val="FF0000"/>
              </a:solidFill>
            </a:endParaRPr>
          </a:p>
        </p:txBody>
      </p:sp>
    </p:spTree>
    <p:extLst>
      <p:ext uri="{BB962C8B-B14F-4D97-AF65-F5344CB8AC3E}">
        <p14:creationId xmlns:p14="http://schemas.microsoft.com/office/powerpoint/2010/main" val="3895457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6741849" cy="589788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48006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Une image contenant texte, capture d’écran, diagramme, ligne&#10;&#10;Description générée automatiquement">
            <a:extLst>
              <a:ext uri="{FF2B5EF4-FFF2-40B4-BE49-F238E27FC236}">
                <a16:creationId xmlns:a16="http://schemas.microsoft.com/office/drawing/2014/main" id="{8E7A4C31-AFC5-ACC9-3C93-1FB159DD632A}"/>
              </a:ext>
            </a:extLst>
          </p:cNvPr>
          <p:cNvPicPr>
            <a:picLocks noChangeAspect="1"/>
          </p:cNvPicPr>
          <p:nvPr/>
        </p:nvPicPr>
        <p:blipFill>
          <a:blip r:embed="rId3"/>
          <a:stretch>
            <a:fillRect/>
          </a:stretch>
        </p:blipFill>
        <p:spPr>
          <a:xfrm>
            <a:off x="7695873" y="797090"/>
            <a:ext cx="3854945" cy="2168406"/>
          </a:xfrm>
          <a:prstGeom prst="rect">
            <a:avLst/>
          </a:prstGeom>
        </p:spPr>
      </p:pic>
      <p:sp>
        <p:nvSpPr>
          <p:cNvPr id="22" name="Rectangle 21">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60367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descr="Une image contenant texte, capture d’écran, diagramme, ligne&#10;&#10;Description générée automatiquement">
            <a:extLst>
              <a:ext uri="{FF2B5EF4-FFF2-40B4-BE49-F238E27FC236}">
                <a16:creationId xmlns:a16="http://schemas.microsoft.com/office/drawing/2014/main" id="{BEB2133F-8B79-11DD-04DF-F34211B3D10B}"/>
              </a:ext>
            </a:extLst>
          </p:cNvPr>
          <p:cNvPicPr>
            <a:picLocks noChangeAspect="1"/>
          </p:cNvPicPr>
          <p:nvPr/>
        </p:nvPicPr>
        <p:blipFill>
          <a:blip r:embed="rId4"/>
          <a:stretch>
            <a:fillRect/>
          </a:stretch>
        </p:blipFill>
        <p:spPr>
          <a:xfrm>
            <a:off x="924053" y="1964225"/>
            <a:ext cx="5829138" cy="3278889"/>
          </a:xfrm>
          <a:prstGeom prst="rect">
            <a:avLst/>
          </a:prstGeom>
        </p:spPr>
      </p:pic>
      <p:sp>
        <p:nvSpPr>
          <p:cNvPr id="12" name="ZoneTexte 11">
            <a:extLst>
              <a:ext uri="{FF2B5EF4-FFF2-40B4-BE49-F238E27FC236}">
                <a16:creationId xmlns:a16="http://schemas.microsoft.com/office/drawing/2014/main" id="{AA5F706D-7E41-C0F8-E46A-8A94343A627B}"/>
              </a:ext>
            </a:extLst>
          </p:cNvPr>
          <p:cNvSpPr txBox="1"/>
          <p:nvPr/>
        </p:nvSpPr>
        <p:spPr>
          <a:xfrm>
            <a:off x="642730" y="117049"/>
            <a:ext cx="5453270" cy="400110"/>
          </a:xfrm>
          <a:prstGeom prst="rect">
            <a:avLst/>
          </a:prstGeom>
          <a:noFill/>
        </p:spPr>
        <p:txBody>
          <a:bodyPr wrap="square" rtlCol="0">
            <a:spAutoFit/>
          </a:bodyPr>
          <a:lstStyle/>
          <a:p>
            <a:r>
              <a:rPr lang="fr" sz="2000" b="1" dirty="0">
                <a:solidFill>
                  <a:srgbClr val="0070C0"/>
                </a:solidFill>
              </a:rPr>
              <a:t>Analyses d’équité: couverture VAR1</a:t>
            </a:r>
            <a:endParaRPr lang="fr-CD" sz="2000" b="1" dirty="0">
              <a:solidFill>
                <a:srgbClr val="0070C0"/>
              </a:solidFill>
            </a:endParaRPr>
          </a:p>
        </p:txBody>
      </p:sp>
      <p:pic>
        <p:nvPicPr>
          <p:cNvPr id="5" name="Image 4" descr="Une image contenant texte, capture d’écran, diagramme, ligne&#10;&#10;Description générée automatiquement">
            <a:extLst>
              <a:ext uri="{FF2B5EF4-FFF2-40B4-BE49-F238E27FC236}">
                <a16:creationId xmlns:a16="http://schemas.microsoft.com/office/drawing/2014/main" id="{A5DD7EF8-D5BF-8F28-49BF-190CB5BC565B}"/>
              </a:ext>
            </a:extLst>
          </p:cNvPr>
          <p:cNvPicPr>
            <a:picLocks noChangeAspect="1"/>
          </p:cNvPicPr>
          <p:nvPr/>
        </p:nvPicPr>
        <p:blipFill>
          <a:blip r:embed="rId5"/>
          <a:stretch>
            <a:fillRect/>
          </a:stretch>
        </p:blipFill>
        <p:spPr>
          <a:xfrm>
            <a:off x="7600854" y="3860056"/>
            <a:ext cx="4044982" cy="2275302"/>
          </a:xfrm>
          <a:prstGeom prst="rect">
            <a:avLst/>
          </a:prstGeom>
        </p:spPr>
      </p:pic>
    </p:spTree>
    <p:extLst>
      <p:ext uri="{BB962C8B-B14F-4D97-AF65-F5344CB8AC3E}">
        <p14:creationId xmlns:p14="http://schemas.microsoft.com/office/powerpoint/2010/main" val="2692747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A191662-9590-15E7-C448-03AD306C76D2}"/>
              </a:ext>
            </a:extLst>
          </p:cNvPr>
          <p:cNvSpPr>
            <a:spLocks noGrp="1"/>
          </p:cNvSpPr>
          <p:nvPr>
            <p:ph idx="1"/>
          </p:nvPr>
        </p:nvSpPr>
        <p:spPr>
          <a:xfrm>
            <a:off x="838200" y="1036983"/>
            <a:ext cx="10515600" cy="5632174"/>
          </a:xfrm>
        </p:spPr>
        <p:txBody>
          <a:bodyPr>
            <a:normAutofit/>
          </a:bodyPr>
          <a:lstStyle/>
          <a:p>
            <a:pPr>
              <a:lnSpc>
                <a:spcPct val="150000"/>
              </a:lnSpc>
            </a:pPr>
            <a:r>
              <a:rPr lang="fr-FR" dirty="0">
                <a:latin typeface="Garamond" panose="02020404030301010803" pitchFamily="18" charset="0"/>
              </a:rPr>
              <a:t>Nous encourageons l’utilisation des données de DHIS2 tout en recommandant de renforcer la qualité de l’encodage et mettre en place des mécanismes de validation et de vérification régulière (triangulation avec registre, rapports mensuels, supervision formative) pour détecter et corriger les erreurs de l’encodage</a:t>
            </a:r>
          </a:p>
          <a:p>
            <a:pPr>
              <a:lnSpc>
                <a:spcPct val="150000"/>
              </a:lnSpc>
            </a:pPr>
            <a:r>
              <a:rPr lang="fr-FR" dirty="0">
                <a:latin typeface="Garamond" panose="02020404030301010803" pitchFamily="18" charset="0"/>
              </a:rPr>
              <a:t>Standardiser le processus de saisie et de rapportage</a:t>
            </a:r>
          </a:p>
          <a:p>
            <a:pPr>
              <a:lnSpc>
                <a:spcPct val="150000"/>
              </a:lnSpc>
            </a:pPr>
            <a:r>
              <a:rPr lang="fr-FR">
                <a:latin typeface="Garamond" panose="02020404030301010803" pitchFamily="18" charset="0"/>
              </a:rPr>
              <a:t>Institutionaliser </a:t>
            </a:r>
            <a:r>
              <a:rPr lang="fr-FR" dirty="0">
                <a:latin typeface="Garamond" panose="02020404030301010803" pitchFamily="18" charset="0"/>
              </a:rPr>
              <a:t>des mécanismes de supervision formative centré sur la qualité des données, incluant les visites régulières dans les ZS</a:t>
            </a:r>
          </a:p>
        </p:txBody>
      </p:sp>
      <p:sp>
        <p:nvSpPr>
          <p:cNvPr id="2" name="ZoneTexte 1">
            <a:extLst>
              <a:ext uri="{FF2B5EF4-FFF2-40B4-BE49-F238E27FC236}">
                <a16:creationId xmlns:a16="http://schemas.microsoft.com/office/drawing/2014/main" id="{8F960699-AC44-5CAC-34FB-DFEEC2D3744A}"/>
              </a:ext>
            </a:extLst>
          </p:cNvPr>
          <p:cNvSpPr txBox="1"/>
          <p:nvPr/>
        </p:nvSpPr>
        <p:spPr>
          <a:xfrm>
            <a:off x="838200" y="445041"/>
            <a:ext cx="5453270" cy="400110"/>
          </a:xfrm>
          <a:prstGeom prst="rect">
            <a:avLst/>
          </a:prstGeom>
          <a:noFill/>
        </p:spPr>
        <p:txBody>
          <a:bodyPr wrap="square" rtlCol="0">
            <a:spAutoFit/>
          </a:bodyPr>
          <a:lstStyle/>
          <a:p>
            <a:r>
              <a:rPr lang="fr" sz="2000" b="1" dirty="0">
                <a:solidFill>
                  <a:srgbClr val="0070C0"/>
                </a:solidFill>
              </a:rPr>
              <a:t>CONCLUSION ET RECOMMANDATION</a:t>
            </a:r>
            <a:endParaRPr lang="fr-CD" sz="2000" b="1" dirty="0">
              <a:solidFill>
                <a:srgbClr val="0070C0"/>
              </a:solidFill>
            </a:endParaRPr>
          </a:p>
        </p:txBody>
      </p:sp>
    </p:spTree>
    <p:extLst>
      <p:ext uri="{BB962C8B-B14F-4D97-AF65-F5344CB8AC3E}">
        <p14:creationId xmlns:p14="http://schemas.microsoft.com/office/powerpoint/2010/main" val="75785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5D7B29F-DE8A-E03E-EECA-0DBD4D5C8A44}"/>
              </a:ext>
            </a:extLst>
          </p:cNvPr>
          <p:cNvSpPr>
            <a:spLocks noGrp="1"/>
          </p:cNvSpPr>
          <p:nvPr>
            <p:ph idx="1"/>
          </p:nvPr>
        </p:nvSpPr>
        <p:spPr/>
        <p:txBody>
          <a:bodyPr>
            <a:normAutofit fontScale="85000" lnSpcReduction="10000"/>
          </a:bodyPr>
          <a:lstStyle/>
          <a:p>
            <a:pPr marL="0" indent="0" algn="ctr">
              <a:buNone/>
            </a:pPr>
            <a:r>
              <a:rPr lang="fr-FR" sz="31800" b="1" dirty="0"/>
              <a:t>MERCI</a:t>
            </a:r>
            <a:endParaRPr lang="fr-CD" sz="31800" b="1" dirty="0"/>
          </a:p>
        </p:txBody>
      </p:sp>
    </p:spTree>
    <p:extLst>
      <p:ext uri="{BB962C8B-B14F-4D97-AF65-F5344CB8AC3E}">
        <p14:creationId xmlns:p14="http://schemas.microsoft.com/office/powerpoint/2010/main" val="1024622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2284</TotalTime>
  <Words>1412</Words>
  <Application>Microsoft Office PowerPoint</Application>
  <PresentationFormat>Grand écran</PresentationFormat>
  <Paragraphs>149</Paragraphs>
  <Slides>20</Slides>
  <Notes>14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20</vt:i4>
      </vt:variant>
    </vt:vector>
  </HeadingPairs>
  <TitlesOfParts>
    <vt:vector size="29" baseType="lpstr">
      <vt:lpstr>Aptos</vt:lpstr>
      <vt:lpstr>Aptos Display</vt:lpstr>
      <vt:lpstr>Arial</vt:lpstr>
      <vt:lpstr>Calibri</vt:lpstr>
      <vt:lpstr>Courier New</vt:lpstr>
      <vt:lpstr>Garamond</vt:lpstr>
      <vt:lpstr>Source Sans Pro</vt:lpstr>
      <vt:lpstr>Wingdings</vt:lpstr>
      <vt:lpstr>Office Theme</vt:lpstr>
      <vt:lpstr>Présentation PowerPoint</vt:lpstr>
      <vt:lpstr>Contexte</vt:lpstr>
      <vt:lpstr>Données: extraction de données mensuelles par ZS dans le DHIS2 2019 à 2024</vt:lpstr>
      <vt:lpstr>Présentation PowerPoint</vt:lpstr>
      <vt:lpstr>Présentation PowerPoint</vt:lpstr>
      <vt:lpstr>Étapes méthodologiques</vt:lpstr>
      <vt:lpstr>Ajustements des valeurs aberrantes extrêmes</vt:lpstr>
      <vt:lpstr>Évaluation de la qualité DHIS-2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Donal Bisanzio</dc:creator>
  <cp:lastModifiedBy>Francis Kabasubabo_Kabengele</cp:lastModifiedBy>
  <cp:revision>165</cp:revision>
  <dcterms:created xsi:type="dcterms:W3CDTF">2025-09-08T12:10:09Z</dcterms:created>
  <dcterms:modified xsi:type="dcterms:W3CDTF">2025-12-15T14:51:51Z</dcterms:modified>
</cp:coreProperties>
</file>