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5"/>
  </p:notesMasterIdLst>
  <p:handoutMasterIdLst>
    <p:handoutMasterId r:id="rId26"/>
  </p:handoutMasterIdLst>
  <p:sldIdLst>
    <p:sldId id="257" r:id="rId3"/>
    <p:sldId id="258" r:id="rId4"/>
    <p:sldId id="371" r:id="rId5"/>
    <p:sldId id="4241" r:id="rId6"/>
    <p:sldId id="2147476761" r:id="rId7"/>
    <p:sldId id="270" r:id="rId8"/>
    <p:sldId id="2147476763" r:id="rId9"/>
    <p:sldId id="271" r:id="rId10"/>
    <p:sldId id="2147476768" r:id="rId11"/>
    <p:sldId id="2147476764" r:id="rId12"/>
    <p:sldId id="2147476762" r:id="rId13"/>
    <p:sldId id="272" r:id="rId14"/>
    <p:sldId id="2147476773" r:id="rId15"/>
    <p:sldId id="2147476774" r:id="rId16"/>
    <p:sldId id="2147476771" r:id="rId17"/>
    <p:sldId id="263" r:id="rId18"/>
    <p:sldId id="2147476772" r:id="rId19"/>
    <p:sldId id="265" r:id="rId20"/>
    <p:sldId id="274" r:id="rId21"/>
    <p:sldId id="2147476767" r:id="rId22"/>
    <p:sldId id="269" r:id="rId23"/>
    <p:sldId id="267" r:id="rId24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66"/>
    <a:srgbClr val="CCCCFF"/>
    <a:srgbClr val="99FF66"/>
    <a:srgbClr val="CC3300"/>
    <a:srgbClr val="FF9999"/>
    <a:srgbClr val="66FFFF"/>
    <a:srgbClr val="FFCCFF"/>
    <a:srgbClr val="99FFC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59"/>
        <p:guide pos="38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handoutMaster" Target="handoutMasters/handoutMaster1.xml" /><Relationship Id="rId3" Type="http://schemas.openxmlformats.org/officeDocument/2006/relationships/slide" Target="slides/slide1.xml" /><Relationship Id="rId21" Type="http://schemas.openxmlformats.org/officeDocument/2006/relationships/slide" Target="slides/slide19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notesMaster" Target="notesMasters/notesMaster1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slide" Target="slides/slide18.xml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slide" Target="slides/slide22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slide" Target="slides/slide21.xml" /><Relationship Id="rId28" Type="http://schemas.openxmlformats.org/officeDocument/2006/relationships/viewProps" Target="viewProps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d3d1b2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5" name="Google Shape;145;g3aabd3d1b2d_0_149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d3d1b2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4" name="Google Shape;154;g3aabd3d1b2d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/>
              <a:t>VillageReach a </a:t>
            </a:r>
            <a:r>
              <a:rPr lang="en-US" sz="1200" baseline="0" err="1"/>
              <a:t>été</a:t>
            </a:r>
            <a:r>
              <a:rPr lang="en-US" sz="1200" baseline="0"/>
              <a:t> </a:t>
            </a:r>
            <a:r>
              <a:rPr lang="en-US" sz="1200" baseline="0" err="1"/>
              <a:t>fondé</a:t>
            </a:r>
            <a:r>
              <a:rPr lang="en-US" sz="1200" baseline="0"/>
              <a:t> en 2000 par </a:t>
            </a:r>
            <a:r>
              <a:rPr lang="fr-FR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Blaise </a:t>
            </a:r>
            <a:r>
              <a:rPr lang="fr-FR" sz="1200" b="1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Judja</a:t>
            </a:r>
            <a:r>
              <a:rPr lang="fr-FR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-Sato, </a:t>
            </a:r>
            <a:r>
              <a:rPr lang="fr-FR" sz="1200" b="1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Americain</a:t>
            </a:r>
            <a:r>
              <a:rPr lang="fr-FR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d’ origine Camerounaise, à la suite des effets dévastateurs du cyclone Eline au Mozambique, détruisant plusieurs infrastructures empêchant l’accès aux services de santé essentiel. A ce jour, VillageReach est présente et/ou </a:t>
            </a:r>
            <a:r>
              <a:rPr lang="en-US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à </a:t>
            </a:r>
            <a:r>
              <a:rPr lang="en-US" sz="1200" b="1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mener</a:t>
            </a:r>
            <a:r>
              <a:rPr lang="en-US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des actions dans plus de 15 pays, </a:t>
            </a:r>
            <a:r>
              <a:rPr lang="en-US" sz="1200" b="1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dont</a:t>
            </a:r>
            <a:r>
              <a:rPr lang="en-US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la </a:t>
            </a:r>
            <a:r>
              <a:rPr lang="en-US" sz="1200" b="1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majorité</a:t>
            </a:r>
            <a:r>
              <a:rPr lang="en-US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b="1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sont</a:t>
            </a:r>
            <a:r>
              <a:rPr lang="en-US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les pays </a:t>
            </a:r>
            <a:r>
              <a:rPr lang="en-US" sz="1200" b="1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africains</a:t>
            </a:r>
            <a:r>
              <a:rPr lang="en-US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88BA1B-CCBF-44C2-B4AD-3B270B1184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5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/>
              <a:t>VillageReach a commence des </a:t>
            </a:r>
            <a:r>
              <a:rPr lang="en-US" sz="1200" baseline="0" err="1"/>
              <a:t>activités</a:t>
            </a:r>
            <a:r>
              <a:rPr lang="en-US" sz="1200" baseline="0"/>
              <a:t> en RDC en 2015, </a:t>
            </a:r>
            <a:r>
              <a:rPr lang="en-US" sz="1200" baseline="0" err="1"/>
              <a:t>initialement</a:t>
            </a:r>
            <a:r>
              <a:rPr lang="en-US" sz="1200" baseline="0"/>
              <a:t> en </a:t>
            </a:r>
            <a:r>
              <a:rPr lang="en-US" sz="1200" baseline="0" err="1"/>
              <a:t>menant</a:t>
            </a:r>
            <a:r>
              <a:rPr lang="en-US" sz="1200" baseline="0"/>
              <a:t> un evaluation de la </a:t>
            </a:r>
            <a:r>
              <a:rPr lang="en-US" sz="1200" baseline="0" err="1"/>
              <a:t>chaine</a:t>
            </a:r>
            <a:r>
              <a:rPr lang="en-US" sz="1200" baseline="0"/>
              <a:t> </a:t>
            </a:r>
            <a:r>
              <a:rPr lang="en-US" sz="1200" baseline="0" err="1"/>
              <a:t>d’approvisionnement</a:t>
            </a:r>
            <a:r>
              <a:rPr lang="en-US" sz="1200" baseline="0"/>
              <a:t> des medicaments dans l’ Equateur et la </a:t>
            </a:r>
            <a:r>
              <a:rPr lang="en-US" sz="1200" baseline="0" err="1"/>
              <a:t>Tshuapa</a:t>
            </a:r>
            <a:r>
              <a:rPr lang="en-US" sz="1200" baseline="0"/>
              <a:t>; </a:t>
            </a:r>
            <a:r>
              <a:rPr lang="en-US" sz="1200" baseline="0" err="1"/>
              <a:t>resultats</a:t>
            </a:r>
            <a:r>
              <a:rPr lang="en-US" sz="1200" baseline="0"/>
              <a:t> qui a </a:t>
            </a:r>
            <a:r>
              <a:rPr lang="en-US" sz="1200" baseline="0" err="1"/>
              <a:t>engendré</a:t>
            </a:r>
            <a:r>
              <a:rPr lang="en-US" sz="1200" baseline="0"/>
              <a:t> l’ </a:t>
            </a:r>
            <a:r>
              <a:rPr lang="en-US" sz="1200" baseline="0" err="1"/>
              <a:t>approche</a:t>
            </a:r>
            <a:r>
              <a:rPr lang="en-US" sz="1200" baseline="0"/>
              <a:t> de la nouvelle generation de la </a:t>
            </a:r>
            <a:r>
              <a:rPr lang="en-US" sz="1200" baseline="0" err="1"/>
              <a:t>chaine</a:t>
            </a:r>
            <a:r>
              <a:rPr lang="en-US" sz="1200" baseline="0"/>
              <a:t> </a:t>
            </a:r>
            <a:r>
              <a:rPr lang="en-US" sz="1200" baseline="0" err="1"/>
              <a:t>d’approvisionnement</a:t>
            </a:r>
            <a:r>
              <a:rPr lang="en-US" sz="1200" baseline="0"/>
              <a:t>  (NGCA). Cette </a:t>
            </a:r>
            <a:r>
              <a:rPr lang="en-US" sz="1200" baseline="0" err="1"/>
              <a:t>année</a:t>
            </a:r>
            <a:r>
              <a:rPr lang="en-US" sz="1200" baseline="0"/>
              <a:t> marque 10 </a:t>
            </a:r>
            <a:r>
              <a:rPr lang="en-US" sz="1200" baseline="0" err="1"/>
              <a:t>ans</a:t>
            </a:r>
            <a:r>
              <a:rPr lang="en-US" sz="1200" baseline="0"/>
              <a:t> de </a:t>
            </a:r>
            <a:r>
              <a:rPr lang="en-US" sz="1200" baseline="0" err="1"/>
              <a:t>progrès</a:t>
            </a:r>
            <a:r>
              <a:rPr lang="en-US" sz="1200" baseline="0"/>
              <a:t> en RDC.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L'approche de la nouvelle génération de la chaîne d'approvisionnement prend forme avec la 1</a:t>
            </a:r>
            <a:r>
              <a:rPr lang="fr-FR" sz="1200" b="1" baseline="30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ère</a:t>
            </a:r>
            <a:r>
              <a:rPr lang="fr-FR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distribution directe à l’ Equateur  en 2017.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VillageReach a reçu son statut </a:t>
            </a:r>
            <a:r>
              <a:rPr lang="fr-FR" sz="1200" b="1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legal</a:t>
            </a:r>
            <a:r>
              <a:rPr lang="fr-FR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en RDC en 2018 comme ASBL, sous </a:t>
            </a:r>
            <a:r>
              <a:rPr lang="fr-FR" sz="1200" b="1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tutele</a:t>
            </a:r>
            <a:r>
              <a:rPr lang="fr-FR" sz="12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du Ministère de la Santé</a:t>
            </a:r>
            <a:endParaRPr lang="en-US" sz="12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88BA1B-CCBF-44C2-B4AD-3B270B118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06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09665-48E1-16A5-D635-D677A0686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69C37-612D-22EB-3DAE-4A94F515D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193B4-6CD8-8436-D39A-CD4AB5C30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37A5B-1589-4DA0-9DF1-50DCB589B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88BA1B-CCBF-44C2-B4AD-3B270B1184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1934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d3d1b2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4" name="Google Shape;174;g3aabd3d1b2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DFFEC52A-D43A-1C92-9B54-068F1556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d3d1b2d_0_290:notes">
            <a:extLst>
              <a:ext uri="{FF2B5EF4-FFF2-40B4-BE49-F238E27FC236}">
                <a16:creationId xmlns:a16="http://schemas.microsoft.com/office/drawing/2014/main" id="{16E4FABA-0FB9-96F3-6869-377D3957D5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4" name="Google Shape;174;g3aabd3d1b2d_0_290:notes">
            <a:extLst>
              <a:ext uri="{FF2B5EF4-FFF2-40B4-BE49-F238E27FC236}">
                <a16:creationId xmlns:a16="http://schemas.microsoft.com/office/drawing/2014/main" id="{C997079E-8222-6C83-89E0-0158ACCFD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770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d3d1b2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4" name="Google Shape;174;g3aabd3d1b2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7c5302bb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5" name="Google Shape;105;g3a7c5302bb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198AC643-5177-1949-5072-A7987FBBC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d3d1b2d_0_290:notes">
            <a:extLst>
              <a:ext uri="{FF2B5EF4-FFF2-40B4-BE49-F238E27FC236}">
                <a16:creationId xmlns:a16="http://schemas.microsoft.com/office/drawing/2014/main" id="{C8383D2B-CB96-8682-91BC-00FCAF6185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4" name="Google Shape;174;g3aabd3d1b2d_0_290:notes">
            <a:extLst>
              <a:ext uri="{FF2B5EF4-FFF2-40B4-BE49-F238E27FC236}">
                <a16:creationId xmlns:a16="http://schemas.microsoft.com/office/drawing/2014/main" id="{68A44312-17CB-C88A-BACA-EFD33A9E0C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0384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8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d3d1b2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4" name="Google Shape;174;g3aabd3d1b2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4EA4388F-D08B-8209-00E6-8E92C5B48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d3d1b2d_0_290:notes">
            <a:extLst>
              <a:ext uri="{FF2B5EF4-FFF2-40B4-BE49-F238E27FC236}">
                <a16:creationId xmlns:a16="http://schemas.microsoft.com/office/drawing/2014/main" id="{86DC9AE4-7156-EC7E-72A3-A7507BC1B9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4" name="Google Shape;174;g3aabd3d1b2d_0_290:notes">
            <a:extLst>
              <a:ext uri="{FF2B5EF4-FFF2-40B4-BE49-F238E27FC236}">
                <a16:creationId xmlns:a16="http://schemas.microsoft.com/office/drawing/2014/main" id="{05C63AA0-8708-2CDD-EB22-07619E02E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3801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d3d1b2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4" name="Google Shape;174;g3aabd3d1b2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2F02CD14-298E-B8A6-0775-0248D3809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d3d1b2d_0_290:notes">
            <a:extLst>
              <a:ext uri="{FF2B5EF4-FFF2-40B4-BE49-F238E27FC236}">
                <a16:creationId xmlns:a16="http://schemas.microsoft.com/office/drawing/2014/main" id="{E6DEDC45-8ECF-8185-73D8-550C02DFC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4" name="Google Shape;174;g3aabd3d1b2d_0_290:notes">
            <a:extLst>
              <a:ext uri="{FF2B5EF4-FFF2-40B4-BE49-F238E27FC236}">
                <a16:creationId xmlns:a16="http://schemas.microsoft.com/office/drawing/2014/main" id="{376682C8-78CC-0B9B-6594-DB00B495FC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3188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d3d1b2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4" name="Google Shape;174;g3aabd3d1b2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d3d1b2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4" name="Google Shape;174;g3aabd3d1b2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05F3675F-3830-E77A-A052-1276EFCF9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d3d1b2d_0_290:notes">
            <a:extLst>
              <a:ext uri="{FF2B5EF4-FFF2-40B4-BE49-F238E27FC236}">
                <a16:creationId xmlns:a16="http://schemas.microsoft.com/office/drawing/2014/main" id="{959EE7D3-F6AB-366B-902E-938D49C3A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4" name="Google Shape;174;g3aabd3d1b2d_0_290:notes">
            <a:extLst>
              <a:ext uri="{FF2B5EF4-FFF2-40B4-BE49-F238E27FC236}">
                <a16:creationId xmlns:a16="http://schemas.microsoft.com/office/drawing/2014/main" id="{0E5BDAA9-B073-7715-A445-BC3314BCED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65804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d3d1b2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4" name="Google Shape;174;g3aabd3d1b2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abd3d1b2d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79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0" name="Google Shape;220;g3aabd3d1b2d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image" Target="../media/image8.jpeg" /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jpeg" /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3.jpeg" /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4.jpeg" /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5.jpeg" /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6.jpeg" /><Relationship Id="rId1" Type="http://schemas.openxmlformats.org/officeDocument/2006/relationships/slideMaster" Target="../slideMasters/slideMaster2.xml" 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17.jpeg" /><Relationship Id="rId1" Type="http://schemas.openxmlformats.org/officeDocument/2006/relationships/slideMaster" Target="../slideMasters/slideMaster2.xml" /><Relationship Id="rId4" Type="http://schemas.openxmlformats.org/officeDocument/2006/relationships/image" Target="../media/image19.svg" 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Master" Target="../slideMasters/slideMaster2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Master" Target="../slideMasters/slideMaster2.xml" 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Master" Target="../slideMasters/slideMaster2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 /><Relationship Id="rId1" Type="http://schemas.openxmlformats.org/officeDocument/2006/relationships/slideMaster" Target="../slideMasters/slideMaster2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Master" Target="../slideMasters/slideMaster2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>
                <a:sym typeface="+mn-ea"/>
              </a:rPr>
              <a:t>Second level</a:t>
            </a:r>
            <a:endParaRPr lang="en-US"/>
          </a:p>
          <a:p>
            <a:pPr lvl="2"/>
            <a:r>
              <a:rPr lang="en-US">
                <a:sym typeface="+mn-ea"/>
              </a:rPr>
              <a:t>Third level</a:t>
            </a:r>
            <a:endParaRPr lang="en-US"/>
          </a:p>
          <a:p>
            <a:pPr lvl="3"/>
            <a:r>
              <a:rPr lang="en-US">
                <a:sym typeface="+mn-ea"/>
              </a:rPr>
              <a:t>Fourth level</a:t>
            </a:r>
            <a:endParaRPr lang="en-US"/>
          </a:p>
          <a:p>
            <a:pPr lvl="4"/>
            <a:r>
              <a:rPr lang="en-US">
                <a:sym typeface="+mn-ea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>
                <a:sym typeface="+mn-ea"/>
              </a:rPr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>
                <a:sym typeface="+mn-ea"/>
              </a:rPr>
              <a:t>Click to edit Master text styles</a:t>
            </a:r>
            <a:endParaRPr lang="en-US"/>
          </a:p>
          <a:p>
            <a:pPr lvl="1"/>
            <a:r>
              <a:rPr lang="en-US">
                <a:sym typeface="+mn-ea"/>
              </a:rPr>
              <a:t>Second level</a:t>
            </a:r>
            <a:endParaRPr lang="en-US"/>
          </a:p>
          <a:p>
            <a:pPr lvl="2"/>
            <a:r>
              <a:rPr lang="en-US">
                <a:sym typeface="+mn-ea"/>
              </a:rPr>
              <a:t>Third level</a:t>
            </a:r>
            <a:endParaRPr lang="en-US"/>
          </a:p>
          <a:p>
            <a:pPr lvl="3"/>
            <a:r>
              <a:rPr lang="en-US">
                <a:sym typeface="+mn-ea"/>
              </a:rPr>
              <a:t>Fourth level</a:t>
            </a:r>
            <a:endParaRPr lang="en-US"/>
          </a:p>
          <a:p>
            <a:pPr lvl="4"/>
            <a:r>
              <a:rPr lang="en-US">
                <a:sym typeface="+mn-ea"/>
              </a:rPr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d3d1b2d_0_19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d3d1b2d_0_19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d3d1b2d_0_1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645FB-9E2F-8727-B3E3-BB0CE9966D6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93615" y="-1"/>
            <a:ext cx="10298385" cy="6867736"/>
          </a:xfrm>
          <a:prstGeom prst="rect">
            <a:avLst/>
          </a:prstGeom>
        </p:spPr>
      </p:pic>
      <p:sp>
        <p:nvSpPr>
          <p:cNvPr id="10" name="Freeform 18">
            <a:extLst>
              <a:ext uri="{FF2B5EF4-FFF2-40B4-BE49-F238E27FC236}">
                <a16:creationId xmlns:a16="http://schemas.microsoft.com/office/drawing/2014/main" id="{E70E2847-E738-2280-37D1-27BCEB87B64F}"/>
              </a:ext>
            </a:extLst>
          </p:cNvPr>
          <p:cNvSpPr/>
          <p:nvPr/>
        </p:nvSpPr>
        <p:spPr>
          <a:xfrm rot="10800000">
            <a:off x="2643075" y="8238"/>
            <a:ext cx="4369634" cy="6871702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 20">
            <a:extLst>
              <a:ext uri="{FF2B5EF4-FFF2-40B4-BE49-F238E27FC236}">
                <a16:creationId xmlns:a16="http://schemas.microsoft.com/office/drawing/2014/main" id="{C3E8A934-084B-EF90-EA96-C27E18C7AA70}"/>
              </a:ext>
            </a:extLst>
          </p:cNvPr>
          <p:cNvSpPr/>
          <p:nvPr/>
        </p:nvSpPr>
        <p:spPr>
          <a:xfrm>
            <a:off x="-16511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A2B071-A040-6CF6-FC0D-792EFF7D8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06" y="2541798"/>
            <a:ext cx="5954070" cy="1532727"/>
          </a:xfrm>
        </p:spPr>
        <p:txBody>
          <a:bodyPr wrap="square" anchor="t" anchorCtr="0">
            <a:spAutoFit/>
          </a:bodyPr>
          <a:lstStyle>
            <a:lvl1pPr>
              <a:defRPr sz="5200">
                <a:solidFill>
                  <a:schemeClr val="bg1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  <a:latin typeface="+mj-lt"/>
              </a:rPr>
              <a:t>Placeholder Presentation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CC41753-4E8C-BCC2-3A35-BC32B5F763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3206" y="6151418"/>
            <a:ext cx="5795167" cy="341632"/>
          </a:xfrm>
        </p:spPr>
        <p:txBody>
          <a:bodyPr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Placeholder Subtitle or Date</a:t>
            </a:r>
          </a:p>
        </p:txBody>
      </p:sp>
      <p:pic>
        <p:nvPicPr>
          <p:cNvPr id="15" name="Picture 14" descr="Text&#10;&#10;Description automatically generated with low confidence">
            <a:extLst>
              <a:ext uri="{FF2B5EF4-FFF2-40B4-BE49-F238E27FC236}">
                <a16:creationId xmlns:a16="http://schemas.microsoft.com/office/drawing/2014/main" id="{60365884-B098-E517-3959-B39BC986DCF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774" y="827779"/>
            <a:ext cx="2117436" cy="11698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97E0977-18DC-1F16-2AD3-28D550CA42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93615" y="-1"/>
            <a:ext cx="10298385" cy="6867736"/>
          </a:xfrm>
          <a:prstGeom prst="rect">
            <a:avLst/>
          </a:prstGeom>
        </p:spPr>
      </p:pic>
      <p:sp>
        <p:nvSpPr>
          <p:cNvPr id="3" name="Freeform 18">
            <a:extLst>
              <a:ext uri="{FF2B5EF4-FFF2-40B4-BE49-F238E27FC236}">
                <a16:creationId xmlns:a16="http://schemas.microsoft.com/office/drawing/2014/main" id="{8B7C1456-7583-2C67-D293-4716DF89DA30}"/>
              </a:ext>
            </a:extLst>
          </p:cNvPr>
          <p:cNvSpPr/>
          <p:nvPr userDrawn="1"/>
        </p:nvSpPr>
        <p:spPr>
          <a:xfrm rot="10800000">
            <a:off x="2643075" y="8238"/>
            <a:ext cx="4369634" cy="6871702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reeform 20">
            <a:extLst>
              <a:ext uri="{FF2B5EF4-FFF2-40B4-BE49-F238E27FC236}">
                <a16:creationId xmlns:a16="http://schemas.microsoft.com/office/drawing/2014/main" id="{D79AE95E-AEFD-905B-7C15-E093CAB02ABF}"/>
              </a:ext>
            </a:extLst>
          </p:cNvPr>
          <p:cNvSpPr/>
          <p:nvPr userDrawn="1"/>
        </p:nvSpPr>
        <p:spPr>
          <a:xfrm>
            <a:off x="-16511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Text&#10;&#10;Description automatically generated with low confidence">
            <a:extLst>
              <a:ext uri="{FF2B5EF4-FFF2-40B4-BE49-F238E27FC236}">
                <a16:creationId xmlns:a16="http://schemas.microsoft.com/office/drawing/2014/main" id="{15A00312-19F9-201B-F46B-71AFAB2E0E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774" y="827779"/>
            <a:ext cx="2117436" cy="116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65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Subtitle,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6">
            <a:extLst>
              <a:ext uri="{FF2B5EF4-FFF2-40B4-BE49-F238E27FC236}">
                <a16:creationId xmlns:a16="http://schemas.microsoft.com/office/drawing/2014/main" id="{D586AE65-6C92-D78B-25CB-64FC5881509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464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0" name="Freeform 18">
            <a:extLst>
              <a:ext uri="{FF2B5EF4-FFF2-40B4-BE49-F238E27FC236}">
                <a16:creationId xmlns:a16="http://schemas.microsoft.com/office/drawing/2014/main" id="{EB755D93-E5ED-75CC-1D77-42C6EA9E5C52}"/>
              </a:ext>
            </a:extLst>
          </p:cNvPr>
          <p:cNvSpPr/>
          <p:nvPr/>
        </p:nvSpPr>
        <p:spPr>
          <a:xfrm rot="10800000">
            <a:off x="2448085" y="-1"/>
            <a:ext cx="4360921" cy="6858000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10000"/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20">
            <a:extLst>
              <a:ext uri="{FF2B5EF4-FFF2-40B4-BE49-F238E27FC236}">
                <a16:creationId xmlns:a16="http://schemas.microsoft.com/office/drawing/2014/main" id="{A2F0407E-EFB9-1C9D-50B8-22B9A9C6B7FD}"/>
              </a:ext>
            </a:extLst>
          </p:cNvPr>
          <p:cNvSpPr/>
          <p:nvPr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79980-22FA-08A7-A461-746BEE73D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388" y="1164189"/>
            <a:ext cx="4613275" cy="1754326"/>
          </a:xfrm>
        </p:spPr>
        <p:txBody>
          <a:bodyPr/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3C01BE-9336-864A-4A40-AAA8CC0F21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3275563"/>
            <a:ext cx="4638675" cy="2659063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D975A6DF-CB37-2092-D6E0-0EB6C1F97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/>
            </a:lvl1pPr>
          </a:lstStyle>
          <a:p>
            <a:pPr>
              <a:defRPr/>
            </a:pPr>
            <a:r>
              <a:rPr lang="en-US" err="1">
                <a:solidFill>
                  <a:srgbClr val="FFFFFF"/>
                </a:solidFill>
                <a:latin typeface="Calibri Light"/>
              </a:rPr>
              <a:t>villagereach.org</a:t>
            </a:r>
            <a:endParaRPr lang="en-US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C444C5B1-59D6-B206-1557-A3AF52A05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pic>
        <p:nvPicPr>
          <p:cNvPr id="2" name="Picture Placeholder 16">
            <a:extLst>
              <a:ext uri="{FF2B5EF4-FFF2-40B4-BE49-F238E27FC236}">
                <a16:creationId xmlns:a16="http://schemas.microsoft.com/office/drawing/2014/main" id="{8544738B-8990-ECFF-BF49-DA3FF88784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464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Freeform 18">
            <a:extLst>
              <a:ext uri="{FF2B5EF4-FFF2-40B4-BE49-F238E27FC236}">
                <a16:creationId xmlns:a16="http://schemas.microsoft.com/office/drawing/2014/main" id="{49316F0F-8D89-F7B4-8534-F078087FEB98}"/>
              </a:ext>
            </a:extLst>
          </p:cNvPr>
          <p:cNvSpPr/>
          <p:nvPr userDrawn="1"/>
        </p:nvSpPr>
        <p:spPr>
          <a:xfrm rot="10800000">
            <a:off x="2448085" y="-1"/>
            <a:ext cx="4360921" cy="6858000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10000"/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3E179565-4980-AE3E-AAC7-C0447B510387}"/>
              </a:ext>
            </a:extLst>
          </p:cNvPr>
          <p:cNvSpPr/>
          <p:nvPr userDrawn="1"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34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, Subtitle,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6">
            <a:extLst>
              <a:ext uri="{FF2B5EF4-FFF2-40B4-BE49-F238E27FC236}">
                <a16:creationId xmlns:a16="http://schemas.microsoft.com/office/drawing/2014/main" id="{D586AE65-6C92-D78B-25CB-64FC5881509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7796" t="-1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0" name="Freeform 18">
            <a:extLst>
              <a:ext uri="{FF2B5EF4-FFF2-40B4-BE49-F238E27FC236}">
                <a16:creationId xmlns:a16="http://schemas.microsoft.com/office/drawing/2014/main" id="{EB755D93-E5ED-75CC-1D77-42C6EA9E5C52}"/>
              </a:ext>
            </a:extLst>
          </p:cNvPr>
          <p:cNvSpPr/>
          <p:nvPr/>
        </p:nvSpPr>
        <p:spPr>
          <a:xfrm rot="10800000">
            <a:off x="2448085" y="-1"/>
            <a:ext cx="4360921" cy="6858000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10000"/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20">
            <a:extLst>
              <a:ext uri="{FF2B5EF4-FFF2-40B4-BE49-F238E27FC236}">
                <a16:creationId xmlns:a16="http://schemas.microsoft.com/office/drawing/2014/main" id="{A2F0407E-EFB9-1C9D-50B8-22B9A9C6B7FD}"/>
              </a:ext>
            </a:extLst>
          </p:cNvPr>
          <p:cNvSpPr/>
          <p:nvPr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79980-22FA-08A7-A461-746BEE73D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388" y="1164189"/>
            <a:ext cx="4613275" cy="1754326"/>
          </a:xfrm>
        </p:spPr>
        <p:txBody>
          <a:bodyPr/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3C01BE-9336-864A-4A40-AAA8CC0F21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3275563"/>
            <a:ext cx="4638675" cy="2659063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D975A6DF-CB37-2092-D6E0-0EB6C1F97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/>
            </a:lvl1pPr>
          </a:lstStyle>
          <a:p>
            <a:pPr>
              <a:defRPr/>
            </a:pPr>
            <a:r>
              <a:rPr lang="en-US" err="1">
                <a:solidFill>
                  <a:srgbClr val="FFFFFF"/>
                </a:solidFill>
                <a:latin typeface="Calibri Light"/>
              </a:rPr>
              <a:t>villagereach.org</a:t>
            </a:r>
            <a:endParaRPr lang="en-US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C444C5B1-59D6-B206-1557-A3AF52A05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pic>
        <p:nvPicPr>
          <p:cNvPr id="2" name="Picture Placeholder 16">
            <a:extLst>
              <a:ext uri="{FF2B5EF4-FFF2-40B4-BE49-F238E27FC236}">
                <a16:creationId xmlns:a16="http://schemas.microsoft.com/office/drawing/2014/main" id="{E5CE852E-FA4C-690C-5D9E-6EC78AF8B7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7796" t="-1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Freeform 18">
            <a:extLst>
              <a:ext uri="{FF2B5EF4-FFF2-40B4-BE49-F238E27FC236}">
                <a16:creationId xmlns:a16="http://schemas.microsoft.com/office/drawing/2014/main" id="{45E8C8F5-DD30-3A6D-1815-D68E051D9702}"/>
              </a:ext>
            </a:extLst>
          </p:cNvPr>
          <p:cNvSpPr/>
          <p:nvPr userDrawn="1"/>
        </p:nvSpPr>
        <p:spPr>
          <a:xfrm rot="10800000">
            <a:off x="2448085" y="-1"/>
            <a:ext cx="4360921" cy="6858000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10000"/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69189318-627E-9826-5912-D3CD787074BD}"/>
              </a:ext>
            </a:extLst>
          </p:cNvPr>
          <p:cNvSpPr/>
          <p:nvPr userDrawn="1"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29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, Subtitle,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6">
            <a:extLst>
              <a:ext uri="{FF2B5EF4-FFF2-40B4-BE49-F238E27FC236}">
                <a16:creationId xmlns:a16="http://schemas.microsoft.com/office/drawing/2014/main" id="{D586AE65-6C92-D78B-25CB-64FC5881509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7681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0" name="Freeform 18">
            <a:extLst>
              <a:ext uri="{FF2B5EF4-FFF2-40B4-BE49-F238E27FC236}">
                <a16:creationId xmlns:a16="http://schemas.microsoft.com/office/drawing/2014/main" id="{EB755D93-E5ED-75CC-1D77-42C6EA9E5C52}"/>
              </a:ext>
            </a:extLst>
          </p:cNvPr>
          <p:cNvSpPr/>
          <p:nvPr/>
        </p:nvSpPr>
        <p:spPr>
          <a:xfrm rot="10800000">
            <a:off x="2448085" y="-1"/>
            <a:ext cx="4360921" cy="6858000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20">
            <a:extLst>
              <a:ext uri="{FF2B5EF4-FFF2-40B4-BE49-F238E27FC236}">
                <a16:creationId xmlns:a16="http://schemas.microsoft.com/office/drawing/2014/main" id="{A2F0407E-EFB9-1C9D-50B8-22B9A9C6B7FD}"/>
              </a:ext>
            </a:extLst>
          </p:cNvPr>
          <p:cNvSpPr/>
          <p:nvPr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79980-22FA-08A7-A461-746BEE73D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388" y="1164189"/>
            <a:ext cx="4613275" cy="1754326"/>
          </a:xfrm>
        </p:spPr>
        <p:txBody>
          <a:bodyPr/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3C01BE-9336-864A-4A40-AAA8CC0F21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3275563"/>
            <a:ext cx="4638675" cy="2659063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D975A6DF-CB37-2092-D6E0-0EB6C1F97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/>
            </a:lvl1pPr>
          </a:lstStyle>
          <a:p>
            <a:pPr>
              <a:defRPr/>
            </a:pPr>
            <a:r>
              <a:rPr lang="en-US" err="1">
                <a:solidFill>
                  <a:srgbClr val="FFFFFF"/>
                </a:solidFill>
                <a:latin typeface="Calibri Light"/>
              </a:rPr>
              <a:t>villagereach.org</a:t>
            </a:r>
            <a:endParaRPr lang="en-US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C444C5B1-59D6-B206-1557-A3AF52A05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pic>
        <p:nvPicPr>
          <p:cNvPr id="2" name="Picture Placeholder 16">
            <a:extLst>
              <a:ext uri="{FF2B5EF4-FFF2-40B4-BE49-F238E27FC236}">
                <a16:creationId xmlns:a16="http://schemas.microsoft.com/office/drawing/2014/main" id="{ACFD7F09-A564-946A-9CE0-8127C1D5AE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7681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Freeform 18">
            <a:extLst>
              <a:ext uri="{FF2B5EF4-FFF2-40B4-BE49-F238E27FC236}">
                <a16:creationId xmlns:a16="http://schemas.microsoft.com/office/drawing/2014/main" id="{A27AAE43-AEFB-0538-23BA-42BA3508BA1E}"/>
              </a:ext>
            </a:extLst>
          </p:cNvPr>
          <p:cNvSpPr/>
          <p:nvPr userDrawn="1"/>
        </p:nvSpPr>
        <p:spPr>
          <a:xfrm rot="10800000">
            <a:off x="2448085" y="-1"/>
            <a:ext cx="4360921" cy="6858000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8DAA4732-1ACF-D90B-82A4-4136450394A8}"/>
              </a:ext>
            </a:extLst>
          </p:cNvPr>
          <p:cNvSpPr/>
          <p:nvPr userDrawn="1"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58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, Subtitle,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6">
            <a:extLst>
              <a:ext uri="{FF2B5EF4-FFF2-40B4-BE49-F238E27FC236}">
                <a16:creationId xmlns:a16="http://schemas.microsoft.com/office/drawing/2014/main" id="{D586AE65-6C92-D78B-25CB-64FC5881509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5124"/>
          <a:stretch/>
        </p:blipFill>
        <p:spPr>
          <a:xfrm flipH="1">
            <a:off x="0" y="-1"/>
            <a:ext cx="12192000" cy="6858000"/>
          </a:xfrm>
          <a:prstGeom prst="rect">
            <a:avLst/>
          </a:prstGeom>
        </p:spPr>
      </p:pic>
      <p:sp>
        <p:nvSpPr>
          <p:cNvPr id="10" name="Freeform 18">
            <a:extLst>
              <a:ext uri="{FF2B5EF4-FFF2-40B4-BE49-F238E27FC236}">
                <a16:creationId xmlns:a16="http://schemas.microsoft.com/office/drawing/2014/main" id="{EB755D93-E5ED-75CC-1D77-42C6EA9E5C52}"/>
              </a:ext>
            </a:extLst>
          </p:cNvPr>
          <p:cNvSpPr/>
          <p:nvPr/>
        </p:nvSpPr>
        <p:spPr>
          <a:xfrm rot="10800000">
            <a:off x="2448085" y="-1"/>
            <a:ext cx="4360921" cy="6858000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10000"/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20">
            <a:extLst>
              <a:ext uri="{FF2B5EF4-FFF2-40B4-BE49-F238E27FC236}">
                <a16:creationId xmlns:a16="http://schemas.microsoft.com/office/drawing/2014/main" id="{A2F0407E-EFB9-1C9D-50B8-22B9A9C6B7FD}"/>
              </a:ext>
            </a:extLst>
          </p:cNvPr>
          <p:cNvSpPr/>
          <p:nvPr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79980-22FA-08A7-A461-746BEE73D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388" y="1164189"/>
            <a:ext cx="4613275" cy="1754326"/>
          </a:xfrm>
        </p:spPr>
        <p:txBody>
          <a:bodyPr/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3C01BE-9336-864A-4A40-AAA8CC0F21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3275563"/>
            <a:ext cx="4638675" cy="2659063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D975A6DF-CB37-2092-D6E0-0EB6C1F97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/>
            </a:lvl1pPr>
          </a:lstStyle>
          <a:p>
            <a:pPr>
              <a:defRPr/>
            </a:pPr>
            <a:r>
              <a:rPr lang="en-US" err="1">
                <a:solidFill>
                  <a:srgbClr val="FFFFFF"/>
                </a:solidFill>
                <a:latin typeface="Calibri Light"/>
              </a:rPr>
              <a:t>villagereach.org</a:t>
            </a:r>
            <a:endParaRPr lang="en-US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C444C5B1-59D6-B206-1557-A3AF52A05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pic>
        <p:nvPicPr>
          <p:cNvPr id="2" name="Picture Placeholder 16">
            <a:extLst>
              <a:ext uri="{FF2B5EF4-FFF2-40B4-BE49-F238E27FC236}">
                <a16:creationId xmlns:a16="http://schemas.microsoft.com/office/drawing/2014/main" id="{B1DCC75E-E81E-2BF7-64DF-98ECC32332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5124"/>
          <a:stretch/>
        </p:blipFill>
        <p:spPr>
          <a:xfrm flipH="1"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Freeform 18">
            <a:extLst>
              <a:ext uri="{FF2B5EF4-FFF2-40B4-BE49-F238E27FC236}">
                <a16:creationId xmlns:a16="http://schemas.microsoft.com/office/drawing/2014/main" id="{C17A2813-4955-971A-E574-EF74012F3F8A}"/>
              </a:ext>
            </a:extLst>
          </p:cNvPr>
          <p:cNvSpPr/>
          <p:nvPr userDrawn="1"/>
        </p:nvSpPr>
        <p:spPr>
          <a:xfrm rot="10800000">
            <a:off x="2448085" y="-1"/>
            <a:ext cx="4360921" cy="6858000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10000"/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1B595184-AF08-AFC9-37CC-7C8E240683EF}"/>
              </a:ext>
            </a:extLst>
          </p:cNvPr>
          <p:cNvSpPr/>
          <p:nvPr userDrawn="1"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1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, Subtitle,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6">
            <a:extLst>
              <a:ext uri="{FF2B5EF4-FFF2-40B4-BE49-F238E27FC236}">
                <a16:creationId xmlns:a16="http://schemas.microsoft.com/office/drawing/2014/main" id="{D586AE65-6C92-D78B-25CB-64FC5881509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525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8251476C-CE5A-961A-0F4D-4E5FC744AAE3}"/>
              </a:ext>
            </a:extLst>
          </p:cNvPr>
          <p:cNvSpPr/>
          <p:nvPr/>
        </p:nvSpPr>
        <p:spPr>
          <a:xfrm rot="10800000">
            <a:off x="2450777" y="-2"/>
            <a:ext cx="6936607" cy="6866711"/>
          </a:xfrm>
          <a:custGeom>
            <a:avLst/>
            <a:gdLst>
              <a:gd name="connsiteX0" fmla="*/ 6936607 w 6936607"/>
              <a:gd name="connsiteY0" fmla="*/ 6866711 h 6866711"/>
              <a:gd name="connsiteX1" fmla="*/ 0 w 6936607"/>
              <a:gd name="connsiteY1" fmla="*/ 6866711 h 6866711"/>
              <a:gd name="connsiteX2" fmla="*/ 0 w 6936607"/>
              <a:gd name="connsiteY2" fmla="*/ 0 h 6866711"/>
              <a:gd name="connsiteX3" fmla="*/ 4755568 w 6936607"/>
              <a:gd name="connsiteY3" fmla="*/ 0 h 6866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36607" h="6866711">
                <a:moveTo>
                  <a:pt x="6936607" y="6866711"/>
                </a:moveTo>
                <a:lnTo>
                  <a:pt x="0" y="6866711"/>
                </a:lnTo>
                <a:lnTo>
                  <a:pt x="0" y="0"/>
                </a:lnTo>
                <a:lnTo>
                  <a:pt x="4755568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10000"/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20">
            <a:extLst>
              <a:ext uri="{FF2B5EF4-FFF2-40B4-BE49-F238E27FC236}">
                <a16:creationId xmlns:a16="http://schemas.microsoft.com/office/drawing/2014/main" id="{A2F0407E-EFB9-1C9D-50B8-22B9A9C6B7FD}"/>
              </a:ext>
            </a:extLst>
          </p:cNvPr>
          <p:cNvSpPr/>
          <p:nvPr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79980-22FA-08A7-A461-746BEE73D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388" y="1164189"/>
            <a:ext cx="4613275" cy="1754326"/>
          </a:xfrm>
        </p:spPr>
        <p:txBody>
          <a:bodyPr/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3C01BE-9336-864A-4A40-AAA8CC0F21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3275563"/>
            <a:ext cx="4638675" cy="2659063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D975A6DF-CB37-2092-D6E0-0EB6C1F97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/>
            </a:lvl1pPr>
          </a:lstStyle>
          <a:p>
            <a:pPr>
              <a:defRPr/>
            </a:pPr>
            <a:r>
              <a:rPr lang="en-US" err="1">
                <a:solidFill>
                  <a:srgbClr val="FFFFFF"/>
                </a:solidFill>
                <a:latin typeface="Calibri Light"/>
              </a:rPr>
              <a:t>villagereach.org</a:t>
            </a:r>
            <a:endParaRPr lang="en-US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C444C5B1-59D6-B206-1557-A3AF52A05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pic>
        <p:nvPicPr>
          <p:cNvPr id="2" name="Picture Placeholder 16">
            <a:extLst>
              <a:ext uri="{FF2B5EF4-FFF2-40B4-BE49-F238E27FC236}">
                <a16:creationId xmlns:a16="http://schemas.microsoft.com/office/drawing/2014/main" id="{14A64486-3C63-B0F8-2B10-F251C3CEF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525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300201F4-A23D-77E1-64A9-83539B31C15F}"/>
              </a:ext>
            </a:extLst>
          </p:cNvPr>
          <p:cNvSpPr/>
          <p:nvPr userDrawn="1"/>
        </p:nvSpPr>
        <p:spPr>
          <a:xfrm rot="10800000">
            <a:off x="2450777" y="-2"/>
            <a:ext cx="6936607" cy="6866711"/>
          </a:xfrm>
          <a:custGeom>
            <a:avLst/>
            <a:gdLst>
              <a:gd name="connsiteX0" fmla="*/ 6936607 w 6936607"/>
              <a:gd name="connsiteY0" fmla="*/ 6866711 h 6866711"/>
              <a:gd name="connsiteX1" fmla="*/ 0 w 6936607"/>
              <a:gd name="connsiteY1" fmla="*/ 6866711 h 6866711"/>
              <a:gd name="connsiteX2" fmla="*/ 0 w 6936607"/>
              <a:gd name="connsiteY2" fmla="*/ 0 h 6866711"/>
              <a:gd name="connsiteX3" fmla="*/ 4755568 w 6936607"/>
              <a:gd name="connsiteY3" fmla="*/ 0 h 6866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36607" h="6866711">
                <a:moveTo>
                  <a:pt x="6936607" y="6866711"/>
                </a:moveTo>
                <a:lnTo>
                  <a:pt x="0" y="6866711"/>
                </a:lnTo>
                <a:lnTo>
                  <a:pt x="0" y="0"/>
                </a:lnTo>
                <a:lnTo>
                  <a:pt x="4755568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10000"/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A716BCB2-442E-A45A-7629-3D95AB94416C}"/>
              </a:ext>
            </a:extLst>
          </p:cNvPr>
          <p:cNvSpPr/>
          <p:nvPr userDrawn="1"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326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9">
            <a:extLst>
              <a:ext uri="{FF2B5EF4-FFF2-40B4-BE49-F238E27FC236}">
                <a16:creationId xmlns:a16="http://schemas.microsoft.com/office/drawing/2014/main" id="{D72A9961-C6B9-44AD-46E4-B4216FD47ADB}"/>
              </a:ext>
            </a:extLst>
          </p:cNvPr>
          <p:cNvSpPr/>
          <p:nvPr/>
        </p:nvSpPr>
        <p:spPr>
          <a:xfrm flipH="1" flipV="1">
            <a:off x="9425686" y="0"/>
            <a:ext cx="2766315" cy="6870205"/>
          </a:xfrm>
          <a:custGeom>
            <a:avLst/>
            <a:gdLst>
              <a:gd name="connsiteX0" fmla="*/ 2766315 w 2766315"/>
              <a:gd name="connsiteY0" fmla="*/ 6870205 h 6870205"/>
              <a:gd name="connsiteX1" fmla="*/ 2020 w 2766315"/>
              <a:gd name="connsiteY1" fmla="*/ 6870205 h 6870205"/>
              <a:gd name="connsiteX2" fmla="*/ 1142 w 2766315"/>
              <a:gd name="connsiteY2" fmla="*/ 6279759 h 6870205"/>
              <a:gd name="connsiteX3" fmla="*/ 0 w 2766315"/>
              <a:gd name="connsiteY3" fmla="*/ 14059 h 6870205"/>
              <a:gd name="connsiteX4" fmla="*/ 670888 w 2766315"/>
              <a:gd name="connsiteY4" fmla="*/ 0 h 68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6315" h="6870205">
                <a:moveTo>
                  <a:pt x="2766315" y="6870205"/>
                </a:moveTo>
                <a:lnTo>
                  <a:pt x="2020" y="6870205"/>
                </a:lnTo>
                <a:lnTo>
                  <a:pt x="1142" y="6279759"/>
                </a:lnTo>
                <a:cubicBezTo>
                  <a:pt x="761" y="4191193"/>
                  <a:pt x="6533" y="2116696"/>
                  <a:pt x="0" y="14059"/>
                </a:cubicBezTo>
                <a:lnTo>
                  <a:pt x="670888" y="0"/>
                </a:lnTo>
                <a:close/>
              </a:path>
            </a:pathLst>
          </a:custGeom>
          <a:solidFill>
            <a:srgbClr val="F0EB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F33B6372-C731-00CE-5A2D-67EB33C6F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49" y="301754"/>
            <a:ext cx="11387561" cy="707886"/>
          </a:xfrm>
        </p:spPr>
        <p:txBody>
          <a:bodyPr anchor="t" anchorCtr="0">
            <a:spAutoFit/>
          </a:bodyPr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91DCCE2B-6966-2C36-746F-E3BC9D5E64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049" y="956162"/>
            <a:ext cx="11387559" cy="369332"/>
          </a:xfrm>
        </p:spPr>
        <p:txBody>
          <a:bodyPr anchor="t" anchorCtr="0">
            <a:spAutoFit/>
          </a:bodyPr>
          <a:lstStyle>
            <a:lvl1pPr marL="0" indent="0">
              <a:buNone/>
              <a:defRPr sz="2000" b="0" i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F7BE200-FB6B-AD53-1A9B-64B6E60C9F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err="1">
                <a:latin typeface="Calibri Light"/>
              </a:rPr>
              <a:t>villagereach.org</a:t>
            </a:r>
            <a:endParaRPr lang="en-US">
              <a:latin typeface="Calibri Light"/>
            </a:endParaRP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4C4690A3-3D27-86C6-C633-CB3494BB9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3E45C6-FAD4-E207-6ED0-9D02DF7765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0050" y="1604865"/>
            <a:ext cx="11387558" cy="1429109"/>
          </a:xfrm>
        </p:spPr>
        <p:txBody>
          <a:bodyPr>
            <a:spAutoFit/>
          </a:bodyPr>
          <a:lstStyle>
            <a:lvl1pPr marL="0" indent="0">
              <a:buNone/>
              <a:defRPr b="0"/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body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reeform 19">
            <a:extLst>
              <a:ext uri="{FF2B5EF4-FFF2-40B4-BE49-F238E27FC236}">
                <a16:creationId xmlns:a16="http://schemas.microsoft.com/office/drawing/2014/main" id="{17D44FB7-B416-8725-B988-3AD169B714B7}"/>
              </a:ext>
            </a:extLst>
          </p:cNvPr>
          <p:cNvSpPr/>
          <p:nvPr userDrawn="1"/>
        </p:nvSpPr>
        <p:spPr>
          <a:xfrm flipH="1" flipV="1">
            <a:off x="9425686" y="0"/>
            <a:ext cx="2766315" cy="6870205"/>
          </a:xfrm>
          <a:custGeom>
            <a:avLst/>
            <a:gdLst>
              <a:gd name="connsiteX0" fmla="*/ 2766315 w 2766315"/>
              <a:gd name="connsiteY0" fmla="*/ 6870205 h 6870205"/>
              <a:gd name="connsiteX1" fmla="*/ 2020 w 2766315"/>
              <a:gd name="connsiteY1" fmla="*/ 6870205 h 6870205"/>
              <a:gd name="connsiteX2" fmla="*/ 1142 w 2766315"/>
              <a:gd name="connsiteY2" fmla="*/ 6279759 h 6870205"/>
              <a:gd name="connsiteX3" fmla="*/ 0 w 2766315"/>
              <a:gd name="connsiteY3" fmla="*/ 14059 h 6870205"/>
              <a:gd name="connsiteX4" fmla="*/ 670888 w 2766315"/>
              <a:gd name="connsiteY4" fmla="*/ 0 h 68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6315" h="6870205">
                <a:moveTo>
                  <a:pt x="2766315" y="6870205"/>
                </a:moveTo>
                <a:lnTo>
                  <a:pt x="2020" y="6870205"/>
                </a:lnTo>
                <a:lnTo>
                  <a:pt x="1142" y="6279759"/>
                </a:lnTo>
                <a:cubicBezTo>
                  <a:pt x="761" y="4191193"/>
                  <a:pt x="6533" y="2116696"/>
                  <a:pt x="0" y="14059"/>
                </a:cubicBezTo>
                <a:lnTo>
                  <a:pt x="670888" y="0"/>
                </a:lnTo>
                <a:close/>
              </a:path>
            </a:pathLst>
          </a:custGeom>
          <a:solidFill>
            <a:srgbClr val="F0EB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73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, Subtitle, Content, Photo Sl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29ECE3-CC06-544D-57D4-80534F01EC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1084" y="0"/>
            <a:ext cx="4820916" cy="6858000"/>
          </a:xfrm>
          <a:custGeom>
            <a:avLst/>
            <a:gdLst>
              <a:gd name="connsiteX0" fmla="*/ 0 w 4820916"/>
              <a:gd name="connsiteY0" fmla="*/ 0 h 6858000"/>
              <a:gd name="connsiteX1" fmla="*/ 4820916 w 4820916"/>
              <a:gd name="connsiteY1" fmla="*/ 0 h 6858000"/>
              <a:gd name="connsiteX2" fmla="*/ 4819875 w 4820916"/>
              <a:gd name="connsiteY2" fmla="*/ 2551312 h 6858000"/>
              <a:gd name="connsiteX3" fmla="*/ 4816312 w 4820916"/>
              <a:gd name="connsiteY3" fmla="*/ 6524654 h 6858000"/>
              <a:gd name="connsiteX4" fmla="*/ 4817188 w 4820916"/>
              <a:gd name="connsiteY4" fmla="*/ 6858000 h 6858000"/>
              <a:gd name="connsiteX5" fmla="*/ 2181386 w 4820916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20916" h="6858000">
                <a:moveTo>
                  <a:pt x="0" y="0"/>
                </a:moveTo>
                <a:lnTo>
                  <a:pt x="4820916" y="0"/>
                </a:lnTo>
                <a:lnTo>
                  <a:pt x="4819875" y="2551312"/>
                </a:lnTo>
                <a:cubicBezTo>
                  <a:pt x="4818042" y="3877423"/>
                  <a:pt x="4815886" y="5201866"/>
                  <a:pt x="4816312" y="6524654"/>
                </a:cubicBezTo>
                <a:lnTo>
                  <a:pt x="4817188" y="6858000"/>
                </a:lnTo>
                <a:lnTo>
                  <a:pt x="2181386" y="6858000"/>
                </a:lnTo>
                <a:close/>
              </a:path>
            </a:pathLst>
          </a:cu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7980186-1DCF-46E8-B3E0-2A28CE022A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050" y="956162"/>
            <a:ext cx="8393636" cy="369332"/>
          </a:xfrm>
        </p:spPr>
        <p:txBody>
          <a:bodyPr anchor="t" anchorCtr="0">
            <a:sp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short subtitle or delete this placeholder as needed.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D46CB62-098A-469D-B35C-A70B319AE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045817F-E9B4-F784-09CD-3DFB6D0C4A6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0050" y="1604865"/>
            <a:ext cx="8393636" cy="1429109"/>
          </a:xfrm>
        </p:spPr>
        <p:txBody>
          <a:bodyPr wrap="square">
            <a:spAutoFit/>
          </a:bodyPr>
          <a:lstStyle>
            <a:lvl1pPr marL="0" indent="0">
              <a:buNone/>
              <a:defRPr b="0"/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body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8">
            <a:extLst>
              <a:ext uri="{FF2B5EF4-FFF2-40B4-BE49-F238E27FC236}">
                <a16:creationId xmlns:a16="http://schemas.microsoft.com/office/drawing/2014/main" id="{81690616-B5A6-DA06-72FB-3CAEF1E9DC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301754"/>
            <a:ext cx="8393636" cy="707886"/>
          </a:xfrm>
        </p:spPr>
        <p:txBody>
          <a:bodyPr wrap="square">
            <a:spAutoFit/>
          </a:bodyPr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one-line 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C88D27-158A-22E7-BB35-B442D941EF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1084" y="0"/>
            <a:ext cx="4820916" cy="6858000"/>
          </a:xfrm>
          <a:custGeom>
            <a:avLst/>
            <a:gdLst>
              <a:gd name="connsiteX0" fmla="*/ 0 w 4820916"/>
              <a:gd name="connsiteY0" fmla="*/ 0 h 6858000"/>
              <a:gd name="connsiteX1" fmla="*/ 4820916 w 4820916"/>
              <a:gd name="connsiteY1" fmla="*/ 0 h 6858000"/>
              <a:gd name="connsiteX2" fmla="*/ 4819875 w 4820916"/>
              <a:gd name="connsiteY2" fmla="*/ 2551312 h 6858000"/>
              <a:gd name="connsiteX3" fmla="*/ 4816312 w 4820916"/>
              <a:gd name="connsiteY3" fmla="*/ 6524654 h 6858000"/>
              <a:gd name="connsiteX4" fmla="*/ 4817188 w 4820916"/>
              <a:gd name="connsiteY4" fmla="*/ 6858000 h 6858000"/>
              <a:gd name="connsiteX5" fmla="*/ 2181386 w 4820916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20916" h="6858000">
                <a:moveTo>
                  <a:pt x="0" y="0"/>
                </a:moveTo>
                <a:lnTo>
                  <a:pt x="4820916" y="0"/>
                </a:lnTo>
                <a:lnTo>
                  <a:pt x="4819875" y="2551312"/>
                </a:lnTo>
                <a:cubicBezTo>
                  <a:pt x="4818042" y="3877423"/>
                  <a:pt x="4815886" y="5201866"/>
                  <a:pt x="4816312" y="6524654"/>
                </a:cubicBezTo>
                <a:lnTo>
                  <a:pt x="4817188" y="6858000"/>
                </a:lnTo>
                <a:lnTo>
                  <a:pt x="2181386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25594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, Subtitle, Content, Photo Sl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DBA6794-10A2-7D2B-3199-FEEA150F0C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69748" y="0"/>
            <a:ext cx="4820916" cy="6858000"/>
          </a:xfrm>
          <a:custGeom>
            <a:avLst/>
            <a:gdLst>
              <a:gd name="connsiteX0" fmla="*/ 0 w 4820916"/>
              <a:gd name="connsiteY0" fmla="*/ 0 h 6858000"/>
              <a:gd name="connsiteX1" fmla="*/ 4820916 w 4820916"/>
              <a:gd name="connsiteY1" fmla="*/ 0 h 6858000"/>
              <a:gd name="connsiteX2" fmla="*/ 4819875 w 4820916"/>
              <a:gd name="connsiteY2" fmla="*/ 2551312 h 6858000"/>
              <a:gd name="connsiteX3" fmla="*/ 4816312 w 4820916"/>
              <a:gd name="connsiteY3" fmla="*/ 6524654 h 6858000"/>
              <a:gd name="connsiteX4" fmla="*/ 4817188 w 4820916"/>
              <a:gd name="connsiteY4" fmla="*/ 6858000 h 6858000"/>
              <a:gd name="connsiteX5" fmla="*/ 2181386 w 4820916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20916" h="6858000">
                <a:moveTo>
                  <a:pt x="0" y="0"/>
                </a:moveTo>
                <a:lnTo>
                  <a:pt x="4820916" y="0"/>
                </a:lnTo>
                <a:lnTo>
                  <a:pt x="4819875" y="2551312"/>
                </a:lnTo>
                <a:cubicBezTo>
                  <a:pt x="4818042" y="3877423"/>
                  <a:pt x="4815886" y="5201866"/>
                  <a:pt x="4816312" y="6524654"/>
                </a:cubicBezTo>
                <a:lnTo>
                  <a:pt x="4817188" y="6858000"/>
                </a:lnTo>
                <a:lnTo>
                  <a:pt x="2181386" y="6858000"/>
                </a:lnTo>
                <a:close/>
              </a:path>
            </a:pathLst>
          </a:cu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7980186-1DCF-46E8-B3E0-2A28CE022A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050" y="1998914"/>
            <a:ext cx="5251450" cy="646331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2000" b="0" i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add short subtitle or delete this placeholder as needed.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D46CB62-098A-469D-B35C-A70B319AE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045817F-E9B4-F784-09CD-3DFB6D0C4A6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0050" y="3515691"/>
            <a:ext cx="4756150" cy="1429109"/>
          </a:xfrm>
        </p:spPr>
        <p:txBody>
          <a:bodyPr wrap="square">
            <a:spAutoFit/>
          </a:bodyPr>
          <a:lstStyle>
            <a:lvl1pPr marL="0" indent="0">
              <a:buNone/>
              <a:defRPr b="0"/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body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8">
            <a:extLst>
              <a:ext uri="{FF2B5EF4-FFF2-40B4-BE49-F238E27FC236}">
                <a16:creationId xmlns:a16="http://schemas.microsoft.com/office/drawing/2014/main" id="{81690616-B5A6-DA06-72FB-3CAEF1E9DC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451362"/>
            <a:ext cx="5492750" cy="1323439"/>
          </a:xfrm>
        </p:spPr>
        <p:txBody>
          <a:bodyPr wrap="square">
            <a:spAutoFit/>
          </a:bodyPr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one-line 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B0177F-580E-D22D-3B54-ABA1EDBC88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69748" y="0"/>
            <a:ext cx="4820916" cy="6858000"/>
          </a:xfrm>
          <a:custGeom>
            <a:avLst/>
            <a:gdLst>
              <a:gd name="connsiteX0" fmla="*/ 0 w 4820916"/>
              <a:gd name="connsiteY0" fmla="*/ 0 h 6858000"/>
              <a:gd name="connsiteX1" fmla="*/ 4820916 w 4820916"/>
              <a:gd name="connsiteY1" fmla="*/ 0 h 6858000"/>
              <a:gd name="connsiteX2" fmla="*/ 4819875 w 4820916"/>
              <a:gd name="connsiteY2" fmla="*/ 2551312 h 6858000"/>
              <a:gd name="connsiteX3" fmla="*/ 4816312 w 4820916"/>
              <a:gd name="connsiteY3" fmla="*/ 6524654 h 6858000"/>
              <a:gd name="connsiteX4" fmla="*/ 4817188 w 4820916"/>
              <a:gd name="connsiteY4" fmla="*/ 6858000 h 6858000"/>
              <a:gd name="connsiteX5" fmla="*/ 2181386 w 4820916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20916" h="6858000">
                <a:moveTo>
                  <a:pt x="0" y="0"/>
                </a:moveTo>
                <a:lnTo>
                  <a:pt x="4820916" y="0"/>
                </a:lnTo>
                <a:lnTo>
                  <a:pt x="4819875" y="2551312"/>
                </a:lnTo>
                <a:cubicBezTo>
                  <a:pt x="4818042" y="3877423"/>
                  <a:pt x="4815886" y="5201866"/>
                  <a:pt x="4816312" y="6524654"/>
                </a:cubicBezTo>
                <a:lnTo>
                  <a:pt x="4817188" y="6858000"/>
                </a:lnTo>
                <a:lnTo>
                  <a:pt x="2181386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86707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, Subtitle, Content, Photo Sl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DBA6794-10A2-7D2B-3199-FEEA150F0C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69748" y="0"/>
            <a:ext cx="4820916" cy="6858000"/>
          </a:xfrm>
          <a:custGeom>
            <a:avLst/>
            <a:gdLst>
              <a:gd name="connsiteX0" fmla="*/ 0 w 4820916"/>
              <a:gd name="connsiteY0" fmla="*/ 0 h 6858000"/>
              <a:gd name="connsiteX1" fmla="*/ 4820916 w 4820916"/>
              <a:gd name="connsiteY1" fmla="*/ 0 h 6858000"/>
              <a:gd name="connsiteX2" fmla="*/ 4819875 w 4820916"/>
              <a:gd name="connsiteY2" fmla="*/ 2551312 h 6858000"/>
              <a:gd name="connsiteX3" fmla="*/ 4816312 w 4820916"/>
              <a:gd name="connsiteY3" fmla="*/ 6524654 h 6858000"/>
              <a:gd name="connsiteX4" fmla="*/ 4817188 w 4820916"/>
              <a:gd name="connsiteY4" fmla="*/ 6858000 h 6858000"/>
              <a:gd name="connsiteX5" fmla="*/ 2181386 w 4820916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20916" h="6858000">
                <a:moveTo>
                  <a:pt x="0" y="0"/>
                </a:moveTo>
                <a:lnTo>
                  <a:pt x="4820916" y="0"/>
                </a:lnTo>
                <a:lnTo>
                  <a:pt x="4819875" y="2551312"/>
                </a:lnTo>
                <a:cubicBezTo>
                  <a:pt x="4818042" y="3877423"/>
                  <a:pt x="4815886" y="5201866"/>
                  <a:pt x="4816312" y="6524654"/>
                </a:cubicBezTo>
                <a:lnTo>
                  <a:pt x="4817188" y="6858000"/>
                </a:lnTo>
                <a:lnTo>
                  <a:pt x="2181386" y="6858000"/>
                </a:lnTo>
                <a:close/>
              </a:path>
            </a:pathLst>
          </a:cu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7980186-1DCF-46E8-B3E0-2A28CE022A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050" y="1998914"/>
            <a:ext cx="5251450" cy="646331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2000" b="0" i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add short subtitle or delete this placeholder as needed.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D46CB62-098A-469D-B35C-A70B319AE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045817F-E9B4-F784-09CD-3DFB6D0C4A6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0050" y="3515691"/>
            <a:ext cx="4756150" cy="1429109"/>
          </a:xfrm>
        </p:spPr>
        <p:txBody>
          <a:bodyPr wrap="square">
            <a:spAutoFit/>
          </a:bodyPr>
          <a:lstStyle>
            <a:lvl1pPr marL="0" indent="0">
              <a:buNone/>
              <a:defRPr b="0"/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body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8">
            <a:extLst>
              <a:ext uri="{FF2B5EF4-FFF2-40B4-BE49-F238E27FC236}">
                <a16:creationId xmlns:a16="http://schemas.microsoft.com/office/drawing/2014/main" id="{81690616-B5A6-DA06-72FB-3CAEF1E9DC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451362"/>
            <a:ext cx="5492750" cy="1323439"/>
          </a:xfrm>
        </p:spPr>
        <p:txBody>
          <a:bodyPr wrap="square">
            <a:spAutoFit/>
          </a:bodyPr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one-line 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B0177F-580E-D22D-3B54-ABA1EDBC88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69748" y="0"/>
            <a:ext cx="4820916" cy="6858000"/>
          </a:xfrm>
          <a:custGeom>
            <a:avLst/>
            <a:gdLst>
              <a:gd name="connsiteX0" fmla="*/ 0 w 4820916"/>
              <a:gd name="connsiteY0" fmla="*/ 0 h 6858000"/>
              <a:gd name="connsiteX1" fmla="*/ 4820916 w 4820916"/>
              <a:gd name="connsiteY1" fmla="*/ 0 h 6858000"/>
              <a:gd name="connsiteX2" fmla="*/ 4819875 w 4820916"/>
              <a:gd name="connsiteY2" fmla="*/ 2551312 h 6858000"/>
              <a:gd name="connsiteX3" fmla="*/ 4816312 w 4820916"/>
              <a:gd name="connsiteY3" fmla="*/ 6524654 h 6858000"/>
              <a:gd name="connsiteX4" fmla="*/ 4817188 w 4820916"/>
              <a:gd name="connsiteY4" fmla="*/ 6858000 h 6858000"/>
              <a:gd name="connsiteX5" fmla="*/ 2181386 w 4820916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20916" h="6858000">
                <a:moveTo>
                  <a:pt x="0" y="0"/>
                </a:moveTo>
                <a:lnTo>
                  <a:pt x="4820916" y="0"/>
                </a:lnTo>
                <a:lnTo>
                  <a:pt x="4819875" y="2551312"/>
                </a:lnTo>
                <a:cubicBezTo>
                  <a:pt x="4818042" y="3877423"/>
                  <a:pt x="4815886" y="5201866"/>
                  <a:pt x="4816312" y="6524654"/>
                </a:cubicBezTo>
                <a:lnTo>
                  <a:pt x="4817188" y="6858000"/>
                </a:lnTo>
                <a:lnTo>
                  <a:pt x="2181386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37147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, Content - No Sl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4CABB-2F41-4A08-9CC8-FAC8925E79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0049" y="1584251"/>
            <a:ext cx="11387553" cy="1429109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body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50F2E5E-F535-455F-A4F9-E5DA44E03C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49" y="301754"/>
            <a:ext cx="11387561" cy="707886"/>
          </a:xfrm>
        </p:spPr>
        <p:txBody>
          <a:bodyPr>
            <a:spAutoFit/>
          </a:bodyPr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7980186-1DCF-46E8-B3E0-2A28CE022A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049" y="956162"/>
            <a:ext cx="11387559" cy="369332"/>
          </a:xfrm>
        </p:spPr>
        <p:txBody>
          <a:bodyPr anchor="t" anchorCtr="0">
            <a:sp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B6401867-C02A-49E0-A9E4-41037899A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err="1">
                <a:latin typeface="Calibri Light"/>
              </a:rPr>
              <a:t>villagereach.org</a:t>
            </a:r>
            <a:endParaRPr lang="en-US">
              <a:latin typeface="Calibri Light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D46CB62-098A-469D-B35C-A70B319AE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065174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heading, Content and background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28F4AC5-20B1-B152-8CDF-5FECD2896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err="1">
                <a:latin typeface="Calibri Light"/>
              </a:rPr>
              <a:t>villagereach.org</a:t>
            </a:r>
            <a:endParaRPr lang="en-US">
              <a:latin typeface="Calibri Light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9E9D8CF-0F14-6432-4985-4B05B3F48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DD5A456-0840-7F99-47E6-D0202B4451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0049" y="1562100"/>
            <a:ext cx="11387553" cy="1429109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body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8">
            <a:extLst>
              <a:ext uri="{FF2B5EF4-FFF2-40B4-BE49-F238E27FC236}">
                <a16:creationId xmlns:a16="http://schemas.microsoft.com/office/drawing/2014/main" id="{15CB1183-F308-A4B8-3511-F27BECA378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49" y="301754"/>
            <a:ext cx="11387561" cy="707886"/>
          </a:xfrm>
        </p:spPr>
        <p:txBody>
          <a:bodyPr>
            <a:spAutoFit/>
          </a:bodyPr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7F7B504A-D28B-4D7E-BF35-3CF74ECE50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049" y="956162"/>
            <a:ext cx="11387559" cy="369332"/>
          </a:xfrm>
        </p:spPr>
        <p:txBody>
          <a:bodyPr anchor="t" anchorCtr="0">
            <a:sp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0C5DA27-0F78-7136-8CAD-B9ED026A8D35}"/>
              </a:ext>
            </a:extLst>
          </p:cNvPr>
          <p:cNvSpPr/>
          <p:nvPr/>
        </p:nvSpPr>
        <p:spPr>
          <a:xfrm>
            <a:off x="10895113" y="0"/>
            <a:ext cx="1303172" cy="4272665"/>
          </a:xfrm>
          <a:custGeom>
            <a:avLst/>
            <a:gdLst>
              <a:gd name="connsiteX0" fmla="*/ 0 w 1303172"/>
              <a:gd name="connsiteY0" fmla="*/ 0 h 4272665"/>
              <a:gd name="connsiteX1" fmla="*/ 1303172 w 1303172"/>
              <a:gd name="connsiteY1" fmla="*/ 0 h 4272665"/>
              <a:gd name="connsiteX2" fmla="*/ 1303172 w 1303172"/>
              <a:gd name="connsiteY2" fmla="*/ 4272665 h 4272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3172" h="4272665">
                <a:moveTo>
                  <a:pt x="0" y="0"/>
                </a:moveTo>
                <a:lnTo>
                  <a:pt x="1303172" y="0"/>
                </a:lnTo>
                <a:lnTo>
                  <a:pt x="1303172" y="427266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reeform: Shape 23">
            <a:extLst>
              <a:ext uri="{FF2B5EF4-FFF2-40B4-BE49-F238E27FC236}">
                <a16:creationId xmlns:a16="http://schemas.microsoft.com/office/drawing/2014/main" id="{F0521F20-864F-7062-EE81-6BA6069AC400}"/>
              </a:ext>
            </a:extLst>
          </p:cNvPr>
          <p:cNvSpPr/>
          <p:nvPr userDrawn="1"/>
        </p:nvSpPr>
        <p:spPr>
          <a:xfrm>
            <a:off x="10895113" y="0"/>
            <a:ext cx="1303172" cy="4272665"/>
          </a:xfrm>
          <a:custGeom>
            <a:avLst/>
            <a:gdLst>
              <a:gd name="connsiteX0" fmla="*/ 0 w 1303172"/>
              <a:gd name="connsiteY0" fmla="*/ 0 h 4272665"/>
              <a:gd name="connsiteX1" fmla="*/ 1303172 w 1303172"/>
              <a:gd name="connsiteY1" fmla="*/ 0 h 4272665"/>
              <a:gd name="connsiteX2" fmla="*/ 1303172 w 1303172"/>
              <a:gd name="connsiteY2" fmla="*/ 4272665 h 4272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3172" h="4272665">
                <a:moveTo>
                  <a:pt x="0" y="0"/>
                </a:moveTo>
                <a:lnTo>
                  <a:pt x="1303172" y="0"/>
                </a:lnTo>
                <a:lnTo>
                  <a:pt x="1303172" y="427266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65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20700A-CB8C-4776-9B7C-BB89C13900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05150" y="-8710"/>
            <a:ext cx="9086850" cy="6866710"/>
          </a:xfrm>
          <a:prstGeom prst="rect">
            <a:avLst/>
          </a:prstGeom>
        </p:spPr>
      </p:pic>
      <p:sp>
        <p:nvSpPr>
          <p:cNvPr id="8" name="Freeform 18">
            <a:extLst>
              <a:ext uri="{FF2B5EF4-FFF2-40B4-BE49-F238E27FC236}">
                <a16:creationId xmlns:a16="http://schemas.microsoft.com/office/drawing/2014/main" id="{B1081875-4E57-FC97-9B87-307A573316F1}"/>
              </a:ext>
            </a:extLst>
          </p:cNvPr>
          <p:cNvSpPr/>
          <p:nvPr/>
        </p:nvSpPr>
        <p:spPr>
          <a:xfrm rot="10800000">
            <a:off x="2222175" y="-8710"/>
            <a:ext cx="4371997" cy="6875419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reeform 20">
            <a:extLst>
              <a:ext uri="{FF2B5EF4-FFF2-40B4-BE49-F238E27FC236}">
                <a16:creationId xmlns:a16="http://schemas.microsoft.com/office/drawing/2014/main" id="{45FCE2AB-DE27-1485-3A41-E718B24903F6}"/>
              </a:ext>
            </a:extLst>
          </p:cNvPr>
          <p:cNvSpPr/>
          <p:nvPr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Text&#10;&#10;Description automatically generated with low confidence">
            <a:extLst>
              <a:ext uri="{FF2B5EF4-FFF2-40B4-BE49-F238E27FC236}">
                <a16:creationId xmlns:a16="http://schemas.microsoft.com/office/drawing/2014/main" id="{1C680AC4-CFAC-460C-A5C5-B5F57CB70A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774" y="827779"/>
            <a:ext cx="2117436" cy="1169854"/>
          </a:xfrm>
          <a:prstGeom prst="rect">
            <a:avLst/>
          </a:prstGeom>
        </p:spPr>
      </p:pic>
      <p:sp>
        <p:nvSpPr>
          <p:cNvPr id="5" name="Title 10">
            <a:extLst>
              <a:ext uri="{FF2B5EF4-FFF2-40B4-BE49-F238E27FC236}">
                <a16:creationId xmlns:a16="http://schemas.microsoft.com/office/drawing/2014/main" id="{5FF30F30-B9B7-7AFF-D661-D7DF1AF300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687" y="2526319"/>
            <a:ext cx="6179313" cy="3966298"/>
          </a:xfrm>
        </p:spPr>
        <p:txBody>
          <a:bodyPr anchor="ctr">
            <a:noAutofit/>
          </a:bodyPr>
          <a:lstStyle>
            <a:lvl1pPr algn="l">
              <a:lnSpc>
                <a:spcPct val="70000"/>
              </a:lnSpc>
              <a:defRPr sz="13000" b="0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7EE099-0AA4-7880-D684-DC987B49FA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05150" y="-8710"/>
            <a:ext cx="9086850" cy="6866710"/>
          </a:xfrm>
          <a:prstGeom prst="rect">
            <a:avLst/>
          </a:prstGeom>
        </p:spPr>
      </p:pic>
      <p:sp>
        <p:nvSpPr>
          <p:cNvPr id="7" name="Freeform 18">
            <a:extLst>
              <a:ext uri="{FF2B5EF4-FFF2-40B4-BE49-F238E27FC236}">
                <a16:creationId xmlns:a16="http://schemas.microsoft.com/office/drawing/2014/main" id="{FBE92C6F-01FA-E2E8-2466-00F25F6C9AEC}"/>
              </a:ext>
            </a:extLst>
          </p:cNvPr>
          <p:cNvSpPr/>
          <p:nvPr userDrawn="1"/>
        </p:nvSpPr>
        <p:spPr>
          <a:xfrm rot="10800000">
            <a:off x="2222175" y="-8710"/>
            <a:ext cx="4371997" cy="6875419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20">
            <a:extLst>
              <a:ext uri="{FF2B5EF4-FFF2-40B4-BE49-F238E27FC236}">
                <a16:creationId xmlns:a16="http://schemas.microsoft.com/office/drawing/2014/main" id="{75F1F2D0-3E68-F6A8-B69A-692C8DFB3FC4}"/>
              </a:ext>
            </a:extLst>
          </p:cNvPr>
          <p:cNvSpPr/>
          <p:nvPr userDrawn="1"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25CBAFD3-CEED-1894-EDC0-1F7367F4FC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774" y="827779"/>
            <a:ext cx="2117436" cy="116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168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20700A-CB8C-4776-9B7C-BB89C13900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7202"/>
          <a:stretch/>
        </p:blipFill>
        <p:spPr>
          <a:xfrm flipH="1">
            <a:off x="1042988" y="-8710"/>
            <a:ext cx="11149012" cy="6875420"/>
          </a:xfrm>
          <a:prstGeom prst="rect">
            <a:avLst/>
          </a:prstGeom>
        </p:spPr>
      </p:pic>
      <p:sp>
        <p:nvSpPr>
          <p:cNvPr id="8" name="Freeform 18">
            <a:extLst>
              <a:ext uri="{FF2B5EF4-FFF2-40B4-BE49-F238E27FC236}">
                <a16:creationId xmlns:a16="http://schemas.microsoft.com/office/drawing/2014/main" id="{B1081875-4E57-FC97-9B87-307A573316F1}"/>
              </a:ext>
            </a:extLst>
          </p:cNvPr>
          <p:cNvSpPr/>
          <p:nvPr/>
        </p:nvSpPr>
        <p:spPr>
          <a:xfrm rot="10800000">
            <a:off x="2222175" y="-8710"/>
            <a:ext cx="4371997" cy="6875419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reeform 20">
            <a:extLst>
              <a:ext uri="{FF2B5EF4-FFF2-40B4-BE49-F238E27FC236}">
                <a16:creationId xmlns:a16="http://schemas.microsoft.com/office/drawing/2014/main" id="{45FCE2AB-DE27-1485-3A41-E718B24903F6}"/>
              </a:ext>
            </a:extLst>
          </p:cNvPr>
          <p:cNvSpPr/>
          <p:nvPr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10">
            <a:extLst>
              <a:ext uri="{FF2B5EF4-FFF2-40B4-BE49-F238E27FC236}">
                <a16:creationId xmlns:a16="http://schemas.microsoft.com/office/drawing/2014/main" id="{C9BA9EB4-66D4-47ED-B046-1D1BC717DA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687" y="2526319"/>
            <a:ext cx="6179313" cy="3966298"/>
          </a:xfrm>
        </p:spPr>
        <p:txBody>
          <a:bodyPr anchor="ctr">
            <a:noAutofit/>
          </a:bodyPr>
          <a:lstStyle>
            <a:lvl1pPr algn="l">
              <a:lnSpc>
                <a:spcPct val="70000"/>
              </a:lnSpc>
              <a:defRPr sz="13000" b="0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3" name="Picture 2" descr="Text&#10;&#10;Description automatically generated with low confidence">
            <a:extLst>
              <a:ext uri="{FF2B5EF4-FFF2-40B4-BE49-F238E27FC236}">
                <a16:creationId xmlns:a16="http://schemas.microsoft.com/office/drawing/2014/main" id="{1C680AC4-CFAC-460C-A5C5-B5F57CB70A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774" y="827779"/>
            <a:ext cx="2117436" cy="11698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B88BCA-5460-8901-B62C-A7B39F059B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7202"/>
          <a:stretch/>
        </p:blipFill>
        <p:spPr>
          <a:xfrm flipH="1">
            <a:off x="1042988" y="-8710"/>
            <a:ext cx="11149012" cy="6875420"/>
          </a:xfrm>
          <a:prstGeom prst="rect">
            <a:avLst/>
          </a:prstGeom>
        </p:spPr>
      </p:pic>
      <p:sp>
        <p:nvSpPr>
          <p:cNvPr id="7" name="Freeform 18">
            <a:extLst>
              <a:ext uri="{FF2B5EF4-FFF2-40B4-BE49-F238E27FC236}">
                <a16:creationId xmlns:a16="http://schemas.microsoft.com/office/drawing/2014/main" id="{67F405A8-30E7-8AAC-C3B9-F5CE32B8DFD0}"/>
              </a:ext>
            </a:extLst>
          </p:cNvPr>
          <p:cNvSpPr/>
          <p:nvPr userDrawn="1"/>
        </p:nvSpPr>
        <p:spPr>
          <a:xfrm rot="10800000">
            <a:off x="2222175" y="-8710"/>
            <a:ext cx="4371997" cy="6875419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20">
            <a:extLst>
              <a:ext uri="{FF2B5EF4-FFF2-40B4-BE49-F238E27FC236}">
                <a16:creationId xmlns:a16="http://schemas.microsoft.com/office/drawing/2014/main" id="{477D7F0A-655F-B6C3-E048-DE2478FDFAF1}"/>
              </a:ext>
            </a:extLst>
          </p:cNvPr>
          <p:cNvSpPr/>
          <p:nvPr userDrawn="1"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0CF7F345-2775-ACDC-BE8A-F0AB6FF78B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774" y="827779"/>
            <a:ext cx="2117436" cy="116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767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losing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20700A-CB8C-4776-9B7C-BB89C13900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42988" y="-8710"/>
            <a:ext cx="11149012" cy="6875420"/>
          </a:xfrm>
          <a:prstGeom prst="rect">
            <a:avLst/>
          </a:prstGeom>
        </p:spPr>
      </p:pic>
      <p:sp>
        <p:nvSpPr>
          <p:cNvPr id="8" name="Freeform 18">
            <a:extLst>
              <a:ext uri="{FF2B5EF4-FFF2-40B4-BE49-F238E27FC236}">
                <a16:creationId xmlns:a16="http://schemas.microsoft.com/office/drawing/2014/main" id="{B1081875-4E57-FC97-9B87-307A573316F1}"/>
              </a:ext>
            </a:extLst>
          </p:cNvPr>
          <p:cNvSpPr/>
          <p:nvPr/>
        </p:nvSpPr>
        <p:spPr>
          <a:xfrm rot="10800000">
            <a:off x="2222175" y="-8710"/>
            <a:ext cx="4371997" cy="6875419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reeform 20">
            <a:extLst>
              <a:ext uri="{FF2B5EF4-FFF2-40B4-BE49-F238E27FC236}">
                <a16:creationId xmlns:a16="http://schemas.microsoft.com/office/drawing/2014/main" id="{45FCE2AB-DE27-1485-3A41-E718B24903F6}"/>
              </a:ext>
            </a:extLst>
          </p:cNvPr>
          <p:cNvSpPr/>
          <p:nvPr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10">
            <a:extLst>
              <a:ext uri="{FF2B5EF4-FFF2-40B4-BE49-F238E27FC236}">
                <a16:creationId xmlns:a16="http://schemas.microsoft.com/office/drawing/2014/main" id="{C9BA9EB4-66D4-47ED-B046-1D1BC717DA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687" y="2526319"/>
            <a:ext cx="6179313" cy="3966298"/>
          </a:xfrm>
        </p:spPr>
        <p:txBody>
          <a:bodyPr anchor="ctr">
            <a:noAutofit/>
          </a:bodyPr>
          <a:lstStyle>
            <a:lvl1pPr algn="l">
              <a:lnSpc>
                <a:spcPct val="70000"/>
              </a:lnSpc>
              <a:defRPr sz="13000" b="0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3" name="Picture 2" descr="Text&#10;&#10;Description automatically generated with low confidence">
            <a:extLst>
              <a:ext uri="{FF2B5EF4-FFF2-40B4-BE49-F238E27FC236}">
                <a16:creationId xmlns:a16="http://schemas.microsoft.com/office/drawing/2014/main" id="{1C680AC4-CFAC-460C-A5C5-B5F57CB70A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774" y="827779"/>
            <a:ext cx="2117436" cy="11698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E02F08-0FFE-498D-C106-29A1F15EB5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42988" y="-8710"/>
            <a:ext cx="11149012" cy="6875420"/>
          </a:xfrm>
          <a:prstGeom prst="rect">
            <a:avLst/>
          </a:prstGeom>
        </p:spPr>
      </p:pic>
      <p:sp>
        <p:nvSpPr>
          <p:cNvPr id="7" name="Freeform 18">
            <a:extLst>
              <a:ext uri="{FF2B5EF4-FFF2-40B4-BE49-F238E27FC236}">
                <a16:creationId xmlns:a16="http://schemas.microsoft.com/office/drawing/2014/main" id="{237EE89F-19A9-C386-4ED7-15746053971B}"/>
              </a:ext>
            </a:extLst>
          </p:cNvPr>
          <p:cNvSpPr/>
          <p:nvPr userDrawn="1"/>
        </p:nvSpPr>
        <p:spPr>
          <a:xfrm rot="10800000">
            <a:off x="2222175" y="-8710"/>
            <a:ext cx="4371997" cy="6875419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20">
            <a:extLst>
              <a:ext uri="{FF2B5EF4-FFF2-40B4-BE49-F238E27FC236}">
                <a16:creationId xmlns:a16="http://schemas.microsoft.com/office/drawing/2014/main" id="{1C116ED3-D173-E36D-DEFD-F32874FEFF04}"/>
              </a:ext>
            </a:extLst>
          </p:cNvPr>
          <p:cNvSpPr/>
          <p:nvPr userDrawn="1"/>
        </p:nvSpPr>
        <p:spPr>
          <a:xfrm>
            <a:off x="0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1C3F6491-78B1-4857-1679-EE2B49077C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774" y="827779"/>
            <a:ext cx="2117436" cy="116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5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B39A9C-5EB6-4661-9727-C7134AE07D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42138" y="-1"/>
            <a:ext cx="11249862" cy="6867736"/>
          </a:xfrm>
          <a:prstGeom prst="rect">
            <a:avLst/>
          </a:prstGeom>
        </p:spPr>
      </p:pic>
      <p:sp>
        <p:nvSpPr>
          <p:cNvPr id="9" name="Freeform 20">
            <a:extLst>
              <a:ext uri="{FF2B5EF4-FFF2-40B4-BE49-F238E27FC236}">
                <a16:creationId xmlns:a16="http://schemas.microsoft.com/office/drawing/2014/main" id="{811C2B48-D438-5E4C-B265-ACA8C1F80F8C}"/>
              </a:ext>
            </a:extLst>
          </p:cNvPr>
          <p:cNvSpPr/>
          <p:nvPr userDrawn="1"/>
        </p:nvSpPr>
        <p:spPr>
          <a:xfrm>
            <a:off x="-16511" y="-1"/>
            <a:ext cx="4844403" cy="6866710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403" h="5795086">
                <a:moveTo>
                  <a:pt x="0" y="0"/>
                </a:moveTo>
                <a:lnTo>
                  <a:pt x="2660246" y="0"/>
                </a:lnTo>
                <a:lnTo>
                  <a:pt x="4844403" y="5795086"/>
                </a:lnTo>
                <a:lnTo>
                  <a:pt x="0" y="57877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BB22CDF-5455-012A-8329-A775B7F0873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354138" y="0"/>
            <a:ext cx="10837862" cy="6867735"/>
          </a:xfrm>
          <a:custGeom>
            <a:avLst/>
            <a:gdLst>
              <a:gd name="connsiteX0" fmla="*/ 1289598 w 10837862"/>
              <a:gd name="connsiteY0" fmla="*/ 0 h 6867735"/>
              <a:gd name="connsiteX1" fmla="*/ 10837862 w 10837862"/>
              <a:gd name="connsiteY1" fmla="*/ 0 h 6867735"/>
              <a:gd name="connsiteX2" fmla="*/ 10837862 w 10837862"/>
              <a:gd name="connsiteY2" fmla="*/ 6867735 h 6867735"/>
              <a:gd name="connsiteX3" fmla="*/ 0 w 10837862"/>
              <a:gd name="connsiteY3" fmla="*/ 6867735 h 6867735"/>
              <a:gd name="connsiteX4" fmla="*/ 0 w 10837862"/>
              <a:gd name="connsiteY4" fmla="*/ 6860464 h 6867735"/>
              <a:gd name="connsiteX5" fmla="*/ 3473754 w 10837862"/>
              <a:gd name="connsiteY5" fmla="*/ 6866709 h 6867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37862" h="6867735">
                <a:moveTo>
                  <a:pt x="1289598" y="0"/>
                </a:moveTo>
                <a:lnTo>
                  <a:pt x="10837862" y="0"/>
                </a:lnTo>
                <a:lnTo>
                  <a:pt x="10837862" y="6867735"/>
                </a:lnTo>
                <a:lnTo>
                  <a:pt x="0" y="6867735"/>
                </a:lnTo>
                <a:lnTo>
                  <a:pt x="0" y="6860464"/>
                </a:lnTo>
                <a:lnTo>
                  <a:pt x="3473754" y="686670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change picture</a:t>
            </a:r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3E278D73-6C2A-29D0-5F15-DC5C1895D9D6}"/>
              </a:ext>
            </a:extLst>
          </p:cNvPr>
          <p:cNvSpPr/>
          <p:nvPr userDrawn="1"/>
        </p:nvSpPr>
        <p:spPr>
          <a:xfrm rot="10800000">
            <a:off x="2640766" y="-1"/>
            <a:ext cx="4360921" cy="6858000"/>
          </a:xfrm>
          <a:custGeom>
            <a:avLst/>
            <a:gdLst>
              <a:gd name="connsiteX0" fmla="*/ 0 w 5172546"/>
              <a:gd name="connsiteY0" fmla="*/ 0 h 6864911"/>
              <a:gd name="connsiteX1" fmla="*/ 3077989 w 5172546"/>
              <a:gd name="connsiteY1" fmla="*/ 0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0" fmla="*/ 0 w 5172546"/>
              <a:gd name="connsiteY0" fmla="*/ 0 h 6864911"/>
              <a:gd name="connsiteX1" fmla="*/ 2592509 w 5172546"/>
              <a:gd name="connsiteY1" fmla="*/ 8717 h 6864911"/>
              <a:gd name="connsiteX2" fmla="*/ 5172546 w 5172546"/>
              <a:gd name="connsiteY2" fmla="*/ 6863955 h 6864911"/>
              <a:gd name="connsiteX3" fmla="*/ 915734 w 5172546"/>
              <a:gd name="connsiteY3" fmla="*/ 6864911 h 6864911"/>
              <a:gd name="connsiteX4" fmla="*/ 915734 w 5172546"/>
              <a:gd name="connsiteY4" fmla="*/ 6857691 h 6864911"/>
              <a:gd name="connsiteX5" fmla="*/ 0 w 5172546"/>
              <a:gd name="connsiteY5" fmla="*/ 6857691 h 6864911"/>
              <a:gd name="connsiteX6" fmla="*/ 0 w 5172546"/>
              <a:gd name="connsiteY6" fmla="*/ 0 h 686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546" h="6864911">
                <a:moveTo>
                  <a:pt x="0" y="0"/>
                </a:moveTo>
                <a:lnTo>
                  <a:pt x="2592509" y="8717"/>
                </a:lnTo>
                <a:lnTo>
                  <a:pt x="5172546" y="6863955"/>
                </a:lnTo>
                <a:lnTo>
                  <a:pt x="915734" y="6864911"/>
                </a:lnTo>
                <a:lnTo>
                  <a:pt x="915734" y="6857691"/>
                </a:lnTo>
                <a:lnTo>
                  <a:pt x="0" y="6857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0AC75D8-267A-4D71-B0AF-D83E5B901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06" y="2482242"/>
            <a:ext cx="4856939" cy="1421928"/>
          </a:xfr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  <a:latin typeface="+mj-lt"/>
              </a:rPr>
              <a:t>Click to add presentation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6FD414F-F192-42E0-BEE2-DB3D74D885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3206" y="6151418"/>
            <a:ext cx="5795167" cy="383182"/>
          </a:xfrm>
        </p:spPr>
        <p:txBody>
          <a:bodyPr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subtitle, date and/or byline</a:t>
            </a:r>
          </a:p>
        </p:txBody>
      </p:sp>
      <p:pic>
        <p:nvPicPr>
          <p:cNvPr id="13" name="Picture 12" descr="Text&#10;&#10;Description automatically generated with low confidence">
            <a:extLst>
              <a:ext uri="{FF2B5EF4-FFF2-40B4-BE49-F238E27FC236}">
                <a16:creationId xmlns:a16="http://schemas.microsoft.com/office/drawing/2014/main" id="{65B87E37-713E-6966-40AB-CD48C7DFAE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774" y="827779"/>
            <a:ext cx="2117436" cy="116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78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aby sitting at a table&#10;&#10;Description automatically generated with medium confidence">
            <a:extLst>
              <a:ext uri="{FF2B5EF4-FFF2-40B4-BE49-F238E27FC236}">
                <a16:creationId xmlns:a16="http://schemas.microsoft.com/office/drawing/2014/main" id="{E25C4657-8277-4A32-9EA2-180BAB55DD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016527D-09AC-4140-93F6-3910B1EF0D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445" y="681235"/>
            <a:ext cx="2709470" cy="532761"/>
          </a:xfrm>
          <a:prstGeom prst="rect">
            <a:avLst/>
          </a:prstGeom>
        </p:spPr>
      </p:pic>
      <p:sp>
        <p:nvSpPr>
          <p:cNvPr id="9" name="Title 10">
            <a:extLst>
              <a:ext uri="{FF2B5EF4-FFF2-40B4-BE49-F238E27FC236}">
                <a16:creationId xmlns:a16="http://schemas.microsoft.com/office/drawing/2014/main" id="{3EFE99FB-6291-4B72-AFEA-4825ED86E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445" y="3260560"/>
            <a:ext cx="4831601" cy="1265910"/>
          </a:xfrm>
        </p:spPr>
        <p:txBody>
          <a:bodyPr anchor="ctr">
            <a:normAutofit/>
          </a:bodyPr>
          <a:lstStyle>
            <a:lvl1pPr algn="l">
              <a:defRPr sz="6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816785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rallelogram 15">
            <a:extLst>
              <a:ext uri="{FF2B5EF4-FFF2-40B4-BE49-F238E27FC236}">
                <a16:creationId xmlns:a16="http://schemas.microsoft.com/office/drawing/2014/main" id="{2EC2B05E-6415-4DC6-8B1F-DF29055FFAD6}"/>
              </a:ext>
            </a:extLst>
          </p:cNvPr>
          <p:cNvSpPr/>
          <p:nvPr userDrawn="1"/>
        </p:nvSpPr>
        <p:spPr>
          <a:xfrm>
            <a:off x="-8791" y="-15448"/>
            <a:ext cx="3892680" cy="6885679"/>
          </a:xfrm>
          <a:custGeom>
            <a:avLst/>
            <a:gdLst>
              <a:gd name="connsiteX0" fmla="*/ 0 w 6686597"/>
              <a:gd name="connsiteY0" fmla="*/ 6429375 h 6429375"/>
              <a:gd name="connsiteX1" fmla="*/ 1607344 w 6686597"/>
              <a:gd name="connsiteY1" fmla="*/ 0 h 6429375"/>
              <a:gd name="connsiteX2" fmla="*/ 6686597 w 6686597"/>
              <a:gd name="connsiteY2" fmla="*/ 0 h 6429375"/>
              <a:gd name="connsiteX3" fmla="*/ 5079253 w 6686597"/>
              <a:gd name="connsiteY3" fmla="*/ 6429375 h 6429375"/>
              <a:gd name="connsiteX4" fmla="*/ 0 w 6686597"/>
              <a:gd name="connsiteY4" fmla="*/ 6429375 h 6429375"/>
              <a:gd name="connsiteX0" fmla="*/ 583406 w 7270003"/>
              <a:gd name="connsiteY0" fmla="*/ 6448425 h 6448425"/>
              <a:gd name="connsiteX1" fmla="*/ 0 w 7270003"/>
              <a:gd name="connsiteY1" fmla="*/ 0 h 6448425"/>
              <a:gd name="connsiteX2" fmla="*/ 7270003 w 7270003"/>
              <a:gd name="connsiteY2" fmla="*/ 19050 h 6448425"/>
              <a:gd name="connsiteX3" fmla="*/ 5662659 w 7270003"/>
              <a:gd name="connsiteY3" fmla="*/ 6448425 h 6448425"/>
              <a:gd name="connsiteX4" fmla="*/ 583406 w 7270003"/>
              <a:gd name="connsiteY4" fmla="*/ 6448425 h 6448425"/>
              <a:gd name="connsiteX0" fmla="*/ 21431 w 7270003"/>
              <a:gd name="connsiteY0" fmla="*/ 6457950 h 6457950"/>
              <a:gd name="connsiteX1" fmla="*/ 0 w 7270003"/>
              <a:gd name="connsiteY1" fmla="*/ 0 h 6457950"/>
              <a:gd name="connsiteX2" fmla="*/ 7270003 w 7270003"/>
              <a:gd name="connsiteY2" fmla="*/ 19050 h 6457950"/>
              <a:gd name="connsiteX3" fmla="*/ 5662659 w 7270003"/>
              <a:gd name="connsiteY3" fmla="*/ 6448425 h 6457950"/>
              <a:gd name="connsiteX4" fmla="*/ 21431 w 7270003"/>
              <a:gd name="connsiteY4" fmla="*/ 6457950 h 6457950"/>
              <a:gd name="connsiteX0" fmla="*/ 21431 w 5662659"/>
              <a:gd name="connsiteY0" fmla="*/ 6457950 h 6457950"/>
              <a:gd name="connsiteX1" fmla="*/ 0 w 5662659"/>
              <a:gd name="connsiteY1" fmla="*/ 0 h 6457950"/>
              <a:gd name="connsiteX2" fmla="*/ 3917203 w 5662659"/>
              <a:gd name="connsiteY2" fmla="*/ 9525 h 6457950"/>
              <a:gd name="connsiteX3" fmla="*/ 5662659 w 5662659"/>
              <a:gd name="connsiteY3" fmla="*/ 6448425 h 6457950"/>
              <a:gd name="connsiteX4" fmla="*/ 21431 w 5662659"/>
              <a:gd name="connsiteY4" fmla="*/ 6457950 h 6457950"/>
              <a:gd name="connsiteX0" fmla="*/ 678 w 5641906"/>
              <a:gd name="connsiteY0" fmla="*/ 6448425 h 6448425"/>
              <a:gd name="connsiteX1" fmla="*/ 38241 w 5641906"/>
              <a:gd name="connsiteY1" fmla="*/ 307 h 6448425"/>
              <a:gd name="connsiteX2" fmla="*/ 3896450 w 5641906"/>
              <a:gd name="connsiteY2" fmla="*/ 0 h 6448425"/>
              <a:gd name="connsiteX3" fmla="*/ 5641906 w 5641906"/>
              <a:gd name="connsiteY3" fmla="*/ 6438900 h 6448425"/>
              <a:gd name="connsiteX4" fmla="*/ 678 w 5641906"/>
              <a:gd name="connsiteY4" fmla="*/ 6448425 h 6448425"/>
              <a:gd name="connsiteX0" fmla="*/ 4224 w 5645452"/>
              <a:gd name="connsiteY0" fmla="*/ 6448425 h 6448425"/>
              <a:gd name="connsiteX1" fmla="*/ 0 w 5645452"/>
              <a:gd name="connsiteY1" fmla="*/ 7681 h 6448425"/>
              <a:gd name="connsiteX2" fmla="*/ 3899996 w 5645452"/>
              <a:gd name="connsiteY2" fmla="*/ 0 h 6448425"/>
              <a:gd name="connsiteX3" fmla="*/ 5645452 w 5645452"/>
              <a:gd name="connsiteY3" fmla="*/ 6438900 h 6448425"/>
              <a:gd name="connsiteX4" fmla="*/ 4224 w 5645452"/>
              <a:gd name="connsiteY4" fmla="*/ 6448425 h 6448425"/>
              <a:gd name="connsiteX0" fmla="*/ 1118649 w 5645452"/>
              <a:gd name="connsiteY0" fmla="*/ 6448425 h 6448425"/>
              <a:gd name="connsiteX1" fmla="*/ 0 w 5645452"/>
              <a:gd name="connsiteY1" fmla="*/ 7681 h 6448425"/>
              <a:gd name="connsiteX2" fmla="*/ 3899996 w 5645452"/>
              <a:gd name="connsiteY2" fmla="*/ 0 h 6448425"/>
              <a:gd name="connsiteX3" fmla="*/ 5645452 w 5645452"/>
              <a:gd name="connsiteY3" fmla="*/ 6438900 h 6448425"/>
              <a:gd name="connsiteX4" fmla="*/ 1118649 w 5645452"/>
              <a:gd name="connsiteY4" fmla="*/ 6448425 h 6448425"/>
              <a:gd name="connsiteX0" fmla="*/ 909099 w 5645452"/>
              <a:gd name="connsiteY0" fmla="*/ 6448425 h 6448425"/>
              <a:gd name="connsiteX1" fmla="*/ 0 w 5645452"/>
              <a:gd name="connsiteY1" fmla="*/ 7681 h 6448425"/>
              <a:gd name="connsiteX2" fmla="*/ 3899996 w 5645452"/>
              <a:gd name="connsiteY2" fmla="*/ 0 h 6448425"/>
              <a:gd name="connsiteX3" fmla="*/ 5645452 w 5645452"/>
              <a:gd name="connsiteY3" fmla="*/ 6438900 h 6448425"/>
              <a:gd name="connsiteX4" fmla="*/ 909099 w 5645452"/>
              <a:gd name="connsiteY4" fmla="*/ 6448425 h 6448425"/>
              <a:gd name="connsiteX0" fmla="*/ 105 w 4736458"/>
              <a:gd name="connsiteY0" fmla="*/ 6448425 h 6448425"/>
              <a:gd name="connsiteX1" fmla="*/ 348306 w 4736458"/>
              <a:gd name="connsiteY1" fmla="*/ 217231 h 6448425"/>
              <a:gd name="connsiteX2" fmla="*/ 2991002 w 4736458"/>
              <a:gd name="connsiteY2" fmla="*/ 0 h 6448425"/>
              <a:gd name="connsiteX3" fmla="*/ 4736458 w 4736458"/>
              <a:gd name="connsiteY3" fmla="*/ 6438900 h 6448425"/>
              <a:gd name="connsiteX4" fmla="*/ 105 w 4736458"/>
              <a:gd name="connsiteY4" fmla="*/ 6448425 h 6448425"/>
              <a:gd name="connsiteX0" fmla="*/ 13749 w 4750102"/>
              <a:gd name="connsiteY0" fmla="*/ 6450269 h 6450269"/>
              <a:gd name="connsiteX1" fmla="*/ 0 w 4750102"/>
              <a:gd name="connsiteY1" fmla="*/ 0 h 6450269"/>
              <a:gd name="connsiteX2" fmla="*/ 3004646 w 4750102"/>
              <a:gd name="connsiteY2" fmla="*/ 1844 h 6450269"/>
              <a:gd name="connsiteX3" fmla="*/ 4750102 w 4750102"/>
              <a:gd name="connsiteY3" fmla="*/ 6440744 h 6450269"/>
              <a:gd name="connsiteX4" fmla="*/ 13749 w 4750102"/>
              <a:gd name="connsiteY4" fmla="*/ 6450269 h 6450269"/>
              <a:gd name="connsiteX0" fmla="*/ 5081 w 4750102"/>
              <a:gd name="connsiteY0" fmla="*/ 6441602 h 6441602"/>
              <a:gd name="connsiteX1" fmla="*/ 0 w 4750102"/>
              <a:gd name="connsiteY1" fmla="*/ 0 h 6441602"/>
              <a:gd name="connsiteX2" fmla="*/ 3004646 w 4750102"/>
              <a:gd name="connsiteY2" fmla="*/ 1844 h 6441602"/>
              <a:gd name="connsiteX3" fmla="*/ 4750102 w 4750102"/>
              <a:gd name="connsiteY3" fmla="*/ 6440744 h 6441602"/>
              <a:gd name="connsiteX4" fmla="*/ 5081 w 4750102"/>
              <a:gd name="connsiteY4" fmla="*/ 6441602 h 6441602"/>
              <a:gd name="connsiteX0" fmla="*/ 5081 w 4750102"/>
              <a:gd name="connsiteY0" fmla="*/ 6441602 h 6441602"/>
              <a:gd name="connsiteX1" fmla="*/ 0 w 4750102"/>
              <a:gd name="connsiteY1" fmla="*/ 0 h 6441602"/>
              <a:gd name="connsiteX2" fmla="*/ 3004646 w 4750102"/>
              <a:gd name="connsiteY2" fmla="*/ 14845 h 6441602"/>
              <a:gd name="connsiteX3" fmla="*/ 4750102 w 4750102"/>
              <a:gd name="connsiteY3" fmla="*/ 6440744 h 6441602"/>
              <a:gd name="connsiteX4" fmla="*/ 5081 w 4750102"/>
              <a:gd name="connsiteY4" fmla="*/ 6441602 h 6441602"/>
              <a:gd name="connsiteX0" fmla="*/ 2224406 w 4750102"/>
              <a:gd name="connsiteY0" fmla="*/ 6327456 h 6440744"/>
              <a:gd name="connsiteX1" fmla="*/ 0 w 4750102"/>
              <a:gd name="connsiteY1" fmla="*/ 0 h 6440744"/>
              <a:gd name="connsiteX2" fmla="*/ 3004646 w 4750102"/>
              <a:gd name="connsiteY2" fmla="*/ 14845 h 6440744"/>
              <a:gd name="connsiteX3" fmla="*/ 4750102 w 4750102"/>
              <a:gd name="connsiteY3" fmla="*/ 6440744 h 6440744"/>
              <a:gd name="connsiteX4" fmla="*/ 2224406 w 4750102"/>
              <a:gd name="connsiteY4" fmla="*/ 6327456 h 6440744"/>
              <a:gd name="connsiteX0" fmla="*/ 1719581 w 4750102"/>
              <a:gd name="connsiteY0" fmla="*/ 6422578 h 6440744"/>
              <a:gd name="connsiteX1" fmla="*/ 0 w 4750102"/>
              <a:gd name="connsiteY1" fmla="*/ 0 h 6440744"/>
              <a:gd name="connsiteX2" fmla="*/ 3004646 w 4750102"/>
              <a:gd name="connsiteY2" fmla="*/ 14845 h 6440744"/>
              <a:gd name="connsiteX3" fmla="*/ 4750102 w 4750102"/>
              <a:gd name="connsiteY3" fmla="*/ 6440744 h 6440744"/>
              <a:gd name="connsiteX4" fmla="*/ 1719581 w 4750102"/>
              <a:gd name="connsiteY4" fmla="*/ 6422578 h 6440744"/>
              <a:gd name="connsiteX0" fmla="*/ 121 w 3030642"/>
              <a:gd name="connsiteY0" fmla="*/ 6407733 h 6425899"/>
              <a:gd name="connsiteX1" fmla="*/ 299840 w 3030642"/>
              <a:gd name="connsiteY1" fmla="*/ 251497 h 6425899"/>
              <a:gd name="connsiteX2" fmla="*/ 1285186 w 3030642"/>
              <a:gd name="connsiteY2" fmla="*/ 0 h 6425899"/>
              <a:gd name="connsiteX3" fmla="*/ 3030642 w 3030642"/>
              <a:gd name="connsiteY3" fmla="*/ 6425899 h 6425899"/>
              <a:gd name="connsiteX4" fmla="*/ 121 w 3030642"/>
              <a:gd name="connsiteY4" fmla="*/ 6407733 h 6425899"/>
              <a:gd name="connsiteX0" fmla="*/ 1167 w 3031688"/>
              <a:gd name="connsiteY0" fmla="*/ 6422578 h 6440744"/>
              <a:gd name="connsiteX1" fmla="*/ 15136 w 3031688"/>
              <a:gd name="connsiteY1" fmla="*/ 0 h 6440744"/>
              <a:gd name="connsiteX2" fmla="*/ 1286232 w 3031688"/>
              <a:gd name="connsiteY2" fmla="*/ 14845 h 6440744"/>
              <a:gd name="connsiteX3" fmla="*/ 3031688 w 3031688"/>
              <a:gd name="connsiteY3" fmla="*/ 6440744 h 6440744"/>
              <a:gd name="connsiteX4" fmla="*/ 1167 w 3031688"/>
              <a:gd name="connsiteY4" fmla="*/ 6422578 h 6440744"/>
              <a:gd name="connsiteX0" fmla="*/ 576581 w 3016552"/>
              <a:gd name="connsiteY0" fmla="*/ 6099164 h 6440744"/>
              <a:gd name="connsiteX1" fmla="*/ 0 w 3016552"/>
              <a:gd name="connsiteY1" fmla="*/ 0 h 6440744"/>
              <a:gd name="connsiteX2" fmla="*/ 1271096 w 3016552"/>
              <a:gd name="connsiteY2" fmla="*/ 14845 h 6440744"/>
              <a:gd name="connsiteX3" fmla="*/ 3016552 w 3016552"/>
              <a:gd name="connsiteY3" fmla="*/ 6440744 h 6440744"/>
              <a:gd name="connsiteX4" fmla="*/ 576581 w 3016552"/>
              <a:gd name="connsiteY4" fmla="*/ 6099164 h 6440744"/>
              <a:gd name="connsiteX0" fmla="*/ 367031 w 3016552"/>
              <a:gd name="connsiteY0" fmla="*/ 6451116 h 6451116"/>
              <a:gd name="connsiteX1" fmla="*/ 0 w 3016552"/>
              <a:gd name="connsiteY1" fmla="*/ 0 h 6451116"/>
              <a:gd name="connsiteX2" fmla="*/ 1271096 w 3016552"/>
              <a:gd name="connsiteY2" fmla="*/ 14845 h 6451116"/>
              <a:gd name="connsiteX3" fmla="*/ 3016552 w 3016552"/>
              <a:gd name="connsiteY3" fmla="*/ 6440744 h 6451116"/>
              <a:gd name="connsiteX4" fmla="*/ 367031 w 3016552"/>
              <a:gd name="connsiteY4" fmla="*/ 6451116 h 6451116"/>
              <a:gd name="connsiteX0" fmla="*/ 207 w 2649728"/>
              <a:gd name="connsiteY0" fmla="*/ 6436271 h 6436271"/>
              <a:gd name="connsiteX1" fmla="*/ 166576 w 2649728"/>
              <a:gd name="connsiteY1" fmla="*/ 4179 h 6436271"/>
              <a:gd name="connsiteX2" fmla="*/ 904272 w 2649728"/>
              <a:gd name="connsiteY2" fmla="*/ 0 h 6436271"/>
              <a:gd name="connsiteX3" fmla="*/ 2649728 w 2649728"/>
              <a:gd name="connsiteY3" fmla="*/ 6425899 h 6436271"/>
              <a:gd name="connsiteX4" fmla="*/ 207 w 2649728"/>
              <a:gd name="connsiteY4" fmla="*/ 6436271 h 6436271"/>
              <a:gd name="connsiteX0" fmla="*/ 903 w 2650424"/>
              <a:gd name="connsiteY0" fmla="*/ 6441604 h 6441604"/>
              <a:gd name="connsiteX1" fmla="*/ 24397 w 2650424"/>
              <a:gd name="connsiteY1" fmla="*/ 0 h 6441604"/>
              <a:gd name="connsiteX2" fmla="*/ 904968 w 2650424"/>
              <a:gd name="connsiteY2" fmla="*/ 5333 h 6441604"/>
              <a:gd name="connsiteX3" fmla="*/ 2650424 w 2650424"/>
              <a:gd name="connsiteY3" fmla="*/ 6431232 h 6441604"/>
              <a:gd name="connsiteX4" fmla="*/ 903 w 2650424"/>
              <a:gd name="connsiteY4" fmla="*/ 6441604 h 6441604"/>
              <a:gd name="connsiteX0" fmla="*/ 1277 w 2638508"/>
              <a:gd name="connsiteY0" fmla="*/ 6419512 h 6431232"/>
              <a:gd name="connsiteX1" fmla="*/ 12481 w 2638508"/>
              <a:gd name="connsiteY1" fmla="*/ 0 h 6431232"/>
              <a:gd name="connsiteX2" fmla="*/ 893052 w 2638508"/>
              <a:gd name="connsiteY2" fmla="*/ 5333 h 6431232"/>
              <a:gd name="connsiteX3" fmla="*/ 2638508 w 2638508"/>
              <a:gd name="connsiteY3" fmla="*/ 6431232 h 6431232"/>
              <a:gd name="connsiteX4" fmla="*/ 1277 w 2638508"/>
              <a:gd name="connsiteY4" fmla="*/ 6419512 h 6431232"/>
              <a:gd name="connsiteX0" fmla="*/ 1277 w 2638508"/>
              <a:gd name="connsiteY0" fmla="*/ 6419512 h 6419512"/>
              <a:gd name="connsiteX1" fmla="*/ 12481 w 2638508"/>
              <a:gd name="connsiteY1" fmla="*/ 0 h 6419512"/>
              <a:gd name="connsiteX2" fmla="*/ 893052 w 2638508"/>
              <a:gd name="connsiteY2" fmla="*/ 5333 h 6419512"/>
              <a:gd name="connsiteX3" fmla="*/ 2638508 w 2638508"/>
              <a:gd name="connsiteY3" fmla="*/ 6396865 h 6419512"/>
              <a:gd name="connsiteX4" fmla="*/ 1277 w 2638508"/>
              <a:gd name="connsiteY4" fmla="*/ 6419512 h 6419512"/>
              <a:gd name="connsiteX0" fmla="*/ 1277 w 2638508"/>
              <a:gd name="connsiteY0" fmla="*/ 6419512 h 6419512"/>
              <a:gd name="connsiteX1" fmla="*/ 12481 w 2638508"/>
              <a:gd name="connsiteY1" fmla="*/ 0 h 6419512"/>
              <a:gd name="connsiteX2" fmla="*/ 893052 w 2638508"/>
              <a:gd name="connsiteY2" fmla="*/ 5333 h 6419512"/>
              <a:gd name="connsiteX3" fmla="*/ 2638508 w 2638508"/>
              <a:gd name="connsiteY3" fmla="*/ 6396865 h 6419512"/>
              <a:gd name="connsiteX4" fmla="*/ 1277 w 2638508"/>
              <a:gd name="connsiteY4" fmla="*/ 6419512 h 6419512"/>
              <a:gd name="connsiteX0" fmla="*/ 1277 w 2643424"/>
              <a:gd name="connsiteY0" fmla="*/ 6419512 h 6421413"/>
              <a:gd name="connsiteX1" fmla="*/ 12481 w 2643424"/>
              <a:gd name="connsiteY1" fmla="*/ 0 h 6421413"/>
              <a:gd name="connsiteX2" fmla="*/ 893052 w 2643424"/>
              <a:gd name="connsiteY2" fmla="*/ 5333 h 6421413"/>
              <a:gd name="connsiteX3" fmla="*/ 2643424 w 2643424"/>
              <a:gd name="connsiteY3" fmla="*/ 6421413 h 6421413"/>
              <a:gd name="connsiteX4" fmla="*/ 1277 w 2643424"/>
              <a:gd name="connsiteY4" fmla="*/ 6419512 h 6421413"/>
              <a:gd name="connsiteX0" fmla="*/ 1531 w 2643678"/>
              <a:gd name="connsiteY0" fmla="*/ 6424421 h 6426322"/>
              <a:gd name="connsiteX1" fmla="*/ 7819 w 2643678"/>
              <a:gd name="connsiteY1" fmla="*/ 0 h 6426322"/>
              <a:gd name="connsiteX2" fmla="*/ 893306 w 2643678"/>
              <a:gd name="connsiteY2" fmla="*/ 10242 h 6426322"/>
              <a:gd name="connsiteX3" fmla="*/ 2643678 w 2643678"/>
              <a:gd name="connsiteY3" fmla="*/ 6426322 h 6426322"/>
              <a:gd name="connsiteX4" fmla="*/ 1531 w 2643678"/>
              <a:gd name="connsiteY4" fmla="*/ 6424421 h 6426322"/>
              <a:gd name="connsiteX0" fmla="*/ 1181 w 2643328"/>
              <a:gd name="connsiteY0" fmla="*/ 6414179 h 6416080"/>
              <a:gd name="connsiteX1" fmla="*/ 14804 w 2643328"/>
              <a:gd name="connsiteY1" fmla="*/ 19058 h 6416080"/>
              <a:gd name="connsiteX2" fmla="*/ 892956 w 2643328"/>
              <a:gd name="connsiteY2" fmla="*/ 0 h 6416080"/>
              <a:gd name="connsiteX3" fmla="*/ 2643328 w 2643328"/>
              <a:gd name="connsiteY3" fmla="*/ 6416080 h 6416080"/>
              <a:gd name="connsiteX4" fmla="*/ 1181 w 2643328"/>
              <a:gd name="connsiteY4" fmla="*/ 6414179 h 6416080"/>
              <a:gd name="connsiteX0" fmla="*/ 3491 w 2645638"/>
              <a:gd name="connsiteY0" fmla="*/ 6419537 h 6421438"/>
              <a:gd name="connsiteX1" fmla="*/ 0 w 2645638"/>
              <a:gd name="connsiteY1" fmla="*/ 0 h 6421438"/>
              <a:gd name="connsiteX2" fmla="*/ 895266 w 2645638"/>
              <a:gd name="connsiteY2" fmla="*/ 5358 h 6421438"/>
              <a:gd name="connsiteX3" fmla="*/ 2645638 w 2645638"/>
              <a:gd name="connsiteY3" fmla="*/ 6421438 h 6421438"/>
              <a:gd name="connsiteX4" fmla="*/ 3491 w 2645638"/>
              <a:gd name="connsiteY4" fmla="*/ 6419537 h 6421438"/>
              <a:gd name="connsiteX0" fmla="*/ 3491 w 2645638"/>
              <a:gd name="connsiteY0" fmla="*/ 6419537 h 6421438"/>
              <a:gd name="connsiteX1" fmla="*/ 0 w 2645638"/>
              <a:gd name="connsiteY1" fmla="*/ 0 h 6421438"/>
              <a:gd name="connsiteX2" fmla="*/ 420813 w 2645638"/>
              <a:gd name="connsiteY2" fmla="*/ 5358 h 6421438"/>
              <a:gd name="connsiteX3" fmla="*/ 2645638 w 2645638"/>
              <a:gd name="connsiteY3" fmla="*/ 6421438 h 6421438"/>
              <a:gd name="connsiteX4" fmla="*/ 3491 w 2645638"/>
              <a:gd name="connsiteY4" fmla="*/ 6419537 h 6421438"/>
              <a:gd name="connsiteX0" fmla="*/ 3491 w 2645638"/>
              <a:gd name="connsiteY0" fmla="*/ 6438408 h 6440309"/>
              <a:gd name="connsiteX1" fmla="*/ 0 w 2645638"/>
              <a:gd name="connsiteY1" fmla="*/ 18871 h 6440309"/>
              <a:gd name="connsiteX2" fmla="*/ 541583 w 2645638"/>
              <a:gd name="connsiteY2" fmla="*/ 0 h 6440309"/>
              <a:gd name="connsiteX3" fmla="*/ 2645638 w 2645638"/>
              <a:gd name="connsiteY3" fmla="*/ 6440309 h 6440309"/>
              <a:gd name="connsiteX4" fmla="*/ 3491 w 2645638"/>
              <a:gd name="connsiteY4" fmla="*/ 6438408 h 6440309"/>
              <a:gd name="connsiteX0" fmla="*/ 3491 w 2645638"/>
              <a:gd name="connsiteY0" fmla="*/ 6430332 h 6432233"/>
              <a:gd name="connsiteX1" fmla="*/ 0 w 2645638"/>
              <a:gd name="connsiteY1" fmla="*/ 10795 h 6432233"/>
              <a:gd name="connsiteX2" fmla="*/ 550210 w 2645638"/>
              <a:gd name="connsiteY2" fmla="*/ 0 h 6432233"/>
              <a:gd name="connsiteX3" fmla="*/ 2645638 w 2645638"/>
              <a:gd name="connsiteY3" fmla="*/ 6432233 h 6432233"/>
              <a:gd name="connsiteX4" fmla="*/ 3491 w 2645638"/>
              <a:gd name="connsiteY4" fmla="*/ 6430332 h 6432233"/>
              <a:gd name="connsiteX0" fmla="*/ 106 w 2985153"/>
              <a:gd name="connsiteY0" fmla="*/ 6439250 h 6439250"/>
              <a:gd name="connsiteX1" fmla="*/ 339515 w 2985153"/>
              <a:gd name="connsiteY1" fmla="*/ 10795 h 6439250"/>
              <a:gd name="connsiteX2" fmla="*/ 889725 w 2985153"/>
              <a:gd name="connsiteY2" fmla="*/ 0 h 6439250"/>
              <a:gd name="connsiteX3" fmla="*/ 2985153 w 2985153"/>
              <a:gd name="connsiteY3" fmla="*/ 6432233 h 6439250"/>
              <a:gd name="connsiteX4" fmla="*/ 106 w 2985153"/>
              <a:gd name="connsiteY4" fmla="*/ 6439250 h 6439250"/>
              <a:gd name="connsiteX0" fmla="*/ 13016 w 2998063"/>
              <a:gd name="connsiteY0" fmla="*/ 6446291 h 6446291"/>
              <a:gd name="connsiteX1" fmla="*/ 0 w 2998063"/>
              <a:gd name="connsiteY1" fmla="*/ 0 h 6446291"/>
              <a:gd name="connsiteX2" fmla="*/ 902635 w 2998063"/>
              <a:gd name="connsiteY2" fmla="*/ 7041 h 6446291"/>
              <a:gd name="connsiteX3" fmla="*/ 2998063 w 2998063"/>
              <a:gd name="connsiteY3" fmla="*/ 6439274 h 6446291"/>
              <a:gd name="connsiteX4" fmla="*/ 13016 w 2998063"/>
              <a:gd name="connsiteY4" fmla="*/ 6446291 h 6446291"/>
              <a:gd name="connsiteX0" fmla="*/ 260666 w 3245713"/>
              <a:gd name="connsiteY0" fmla="*/ 6446291 h 6446291"/>
              <a:gd name="connsiteX1" fmla="*/ 0 w 3245713"/>
              <a:gd name="connsiteY1" fmla="*/ 0 h 6446291"/>
              <a:gd name="connsiteX2" fmla="*/ 1150285 w 3245713"/>
              <a:gd name="connsiteY2" fmla="*/ 7041 h 6446291"/>
              <a:gd name="connsiteX3" fmla="*/ 3245713 w 3245713"/>
              <a:gd name="connsiteY3" fmla="*/ 6439274 h 6446291"/>
              <a:gd name="connsiteX4" fmla="*/ 260666 w 3245713"/>
              <a:gd name="connsiteY4" fmla="*/ 6446291 h 6446291"/>
              <a:gd name="connsiteX0" fmla="*/ 3491 w 3245713"/>
              <a:gd name="connsiteY0" fmla="*/ 6437373 h 6439274"/>
              <a:gd name="connsiteX1" fmla="*/ 0 w 3245713"/>
              <a:gd name="connsiteY1" fmla="*/ 0 h 6439274"/>
              <a:gd name="connsiteX2" fmla="*/ 1150285 w 3245713"/>
              <a:gd name="connsiteY2" fmla="*/ 7041 h 6439274"/>
              <a:gd name="connsiteX3" fmla="*/ 3245713 w 3245713"/>
              <a:gd name="connsiteY3" fmla="*/ 6439274 h 6439274"/>
              <a:gd name="connsiteX4" fmla="*/ 3491 w 3245713"/>
              <a:gd name="connsiteY4" fmla="*/ 6437373 h 6439274"/>
              <a:gd name="connsiteX0" fmla="*/ 679766 w 3921988"/>
              <a:gd name="connsiteY0" fmla="*/ 6437373 h 6439274"/>
              <a:gd name="connsiteX1" fmla="*/ 0 w 3921988"/>
              <a:gd name="connsiteY1" fmla="*/ 0 h 6439274"/>
              <a:gd name="connsiteX2" fmla="*/ 1826560 w 3921988"/>
              <a:gd name="connsiteY2" fmla="*/ 7041 h 6439274"/>
              <a:gd name="connsiteX3" fmla="*/ 3921988 w 3921988"/>
              <a:gd name="connsiteY3" fmla="*/ 6439274 h 6439274"/>
              <a:gd name="connsiteX4" fmla="*/ 679766 w 3921988"/>
              <a:gd name="connsiteY4" fmla="*/ 6437373 h 6439274"/>
              <a:gd name="connsiteX0" fmla="*/ 41591 w 3921988"/>
              <a:gd name="connsiteY0" fmla="*/ 6437373 h 6439274"/>
              <a:gd name="connsiteX1" fmla="*/ 0 w 3921988"/>
              <a:gd name="connsiteY1" fmla="*/ 0 h 6439274"/>
              <a:gd name="connsiteX2" fmla="*/ 1826560 w 3921988"/>
              <a:gd name="connsiteY2" fmla="*/ 7041 h 6439274"/>
              <a:gd name="connsiteX3" fmla="*/ 3921988 w 3921988"/>
              <a:gd name="connsiteY3" fmla="*/ 6439274 h 6439274"/>
              <a:gd name="connsiteX4" fmla="*/ 41591 w 3921988"/>
              <a:gd name="connsiteY4" fmla="*/ 6437373 h 6439274"/>
              <a:gd name="connsiteX0" fmla="*/ 1262 w 3881659"/>
              <a:gd name="connsiteY0" fmla="*/ 6437373 h 6439274"/>
              <a:gd name="connsiteX1" fmla="*/ 12834 w 3881659"/>
              <a:gd name="connsiteY1" fmla="*/ 0 h 6439274"/>
              <a:gd name="connsiteX2" fmla="*/ 1786231 w 3881659"/>
              <a:gd name="connsiteY2" fmla="*/ 7041 h 6439274"/>
              <a:gd name="connsiteX3" fmla="*/ 3881659 w 3881659"/>
              <a:gd name="connsiteY3" fmla="*/ 6439274 h 6439274"/>
              <a:gd name="connsiteX4" fmla="*/ 1262 w 3881659"/>
              <a:gd name="connsiteY4" fmla="*/ 6437373 h 6439274"/>
              <a:gd name="connsiteX0" fmla="*/ 20234 w 3900631"/>
              <a:gd name="connsiteY0" fmla="*/ 6430332 h 6432233"/>
              <a:gd name="connsiteX1" fmla="*/ 0 w 3900631"/>
              <a:gd name="connsiteY1" fmla="*/ 7848 h 6432233"/>
              <a:gd name="connsiteX2" fmla="*/ 1805203 w 3900631"/>
              <a:gd name="connsiteY2" fmla="*/ 0 h 6432233"/>
              <a:gd name="connsiteX3" fmla="*/ 3900631 w 3900631"/>
              <a:gd name="connsiteY3" fmla="*/ 6432233 h 6432233"/>
              <a:gd name="connsiteX4" fmla="*/ 20234 w 3900631"/>
              <a:gd name="connsiteY4" fmla="*/ 6430332 h 6432233"/>
              <a:gd name="connsiteX0" fmla="*/ 12283 w 3892680"/>
              <a:gd name="connsiteY0" fmla="*/ 6444818 h 6446719"/>
              <a:gd name="connsiteX1" fmla="*/ 0 w 3892680"/>
              <a:gd name="connsiteY1" fmla="*/ 0 h 6446719"/>
              <a:gd name="connsiteX2" fmla="*/ 1797252 w 3892680"/>
              <a:gd name="connsiteY2" fmla="*/ 14486 h 6446719"/>
              <a:gd name="connsiteX3" fmla="*/ 3892680 w 3892680"/>
              <a:gd name="connsiteY3" fmla="*/ 6446719 h 6446719"/>
              <a:gd name="connsiteX4" fmla="*/ 12283 w 3892680"/>
              <a:gd name="connsiteY4" fmla="*/ 6444818 h 644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2680" h="6446719">
                <a:moveTo>
                  <a:pt x="12283" y="6444818"/>
                </a:moveTo>
                <a:cubicBezTo>
                  <a:pt x="5139" y="4292168"/>
                  <a:pt x="7144" y="2152650"/>
                  <a:pt x="0" y="0"/>
                </a:cubicBezTo>
                <a:lnTo>
                  <a:pt x="1797252" y="14486"/>
                </a:lnTo>
                <a:lnTo>
                  <a:pt x="3892680" y="6446719"/>
                </a:lnTo>
                <a:lnTo>
                  <a:pt x="12283" y="64448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76D1A-3C0C-4473-B941-3E6E31C96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8422" y="3291870"/>
            <a:ext cx="7555403" cy="784830"/>
          </a:xfrm>
        </p:spPr>
        <p:txBody>
          <a:bodyPr anchor="b">
            <a:spAutoFit/>
          </a:bodyPr>
          <a:lstStyle>
            <a:lvl1pPr>
              <a:defRPr sz="45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3DAD5-66F7-44CB-BD92-35F6AF415DE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98421" y="4248150"/>
            <a:ext cx="7555403" cy="1419226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short subtitle or short summary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F46BC9E2-B785-4CED-81C1-98930C7FB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>
                <a:latin typeface="Calibri Light"/>
              </a:rPr>
              <a:t>villagereach.org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E5B693D-D502-402C-A55C-6546FB45F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5908C-90C4-474F-8CBC-3B2F1E20A5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3826" y="844953"/>
            <a:ext cx="3214000" cy="4821000"/>
          </a:xfrm>
          <a:prstGeom prst="rect">
            <a:avLst/>
          </a:prstGeom>
        </p:spPr>
      </p:pic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27438123-B56C-4458-8D69-1CB2470B6DB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3826" y="844953"/>
            <a:ext cx="3214000" cy="4821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change picture</a:t>
            </a:r>
          </a:p>
        </p:txBody>
      </p:sp>
    </p:spTree>
    <p:extLst>
      <p:ext uri="{BB962C8B-B14F-4D97-AF65-F5344CB8AC3E}">
        <p14:creationId xmlns:p14="http://schemas.microsoft.com/office/powerpoint/2010/main" val="17264608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2 Content - No Sl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4CABB-2F41-4A08-9CC8-FAC8925E79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0049" y="1584251"/>
            <a:ext cx="11387553" cy="1429109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body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50F2E5E-F535-455F-A4F9-E5DA44E03C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49" y="301754"/>
            <a:ext cx="11387561" cy="707886"/>
          </a:xfrm>
        </p:spPr>
        <p:txBody>
          <a:bodyPr>
            <a:spAutoFit/>
          </a:bodyPr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7980186-1DCF-46E8-B3E0-2A28CE022A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049" y="956162"/>
            <a:ext cx="11387559" cy="369332"/>
          </a:xfrm>
        </p:spPr>
        <p:txBody>
          <a:bodyPr anchor="t" anchorCtr="0">
            <a:sp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B6401867-C02A-49E0-A9E4-41037899A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>
                <a:latin typeface="Calibri Light"/>
              </a:rPr>
              <a:t>villagereach.org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D46CB62-098A-469D-B35C-A70B319AE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814E1CB-B1DC-4860-AB32-557080F9BE2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94917" y="4133199"/>
            <a:ext cx="11387553" cy="1429109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body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26767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lt1">
              <a:alpha val="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112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2855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2855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285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285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285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7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7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06059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2 Subtitles,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9">
            <a:extLst>
              <a:ext uri="{FF2B5EF4-FFF2-40B4-BE49-F238E27FC236}">
                <a16:creationId xmlns:a16="http://schemas.microsoft.com/office/drawing/2014/main" id="{A6B449AB-4E59-612D-10D0-DF1CD7A206C9}"/>
              </a:ext>
            </a:extLst>
          </p:cNvPr>
          <p:cNvSpPr/>
          <p:nvPr userDrawn="1"/>
        </p:nvSpPr>
        <p:spPr>
          <a:xfrm flipH="1" flipV="1">
            <a:off x="9425686" y="0"/>
            <a:ext cx="2766315" cy="6870205"/>
          </a:xfrm>
          <a:custGeom>
            <a:avLst/>
            <a:gdLst>
              <a:gd name="connsiteX0" fmla="*/ 2766315 w 2766315"/>
              <a:gd name="connsiteY0" fmla="*/ 6870205 h 6870205"/>
              <a:gd name="connsiteX1" fmla="*/ 2020 w 2766315"/>
              <a:gd name="connsiteY1" fmla="*/ 6870205 h 6870205"/>
              <a:gd name="connsiteX2" fmla="*/ 1142 w 2766315"/>
              <a:gd name="connsiteY2" fmla="*/ 6279759 h 6870205"/>
              <a:gd name="connsiteX3" fmla="*/ 0 w 2766315"/>
              <a:gd name="connsiteY3" fmla="*/ 14059 h 6870205"/>
              <a:gd name="connsiteX4" fmla="*/ 670888 w 2766315"/>
              <a:gd name="connsiteY4" fmla="*/ 0 h 68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6315" h="6870205">
                <a:moveTo>
                  <a:pt x="2766315" y="6870205"/>
                </a:moveTo>
                <a:lnTo>
                  <a:pt x="2020" y="6870205"/>
                </a:lnTo>
                <a:lnTo>
                  <a:pt x="1142" y="6279759"/>
                </a:lnTo>
                <a:cubicBezTo>
                  <a:pt x="761" y="4191193"/>
                  <a:pt x="6533" y="2116696"/>
                  <a:pt x="0" y="14059"/>
                </a:cubicBezTo>
                <a:lnTo>
                  <a:pt x="670888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4CABB-2F41-4A08-9CC8-FAC8925E79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0049" y="1421476"/>
            <a:ext cx="11387553" cy="1429109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body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50F2E5E-F535-455F-A4F9-E5DA44E03C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49" y="301754"/>
            <a:ext cx="11387561" cy="707886"/>
          </a:xfrm>
        </p:spPr>
        <p:txBody>
          <a:bodyPr>
            <a:spAutoFit/>
          </a:bodyPr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7980186-1DCF-46E8-B3E0-2A28CE022A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049" y="956162"/>
            <a:ext cx="11387559" cy="369332"/>
          </a:xfrm>
        </p:spPr>
        <p:txBody>
          <a:bodyPr anchor="t" anchorCtr="0">
            <a:sp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B6401867-C02A-49E0-A9E4-41037899A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>
                <a:latin typeface="Calibri Light"/>
              </a:rPr>
              <a:t>villagereach.org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D46CB62-098A-469D-B35C-A70B319AE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2168C81-A15D-480D-8624-01238775B75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00049" y="4300143"/>
            <a:ext cx="11387553" cy="1429109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body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E1ACE4B6-6828-49D3-B7D8-564599196C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0049" y="3834829"/>
            <a:ext cx="11387559" cy="369332"/>
          </a:xfrm>
        </p:spPr>
        <p:txBody>
          <a:bodyPr anchor="t" anchorCtr="0">
            <a:sp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</p:spTree>
    <p:extLst>
      <p:ext uri="{BB962C8B-B14F-4D97-AF65-F5344CB8AC3E}">
        <p14:creationId xmlns:p14="http://schemas.microsoft.com/office/powerpoint/2010/main" val="9966550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arallelogram 15">
            <a:extLst>
              <a:ext uri="{FF2B5EF4-FFF2-40B4-BE49-F238E27FC236}">
                <a16:creationId xmlns:a16="http://schemas.microsoft.com/office/drawing/2014/main" id="{F5BBF745-941A-47F4-A0FF-8DDD69952C83}"/>
              </a:ext>
            </a:extLst>
          </p:cNvPr>
          <p:cNvSpPr/>
          <p:nvPr userDrawn="1"/>
        </p:nvSpPr>
        <p:spPr>
          <a:xfrm>
            <a:off x="0" y="-15448"/>
            <a:ext cx="3892680" cy="6885679"/>
          </a:xfrm>
          <a:custGeom>
            <a:avLst/>
            <a:gdLst>
              <a:gd name="connsiteX0" fmla="*/ 0 w 6686597"/>
              <a:gd name="connsiteY0" fmla="*/ 6429375 h 6429375"/>
              <a:gd name="connsiteX1" fmla="*/ 1607344 w 6686597"/>
              <a:gd name="connsiteY1" fmla="*/ 0 h 6429375"/>
              <a:gd name="connsiteX2" fmla="*/ 6686597 w 6686597"/>
              <a:gd name="connsiteY2" fmla="*/ 0 h 6429375"/>
              <a:gd name="connsiteX3" fmla="*/ 5079253 w 6686597"/>
              <a:gd name="connsiteY3" fmla="*/ 6429375 h 6429375"/>
              <a:gd name="connsiteX4" fmla="*/ 0 w 6686597"/>
              <a:gd name="connsiteY4" fmla="*/ 6429375 h 6429375"/>
              <a:gd name="connsiteX0" fmla="*/ 583406 w 7270003"/>
              <a:gd name="connsiteY0" fmla="*/ 6448425 h 6448425"/>
              <a:gd name="connsiteX1" fmla="*/ 0 w 7270003"/>
              <a:gd name="connsiteY1" fmla="*/ 0 h 6448425"/>
              <a:gd name="connsiteX2" fmla="*/ 7270003 w 7270003"/>
              <a:gd name="connsiteY2" fmla="*/ 19050 h 6448425"/>
              <a:gd name="connsiteX3" fmla="*/ 5662659 w 7270003"/>
              <a:gd name="connsiteY3" fmla="*/ 6448425 h 6448425"/>
              <a:gd name="connsiteX4" fmla="*/ 583406 w 7270003"/>
              <a:gd name="connsiteY4" fmla="*/ 6448425 h 6448425"/>
              <a:gd name="connsiteX0" fmla="*/ 21431 w 7270003"/>
              <a:gd name="connsiteY0" fmla="*/ 6457950 h 6457950"/>
              <a:gd name="connsiteX1" fmla="*/ 0 w 7270003"/>
              <a:gd name="connsiteY1" fmla="*/ 0 h 6457950"/>
              <a:gd name="connsiteX2" fmla="*/ 7270003 w 7270003"/>
              <a:gd name="connsiteY2" fmla="*/ 19050 h 6457950"/>
              <a:gd name="connsiteX3" fmla="*/ 5662659 w 7270003"/>
              <a:gd name="connsiteY3" fmla="*/ 6448425 h 6457950"/>
              <a:gd name="connsiteX4" fmla="*/ 21431 w 7270003"/>
              <a:gd name="connsiteY4" fmla="*/ 6457950 h 6457950"/>
              <a:gd name="connsiteX0" fmla="*/ 21431 w 5662659"/>
              <a:gd name="connsiteY0" fmla="*/ 6457950 h 6457950"/>
              <a:gd name="connsiteX1" fmla="*/ 0 w 5662659"/>
              <a:gd name="connsiteY1" fmla="*/ 0 h 6457950"/>
              <a:gd name="connsiteX2" fmla="*/ 3917203 w 5662659"/>
              <a:gd name="connsiteY2" fmla="*/ 9525 h 6457950"/>
              <a:gd name="connsiteX3" fmla="*/ 5662659 w 5662659"/>
              <a:gd name="connsiteY3" fmla="*/ 6448425 h 6457950"/>
              <a:gd name="connsiteX4" fmla="*/ 21431 w 5662659"/>
              <a:gd name="connsiteY4" fmla="*/ 6457950 h 6457950"/>
              <a:gd name="connsiteX0" fmla="*/ 678 w 5641906"/>
              <a:gd name="connsiteY0" fmla="*/ 6448425 h 6448425"/>
              <a:gd name="connsiteX1" fmla="*/ 38241 w 5641906"/>
              <a:gd name="connsiteY1" fmla="*/ 307 h 6448425"/>
              <a:gd name="connsiteX2" fmla="*/ 3896450 w 5641906"/>
              <a:gd name="connsiteY2" fmla="*/ 0 h 6448425"/>
              <a:gd name="connsiteX3" fmla="*/ 5641906 w 5641906"/>
              <a:gd name="connsiteY3" fmla="*/ 6438900 h 6448425"/>
              <a:gd name="connsiteX4" fmla="*/ 678 w 5641906"/>
              <a:gd name="connsiteY4" fmla="*/ 6448425 h 6448425"/>
              <a:gd name="connsiteX0" fmla="*/ 4224 w 5645452"/>
              <a:gd name="connsiteY0" fmla="*/ 6448425 h 6448425"/>
              <a:gd name="connsiteX1" fmla="*/ 0 w 5645452"/>
              <a:gd name="connsiteY1" fmla="*/ 7681 h 6448425"/>
              <a:gd name="connsiteX2" fmla="*/ 3899996 w 5645452"/>
              <a:gd name="connsiteY2" fmla="*/ 0 h 6448425"/>
              <a:gd name="connsiteX3" fmla="*/ 5645452 w 5645452"/>
              <a:gd name="connsiteY3" fmla="*/ 6438900 h 6448425"/>
              <a:gd name="connsiteX4" fmla="*/ 4224 w 5645452"/>
              <a:gd name="connsiteY4" fmla="*/ 6448425 h 6448425"/>
              <a:gd name="connsiteX0" fmla="*/ 1118649 w 5645452"/>
              <a:gd name="connsiteY0" fmla="*/ 6448425 h 6448425"/>
              <a:gd name="connsiteX1" fmla="*/ 0 w 5645452"/>
              <a:gd name="connsiteY1" fmla="*/ 7681 h 6448425"/>
              <a:gd name="connsiteX2" fmla="*/ 3899996 w 5645452"/>
              <a:gd name="connsiteY2" fmla="*/ 0 h 6448425"/>
              <a:gd name="connsiteX3" fmla="*/ 5645452 w 5645452"/>
              <a:gd name="connsiteY3" fmla="*/ 6438900 h 6448425"/>
              <a:gd name="connsiteX4" fmla="*/ 1118649 w 5645452"/>
              <a:gd name="connsiteY4" fmla="*/ 6448425 h 6448425"/>
              <a:gd name="connsiteX0" fmla="*/ 909099 w 5645452"/>
              <a:gd name="connsiteY0" fmla="*/ 6448425 h 6448425"/>
              <a:gd name="connsiteX1" fmla="*/ 0 w 5645452"/>
              <a:gd name="connsiteY1" fmla="*/ 7681 h 6448425"/>
              <a:gd name="connsiteX2" fmla="*/ 3899996 w 5645452"/>
              <a:gd name="connsiteY2" fmla="*/ 0 h 6448425"/>
              <a:gd name="connsiteX3" fmla="*/ 5645452 w 5645452"/>
              <a:gd name="connsiteY3" fmla="*/ 6438900 h 6448425"/>
              <a:gd name="connsiteX4" fmla="*/ 909099 w 5645452"/>
              <a:gd name="connsiteY4" fmla="*/ 6448425 h 6448425"/>
              <a:gd name="connsiteX0" fmla="*/ 105 w 4736458"/>
              <a:gd name="connsiteY0" fmla="*/ 6448425 h 6448425"/>
              <a:gd name="connsiteX1" fmla="*/ 348306 w 4736458"/>
              <a:gd name="connsiteY1" fmla="*/ 217231 h 6448425"/>
              <a:gd name="connsiteX2" fmla="*/ 2991002 w 4736458"/>
              <a:gd name="connsiteY2" fmla="*/ 0 h 6448425"/>
              <a:gd name="connsiteX3" fmla="*/ 4736458 w 4736458"/>
              <a:gd name="connsiteY3" fmla="*/ 6438900 h 6448425"/>
              <a:gd name="connsiteX4" fmla="*/ 105 w 4736458"/>
              <a:gd name="connsiteY4" fmla="*/ 6448425 h 6448425"/>
              <a:gd name="connsiteX0" fmla="*/ 13749 w 4750102"/>
              <a:gd name="connsiteY0" fmla="*/ 6450269 h 6450269"/>
              <a:gd name="connsiteX1" fmla="*/ 0 w 4750102"/>
              <a:gd name="connsiteY1" fmla="*/ 0 h 6450269"/>
              <a:gd name="connsiteX2" fmla="*/ 3004646 w 4750102"/>
              <a:gd name="connsiteY2" fmla="*/ 1844 h 6450269"/>
              <a:gd name="connsiteX3" fmla="*/ 4750102 w 4750102"/>
              <a:gd name="connsiteY3" fmla="*/ 6440744 h 6450269"/>
              <a:gd name="connsiteX4" fmla="*/ 13749 w 4750102"/>
              <a:gd name="connsiteY4" fmla="*/ 6450269 h 6450269"/>
              <a:gd name="connsiteX0" fmla="*/ 5081 w 4750102"/>
              <a:gd name="connsiteY0" fmla="*/ 6441602 h 6441602"/>
              <a:gd name="connsiteX1" fmla="*/ 0 w 4750102"/>
              <a:gd name="connsiteY1" fmla="*/ 0 h 6441602"/>
              <a:gd name="connsiteX2" fmla="*/ 3004646 w 4750102"/>
              <a:gd name="connsiteY2" fmla="*/ 1844 h 6441602"/>
              <a:gd name="connsiteX3" fmla="*/ 4750102 w 4750102"/>
              <a:gd name="connsiteY3" fmla="*/ 6440744 h 6441602"/>
              <a:gd name="connsiteX4" fmla="*/ 5081 w 4750102"/>
              <a:gd name="connsiteY4" fmla="*/ 6441602 h 6441602"/>
              <a:gd name="connsiteX0" fmla="*/ 5081 w 4750102"/>
              <a:gd name="connsiteY0" fmla="*/ 6441602 h 6441602"/>
              <a:gd name="connsiteX1" fmla="*/ 0 w 4750102"/>
              <a:gd name="connsiteY1" fmla="*/ 0 h 6441602"/>
              <a:gd name="connsiteX2" fmla="*/ 3004646 w 4750102"/>
              <a:gd name="connsiteY2" fmla="*/ 14845 h 6441602"/>
              <a:gd name="connsiteX3" fmla="*/ 4750102 w 4750102"/>
              <a:gd name="connsiteY3" fmla="*/ 6440744 h 6441602"/>
              <a:gd name="connsiteX4" fmla="*/ 5081 w 4750102"/>
              <a:gd name="connsiteY4" fmla="*/ 6441602 h 6441602"/>
              <a:gd name="connsiteX0" fmla="*/ 2224406 w 4750102"/>
              <a:gd name="connsiteY0" fmla="*/ 6327456 h 6440744"/>
              <a:gd name="connsiteX1" fmla="*/ 0 w 4750102"/>
              <a:gd name="connsiteY1" fmla="*/ 0 h 6440744"/>
              <a:gd name="connsiteX2" fmla="*/ 3004646 w 4750102"/>
              <a:gd name="connsiteY2" fmla="*/ 14845 h 6440744"/>
              <a:gd name="connsiteX3" fmla="*/ 4750102 w 4750102"/>
              <a:gd name="connsiteY3" fmla="*/ 6440744 h 6440744"/>
              <a:gd name="connsiteX4" fmla="*/ 2224406 w 4750102"/>
              <a:gd name="connsiteY4" fmla="*/ 6327456 h 6440744"/>
              <a:gd name="connsiteX0" fmla="*/ 1719581 w 4750102"/>
              <a:gd name="connsiteY0" fmla="*/ 6422578 h 6440744"/>
              <a:gd name="connsiteX1" fmla="*/ 0 w 4750102"/>
              <a:gd name="connsiteY1" fmla="*/ 0 h 6440744"/>
              <a:gd name="connsiteX2" fmla="*/ 3004646 w 4750102"/>
              <a:gd name="connsiteY2" fmla="*/ 14845 h 6440744"/>
              <a:gd name="connsiteX3" fmla="*/ 4750102 w 4750102"/>
              <a:gd name="connsiteY3" fmla="*/ 6440744 h 6440744"/>
              <a:gd name="connsiteX4" fmla="*/ 1719581 w 4750102"/>
              <a:gd name="connsiteY4" fmla="*/ 6422578 h 6440744"/>
              <a:gd name="connsiteX0" fmla="*/ 121 w 3030642"/>
              <a:gd name="connsiteY0" fmla="*/ 6407733 h 6425899"/>
              <a:gd name="connsiteX1" fmla="*/ 299840 w 3030642"/>
              <a:gd name="connsiteY1" fmla="*/ 251497 h 6425899"/>
              <a:gd name="connsiteX2" fmla="*/ 1285186 w 3030642"/>
              <a:gd name="connsiteY2" fmla="*/ 0 h 6425899"/>
              <a:gd name="connsiteX3" fmla="*/ 3030642 w 3030642"/>
              <a:gd name="connsiteY3" fmla="*/ 6425899 h 6425899"/>
              <a:gd name="connsiteX4" fmla="*/ 121 w 3030642"/>
              <a:gd name="connsiteY4" fmla="*/ 6407733 h 6425899"/>
              <a:gd name="connsiteX0" fmla="*/ 1167 w 3031688"/>
              <a:gd name="connsiteY0" fmla="*/ 6422578 h 6440744"/>
              <a:gd name="connsiteX1" fmla="*/ 15136 w 3031688"/>
              <a:gd name="connsiteY1" fmla="*/ 0 h 6440744"/>
              <a:gd name="connsiteX2" fmla="*/ 1286232 w 3031688"/>
              <a:gd name="connsiteY2" fmla="*/ 14845 h 6440744"/>
              <a:gd name="connsiteX3" fmla="*/ 3031688 w 3031688"/>
              <a:gd name="connsiteY3" fmla="*/ 6440744 h 6440744"/>
              <a:gd name="connsiteX4" fmla="*/ 1167 w 3031688"/>
              <a:gd name="connsiteY4" fmla="*/ 6422578 h 6440744"/>
              <a:gd name="connsiteX0" fmla="*/ 576581 w 3016552"/>
              <a:gd name="connsiteY0" fmla="*/ 6099164 h 6440744"/>
              <a:gd name="connsiteX1" fmla="*/ 0 w 3016552"/>
              <a:gd name="connsiteY1" fmla="*/ 0 h 6440744"/>
              <a:gd name="connsiteX2" fmla="*/ 1271096 w 3016552"/>
              <a:gd name="connsiteY2" fmla="*/ 14845 h 6440744"/>
              <a:gd name="connsiteX3" fmla="*/ 3016552 w 3016552"/>
              <a:gd name="connsiteY3" fmla="*/ 6440744 h 6440744"/>
              <a:gd name="connsiteX4" fmla="*/ 576581 w 3016552"/>
              <a:gd name="connsiteY4" fmla="*/ 6099164 h 6440744"/>
              <a:gd name="connsiteX0" fmla="*/ 367031 w 3016552"/>
              <a:gd name="connsiteY0" fmla="*/ 6451116 h 6451116"/>
              <a:gd name="connsiteX1" fmla="*/ 0 w 3016552"/>
              <a:gd name="connsiteY1" fmla="*/ 0 h 6451116"/>
              <a:gd name="connsiteX2" fmla="*/ 1271096 w 3016552"/>
              <a:gd name="connsiteY2" fmla="*/ 14845 h 6451116"/>
              <a:gd name="connsiteX3" fmla="*/ 3016552 w 3016552"/>
              <a:gd name="connsiteY3" fmla="*/ 6440744 h 6451116"/>
              <a:gd name="connsiteX4" fmla="*/ 367031 w 3016552"/>
              <a:gd name="connsiteY4" fmla="*/ 6451116 h 6451116"/>
              <a:gd name="connsiteX0" fmla="*/ 207 w 2649728"/>
              <a:gd name="connsiteY0" fmla="*/ 6436271 h 6436271"/>
              <a:gd name="connsiteX1" fmla="*/ 166576 w 2649728"/>
              <a:gd name="connsiteY1" fmla="*/ 4179 h 6436271"/>
              <a:gd name="connsiteX2" fmla="*/ 904272 w 2649728"/>
              <a:gd name="connsiteY2" fmla="*/ 0 h 6436271"/>
              <a:gd name="connsiteX3" fmla="*/ 2649728 w 2649728"/>
              <a:gd name="connsiteY3" fmla="*/ 6425899 h 6436271"/>
              <a:gd name="connsiteX4" fmla="*/ 207 w 2649728"/>
              <a:gd name="connsiteY4" fmla="*/ 6436271 h 6436271"/>
              <a:gd name="connsiteX0" fmla="*/ 903 w 2650424"/>
              <a:gd name="connsiteY0" fmla="*/ 6441604 h 6441604"/>
              <a:gd name="connsiteX1" fmla="*/ 24397 w 2650424"/>
              <a:gd name="connsiteY1" fmla="*/ 0 h 6441604"/>
              <a:gd name="connsiteX2" fmla="*/ 904968 w 2650424"/>
              <a:gd name="connsiteY2" fmla="*/ 5333 h 6441604"/>
              <a:gd name="connsiteX3" fmla="*/ 2650424 w 2650424"/>
              <a:gd name="connsiteY3" fmla="*/ 6431232 h 6441604"/>
              <a:gd name="connsiteX4" fmla="*/ 903 w 2650424"/>
              <a:gd name="connsiteY4" fmla="*/ 6441604 h 6441604"/>
              <a:gd name="connsiteX0" fmla="*/ 1277 w 2638508"/>
              <a:gd name="connsiteY0" fmla="*/ 6419512 h 6431232"/>
              <a:gd name="connsiteX1" fmla="*/ 12481 w 2638508"/>
              <a:gd name="connsiteY1" fmla="*/ 0 h 6431232"/>
              <a:gd name="connsiteX2" fmla="*/ 893052 w 2638508"/>
              <a:gd name="connsiteY2" fmla="*/ 5333 h 6431232"/>
              <a:gd name="connsiteX3" fmla="*/ 2638508 w 2638508"/>
              <a:gd name="connsiteY3" fmla="*/ 6431232 h 6431232"/>
              <a:gd name="connsiteX4" fmla="*/ 1277 w 2638508"/>
              <a:gd name="connsiteY4" fmla="*/ 6419512 h 6431232"/>
              <a:gd name="connsiteX0" fmla="*/ 1277 w 2638508"/>
              <a:gd name="connsiteY0" fmla="*/ 6419512 h 6419512"/>
              <a:gd name="connsiteX1" fmla="*/ 12481 w 2638508"/>
              <a:gd name="connsiteY1" fmla="*/ 0 h 6419512"/>
              <a:gd name="connsiteX2" fmla="*/ 893052 w 2638508"/>
              <a:gd name="connsiteY2" fmla="*/ 5333 h 6419512"/>
              <a:gd name="connsiteX3" fmla="*/ 2638508 w 2638508"/>
              <a:gd name="connsiteY3" fmla="*/ 6396865 h 6419512"/>
              <a:gd name="connsiteX4" fmla="*/ 1277 w 2638508"/>
              <a:gd name="connsiteY4" fmla="*/ 6419512 h 6419512"/>
              <a:gd name="connsiteX0" fmla="*/ 1277 w 2638508"/>
              <a:gd name="connsiteY0" fmla="*/ 6419512 h 6419512"/>
              <a:gd name="connsiteX1" fmla="*/ 12481 w 2638508"/>
              <a:gd name="connsiteY1" fmla="*/ 0 h 6419512"/>
              <a:gd name="connsiteX2" fmla="*/ 893052 w 2638508"/>
              <a:gd name="connsiteY2" fmla="*/ 5333 h 6419512"/>
              <a:gd name="connsiteX3" fmla="*/ 2638508 w 2638508"/>
              <a:gd name="connsiteY3" fmla="*/ 6396865 h 6419512"/>
              <a:gd name="connsiteX4" fmla="*/ 1277 w 2638508"/>
              <a:gd name="connsiteY4" fmla="*/ 6419512 h 6419512"/>
              <a:gd name="connsiteX0" fmla="*/ 1277 w 2643424"/>
              <a:gd name="connsiteY0" fmla="*/ 6419512 h 6421413"/>
              <a:gd name="connsiteX1" fmla="*/ 12481 w 2643424"/>
              <a:gd name="connsiteY1" fmla="*/ 0 h 6421413"/>
              <a:gd name="connsiteX2" fmla="*/ 893052 w 2643424"/>
              <a:gd name="connsiteY2" fmla="*/ 5333 h 6421413"/>
              <a:gd name="connsiteX3" fmla="*/ 2643424 w 2643424"/>
              <a:gd name="connsiteY3" fmla="*/ 6421413 h 6421413"/>
              <a:gd name="connsiteX4" fmla="*/ 1277 w 2643424"/>
              <a:gd name="connsiteY4" fmla="*/ 6419512 h 6421413"/>
              <a:gd name="connsiteX0" fmla="*/ 1531 w 2643678"/>
              <a:gd name="connsiteY0" fmla="*/ 6424421 h 6426322"/>
              <a:gd name="connsiteX1" fmla="*/ 7819 w 2643678"/>
              <a:gd name="connsiteY1" fmla="*/ 0 h 6426322"/>
              <a:gd name="connsiteX2" fmla="*/ 893306 w 2643678"/>
              <a:gd name="connsiteY2" fmla="*/ 10242 h 6426322"/>
              <a:gd name="connsiteX3" fmla="*/ 2643678 w 2643678"/>
              <a:gd name="connsiteY3" fmla="*/ 6426322 h 6426322"/>
              <a:gd name="connsiteX4" fmla="*/ 1531 w 2643678"/>
              <a:gd name="connsiteY4" fmla="*/ 6424421 h 6426322"/>
              <a:gd name="connsiteX0" fmla="*/ 1181 w 2643328"/>
              <a:gd name="connsiteY0" fmla="*/ 6414179 h 6416080"/>
              <a:gd name="connsiteX1" fmla="*/ 14804 w 2643328"/>
              <a:gd name="connsiteY1" fmla="*/ 19058 h 6416080"/>
              <a:gd name="connsiteX2" fmla="*/ 892956 w 2643328"/>
              <a:gd name="connsiteY2" fmla="*/ 0 h 6416080"/>
              <a:gd name="connsiteX3" fmla="*/ 2643328 w 2643328"/>
              <a:gd name="connsiteY3" fmla="*/ 6416080 h 6416080"/>
              <a:gd name="connsiteX4" fmla="*/ 1181 w 2643328"/>
              <a:gd name="connsiteY4" fmla="*/ 6414179 h 6416080"/>
              <a:gd name="connsiteX0" fmla="*/ 3491 w 2645638"/>
              <a:gd name="connsiteY0" fmla="*/ 6419537 h 6421438"/>
              <a:gd name="connsiteX1" fmla="*/ 0 w 2645638"/>
              <a:gd name="connsiteY1" fmla="*/ 0 h 6421438"/>
              <a:gd name="connsiteX2" fmla="*/ 895266 w 2645638"/>
              <a:gd name="connsiteY2" fmla="*/ 5358 h 6421438"/>
              <a:gd name="connsiteX3" fmla="*/ 2645638 w 2645638"/>
              <a:gd name="connsiteY3" fmla="*/ 6421438 h 6421438"/>
              <a:gd name="connsiteX4" fmla="*/ 3491 w 2645638"/>
              <a:gd name="connsiteY4" fmla="*/ 6419537 h 6421438"/>
              <a:gd name="connsiteX0" fmla="*/ 3491 w 2645638"/>
              <a:gd name="connsiteY0" fmla="*/ 6419537 h 6421438"/>
              <a:gd name="connsiteX1" fmla="*/ 0 w 2645638"/>
              <a:gd name="connsiteY1" fmla="*/ 0 h 6421438"/>
              <a:gd name="connsiteX2" fmla="*/ 420813 w 2645638"/>
              <a:gd name="connsiteY2" fmla="*/ 5358 h 6421438"/>
              <a:gd name="connsiteX3" fmla="*/ 2645638 w 2645638"/>
              <a:gd name="connsiteY3" fmla="*/ 6421438 h 6421438"/>
              <a:gd name="connsiteX4" fmla="*/ 3491 w 2645638"/>
              <a:gd name="connsiteY4" fmla="*/ 6419537 h 6421438"/>
              <a:gd name="connsiteX0" fmla="*/ 3491 w 2645638"/>
              <a:gd name="connsiteY0" fmla="*/ 6438408 h 6440309"/>
              <a:gd name="connsiteX1" fmla="*/ 0 w 2645638"/>
              <a:gd name="connsiteY1" fmla="*/ 18871 h 6440309"/>
              <a:gd name="connsiteX2" fmla="*/ 541583 w 2645638"/>
              <a:gd name="connsiteY2" fmla="*/ 0 h 6440309"/>
              <a:gd name="connsiteX3" fmla="*/ 2645638 w 2645638"/>
              <a:gd name="connsiteY3" fmla="*/ 6440309 h 6440309"/>
              <a:gd name="connsiteX4" fmla="*/ 3491 w 2645638"/>
              <a:gd name="connsiteY4" fmla="*/ 6438408 h 6440309"/>
              <a:gd name="connsiteX0" fmla="*/ 3491 w 2645638"/>
              <a:gd name="connsiteY0" fmla="*/ 6430332 h 6432233"/>
              <a:gd name="connsiteX1" fmla="*/ 0 w 2645638"/>
              <a:gd name="connsiteY1" fmla="*/ 10795 h 6432233"/>
              <a:gd name="connsiteX2" fmla="*/ 550210 w 2645638"/>
              <a:gd name="connsiteY2" fmla="*/ 0 h 6432233"/>
              <a:gd name="connsiteX3" fmla="*/ 2645638 w 2645638"/>
              <a:gd name="connsiteY3" fmla="*/ 6432233 h 6432233"/>
              <a:gd name="connsiteX4" fmla="*/ 3491 w 2645638"/>
              <a:gd name="connsiteY4" fmla="*/ 6430332 h 6432233"/>
              <a:gd name="connsiteX0" fmla="*/ 106 w 2985153"/>
              <a:gd name="connsiteY0" fmla="*/ 6439250 h 6439250"/>
              <a:gd name="connsiteX1" fmla="*/ 339515 w 2985153"/>
              <a:gd name="connsiteY1" fmla="*/ 10795 h 6439250"/>
              <a:gd name="connsiteX2" fmla="*/ 889725 w 2985153"/>
              <a:gd name="connsiteY2" fmla="*/ 0 h 6439250"/>
              <a:gd name="connsiteX3" fmla="*/ 2985153 w 2985153"/>
              <a:gd name="connsiteY3" fmla="*/ 6432233 h 6439250"/>
              <a:gd name="connsiteX4" fmla="*/ 106 w 2985153"/>
              <a:gd name="connsiteY4" fmla="*/ 6439250 h 6439250"/>
              <a:gd name="connsiteX0" fmla="*/ 13016 w 2998063"/>
              <a:gd name="connsiteY0" fmla="*/ 6446291 h 6446291"/>
              <a:gd name="connsiteX1" fmla="*/ 0 w 2998063"/>
              <a:gd name="connsiteY1" fmla="*/ 0 h 6446291"/>
              <a:gd name="connsiteX2" fmla="*/ 902635 w 2998063"/>
              <a:gd name="connsiteY2" fmla="*/ 7041 h 6446291"/>
              <a:gd name="connsiteX3" fmla="*/ 2998063 w 2998063"/>
              <a:gd name="connsiteY3" fmla="*/ 6439274 h 6446291"/>
              <a:gd name="connsiteX4" fmla="*/ 13016 w 2998063"/>
              <a:gd name="connsiteY4" fmla="*/ 6446291 h 6446291"/>
              <a:gd name="connsiteX0" fmla="*/ 260666 w 3245713"/>
              <a:gd name="connsiteY0" fmla="*/ 6446291 h 6446291"/>
              <a:gd name="connsiteX1" fmla="*/ 0 w 3245713"/>
              <a:gd name="connsiteY1" fmla="*/ 0 h 6446291"/>
              <a:gd name="connsiteX2" fmla="*/ 1150285 w 3245713"/>
              <a:gd name="connsiteY2" fmla="*/ 7041 h 6446291"/>
              <a:gd name="connsiteX3" fmla="*/ 3245713 w 3245713"/>
              <a:gd name="connsiteY3" fmla="*/ 6439274 h 6446291"/>
              <a:gd name="connsiteX4" fmla="*/ 260666 w 3245713"/>
              <a:gd name="connsiteY4" fmla="*/ 6446291 h 6446291"/>
              <a:gd name="connsiteX0" fmla="*/ 3491 w 3245713"/>
              <a:gd name="connsiteY0" fmla="*/ 6437373 h 6439274"/>
              <a:gd name="connsiteX1" fmla="*/ 0 w 3245713"/>
              <a:gd name="connsiteY1" fmla="*/ 0 h 6439274"/>
              <a:gd name="connsiteX2" fmla="*/ 1150285 w 3245713"/>
              <a:gd name="connsiteY2" fmla="*/ 7041 h 6439274"/>
              <a:gd name="connsiteX3" fmla="*/ 3245713 w 3245713"/>
              <a:gd name="connsiteY3" fmla="*/ 6439274 h 6439274"/>
              <a:gd name="connsiteX4" fmla="*/ 3491 w 3245713"/>
              <a:gd name="connsiteY4" fmla="*/ 6437373 h 6439274"/>
              <a:gd name="connsiteX0" fmla="*/ 679766 w 3921988"/>
              <a:gd name="connsiteY0" fmla="*/ 6437373 h 6439274"/>
              <a:gd name="connsiteX1" fmla="*/ 0 w 3921988"/>
              <a:gd name="connsiteY1" fmla="*/ 0 h 6439274"/>
              <a:gd name="connsiteX2" fmla="*/ 1826560 w 3921988"/>
              <a:gd name="connsiteY2" fmla="*/ 7041 h 6439274"/>
              <a:gd name="connsiteX3" fmla="*/ 3921988 w 3921988"/>
              <a:gd name="connsiteY3" fmla="*/ 6439274 h 6439274"/>
              <a:gd name="connsiteX4" fmla="*/ 679766 w 3921988"/>
              <a:gd name="connsiteY4" fmla="*/ 6437373 h 6439274"/>
              <a:gd name="connsiteX0" fmla="*/ 41591 w 3921988"/>
              <a:gd name="connsiteY0" fmla="*/ 6437373 h 6439274"/>
              <a:gd name="connsiteX1" fmla="*/ 0 w 3921988"/>
              <a:gd name="connsiteY1" fmla="*/ 0 h 6439274"/>
              <a:gd name="connsiteX2" fmla="*/ 1826560 w 3921988"/>
              <a:gd name="connsiteY2" fmla="*/ 7041 h 6439274"/>
              <a:gd name="connsiteX3" fmla="*/ 3921988 w 3921988"/>
              <a:gd name="connsiteY3" fmla="*/ 6439274 h 6439274"/>
              <a:gd name="connsiteX4" fmla="*/ 41591 w 3921988"/>
              <a:gd name="connsiteY4" fmla="*/ 6437373 h 6439274"/>
              <a:gd name="connsiteX0" fmla="*/ 1262 w 3881659"/>
              <a:gd name="connsiteY0" fmla="*/ 6437373 h 6439274"/>
              <a:gd name="connsiteX1" fmla="*/ 12834 w 3881659"/>
              <a:gd name="connsiteY1" fmla="*/ 0 h 6439274"/>
              <a:gd name="connsiteX2" fmla="*/ 1786231 w 3881659"/>
              <a:gd name="connsiteY2" fmla="*/ 7041 h 6439274"/>
              <a:gd name="connsiteX3" fmla="*/ 3881659 w 3881659"/>
              <a:gd name="connsiteY3" fmla="*/ 6439274 h 6439274"/>
              <a:gd name="connsiteX4" fmla="*/ 1262 w 3881659"/>
              <a:gd name="connsiteY4" fmla="*/ 6437373 h 6439274"/>
              <a:gd name="connsiteX0" fmla="*/ 20234 w 3900631"/>
              <a:gd name="connsiteY0" fmla="*/ 6430332 h 6432233"/>
              <a:gd name="connsiteX1" fmla="*/ 0 w 3900631"/>
              <a:gd name="connsiteY1" fmla="*/ 7848 h 6432233"/>
              <a:gd name="connsiteX2" fmla="*/ 1805203 w 3900631"/>
              <a:gd name="connsiteY2" fmla="*/ 0 h 6432233"/>
              <a:gd name="connsiteX3" fmla="*/ 3900631 w 3900631"/>
              <a:gd name="connsiteY3" fmla="*/ 6432233 h 6432233"/>
              <a:gd name="connsiteX4" fmla="*/ 20234 w 3900631"/>
              <a:gd name="connsiteY4" fmla="*/ 6430332 h 6432233"/>
              <a:gd name="connsiteX0" fmla="*/ 12283 w 3892680"/>
              <a:gd name="connsiteY0" fmla="*/ 6444818 h 6446719"/>
              <a:gd name="connsiteX1" fmla="*/ 0 w 3892680"/>
              <a:gd name="connsiteY1" fmla="*/ 0 h 6446719"/>
              <a:gd name="connsiteX2" fmla="*/ 1797252 w 3892680"/>
              <a:gd name="connsiteY2" fmla="*/ 14486 h 6446719"/>
              <a:gd name="connsiteX3" fmla="*/ 3892680 w 3892680"/>
              <a:gd name="connsiteY3" fmla="*/ 6446719 h 6446719"/>
              <a:gd name="connsiteX4" fmla="*/ 12283 w 3892680"/>
              <a:gd name="connsiteY4" fmla="*/ 6444818 h 644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2680" h="6446719">
                <a:moveTo>
                  <a:pt x="12283" y="6444818"/>
                </a:moveTo>
                <a:cubicBezTo>
                  <a:pt x="5139" y="4292168"/>
                  <a:pt x="7144" y="2152650"/>
                  <a:pt x="0" y="0"/>
                </a:cubicBezTo>
                <a:lnTo>
                  <a:pt x="1797252" y="14486"/>
                </a:lnTo>
                <a:lnTo>
                  <a:pt x="3892680" y="6446719"/>
                </a:lnTo>
                <a:lnTo>
                  <a:pt x="12283" y="644481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76D1A-3C0C-4473-B941-3E6E31C96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96174" y="2599374"/>
            <a:ext cx="4057651" cy="1477328"/>
          </a:xfrm>
        </p:spPr>
        <p:txBody>
          <a:bodyPr anchor="b">
            <a:spAutoFit/>
          </a:bodyPr>
          <a:lstStyle>
            <a:lvl1pPr>
              <a:defRPr sz="4500" b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add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3DAD5-66F7-44CB-BD92-35F6AF415DE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96173" y="4248150"/>
            <a:ext cx="4057651" cy="1419226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short subtitle or short summary</a:t>
            </a:r>
          </a:p>
        </p:txBody>
      </p:sp>
      <p:pic>
        <p:nvPicPr>
          <p:cNvPr id="7" name="Picture 6" descr="A group of people on a boat&#10;&#10;Description automatically generated with medium confidence">
            <a:extLst>
              <a:ext uri="{FF2B5EF4-FFF2-40B4-BE49-F238E27FC236}">
                <a16:creationId xmlns:a16="http://schemas.microsoft.com/office/drawing/2014/main" id="{09A6C7C8-6BD8-4B15-9453-DBFD712648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24" y="857250"/>
            <a:ext cx="7171248" cy="4810125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0546CD3-CAAF-4F6B-8ACE-D3E37F4F50E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225" y="857250"/>
            <a:ext cx="7162800" cy="4810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change picture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EC5A9D31-5ECA-4207-8653-F865DF99A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>
                <a:latin typeface="Calibri Light"/>
              </a:rPr>
              <a:t>villagereach.org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A94EFA1-CA98-4D26-B707-A770C3041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1014530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15">
            <a:extLst>
              <a:ext uri="{FF2B5EF4-FFF2-40B4-BE49-F238E27FC236}">
                <a16:creationId xmlns:a16="http://schemas.microsoft.com/office/drawing/2014/main" id="{9DFBE786-67BF-44ED-99B1-A0E2304F3875}"/>
              </a:ext>
            </a:extLst>
          </p:cNvPr>
          <p:cNvSpPr/>
          <p:nvPr userDrawn="1"/>
        </p:nvSpPr>
        <p:spPr>
          <a:xfrm>
            <a:off x="-38100" y="-7496"/>
            <a:ext cx="3921988" cy="6877727"/>
          </a:xfrm>
          <a:custGeom>
            <a:avLst/>
            <a:gdLst>
              <a:gd name="connsiteX0" fmla="*/ 0 w 6686597"/>
              <a:gd name="connsiteY0" fmla="*/ 6429375 h 6429375"/>
              <a:gd name="connsiteX1" fmla="*/ 1607344 w 6686597"/>
              <a:gd name="connsiteY1" fmla="*/ 0 h 6429375"/>
              <a:gd name="connsiteX2" fmla="*/ 6686597 w 6686597"/>
              <a:gd name="connsiteY2" fmla="*/ 0 h 6429375"/>
              <a:gd name="connsiteX3" fmla="*/ 5079253 w 6686597"/>
              <a:gd name="connsiteY3" fmla="*/ 6429375 h 6429375"/>
              <a:gd name="connsiteX4" fmla="*/ 0 w 6686597"/>
              <a:gd name="connsiteY4" fmla="*/ 6429375 h 6429375"/>
              <a:gd name="connsiteX0" fmla="*/ 583406 w 7270003"/>
              <a:gd name="connsiteY0" fmla="*/ 6448425 h 6448425"/>
              <a:gd name="connsiteX1" fmla="*/ 0 w 7270003"/>
              <a:gd name="connsiteY1" fmla="*/ 0 h 6448425"/>
              <a:gd name="connsiteX2" fmla="*/ 7270003 w 7270003"/>
              <a:gd name="connsiteY2" fmla="*/ 19050 h 6448425"/>
              <a:gd name="connsiteX3" fmla="*/ 5662659 w 7270003"/>
              <a:gd name="connsiteY3" fmla="*/ 6448425 h 6448425"/>
              <a:gd name="connsiteX4" fmla="*/ 583406 w 7270003"/>
              <a:gd name="connsiteY4" fmla="*/ 6448425 h 6448425"/>
              <a:gd name="connsiteX0" fmla="*/ 21431 w 7270003"/>
              <a:gd name="connsiteY0" fmla="*/ 6457950 h 6457950"/>
              <a:gd name="connsiteX1" fmla="*/ 0 w 7270003"/>
              <a:gd name="connsiteY1" fmla="*/ 0 h 6457950"/>
              <a:gd name="connsiteX2" fmla="*/ 7270003 w 7270003"/>
              <a:gd name="connsiteY2" fmla="*/ 19050 h 6457950"/>
              <a:gd name="connsiteX3" fmla="*/ 5662659 w 7270003"/>
              <a:gd name="connsiteY3" fmla="*/ 6448425 h 6457950"/>
              <a:gd name="connsiteX4" fmla="*/ 21431 w 7270003"/>
              <a:gd name="connsiteY4" fmla="*/ 6457950 h 6457950"/>
              <a:gd name="connsiteX0" fmla="*/ 21431 w 5662659"/>
              <a:gd name="connsiteY0" fmla="*/ 6457950 h 6457950"/>
              <a:gd name="connsiteX1" fmla="*/ 0 w 5662659"/>
              <a:gd name="connsiteY1" fmla="*/ 0 h 6457950"/>
              <a:gd name="connsiteX2" fmla="*/ 3917203 w 5662659"/>
              <a:gd name="connsiteY2" fmla="*/ 9525 h 6457950"/>
              <a:gd name="connsiteX3" fmla="*/ 5662659 w 5662659"/>
              <a:gd name="connsiteY3" fmla="*/ 6448425 h 6457950"/>
              <a:gd name="connsiteX4" fmla="*/ 21431 w 5662659"/>
              <a:gd name="connsiteY4" fmla="*/ 6457950 h 6457950"/>
              <a:gd name="connsiteX0" fmla="*/ 678 w 5641906"/>
              <a:gd name="connsiteY0" fmla="*/ 6448425 h 6448425"/>
              <a:gd name="connsiteX1" fmla="*/ 38241 w 5641906"/>
              <a:gd name="connsiteY1" fmla="*/ 307 h 6448425"/>
              <a:gd name="connsiteX2" fmla="*/ 3896450 w 5641906"/>
              <a:gd name="connsiteY2" fmla="*/ 0 h 6448425"/>
              <a:gd name="connsiteX3" fmla="*/ 5641906 w 5641906"/>
              <a:gd name="connsiteY3" fmla="*/ 6438900 h 6448425"/>
              <a:gd name="connsiteX4" fmla="*/ 678 w 5641906"/>
              <a:gd name="connsiteY4" fmla="*/ 6448425 h 6448425"/>
              <a:gd name="connsiteX0" fmla="*/ 4224 w 5645452"/>
              <a:gd name="connsiteY0" fmla="*/ 6448425 h 6448425"/>
              <a:gd name="connsiteX1" fmla="*/ 0 w 5645452"/>
              <a:gd name="connsiteY1" fmla="*/ 7681 h 6448425"/>
              <a:gd name="connsiteX2" fmla="*/ 3899996 w 5645452"/>
              <a:gd name="connsiteY2" fmla="*/ 0 h 6448425"/>
              <a:gd name="connsiteX3" fmla="*/ 5645452 w 5645452"/>
              <a:gd name="connsiteY3" fmla="*/ 6438900 h 6448425"/>
              <a:gd name="connsiteX4" fmla="*/ 4224 w 5645452"/>
              <a:gd name="connsiteY4" fmla="*/ 6448425 h 6448425"/>
              <a:gd name="connsiteX0" fmla="*/ 1118649 w 5645452"/>
              <a:gd name="connsiteY0" fmla="*/ 6448425 h 6448425"/>
              <a:gd name="connsiteX1" fmla="*/ 0 w 5645452"/>
              <a:gd name="connsiteY1" fmla="*/ 7681 h 6448425"/>
              <a:gd name="connsiteX2" fmla="*/ 3899996 w 5645452"/>
              <a:gd name="connsiteY2" fmla="*/ 0 h 6448425"/>
              <a:gd name="connsiteX3" fmla="*/ 5645452 w 5645452"/>
              <a:gd name="connsiteY3" fmla="*/ 6438900 h 6448425"/>
              <a:gd name="connsiteX4" fmla="*/ 1118649 w 5645452"/>
              <a:gd name="connsiteY4" fmla="*/ 6448425 h 6448425"/>
              <a:gd name="connsiteX0" fmla="*/ 909099 w 5645452"/>
              <a:gd name="connsiteY0" fmla="*/ 6448425 h 6448425"/>
              <a:gd name="connsiteX1" fmla="*/ 0 w 5645452"/>
              <a:gd name="connsiteY1" fmla="*/ 7681 h 6448425"/>
              <a:gd name="connsiteX2" fmla="*/ 3899996 w 5645452"/>
              <a:gd name="connsiteY2" fmla="*/ 0 h 6448425"/>
              <a:gd name="connsiteX3" fmla="*/ 5645452 w 5645452"/>
              <a:gd name="connsiteY3" fmla="*/ 6438900 h 6448425"/>
              <a:gd name="connsiteX4" fmla="*/ 909099 w 5645452"/>
              <a:gd name="connsiteY4" fmla="*/ 6448425 h 6448425"/>
              <a:gd name="connsiteX0" fmla="*/ 105 w 4736458"/>
              <a:gd name="connsiteY0" fmla="*/ 6448425 h 6448425"/>
              <a:gd name="connsiteX1" fmla="*/ 348306 w 4736458"/>
              <a:gd name="connsiteY1" fmla="*/ 217231 h 6448425"/>
              <a:gd name="connsiteX2" fmla="*/ 2991002 w 4736458"/>
              <a:gd name="connsiteY2" fmla="*/ 0 h 6448425"/>
              <a:gd name="connsiteX3" fmla="*/ 4736458 w 4736458"/>
              <a:gd name="connsiteY3" fmla="*/ 6438900 h 6448425"/>
              <a:gd name="connsiteX4" fmla="*/ 105 w 4736458"/>
              <a:gd name="connsiteY4" fmla="*/ 6448425 h 6448425"/>
              <a:gd name="connsiteX0" fmla="*/ 13749 w 4750102"/>
              <a:gd name="connsiteY0" fmla="*/ 6450269 h 6450269"/>
              <a:gd name="connsiteX1" fmla="*/ 0 w 4750102"/>
              <a:gd name="connsiteY1" fmla="*/ 0 h 6450269"/>
              <a:gd name="connsiteX2" fmla="*/ 3004646 w 4750102"/>
              <a:gd name="connsiteY2" fmla="*/ 1844 h 6450269"/>
              <a:gd name="connsiteX3" fmla="*/ 4750102 w 4750102"/>
              <a:gd name="connsiteY3" fmla="*/ 6440744 h 6450269"/>
              <a:gd name="connsiteX4" fmla="*/ 13749 w 4750102"/>
              <a:gd name="connsiteY4" fmla="*/ 6450269 h 6450269"/>
              <a:gd name="connsiteX0" fmla="*/ 5081 w 4750102"/>
              <a:gd name="connsiteY0" fmla="*/ 6441602 h 6441602"/>
              <a:gd name="connsiteX1" fmla="*/ 0 w 4750102"/>
              <a:gd name="connsiteY1" fmla="*/ 0 h 6441602"/>
              <a:gd name="connsiteX2" fmla="*/ 3004646 w 4750102"/>
              <a:gd name="connsiteY2" fmla="*/ 1844 h 6441602"/>
              <a:gd name="connsiteX3" fmla="*/ 4750102 w 4750102"/>
              <a:gd name="connsiteY3" fmla="*/ 6440744 h 6441602"/>
              <a:gd name="connsiteX4" fmla="*/ 5081 w 4750102"/>
              <a:gd name="connsiteY4" fmla="*/ 6441602 h 6441602"/>
              <a:gd name="connsiteX0" fmla="*/ 5081 w 4750102"/>
              <a:gd name="connsiteY0" fmla="*/ 6441602 h 6441602"/>
              <a:gd name="connsiteX1" fmla="*/ 0 w 4750102"/>
              <a:gd name="connsiteY1" fmla="*/ 0 h 6441602"/>
              <a:gd name="connsiteX2" fmla="*/ 3004646 w 4750102"/>
              <a:gd name="connsiteY2" fmla="*/ 14845 h 6441602"/>
              <a:gd name="connsiteX3" fmla="*/ 4750102 w 4750102"/>
              <a:gd name="connsiteY3" fmla="*/ 6440744 h 6441602"/>
              <a:gd name="connsiteX4" fmla="*/ 5081 w 4750102"/>
              <a:gd name="connsiteY4" fmla="*/ 6441602 h 6441602"/>
              <a:gd name="connsiteX0" fmla="*/ 2224406 w 4750102"/>
              <a:gd name="connsiteY0" fmla="*/ 6327456 h 6440744"/>
              <a:gd name="connsiteX1" fmla="*/ 0 w 4750102"/>
              <a:gd name="connsiteY1" fmla="*/ 0 h 6440744"/>
              <a:gd name="connsiteX2" fmla="*/ 3004646 w 4750102"/>
              <a:gd name="connsiteY2" fmla="*/ 14845 h 6440744"/>
              <a:gd name="connsiteX3" fmla="*/ 4750102 w 4750102"/>
              <a:gd name="connsiteY3" fmla="*/ 6440744 h 6440744"/>
              <a:gd name="connsiteX4" fmla="*/ 2224406 w 4750102"/>
              <a:gd name="connsiteY4" fmla="*/ 6327456 h 6440744"/>
              <a:gd name="connsiteX0" fmla="*/ 1719581 w 4750102"/>
              <a:gd name="connsiteY0" fmla="*/ 6422578 h 6440744"/>
              <a:gd name="connsiteX1" fmla="*/ 0 w 4750102"/>
              <a:gd name="connsiteY1" fmla="*/ 0 h 6440744"/>
              <a:gd name="connsiteX2" fmla="*/ 3004646 w 4750102"/>
              <a:gd name="connsiteY2" fmla="*/ 14845 h 6440744"/>
              <a:gd name="connsiteX3" fmla="*/ 4750102 w 4750102"/>
              <a:gd name="connsiteY3" fmla="*/ 6440744 h 6440744"/>
              <a:gd name="connsiteX4" fmla="*/ 1719581 w 4750102"/>
              <a:gd name="connsiteY4" fmla="*/ 6422578 h 6440744"/>
              <a:gd name="connsiteX0" fmla="*/ 121 w 3030642"/>
              <a:gd name="connsiteY0" fmla="*/ 6407733 h 6425899"/>
              <a:gd name="connsiteX1" fmla="*/ 299840 w 3030642"/>
              <a:gd name="connsiteY1" fmla="*/ 251497 h 6425899"/>
              <a:gd name="connsiteX2" fmla="*/ 1285186 w 3030642"/>
              <a:gd name="connsiteY2" fmla="*/ 0 h 6425899"/>
              <a:gd name="connsiteX3" fmla="*/ 3030642 w 3030642"/>
              <a:gd name="connsiteY3" fmla="*/ 6425899 h 6425899"/>
              <a:gd name="connsiteX4" fmla="*/ 121 w 3030642"/>
              <a:gd name="connsiteY4" fmla="*/ 6407733 h 6425899"/>
              <a:gd name="connsiteX0" fmla="*/ 1167 w 3031688"/>
              <a:gd name="connsiteY0" fmla="*/ 6422578 h 6440744"/>
              <a:gd name="connsiteX1" fmla="*/ 15136 w 3031688"/>
              <a:gd name="connsiteY1" fmla="*/ 0 h 6440744"/>
              <a:gd name="connsiteX2" fmla="*/ 1286232 w 3031688"/>
              <a:gd name="connsiteY2" fmla="*/ 14845 h 6440744"/>
              <a:gd name="connsiteX3" fmla="*/ 3031688 w 3031688"/>
              <a:gd name="connsiteY3" fmla="*/ 6440744 h 6440744"/>
              <a:gd name="connsiteX4" fmla="*/ 1167 w 3031688"/>
              <a:gd name="connsiteY4" fmla="*/ 6422578 h 6440744"/>
              <a:gd name="connsiteX0" fmla="*/ 576581 w 3016552"/>
              <a:gd name="connsiteY0" fmla="*/ 6099164 h 6440744"/>
              <a:gd name="connsiteX1" fmla="*/ 0 w 3016552"/>
              <a:gd name="connsiteY1" fmla="*/ 0 h 6440744"/>
              <a:gd name="connsiteX2" fmla="*/ 1271096 w 3016552"/>
              <a:gd name="connsiteY2" fmla="*/ 14845 h 6440744"/>
              <a:gd name="connsiteX3" fmla="*/ 3016552 w 3016552"/>
              <a:gd name="connsiteY3" fmla="*/ 6440744 h 6440744"/>
              <a:gd name="connsiteX4" fmla="*/ 576581 w 3016552"/>
              <a:gd name="connsiteY4" fmla="*/ 6099164 h 6440744"/>
              <a:gd name="connsiteX0" fmla="*/ 367031 w 3016552"/>
              <a:gd name="connsiteY0" fmla="*/ 6451116 h 6451116"/>
              <a:gd name="connsiteX1" fmla="*/ 0 w 3016552"/>
              <a:gd name="connsiteY1" fmla="*/ 0 h 6451116"/>
              <a:gd name="connsiteX2" fmla="*/ 1271096 w 3016552"/>
              <a:gd name="connsiteY2" fmla="*/ 14845 h 6451116"/>
              <a:gd name="connsiteX3" fmla="*/ 3016552 w 3016552"/>
              <a:gd name="connsiteY3" fmla="*/ 6440744 h 6451116"/>
              <a:gd name="connsiteX4" fmla="*/ 367031 w 3016552"/>
              <a:gd name="connsiteY4" fmla="*/ 6451116 h 6451116"/>
              <a:gd name="connsiteX0" fmla="*/ 207 w 2649728"/>
              <a:gd name="connsiteY0" fmla="*/ 6436271 h 6436271"/>
              <a:gd name="connsiteX1" fmla="*/ 166576 w 2649728"/>
              <a:gd name="connsiteY1" fmla="*/ 4179 h 6436271"/>
              <a:gd name="connsiteX2" fmla="*/ 904272 w 2649728"/>
              <a:gd name="connsiteY2" fmla="*/ 0 h 6436271"/>
              <a:gd name="connsiteX3" fmla="*/ 2649728 w 2649728"/>
              <a:gd name="connsiteY3" fmla="*/ 6425899 h 6436271"/>
              <a:gd name="connsiteX4" fmla="*/ 207 w 2649728"/>
              <a:gd name="connsiteY4" fmla="*/ 6436271 h 6436271"/>
              <a:gd name="connsiteX0" fmla="*/ 903 w 2650424"/>
              <a:gd name="connsiteY0" fmla="*/ 6441604 h 6441604"/>
              <a:gd name="connsiteX1" fmla="*/ 24397 w 2650424"/>
              <a:gd name="connsiteY1" fmla="*/ 0 h 6441604"/>
              <a:gd name="connsiteX2" fmla="*/ 904968 w 2650424"/>
              <a:gd name="connsiteY2" fmla="*/ 5333 h 6441604"/>
              <a:gd name="connsiteX3" fmla="*/ 2650424 w 2650424"/>
              <a:gd name="connsiteY3" fmla="*/ 6431232 h 6441604"/>
              <a:gd name="connsiteX4" fmla="*/ 903 w 2650424"/>
              <a:gd name="connsiteY4" fmla="*/ 6441604 h 6441604"/>
              <a:gd name="connsiteX0" fmla="*/ 1277 w 2638508"/>
              <a:gd name="connsiteY0" fmla="*/ 6419512 h 6431232"/>
              <a:gd name="connsiteX1" fmla="*/ 12481 w 2638508"/>
              <a:gd name="connsiteY1" fmla="*/ 0 h 6431232"/>
              <a:gd name="connsiteX2" fmla="*/ 893052 w 2638508"/>
              <a:gd name="connsiteY2" fmla="*/ 5333 h 6431232"/>
              <a:gd name="connsiteX3" fmla="*/ 2638508 w 2638508"/>
              <a:gd name="connsiteY3" fmla="*/ 6431232 h 6431232"/>
              <a:gd name="connsiteX4" fmla="*/ 1277 w 2638508"/>
              <a:gd name="connsiteY4" fmla="*/ 6419512 h 6431232"/>
              <a:gd name="connsiteX0" fmla="*/ 1277 w 2638508"/>
              <a:gd name="connsiteY0" fmla="*/ 6419512 h 6419512"/>
              <a:gd name="connsiteX1" fmla="*/ 12481 w 2638508"/>
              <a:gd name="connsiteY1" fmla="*/ 0 h 6419512"/>
              <a:gd name="connsiteX2" fmla="*/ 893052 w 2638508"/>
              <a:gd name="connsiteY2" fmla="*/ 5333 h 6419512"/>
              <a:gd name="connsiteX3" fmla="*/ 2638508 w 2638508"/>
              <a:gd name="connsiteY3" fmla="*/ 6396865 h 6419512"/>
              <a:gd name="connsiteX4" fmla="*/ 1277 w 2638508"/>
              <a:gd name="connsiteY4" fmla="*/ 6419512 h 6419512"/>
              <a:gd name="connsiteX0" fmla="*/ 1277 w 2638508"/>
              <a:gd name="connsiteY0" fmla="*/ 6419512 h 6419512"/>
              <a:gd name="connsiteX1" fmla="*/ 12481 w 2638508"/>
              <a:gd name="connsiteY1" fmla="*/ 0 h 6419512"/>
              <a:gd name="connsiteX2" fmla="*/ 893052 w 2638508"/>
              <a:gd name="connsiteY2" fmla="*/ 5333 h 6419512"/>
              <a:gd name="connsiteX3" fmla="*/ 2638508 w 2638508"/>
              <a:gd name="connsiteY3" fmla="*/ 6396865 h 6419512"/>
              <a:gd name="connsiteX4" fmla="*/ 1277 w 2638508"/>
              <a:gd name="connsiteY4" fmla="*/ 6419512 h 6419512"/>
              <a:gd name="connsiteX0" fmla="*/ 1277 w 2643424"/>
              <a:gd name="connsiteY0" fmla="*/ 6419512 h 6421413"/>
              <a:gd name="connsiteX1" fmla="*/ 12481 w 2643424"/>
              <a:gd name="connsiteY1" fmla="*/ 0 h 6421413"/>
              <a:gd name="connsiteX2" fmla="*/ 893052 w 2643424"/>
              <a:gd name="connsiteY2" fmla="*/ 5333 h 6421413"/>
              <a:gd name="connsiteX3" fmla="*/ 2643424 w 2643424"/>
              <a:gd name="connsiteY3" fmla="*/ 6421413 h 6421413"/>
              <a:gd name="connsiteX4" fmla="*/ 1277 w 2643424"/>
              <a:gd name="connsiteY4" fmla="*/ 6419512 h 6421413"/>
              <a:gd name="connsiteX0" fmla="*/ 1531 w 2643678"/>
              <a:gd name="connsiteY0" fmla="*/ 6424421 h 6426322"/>
              <a:gd name="connsiteX1" fmla="*/ 7819 w 2643678"/>
              <a:gd name="connsiteY1" fmla="*/ 0 h 6426322"/>
              <a:gd name="connsiteX2" fmla="*/ 893306 w 2643678"/>
              <a:gd name="connsiteY2" fmla="*/ 10242 h 6426322"/>
              <a:gd name="connsiteX3" fmla="*/ 2643678 w 2643678"/>
              <a:gd name="connsiteY3" fmla="*/ 6426322 h 6426322"/>
              <a:gd name="connsiteX4" fmla="*/ 1531 w 2643678"/>
              <a:gd name="connsiteY4" fmla="*/ 6424421 h 6426322"/>
              <a:gd name="connsiteX0" fmla="*/ 1181 w 2643328"/>
              <a:gd name="connsiteY0" fmla="*/ 6414179 h 6416080"/>
              <a:gd name="connsiteX1" fmla="*/ 14804 w 2643328"/>
              <a:gd name="connsiteY1" fmla="*/ 19058 h 6416080"/>
              <a:gd name="connsiteX2" fmla="*/ 892956 w 2643328"/>
              <a:gd name="connsiteY2" fmla="*/ 0 h 6416080"/>
              <a:gd name="connsiteX3" fmla="*/ 2643328 w 2643328"/>
              <a:gd name="connsiteY3" fmla="*/ 6416080 h 6416080"/>
              <a:gd name="connsiteX4" fmla="*/ 1181 w 2643328"/>
              <a:gd name="connsiteY4" fmla="*/ 6414179 h 6416080"/>
              <a:gd name="connsiteX0" fmla="*/ 3491 w 2645638"/>
              <a:gd name="connsiteY0" fmla="*/ 6419537 h 6421438"/>
              <a:gd name="connsiteX1" fmla="*/ 0 w 2645638"/>
              <a:gd name="connsiteY1" fmla="*/ 0 h 6421438"/>
              <a:gd name="connsiteX2" fmla="*/ 895266 w 2645638"/>
              <a:gd name="connsiteY2" fmla="*/ 5358 h 6421438"/>
              <a:gd name="connsiteX3" fmla="*/ 2645638 w 2645638"/>
              <a:gd name="connsiteY3" fmla="*/ 6421438 h 6421438"/>
              <a:gd name="connsiteX4" fmla="*/ 3491 w 2645638"/>
              <a:gd name="connsiteY4" fmla="*/ 6419537 h 6421438"/>
              <a:gd name="connsiteX0" fmla="*/ 3491 w 2645638"/>
              <a:gd name="connsiteY0" fmla="*/ 6419537 h 6421438"/>
              <a:gd name="connsiteX1" fmla="*/ 0 w 2645638"/>
              <a:gd name="connsiteY1" fmla="*/ 0 h 6421438"/>
              <a:gd name="connsiteX2" fmla="*/ 420813 w 2645638"/>
              <a:gd name="connsiteY2" fmla="*/ 5358 h 6421438"/>
              <a:gd name="connsiteX3" fmla="*/ 2645638 w 2645638"/>
              <a:gd name="connsiteY3" fmla="*/ 6421438 h 6421438"/>
              <a:gd name="connsiteX4" fmla="*/ 3491 w 2645638"/>
              <a:gd name="connsiteY4" fmla="*/ 6419537 h 6421438"/>
              <a:gd name="connsiteX0" fmla="*/ 3491 w 2645638"/>
              <a:gd name="connsiteY0" fmla="*/ 6438408 h 6440309"/>
              <a:gd name="connsiteX1" fmla="*/ 0 w 2645638"/>
              <a:gd name="connsiteY1" fmla="*/ 18871 h 6440309"/>
              <a:gd name="connsiteX2" fmla="*/ 541583 w 2645638"/>
              <a:gd name="connsiteY2" fmla="*/ 0 h 6440309"/>
              <a:gd name="connsiteX3" fmla="*/ 2645638 w 2645638"/>
              <a:gd name="connsiteY3" fmla="*/ 6440309 h 6440309"/>
              <a:gd name="connsiteX4" fmla="*/ 3491 w 2645638"/>
              <a:gd name="connsiteY4" fmla="*/ 6438408 h 6440309"/>
              <a:gd name="connsiteX0" fmla="*/ 3491 w 2645638"/>
              <a:gd name="connsiteY0" fmla="*/ 6430332 h 6432233"/>
              <a:gd name="connsiteX1" fmla="*/ 0 w 2645638"/>
              <a:gd name="connsiteY1" fmla="*/ 10795 h 6432233"/>
              <a:gd name="connsiteX2" fmla="*/ 550210 w 2645638"/>
              <a:gd name="connsiteY2" fmla="*/ 0 h 6432233"/>
              <a:gd name="connsiteX3" fmla="*/ 2645638 w 2645638"/>
              <a:gd name="connsiteY3" fmla="*/ 6432233 h 6432233"/>
              <a:gd name="connsiteX4" fmla="*/ 3491 w 2645638"/>
              <a:gd name="connsiteY4" fmla="*/ 6430332 h 6432233"/>
              <a:gd name="connsiteX0" fmla="*/ 106 w 2985153"/>
              <a:gd name="connsiteY0" fmla="*/ 6439250 h 6439250"/>
              <a:gd name="connsiteX1" fmla="*/ 339515 w 2985153"/>
              <a:gd name="connsiteY1" fmla="*/ 10795 h 6439250"/>
              <a:gd name="connsiteX2" fmla="*/ 889725 w 2985153"/>
              <a:gd name="connsiteY2" fmla="*/ 0 h 6439250"/>
              <a:gd name="connsiteX3" fmla="*/ 2985153 w 2985153"/>
              <a:gd name="connsiteY3" fmla="*/ 6432233 h 6439250"/>
              <a:gd name="connsiteX4" fmla="*/ 106 w 2985153"/>
              <a:gd name="connsiteY4" fmla="*/ 6439250 h 6439250"/>
              <a:gd name="connsiteX0" fmla="*/ 13016 w 2998063"/>
              <a:gd name="connsiteY0" fmla="*/ 6446291 h 6446291"/>
              <a:gd name="connsiteX1" fmla="*/ 0 w 2998063"/>
              <a:gd name="connsiteY1" fmla="*/ 0 h 6446291"/>
              <a:gd name="connsiteX2" fmla="*/ 902635 w 2998063"/>
              <a:gd name="connsiteY2" fmla="*/ 7041 h 6446291"/>
              <a:gd name="connsiteX3" fmla="*/ 2998063 w 2998063"/>
              <a:gd name="connsiteY3" fmla="*/ 6439274 h 6446291"/>
              <a:gd name="connsiteX4" fmla="*/ 13016 w 2998063"/>
              <a:gd name="connsiteY4" fmla="*/ 6446291 h 6446291"/>
              <a:gd name="connsiteX0" fmla="*/ 260666 w 3245713"/>
              <a:gd name="connsiteY0" fmla="*/ 6446291 h 6446291"/>
              <a:gd name="connsiteX1" fmla="*/ 0 w 3245713"/>
              <a:gd name="connsiteY1" fmla="*/ 0 h 6446291"/>
              <a:gd name="connsiteX2" fmla="*/ 1150285 w 3245713"/>
              <a:gd name="connsiteY2" fmla="*/ 7041 h 6446291"/>
              <a:gd name="connsiteX3" fmla="*/ 3245713 w 3245713"/>
              <a:gd name="connsiteY3" fmla="*/ 6439274 h 6446291"/>
              <a:gd name="connsiteX4" fmla="*/ 260666 w 3245713"/>
              <a:gd name="connsiteY4" fmla="*/ 6446291 h 6446291"/>
              <a:gd name="connsiteX0" fmla="*/ 3491 w 3245713"/>
              <a:gd name="connsiteY0" fmla="*/ 6437373 h 6439274"/>
              <a:gd name="connsiteX1" fmla="*/ 0 w 3245713"/>
              <a:gd name="connsiteY1" fmla="*/ 0 h 6439274"/>
              <a:gd name="connsiteX2" fmla="*/ 1150285 w 3245713"/>
              <a:gd name="connsiteY2" fmla="*/ 7041 h 6439274"/>
              <a:gd name="connsiteX3" fmla="*/ 3245713 w 3245713"/>
              <a:gd name="connsiteY3" fmla="*/ 6439274 h 6439274"/>
              <a:gd name="connsiteX4" fmla="*/ 3491 w 3245713"/>
              <a:gd name="connsiteY4" fmla="*/ 6437373 h 6439274"/>
              <a:gd name="connsiteX0" fmla="*/ 679766 w 3921988"/>
              <a:gd name="connsiteY0" fmla="*/ 6437373 h 6439274"/>
              <a:gd name="connsiteX1" fmla="*/ 0 w 3921988"/>
              <a:gd name="connsiteY1" fmla="*/ 0 h 6439274"/>
              <a:gd name="connsiteX2" fmla="*/ 1826560 w 3921988"/>
              <a:gd name="connsiteY2" fmla="*/ 7041 h 6439274"/>
              <a:gd name="connsiteX3" fmla="*/ 3921988 w 3921988"/>
              <a:gd name="connsiteY3" fmla="*/ 6439274 h 6439274"/>
              <a:gd name="connsiteX4" fmla="*/ 679766 w 3921988"/>
              <a:gd name="connsiteY4" fmla="*/ 6437373 h 6439274"/>
              <a:gd name="connsiteX0" fmla="*/ 41591 w 3921988"/>
              <a:gd name="connsiteY0" fmla="*/ 6437373 h 6439274"/>
              <a:gd name="connsiteX1" fmla="*/ 0 w 3921988"/>
              <a:gd name="connsiteY1" fmla="*/ 0 h 6439274"/>
              <a:gd name="connsiteX2" fmla="*/ 1826560 w 3921988"/>
              <a:gd name="connsiteY2" fmla="*/ 7041 h 6439274"/>
              <a:gd name="connsiteX3" fmla="*/ 3921988 w 3921988"/>
              <a:gd name="connsiteY3" fmla="*/ 6439274 h 6439274"/>
              <a:gd name="connsiteX4" fmla="*/ 41591 w 3921988"/>
              <a:gd name="connsiteY4" fmla="*/ 6437373 h 6439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1988" h="6439274">
                <a:moveTo>
                  <a:pt x="41591" y="6437373"/>
                </a:moveTo>
                <a:cubicBezTo>
                  <a:pt x="34447" y="4284723"/>
                  <a:pt x="7144" y="2152650"/>
                  <a:pt x="0" y="0"/>
                </a:cubicBezTo>
                <a:lnTo>
                  <a:pt x="1826560" y="7041"/>
                </a:lnTo>
                <a:lnTo>
                  <a:pt x="3921988" y="6439274"/>
                </a:lnTo>
                <a:lnTo>
                  <a:pt x="41591" y="643737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76D1A-3C0C-4473-B941-3E6E31C96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8422" y="3291870"/>
            <a:ext cx="7555403" cy="784830"/>
          </a:xfrm>
        </p:spPr>
        <p:txBody>
          <a:bodyPr anchor="b">
            <a:spAutoFit/>
          </a:bodyPr>
          <a:lstStyle>
            <a:lvl1pPr>
              <a:defRPr sz="4500" b="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add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3DAD5-66F7-44CB-BD92-35F6AF415DE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98421" y="4248150"/>
            <a:ext cx="7555403" cy="1419226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short subtitle or short summary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F46BC9E2-B785-4CED-81C1-98930C7FB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>
                <a:latin typeface="Calibri Light"/>
              </a:rPr>
              <a:t>villagereach.org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E5B693D-D502-402C-A55C-6546FB45F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  <p:pic>
        <p:nvPicPr>
          <p:cNvPr id="5" name="Picture 4" descr="A picture containing ground, outdoor, tree, sandy&#10;&#10;Description automatically generated">
            <a:extLst>
              <a:ext uri="{FF2B5EF4-FFF2-40B4-BE49-F238E27FC236}">
                <a16:creationId xmlns:a16="http://schemas.microsoft.com/office/drawing/2014/main" id="{EAC5908C-90C4-474F-8CBC-3B2F1E20A5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826" y="855900"/>
            <a:ext cx="3214000" cy="4821000"/>
          </a:xfrm>
          <a:prstGeom prst="rect">
            <a:avLst/>
          </a:prstGeom>
        </p:spPr>
      </p:pic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27438123-B56C-4458-8D69-1CB2470B6DB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3826" y="855900"/>
            <a:ext cx="3214000" cy="4821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change picture</a:t>
            </a:r>
          </a:p>
        </p:txBody>
      </p:sp>
    </p:spTree>
    <p:extLst>
      <p:ext uri="{BB962C8B-B14F-4D97-AF65-F5344CB8AC3E}">
        <p14:creationId xmlns:p14="http://schemas.microsoft.com/office/powerpoint/2010/main" val="21121188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D7D5-3C15-4C44-965F-502AD2A2F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267" y="268733"/>
            <a:ext cx="6135269" cy="5961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34B11-964E-4A13-AB78-6EB6E9D2C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19"/>
              </a:spcBef>
              <a:spcAft>
                <a:spcPts val="364"/>
              </a:spcAft>
              <a:defRPr sz="2183"/>
            </a:lvl1pPr>
            <a:lvl2pPr>
              <a:spcBef>
                <a:spcPts val="364"/>
              </a:spcBef>
              <a:spcAft>
                <a:spcPts val="364"/>
              </a:spcAft>
              <a:defRPr sz="1940"/>
            </a:lvl2pPr>
            <a:lvl3pPr>
              <a:defRPr sz="1940"/>
            </a:lvl3pPr>
            <a:lvl4pPr>
              <a:defRPr sz="1940"/>
            </a:lvl4pPr>
            <a:lvl5pPr>
              <a:defRPr sz="194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E251F-0413-4AFD-9118-C4471C4E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54492"/>
            <a:fld id="{629EF865-D37D-4C3C-95B5-E0E879A9FD15}" type="datetime1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92"/>
              <a:t>12/17/2025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DADE9-90FA-4073-8036-2A3641B6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54492"/>
            <a:r>
              <a:rPr lang="en-US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t>villagereach.org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EF4BD-0157-48B3-93F8-5F91C5EF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54492"/>
            <a:fld id="{0C84B27A-A12B-4439-8504-11381F54A19D}" type="slidenum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92"/>
              <a:t>‹#›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E4BDE8-DA20-4453-8C31-97832FB722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415" y="846781"/>
            <a:ext cx="7717236" cy="764184"/>
          </a:xfrm>
        </p:spPr>
        <p:txBody>
          <a:bodyPr wrap="square">
            <a:spAutoFit/>
          </a:bodyPr>
          <a:lstStyle>
            <a:lvl1pPr>
              <a:defRPr sz="2183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</p:spTree>
    <p:extLst>
      <p:ext uri="{BB962C8B-B14F-4D97-AF65-F5344CB8AC3E}">
        <p14:creationId xmlns:p14="http://schemas.microsoft.com/office/powerpoint/2010/main" val="52105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gradFill>
          <a:gsLst>
            <a:gs pos="0">
              <a:schemeClr val="lt1"/>
            </a:gs>
            <a:gs pos="81000">
              <a:srgbClr val="EEEEEE"/>
            </a:gs>
            <a:gs pos="100000">
              <a:srgbClr val="D8D8D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8129284" y="6617335"/>
            <a:ext cx="3280980" cy="18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414F57"/>
              </a:solidFill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277266" y="6617335"/>
            <a:ext cx="7713385" cy="18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414F57"/>
              </a:solidFill>
            </a:endParaRPr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11410264" y="6617335"/>
            <a:ext cx="495033" cy="18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19207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75903A-6B6B-42C0-BFDF-1B40BFD35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A7BF030-B67E-4B71-B1B8-6DDE42C54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7DDAD2-86DD-44CF-8613-27786CB4F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9347-8367-47C8-9E7C-94D62110FE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E6B33E-F623-4E8A-B51C-51D195F5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0003EC-B2FC-41A9-B8FC-12F3694D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28C52-D618-468C-88C1-51C16410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626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D7D5-3C15-4C44-965F-502AD2A2F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267" y="268733"/>
            <a:ext cx="6135269" cy="5961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34B11-964E-4A13-AB78-6EB6E9D2C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19"/>
              </a:spcBef>
              <a:spcAft>
                <a:spcPts val="364"/>
              </a:spcAft>
              <a:defRPr sz="2183"/>
            </a:lvl1pPr>
            <a:lvl2pPr>
              <a:spcBef>
                <a:spcPts val="364"/>
              </a:spcBef>
              <a:spcAft>
                <a:spcPts val="364"/>
              </a:spcAft>
              <a:defRPr sz="1940"/>
            </a:lvl2pPr>
            <a:lvl3pPr>
              <a:defRPr sz="1940"/>
            </a:lvl3pPr>
            <a:lvl4pPr>
              <a:defRPr sz="1940"/>
            </a:lvl4pPr>
            <a:lvl5pPr>
              <a:defRPr sz="194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E251F-0413-4AFD-9118-C4471C4E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54492"/>
            <a:fld id="{629EF865-D37D-4C3C-95B5-E0E879A9FD15}" type="datetime1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92"/>
              <a:t>12/17/2025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DADE9-90FA-4073-8036-2A3641B6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54492"/>
            <a:r>
              <a:rPr lang="en-US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t>villagereach.org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EF4BD-0157-48B3-93F8-5F91C5EF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54492"/>
            <a:fld id="{0C84B27A-A12B-4439-8504-11381F54A19D}" type="slidenum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92"/>
              <a:t>‹#›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E4BDE8-DA20-4453-8C31-97832FB722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415" y="846781"/>
            <a:ext cx="7717236" cy="764184"/>
          </a:xfrm>
        </p:spPr>
        <p:txBody>
          <a:bodyPr wrap="square">
            <a:spAutoFit/>
          </a:bodyPr>
          <a:lstStyle>
            <a:lvl1pPr>
              <a:defRPr sz="2183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</p:spTree>
    <p:extLst>
      <p:ext uri="{BB962C8B-B14F-4D97-AF65-F5344CB8AC3E}">
        <p14:creationId xmlns:p14="http://schemas.microsoft.com/office/powerpoint/2010/main" val="3875905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D7D5-3C15-4C44-965F-502AD2A2F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268" y="268734"/>
            <a:ext cx="6135269" cy="5961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34B11-964E-4A13-AB78-6EB6E9D2C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19"/>
              </a:spcBef>
              <a:spcAft>
                <a:spcPts val="364"/>
              </a:spcAft>
              <a:defRPr sz="2183"/>
            </a:lvl1pPr>
            <a:lvl2pPr>
              <a:spcBef>
                <a:spcPts val="500"/>
              </a:spcBef>
              <a:spcAft>
                <a:spcPts val="364"/>
              </a:spcAft>
              <a:defRPr sz="1940"/>
            </a:lvl2pPr>
            <a:lvl3pPr marL="0">
              <a:spcBef>
                <a:spcPts val="500"/>
              </a:spcBef>
              <a:defRPr sz="1940"/>
            </a:lvl3pPr>
            <a:lvl4pPr marL="548614">
              <a:spcBef>
                <a:spcPts val="500"/>
              </a:spcBef>
              <a:defRPr sz="1940"/>
            </a:lvl4pPr>
            <a:lvl5pPr marL="914358">
              <a:spcBef>
                <a:spcPts val="500"/>
              </a:spcBef>
              <a:defRPr sz="194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E251F-0413-4AFD-9118-C4471C4E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54466"/>
            <a:fld id="{629EF865-D37D-4C3C-95B5-E0E879A9FD15}" type="datetime1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66"/>
              <a:t>12/17/2025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DADE9-90FA-4073-8036-2A3641B6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54466"/>
            <a:r>
              <a:rPr lang="en-US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t>villagereach.org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EF4BD-0157-48B3-93F8-5F91C5EF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54466"/>
            <a:fld id="{0C84B27A-A12B-4439-8504-11381F54A19D}" type="slidenum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66"/>
              <a:t>‹#›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E4BDE8-DA20-4453-8C31-97832FB722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415" y="846781"/>
            <a:ext cx="7717236" cy="764184"/>
          </a:xfrm>
        </p:spPr>
        <p:txBody>
          <a:bodyPr wrap="square">
            <a:spAutoFit/>
          </a:bodyPr>
          <a:lstStyle>
            <a:lvl1pPr>
              <a:defRPr sz="2183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</p:spTree>
    <p:extLst>
      <p:ext uri="{BB962C8B-B14F-4D97-AF65-F5344CB8AC3E}">
        <p14:creationId xmlns:p14="http://schemas.microsoft.com/office/powerpoint/2010/main" val="268067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allelogram 15">
            <a:extLst>
              <a:ext uri="{FF2B5EF4-FFF2-40B4-BE49-F238E27FC236}">
                <a16:creationId xmlns:a16="http://schemas.microsoft.com/office/drawing/2014/main" id="{144A92B8-5CDF-4573-AA84-CE3CC1B48EB5}"/>
              </a:ext>
            </a:extLst>
          </p:cNvPr>
          <p:cNvSpPr/>
          <p:nvPr userDrawn="1"/>
        </p:nvSpPr>
        <p:spPr>
          <a:xfrm>
            <a:off x="-8791" y="-15448"/>
            <a:ext cx="3892680" cy="6885679"/>
          </a:xfrm>
          <a:custGeom>
            <a:avLst/>
            <a:gdLst>
              <a:gd name="connsiteX0" fmla="*/ 0 w 6686597"/>
              <a:gd name="connsiteY0" fmla="*/ 6429375 h 6429375"/>
              <a:gd name="connsiteX1" fmla="*/ 1607344 w 6686597"/>
              <a:gd name="connsiteY1" fmla="*/ 0 h 6429375"/>
              <a:gd name="connsiteX2" fmla="*/ 6686597 w 6686597"/>
              <a:gd name="connsiteY2" fmla="*/ 0 h 6429375"/>
              <a:gd name="connsiteX3" fmla="*/ 5079253 w 6686597"/>
              <a:gd name="connsiteY3" fmla="*/ 6429375 h 6429375"/>
              <a:gd name="connsiteX4" fmla="*/ 0 w 6686597"/>
              <a:gd name="connsiteY4" fmla="*/ 6429375 h 6429375"/>
              <a:gd name="connsiteX0" fmla="*/ 583406 w 7270003"/>
              <a:gd name="connsiteY0" fmla="*/ 6448425 h 6448425"/>
              <a:gd name="connsiteX1" fmla="*/ 0 w 7270003"/>
              <a:gd name="connsiteY1" fmla="*/ 0 h 6448425"/>
              <a:gd name="connsiteX2" fmla="*/ 7270003 w 7270003"/>
              <a:gd name="connsiteY2" fmla="*/ 19050 h 6448425"/>
              <a:gd name="connsiteX3" fmla="*/ 5662659 w 7270003"/>
              <a:gd name="connsiteY3" fmla="*/ 6448425 h 6448425"/>
              <a:gd name="connsiteX4" fmla="*/ 583406 w 7270003"/>
              <a:gd name="connsiteY4" fmla="*/ 6448425 h 6448425"/>
              <a:gd name="connsiteX0" fmla="*/ 21431 w 7270003"/>
              <a:gd name="connsiteY0" fmla="*/ 6457950 h 6457950"/>
              <a:gd name="connsiteX1" fmla="*/ 0 w 7270003"/>
              <a:gd name="connsiteY1" fmla="*/ 0 h 6457950"/>
              <a:gd name="connsiteX2" fmla="*/ 7270003 w 7270003"/>
              <a:gd name="connsiteY2" fmla="*/ 19050 h 6457950"/>
              <a:gd name="connsiteX3" fmla="*/ 5662659 w 7270003"/>
              <a:gd name="connsiteY3" fmla="*/ 6448425 h 6457950"/>
              <a:gd name="connsiteX4" fmla="*/ 21431 w 7270003"/>
              <a:gd name="connsiteY4" fmla="*/ 6457950 h 6457950"/>
              <a:gd name="connsiteX0" fmla="*/ 21431 w 5662659"/>
              <a:gd name="connsiteY0" fmla="*/ 6457950 h 6457950"/>
              <a:gd name="connsiteX1" fmla="*/ 0 w 5662659"/>
              <a:gd name="connsiteY1" fmla="*/ 0 h 6457950"/>
              <a:gd name="connsiteX2" fmla="*/ 3917203 w 5662659"/>
              <a:gd name="connsiteY2" fmla="*/ 9525 h 6457950"/>
              <a:gd name="connsiteX3" fmla="*/ 5662659 w 5662659"/>
              <a:gd name="connsiteY3" fmla="*/ 6448425 h 6457950"/>
              <a:gd name="connsiteX4" fmla="*/ 21431 w 5662659"/>
              <a:gd name="connsiteY4" fmla="*/ 6457950 h 6457950"/>
              <a:gd name="connsiteX0" fmla="*/ 678 w 5641906"/>
              <a:gd name="connsiteY0" fmla="*/ 6448425 h 6448425"/>
              <a:gd name="connsiteX1" fmla="*/ 38241 w 5641906"/>
              <a:gd name="connsiteY1" fmla="*/ 307 h 6448425"/>
              <a:gd name="connsiteX2" fmla="*/ 3896450 w 5641906"/>
              <a:gd name="connsiteY2" fmla="*/ 0 h 6448425"/>
              <a:gd name="connsiteX3" fmla="*/ 5641906 w 5641906"/>
              <a:gd name="connsiteY3" fmla="*/ 6438900 h 6448425"/>
              <a:gd name="connsiteX4" fmla="*/ 678 w 5641906"/>
              <a:gd name="connsiteY4" fmla="*/ 6448425 h 6448425"/>
              <a:gd name="connsiteX0" fmla="*/ 4224 w 5645452"/>
              <a:gd name="connsiteY0" fmla="*/ 6448425 h 6448425"/>
              <a:gd name="connsiteX1" fmla="*/ 0 w 5645452"/>
              <a:gd name="connsiteY1" fmla="*/ 7681 h 6448425"/>
              <a:gd name="connsiteX2" fmla="*/ 3899996 w 5645452"/>
              <a:gd name="connsiteY2" fmla="*/ 0 h 6448425"/>
              <a:gd name="connsiteX3" fmla="*/ 5645452 w 5645452"/>
              <a:gd name="connsiteY3" fmla="*/ 6438900 h 6448425"/>
              <a:gd name="connsiteX4" fmla="*/ 4224 w 5645452"/>
              <a:gd name="connsiteY4" fmla="*/ 6448425 h 6448425"/>
              <a:gd name="connsiteX0" fmla="*/ 1118649 w 5645452"/>
              <a:gd name="connsiteY0" fmla="*/ 6448425 h 6448425"/>
              <a:gd name="connsiteX1" fmla="*/ 0 w 5645452"/>
              <a:gd name="connsiteY1" fmla="*/ 7681 h 6448425"/>
              <a:gd name="connsiteX2" fmla="*/ 3899996 w 5645452"/>
              <a:gd name="connsiteY2" fmla="*/ 0 h 6448425"/>
              <a:gd name="connsiteX3" fmla="*/ 5645452 w 5645452"/>
              <a:gd name="connsiteY3" fmla="*/ 6438900 h 6448425"/>
              <a:gd name="connsiteX4" fmla="*/ 1118649 w 5645452"/>
              <a:gd name="connsiteY4" fmla="*/ 6448425 h 6448425"/>
              <a:gd name="connsiteX0" fmla="*/ 909099 w 5645452"/>
              <a:gd name="connsiteY0" fmla="*/ 6448425 h 6448425"/>
              <a:gd name="connsiteX1" fmla="*/ 0 w 5645452"/>
              <a:gd name="connsiteY1" fmla="*/ 7681 h 6448425"/>
              <a:gd name="connsiteX2" fmla="*/ 3899996 w 5645452"/>
              <a:gd name="connsiteY2" fmla="*/ 0 h 6448425"/>
              <a:gd name="connsiteX3" fmla="*/ 5645452 w 5645452"/>
              <a:gd name="connsiteY3" fmla="*/ 6438900 h 6448425"/>
              <a:gd name="connsiteX4" fmla="*/ 909099 w 5645452"/>
              <a:gd name="connsiteY4" fmla="*/ 6448425 h 6448425"/>
              <a:gd name="connsiteX0" fmla="*/ 105 w 4736458"/>
              <a:gd name="connsiteY0" fmla="*/ 6448425 h 6448425"/>
              <a:gd name="connsiteX1" fmla="*/ 348306 w 4736458"/>
              <a:gd name="connsiteY1" fmla="*/ 217231 h 6448425"/>
              <a:gd name="connsiteX2" fmla="*/ 2991002 w 4736458"/>
              <a:gd name="connsiteY2" fmla="*/ 0 h 6448425"/>
              <a:gd name="connsiteX3" fmla="*/ 4736458 w 4736458"/>
              <a:gd name="connsiteY3" fmla="*/ 6438900 h 6448425"/>
              <a:gd name="connsiteX4" fmla="*/ 105 w 4736458"/>
              <a:gd name="connsiteY4" fmla="*/ 6448425 h 6448425"/>
              <a:gd name="connsiteX0" fmla="*/ 13749 w 4750102"/>
              <a:gd name="connsiteY0" fmla="*/ 6450269 h 6450269"/>
              <a:gd name="connsiteX1" fmla="*/ 0 w 4750102"/>
              <a:gd name="connsiteY1" fmla="*/ 0 h 6450269"/>
              <a:gd name="connsiteX2" fmla="*/ 3004646 w 4750102"/>
              <a:gd name="connsiteY2" fmla="*/ 1844 h 6450269"/>
              <a:gd name="connsiteX3" fmla="*/ 4750102 w 4750102"/>
              <a:gd name="connsiteY3" fmla="*/ 6440744 h 6450269"/>
              <a:gd name="connsiteX4" fmla="*/ 13749 w 4750102"/>
              <a:gd name="connsiteY4" fmla="*/ 6450269 h 6450269"/>
              <a:gd name="connsiteX0" fmla="*/ 5081 w 4750102"/>
              <a:gd name="connsiteY0" fmla="*/ 6441602 h 6441602"/>
              <a:gd name="connsiteX1" fmla="*/ 0 w 4750102"/>
              <a:gd name="connsiteY1" fmla="*/ 0 h 6441602"/>
              <a:gd name="connsiteX2" fmla="*/ 3004646 w 4750102"/>
              <a:gd name="connsiteY2" fmla="*/ 1844 h 6441602"/>
              <a:gd name="connsiteX3" fmla="*/ 4750102 w 4750102"/>
              <a:gd name="connsiteY3" fmla="*/ 6440744 h 6441602"/>
              <a:gd name="connsiteX4" fmla="*/ 5081 w 4750102"/>
              <a:gd name="connsiteY4" fmla="*/ 6441602 h 6441602"/>
              <a:gd name="connsiteX0" fmla="*/ 5081 w 4750102"/>
              <a:gd name="connsiteY0" fmla="*/ 6441602 h 6441602"/>
              <a:gd name="connsiteX1" fmla="*/ 0 w 4750102"/>
              <a:gd name="connsiteY1" fmla="*/ 0 h 6441602"/>
              <a:gd name="connsiteX2" fmla="*/ 3004646 w 4750102"/>
              <a:gd name="connsiteY2" fmla="*/ 14845 h 6441602"/>
              <a:gd name="connsiteX3" fmla="*/ 4750102 w 4750102"/>
              <a:gd name="connsiteY3" fmla="*/ 6440744 h 6441602"/>
              <a:gd name="connsiteX4" fmla="*/ 5081 w 4750102"/>
              <a:gd name="connsiteY4" fmla="*/ 6441602 h 6441602"/>
              <a:gd name="connsiteX0" fmla="*/ 2224406 w 4750102"/>
              <a:gd name="connsiteY0" fmla="*/ 6327456 h 6440744"/>
              <a:gd name="connsiteX1" fmla="*/ 0 w 4750102"/>
              <a:gd name="connsiteY1" fmla="*/ 0 h 6440744"/>
              <a:gd name="connsiteX2" fmla="*/ 3004646 w 4750102"/>
              <a:gd name="connsiteY2" fmla="*/ 14845 h 6440744"/>
              <a:gd name="connsiteX3" fmla="*/ 4750102 w 4750102"/>
              <a:gd name="connsiteY3" fmla="*/ 6440744 h 6440744"/>
              <a:gd name="connsiteX4" fmla="*/ 2224406 w 4750102"/>
              <a:gd name="connsiteY4" fmla="*/ 6327456 h 6440744"/>
              <a:gd name="connsiteX0" fmla="*/ 1719581 w 4750102"/>
              <a:gd name="connsiteY0" fmla="*/ 6422578 h 6440744"/>
              <a:gd name="connsiteX1" fmla="*/ 0 w 4750102"/>
              <a:gd name="connsiteY1" fmla="*/ 0 h 6440744"/>
              <a:gd name="connsiteX2" fmla="*/ 3004646 w 4750102"/>
              <a:gd name="connsiteY2" fmla="*/ 14845 h 6440744"/>
              <a:gd name="connsiteX3" fmla="*/ 4750102 w 4750102"/>
              <a:gd name="connsiteY3" fmla="*/ 6440744 h 6440744"/>
              <a:gd name="connsiteX4" fmla="*/ 1719581 w 4750102"/>
              <a:gd name="connsiteY4" fmla="*/ 6422578 h 6440744"/>
              <a:gd name="connsiteX0" fmla="*/ 121 w 3030642"/>
              <a:gd name="connsiteY0" fmla="*/ 6407733 h 6425899"/>
              <a:gd name="connsiteX1" fmla="*/ 299840 w 3030642"/>
              <a:gd name="connsiteY1" fmla="*/ 251497 h 6425899"/>
              <a:gd name="connsiteX2" fmla="*/ 1285186 w 3030642"/>
              <a:gd name="connsiteY2" fmla="*/ 0 h 6425899"/>
              <a:gd name="connsiteX3" fmla="*/ 3030642 w 3030642"/>
              <a:gd name="connsiteY3" fmla="*/ 6425899 h 6425899"/>
              <a:gd name="connsiteX4" fmla="*/ 121 w 3030642"/>
              <a:gd name="connsiteY4" fmla="*/ 6407733 h 6425899"/>
              <a:gd name="connsiteX0" fmla="*/ 1167 w 3031688"/>
              <a:gd name="connsiteY0" fmla="*/ 6422578 h 6440744"/>
              <a:gd name="connsiteX1" fmla="*/ 15136 w 3031688"/>
              <a:gd name="connsiteY1" fmla="*/ 0 h 6440744"/>
              <a:gd name="connsiteX2" fmla="*/ 1286232 w 3031688"/>
              <a:gd name="connsiteY2" fmla="*/ 14845 h 6440744"/>
              <a:gd name="connsiteX3" fmla="*/ 3031688 w 3031688"/>
              <a:gd name="connsiteY3" fmla="*/ 6440744 h 6440744"/>
              <a:gd name="connsiteX4" fmla="*/ 1167 w 3031688"/>
              <a:gd name="connsiteY4" fmla="*/ 6422578 h 6440744"/>
              <a:gd name="connsiteX0" fmla="*/ 576581 w 3016552"/>
              <a:gd name="connsiteY0" fmla="*/ 6099164 h 6440744"/>
              <a:gd name="connsiteX1" fmla="*/ 0 w 3016552"/>
              <a:gd name="connsiteY1" fmla="*/ 0 h 6440744"/>
              <a:gd name="connsiteX2" fmla="*/ 1271096 w 3016552"/>
              <a:gd name="connsiteY2" fmla="*/ 14845 h 6440744"/>
              <a:gd name="connsiteX3" fmla="*/ 3016552 w 3016552"/>
              <a:gd name="connsiteY3" fmla="*/ 6440744 h 6440744"/>
              <a:gd name="connsiteX4" fmla="*/ 576581 w 3016552"/>
              <a:gd name="connsiteY4" fmla="*/ 6099164 h 6440744"/>
              <a:gd name="connsiteX0" fmla="*/ 367031 w 3016552"/>
              <a:gd name="connsiteY0" fmla="*/ 6451116 h 6451116"/>
              <a:gd name="connsiteX1" fmla="*/ 0 w 3016552"/>
              <a:gd name="connsiteY1" fmla="*/ 0 h 6451116"/>
              <a:gd name="connsiteX2" fmla="*/ 1271096 w 3016552"/>
              <a:gd name="connsiteY2" fmla="*/ 14845 h 6451116"/>
              <a:gd name="connsiteX3" fmla="*/ 3016552 w 3016552"/>
              <a:gd name="connsiteY3" fmla="*/ 6440744 h 6451116"/>
              <a:gd name="connsiteX4" fmla="*/ 367031 w 3016552"/>
              <a:gd name="connsiteY4" fmla="*/ 6451116 h 6451116"/>
              <a:gd name="connsiteX0" fmla="*/ 207 w 2649728"/>
              <a:gd name="connsiteY0" fmla="*/ 6436271 h 6436271"/>
              <a:gd name="connsiteX1" fmla="*/ 166576 w 2649728"/>
              <a:gd name="connsiteY1" fmla="*/ 4179 h 6436271"/>
              <a:gd name="connsiteX2" fmla="*/ 904272 w 2649728"/>
              <a:gd name="connsiteY2" fmla="*/ 0 h 6436271"/>
              <a:gd name="connsiteX3" fmla="*/ 2649728 w 2649728"/>
              <a:gd name="connsiteY3" fmla="*/ 6425899 h 6436271"/>
              <a:gd name="connsiteX4" fmla="*/ 207 w 2649728"/>
              <a:gd name="connsiteY4" fmla="*/ 6436271 h 6436271"/>
              <a:gd name="connsiteX0" fmla="*/ 903 w 2650424"/>
              <a:gd name="connsiteY0" fmla="*/ 6441604 h 6441604"/>
              <a:gd name="connsiteX1" fmla="*/ 24397 w 2650424"/>
              <a:gd name="connsiteY1" fmla="*/ 0 h 6441604"/>
              <a:gd name="connsiteX2" fmla="*/ 904968 w 2650424"/>
              <a:gd name="connsiteY2" fmla="*/ 5333 h 6441604"/>
              <a:gd name="connsiteX3" fmla="*/ 2650424 w 2650424"/>
              <a:gd name="connsiteY3" fmla="*/ 6431232 h 6441604"/>
              <a:gd name="connsiteX4" fmla="*/ 903 w 2650424"/>
              <a:gd name="connsiteY4" fmla="*/ 6441604 h 6441604"/>
              <a:gd name="connsiteX0" fmla="*/ 1277 w 2638508"/>
              <a:gd name="connsiteY0" fmla="*/ 6419512 h 6431232"/>
              <a:gd name="connsiteX1" fmla="*/ 12481 w 2638508"/>
              <a:gd name="connsiteY1" fmla="*/ 0 h 6431232"/>
              <a:gd name="connsiteX2" fmla="*/ 893052 w 2638508"/>
              <a:gd name="connsiteY2" fmla="*/ 5333 h 6431232"/>
              <a:gd name="connsiteX3" fmla="*/ 2638508 w 2638508"/>
              <a:gd name="connsiteY3" fmla="*/ 6431232 h 6431232"/>
              <a:gd name="connsiteX4" fmla="*/ 1277 w 2638508"/>
              <a:gd name="connsiteY4" fmla="*/ 6419512 h 6431232"/>
              <a:gd name="connsiteX0" fmla="*/ 1277 w 2638508"/>
              <a:gd name="connsiteY0" fmla="*/ 6419512 h 6419512"/>
              <a:gd name="connsiteX1" fmla="*/ 12481 w 2638508"/>
              <a:gd name="connsiteY1" fmla="*/ 0 h 6419512"/>
              <a:gd name="connsiteX2" fmla="*/ 893052 w 2638508"/>
              <a:gd name="connsiteY2" fmla="*/ 5333 h 6419512"/>
              <a:gd name="connsiteX3" fmla="*/ 2638508 w 2638508"/>
              <a:gd name="connsiteY3" fmla="*/ 6396865 h 6419512"/>
              <a:gd name="connsiteX4" fmla="*/ 1277 w 2638508"/>
              <a:gd name="connsiteY4" fmla="*/ 6419512 h 6419512"/>
              <a:gd name="connsiteX0" fmla="*/ 1277 w 2638508"/>
              <a:gd name="connsiteY0" fmla="*/ 6419512 h 6419512"/>
              <a:gd name="connsiteX1" fmla="*/ 12481 w 2638508"/>
              <a:gd name="connsiteY1" fmla="*/ 0 h 6419512"/>
              <a:gd name="connsiteX2" fmla="*/ 893052 w 2638508"/>
              <a:gd name="connsiteY2" fmla="*/ 5333 h 6419512"/>
              <a:gd name="connsiteX3" fmla="*/ 2638508 w 2638508"/>
              <a:gd name="connsiteY3" fmla="*/ 6396865 h 6419512"/>
              <a:gd name="connsiteX4" fmla="*/ 1277 w 2638508"/>
              <a:gd name="connsiteY4" fmla="*/ 6419512 h 6419512"/>
              <a:gd name="connsiteX0" fmla="*/ 1277 w 2643424"/>
              <a:gd name="connsiteY0" fmla="*/ 6419512 h 6421413"/>
              <a:gd name="connsiteX1" fmla="*/ 12481 w 2643424"/>
              <a:gd name="connsiteY1" fmla="*/ 0 h 6421413"/>
              <a:gd name="connsiteX2" fmla="*/ 893052 w 2643424"/>
              <a:gd name="connsiteY2" fmla="*/ 5333 h 6421413"/>
              <a:gd name="connsiteX3" fmla="*/ 2643424 w 2643424"/>
              <a:gd name="connsiteY3" fmla="*/ 6421413 h 6421413"/>
              <a:gd name="connsiteX4" fmla="*/ 1277 w 2643424"/>
              <a:gd name="connsiteY4" fmla="*/ 6419512 h 6421413"/>
              <a:gd name="connsiteX0" fmla="*/ 1531 w 2643678"/>
              <a:gd name="connsiteY0" fmla="*/ 6424421 h 6426322"/>
              <a:gd name="connsiteX1" fmla="*/ 7819 w 2643678"/>
              <a:gd name="connsiteY1" fmla="*/ 0 h 6426322"/>
              <a:gd name="connsiteX2" fmla="*/ 893306 w 2643678"/>
              <a:gd name="connsiteY2" fmla="*/ 10242 h 6426322"/>
              <a:gd name="connsiteX3" fmla="*/ 2643678 w 2643678"/>
              <a:gd name="connsiteY3" fmla="*/ 6426322 h 6426322"/>
              <a:gd name="connsiteX4" fmla="*/ 1531 w 2643678"/>
              <a:gd name="connsiteY4" fmla="*/ 6424421 h 6426322"/>
              <a:gd name="connsiteX0" fmla="*/ 1181 w 2643328"/>
              <a:gd name="connsiteY0" fmla="*/ 6414179 h 6416080"/>
              <a:gd name="connsiteX1" fmla="*/ 14804 w 2643328"/>
              <a:gd name="connsiteY1" fmla="*/ 19058 h 6416080"/>
              <a:gd name="connsiteX2" fmla="*/ 892956 w 2643328"/>
              <a:gd name="connsiteY2" fmla="*/ 0 h 6416080"/>
              <a:gd name="connsiteX3" fmla="*/ 2643328 w 2643328"/>
              <a:gd name="connsiteY3" fmla="*/ 6416080 h 6416080"/>
              <a:gd name="connsiteX4" fmla="*/ 1181 w 2643328"/>
              <a:gd name="connsiteY4" fmla="*/ 6414179 h 6416080"/>
              <a:gd name="connsiteX0" fmla="*/ 3491 w 2645638"/>
              <a:gd name="connsiteY0" fmla="*/ 6419537 h 6421438"/>
              <a:gd name="connsiteX1" fmla="*/ 0 w 2645638"/>
              <a:gd name="connsiteY1" fmla="*/ 0 h 6421438"/>
              <a:gd name="connsiteX2" fmla="*/ 895266 w 2645638"/>
              <a:gd name="connsiteY2" fmla="*/ 5358 h 6421438"/>
              <a:gd name="connsiteX3" fmla="*/ 2645638 w 2645638"/>
              <a:gd name="connsiteY3" fmla="*/ 6421438 h 6421438"/>
              <a:gd name="connsiteX4" fmla="*/ 3491 w 2645638"/>
              <a:gd name="connsiteY4" fmla="*/ 6419537 h 6421438"/>
              <a:gd name="connsiteX0" fmla="*/ 3491 w 2645638"/>
              <a:gd name="connsiteY0" fmla="*/ 6419537 h 6421438"/>
              <a:gd name="connsiteX1" fmla="*/ 0 w 2645638"/>
              <a:gd name="connsiteY1" fmla="*/ 0 h 6421438"/>
              <a:gd name="connsiteX2" fmla="*/ 420813 w 2645638"/>
              <a:gd name="connsiteY2" fmla="*/ 5358 h 6421438"/>
              <a:gd name="connsiteX3" fmla="*/ 2645638 w 2645638"/>
              <a:gd name="connsiteY3" fmla="*/ 6421438 h 6421438"/>
              <a:gd name="connsiteX4" fmla="*/ 3491 w 2645638"/>
              <a:gd name="connsiteY4" fmla="*/ 6419537 h 6421438"/>
              <a:gd name="connsiteX0" fmla="*/ 3491 w 2645638"/>
              <a:gd name="connsiteY0" fmla="*/ 6438408 h 6440309"/>
              <a:gd name="connsiteX1" fmla="*/ 0 w 2645638"/>
              <a:gd name="connsiteY1" fmla="*/ 18871 h 6440309"/>
              <a:gd name="connsiteX2" fmla="*/ 541583 w 2645638"/>
              <a:gd name="connsiteY2" fmla="*/ 0 h 6440309"/>
              <a:gd name="connsiteX3" fmla="*/ 2645638 w 2645638"/>
              <a:gd name="connsiteY3" fmla="*/ 6440309 h 6440309"/>
              <a:gd name="connsiteX4" fmla="*/ 3491 w 2645638"/>
              <a:gd name="connsiteY4" fmla="*/ 6438408 h 6440309"/>
              <a:gd name="connsiteX0" fmla="*/ 3491 w 2645638"/>
              <a:gd name="connsiteY0" fmla="*/ 6430332 h 6432233"/>
              <a:gd name="connsiteX1" fmla="*/ 0 w 2645638"/>
              <a:gd name="connsiteY1" fmla="*/ 10795 h 6432233"/>
              <a:gd name="connsiteX2" fmla="*/ 550210 w 2645638"/>
              <a:gd name="connsiteY2" fmla="*/ 0 h 6432233"/>
              <a:gd name="connsiteX3" fmla="*/ 2645638 w 2645638"/>
              <a:gd name="connsiteY3" fmla="*/ 6432233 h 6432233"/>
              <a:gd name="connsiteX4" fmla="*/ 3491 w 2645638"/>
              <a:gd name="connsiteY4" fmla="*/ 6430332 h 6432233"/>
              <a:gd name="connsiteX0" fmla="*/ 106 w 2985153"/>
              <a:gd name="connsiteY0" fmla="*/ 6439250 h 6439250"/>
              <a:gd name="connsiteX1" fmla="*/ 339515 w 2985153"/>
              <a:gd name="connsiteY1" fmla="*/ 10795 h 6439250"/>
              <a:gd name="connsiteX2" fmla="*/ 889725 w 2985153"/>
              <a:gd name="connsiteY2" fmla="*/ 0 h 6439250"/>
              <a:gd name="connsiteX3" fmla="*/ 2985153 w 2985153"/>
              <a:gd name="connsiteY3" fmla="*/ 6432233 h 6439250"/>
              <a:gd name="connsiteX4" fmla="*/ 106 w 2985153"/>
              <a:gd name="connsiteY4" fmla="*/ 6439250 h 6439250"/>
              <a:gd name="connsiteX0" fmla="*/ 13016 w 2998063"/>
              <a:gd name="connsiteY0" fmla="*/ 6446291 h 6446291"/>
              <a:gd name="connsiteX1" fmla="*/ 0 w 2998063"/>
              <a:gd name="connsiteY1" fmla="*/ 0 h 6446291"/>
              <a:gd name="connsiteX2" fmla="*/ 902635 w 2998063"/>
              <a:gd name="connsiteY2" fmla="*/ 7041 h 6446291"/>
              <a:gd name="connsiteX3" fmla="*/ 2998063 w 2998063"/>
              <a:gd name="connsiteY3" fmla="*/ 6439274 h 6446291"/>
              <a:gd name="connsiteX4" fmla="*/ 13016 w 2998063"/>
              <a:gd name="connsiteY4" fmla="*/ 6446291 h 6446291"/>
              <a:gd name="connsiteX0" fmla="*/ 260666 w 3245713"/>
              <a:gd name="connsiteY0" fmla="*/ 6446291 h 6446291"/>
              <a:gd name="connsiteX1" fmla="*/ 0 w 3245713"/>
              <a:gd name="connsiteY1" fmla="*/ 0 h 6446291"/>
              <a:gd name="connsiteX2" fmla="*/ 1150285 w 3245713"/>
              <a:gd name="connsiteY2" fmla="*/ 7041 h 6446291"/>
              <a:gd name="connsiteX3" fmla="*/ 3245713 w 3245713"/>
              <a:gd name="connsiteY3" fmla="*/ 6439274 h 6446291"/>
              <a:gd name="connsiteX4" fmla="*/ 260666 w 3245713"/>
              <a:gd name="connsiteY4" fmla="*/ 6446291 h 6446291"/>
              <a:gd name="connsiteX0" fmla="*/ 3491 w 3245713"/>
              <a:gd name="connsiteY0" fmla="*/ 6437373 h 6439274"/>
              <a:gd name="connsiteX1" fmla="*/ 0 w 3245713"/>
              <a:gd name="connsiteY1" fmla="*/ 0 h 6439274"/>
              <a:gd name="connsiteX2" fmla="*/ 1150285 w 3245713"/>
              <a:gd name="connsiteY2" fmla="*/ 7041 h 6439274"/>
              <a:gd name="connsiteX3" fmla="*/ 3245713 w 3245713"/>
              <a:gd name="connsiteY3" fmla="*/ 6439274 h 6439274"/>
              <a:gd name="connsiteX4" fmla="*/ 3491 w 3245713"/>
              <a:gd name="connsiteY4" fmla="*/ 6437373 h 6439274"/>
              <a:gd name="connsiteX0" fmla="*/ 679766 w 3921988"/>
              <a:gd name="connsiteY0" fmla="*/ 6437373 h 6439274"/>
              <a:gd name="connsiteX1" fmla="*/ 0 w 3921988"/>
              <a:gd name="connsiteY1" fmla="*/ 0 h 6439274"/>
              <a:gd name="connsiteX2" fmla="*/ 1826560 w 3921988"/>
              <a:gd name="connsiteY2" fmla="*/ 7041 h 6439274"/>
              <a:gd name="connsiteX3" fmla="*/ 3921988 w 3921988"/>
              <a:gd name="connsiteY3" fmla="*/ 6439274 h 6439274"/>
              <a:gd name="connsiteX4" fmla="*/ 679766 w 3921988"/>
              <a:gd name="connsiteY4" fmla="*/ 6437373 h 6439274"/>
              <a:gd name="connsiteX0" fmla="*/ 41591 w 3921988"/>
              <a:gd name="connsiteY0" fmla="*/ 6437373 h 6439274"/>
              <a:gd name="connsiteX1" fmla="*/ 0 w 3921988"/>
              <a:gd name="connsiteY1" fmla="*/ 0 h 6439274"/>
              <a:gd name="connsiteX2" fmla="*/ 1826560 w 3921988"/>
              <a:gd name="connsiteY2" fmla="*/ 7041 h 6439274"/>
              <a:gd name="connsiteX3" fmla="*/ 3921988 w 3921988"/>
              <a:gd name="connsiteY3" fmla="*/ 6439274 h 6439274"/>
              <a:gd name="connsiteX4" fmla="*/ 41591 w 3921988"/>
              <a:gd name="connsiteY4" fmla="*/ 6437373 h 6439274"/>
              <a:gd name="connsiteX0" fmla="*/ 1262 w 3881659"/>
              <a:gd name="connsiteY0" fmla="*/ 6437373 h 6439274"/>
              <a:gd name="connsiteX1" fmla="*/ 12834 w 3881659"/>
              <a:gd name="connsiteY1" fmla="*/ 0 h 6439274"/>
              <a:gd name="connsiteX2" fmla="*/ 1786231 w 3881659"/>
              <a:gd name="connsiteY2" fmla="*/ 7041 h 6439274"/>
              <a:gd name="connsiteX3" fmla="*/ 3881659 w 3881659"/>
              <a:gd name="connsiteY3" fmla="*/ 6439274 h 6439274"/>
              <a:gd name="connsiteX4" fmla="*/ 1262 w 3881659"/>
              <a:gd name="connsiteY4" fmla="*/ 6437373 h 6439274"/>
              <a:gd name="connsiteX0" fmla="*/ 20234 w 3900631"/>
              <a:gd name="connsiteY0" fmla="*/ 6430332 h 6432233"/>
              <a:gd name="connsiteX1" fmla="*/ 0 w 3900631"/>
              <a:gd name="connsiteY1" fmla="*/ 7848 h 6432233"/>
              <a:gd name="connsiteX2" fmla="*/ 1805203 w 3900631"/>
              <a:gd name="connsiteY2" fmla="*/ 0 h 6432233"/>
              <a:gd name="connsiteX3" fmla="*/ 3900631 w 3900631"/>
              <a:gd name="connsiteY3" fmla="*/ 6432233 h 6432233"/>
              <a:gd name="connsiteX4" fmla="*/ 20234 w 3900631"/>
              <a:gd name="connsiteY4" fmla="*/ 6430332 h 6432233"/>
              <a:gd name="connsiteX0" fmla="*/ 12283 w 3892680"/>
              <a:gd name="connsiteY0" fmla="*/ 6444818 h 6446719"/>
              <a:gd name="connsiteX1" fmla="*/ 0 w 3892680"/>
              <a:gd name="connsiteY1" fmla="*/ 0 h 6446719"/>
              <a:gd name="connsiteX2" fmla="*/ 1797252 w 3892680"/>
              <a:gd name="connsiteY2" fmla="*/ 14486 h 6446719"/>
              <a:gd name="connsiteX3" fmla="*/ 3892680 w 3892680"/>
              <a:gd name="connsiteY3" fmla="*/ 6446719 h 6446719"/>
              <a:gd name="connsiteX4" fmla="*/ 12283 w 3892680"/>
              <a:gd name="connsiteY4" fmla="*/ 6444818 h 644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2680" h="6446719">
                <a:moveTo>
                  <a:pt x="12283" y="6444818"/>
                </a:moveTo>
                <a:cubicBezTo>
                  <a:pt x="5139" y="4292168"/>
                  <a:pt x="7144" y="2152650"/>
                  <a:pt x="0" y="0"/>
                </a:cubicBezTo>
                <a:lnTo>
                  <a:pt x="1797252" y="14486"/>
                </a:lnTo>
                <a:lnTo>
                  <a:pt x="3892680" y="6446719"/>
                </a:lnTo>
                <a:lnTo>
                  <a:pt x="12283" y="644481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76D1A-3C0C-4473-B941-3E6E31C96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96174" y="2599373"/>
            <a:ext cx="4057651" cy="1477328"/>
          </a:xfrm>
        </p:spPr>
        <p:txBody>
          <a:bodyPr anchor="b">
            <a:spAutoFit/>
          </a:bodyPr>
          <a:lstStyle>
            <a:lvl1pPr>
              <a:defRPr sz="4500" b="0">
                <a:solidFill>
                  <a:srgbClr val="A49483"/>
                </a:solidFill>
                <a:latin typeface="+mj-lt"/>
              </a:defRPr>
            </a:lvl1pPr>
          </a:lstStyle>
          <a:p>
            <a:r>
              <a:rPr lang="en-US"/>
              <a:t>Click to add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3DAD5-66F7-44CB-BD92-35F6AF415DE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96173" y="4248150"/>
            <a:ext cx="4057651" cy="1419226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short subtitle or short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2C88A-BCB4-4D5F-A543-1BD7B52C8D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224" y="871779"/>
            <a:ext cx="7171249" cy="478083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0546CD3-CAAF-4F6B-8ACE-D3E37F4F50E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225" y="857250"/>
            <a:ext cx="7171249" cy="4810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change picture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72955912-3DD5-4C6F-9C2C-1EDDACB32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>
                <a:latin typeface="Calibri Light"/>
              </a:rPr>
              <a:t>villagereach.org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DB869AB-8FD8-453F-B524-B345DEC4A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5262093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872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Image 66/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66100" y="0"/>
            <a:ext cx="40259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D7AAA1-4B71-4B88-9B63-8379DC0DD5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267" y="268733"/>
            <a:ext cx="6135269" cy="5961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A0D090-124B-4457-A37D-98B98E599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54492"/>
            <a:r>
              <a:rPr lang="en-US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t>villagereach.org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4146D-10DB-43CA-86EF-E66FBDC64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54492"/>
            <a:fld id="{0C84B27A-A12B-4439-8504-11381F54A19D}" type="slidenum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92"/>
              <a:t>‹#›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BC3441-11FD-4554-A844-ED32FE290E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7266" y="1734716"/>
            <a:ext cx="7713385" cy="4706452"/>
          </a:xfrm>
        </p:spPr>
        <p:txBody>
          <a:bodyPr/>
          <a:lstStyle>
            <a:lvl2pPr>
              <a:defRPr sz="1940"/>
            </a:lvl2pPr>
            <a:lvl3pPr>
              <a:defRPr sz="1940"/>
            </a:lvl3pPr>
            <a:lvl4pPr>
              <a:defRPr sz="1940"/>
            </a:lvl4pPr>
            <a:lvl5pPr>
              <a:defRPr sz="194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C1F8581-79D1-4E9F-A874-AA58C303B7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415" y="846781"/>
            <a:ext cx="7717236" cy="764184"/>
          </a:xfrm>
        </p:spPr>
        <p:txBody>
          <a:bodyPr wrap="square">
            <a:spAutoFit/>
          </a:bodyPr>
          <a:lstStyle>
            <a:lvl1pPr>
              <a:defRPr sz="2183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8166100" y="0"/>
            <a:ext cx="4025899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8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AAA1-4B71-4B88-9B63-8379DC0DD5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267" y="268733"/>
            <a:ext cx="6135269" cy="5961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D1CC1-8450-41C6-A50B-C6E721683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54492"/>
            <a:fld id="{28F63C6F-29AA-44AA-BF9D-896098341224}" type="datetime1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92"/>
              <a:t>12/17/2025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A0D090-124B-4457-A37D-98B98E599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54492"/>
            <a:r>
              <a:rPr lang="en-US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t>villagereach.org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4146D-10DB-43CA-86EF-E66FBDC64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54492"/>
            <a:fld id="{0C84B27A-A12B-4439-8504-11381F54A19D}" type="slidenum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92"/>
              <a:t>‹#›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523AB14-91B4-4CED-8408-D988F1A21F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415" y="846781"/>
            <a:ext cx="7717236" cy="764184"/>
          </a:xfrm>
        </p:spPr>
        <p:txBody>
          <a:bodyPr wrap="square">
            <a:spAutoFit/>
          </a:bodyPr>
          <a:lstStyle>
            <a:lvl1pPr>
              <a:defRPr sz="2183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</p:spTree>
    <p:extLst>
      <p:ext uri="{BB962C8B-B14F-4D97-AF65-F5344CB8AC3E}">
        <p14:creationId xmlns:p14="http://schemas.microsoft.com/office/powerpoint/2010/main" val="63004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4_Title and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944832"/>
      </p:ext>
    </p:extLst>
  </p:cSld>
  <p:clrMapOvr>
    <a:masterClrMapping/>
  </p:clrMapOvr>
  <p:transition spd="slow">
    <p:push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all Of F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94C0E8A-0FD9-4A5B-A7FD-F6E16594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742399" y="3266615"/>
            <a:ext cx="3859795" cy="3652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D56B32-3D90-44EB-BA35-70361A872704}"/>
              </a:ext>
            </a:extLst>
          </p:cNvPr>
          <p:cNvCxnSpPr>
            <a:cxnSpLocks/>
          </p:cNvCxnSpPr>
          <p:nvPr userDrawn="1"/>
        </p:nvCxnSpPr>
        <p:spPr>
          <a:xfrm>
            <a:off x="12005383" y="3429000"/>
            <a:ext cx="186617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06010CF9-D249-448F-B322-CC87886F092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5793" y="1876640"/>
            <a:ext cx="1279907" cy="1279574"/>
          </a:xfrm>
          <a:custGeom>
            <a:avLst/>
            <a:gdLst>
              <a:gd name="connsiteX0" fmla="*/ 0 w 1279574"/>
              <a:gd name="connsiteY0" fmla="*/ 0 h 1279574"/>
              <a:gd name="connsiteX1" fmla="*/ 1279574 w 1279574"/>
              <a:gd name="connsiteY1" fmla="*/ 0 h 1279574"/>
              <a:gd name="connsiteX2" fmla="*/ 1279574 w 1279574"/>
              <a:gd name="connsiteY2" fmla="*/ 1279574 h 1279574"/>
              <a:gd name="connsiteX3" fmla="*/ 0 w 1279574"/>
              <a:gd name="connsiteY3" fmla="*/ 1279574 h 127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574" h="1279574">
                <a:moveTo>
                  <a:pt x="0" y="0"/>
                </a:moveTo>
                <a:lnTo>
                  <a:pt x="1279574" y="0"/>
                </a:lnTo>
                <a:lnTo>
                  <a:pt x="1279574" y="1279574"/>
                </a:lnTo>
                <a:lnTo>
                  <a:pt x="0" y="12795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73100" dist="482600" dir="6060000" algn="tr" rotWithShape="0">
              <a:prstClr val="black">
                <a:alpha val="36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EBAC147-7E99-4E8A-BA21-A054D8BAF2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18841" y="1876640"/>
            <a:ext cx="1279907" cy="1279574"/>
          </a:xfrm>
          <a:custGeom>
            <a:avLst/>
            <a:gdLst>
              <a:gd name="connsiteX0" fmla="*/ 0 w 1279574"/>
              <a:gd name="connsiteY0" fmla="*/ 0 h 1279574"/>
              <a:gd name="connsiteX1" fmla="*/ 1279574 w 1279574"/>
              <a:gd name="connsiteY1" fmla="*/ 0 h 1279574"/>
              <a:gd name="connsiteX2" fmla="*/ 1279574 w 1279574"/>
              <a:gd name="connsiteY2" fmla="*/ 1279574 h 1279574"/>
              <a:gd name="connsiteX3" fmla="*/ 0 w 1279574"/>
              <a:gd name="connsiteY3" fmla="*/ 1279574 h 127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574" h="1279574">
                <a:moveTo>
                  <a:pt x="0" y="0"/>
                </a:moveTo>
                <a:lnTo>
                  <a:pt x="1279574" y="0"/>
                </a:lnTo>
                <a:lnTo>
                  <a:pt x="1279574" y="1279574"/>
                </a:lnTo>
                <a:lnTo>
                  <a:pt x="0" y="12795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73100" dist="482600" dir="6060000" algn="tr" rotWithShape="0">
              <a:prstClr val="black">
                <a:alpha val="36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7B5CD7D-72CA-42FF-8C4B-A553B64517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1736" y="1876640"/>
            <a:ext cx="1279907" cy="1279574"/>
          </a:xfrm>
          <a:custGeom>
            <a:avLst/>
            <a:gdLst>
              <a:gd name="connsiteX0" fmla="*/ 0 w 1279574"/>
              <a:gd name="connsiteY0" fmla="*/ 0 h 1279574"/>
              <a:gd name="connsiteX1" fmla="*/ 1279574 w 1279574"/>
              <a:gd name="connsiteY1" fmla="*/ 0 h 1279574"/>
              <a:gd name="connsiteX2" fmla="*/ 1279574 w 1279574"/>
              <a:gd name="connsiteY2" fmla="*/ 1279574 h 1279574"/>
              <a:gd name="connsiteX3" fmla="*/ 0 w 1279574"/>
              <a:gd name="connsiteY3" fmla="*/ 1279574 h 127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574" h="1279574">
                <a:moveTo>
                  <a:pt x="0" y="0"/>
                </a:moveTo>
                <a:lnTo>
                  <a:pt x="1279574" y="0"/>
                </a:lnTo>
                <a:lnTo>
                  <a:pt x="1279574" y="1279574"/>
                </a:lnTo>
                <a:lnTo>
                  <a:pt x="0" y="12795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73100" dist="482600" dir="6060000" algn="tr" rotWithShape="0">
              <a:prstClr val="black">
                <a:alpha val="36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D57EE1E-2A24-46EA-99EB-DF908E0FC1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54885" y="1876640"/>
            <a:ext cx="1279907" cy="1279574"/>
          </a:xfrm>
          <a:custGeom>
            <a:avLst/>
            <a:gdLst>
              <a:gd name="connsiteX0" fmla="*/ 0 w 1279574"/>
              <a:gd name="connsiteY0" fmla="*/ 0 h 1279574"/>
              <a:gd name="connsiteX1" fmla="*/ 1279574 w 1279574"/>
              <a:gd name="connsiteY1" fmla="*/ 0 h 1279574"/>
              <a:gd name="connsiteX2" fmla="*/ 1279574 w 1279574"/>
              <a:gd name="connsiteY2" fmla="*/ 1279574 h 1279574"/>
              <a:gd name="connsiteX3" fmla="*/ 0 w 1279574"/>
              <a:gd name="connsiteY3" fmla="*/ 1279574 h 127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574" h="1279574">
                <a:moveTo>
                  <a:pt x="0" y="0"/>
                </a:moveTo>
                <a:lnTo>
                  <a:pt x="1279574" y="0"/>
                </a:lnTo>
                <a:lnTo>
                  <a:pt x="1279574" y="1279574"/>
                </a:lnTo>
                <a:lnTo>
                  <a:pt x="0" y="12795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73100" dist="482600" dir="6060000" algn="tr" rotWithShape="0">
              <a:prstClr val="black">
                <a:alpha val="36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76B3827-7C5A-466D-BAAA-7B2AAF5934E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445793" y="4006889"/>
            <a:ext cx="1279907" cy="1279574"/>
          </a:xfrm>
          <a:custGeom>
            <a:avLst/>
            <a:gdLst>
              <a:gd name="connsiteX0" fmla="*/ 0 w 1279574"/>
              <a:gd name="connsiteY0" fmla="*/ 0 h 1279574"/>
              <a:gd name="connsiteX1" fmla="*/ 1279574 w 1279574"/>
              <a:gd name="connsiteY1" fmla="*/ 0 h 1279574"/>
              <a:gd name="connsiteX2" fmla="*/ 1279574 w 1279574"/>
              <a:gd name="connsiteY2" fmla="*/ 1279574 h 1279574"/>
              <a:gd name="connsiteX3" fmla="*/ 0 w 1279574"/>
              <a:gd name="connsiteY3" fmla="*/ 1279574 h 127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574" h="1279574">
                <a:moveTo>
                  <a:pt x="0" y="0"/>
                </a:moveTo>
                <a:lnTo>
                  <a:pt x="1279574" y="0"/>
                </a:lnTo>
                <a:lnTo>
                  <a:pt x="1279574" y="1279574"/>
                </a:lnTo>
                <a:lnTo>
                  <a:pt x="0" y="12795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73100" dist="482600" dir="6060000" algn="tr" rotWithShape="0">
              <a:prstClr val="black">
                <a:alpha val="36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846ABEF-CE6D-4DAB-A6E2-B4FAB9C1EF8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18841" y="4006889"/>
            <a:ext cx="1279907" cy="1279574"/>
          </a:xfrm>
          <a:custGeom>
            <a:avLst/>
            <a:gdLst>
              <a:gd name="connsiteX0" fmla="*/ 0 w 1279574"/>
              <a:gd name="connsiteY0" fmla="*/ 0 h 1279574"/>
              <a:gd name="connsiteX1" fmla="*/ 1279574 w 1279574"/>
              <a:gd name="connsiteY1" fmla="*/ 0 h 1279574"/>
              <a:gd name="connsiteX2" fmla="*/ 1279574 w 1279574"/>
              <a:gd name="connsiteY2" fmla="*/ 1279574 h 1279574"/>
              <a:gd name="connsiteX3" fmla="*/ 0 w 1279574"/>
              <a:gd name="connsiteY3" fmla="*/ 1279574 h 127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574" h="1279574">
                <a:moveTo>
                  <a:pt x="0" y="0"/>
                </a:moveTo>
                <a:lnTo>
                  <a:pt x="1279574" y="0"/>
                </a:lnTo>
                <a:lnTo>
                  <a:pt x="1279574" y="1279574"/>
                </a:lnTo>
                <a:lnTo>
                  <a:pt x="0" y="12795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73100" dist="482600" dir="6060000" algn="tr" rotWithShape="0">
              <a:prstClr val="black">
                <a:alpha val="36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6E58F32-74F7-45C0-A5CF-2B6568D7E59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61736" y="4006889"/>
            <a:ext cx="1279907" cy="1279574"/>
          </a:xfrm>
          <a:custGeom>
            <a:avLst/>
            <a:gdLst>
              <a:gd name="connsiteX0" fmla="*/ 0 w 1279574"/>
              <a:gd name="connsiteY0" fmla="*/ 0 h 1279574"/>
              <a:gd name="connsiteX1" fmla="*/ 1279574 w 1279574"/>
              <a:gd name="connsiteY1" fmla="*/ 0 h 1279574"/>
              <a:gd name="connsiteX2" fmla="*/ 1279574 w 1279574"/>
              <a:gd name="connsiteY2" fmla="*/ 1279574 h 1279574"/>
              <a:gd name="connsiteX3" fmla="*/ 0 w 1279574"/>
              <a:gd name="connsiteY3" fmla="*/ 1279574 h 127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574" h="1279574">
                <a:moveTo>
                  <a:pt x="0" y="0"/>
                </a:moveTo>
                <a:lnTo>
                  <a:pt x="1279574" y="0"/>
                </a:lnTo>
                <a:lnTo>
                  <a:pt x="1279574" y="1279574"/>
                </a:lnTo>
                <a:lnTo>
                  <a:pt x="0" y="12795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73100" dist="482600" dir="6060000" algn="tr" rotWithShape="0">
              <a:prstClr val="black">
                <a:alpha val="36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3150D4FE-3CD5-4E86-BDD4-51E290A539A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54885" y="4006889"/>
            <a:ext cx="1279907" cy="1279574"/>
          </a:xfrm>
          <a:custGeom>
            <a:avLst/>
            <a:gdLst>
              <a:gd name="connsiteX0" fmla="*/ 0 w 1279574"/>
              <a:gd name="connsiteY0" fmla="*/ 0 h 1279574"/>
              <a:gd name="connsiteX1" fmla="*/ 1279574 w 1279574"/>
              <a:gd name="connsiteY1" fmla="*/ 0 h 1279574"/>
              <a:gd name="connsiteX2" fmla="*/ 1279574 w 1279574"/>
              <a:gd name="connsiteY2" fmla="*/ 1279574 h 1279574"/>
              <a:gd name="connsiteX3" fmla="*/ 0 w 1279574"/>
              <a:gd name="connsiteY3" fmla="*/ 1279574 h 127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574" h="1279574">
                <a:moveTo>
                  <a:pt x="0" y="0"/>
                </a:moveTo>
                <a:lnTo>
                  <a:pt x="1279574" y="0"/>
                </a:lnTo>
                <a:lnTo>
                  <a:pt x="1279574" y="1279574"/>
                </a:lnTo>
                <a:lnTo>
                  <a:pt x="0" y="12795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73100" dist="482600" dir="6060000" algn="tr" rotWithShape="0">
              <a:prstClr val="black">
                <a:alpha val="36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1FC360E-E040-4D92-8404-1CB5F5DA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35674"/>
            <a:ext cx="10880086" cy="711081"/>
          </a:xfrm>
        </p:spPr>
        <p:txBody>
          <a:bodyPr>
            <a:noAutofit/>
          </a:bodyPr>
          <a:lstStyle>
            <a:lvl1pPr algn="ctr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95148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>
            <a:spLocks noGrp="1"/>
          </p:cNvSpPr>
          <p:nvPr>
            <p:ph type="title"/>
          </p:nvPr>
        </p:nvSpPr>
        <p:spPr>
          <a:xfrm>
            <a:off x="542233" y="394267"/>
            <a:ext cx="10576400" cy="8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55F"/>
              </a:buClr>
              <a:buSzPts val="2700"/>
              <a:buNone/>
              <a:defRPr sz="3600">
                <a:solidFill>
                  <a:srgbClr val="0F455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7"/>
          <p:cNvSpPr txBox="1">
            <a:spLocks noGrp="1"/>
          </p:cNvSpPr>
          <p:nvPr>
            <p:ph type="body" idx="1"/>
          </p:nvPr>
        </p:nvSpPr>
        <p:spPr>
          <a:xfrm>
            <a:off x="542233" y="1632600"/>
            <a:ext cx="11148800" cy="46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867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 sz="1867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 sz="1867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867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 sz="1867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 sz="1867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867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 sz="1867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 sz="1867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23725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FA26D2-779B-4FA6-A8A3-7A3CCC736EC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center icon to add image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DB11CD2-DD00-4A1F-8C77-B52E50CE3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>
                <a:latin typeface="Calibri Light"/>
              </a:rPr>
              <a:t>villagereach.org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C8C106B-3056-4F20-B156-B91589875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521613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3"/>
          <p:cNvSpPr txBox="1">
            <a:spLocks noGrp="1"/>
          </p:cNvSpPr>
          <p:nvPr>
            <p:ph type="title"/>
          </p:nvPr>
        </p:nvSpPr>
        <p:spPr>
          <a:xfrm>
            <a:off x="415627" y="593367"/>
            <a:ext cx="11361559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3"/>
          <p:cNvSpPr txBox="1">
            <a:spLocks noGrp="1"/>
          </p:cNvSpPr>
          <p:nvPr>
            <p:ph type="body" idx="1"/>
          </p:nvPr>
        </p:nvSpPr>
        <p:spPr>
          <a:xfrm>
            <a:off x="415627" y="1536633"/>
            <a:ext cx="11361559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3"/>
          <p:cNvSpPr txBox="1">
            <a:spLocks noGrp="1"/>
          </p:cNvSpPr>
          <p:nvPr>
            <p:ph type="sldNum" idx="12"/>
          </p:nvPr>
        </p:nvSpPr>
        <p:spPr>
          <a:xfrm>
            <a:off x="11297330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48288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D7D5-3C15-4C44-965F-502AD2A2F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268" y="268734"/>
            <a:ext cx="6135269" cy="5961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34B11-964E-4A13-AB78-6EB6E9D2C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19"/>
              </a:spcBef>
              <a:spcAft>
                <a:spcPts val="364"/>
              </a:spcAft>
              <a:defRPr sz="2183"/>
            </a:lvl1pPr>
            <a:lvl2pPr>
              <a:spcBef>
                <a:spcPts val="500"/>
              </a:spcBef>
              <a:spcAft>
                <a:spcPts val="364"/>
              </a:spcAft>
              <a:defRPr sz="1940"/>
            </a:lvl2pPr>
            <a:lvl3pPr marL="0">
              <a:spcBef>
                <a:spcPts val="500"/>
              </a:spcBef>
              <a:defRPr sz="1940"/>
            </a:lvl3pPr>
            <a:lvl4pPr marL="548614">
              <a:spcBef>
                <a:spcPts val="500"/>
              </a:spcBef>
              <a:defRPr sz="1940"/>
            </a:lvl4pPr>
            <a:lvl5pPr marL="914358">
              <a:spcBef>
                <a:spcPts val="500"/>
              </a:spcBef>
              <a:defRPr sz="194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E251F-0413-4AFD-9118-C4471C4E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54466"/>
            <a:fld id="{629EF865-D37D-4C3C-95B5-E0E879A9FD15}" type="datetime1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66"/>
              <a:t>12/17/2025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DADE9-90FA-4073-8036-2A3641B6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54466"/>
            <a:r>
              <a:rPr lang="en-US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t>villagereach.org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EF4BD-0157-48B3-93F8-5F91C5EF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54466"/>
            <a:fld id="{0C84B27A-A12B-4439-8504-11381F54A19D}" type="slidenum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66"/>
              <a:t>‹#›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E4BDE8-DA20-4453-8C31-97832FB722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415" y="846781"/>
            <a:ext cx="7717236" cy="764184"/>
          </a:xfrm>
        </p:spPr>
        <p:txBody>
          <a:bodyPr wrap="square">
            <a:spAutoFit/>
          </a:bodyPr>
          <a:lstStyle>
            <a:lvl1pPr>
              <a:defRPr sz="2183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</p:spTree>
    <p:extLst>
      <p:ext uri="{BB962C8B-B14F-4D97-AF65-F5344CB8AC3E}">
        <p14:creationId xmlns:p14="http://schemas.microsoft.com/office/powerpoint/2010/main" val="1527078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5_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277267" y="268733"/>
            <a:ext cx="6135269" cy="596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8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277266" y="1825206"/>
            <a:ext cx="11641318" cy="4745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19"/>
              </a:spcBef>
              <a:spcAft>
                <a:spcPts val="0"/>
              </a:spcAft>
              <a:buClr>
                <a:schemeClr val="accent1"/>
              </a:buClr>
              <a:buSzPts val="2183"/>
              <a:buNone/>
              <a:defRPr sz="2183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940"/>
              <a:buNone/>
              <a:defRPr sz="1940"/>
            </a:lvl2pPr>
            <a:lvl3pPr marL="1371600" lvl="2" indent="-35178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40"/>
              <a:buChar char="•"/>
              <a:defRPr sz="1940"/>
            </a:lvl3pPr>
            <a:lvl4pPr marL="1828800" lvl="3" indent="-35178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40"/>
              <a:buChar char="•"/>
              <a:defRPr sz="1940"/>
            </a:lvl4pPr>
            <a:lvl5pPr marL="2286000" lvl="4" indent="-351789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40"/>
              <a:buChar char="•"/>
              <a:defRPr sz="1940"/>
            </a:lvl5pPr>
            <a:lvl6pPr marL="2743200" lvl="5" indent="-342900" algn="l">
              <a:lnSpc>
                <a:spcPct val="9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dt" idx="10"/>
          </p:nvPr>
        </p:nvSpPr>
        <p:spPr>
          <a:xfrm>
            <a:off x="8129284" y="6617335"/>
            <a:ext cx="3280980" cy="18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ftr" idx="11"/>
          </p:nvPr>
        </p:nvSpPr>
        <p:spPr>
          <a:xfrm>
            <a:off x="277266" y="6617335"/>
            <a:ext cx="7713385" cy="18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11410264" y="6617335"/>
            <a:ext cx="495033" cy="18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273415" y="846781"/>
            <a:ext cx="7717236" cy="764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Clr>
                <a:schemeClr val="accent1"/>
              </a:buClr>
              <a:buSzPts val="2183"/>
              <a:buNone/>
              <a:defRPr sz="2183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3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276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1_Title and Subtitl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>
            <a:spLocks noGrp="1"/>
          </p:cNvSpPr>
          <p:nvPr>
            <p:ph type="title"/>
          </p:nvPr>
        </p:nvSpPr>
        <p:spPr>
          <a:xfrm>
            <a:off x="277268" y="268734"/>
            <a:ext cx="6135269" cy="596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8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dt" idx="10"/>
          </p:nvPr>
        </p:nvSpPr>
        <p:spPr>
          <a:xfrm>
            <a:off x="8129284" y="6617336"/>
            <a:ext cx="3280980" cy="18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ftr" idx="11"/>
          </p:nvPr>
        </p:nvSpPr>
        <p:spPr>
          <a:xfrm>
            <a:off x="277266" y="6617336"/>
            <a:ext cx="7713385" cy="18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sldNum" idx="12"/>
          </p:nvPr>
        </p:nvSpPr>
        <p:spPr>
          <a:xfrm>
            <a:off x="11410265" y="6617336"/>
            <a:ext cx="495033" cy="18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  <a:defRPr sz="849" b="0" i="0" u="none" strike="noStrike" cap="none">
                <a:solidFill>
                  <a:srgbClr val="414F5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body" idx="1"/>
          </p:nvPr>
        </p:nvSpPr>
        <p:spPr>
          <a:xfrm>
            <a:off x="273415" y="846781"/>
            <a:ext cx="7717236" cy="764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Clr>
                <a:schemeClr val="accent1"/>
              </a:buClr>
              <a:buSzPts val="2183"/>
              <a:buNone/>
              <a:defRPr sz="2183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3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03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8296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268" y="268637"/>
            <a:ext cx="6135269" cy="59638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54478"/>
            <a:fld id="{63BEAD90-9E6F-4C6D-887D-1F2CD4C0B8EC}" type="datetime1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78"/>
              <a:t>12/17/2025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54478"/>
            <a:r>
              <a:rPr lang="en-US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t>villagereach.org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54478"/>
            <a:fld id="{0C84B27A-A12B-4439-8504-11381F54A19D}" type="slidenum">
              <a:rPr lang="en-US" smtClean="0">
                <a:gradFill>
                  <a:gsLst>
                    <a:gs pos="0">
                      <a:srgbClr val="414F57"/>
                    </a:gs>
                    <a:gs pos="100000">
                      <a:srgbClr val="414F57">
                        <a:alpha val="99000"/>
                      </a:srgbClr>
                    </a:gs>
                  </a:gsLst>
                  <a:lin ang="5400000" scaled="1"/>
                </a:gradFill>
              </a:rPr>
              <a:pPr defTabSz="554478"/>
              <a:t>‹#›</a:t>
            </a:fld>
            <a:endParaRPr lang="en-US">
              <a:gradFill>
                <a:gsLst>
                  <a:gs pos="0">
                    <a:srgbClr val="414F57"/>
                  </a:gs>
                  <a:gs pos="100000">
                    <a:srgbClr val="414F57">
                      <a:alpha val="99000"/>
                    </a:srgbClr>
                  </a:gs>
                </a:gsLst>
                <a:lin ang="5400000" scaled="1"/>
              </a:gra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4034B11-964E-4A13-AB78-6EB6E9D2C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266" y="1070813"/>
            <a:ext cx="11641319" cy="5500316"/>
          </a:xfrm>
        </p:spPr>
        <p:txBody>
          <a:bodyPr/>
          <a:lstStyle>
            <a:lvl1pPr>
              <a:spcBef>
                <a:spcPts val="1819"/>
              </a:spcBef>
              <a:spcAft>
                <a:spcPts val="364"/>
              </a:spcAft>
              <a:defRPr sz="2183"/>
            </a:lvl1pPr>
            <a:lvl2pPr>
              <a:spcBef>
                <a:spcPts val="364"/>
              </a:spcBef>
              <a:spcAft>
                <a:spcPts val="364"/>
              </a:spcAft>
              <a:defRPr sz="1940"/>
            </a:lvl2pPr>
            <a:lvl3pPr>
              <a:defRPr sz="1940"/>
            </a:lvl3pPr>
            <a:lvl4pPr>
              <a:defRPr sz="1940"/>
            </a:lvl4pPr>
            <a:lvl5pPr>
              <a:defRPr sz="194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190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Content - No Sl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4CABB-2F41-4A08-9CC8-FAC8925E79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0050" y="1584253"/>
            <a:ext cx="11387553" cy="1476985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body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50F2E5E-F535-455F-A4F9-E5DA44E03C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301753"/>
            <a:ext cx="11387561" cy="707886"/>
          </a:xfrm>
        </p:spPr>
        <p:txBody>
          <a:bodyPr>
            <a:spAutoFit/>
          </a:bodyPr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one-line slide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7980186-1DCF-46E8-B3E0-2A28CE022A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050" y="956163"/>
            <a:ext cx="11387559" cy="369332"/>
          </a:xfrm>
        </p:spPr>
        <p:txBody>
          <a:bodyPr anchor="t" anchorCtr="0">
            <a:sp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short subtitle, short summary or delete this text placeholder as needed.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B6401867-C02A-49E0-A9E4-41037899A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3"/>
            <a:ext cx="1481787" cy="188363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>
                <a:latin typeface="Calibri Light"/>
              </a:rPr>
              <a:t>villagereach.org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D46CB62-098A-469D-B35C-A70B319AE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6" y="6491221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194605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90809"/>
            <a:ext cx="5636800" cy="5961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93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13" Type="http://schemas.openxmlformats.org/officeDocument/2006/relationships/slideLayout" Target="../slideLayouts/slideLayout24.xml" /><Relationship Id="rId18" Type="http://schemas.openxmlformats.org/officeDocument/2006/relationships/slideLayout" Target="../slideLayouts/slideLayout29.xml" /><Relationship Id="rId26" Type="http://schemas.openxmlformats.org/officeDocument/2006/relationships/slideLayout" Target="../slideLayouts/slideLayout37.xml" /><Relationship Id="rId39" Type="http://schemas.openxmlformats.org/officeDocument/2006/relationships/slideLayout" Target="../slideLayouts/slideLayout50.xml" /><Relationship Id="rId3" Type="http://schemas.openxmlformats.org/officeDocument/2006/relationships/slideLayout" Target="../slideLayouts/slideLayout14.xml" /><Relationship Id="rId21" Type="http://schemas.openxmlformats.org/officeDocument/2006/relationships/slideLayout" Target="../slideLayouts/slideLayout32.xml" /><Relationship Id="rId34" Type="http://schemas.openxmlformats.org/officeDocument/2006/relationships/slideLayout" Target="../slideLayouts/slideLayout45.xml" /><Relationship Id="rId42" Type="http://schemas.openxmlformats.org/officeDocument/2006/relationships/slideLayout" Target="../slideLayouts/slideLayout53.xml" /><Relationship Id="rId7" Type="http://schemas.openxmlformats.org/officeDocument/2006/relationships/slideLayout" Target="../slideLayouts/slideLayout18.xml" /><Relationship Id="rId12" Type="http://schemas.openxmlformats.org/officeDocument/2006/relationships/slideLayout" Target="../slideLayouts/slideLayout23.xml" /><Relationship Id="rId17" Type="http://schemas.openxmlformats.org/officeDocument/2006/relationships/slideLayout" Target="../slideLayouts/slideLayout28.xml" /><Relationship Id="rId25" Type="http://schemas.openxmlformats.org/officeDocument/2006/relationships/slideLayout" Target="../slideLayouts/slideLayout36.xml" /><Relationship Id="rId33" Type="http://schemas.openxmlformats.org/officeDocument/2006/relationships/slideLayout" Target="../slideLayouts/slideLayout44.xml" /><Relationship Id="rId38" Type="http://schemas.openxmlformats.org/officeDocument/2006/relationships/slideLayout" Target="../slideLayouts/slideLayout49.xml" /><Relationship Id="rId2" Type="http://schemas.openxmlformats.org/officeDocument/2006/relationships/slideLayout" Target="../slideLayouts/slideLayout13.xml" /><Relationship Id="rId16" Type="http://schemas.openxmlformats.org/officeDocument/2006/relationships/slideLayout" Target="../slideLayouts/slideLayout27.xml" /><Relationship Id="rId20" Type="http://schemas.openxmlformats.org/officeDocument/2006/relationships/slideLayout" Target="../slideLayouts/slideLayout31.xml" /><Relationship Id="rId29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52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24" Type="http://schemas.openxmlformats.org/officeDocument/2006/relationships/slideLayout" Target="../slideLayouts/slideLayout35.xml" /><Relationship Id="rId32" Type="http://schemas.openxmlformats.org/officeDocument/2006/relationships/slideLayout" Target="../slideLayouts/slideLayout43.xml" /><Relationship Id="rId37" Type="http://schemas.openxmlformats.org/officeDocument/2006/relationships/slideLayout" Target="../slideLayouts/slideLayout48.xml" /><Relationship Id="rId40" Type="http://schemas.openxmlformats.org/officeDocument/2006/relationships/slideLayout" Target="../slideLayouts/slideLayout51.xml" /><Relationship Id="rId5" Type="http://schemas.openxmlformats.org/officeDocument/2006/relationships/slideLayout" Target="../slideLayouts/slideLayout16.xml" /><Relationship Id="rId15" Type="http://schemas.openxmlformats.org/officeDocument/2006/relationships/slideLayout" Target="../slideLayouts/slideLayout26.xml" /><Relationship Id="rId23" Type="http://schemas.openxmlformats.org/officeDocument/2006/relationships/slideLayout" Target="../slideLayouts/slideLayout34.xml" /><Relationship Id="rId28" Type="http://schemas.openxmlformats.org/officeDocument/2006/relationships/slideLayout" Target="../slideLayouts/slideLayout39.xml" /><Relationship Id="rId36" Type="http://schemas.openxmlformats.org/officeDocument/2006/relationships/slideLayout" Target="../slideLayouts/slideLayout47.xml" /><Relationship Id="rId10" Type="http://schemas.openxmlformats.org/officeDocument/2006/relationships/slideLayout" Target="../slideLayouts/slideLayout21.xml" /><Relationship Id="rId19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42.xml" /><Relationship Id="rId44" Type="http://schemas.openxmlformats.org/officeDocument/2006/relationships/theme" Target="../theme/theme2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Relationship Id="rId14" Type="http://schemas.openxmlformats.org/officeDocument/2006/relationships/slideLayout" Target="../slideLayouts/slideLayout25.xml" /><Relationship Id="rId22" Type="http://schemas.openxmlformats.org/officeDocument/2006/relationships/slideLayout" Target="../slideLayouts/slideLayout33.xml" /><Relationship Id="rId27" Type="http://schemas.openxmlformats.org/officeDocument/2006/relationships/slideLayout" Target="../slideLayouts/slideLayout38.xml" /><Relationship Id="rId30" Type="http://schemas.openxmlformats.org/officeDocument/2006/relationships/slideLayout" Target="../slideLayouts/slideLayout41.xml" /><Relationship Id="rId35" Type="http://schemas.openxmlformats.org/officeDocument/2006/relationships/slideLayout" Target="../slideLayouts/slideLayout46.xml" /><Relationship Id="rId43" Type="http://schemas.openxmlformats.org/officeDocument/2006/relationships/slideLayout" Target="../slideLayouts/slideLayout5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870184-09A1-46B5-838F-0ACC84A52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16865-1AF4-42C3-B55F-F5D458E97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62499E2-B776-4512-AEC2-9B8402237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509" y="6525892"/>
            <a:ext cx="1481786" cy="188363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err="1">
                <a:latin typeface="Calibri Light"/>
              </a:rPr>
              <a:t>villagereach.org</a:t>
            </a:r>
            <a:endParaRPr lang="en-US">
              <a:latin typeface="Calibri Light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6D8D2C2-6FFC-4FF2-9ADB-C7B56AD91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4954" y="6491220"/>
            <a:ext cx="495033" cy="18836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C84B27A-A12B-4439-8504-11381F54A19D}" type="slidenum">
              <a:rPr lang="en-US" smtClean="0">
                <a:latin typeface="Calibri Light"/>
              </a:rPr>
              <a:pPr>
                <a:defRPr/>
              </a:pPr>
              <a:t>‹#›</a:t>
            </a:fld>
            <a:endParaRPr lang="en-US"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1339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5715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500" kern="1200">
          <a:solidFill>
            <a:schemeClr val="tx2"/>
          </a:solidFill>
          <a:latin typeface="+mj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3pPr>
      <a:lvl4pPr marL="102870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j-lt"/>
          <a:ea typeface="+mn-ea"/>
          <a:cs typeface="+mn-cs"/>
        </a:defRPr>
      </a:lvl4pPr>
      <a:lvl5pPr marL="12573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72">
          <p15:clr>
            <a:srgbClr val="F26B43"/>
          </p15:clr>
        </p15:guide>
        <p15:guide id="6" pos="72">
          <p15:clr>
            <a:srgbClr val="F26B43"/>
          </p15:clr>
        </p15:guide>
        <p15:guide id="7" orient="horz" pos="4224">
          <p15:clr>
            <a:srgbClr val="F26B43"/>
          </p15:clr>
        </p15:guide>
        <p15:guide id="8" pos="7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1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 /><Relationship Id="rId3" Type="http://schemas.openxmlformats.org/officeDocument/2006/relationships/image" Target="../media/image26.jpeg" /><Relationship Id="rId7" Type="http://schemas.openxmlformats.org/officeDocument/2006/relationships/image" Target="../media/image30.svg" /><Relationship Id="rId12" Type="http://schemas.openxmlformats.org/officeDocument/2006/relationships/image" Target="../media/image3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7.xml" /><Relationship Id="rId6" Type="http://schemas.openxmlformats.org/officeDocument/2006/relationships/image" Target="../media/image29.png" /><Relationship Id="rId11" Type="http://schemas.openxmlformats.org/officeDocument/2006/relationships/image" Target="../media/image34.svg" /><Relationship Id="rId5" Type="http://schemas.openxmlformats.org/officeDocument/2006/relationships/image" Target="../media/image28.png" /><Relationship Id="rId10" Type="http://schemas.openxmlformats.org/officeDocument/2006/relationships/image" Target="../media/image33.png" /><Relationship Id="rId4" Type="http://schemas.openxmlformats.org/officeDocument/2006/relationships/image" Target="../media/image27.png" /><Relationship Id="rId9" Type="http://schemas.openxmlformats.org/officeDocument/2006/relationships/image" Target="../media/image32.sv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 /><Relationship Id="rId13" Type="http://schemas.openxmlformats.org/officeDocument/2006/relationships/image" Target="../media/image44.jpeg" /><Relationship Id="rId18" Type="http://schemas.openxmlformats.org/officeDocument/2006/relationships/image" Target="../media/image49.png" /><Relationship Id="rId3" Type="http://schemas.openxmlformats.org/officeDocument/2006/relationships/notesSlide" Target="../notesSlides/notesSlide4.xml" /><Relationship Id="rId7" Type="http://schemas.openxmlformats.org/officeDocument/2006/relationships/image" Target="../media/image38.png" /><Relationship Id="rId12" Type="http://schemas.openxmlformats.org/officeDocument/2006/relationships/image" Target="../media/image43.png" /><Relationship Id="rId17" Type="http://schemas.openxmlformats.org/officeDocument/2006/relationships/image" Target="../media/image48.png" /><Relationship Id="rId2" Type="http://schemas.openxmlformats.org/officeDocument/2006/relationships/slideLayout" Target="../slideLayouts/slideLayout22.xml" /><Relationship Id="rId16" Type="http://schemas.openxmlformats.org/officeDocument/2006/relationships/image" Target="../media/image47.png" /><Relationship Id="rId1" Type="http://schemas.openxmlformats.org/officeDocument/2006/relationships/tags" Target="../tags/tag1.xml" /><Relationship Id="rId6" Type="http://schemas.openxmlformats.org/officeDocument/2006/relationships/image" Target="../media/image37.emf" /><Relationship Id="rId11" Type="http://schemas.openxmlformats.org/officeDocument/2006/relationships/image" Target="../media/image42.png" /><Relationship Id="rId5" Type="http://schemas.openxmlformats.org/officeDocument/2006/relationships/image" Target="../media/image36.emf" /><Relationship Id="rId15" Type="http://schemas.openxmlformats.org/officeDocument/2006/relationships/image" Target="../media/image46.png" /><Relationship Id="rId10" Type="http://schemas.openxmlformats.org/officeDocument/2006/relationships/image" Target="../media/image41.png" /><Relationship Id="rId4" Type="http://schemas.openxmlformats.org/officeDocument/2006/relationships/oleObject" Target="../embeddings/oleObject1.bin" /><Relationship Id="rId9" Type="http://schemas.openxmlformats.org/officeDocument/2006/relationships/image" Target="../media/image40.jpeg" /><Relationship Id="rId14" Type="http://schemas.openxmlformats.org/officeDocument/2006/relationships/image" Target="../media/image45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 /><Relationship Id="rId13" Type="http://schemas.openxmlformats.org/officeDocument/2006/relationships/image" Target="../media/image44.jpeg" /><Relationship Id="rId18" Type="http://schemas.openxmlformats.org/officeDocument/2006/relationships/image" Target="../media/image48.png" /><Relationship Id="rId3" Type="http://schemas.openxmlformats.org/officeDocument/2006/relationships/notesSlide" Target="../notesSlides/notesSlide5.xml" /><Relationship Id="rId7" Type="http://schemas.openxmlformats.org/officeDocument/2006/relationships/image" Target="../media/image38.png" /><Relationship Id="rId12" Type="http://schemas.openxmlformats.org/officeDocument/2006/relationships/image" Target="../media/image43.png" /><Relationship Id="rId17" Type="http://schemas.openxmlformats.org/officeDocument/2006/relationships/image" Target="../media/image47.png" /><Relationship Id="rId2" Type="http://schemas.openxmlformats.org/officeDocument/2006/relationships/slideLayout" Target="../slideLayouts/slideLayout22.xml" /><Relationship Id="rId16" Type="http://schemas.openxmlformats.org/officeDocument/2006/relationships/image" Target="../media/image46.png" /><Relationship Id="rId20" Type="http://schemas.openxmlformats.org/officeDocument/2006/relationships/image" Target="../media/image51.jpeg" /><Relationship Id="rId1" Type="http://schemas.openxmlformats.org/officeDocument/2006/relationships/tags" Target="../tags/tag2.xml" /><Relationship Id="rId6" Type="http://schemas.openxmlformats.org/officeDocument/2006/relationships/image" Target="../media/image37.emf" /><Relationship Id="rId11" Type="http://schemas.openxmlformats.org/officeDocument/2006/relationships/image" Target="../media/image42.png" /><Relationship Id="rId5" Type="http://schemas.openxmlformats.org/officeDocument/2006/relationships/image" Target="../media/image36.emf" /><Relationship Id="rId15" Type="http://schemas.openxmlformats.org/officeDocument/2006/relationships/image" Target="../media/image45.png" /><Relationship Id="rId10" Type="http://schemas.openxmlformats.org/officeDocument/2006/relationships/image" Target="../media/image41.png" /><Relationship Id="rId19" Type="http://schemas.openxmlformats.org/officeDocument/2006/relationships/image" Target="../media/image49.png" /><Relationship Id="rId4" Type="http://schemas.openxmlformats.org/officeDocument/2006/relationships/oleObject" Target="../embeddings/oleObject1.bin" /><Relationship Id="rId9" Type="http://schemas.openxmlformats.org/officeDocument/2006/relationships/image" Target="../media/image40.jpeg" /><Relationship Id="rId14" Type="http://schemas.openxmlformats.org/officeDocument/2006/relationships/image" Target="../media/image50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 /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3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 /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4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 /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5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 /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6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4.png" /><Relationship Id="rId4" Type="http://schemas.openxmlformats.org/officeDocument/2006/relationships/image" Target="../media/image53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 /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 /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8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 /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9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 /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10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d3d1b2d_0_149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497840" y="1646127"/>
            <a:ext cx="4156131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d3d1b2d_0_149"/>
          <p:cNvSpPr txBox="1"/>
          <p:nvPr/>
        </p:nvSpPr>
        <p:spPr>
          <a:xfrm>
            <a:off x="4210333" y="1516433"/>
            <a:ext cx="7894800" cy="18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43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altLang="en-US" sz="43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 des PTF en appui à la vaccination</a:t>
            </a:r>
            <a:endParaRPr sz="4300" b="1" i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en-US" altLang="en-US" sz="4300" b="1" i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altLang="en-US" sz="4300" b="1" i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 du PTF: </a:t>
            </a:r>
            <a:r>
              <a:rPr lang="en-US" altLang="en-US" sz="4300" b="1" i="1">
                <a:solidFill>
                  <a:schemeClr val="accent2">
                    <a:lumMod val="76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VillageReach</a:t>
            </a:r>
            <a:endParaRPr lang="en-US" altLang="en-US" sz="4300" b="1" i="1">
              <a:solidFill>
                <a:schemeClr val="accent2">
                  <a:lumMod val="76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9" name="Google Shape;149;g3aabd3d1b2d_0_149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d3d1b2d_0_149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d3d1b2d_0_149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Décembre 2025</a:t>
            </a:r>
            <a:endParaRPr sz="20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d3d1b2d_0_156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d3d1b2d_0_15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d3d1b2d_0_15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d3d1b2d_0_15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d3d1b2d_0_156"/>
          <p:cNvSpPr txBox="1"/>
          <p:nvPr/>
        </p:nvSpPr>
        <p:spPr>
          <a:xfrm>
            <a:off x="566533" y="1187280"/>
            <a:ext cx="10714500" cy="453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 de </a:t>
            </a:r>
            <a:r>
              <a:rPr lang="en-US" sz="240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</a:t>
            </a:r>
            <a:r>
              <a:rPr lang="en-US" altLang="en-US" sz="240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’organisation</a:t>
            </a:r>
            <a:endParaRPr lang="en-US" alt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alt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Axe d’appui au PEV</a:t>
            </a:r>
            <a:endParaRPr lang="en-US" alt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alt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Redevabilité financière</a:t>
            </a:r>
            <a:endParaRPr lang="en-US" alt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alt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Réalisations majeurs de l’année</a:t>
            </a:r>
            <a:endParaRPr lang="en-US" alt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alt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Defis rencontrés</a:t>
            </a:r>
            <a:endParaRPr lang="en-US" alt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alt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Solutions apportées et leçons apprises</a:t>
            </a:r>
            <a:endParaRPr lang="en-US" alt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alt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Priorités et engagement pour 2026 </a:t>
            </a:r>
            <a:endParaRPr lang="en-US" alt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alt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Besoin de collaboration et plaidoyer</a:t>
            </a: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3D6176-5775-240F-F9C0-4E0926010B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50039" y="-51566"/>
            <a:ext cx="4888683" cy="33467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C117417-648A-E9BF-1698-0F7ED18005E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26095" y="3668805"/>
            <a:ext cx="4512273" cy="3153922"/>
          </a:xfrm>
          <a:prstGeom prst="rect">
            <a:avLst/>
          </a:prstGeom>
        </p:spPr>
      </p:pic>
      <p:sp>
        <p:nvSpPr>
          <p:cNvPr id="31" name="Freeform 20">
            <a:extLst>
              <a:ext uri="{FF2B5EF4-FFF2-40B4-BE49-F238E27FC236}">
                <a16:creationId xmlns:a16="http://schemas.microsoft.com/office/drawing/2014/main" id="{9A06697F-4963-B285-7EDF-BEF200932164}"/>
              </a:ext>
            </a:extLst>
          </p:cNvPr>
          <p:cNvSpPr/>
          <p:nvPr/>
        </p:nvSpPr>
        <p:spPr>
          <a:xfrm>
            <a:off x="0" y="-35588"/>
            <a:ext cx="3728835" cy="3346706"/>
          </a:xfrm>
          <a:custGeom>
            <a:avLst/>
            <a:gdLst>
              <a:gd name="connsiteX0" fmla="*/ 0 w 4426392"/>
              <a:gd name="connsiteY0" fmla="*/ 0 h 5787736"/>
              <a:gd name="connsiteX1" fmla="*/ 2660246 w 4426392"/>
              <a:gd name="connsiteY1" fmla="*/ 0 h 5787736"/>
              <a:gd name="connsiteX2" fmla="*/ 4426392 w 4426392"/>
              <a:gd name="connsiteY2" fmla="*/ 5787736 h 5787736"/>
              <a:gd name="connsiteX3" fmla="*/ 0 w 4426392"/>
              <a:gd name="connsiteY3" fmla="*/ 5787736 h 578773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5787736 h 5795086"/>
              <a:gd name="connsiteX4" fmla="*/ 0 w 4844403"/>
              <a:gd name="connsiteY4" fmla="*/ 0 h 5795086"/>
              <a:gd name="connsiteX0" fmla="*/ 0 w 4844403"/>
              <a:gd name="connsiteY0" fmla="*/ 0 h 5795086"/>
              <a:gd name="connsiteX1" fmla="*/ 2660246 w 4844403"/>
              <a:gd name="connsiteY1" fmla="*/ 0 h 5795086"/>
              <a:gd name="connsiteX2" fmla="*/ 4844403 w 4844403"/>
              <a:gd name="connsiteY2" fmla="*/ 5795086 h 5795086"/>
              <a:gd name="connsiteX3" fmla="*/ 0 w 4844403"/>
              <a:gd name="connsiteY3" fmla="*/ 2994189 h 5795086"/>
              <a:gd name="connsiteX4" fmla="*/ 0 w 4844403"/>
              <a:gd name="connsiteY4" fmla="*/ 0 h 5795086"/>
              <a:gd name="connsiteX0" fmla="*/ 0 w 3728835"/>
              <a:gd name="connsiteY0" fmla="*/ 0 h 2994189"/>
              <a:gd name="connsiteX1" fmla="*/ 2660246 w 3728835"/>
              <a:gd name="connsiteY1" fmla="*/ 0 h 2994189"/>
              <a:gd name="connsiteX2" fmla="*/ 3728835 w 3728835"/>
              <a:gd name="connsiteY2" fmla="*/ 2816332 h 2994189"/>
              <a:gd name="connsiteX3" fmla="*/ 0 w 3728835"/>
              <a:gd name="connsiteY3" fmla="*/ 2994189 h 2994189"/>
              <a:gd name="connsiteX4" fmla="*/ 0 w 3728835"/>
              <a:gd name="connsiteY4" fmla="*/ 0 h 2994189"/>
              <a:gd name="connsiteX0" fmla="*/ 0 w 3728835"/>
              <a:gd name="connsiteY0" fmla="*/ 0 h 2816332"/>
              <a:gd name="connsiteX1" fmla="*/ 2660246 w 3728835"/>
              <a:gd name="connsiteY1" fmla="*/ 0 h 2816332"/>
              <a:gd name="connsiteX2" fmla="*/ 3728835 w 3728835"/>
              <a:gd name="connsiteY2" fmla="*/ 2816332 h 2816332"/>
              <a:gd name="connsiteX3" fmla="*/ 9144 w 3728835"/>
              <a:gd name="connsiteY3" fmla="*/ 2785831 h 2816332"/>
              <a:gd name="connsiteX4" fmla="*/ 0 w 3728835"/>
              <a:gd name="connsiteY4" fmla="*/ 0 h 2816332"/>
              <a:gd name="connsiteX0" fmla="*/ 0 w 3728835"/>
              <a:gd name="connsiteY0" fmla="*/ 0 h 2824416"/>
              <a:gd name="connsiteX1" fmla="*/ 2660246 w 3728835"/>
              <a:gd name="connsiteY1" fmla="*/ 0 h 2824416"/>
              <a:gd name="connsiteX2" fmla="*/ 3728835 w 3728835"/>
              <a:gd name="connsiteY2" fmla="*/ 2816332 h 2824416"/>
              <a:gd name="connsiteX3" fmla="*/ 18288 w 3728835"/>
              <a:gd name="connsiteY3" fmla="*/ 2824416 h 2824416"/>
              <a:gd name="connsiteX4" fmla="*/ 0 w 3728835"/>
              <a:gd name="connsiteY4" fmla="*/ 0 h 2824416"/>
              <a:gd name="connsiteX0" fmla="*/ 0 w 3728835"/>
              <a:gd name="connsiteY0" fmla="*/ 0 h 2824416"/>
              <a:gd name="connsiteX1" fmla="*/ 2660246 w 3728835"/>
              <a:gd name="connsiteY1" fmla="*/ 0 h 2824416"/>
              <a:gd name="connsiteX2" fmla="*/ 3728835 w 3728835"/>
              <a:gd name="connsiteY2" fmla="*/ 2816332 h 2824416"/>
              <a:gd name="connsiteX3" fmla="*/ 0 w 3728835"/>
              <a:gd name="connsiteY3" fmla="*/ 2824416 h 2824416"/>
              <a:gd name="connsiteX4" fmla="*/ 0 w 3728835"/>
              <a:gd name="connsiteY4" fmla="*/ 0 h 2824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8835" h="2824416">
                <a:moveTo>
                  <a:pt x="0" y="0"/>
                </a:moveTo>
                <a:lnTo>
                  <a:pt x="2660246" y="0"/>
                </a:lnTo>
                <a:cubicBezTo>
                  <a:pt x="3388298" y="1931695"/>
                  <a:pt x="2589303" y="-180306"/>
                  <a:pt x="3728835" y="2816332"/>
                </a:cubicBezTo>
                <a:lnTo>
                  <a:pt x="0" y="28244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197649-A2A4-0BCF-13E9-D54EC8ED9171}"/>
              </a:ext>
            </a:extLst>
          </p:cNvPr>
          <p:cNvSpPr/>
          <p:nvPr/>
        </p:nvSpPr>
        <p:spPr>
          <a:xfrm>
            <a:off x="7518720" y="-87831"/>
            <a:ext cx="4673280" cy="333375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B5C12A08-33A2-D4C1-EEDC-26DEA99597E7}"/>
              </a:ext>
            </a:extLst>
          </p:cNvPr>
          <p:cNvSpPr txBox="1">
            <a:spLocks/>
          </p:cNvSpPr>
          <p:nvPr/>
        </p:nvSpPr>
        <p:spPr>
          <a:xfrm>
            <a:off x="302896" y="824585"/>
            <a:ext cx="2931794" cy="964946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j-ea"/>
                <a:cs typeface="Calibri" panose="020F0502020204030204" pitchFamily="34" charset="0"/>
              </a:rPr>
              <a:t>Un monde où tout le monde a accès aux soins de santé nécessaires pour s’épanouir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9A772CB-5FCE-A64A-F885-9824A09C1926}"/>
              </a:ext>
            </a:extLst>
          </p:cNvPr>
          <p:cNvSpPr txBox="1">
            <a:spLocks/>
          </p:cNvSpPr>
          <p:nvPr/>
        </p:nvSpPr>
        <p:spPr>
          <a:xfrm>
            <a:off x="302895" y="324255"/>
            <a:ext cx="3114540" cy="486879"/>
          </a:xfrm>
          <a:prstGeom prst="rect">
            <a:avLst/>
          </a:prstGeom>
        </p:spPr>
        <p:txBody>
          <a:bodyPr vert="horz" wrap="square" lIns="55449" tIns="27725" rIns="55449" bIns="27725" rtlCol="0">
            <a:spAutoFit/>
          </a:bodyPr>
          <a:lstStyle>
            <a:lvl1pPr marL="0" indent="0" algn="l" defTabSz="91435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199" b="1" kern="1200">
                <a:gradFill>
                  <a:gsLst>
                    <a:gs pos="0">
                      <a:schemeClr val="accent1">
                        <a:alpha val="99000"/>
                      </a:schemeClr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457179" indent="0" algn="l" defTabSz="91435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57" indent="0" algn="l" defTabSz="914357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36" indent="0" algn="l" defTabSz="914357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15" indent="0" algn="l" defTabSz="914357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893" indent="0" algn="l" defTabSz="91435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072" indent="0" algn="l" defTabSz="91435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252" indent="0" algn="l" defTabSz="91435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431" indent="0" algn="l" defTabSz="91435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b="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Vision</a:t>
            </a:r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4CBB196F-B8C5-426E-F395-45F72D2E0BB1}"/>
              </a:ext>
            </a:extLst>
          </p:cNvPr>
          <p:cNvSpPr txBox="1">
            <a:spLocks/>
          </p:cNvSpPr>
          <p:nvPr/>
        </p:nvSpPr>
        <p:spPr>
          <a:xfrm>
            <a:off x="368079" y="2407603"/>
            <a:ext cx="3049356" cy="803889"/>
          </a:xfrm>
          <a:prstGeom prst="rect">
            <a:avLst/>
          </a:prstGeom>
        </p:spPr>
        <p:txBody>
          <a:bodyPr vert="horz" wrap="square" lIns="55449" tIns="27725" rIns="55449" bIns="27725" rtlCol="0" anchor="t" anchorCtr="0">
            <a:spAutoFit/>
          </a:bodyPr>
          <a:lstStyle>
            <a:lvl1pPr algn="l" defTabSz="91435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99" kern="12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j-ea"/>
                <a:cs typeface="Calibri" panose="020F0502020204030204" pitchFamily="34" charset="0"/>
              </a:rPr>
              <a:t>Transformer la prestation des soins de santé pour atteindre tout le monde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5B85A17-BD5A-0DD7-618D-369DDE5A41C6}"/>
              </a:ext>
            </a:extLst>
          </p:cNvPr>
          <p:cNvSpPr txBox="1">
            <a:spLocks/>
          </p:cNvSpPr>
          <p:nvPr/>
        </p:nvSpPr>
        <p:spPr>
          <a:xfrm>
            <a:off x="298433" y="1860602"/>
            <a:ext cx="2936257" cy="486880"/>
          </a:xfrm>
          <a:prstGeom prst="rect">
            <a:avLst/>
          </a:prstGeom>
        </p:spPr>
        <p:txBody>
          <a:bodyPr/>
          <a:lstStyle>
            <a:lvl1pPr marL="0" indent="0" algn="l" defTabSz="554492" rtl="0" eaLnBrk="1" latinLnBrk="0" hangingPunct="1">
              <a:lnSpc>
                <a:spcPct val="100000"/>
              </a:lnSpc>
              <a:spcBef>
                <a:spcPts val="1455"/>
              </a:spcBef>
              <a:buFont typeface="Arial" panose="020B0604020202020204" pitchFamily="34" charset="0"/>
              <a:buNone/>
              <a:defRPr sz="2183" b="1" kern="120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 algn="l" defTabSz="554492" rtl="0" eaLnBrk="1" latinLnBrk="0" hangingPunct="1">
              <a:lnSpc>
                <a:spcPct val="100000"/>
              </a:lnSpc>
              <a:spcBef>
                <a:spcPts val="303"/>
              </a:spcBef>
              <a:buFont typeface="Arial" panose="020B0604020202020204" pitchFamily="34" charset="0"/>
              <a:buNone/>
              <a:tabLst/>
              <a:defRPr sz="2180" kern="120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alpha val="99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2pPr>
            <a:lvl3pPr marL="274320" indent="-274320" algn="l" defTabSz="554492" rtl="0" eaLnBrk="1" latinLnBrk="0" hangingPunct="1">
              <a:lnSpc>
                <a:spcPct val="10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180" kern="120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alpha val="99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3pPr>
            <a:lvl4pPr marL="548640" indent="-274320" algn="l" defTabSz="554492" rtl="0" eaLnBrk="1" latinLnBrk="0" hangingPunct="1">
              <a:lnSpc>
                <a:spcPct val="10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80" kern="120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alpha val="99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4pPr>
            <a:lvl5pPr marL="914400" indent="-274320" algn="l" defTabSz="554492" rtl="0" eaLnBrk="1" latinLnBrk="0" hangingPunct="1">
              <a:lnSpc>
                <a:spcPct val="10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180" kern="1200" baseline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alpha val="99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5pPr>
            <a:lvl6pPr marL="1371600" indent="-274320" algn="l" defTabSz="554492" rtl="0" eaLnBrk="1" latinLnBrk="0" hangingPunct="1">
              <a:lnSpc>
                <a:spcPct val="9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18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371600" indent="-274320" algn="l" defTabSz="554492" rtl="0" eaLnBrk="1" latinLnBrk="0" hangingPunct="1">
              <a:lnSpc>
                <a:spcPct val="9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18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371600" indent="-274320" algn="l" defTabSz="554492" rtl="0" eaLnBrk="1" latinLnBrk="0" hangingPunct="1">
              <a:lnSpc>
                <a:spcPct val="9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18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371600" indent="-274320" algn="l" defTabSz="554492" rtl="0" eaLnBrk="1" latinLnBrk="0" hangingPunct="1">
              <a:lnSpc>
                <a:spcPct val="9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180" b="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Mission</a:t>
            </a:r>
          </a:p>
        </p:txBody>
      </p:sp>
      <p:sp>
        <p:nvSpPr>
          <p:cNvPr id="18" name="Title 14">
            <a:extLst>
              <a:ext uri="{FF2B5EF4-FFF2-40B4-BE49-F238E27FC236}">
                <a16:creationId xmlns:a16="http://schemas.microsoft.com/office/drawing/2014/main" id="{09F72246-38A6-AFDA-951C-2BE56DB0EF35}"/>
              </a:ext>
            </a:extLst>
          </p:cNvPr>
          <p:cNvSpPr txBox="1">
            <a:spLocks/>
          </p:cNvSpPr>
          <p:nvPr/>
        </p:nvSpPr>
        <p:spPr>
          <a:xfrm>
            <a:off x="4492745" y="3451199"/>
            <a:ext cx="3437118" cy="458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5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srgbClr val="5A3C2C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Où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5A3C2C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 nous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srgbClr val="5A3C2C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sommes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5A3C2C"/>
              </a:solidFill>
              <a:effectLst/>
              <a:uLnTx/>
              <a:uFillTx/>
              <a:latin typeface="Calibri Light"/>
              <a:ea typeface="+mj-ea"/>
              <a:cs typeface="+mj-cs"/>
            </a:endParaRP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F8A6329C-A76D-5D0A-FF74-CF5D75127C9A}"/>
              </a:ext>
            </a:extLst>
          </p:cNvPr>
          <p:cNvSpPr txBox="1">
            <a:spLocks/>
          </p:cNvSpPr>
          <p:nvPr/>
        </p:nvSpPr>
        <p:spPr>
          <a:xfrm>
            <a:off x="9226338" y="3402619"/>
            <a:ext cx="2900673" cy="458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5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5A3C2C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Notre 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srgbClr val="5A3C2C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Approche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5A3C2C"/>
              </a:solidFill>
              <a:effectLst/>
              <a:uLnTx/>
              <a:uFillTx/>
              <a:latin typeface="Calibri Light"/>
              <a:ea typeface="+mj-ea"/>
              <a:cs typeface="+mj-cs"/>
            </a:endParaRPr>
          </a:p>
        </p:txBody>
      </p:sp>
      <p:sp>
        <p:nvSpPr>
          <p:cNvPr id="20" name="Title 14">
            <a:extLst>
              <a:ext uri="{FF2B5EF4-FFF2-40B4-BE49-F238E27FC236}">
                <a16:creationId xmlns:a16="http://schemas.microsoft.com/office/drawing/2014/main" id="{3F4BA909-A59C-4A85-CAE4-6AFCC4DF5C0C}"/>
              </a:ext>
            </a:extLst>
          </p:cNvPr>
          <p:cNvSpPr txBox="1">
            <a:spLocks/>
          </p:cNvSpPr>
          <p:nvPr/>
        </p:nvSpPr>
        <p:spPr>
          <a:xfrm>
            <a:off x="183168" y="3451198"/>
            <a:ext cx="2566933" cy="458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5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5A3C2C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Notre Impact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1A60AF0A-DD38-8419-39DB-AABD0A669BB2}"/>
              </a:ext>
            </a:extLst>
          </p:cNvPr>
          <p:cNvSpPr txBox="1">
            <a:spLocks/>
          </p:cNvSpPr>
          <p:nvPr/>
        </p:nvSpPr>
        <p:spPr>
          <a:xfrm>
            <a:off x="8169750" y="1228686"/>
            <a:ext cx="3299878" cy="96180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l" defTabSz="5715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9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02870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2573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5715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A2522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Produits</a:t>
            </a: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A2522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A2522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aux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A2522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personnes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A2522E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1" indent="0" algn="l" defTabSz="5715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VillageReach rend les produits de santé accessibles quand et où ils sont nécessaires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424F57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2" name="Content Placeholder 11">
            <a:extLst>
              <a:ext uri="{FF2B5EF4-FFF2-40B4-BE49-F238E27FC236}">
                <a16:creationId xmlns:a16="http://schemas.microsoft.com/office/drawing/2014/main" id="{0792C4B9-6459-15AE-4D34-899F8EA2FD63}"/>
              </a:ext>
            </a:extLst>
          </p:cNvPr>
          <p:cNvSpPr txBox="1">
            <a:spLocks/>
          </p:cNvSpPr>
          <p:nvPr/>
        </p:nvSpPr>
        <p:spPr>
          <a:xfrm>
            <a:off x="8169749" y="243149"/>
            <a:ext cx="3775323" cy="11811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l" defTabSz="5715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9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02870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2573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5715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6C8D9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Accès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6C8D9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6C8D9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aux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6C8D9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soins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6C8D9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 de santé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6C8D9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primaire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6C8D9E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1" indent="0" algn="l" defTabSz="5715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VillageReach crée des voies d’accès aux services de soins de santé primaires en augmentant l’accès aux personnes défavorisées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B73C993D-FF46-C73A-1546-B89BFC918D71}"/>
              </a:ext>
            </a:extLst>
          </p:cNvPr>
          <p:cNvSpPr txBox="1">
            <a:spLocks/>
          </p:cNvSpPr>
          <p:nvPr/>
        </p:nvSpPr>
        <p:spPr>
          <a:xfrm>
            <a:off x="8169750" y="2221877"/>
            <a:ext cx="3775322" cy="79146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554492" rtl="0" eaLnBrk="1" latinLnBrk="0" hangingPunct="1">
              <a:lnSpc>
                <a:spcPct val="100000"/>
              </a:lnSpc>
              <a:spcBef>
                <a:spcPts val="1455"/>
              </a:spcBef>
              <a:buFont typeface="Arial" panose="020B0604020202020204" pitchFamily="34" charset="0"/>
              <a:buNone/>
              <a:defRPr sz="1698" b="1" kern="120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 algn="l" defTabSz="554492" rtl="0" eaLnBrk="1" latinLnBrk="0" hangingPunct="1">
              <a:lnSpc>
                <a:spcPct val="100000"/>
              </a:lnSpc>
              <a:spcBef>
                <a:spcPts val="303"/>
              </a:spcBef>
              <a:buFont typeface="Arial" panose="020B0604020202020204" pitchFamily="34" charset="0"/>
              <a:buNone/>
              <a:tabLst/>
              <a:defRPr sz="1698" kern="120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alpha val="99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2pPr>
            <a:lvl3pPr marL="274320" indent="-274320" algn="l" defTabSz="554492" rtl="0" eaLnBrk="1" latinLnBrk="0" hangingPunct="1">
              <a:lnSpc>
                <a:spcPct val="10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98" kern="120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alpha val="99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3pPr>
            <a:lvl4pPr marL="548640" indent="-274320" algn="l" defTabSz="554492" rtl="0" eaLnBrk="1" latinLnBrk="0" hangingPunct="1">
              <a:lnSpc>
                <a:spcPct val="10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698" kern="120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alpha val="99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4pPr>
            <a:lvl5pPr marL="914400" indent="-274320" algn="l" defTabSz="554492" rtl="0" eaLnBrk="1" latinLnBrk="0" hangingPunct="1">
              <a:lnSpc>
                <a:spcPct val="10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98" kern="1200" baseline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alpha val="99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5pPr>
            <a:lvl6pPr marL="1371600" indent="-274320" algn="l" defTabSz="554492" rtl="0" eaLnBrk="1" latinLnBrk="0" hangingPunct="1">
              <a:lnSpc>
                <a:spcPct val="9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18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371600" indent="-274320" algn="l" defTabSz="554492" rtl="0" eaLnBrk="1" latinLnBrk="0" hangingPunct="1">
              <a:lnSpc>
                <a:spcPct val="9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18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371600" indent="-274320" algn="l" defTabSz="554492" rtl="0" eaLnBrk="1" latinLnBrk="0" hangingPunct="1">
              <a:lnSpc>
                <a:spcPct val="9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18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371600" indent="-274320" algn="l" defTabSz="554492" rtl="0" eaLnBrk="1" latinLnBrk="0" hangingPunct="1">
              <a:lnSpc>
                <a:spcPct val="90000"/>
              </a:lnSpc>
              <a:spcBef>
                <a:spcPts val="3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180" b="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554492" rtl="0" eaLnBrk="1" fontAlgn="auto" latinLnBrk="0" hangingPunct="1">
              <a:lnSpc>
                <a:spcPct val="100000"/>
              </a:lnSpc>
              <a:spcBef>
                <a:spcPts val="30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958D55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Prioriser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958D55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958D55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un impact durable</a:t>
            </a:r>
          </a:p>
          <a:p>
            <a:pPr marL="0" marR="0" lvl="1" indent="0" algn="l" defTabSz="554492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VillageReach travaille avec des gouvernements et le secteur privé pour obtenir un impact durable à grande échelle.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1BD22EB-6DE8-A672-91A6-EE55741E8D90}"/>
              </a:ext>
            </a:extLst>
          </p:cNvPr>
          <p:cNvSpPr/>
          <p:nvPr/>
        </p:nvSpPr>
        <p:spPr>
          <a:xfrm>
            <a:off x="7074468" y="204851"/>
            <a:ext cx="909171" cy="9091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39E810E-C1AC-3E0F-98D8-A1847DCACDB7}"/>
              </a:ext>
            </a:extLst>
          </p:cNvPr>
          <p:cNvSpPr/>
          <p:nvPr/>
        </p:nvSpPr>
        <p:spPr>
          <a:xfrm>
            <a:off x="7074467" y="1212411"/>
            <a:ext cx="916497" cy="9164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59206F-FBB9-FEEE-8ACD-53BF62D53205}"/>
              </a:ext>
            </a:extLst>
          </p:cNvPr>
          <p:cNvSpPr/>
          <p:nvPr/>
        </p:nvSpPr>
        <p:spPr>
          <a:xfrm>
            <a:off x="7068660" y="2228294"/>
            <a:ext cx="916497" cy="9164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A4948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94DF22-C5A1-77B1-2BFB-026232533E6C}"/>
              </a:ext>
            </a:extLst>
          </p:cNvPr>
          <p:cNvSpPr txBox="1"/>
          <p:nvPr/>
        </p:nvSpPr>
        <p:spPr>
          <a:xfrm>
            <a:off x="183168" y="3929191"/>
            <a:ext cx="429680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En 2024, VillageReach, en collaboration avec ses partenaires, ont 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424F57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Aidé à améliorer l’accès à des soins de santé de qualité pour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111  millions </a:t>
            </a: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de personnes à travers l’ Afrique.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Appuyé la capacité de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675 000 </a:t>
            </a: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agents de santé à offrir des produits et des services de santé de qualité aux personnes les moins touchées.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Aidé à livrer des produits de santé à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14 000 </a:t>
            </a: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établissements de soins.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24F57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32" name="Picture Placeholder 34" descr="A screenshot of a cell phone&#10;&#10;Description automatically generated">
            <a:extLst>
              <a:ext uri="{FF2B5EF4-FFF2-40B4-BE49-F238E27FC236}">
                <a16:creationId xmlns:a16="http://schemas.microsoft.com/office/drawing/2014/main" id="{93C1A0D3-4246-E31F-7ECE-8346A8BBF79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2973" y="4047262"/>
            <a:ext cx="3084038" cy="2589381"/>
          </a:xfrm>
          <a:prstGeom prst="rect">
            <a:avLst/>
          </a:prstGeom>
        </p:spPr>
      </p:pic>
      <p:pic>
        <p:nvPicPr>
          <p:cNvPr id="35" name="Graphic 11">
            <a:extLst>
              <a:ext uri="{FF2B5EF4-FFF2-40B4-BE49-F238E27FC236}">
                <a16:creationId xmlns:a16="http://schemas.microsoft.com/office/drawing/2014/main" id="{907EDA91-895B-BBDE-764C-CDFAB6B0BA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8852" y="426161"/>
            <a:ext cx="609116" cy="466725"/>
          </a:xfrm>
          <a:prstGeom prst="rect">
            <a:avLst/>
          </a:prstGeom>
        </p:spPr>
      </p:pic>
      <p:pic>
        <p:nvPicPr>
          <p:cNvPr id="36" name="Graphic 17">
            <a:extLst>
              <a:ext uri="{FF2B5EF4-FFF2-40B4-BE49-F238E27FC236}">
                <a16:creationId xmlns:a16="http://schemas.microsoft.com/office/drawing/2014/main" id="{DD448054-A08F-3450-23F7-AEEB7EDC13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85004" y="1360007"/>
            <a:ext cx="486407" cy="632328"/>
          </a:xfrm>
          <a:prstGeom prst="rect">
            <a:avLst/>
          </a:prstGeom>
        </p:spPr>
      </p:pic>
      <p:pic>
        <p:nvPicPr>
          <p:cNvPr id="37" name="Graphic 100">
            <a:extLst>
              <a:ext uri="{FF2B5EF4-FFF2-40B4-BE49-F238E27FC236}">
                <a16:creationId xmlns:a16="http://schemas.microsoft.com/office/drawing/2014/main" id="{64D16104-39FA-CDD4-4921-5B7E2DAECB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09448" y="2383771"/>
            <a:ext cx="643232" cy="6199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3755" y="5618652"/>
            <a:ext cx="1511167" cy="75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78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E0533142-60BA-9B1C-FD55-A14270C3D5B2}"/>
              </a:ext>
            </a:extLst>
          </p:cNvPr>
          <p:cNvSpPr/>
          <p:nvPr/>
        </p:nvSpPr>
        <p:spPr>
          <a:xfrm>
            <a:off x="321331" y="1092939"/>
            <a:ext cx="2855761" cy="1861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69900" dist="198412" dir="1380000" sx="92000" sy="92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82880" bIns="0" rtlCol="0" anchor="t" anchorCtr="0"/>
          <a:lstStyle/>
          <a:p>
            <a:pPr marL="285750" indent="-285750">
              <a:buFontTx/>
              <a:buChar char="-"/>
            </a:pPr>
            <a:endParaRPr lang="en-US" sz="1100">
              <a:solidFill>
                <a:schemeClr val="tx1"/>
              </a:solidFill>
            </a:endParaRP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05178" y="99436"/>
            <a:ext cx="11387561" cy="615553"/>
          </a:xfrm>
        </p:spPr>
        <p:txBody>
          <a:bodyPr vert="horz"/>
          <a:lstStyle/>
          <a:p>
            <a:r>
              <a:rPr lang="en-US" sz="3400" b="1"/>
              <a:t>Nos actions en RDC (2015-à </a:t>
            </a:r>
            <a:r>
              <a:rPr lang="en-US" sz="3400" b="1" err="1"/>
              <a:t>présent</a:t>
            </a:r>
            <a:r>
              <a:rPr lang="en-US" sz="3400" b="1"/>
              <a:t>)</a:t>
            </a:r>
          </a:p>
        </p:txBody>
      </p:sp>
      <p:grpSp>
        <p:nvGrpSpPr>
          <p:cNvPr id="9" name="组合 41">
            <a:extLst>
              <a:ext uri="{FF2B5EF4-FFF2-40B4-BE49-F238E27FC236}">
                <a16:creationId xmlns:a16="http://schemas.microsoft.com/office/drawing/2014/main" id="{A318C30D-2A6B-8AD9-4C4F-010E0A7BDF80}"/>
              </a:ext>
            </a:extLst>
          </p:cNvPr>
          <p:cNvGrpSpPr/>
          <p:nvPr/>
        </p:nvGrpSpPr>
        <p:grpSpPr>
          <a:xfrm>
            <a:off x="3280041" y="1033636"/>
            <a:ext cx="5046680" cy="4912815"/>
            <a:chOff x="1493418" y="1713999"/>
            <a:chExt cx="4869687" cy="4740522"/>
          </a:xfrm>
          <a:solidFill>
            <a:schemeClr val="bg2">
              <a:lumMod val="75000"/>
            </a:schemeClr>
          </a:solidFill>
        </p:grpSpPr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042A2C74-E7E7-F13D-2DAA-23C7DE275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060" y="2461702"/>
              <a:ext cx="1513359" cy="1203732"/>
            </a:xfrm>
            <a:custGeom>
              <a:avLst/>
              <a:gdLst/>
              <a:ahLst/>
              <a:cxnLst>
                <a:cxn ang="0">
                  <a:pos x="548" y="14"/>
                </a:cxn>
                <a:cxn ang="0">
                  <a:pos x="463" y="19"/>
                </a:cxn>
                <a:cxn ang="0">
                  <a:pos x="409" y="16"/>
                </a:cxn>
                <a:cxn ang="0">
                  <a:pos x="322" y="20"/>
                </a:cxn>
                <a:cxn ang="0">
                  <a:pos x="262" y="35"/>
                </a:cxn>
                <a:cxn ang="0">
                  <a:pos x="218" y="31"/>
                </a:cxn>
                <a:cxn ang="0">
                  <a:pos x="210" y="40"/>
                </a:cxn>
                <a:cxn ang="0">
                  <a:pos x="125" y="52"/>
                </a:cxn>
                <a:cxn ang="0">
                  <a:pos x="93" y="64"/>
                </a:cxn>
                <a:cxn ang="0">
                  <a:pos x="50" y="57"/>
                </a:cxn>
                <a:cxn ang="0">
                  <a:pos x="16" y="67"/>
                </a:cxn>
                <a:cxn ang="0">
                  <a:pos x="31" y="107"/>
                </a:cxn>
                <a:cxn ang="0">
                  <a:pos x="1" y="133"/>
                </a:cxn>
                <a:cxn ang="0">
                  <a:pos x="39" y="179"/>
                </a:cxn>
                <a:cxn ang="0">
                  <a:pos x="91" y="293"/>
                </a:cxn>
                <a:cxn ang="0">
                  <a:pos x="109" y="327"/>
                </a:cxn>
                <a:cxn ang="0">
                  <a:pos x="154" y="399"/>
                </a:cxn>
                <a:cxn ang="0">
                  <a:pos x="168" y="418"/>
                </a:cxn>
                <a:cxn ang="0">
                  <a:pos x="130" y="427"/>
                </a:cxn>
                <a:cxn ang="0">
                  <a:pos x="141" y="447"/>
                </a:cxn>
                <a:cxn ang="0">
                  <a:pos x="177" y="450"/>
                </a:cxn>
                <a:cxn ang="0">
                  <a:pos x="179" y="491"/>
                </a:cxn>
                <a:cxn ang="0">
                  <a:pos x="188" y="537"/>
                </a:cxn>
                <a:cxn ang="0">
                  <a:pos x="227" y="564"/>
                </a:cxn>
                <a:cxn ang="0">
                  <a:pos x="313" y="593"/>
                </a:cxn>
                <a:cxn ang="0">
                  <a:pos x="342" y="690"/>
                </a:cxn>
                <a:cxn ang="0">
                  <a:pos x="430" y="708"/>
                </a:cxn>
                <a:cxn ang="0">
                  <a:pos x="466" y="724"/>
                </a:cxn>
                <a:cxn ang="0">
                  <a:pos x="488" y="697"/>
                </a:cxn>
                <a:cxn ang="0">
                  <a:pos x="534" y="675"/>
                </a:cxn>
                <a:cxn ang="0">
                  <a:pos x="560" y="665"/>
                </a:cxn>
                <a:cxn ang="0">
                  <a:pos x="577" y="610"/>
                </a:cxn>
                <a:cxn ang="0">
                  <a:pos x="600" y="581"/>
                </a:cxn>
                <a:cxn ang="0">
                  <a:pos x="608" y="528"/>
                </a:cxn>
                <a:cxn ang="0">
                  <a:pos x="626" y="482"/>
                </a:cxn>
                <a:cxn ang="0">
                  <a:pos x="622" y="440"/>
                </a:cxn>
                <a:cxn ang="0">
                  <a:pos x="600" y="410"/>
                </a:cxn>
                <a:cxn ang="0">
                  <a:pos x="655" y="443"/>
                </a:cxn>
                <a:cxn ang="0">
                  <a:pos x="716" y="412"/>
                </a:cxn>
                <a:cxn ang="0">
                  <a:pos x="789" y="462"/>
                </a:cxn>
                <a:cxn ang="0">
                  <a:pos x="855" y="477"/>
                </a:cxn>
                <a:cxn ang="0">
                  <a:pos x="870" y="461"/>
                </a:cxn>
                <a:cxn ang="0">
                  <a:pos x="885" y="436"/>
                </a:cxn>
                <a:cxn ang="0">
                  <a:pos x="914" y="368"/>
                </a:cxn>
                <a:cxn ang="0">
                  <a:pos x="889" y="304"/>
                </a:cxn>
                <a:cxn ang="0">
                  <a:pos x="852" y="293"/>
                </a:cxn>
                <a:cxn ang="0">
                  <a:pos x="888" y="277"/>
                </a:cxn>
                <a:cxn ang="0">
                  <a:pos x="877" y="244"/>
                </a:cxn>
                <a:cxn ang="0">
                  <a:pos x="845" y="189"/>
                </a:cxn>
                <a:cxn ang="0">
                  <a:pos x="801" y="141"/>
                </a:cxn>
                <a:cxn ang="0">
                  <a:pos x="766" y="137"/>
                </a:cxn>
                <a:cxn ang="0">
                  <a:pos x="776" y="67"/>
                </a:cxn>
                <a:cxn ang="0">
                  <a:pos x="733" y="45"/>
                </a:cxn>
                <a:cxn ang="0">
                  <a:pos x="681" y="28"/>
                </a:cxn>
                <a:cxn ang="0">
                  <a:pos x="645" y="60"/>
                </a:cxn>
                <a:cxn ang="0">
                  <a:pos x="621" y="23"/>
                </a:cxn>
              </a:cxnLst>
              <a:rect l="0" t="0" r="r" b="b"/>
              <a:pathLst>
                <a:path w="914" h="727">
                  <a:moveTo>
                    <a:pt x="598" y="0"/>
                  </a:moveTo>
                  <a:lnTo>
                    <a:pt x="548" y="14"/>
                  </a:lnTo>
                  <a:lnTo>
                    <a:pt x="520" y="37"/>
                  </a:lnTo>
                  <a:lnTo>
                    <a:pt x="463" y="19"/>
                  </a:lnTo>
                  <a:lnTo>
                    <a:pt x="430" y="31"/>
                  </a:lnTo>
                  <a:lnTo>
                    <a:pt x="409" y="16"/>
                  </a:lnTo>
                  <a:lnTo>
                    <a:pt x="379" y="11"/>
                  </a:lnTo>
                  <a:lnTo>
                    <a:pt x="322" y="20"/>
                  </a:lnTo>
                  <a:lnTo>
                    <a:pt x="285" y="52"/>
                  </a:lnTo>
                  <a:lnTo>
                    <a:pt x="262" y="35"/>
                  </a:lnTo>
                  <a:lnTo>
                    <a:pt x="241" y="40"/>
                  </a:lnTo>
                  <a:lnTo>
                    <a:pt x="218" y="31"/>
                  </a:lnTo>
                  <a:lnTo>
                    <a:pt x="208" y="27"/>
                  </a:lnTo>
                  <a:lnTo>
                    <a:pt x="210" y="40"/>
                  </a:lnTo>
                  <a:lnTo>
                    <a:pt x="167" y="28"/>
                  </a:lnTo>
                  <a:lnTo>
                    <a:pt x="125" y="52"/>
                  </a:lnTo>
                  <a:lnTo>
                    <a:pt x="108" y="46"/>
                  </a:lnTo>
                  <a:lnTo>
                    <a:pt x="93" y="64"/>
                  </a:lnTo>
                  <a:lnTo>
                    <a:pt x="71" y="71"/>
                  </a:lnTo>
                  <a:lnTo>
                    <a:pt x="50" y="57"/>
                  </a:lnTo>
                  <a:lnTo>
                    <a:pt x="18" y="41"/>
                  </a:lnTo>
                  <a:lnTo>
                    <a:pt x="16" y="67"/>
                  </a:lnTo>
                  <a:lnTo>
                    <a:pt x="25" y="85"/>
                  </a:lnTo>
                  <a:lnTo>
                    <a:pt x="31" y="107"/>
                  </a:lnTo>
                  <a:lnTo>
                    <a:pt x="17" y="128"/>
                  </a:lnTo>
                  <a:lnTo>
                    <a:pt x="1" y="133"/>
                  </a:lnTo>
                  <a:lnTo>
                    <a:pt x="0" y="156"/>
                  </a:lnTo>
                  <a:lnTo>
                    <a:pt x="39" y="179"/>
                  </a:lnTo>
                  <a:lnTo>
                    <a:pt x="67" y="218"/>
                  </a:lnTo>
                  <a:lnTo>
                    <a:pt x="91" y="293"/>
                  </a:lnTo>
                  <a:lnTo>
                    <a:pt x="100" y="321"/>
                  </a:lnTo>
                  <a:lnTo>
                    <a:pt x="109" y="327"/>
                  </a:lnTo>
                  <a:lnTo>
                    <a:pt x="123" y="350"/>
                  </a:lnTo>
                  <a:lnTo>
                    <a:pt x="154" y="399"/>
                  </a:lnTo>
                  <a:lnTo>
                    <a:pt x="167" y="410"/>
                  </a:lnTo>
                  <a:lnTo>
                    <a:pt x="168" y="418"/>
                  </a:lnTo>
                  <a:lnTo>
                    <a:pt x="151" y="427"/>
                  </a:lnTo>
                  <a:lnTo>
                    <a:pt x="130" y="427"/>
                  </a:lnTo>
                  <a:lnTo>
                    <a:pt x="108" y="444"/>
                  </a:lnTo>
                  <a:lnTo>
                    <a:pt x="141" y="447"/>
                  </a:lnTo>
                  <a:lnTo>
                    <a:pt x="139" y="461"/>
                  </a:lnTo>
                  <a:lnTo>
                    <a:pt x="177" y="450"/>
                  </a:lnTo>
                  <a:lnTo>
                    <a:pt x="202" y="482"/>
                  </a:lnTo>
                  <a:lnTo>
                    <a:pt x="179" y="491"/>
                  </a:lnTo>
                  <a:lnTo>
                    <a:pt x="156" y="507"/>
                  </a:lnTo>
                  <a:lnTo>
                    <a:pt x="188" y="537"/>
                  </a:lnTo>
                  <a:lnTo>
                    <a:pt x="218" y="548"/>
                  </a:lnTo>
                  <a:lnTo>
                    <a:pt x="227" y="564"/>
                  </a:lnTo>
                  <a:lnTo>
                    <a:pt x="276" y="595"/>
                  </a:lnTo>
                  <a:lnTo>
                    <a:pt x="313" y="593"/>
                  </a:lnTo>
                  <a:lnTo>
                    <a:pt x="329" y="648"/>
                  </a:lnTo>
                  <a:lnTo>
                    <a:pt x="342" y="690"/>
                  </a:lnTo>
                  <a:lnTo>
                    <a:pt x="431" y="689"/>
                  </a:lnTo>
                  <a:lnTo>
                    <a:pt x="430" y="708"/>
                  </a:lnTo>
                  <a:lnTo>
                    <a:pt x="447" y="727"/>
                  </a:lnTo>
                  <a:lnTo>
                    <a:pt x="466" y="724"/>
                  </a:lnTo>
                  <a:lnTo>
                    <a:pt x="480" y="718"/>
                  </a:lnTo>
                  <a:lnTo>
                    <a:pt x="488" y="697"/>
                  </a:lnTo>
                  <a:lnTo>
                    <a:pt x="510" y="681"/>
                  </a:lnTo>
                  <a:lnTo>
                    <a:pt x="534" y="675"/>
                  </a:lnTo>
                  <a:lnTo>
                    <a:pt x="535" y="665"/>
                  </a:lnTo>
                  <a:lnTo>
                    <a:pt x="560" y="665"/>
                  </a:lnTo>
                  <a:lnTo>
                    <a:pt x="562" y="599"/>
                  </a:lnTo>
                  <a:lnTo>
                    <a:pt x="577" y="610"/>
                  </a:lnTo>
                  <a:lnTo>
                    <a:pt x="592" y="602"/>
                  </a:lnTo>
                  <a:lnTo>
                    <a:pt x="600" y="581"/>
                  </a:lnTo>
                  <a:lnTo>
                    <a:pt x="598" y="560"/>
                  </a:lnTo>
                  <a:lnTo>
                    <a:pt x="608" y="528"/>
                  </a:lnTo>
                  <a:lnTo>
                    <a:pt x="629" y="520"/>
                  </a:lnTo>
                  <a:lnTo>
                    <a:pt x="626" y="482"/>
                  </a:lnTo>
                  <a:lnTo>
                    <a:pt x="634" y="464"/>
                  </a:lnTo>
                  <a:lnTo>
                    <a:pt x="622" y="440"/>
                  </a:lnTo>
                  <a:lnTo>
                    <a:pt x="621" y="429"/>
                  </a:lnTo>
                  <a:lnTo>
                    <a:pt x="600" y="410"/>
                  </a:lnTo>
                  <a:lnTo>
                    <a:pt x="609" y="396"/>
                  </a:lnTo>
                  <a:lnTo>
                    <a:pt x="655" y="443"/>
                  </a:lnTo>
                  <a:lnTo>
                    <a:pt x="696" y="429"/>
                  </a:lnTo>
                  <a:lnTo>
                    <a:pt x="716" y="412"/>
                  </a:lnTo>
                  <a:lnTo>
                    <a:pt x="766" y="448"/>
                  </a:lnTo>
                  <a:lnTo>
                    <a:pt x="789" y="462"/>
                  </a:lnTo>
                  <a:lnTo>
                    <a:pt x="830" y="462"/>
                  </a:lnTo>
                  <a:lnTo>
                    <a:pt x="855" y="477"/>
                  </a:lnTo>
                  <a:lnTo>
                    <a:pt x="856" y="477"/>
                  </a:lnTo>
                  <a:lnTo>
                    <a:pt x="870" y="461"/>
                  </a:lnTo>
                  <a:lnTo>
                    <a:pt x="884" y="456"/>
                  </a:lnTo>
                  <a:lnTo>
                    <a:pt x="885" y="436"/>
                  </a:lnTo>
                  <a:lnTo>
                    <a:pt x="912" y="420"/>
                  </a:lnTo>
                  <a:lnTo>
                    <a:pt x="914" y="368"/>
                  </a:lnTo>
                  <a:lnTo>
                    <a:pt x="900" y="333"/>
                  </a:lnTo>
                  <a:lnTo>
                    <a:pt x="889" y="304"/>
                  </a:lnTo>
                  <a:lnTo>
                    <a:pt x="859" y="308"/>
                  </a:lnTo>
                  <a:lnTo>
                    <a:pt x="852" y="293"/>
                  </a:lnTo>
                  <a:lnTo>
                    <a:pt x="877" y="286"/>
                  </a:lnTo>
                  <a:lnTo>
                    <a:pt x="888" y="277"/>
                  </a:lnTo>
                  <a:lnTo>
                    <a:pt x="888" y="275"/>
                  </a:lnTo>
                  <a:lnTo>
                    <a:pt x="877" y="244"/>
                  </a:lnTo>
                  <a:lnTo>
                    <a:pt x="847" y="218"/>
                  </a:lnTo>
                  <a:lnTo>
                    <a:pt x="845" y="189"/>
                  </a:lnTo>
                  <a:lnTo>
                    <a:pt x="809" y="169"/>
                  </a:lnTo>
                  <a:lnTo>
                    <a:pt x="801" y="141"/>
                  </a:lnTo>
                  <a:lnTo>
                    <a:pt x="789" y="145"/>
                  </a:lnTo>
                  <a:lnTo>
                    <a:pt x="766" y="137"/>
                  </a:lnTo>
                  <a:lnTo>
                    <a:pt x="784" y="107"/>
                  </a:lnTo>
                  <a:lnTo>
                    <a:pt x="776" y="67"/>
                  </a:lnTo>
                  <a:lnTo>
                    <a:pt x="755" y="61"/>
                  </a:lnTo>
                  <a:lnTo>
                    <a:pt x="733" y="45"/>
                  </a:lnTo>
                  <a:lnTo>
                    <a:pt x="708" y="28"/>
                  </a:lnTo>
                  <a:lnTo>
                    <a:pt x="681" y="28"/>
                  </a:lnTo>
                  <a:lnTo>
                    <a:pt x="664" y="48"/>
                  </a:lnTo>
                  <a:lnTo>
                    <a:pt x="645" y="60"/>
                  </a:lnTo>
                  <a:lnTo>
                    <a:pt x="627" y="56"/>
                  </a:lnTo>
                  <a:lnTo>
                    <a:pt x="621" y="23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A2522E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F0CE5DA1-96F2-E42D-30D2-8C42F0FF1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806" y="4619375"/>
              <a:ext cx="1089025" cy="1008062"/>
            </a:xfrm>
            <a:custGeom>
              <a:avLst/>
              <a:gdLst/>
              <a:ahLst/>
              <a:cxnLst>
                <a:cxn ang="0">
                  <a:pos x="349" y="9"/>
                </a:cxn>
                <a:cxn ang="0">
                  <a:pos x="310" y="28"/>
                </a:cxn>
                <a:cxn ang="0">
                  <a:pos x="294" y="23"/>
                </a:cxn>
                <a:cxn ang="0">
                  <a:pos x="277" y="46"/>
                </a:cxn>
                <a:cxn ang="0">
                  <a:pos x="293" y="61"/>
                </a:cxn>
                <a:cxn ang="0">
                  <a:pos x="296" y="98"/>
                </a:cxn>
                <a:cxn ang="0">
                  <a:pos x="245" y="87"/>
                </a:cxn>
                <a:cxn ang="0">
                  <a:pos x="214" y="94"/>
                </a:cxn>
                <a:cxn ang="0">
                  <a:pos x="204" y="113"/>
                </a:cxn>
                <a:cxn ang="0">
                  <a:pos x="164" y="129"/>
                </a:cxn>
                <a:cxn ang="0">
                  <a:pos x="144" y="154"/>
                </a:cxn>
                <a:cxn ang="0">
                  <a:pos x="116" y="150"/>
                </a:cxn>
                <a:cxn ang="0">
                  <a:pos x="98" y="142"/>
                </a:cxn>
                <a:cxn ang="0">
                  <a:pos x="87" y="123"/>
                </a:cxn>
                <a:cxn ang="0">
                  <a:pos x="58" y="199"/>
                </a:cxn>
                <a:cxn ang="0">
                  <a:pos x="52" y="271"/>
                </a:cxn>
                <a:cxn ang="0">
                  <a:pos x="2" y="292"/>
                </a:cxn>
                <a:cxn ang="0">
                  <a:pos x="15" y="327"/>
                </a:cxn>
                <a:cxn ang="0">
                  <a:pos x="10" y="417"/>
                </a:cxn>
                <a:cxn ang="0">
                  <a:pos x="107" y="454"/>
                </a:cxn>
                <a:cxn ang="0">
                  <a:pos x="106" y="503"/>
                </a:cxn>
                <a:cxn ang="0">
                  <a:pos x="90" y="561"/>
                </a:cxn>
                <a:cxn ang="0">
                  <a:pos x="86" y="620"/>
                </a:cxn>
                <a:cxn ang="0">
                  <a:pos x="108" y="612"/>
                </a:cxn>
                <a:cxn ang="0">
                  <a:pos x="162" y="617"/>
                </a:cxn>
                <a:cxn ang="0">
                  <a:pos x="199" y="628"/>
                </a:cxn>
                <a:cxn ang="0">
                  <a:pos x="239" y="623"/>
                </a:cxn>
                <a:cxn ang="0">
                  <a:pos x="289" y="603"/>
                </a:cxn>
                <a:cxn ang="0">
                  <a:pos x="307" y="562"/>
                </a:cxn>
                <a:cxn ang="0">
                  <a:pos x="314" y="528"/>
                </a:cxn>
                <a:cxn ang="0">
                  <a:pos x="395" y="567"/>
                </a:cxn>
                <a:cxn ang="0">
                  <a:pos x="440" y="565"/>
                </a:cxn>
                <a:cxn ang="0">
                  <a:pos x="478" y="477"/>
                </a:cxn>
                <a:cxn ang="0">
                  <a:pos x="498" y="423"/>
                </a:cxn>
                <a:cxn ang="0">
                  <a:pos x="521" y="417"/>
                </a:cxn>
                <a:cxn ang="0">
                  <a:pos x="566" y="353"/>
                </a:cxn>
                <a:cxn ang="0">
                  <a:pos x="658" y="328"/>
                </a:cxn>
                <a:cxn ang="0">
                  <a:pos x="686" y="304"/>
                </a:cxn>
                <a:cxn ang="0">
                  <a:pos x="639" y="275"/>
                </a:cxn>
                <a:cxn ang="0">
                  <a:pos x="628" y="220"/>
                </a:cxn>
                <a:cxn ang="0">
                  <a:pos x="544" y="240"/>
                </a:cxn>
                <a:cxn ang="0">
                  <a:pos x="453" y="219"/>
                </a:cxn>
                <a:cxn ang="0">
                  <a:pos x="448" y="175"/>
                </a:cxn>
                <a:cxn ang="0">
                  <a:pos x="387" y="137"/>
                </a:cxn>
                <a:cxn ang="0">
                  <a:pos x="374" y="92"/>
                </a:cxn>
                <a:cxn ang="0">
                  <a:pos x="389" y="32"/>
                </a:cxn>
                <a:cxn ang="0">
                  <a:pos x="382" y="24"/>
                </a:cxn>
                <a:cxn ang="0">
                  <a:pos x="357" y="0"/>
                </a:cxn>
              </a:cxnLst>
              <a:rect l="0" t="0" r="r" b="b"/>
              <a:pathLst>
                <a:path w="686" h="635">
                  <a:moveTo>
                    <a:pt x="357" y="0"/>
                  </a:moveTo>
                  <a:lnTo>
                    <a:pt x="349" y="9"/>
                  </a:lnTo>
                  <a:lnTo>
                    <a:pt x="315" y="21"/>
                  </a:lnTo>
                  <a:lnTo>
                    <a:pt x="310" y="28"/>
                  </a:lnTo>
                  <a:lnTo>
                    <a:pt x="302" y="29"/>
                  </a:lnTo>
                  <a:lnTo>
                    <a:pt x="294" y="23"/>
                  </a:lnTo>
                  <a:lnTo>
                    <a:pt x="268" y="29"/>
                  </a:lnTo>
                  <a:lnTo>
                    <a:pt x="277" y="46"/>
                  </a:lnTo>
                  <a:lnTo>
                    <a:pt x="274" y="50"/>
                  </a:lnTo>
                  <a:lnTo>
                    <a:pt x="293" y="61"/>
                  </a:lnTo>
                  <a:lnTo>
                    <a:pt x="299" y="77"/>
                  </a:lnTo>
                  <a:lnTo>
                    <a:pt x="296" y="98"/>
                  </a:lnTo>
                  <a:lnTo>
                    <a:pt x="260" y="107"/>
                  </a:lnTo>
                  <a:lnTo>
                    <a:pt x="245" y="87"/>
                  </a:lnTo>
                  <a:lnTo>
                    <a:pt x="211" y="83"/>
                  </a:lnTo>
                  <a:lnTo>
                    <a:pt x="214" y="94"/>
                  </a:lnTo>
                  <a:lnTo>
                    <a:pt x="200" y="99"/>
                  </a:lnTo>
                  <a:lnTo>
                    <a:pt x="204" y="113"/>
                  </a:lnTo>
                  <a:lnTo>
                    <a:pt x="193" y="127"/>
                  </a:lnTo>
                  <a:lnTo>
                    <a:pt x="164" y="129"/>
                  </a:lnTo>
                  <a:lnTo>
                    <a:pt x="148" y="146"/>
                  </a:lnTo>
                  <a:lnTo>
                    <a:pt x="144" y="154"/>
                  </a:lnTo>
                  <a:lnTo>
                    <a:pt x="132" y="157"/>
                  </a:lnTo>
                  <a:lnTo>
                    <a:pt x="116" y="150"/>
                  </a:lnTo>
                  <a:lnTo>
                    <a:pt x="114" y="142"/>
                  </a:lnTo>
                  <a:lnTo>
                    <a:pt x="98" y="142"/>
                  </a:lnTo>
                  <a:lnTo>
                    <a:pt x="95" y="127"/>
                  </a:lnTo>
                  <a:lnTo>
                    <a:pt x="87" y="123"/>
                  </a:lnTo>
                  <a:lnTo>
                    <a:pt x="67" y="157"/>
                  </a:lnTo>
                  <a:lnTo>
                    <a:pt x="58" y="199"/>
                  </a:lnTo>
                  <a:lnTo>
                    <a:pt x="48" y="232"/>
                  </a:lnTo>
                  <a:lnTo>
                    <a:pt x="52" y="271"/>
                  </a:lnTo>
                  <a:lnTo>
                    <a:pt x="53" y="283"/>
                  </a:lnTo>
                  <a:lnTo>
                    <a:pt x="2" y="292"/>
                  </a:lnTo>
                  <a:lnTo>
                    <a:pt x="0" y="292"/>
                  </a:lnTo>
                  <a:lnTo>
                    <a:pt x="15" y="327"/>
                  </a:lnTo>
                  <a:lnTo>
                    <a:pt x="6" y="362"/>
                  </a:lnTo>
                  <a:lnTo>
                    <a:pt x="10" y="417"/>
                  </a:lnTo>
                  <a:lnTo>
                    <a:pt x="53" y="431"/>
                  </a:lnTo>
                  <a:lnTo>
                    <a:pt x="107" y="454"/>
                  </a:lnTo>
                  <a:lnTo>
                    <a:pt x="117" y="496"/>
                  </a:lnTo>
                  <a:lnTo>
                    <a:pt x="106" y="503"/>
                  </a:lnTo>
                  <a:lnTo>
                    <a:pt x="95" y="520"/>
                  </a:lnTo>
                  <a:lnTo>
                    <a:pt x="90" y="561"/>
                  </a:lnTo>
                  <a:lnTo>
                    <a:pt x="83" y="582"/>
                  </a:lnTo>
                  <a:lnTo>
                    <a:pt x="86" y="620"/>
                  </a:lnTo>
                  <a:lnTo>
                    <a:pt x="90" y="621"/>
                  </a:lnTo>
                  <a:lnTo>
                    <a:pt x="108" y="612"/>
                  </a:lnTo>
                  <a:lnTo>
                    <a:pt x="141" y="621"/>
                  </a:lnTo>
                  <a:lnTo>
                    <a:pt x="162" y="617"/>
                  </a:lnTo>
                  <a:lnTo>
                    <a:pt x="189" y="628"/>
                  </a:lnTo>
                  <a:lnTo>
                    <a:pt x="199" y="628"/>
                  </a:lnTo>
                  <a:lnTo>
                    <a:pt x="224" y="635"/>
                  </a:lnTo>
                  <a:lnTo>
                    <a:pt x="239" y="623"/>
                  </a:lnTo>
                  <a:lnTo>
                    <a:pt x="257" y="619"/>
                  </a:lnTo>
                  <a:lnTo>
                    <a:pt x="289" y="603"/>
                  </a:lnTo>
                  <a:lnTo>
                    <a:pt x="310" y="588"/>
                  </a:lnTo>
                  <a:lnTo>
                    <a:pt x="307" y="562"/>
                  </a:lnTo>
                  <a:lnTo>
                    <a:pt x="303" y="535"/>
                  </a:lnTo>
                  <a:lnTo>
                    <a:pt x="314" y="528"/>
                  </a:lnTo>
                  <a:lnTo>
                    <a:pt x="341" y="545"/>
                  </a:lnTo>
                  <a:lnTo>
                    <a:pt x="395" y="567"/>
                  </a:lnTo>
                  <a:lnTo>
                    <a:pt x="421" y="574"/>
                  </a:lnTo>
                  <a:lnTo>
                    <a:pt x="440" y="565"/>
                  </a:lnTo>
                  <a:lnTo>
                    <a:pt x="470" y="511"/>
                  </a:lnTo>
                  <a:lnTo>
                    <a:pt x="478" y="477"/>
                  </a:lnTo>
                  <a:lnTo>
                    <a:pt x="493" y="465"/>
                  </a:lnTo>
                  <a:lnTo>
                    <a:pt x="498" y="423"/>
                  </a:lnTo>
                  <a:lnTo>
                    <a:pt x="506" y="415"/>
                  </a:lnTo>
                  <a:lnTo>
                    <a:pt x="521" y="417"/>
                  </a:lnTo>
                  <a:lnTo>
                    <a:pt x="539" y="408"/>
                  </a:lnTo>
                  <a:lnTo>
                    <a:pt x="566" y="353"/>
                  </a:lnTo>
                  <a:lnTo>
                    <a:pt x="629" y="321"/>
                  </a:lnTo>
                  <a:lnTo>
                    <a:pt x="658" y="328"/>
                  </a:lnTo>
                  <a:lnTo>
                    <a:pt x="671" y="332"/>
                  </a:lnTo>
                  <a:lnTo>
                    <a:pt x="686" y="304"/>
                  </a:lnTo>
                  <a:lnTo>
                    <a:pt x="673" y="287"/>
                  </a:lnTo>
                  <a:lnTo>
                    <a:pt x="639" y="275"/>
                  </a:lnTo>
                  <a:lnTo>
                    <a:pt x="637" y="231"/>
                  </a:lnTo>
                  <a:lnTo>
                    <a:pt x="628" y="220"/>
                  </a:lnTo>
                  <a:lnTo>
                    <a:pt x="574" y="224"/>
                  </a:lnTo>
                  <a:lnTo>
                    <a:pt x="544" y="240"/>
                  </a:lnTo>
                  <a:lnTo>
                    <a:pt x="477" y="225"/>
                  </a:lnTo>
                  <a:lnTo>
                    <a:pt x="453" y="219"/>
                  </a:lnTo>
                  <a:lnTo>
                    <a:pt x="433" y="198"/>
                  </a:lnTo>
                  <a:lnTo>
                    <a:pt x="448" y="175"/>
                  </a:lnTo>
                  <a:lnTo>
                    <a:pt x="439" y="159"/>
                  </a:lnTo>
                  <a:lnTo>
                    <a:pt x="387" y="137"/>
                  </a:lnTo>
                  <a:lnTo>
                    <a:pt x="382" y="108"/>
                  </a:lnTo>
                  <a:lnTo>
                    <a:pt x="374" y="92"/>
                  </a:lnTo>
                  <a:lnTo>
                    <a:pt x="365" y="71"/>
                  </a:lnTo>
                  <a:lnTo>
                    <a:pt x="389" y="32"/>
                  </a:lnTo>
                  <a:lnTo>
                    <a:pt x="386" y="24"/>
                  </a:lnTo>
                  <a:lnTo>
                    <a:pt x="382" y="24"/>
                  </a:lnTo>
                  <a:lnTo>
                    <a:pt x="371" y="9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0FFB11-7AC6-2687-41B2-087C48064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357" y="4503487"/>
              <a:ext cx="312738" cy="261937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02" y="6"/>
                </a:cxn>
                <a:cxn ang="0">
                  <a:pos x="79" y="17"/>
                </a:cxn>
                <a:cxn ang="0">
                  <a:pos x="66" y="10"/>
                </a:cxn>
                <a:cxn ang="0">
                  <a:pos x="45" y="19"/>
                </a:cxn>
                <a:cxn ang="0">
                  <a:pos x="16" y="21"/>
                </a:cxn>
                <a:cxn ang="0">
                  <a:pos x="0" y="64"/>
                </a:cxn>
                <a:cxn ang="0">
                  <a:pos x="31" y="88"/>
                </a:cxn>
                <a:cxn ang="0">
                  <a:pos x="19" y="100"/>
                </a:cxn>
                <a:cxn ang="0">
                  <a:pos x="31" y="109"/>
                </a:cxn>
                <a:cxn ang="0">
                  <a:pos x="29" y="130"/>
                </a:cxn>
                <a:cxn ang="0">
                  <a:pos x="58" y="139"/>
                </a:cxn>
                <a:cxn ang="0">
                  <a:pos x="65" y="147"/>
                </a:cxn>
                <a:cxn ang="0">
                  <a:pos x="74" y="147"/>
                </a:cxn>
                <a:cxn ang="0">
                  <a:pos x="91" y="163"/>
                </a:cxn>
                <a:cxn ang="0">
                  <a:pos x="123" y="165"/>
                </a:cxn>
                <a:cxn ang="0">
                  <a:pos x="132" y="126"/>
                </a:cxn>
                <a:cxn ang="0">
                  <a:pos x="140" y="107"/>
                </a:cxn>
                <a:cxn ang="0">
                  <a:pos x="164" y="110"/>
                </a:cxn>
                <a:cxn ang="0">
                  <a:pos x="197" y="73"/>
                </a:cxn>
                <a:cxn ang="0">
                  <a:pos x="191" y="51"/>
                </a:cxn>
                <a:cxn ang="0">
                  <a:pos x="185" y="27"/>
                </a:cxn>
                <a:cxn ang="0">
                  <a:pos x="181" y="21"/>
                </a:cxn>
                <a:cxn ang="0">
                  <a:pos x="149" y="17"/>
                </a:cxn>
                <a:cxn ang="0">
                  <a:pos x="128" y="21"/>
                </a:cxn>
                <a:cxn ang="0">
                  <a:pos x="106" y="0"/>
                </a:cxn>
              </a:cxnLst>
              <a:rect l="0" t="0" r="r" b="b"/>
              <a:pathLst>
                <a:path w="197" h="165">
                  <a:moveTo>
                    <a:pt x="106" y="0"/>
                  </a:moveTo>
                  <a:lnTo>
                    <a:pt x="102" y="6"/>
                  </a:lnTo>
                  <a:lnTo>
                    <a:pt x="79" y="17"/>
                  </a:lnTo>
                  <a:lnTo>
                    <a:pt x="66" y="10"/>
                  </a:lnTo>
                  <a:lnTo>
                    <a:pt x="45" y="19"/>
                  </a:lnTo>
                  <a:lnTo>
                    <a:pt x="16" y="21"/>
                  </a:lnTo>
                  <a:lnTo>
                    <a:pt x="0" y="64"/>
                  </a:lnTo>
                  <a:lnTo>
                    <a:pt x="31" y="88"/>
                  </a:lnTo>
                  <a:lnTo>
                    <a:pt x="19" y="100"/>
                  </a:lnTo>
                  <a:lnTo>
                    <a:pt x="31" y="109"/>
                  </a:lnTo>
                  <a:lnTo>
                    <a:pt x="29" y="130"/>
                  </a:lnTo>
                  <a:lnTo>
                    <a:pt x="58" y="139"/>
                  </a:lnTo>
                  <a:lnTo>
                    <a:pt x="65" y="147"/>
                  </a:lnTo>
                  <a:lnTo>
                    <a:pt x="74" y="147"/>
                  </a:lnTo>
                  <a:lnTo>
                    <a:pt x="91" y="163"/>
                  </a:lnTo>
                  <a:lnTo>
                    <a:pt x="123" y="165"/>
                  </a:lnTo>
                  <a:lnTo>
                    <a:pt x="132" y="126"/>
                  </a:lnTo>
                  <a:lnTo>
                    <a:pt x="140" y="107"/>
                  </a:lnTo>
                  <a:lnTo>
                    <a:pt x="164" y="110"/>
                  </a:lnTo>
                  <a:lnTo>
                    <a:pt x="197" y="73"/>
                  </a:lnTo>
                  <a:lnTo>
                    <a:pt x="191" y="51"/>
                  </a:lnTo>
                  <a:lnTo>
                    <a:pt x="185" y="27"/>
                  </a:lnTo>
                  <a:lnTo>
                    <a:pt x="181" y="21"/>
                  </a:lnTo>
                  <a:lnTo>
                    <a:pt x="149" y="17"/>
                  </a:lnTo>
                  <a:lnTo>
                    <a:pt x="128" y="2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4C423DF2-63EE-6A1E-A4C2-BD179FCED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758" y="4293936"/>
              <a:ext cx="811213" cy="788987"/>
            </a:xfrm>
            <a:custGeom>
              <a:avLst/>
              <a:gdLst/>
              <a:ahLst/>
              <a:cxnLst>
                <a:cxn ang="0">
                  <a:pos x="234" y="2"/>
                </a:cxn>
                <a:cxn ang="0">
                  <a:pos x="190" y="50"/>
                </a:cxn>
                <a:cxn ang="0">
                  <a:pos x="185" y="72"/>
                </a:cxn>
                <a:cxn ang="0">
                  <a:pos x="152" y="67"/>
                </a:cxn>
                <a:cxn ang="0">
                  <a:pos x="118" y="79"/>
                </a:cxn>
                <a:cxn ang="0">
                  <a:pos x="129" y="117"/>
                </a:cxn>
                <a:cxn ang="0">
                  <a:pos x="128" y="121"/>
                </a:cxn>
                <a:cxn ang="0">
                  <a:pos x="137" y="156"/>
                </a:cxn>
                <a:cxn ang="0">
                  <a:pos x="94" y="182"/>
                </a:cxn>
                <a:cxn ang="0">
                  <a:pos x="81" y="226"/>
                </a:cxn>
                <a:cxn ang="0">
                  <a:pos x="44" y="212"/>
                </a:cxn>
                <a:cxn ang="0">
                  <a:pos x="32" y="206"/>
                </a:cxn>
                <a:cxn ang="0">
                  <a:pos x="10" y="200"/>
                </a:cxn>
                <a:cxn ang="0">
                  <a:pos x="7" y="239"/>
                </a:cxn>
                <a:cxn ang="0">
                  <a:pos x="16" y="263"/>
                </a:cxn>
                <a:cxn ang="0">
                  <a:pos x="17" y="313"/>
                </a:cxn>
                <a:cxn ang="0">
                  <a:pos x="9" y="370"/>
                </a:cxn>
                <a:cxn ang="0">
                  <a:pos x="22" y="378"/>
                </a:cxn>
                <a:cxn ang="0">
                  <a:pos x="71" y="378"/>
                </a:cxn>
                <a:cxn ang="0">
                  <a:pos x="109" y="362"/>
                </a:cxn>
                <a:cxn ang="0">
                  <a:pos x="114" y="307"/>
                </a:cxn>
                <a:cxn ang="0">
                  <a:pos x="136" y="249"/>
                </a:cxn>
                <a:cxn ang="0">
                  <a:pos x="144" y="264"/>
                </a:cxn>
                <a:cxn ang="0">
                  <a:pos x="158" y="270"/>
                </a:cxn>
                <a:cxn ang="0">
                  <a:pos x="179" y="273"/>
                </a:cxn>
                <a:cxn ang="0">
                  <a:pos x="194" y="254"/>
                </a:cxn>
                <a:cxn ang="0">
                  <a:pos x="225" y="242"/>
                </a:cxn>
                <a:cxn ang="0">
                  <a:pos x="232" y="227"/>
                </a:cxn>
                <a:cxn ang="0">
                  <a:pos x="256" y="222"/>
                </a:cxn>
                <a:cxn ang="0">
                  <a:pos x="295" y="230"/>
                </a:cxn>
                <a:cxn ang="0">
                  <a:pos x="292" y="202"/>
                </a:cxn>
                <a:cxn ang="0">
                  <a:pos x="280" y="191"/>
                </a:cxn>
                <a:cxn ang="0">
                  <a:pos x="293" y="173"/>
                </a:cxn>
                <a:cxn ang="0">
                  <a:pos x="305" y="177"/>
                </a:cxn>
                <a:cxn ang="0">
                  <a:pos x="335" y="163"/>
                </a:cxn>
                <a:cxn ang="0">
                  <a:pos x="352" y="163"/>
                </a:cxn>
                <a:cxn ang="0">
                  <a:pos x="363" y="174"/>
                </a:cxn>
                <a:cxn ang="0">
                  <a:pos x="377" y="157"/>
                </a:cxn>
                <a:cxn ang="0">
                  <a:pos x="369" y="123"/>
                </a:cxn>
                <a:cxn ang="0">
                  <a:pos x="360" y="104"/>
                </a:cxn>
                <a:cxn ang="0">
                  <a:pos x="382" y="70"/>
                </a:cxn>
                <a:cxn ang="0">
                  <a:pos x="380" y="38"/>
                </a:cxn>
                <a:cxn ang="0">
                  <a:pos x="388" y="16"/>
                </a:cxn>
                <a:cxn ang="0">
                  <a:pos x="237" y="0"/>
                </a:cxn>
              </a:cxnLst>
              <a:rect l="0" t="0" r="r" b="b"/>
              <a:pathLst>
                <a:path w="388" h="378">
                  <a:moveTo>
                    <a:pt x="237" y="0"/>
                  </a:moveTo>
                  <a:cubicBezTo>
                    <a:pt x="236" y="0"/>
                    <a:pt x="234" y="2"/>
                    <a:pt x="234" y="2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66" y="74"/>
                    <a:pt x="166" y="74"/>
                    <a:pt x="166" y="74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137" y="110"/>
                    <a:pt x="137" y="110"/>
                    <a:pt x="137" y="110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5" y="116"/>
                    <a:pt x="125" y="116"/>
                    <a:pt x="125" y="116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7" y="156"/>
                    <a:pt x="137" y="156"/>
                    <a:pt x="137" y="156"/>
                  </a:cubicBezTo>
                  <a:cubicBezTo>
                    <a:pt x="112" y="184"/>
                    <a:pt x="112" y="184"/>
                    <a:pt x="112" y="184"/>
                  </a:cubicBezTo>
                  <a:cubicBezTo>
                    <a:pt x="94" y="182"/>
                    <a:pt x="94" y="182"/>
                    <a:pt x="94" y="182"/>
                  </a:cubicBezTo>
                  <a:cubicBezTo>
                    <a:pt x="88" y="196"/>
                    <a:pt x="88" y="196"/>
                    <a:pt x="88" y="196"/>
                  </a:cubicBezTo>
                  <a:cubicBezTo>
                    <a:pt x="81" y="226"/>
                    <a:pt x="81" y="226"/>
                    <a:pt x="81" y="226"/>
                  </a:cubicBezTo>
                  <a:cubicBezTo>
                    <a:pt x="57" y="224"/>
                    <a:pt x="57" y="224"/>
                    <a:pt x="57" y="224"/>
                  </a:cubicBezTo>
                  <a:cubicBezTo>
                    <a:pt x="44" y="212"/>
                    <a:pt x="44" y="212"/>
                    <a:pt x="44" y="212"/>
                  </a:cubicBezTo>
                  <a:cubicBezTo>
                    <a:pt x="37" y="212"/>
                    <a:pt x="37" y="212"/>
                    <a:pt x="37" y="212"/>
                  </a:cubicBezTo>
                  <a:cubicBezTo>
                    <a:pt x="32" y="206"/>
                    <a:pt x="32" y="206"/>
                    <a:pt x="32" y="206"/>
                  </a:cubicBezTo>
                  <a:cubicBezTo>
                    <a:pt x="10" y="199"/>
                    <a:pt x="10" y="199"/>
                    <a:pt x="10" y="199"/>
                  </a:cubicBezTo>
                  <a:cubicBezTo>
                    <a:pt x="10" y="200"/>
                    <a:pt x="10" y="200"/>
                    <a:pt x="10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7" y="239"/>
                    <a:pt x="7" y="239"/>
                    <a:pt x="7" y="239"/>
                  </a:cubicBezTo>
                  <a:cubicBezTo>
                    <a:pt x="23" y="250"/>
                    <a:pt x="23" y="250"/>
                    <a:pt x="23" y="250"/>
                  </a:cubicBezTo>
                  <a:cubicBezTo>
                    <a:pt x="16" y="263"/>
                    <a:pt x="16" y="263"/>
                    <a:pt x="16" y="263"/>
                  </a:cubicBezTo>
                  <a:cubicBezTo>
                    <a:pt x="15" y="279"/>
                    <a:pt x="15" y="279"/>
                    <a:pt x="15" y="279"/>
                  </a:cubicBezTo>
                  <a:cubicBezTo>
                    <a:pt x="17" y="313"/>
                    <a:pt x="17" y="313"/>
                    <a:pt x="17" y="313"/>
                  </a:cubicBezTo>
                  <a:cubicBezTo>
                    <a:pt x="10" y="351"/>
                    <a:pt x="10" y="351"/>
                    <a:pt x="10" y="351"/>
                  </a:cubicBezTo>
                  <a:cubicBezTo>
                    <a:pt x="9" y="370"/>
                    <a:pt x="9" y="370"/>
                    <a:pt x="9" y="370"/>
                  </a:cubicBezTo>
                  <a:cubicBezTo>
                    <a:pt x="15" y="367"/>
                    <a:pt x="15" y="367"/>
                    <a:pt x="15" y="367"/>
                  </a:cubicBezTo>
                  <a:cubicBezTo>
                    <a:pt x="22" y="378"/>
                    <a:pt x="22" y="378"/>
                    <a:pt x="22" y="378"/>
                  </a:cubicBezTo>
                  <a:cubicBezTo>
                    <a:pt x="70" y="378"/>
                    <a:pt x="70" y="378"/>
                    <a:pt x="70" y="378"/>
                  </a:cubicBezTo>
                  <a:cubicBezTo>
                    <a:pt x="71" y="378"/>
                    <a:pt x="71" y="378"/>
                    <a:pt x="71" y="378"/>
                  </a:cubicBezTo>
                  <a:cubicBezTo>
                    <a:pt x="110" y="371"/>
                    <a:pt x="110" y="371"/>
                    <a:pt x="110" y="371"/>
                  </a:cubicBezTo>
                  <a:cubicBezTo>
                    <a:pt x="109" y="362"/>
                    <a:pt x="109" y="362"/>
                    <a:pt x="109" y="36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14" y="307"/>
                    <a:pt x="114" y="307"/>
                    <a:pt x="114" y="307"/>
                  </a:cubicBezTo>
                  <a:cubicBezTo>
                    <a:pt x="121" y="275"/>
                    <a:pt x="121" y="275"/>
                    <a:pt x="121" y="275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42" y="252"/>
                    <a:pt x="142" y="252"/>
                    <a:pt x="142" y="252"/>
                  </a:cubicBezTo>
                  <a:cubicBezTo>
                    <a:pt x="144" y="264"/>
                    <a:pt x="144" y="264"/>
                    <a:pt x="144" y="264"/>
                  </a:cubicBezTo>
                  <a:cubicBezTo>
                    <a:pt x="156" y="264"/>
                    <a:pt x="156" y="264"/>
                    <a:pt x="156" y="264"/>
                  </a:cubicBezTo>
                  <a:cubicBezTo>
                    <a:pt x="158" y="270"/>
                    <a:pt x="158" y="270"/>
                    <a:pt x="158" y="270"/>
                  </a:cubicBezTo>
                  <a:cubicBezTo>
                    <a:pt x="170" y="275"/>
                    <a:pt x="170" y="275"/>
                    <a:pt x="170" y="275"/>
                  </a:cubicBezTo>
                  <a:cubicBezTo>
                    <a:pt x="179" y="273"/>
                    <a:pt x="179" y="273"/>
                    <a:pt x="179" y="273"/>
                  </a:cubicBezTo>
                  <a:cubicBezTo>
                    <a:pt x="182" y="267"/>
                    <a:pt x="182" y="267"/>
                    <a:pt x="182" y="267"/>
                  </a:cubicBezTo>
                  <a:cubicBezTo>
                    <a:pt x="194" y="254"/>
                    <a:pt x="194" y="254"/>
                    <a:pt x="194" y="254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25" y="242"/>
                    <a:pt x="225" y="242"/>
                    <a:pt x="225" y="242"/>
                  </a:cubicBezTo>
                  <a:cubicBezTo>
                    <a:pt x="222" y="231"/>
                    <a:pt x="222" y="231"/>
                    <a:pt x="222" y="231"/>
                  </a:cubicBezTo>
                  <a:cubicBezTo>
                    <a:pt x="232" y="227"/>
                    <a:pt x="232" y="227"/>
                    <a:pt x="232" y="227"/>
                  </a:cubicBezTo>
                  <a:cubicBezTo>
                    <a:pt x="230" y="219"/>
                    <a:pt x="230" y="219"/>
                    <a:pt x="230" y="219"/>
                  </a:cubicBezTo>
                  <a:cubicBezTo>
                    <a:pt x="256" y="222"/>
                    <a:pt x="256" y="222"/>
                    <a:pt x="256" y="222"/>
                  </a:cubicBezTo>
                  <a:cubicBezTo>
                    <a:pt x="267" y="237"/>
                    <a:pt x="267" y="237"/>
                    <a:pt x="267" y="237"/>
                  </a:cubicBezTo>
                  <a:cubicBezTo>
                    <a:pt x="295" y="230"/>
                    <a:pt x="295" y="230"/>
                    <a:pt x="295" y="230"/>
                  </a:cubicBezTo>
                  <a:cubicBezTo>
                    <a:pt x="297" y="214"/>
                    <a:pt x="297" y="214"/>
                    <a:pt x="297" y="214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73" y="178"/>
                    <a:pt x="273" y="178"/>
                    <a:pt x="273" y="178"/>
                  </a:cubicBezTo>
                  <a:cubicBezTo>
                    <a:pt x="293" y="173"/>
                    <a:pt x="293" y="173"/>
                    <a:pt x="293" y="173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305" y="177"/>
                    <a:pt x="305" y="177"/>
                    <a:pt x="305" y="177"/>
                  </a:cubicBezTo>
                  <a:cubicBezTo>
                    <a:pt x="309" y="172"/>
                    <a:pt x="309" y="172"/>
                    <a:pt x="309" y="172"/>
                  </a:cubicBezTo>
                  <a:cubicBezTo>
                    <a:pt x="335" y="163"/>
                    <a:pt x="335" y="163"/>
                    <a:pt x="335" y="163"/>
                  </a:cubicBezTo>
                  <a:cubicBezTo>
                    <a:pt x="341" y="156"/>
                    <a:pt x="341" y="156"/>
                    <a:pt x="341" y="156"/>
                  </a:cubicBezTo>
                  <a:cubicBezTo>
                    <a:pt x="352" y="163"/>
                    <a:pt x="352" y="163"/>
                    <a:pt x="352" y="163"/>
                  </a:cubicBezTo>
                  <a:cubicBezTo>
                    <a:pt x="360" y="174"/>
                    <a:pt x="360" y="174"/>
                    <a:pt x="360" y="174"/>
                  </a:cubicBezTo>
                  <a:cubicBezTo>
                    <a:pt x="363" y="174"/>
                    <a:pt x="363" y="174"/>
                    <a:pt x="363" y="174"/>
                  </a:cubicBezTo>
                  <a:cubicBezTo>
                    <a:pt x="373" y="174"/>
                    <a:pt x="373" y="174"/>
                    <a:pt x="373" y="174"/>
                  </a:cubicBezTo>
                  <a:cubicBezTo>
                    <a:pt x="377" y="157"/>
                    <a:pt x="377" y="157"/>
                    <a:pt x="377" y="157"/>
                  </a:cubicBezTo>
                  <a:cubicBezTo>
                    <a:pt x="367" y="145"/>
                    <a:pt x="367" y="145"/>
                    <a:pt x="367" y="145"/>
                  </a:cubicBezTo>
                  <a:cubicBezTo>
                    <a:pt x="369" y="123"/>
                    <a:pt x="369" y="123"/>
                    <a:pt x="369" y="123"/>
                  </a:cubicBezTo>
                  <a:cubicBezTo>
                    <a:pt x="376" y="112"/>
                    <a:pt x="376" y="112"/>
                    <a:pt x="376" y="112"/>
                  </a:cubicBezTo>
                  <a:cubicBezTo>
                    <a:pt x="360" y="104"/>
                    <a:pt x="360" y="104"/>
                    <a:pt x="360" y="104"/>
                  </a:cubicBezTo>
                  <a:cubicBezTo>
                    <a:pt x="377" y="90"/>
                    <a:pt x="377" y="90"/>
                    <a:pt x="377" y="90"/>
                  </a:cubicBezTo>
                  <a:cubicBezTo>
                    <a:pt x="382" y="70"/>
                    <a:pt x="382" y="70"/>
                    <a:pt x="382" y="7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80" y="38"/>
                    <a:pt x="380" y="38"/>
                    <a:pt x="380" y="38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246" y="16"/>
                    <a:pt x="246" y="16"/>
                    <a:pt x="246" y="16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8E3E16-57F3-DAE5-5F39-4F8365938B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242" y="4325685"/>
              <a:ext cx="1169988" cy="909637"/>
            </a:xfrm>
            <a:custGeom>
              <a:avLst/>
              <a:gdLst/>
              <a:ahLst/>
              <a:cxnLst>
                <a:cxn ang="0">
                  <a:pos x="43" y="30"/>
                </a:cxn>
                <a:cxn ang="0">
                  <a:pos x="46" y="72"/>
                </a:cxn>
                <a:cxn ang="0">
                  <a:pos x="17" y="117"/>
                </a:cxn>
                <a:cxn ang="0">
                  <a:pos x="29" y="142"/>
                </a:cxn>
                <a:cxn ang="0">
                  <a:pos x="39" y="187"/>
                </a:cxn>
                <a:cxn ang="0">
                  <a:pos x="21" y="209"/>
                </a:cxn>
                <a:cxn ang="0">
                  <a:pos x="0" y="256"/>
                </a:cxn>
                <a:cxn ang="0">
                  <a:pos x="17" y="293"/>
                </a:cxn>
                <a:cxn ang="0">
                  <a:pos x="74" y="344"/>
                </a:cxn>
                <a:cxn ang="0">
                  <a:pos x="68" y="383"/>
                </a:cxn>
                <a:cxn ang="0">
                  <a:pos x="112" y="410"/>
                </a:cxn>
                <a:cxn ang="0">
                  <a:pos x="209" y="409"/>
                </a:cxn>
                <a:cxn ang="0">
                  <a:pos x="272" y="416"/>
                </a:cxn>
                <a:cxn ang="0">
                  <a:pos x="308" y="472"/>
                </a:cxn>
                <a:cxn ang="0">
                  <a:pos x="306" y="517"/>
                </a:cxn>
                <a:cxn ang="0">
                  <a:pos x="333" y="534"/>
                </a:cxn>
                <a:cxn ang="0">
                  <a:pos x="355" y="558"/>
                </a:cxn>
                <a:cxn ang="0">
                  <a:pos x="389" y="529"/>
                </a:cxn>
                <a:cxn ang="0">
                  <a:pos x="405" y="526"/>
                </a:cxn>
                <a:cxn ang="0">
                  <a:pos x="392" y="446"/>
                </a:cxn>
                <a:cxn ang="0">
                  <a:pos x="420" y="435"/>
                </a:cxn>
                <a:cxn ang="0">
                  <a:pos x="462" y="481"/>
                </a:cxn>
                <a:cxn ang="0">
                  <a:pos x="487" y="468"/>
                </a:cxn>
                <a:cxn ang="0">
                  <a:pos x="528" y="456"/>
                </a:cxn>
                <a:cxn ang="0">
                  <a:pos x="578" y="472"/>
                </a:cxn>
                <a:cxn ang="0">
                  <a:pos x="608" y="498"/>
                </a:cxn>
                <a:cxn ang="0">
                  <a:pos x="585" y="541"/>
                </a:cxn>
                <a:cxn ang="0">
                  <a:pos x="733" y="523"/>
                </a:cxn>
                <a:cxn ang="0">
                  <a:pos x="699" y="466"/>
                </a:cxn>
                <a:cxn ang="0">
                  <a:pos x="687" y="444"/>
                </a:cxn>
                <a:cxn ang="0">
                  <a:pos x="679" y="413"/>
                </a:cxn>
                <a:cxn ang="0">
                  <a:pos x="655" y="355"/>
                </a:cxn>
                <a:cxn ang="0">
                  <a:pos x="610" y="335"/>
                </a:cxn>
                <a:cxn ang="0">
                  <a:pos x="562" y="264"/>
                </a:cxn>
                <a:cxn ang="0">
                  <a:pos x="554" y="247"/>
                </a:cxn>
                <a:cxn ang="0">
                  <a:pos x="546" y="221"/>
                </a:cxn>
                <a:cxn ang="0">
                  <a:pos x="530" y="189"/>
                </a:cxn>
                <a:cxn ang="0">
                  <a:pos x="518" y="162"/>
                </a:cxn>
                <a:cxn ang="0">
                  <a:pos x="539" y="139"/>
                </a:cxn>
                <a:cxn ang="0">
                  <a:pos x="547" y="113"/>
                </a:cxn>
                <a:cxn ang="0">
                  <a:pos x="524" y="71"/>
                </a:cxn>
                <a:cxn ang="0">
                  <a:pos x="505" y="25"/>
                </a:cxn>
                <a:cxn ang="0">
                  <a:pos x="55" y="0"/>
                </a:cxn>
                <a:cxn ang="0">
                  <a:pos x="184" y="573"/>
                </a:cxn>
                <a:cxn ang="0">
                  <a:pos x="201" y="538"/>
                </a:cxn>
              </a:cxnLst>
              <a:rect l="0" t="0" r="r" b="b"/>
              <a:pathLst>
                <a:path w="737" h="573">
                  <a:moveTo>
                    <a:pt x="55" y="0"/>
                  </a:moveTo>
                  <a:lnTo>
                    <a:pt x="43" y="30"/>
                  </a:lnTo>
                  <a:lnTo>
                    <a:pt x="35" y="64"/>
                  </a:lnTo>
                  <a:lnTo>
                    <a:pt x="46" y="72"/>
                  </a:lnTo>
                  <a:lnTo>
                    <a:pt x="39" y="98"/>
                  </a:lnTo>
                  <a:lnTo>
                    <a:pt x="17" y="117"/>
                  </a:lnTo>
                  <a:lnTo>
                    <a:pt x="38" y="127"/>
                  </a:lnTo>
                  <a:lnTo>
                    <a:pt x="29" y="142"/>
                  </a:lnTo>
                  <a:lnTo>
                    <a:pt x="26" y="171"/>
                  </a:lnTo>
                  <a:lnTo>
                    <a:pt x="39" y="187"/>
                  </a:lnTo>
                  <a:lnTo>
                    <a:pt x="34" y="209"/>
                  </a:lnTo>
                  <a:lnTo>
                    <a:pt x="21" y="209"/>
                  </a:lnTo>
                  <a:lnTo>
                    <a:pt x="24" y="217"/>
                  </a:lnTo>
                  <a:lnTo>
                    <a:pt x="0" y="256"/>
                  </a:lnTo>
                  <a:lnTo>
                    <a:pt x="9" y="277"/>
                  </a:lnTo>
                  <a:lnTo>
                    <a:pt x="17" y="293"/>
                  </a:lnTo>
                  <a:lnTo>
                    <a:pt x="22" y="322"/>
                  </a:lnTo>
                  <a:lnTo>
                    <a:pt x="74" y="344"/>
                  </a:lnTo>
                  <a:lnTo>
                    <a:pt x="83" y="360"/>
                  </a:lnTo>
                  <a:lnTo>
                    <a:pt x="68" y="383"/>
                  </a:lnTo>
                  <a:lnTo>
                    <a:pt x="88" y="404"/>
                  </a:lnTo>
                  <a:lnTo>
                    <a:pt x="112" y="410"/>
                  </a:lnTo>
                  <a:lnTo>
                    <a:pt x="179" y="425"/>
                  </a:lnTo>
                  <a:lnTo>
                    <a:pt x="209" y="409"/>
                  </a:lnTo>
                  <a:lnTo>
                    <a:pt x="263" y="405"/>
                  </a:lnTo>
                  <a:lnTo>
                    <a:pt x="272" y="416"/>
                  </a:lnTo>
                  <a:lnTo>
                    <a:pt x="274" y="460"/>
                  </a:lnTo>
                  <a:lnTo>
                    <a:pt x="308" y="472"/>
                  </a:lnTo>
                  <a:lnTo>
                    <a:pt x="321" y="489"/>
                  </a:lnTo>
                  <a:lnTo>
                    <a:pt x="306" y="517"/>
                  </a:lnTo>
                  <a:lnTo>
                    <a:pt x="310" y="518"/>
                  </a:lnTo>
                  <a:lnTo>
                    <a:pt x="333" y="534"/>
                  </a:lnTo>
                  <a:lnTo>
                    <a:pt x="346" y="556"/>
                  </a:lnTo>
                  <a:lnTo>
                    <a:pt x="355" y="558"/>
                  </a:lnTo>
                  <a:lnTo>
                    <a:pt x="374" y="529"/>
                  </a:lnTo>
                  <a:lnTo>
                    <a:pt x="389" y="529"/>
                  </a:lnTo>
                  <a:lnTo>
                    <a:pt x="403" y="535"/>
                  </a:lnTo>
                  <a:lnTo>
                    <a:pt x="405" y="526"/>
                  </a:lnTo>
                  <a:lnTo>
                    <a:pt x="406" y="464"/>
                  </a:lnTo>
                  <a:lnTo>
                    <a:pt x="392" y="446"/>
                  </a:lnTo>
                  <a:lnTo>
                    <a:pt x="403" y="435"/>
                  </a:lnTo>
                  <a:lnTo>
                    <a:pt x="420" y="435"/>
                  </a:lnTo>
                  <a:lnTo>
                    <a:pt x="439" y="442"/>
                  </a:lnTo>
                  <a:lnTo>
                    <a:pt x="462" y="481"/>
                  </a:lnTo>
                  <a:lnTo>
                    <a:pt x="471" y="485"/>
                  </a:lnTo>
                  <a:lnTo>
                    <a:pt x="487" y="468"/>
                  </a:lnTo>
                  <a:lnTo>
                    <a:pt x="499" y="467"/>
                  </a:lnTo>
                  <a:lnTo>
                    <a:pt x="528" y="456"/>
                  </a:lnTo>
                  <a:lnTo>
                    <a:pt x="562" y="454"/>
                  </a:lnTo>
                  <a:lnTo>
                    <a:pt x="578" y="472"/>
                  </a:lnTo>
                  <a:lnTo>
                    <a:pt x="601" y="475"/>
                  </a:lnTo>
                  <a:lnTo>
                    <a:pt x="608" y="498"/>
                  </a:lnTo>
                  <a:lnTo>
                    <a:pt x="593" y="521"/>
                  </a:lnTo>
                  <a:lnTo>
                    <a:pt x="585" y="541"/>
                  </a:lnTo>
                  <a:lnTo>
                    <a:pt x="585" y="543"/>
                  </a:lnTo>
                  <a:lnTo>
                    <a:pt x="733" y="523"/>
                  </a:lnTo>
                  <a:lnTo>
                    <a:pt x="737" y="508"/>
                  </a:lnTo>
                  <a:lnTo>
                    <a:pt x="699" y="466"/>
                  </a:lnTo>
                  <a:lnTo>
                    <a:pt x="691" y="467"/>
                  </a:lnTo>
                  <a:lnTo>
                    <a:pt x="687" y="444"/>
                  </a:lnTo>
                  <a:lnTo>
                    <a:pt x="679" y="433"/>
                  </a:lnTo>
                  <a:lnTo>
                    <a:pt x="679" y="413"/>
                  </a:lnTo>
                  <a:lnTo>
                    <a:pt x="671" y="384"/>
                  </a:lnTo>
                  <a:lnTo>
                    <a:pt x="655" y="355"/>
                  </a:lnTo>
                  <a:lnTo>
                    <a:pt x="629" y="339"/>
                  </a:lnTo>
                  <a:lnTo>
                    <a:pt x="610" y="335"/>
                  </a:lnTo>
                  <a:lnTo>
                    <a:pt x="584" y="300"/>
                  </a:lnTo>
                  <a:lnTo>
                    <a:pt x="562" y="264"/>
                  </a:lnTo>
                  <a:lnTo>
                    <a:pt x="563" y="251"/>
                  </a:lnTo>
                  <a:lnTo>
                    <a:pt x="554" y="247"/>
                  </a:lnTo>
                  <a:lnTo>
                    <a:pt x="550" y="231"/>
                  </a:lnTo>
                  <a:lnTo>
                    <a:pt x="546" y="221"/>
                  </a:lnTo>
                  <a:lnTo>
                    <a:pt x="537" y="198"/>
                  </a:lnTo>
                  <a:lnTo>
                    <a:pt x="530" y="189"/>
                  </a:lnTo>
                  <a:lnTo>
                    <a:pt x="518" y="180"/>
                  </a:lnTo>
                  <a:lnTo>
                    <a:pt x="518" y="162"/>
                  </a:lnTo>
                  <a:lnTo>
                    <a:pt x="530" y="150"/>
                  </a:lnTo>
                  <a:lnTo>
                    <a:pt x="539" y="139"/>
                  </a:lnTo>
                  <a:lnTo>
                    <a:pt x="543" y="110"/>
                  </a:lnTo>
                  <a:lnTo>
                    <a:pt x="547" y="113"/>
                  </a:lnTo>
                  <a:lnTo>
                    <a:pt x="545" y="100"/>
                  </a:lnTo>
                  <a:lnTo>
                    <a:pt x="524" y="71"/>
                  </a:lnTo>
                  <a:lnTo>
                    <a:pt x="510" y="42"/>
                  </a:lnTo>
                  <a:lnTo>
                    <a:pt x="505" y="25"/>
                  </a:lnTo>
                  <a:lnTo>
                    <a:pt x="505" y="12"/>
                  </a:lnTo>
                  <a:lnTo>
                    <a:pt x="55" y="0"/>
                  </a:lnTo>
                  <a:close/>
                  <a:moveTo>
                    <a:pt x="201" y="538"/>
                  </a:moveTo>
                  <a:lnTo>
                    <a:pt x="184" y="573"/>
                  </a:lnTo>
                  <a:lnTo>
                    <a:pt x="184" y="573"/>
                  </a:lnTo>
                  <a:lnTo>
                    <a:pt x="201" y="5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D095B86-64D6-F9F6-8865-74B6B8646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7392" y="3500185"/>
              <a:ext cx="627063" cy="846137"/>
            </a:xfrm>
            <a:custGeom>
              <a:avLst/>
              <a:gdLst/>
              <a:ahLst/>
              <a:cxnLst>
                <a:cxn ang="0">
                  <a:pos x="261" y="0"/>
                </a:cxn>
                <a:cxn ang="0">
                  <a:pos x="253" y="10"/>
                </a:cxn>
                <a:cxn ang="0">
                  <a:pos x="223" y="15"/>
                </a:cxn>
                <a:cxn ang="0">
                  <a:pos x="217" y="27"/>
                </a:cxn>
                <a:cxn ang="0">
                  <a:pos x="200" y="33"/>
                </a:cxn>
                <a:cxn ang="0">
                  <a:pos x="185" y="20"/>
                </a:cxn>
                <a:cxn ang="0">
                  <a:pos x="180" y="44"/>
                </a:cxn>
                <a:cxn ang="0">
                  <a:pos x="161" y="49"/>
                </a:cxn>
                <a:cxn ang="0">
                  <a:pos x="117" y="46"/>
                </a:cxn>
                <a:cxn ang="0">
                  <a:pos x="104" y="36"/>
                </a:cxn>
                <a:cxn ang="0">
                  <a:pos x="106" y="42"/>
                </a:cxn>
                <a:cxn ang="0">
                  <a:pos x="72" y="58"/>
                </a:cxn>
                <a:cxn ang="0">
                  <a:pos x="56" y="75"/>
                </a:cxn>
                <a:cxn ang="0">
                  <a:pos x="33" y="77"/>
                </a:cxn>
                <a:cxn ang="0">
                  <a:pos x="17" y="65"/>
                </a:cxn>
                <a:cxn ang="0">
                  <a:pos x="6" y="72"/>
                </a:cxn>
                <a:cxn ang="0">
                  <a:pos x="0" y="99"/>
                </a:cxn>
                <a:cxn ang="0">
                  <a:pos x="9" y="142"/>
                </a:cxn>
                <a:cxn ang="0">
                  <a:pos x="25" y="158"/>
                </a:cxn>
                <a:cxn ang="0">
                  <a:pos x="30" y="186"/>
                </a:cxn>
                <a:cxn ang="0">
                  <a:pos x="30" y="230"/>
                </a:cxn>
                <a:cxn ang="0">
                  <a:pos x="26" y="260"/>
                </a:cxn>
                <a:cxn ang="0">
                  <a:pos x="47" y="270"/>
                </a:cxn>
                <a:cxn ang="0">
                  <a:pos x="85" y="277"/>
                </a:cxn>
                <a:cxn ang="0">
                  <a:pos x="109" y="277"/>
                </a:cxn>
                <a:cxn ang="0">
                  <a:pos x="119" y="294"/>
                </a:cxn>
                <a:cxn ang="0">
                  <a:pos x="135" y="298"/>
                </a:cxn>
                <a:cxn ang="0">
                  <a:pos x="149" y="303"/>
                </a:cxn>
                <a:cxn ang="0">
                  <a:pos x="158" y="297"/>
                </a:cxn>
                <a:cxn ang="0">
                  <a:pos x="190" y="321"/>
                </a:cxn>
                <a:cxn ang="0">
                  <a:pos x="202" y="342"/>
                </a:cxn>
                <a:cxn ang="0">
                  <a:pos x="225" y="402"/>
                </a:cxn>
                <a:cxn ang="0">
                  <a:pos x="226" y="403"/>
                </a:cxn>
                <a:cxn ang="0">
                  <a:pos x="296" y="405"/>
                </a:cxn>
                <a:cxn ang="0">
                  <a:pos x="296" y="362"/>
                </a:cxn>
                <a:cxn ang="0">
                  <a:pos x="300" y="326"/>
                </a:cxn>
                <a:cxn ang="0">
                  <a:pos x="295" y="290"/>
                </a:cxn>
                <a:cxn ang="0">
                  <a:pos x="284" y="275"/>
                </a:cxn>
                <a:cxn ang="0">
                  <a:pos x="283" y="251"/>
                </a:cxn>
                <a:cxn ang="0">
                  <a:pos x="280" y="191"/>
                </a:cxn>
                <a:cxn ang="0">
                  <a:pos x="284" y="165"/>
                </a:cxn>
                <a:cxn ang="0">
                  <a:pos x="275" y="166"/>
                </a:cxn>
                <a:cxn ang="0">
                  <a:pos x="257" y="144"/>
                </a:cxn>
                <a:cxn ang="0">
                  <a:pos x="258" y="131"/>
                </a:cxn>
                <a:cxn ang="0">
                  <a:pos x="245" y="124"/>
                </a:cxn>
                <a:cxn ang="0">
                  <a:pos x="240" y="107"/>
                </a:cxn>
                <a:cxn ang="0">
                  <a:pos x="240" y="91"/>
                </a:cxn>
                <a:cxn ang="0">
                  <a:pos x="250" y="80"/>
                </a:cxn>
                <a:cxn ang="0">
                  <a:pos x="264" y="79"/>
                </a:cxn>
                <a:cxn ang="0">
                  <a:pos x="277" y="61"/>
                </a:cxn>
                <a:cxn ang="0">
                  <a:pos x="269" y="36"/>
                </a:cxn>
                <a:cxn ang="0">
                  <a:pos x="277" y="11"/>
                </a:cxn>
                <a:cxn ang="0">
                  <a:pos x="261" y="0"/>
                </a:cxn>
              </a:cxnLst>
              <a:rect l="0" t="0" r="r" b="b"/>
              <a:pathLst>
                <a:path w="300" h="405">
                  <a:moveTo>
                    <a:pt x="261" y="0"/>
                  </a:moveTo>
                  <a:cubicBezTo>
                    <a:pt x="253" y="10"/>
                    <a:pt x="253" y="10"/>
                    <a:pt x="253" y="10"/>
                  </a:cubicBezTo>
                  <a:cubicBezTo>
                    <a:pt x="223" y="15"/>
                    <a:pt x="223" y="15"/>
                    <a:pt x="223" y="15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0" y="44"/>
                    <a:pt x="180" y="44"/>
                    <a:pt x="180" y="44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17" y="46"/>
                    <a:pt x="117" y="46"/>
                    <a:pt x="117" y="46"/>
                  </a:cubicBezTo>
                  <a:cubicBezTo>
                    <a:pt x="117" y="46"/>
                    <a:pt x="110" y="41"/>
                    <a:pt x="104" y="36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25" y="158"/>
                    <a:pt x="25" y="158"/>
                    <a:pt x="25" y="158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230"/>
                    <a:pt x="30" y="230"/>
                    <a:pt x="30" y="230"/>
                  </a:cubicBezTo>
                  <a:cubicBezTo>
                    <a:pt x="30" y="230"/>
                    <a:pt x="22" y="260"/>
                    <a:pt x="26" y="260"/>
                  </a:cubicBezTo>
                  <a:cubicBezTo>
                    <a:pt x="31" y="260"/>
                    <a:pt x="47" y="270"/>
                    <a:pt x="47" y="270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109" y="277"/>
                    <a:pt x="109" y="277"/>
                    <a:pt x="109" y="277"/>
                  </a:cubicBezTo>
                  <a:cubicBezTo>
                    <a:pt x="119" y="294"/>
                    <a:pt x="119" y="294"/>
                    <a:pt x="119" y="294"/>
                  </a:cubicBezTo>
                  <a:cubicBezTo>
                    <a:pt x="135" y="298"/>
                    <a:pt x="135" y="298"/>
                    <a:pt x="135" y="298"/>
                  </a:cubicBezTo>
                  <a:cubicBezTo>
                    <a:pt x="149" y="303"/>
                    <a:pt x="149" y="303"/>
                    <a:pt x="149" y="303"/>
                  </a:cubicBezTo>
                  <a:cubicBezTo>
                    <a:pt x="158" y="297"/>
                    <a:pt x="158" y="297"/>
                    <a:pt x="158" y="297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202" y="342"/>
                    <a:pt x="202" y="342"/>
                    <a:pt x="202" y="342"/>
                  </a:cubicBezTo>
                  <a:cubicBezTo>
                    <a:pt x="225" y="402"/>
                    <a:pt x="225" y="402"/>
                    <a:pt x="225" y="402"/>
                  </a:cubicBezTo>
                  <a:cubicBezTo>
                    <a:pt x="226" y="403"/>
                    <a:pt x="226" y="403"/>
                    <a:pt x="226" y="403"/>
                  </a:cubicBezTo>
                  <a:cubicBezTo>
                    <a:pt x="296" y="405"/>
                    <a:pt x="296" y="405"/>
                    <a:pt x="296" y="405"/>
                  </a:cubicBezTo>
                  <a:cubicBezTo>
                    <a:pt x="296" y="362"/>
                    <a:pt x="296" y="362"/>
                    <a:pt x="296" y="362"/>
                  </a:cubicBezTo>
                  <a:cubicBezTo>
                    <a:pt x="300" y="326"/>
                    <a:pt x="300" y="326"/>
                    <a:pt x="300" y="326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84" y="275"/>
                    <a:pt x="284" y="275"/>
                    <a:pt x="284" y="275"/>
                  </a:cubicBezTo>
                  <a:cubicBezTo>
                    <a:pt x="283" y="251"/>
                    <a:pt x="283" y="251"/>
                    <a:pt x="283" y="25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4" y="165"/>
                    <a:pt x="284" y="165"/>
                    <a:pt x="284" y="165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57" y="144"/>
                    <a:pt x="257" y="144"/>
                    <a:pt x="257" y="144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45" y="124"/>
                    <a:pt x="245" y="124"/>
                    <a:pt x="245" y="124"/>
                  </a:cubicBezTo>
                  <a:cubicBezTo>
                    <a:pt x="240" y="107"/>
                    <a:pt x="240" y="107"/>
                    <a:pt x="240" y="107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64" y="79"/>
                    <a:pt x="264" y="79"/>
                    <a:pt x="264" y="79"/>
                  </a:cubicBezTo>
                  <a:cubicBezTo>
                    <a:pt x="277" y="61"/>
                    <a:pt x="277" y="61"/>
                    <a:pt x="277" y="61"/>
                  </a:cubicBezTo>
                  <a:cubicBezTo>
                    <a:pt x="269" y="36"/>
                    <a:pt x="269" y="36"/>
                    <a:pt x="269" y="36"/>
                  </a:cubicBezTo>
                  <a:cubicBezTo>
                    <a:pt x="277" y="11"/>
                    <a:pt x="277" y="11"/>
                    <a:pt x="277" y="11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2A485335-CF45-934D-67E4-2562D20DD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1918" y="2804109"/>
              <a:ext cx="698562" cy="799073"/>
            </a:xfrm>
            <a:custGeom>
              <a:avLst/>
              <a:gdLst/>
              <a:ahLst/>
              <a:cxnLst>
                <a:cxn ang="0">
                  <a:pos x="285" y="8"/>
                </a:cxn>
                <a:cxn ang="0">
                  <a:pos x="268" y="17"/>
                </a:cxn>
                <a:cxn ang="0">
                  <a:pos x="240" y="23"/>
                </a:cxn>
                <a:cxn ang="0">
                  <a:pos x="247" y="36"/>
                </a:cxn>
                <a:cxn ang="0">
                  <a:pos x="229" y="37"/>
                </a:cxn>
                <a:cxn ang="0">
                  <a:pos x="198" y="41"/>
                </a:cxn>
                <a:cxn ang="0">
                  <a:pos x="143" y="44"/>
                </a:cxn>
                <a:cxn ang="0">
                  <a:pos x="108" y="24"/>
                </a:cxn>
                <a:cxn ang="0">
                  <a:pos x="76" y="30"/>
                </a:cxn>
                <a:cxn ang="0">
                  <a:pos x="46" y="44"/>
                </a:cxn>
                <a:cxn ang="0">
                  <a:pos x="74" y="53"/>
                </a:cxn>
                <a:cxn ang="0">
                  <a:pos x="93" y="101"/>
                </a:cxn>
                <a:cxn ang="0">
                  <a:pos x="71" y="153"/>
                </a:cxn>
                <a:cxn ang="0">
                  <a:pos x="59" y="172"/>
                </a:cxn>
                <a:cxn ang="0">
                  <a:pos x="75" y="192"/>
                </a:cxn>
                <a:cxn ang="0">
                  <a:pos x="62" y="245"/>
                </a:cxn>
                <a:cxn ang="0">
                  <a:pos x="3" y="236"/>
                </a:cxn>
                <a:cxn ang="0">
                  <a:pos x="4" y="285"/>
                </a:cxn>
                <a:cxn ang="0">
                  <a:pos x="43" y="327"/>
                </a:cxn>
                <a:cxn ang="0">
                  <a:pos x="63" y="360"/>
                </a:cxn>
                <a:cxn ang="0">
                  <a:pos x="126" y="358"/>
                </a:cxn>
                <a:cxn ang="0">
                  <a:pos x="146" y="347"/>
                </a:cxn>
                <a:cxn ang="0">
                  <a:pos x="169" y="329"/>
                </a:cxn>
                <a:cxn ang="0">
                  <a:pos x="207" y="314"/>
                </a:cxn>
                <a:cxn ang="0">
                  <a:pos x="241" y="301"/>
                </a:cxn>
                <a:cxn ang="0">
                  <a:pos x="273" y="284"/>
                </a:cxn>
                <a:cxn ang="0">
                  <a:pos x="269" y="239"/>
                </a:cxn>
                <a:cxn ang="0">
                  <a:pos x="276" y="205"/>
                </a:cxn>
                <a:cxn ang="0">
                  <a:pos x="279" y="174"/>
                </a:cxn>
                <a:cxn ang="0">
                  <a:pos x="286" y="118"/>
                </a:cxn>
                <a:cxn ang="0">
                  <a:pos x="297" y="97"/>
                </a:cxn>
                <a:cxn ang="0">
                  <a:pos x="317" y="59"/>
                </a:cxn>
                <a:cxn ang="0">
                  <a:pos x="315" y="22"/>
                </a:cxn>
                <a:cxn ang="0">
                  <a:pos x="298" y="20"/>
                </a:cxn>
                <a:cxn ang="0">
                  <a:pos x="296" y="0"/>
                </a:cxn>
              </a:cxnLst>
              <a:rect l="0" t="0" r="r" b="b"/>
              <a:pathLst>
                <a:path w="317" h="363">
                  <a:moveTo>
                    <a:pt x="296" y="0"/>
                  </a:moveTo>
                  <a:cubicBezTo>
                    <a:pt x="285" y="8"/>
                    <a:pt x="285" y="8"/>
                    <a:pt x="285" y="8"/>
                  </a:cubicBezTo>
                  <a:cubicBezTo>
                    <a:pt x="264" y="9"/>
                    <a:pt x="264" y="9"/>
                    <a:pt x="264" y="9"/>
                  </a:cubicBezTo>
                  <a:cubicBezTo>
                    <a:pt x="268" y="17"/>
                    <a:pt x="268" y="17"/>
                    <a:pt x="268" y="17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52" y="31"/>
                    <a:pt x="252" y="31"/>
                    <a:pt x="252" y="31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35" y="34"/>
                    <a:pt x="235" y="34"/>
                    <a:pt x="235" y="34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198" y="41"/>
                    <a:pt x="198" y="41"/>
                    <a:pt x="198" y="41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0" y="168"/>
                    <a:pt x="70" y="168"/>
                    <a:pt x="70" y="168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49" y="184"/>
                    <a:pt x="49" y="184"/>
                    <a:pt x="49" y="184"/>
                  </a:cubicBezTo>
                  <a:cubicBezTo>
                    <a:pt x="75" y="192"/>
                    <a:pt x="75" y="192"/>
                    <a:pt x="75" y="192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62" y="245"/>
                    <a:pt x="62" y="245"/>
                    <a:pt x="62" y="245"/>
                  </a:cubicBezTo>
                  <a:cubicBezTo>
                    <a:pt x="33" y="228"/>
                    <a:pt x="33" y="228"/>
                    <a:pt x="33" y="228"/>
                  </a:cubicBezTo>
                  <a:cubicBezTo>
                    <a:pt x="3" y="236"/>
                    <a:pt x="3" y="236"/>
                    <a:pt x="3" y="23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4" y="285"/>
                    <a:pt x="4" y="285"/>
                    <a:pt x="4" y="285"/>
                  </a:cubicBezTo>
                  <a:cubicBezTo>
                    <a:pt x="24" y="311"/>
                    <a:pt x="24" y="311"/>
                    <a:pt x="24" y="311"/>
                  </a:cubicBezTo>
                  <a:cubicBezTo>
                    <a:pt x="43" y="327"/>
                    <a:pt x="43" y="327"/>
                    <a:pt x="43" y="327"/>
                  </a:cubicBezTo>
                  <a:cubicBezTo>
                    <a:pt x="50" y="350"/>
                    <a:pt x="50" y="350"/>
                    <a:pt x="50" y="350"/>
                  </a:cubicBezTo>
                  <a:cubicBezTo>
                    <a:pt x="56" y="355"/>
                    <a:pt x="63" y="360"/>
                    <a:pt x="63" y="360"/>
                  </a:cubicBezTo>
                  <a:cubicBezTo>
                    <a:pt x="107" y="363"/>
                    <a:pt x="107" y="363"/>
                    <a:pt x="107" y="363"/>
                  </a:cubicBezTo>
                  <a:cubicBezTo>
                    <a:pt x="126" y="358"/>
                    <a:pt x="126" y="358"/>
                    <a:pt x="126" y="358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63" y="341"/>
                    <a:pt x="163" y="341"/>
                    <a:pt x="163" y="341"/>
                  </a:cubicBezTo>
                  <a:cubicBezTo>
                    <a:pt x="169" y="329"/>
                    <a:pt x="169" y="329"/>
                    <a:pt x="169" y="329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207" y="314"/>
                    <a:pt x="207" y="314"/>
                    <a:pt x="207" y="314"/>
                  </a:cubicBezTo>
                  <a:cubicBezTo>
                    <a:pt x="221" y="324"/>
                    <a:pt x="221" y="324"/>
                    <a:pt x="221" y="324"/>
                  </a:cubicBezTo>
                  <a:cubicBezTo>
                    <a:pt x="241" y="301"/>
                    <a:pt x="241" y="301"/>
                    <a:pt x="241" y="301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73" y="284"/>
                    <a:pt x="273" y="284"/>
                    <a:pt x="273" y="284"/>
                  </a:cubicBezTo>
                  <a:cubicBezTo>
                    <a:pt x="271" y="261"/>
                    <a:pt x="271" y="261"/>
                    <a:pt x="271" y="261"/>
                  </a:cubicBezTo>
                  <a:cubicBezTo>
                    <a:pt x="269" y="239"/>
                    <a:pt x="269" y="239"/>
                    <a:pt x="269" y="239"/>
                  </a:cubicBezTo>
                  <a:cubicBezTo>
                    <a:pt x="274" y="224"/>
                    <a:pt x="274" y="224"/>
                    <a:pt x="274" y="224"/>
                  </a:cubicBezTo>
                  <a:cubicBezTo>
                    <a:pt x="276" y="205"/>
                    <a:pt x="276" y="205"/>
                    <a:pt x="276" y="205"/>
                  </a:cubicBezTo>
                  <a:cubicBezTo>
                    <a:pt x="280" y="188"/>
                    <a:pt x="280" y="188"/>
                    <a:pt x="280" y="188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86" y="142"/>
                    <a:pt x="286" y="142"/>
                    <a:pt x="286" y="142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06"/>
                    <a:pt x="286" y="106"/>
                    <a:pt x="286" y="106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46"/>
                    <a:pt x="317" y="46"/>
                    <a:pt x="317" y="46"/>
                  </a:cubicBezTo>
                  <a:cubicBezTo>
                    <a:pt x="315" y="22"/>
                    <a:pt x="315" y="22"/>
                    <a:pt x="315" y="22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298" y="20"/>
                    <a:pt x="298" y="20"/>
                    <a:pt x="298" y="20"/>
                  </a:cubicBezTo>
                  <a:cubicBezTo>
                    <a:pt x="304" y="4"/>
                    <a:pt x="304" y="4"/>
                    <a:pt x="304" y="4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A2522E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FBC9117B-5B87-C89D-3AF2-5C8D7D22F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6202" y="2132012"/>
              <a:ext cx="1026903" cy="814150"/>
            </a:xfrm>
            <a:custGeom>
              <a:avLst/>
              <a:gdLst/>
              <a:ahLst/>
              <a:cxnLst>
                <a:cxn ang="0">
                  <a:pos x="368" y="1"/>
                </a:cxn>
                <a:cxn ang="0">
                  <a:pos x="346" y="23"/>
                </a:cxn>
                <a:cxn ang="0">
                  <a:pos x="341" y="61"/>
                </a:cxn>
                <a:cxn ang="0">
                  <a:pos x="320" y="67"/>
                </a:cxn>
                <a:cxn ang="0">
                  <a:pos x="319" y="100"/>
                </a:cxn>
                <a:cxn ang="0">
                  <a:pos x="317" y="143"/>
                </a:cxn>
                <a:cxn ang="0">
                  <a:pos x="294" y="165"/>
                </a:cxn>
                <a:cxn ang="0">
                  <a:pos x="270" y="176"/>
                </a:cxn>
                <a:cxn ang="0">
                  <a:pos x="249" y="176"/>
                </a:cxn>
                <a:cxn ang="0">
                  <a:pos x="255" y="144"/>
                </a:cxn>
                <a:cxn ang="0">
                  <a:pos x="234" y="149"/>
                </a:cxn>
                <a:cxn ang="0">
                  <a:pos x="189" y="159"/>
                </a:cxn>
                <a:cxn ang="0">
                  <a:pos x="152" y="160"/>
                </a:cxn>
                <a:cxn ang="0">
                  <a:pos x="112" y="154"/>
                </a:cxn>
                <a:cxn ang="0">
                  <a:pos x="106" y="216"/>
                </a:cxn>
                <a:cxn ang="0">
                  <a:pos x="66" y="227"/>
                </a:cxn>
                <a:cxn ang="0">
                  <a:pos x="48" y="223"/>
                </a:cxn>
                <a:cxn ang="0">
                  <a:pos x="20" y="229"/>
                </a:cxn>
                <a:cxn ang="0">
                  <a:pos x="25" y="260"/>
                </a:cxn>
                <a:cxn ang="0">
                  <a:pos x="0" y="255"/>
                </a:cxn>
                <a:cxn ang="0">
                  <a:pos x="33" y="290"/>
                </a:cxn>
                <a:cxn ang="0">
                  <a:pos x="58" y="332"/>
                </a:cxn>
                <a:cxn ang="0">
                  <a:pos x="66" y="357"/>
                </a:cxn>
                <a:cxn ang="0">
                  <a:pos x="86" y="354"/>
                </a:cxn>
                <a:cxn ang="0">
                  <a:pos x="114" y="350"/>
                </a:cxn>
                <a:cxn ang="0">
                  <a:pos x="173" y="361"/>
                </a:cxn>
                <a:cxn ang="0">
                  <a:pos x="202" y="360"/>
                </a:cxn>
                <a:cxn ang="0">
                  <a:pos x="228" y="359"/>
                </a:cxn>
                <a:cxn ang="0">
                  <a:pos x="245" y="356"/>
                </a:cxn>
                <a:cxn ang="0">
                  <a:pos x="239" y="337"/>
                </a:cxn>
                <a:cxn ang="0">
                  <a:pos x="257" y="334"/>
                </a:cxn>
                <a:cxn ang="0">
                  <a:pos x="289" y="325"/>
                </a:cxn>
                <a:cxn ang="0">
                  <a:pos x="291" y="345"/>
                </a:cxn>
                <a:cxn ang="0">
                  <a:pos x="308" y="347"/>
                </a:cxn>
                <a:cxn ang="0">
                  <a:pos x="330" y="337"/>
                </a:cxn>
                <a:cxn ang="0">
                  <a:pos x="351" y="304"/>
                </a:cxn>
                <a:cxn ang="0">
                  <a:pos x="370" y="300"/>
                </a:cxn>
                <a:cxn ang="0">
                  <a:pos x="360" y="293"/>
                </a:cxn>
                <a:cxn ang="0">
                  <a:pos x="370" y="275"/>
                </a:cxn>
                <a:cxn ang="0">
                  <a:pos x="384" y="254"/>
                </a:cxn>
                <a:cxn ang="0">
                  <a:pos x="427" y="212"/>
                </a:cxn>
                <a:cxn ang="0">
                  <a:pos x="446" y="202"/>
                </a:cxn>
                <a:cxn ang="0">
                  <a:pos x="466" y="183"/>
                </a:cxn>
                <a:cxn ang="0">
                  <a:pos x="458" y="170"/>
                </a:cxn>
                <a:cxn ang="0">
                  <a:pos x="429" y="154"/>
                </a:cxn>
                <a:cxn ang="0">
                  <a:pos x="413" y="157"/>
                </a:cxn>
                <a:cxn ang="0">
                  <a:pos x="410" y="126"/>
                </a:cxn>
                <a:cxn ang="0">
                  <a:pos x="406" y="84"/>
                </a:cxn>
                <a:cxn ang="0">
                  <a:pos x="421" y="45"/>
                </a:cxn>
                <a:cxn ang="0">
                  <a:pos x="416" y="26"/>
                </a:cxn>
                <a:cxn ang="0">
                  <a:pos x="400" y="7"/>
                </a:cxn>
                <a:cxn ang="0">
                  <a:pos x="382" y="0"/>
                </a:cxn>
              </a:cxnLst>
              <a:rect l="0" t="0" r="r" b="b"/>
              <a:pathLst>
                <a:path w="466" h="369">
                  <a:moveTo>
                    <a:pt x="382" y="0"/>
                  </a:moveTo>
                  <a:cubicBezTo>
                    <a:pt x="368" y="1"/>
                    <a:pt x="368" y="1"/>
                    <a:pt x="368" y="1"/>
                  </a:cubicBezTo>
                  <a:cubicBezTo>
                    <a:pt x="349" y="7"/>
                    <a:pt x="349" y="7"/>
                    <a:pt x="349" y="7"/>
                  </a:cubicBezTo>
                  <a:cubicBezTo>
                    <a:pt x="346" y="23"/>
                    <a:pt x="346" y="23"/>
                    <a:pt x="346" y="23"/>
                  </a:cubicBezTo>
                  <a:cubicBezTo>
                    <a:pt x="341" y="45"/>
                    <a:pt x="341" y="45"/>
                    <a:pt x="341" y="45"/>
                  </a:cubicBezTo>
                  <a:cubicBezTo>
                    <a:pt x="341" y="61"/>
                    <a:pt x="341" y="61"/>
                    <a:pt x="341" y="61"/>
                  </a:cubicBezTo>
                  <a:cubicBezTo>
                    <a:pt x="338" y="66"/>
                    <a:pt x="338" y="66"/>
                    <a:pt x="338" y="66"/>
                  </a:cubicBezTo>
                  <a:cubicBezTo>
                    <a:pt x="320" y="67"/>
                    <a:pt x="320" y="67"/>
                    <a:pt x="320" y="67"/>
                  </a:cubicBezTo>
                  <a:cubicBezTo>
                    <a:pt x="313" y="76"/>
                    <a:pt x="313" y="76"/>
                    <a:pt x="313" y="76"/>
                  </a:cubicBezTo>
                  <a:cubicBezTo>
                    <a:pt x="319" y="100"/>
                    <a:pt x="319" y="100"/>
                    <a:pt x="319" y="100"/>
                  </a:cubicBezTo>
                  <a:cubicBezTo>
                    <a:pt x="317" y="136"/>
                    <a:pt x="317" y="136"/>
                    <a:pt x="317" y="136"/>
                  </a:cubicBezTo>
                  <a:cubicBezTo>
                    <a:pt x="317" y="143"/>
                    <a:pt x="317" y="143"/>
                    <a:pt x="317" y="143"/>
                  </a:cubicBezTo>
                  <a:cubicBezTo>
                    <a:pt x="318" y="155"/>
                    <a:pt x="318" y="155"/>
                    <a:pt x="318" y="155"/>
                  </a:cubicBezTo>
                  <a:cubicBezTo>
                    <a:pt x="294" y="165"/>
                    <a:pt x="294" y="165"/>
                    <a:pt x="294" y="165"/>
                  </a:cubicBezTo>
                  <a:cubicBezTo>
                    <a:pt x="284" y="184"/>
                    <a:pt x="284" y="184"/>
                    <a:pt x="284" y="184"/>
                  </a:cubicBezTo>
                  <a:cubicBezTo>
                    <a:pt x="270" y="176"/>
                    <a:pt x="270" y="176"/>
                    <a:pt x="270" y="176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49" y="176"/>
                    <a:pt x="249" y="176"/>
                    <a:pt x="249" y="176"/>
                  </a:cubicBezTo>
                  <a:cubicBezTo>
                    <a:pt x="244" y="164"/>
                    <a:pt x="244" y="164"/>
                    <a:pt x="244" y="16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49" y="134"/>
                    <a:pt x="249" y="134"/>
                    <a:pt x="249" y="134"/>
                  </a:cubicBezTo>
                  <a:cubicBezTo>
                    <a:pt x="234" y="149"/>
                    <a:pt x="234" y="149"/>
                    <a:pt x="234" y="149"/>
                  </a:cubicBezTo>
                  <a:cubicBezTo>
                    <a:pt x="218" y="143"/>
                    <a:pt x="218" y="143"/>
                    <a:pt x="218" y="143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157" y="155"/>
                    <a:pt x="157" y="155"/>
                    <a:pt x="157" y="155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12" y="154"/>
                    <a:pt x="112" y="154"/>
                    <a:pt x="112" y="154"/>
                  </a:cubicBezTo>
                  <a:cubicBezTo>
                    <a:pt x="103" y="190"/>
                    <a:pt x="103" y="190"/>
                    <a:pt x="103" y="190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96" y="226"/>
                    <a:pt x="96" y="226"/>
                    <a:pt x="96" y="226"/>
                  </a:cubicBezTo>
                  <a:cubicBezTo>
                    <a:pt x="66" y="227"/>
                    <a:pt x="66" y="227"/>
                    <a:pt x="66" y="227"/>
                  </a:cubicBezTo>
                  <a:cubicBezTo>
                    <a:pt x="59" y="234"/>
                    <a:pt x="59" y="234"/>
                    <a:pt x="59" y="234"/>
                  </a:cubicBezTo>
                  <a:cubicBezTo>
                    <a:pt x="48" y="223"/>
                    <a:pt x="48" y="223"/>
                    <a:pt x="48" y="223"/>
                  </a:cubicBezTo>
                  <a:cubicBezTo>
                    <a:pt x="25" y="225"/>
                    <a:pt x="25" y="225"/>
                    <a:pt x="25" y="225"/>
                  </a:cubicBezTo>
                  <a:cubicBezTo>
                    <a:pt x="20" y="229"/>
                    <a:pt x="20" y="229"/>
                    <a:pt x="20" y="229"/>
                  </a:cubicBezTo>
                  <a:cubicBezTo>
                    <a:pt x="33" y="255"/>
                    <a:pt x="33" y="255"/>
                    <a:pt x="33" y="255"/>
                  </a:cubicBezTo>
                  <a:cubicBezTo>
                    <a:pt x="25" y="260"/>
                    <a:pt x="25" y="260"/>
                    <a:pt x="25" y="260"/>
                  </a:cubicBezTo>
                  <a:cubicBezTo>
                    <a:pt x="2" y="254"/>
                    <a:pt x="2" y="254"/>
                    <a:pt x="2" y="254"/>
                  </a:cubicBezTo>
                  <a:cubicBezTo>
                    <a:pt x="2" y="254"/>
                    <a:pt x="0" y="255"/>
                    <a:pt x="0" y="255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33" y="290"/>
                    <a:pt x="33" y="290"/>
                    <a:pt x="33" y="290"/>
                  </a:cubicBezTo>
                  <a:cubicBezTo>
                    <a:pt x="35" y="312"/>
                    <a:pt x="35" y="312"/>
                    <a:pt x="35" y="312"/>
                  </a:cubicBezTo>
                  <a:cubicBezTo>
                    <a:pt x="58" y="332"/>
                    <a:pt x="58" y="332"/>
                    <a:pt x="58" y="332"/>
                  </a:cubicBezTo>
                  <a:cubicBezTo>
                    <a:pt x="66" y="356"/>
                    <a:pt x="66" y="356"/>
                    <a:pt x="66" y="356"/>
                  </a:cubicBezTo>
                  <a:cubicBezTo>
                    <a:pt x="66" y="357"/>
                    <a:pt x="66" y="357"/>
                    <a:pt x="66" y="357"/>
                  </a:cubicBezTo>
                  <a:cubicBezTo>
                    <a:pt x="69" y="355"/>
                    <a:pt x="69" y="355"/>
                    <a:pt x="69" y="355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101" y="349"/>
                    <a:pt x="101" y="349"/>
                    <a:pt x="101" y="349"/>
                  </a:cubicBezTo>
                  <a:cubicBezTo>
                    <a:pt x="114" y="350"/>
                    <a:pt x="114" y="350"/>
                    <a:pt x="114" y="350"/>
                  </a:cubicBezTo>
                  <a:cubicBezTo>
                    <a:pt x="136" y="369"/>
                    <a:pt x="136" y="369"/>
                    <a:pt x="136" y="369"/>
                  </a:cubicBezTo>
                  <a:cubicBezTo>
                    <a:pt x="173" y="361"/>
                    <a:pt x="173" y="361"/>
                    <a:pt x="173" y="361"/>
                  </a:cubicBezTo>
                  <a:cubicBezTo>
                    <a:pt x="191" y="366"/>
                    <a:pt x="191" y="366"/>
                    <a:pt x="191" y="366"/>
                  </a:cubicBezTo>
                  <a:cubicBezTo>
                    <a:pt x="202" y="360"/>
                    <a:pt x="202" y="360"/>
                    <a:pt x="202" y="360"/>
                  </a:cubicBezTo>
                  <a:cubicBezTo>
                    <a:pt x="222" y="362"/>
                    <a:pt x="222" y="362"/>
                    <a:pt x="222" y="362"/>
                  </a:cubicBezTo>
                  <a:cubicBezTo>
                    <a:pt x="228" y="359"/>
                    <a:pt x="228" y="359"/>
                    <a:pt x="228" y="359"/>
                  </a:cubicBezTo>
                  <a:cubicBezTo>
                    <a:pt x="240" y="361"/>
                    <a:pt x="240" y="361"/>
                    <a:pt x="240" y="361"/>
                  </a:cubicBezTo>
                  <a:cubicBezTo>
                    <a:pt x="245" y="356"/>
                    <a:pt x="245" y="356"/>
                    <a:pt x="245" y="356"/>
                  </a:cubicBezTo>
                  <a:cubicBezTo>
                    <a:pt x="233" y="348"/>
                    <a:pt x="233" y="348"/>
                    <a:pt x="233" y="348"/>
                  </a:cubicBezTo>
                  <a:cubicBezTo>
                    <a:pt x="239" y="337"/>
                    <a:pt x="239" y="337"/>
                    <a:pt x="239" y="337"/>
                  </a:cubicBezTo>
                  <a:cubicBezTo>
                    <a:pt x="261" y="342"/>
                    <a:pt x="261" y="342"/>
                    <a:pt x="261" y="342"/>
                  </a:cubicBezTo>
                  <a:cubicBezTo>
                    <a:pt x="257" y="334"/>
                    <a:pt x="257" y="334"/>
                    <a:pt x="257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89" y="325"/>
                    <a:pt x="289" y="325"/>
                    <a:pt x="289" y="325"/>
                  </a:cubicBezTo>
                  <a:cubicBezTo>
                    <a:pt x="297" y="329"/>
                    <a:pt x="297" y="329"/>
                    <a:pt x="297" y="329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306" y="345"/>
                    <a:pt x="306" y="345"/>
                    <a:pt x="306" y="345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30" y="337"/>
                    <a:pt x="330" y="337"/>
                    <a:pt x="330" y="337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51" y="304"/>
                    <a:pt x="351" y="304"/>
                    <a:pt x="351" y="304"/>
                  </a:cubicBezTo>
                  <a:cubicBezTo>
                    <a:pt x="369" y="300"/>
                    <a:pt x="369" y="300"/>
                    <a:pt x="369" y="300"/>
                  </a:cubicBezTo>
                  <a:cubicBezTo>
                    <a:pt x="370" y="300"/>
                    <a:pt x="370" y="300"/>
                    <a:pt x="370" y="300"/>
                  </a:cubicBezTo>
                  <a:cubicBezTo>
                    <a:pt x="364" y="294"/>
                    <a:pt x="364" y="294"/>
                    <a:pt x="364" y="294"/>
                  </a:cubicBezTo>
                  <a:cubicBezTo>
                    <a:pt x="360" y="293"/>
                    <a:pt x="360" y="293"/>
                    <a:pt x="360" y="293"/>
                  </a:cubicBezTo>
                  <a:cubicBezTo>
                    <a:pt x="361" y="286"/>
                    <a:pt x="361" y="286"/>
                    <a:pt x="361" y="286"/>
                  </a:cubicBezTo>
                  <a:cubicBezTo>
                    <a:pt x="370" y="275"/>
                    <a:pt x="370" y="275"/>
                    <a:pt x="370" y="275"/>
                  </a:cubicBezTo>
                  <a:cubicBezTo>
                    <a:pt x="373" y="264"/>
                    <a:pt x="373" y="264"/>
                    <a:pt x="373" y="26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411" y="229"/>
                    <a:pt x="411" y="229"/>
                    <a:pt x="411" y="229"/>
                  </a:cubicBezTo>
                  <a:cubicBezTo>
                    <a:pt x="427" y="212"/>
                    <a:pt x="427" y="212"/>
                    <a:pt x="427" y="212"/>
                  </a:cubicBezTo>
                  <a:cubicBezTo>
                    <a:pt x="432" y="212"/>
                    <a:pt x="432" y="212"/>
                    <a:pt x="432" y="212"/>
                  </a:cubicBezTo>
                  <a:cubicBezTo>
                    <a:pt x="446" y="202"/>
                    <a:pt x="446" y="202"/>
                    <a:pt x="446" y="202"/>
                  </a:cubicBezTo>
                  <a:cubicBezTo>
                    <a:pt x="460" y="190"/>
                    <a:pt x="460" y="190"/>
                    <a:pt x="460" y="190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58" y="170"/>
                    <a:pt x="458" y="170"/>
                    <a:pt x="458" y="170"/>
                  </a:cubicBezTo>
                  <a:cubicBezTo>
                    <a:pt x="446" y="170"/>
                    <a:pt x="446" y="170"/>
                    <a:pt x="446" y="170"/>
                  </a:cubicBezTo>
                  <a:cubicBezTo>
                    <a:pt x="429" y="154"/>
                    <a:pt x="429" y="154"/>
                    <a:pt x="429" y="154"/>
                  </a:cubicBezTo>
                  <a:cubicBezTo>
                    <a:pt x="423" y="166"/>
                    <a:pt x="423" y="166"/>
                    <a:pt x="423" y="166"/>
                  </a:cubicBezTo>
                  <a:cubicBezTo>
                    <a:pt x="413" y="157"/>
                    <a:pt x="413" y="157"/>
                    <a:pt x="413" y="157"/>
                  </a:cubicBezTo>
                  <a:cubicBezTo>
                    <a:pt x="402" y="147"/>
                    <a:pt x="402" y="147"/>
                    <a:pt x="402" y="147"/>
                  </a:cubicBezTo>
                  <a:cubicBezTo>
                    <a:pt x="410" y="126"/>
                    <a:pt x="410" y="126"/>
                    <a:pt x="410" y="126"/>
                  </a:cubicBezTo>
                  <a:cubicBezTo>
                    <a:pt x="419" y="103"/>
                    <a:pt x="419" y="103"/>
                    <a:pt x="419" y="103"/>
                  </a:cubicBezTo>
                  <a:cubicBezTo>
                    <a:pt x="406" y="84"/>
                    <a:pt x="406" y="84"/>
                    <a:pt x="406" y="84"/>
                  </a:cubicBezTo>
                  <a:cubicBezTo>
                    <a:pt x="407" y="62"/>
                    <a:pt x="407" y="62"/>
                    <a:pt x="407" y="62"/>
                  </a:cubicBezTo>
                  <a:cubicBezTo>
                    <a:pt x="421" y="45"/>
                    <a:pt x="421" y="45"/>
                    <a:pt x="421" y="45"/>
                  </a:cubicBezTo>
                  <a:cubicBezTo>
                    <a:pt x="424" y="31"/>
                    <a:pt x="424" y="31"/>
                    <a:pt x="424" y="31"/>
                  </a:cubicBezTo>
                  <a:cubicBezTo>
                    <a:pt x="416" y="26"/>
                    <a:pt x="416" y="26"/>
                    <a:pt x="416" y="26"/>
                  </a:cubicBezTo>
                  <a:cubicBezTo>
                    <a:pt x="408" y="7"/>
                    <a:pt x="408" y="7"/>
                    <a:pt x="408" y="7"/>
                  </a:cubicBezTo>
                  <a:cubicBezTo>
                    <a:pt x="400" y="7"/>
                    <a:pt x="400" y="7"/>
                    <a:pt x="400" y="7"/>
                  </a:cubicBezTo>
                  <a:cubicBezTo>
                    <a:pt x="384" y="12"/>
                    <a:pt x="384" y="12"/>
                    <a:pt x="384" y="12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200" b="1" kern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DD6E623C-4DA5-BABA-0E69-8286FEE87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9093" y="1744746"/>
              <a:ext cx="988372" cy="955835"/>
            </a:xfrm>
            <a:custGeom>
              <a:avLst/>
              <a:gdLst/>
              <a:ahLst/>
              <a:cxnLst>
                <a:cxn ang="0">
                  <a:pos x="12" y="11"/>
                </a:cxn>
                <a:cxn ang="0">
                  <a:pos x="3" y="21"/>
                </a:cxn>
                <a:cxn ang="0">
                  <a:pos x="7" y="56"/>
                </a:cxn>
                <a:cxn ang="0">
                  <a:pos x="41" y="87"/>
                </a:cxn>
                <a:cxn ang="0">
                  <a:pos x="40" y="140"/>
                </a:cxn>
                <a:cxn ang="0">
                  <a:pos x="49" y="169"/>
                </a:cxn>
                <a:cxn ang="0">
                  <a:pos x="41" y="222"/>
                </a:cxn>
                <a:cxn ang="0">
                  <a:pos x="78" y="226"/>
                </a:cxn>
                <a:cxn ang="0">
                  <a:pos x="77" y="255"/>
                </a:cxn>
                <a:cxn ang="0">
                  <a:pos x="62" y="284"/>
                </a:cxn>
                <a:cxn ang="0">
                  <a:pos x="45" y="274"/>
                </a:cxn>
                <a:cxn ang="0">
                  <a:pos x="8" y="262"/>
                </a:cxn>
                <a:cxn ang="0">
                  <a:pos x="1" y="286"/>
                </a:cxn>
                <a:cxn ang="0">
                  <a:pos x="17" y="309"/>
                </a:cxn>
                <a:cxn ang="0">
                  <a:pos x="22" y="357"/>
                </a:cxn>
                <a:cxn ang="0">
                  <a:pos x="31" y="373"/>
                </a:cxn>
                <a:cxn ang="0">
                  <a:pos x="53" y="408"/>
                </a:cxn>
                <a:cxn ang="0">
                  <a:pos x="57" y="437"/>
                </a:cxn>
                <a:cxn ang="0">
                  <a:pos x="66" y="435"/>
                </a:cxn>
                <a:cxn ang="0">
                  <a:pos x="91" y="440"/>
                </a:cxn>
                <a:cxn ang="0">
                  <a:pos x="86" y="409"/>
                </a:cxn>
                <a:cxn ang="0">
                  <a:pos x="114" y="403"/>
                </a:cxn>
                <a:cxn ang="0">
                  <a:pos x="132" y="407"/>
                </a:cxn>
                <a:cxn ang="0">
                  <a:pos x="172" y="396"/>
                </a:cxn>
                <a:cxn ang="0">
                  <a:pos x="178" y="334"/>
                </a:cxn>
                <a:cxn ang="0">
                  <a:pos x="218" y="340"/>
                </a:cxn>
                <a:cxn ang="0">
                  <a:pos x="255" y="339"/>
                </a:cxn>
                <a:cxn ang="0">
                  <a:pos x="300" y="329"/>
                </a:cxn>
                <a:cxn ang="0">
                  <a:pos x="321" y="324"/>
                </a:cxn>
                <a:cxn ang="0">
                  <a:pos x="315" y="356"/>
                </a:cxn>
                <a:cxn ang="0">
                  <a:pos x="336" y="356"/>
                </a:cxn>
                <a:cxn ang="0">
                  <a:pos x="360" y="345"/>
                </a:cxn>
                <a:cxn ang="0">
                  <a:pos x="383" y="323"/>
                </a:cxn>
                <a:cxn ang="0">
                  <a:pos x="385" y="280"/>
                </a:cxn>
                <a:cxn ang="0">
                  <a:pos x="386" y="247"/>
                </a:cxn>
                <a:cxn ang="0">
                  <a:pos x="407" y="241"/>
                </a:cxn>
                <a:cxn ang="0">
                  <a:pos x="412" y="203"/>
                </a:cxn>
                <a:cxn ang="0">
                  <a:pos x="434" y="181"/>
                </a:cxn>
                <a:cxn ang="0">
                  <a:pos x="445" y="164"/>
                </a:cxn>
                <a:cxn ang="0">
                  <a:pos x="406" y="148"/>
                </a:cxn>
                <a:cxn ang="0">
                  <a:pos x="379" y="123"/>
                </a:cxn>
                <a:cxn ang="0">
                  <a:pos x="356" y="107"/>
                </a:cxn>
                <a:cxn ang="0">
                  <a:pos x="317" y="65"/>
                </a:cxn>
                <a:cxn ang="0">
                  <a:pos x="302" y="93"/>
                </a:cxn>
                <a:cxn ang="0">
                  <a:pos x="279" y="102"/>
                </a:cxn>
                <a:cxn ang="0">
                  <a:pos x="239" y="87"/>
                </a:cxn>
                <a:cxn ang="0">
                  <a:pos x="217" y="95"/>
                </a:cxn>
                <a:cxn ang="0">
                  <a:pos x="188" y="113"/>
                </a:cxn>
                <a:cxn ang="0">
                  <a:pos x="168" y="107"/>
                </a:cxn>
                <a:cxn ang="0">
                  <a:pos x="146" y="92"/>
                </a:cxn>
                <a:cxn ang="0">
                  <a:pos x="129" y="82"/>
                </a:cxn>
                <a:cxn ang="0">
                  <a:pos x="113" y="56"/>
                </a:cxn>
                <a:cxn ang="0">
                  <a:pos x="89" y="39"/>
                </a:cxn>
                <a:cxn ang="0">
                  <a:pos x="72" y="21"/>
                </a:cxn>
              </a:cxnLst>
              <a:rect l="0" t="0" r="r" b="b"/>
              <a:pathLst>
                <a:path w="448" h="440">
                  <a:moveTo>
                    <a:pt x="34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9" y="147"/>
                    <a:pt x="39" y="147"/>
                    <a:pt x="39" y="147"/>
                  </a:cubicBezTo>
                  <a:cubicBezTo>
                    <a:pt x="49" y="169"/>
                    <a:pt x="49" y="169"/>
                    <a:pt x="49" y="169"/>
                  </a:cubicBezTo>
                  <a:cubicBezTo>
                    <a:pt x="39" y="213"/>
                    <a:pt x="39" y="213"/>
                    <a:pt x="39" y="213"/>
                  </a:cubicBezTo>
                  <a:cubicBezTo>
                    <a:pt x="41" y="222"/>
                    <a:pt x="41" y="222"/>
                    <a:pt x="41" y="222"/>
                  </a:cubicBezTo>
                  <a:cubicBezTo>
                    <a:pt x="62" y="220"/>
                    <a:pt x="62" y="220"/>
                    <a:pt x="62" y="220"/>
                  </a:cubicBezTo>
                  <a:cubicBezTo>
                    <a:pt x="78" y="226"/>
                    <a:pt x="78" y="226"/>
                    <a:pt x="78" y="226"/>
                  </a:cubicBezTo>
                  <a:cubicBezTo>
                    <a:pt x="84" y="246"/>
                    <a:pt x="84" y="246"/>
                    <a:pt x="84" y="246"/>
                  </a:cubicBezTo>
                  <a:cubicBezTo>
                    <a:pt x="77" y="255"/>
                    <a:pt x="77" y="255"/>
                    <a:pt x="77" y="255"/>
                  </a:cubicBezTo>
                  <a:cubicBezTo>
                    <a:pt x="74" y="267"/>
                    <a:pt x="74" y="267"/>
                    <a:pt x="74" y="267"/>
                  </a:cubicBezTo>
                  <a:cubicBezTo>
                    <a:pt x="62" y="284"/>
                    <a:pt x="62" y="284"/>
                    <a:pt x="62" y="284"/>
                  </a:cubicBezTo>
                  <a:cubicBezTo>
                    <a:pt x="55" y="286"/>
                    <a:pt x="55" y="286"/>
                    <a:pt x="55" y="286"/>
                  </a:cubicBezTo>
                  <a:cubicBezTo>
                    <a:pt x="45" y="274"/>
                    <a:pt x="45" y="274"/>
                    <a:pt x="45" y="274"/>
                  </a:cubicBezTo>
                  <a:cubicBezTo>
                    <a:pt x="19" y="266"/>
                    <a:pt x="19" y="266"/>
                    <a:pt x="19" y="266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11" y="281"/>
                    <a:pt x="11" y="281"/>
                    <a:pt x="11" y="281"/>
                  </a:cubicBezTo>
                  <a:cubicBezTo>
                    <a:pt x="1" y="286"/>
                    <a:pt x="1" y="286"/>
                    <a:pt x="1" y="286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7" y="309"/>
                    <a:pt x="17" y="309"/>
                    <a:pt x="17" y="309"/>
                  </a:cubicBezTo>
                  <a:cubicBezTo>
                    <a:pt x="29" y="342"/>
                    <a:pt x="29" y="342"/>
                    <a:pt x="29" y="342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22" y="357"/>
                    <a:pt x="20" y="362"/>
                    <a:pt x="19" y="364"/>
                  </a:cubicBezTo>
                  <a:cubicBezTo>
                    <a:pt x="31" y="373"/>
                    <a:pt x="31" y="373"/>
                    <a:pt x="31" y="373"/>
                  </a:cubicBezTo>
                  <a:cubicBezTo>
                    <a:pt x="47" y="378"/>
                    <a:pt x="47" y="378"/>
                    <a:pt x="47" y="378"/>
                  </a:cubicBezTo>
                  <a:cubicBezTo>
                    <a:pt x="53" y="408"/>
                    <a:pt x="53" y="408"/>
                    <a:pt x="53" y="408"/>
                  </a:cubicBezTo>
                  <a:cubicBezTo>
                    <a:pt x="39" y="431"/>
                    <a:pt x="39" y="431"/>
                    <a:pt x="39" y="431"/>
                  </a:cubicBezTo>
                  <a:cubicBezTo>
                    <a:pt x="57" y="437"/>
                    <a:pt x="57" y="437"/>
                    <a:pt x="57" y="437"/>
                  </a:cubicBezTo>
                  <a:cubicBezTo>
                    <a:pt x="66" y="434"/>
                    <a:pt x="66" y="434"/>
                    <a:pt x="66" y="434"/>
                  </a:cubicBezTo>
                  <a:cubicBezTo>
                    <a:pt x="66" y="435"/>
                    <a:pt x="66" y="435"/>
                    <a:pt x="66" y="435"/>
                  </a:cubicBezTo>
                  <a:cubicBezTo>
                    <a:pt x="66" y="435"/>
                    <a:pt x="68" y="434"/>
                    <a:pt x="68" y="434"/>
                  </a:cubicBezTo>
                  <a:cubicBezTo>
                    <a:pt x="91" y="440"/>
                    <a:pt x="91" y="440"/>
                    <a:pt x="91" y="440"/>
                  </a:cubicBezTo>
                  <a:cubicBezTo>
                    <a:pt x="99" y="435"/>
                    <a:pt x="99" y="435"/>
                    <a:pt x="99" y="435"/>
                  </a:cubicBezTo>
                  <a:cubicBezTo>
                    <a:pt x="86" y="409"/>
                    <a:pt x="86" y="409"/>
                    <a:pt x="86" y="409"/>
                  </a:cubicBezTo>
                  <a:cubicBezTo>
                    <a:pt x="91" y="405"/>
                    <a:pt x="91" y="405"/>
                    <a:pt x="91" y="405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25" y="414"/>
                    <a:pt x="125" y="414"/>
                    <a:pt x="125" y="414"/>
                  </a:cubicBezTo>
                  <a:cubicBezTo>
                    <a:pt x="132" y="407"/>
                    <a:pt x="132" y="407"/>
                    <a:pt x="132" y="407"/>
                  </a:cubicBezTo>
                  <a:cubicBezTo>
                    <a:pt x="162" y="406"/>
                    <a:pt x="162" y="406"/>
                    <a:pt x="162" y="40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69" y="370"/>
                    <a:pt x="169" y="370"/>
                    <a:pt x="169" y="370"/>
                  </a:cubicBezTo>
                  <a:cubicBezTo>
                    <a:pt x="178" y="334"/>
                    <a:pt x="178" y="334"/>
                    <a:pt x="178" y="334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218" y="340"/>
                    <a:pt x="218" y="340"/>
                    <a:pt x="218" y="340"/>
                  </a:cubicBezTo>
                  <a:cubicBezTo>
                    <a:pt x="223" y="335"/>
                    <a:pt x="223" y="335"/>
                    <a:pt x="223" y="335"/>
                  </a:cubicBezTo>
                  <a:cubicBezTo>
                    <a:pt x="255" y="339"/>
                    <a:pt x="255" y="339"/>
                    <a:pt x="255" y="339"/>
                  </a:cubicBezTo>
                  <a:cubicBezTo>
                    <a:pt x="284" y="323"/>
                    <a:pt x="284" y="323"/>
                    <a:pt x="284" y="323"/>
                  </a:cubicBezTo>
                  <a:cubicBezTo>
                    <a:pt x="300" y="329"/>
                    <a:pt x="300" y="329"/>
                    <a:pt x="300" y="329"/>
                  </a:cubicBezTo>
                  <a:cubicBezTo>
                    <a:pt x="315" y="314"/>
                    <a:pt x="315" y="314"/>
                    <a:pt x="315" y="314"/>
                  </a:cubicBezTo>
                  <a:cubicBezTo>
                    <a:pt x="321" y="324"/>
                    <a:pt x="321" y="324"/>
                    <a:pt x="321" y="324"/>
                  </a:cubicBezTo>
                  <a:cubicBezTo>
                    <a:pt x="310" y="344"/>
                    <a:pt x="310" y="344"/>
                    <a:pt x="310" y="344"/>
                  </a:cubicBezTo>
                  <a:cubicBezTo>
                    <a:pt x="315" y="356"/>
                    <a:pt x="315" y="356"/>
                    <a:pt x="315" y="356"/>
                  </a:cubicBezTo>
                  <a:cubicBezTo>
                    <a:pt x="328" y="358"/>
                    <a:pt x="328" y="358"/>
                    <a:pt x="328" y="358"/>
                  </a:cubicBezTo>
                  <a:cubicBezTo>
                    <a:pt x="336" y="356"/>
                    <a:pt x="336" y="356"/>
                    <a:pt x="336" y="35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60" y="345"/>
                    <a:pt x="360" y="345"/>
                    <a:pt x="360" y="34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3" y="323"/>
                    <a:pt x="383" y="323"/>
                    <a:pt x="383" y="323"/>
                  </a:cubicBezTo>
                  <a:cubicBezTo>
                    <a:pt x="383" y="316"/>
                    <a:pt x="383" y="316"/>
                    <a:pt x="383" y="316"/>
                  </a:cubicBezTo>
                  <a:cubicBezTo>
                    <a:pt x="385" y="280"/>
                    <a:pt x="385" y="280"/>
                    <a:pt x="385" y="280"/>
                  </a:cubicBezTo>
                  <a:cubicBezTo>
                    <a:pt x="379" y="256"/>
                    <a:pt x="379" y="256"/>
                    <a:pt x="379" y="256"/>
                  </a:cubicBezTo>
                  <a:cubicBezTo>
                    <a:pt x="386" y="247"/>
                    <a:pt x="386" y="247"/>
                    <a:pt x="386" y="247"/>
                  </a:cubicBezTo>
                  <a:cubicBezTo>
                    <a:pt x="404" y="246"/>
                    <a:pt x="404" y="246"/>
                    <a:pt x="404" y="246"/>
                  </a:cubicBezTo>
                  <a:cubicBezTo>
                    <a:pt x="407" y="241"/>
                    <a:pt x="407" y="241"/>
                    <a:pt x="407" y="241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12" y="203"/>
                    <a:pt x="412" y="203"/>
                    <a:pt x="412" y="203"/>
                  </a:cubicBezTo>
                  <a:cubicBezTo>
                    <a:pt x="415" y="187"/>
                    <a:pt x="415" y="187"/>
                    <a:pt x="415" y="187"/>
                  </a:cubicBezTo>
                  <a:cubicBezTo>
                    <a:pt x="434" y="181"/>
                    <a:pt x="434" y="181"/>
                    <a:pt x="434" y="181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45" y="164"/>
                    <a:pt x="445" y="164"/>
                    <a:pt x="445" y="164"/>
                  </a:cubicBezTo>
                  <a:cubicBezTo>
                    <a:pt x="429" y="158"/>
                    <a:pt x="429" y="158"/>
                    <a:pt x="429" y="158"/>
                  </a:cubicBezTo>
                  <a:cubicBezTo>
                    <a:pt x="406" y="148"/>
                    <a:pt x="406" y="148"/>
                    <a:pt x="406" y="148"/>
                  </a:cubicBezTo>
                  <a:cubicBezTo>
                    <a:pt x="396" y="135"/>
                    <a:pt x="396" y="135"/>
                    <a:pt x="396" y="135"/>
                  </a:cubicBezTo>
                  <a:cubicBezTo>
                    <a:pt x="379" y="123"/>
                    <a:pt x="379" y="123"/>
                    <a:pt x="379" y="123"/>
                  </a:cubicBezTo>
                  <a:cubicBezTo>
                    <a:pt x="372" y="109"/>
                    <a:pt x="372" y="109"/>
                    <a:pt x="372" y="109"/>
                  </a:cubicBezTo>
                  <a:cubicBezTo>
                    <a:pt x="356" y="107"/>
                    <a:pt x="356" y="107"/>
                    <a:pt x="356" y="107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5" y="75"/>
                    <a:pt x="315" y="75"/>
                    <a:pt x="315" y="75"/>
                  </a:cubicBezTo>
                  <a:cubicBezTo>
                    <a:pt x="302" y="93"/>
                    <a:pt x="302" y="93"/>
                    <a:pt x="302" y="93"/>
                  </a:cubicBezTo>
                  <a:cubicBezTo>
                    <a:pt x="290" y="106"/>
                    <a:pt x="290" y="106"/>
                    <a:pt x="290" y="106"/>
                  </a:cubicBezTo>
                  <a:cubicBezTo>
                    <a:pt x="279" y="102"/>
                    <a:pt x="279" y="102"/>
                    <a:pt x="279" y="102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39" y="87"/>
                    <a:pt x="239" y="87"/>
                    <a:pt x="239" y="87"/>
                  </a:cubicBezTo>
                  <a:cubicBezTo>
                    <a:pt x="228" y="79"/>
                    <a:pt x="228" y="79"/>
                    <a:pt x="228" y="79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01" y="108"/>
                    <a:pt x="201" y="108"/>
                    <a:pt x="201" y="108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82"/>
                    <a:pt x="145" y="82"/>
                    <a:pt x="145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02" y="42"/>
                    <a:pt x="102" y="42"/>
                    <a:pt x="102" y="42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72" y="21"/>
                    <a:pt x="72" y="21"/>
                    <a:pt x="72" y="21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3E44724D-7168-3E02-A928-99192BB0E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854" y="1713999"/>
              <a:ext cx="1333463" cy="848530"/>
            </a:xfrm>
            <a:custGeom>
              <a:avLst/>
              <a:gdLst/>
              <a:ahLst/>
              <a:cxnLst>
                <a:cxn ang="0">
                  <a:pos x="350" y="7"/>
                </a:cxn>
                <a:cxn ang="0">
                  <a:pos x="345" y="27"/>
                </a:cxn>
                <a:cxn ang="0">
                  <a:pos x="319" y="41"/>
                </a:cxn>
                <a:cxn ang="0">
                  <a:pos x="297" y="43"/>
                </a:cxn>
                <a:cxn ang="0">
                  <a:pos x="261" y="54"/>
                </a:cxn>
                <a:cxn ang="0">
                  <a:pos x="229" y="32"/>
                </a:cxn>
                <a:cxn ang="0">
                  <a:pos x="111" y="85"/>
                </a:cxn>
                <a:cxn ang="0">
                  <a:pos x="82" y="77"/>
                </a:cxn>
                <a:cxn ang="0">
                  <a:pos x="56" y="66"/>
                </a:cxn>
                <a:cxn ang="0">
                  <a:pos x="22" y="109"/>
                </a:cxn>
                <a:cxn ang="0">
                  <a:pos x="10" y="122"/>
                </a:cxn>
                <a:cxn ang="0">
                  <a:pos x="32" y="160"/>
                </a:cxn>
                <a:cxn ang="0">
                  <a:pos x="69" y="187"/>
                </a:cxn>
                <a:cxn ang="0">
                  <a:pos x="128" y="185"/>
                </a:cxn>
                <a:cxn ang="0">
                  <a:pos x="112" y="209"/>
                </a:cxn>
                <a:cxn ang="0">
                  <a:pos x="93" y="204"/>
                </a:cxn>
                <a:cxn ang="0">
                  <a:pos x="72" y="213"/>
                </a:cxn>
                <a:cxn ang="0">
                  <a:pos x="46" y="220"/>
                </a:cxn>
                <a:cxn ang="0">
                  <a:pos x="11" y="240"/>
                </a:cxn>
                <a:cxn ang="0">
                  <a:pos x="36" y="252"/>
                </a:cxn>
                <a:cxn ang="0">
                  <a:pos x="50" y="270"/>
                </a:cxn>
                <a:cxn ang="0">
                  <a:pos x="66" y="251"/>
                </a:cxn>
                <a:cxn ang="0">
                  <a:pos x="61" y="279"/>
                </a:cxn>
                <a:cxn ang="0">
                  <a:pos x="56" y="299"/>
                </a:cxn>
                <a:cxn ang="0">
                  <a:pos x="52" y="319"/>
                </a:cxn>
                <a:cxn ang="0">
                  <a:pos x="102" y="336"/>
                </a:cxn>
                <a:cxn ang="0">
                  <a:pos x="136" y="365"/>
                </a:cxn>
                <a:cxn ang="0">
                  <a:pos x="161" y="375"/>
                </a:cxn>
                <a:cxn ang="0">
                  <a:pos x="195" y="384"/>
                </a:cxn>
                <a:cxn ang="0">
                  <a:pos x="266" y="353"/>
                </a:cxn>
                <a:cxn ang="0">
                  <a:pos x="305" y="368"/>
                </a:cxn>
                <a:cxn ang="0">
                  <a:pos x="373" y="373"/>
                </a:cxn>
                <a:cxn ang="0">
                  <a:pos x="433" y="345"/>
                </a:cxn>
                <a:cxn ang="0">
                  <a:pos x="455" y="387"/>
                </a:cxn>
                <a:cxn ang="0">
                  <a:pos x="483" y="381"/>
                </a:cxn>
                <a:cxn ang="0">
                  <a:pos x="516" y="366"/>
                </a:cxn>
                <a:cxn ang="0">
                  <a:pos x="540" y="382"/>
                </a:cxn>
                <a:cxn ang="0">
                  <a:pos x="550" y="360"/>
                </a:cxn>
                <a:cxn ang="0">
                  <a:pos x="521" y="314"/>
                </a:cxn>
                <a:cxn ang="0">
                  <a:pos x="532" y="299"/>
                </a:cxn>
                <a:cxn ang="0">
                  <a:pos x="540" y="284"/>
                </a:cxn>
                <a:cxn ang="0">
                  <a:pos x="576" y="304"/>
                </a:cxn>
                <a:cxn ang="0">
                  <a:pos x="595" y="285"/>
                </a:cxn>
                <a:cxn ang="0">
                  <a:pos x="605" y="264"/>
                </a:cxn>
                <a:cxn ang="0">
                  <a:pos x="583" y="238"/>
                </a:cxn>
                <a:cxn ang="0">
                  <a:pos x="560" y="231"/>
                </a:cxn>
                <a:cxn ang="0">
                  <a:pos x="560" y="165"/>
                </a:cxn>
                <a:cxn ang="0">
                  <a:pos x="557" y="139"/>
                </a:cxn>
                <a:cxn ang="0">
                  <a:pos x="548" y="91"/>
                </a:cxn>
                <a:cxn ang="0">
                  <a:pos x="524" y="39"/>
                </a:cxn>
                <a:cxn ang="0">
                  <a:pos x="482" y="38"/>
                </a:cxn>
                <a:cxn ang="0">
                  <a:pos x="439" y="14"/>
                </a:cxn>
                <a:cxn ang="0">
                  <a:pos x="390" y="14"/>
                </a:cxn>
              </a:cxnLst>
              <a:rect l="0" t="0" r="r" b="b"/>
              <a:pathLst>
                <a:path w="605" h="390">
                  <a:moveTo>
                    <a:pt x="374" y="0"/>
                  </a:moveTo>
                  <a:cubicBezTo>
                    <a:pt x="350" y="7"/>
                    <a:pt x="350" y="7"/>
                    <a:pt x="350" y="7"/>
                  </a:cubicBezTo>
                  <a:cubicBezTo>
                    <a:pt x="340" y="20"/>
                    <a:pt x="340" y="20"/>
                    <a:pt x="340" y="20"/>
                  </a:cubicBezTo>
                  <a:cubicBezTo>
                    <a:pt x="345" y="27"/>
                    <a:pt x="345" y="27"/>
                    <a:pt x="345" y="27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19" y="41"/>
                    <a:pt x="319" y="41"/>
                    <a:pt x="319" y="41"/>
                  </a:cubicBezTo>
                  <a:cubicBezTo>
                    <a:pt x="311" y="52"/>
                    <a:pt x="311" y="52"/>
                    <a:pt x="311" y="52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61" y="54"/>
                    <a:pt x="261" y="54"/>
                    <a:pt x="261" y="54"/>
                  </a:cubicBezTo>
                  <a:cubicBezTo>
                    <a:pt x="246" y="37"/>
                    <a:pt x="246" y="37"/>
                    <a:pt x="246" y="37"/>
                  </a:cubicBezTo>
                  <a:cubicBezTo>
                    <a:pt x="246" y="37"/>
                    <a:pt x="234" y="33"/>
                    <a:pt x="229" y="32"/>
                  </a:cubicBezTo>
                  <a:cubicBezTo>
                    <a:pt x="224" y="31"/>
                    <a:pt x="222" y="44"/>
                    <a:pt x="222" y="44"/>
                  </a:cubicBezTo>
                  <a:cubicBezTo>
                    <a:pt x="111" y="85"/>
                    <a:pt x="111" y="85"/>
                    <a:pt x="111" y="85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13" y="107"/>
                    <a:pt x="13" y="107"/>
                    <a:pt x="13" y="10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101" y="186"/>
                    <a:pt x="101" y="186"/>
                    <a:pt x="101" y="186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12" y="209"/>
                    <a:pt x="112" y="209"/>
                    <a:pt x="112" y="209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72" y="213"/>
                    <a:pt x="72" y="213"/>
                    <a:pt x="7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46" y="220"/>
                    <a:pt x="46" y="220"/>
                    <a:pt x="46" y="22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1" y="240"/>
                    <a:pt x="11" y="240"/>
                    <a:pt x="11" y="240"/>
                  </a:cubicBezTo>
                  <a:cubicBezTo>
                    <a:pt x="17" y="251"/>
                    <a:pt x="17" y="251"/>
                    <a:pt x="17" y="251"/>
                  </a:cubicBezTo>
                  <a:cubicBezTo>
                    <a:pt x="36" y="252"/>
                    <a:pt x="36" y="252"/>
                    <a:pt x="36" y="252"/>
                  </a:cubicBezTo>
                  <a:cubicBezTo>
                    <a:pt x="33" y="274"/>
                    <a:pt x="33" y="274"/>
                    <a:pt x="33" y="274"/>
                  </a:cubicBezTo>
                  <a:cubicBezTo>
                    <a:pt x="50" y="270"/>
                    <a:pt x="50" y="270"/>
                    <a:pt x="50" y="270"/>
                  </a:cubicBezTo>
                  <a:cubicBezTo>
                    <a:pt x="55" y="260"/>
                    <a:pt x="55" y="260"/>
                    <a:pt x="55" y="260"/>
                  </a:cubicBezTo>
                  <a:cubicBezTo>
                    <a:pt x="66" y="251"/>
                    <a:pt x="66" y="251"/>
                    <a:pt x="66" y="251"/>
                  </a:cubicBezTo>
                  <a:cubicBezTo>
                    <a:pt x="68" y="265"/>
                    <a:pt x="68" y="265"/>
                    <a:pt x="68" y="265"/>
                  </a:cubicBezTo>
                  <a:cubicBezTo>
                    <a:pt x="61" y="279"/>
                    <a:pt x="61" y="279"/>
                    <a:pt x="61" y="279"/>
                  </a:cubicBezTo>
                  <a:cubicBezTo>
                    <a:pt x="62" y="290"/>
                    <a:pt x="62" y="290"/>
                    <a:pt x="62" y="290"/>
                  </a:cubicBezTo>
                  <a:cubicBezTo>
                    <a:pt x="56" y="299"/>
                    <a:pt x="56" y="299"/>
                    <a:pt x="56" y="299"/>
                  </a:cubicBezTo>
                  <a:cubicBezTo>
                    <a:pt x="61" y="310"/>
                    <a:pt x="61" y="310"/>
                    <a:pt x="61" y="310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36"/>
                    <a:pt x="78" y="336"/>
                    <a:pt x="78" y="336"/>
                  </a:cubicBezTo>
                  <a:cubicBezTo>
                    <a:pt x="102" y="336"/>
                    <a:pt x="102" y="336"/>
                    <a:pt x="102" y="336"/>
                  </a:cubicBezTo>
                  <a:cubicBezTo>
                    <a:pt x="134" y="355"/>
                    <a:pt x="134" y="355"/>
                    <a:pt x="134" y="355"/>
                  </a:cubicBezTo>
                  <a:cubicBezTo>
                    <a:pt x="136" y="365"/>
                    <a:pt x="136" y="365"/>
                    <a:pt x="136" y="365"/>
                  </a:cubicBezTo>
                  <a:cubicBezTo>
                    <a:pt x="144" y="368"/>
                    <a:pt x="144" y="368"/>
                    <a:pt x="144" y="368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77" y="371"/>
                    <a:pt x="177" y="371"/>
                    <a:pt x="177" y="371"/>
                  </a:cubicBezTo>
                  <a:cubicBezTo>
                    <a:pt x="195" y="384"/>
                    <a:pt x="195" y="384"/>
                    <a:pt x="195" y="384"/>
                  </a:cubicBezTo>
                  <a:cubicBezTo>
                    <a:pt x="223" y="360"/>
                    <a:pt x="223" y="360"/>
                    <a:pt x="223" y="360"/>
                  </a:cubicBezTo>
                  <a:cubicBezTo>
                    <a:pt x="266" y="353"/>
                    <a:pt x="266" y="353"/>
                    <a:pt x="266" y="353"/>
                  </a:cubicBezTo>
                  <a:cubicBezTo>
                    <a:pt x="289" y="357"/>
                    <a:pt x="289" y="357"/>
                    <a:pt x="289" y="357"/>
                  </a:cubicBezTo>
                  <a:cubicBezTo>
                    <a:pt x="305" y="368"/>
                    <a:pt x="305" y="368"/>
                    <a:pt x="305" y="368"/>
                  </a:cubicBezTo>
                  <a:cubicBezTo>
                    <a:pt x="330" y="359"/>
                    <a:pt x="330" y="359"/>
                    <a:pt x="330" y="359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395" y="355"/>
                    <a:pt x="395" y="355"/>
                    <a:pt x="395" y="355"/>
                  </a:cubicBezTo>
                  <a:cubicBezTo>
                    <a:pt x="433" y="345"/>
                    <a:pt x="433" y="345"/>
                    <a:pt x="433" y="345"/>
                  </a:cubicBezTo>
                  <a:cubicBezTo>
                    <a:pt x="450" y="362"/>
                    <a:pt x="450" y="362"/>
                    <a:pt x="450" y="362"/>
                  </a:cubicBezTo>
                  <a:cubicBezTo>
                    <a:pt x="455" y="387"/>
                    <a:pt x="455" y="387"/>
                    <a:pt x="455" y="387"/>
                  </a:cubicBezTo>
                  <a:cubicBezTo>
                    <a:pt x="468" y="390"/>
                    <a:pt x="468" y="390"/>
                    <a:pt x="468" y="390"/>
                  </a:cubicBezTo>
                  <a:cubicBezTo>
                    <a:pt x="483" y="381"/>
                    <a:pt x="483" y="381"/>
                    <a:pt x="483" y="381"/>
                  </a:cubicBezTo>
                  <a:cubicBezTo>
                    <a:pt x="496" y="366"/>
                    <a:pt x="496" y="366"/>
                    <a:pt x="496" y="366"/>
                  </a:cubicBezTo>
                  <a:cubicBezTo>
                    <a:pt x="516" y="366"/>
                    <a:pt x="516" y="366"/>
                    <a:pt x="516" y="366"/>
                  </a:cubicBezTo>
                  <a:cubicBezTo>
                    <a:pt x="535" y="379"/>
                    <a:pt x="535" y="379"/>
                    <a:pt x="535" y="379"/>
                  </a:cubicBezTo>
                  <a:cubicBezTo>
                    <a:pt x="540" y="382"/>
                    <a:pt x="540" y="382"/>
                    <a:pt x="540" y="382"/>
                  </a:cubicBezTo>
                  <a:cubicBezTo>
                    <a:pt x="541" y="380"/>
                    <a:pt x="543" y="375"/>
                    <a:pt x="543" y="375"/>
                  </a:cubicBezTo>
                  <a:cubicBezTo>
                    <a:pt x="550" y="360"/>
                    <a:pt x="550" y="360"/>
                    <a:pt x="550" y="360"/>
                  </a:cubicBezTo>
                  <a:cubicBezTo>
                    <a:pt x="538" y="327"/>
                    <a:pt x="538" y="327"/>
                    <a:pt x="538" y="327"/>
                  </a:cubicBezTo>
                  <a:cubicBezTo>
                    <a:pt x="521" y="314"/>
                    <a:pt x="521" y="314"/>
                    <a:pt x="521" y="314"/>
                  </a:cubicBezTo>
                  <a:cubicBezTo>
                    <a:pt x="522" y="304"/>
                    <a:pt x="522" y="304"/>
                    <a:pt x="522" y="304"/>
                  </a:cubicBezTo>
                  <a:cubicBezTo>
                    <a:pt x="532" y="299"/>
                    <a:pt x="532" y="299"/>
                    <a:pt x="532" y="299"/>
                  </a:cubicBezTo>
                  <a:cubicBezTo>
                    <a:pt x="529" y="280"/>
                    <a:pt x="529" y="280"/>
                    <a:pt x="529" y="280"/>
                  </a:cubicBezTo>
                  <a:cubicBezTo>
                    <a:pt x="540" y="284"/>
                    <a:pt x="540" y="284"/>
                    <a:pt x="540" y="284"/>
                  </a:cubicBezTo>
                  <a:cubicBezTo>
                    <a:pt x="566" y="292"/>
                    <a:pt x="566" y="292"/>
                    <a:pt x="566" y="292"/>
                  </a:cubicBezTo>
                  <a:cubicBezTo>
                    <a:pt x="576" y="304"/>
                    <a:pt x="576" y="304"/>
                    <a:pt x="576" y="304"/>
                  </a:cubicBezTo>
                  <a:cubicBezTo>
                    <a:pt x="583" y="302"/>
                    <a:pt x="583" y="302"/>
                    <a:pt x="583" y="302"/>
                  </a:cubicBezTo>
                  <a:cubicBezTo>
                    <a:pt x="595" y="285"/>
                    <a:pt x="595" y="285"/>
                    <a:pt x="595" y="285"/>
                  </a:cubicBezTo>
                  <a:cubicBezTo>
                    <a:pt x="598" y="273"/>
                    <a:pt x="598" y="273"/>
                    <a:pt x="598" y="273"/>
                  </a:cubicBezTo>
                  <a:cubicBezTo>
                    <a:pt x="605" y="264"/>
                    <a:pt x="605" y="264"/>
                    <a:pt x="605" y="264"/>
                  </a:cubicBezTo>
                  <a:cubicBezTo>
                    <a:pt x="599" y="244"/>
                    <a:pt x="599" y="244"/>
                    <a:pt x="599" y="244"/>
                  </a:cubicBezTo>
                  <a:cubicBezTo>
                    <a:pt x="583" y="238"/>
                    <a:pt x="583" y="238"/>
                    <a:pt x="583" y="23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0" y="231"/>
                    <a:pt x="560" y="231"/>
                    <a:pt x="560" y="231"/>
                  </a:cubicBezTo>
                  <a:cubicBezTo>
                    <a:pt x="570" y="187"/>
                    <a:pt x="570" y="187"/>
                    <a:pt x="570" y="187"/>
                  </a:cubicBezTo>
                  <a:cubicBezTo>
                    <a:pt x="560" y="165"/>
                    <a:pt x="560" y="165"/>
                    <a:pt x="560" y="165"/>
                  </a:cubicBezTo>
                  <a:cubicBezTo>
                    <a:pt x="561" y="158"/>
                    <a:pt x="561" y="158"/>
                    <a:pt x="561" y="158"/>
                  </a:cubicBezTo>
                  <a:cubicBezTo>
                    <a:pt x="557" y="139"/>
                    <a:pt x="557" y="139"/>
                    <a:pt x="557" y="139"/>
                  </a:cubicBezTo>
                  <a:cubicBezTo>
                    <a:pt x="562" y="105"/>
                    <a:pt x="562" y="105"/>
                    <a:pt x="562" y="105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28" y="74"/>
                    <a:pt x="528" y="74"/>
                    <a:pt x="528" y="74"/>
                  </a:cubicBezTo>
                  <a:cubicBezTo>
                    <a:pt x="524" y="39"/>
                    <a:pt x="524" y="39"/>
                    <a:pt x="524" y="39"/>
                  </a:cubicBezTo>
                  <a:cubicBezTo>
                    <a:pt x="515" y="33"/>
                    <a:pt x="515" y="33"/>
                    <a:pt x="515" y="33"/>
                  </a:cubicBezTo>
                  <a:cubicBezTo>
                    <a:pt x="482" y="38"/>
                    <a:pt x="482" y="38"/>
                    <a:pt x="482" y="38"/>
                  </a:cubicBezTo>
                  <a:cubicBezTo>
                    <a:pt x="466" y="27"/>
                    <a:pt x="466" y="27"/>
                    <a:pt x="466" y="27"/>
                  </a:cubicBezTo>
                  <a:cubicBezTo>
                    <a:pt x="439" y="14"/>
                    <a:pt x="439" y="14"/>
                    <a:pt x="439" y="14"/>
                  </a:cubicBezTo>
                  <a:cubicBezTo>
                    <a:pt x="411" y="19"/>
                    <a:pt x="411" y="19"/>
                    <a:pt x="411" y="19"/>
                  </a:cubicBezTo>
                  <a:cubicBezTo>
                    <a:pt x="390" y="14"/>
                    <a:pt x="390" y="14"/>
                    <a:pt x="390" y="14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96B190FF-6515-B38C-F3FA-02822D369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5920" y="2249809"/>
              <a:ext cx="1134116" cy="696886"/>
            </a:xfrm>
            <a:custGeom>
              <a:avLst/>
              <a:gdLst/>
              <a:ahLst/>
              <a:cxnLst>
                <a:cxn ang="0">
                  <a:pos x="568" y="12"/>
                </a:cxn>
                <a:cxn ang="0">
                  <a:pos x="539" y="30"/>
                </a:cxn>
                <a:cxn ang="0">
                  <a:pos x="535" y="31"/>
                </a:cxn>
                <a:cxn ang="0">
                  <a:pos x="500" y="38"/>
                </a:cxn>
                <a:cxn ang="0">
                  <a:pos x="451" y="67"/>
                </a:cxn>
                <a:cxn ang="0">
                  <a:pos x="411" y="73"/>
                </a:cxn>
                <a:cxn ang="0">
                  <a:pos x="331" y="55"/>
                </a:cxn>
                <a:cxn ang="0">
                  <a:pos x="272" y="52"/>
                </a:cxn>
                <a:cxn ang="0">
                  <a:pos x="217" y="40"/>
                </a:cxn>
                <a:cxn ang="0">
                  <a:pos x="239" y="113"/>
                </a:cxn>
                <a:cxn ang="0">
                  <a:pos x="205" y="155"/>
                </a:cxn>
                <a:cxn ang="0">
                  <a:pos x="134" y="169"/>
                </a:cxn>
                <a:cxn ang="0">
                  <a:pos x="83" y="234"/>
                </a:cxn>
                <a:cxn ang="0">
                  <a:pos x="25" y="263"/>
                </a:cxn>
                <a:cxn ang="0">
                  <a:pos x="0" y="316"/>
                </a:cxn>
                <a:cxn ang="0">
                  <a:pos x="83" y="296"/>
                </a:cxn>
                <a:cxn ang="0">
                  <a:pos x="127" y="267"/>
                </a:cxn>
                <a:cxn ang="0">
                  <a:pos x="197" y="271"/>
                </a:cxn>
                <a:cxn ang="0">
                  <a:pos x="217" y="314"/>
                </a:cxn>
                <a:cxn ang="0">
                  <a:pos x="259" y="346"/>
                </a:cxn>
                <a:cxn ang="0">
                  <a:pos x="272" y="369"/>
                </a:cxn>
                <a:cxn ang="0">
                  <a:pos x="361" y="416"/>
                </a:cxn>
                <a:cxn ang="0">
                  <a:pos x="405" y="381"/>
                </a:cxn>
                <a:cxn ang="0">
                  <a:pos x="430" y="387"/>
                </a:cxn>
                <a:cxn ang="0">
                  <a:pos x="427" y="334"/>
                </a:cxn>
                <a:cxn ang="0">
                  <a:pos x="418" y="306"/>
                </a:cxn>
                <a:cxn ang="0">
                  <a:pos x="410" y="260"/>
                </a:cxn>
                <a:cxn ang="0">
                  <a:pos x="447" y="252"/>
                </a:cxn>
                <a:cxn ang="0">
                  <a:pos x="493" y="238"/>
                </a:cxn>
                <a:cxn ang="0">
                  <a:pos x="492" y="208"/>
                </a:cxn>
                <a:cxn ang="0">
                  <a:pos x="485" y="164"/>
                </a:cxn>
                <a:cxn ang="0">
                  <a:pos x="538" y="194"/>
                </a:cxn>
                <a:cxn ang="0">
                  <a:pos x="575" y="169"/>
                </a:cxn>
                <a:cxn ang="0">
                  <a:pos x="634" y="151"/>
                </a:cxn>
                <a:cxn ang="0">
                  <a:pos x="672" y="137"/>
                </a:cxn>
                <a:cxn ang="0">
                  <a:pos x="598" y="112"/>
                </a:cxn>
                <a:cxn ang="0">
                  <a:pos x="576" y="77"/>
                </a:cxn>
                <a:cxn ang="0">
                  <a:pos x="577" y="51"/>
                </a:cxn>
                <a:cxn ang="0">
                  <a:pos x="585" y="18"/>
                </a:cxn>
              </a:cxnLst>
              <a:rect l="0" t="0" r="r" b="b"/>
              <a:pathLst>
                <a:path w="677" h="416">
                  <a:moveTo>
                    <a:pt x="583" y="0"/>
                  </a:moveTo>
                  <a:lnTo>
                    <a:pt x="568" y="12"/>
                  </a:lnTo>
                  <a:lnTo>
                    <a:pt x="561" y="25"/>
                  </a:lnTo>
                  <a:lnTo>
                    <a:pt x="539" y="30"/>
                  </a:lnTo>
                  <a:lnTo>
                    <a:pt x="539" y="26"/>
                  </a:lnTo>
                  <a:lnTo>
                    <a:pt x="535" y="31"/>
                  </a:lnTo>
                  <a:lnTo>
                    <a:pt x="517" y="39"/>
                  </a:lnTo>
                  <a:lnTo>
                    <a:pt x="500" y="38"/>
                  </a:lnTo>
                  <a:lnTo>
                    <a:pt x="467" y="67"/>
                  </a:lnTo>
                  <a:lnTo>
                    <a:pt x="451" y="67"/>
                  </a:lnTo>
                  <a:lnTo>
                    <a:pt x="436" y="60"/>
                  </a:lnTo>
                  <a:lnTo>
                    <a:pt x="411" y="73"/>
                  </a:lnTo>
                  <a:lnTo>
                    <a:pt x="383" y="76"/>
                  </a:lnTo>
                  <a:lnTo>
                    <a:pt x="331" y="55"/>
                  </a:lnTo>
                  <a:lnTo>
                    <a:pt x="309" y="43"/>
                  </a:lnTo>
                  <a:lnTo>
                    <a:pt x="272" y="52"/>
                  </a:lnTo>
                  <a:lnTo>
                    <a:pt x="225" y="37"/>
                  </a:lnTo>
                  <a:lnTo>
                    <a:pt x="217" y="40"/>
                  </a:lnTo>
                  <a:lnTo>
                    <a:pt x="230" y="80"/>
                  </a:lnTo>
                  <a:lnTo>
                    <a:pt x="239" y="113"/>
                  </a:lnTo>
                  <a:lnTo>
                    <a:pt x="233" y="143"/>
                  </a:lnTo>
                  <a:lnTo>
                    <a:pt x="205" y="155"/>
                  </a:lnTo>
                  <a:lnTo>
                    <a:pt x="161" y="154"/>
                  </a:lnTo>
                  <a:lnTo>
                    <a:pt x="134" y="169"/>
                  </a:lnTo>
                  <a:lnTo>
                    <a:pt x="96" y="221"/>
                  </a:lnTo>
                  <a:lnTo>
                    <a:pt x="83" y="234"/>
                  </a:lnTo>
                  <a:lnTo>
                    <a:pt x="47" y="251"/>
                  </a:lnTo>
                  <a:lnTo>
                    <a:pt x="25" y="263"/>
                  </a:lnTo>
                  <a:lnTo>
                    <a:pt x="1" y="287"/>
                  </a:lnTo>
                  <a:lnTo>
                    <a:pt x="0" y="316"/>
                  </a:lnTo>
                  <a:lnTo>
                    <a:pt x="25" y="306"/>
                  </a:lnTo>
                  <a:lnTo>
                    <a:pt x="83" y="296"/>
                  </a:lnTo>
                  <a:lnTo>
                    <a:pt x="113" y="281"/>
                  </a:lnTo>
                  <a:lnTo>
                    <a:pt x="127" y="267"/>
                  </a:lnTo>
                  <a:lnTo>
                    <a:pt x="152" y="264"/>
                  </a:lnTo>
                  <a:lnTo>
                    <a:pt x="197" y="271"/>
                  </a:lnTo>
                  <a:lnTo>
                    <a:pt x="217" y="281"/>
                  </a:lnTo>
                  <a:lnTo>
                    <a:pt x="217" y="314"/>
                  </a:lnTo>
                  <a:lnTo>
                    <a:pt x="225" y="343"/>
                  </a:lnTo>
                  <a:lnTo>
                    <a:pt x="259" y="346"/>
                  </a:lnTo>
                  <a:lnTo>
                    <a:pt x="269" y="358"/>
                  </a:lnTo>
                  <a:lnTo>
                    <a:pt x="272" y="369"/>
                  </a:lnTo>
                  <a:lnTo>
                    <a:pt x="286" y="375"/>
                  </a:lnTo>
                  <a:lnTo>
                    <a:pt x="361" y="416"/>
                  </a:lnTo>
                  <a:lnTo>
                    <a:pt x="375" y="392"/>
                  </a:lnTo>
                  <a:lnTo>
                    <a:pt x="405" y="381"/>
                  </a:lnTo>
                  <a:lnTo>
                    <a:pt x="419" y="383"/>
                  </a:lnTo>
                  <a:lnTo>
                    <a:pt x="430" y="387"/>
                  </a:lnTo>
                  <a:lnTo>
                    <a:pt x="440" y="376"/>
                  </a:lnTo>
                  <a:lnTo>
                    <a:pt x="427" y="334"/>
                  </a:lnTo>
                  <a:lnTo>
                    <a:pt x="419" y="323"/>
                  </a:lnTo>
                  <a:lnTo>
                    <a:pt x="418" y="306"/>
                  </a:lnTo>
                  <a:lnTo>
                    <a:pt x="419" y="289"/>
                  </a:lnTo>
                  <a:lnTo>
                    <a:pt x="410" y="260"/>
                  </a:lnTo>
                  <a:lnTo>
                    <a:pt x="419" y="255"/>
                  </a:lnTo>
                  <a:lnTo>
                    <a:pt x="447" y="252"/>
                  </a:lnTo>
                  <a:lnTo>
                    <a:pt x="476" y="242"/>
                  </a:lnTo>
                  <a:lnTo>
                    <a:pt x="493" y="238"/>
                  </a:lnTo>
                  <a:lnTo>
                    <a:pt x="498" y="230"/>
                  </a:lnTo>
                  <a:lnTo>
                    <a:pt x="492" y="208"/>
                  </a:lnTo>
                  <a:lnTo>
                    <a:pt x="483" y="190"/>
                  </a:lnTo>
                  <a:lnTo>
                    <a:pt x="485" y="164"/>
                  </a:lnTo>
                  <a:lnTo>
                    <a:pt x="517" y="180"/>
                  </a:lnTo>
                  <a:lnTo>
                    <a:pt x="538" y="194"/>
                  </a:lnTo>
                  <a:lnTo>
                    <a:pt x="560" y="187"/>
                  </a:lnTo>
                  <a:lnTo>
                    <a:pt x="575" y="169"/>
                  </a:lnTo>
                  <a:lnTo>
                    <a:pt x="592" y="175"/>
                  </a:lnTo>
                  <a:lnTo>
                    <a:pt x="634" y="151"/>
                  </a:lnTo>
                  <a:lnTo>
                    <a:pt x="677" y="163"/>
                  </a:lnTo>
                  <a:lnTo>
                    <a:pt x="672" y="137"/>
                  </a:lnTo>
                  <a:lnTo>
                    <a:pt x="630" y="112"/>
                  </a:lnTo>
                  <a:lnTo>
                    <a:pt x="598" y="112"/>
                  </a:lnTo>
                  <a:lnTo>
                    <a:pt x="564" y="89"/>
                  </a:lnTo>
                  <a:lnTo>
                    <a:pt x="576" y="77"/>
                  </a:lnTo>
                  <a:lnTo>
                    <a:pt x="569" y="63"/>
                  </a:lnTo>
                  <a:lnTo>
                    <a:pt x="577" y="51"/>
                  </a:lnTo>
                  <a:lnTo>
                    <a:pt x="576" y="37"/>
                  </a:lnTo>
                  <a:lnTo>
                    <a:pt x="585" y="1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A5144300-AF3C-6E86-5B1E-FC95A0B1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811" y="1775825"/>
              <a:ext cx="1206149" cy="612461"/>
            </a:xfrm>
            <a:custGeom>
              <a:avLst/>
              <a:gdLst/>
              <a:ahLst/>
              <a:cxnLst>
                <a:cxn ang="0">
                  <a:pos x="47" y="5"/>
                </a:cxn>
                <a:cxn ang="0">
                  <a:pos x="9" y="27"/>
                </a:cxn>
                <a:cxn ang="0">
                  <a:pos x="26" y="62"/>
                </a:cxn>
                <a:cxn ang="0">
                  <a:pos x="64" y="72"/>
                </a:cxn>
                <a:cxn ang="0">
                  <a:pos x="60" y="100"/>
                </a:cxn>
                <a:cxn ang="0">
                  <a:pos x="42" y="143"/>
                </a:cxn>
                <a:cxn ang="0">
                  <a:pos x="80" y="134"/>
                </a:cxn>
                <a:cxn ang="0">
                  <a:pos x="121" y="139"/>
                </a:cxn>
                <a:cxn ang="0">
                  <a:pos x="148" y="189"/>
                </a:cxn>
                <a:cxn ang="0">
                  <a:pos x="154" y="242"/>
                </a:cxn>
                <a:cxn ang="0">
                  <a:pos x="161" y="271"/>
                </a:cxn>
                <a:cxn ang="0">
                  <a:pos x="208" y="254"/>
                </a:cxn>
                <a:cxn ang="0">
                  <a:pos x="213" y="252"/>
                </a:cxn>
                <a:cxn ang="0">
                  <a:pos x="277" y="257"/>
                </a:cxn>
                <a:cxn ang="0">
                  <a:pos x="333" y="282"/>
                </a:cxn>
                <a:cxn ang="0">
                  <a:pos x="374" y="270"/>
                </a:cxn>
                <a:cxn ang="0">
                  <a:pos x="397" y="275"/>
                </a:cxn>
                <a:cxn ang="0">
                  <a:pos x="435" y="254"/>
                </a:cxn>
                <a:cxn ang="0">
                  <a:pos x="452" y="244"/>
                </a:cxn>
                <a:cxn ang="0">
                  <a:pos x="436" y="224"/>
                </a:cxn>
                <a:cxn ang="0">
                  <a:pos x="438" y="202"/>
                </a:cxn>
                <a:cxn ang="0">
                  <a:pos x="479" y="186"/>
                </a:cxn>
                <a:cxn ang="0">
                  <a:pos x="502" y="173"/>
                </a:cxn>
                <a:cxn ang="0">
                  <a:pos x="529" y="176"/>
                </a:cxn>
                <a:cxn ang="0">
                  <a:pos x="543" y="164"/>
                </a:cxn>
                <a:cxn ang="0">
                  <a:pos x="520" y="159"/>
                </a:cxn>
                <a:cxn ang="0">
                  <a:pos x="460" y="161"/>
                </a:cxn>
                <a:cxn ang="0">
                  <a:pos x="420" y="118"/>
                </a:cxn>
                <a:cxn ang="0">
                  <a:pos x="383" y="120"/>
                </a:cxn>
                <a:cxn ang="0">
                  <a:pos x="349" y="109"/>
                </a:cxn>
                <a:cxn ang="0">
                  <a:pos x="307" y="108"/>
                </a:cxn>
                <a:cxn ang="0">
                  <a:pos x="266" y="102"/>
                </a:cxn>
                <a:cxn ang="0">
                  <a:pos x="221" y="83"/>
                </a:cxn>
                <a:cxn ang="0">
                  <a:pos x="176" y="77"/>
                </a:cxn>
                <a:cxn ang="0">
                  <a:pos x="160" y="45"/>
                </a:cxn>
                <a:cxn ang="0">
                  <a:pos x="120" y="20"/>
                </a:cxn>
                <a:cxn ang="0">
                  <a:pos x="99" y="8"/>
                </a:cxn>
              </a:cxnLst>
              <a:rect l="0" t="0" r="r" b="b"/>
              <a:pathLst>
                <a:path w="547" h="282">
                  <a:moveTo>
                    <a:pt x="65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80" y="134"/>
                    <a:pt x="80" y="134"/>
                    <a:pt x="80" y="134"/>
                  </a:cubicBezTo>
                  <a:cubicBezTo>
                    <a:pt x="92" y="132"/>
                    <a:pt x="92" y="132"/>
                    <a:pt x="92" y="132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204"/>
                    <a:pt x="152" y="204"/>
                    <a:pt x="152" y="204"/>
                  </a:cubicBezTo>
                  <a:cubicBezTo>
                    <a:pt x="154" y="242"/>
                    <a:pt x="154" y="242"/>
                    <a:pt x="154" y="242"/>
                  </a:cubicBezTo>
                  <a:cubicBezTo>
                    <a:pt x="150" y="257"/>
                    <a:pt x="150" y="257"/>
                    <a:pt x="150" y="257"/>
                  </a:cubicBezTo>
                  <a:cubicBezTo>
                    <a:pt x="161" y="271"/>
                    <a:pt x="161" y="271"/>
                    <a:pt x="161" y="271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13" y="252"/>
                    <a:pt x="213" y="252"/>
                    <a:pt x="213" y="252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333" y="282"/>
                    <a:pt x="333" y="282"/>
                    <a:pt x="333" y="282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74" y="270"/>
                    <a:pt x="374" y="270"/>
                    <a:pt x="374" y="270"/>
                  </a:cubicBezTo>
                  <a:cubicBezTo>
                    <a:pt x="385" y="275"/>
                    <a:pt x="385" y="275"/>
                    <a:pt x="385" y="275"/>
                  </a:cubicBezTo>
                  <a:cubicBezTo>
                    <a:pt x="397" y="275"/>
                    <a:pt x="397" y="275"/>
                    <a:pt x="397" y="275"/>
                  </a:cubicBezTo>
                  <a:cubicBezTo>
                    <a:pt x="422" y="253"/>
                    <a:pt x="422" y="253"/>
                    <a:pt x="422" y="253"/>
                  </a:cubicBezTo>
                  <a:cubicBezTo>
                    <a:pt x="435" y="254"/>
                    <a:pt x="435" y="254"/>
                    <a:pt x="435" y="254"/>
                  </a:cubicBezTo>
                  <a:cubicBezTo>
                    <a:pt x="449" y="248"/>
                    <a:pt x="449" y="248"/>
                    <a:pt x="449" y="248"/>
                  </a:cubicBezTo>
                  <a:cubicBezTo>
                    <a:pt x="452" y="244"/>
                    <a:pt x="452" y="244"/>
                    <a:pt x="452" y="244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36" y="224"/>
                    <a:pt x="436" y="224"/>
                    <a:pt x="436" y="224"/>
                  </a:cubicBezTo>
                  <a:cubicBezTo>
                    <a:pt x="430" y="213"/>
                    <a:pt x="430" y="213"/>
                    <a:pt x="430" y="213"/>
                  </a:cubicBezTo>
                  <a:cubicBezTo>
                    <a:pt x="438" y="202"/>
                    <a:pt x="438" y="202"/>
                    <a:pt x="438" y="202"/>
                  </a:cubicBezTo>
                  <a:cubicBezTo>
                    <a:pt x="465" y="193"/>
                    <a:pt x="465" y="193"/>
                    <a:pt x="465" y="193"/>
                  </a:cubicBezTo>
                  <a:cubicBezTo>
                    <a:pt x="479" y="186"/>
                    <a:pt x="479" y="186"/>
                    <a:pt x="479" y="186"/>
                  </a:cubicBezTo>
                  <a:cubicBezTo>
                    <a:pt x="491" y="186"/>
                    <a:pt x="491" y="186"/>
                    <a:pt x="491" y="186"/>
                  </a:cubicBezTo>
                  <a:cubicBezTo>
                    <a:pt x="502" y="173"/>
                    <a:pt x="502" y="173"/>
                    <a:pt x="502" y="173"/>
                  </a:cubicBezTo>
                  <a:cubicBezTo>
                    <a:pt x="512" y="177"/>
                    <a:pt x="512" y="177"/>
                    <a:pt x="512" y="177"/>
                  </a:cubicBezTo>
                  <a:cubicBezTo>
                    <a:pt x="529" y="176"/>
                    <a:pt x="529" y="176"/>
                    <a:pt x="529" y="176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43" y="164"/>
                    <a:pt x="543" y="164"/>
                    <a:pt x="543" y="164"/>
                  </a:cubicBezTo>
                  <a:cubicBezTo>
                    <a:pt x="547" y="158"/>
                    <a:pt x="547" y="158"/>
                    <a:pt x="547" y="158"/>
                  </a:cubicBezTo>
                  <a:cubicBezTo>
                    <a:pt x="520" y="159"/>
                    <a:pt x="520" y="159"/>
                    <a:pt x="520" y="159"/>
                  </a:cubicBezTo>
                  <a:cubicBezTo>
                    <a:pt x="488" y="160"/>
                    <a:pt x="488" y="160"/>
                    <a:pt x="488" y="160"/>
                  </a:cubicBezTo>
                  <a:cubicBezTo>
                    <a:pt x="460" y="161"/>
                    <a:pt x="460" y="161"/>
                    <a:pt x="460" y="161"/>
                  </a:cubicBezTo>
                  <a:cubicBezTo>
                    <a:pt x="451" y="133"/>
                    <a:pt x="451" y="133"/>
                    <a:pt x="451" y="133"/>
                  </a:cubicBezTo>
                  <a:cubicBezTo>
                    <a:pt x="420" y="118"/>
                    <a:pt x="420" y="118"/>
                    <a:pt x="420" y="118"/>
                  </a:cubicBezTo>
                  <a:cubicBezTo>
                    <a:pt x="417" y="120"/>
                    <a:pt x="411" y="122"/>
                    <a:pt x="411" y="122"/>
                  </a:cubicBezTo>
                  <a:cubicBezTo>
                    <a:pt x="383" y="120"/>
                    <a:pt x="383" y="120"/>
                    <a:pt x="383" y="120"/>
                  </a:cubicBezTo>
                  <a:cubicBezTo>
                    <a:pt x="360" y="106"/>
                    <a:pt x="360" y="106"/>
                    <a:pt x="360" y="106"/>
                  </a:cubicBezTo>
                  <a:cubicBezTo>
                    <a:pt x="349" y="109"/>
                    <a:pt x="349" y="109"/>
                    <a:pt x="349" y="109"/>
                  </a:cubicBezTo>
                  <a:cubicBezTo>
                    <a:pt x="321" y="99"/>
                    <a:pt x="321" y="99"/>
                    <a:pt x="321" y="99"/>
                  </a:cubicBezTo>
                  <a:cubicBezTo>
                    <a:pt x="307" y="108"/>
                    <a:pt x="307" y="108"/>
                    <a:pt x="307" y="108"/>
                  </a:cubicBezTo>
                  <a:cubicBezTo>
                    <a:pt x="274" y="95"/>
                    <a:pt x="274" y="95"/>
                    <a:pt x="274" y="95"/>
                  </a:cubicBezTo>
                  <a:cubicBezTo>
                    <a:pt x="266" y="102"/>
                    <a:pt x="266" y="102"/>
                    <a:pt x="266" y="102"/>
                  </a:cubicBezTo>
                  <a:cubicBezTo>
                    <a:pt x="246" y="87"/>
                    <a:pt x="246" y="87"/>
                    <a:pt x="246" y="87"/>
                  </a:cubicBezTo>
                  <a:cubicBezTo>
                    <a:pt x="221" y="83"/>
                    <a:pt x="221" y="83"/>
                    <a:pt x="221" y="83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0AE1B305-C18C-1B57-4BF0-5B9F27982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970" y="1886525"/>
              <a:ext cx="700088" cy="765175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37" y="16"/>
                </a:cxn>
                <a:cxn ang="0">
                  <a:pos x="121" y="37"/>
                </a:cxn>
                <a:cxn ang="0">
                  <a:pos x="115" y="57"/>
                </a:cxn>
                <a:cxn ang="0">
                  <a:pos x="100" y="66"/>
                </a:cxn>
                <a:cxn ang="0">
                  <a:pos x="77" y="66"/>
                </a:cxn>
                <a:cxn ang="0">
                  <a:pos x="77" y="78"/>
                </a:cxn>
                <a:cxn ang="0">
                  <a:pos x="91" y="118"/>
                </a:cxn>
                <a:cxn ang="0">
                  <a:pos x="85" y="140"/>
                </a:cxn>
                <a:cxn ang="0">
                  <a:pos x="87" y="174"/>
                </a:cxn>
                <a:cxn ang="0">
                  <a:pos x="94" y="228"/>
                </a:cxn>
                <a:cxn ang="0">
                  <a:pos x="87" y="257"/>
                </a:cxn>
                <a:cxn ang="0">
                  <a:pos x="70" y="276"/>
                </a:cxn>
                <a:cxn ang="0">
                  <a:pos x="58" y="304"/>
                </a:cxn>
                <a:cxn ang="0">
                  <a:pos x="57" y="323"/>
                </a:cxn>
                <a:cxn ang="0">
                  <a:pos x="27" y="364"/>
                </a:cxn>
                <a:cxn ang="0">
                  <a:pos x="15" y="390"/>
                </a:cxn>
                <a:cxn ang="0">
                  <a:pos x="6" y="402"/>
                </a:cxn>
                <a:cxn ang="0">
                  <a:pos x="3" y="437"/>
                </a:cxn>
                <a:cxn ang="0">
                  <a:pos x="0" y="468"/>
                </a:cxn>
                <a:cxn ang="0">
                  <a:pos x="0" y="477"/>
                </a:cxn>
                <a:cxn ang="0">
                  <a:pos x="13" y="477"/>
                </a:cxn>
                <a:cxn ang="0">
                  <a:pos x="56" y="482"/>
                </a:cxn>
                <a:cxn ang="0">
                  <a:pos x="69" y="473"/>
                </a:cxn>
                <a:cxn ang="0">
                  <a:pos x="88" y="476"/>
                </a:cxn>
                <a:cxn ang="0">
                  <a:pos x="99" y="482"/>
                </a:cxn>
                <a:cxn ang="0">
                  <a:pos x="145" y="468"/>
                </a:cxn>
                <a:cxn ang="0">
                  <a:pos x="174" y="444"/>
                </a:cxn>
                <a:cxn ang="0">
                  <a:pos x="194" y="441"/>
                </a:cxn>
                <a:cxn ang="0">
                  <a:pos x="223" y="452"/>
                </a:cxn>
                <a:cxn ang="0">
                  <a:pos x="248" y="462"/>
                </a:cxn>
                <a:cxn ang="0">
                  <a:pos x="285" y="462"/>
                </a:cxn>
                <a:cxn ang="0">
                  <a:pos x="291" y="466"/>
                </a:cxn>
                <a:cxn ang="0">
                  <a:pos x="298" y="460"/>
                </a:cxn>
                <a:cxn ang="0">
                  <a:pos x="336" y="408"/>
                </a:cxn>
                <a:cxn ang="0">
                  <a:pos x="363" y="393"/>
                </a:cxn>
                <a:cxn ang="0">
                  <a:pos x="407" y="394"/>
                </a:cxn>
                <a:cxn ang="0">
                  <a:pos x="435" y="382"/>
                </a:cxn>
                <a:cxn ang="0">
                  <a:pos x="441" y="352"/>
                </a:cxn>
                <a:cxn ang="0">
                  <a:pos x="432" y="319"/>
                </a:cxn>
                <a:cxn ang="0">
                  <a:pos x="419" y="279"/>
                </a:cxn>
                <a:cxn ang="0">
                  <a:pos x="420" y="278"/>
                </a:cxn>
                <a:cxn ang="0">
                  <a:pos x="420" y="278"/>
                </a:cxn>
                <a:cxn ang="0">
                  <a:pos x="394" y="293"/>
                </a:cxn>
                <a:cxn ang="0">
                  <a:pos x="358" y="301"/>
                </a:cxn>
                <a:cxn ang="0">
                  <a:pos x="344" y="282"/>
                </a:cxn>
                <a:cxn ang="0">
                  <a:pos x="349" y="262"/>
                </a:cxn>
                <a:cxn ang="0">
                  <a:pos x="346" y="212"/>
                </a:cxn>
                <a:cxn ang="0">
                  <a:pos x="341" y="193"/>
                </a:cxn>
                <a:cxn ang="0">
                  <a:pos x="336" y="164"/>
                </a:cxn>
                <a:cxn ang="0">
                  <a:pos x="306" y="127"/>
                </a:cxn>
                <a:cxn ang="0">
                  <a:pos x="267" y="118"/>
                </a:cxn>
                <a:cxn ang="0">
                  <a:pos x="252" y="120"/>
                </a:cxn>
                <a:cxn ang="0">
                  <a:pos x="232" y="148"/>
                </a:cxn>
                <a:cxn ang="0">
                  <a:pos x="202" y="132"/>
                </a:cxn>
                <a:cxn ang="0">
                  <a:pos x="204" y="115"/>
                </a:cxn>
                <a:cxn ang="0">
                  <a:pos x="225" y="75"/>
                </a:cxn>
                <a:cxn ang="0">
                  <a:pos x="232" y="53"/>
                </a:cxn>
                <a:cxn ang="0">
                  <a:pos x="231" y="39"/>
                </a:cxn>
                <a:cxn ang="0">
                  <a:pos x="202" y="37"/>
                </a:cxn>
                <a:cxn ang="0">
                  <a:pos x="181" y="25"/>
                </a:cxn>
                <a:cxn ang="0">
                  <a:pos x="146" y="0"/>
                </a:cxn>
              </a:cxnLst>
              <a:rect l="0" t="0" r="r" b="b"/>
              <a:pathLst>
                <a:path w="441" h="482">
                  <a:moveTo>
                    <a:pt x="146" y="0"/>
                  </a:moveTo>
                  <a:lnTo>
                    <a:pt x="137" y="16"/>
                  </a:lnTo>
                  <a:lnTo>
                    <a:pt x="121" y="37"/>
                  </a:lnTo>
                  <a:lnTo>
                    <a:pt x="115" y="57"/>
                  </a:lnTo>
                  <a:lnTo>
                    <a:pt x="100" y="66"/>
                  </a:lnTo>
                  <a:lnTo>
                    <a:pt x="77" y="66"/>
                  </a:lnTo>
                  <a:lnTo>
                    <a:pt x="77" y="78"/>
                  </a:lnTo>
                  <a:lnTo>
                    <a:pt x="91" y="118"/>
                  </a:lnTo>
                  <a:lnTo>
                    <a:pt x="85" y="140"/>
                  </a:lnTo>
                  <a:lnTo>
                    <a:pt x="87" y="174"/>
                  </a:lnTo>
                  <a:lnTo>
                    <a:pt x="94" y="228"/>
                  </a:lnTo>
                  <a:lnTo>
                    <a:pt x="87" y="257"/>
                  </a:lnTo>
                  <a:lnTo>
                    <a:pt x="70" y="276"/>
                  </a:lnTo>
                  <a:lnTo>
                    <a:pt x="58" y="304"/>
                  </a:lnTo>
                  <a:lnTo>
                    <a:pt x="57" y="323"/>
                  </a:lnTo>
                  <a:lnTo>
                    <a:pt x="27" y="364"/>
                  </a:lnTo>
                  <a:lnTo>
                    <a:pt x="15" y="390"/>
                  </a:lnTo>
                  <a:lnTo>
                    <a:pt x="6" y="402"/>
                  </a:lnTo>
                  <a:lnTo>
                    <a:pt x="3" y="437"/>
                  </a:lnTo>
                  <a:lnTo>
                    <a:pt x="0" y="468"/>
                  </a:lnTo>
                  <a:lnTo>
                    <a:pt x="0" y="477"/>
                  </a:lnTo>
                  <a:lnTo>
                    <a:pt x="13" y="477"/>
                  </a:lnTo>
                  <a:lnTo>
                    <a:pt x="56" y="482"/>
                  </a:lnTo>
                  <a:lnTo>
                    <a:pt x="69" y="473"/>
                  </a:lnTo>
                  <a:lnTo>
                    <a:pt x="88" y="476"/>
                  </a:lnTo>
                  <a:lnTo>
                    <a:pt x="99" y="482"/>
                  </a:lnTo>
                  <a:lnTo>
                    <a:pt x="145" y="468"/>
                  </a:lnTo>
                  <a:lnTo>
                    <a:pt x="174" y="444"/>
                  </a:lnTo>
                  <a:lnTo>
                    <a:pt x="194" y="441"/>
                  </a:lnTo>
                  <a:lnTo>
                    <a:pt x="223" y="452"/>
                  </a:lnTo>
                  <a:lnTo>
                    <a:pt x="248" y="462"/>
                  </a:lnTo>
                  <a:lnTo>
                    <a:pt x="285" y="462"/>
                  </a:lnTo>
                  <a:lnTo>
                    <a:pt x="291" y="466"/>
                  </a:lnTo>
                  <a:lnTo>
                    <a:pt x="298" y="460"/>
                  </a:lnTo>
                  <a:lnTo>
                    <a:pt x="336" y="408"/>
                  </a:lnTo>
                  <a:lnTo>
                    <a:pt x="363" y="393"/>
                  </a:lnTo>
                  <a:lnTo>
                    <a:pt x="407" y="394"/>
                  </a:lnTo>
                  <a:lnTo>
                    <a:pt x="435" y="382"/>
                  </a:lnTo>
                  <a:lnTo>
                    <a:pt x="441" y="352"/>
                  </a:lnTo>
                  <a:lnTo>
                    <a:pt x="432" y="319"/>
                  </a:lnTo>
                  <a:lnTo>
                    <a:pt x="419" y="279"/>
                  </a:lnTo>
                  <a:lnTo>
                    <a:pt x="420" y="278"/>
                  </a:lnTo>
                  <a:lnTo>
                    <a:pt x="420" y="278"/>
                  </a:lnTo>
                  <a:lnTo>
                    <a:pt x="394" y="293"/>
                  </a:lnTo>
                  <a:lnTo>
                    <a:pt x="358" y="301"/>
                  </a:lnTo>
                  <a:lnTo>
                    <a:pt x="344" y="282"/>
                  </a:lnTo>
                  <a:lnTo>
                    <a:pt x="349" y="262"/>
                  </a:lnTo>
                  <a:lnTo>
                    <a:pt x="346" y="212"/>
                  </a:lnTo>
                  <a:lnTo>
                    <a:pt x="341" y="193"/>
                  </a:lnTo>
                  <a:lnTo>
                    <a:pt x="336" y="164"/>
                  </a:lnTo>
                  <a:lnTo>
                    <a:pt x="306" y="127"/>
                  </a:lnTo>
                  <a:lnTo>
                    <a:pt x="267" y="118"/>
                  </a:lnTo>
                  <a:lnTo>
                    <a:pt x="252" y="120"/>
                  </a:lnTo>
                  <a:lnTo>
                    <a:pt x="232" y="148"/>
                  </a:lnTo>
                  <a:lnTo>
                    <a:pt x="202" y="132"/>
                  </a:lnTo>
                  <a:lnTo>
                    <a:pt x="204" y="115"/>
                  </a:lnTo>
                  <a:lnTo>
                    <a:pt x="225" y="75"/>
                  </a:lnTo>
                  <a:lnTo>
                    <a:pt x="232" y="53"/>
                  </a:lnTo>
                  <a:lnTo>
                    <a:pt x="231" y="39"/>
                  </a:lnTo>
                  <a:lnTo>
                    <a:pt x="202" y="37"/>
                  </a:lnTo>
                  <a:lnTo>
                    <a:pt x="181" y="25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A2522E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EFB20029-DB6F-5725-2473-08C42BB55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742" y="2589546"/>
              <a:ext cx="1065213" cy="1008062"/>
            </a:xfrm>
            <a:custGeom>
              <a:avLst/>
              <a:gdLst/>
              <a:ahLst/>
              <a:cxnLst>
                <a:cxn ang="0">
                  <a:pos x="318" y="2"/>
                </a:cxn>
                <a:cxn ang="0">
                  <a:pos x="261" y="31"/>
                </a:cxn>
                <a:cxn ang="0">
                  <a:pos x="238" y="24"/>
                </a:cxn>
                <a:cxn ang="0">
                  <a:pos x="196" y="27"/>
                </a:cxn>
                <a:cxn ang="0">
                  <a:pos x="186" y="52"/>
                </a:cxn>
                <a:cxn ang="0">
                  <a:pos x="172" y="100"/>
                </a:cxn>
                <a:cxn ang="0">
                  <a:pos x="163" y="137"/>
                </a:cxn>
                <a:cxn ang="0">
                  <a:pos x="164" y="166"/>
                </a:cxn>
                <a:cxn ang="0">
                  <a:pos x="172" y="198"/>
                </a:cxn>
                <a:cxn ang="0">
                  <a:pos x="146" y="243"/>
                </a:cxn>
                <a:cxn ang="0">
                  <a:pos x="145" y="293"/>
                </a:cxn>
                <a:cxn ang="0">
                  <a:pos x="109" y="345"/>
                </a:cxn>
                <a:cxn ang="0">
                  <a:pos x="76" y="360"/>
                </a:cxn>
                <a:cxn ang="0">
                  <a:pos x="32" y="401"/>
                </a:cxn>
                <a:cxn ang="0">
                  <a:pos x="11" y="471"/>
                </a:cxn>
                <a:cxn ang="0">
                  <a:pos x="48" y="478"/>
                </a:cxn>
                <a:cxn ang="0">
                  <a:pos x="39" y="456"/>
                </a:cxn>
                <a:cxn ang="0">
                  <a:pos x="67" y="454"/>
                </a:cxn>
                <a:cxn ang="0">
                  <a:pos x="106" y="429"/>
                </a:cxn>
                <a:cxn ang="0">
                  <a:pos x="156" y="408"/>
                </a:cxn>
                <a:cxn ang="0">
                  <a:pos x="194" y="392"/>
                </a:cxn>
                <a:cxn ang="0">
                  <a:pos x="222" y="376"/>
                </a:cxn>
                <a:cxn ang="0">
                  <a:pos x="255" y="393"/>
                </a:cxn>
                <a:cxn ang="0">
                  <a:pos x="266" y="380"/>
                </a:cxn>
                <a:cxn ang="0">
                  <a:pos x="279" y="377"/>
                </a:cxn>
                <a:cxn ang="0">
                  <a:pos x="266" y="359"/>
                </a:cxn>
                <a:cxn ang="0">
                  <a:pos x="288" y="337"/>
                </a:cxn>
                <a:cxn ang="0">
                  <a:pos x="312" y="357"/>
                </a:cxn>
                <a:cxn ang="0">
                  <a:pos x="346" y="413"/>
                </a:cxn>
                <a:cxn ang="0">
                  <a:pos x="377" y="398"/>
                </a:cxn>
                <a:cxn ang="0">
                  <a:pos x="380" y="365"/>
                </a:cxn>
                <a:cxn ang="0">
                  <a:pos x="427" y="381"/>
                </a:cxn>
                <a:cxn ang="0">
                  <a:pos x="451" y="351"/>
                </a:cxn>
                <a:cxn ang="0">
                  <a:pos x="460" y="329"/>
                </a:cxn>
                <a:cxn ang="0">
                  <a:pos x="434" y="292"/>
                </a:cxn>
                <a:cxn ang="0">
                  <a:pos x="412" y="266"/>
                </a:cxn>
                <a:cxn ang="0">
                  <a:pos x="439" y="262"/>
                </a:cxn>
                <a:cxn ang="0">
                  <a:pos x="467" y="269"/>
                </a:cxn>
                <a:cxn ang="0">
                  <a:pos x="493" y="245"/>
                </a:cxn>
                <a:cxn ang="0">
                  <a:pos x="462" y="206"/>
                </a:cxn>
                <a:cxn ang="0">
                  <a:pos x="483" y="175"/>
                </a:cxn>
                <a:cxn ang="0">
                  <a:pos x="486" y="144"/>
                </a:cxn>
                <a:cxn ang="0">
                  <a:pos x="510" y="107"/>
                </a:cxn>
                <a:cxn ang="0">
                  <a:pos x="504" y="85"/>
                </a:cxn>
                <a:cxn ang="0">
                  <a:pos x="489" y="52"/>
                </a:cxn>
                <a:cxn ang="0">
                  <a:pos x="436" y="49"/>
                </a:cxn>
                <a:cxn ang="0">
                  <a:pos x="402" y="71"/>
                </a:cxn>
                <a:cxn ang="0">
                  <a:pos x="339" y="86"/>
                </a:cxn>
                <a:cxn ang="0">
                  <a:pos x="358" y="46"/>
                </a:cxn>
                <a:cxn ang="0">
                  <a:pos x="402" y="24"/>
                </a:cxn>
                <a:cxn ang="0">
                  <a:pos x="402" y="16"/>
                </a:cxn>
                <a:cxn ang="0">
                  <a:pos x="355" y="8"/>
                </a:cxn>
              </a:cxnLst>
              <a:rect l="0" t="0" r="r" b="b"/>
              <a:pathLst>
                <a:path w="510" h="482">
                  <a:moveTo>
                    <a:pt x="333" y="0"/>
                  </a:moveTo>
                  <a:cubicBezTo>
                    <a:pt x="318" y="2"/>
                    <a:pt x="318" y="2"/>
                    <a:pt x="318" y="2"/>
                  </a:cubicBezTo>
                  <a:cubicBezTo>
                    <a:pt x="296" y="20"/>
                    <a:pt x="296" y="20"/>
                    <a:pt x="296" y="20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53" y="26"/>
                    <a:pt x="253" y="26"/>
                    <a:pt x="253" y="26"/>
                  </a:cubicBezTo>
                  <a:cubicBezTo>
                    <a:pt x="238" y="24"/>
                    <a:pt x="238" y="24"/>
                    <a:pt x="238" y="24"/>
                  </a:cubicBezTo>
                  <a:cubicBezTo>
                    <a:pt x="228" y="31"/>
                    <a:pt x="228" y="31"/>
                    <a:pt x="228" y="31"/>
                  </a:cubicBezTo>
                  <a:cubicBezTo>
                    <a:pt x="196" y="27"/>
                    <a:pt x="196" y="27"/>
                    <a:pt x="196" y="27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74" y="86"/>
                    <a:pt x="174" y="86"/>
                    <a:pt x="174" y="86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3" y="137"/>
                    <a:pt x="163" y="137"/>
                    <a:pt x="163" y="137"/>
                  </a:cubicBezTo>
                  <a:cubicBezTo>
                    <a:pt x="167" y="160"/>
                    <a:pt x="167" y="160"/>
                    <a:pt x="167" y="160"/>
                  </a:cubicBezTo>
                  <a:cubicBezTo>
                    <a:pt x="164" y="166"/>
                    <a:pt x="164" y="166"/>
                    <a:pt x="164" y="166"/>
                  </a:cubicBezTo>
                  <a:cubicBezTo>
                    <a:pt x="174" y="184"/>
                    <a:pt x="174" y="184"/>
                    <a:pt x="174" y="184"/>
                  </a:cubicBezTo>
                  <a:cubicBezTo>
                    <a:pt x="172" y="198"/>
                    <a:pt x="172" y="198"/>
                    <a:pt x="172" y="198"/>
                  </a:cubicBezTo>
                  <a:cubicBezTo>
                    <a:pt x="157" y="212"/>
                    <a:pt x="157" y="212"/>
                    <a:pt x="157" y="212"/>
                  </a:cubicBezTo>
                  <a:cubicBezTo>
                    <a:pt x="146" y="243"/>
                    <a:pt x="146" y="243"/>
                    <a:pt x="146" y="243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5" y="293"/>
                    <a:pt x="145" y="293"/>
                    <a:pt x="145" y="293"/>
                  </a:cubicBezTo>
                  <a:cubicBezTo>
                    <a:pt x="134" y="320"/>
                    <a:pt x="134" y="320"/>
                    <a:pt x="134" y="320"/>
                  </a:cubicBezTo>
                  <a:cubicBezTo>
                    <a:pt x="109" y="345"/>
                    <a:pt x="109" y="345"/>
                    <a:pt x="109" y="345"/>
                  </a:cubicBezTo>
                  <a:cubicBezTo>
                    <a:pt x="89" y="360"/>
                    <a:pt x="89" y="360"/>
                    <a:pt x="89" y="360"/>
                  </a:cubicBezTo>
                  <a:cubicBezTo>
                    <a:pt x="76" y="360"/>
                    <a:pt x="76" y="360"/>
                    <a:pt x="76" y="360"/>
                  </a:cubicBezTo>
                  <a:cubicBezTo>
                    <a:pt x="46" y="380"/>
                    <a:pt x="46" y="380"/>
                    <a:pt x="46" y="380"/>
                  </a:cubicBezTo>
                  <a:cubicBezTo>
                    <a:pt x="32" y="401"/>
                    <a:pt x="32" y="401"/>
                    <a:pt x="32" y="401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11" y="471"/>
                    <a:pt x="11" y="471"/>
                    <a:pt x="11" y="471"/>
                  </a:cubicBezTo>
                  <a:cubicBezTo>
                    <a:pt x="20" y="482"/>
                    <a:pt x="20" y="482"/>
                    <a:pt x="20" y="482"/>
                  </a:cubicBezTo>
                  <a:cubicBezTo>
                    <a:pt x="48" y="478"/>
                    <a:pt x="48" y="478"/>
                    <a:pt x="48" y="478"/>
                  </a:cubicBezTo>
                  <a:cubicBezTo>
                    <a:pt x="50" y="462"/>
                    <a:pt x="50" y="462"/>
                    <a:pt x="50" y="462"/>
                  </a:cubicBezTo>
                  <a:cubicBezTo>
                    <a:pt x="39" y="456"/>
                    <a:pt x="39" y="456"/>
                    <a:pt x="39" y="456"/>
                  </a:cubicBezTo>
                  <a:cubicBezTo>
                    <a:pt x="42" y="451"/>
                    <a:pt x="42" y="451"/>
                    <a:pt x="42" y="451"/>
                  </a:cubicBezTo>
                  <a:cubicBezTo>
                    <a:pt x="67" y="454"/>
                    <a:pt x="67" y="454"/>
                    <a:pt x="67" y="454"/>
                  </a:cubicBezTo>
                  <a:cubicBezTo>
                    <a:pt x="97" y="445"/>
                    <a:pt x="97" y="445"/>
                    <a:pt x="97" y="445"/>
                  </a:cubicBezTo>
                  <a:cubicBezTo>
                    <a:pt x="106" y="429"/>
                    <a:pt x="106" y="429"/>
                    <a:pt x="106" y="429"/>
                  </a:cubicBezTo>
                  <a:cubicBezTo>
                    <a:pt x="138" y="418"/>
                    <a:pt x="138" y="418"/>
                    <a:pt x="138" y="418"/>
                  </a:cubicBezTo>
                  <a:cubicBezTo>
                    <a:pt x="156" y="408"/>
                    <a:pt x="156" y="408"/>
                    <a:pt x="156" y="408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94" y="392"/>
                    <a:pt x="194" y="392"/>
                    <a:pt x="194" y="392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222" y="376"/>
                    <a:pt x="222" y="376"/>
                    <a:pt x="222" y="376"/>
                  </a:cubicBezTo>
                  <a:cubicBezTo>
                    <a:pt x="235" y="391"/>
                    <a:pt x="235" y="391"/>
                    <a:pt x="235" y="391"/>
                  </a:cubicBezTo>
                  <a:cubicBezTo>
                    <a:pt x="255" y="393"/>
                    <a:pt x="255" y="393"/>
                    <a:pt x="255" y="393"/>
                  </a:cubicBezTo>
                  <a:cubicBezTo>
                    <a:pt x="275" y="390"/>
                    <a:pt x="275" y="390"/>
                    <a:pt x="275" y="390"/>
                  </a:cubicBezTo>
                  <a:cubicBezTo>
                    <a:pt x="266" y="380"/>
                    <a:pt x="266" y="380"/>
                    <a:pt x="266" y="380"/>
                  </a:cubicBezTo>
                  <a:cubicBezTo>
                    <a:pt x="267" y="370"/>
                    <a:pt x="267" y="370"/>
                    <a:pt x="267" y="370"/>
                  </a:cubicBezTo>
                  <a:cubicBezTo>
                    <a:pt x="279" y="377"/>
                    <a:pt x="279" y="377"/>
                    <a:pt x="279" y="377"/>
                  </a:cubicBezTo>
                  <a:cubicBezTo>
                    <a:pt x="275" y="363"/>
                    <a:pt x="275" y="363"/>
                    <a:pt x="275" y="363"/>
                  </a:cubicBezTo>
                  <a:cubicBezTo>
                    <a:pt x="266" y="359"/>
                    <a:pt x="266" y="359"/>
                    <a:pt x="266" y="359"/>
                  </a:cubicBezTo>
                  <a:cubicBezTo>
                    <a:pt x="274" y="335"/>
                    <a:pt x="274" y="335"/>
                    <a:pt x="274" y="335"/>
                  </a:cubicBezTo>
                  <a:cubicBezTo>
                    <a:pt x="288" y="337"/>
                    <a:pt x="288" y="337"/>
                    <a:pt x="288" y="337"/>
                  </a:cubicBezTo>
                  <a:cubicBezTo>
                    <a:pt x="303" y="330"/>
                    <a:pt x="303" y="330"/>
                    <a:pt x="303" y="330"/>
                  </a:cubicBezTo>
                  <a:cubicBezTo>
                    <a:pt x="312" y="357"/>
                    <a:pt x="312" y="357"/>
                    <a:pt x="312" y="357"/>
                  </a:cubicBezTo>
                  <a:cubicBezTo>
                    <a:pt x="339" y="390"/>
                    <a:pt x="339" y="390"/>
                    <a:pt x="339" y="390"/>
                  </a:cubicBezTo>
                  <a:cubicBezTo>
                    <a:pt x="346" y="413"/>
                    <a:pt x="346" y="413"/>
                    <a:pt x="346" y="413"/>
                  </a:cubicBezTo>
                  <a:cubicBezTo>
                    <a:pt x="350" y="417"/>
                    <a:pt x="350" y="417"/>
                    <a:pt x="350" y="417"/>
                  </a:cubicBezTo>
                  <a:cubicBezTo>
                    <a:pt x="377" y="398"/>
                    <a:pt x="377" y="398"/>
                    <a:pt x="377" y="398"/>
                  </a:cubicBezTo>
                  <a:cubicBezTo>
                    <a:pt x="377" y="369"/>
                    <a:pt x="377" y="369"/>
                    <a:pt x="377" y="369"/>
                  </a:cubicBezTo>
                  <a:cubicBezTo>
                    <a:pt x="380" y="365"/>
                    <a:pt x="380" y="365"/>
                    <a:pt x="380" y="365"/>
                  </a:cubicBezTo>
                  <a:cubicBezTo>
                    <a:pt x="403" y="391"/>
                    <a:pt x="403" y="391"/>
                    <a:pt x="403" y="391"/>
                  </a:cubicBezTo>
                  <a:cubicBezTo>
                    <a:pt x="403" y="391"/>
                    <a:pt x="422" y="381"/>
                    <a:pt x="427" y="381"/>
                  </a:cubicBezTo>
                  <a:cubicBezTo>
                    <a:pt x="432" y="381"/>
                    <a:pt x="441" y="381"/>
                    <a:pt x="441" y="381"/>
                  </a:cubicBezTo>
                  <a:cubicBezTo>
                    <a:pt x="451" y="351"/>
                    <a:pt x="451" y="351"/>
                    <a:pt x="451" y="351"/>
                  </a:cubicBezTo>
                  <a:cubicBezTo>
                    <a:pt x="462" y="343"/>
                    <a:pt x="462" y="343"/>
                    <a:pt x="462" y="343"/>
                  </a:cubicBezTo>
                  <a:cubicBezTo>
                    <a:pt x="460" y="329"/>
                    <a:pt x="460" y="329"/>
                    <a:pt x="460" y="329"/>
                  </a:cubicBezTo>
                  <a:cubicBezTo>
                    <a:pt x="445" y="316"/>
                    <a:pt x="445" y="316"/>
                    <a:pt x="445" y="316"/>
                  </a:cubicBezTo>
                  <a:cubicBezTo>
                    <a:pt x="434" y="292"/>
                    <a:pt x="434" y="292"/>
                    <a:pt x="434" y="292"/>
                  </a:cubicBezTo>
                  <a:cubicBezTo>
                    <a:pt x="413" y="279"/>
                    <a:pt x="413" y="279"/>
                    <a:pt x="413" y="279"/>
                  </a:cubicBezTo>
                  <a:cubicBezTo>
                    <a:pt x="412" y="266"/>
                    <a:pt x="412" y="266"/>
                    <a:pt x="412" y="266"/>
                  </a:cubicBezTo>
                  <a:cubicBezTo>
                    <a:pt x="422" y="262"/>
                    <a:pt x="422" y="262"/>
                    <a:pt x="422" y="262"/>
                  </a:cubicBezTo>
                  <a:cubicBezTo>
                    <a:pt x="439" y="262"/>
                    <a:pt x="439" y="262"/>
                    <a:pt x="439" y="262"/>
                  </a:cubicBezTo>
                  <a:cubicBezTo>
                    <a:pt x="456" y="275"/>
                    <a:pt x="456" y="275"/>
                    <a:pt x="456" y="275"/>
                  </a:cubicBezTo>
                  <a:cubicBezTo>
                    <a:pt x="467" y="269"/>
                    <a:pt x="467" y="269"/>
                    <a:pt x="467" y="269"/>
                  </a:cubicBezTo>
                  <a:cubicBezTo>
                    <a:pt x="471" y="257"/>
                    <a:pt x="471" y="257"/>
                    <a:pt x="471" y="257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1" y="226"/>
                    <a:pt x="491" y="226"/>
                    <a:pt x="491" y="226"/>
                  </a:cubicBezTo>
                  <a:cubicBezTo>
                    <a:pt x="462" y="206"/>
                    <a:pt x="462" y="206"/>
                    <a:pt x="462" y="206"/>
                  </a:cubicBezTo>
                  <a:cubicBezTo>
                    <a:pt x="464" y="195"/>
                    <a:pt x="464" y="195"/>
                    <a:pt x="464" y="195"/>
                  </a:cubicBezTo>
                  <a:cubicBezTo>
                    <a:pt x="483" y="175"/>
                    <a:pt x="483" y="175"/>
                    <a:pt x="483" y="175"/>
                  </a:cubicBezTo>
                  <a:cubicBezTo>
                    <a:pt x="490" y="158"/>
                    <a:pt x="490" y="158"/>
                    <a:pt x="490" y="158"/>
                  </a:cubicBezTo>
                  <a:cubicBezTo>
                    <a:pt x="486" y="144"/>
                    <a:pt x="486" y="144"/>
                    <a:pt x="486" y="144"/>
                  </a:cubicBezTo>
                  <a:cubicBezTo>
                    <a:pt x="485" y="120"/>
                    <a:pt x="485" y="120"/>
                    <a:pt x="485" y="120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04" y="85"/>
                    <a:pt x="504" y="85"/>
                    <a:pt x="504" y="85"/>
                  </a:cubicBezTo>
                  <a:cubicBezTo>
                    <a:pt x="504" y="60"/>
                    <a:pt x="504" y="60"/>
                    <a:pt x="504" y="60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55" y="47"/>
                    <a:pt x="455" y="47"/>
                    <a:pt x="455" y="47"/>
                  </a:cubicBezTo>
                  <a:cubicBezTo>
                    <a:pt x="436" y="49"/>
                    <a:pt x="436" y="49"/>
                    <a:pt x="436" y="49"/>
                  </a:cubicBezTo>
                  <a:cubicBezTo>
                    <a:pt x="425" y="60"/>
                    <a:pt x="425" y="60"/>
                    <a:pt x="425" y="60"/>
                  </a:cubicBezTo>
                  <a:cubicBezTo>
                    <a:pt x="402" y="71"/>
                    <a:pt x="402" y="71"/>
                    <a:pt x="402" y="71"/>
                  </a:cubicBezTo>
                  <a:cubicBezTo>
                    <a:pt x="358" y="79"/>
                    <a:pt x="358" y="79"/>
                    <a:pt x="358" y="79"/>
                  </a:cubicBezTo>
                  <a:cubicBezTo>
                    <a:pt x="339" y="86"/>
                    <a:pt x="339" y="86"/>
                    <a:pt x="339" y="86"/>
                  </a:cubicBezTo>
                  <a:cubicBezTo>
                    <a:pt x="340" y="64"/>
                    <a:pt x="340" y="64"/>
                    <a:pt x="340" y="64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75" y="37"/>
                    <a:pt x="375" y="37"/>
                    <a:pt x="375" y="37"/>
                  </a:cubicBezTo>
                  <a:cubicBezTo>
                    <a:pt x="402" y="24"/>
                    <a:pt x="402" y="24"/>
                    <a:pt x="402" y="24"/>
                  </a:cubicBezTo>
                  <a:cubicBezTo>
                    <a:pt x="407" y="19"/>
                    <a:pt x="407" y="19"/>
                    <a:pt x="407" y="19"/>
                  </a:cubicBezTo>
                  <a:cubicBezTo>
                    <a:pt x="402" y="16"/>
                    <a:pt x="402" y="16"/>
                    <a:pt x="402" y="16"/>
                  </a:cubicBezTo>
                  <a:cubicBezTo>
                    <a:pt x="374" y="16"/>
                    <a:pt x="374" y="16"/>
                    <a:pt x="374" y="16"/>
                  </a:cubicBezTo>
                  <a:cubicBezTo>
                    <a:pt x="355" y="8"/>
                    <a:pt x="355" y="8"/>
                    <a:pt x="355" y="8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4B9EC052-31A1-02A0-4EBF-02C127AAD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041" y="2650371"/>
              <a:ext cx="1257933" cy="1073884"/>
            </a:xfrm>
            <a:custGeom>
              <a:avLst/>
              <a:gdLst/>
              <a:ahLst/>
              <a:cxnLst>
                <a:cxn ang="0">
                  <a:pos x="351" y="3"/>
                </a:cxn>
                <a:cxn ang="0">
                  <a:pos x="308" y="13"/>
                </a:cxn>
                <a:cxn ang="0">
                  <a:pos x="308" y="39"/>
                </a:cxn>
                <a:cxn ang="0">
                  <a:pos x="308" y="65"/>
                </a:cxn>
                <a:cxn ang="0">
                  <a:pos x="324" y="105"/>
                </a:cxn>
                <a:cxn ang="0">
                  <a:pos x="308" y="110"/>
                </a:cxn>
                <a:cxn ang="0">
                  <a:pos x="274" y="117"/>
                </a:cxn>
                <a:cxn ang="0">
                  <a:pos x="207" y="104"/>
                </a:cxn>
                <a:cxn ang="0">
                  <a:pos x="194" y="91"/>
                </a:cxn>
                <a:cxn ang="0">
                  <a:pos x="160" y="80"/>
                </a:cxn>
                <a:cxn ang="0">
                  <a:pos x="136" y="117"/>
                </a:cxn>
                <a:cxn ang="0">
                  <a:pos x="133" y="148"/>
                </a:cxn>
                <a:cxn ang="0">
                  <a:pos x="112" y="179"/>
                </a:cxn>
                <a:cxn ang="0">
                  <a:pos x="143" y="218"/>
                </a:cxn>
                <a:cxn ang="0">
                  <a:pos x="117" y="242"/>
                </a:cxn>
                <a:cxn ang="0">
                  <a:pos x="89" y="235"/>
                </a:cxn>
                <a:cxn ang="0">
                  <a:pos x="62" y="239"/>
                </a:cxn>
                <a:cxn ang="0">
                  <a:pos x="84" y="265"/>
                </a:cxn>
                <a:cxn ang="0">
                  <a:pos x="110" y="302"/>
                </a:cxn>
                <a:cxn ang="0">
                  <a:pos x="101" y="324"/>
                </a:cxn>
                <a:cxn ang="0">
                  <a:pos x="77" y="354"/>
                </a:cxn>
                <a:cxn ang="0">
                  <a:pos x="30" y="338"/>
                </a:cxn>
                <a:cxn ang="0">
                  <a:pos x="27" y="371"/>
                </a:cxn>
                <a:cxn ang="0">
                  <a:pos x="7" y="399"/>
                </a:cxn>
                <a:cxn ang="0">
                  <a:pos x="24" y="430"/>
                </a:cxn>
                <a:cxn ang="0">
                  <a:pos x="52" y="416"/>
                </a:cxn>
                <a:cxn ang="0">
                  <a:pos x="93" y="443"/>
                </a:cxn>
                <a:cxn ang="0">
                  <a:pos x="154" y="452"/>
                </a:cxn>
                <a:cxn ang="0">
                  <a:pos x="192" y="505"/>
                </a:cxn>
                <a:cxn ang="0">
                  <a:pos x="240" y="504"/>
                </a:cxn>
                <a:cxn ang="0">
                  <a:pos x="262" y="498"/>
                </a:cxn>
                <a:cxn ang="0">
                  <a:pos x="292" y="510"/>
                </a:cxn>
                <a:cxn ang="0">
                  <a:pos x="296" y="496"/>
                </a:cxn>
                <a:cxn ang="0">
                  <a:pos x="328" y="481"/>
                </a:cxn>
                <a:cxn ang="0">
                  <a:pos x="334" y="499"/>
                </a:cxn>
                <a:cxn ang="0">
                  <a:pos x="333" y="470"/>
                </a:cxn>
                <a:cxn ang="0">
                  <a:pos x="328" y="444"/>
                </a:cxn>
                <a:cxn ang="0">
                  <a:pos x="339" y="433"/>
                </a:cxn>
                <a:cxn ang="0">
                  <a:pos x="380" y="421"/>
                </a:cxn>
                <a:cxn ang="0">
                  <a:pos x="398" y="430"/>
                </a:cxn>
                <a:cxn ang="0">
                  <a:pos x="428" y="433"/>
                </a:cxn>
                <a:cxn ang="0">
                  <a:pos x="455" y="454"/>
                </a:cxn>
                <a:cxn ang="0">
                  <a:pos x="468" y="446"/>
                </a:cxn>
                <a:cxn ang="0">
                  <a:pos x="506" y="444"/>
                </a:cxn>
                <a:cxn ang="0">
                  <a:pos x="537" y="416"/>
                </a:cxn>
                <a:cxn ang="0">
                  <a:pos x="557" y="411"/>
                </a:cxn>
                <a:cxn ang="0">
                  <a:pos x="597" y="416"/>
                </a:cxn>
                <a:cxn ang="0">
                  <a:pos x="582" y="363"/>
                </a:cxn>
                <a:cxn ang="0">
                  <a:pos x="517" y="341"/>
                </a:cxn>
                <a:cxn ang="0">
                  <a:pos x="487" y="321"/>
                </a:cxn>
                <a:cxn ang="0">
                  <a:pos x="480" y="286"/>
                </a:cxn>
                <a:cxn ang="0">
                  <a:pos x="479" y="255"/>
                </a:cxn>
                <a:cxn ang="0">
                  <a:pos x="451" y="252"/>
                </a:cxn>
                <a:cxn ang="0">
                  <a:pos x="443" y="237"/>
                </a:cxn>
                <a:cxn ang="0">
                  <a:pos x="472" y="230"/>
                </a:cxn>
                <a:cxn ang="0">
                  <a:pos x="461" y="216"/>
                </a:cxn>
                <a:cxn ang="0">
                  <a:pos x="427" y="161"/>
                </a:cxn>
                <a:cxn ang="0">
                  <a:pos x="413" y="135"/>
                </a:cxn>
                <a:cxn ang="0">
                  <a:pos x="374" y="49"/>
                </a:cxn>
                <a:cxn ang="0">
                  <a:pos x="345" y="14"/>
                </a:cxn>
                <a:cxn ang="0">
                  <a:pos x="364" y="0"/>
                </a:cxn>
              </a:cxnLst>
              <a:rect l="0" t="0" r="r" b="b"/>
              <a:pathLst>
                <a:path w="597" h="510">
                  <a:moveTo>
                    <a:pt x="364" y="0"/>
                  </a:moveTo>
                  <a:cubicBezTo>
                    <a:pt x="351" y="3"/>
                    <a:pt x="351" y="3"/>
                    <a:pt x="351" y="3"/>
                  </a:cubicBezTo>
                  <a:cubicBezTo>
                    <a:pt x="329" y="11"/>
                    <a:pt x="329" y="11"/>
                    <a:pt x="329" y="11"/>
                  </a:cubicBezTo>
                  <a:cubicBezTo>
                    <a:pt x="308" y="13"/>
                    <a:pt x="308" y="13"/>
                    <a:pt x="308" y="13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8" y="39"/>
                    <a:pt x="308" y="39"/>
                    <a:pt x="308" y="39"/>
                  </a:cubicBezTo>
                  <a:cubicBezTo>
                    <a:pt x="307" y="52"/>
                    <a:pt x="307" y="52"/>
                    <a:pt x="307" y="52"/>
                  </a:cubicBezTo>
                  <a:cubicBezTo>
                    <a:pt x="308" y="65"/>
                    <a:pt x="308" y="65"/>
                    <a:pt x="308" y="65"/>
                  </a:cubicBezTo>
                  <a:cubicBezTo>
                    <a:pt x="314" y="73"/>
                    <a:pt x="314" y="73"/>
                    <a:pt x="314" y="73"/>
                  </a:cubicBezTo>
                  <a:cubicBezTo>
                    <a:pt x="324" y="105"/>
                    <a:pt x="324" y="105"/>
                    <a:pt x="324" y="105"/>
                  </a:cubicBezTo>
                  <a:cubicBezTo>
                    <a:pt x="316" y="113"/>
                    <a:pt x="316" y="113"/>
                    <a:pt x="316" y="113"/>
                  </a:cubicBezTo>
                  <a:cubicBezTo>
                    <a:pt x="308" y="110"/>
                    <a:pt x="308" y="110"/>
                    <a:pt x="308" y="110"/>
                  </a:cubicBezTo>
                  <a:cubicBezTo>
                    <a:pt x="297" y="109"/>
                    <a:pt x="297" y="109"/>
                    <a:pt x="297" y="109"/>
                  </a:cubicBezTo>
                  <a:cubicBezTo>
                    <a:pt x="274" y="117"/>
                    <a:pt x="274" y="117"/>
                    <a:pt x="274" y="117"/>
                  </a:cubicBezTo>
                  <a:cubicBezTo>
                    <a:pt x="264" y="135"/>
                    <a:pt x="264" y="135"/>
                    <a:pt x="264" y="135"/>
                  </a:cubicBezTo>
                  <a:cubicBezTo>
                    <a:pt x="207" y="104"/>
                    <a:pt x="207" y="104"/>
                    <a:pt x="207" y="104"/>
                  </a:cubicBezTo>
                  <a:cubicBezTo>
                    <a:pt x="196" y="100"/>
                    <a:pt x="196" y="100"/>
                    <a:pt x="196" y="100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86" y="82"/>
                    <a:pt x="186" y="82"/>
                    <a:pt x="186" y="82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35" y="93"/>
                    <a:pt x="135" y="93"/>
                    <a:pt x="135" y="93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14" y="168"/>
                    <a:pt x="114" y="168"/>
                    <a:pt x="114" y="168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41" y="199"/>
                    <a:pt x="141" y="199"/>
                    <a:pt x="141" y="199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21" y="230"/>
                    <a:pt x="121" y="230"/>
                    <a:pt x="121" y="230"/>
                  </a:cubicBezTo>
                  <a:cubicBezTo>
                    <a:pt x="117" y="242"/>
                    <a:pt x="117" y="242"/>
                    <a:pt x="117" y="242"/>
                  </a:cubicBezTo>
                  <a:cubicBezTo>
                    <a:pt x="106" y="248"/>
                    <a:pt x="106" y="248"/>
                    <a:pt x="106" y="248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62" y="239"/>
                    <a:pt x="62" y="239"/>
                    <a:pt x="62" y="239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84" y="265"/>
                    <a:pt x="84" y="265"/>
                    <a:pt x="84" y="265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2" y="316"/>
                    <a:pt x="112" y="316"/>
                    <a:pt x="112" y="316"/>
                  </a:cubicBezTo>
                  <a:cubicBezTo>
                    <a:pt x="101" y="324"/>
                    <a:pt x="101" y="324"/>
                    <a:pt x="101" y="324"/>
                  </a:cubicBezTo>
                  <a:cubicBezTo>
                    <a:pt x="91" y="354"/>
                    <a:pt x="91" y="354"/>
                    <a:pt x="91" y="354"/>
                  </a:cubicBezTo>
                  <a:cubicBezTo>
                    <a:pt x="91" y="354"/>
                    <a:pt x="82" y="354"/>
                    <a:pt x="77" y="354"/>
                  </a:cubicBezTo>
                  <a:cubicBezTo>
                    <a:pt x="72" y="354"/>
                    <a:pt x="53" y="364"/>
                    <a:pt x="53" y="364"/>
                  </a:cubicBezTo>
                  <a:cubicBezTo>
                    <a:pt x="30" y="338"/>
                    <a:pt x="30" y="338"/>
                    <a:pt x="30" y="338"/>
                  </a:cubicBezTo>
                  <a:cubicBezTo>
                    <a:pt x="27" y="342"/>
                    <a:pt x="27" y="342"/>
                    <a:pt x="27" y="342"/>
                  </a:cubicBezTo>
                  <a:cubicBezTo>
                    <a:pt x="27" y="371"/>
                    <a:pt x="27" y="371"/>
                    <a:pt x="27" y="371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7" y="399"/>
                    <a:pt x="7" y="399"/>
                    <a:pt x="7" y="399"/>
                  </a:cubicBezTo>
                  <a:cubicBezTo>
                    <a:pt x="14" y="426"/>
                    <a:pt x="14" y="426"/>
                    <a:pt x="14" y="426"/>
                  </a:cubicBezTo>
                  <a:cubicBezTo>
                    <a:pt x="24" y="430"/>
                    <a:pt x="24" y="430"/>
                    <a:pt x="24" y="430"/>
                  </a:cubicBezTo>
                  <a:cubicBezTo>
                    <a:pt x="39" y="408"/>
                    <a:pt x="39" y="408"/>
                    <a:pt x="39" y="408"/>
                  </a:cubicBezTo>
                  <a:cubicBezTo>
                    <a:pt x="52" y="416"/>
                    <a:pt x="52" y="416"/>
                    <a:pt x="52" y="416"/>
                  </a:cubicBezTo>
                  <a:cubicBezTo>
                    <a:pt x="62" y="447"/>
                    <a:pt x="62" y="447"/>
                    <a:pt x="62" y="447"/>
                  </a:cubicBezTo>
                  <a:cubicBezTo>
                    <a:pt x="93" y="443"/>
                    <a:pt x="93" y="443"/>
                    <a:pt x="93" y="443"/>
                  </a:cubicBezTo>
                  <a:cubicBezTo>
                    <a:pt x="116" y="462"/>
                    <a:pt x="116" y="462"/>
                    <a:pt x="116" y="462"/>
                  </a:cubicBezTo>
                  <a:cubicBezTo>
                    <a:pt x="154" y="452"/>
                    <a:pt x="154" y="452"/>
                    <a:pt x="154" y="452"/>
                  </a:cubicBezTo>
                  <a:cubicBezTo>
                    <a:pt x="189" y="496"/>
                    <a:pt x="189" y="496"/>
                    <a:pt x="189" y="496"/>
                  </a:cubicBezTo>
                  <a:cubicBezTo>
                    <a:pt x="192" y="505"/>
                    <a:pt x="192" y="505"/>
                    <a:pt x="192" y="505"/>
                  </a:cubicBezTo>
                  <a:cubicBezTo>
                    <a:pt x="213" y="509"/>
                    <a:pt x="213" y="509"/>
                    <a:pt x="213" y="509"/>
                  </a:cubicBezTo>
                  <a:cubicBezTo>
                    <a:pt x="240" y="504"/>
                    <a:pt x="240" y="504"/>
                    <a:pt x="240" y="504"/>
                  </a:cubicBezTo>
                  <a:cubicBezTo>
                    <a:pt x="240" y="488"/>
                    <a:pt x="240" y="488"/>
                    <a:pt x="240" y="488"/>
                  </a:cubicBezTo>
                  <a:cubicBezTo>
                    <a:pt x="262" y="498"/>
                    <a:pt x="262" y="498"/>
                    <a:pt x="262" y="498"/>
                  </a:cubicBezTo>
                  <a:cubicBezTo>
                    <a:pt x="274" y="509"/>
                    <a:pt x="274" y="509"/>
                    <a:pt x="274" y="509"/>
                  </a:cubicBezTo>
                  <a:cubicBezTo>
                    <a:pt x="292" y="510"/>
                    <a:pt x="292" y="510"/>
                    <a:pt x="292" y="510"/>
                  </a:cubicBezTo>
                  <a:cubicBezTo>
                    <a:pt x="290" y="508"/>
                    <a:pt x="290" y="508"/>
                    <a:pt x="290" y="508"/>
                  </a:cubicBezTo>
                  <a:cubicBezTo>
                    <a:pt x="296" y="496"/>
                    <a:pt x="296" y="496"/>
                    <a:pt x="296" y="496"/>
                  </a:cubicBezTo>
                  <a:cubicBezTo>
                    <a:pt x="321" y="479"/>
                    <a:pt x="321" y="479"/>
                    <a:pt x="321" y="479"/>
                  </a:cubicBezTo>
                  <a:cubicBezTo>
                    <a:pt x="328" y="481"/>
                    <a:pt x="328" y="481"/>
                    <a:pt x="328" y="481"/>
                  </a:cubicBezTo>
                  <a:cubicBezTo>
                    <a:pt x="327" y="498"/>
                    <a:pt x="327" y="498"/>
                    <a:pt x="327" y="498"/>
                  </a:cubicBezTo>
                  <a:cubicBezTo>
                    <a:pt x="334" y="499"/>
                    <a:pt x="334" y="499"/>
                    <a:pt x="334" y="499"/>
                  </a:cubicBezTo>
                  <a:cubicBezTo>
                    <a:pt x="339" y="495"/>
                    <a:pt x="339" y="495"/>
                    <a:pt x="339" y="495"/>
                  </a:cubicBezTo>
                  <a:cubicBezTo>
                    <a:pt x="333" y="470"/>
                    <a:pt x="333" y="470"/>
                    <a:pt x="333" y="470"/>
                  </a:cubicBezTo>
                  <a:cubicBezTo>
                    <a:pt x="328" y="462"/>
                    <a:pt x="328" y="462"/>
                    <a:pt x="328" y="462"/>
                  </a:cubicBezTo>
                  <a:cubicBezTo>
                    <a:pt x="328" y="444"/>
                    <a:pt x="328" y="444"/>
                    <a:pt x="328" y="444"/>
                  </a:cubicBezTo>
                  <a:cubicBezTo>
                    <a:pt x="322" y="435"/>
                    <a:pt x="322" y="435"/>
                    <a:pt x="322" y="435"/>
                  </a:cubicBezTo>
                  <a:cubicBezTo>
                    <a:pt x="339" y="433"/>
                    <a:pt x="339" y="433"/>
                    <a:pt x="339" y="433"/>
                  </a:cubicBezTo>
                  <a:cubicBezTo>
                    <a:pt x="372" y="442"/>
                    <a:pt x="372" y="442"/>
                    <a:pt x="372" y="442"/>
                  </a:cubicBezTo>
                  <a:cubicBezTo>
                    <a:pt x="380" y="421"/>
                    <a:pt x="380" y="421"/>
                    <a:pt x="380" y="421"/>
                  </a:cubicBezTo>
                  <a:cubicBezTo>
                    <a:pt x="387" y="427"/>
                    <a:pt x="387" y="427"/>
                    <a:pt x="387" y="427"/>
                  </a:cubicBezTo>
                  <a:cubicBezTo>
                    <a:pt x="398" y="430"/>
                    <a:pt x="398" y="430"/>
                    <a:pt x="398" y="430"/>
                  </a:cubicBezTo>
                  <a:cubicBezTo>
                    <a:pt x="415" y="435"/>
                    <a:pt x="415" y="435"/>
                    <a:pt x="415" y="435"/>
                  </a:cubicBezTo>
                  <a:cubicBezTo>
                    <a:pt x="428" y="433"/>
                    <a:pt x="428" y="433"/>
                    <a:pt x="428" y="433"/>
                  </a:cubicBezTo>
                  <a:cubicBezTo>
                    <a:pt x="445" y="438"/>
                    <a:pt x="445" y="438"/>
                    <a:pt x="445" y="438"/>
                  </a:cubicBezTo>
                  <a:cubicBezTo>
                    <a:pt x="455" y="454"/>
                    <a:pt x="455" y="454"/>
                    <a:pt x="455" y="454"/>
                  </a:cubicBezTo>
                  <a:cubicBezTo>
                    <a:pt x="463" y="454"/>
                    <a:pt x="463" y="454"/>
                    <a:pt x="463" y="454"/>
                  </a:cubicBezTo>
                  <a:cubicBezTo>
                    <a:pt x="468" y="446"/>
                    <a:pt x="468" y="446"/>
                    <a:pt x="468" y="446"/>
                  </a:cubicBezTo>
                  <a:cubicBezTo>
                    <a:pt x="482" y="449"/>
                    <a:pt x="482" y="449"/>
                    <a:pt x="482" y="449"/>
                  </a:cubicBezTo>
                  <a:cubicBezTo>
                    <a:pt x="506" y="444"/>
                    <a:pt x="506" y="444"/>
                    <a:pt x="506" y="444"/>
                  </a:cubicBezTo>
                  <a:cubicBezTo>
                    <a:pt x="505" y="425"/>
                    <a:pt x="505" y="425"/>
                    <a:pt x="505" y="425"/>
                  </a:cubicBezTo>
                  <a:cubicBezTo>
                    <a:pt x="537" y="416"/>
                    <a:pt x="537" y="416"/>
                    <a:pt x="537" y="416"/>
                  </a:cubicBezTo>
                  <a:cubicBezTo>
                    <a:pt x="551" y="416"/>
                    <a:pt x="551" y="416"/>
                    <a:pt x="551" y="416"/>
                  </a:cubicBezTo>
                  <a:cubicBezTo>
                    <a:pt x="557" y="411"/>
                    <a:pt x="557" y="411"/>
                    <a:pt x="557" y="411"/>
                  </a:cubicBezTo>
                  <a:cubicBezTo>
                    <a:pt x="568" y="418"/>
                    <a:pt x="568" y="418"/>
                    <a:pt x="568" y="418"/>
                  </a:cubicBezTo>
                  <a:cubicBezTo>
                    <a:pt x="597" y="416"/>
                    <a:pt x="597" y="416"/>
                    <a:pt x="597" y="416"/>
                  </a:cubicBezTo>
                  <a:cubicBezTo>
                    <a:pt x="594" y="405"/>
                    <a:pt x="594" y="405"/>
                    <a:pt x="594" y="405"/>
                  </a:cubicBezTo>
                  <a:cubicBezTo>
                    <a:pt x="582" y="363"/>
                    <a:pt x="582" y="363"/>
                    <a:pt x="582" y="363"/>
                  </a:cubicBezTo>
                  <a:cubicBezTo>
                    <a:pt x="554" y="365"/>
                    <a:pt x="554" y="365"/>
                    <a:pt x="554" y="365"/>
                  </a:cubicBezTo>
                  <a:cubicBezTo>
                    <a:pt x="517" y="341"/>
                    <a:pt x="517" y="341"/>
                    <a:pt x="517" y="341"/>
                  </a:cubicBezTo>
                  <a:cubicBezTo>
                    <a:pt x="510" y="329"/>
                    <a:pt x="510" y="329"/>
                    <a:pt x="510" y="329"/>
                  </a:cubicBezTo>
                  <a:cubicBezTo>
                    <a:pt x="487" y="321"/>
                    <a:pt x="487" y="321"/>
                    <a:pt x="487" y="321"/>
                  </a:cubicBezTo>
                  <a:cubicBezTo>
                    <a:pt x="463" y="298"/>
                    <a:pt x="463" y="298"/>
                    <a:pt x="463" y="298"/>
                  </a:cubicBezTo>
                  <a:cubicBezTo>
                    <a:pt x="480" y="286"/>
                    <a:pt x="480" y="286"/>
                    <a:pt x="480" y="286"/>
                  </a:cubicBezTo>
                  <a:cubicBezTo>
                    <a:pt x="498" y="279"/>
                    <a:pt x="498" y="279"/>
                    <a:pt x="498" y="279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50" y="263"/>
                    <a:pt x="450" y="263"/>
                    <a:pt x="450" y="263"/>
                  </a:cubicBezTo>
                  <a:cubicBezTo>
                    <a:pt x="451" y="252"/>
                    <a:pt x="451" y="252"/>
                    <a:pt x="451" y="252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43" y="237"/>
                    <a:pt x="443" y="237"/>
                    <a:pt x="443" y="237"/>
                  </a:cubicBezTo>
                  <a:cubicBezTo>
                    <a:pt x="459" y="237"/>
                    <a:pt x="459" y="237"/>
                    <a:pt x="459" y="237"/>
                  </a:cubicBezTo>
                  <a:cubicBezTo>
                    <a:pt x="472" y="230"/>
                    <a:pt x="472" y="230"/>
                    <a:pt x="472" y="230"/>
                  </a:cubicBezTo>
                  <a:cubicBezTo>
                    <a:pt x="471" y="224"/>
                    <a:pt x="471" y="224"/>
                    <a:pt x="471" y="224"/>
                  </a:cubicBezTo>
                  <a:cubicBezTo>
                    <a:pt x="461" y="216"/>
                    <a:pt x="461" y="216"/>
                    <a:pt x="461" y="216"/>
                  </a:cubicBezTo>
                  <a:cubicBezTo>
                    <a:pt x="438" y="179"/>
                    <a:pt x="438" y="179"/>
                    <a:pt x="438" y="179"/>
                  </a:cubicBezTo>
                  <a:cubicBezTo>
                    <a:pt x="427" y="161"/>
                    <a:pt x="427" y="161"/>
                    <a:pt x="427" y="161"/>
                  </a:cubicBezTo>
                  <a:cubicBezTo>
                    <a:pt x="420" y="157"/>
                    <a:pt x="420" y="157"/>
                    <a:pt x="420" y="157"/>
                  </a:cubicBezTo>
                  <a:cubicBezTo>
                    <a:pt x="413" y="135"/>
                    <a:pt x="413" y="135"/>
                    <a:pt x="413" y="135"/>
                  </a:cubicBezTo>
                  <a:cubicBezTo>
                    <a:pt x="395" y="78"/>
                    <a:pt x="395" y="78"/>
                    <a:pt x="395" y="78"/>
                  </a:cubicBezTo>
                  <a:cubicBezTo>
                    <a:pt x="374" y="49"/>
                    <a:pt x="374" y="49"/>
                    <a:pt x="374" y="49"/>
                  </a:cubicBezTo>
                  <a:cubicBezTo>
                    <a:pt x="344" y="31"/>
                    <a:pt x="344" y="31"/>
                    <a:pt x="344" y="31"/>
                  </a:cubicBezTo>
                  <a:cubicBezTo>
                    <a:pt x="345" y="14"/>
                    <a:pt x="345" y="14"/>
                    <a:pt x="345" y="14"/>
                  </a:cubicBezTo>
                  <a:cubicBezTo>
                    <a:pt x="357" y="10"/>
                    <a:pt x="357" y="10"/>
                    <a:pt x="357" y="10"/>
                  </a:cubicBezTo>
                  <a:lnTo>
                    <a:pt x="364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5C7C6BA8-D8BA-10F6-1DFE-671054E90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415" y="3512887"/>
              <a:ext cx="801688" cy="1025525"/>
            </a:xfrm>
            <a:custGeom>
              <a:avLst/>
              <a:gdLst/>
              <a:ahLst/>
              <a:cxnLst>
                <a:cxn ang="0">
                  <a:pos x="261" y="5"/>
                </a:cxn>
                <a:cxn ang="0">
                  <a:pos x="215" y="14"/>
                </a:cxn>
                <a:cxn ang="0">
                  <a:pos x="192" y="38"/>
                </a:cxn>
                <a:cxn ang="0">
                  <a:pos x="173" y="43"/>
                </a:cxn>
                <a:cxn ang="0">
                  <a:pos x="155" y="27"/>
                </a:cxn>
                <a:cxn ang="0">
                  <a:pos x="125" y="24"/>
                </a:cxn>
                <a:cxn ang="0">
                  <a:pos x="97" y="16"/>
                </a:cxn>
                <a:cxn ang="0">
                  <a:pos x="82" y="31"/>
                </a:cxn>
                <a:cxn ang="0">
                  <a:pos x="32" y="24"/>
                </a:cxn>
                <a:cxn ang="0">
                  <a:pos x="38" y="51"/>
                </a:cxn>
                <a:cxn ang="0">
                  <a:pos x="49" y="84"/>
                </a:cxn>
                <a:cxn ang="0">
                  <a:pos x="37" y="87"/>
                </a:cxn>
                <a:cxn ang="0">
                  <a:pos x="31" y="68"/>
                </a:cxn>
                <a:cxn ang="0">
                  <a:pos x="0" y="97"/>
                </a:cxn>
                <a:cxn ang="0">
                  <a:pos x="24" y="123"/>
                </a:cxn>
                <a:cxn ang="0">
                  <a:pos x="33" y="160"/>
                </a:cxn>
                <a:cxn ang="0">
                  <a:pos x="24" y="185"/>
                </a:cxn>
                <a:cxn ang="0">
                  <a:pos x="12" y="207"/>
                </a:cxn>
                <a:cxn ang="0">
                  <a:pos x="20" y="236"/>
                </a:cxn>
                <a:cxn ang="0">
                  <a:pos x="31" y="257"/>
                </a:cxn>
                <a:cxn ang="0">
                  <a:pos x="14" y="273"/>
                </a:cxn>
                <a:cxn ang="0">
                  <a:pos x="40" y="282"/>
                </a:cxn>
                <a:cxn ang="0">
                  <a:pos x="65" y="291"/>
                </a:cxn>
                <a:cxn ang="0">
                  <a:pos x="120" y="332"/>
                </a:cxn>
                <a:cxn ang="0">
                  <a:pos x="158" y="358"/>
                </a:cxn>
                <a:cxn ang="0">
                  <a:pos x="134" y="373"/>
                </a:cxn>
                <a:cxn ang="0">
                  <a:pos x="144" y="409"/>
                </a:cxn>
                <a:cxn ang="0">
                  <a:pos x="183" y="425"/>
                </a:cxn>
                <a:cxn ang="0">
                  <a:pos x="221" y="436"/>
                </a:cxn>
                <a:cxn ang="0">
                  <a:pos x="222" y="471"/>
                </a:cxn>
                <a:cxn ang="0">
                  <a:pos x="206" y="474"/>
                </a:cxn>
                <a:cxn ang="0">
                  <a:pos x="239" y="487"/>
                </a:cxn>
                <a:cxn ang="0">
                  <a:pos x="275" y="484"/>
                </a:cxn>
                <a:cxn ang="0">
                  <a:pos x="264" y="443"/>
                </a:cxn>
                <a:cxn ang="0">
                  <a:pos x="304" y="448"/>
                </a:cxn>
                <a:cxn ang="0">
                  <a:pos x="332" y="436"/>
                </a:cxn>
                <a:cxn ang="0">
                  <a:pos x="340" y="404"/>
                </a:cxn>
                <a:cxn ang="0">
                  <a:pos x="375" y="374"/>
                </a:cxn>
                <a:cxn ang="0">
                  <a:pos x="370" y="324"/>
                </a:cxn>
                <a:cxn ang="0">
                  <a:pos x="370" y="273"/>
                </a:cxn>
                <a:cxn ang="0">
                  <a:pos x="349" y="207"/>
                </a:cxn>
                <a:cxn ang="0">
                  <a:pos x="384" y="134"/>
                </a:cxn>
                <a:cxn ang="0">
                  <a:pos x="339" y="79"/>
                </a:cxn>
                <a:cxn ang="0">
                  <a:pos x="314" y="26"/>
                </a:cxn>
                <a:cxn ang="0">
                  <a:pos x="278" y="7"/>
                </a:cxn>
              </a:cxnLst>
              <a:rect l="0" t="0" r="r" b="b"/>
              <a:pathLst>
                <a:path w="384" h="491">
                  <a:moveTo>
                    <a:pt x="267" y="0"/>
                  </a:moveTo>
                  <a:cubicBezTo>
                    <a:pt x="261" y="5"/>
                    <a:pt x="261" y="5"/>
                    <a:pt x="261" y="5"/>
                  </a:cubicBezTo>
                  <a:cubicBezTo>
                    <a:pt x="247" y="5"/>
                    <a:pt x="247" y="5"/>
                    <a:pt x="247" y="5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38" y="22"/>
                    <a:pt x="138" y="22"/>
                    <a:pt x="138" y="22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97" y="16"/>
                    <a:pt x="97" y="16"/>
                    <a:pt x="97" y="16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37" y="87"/>
                    <a:pt x="37" y="87"/>
                    <a:pt x="37" y="87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7" y="119"/>
                    <a:pt x="17" y="119"/>
                    <a:pt x="17" y="119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34" y="141"/>
                    <a:pt x="34" y="141"/>
                    <a:pt x="34" y="14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1" y="198"/>
                    <a:pt x="21" y="198"/>
                    <a:pt x="21" y="198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6" y="236"/>
                    <a:pt x="6" y="236"/>
                    <a:pt x="6" y="236"/>
                  </a:cubicBezTo>
                  <a:cubicBezTo>
                    <a:pt x="20" y="236"/>
                    <a:pt x="20" y="236"/>
                    <a:pt x="20" y="236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31" y="257"/>
                    <a:pt x="31" y="257"/>
                    <a:pt x="3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14" y="273"/>
                    <a:pt x="14" y="273"/>
                    <a:pt x="14" y="273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40" y="282"/>
                    <a:pt x="40" y="282"/>
                    <a:pt x="40" y="282"/>
                  </a:cubicBezTo>
                  <a:cubicBezTo>
                    <a:pt x="53" y="279"/>
                    <a:pt x="53" y="279"/>
                    <a:pt x="53" y="279"/>
                  </a:cubicBezTo>
                  <a:cubicBezTo>
                    <a:pt x="65" y="291"/>
                    <a:pt x="65" y="291"/>
                    <a:pt x="65" y="291"/>
                  </a:cubicBezTo>
                  <a:cubicBezTo>
                    <a:pt x="97" y="301"/>
                    <a:pt x="97" y="301"/>
                    <a:pt x="97" y="301"/>
                  </a:cubicBezTo>
                  <a:cubicBezTo>
                    <a:pt x="120" y="332"/>
                    <a:pt x="120" y="332"/>
                    <a:pt x="120" y="332"/>
                  </a:cubicBezTo>
                  <a:cubicBezTo>
                    <a:pt x="150" y="334"/>
                    <a:pt x="150" y="334"/>
                    <a:pt x="150" y="334"/>
                  </a:cubicBezTo>
                  <a:cubicBezTo>
                    <a:pt x="158" y="358"/>
                    <a:pt x="158" y="358"/>
                    <a:pt x="158" y="358"/>
                  </a:cubicBezTo>
                  <a:cubicBezTo>
                    <a:pt x="155" y="368"/>
                    <a:pt x="155" y="368"/>
                    <a:pt x="155" y="368"/>
                  </a:cubicBezTo>
                  <a:cubicBezTo>
                    <a:pt x="134" y="373"/>
                    <a:pt x="134" y="373"/>
                    <a:pt x="134" y="373"/>
                  </a:cubicBezTo>
                  <a:cubicBezTo>
                    <a:pt x="130" y="400"/>
                    <a:pt x="130" y="400"/>
                    <a:pt x="130" y="400"/>
                  </a:cubicBezTo>
                  <a:cubicBezTo>
                    <a:pt x="144" y="409"/>
                    <a:pt x="144" y="409"/>
                    <a:pt x="144" y="409"/>
                  </a:cubicBezTo>
                  <a:cubicBezTo>
                    <a:pt x="161" y="428"/>
                    <a:pt x="161" y="428"/>
                    <a:pt x="161" y="428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7" y="429"/>
                    <a:pt x="187" y="429"/>
                    <a:pt x="187" y="429"/>
                  </a:cubicBezTo>
                  <a:cubicBezTo>
                    <a:pt x="221" y="436"/>
                    <a:pt x="221" y="436"/>
                    <a:pt x="221" y="436"/>
                  </a:cubicBezTo>
                  <a:cubicBezTo>
                    <a:pt x="221" y="461"/>
                    <a:pt x="221" y="461"/>
                    <a:pt x="221" y="461"/>
                  </a:cubicBezTo>
                  <a:cubicBezTo>
                    <a:pt x="222" y="471"/>
                    <a:pt x="222" y="471"/>
                    <a:pt x="222" y="471"/>
                  </a:cubicBezTo>
                  <a:cubicBezTo>
                    <a:pt x="206" y="473"/>
                    <a:pt x="206" y="473"/>
                    <a:pt x="206" y="473"/>
                  </a:cubicBezTo>
                  <a:cubicBezTo>
                    <a:pt x="206" y="474"/>
                    <a:pt x="206" y="474"/>
                    <a:pt x="206" y="474"/>
                  </a:cubicBezTo>
                  <a:cubicBezTo>
                    <a:pt x="223" y="490"/>
                    <a:pt x="223" y="490"/>
                    <a:pt x="223" y="490"/>
                  </a:cubicBezTo>
                  <a:cubicBezTo>
                    <a:pt x="239" y="487"/>
                    <a:pt x="239" y="487"/>
                    <a:pt x="239" y="487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56" y="453"/>
                    <a:pt x="256" y="453"/>
                    <a:pt x="256" y="453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304" y="448"/>
                    <a:pt x="304" y="448"/>
                    <a:pt x="304" y="448"/>
                  </a:cubicBezTo>
                  <a:cubicBezTo>
                    <a:pt x="323" y="446"/>
                    <a:pt x="323" y="446"/>
                    <a:pt x="323" y="446"/>
                  </a:cubicBezTo>
                  <a:cubicBezTo>
                    <a:pt x="332" y="436"/>
                    <a:pt x="332" y="436"/>
                    <a:pt x="332" y="436"/>
                  </a:cubicBezTo>
                  <a:cubicBezTo>
                    <a:pt x="328" y="424"/>
                    <a:pt x="328" y="424"/>
                    <a:pt x="328" y="424"/>
                  </a:cubicBezTo>
                  <a:cubicBezTo>
                    <a:pt x="340" y="404"/>
                    <a:pt x="340" y="404"/>
                    <a:pt x="340" y="404"/>
                  </a:cubicBezTo>
                  <a:cubicBezTo>
                    <a:pt x="372" y="376"/>
                    <a:pt x="372" y="376"/>
                    <a:pt x="372" y="376"/>
                  </a:cubicBezTo>
                  <a:cubicBezTo>
                    <a:pt x="372" y="376"/>
                    <a:pt x="374" y="374"/>
                    <a:pt x="375" y="374"/>
                  </a:cubicBezTo>
                  <a:cubicBezTo>
                    <a:pt x="359" y="347"/>
                    <a:pt x="359" y="347"/>
                    <a:pt x="359" y="347"/>
                  </a:cubicBezTo>
                  <a:cubicBezTo>
                    <a:pt x="370" y="324"/>
                    <a:pt x="370" y="324"/>
                    <a:pt x="370" y="324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0" y="273"/>
                    <a:pt x="370" y="273"/>
                    <a:pt x="370" y="273"/>
                  </a:cubicBezTo>
                  <a:cubicBezTo>
                    <a:pt x="345" y="243"/>
                    <a:pt x="345" y="243"/>
                    <a:pt x="345" y="243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71" y="176"/>
                    <a:pt x="371" y="176"/>
                    <a:pt x="371" y="176"/>
                  </a:cubicBezTo>
                  <a:cubicBezTo>
                    <a:pt x="384" y="134"/>
                    <a:pt x="384" y="134"/>
                    <a:pt x="384" y="134"/>
                  </a:cubicBezTo>
                  <a:cubicBezTo>
                    <a:pt x="384" y="77"/>
                    <a:pt x="384" y="77"/>
                    <a:pt x="384" y="77"/>
                  </a:cubicBezTo>
                  <a:cubicBezTo>
                    <a:pt x="339" y="79"/>
                    <a:pt x="339" y="79"/>
                    <a:pt x="339" y="79"/>
                  </a:cubicBezTo>
                  <a:cubicBezTo>
                    <a:pt x="310" y="26"/>
                    <a:pt x="310" y="26"/>
                    <a:pt x="310" y="26"/>
                  </a:cubicBezTo>
                  <a:cubicBezTo>
                    <a:pt x="314" y="26"/>
                    <a:pt x="314" y="26"/>
                    <a:pt x="314" y="26"/>
                  </a:cubicBezTo>
                  <a:cubicBezTo>
                    <a:pt x="307" y="5"/>
                    <a:pt x="307" y="5"/>
                    <a:pt x="307" y="5"/>
                  </a:cubicBezTo>
                  <a:cubicBezTo>
                    <a:pt x="278" y="7"/>
                    <a:pt x="278" y="7"/>
                    <a:pt x="278" y="7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A2522E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C41D68B7-0476-B806-272E-E6B86BE80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6095" y="4136773"/>
              <a:ext cx="523875" cy="944562"/>
            </a:xfrm>
            <a:custGeom>
              <a:avLst/>
              <a:gdLst/>
              <a:ahLst/>
              <a:cxnLst>
                <a:cxn ang="0">
                  <a:pos x="119" y="19"/>
                </a:cxn>
                <a:cxn ang="0">
                  <a:pos x="107" y="52"/>
                </a:cxn>
                <a:cxn ang="0">
                  <a:pos x="84" y="70"/>
                </a:cxn>
                <a:cxn ang="0">
                  <a:pos x="62" y="91"/>
                </a:cxn>
                <a:cxn ang="0">
                  <a:pos x="69" y="115"/>
                </a:cxn>
                <a:cxn ang="0">
                  <a:pos x="49" y="109"/>
                </a:cxn>
                <a:cxn ang="0">
                  <a:pos x="25" y="114"/>
                </a:cxn>
                <a:cxn ang="0">
                  <a:pos x="18" y="147"/>
                </a:cxn>
                <a:cxn ang="0">
                  <a:pos x="38" y="165"/>
                </a:cxn>
                <a:cxn ang="0">
                  <a:pos x="55" y="196"/>
                </a:cxn>
                <a:cxn ang="0">
                  <a:pos x="32" y="205"/>
                </a:cxn>
                <a:cxn ang="0">
                  <a:pos x="14" y="249"/>
                </a:cxn>
                <a:cxn ang="0">
                  <a:pos x="11" y="290"/>
                </a:cxn>
                <a:cxn ang="0">
                  <a:pos x="19" y="313"/>
                </a:cxn>
                <a:cxn ang="0">
                  <a:pos x="14" y="355"/>
                </a:cxn>
                <a:cxn ang="0">
                  <a:pos x="18" y="374"/>
                </a:cxn>
                <a:cxn ang="0">
                  <a:pos x="27" y="392"/>
                </a:cxn>
                <a:cxn ang="0">
                  <a:pos x="26" y="420"/>
                </a:cxn>
                <a:cxn ang="0">
                  <a:pos x="64" y="440"/>
                </a:cxn>
                <a:cxn ang="0">
                  <a:pos x="110" y="431"/>
                </a:cxn>
                <a:cxn ang="0">
                  <a:pos x="128" y="446"/>
                </a:cxn>
                <a:cxn ang="0">
                  <a:pos x="176" y="445"/>
                </a:cxn>
                <a:cxn ang="0">
                  <a:pos x="184" y="388"/>
                </a:cxn>
                <a:cxn ang="0">
                  <a:pos x="183" y="338"/>
                </a:cxn>
                <a:cxn ang="0">
                  <a:pos x="174" y="314"/>
                </a:cxn>
                <a:cxn ang="0">
                  <a:pos x="177" y="275"/>
                </a:cxn>
                <a:cxn ang="0">
                  <a:pos x="169" y="251"/>
                </a:cxn>
                <a:cxn ang="0">
                  <a:pos x="155" y="224"/>
                </a:cxn>
                <a:cxn ang="0">
                  <a:pos x="189" y="190"/>
                </a:cxn>
                <a:cxn ang="0">
                  <a:pos x="215" y="188"/>
                </a:cxn>
                <a:cxn ang="0">
                  <a:pos x="235" y="174"/>
                </a:cxn>
                <a:cxn ang="0">
                  <a:pos x="250" y="162"/>
                </a:cxn>
                <a:cxn ang="0">
                  <a:pos x="216" y="130"/>
                </a:cxn>
                <a:cxn ang="0">
                  <a:pos x="190" y="129"/>
                </a:cxn>
                <a:cxn ang="0">
                  <a:pos x="159" y="101"/>
                </a:cxn>
                <a:cxn ang="0">
                  <a:pos x="184" y="69"/>
                </a:cxn>
                <a:cxn ang="0">
                  <a:pos x="179" y="35"/>
                </a:cxn>
                <a:cxn ang="0">
                  <a:pos x="126" y="2"/>
                </a:cxn>
              </a:cxnLst>
              <a:rect l="0" t="0" r="r" b="b"/>
              <a:pathLst>
                <a:path w="251" h="452">
                  <a:moveTo>
                    <a:pt x="119" y="0"/>
                  </a:moveTo>
                  <a:cubicBezTo>
                    <a:pt x="119" y="19"/>
                    <a:pt x="119" y="19"/>
                    <a:pt x="119" y="1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07" y="52"/>
                    <a:pt x="107" y="52"/>
                    <a:pt x="107" y="52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4" y="104"/>
                    <a:pt x="64" y="104"/>
                    <a:pt x="64" y="104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25" y="114"/>
                    <a:pt x="25" y="114"/>
                    <a:pt x="25" y="114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38" y="165"/>
                    <a:pt x="38" y="165"/>
                    <a:pt x="38" y="165"/>
                  </a:cubicBezTo>
                  <a:cubicBezTo>
                    <a:pt x="55" y="185"/>
                    <a:pt x="55" y="185"/>
                    <a:pt x="55" y="18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49" y="204"/>
                    <a:pt x="49" y="204"/>
                    <a:pt x="49" y="204"/>
                  </a:cubicBezTo>
                  <a:cubicBezTo>
                    <a:pt x="32" y="205"/>
                    <a:pt x="32" y="205"/>
                    <a:pt x="32" y="205"/>
                  </a:cubicBezTo>
                  <a:cubicBezTo>
                    <a:pt x="16" y="231"/>
                    <a:pt x="16" y="231"/>
                    <a:pt x="16" y="231"/>
                  </a:cubicBezTo>
                  <a:cubicBezTo>
                    <a:pt x="14" y="249"/>
                    <a:pt x="14" y="249"/>
                    <a:pt x="14" y="249"/>
                  </a:cubicBezTo>
                  <a:cubicBezTo>
                    <a:pt x="7" y="259"/>
                    <a:pt x="7" y="259"/>
                    <a:pt x="7" y="259"/>
                  </a:cubicBezTo>
                  <a:cubicBezTo>
                    <a:pt x="11" y="290"/>
                    <a:pt x="11" y="290"/>
                    <a:pt x="11" y="290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9" y="313"/>
                    <a:pt x="19" y="313"/>
                    <a:pt x="19" y="313"/>
                  </a:cubicBezTo>
                  <a:cubicBezTo>
                    <a:pt x="3" y="337"/>
                    <a:pt x="3" y="337"/>
                    <a:pt x="3" y="337"/>
                  </a:cubicBezTo>
                  <a:cubicBezTo>
                    <a:pt x="14" y="355"/>
                    <a:pt x="14" y="355"/>
                    <a:pt x="14" y="355"/>
                  </a:cubicBezTo>
                  <a:cubicBezTo>
                    <a:pt x="18" y="365"/>
                    <a:pt x="18" y="365"/>
                    <a:pt x="18" y="365"/>
                  </a:cubicBezTo>
                  <a:cubicBezTo>
                    <a:pt x="18" y="374"/>
                    <a:pt x="18" y="374"/>
                    <a:pt x="18" y="374"/>
                  </a:cubicBezTo>
                  <a:cubicBezTo>
                    <a:pt x="21" y="374"/>
                    <a:pt x="21" y="374"/>
                    <a:pt x="21" y="374"/>
                  </a:cubicBezTo>
                  <a:cubicBezTo>
                    <a:pt x="27" y="392"/>
                    <a:pt x="27" y="392"/>
                    <a:pt x="27" y="392"/>
                  </a:cubicBezTo>
                  <a:cubicBezTo>
                    <a:pt x="23" y="415"/>
                    <a:pt x="23" y="415"/>
                    <a:pt x="23" y="415"/>
                  </a:cubicBezTo>
                  <a:cubicBezTo>
                    <a:pt x="23" y="415"/>
                    <a:pt x="25" y="418"/>
                    <a:pt x="26" y="420"/>
                  </a:cubicBezTo>
                  <a:cubicBezTo>
                    <a:pt x="44" y="426"/>
                    <a:pt x="44" y="426"/>
                    <a:pt x="44" y="426"/>
                  </a:cubicBezTo>
                  <a:cubicBezTo>
                    <a:pt x="64" y="440"/>
                    <a:pt x="64" y="440"/>
                    <a:pt x="64" y="440"/>
                  </a:cubicBezTo>
                  <a:cubicBezTo>
                    <a:pt x="102" y="443"/>
                    <a:pt x="102" y="443"/>
                    <a:pt x="102" y="443"/>
                  </a:cubicBezTo>
                  <a:cubicBezTo>
                    <a:pt x="110" y="431"/>
                    <a:pt x="110" y="431"/>
                    <a:pt x="110" y="431"/>
                  </a:cubicBezTo>
                  <a:cubicBezTo>
                    <a:pt x="121" y="430"/>
                    <a:pt x="121" y="430"/>
                    <a:pt x="121" y="430"/>
                  </a:cubicBezTo>
                  <a:cubicBezTo>
                    <a:pt x="121" y="430"/>
                    <a:pt x="125" y="441"/>
                    <a:pt x="128" y="446"/>
                  </a:cubicBezTo>
                  <a:cubicBezTo>
                    <a:pt x="131" y="452"/>
                    <a:pt x="161" y="452"/>
                    <a:pt x="161" y="452"/>
                  </a:cubicBezTo>
                  <a:cubicBezTo>
                    <a:pt x="176" y="445"/>
                    <a:pt x="176" y="445"/>
                    <a:pt x="176" y="445"/>
                  </a:cubicBezTo>
                  <a:cubicBezTo>
                    <a:pt x="177" y="426"/>
                    <a:pt x="177" y="426"/>
                    <a:pt x="177" y="426"/>
                  </a:cubicBezTo>
                  <a:cubicBezTo>
                    <a:pt x="184" y="388"/>
                    <a:pt x="184" y="388"/>
                    <a:pt x="184" y="388"/>
                  </a:cubicBezTo>
                  <a:cubicBezTo>
                    <a:pt x="182" y="354"/>
                    <a:pt x="182" y="354"/>
                    <a:pt x="182" y="354"/>
                  </a:cubicBezTo>
                  <a:cubicBezTo>
                    <a:pt x="183" y="338"/>
                    <a:pt x="183" y="338"/>
                    <a:pt x="183" y="338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74" y="314"/>
                    <a:pt x="174" y="314"/>
                    <a:pt x="174" y="314"/>
                  </a:cubicBezTo>
                  <a:cubicBezTo>
                    <a:pt x="167" y="281"/>
                    <a:pt x="167" y="281"/>
                    <a:pt x="167" y="281"/>
                  </a:cubicBezTo>
                  <a:cubicBezTo>
                    <a:pt x="177" y="275"/>
                    <a:pt x="177" y="275"/>
                    <a:pt x="177" y="275"/>
                  </a:cubicBezTo>
                  <a:cubicBezTo>
                    <a:pt x="178" y="258"/>
                    <a:pt x="178" y="258"/>
                    <a:pt x="178" y="258"/>
                  </a:cubicBezTo>
                  <a:cubicBezTo>
                    <a:pt x="169" y="251"/>
                    <a:pt x="169" y="251"/>
                    <a:pt x="169" y="251"/>
                  </a:cubicBezTo>
                  <a:cubicBezTo>
                    <a:pt x="178" y="242"/>
                    <a:pt x="178" y="242"/>
                    <a:pt x="178" y="242"/>
                  </a:cubicBezTo>
                  <a:cubicBezTo>
                    <a:pt x="155" y="224"/>
                    <a:pt x="155" y="224"/>
                    <a:pt x="155" y="224"/>
                  </a:cubicBezTo>
                  <a:cubicBezTo>
                    <a:pt x="167" y="191"/>
                    <a:pt x="167" y="191"/>
                    <a:pt x="167" y="191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205" y="183"/>
                    <a:pt x="205" y="183"/>
                    <a:pt x="205" y="183"/>
                  </a:cubicBezTo>
                  <a:cubicBezTo>
                    <a:pt x="215" y="188"/>
                    <a:pt x="215" y="188"/>
                    <a:pt x="215" y="188"/>
                  </a:cubicBezTo>
                  <a:cubicBezTo>
                    <a:pt x="232" y="180"/>
                    <a:pt x="232" y="180"/>
                    <a:pt x="232" y="180"/>
                  </a:cubicBezTo>
                  <a:cubicBezTo>
                    <a:pt x="235" y="174"/>
                    <a:pt x="235" y="174"/>
                    <a:pt x="235" y="174"/>
                  </a:cubicBezTo>
                  <a:cubicBezTo>
                    <a:pt x="251" y="172"/>
                    <a:pt x="251" y="172"/>
                    <a:pt x="251" y="172"/>
                  </a:cubicBezTo>
                  <a:cubicBezTo>
                    <a:pt x="250" y="162"/>
                    <a:pt x="250" y="162"/>
                    <a:pt x="250" y="162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16" y="130"/>
                    <a:pt x="216" y="130"/>
                    <a:pt x="216" y="130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84" y="69"/>
                    <a:pt x="184" y="69"/>
                    <a:pt x="184" y="69"/>
                  </a:cubicBezTo>
                  <a:cubicBezTo>
                    <a:pt x="187" y="59"/>
                    <a:pt x="187" y="59"/>
                    <a:pt x="187" y="59"/>
                  </a:cubicBezTo>
                  <a:cubicBezTo>
                    <a:pt x="179" y="35"/>
                    <a:pt x="179" y="35"/>
                    <a:pt x="179" y="35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26" y="2"/>
                    <a:pt x="126" y="2"/>
                    <a:pt x="126" y="2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D815928C-30D9-2152-2C46-25872AEDC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491" y="3676902"/>
              <a:ext cx="730250" cy="1244600"/>
            </a:xfrm>
            <a:custGeom>
              <a:avLst/>
              <a:gdLst/>
              <a:ahLst/>
              <a:cxnLst>
                <a:cxn ang="0">
                  <a:pos x="276" y="21"/>
                </a:cxn>
                <a:cxn ang="0">
                  <a:pos x="207" y="21"/>
                </a:cxn>
                <a:cxn ang="0">
                  <a:pos x="181" y="75"/>
                </a:cxn>
                <a:cxn ang="0">
                  <a:pos x="152" y="169"/>
                </a:cxn>
                <a:cxn ang="0">
                  <a:pos x="119" y="307"/>
                </a:cxn>
                <a:cxn ang="0">
                  <a:pos x="86" y="321"/>
                </a:cxn>
                <a:cxn ang="0">
                  <a:pos x="57" y="311"/>
                </a:cxn>
                <a:cxn ang="0">
                  <a:pos x="59" y="363"/>
                </a:cxn>
                <a:cxn ang="0">
                  <a:pos x="56" y="392"/>
                </a:cxn>
                <a:cxn ang="0">
                  <a:pos x="76" y="462"/>
                </a:cxn>
                <a:cxn ang="0">
                  <a:pos x="76" y="537"/>
                </a:cxn>
                <a:cxn ang="0">
                  <a:pos x="0" y="613"/>
                </a:cxn>
                <a:cxn ang="0">
                  <a:pos x="36" y="716"/>
                </a:cxn>
                <a:cxn ang="0">
                  <a:pos x="98" y="737"/>
                </a:cxn>
                <a:cxn ang="0">
                  <a:pos x="146" y="723"/>
                </a:cxn>
                <a:cxn ang="0">
                  <a:pos x="134" y="780"/>
                </a:cxn>
                <a:cxn ang="0">
                  <a:pos x="327" y="773"/>
                </a:cxn>
                <a:cxn ang="0">
                  <a:pos x="307" y="736"/>
                </a:cxn>
                <a:cxn ang="0">
                  <a:pos x="304" y="682"/>
                </a:cxn>
                <a:cxn ang="0">
                  <a:pos x="313" y="633"/>
                </a:cxn>
                <a:cxn ang="0">
                  <a:pos x="325" y="596"/>
                </a:cxn>
                <a:cxn ang="0">
                  <a:pos x="368" y="561"/>
                </a:cxn>
                <a:cxn ang="0">
                  <a:pos x="376" y="536"/>
                </a:cxn>
                <a:cxn ang="0">
                  <a:pos x="336" y="503"/>
                </a:cxn>
                <a:cxn ang="0">
                  <a:pos x="334" y="463"/>
                </a:cxn>
                <a:cxn ang="0">
                  <a:pos x="355" y="436"/>
                </a:cxn>
                <a:cxn ang="0">
                  <a:pos x="382" y="451"/>
                </a:cxn>
                <a:cxn ang="0">
                  <a:pos x="388" y="429"/>
                </a:cxn>
                <a:cxn ang="0">
                  <a:pos x="405" y="399"/>
                </a:cxn>
                <a:cxn ang="0">
                  <a:pos x="419" y="370"/>
                </a:cxn>
                <a:cxn ang="0">
                  <a:pos x="456" y="348"/>
                </a:cxn>
                <a:cxn ang="0">
                  <a:pos x="460" y="292"/>
                </a:cxn>
                <a:cxn ang="0">
                  <a:pos x="411" y="266"/>
                </a:cxn>
                <a:cxn ang="0">
                  <a:pos x="371" y="254"/>
                </a:cxn>
                <a:cxn ang="0">
                  <a:pos x="369" y="237"/>
                </a:cxn>
                <a:cxn ang="0">
                  <a:pos x="386" y="219"/>
                </a:cxn>
                <a:cxn ang="0">
                  <a:pos x="350" y="209"/>
                </a:cxn>
                <a:cxn ang="0">
                  <a:pos x="369" y="159"/>
                </a:cxn>
                <a:cxn ang="0">
                  <a:pos x="380" y="136"/>
                </a:cxn>
                <a:cxn ang="0">
                  <a:pos x="386" y="84"/>
                </a:cxn>
                <a:cxn ang="0">
                  <a:pos x="364" y="55"/>
                </a:cxn>
                <a:cxn ang="0">
                  <a:pos x="321" y="28"/>
                </a:cxn>
                <a:cxn ang="0">
                  <a:pos x="276" y="0"/>
                </a:cxn>
              </a:cxnLst>
              <a:rect l="0" t="0" r="r" b="b"/>
              <a:pathLst>
                <a:path w="460" h="784">
                  <a:moveTo>
                    <a:pt x="276" y="0"/>
                  </a:moveTo>
                  <a:lnTo>
                    <a:pt x="276" y="21"/>
                  </a:lnTo>
                  <a:lnTo>
                    <a:pt x="240" y="28"/>
                  </a:lnTo>
                  <a:lnTo>
                    <a:pt x="207" y="21"/>
                  </a:lnTo>
                  <a:lnTo>
                    <a:pt x="197" y="57"/>
                  </a:lnTo>
                  <a:lnTo>
                    <a:pt x="181" y="75"/>
                  </a:lnTo>
                  <a:lnTo>
                    <a:pt x="151" y="149"/>
                  </a:lnTo>
                  <a:lnTo>
                    <a:pt x="152" y="169"/>
                  </a:lnTo>
                  <a:lnTo>
                    <a:pt x="157" y="290"/>
                  </a:lnTo>
                  <a:lnTo>
                    <a:pt x="119" y="307"/>
                  </a:lnTo>
                  <a:lnTo>
                    <a:pt x="101" y="324"/>
                  </a:lnTo>
                  <a:lnTo>
                    <a:pt x="86" y="321"/>
                  </a:lnTo>
                  <a:lnTo>
                    <a:pt x="72" y="311"/>
                  </a:lnTo>
                  <a:lnTo>
                    <a:pt x="57" y="311"/>
                  </a:lnTo>
                  <a:lnTo>
                    <a:pt x="72" y="350"/>
                  </a:lnTo>
                  <a:lnTo>
                    <a:pt x="59" y="363"/>
                  </a:lnTo>
                  <a:lnTo>
                    <a:pt x="63" y="375"/>
                  </a:lnTo>
                  <a:lnTo>
                    <a:pt x="56" y="392"/>
                  </a:lnTo>
                  <a:lnTo>
                    <a:pt x="65" y="421"/>
                  </a:lnTo>
                  <a:lnTo>
                    <a:pt x="76" y="462"/>
                  </a:lnTo>
                  <a:lnTo>
                    <a:pt x="65" y="500"/>
                  </a:lnTo>
                  <a:lnTo>
                    <a:pt x="76" y="537"/>
                  </a:lnTo>
                  <a:lnTo>
                    <a:pt x="50" y="567"/>
                  </a:lnTo>
                  <a:lnTo>
                    <a:pt x="0" y="613"/>
                  </a:lnTo>
                  <a:lnTo>
                    <a:pt x="4" y="684"/>
                  </a:lnTo>
                  <a:lnTo>
                    <a:pt x="36" y="716"/>
                  </a:lnTo>
                  <a:lnTo>
                    <a:pt x="40" y="736"/>
                  </a:lnTo>
                  <a:lnTo>
                    <a:pt x="98" y="737"/>
                  </a:lnTo>
                  <a:lnTo>
                    <a:pt x="100" y="723"/>
                  </a:lnTo>
                  <a:lnTo>
                    <a:pt x="146" y="723"/>
                  </a:lnTo>
                  <a:lnTo>
                    <a:pt x="135" y="758"/>
                  </a:lnTo>
                  <a:lnTo>
                    <a:pt x="134" y="780"/>
                  </a:lnTo>
                  <a:lnTo>
                    <a:pt x="327" y="784"/>
                  </a:lnTo>
                  <a:lnTo>
                    <a:pt x="327" y="773"/>
                  </a:lnTo>
                  <a:lnTo>
                    <a:pt x="322" y="759"/>
                  </a:lnTo>
                  <a:lnTo>
                    <a:pt x="307" y="736"/>
                  </a:lnTo>
                  <a:lnTo>
                    <a:pt x="329" y="704"/>
                  </a:lnTo>
                  <a:lnTo>
                    <a:pt x="304" y="682"/>
                  </a:lnTo>
                  <a:lnTo>
                    <a:pt x="318" y="674"/>
                  </a:lnTo>
                  <a:lnTo>
                    <a:pt x="313" y="633"/>
                  </a:lnTo>
                  <a:lnTo>
                    <a:pt x="322" y="620"/>
                  </a:lnTo>
                  <a:lnTo>
                    <a:pt x="325" y="596"/>
                  </a:lnTo>
                  <a:lnTo>
                    <a:pt x="346" y="562"/>
                  </a:lnTo>
                  <a:lnTo>
                    <a:pt x="368" y="561"/>
                  </a:lnTo>
                  <a:lnTo>
                    <a:pt x="376" y="550"/>
                  </a:lnTo>
                  <a:lnTo>
                    <a:pt x="376" y="536"/>
                  </a:lnTo>
                  <a:lnTo>
                    <a:pt x="354" y="509"/>
                  </a:lnTo>
                  <a:lnTo>
                    <a:pt x="336" y="503"/>
                  </a:lnTo>
                  <a:lnTo>
                    <a:pt x="327" y="486"/>
                  </a:lnTo>
                  <a:lnTo>
                    <a:pt x="334" y="463"/>
                  </a:lnTo>
                  <a:lnTo>
                    <a:pt x="336" y="442"/>
                  </a:lnTo>
                  <a:lnTo>
                    <a:pt x="355" y="436"/>
                  </a:lnTo>
                  <a:lnTo>
                    <a:pt x="368" y="436"/>
                  </a:lnTo>
                  <a:lnTo>
                    <a:pt x="382" y="451"/>
                  </a:lnTo>
                  <a:lnTo>
                    <a:pt x="394" y="444"/>
                  </a:lnTo>
                  <a:lnTo>
                    <a:pt x="388" y="429"/>
                  </a:lnTo>
                  <a:lnTo>
                    <a:pt x="385" y="412"/>
                  </a:lnTo>
                  <a:lnTo>
                    <a:pt x="405" y="399"/>
                  </a:lnTo>
                  <a:lnTo>
                    <a:pt x="414" y="384"/>
                  </a:lnTo>
                  <a:lnTo>
                    <a:pt x="419" y="370"/>
                  </a:lnTo>
                  <a:lnTo>
                    <a:pt x="444" y="361"/>
                  </a:lnTo>
                  <a:lnTo>
                    <a:pt x="456" y="348"/>
                  </a:lnTo>
                  <a:lnTo>
                    <a:pt x="460" y="317"/>
                  </a:lnTo>
                  <a:lnTo>
                    <a:pt x="460" y="292"/>
                  </a:lnTo>
                  <a:lnTo>
                    <a:pt x="427" y="282"/>
                  </a:lnTo>
                  <a:lnTo>
                    <a:pt x="411" y="266"/>
                  </a:lnTo>
                  <a:lnTo>
                    <a:pt x="394" y="270"/>
                  </a:lnTo>
                  <a:lnTo>
                    <a:pt x="371" y="254"/>
                  </a:lnTo>
                  <a:lnTo>
                    <a:pt x="360" y="258"/>
                  </a:lnTo>
                  <a:lnTo>
                    <a:pt x="369" y="237"/>
                  </a:lnTo>
                  <a:lnTo>
                    <a:pt x="382" y="237"/>
                  </a:lnTo>
                  <a:lnTo>
                    <a:pt x="386" y="219"/>
                  </a:lnTo>
                  <a:lnTo>
                    <a:pt x="368" y="209"/>
                  </a:lnTo>
                  <a:lnTo>
                    <a:pt x="350" y="209"/>
                  </a:lnTo>
                  <a:lnTo>
                    <a:pt x="357" y="171"/>
                  </a:lnTo>
                  <a:lnTo>
                    <a:pt x="369" y="159"/>
                  </a:lnTo>
                  <a:lnTo>
                    <a:pt x="373" y="142"/>
                  </a:lnTo>
                  <a:lnTo>
                    <a:pt x="380" y="136"/>
                  </a:lnTo>
                  <a:lnTo>
                    <a:pt x="385" y="109"/>
                  </a:lnTo>
                  <a:lnTo>
                    <a:pt x="386" y="84"/>
                  </a:lnTo>
                  <a:lnTo>
                    <a:pt x="373" y="61"/>
                  </a:lnTo>
                  <a:lnTo>
                    <a:pt x="364" y="55"/>
                  </a:lnTo>
                  <a:lnTo>
                    <a:pt x="344" y="29"/>
                  </a:lnTo>
                  <a:lnTo>
                    <a:pt x="321" y="28"/>
                  </a:lnTo>
                  <a:lnTo>
                    <a:pt x="305" y="1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12666DB3-1EDE-9477-5CB8-24B5E70C1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968" y="4173285"/>
              <a:ext cx="962025" cy="952500"/>
            </a:xfrm>
            <a:custGeom>
              <a:avLst/>
              <a:gdLst/>
              <a:ahLst/>
              <a:cxnLst>
                <a:cxn ang="0">
                  <a:pos x="97" y="9"/>
                </a:cxn>
                <a:cxn ang="0">
                  <a:pos x="81" y="33"/>
                </a:cxn>
                <a:cxn ang="0">
                  <a:pos x="48" y="76"/>
                </a:cxn>
                <a:cxn ang="0">
                  <a:pos x="30" y="152"/>
                </a:cxn>
                <a:cxn ang="0">
                  <a:pos x="9" y="193"/>
                </a:cxn>
                <a:cxn ang="0">
                  <a:pos x="0" y="230"/>
                </a:cxn>
                <a:cxn ang="0">
                  <a:pos x="41" y="242"/>
                </a:cxn>
                <a:cxn ang="0">
                  <a:pos x="67" y="242"/>
                </a:cxn>
                <a:cxn ang="0">
                  <a:pos x="80" y="275"/>
                </a:cxn>
                <a:cxn ang="0">
                  <a:pos x="96" y="325"/>
                </a:cxn>
                <a:cxn ang="0">
                  <a:pos x="137" y="410"/>
                </a:cxn>
                <a:cxn ang="0">
                  <a:pos x="141" y="462"/>
                </a:cxn>
                <a:cxn ang="0">
                  <a:pos x="176" y="502"/>
                </a:cxn>
                <a:cxn ang="0">
                  <a:pos x="193" y="535"/>
                </a:cxn>
                <a:cxn ang="0">
                  <a:pos x="233" y="600"/>
                </a:cxn>
                <a:cxn ang="0">
                  <a:pos x="266" y="596"/>
                </a:cxn>
                <a:cxn ang="0">
                  <a:pos x="292" y="594"/>
                </a:cxn>
                <a:cxn ang="0">
                  <a:pos x="314" y="583"/>
                </a:cxn>
                <a:cxn ang="0">
                  <a:pos x="355" y="581"/>
                </a:cxn>
                <a:cxn ang="0">
                  <a:pos x="384" y="579"/>
                </a:cxn>
                <a:cxn ang="0">
                  <a:pos x="421" y="568"/>
                </a:cxn>
                <a:cxn ang="0">
                  <a:pos x="520" y="580"/>
                </a:cxn>
                <a:cxn ang="0">
                  <a:pos x="521" y="531"/>
                </a:cxn>
                <a:cxn ang="0">
                  <a:pos x="529" y="512"/>
                </a:cxn>
                <a:cxn ang="0">
                  <a:pos x="537" y="451"/>
                </a:cxn>
                <a:cxn ang="0">
                  <a:pos x="542" y="421"/>
                </a:cxn>
                <a:cxn ang="0">
                  <a:pos x="602" y="401"/>
                </a:cxn>
                <a:cxn ang="0">
                  <a:pos x="567" y="327"/>
                </a:cxn>
                <a:cxn ang="0">
                  <a:pos x="533" y="334"/>
                </a:cxn>
                <a:cxn ang="0">
                  <a:pos x="513" y="319"/>
                </a:cxn>
                <a:cxn ang="0">
                  <a:pos x="498" y="301"/>
                </a:cxn>
                <a:cxn ang="0">
                  <a:pos x="445" y="325"/>
                </a:cxn>
                <a:cxn ang="0">
                  <a:pos x="409" y="288"/>
                </a:cxn>
                <a:cxn ang="0">
                  <a:pos x="381" y="256"/>
                </a:cxn>
                <a:cxn ang="0">
                  <a:pos x="318" y="254"/>
                </a:cxn>
                <a:cxn ang="0">
                  <a:pos x="306" y="233"/>
                </a:cxn>
                <a:cxn ang="0">
                  <a:pos x="252" y="235"/>
                </a:cxn>
                <a:cxn ang="0">
                  <a:pos x="214" y="192"/>
                </a:cxn>
                <a:cxn ang="0">
                  <a:pos x="214" y="148"/>
                </a:cxn>
                <a:cxn ang="0">
                  <a:pos x="227" y="86"/>
                </a:cxn>
                <a:cxn ang="0">
                  <a:pos x="242" y="61"/>
                </a:cxn>
                <a:cxn ang="0">
                  <a:pos x="237" y="4"/>
                </a:cxn>
                <a:cxn ang="0">
                  <a:pos x="185" y="39"/>
                </a:cxn>
                <a:cxn ang="0">
                  <a:pos x="164" y="48"/>
                </a:cxn>
                <a:cxn ang="0">
                  <a:pos x="151" y="17"/>
                </a:cxn>
              </a:cxnLst>
              <a:rect l="0" t="0" r="r" b="b"/>
              <a:pathLst>
                <a:path w="606" h="600">
                  <a:moveTo>
                    <a:pt x="120" y="0"/>
                  </a:moveTo>
                  <a:lnTo>
                    <a:pt x="97" y="9"/>
                  </a:lnTo>
                  <a:lnTo>
                    <a:pt x="79" y="14"/>
                  </a:lnTo>
                  <a:lnTo>
                    <a:pt x="81" y="33"/>
                  </a:lnTo>
                  <a:lnTo>
                    <a:pt x="71" y="35"/>
                  </a:lnTo>
                  <a:lnTo>
                    <a:pt x="48" y="76"/>
                  </a:lnTo>
                  <a:lnTo>
                    <a:pt x="47" y="98"/>
                  </a:lnTo>
                  <a:lnTo>
                    <a:pt x="30" y="152"/>
                  </a:lnTo>
                  <a:lnTo>
                    <a:pt x="18" y="156"/>
                  </a:lnTo>
                  <a:lnTo>
                    <a:pt x="9" y="193"/>
                  </a:lnTo>
                  <a:lnTo>
                    <a:pt x="8" y="217"/>
                  </a:lnTo>
                  <a:lnTo>
                    <a:pt x="0" y="230"/>
                  </a:lnTo>
                  <a:lnTo>
                    <a:pt x="0" y="242"/>
                  </a:lnTo>
                  <a:lnTo>
                    <a:pt x="41" y="242"/>
                  </a:lnTo>
                  <a:lnTo>
                    <a:pt x="54" y="250"/>
                  </a:lnTo>
                  <a:lnTo>
                    <a:pt x="67" y="242"/>
                  </a:lnTo>
                  <a:lnTo>
                    <a:pt x="77" y="252"/>
                  </a:lnTo>
                  <a:lnTo>
                    <a:pt x="80" y="275"/>
                  </a:lnTo>
                  <a:lnTo>
                    <a:pt x="98" y="290"/>
                  </a:lnTo>
                  <a:lnTo>
                    <a:pt x="96" y="325"/>
                  </a:lnTo>
                  <a:lnTo>
                    <a:pt x="121" y="389"/>
                  </a:lnTo>
                  <a:lnTo>
                    <a:pt x="137" y="410"/>
                  </a:lnTo>
                  <a:lnTo>
                    <a:pt x="134" y="435"/>
                  </a:lnTo>
                  <a:lnTo>
                    <a:pt x="141" y="462"/>
                  </a:lnTo>
                  <a:lnTo>
                    <a:pt x="160" y="480"/>
                  </a:lnTo>
                  <a:lnTo>
                    <a:pt x="176" y="502"/>
                  </a:lnTo>
                  <a:lnTo>
                    <a:pt x="189" y="521"/>
                  </a:lnTo>
                  <a:lnTo>
                    <a:pt x="193" y="535"/>
                  </a:lnTo>
                  <a:lnTo>
                    <a:pt x="222" y="583"/>
                  </a:lnTo>
                  <a:lnTo>
                    <a:pt x="233" y="600"/>
                  </a:lnTo>
                  <a:lnTo>
                    <a:pt x="247" y="593"/>
                  </a:lnTo>
                  <a:lnTo>
                    <a:pt x="266" y="596"/>
                  </a:lnTo>
                  <a:lnTo>
                    <a:pt x="279" y="592"/>
                  </a:lnTo>
                  <a:lnTo>
                    <a:pt x="292" y="594"/>
                  </a:lnTo>
                  <a:lnTo>
                    <a:pt x="318" y="596"/>
                  </a:lnTo>
                  <a:lnTo>
                    <a:pt x="314" y="583"/>
                  </a:lnTo>
                  <a:lnTo>
                    <a:pt x="346" y="577"/>
                  </a:lnTo>
                  <a:lnTo>
                    <a:pt x="355" y="581"/>
                  </a:lnTo>
                  <a:lnTo>
                    <a:pt x="360" y="577"/>
                  </a:lnTo>
                  <a:lnTo>
                    <a:pt x="384" y="579"/>
                  </a:lnTo>
                  <a:lnTo>
                    <a:pt x="380" y="567"/>
                  </a:lnTo>
                  <a:lnTo>
                    <a:pt x="421" y="568"/>
                  </a:lnTo>
                  <a:lnTo>
                    <a:pt x="426" y="580"/>
                  </a:lnTo>
                  <a:lnTo>
                    <a:pt x="520" y="580"/>
                  </a:lnTo>
                  <a:lnTo>
                    <a:pt x="513" y="572"/>
                  </a:lnTo>
                  <a:lnTo>
                    <a:pt x="521" y="531"/>
                  </a:lnTo>
                  <a:lnTo>
                    <a:pt x="514" y="513"/>
                  </a:lnTo>
                  <a:lnTo>
                    <a:pt x="529" y="512"/>
                  </a:lnTo>
                  <a:lnTo>
                    <a:pt x="541" y="500"/>
                  </a:lnTo>
                  <a:lnTo>
                    <a:pt x="537" y="451"/>
                  </a:lnTo>
                  <a:lnTo>
                    <a:pt x="547" y="434"/>
                  </a:lnTo>
                  <a:lnTo>
                    <a:pt x="542" y="421"/>
                  </a:lnTo>
                  <a:lnTo>
                    <a:pt x="606" y="419"/>
                  </a:lnTo>
                  <a:lnTo>
                    <a:pt x="602" y="401"/>
                  </a:lnTo>
                  <a:lnTo>
                    <a:pt x="570" y="369"/>
                  </a:lnTo>
                  <a:lnTo>
                    <a:pt x="567" y="327"/>
                  </a:lnTo>
                  <a:lnTo>
                    <a:pt x="552" y="333"/>
                  </a:lnTo>
                  <a:lnTo>
                    <a:pt x="533" y="334"/>
                  </a:lnTo>
                  <a:lnTo>
                    <a:pt x="530" y="313"/>
                  </a:lnTo>
                  <a:lnTo>
                    <a:pt x="513" y="319"/>
                  </a:lnTo>
                  <a:lnTo>
                    <a:pt x="496" y="312"/>
                  </a:lnTo>
                  <a:lnTo>
                    <a:pt x="498" y="301"/>
                  </a:lnTo>
                  <a:lnTo>
                    <a:pt x="470" y="305"/>
                  </a:lnTo>
                  <a:lnTo>
                    <a:pt x="445" y="325"/>
                  </a:lnTo>
                  <a:lnTo>
                    <a:pt x="421" y="310"/>
                  </a:lnTo>
                  <a:lnTo>
                    <a:pt x="409" y="288"/>
                  </a:lnTo>
                  <a:lnTo>
                    <a:pt x="389" y="283"/>
                  </a:lnTo>
                  <a:lnTo>
                    <a:pt x="381" y="256"/>
                  </a:lnTo>
                  <a:lnTo>
                    <a:pt x="343" y="246"/>
                  </a:lnTo>
                  <a:lnTo>
                    <a:pt x="318" y="254"/>
                  </a:lnTo>
                  <a:lnTo>
                    <a:pt x="309" y="256"/>
                  </a:lnTo>
                  <a:lnTo>
                    <a:pt x="306" y="233"/>
                  </a:lnTo>
                  <a:lnTo>
                    <a:pt x="273" y="227"/>
                  </a:lnTo>
                  <a:lnTo>
                    <a:pt x="252" y="235"/>
                  </a:lnTo>
                  <a:lnTo>
                    <a:pt x="220" y="221"/>
                  </a:lnTo>
                  <a:lnTo>
                    <a:pt x="214" y="192"/>
                  </a:lnTo>
                  <a:lnTo>
                    <a:pt x="223" y="169"/>
                  </a:lnTo>
                  <a:lnTo>
                    <a:pt x="214" y="148"/>
                  </a:lnTo>
                  <a:lnTo>
                    <a:pt x="227" y="122"/>
                  </a:lnTo>
                  <a:lnTo>
                    <a:pt x="227" y="86"/>
                  </a:lnTo>
                  <a:lnTo>
                    <a:pt x="223" y="67"/>
                  </a:lnTo>
                  <a:lnTo>
                    <a:pt x="242" y="61"/>
                  </a:lnTo>
                  <a:lnTo>
                    <a:pt x="242" y="31"/>
                  </a:lnTo>
                  <a:lnTo>
                    <a:pt x="237" y="4"/>
                  </a:lnTo>
                  <a:lnTo>
                    <a:pt x="216" y="25"/>
                  </a:lnTo>
                  <a:lnTo>
                    <a:pt x="185" y="39"/>
                  </a:lnTo>
                  <a:lnTo>
                    <a:pt x="179" y="47"/>
                  </a:lnTo>
                  <a:lnTo>
                    <a:pt x="164" y="48"/>
                  </a:lnTo>
                  <a:lnTo>
                    <a:pt x="151" y="29"/>
                  </a:lnTo>
                  <a:lnTo>
                    <a:pt x="151" y="17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57A51A25-5B72-481B-B686-097908CE6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503" y="3904999"/>
              <a:ext cx="909638" cy="798512"/>
            </a:xfrm>
            <a:custGeom>
              <a:avLst/>
              <a:gdLst/>
              <a:ahLst/>
              <a:cxnLst>
                <a:cxn ang="0">
                  <a:pos x="92" y="11"/>
                </a:cxn>
                <a:cxn ang="0">
                  <a:pos x="91" y="63"/>
                </a:cxn>
                <a:cxn ang="0">
                  <a:pos x="48" y="96"/>
                </a:cxn>
                <a:cxn ang="0">
                  <a:pos x="0" y="120"/>
                </a:cxn>
                <a:cxn ang="0">
                  <a:pos x="7" y="139"/>
                </a:cxn>
                <a:cxn ang="0">
                  <a:pos x="38" y="128"/>
                </a:cxn>
                <a:cxn ang="0">
                  <a:pos x="62" y="150"/>
                </a:cxn>
                <a:cxn ang="0">
                  <a:pos x="83" y="164"/>
                </a:cxn>
                <a:cxn ang="0">
                  <a:pos x="111" y="147"/>
                </a:cxn>
                <a:cxn ang="0">
                  <a:pos x="131" y="152"/>
                </a:cxn>
                <a:cxn ang="0">
                  <a:pos x="117" y="179"/>
                </a:cxn>
                <a:cxn ang="0">
                  <a:pos x="120" y="221"/>
                </a:cxn>
                <a:cxn ang="0">
                  <a:pos x="117" y="257"/>
                </a:cxn>
                <a:cxn ang="0">
                  <a:pos x="114" y="296"/>
                </a:cxn>
                <a:cxn ang="0">
                  <a:pos x="155" y="301"/>
                </a:cxn>
                <a:cxn ang="0">
                  <a:pos x="182" y="323"/>
                </a:cxn>
                <a:cxn ang="0">
                  <a:pos x="208" y="315"/>
                </a:cxn>
                <a:cxn ang="0">
                  <a:pos x="243" y="343"/>
                </a:cxn>
                <a:cxn ang="0">
                  <a:pos x="267" y="364"/>
                </a:cxn>
                <a:cxn ang="0">
                  <a:pos x="304" y="360"/>
                </a:cxn>
                <a:cxn ang="0">
                  <a:pos x="324" y="365"/>
                </a:cxn>
                <a:cxn ang="0">
                  <a:pos x="350" y="366"/>
                </a:cxn>
                <a:cxn ang="0">
                  <a:pos x="367" y="381"/>
                </a:cxn>
                <a:cxn ang="0">
                  <a:pos x="377" y="355"/>
                </a:cxn>
                <a:cxn ang="0">
                  <a:pos x="435" y="297"/>
                </a:cxn>
                <a:cxn ang="0">
                  <a:pos x="435" y="240"/>
                </a:cxn>
                <a:cxn ang="0">
                  <a:pos x="420" y="187"/>
                </a:cxn>
                <a:cxn ang="0">
                  <a:pos x="422" y="165"/>
                </a:cxn>
                <a:cxn ang="0">
                  <a:pos x="421" y="125"/>
                </a:cxn>
                <a:cxn ang="0">
                  <a:pos x="405" y="111"/>
                </a:cxn>
                <a:cxn ang="0">
                  <a:pos x="280" y="50"/>
                </a:cxn>
                <a:cxn ang="0">
                  <a:pos x="189" y="21"/>
                </a:cxn>
                <a:cxn ang="0">
                  <a:pos x="102" y="0"/>
                </a:cxn>
              </a:cxnLst>
              <a:rect l="0" t="0" r="r" b="b"/>
              <a:pathLst>
                <a:path w="435" h="382">
                  <a:moveTo>
                    <a:pt x="102" y="0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7" y="118"/>
                    <a:pt x="0" y="120"/>
                  </a:cubicBezTo>
                  <a:cubicBezTo>
                    <a:pt x="5" y="131"/>
                    <a:pt x="5" y="131"/>
                    <a:pt x="5" y="131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2" y="165"/>
                    <a:pt x="72" y="165"/>
                    <a:pt x="72" y="165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111" y="147"/>
                    <a:pt x="111" y="147"/>
                    <a:pt x="111" y="147"/>
                  </a:cubicBezTo>
                  <a:cubicBezTo>
                    <a:pt x="127" y="131"/>
                    <a:pt x="127" y="131"/>
                    <a:pt x="127" y="131"/>
                  </a:cubicBezTo>
                  <a:cubicBezTo>
                    <a:pt x="131" y="152"/>
                    <a:pt x="131" y="152"/>
                    <a:pt x="131" y="152"/>
                  </a:cubicBezTo>
                  <a:cubicBezTo>
                    <a:pt x="131" y="175"/>
                    <a:pt x="131" y="175"/>
                    <a:pt x="131" y="175"/>
                  </a:cubicBezTo>
                  <a:cubicBezTo>
                    <a:pt x="117" y="179"/>
                    <a:pt x="117" y="179"/>
                    <a:pt x="117" y="179"/>
                  </a:cubicBezTo>
                  <a:cubicBezTo>
                    <a:pt x="120" y="194"/>
                    <a:pt x="120" y="194"/>
                    <a:pt x="120" y="194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10" y="241"/>
                    <a:pt x="110" y="241"/>
                    <a:pt x="110" y="241"/>
                  </a:cubicBezTo>
                  <a:cubicBezTo>
                    <a:pt x="117" y="257"/>
                    <a:pt x="117" y="257"/>
                    <a:pt x="117" y="257"/>
                  </a:cubicBezTo>
                  <a:cubicBezTo>
                    <a:pt x="110" y="274"/>
                    <a:pt x="110" y="274"/>
                    <a:pt x="110" y="274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39" y="307"/>
                    <a:pt x="139" y="307"/>
                    <a:pt x="139" y="307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2" y="323"/>
                    <a:pt x="182" y="323"/>
                    <a:pt x="182" y="323"/>
                  </a:cubicBezTo>
                  <a:cubicBezTo>
                    <a:pt x="189" y="321"/>
                    <a:pt x="189" y="321"/>
                    <a:pt x="189" y="321"/>
                  </a:cubicBezTo>
                  <a:cubicBezTo>
                    <a:pt x="208" y="315"/>
                    <a:pt x="208" y="315"/>
                    <a:pt x="208" y="315"/>
                  </a:cubicBezTo>
                  <a:cubicBezTo>
                    <a:pt x="237" y="323"/>
                    <a:pt x="237" y="323"/>
                    <a:pt x="237" y="323"/>
                  </a:cubicBezTo>
                  <a:cubicBezTo>
                    <a:pt x="243" y="343"/>
                    <a:pt x="243" y="343"/>
                    <a:pt x="243" y="343"/>
                  </a:cubicBezTo>
                  <a:cubicBezTo>
                    <a:pt x="258" y="347"/>
                    <a:pt x="258" y="347"/>
                    <a:pt x="258" y="347"/>
                  </a:cubicBezTo>
                  <a:cubicBezTo>
                    <a:pt x="267" y="364"/>
                    <a:pt x="267" y="364"/>
                    <a:pt x="267" y="364"/>
                  </a:cubicBezTo>
                  <a:cubicBezTo>
                    <a:pt x="285" y="375"/>
                    <a:pt x="285" y="375"/>
                    <a:pt x="285" y="375"/>
                  </a:cubicBezTo>
                  <a:cubicBezTo>
                    <a:pt x="304" y="360"/>
                    <a:pt x="304" y="360"/>
                    <a:pt x="304" y="360"/>
                  </a:cubicBezTo>
                  <a:cubicBezTo>
                    <a:pt x="326" y="357"/>
                    <a:pt x="326" y="357"/>
                    <a:pt x="326" y="357"/>
                  </a:cubicBezTo>
                  <a:cubicBezTo>
                    <a:pt x="324" y="365"/>
                    <a:pt x="324" y="365"/>
                    <a:pt x="324" y="365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50" y="366"/>
                    <a:pt x="350" y="366"/>
                    <a:pt x="350" y="366"/>
                  </a:cubicBezTo>
                  <a:cubicBezTo>
                    <a:pt x="352" y="382"/>
                    <a:pt x="352" y="382"/>
                    <a:pt x="352" y="382"/>
                  </a:cubicBezTo>
                  <a:cubicBezTo>
                    <a:pt x="367" y="381"/>
                    <a:pt x="367" y="381"/>
                    <a:pt x="367" y="381"/>
                  </a:cubicBezTo>
                  <a:cubicBezTo>
                    <a:pt x="378" y="377"/>
                    <a:pt x="378" y="377"/>
                    <a:pt x="378" y="377"/>
                  </a:cubicBezTo>
                  <a:cubicBezTo>
                    <a:pt x="377" y="355"/>
                    <a:pt x="377" y="355"/>
                    <a:pt x="377" y="355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5" y="297"/>
                    <a:pt x="435" y="297"/>
                    <a:pt x="435" y="297"/>
                  </a:cubicBezTo>
                  <a:cubicBezTo>
                    <a:pt x="427" y="269"/>
                    <a:pt x="427" y="269"/>
                    <a:pt x="427" y="26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27" y="209"/>
                    <a:pt x="427" y="209"/>
                    <a:pt x="427" y="209"/>
                  </a:cubicBezTo>
                  <a:cubicBezTo>
                    <a:pt x="420" y="187"/>
                    <a:pt x="420" y="187"/>
                    <a:pt x="420" y="187"/>
                  </a:cubicBezTo>
                  <a:cubicBezTo>
                    <a:pt x="425" y="174"/>
                    <a:pt x="425" y="174"/>
                    <a:pt x="425" y="174"/>
                  </a:cubicBezTo>
                  <a:cubicBezTo>
                    <a:pt x="422" y="165"/>
                    <a:pt x="422" y="165"/>
                    <a:pt x="422" y="165"/>
                  </a:cubicBezTo>
                  <a:cubicBezTo>
                    <a:pt x="432" y="155"/>
                    <a:pt x="432" y="155"/>
                    <a:pt x="432" y="155"/>
                  </a:cubicBezTo>
                  <a:cubicBezTo>
                    <a:pt x="421" y="125"/>
                    <a:pt x="421" y="125"/>
                    <a:pt x="421" y="125"/>
                  </a:cubicBezTo>
                  <a:cubicBezTo>
                    <a:pt x="423" y="125"/>
                    <a:pt x="423" y="125"/>
                    <a:pt x="423" y="125"/>
                  </a:cubicBezTo>
                  <a:cubicBezTo>
                    <a:pt x="405" y="111"/>
                    <a:pt x="405" y="111"/>
                    <a:pt x="405" y="111"/>
                  </a:cubicBezTo>
                  <a:cubicBezTo>
                    <a:pt x="353" y="87"/>
                    <a:pt x="353" y="87"/>
                    <a:pt x="353" y="87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189" y="21"/>
                    <a:pt x="189" y="21"/>
                    <a:pt x="189" y="21"/>
                  </a:cubicBezTo>
                  <a:cubicBezTo>
                    <a:pt x="156" y="20"/>
                    <a:pt x="156" y="20"/>
                    <a:pt x="156" y="2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rgbClr val="FFFFFF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CBB1835-F262-B1EC-6711-3305643CC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106" y="3283784"/>
              <a:ext cx="1279525" cy="900112"/>
            </a:xfrm>
            <a:custGeom>
              <a:avLst/>
              <a:gdLst/>
              <a:ahLst/>
              <a:cxnLst>
                <a:cxn ang="0">
                  <a:pos x="358" y="7"/>
                </a:cxn>
                <a:cxn ang="0">
                  <a:pos x="336" y="29"/>
                </a:cxn>
                <a:cxn ang="0">
                  <a:pos x="349" y="47"/>
                </a:cxn>
                <a:cxn ang="0">
                  <a:pos x="336" y="50"/>
                </a:cxn>
                <a:cxn ang="0">
                  <a:pos x="325" y="63"/>
                </a:cxn>
                <a:cxn ang="0">
                  <a:pos x="292" y="46"/>
                </a:cxn>
                <a:cxn ang="0">
                  <a:pos x="264" y="62"/>
                </a:cxn>
                <a:cxn ang="0">
                  <a:pos x="226" y="78"/>
                </a:cxn>
                <a:cxn ang="0">
                  <a:pos x="176" y="99"/>
                </a:cxn>
                <a:cxn ang="0">
                  <a:pos x="137" y="124"/>
                </a:cxn>
                <a:cxn ang="0">
                  <a:pos x="109" y="126"/>
                </a:cxn>
                <a:cxn ang="0">
                  <a:pos x="118" y="148"/>
                </a:cxn>
                <a:cxn ang="0">
                  <a:pos x="81" y="141"/>
                </a:cxn>
                <a:cxn ang="0">
                  <a:pos x="45" y="156"/>
                </a:cxn>
                <a:cxn ang="0">
                  <a:pos x="32" y="199"/>
                </a:cxn>
                <a:cxn ang="0">
                  <a:pos x="33" y="240"/>
                </a:cxn>
                <a:cxn ang="0">
                  <a:pos x="31" y="294"/>
                </a:cxn>
                <a:cxn ang="0">
                  <a:pos x="27" y="316"/>
                </a:cxn>
                <a:cxn ang="0">
                  <a:pos x="22" y="389"/>
                </a:cxn>
                <a:cxn ang="0">
                  <a:pos x="65" y="413"/>
                </a:cxn>
                <a:cxn ang="0">
                  <a:pos x="73" y="416"/>
                </a:cxn>
                <a:cxn ang="0">
                  <a:pos x="121" y="392"/>
                </a:cxn>
                <a:cxn ang="0">
                  <a:pos x="164" y="359"/>
                </a:cxn>
                <a:cxn ang="0">
                  <a:pos x="165" y="307"/>
                </a:cxn>
                <a:cxn ang="0">
                  <a:pos x="229" y="316"/>
                </a:cxn>
                <a:cxn ang="0">
                  <a:pos x="297" y="332"/>
                </a:cxn>
                <a:cxn ang="0">
                  <a:pos x="426" y="383"/>
                </a:cxn>
                <a:cxn ang="0">
                  <a:pos x="496" y="421"/>
                </a:cxn>
                <a:cxn ang="0">
                  <a:pos x="516" y="429"/>
                </a:cxn>
                <a:cxn ang="0">
                  <a:pos x="541" y="418"/>
                </a:cxn>
                <a:cxn ang="0">
                  <a:pos x="566" y="313"/>
                </a:cxn>
                <a:cxn ang="0">
                  <a:pos x="588" y="242"/>
                </a:cxn>
                <a:cxn ang="0">
                  <a:pos x="608" y="201"/>
                </a:cxn>
                <a:cxn ang="0">
                  <a:pos x="609" y="193"/>
                </a:cxn>
                <a:cxn ang="0">
                  <a:pos x="536" y="159"/>
                </a:cxn>
                <a:cxn ang="0">
                  <a:pos x="482" y="144"/>
                </a:cxn>
                <a:cxn ang="0">
                  <a:pos x="459" y="105"/>
                </a:cxn>
                <a:cxn ang="0">
                  <a:pos x="434" y="123"/>
                </a:cxn>
                <a:cxn ang="0">
                  <a:pos x="416" y="83"/>
                </a:cxn>
                <a:cxn ang="0">
                  <a:pos x="382" y="27"/>
                </a:cxn>
              </a:cxnLst>
              <a:rect l="0" t="0" r="r" b="b"/>
              <a:pathLst>
                <a:path w="612" h="431">
                  <a:moveTo>
                    <a:pt x="373" y="0"/>
                  </a:moveTo>
                  <a:cubicBezTo>
                    <a:pt x="358" y="7"/>
                    <a:pt x="358" y="7"/>
                    <a:pt x="358" y="7"/>
                  </a:cubicBezTo>
                  <a:cubicBezTo>
                    <a:pt x="344" y="5"/>
                    <a:pt x="344" y="5"/>
                    <a:pt x="344" y="5"/>
                  </a:cubicBezTo>
                  <a:cubicBezTo>
                    <a:pt x="336" y="29"/>
                    <a:pt x="336" y="29"/>
                    <a:pt x="336" y="29"/>
                  </a:cubicBezTo>
                  <a:cubicBezTo>
                    <a:pt x="345" y="33"/>
                    <a:pt x="345" y="33"/>
                    <a:pt x="345" y="33"/>
                  </a:cubicBezTo>
                  <a:cubicBezTo>
                    <a:pt x="349" y="47"/>
                    <a:pt x="349" y="47"/>
                    <a:pt x="349" y="47"/>
                  </a:cubicBezTo>
                  <a:cubicBezTo>
                    <a:pt x="337" y="40"/>
                    <a:pt x="337" y="40"/>
                    <a:pt x="337" y="40"/>
                  </a:cubicBezTo>
                  <a:cubicBezTo>
                    <a:pt x="336" y="50"/>
                    <a:pt x="336" y="50"/>
                    <a:pt x="336" y="50"/>
                  </a:cubicBezTo>
                  <a:cubicBezTo>
                    <a:pt x="345" y="60"/>
                    <a:pt x="345" y="60"/>
                    <a:pt x="345" y="60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292" y="46"/>
                    <a:pt x="292" y="46"/>
                    <a:pt x="292" y="46"/>
                  </a:cubicBezTo>
                  <a:cubicBezTo>
                    <a:pt x="268" y="45"/>
                    <a:pt x="268" y="45"/>
                    <a:pt x="268" y="45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08" y="88"/>
                    <a:pt x="208" y="88"/>
                    <a:pt x="208" y="8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12" y="121"/>
                    <a:pt x="112" y="121"/>
                    <a:pt x="112" y="121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2" y="132"/>
                    <a:pt x="72" y="132"/>
                    <a:pt x="72" y="132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2" y="199"/>
                    <a:pt x="32" y="199"/>
                    <a:pt x="32" y="199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33" y="240"/>
                    <a:pt x="33" y="240"/>
                    <a:pt x="33" y="240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31" y="294"/>
                    <a:pt x="31" y="294"/>
                    <a:pt x="31" y="294"/>
                  </a:cubicBezTo>
                  <a:cubicBezTo>
                    <a:pt x="37" y="300"/>
                    <a:pt x="37" y="300"/>
                    <a:pt x="37" y="300"/>
                  </a:cubicBezTo>
                  <a:cubicBezTo>
                    <a:pt x="27" y="316"/>
                    <a:pt x="27" y="316"/>
                    <a:pt x="27" y="316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22" y="389"/>
                    <a:pt x="22" y="389"/>
                    <a:pt x="22" y="389"/>
                  </a:cubicBezTo>
                  <a:cubicBezTo>
                    <a:pt x="60" y="400"/>
                    <a:pt x="60" y="400"/>
                    <a:pt x="60" y="400"/>
                  </a:cubicBezTo>
                  <a:cubicBezTo>
                    <a:pt x="65" y="413"/>
                    <a:pt x="65" y="413"/>
                    <a:pt x="65" y="413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80" y="414"/>
                    <a:pt x="87" y="411"/>
                    <a:pt x="87" y="411"/>
                  </a:cubicBezTo>
                  <a:cubicBezTo>
                    <a:pt x="121" y="392"/>
                    <a:pt x="121" y="392"/>
                    <a:pt x="121" y="392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64" y="359"/>
                    <a:pt x="164" y="359"/>
                    <a:pt x="164" y="359"/>
                  </a:cubicBezTo>
                  <a:cubicBezTo>
                    <a:pt x="170" y="342"/>
                    <a:pt x="170" y="342"/>
                    <a:pt x="170" y="342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229" y="316"/>
                    <a:pt x="229" y="316"/>
                    <a:pt x="229" y="316"/>
                  </a:cubicBezTo>
                  <a:cubicBezTo>
                    <a:pt x="262" y="317"/>
                    <a:pt x="262" y="317"/>
                    <a:pt x="262" y="317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353" y="346"/>
                    <a:pt x="353" y="346"/>
                    <a:pt x="353" y="346"/>
                  </a:cubicBezTo>
                  <a:cubicBezTo>
                    <a:pt x="426" y="383"/>
                    <a:pt x="426" y="383"/>
                    <a:pt x="426" y="383"/>
                  </a:cubicBezTo>
                  <a:cubicBezTo>
                    <a:pt x="478" y="407"/>
                    <a:pt x="478" y="407"/>
                    <a:pt x="478" y="407"/>
                  </a:cubicBezTo>
                  <a:cubicBezTo>
                    <a:pt x="496" y="421"/>
                    <a:pt x="496" y="421"/>
                    <a:pt x="496" y="421"/>
                  </a:cubicBezTo>
                  <a:cubicBezTo>
                    <a:pt x="505" y="421"/>
                    <a:pt x="505" y="421"/>
                    <a:pt x="505" y="421"/>
                  </a:cubicBezTo>
                  <a:cubicBezTo>
                    <a:pt x="516" y="429"/>
                    <a:pt x="516" y="429"/>
                    <a:pt x="516" y="429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41" y="418"/>
                    <a:pt x="541" y="418"/>
                    <a:pt x="541" y="418"/>
                  </a:cubicBezTo>
                  <a:cubicBezTo>
                    <a:pt x="570" y="405"/>
                    <a:pt x="570" y="405"/>
                    <a:pt x="570" y="405"/>
                  </a:cubicBezTo>
                  <a:cubicBezTo>
                    <a:pt x="566" y="313"/>
                    <a:pt x="566" y="313"/>
                    <a:pt x="566" y="313"/>
                  </a:cubicBezTo>
                  <a:cubicBezTo>
                    <a:pt x="565" y="298"/>
                    <a:pt x="565" y="298"/>
                    <a:pt x="565" y="298"/>
                  </a:cubicBezTo>
                  <a:cubicBezTo>
                    <a:pt x="588" y="242"/>
                    <a:pt x="588" y="242"/>
                    <a:pt x="588" y="242"/>
                  </a:cubicBezTo>
                  <a:cubicBezTo>
                    <a:pt x="600" y="228"/>
                    <a:pt x="600" y="228"/>
                    <a:pt x="600" y="228"/>
                  </a:cubicBezTo>
                  <a:cubicBezTo>
                    <a:pt x="608" y="201"/>
                    <a:pt x="608" y="201"/>
                    <a:pt x="608" y="201"/>
                  </a:cubicBezTo>
                  <a:cubicBezTo>
                    <a:pt x="612" y="202"/>
                    <a:pt x="612" y="202"/>
                    <a:pt x="612" y="202"/>
                  </a:cubicBezTo>
                  <a:cubicBezTo>
                    <a:pt x="609" y="193"/>
                    <a:pt x="609" y="193"/>
                    <a:pt x="609" y="193"/>
                  </a:cubicBezTo>
                  <a:cubicBezTo>
                    <a:pt x="574" y="149"/>
                    <a:pt x="574" y="149"/>
                    <a:pt x="574" y="149"/>
                  </a:cubicBezTo>
                  <a:cubicBezTo>
                    <a:pt x="536" y="159"/>
                    <a:pt x="536" y="159"/>
                    <a:pt x="536" y="159"/>
                  </a:cubicBezTo>
                  <a:cubicBezTo>
                    <a:pt x="513" y="140"/>
                    <a:pt x="513" y="140"/>
                    <a:pt x="513" y="140"/>
                  </a:cubicBezTo>
                  <a:cubicBezTo>
                    <a:pt x="482" y="144"/>
                    <a:pt x="482" y="144"/>
                    <a:pt x="482" y="144"/>
                  </a:cubicBezTo>
                  <a:cubicBezTo>
                    <a:pt x="472" y="113"/>
                    <a:pt x="472" y="113"/>
                    <a:pt x="472" y="113"/>
                  </a:cubicBezTo>
                  <a:cubicBezTo>
                    <a:pt x="459" y="105"/>
                    <a:pt x="459" y="105"/>
                    <a:pt x="459" y="105"/>
                  </a:cubicBezTo>
                  <a:cubicBezTo>
                    <a:pt x="444" y="127"/>
                    <a:pt x="444" y="127"/>
                    <a:pt x="444" y="127"/>
                  </a:cubicBezTo>
                  <a:cubicBezTo>
                    <a:pt x="434" y="123"/>
                    <a:pt x="434" y="123"/>
                    <a:pt x="434" y="123"/>
                  </a:cubicBezTo>
                  <a:cubicBezTo>
                    <a:pt x="427" y="96"/>
                    <a:pt x="427" y="96"/>
                    <a:pt x="427" y="96"/>
                  </a:cubicBezTo>
                  <a:cubicBezTo>
                    <a:pt x="416" y="83"/>
                    <a:pt x="416" y="83"/>
                    <a:pt x="416" y="83"/>
                  </a:cubicBezTo>
                  <a:cubicBezTo>
                    <a:pt x="409" y="60"/>
                    <a:pt x="409" y="60"/>
                    <a:pt x="409" y="60"/>
                  </a:cubicBezTo>
                  <a:cubicBezTo>
                    <a:pt x="382" y="27"/>
                    <a:pt x="382" y="27"/>
                    <a:pt x="382" y="27"/>
                  </a:cubicBezTo>
                  <a:lnTo>
                    <a:pt x="373" y="0"/>
                  </a:lnTo>
                  <a:close/>
                </a:path>
              </a:pathLst>
            </a:custGeom>
            <a:solidFill>
              <a:srgbClr val="A2522E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58D584D5-7976-3B39-4591-E037AAC31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887" y="4074860"/>
              <a:ext cx="347663" cy="273050"/>
            </a:xfrm>
            <a:custGeom>
              <a:avLst/>
              <a:gdLst/>
              <a:ahLst/>
              <a:cxnLst>
                <a:cxn ang="0">
                  <a:pos x="111" y="0"/>
                </a:cxn>
                <a:cxn ang="0">
                  <a:pos x="101" y="8"/>
                </a:cxn>
                <a:cxn ang="0">
                  <a:pos x="76" y="9"/>
                </a:cxn>
                <a:cxn ang="0">
                  <a:pos x="51" y="22"/>
                </a:cxn>
                <a:cxn ang="0">
                  <a:pos x="46" y="39"/>
                </a:cxn>
                <a:cxn ang="0">
                  <a:pos x="39" y="52"/>
                </a:cxn>
                <a:cxn ang="0">
                  <a:pos x="26" y="56"/>
                </a:cxn>
                <a:cxn ang="0">
                  <a:pos x="2" y="54"/>
                </a:cxn>
                <a:cxn ang="0">
                  <a:pos x="0" y="66"/>
                </a:cxn>
                <a:cxn ang="0">
                  <a:pos x="9" y="83"/>
                </a:cxn>
                <a:cxn ang="0">
                  <a:pos x="23" y="104"/>
                </a:cxn>
                <a:cxn ang="0">
                  <a:pos x="39" y="112"/>
                </a:cxn>
                <a:cxn ang="0">
                  <a:pos x="48" y="95"/>
                </a:cxn>
                <a:cxn ang="0">
                  <a:pos x="60" y="100"/>
                </a:cxn>
                <a:cxn ang="0">
                  <a:pos x="72" y="100"/>
                </a:cxn>
                <a:cxn ang="0">
                  <a:pos x="88" y="109"/>
                </a:cxn>
                <a:cxn ang="0">
                  <a:pos x="102" y="117"/>
                </a:cxn>
                <a:cxn ang="0">
                  <a:pos x="96" y="145"/>
                </a:cxn>
                <a:cxn ang="0">
                  <a:pos x="81" y="148"/>
                </a:cxn>
                <a:cxn ang="0">
                  <a:pos x="88" y="158"/>
                </a:cxn>
                <a:cxn ang="0">
                  <a:pos x="106" y="170"/>
                </a:cxn>
                <a:cxn ang="0">
                  <a:pos x="126" y="172"/>
                </a:cxn>
                <a:cxn ang="0">
                  <a:pos x="125" y="151"/>
                </a:cxn>
                <a:cxn ang="0">
                  <a:pos x="134" y="163"/>
                </a:cxn>
                <a:cxn ang="0">
                  <a:pos x="171" y="172"/>
                </a:cxn>
                <a:cxn ang="0">
                  <a:pos x="182" y="171"/>
                </a:cxn>
                <a:cxn ang="0">
                  <a:pos x="185" y="160"/>
                </a:cxn>
                <a:cxn ang="0">
                  <a:pos x="186" y="138"/>
                </a:cxn>
                <a:cxn ang="0">
                  <a:pos x="209" y="97"/>
                </a:cxn>
                <a:cxn ang="0">
                  <a:pos x="219" y="95"/>
                </a:cxn>
                <a:cxn ang="0">
                  <a:pos x="214" y="66"/>
                </a:cxn>
                <a:cxn ang="0">
                  <a:pos x="207" y="51"/>
                </a:cxn>
                <a:cxn ang="0">
                  <a:pos x="197" y="47"/>
                </a:cxn>
                <a:cxn ang="0">
                  <a:pos x="190" y="30"/>
                </a:cxn>
                <a:cxn ang="0">
                  <a:pos x="140" y="16"/>
                </a:cxn>
                <a:cxn ang="0">
                  <a:pos x="111" y="0"/>
                </a:cxn>
              </a:cxnLst>
              <a:rect l="0" t="0" r="r" b="b"/>
              <a:pathLst>
                <a:path w="219" h="172">
                  <a:moveTo>
                    <a:pt x="111" y="0"/>
                  </a:moveTo>
                  <a:lnTo>
                    <a:pt x="101" y="8"/>
                  </a:lnTo>
                  <a:lnTo>
                    <a:pt x="76" y="9"/>
                  </a:lnTo>
                  <a:lnTo>
                    <a:pt x="51" y="22"/>
                  </a:lnTo>
                  <a:lnTo>
                    <a:pt x="46" y="39"/>
                  </a:lnTo>
                  <a:lnTo>
                    <a:pt x="39" y="52"/>
                  </a:lnTo>
                  <a:lnTo>
                    <a:pt x="26" y="56"/>
                  </a:lnTo>
                  <a:lnTo>
                    <a:pt x="2" y="54"/>
                  </a:lnTo>
                  <a:lnTo>
                    <a:pt x="0" y="66"/>
                  </a:lnTo>
                  <a:lnTo>
                    <a:pt x="9" y="83"/>
                  </a:lnTo>
                  <a:lnTo>
                    <a:pt x="23" y="104"/>
                  </a:lnTo>
                  <a:lnTo>
                    <a:pt x="39" y="112"/>
                  </a:lnTo>
                  <a:lnTo>
                    <a:pt x="48" y="95"/>
                  </a:lnTo>
                  <a:lnTo>
                    <a:pt x="60" y="100"/>
                  </a:lnTo>
                  <a:lnTo>
                    <a:pt x="72" y="100"/>
                  </a:lnTo>
                  <a:lnTo>
                    <a:pt x="88" y="109"/>
                  </a:lnTo>
                  <a:lnTo>
                    <a:pt x="102" y="117"/>
                  </a:lnTo>
                  <a:lnTo>
                    <a:pt x="96" y="145"/>
                  </a:lnTo>
                  <a:lnTo>
                    <a:pt x="81" y="148"/>
                  </a:lnTo>
                  <a:lnTo>
                    <a:pt x="88" y="158"/>
                  </a:lnTo>
                  <a:lnTo>
                    <a:pt x="106" y="170"/>
                  </a:lnTo>
                  <a:lnTo>
                    <a:pt x="126" y="172"/>
                  </a:lnTo>
                  <a:lnTo>
                    <a:pt x="125" y="151"/>
                  </a:lnTo>
                  <a:lnTo>
                    <a:pt x="134" y="163"/>
                  </a:lnTo>
                  <a:lnTo>
                    <a:pt x="171" y="172"/>
                  </a:lnTo>
                  <a:lnTo>
                    <a:pt x="182" y="171"/>
                  </a:lnTo>
                  <a:lnTo>
                    <a:pt x="185" y="160"/>
                  </a:lnTo>
                  <a:lnTo>
                    <a:pt x="186" y="138"/>
                  </a:lnTo>
                  <a:lnTo>
                    <a:pt x="209" y="97"/>
                  </a:lnTo>
                  <a:lnTo>
                    <a:pt x="219" y="95"/>
                  </a:lnTo>
                  <a:lnTo>
                    <a:pt x="214" y="66"/>
                  </a:lnTo>
                  <a:lnTo>
                    <a:pt x="207" y="51"/>
                  </a:lnTo>
                  <a:lnTo>
                    <a:pt x="197" y="47"/>
                  </a:lnTo>
                  <a:lnTo>
                    <a:pt x="190" y="30"/>
                  </a:lnTo>
                  <a:lnTo>
                    <a:pt x="140" y="1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200" b="1" kern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AFCE035C-F412-95C0-52EE-630317AB6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3418" y="4155825"/>
              <a:ext cx="1041400" cy="444500"/>
            </a:xfrm>
            <a:custGeom>
              <a:avLst/>
              <a:gdLst/>
              <a:ahLst/>
              <a:cxnLst>
                <a:cxn ang="0">
                  <a:pos x="325" y="15"/>
                </a:cxn>
                <a:cxn ang="0">
                  <a:pos x="278" y="40"/>
                </a:cxn>
                <a:cxn ang="0">
                  <a:pos x="255" y="22"/>
                </a:cxn>
                <a:cxn ang="0">
                  <a:pos x="243" y="49"/>
                </a:cxn>
                <a:cxn ang="0">
                  <a:pos x="222" y="80"/>
                </a:cxn>
                <a:cxn ang="0">
                  <a:pos x="185" y="86"/>
                </a:cxn>
                <a:cxn ang="0">
                  <a:pos x="167" y="66"/>
                </a:cxn>
                <a:cxn ang="0">
                  <a:pos x="142" y="66"/>
                </a:cxn>
                <a:cxn ang="0">
                  <a:pos x="84" y="100"/>
                </a:cxn>
                <a:cxn ang="0">
                  <a:pos x="54" y="140"/>
                </a:cxn>
                <a:cxn ang="0">
                  <a:pos x="0" y="238"/>
                </a:cxn>
                <a:cxn ang="0">
                  <a:pos x="31" y="280"/>
                </a:cxn>
                <a:cxn ang="0">
                  <a:pos x="87" y="272"/>
                </a:cxn>
                <a:cxn ang="0">
                  <a:pos x="141" y="255"/>
                </a:cxn>
                <a:cxn ang="0">
                  <a:pos x="170" y="254"/>
                </a:cxn>
                <a:cxn ang="0">
                  <a:pos x="192" y="253"/>
                </a:cxn>
                <a:cxn ang="0">
                  <a:pos x="279" y="250"/>
                </a:cxn>
                <a:cxn ang="0">
                  <a:pos x="300" y="250"/>
                </a:cxn>
                <a:cxn ang="0">
                  <a:pos x="391" y="254"/>
                </a:cxn>
                <a:cxn ang="0">
                  <a:pos x="612" y="241"/>
                </a:cxn>
                <a:cxn ang="0">
                  <a:pos x="621" y="204"/>
                </a:cxn>
                <a:cxn ang="0">
                  <a:pos x="642" y="163"/>
                </a:cxn>
                <a:cxn ang="0">
                  <a:pos x="645" y="121"/>
                </a:cxn>
                <a:cxn ang="0">
                  <a:pos x="599" y="100"/>
                </a:cxn>
                <a:cxn ang="0">
                  <a:pos x="580" y="119"/>
                </a:cxn>
                <a:cxn ang="0">
                  <a:pos x="555" y="97"/>
                </a:cxn>
                <a:cxn ang="0">
                  <a:pos x="576" y="66"/>
                </a:cxn>
                <a:cxn ang="0">
                  <a:pos x="546" y="49"/>
                </a:cxn>
                <a:cxn ang="0">
                  <a:pos x="522" y="44"/>
                </a:cxn>
                <a:cxn ang="0">
                  <a:pos x="497" y="53"/>
                </a:cxn>
                <a:cxn ang="0">
                  <a:pos x="474" y="15"/>
                </a:cxn>
                <a:cxn ang="0">
                  <a:pos x="474" y="8"/>
                </a:cxn>
                <a:cxn ang="0">
                  <a:pos x="424" y="72"/>
                </a:cxn>
                <a:cxn ang="0">
                  <a:pos x="391" y="103"/>
                </a:cxn>
                <a:cxn ang="0">
                  <a:pos x="346" y="97"/>
                </a:cxn>
                <a:cxn ang="0">
                  <a:pos x="338" y="44"/>
                </a:cxn>
                <a:cxn ang="0">
                  <a:pos x="346" y="16"/>
                </a:cxn>
              </a:cxnLst>
              <a:rect l="0" t="0" r="r" b="b"/>
              <a:pathLst>
                <a:path w="656" h="280">
                  <a:moveTo>
                    <a:pt x="351" y="0"/>
                  </a:moveTo>
                  <a:lnTo>
                    <a:pt x="325" y="15"/>
                  </a:lnTo>
                  <a:lnTo>
                    <a:pt x="291" y="24"/>
                  </a:lnTo>
                  <a:lnTo>
                    <a:pt x="278" y="40"/>
                  </a:lnTo>
                  <a:lnTo>
                    <a:pt x="263" y="32"/>
                  </a:lnTo>
                  <a:lnTo>
                    <a:pt x="255" y="22"/>
                  </a:lnTo>
                  <a:lnTo>
                    <a:pt x="241" y="29"/>
                  </a:lnTo>
                  <a:lnTo>
                    <a:pt x="243" y="49"/>
                  </a:lnTo>
                  <a:lnTo>
                    <a:pt x="238" y="66"/>
                  </a:lnTo>
                  <a:lnTo>
                    <a:pt x="222" y="80"/>
                  </a:lnTo>
                  <a:lnTo>
                    <a:pt x="192" y="101"/>
                  </a:lnTo>
                  <a:lnTo>
                    <a:pt x="185" y="86"/>
                  </a:lnTo>
                  <a:lnTo>
                    <a:pt x="168" y="78"/>
                  </a:lnTo>
                  <a:lnTo>
                    <a:pt x="167" y="66"/>
                  </a:lnTo>
                  <a:lnTo>
                    <a:pt x="145" y="50"/>
                  </a:lnTo>
                  <a:lnTo>
                    <a:pt x="142" y="66"/>
                  </a:lnTo>
                  <a:lnTo>
                    <a:pt x="106" y="78"/>
                  </a:lnTo>
                  <a:lnTo>
                    <a:pt x="84" y="100"/>
                  </a:lnTo>
                  <a:lnTo>
                    <a:pt x="46" y="132"/>
                  </a:lnTo>
                  <a:lnTo>
                    <a:pt x="54" y="140"/>
                  </a:lnTo>
                  <a:lnTo>
                    <a:pt x="51" y="233"/>
                  </a:lnTo>
                  <a:lnTo>
                    <a:pt x="0" y="238"/>
                  </a:lnTo>
                  <a:lnTo>
                    <a:pt x="25" y="278"/>
                  </a:lnTo>
                  <a:lnTo>
                    <a:pt x="31" y="280"/>
                  </a:lnTo>
                  <a:lnTo>
                    <a:pt x="47" y="279"/>
                  </a:lnTo>
                  <a:lnTo>
                    <a:pt x="87" y="272"/>
                  </a:lnTo>
                  <a:lnTo>
                    <a:pt x="116" y="258"/>
                  </a:lnTo>
                  <a:lnTo>
                    <a:pt x="141" y="255"/>
                  </a:lnTo>
                  <a:lnTo>
                    <a:pt x="154" y="258"/>
                  </a:lnTo>
                  <a:lnTo>
                    <a:pt x="170" y="254"/>
                  </a:lnTo>
                  <a:lnTo>
                    <a:pt x="184" y="258"/>
                  </a:lnTo>
                  <a:lnTo>
                    <a:pt x="192" y="253"/>
                  </a:lnTo>
                  <a:lnTo>
                    <a:pt x="263" y="255"/>
                  </a:lnTo>
                  <a:lnTo>
                    <a:pt x="279" y="250"/>
                  </a:lnTo>
                  <a:lnTo>
                    <a:pt x="291" y="255"/>
                  </a:lnTo>
                  <a:lnTo>
                    <a:pt x="300" y="250"/>
                  </a:lnTo>
                  <a:lnTo>
                    <a:pt x="376" y="262"/>
                  </a:lnTo>
                  <a:lnTo>
                    <a:pt x="391" y="254"/>
                  </a:lnTo>
                  <a:lnTo>
                    <a:pt x="612" y="253"/>
                  </a:lnTo>
                  <a:lnTo>
                    <a:pt x="612" y="241"/>
                  </a:lnTo>
                  <a:lnTo>
                    <a:pt x="620" y="228"/>
                  </a:lnTo>
                  <a:lnTo>
                    <a:pt x="621" y="204"/>
                  </a:lnTo>
                  <a:lnTo>
                    <a:pt x="630" y="167"/>
                  </a:lnTo>
                  <a:lnTo>
                    <a:pt x="642" y="163"/>
                  </a:lnTo>
                  <a:lnTo>
                    <a:pt x="656" y="120"/>
                  </a:lnTo>
                  <a:lnTo>
                    <a:pt x="645" y="121"/>
                  </a:lnTo>
                  <a:lnTo>
                    <a:pt x="608" y="112"/>
                  </a:lnTo>
                  <a:lnTo>
                    <a:pt x="599" y="100"/>
                  </a:lnTo>
                  <a:lnTo>
                    <a:pt x="600" y="121"/>
                  </a:lnTo>
                  <a:lnTo>
                    <a:pt x="580" y="119"/>
                  </a:lnTo>
                  <a:lnTo>
                    <a:pt x="562" y="107"/>
                  </a:lnTo>
                  <a:lnTo>
                    <a:pt x="555" y="97"/>
                  </a:lnTo>
                  <a:lnTo>
                    <a:pt x="570" y="94"/>
                  </a:lnTo>
                  <a:lnTo>
                    <a:pt x="576" y="66"/>
                  </a:lnTo>
                  <a:lnTo>
                    <a:pt x="562" y="58"/>
                  </a:lnTo>
                  <a:lnTo>
                    <a:pt x="546" y="49"/>
                  </a:lnTo>
                  <a:lnTo>
                    <a:pt x="534" y="49"/>
                  </a:lnTo>
                  <a:lnTo>
                    <a:pt x="522" y="44"/>
                  </a:lnTo>
                  <a:lnTo>
                    <a:pt x="513" y="61"/>
                  </a:lnTo>
                  <a:lnTo>
                    <a:pt x="497" y="53"/>
                  </a:lnTo>
                  <a:lnTo>
                    <a:pt x="483" y="32"/>
                  </a:lnTo>
                  <a:lnTo>
                    <a:pt x="474" y="15"/>
                  </a:lnTo>
                  <a:lnTo>
                    <a:pt x="475" y="9"/>
                  </a:lnTo>
                  <a:lnTo>
                    <a:pt x="474" y="8"/>
                  </a:lnTo>
                  <a:lnTo>
                    <a:pt x="449" y="44"/>
                  </a:lnTo>
                  <a:lnTo>
                    <a:pt x="424" y="72"/>
                  </a:lnTo>
                  <a:lnTo>
                    <a:pt x="416" y="88"/>
                  </a:lnTo>
                  <a:lnTo>
                    <a:pt x="391" y="103"/>
                  </a:lnTo>
                  <a:lnTo>
                    <a:pt x="362" y="94"/>
                  </a:lnTo>
                  <a:lnTo>
                    <a:pt x="346" y="97"/>
                  </a:lnTo>
                  <a:lnTo>
                    <a:pt x="346" y="61"/>
                  </a:lnTo>
                  <a:lnTo>
                    <a:pt x="338" y="44"/>
                  </a:lnTo>
                  <a:lnTo>
                    <a:pt x="356" y="28"/>
                  </a:lnTo>
                  <a:lnTo>
                    <a:pt x="346" y="16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AFE4A77D-3538-7D80-9D56-076B7E43E1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27170" y="5016246"/>
              <a:ext cx="1069975" cy="1438275"/>
            </a:xfrm>
            <a:custGeom>
              <a:avLst/>
              <a:gdLst/>
              <a:ahLst/>
              <a:cxnLst>
                <a:cxn ang="0">
                  <a:pos x="464" y="29"/>
                </a:cxn>
                <a:cxn ang="0">
                  <a:pos x="447" y="94"/>
                </a:cxn>
                <a:cxn ang="0">
                  <a:pos x="404" y="121"/>
                </a:cxn>
                <a:cxn ang="0">
                  <a:pos x="351" y="78"/>
                </a:cxn>
                <a:cxn ang="0">
                  <a:pos x="233" y="158"/>
                </a:cxn>
                <a:cxn ang="0">
                  <a:pos x="191" y="173"/>
                </a:cxn>
                <a:cxn ang="0">
                  <a:pos x="163" y="261"/>
                </a:cxn>
                <a:cxn ang="0">
                  <a:pos x="134" y="341"/>
                </a:cxn>
                <a:cxn ang="0">
                  <a:pos x="233" y="346"/>
                </a:cxn>
                <a:cxn ang="0">
                  <a:pos x="262" y="439"/>
                </a:cxn>
                <a:cxn ang="0">
                  <a:pos x="220" y="448"/>
                </a:cxn>
                <a:cxn ang="0">
                  <a:pos x="175" y="491"/>
                </a:cxn>
                <a:cxn ang="0">
                  <a:pos x="136" y="557"/>
                </a:cxn>
                <a:cxn ang="0">
                  <a:pos x="100" y="516"/>
                </a:cxn>
                <a:cxn ang="0">
                  <a:pos x="59" y="581"/>
                </a:cxn>
                <a:cxn ang="0">
                  <a:pos x="36" y="650"/>
                </a:cxn>
                <a:cxn ang="0">
                  <a:pos x="74" y="669"/>
                </a:cxn>
                <a:cxn ang="0">
                  <a:pos x="184" y="679"/>
                </a:cxn>
                <a:cxn ang="0">
                  <a:pos x="224" y="665"/>
                </a:cxn>
                <a:cxn ang="0">
                  <a:pos x="268" y="615"/>
                </a:cxn>
                <a:cxn ang="0">
                  <a:pos x="307" y="686"/>
                </a:cxn>
                <a:cxn ang="0">
                  <a:pos x="355" y="721"/>
                </a:cxn>
                <a:cxn ang="0">
                  <a:pos x="401" y="736"/>
                </a:cxn>
                <a:cxn ang="0">
                  <a:pos x="441" y="748"/>
                </a:cxn>
                <a:cxn ang="0">
                  <a:pos x="479" y="818"/>
                </a:cxn>
                <a:cxn ang="0">
                  <a:pos x="522" y="850"/>
                </a:cxn>
                <a:cxn ang="0">
                  <a:pos x="567" y="893"/>
                </a:cxn>
                <a:cxn ang="0">
                  <a:pos x="636" y="869"/>
                </a:cxn>
                <a:cxn ang="0">
                  <a:pos x="657" y="906"/>
                </a:cxn>
                <a:cxn ang="0">
                  <a:pos x="664" y="704"/>
                </a:cxn>
                <a:cxn ang="0">
                  <a:pos x="622" y="716"/>
                </a:cxn>
                <a:cxn ang="0">
                  <a:pos x="632" y="745"/>
                </a:cxn>
                <a:cxn ang="0">
                  <a:pos x="593" y="744"/>
                </a:cxn>
                <a:cxn ang="0">
                  <a:pos x="546" y="727"/>
                </a:cxn>
                <a:cxn ang="0">
                  <a:pos x="507" y="674"/>
                </a:cxn>
                <a:cxn ang="0">
                  <a:pos x="467" y="658"/>
                </a:cxn>
                <a:cxn ang="0">
                  <a:pos x="455" y="623"/>
                </a:cxn>
                <a:cxn ang="0">
                  <a:pos x="467" y="548"/>
                </a:cxn>
                <a:cxn ang="0">
                  <a:pos x="497" y="469"/>
                </a:cxn>
                <a:cxn ang="0">
                  <a:pos x="480" y="400"/>
                </a:cxn>
                <a:cxn ang="0">
                  <a:pos x="496" y="333"/>
                </a:cxn>
                <a:cxn ang="0">
                  <a:pos x="472" y="275"/>
                </a:cxn>
                <a:cxn ang="0">
                  <a:pos x="471" y="262"/>
                </a:cxn>
                <a:cxn ang="0">
                  <a:pos x="449" y="263"/>
                </a:cxn>
                <a:cxn ang="0">
                  <a:pos x="482" y="171"/>
                </a:cxn>
                <a:cxn ang="0">
                  <a:pos x="532" y="124"/>
                </a:cxn>
                <a:cxn ang="0">
                  <a:pos x="651" y="86"/>
                </a:cxn>
                <a:cxn ang="0">
                  <a:pos x="636" y="37"/>
                </a:cxn>
                <a:cxn ang="0">
                  <a:pos x="557" y="32"/>
                </a:cxn>
                <a:cxn ang="0">
                  <a:pos x="520" y="46"/>
                </a:cxn>
                <a:cxn ang="0">
                  <a:pos x="461" y="0"/>
                </a:cxn>
                <a:cxn ang="0">
                  <a:pos x="3" y="338"/>
                </a:cxn>
              </a:cxnLst>
              <a:rect l="0" t="0" r="r" b="b"/>
              <a:pathLst>
                <a:path w="674" h="906">
                  <a:moveTo>
                    <a:pt x="461" y="0"/>
                  </a:moveTo>
                  <a:lnTo>
                    <a:pt x="450" y="11"/>
                  </a:lnTo>
                  <a:lnTo>
                    <a:pt x="464" y="29"/>
                  </a:lnTo>
                  <a:lnTo>
                    <a:pt x="463" y="91"/>
                  </a:lnTo>
                  <a:lnTo>
                    <a:pt x="461" y="100"/>
                  </a:lnTo>
                  <a:lnTo>
                    <a:pt x="447" y="94"/>
                  </a:lnTo>
                  <a:lnTo>
                    <a:pt x="432" y="94"/>
                  </a:lnTo>
                  <a:lnTo>
                    <a:pt x="413" y="123"/>
                  </a:lnTo>
                  <a:lnTo>
                    <a:pt x="404" y="121"/>
                  </a:lnTo>
                  <a:lnTo>
                    <a:pt x="391" y="99"/>
                  </a:lnTo>
                  <a:lnTo>
                    <a:pt x="368" y="83"/>
                  </a:lnTo>
                  <a:lnTo>
                    <a:pt x="351" y="78"/>
                  </a:lnTo>
                  <a:lnTo>
                    <a:pt x="322" y="71"/>
                  </a:lnTo>
                  <a:lnTo>
                    <a:pt x="259" y="103"/>
                  </a:lnTo>
                  <a:lnTo>
                    <a:pt x="233" y="158"/>
                  </a:lnTo>
                  <a:lnTo>
                    <a:pt x="214" y="167"/>
                  </a:lnTo>
                  <a:lnTo>
                    <a:pt x="199" y="165"/>
                  </a:lnTo>
                  <a:lnTo>
                    <a:pt x="191" y="173"/>
                  </a:lnTo>
                  <a:lnTo>
                    <a:pt x="186" y="215"/>
                  </a:lnTo>
                  <a:lnTo>
                    <a:pt x="171" y="227"/>
                  </a:lnTo>
                  <a:lnTo>
                    <a:pt x="163" y="261"/>
                  </a:lnTo>
                  <a:lnTo>
                    <a:pt x="133" y="316"/>
                  </a:lnTo>
                  <a:lnTo>
                    <a:pt x="136" y="313"/>
                  </a:lnTo>
                  <a:lnTo>
                    <a:pt x="134" y="341"/>
                  </a:lnTo>
                  <a:lnTo>
                    <a:pt x="178" y="342"/>
                  </a:lnTo>
                  <a:lnTo>
                    <a:pt x="192" y="350"/>
                  </a:lnTo>
                  <a:lnTo>
                    <a:pt x="233" y="346"/>
                  </a:lnTo>
                  <a:lnTo>
                    <a:pt x="243" y="362"/>
                  </a:lnTo>
                  <a:lnTo>
                    <a:pt x="241" y="408"/>
                  </a:lnTo>
                  <a:lnTo>
                    <a:pt x="262" y="439"/>
                  </a:lnTo>
                  <a:lnTo>
                    <a:pt x="247" y="474"/>
                  </a:lnTo>
                  <a:lnTo>
                    <a:pt x="237" y="471"/>
                  </a:lnTo>
                  <a:lnTo>
                    <a:pt x="220" y="448"/>
                  </a:lnTo>
                  <a:lnTo>
                    <a:pt x="186" y="448"/>
                  </a:lnTo>
                  <a:lnTo>
                    <a:pt x="167" y="448"/>
                  </a:lnTo>
                  <a:lnTo>
                    <a:pt x="175" y="491"/>
                  </a:lnTo>
                  <a:lnTo>
                    <a:pt x="162" y="524"/>
                  </a:lnTo>
                  <a:lnTo>
                    <a:pt x="146" y="558"/>
                  </a:lnTo>
                  <a:lnTo>
                    <a:pt x="136" y="557"/>
                  </a:lnTo>
                  <a:lnTo>
                    <a:pt x="136" y="514"/>
                  </a:lnTo>
                  <a:lnTo>
                    <a:pt x="121" y="504"/>
                  </a:lnTo>
                  <a:lnTo>
                    <a:pt x="100" y="516"/>
                  </a:lnTo>
                  <a:lnTo>
                    <a:pt x="80" y="521"/>
                  </a:lnTo>
                  <a:lnTo>
                    <a:pt x="67" y="533"/>
                  </a:lnTo>
                  <a:lnTo>
                    <a:pt x="59" y="581"/>
                  </a:lnTo>
                  <a:lnTo>
                    <a:pt x="32" y="628"/>
                  </a:lnTo>
                  <a:lnTo>
                    <a:pt x="32" y="648"/>
                  </a:lnTo>
                  <a:lnTo>
                    <a:pt x="36" y="650"/>
                  </a:lnTo>
                  <a:lnTo>
                    <a:pt x="58" y="649"/>
                  </a:lnTo>
                  <a:lnTo>
                    <a:pt x="72" y="662"/>
                  </a:lnTo>
                  <a:lnTo>
                    <a:pt x="74" y="669"/>
                  </a:lnTo>
                  <a:lnTo>
                    <a:pt x="120" y="669"/>
                  </a:lnTo>
                  <a:lnTo>
                    <a:pt x="150" y="665"/>
                  </a:lnTo>
                  <a:lnTo>
                    <a:pt x="184" y="679"/>
                  </a:lnTo>
                  <a:lnTo>
                    <a:pt x="196" y="671"/>
                  </a:lnTo>
                  <a:lnTo>
                    <a:pt x="208" y="674"/>
                  </a:lnTo>
                  <a:lnTo>
                    <a:pt x="224" y="665"/>
                  </a:lnTo>
                  <a:lnTo>
                    <a:pt x="241" y="631"/>
                  </a:lnTo>
                  <a:lnTo>
                    <a:pt x="238" y="615"/>
                  </a:lnTo>
                  <a:lnTo>
                    <a:pt x="268" y="615"/>
                  </a:lnTo>
                  <a:lnTo>
                    <a:pt x="263" y="644"/>
                  </a:lnTo>
                  <a:lnTo>
                    <a:pt x="296" y="660"/>
                  </a:lnTo>
                  <a:lnTo>
                    <a:pt x="307" y="686"/>
                  </a:lnTo>
                  <a:lnTo>
                    <a:pt x="321" y="711"/>
                  </a:lnTo>
                  <a:lnTo>
                    <a:pt x="338" y="723"/>
                  </a:lnTo>
                  <a:lnTo>
                    <a:pt x="355" y="721"/>
                  </a:lnTo>
                  <a:lnTo>
                    <a:pt x="378" y="716"/>
                  </a:lnTo>
                  <a:lnTo>
                    <a:pt x="383" y="732"/>
                  </a:lnTo>
                  <a:lnTo>
                    <a:pt x="401" y="736"/>
                  </a:lnTo>
                  <a:lnTo>
                    <a:pt x="409" y="746"/>
                  </a:lnTo>
                  <a:lnTo>
                    <a:pt x="418" y="736"/>
                  </a:lnTo>
                  <a:lnTo>
                    <a:pt x="441" y="748"/>
                  </a:lnTo>
                  <a:lnTo>
                    <a:pt x="468" y="778"/>
                  </a:lnTo>
                  <a:lnTo>
                    <a:pt x="461" y="791"/>
                  </a:lnTo>
                  <a:lnTo>
                    <a:pt x="479" y="818"/>
                  </a:lnTo>
                  <a:lnTo>
                    <a:pt x="491" y="807"/>
                  </a:lnTo>
                  <a:lnTo>
                    <a:pt x="514" y="832"/>
                  </a:lnTo>
                  <a:lnTo>
                    <a:pt x="522" y="850"/>
                  </a:lnTo>
                  <a:lnTo>
                    <a:pt x="533" y="866"/>
                  </a:lnTo>
                  <a:lnTo>
                    <a:pt x="549" y="899"/>
                  </a:lnTo>
                  <a:lnTo>
                    <a:pt x="567" y="893"/>
                  </a:lnTo>
                  <a:lnTo>
                    <a:pt x="575" y="903"/>
                  </a:lnTo>
                  <a:lnTo>
                    <a:pt x="597" y="890"/>
                  </a:lnTo>
                  <a:lnTo>
                    <a:pt x="636" y="869"/>
                  </a:lnTo>
                  <a:lnTo>
                    <a:pt x="653" y="873"/>
                  </a:lnTo>
                  <a:lnTo>
                    <a:pt x="641" y="899"/>
                  </a:lnTo>
                  <a:lnTo>
                    <a:pt x="657" y="906"/>
                  </a:lnTo>
                  <a:lnTo>
                    <a:pt x="674" y="906"/>
                  </a:lnTo>
                  <a:lnTo>
                    <a:pt x="672" y="703"/>
                  </a:lnTo>
                  <a:lnTo>
                    <a:pt x="664" y="704"/>
                  </a:lnTo>
                  <a:lnTo>
                    <a:pt x="654" y="711"/>
                  </a:lnTo>
                  <a:lnTo>
                    <a:pt x="638" y="708"/>
                  </a:lnTo>
                  <a:lnTo>
                    <a:pt x="622" y="716"/>
                  </a:lnTo>
                  <a:lnTo>
                    <a:pt x="617" y="732"/>
                  </a:lnTo>
                  <a:lnTo>
                    <a:pt x="628" y="741"/>
                  </a:lnTo>
                  <a:lnTo>
                    <a:pt x="632" y="745"/>
                  </a:lnTo>
                  <a:lnTo>
                    <a:pt x="622" y="754"/>
                  </a:lnTo>
                  <a:lnTo>
                    <a:pt x="605" y="744"/>
                  </a:lnTo>
                  <a:lnTo>
                    <a:pt x="593" y="744"/>
                  </a:lnTo>
                  <a:lnTo>
                    <a:pt x="588" y="735"/>
                  </a:lnTo>
                  <a:lnTo>
                    <a:pt x="555" y="740"/>
                  </a:lnTo>
                  <a:lnTo>
                    <a:pt x="546" y="727"/>
                  </a:lnTo>
                  <a:lnTo>
                    <a:pt x="534" y="708"/>
                  </a:lnTo>
                  <a:lnTo>
                    <a:pt x="512" y="686"/>
                  </a:lnTo>
                  <a:lnTo>
                    <a:pt x="507" y="674"/>
                  </a:lnTo>
                  <a:lnTo>
                    <a:pt x="499" y="677"/>
                  </a:lnTo>
                  <a:lnTo>
                    <a:pt x="484" y="665"/>
                  </a:lnTo>
                  <a:lnTo>
                    <a:pt x="467" y="658"/>
                  </a:lnTo>
                  <a:lnTo>
                    <a:pt x="463" y="649"/>
                  </a:lnTo>
                  <a:lnTo>
                    <a:pt x="457" y="649"/>
                  </a:lnTo>
                  <a:lnTo>
                    <a:pt x="455" y="623"/>
                  </a:lnTo>
                  <a:lnTo>
                    <a:pt x="449" y="614"/>
                  </a:lnTo>
                  <a:lnTo>
                    <a:pt x="457" y="581"/>
                  </a:lnTo>
                  <a:lnTo>
                    <a:pt x="467" y="548"/>
                  </a:lnTo>
                  <a:lnTo>
                    <a:pt x="464" y="537"/>
                  </a:lnTo>
                  <a:lnTo>
                    <a:pt x="486" y="478"/>
                  </a:lnTo>
                  <a:lnTo>
                    <a:pt x="497" y="469"/>
                  </a:lnTo>
                  <a:lnTo>
                    <a:pt x="489" y="441"/>
                  </a:lnTo>
                  <a:lnTo>
                    <a:pt x="489" y="412"/>
                  </a:lnTo>
                  <a:lnTo>
                    <a:pt x="480" y="400"/>
                  </a:lnTo>
                  <a:lnTo>
                    <a:pt x="489" y="377"/>
                  </a:lnTo>
                  <a:lnTo>
                    <a:pt x="487" y="357"/>
                  </a:lnTo>
                  <a:lnTo>
                    <a:pt x="496" y="333"/>
                  </a:lnTo>
                  <a:lnTo>
                    <a:pt x="488" y="321"/>
                  </a:lnTo>
                  <a:lnTo>
                    <a:pt x="484" y="295"/>
                  </a:lnTo>
                  <a:lnTo>
                    <a:pt x="472" y="275"/>
                  </a:lnTo>
                  <a:lnTo>
                    <a:pt x="472" y="270"/>
                  </a:lnTo>
                  <a:lnTo>
                    <a:pt x="470" y="270"/>
                  </a:lnTo>
                  <a:lnTo>
                    <a:pt x="471" y="262"/>
                  </a:lnTo>
                  <a:lnTo>
                    <a:pt x="459" y="269"/>
                  </a:lnTo>
                  <a:lnTo>
                    <a:pt x="447" y="266"/>
                  </a:lnTo>
                  <a:lnTo>
                    <a:pt x="449" y="263"/>
                  </a:lnTo>
                  <a:lnTo>
                    <a:pt x="439" y="261"/>
                  </a:lnTo>
                  <a:lnTo>
                    <a:pt x="438" y="233"/>
                  </a:lnTo>
                  <a:lnTo>
                    <a:pt x="482" y="171"/>
                  </a:lnTo>
                  <a:lnTo>
                    <a:pt x="514" y="135"/>
                  </a:lnTo>
                  <a:lnTo>
                    <a:pt x="539" y="141"/>
                  </a:lnTo>
                  <a:lnTo>
                    <a:pt x="532" y="124"/>
                  </a:lnTo>
                  <a:lnTo>
                    <a:pt x="643" y="110"/>
                  </a:lnTo>
                  <a:lnTo>
                    <a:pt x="643" y="106"/>
                  </a:lnTo>
                  <a:lnTo>
                    <a:pt x="651" y="86"/>
                  </a:lnTo>
                  <a:lnTo>
                    <a:pt x="666" y="63"/>
                  </a:lnTo>
                  <a:lnTo>
                    <a:pt x="659" y="40"/>
                  </a:lnTo>
                  <a:lnTo>
                    <a:pt x="636" y="37"/>
                  </a:lnTo>
                  <a:lnTo>
                    <a:pt x="620" y="19"/>
                  </a:lnTo>
                  <a:lnTo>
                    <a:pt x="586" y="21"/>
                  </a:lnTo>
                  <a:lnTo>
                    <a:pt x="557" y="32"/>
                  </a:lnTo>
                  <a:lnTo>
                    <a:pt x="545" y="33"/>
                  </a:lnTo>
                  <a:lnTo>
                    <a:pt x="529" y="50"/>
                  </a:lnTo>
                  <a:lnTo>
                    <a:pt x="520" y="46"/>
                  </a:lnTo>
                  <a:lnTo>
                    <a:pt x="497" y="7"/>
                  </a:lnTo>
                  <a:lnTo>
                    <a:pt x="478" y="0"/>
                  </a:lnTo>
                  <a:lnTo>
                    <a:pt x="461" y="0"/>
                  </a:lnTo>
                  <a:close/>
                  <a:moveTo>
                    <a:pt x="0" y="312"/>
                  </a:moveTo>
                  <a:lnTo>
                    <a:pt x="3" y="338"/>
                  </a:lnTo>
                  <a:lnTo>
                    <a:pt x="3" y="338"/>
                  </a:lnTo>
                  <a:lnTo>
                    <a:pt x="0" y="312"/>
                  </a:lnTo>
                  <a:close/>
                </a:path>
              </a:pathLst>
            </a:custGeom>
            <a:solidFill>
              <a:srgbClr val="A2522E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C04BFCC6-C5F5-795A-0E42-C40D1D01C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958" y="5013077"/>
              <a:ext cx="1354138" cy="1031875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10" y="164"/>
                </a:cxn>
                <a:cxn ang="0">
                  <a:pos x="3" y="206"/>
                </a:cxn>
                <a:cxn ang="0">
                  <a:pos x="36" y="258"/>
                </a:cxn>
                <a:cxn ang="0">
                  <a:pos x="56" y="301"/>
                </a:cxn>
                <a:cxn ang="0">
                  <a:pos x="69" y="361"/>
                </a:cxn>
                <a:cxn ang="0">
                  <a:pos x="51" y="382"/>
                </a:cxn>
                <a:cxn ang="0">
                  <a:pos x="80" y="422"/>
                </a:cxn>
                <a:cxn ang="0">
                  <a:pos x="95" y="404"/>
                </a:cxn>
                <a:cxn ang="0">
                  <a:pos x="137" y="405"/>
                </a:cxn>
                <a:cxn ang="0">
                  <a:pos x="199" y="390"/>
                </a:cxn>
                <a:cxn ang="0">
                  <a:pos x="273" y="383"/>
                </a:cxn>
                <a:cxn ang="0">
                  <a:pos x="285" y="401"/>
                </a:cxn>
                <a:cxn ang="0">
                  <a:pos x="310" y="407"/>
                </a:cxn>
                <a:cxn ang="0">
                  <a:pos x="310" y="441"/>
                </a:cxn>
                <a:cxn ang="0">
                  <a:pos x="337" y="450"/>
                </a:cxn>
                <a:cxn ang="0">
                  <a:pos x="427" y="421"/>
                </a:cxn>
                <a:cxn ang="0">
                  <a:pos x="424" y="467"/>
                </a:cxn>
                <a:cxn ang="0">
                  <a:pos x="446" y="482"/>
                </a:cxn>
                <a:cxn ang="0">
                  <a:pos x="465" y="486"/>
                </a:cxn>
                <a:cxn ang="0">
                  <a:pos x="473" y="479"/>
                </a:cxn>
                <a:cxn ang="0">
                  <a:pos x="500" y="407"/>
                </a:cxn>
                <a:cxn ang="0">
                  <a:pos x="525" y="394"/>
                </a:cxn>
                <a:cxn ang="0">
                  <a:pos x="552" y="392"/>
                </a:cxn>
                <a:cxn ang="0">
                  <a:pos x="560" y="426"/>
                </a:cxn>
                <a:cxn ang="0">
                  <a:pos x="582" y="375"/>
                </a:cxn>
                <a:cxn ang="0">
                  <a:pos x="590" y="342"/>
                </a:cxn>
                <a:cxn ang="0">
                  <a:pos x="629" y="360"/>
                </a:cxn>
                <a:cxn ang="0">
                  <a:pos x="648" y="335"/>
                </a:cxn>
                <a:cxn ang="0">
                  <a:pos x="634" y="277"/>
                </a:cxn>
                <a:cxn ang="0">
                  <a:pos x="595" y="268"/>
                </a:cxn>
                <a:cxn ang="0">
                  <a:pos x="551" y="261"/>
                </a:cxn>
                <a:cxn ang="0">
                  <a:pos x="536" y="248"/>
                </a:cxn>
                <a:cxn ang="0">
                  <a:pos x="475" y="226"/>
                </a:cxn>
                <a:cxn ang="0">
                  <a:pos x="446" y="218"/>
                </a:cxn>
                <a:cxn ang="0">
                  <a:pos x="451" y="259"/>
                </a:cxn>
                <a:cxn ang="0">
                  <a:pos x="411" y="282"/>
                </a:cxn>
                <a:cxn ang="0">
                  <a:pos x="386" y="294"/>
                </a:cxn>
                <a:cxn ang="0">
                  <a:pos x="360" y="289"/>
                </a:cxn>
                <a:cxn ang="0">
                  <a:pos x="323" y="284"/>
                </a:cxn>
                <a:cxn ang="0">
                  <a:pos x="284" y="284"/>
                </a:cxn>
                <a:cxn ang="0">
                  <a:pos x="279" y="254"/>
                </a:cxn>
                <a:cxn ang="0">
                  <a:pos x="288" y="207"/>
                </a:cxn>
                <a:cxn ang="0">
                  <a:pos x="305" y="189"/>
                </a:cxn>
                <a:cxn ang="0">
                  <a:pos x="256" y="139"/>
                </a:cxn>
                <a:cxn ang="0">
                  <a:pos x="220" y="87"/>
                </a:cxn>
                <a:cxn ang="0">
                  <a:pos x="216" y="34"/>
                </a:cxn>
                <a:cxn ang="0">
                  <a:pos x="162" y="23"/>
                </a:cxn>
                <a:cxn ang="0">
                  <a:pos x="107" y="28"/>
                </a:cxn>
                <a:cxn ang="0">
                  <a:pos x="89" y="12"/>
                </a:cxn>
                <a:cxn ang="0">
                  <a:pos x="43" y="21"/>
                </a:cxn>
                <a:cxn ang="0">
                  <a:pos x="4" y="0"/>
                </a:cxn>
              </a:cxnLst>
              <a:rect l="0" t="0" r="r" b="b"/>
              <a:pathLst>
                <a:path w="648" h="494">
                  <a:moveTo>
                    <a:pt x="4" y="0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3" y="206"/>
                    <a:pt x="3" y="206"/>
                    <a:pt x="3" y="206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36" y="258"/>
                    <a:pt x="36" y="258"/>
                    <a:pt x="36" y="258"/>
                  </a:cubicBezTo>
                  <a:cubicBezTo>
                    <a:pt x="51" y="267"/>
                    <a:pt x="51" y="267"/>
                    <a:pt x="51" y="267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67" y="331"/>
                    <a:pt x="67" y="331"/>
                    <a:pt x="67" y="331"/>
                  </a:cubicBezTo>
                  <a:cubicBezTo>
                    <a:pt x="69" y="361"/>
                    <a:pt x="69" y="361"/>
                    <a:pt x="69" y="361"/>
                  </a:cubicBezTo>
                  <a:cubicBezTo>
                    <a:pt x="68" y="373"/>
                    <a:pt x="68" y="373"/>
                    <a:pt x="68" y="373"/>
                  </a:cubicBezTo>
                  <a:cubicBezTo>
                    <a:pt x="51" y="382"/>
                    <a:pt x="51" y="382"/>
                    <a:pt x="51" y="382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80" y="422"/>
                    <a:pt x="80" y="422"/>
                    <a:pt x="80" y="422"/>
                  </a:cubicBezTo>
                  <a:cubicBezTo>
                    <a:pt x="91" y="410"/>
                    <a:pt x="91" y="410"/>
                    <a:pt x="91" y="410"/>
                  </a:cubicBezTo>
                  <a:cubicBezTo>
                    <a:pt x="95" y="404"/>
                    <a:pt x="95" y="404"/>
                    <a:pt x="95" y="404"/>
                  </a:cubicBezTo>
                  <a:cubicBezTo>
                    <a:pt x="129" y="412"/>
                    <a:pt x="129" y="412"/>
                    <a:pt x="129" y="412"/>
                  </a:cubicBezTo>
                  <a:cubicBezTo>
                    <a:pt x="137" y="405"/>
                    <a:pt x="137" y="405"/>
                    <a:pt x="137" y="405"/>
                  </a:cubicBezTo>
                  <a:cubicBezTo>
                    <a:pt x="167" y="410"/>
                    <a:pt x="167" y="410"/>
                    <a:pt x="167" y="410"/>
                  </a:cubicBezTo>
                  <a:cubicBezTo>
                    <a:pt x="199" y="390"/>
                    <a:pt x="199" y="390"/>
                    <a:pt x="199" y="390"/>
                  </a:cubicBezTo>
                  <a:cubicBezTo>
                    <a:pt x="252" y="401"/>
                    <a:pt x="252" y="401"/>
                    <a:pt x="252" y="401"/>
                  </a:cubicBezTo>
                  <a:cubicBezTo>
                    <a:pt x="273" y="383"/>
                    <a:pt x="273" y="383"/>
                    <a:pt x="273" y="383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5" y="401"/>
                    <a:pt x="285" y="401"/>
                    <a:pt x="285" y="401"/>
                  </a:cubicBezTo>
                  <a:cubicBezTo>
                    <a:pt x="301" y="405"/>
                    <a:pt x="301" y="405"/>
                    <a:pt x="301" y="405"/>
                  </a:cubicBezTo>
                  <a:cubicBezTo>
                    <a:pt x="310" y="407"/>
                    <a:pt x="310" y="407"/>
                    <a:pt x="310" y="407"/>
                  </a:cubicBezTo>
                  <a:cubicBezTo>
                    <a:pt x="315" y="423"/>
                    <a:pt x="315" y="423"/>
                    <a:pt x="315" y="423"/>
                  </a:cubicBezTo>
                  <a:cubicBezTo>
                    <a:pt x="310" y="441"/>
                    <a:pt x="310" y="441"/>
                    <a:pt x="310" y="441"/>
                  </a:cubicBezTo>
                  <a:cubicBezTo>
                    <a:pt x="318" y="451"/>
                    <a:pt x="318" y="451"/>
                    <a:pt x="318" y="451"/>
                  </a:cubicBezTo>
                  <a:cubicBezTo>
                    <a:pt x="337" y="450"/>
                    <a:pt x="337" y="450"/>
                    <a:pt x="337" y="450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427" y="421"/>
                    <a:pt x="427" y="421"/>
                    <a:pt x="427" y="421"/>
                  </a:cubicBezTo>
                  <a:cubicBezTo>
                    <a:pt x="422" y="448"/>
                    <a:pt x="422" y="448"/>
                    <a:pt x="422" y="448"/>
                  </a:cubicBezTo>
                  <a:cubicBezTo>
                    <a:pt x="424" y="467"/>
                    <a:pt x="424" y="467"/>
                    <a:pt x="424" y="467"/>
                  </a:cubicBezTo>
                  <a:cubicBezTo>
                    <a:pt x="435" y="477"/>
                    <a:pt x="435" y="477"/>
                    <a:pt x="435" y="477"/>
                  </a:cubicBezTo>
                  <a:cubicBezTo>
                    <a:pt x="446" y="482"/>
                    <a:pt x="446" y="482"/>
                    <a:pt x="446" y="482"/>
                  </a:cubicBezTo>
                  <a:cubicBezTo>
                    <a:pt x="446" y="482"/>
                    <a:pt x="444" y="490"/>
                    <a:pt x="446" y="490"/>
                  </a:cubicBezTo>
                  <a:cubicBezTo>
                    <a:pt x="448" y="491"/>
                    <a:pt x="465" y="486"/>
                    <a:pt x="465" y="486"/>
                  </a:cubicBezTo>
                  <a:cubicBezTo>
                    <a:pt x="473" y="494"/>
                    <a:pt x="473" y="494"/>
                    <a:pt x="473" y="494"/>
                  </a:cubicBezTo>
                  <a:cubicBezTo>
                    <a:pt x="473" y="479"/>
                    <a:pt x="473" y="479"/>
                    <a:pt x="473" y="479"/>
                  </a:cubicBezTo>
                  <a:cubicBezTo>
                    <a:pt x="494" y="443"/>
                    <a:pt x="494" y="443"/>
                    <a:pt x="494" y="443"/>
                  </a:cubicBezTo>
                  <a:cubicBezTo>
                    <a:pt x="500" y="407"/>
                    <a:pt x="500" y="407"/>
                    <a:pt x="500" y="407"/>
                  </a:cubicBezTo>
                  <a:cubicBezTo>
                    <a:pt x="510" y="398"/>
                    <a:pt x="510" y="398"/>
                    <a:pt x="510" y="398"/>
                  </a:cubicBezTo>
                  <a:cubicBezTo>
                    <a:pt x="525" y="394"/>
                    <a:pt x="525" y="394"/>
                    <a:pt x="525" y="394"/>
                  </a:cubicBezTo>
                  <a:cubicBezTo>
                    <a:pt x="541" y="385"/>
                    <a:pt x="541" y="385"/>
                    <a:pt x="541" y="385"/>
                  </a:cubicBezTo>
                  <a:cubicBezTo>
                    <a:pt x="552" y="392"/>
                    <a:pt x="552" y="392"/>
                    <a:pt x="552" y="392"/>
                  </a:cubicBezTo>
                  <a:cubicBezTo>
                    <a:pt x="552" y="425"/>
                    <a:pt x="552" y="425"/>
                    <a:pt x="552" y="425"/>
                  </a:cubicBezTo>
                  <a:cubicBezTo>
                    <a:pt x="560" y="426"/>
                    <a:pt x="560" y="426"/>
                    <a:pt x="560" y="426"/>
                  </a:cubicBezTo>
                  <a:cubicBezTo>
                    <a:pt x="572" y="400"/>
                    <a:pt x="572" y="400"/>
                    <a:pt x="572" y="400"/>
                  </a:cubicBezTo>
                  <a:cubicBezTo>
                    <a:pt x="582" y="375"/>
                    <a:pt x="582" y="375"/>
                    <a:pt x="582" y="375"/>
                  </a:cubicBezTo>
                  <a:cubicBezTo>
                    <a:pt x="576" y="342"/>
                    <a:pt x="576" y="342"/>
                    <a:pt x="576" y="342"/>
                  </a:cubicBezTo>
                  <a:cubicBezTo>
                    <a:pt x="590" y="342"/>
                    <a:pt x="590" y="342"/>
                    <a:pt x="590" y="342"/>
                  </a:cubicBezTo>
                  <a:cubicBezTo>
                    <a:pt x="616" y="342"/>
                    <a:pt x="616" y="342"/>
                    <a:pt x="616" y="342"/>
                  </a:cubicBezTo>
                  <a:cubicBezTo>
                    <a:pt x="629" y="360"/>
                    <a:pt x="629" y="360"/>
                    <a:pt x="629" y="360"/>
                  </a:cubicBezTo>
                  <a:cubicBezTo>
                    <a:pt x="637" y="362"/>
                    <a:pt x="637" y="362"/>
                    <a:pt x="637" y="362"/>
                  </a:cubicBezTo>
                  <a:cubicBezTo>
                    <a:pt x="648" y="335"/>
                    <a:pt x="648" y="335"/>
                    <a:pt x="648" y="335"/>
                  </a:cubicBezTo>
                  <a:cubicBezTo>
                    <a:pt x="632" y="312"/>
                    <a:pt x="632" y="312"/>
                    <a:pt x="632" y="312"/>
                  </a:cubicBezTo>
                  <a:cubicBezTo>
                    <a:pt x="634" y="277"/>
                    <a:pt x="634" y="277"/>
                    <a:pt x="634" y="277"/>
                  </a:cubicBezTo>
                  <a:cubicBezTo>
                    <a:pt x="626" y="265"/>
                    <a:pt x="626" y="265"/>
                    <a:pt x="626" y="265"/>
                  </a:cubicBezTo>
                  <a:cubicBezTo>
                    <a:pt x="595" y="268"/>
                    <a:pt x="595" y="268"/>
                    <a:pt x="595" y="268"/>
                  </a:cubicBezTo>
                  <a:cubicBezTo>
                    <a:pt x="584" y="262"/>
                    <a:pt x="584" y="262"/>
                    <a:pt x="584" y="262"/>
                  </a:cubicBezTo>
                  <a:cubicBezTo>
                    <a:pt x="551" y="261"/>
                    <a:pt x="551" y="261"/>
                    <a:pt x="551" y="261"/>
                  </a:cubicBezTo>
                  <a:cubicBezTo>
                    <a:pt x="552" y="240"/>
                    <a:pt x="552" y="240"/>
                    <a:pt x="552" y="240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16" y="243"/>
                    <a:pt x="516" y="243"/>
                    <a:pt x="516" y="243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54" y="214"/>
                    <a:pt x="454" y="214"/>
                    <a:pt x="454" y="214"/>
                  </a:cubicBezTo>
                  <a:cubicBezTo>
                    <a:pt x="446" y="218"/>
                    <a:pt x="446" y="218"/>
                    <a:pt x="446" y="218"/>
                  </a:cubicBezTo>
                  <a:cubicBezTo>
                    <a:pt x="449" y="239"/>
                    <a:pt x="449" y="239"/>
                    <a:pt x="449" y="239"/>
                  </a:cubicBezTo>
                  <a:cubicBezTo>
                    <a:pt x="451" y="259"/>
                    <a:pt x="451" y="259"/>
                    <a:pt x="451" y="259"/>
                  </a:cubicBezTo>
                  <a:cubicBezTo>
                    <a:pt x="435" y="270"/>
                    <a:pt x="435" y="270"/>
                    <a:pt x="435" y="270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86" y="294"/>
                    <a:pt x="386" y="294"/>
                    <a:pt x="386" y="294"/>
                  </a:cubicBezTo>
                  <a:cubicBezTo>
                    <a:pt x="367" y="289"/>
                    <a:pt x="367" y="289"/>
                    <a:pt x="367" y="289"/>
                  </a:cubicBezTo>
                  <a:cubicBezTo>
                    <a:pt x="360" y="289"/>
                    <a:pt x="360" y="289"/>
                    <a:pt x="360" y="289"/>
                  </a:cubicBezTo>
                  <a:cubicBezTo>
                    <a:pt x="339" y="281"/>
                    <a:pt x="339" y="281"/>
                    <a:pt x="339" y="281"/>
                  </a:cubicBezTo>
                  <a:cubicBezTo>
                    <a:pt x="323" y="284"/>
                    <a:pt x="323" y="284"/>
                    <a:pt x="323" y="284"/>
                  </a:cubicBezTo>
                  <a:cubicBezTo>
                    <a:pt x="299" y="277"/>
                    <a:pt x="299" y="277"/>
                    <a:pt x="299" y="277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2" y="283"/>
                    <a:pt x="282" y="283"/>
                    <a:pt x="282" y="283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4" y="238"/>
                    <a:pt x="284" y="238"/>
                    <a:pt x="284" y="238"/>
                  </a:cubicBezTo>
                  <a:cubicBezTo>
                    <a:pt x="288" y="207"/>
                    <a:pt x="288" y="207"/>
                    <a:pt x="288" y="207"/>
                  </a:cubicBezTo>
                  <a:cubicBezTo>
                    <a:pt x="296" y="194"/>
                    <a:pt x="296" y="194"/>
                    <a:pt x="296" y="194"/>
                  </a:cubicBezTo>
                  <a:cubicBezTo>
                    <a:pt x="305" y="189"/>
                    <a:pt x="305" y="189"/>
                    <a:pt x="305" y="189"/>
                  </a:cubicBezTo>
                  <a:cubicBezTo>
                    <a:pt x="297" y="157"/>
                    <a:pt x="297" y="157"/>
                    <a:pt x="297" y="157"/>
                  </a:cubicBezTo>
                  <a:cubicBezTo>
                    <a:pt x="256" y="139"/>
                    <a:pt x="256" y="139"/>
                    <a:pt x="256" y="139"/>
                  </a:cubicBezTo>
                  <a:cubicBezTo>
                    <a:pt x="223" y="129"/>
                    <a:pt x="223" y="129"/>
                    <a:pt x="223" y="129"/>
                  </a:cubicBezTo>
                  <a:cubicBezTo>
                    <a:pt x="220" y="87"/>
                    <a:pt x="220" y="87"/>
                    <a:pt x="220" y="87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68" y="34"/>
                    <a:pt x="168" y="34"/>
                    <a:pt x="168" y="34"/>
                  </a:cubicBezTo>
                  <a:cubicBezTo>
                    <a:pt x="162" y="23"/>
                    <a:pt x="162" y="23"/>
                    <a:pt x="162" y="23"/>
                  </a:cubicBezTo>
                  <a:cubicBezTo>
                    <a:pt x="140" y="33"/>
                    <a:pt x="140" y="33"/>
                    <a:pt x="140" y="33"/>
                  </a:cubicBezTo>
                  <a:cubicBezTo>
                    <a:pt x="140" y="33"/>
                    <a:pt x="110" y="33"/>
                    <a:pt x="107" y="28"/>
                  </a:cubicBezTo>
                  <a:cubicBezTo>
                    <a:pt x="104" y="22"/>
                    <a:pt x="101" y="11"/>
                    <a:pt x="101" y="11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23" y="7"/>
                    <a:pt x="23" y="7"/>
                    <a:pt x="23" y="7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A2522E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4B1B9B38-0611-6D37-7287-2752F69C6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796" y="3096459"/>
              <a:ext cx="1081088" cy="1241425"/>
            </a:xfrm>
            <a:custGeom>
              <a:avLst/>
              <a:gdLst/>
              <a:ahLst/>
              <a:cxnLst>
                <a:cxn ang="0">
                  <a:pos x="200" y="10"/>
                </a:cxn>
                <a:cxn ang="0">
                  <a:pos x="217" y="33"/>
                </a:cxn>
                <a:cxn ang="0">
                  <a:pos x="220" y="65"/>
                </a:cxn>
                <a:cxn ang="0">
                  <a:pos x="206" y="100"/>
                </a:cxn>
                <a:cxn ang="0">
                  <a:pos x="200" y="140"/>
                </a:cxn>
                <a:cxn ang="0">
                  <a:pos x="183" y="162"/>
                </a:cxn>
                <a:cxn ang="0">
                  <a:pos x="170" y="204"/>
                </a:cxn>
                <a:cxn ang="0">
                  <a:pos x="150" y="212"/>
                </a:cxn>
                <a:cxn ang="0">
                  <a:pos x="115" y="228"/>
                </a:cxn>
                <a:cxn ang="0">
                  <a:pos x="98" y="249"/>
                </a:cxn>
                <a:cxn ang="0">
                  <a:pos x="71" y="237"/>
                </a:cxn>
                <a:cxn ang="0">
                  <a:pos x="0" y="223"/>
                </a:cxn>
                <a:cxn ang="0">
                  <a:pos x="74" y="274"/>
                </a:cxn>
                <a:cxn ang="0">
                  <a:pos x="61" y="373"/>
                </a:cxn>
                <a:cxn ang="0">
                  <a:pos x="35" y="440"/>
                </a:cxn>
                <a:cxn ang="0">
                  <a:pos x="66" y="495"/>
                </a:cxn>
                <a:cxn ang="0">
                  <a:pos x="49" y="544"/>
                </a:cxn>
                <a:cxn ang="0">
                  <a:pos x="216" y="587"/>
                </a:cxn>
                <a:cxn ang="0">
                  <a:pos x="217" y="586"/>
                </a:cxn>
                <a:cxn ang="0">
                  <a:pos x="517" y="593"/>
                </a:cxn>
                <a:cxn ang="0">
                  <a:pos x="482" y="512"/>
                </a:cxn>
                <a:cxn ang="0">
                  <a:pos x="441" y="494"/>
                </a:cxn>
                <a:cxn ang="0">
                  <a:pos x="411" y="485"/>
                </a:cxn>
                <a:cxn ang="0">
                  <a:pos x="377" y="468"/>
                </a:cxn>
                <a:cxn ang="0">
                  <a:pos x="318" y="451"/>
                </a:cxn>
                <a:cxn ang="0">
                  <a:pos x="322" y="377"/>
                </a:cxn>
                <a:cxn ang="0">
                  <a:pos x="301" y="333"/>
                </a:cxn>
                <a:cxn ang="0">
                  <a:pos x="298" y="263"/>
                </a:cxn>
                <a:cxn ang="0">
                  <a:pos x="325" y="268"/>
                </a:cxn>
                <a:cxn ang="0">
                  <a:pos x="364" y="249"/>
                </a:cxn>
                <a:cxn ang="0">
                  <a:pos x="389" y="204"/>
                </a:cxn>
                <a:cxn ang="0">
                  <a:pos x="350" y="162"/>
                </a:cxn>
                <a:cxn ang="0">
                  <a:pos x="349" y="113"/>
                </a:cxn>
                <a:cxn ang="0">
                  <a:pos x="408" y="122"/>
                </a:cxn>
                <a:cxn ang="0">
                  <a:pos x="421" y="69"/>
                </a:cxn>
                <a:cxn ang="0">
                  <a:pos x="375" y="50"/>
                </a:cxn>
                <a:cxn ang="0">
                  <a:pos x="326" y="39"/>
                </a:cxn>
                <a:cxn ang="0">
                  <a:pos x="273" y="25"/>
                </a:cxn>
                <a:cxn ang="0">
                  <a:pos x="207" y="0"/>
                </a:cxn>
              </a:cxnLst>
              <a:rect l="0" t="0" r="r" b="b"/>
              <a:pathLst>
                <a:path w="518" h="594">
                  <a:moveTo>
                    <a:pt x="207" y="0"/>
                  </a:moveTo>
                  <a:cubicBezTo>
                    <a:pt x="200" y="10"/>
                    <a:pt x="200" y="10"/>
                    <a:pt x="200" y="10"/>
                  </a:cubicBezTo>
                  <a:cubicBezTo>
                    <a:pt x="216" y="25"/>
                    <a:pt x="216" y="25"/>
                    <a:pt x="216" y="25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26" y="51"/>
                    <a:pt x="226" y="51"/>
                    <a:pt x="226" y="51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06" y="100"/>
                    <a:pt x="206" y="100"/>
                    <a:pt x="206" y="100"/>
                  </a:cubicBezTo>
                  <a:cubicBezTo>
                    <a:pt x="199" y="124"/>
                    <a:pt x="199" y="124"/>
                    <a:pt x="199" y="124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194" y="156"/>
                    <a:pt x="194" y="156"/>
                    <a:pt x="194" y="156"/>
                  </a:cubicBezTo>
                  <a:cubicBezTo>
                    <a:pt x="183" y="162"/>
                    <a:pt x="183" y="162"/>
                    <a:pt x="183" y="16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0" y="204"/>
                    <a:pt x="170" y="204"/>
                    <a:pt x="170" y="204"/>
                  </a:cubicBezTo>
                  <a:cubicBezTo>
                    <a:pt x="151" y="204"/>
                    <a:pt x="151" y="204"/>
                    <a:pt x="151" y="204"/>
                  </a:cubicBezTo>
                  <a:cubicBezTo>
                    <a:pt x="150" y="212"/>
                    <a:pt x="150" y="212"/>
                    <a:pt x="150" y="212"/>
                  </a:cubicBezTo>
                  <a:cubicBezTo>
                    <a:pt x="132" y="216"/>
                    <a:pt x="132" y="216"/>
                    <a:pt x="132" y="21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09" y="244"/>
                    <a:pt x="109" y="244"/>
                    <a:pt x="109" y="244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71" y="237"/>
                    <a:pt x="71" y="237"/>
                    <a:pt x="71" y="237"/>
                  </a:cubicBezTo>
                  <a:cubicBezTo>
                    <a:pt x="72" y="222"/>
                    <a:pt x="72" y="222"/>
                    <a:pt x="72" y="222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29" y="276"/>
                    <a:pt x="29" y="276"/>
                    <a:pt x="29" y="276"/>
                  </a:cubicBezTo>
                  <a:cubicBezTo>
                    <a:pt x="74" y="274"/>
                    <a:pt x="74" y="274"/>
                    <a:pt x="74" y="274"/>
                  </a:cubicBezTo>
                  <a:cubicBezTo>
                    <a:pt x="74" y="331"/>
                    <a:pt x="74" y="331"/>
                    <a:pt x="74" y="331"/>
                  </a:cubicBezTo>
                  <a:cubicBezTo>
                    <a:pt x="61" y="373"/>
                    <a:pt x="61" y="373"/>
                    <a:pt x="61" y="373"/>
                  </a:cubicBezTo>
                  <a:cubicBezTo>
                    <a:pt x="39" y="404"/>
                    <a:pt x="39" y="404"/>
                    <a:pt x="39" y="404"/>
                  </a:cubicBezTo>
                  <a:cubicBezTo>
                    <a:pt x="35" y="440"/>
                    <a:pt x="35" y="440"/>
                    <a:pt x="35" y="440"/>
                  </a:cubicBezTo>
                  <a:cubicBezTo>
                    <a:pt x="60" y="470"/>
                    <a:pt x="60" y="470"/>
                    <a:pt x="60" y="470"/>
                  </a:cubicBezTo>
                  <a:cubicBezTo>
                    <a:pt x="66" y="495"/>
                    <a:pt x="66" y="495"/>
                    <a:pt x="66" y="495"/>
                  </a:cubicBezTo>
                  <a:cubicBezTo>
                    <a:pt x="60" y="521"/>
                    <a:pt x="60" y="521"/>
                    <a:pt x="60" y="521"/>
                  </a:cubicBezTo>
                  <a:cubicBezTo>
                    <a:pt x="49" y="544"/>
                    <a:pt x="49" y="544"/>
                    <a:pt x="49" y="544"/>
                  </a:cubicBezTo>
                  <a:cubicBezTo>
                    <a:pt x="74" y="587"/>
                    <a:pt x="74" y="587"/>
                    <a:pt x="74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7" y="586"/>
                    <a:pt x="217" y="586"/>
                    <a:pt x="217" y="586"/>
                  </a:cubicBezTo>
                  <a:cubicBezTo>
                    <a:pt x="518" y="594"/>
                    <a:pt x="518" y="594"/>
                    <a:pt x="518" y="594"/>
                  </a:cubicBezTo>
                  <a:cubicBezTo>
                    <a:pt x="517" y="593"/>
                    <a:pt x="517" y="593"/>
                    <a:pt x="517" y="593"/>
                  </a:cubicBezTo>
                  <a:cubicBezTo>
                    <a:pt x="494" y="533"/>
                    <a:pt x="494" y="533"/>
                    <a:pt x="494" y="533"/>
                  </a:cubicBezTo>
                  <a:cubicBezTo>
                    <a:pt x="482" y="512"/>
                    <a:pt x="482" y="512"/>
                    <a:pt x="482" y="512"/>
                  </a:cubicBezTo>
                  <a:cubicBezTo>
                    <a:pt x="450" y="488"/>
                    <a:pt x="450" y="488"/>
                    <a:pt x="450" y="488"/>
                  </a:cubicBezTo>
                  <a:cubicBezTo>
                    <a:pt x="441" y="494"/>
                    <a:pt x="441" y="494"/>
                    <a:pt x="441" y="494"/>
                  </a:cubicBezTo>
                  <a:cubicBezTo>
                    <a:pt x="427" y="489"/>
                    <a:pt x="427" y="489"/>
                    <a:pt x="427" y="489"/>
                  </a:cubicBezTo>
                  <a:cubicBezTo>
                    <a:pt x="411" y="485"/>
                    <a:pt x="411" y="485"/>
                    <a:pt x="411" y="485"/>
                  </a:cubicBezTo>
                  <a:cubicBezTo>
                    <a:pt x="401" y="468"/>
                    <a:pt x="401" y="468"/>
                    <a:pt x="401" y="468"/>
                  </a:cubicBezTo>
                  <a:cubicBezTo>
                    <a:pt x="377" y="468"/>
                    <a:pt x="377" y="468"/>
                    <a:pt x="377" y="468"/>
                  </a:cubicBezTo>
                  <a:cubicBezTo>
                    <a:pt x="339" y="461"/>
                    <a:pt x="339" y="461"/>
                    <a:pt x="339" y="461"/>
                  </a:cubicBezTo>
                  <a:cubicBezTo>
                    <a:pt x="339" y="461"/>
                    <a:pt x="323" y="451"/>
                    <a:pt x="318" y="451"/>
                  </a:cubicBezTo>
                  <a:cubicBezTo>
                    <a:pt x="314" y="451"/>
                    <a:pt x="322" y="421"/>
                    <a:pt x="322" y="421"/>
                  </a:cubicBezTo>
                  <a:cubicBezTo>
                    <a:pt x="322" y="377"/>
                    <a:pt x="322" y="377"/>
                    <a:pt x="322" y="377"/>
                  </a:cubicBezTo>
                  <a:cubicBezTo>
                    <a:pt x="317" y="349"/>
                    <a:pt x="317" y="349"/>
                    <a:pt x="317" y="349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292" y="290"/>
                    <a:pt x="292" y="290"/>
                    <a:pt x="292" y="290"/>
                  </a:cubicBezTo>
                  <a:cubicBezTo>
                    <a:pt x="298" y="263"/>
                    <a:pt x="298" y="263"/>
                    <a:pt x="298" y="263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25" y="268"/>
                    <a:pt x="325" y="268"/>
                    <a:pt x="325" y="268"/>
                  </a:cubicBezTo>
                  <a:cubicBezTo>
                    <a:pt x="348" y="266"/>
                    <a:pt x="348" y="266"/>
                    <a:pt x="348" y="266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398" y="233"/>
                    <a:pt x="398" y="233"/>
                    <a:pt x="398" y="233"/>
                  </a:cubicBezTo>
                  <a:cubicBezTo>
                    <a:pt x="389" y="204"/>
                    <a:pt x="389" y="204"/>
                    <a:pt x="389" y="204"/>
                  </a:cubicBezTo>
                  <a:cubicBezTo>
                    <a:pt x="370" y="188"/>
                    <a:pt x="370" y="188"/>
                    <a:pt x="370" y="188"/>
                  </a:cubicBezTo>
                  <a:cubicBezTo>
                    <a:pt x="350" y="162"/>
                    <a:pt x="350" y="162"/>
                    <a:pt x="350" y="162"/>
                  </a:cubicBezTo>
                  <a:cubicBezTo>
                    <a:pt x="346" y="133"/>
                    <a:pt x="346" y="133"/>
                    <a:pt x="346" y="133"/>
                  </a:cubicBezTo>
                  <a:cubicBezTo>
                    <a:pt x="349" y="113"/>
                    <a:pt x="349" y="113"/>
                    <a:pt x="349" y="113"/>
                  </a:cubicBezTo>
                  <a:cubicBezTo>
                    <a:pt x="379" y="105"/>
                    <a:pt x="379" y="105"/>
                    <a:pt x="379" y="105"/>
                  </a:cubicBezTo>
                  <a:cubicBezTo>
                    <a:pt x="408" y="122"/>
                    <a:pt x="408" y="122"/>
                    <a:pt x="408" y="122"/>
                  </a:cubicBezTo>
                  <a:cubicBezTo>
                    <a:pt x="419" y="101"/>
                    <a:pt x="419" y="101"/>
                    <a:pt x="419" y="101"/>
                  </a:cubicBezTo>
                  <a:cubicBezTo>
                    <a:pt x="421" y="69"/>
                    <a:pt x="421" y="69"/>
                    <a:pt x="421" y="69"/>
                  </a:cubicBezTo>
                  <a:cubicBezTo>
                    <a:pt x="394" y="61"/>
                    <a:pt x="394" y="61"/>
                    <a:pt x="394" y="61"/>
                  </a:cubicBezTo>
                  <a:cubicBezTo>
                    <a:pt x="375" y="50"/>
                    <a:pt x="375" y="50"/>
                    <a:pt x="375" y="50"/>
                  </a:cubicBezTo>
                  <a:cubicBezTo>
                    <a:pt x="344" y="50"/>
                    <a:pt x="344" y="50"/>
                    <a:pt x="344" y="50"/>
                  </a:cubicBezTo>
                  <a:cubicBezTo>
                    <a:pt x="326" y="39"/>
                    <a:pt x="326" y="39"/>
                    <a:pt x="326" y="39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273" y="25"/>
                    <a:pt x="273" y="25"/>
                    <a:pt x="273" y="25"/>
                  </a:cubicBezTo>
                  <a:cubicBezTo>
                    <a:pt x="242" y="35"/>
                    <a:pt x="242" y="35"/>
                    <a:pt x="242" y="35"/>
                  </a:cubicBezTo>
                  <a:lnTo>
                    <a:pt x="207" y="0"/>
                  </a:lnTo>
                  <a:close/>
                </a:path>
              </a:pathLst>
            </a:custGeom>
            <a:solidFill>
              <a:srgbClr val="A2522E"/>
            </a:solidFill>
            <a:ln w="6350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2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1AF0B550-5A8E-AB1D-67FE-9C0F22648FFE}"/>
              </a:ext>
            </a:extLst>
          </p:cNvPr>
          <p:cNvSpPr/>
          <p:nvPr/>
        </p:nvSpPr>
        <p:spPr>
          <a:xfrm>
            <a:off x="4723968" y="3675976"/>
            <a:ext cx="460382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KWILU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D77E0C4-9826-9CEA-B7E2-786719ACA01C}"/>
              </a:ext>
            </a:extLst>
          </p:cNvPr>
          <p:cNvSpPr/>
          <p:nvPr/>
        </p:nvSpPr>
        <p:spPr>
          <a:xfrm>
            <a:off x="6934464" y="4021712"/>
            <a:ext cx="713657" cy="215444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bg2"/>
                </a:solidFill>
                <a:latin typeface="+mj-lt"/>
                <a:cs typeface="Calibri"/>
                <a:sym typeface="Wingdings" panose="05000000000000000000" pitchFamily="2" charset="2"/>
              </a:rPr>
              <a:t>TANGANYIKA</a:t>
            </a: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  <a:sym typeface="Wingdings" panose="05000000000000000000" pitchFamily="2" charset="2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E5BDB40-ABFC-C7BE-4B5F-A076D9DF467B}"/>
              </a:ext>
            </a:extLst>
          </p:cNvPr>
          <p:cNvSpPr/>
          <p:nvPr/>
        </p:nvSpPr>
        <p:spPr>
          <a:xfrm>
            <a:off x="6292438" y="4547959"/>
            <a:ext cx="813043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HAUT LOMAMI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D8C2F110-5BD6-1225-427F-9161852D42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540" y="126230"/>
            <a:ext cx="536359" cy="536359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5625F9B6-8C7A-D89C-075A-523D5E8B33D3}"/>
              </a:ext>
            </a:extLst>
          </p:cNvPr>
          <p:cNvSpPr/>
          <p:nvPr/>
        </p:nvSpPr>
        <p:spPr>
          <a:xfrm>
            <a:off x="362033" y="4883902"/>
            <a:ext cx="2837294" cy="10899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69900" dist="198412" dir="1380000" sx="92000" sy="92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82880" bIns="0" rtlCol="0" anchor="t" anchorCtr="0"/>
          <a:lstStyle/>
          <a:p>
            <a:pPr marL="285750" indent="-285750">
              <a:buFontTx/>
              <a:buChar char="-"/>
            </a:pP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A0B548-C67C-8B42-1392-D33659309B52}"/>
              </a:ext>
            </a:extLst>
          </p:cNvPr>
          <p:cNvSpPr txBox="1"/>
          <p:nvPr/>
        </p:nvSpPr>
        <p:spPr>
          <a:xfrm>
            <a:off x="324163" y="1149155"/>
            <a:ext cx="2850096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2700"/>
            <a:r>
              <a:rPr lang="en-US" sz="1600" b="1">
                <a:latin typeface="Calibri"/>
                <a:cs typeface="Calibri"/>
              </a:rPr>
              <a:t>Prestation de Service 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latin typeface="Calibri"/>
                <a:cs typeface="Calibri"/>
              </a:rPr>
              <a:t>IPVS 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 err="1">
                <a:solidFill>
                  <a:schemeClr val="accent1"/>
                </a:solidFill>
                <a:latin typeface="Calibri"/>
                <a:cs typeface="Calibri"/>
              </a:rPr>
              <a:t>Stratégie</a:t>
            </a:r>
            <a:r>
              <a:rPr lang="en-US" sz="1300" b="1">
                <a:solidFill>
                  <a:schemeClr val="accent1"/>
                </a:solidFill>
                <a:latin typeface="Calibri"/>
                <a:cs typeface="Calibri"/>
              </a:rPr>
              <a:t> Speciale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Appui à la riposte COVID-19 à travers les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vaccinodrome</a:t>
            </a:r>
            <a:endParaRPr lang="en-US" sz="1300" b="1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Alerte Santé COVID-19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Engagement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communautaire</a:t>
            </a: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axé</a:t>
            </a: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sur le genre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endParaRPr lang="en-US" sz="1300" b="1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2A2C0A-134C-0B7E-0C9A-BE33D9676D15}"/>
              </a:ext>
            </a:extLst>
          </p:cNvPr>
          <p:cNvSpPr/>
          <p:nvPr/>
        </p:nvSpPr>
        <p:spPr>
          <a:xfrm>
            <a:off x="8520856" y="1075354"/>
            <a:ext cx="3233742" cy="28160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69900" dist="198412" dir="1380000" sx="92000" sy="92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82880" bIns="0" rtlCol="0" anchor="t" anchorCtr="0"/>
          <a:lstStyle/>
          <a:p>
            <a:pPr marL="285750" indent="-285750">
              <a:buFontTx/>
              <a:buChar char="-"/>
            </a:pP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093E2B7-A710-EA3A-0537-E08BA7DFE528}"/>
              </a:ext>
            </a:extLst>
          </p:cNvPr>
          <p:cNvSpPr/>
          <p:nvPr/>
        </p:nvSpPr>
        <p:spPr>
          <a:xfrm>
            <a:off x="3450947" y="3249435"/>
            <a:ext cx="599844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715C49">
                    <a:lumMod val="75000"/>
                  </a:srgbClr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KINSHASA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846CC3E-B4A9-6E27-979B-B36AEEF1B2E1}"/>
              </a:ext>
            </a:extLst>
          </p:cNvPr>
          <p:cNvGrpSpPr/>
          <p:nvPr/>
        </p:nvGrpSpPr>
        <p:grpSpPr>
          <a:xfrm rot="5083298">
            <a:off x="3886996" y="3280288"/>
            <a:ext cx="244133" cy="491389"/>
            <a:chOff x="1932589" y="3569864"/>
            <a:chExt cx="134537" cy="253052"/>
          </a:xfrm>
        </p:grpSpPr>
        <p:sp>
          <p:nvSpPr>
            <p:cNvPr id="68" name="Freeform 367">
              <a:extLst>
                <a:ext uri="{FF2B5EF4-FFF2-40B4-BE49-F238E27FC236}">
                  <a16:creationId xmlns:a16="http://schemas.microsoft.com/office/drawing/2014/main" id="{BB93F53E-CAC5-398B-FA3E-C6437C77ED19}"/>
                </a:ext>
              </a:extLst>
            </p:cNvPr>
            <p:cNvSpPr/>
            <p:nvPr/>
          </p:nvSpPr>
          <p:spPr>
            <a:xfrm>
              <a:off x="1932589" y="3593692"/>
              <a:ext cx="114228" cy="229224"/>
            </a:xfrm>
            <a:custGeom>
              <a:avLst/>
              <a:gdLst>
                <a:gd name="connsiteX0" fmla="*/ 0 w 108558"/>
                <a:gd name="connsiteY0" fmla="*/ 115781 h 115339"/>
                <a:gd name="connsiteX1" fmla="*/ 108559 w 108558"/>
                <a:gd name="connsiteY1" fmla="*/ 0 h 115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558" h="115339">
                  <a:moveTo>
                    <a:pt x="0" y="115781"/>
                  </a:moveTo>
                  <a:lnTo>
                    <a:pt x="108559" y="0"/>
                  </a:lnTo>
                </a:path>
              </a:pathLst>
            </a:custGeom>
            <a:ln w="7260" cap="flat">
              <a:solidFill>
                <a:srgbClr val="5A422C"/>
              </a:solidFill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A2512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69" name="Freeform 368">
              <a:extLst>
                <a:ext uri="{FF2B5EF4-FFF2-40B4-BE49-F238E27FC236}">
                  <a16:creationId xmlns:a16="http://schemas.microsoft.com/office/drawing/2014/main" id="{B62BF89B-7601-08B4-5037-3D152CAACEE4}"/>
                </a:ext>
              </a:extLst>
            </p:cNvPr>
            <p:cNvSpPr/>
            <p:nvPr/>
          </p:nvSpPr>
          <p:spPr>
            <a:xfrm>
              <a:off x="2021077" y="3569864"/>
              <a:ext cx="46049" cy="46047"/>
            </a:xfrm>
            <a:custGeom>
              <a:avLst/>
              <a:gdLst>
                <a:gd name="connsiteX0" fmla="*/ 28328 w 30532"/>
                <a:gd name="connsiteY0" fmla="*/ 27604 h 30531"/>
                <a:gd name="connsiteX1" fmla="*/ 27605 w 30532"/>
                <a:gd name="connsiteY1" fmla="*/ 4443 h 30531"/>
                <a:gd name="connsiteX2" fmla="*/ 4443 w 30532"/>
                <a:gd name="connsiteY2" fmla="*/ 5166 h 30531"/>
                <a:gd name="connsiteX3" fmla="*/ 5166 w 30532"/>
                <a:gd name="connsiteY3" fmla="*/ 28327 h 30531"/>
                <a:gd name="connsiteX4" fmla="*/ 5191 w 30532"/>
                <a:gd name="connsiteY4" fmla="*/ 28350 h 30531"/>
                <a:gd name="connsiteX5" fmla="*/ 28305 w 30532"/>
                <a:gd name="connsiteY5" fmla="*/ 27629 h 30531"/>
                <a:gd name="connsiteX6" fmla="*/ 28328 w 30532"/>
                <a:gd name="connsiteY6" fmla="*/ 27604 h 3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32" h="30531">
                  <a:moveTo>
                    <a:pt x="28328" y="27604"/>
                  </a:moveTo>
                  <a:cubicBezTo>
                    <a:pt x="34524" y="21009"/>
                    <a:pt x="34200" y="10639"/>
                    <a:pt x="27605" y="4443"/>
                  </a:cubicBezTo>
                  <a:cubicBezTo>
                    <a:pt x="21009" y="-1753"/>
                    <a:pt x="10640" y="-1429"/>
                    <a:pt x="4443" y="5166"/>
                  </a:cubicBezTo>
                  <a:cubicBezTo>
                    <a:pt x="-1753" y="11762"/>
                    <a:pt x="-1429" y="22131"/>
                    <a:pt x="5166" y="28327"/>
                  </a:cubicBezTo>
                  <a:cubicBezTo>
                    <a:pt x="5175" y="28335"/>
                    <a:pt x="5183" y="28342"/>
                    <a:pt x="5191" y="28350"/>
                  </a:cubicBezTo>
                  <a:cubicBezTo>
                    <a:pt x="11773" y="34534"/>
                    <a:pt x="22121" y="34210"/>
                    <a:pt x="28305" y="27629"/>
                  </a:cubicBezTo>
                  <a:cubicBezTo>
                    <a:pt x="28313" y="27620"/>
                    <a:pt x="28320" y="27612"/>
                    <a:pt x="28328" y="27604"/>
                  </a:cubicBezTo>
                  <a:close/>
                </a:path>
              </a:pathLst>
            </a:custGeom>
            <a:solidFill>
              <a:srgbClr val="5A422C"/>
            </a:solidFill>
            <a:ln w="339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A2512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8297F6D3-83C6-AA18-3C8E-4F51BA9F4080}"/>
              </a:ext>
            </a:extLst>
          </p:cNvPr>
          <p:cNvSpPr/>
          <p:nvPr/>
        </p:nvSpPr>
        <p:spPr>
          <a:xfrm>
            <a:off x="5903246" y="3281100"/>
            <a:ext cx="591829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SANKURU</a:t>
            </a:r>
          </a:p>
        </p:txBody>
      </p:sp>
      <p:sp>
        <p:nvSpPr>
          <p:cNvPr id="3" name="Rectangle 2"/>
          <p:cNvSpPr/>
          <p:nvPr/>
        </p:nvSpPr>
        <p:spPr>
          <a:xfrm>
            <a:off x="260969" y="3166419"/>
            <a:ext cx="2865417" cy="14619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69900" dist="198412" dir="1380000" sx="92000" sy="92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82880" bIns="0" rtlCol="0" anchor="t" anchorCtr="0"/>
          <a:lstStyle/>
          <a:p>
            <a:pPr marL="285750" indent="-285750">
              <a:buFontTx/>
              <a:buChar char="-"/>
            </a:pP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C637D7-DEE3-3916-84F7-A06000F2D34A}"/>
              </a:ext>
            </a:extLst>
          </p:cNvPr>
          <p:cNvSpPr txBox="1"/>
          <p:nvPr/>
        </p:nvSpPr>
        <p:spPr>
          <a:xfrm>
            <a:off x="332391" y="3209599"/>
            <a:ext cx="2854685" cy="14619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2700"/>
            <a:r>
              <a:rPr lang="en-US" sz="1600" b="1">
                <a:latin typeface="Calibri"/>
                <a:ea typeface="Calibri"/>
                <a:cs typeface="Calibri"/>
              </a:rPr>
              <a:t>Developpement du personnel de santé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cs typeface="Calibri"/>
              </a:rPr>
              <a:t>STEP 2.0 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cs typeface="Calibri"/>
              </a:rPr>
              <a:t>Formation en COVID-19  à distance par telephone mobile </a:t>
            </a:r>
            <a:endParaRPr lang="en-US" sz="1300">
              <a:solidFill>
                <a:schemeClr val="accent1"/>
              </a:solidFill>
            </a:endParaRPr>
          </a:p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1FA8153-00BF-6691-BF81-8714C59F4D0E}"/>
              </a:ext>
            </a:extLst>
          </p:cNvPr>
          <p:cNvSpPr/>
          <p:nvPr/>
        </p:nvSpPr>
        <p:spPr>
          <a:xfrm>
            <a:off x="8538913" y="4221946"/>
            <a:ext cx="3247104" cy="14144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69900" dist="198412" dir="1380000" sx="92000" sy="92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82880" bIns="0" rtlCol="0" anchor="t" anchorCtr="0"/>
          <a:lstStyle/>
          <a:p>
            <a:pPr marL="285750" indent="-285750">
              <a:buFontTx/>
              <a:buChar char="-"/>
            </a:pP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31371A-04DE-37F6-4A13-5EC16BD6DB2C}"/>
              </a:ext>
            </a:extLst>
          </p:cNvPr>
          <p:cNvSpPr txBox="1"/>
          <p:nvPr/>
        </p:nvSpPr>
        <p:spPr>
          <a:xfrm>
            <a:off x="8538913" y="4297582"/>
            <a:ext cx="3197628" cy="15388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>
                <a:latin typeface="Calibri"/>
                <a:cs typeface="Calibri"/>
              </a:rPr>
              <a:t>Urgence et Resilience</a:t>
            </a:r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ea typeface="+mn-lt"/>
                <a:cs typeface="+mn-lt"/>
              </a:rPr>
              <a:t>Riposte au COVID-19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ea typeface="+mn-lt"/>
                <a:cs typeface="+mn-lt"/>
              </a:rPr>
              <a:t>Appui financier aux Riposte </a:t>
            </a:r>
            <a:r>
              <a:rPr lang="en-US" sz="1300" b="1" err="1">
                <a:solidFill>
                  <a:schemeClr val="accent1"/>
                </a:solidFill>
                <a:ea typeface="+mn-lt"/>
                <a:cs typeface="+mn-lt"/>
              </a:rPr>
              <a:t>Rapide</a:t>
            </a:r>
            <a:r>
              <a:rPr lang="en-US" sz="1300" b="1">
                <a:solidFill>
                  <a:schemeClr val="accent1"/>
                </a:solidFill>
                <a:ea typeface="+mn-lt"/>
                <a:cs typeface="+mn-lt"/>
              </a:rPr>
              <a:t> Polio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ea typeface="+mn-lt"/>
                <a:cs typeface="+mn-lt"/>
              </a:rPr>
              <a:t>Transport </a:t>
            </a:r>
            <a:r>
              <a:rPr lang="en-US" sz="1300" b="1" err="1">
                <a:solidFill>
                  <a:schemeClr val="accent1"/>
                </a:solidFill>
                <a:ea typeface="+mn-lt"/>
                <a:cs typeface="+mn-lt"/>
              </a:rPr>
              <a:t>intégré</a:t>
            </a:r>
            <a:r>
              <a:rPr lang="en-US" sz="1300" b="1">
                <a:solidFill>
                  <a:schemeClr val="accent1"/>
                </a:solidFill>
                <a:ea typeface="+mn-lt"/>
                <a:cs typeface="+mn-lt"/>
              </a:rPr>
              <a:t> des </a:t>
            </a:r>
            <a:r>
              <a:rPr lang="en-US" sz="1300" b="1" err="1">
                <a:solidFill>
                  <a:schemeClr val="accent1"/>
                </a:solidFill>
                <a:ea typeface="+mn-lt"/>
                <a:cs typeface="+mn-lt"/>
              </a:rPr>
              <a:t>échantillons</a:t>
            </a:r>
            <a:r>
              <a:rPr lang="en-US" sz="1300" b="1">
                <a:solidFill>
                  <a:schemeClr val="accent1"/>
                </a:solidFill>
                <a:ea typeface="+mn-lt"/>
                <a:cs typeface="+mn-lt"/>
              </a:rPr>
              <a:t> et appui techniques aux ripostes </a:t>
            </a:r>
          </a:p>
          <a:p>
            <a:pPr marL="12700"/>
            <a:endParaRPr lang="en-US" sz="1300" b="1">
              <a:solidFill>
                <a:schemeClr val="accent1"/>
              </a:solidFill>
              <a:cs typeface="Calibri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626492C-98AA-C6B2-C972-B95261C77F1E}"/>
              </a:ext>
            </a:extLst>
          </p:cNvPr>
          <p:cNvSpPr/>
          <p:nvPr/>
        </p:nvSpPr>
        <p:spPr>
          <a:xfrm>
            <a:off x="4506159" y="3011507"/>
            <a:ext cx="760144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MAI-NDOMBE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7408E4-43D0-4ABC-A237-0E4E1905099C}"/>
              </a:ext>
            </a:extLst>
          </p:cNvPr>
          <p:cNvSpPr/>
          <p:nvPr/>
        </p:nvSpPr>
        <p:spPr>
          <a:xfrm>
            <a:off x="6947550" y="5177477"/>
            <a:ext cx="579005" cy="338554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/>
                <a:sym typeface="Wingdings" panose="05000000000000000000" pitchFamily="2" charset="2"/>
              </a:rPr>
              <a:t>HAUT </a:t>
            </a:r>
            <a:endParaRPr lang="en-US">
              <a:solidFill>
                <a:schemeClr val="bg2"/>
              </a:solidFill>
              <a:cs typeface="Calibri"/>
              <a:sym typeface="Wingdings" panose="05000000000000000000" pitchFamily="2" charset="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bg2"/>
                </a:solidFill>
                <a:latin typeface="+mj-lt"/>
                <a:cs typeface="Calibri"/>
                <a:sym typeface="Wingdings" panose="05000000000000000000" pitchFamily="2" charset="2"/>
              </a:rPr>
              <a:t>KATANGA</a:t>
            </a:r>
            <a:endParaRPr lang="en-US" sz="800" b="1">
              <a:solidFill>
                <a:schemeClr val="bg2"/>
              </a:solidFill>
              <a:latin typeface="Calibri Light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7F65F9-02A2-DADC-EFD4-D832FEE9E29F}"/>
              </a:ext>
            </a:extLst>
          </p:cNvPr>
          <p:cNvSpPr/>
          <p:nvPr/>
        </p:nvSpPr>
        <p:spPr>
          <a:xfrm>
            <a:off x="5799374" y="4852033"/>
            <a:ext cx="554960" cy="215444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bg2"/>
                </a:solidFill>
                <a:latin typeface="+mj-lt"/>
                <a:cs typeface="Calibri"/>
              </a:rPr>
              <a:t>LUALABA</a:t>
            </a:r>
            <a:endParaRPr lang="en-US" sz="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74C7DC-569E-2C4B-D56F-2047E1BB3AB2}"/>
              </a:ext>
            </a:extLst>
          </p:cNvPr>
          <p:cNvSpPr/>
          <p:nvPr/>
        </p:nvSpPr>
        <p:spPr>
          <a:xfrm>
            <a:off x="4726129" y="2338082"/>
            <a:ext cx="636713" cy="215444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bg2"/>
                </a:solidFill>
                <a:latin typeface="+mj-lt"/>
                <a:cs typeface="Calibri"/>
              </a:rPr>
              <a:t>EQUATEUR</a:t>
            </a:r>
            <a:endParaRPr lang="en-US" sz="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E4CA87F2-BF77-5E82-C6B8-4E64654A471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10111256" y="6271965"/>
            <a:ext cx="822961" cy="548640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7DCC7229-88AE-474D-B9C5-1ABC80A3C0D9}"/>
              </a:ext>
            </a:extLst>
          </p:cNvPr>
          <p:cNvSpPr/>
          <p:nvPr/>
        </p:nvSpPr>
        <p:spPr>
          <a:xfrm>
            <a:off x="7349750" y="2427531"/>
            <a:ext cx="428322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NORD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KIVU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57659AD-CA45-416E-9B01-0855F410DC84}"/>
              </a:ext>
            </a:extLst>
          </p:cNvPr>
          <p:cNvSpPr/>
          <p:nvPr/>
        </p:nvSpPr>
        <p:spPr>
          <a:xfrm>
            <a:off x="6545606" y="3088147"/>
            <a:ext cx="604653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MANIEMA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F006589-986C-4713-99A9-91DDB979594C}"/>
              </a:ext>
            </a:extLst>
          </p:cNvPr>
          <p:cNvSpPr/>
          <p:nvPr/>
        </p:nvSpPr>
        <p:spPr>
          <a:xfrm>
            <a:off x="6294186" y="2200670"/>
            <a:ext cx="522900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TSHOPO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A2F9D41-4396-42E7-A729-C67E6C7D7FF7}"/>
              </a:ext>
            </a:extLst>
          </p:cNvPr>
          <p:cNvSpPr/>
          <p:nvPr/>
        </p:nvSpPr>
        <p:spPr>
          <a:xfrm>
            <a:off x="3420539" y="3750975"/>
            <a:ext cx="891591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KONGO-CENTRAL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4321E0-370C-4D49-9B25-8BD1B5ECF24C}"/>
              </a:ext>
            </a:extLst>
          </p:cNvPr>
          <p:cNvSpPr/>
          <p:nvPr/>
        </p:nvSpPr>
        <p:spPr>
          <a:xfrm>
            <a:off x="5280420" y="1406942"/>
            <a:ext cx="784189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NORD-UBANGI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F2C0366-FC16-4509-97FD-A895621C04A0}"/>
              </a:ext>
            </a:extLst>
          </p:cNvPr>
          <p:cNvSpPr/>
          <p:nvPr/>
        </p:nvSpPr>
        <p:spPr>
          <a:xfrm>
            <a:off x="4785030" y="1666549"/>
            <a:ext cx="710451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SUD-UBANGI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38457004-8602-4A76-9BBA-1A3F508E35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1243" y="6358123"/>
            <a:ext cx="956769" cy="361446"/>
          </a:xfrm>
          <a:prstGeom prst="rect">
            <a:avLst/>
          </a:prstGeom>
        </p:spPr>
      </p:pic>
      <p:pic>
        <p:nvPicPr>
          <p:cNvPr id="88" name="Picture 11">
            <a:extLst>
              <a:ext uri="{FF2B5EF4-FFF2-40B4-BE49-F238E27FC236}">
                <a16:creationId xmlns:a16="http://schemas.microsoft.com/office/drawing/2014/main" id="{80395482-248C-4134-980E-67F4FB746E5C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8190" y="6395248"/>
            <a:ext cx="425357" cy="4253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B3FEA4-CF03-DD25-0630-CCE7B55336A0}"/>
              </a:ext>
            </a:extLst>
          </p:cNvPr>
          <p:cNvSpPr/>
          <p:nvPr/>
        </p:nvSpPr>
        <p:spPr>
          <a:xfrm>
            <a:off x="5379272" y="2490482"/>
            <a:ext cx="567784" cy="215444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cs typeface="Calibri"/>
              </a:rPr>
              <a:t>T</a:t>
            </a:r>
            <a:r>
              <a:rPr lang="en-US" sz="800" b="1">
                <a:solidFill>
                  <a:schemeClr val="bg2"/>
                </a:solidFill>
                <a:latin typeface="+mj-lt"/>
                <a:cs typeface="Calibri"/>
              </a:rPr>
              <a:t>SHUAPA</a:t>
            </a:r>
            <a:endParaRPr lang="en-US" sz="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AA6B9A-1BCA-5AC8-6DDF-74B91AEF6841}"/>
              </a:ext>
            </a:extLst>
          </p:cNvPr>
          <p:cNvSpPr/>
          <p:nvPr/>
        </p:nvSpPr>
        <p:spPr>
          <a:xfrm>
            <a:off x="5335730" y="1837339"/>
            <a:ext cx="615874" cy="215444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bg2"/>
                </a:solidFill>
                <a:latin typeface="+mj-lt"/>
                <a:cs typeface="Calibri"/>
              </a:rPr>
              <a:t>MONGALA</a:t>
            </a:r>
            <a:endParaRPr lang="en-US" sz="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7895A7-0A67-8AC5-465B-BA46D518D2E1}"/>
              </a:ext>
            </a:extLst>
          </p:cNvPr>
          <p:cNvSpPr/>
          <p:nvPr/>
        </p:nvSpPr>
        <p:spPr>
          <a:xfrm>
            <a:off x="4870513" y="4867239"/>
            <a:ext cx="624968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715C49">
                    <a:lumMod val="75000"/>
                  </a:srgbClr>
                </a:solidFill>
                <a:latin typeface="+mj-lt"/>
                <a:cs typeface="Calibri" panose="020F0502020204030204" pitchFamily="34" charset="0"/>
                <a:sym typeface="Wingdings" panose="05000000000000000000" pitchFamily="2" charset="2"/>
              </a:rPr>
              <a:t>KASAI ORIENTAL</a:t>
            </a: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715C49">
                  <a:lumMod val="75000"/>
                </a:srgbClr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  <a:sym typeface="Wingdings" panose="05000000000000000000" pitchFamily="2" charset="2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C1DF1AF-4FEF-8092-CD40-A9F5E460DD31}"/>
              </a:ext>
            </a:extLst>
          </p:cNvPr>
          <p:cNvGrpSpPr/>
          <p:nvPr/>
        </p:nvGrpSpPr>
        <p:grpSpPr>
          <a:xfrm>
            <a:off x="5316371" y="3976922"/>
            <a:ext cx="928023" cy="1044697"/>
            <a:chOff x="1939483" y="3559547"/>
            <a:chExt cx="125979" cy="259169"/>
          </a:xfrm>
        </p:grpSpPr>
        <p:sp>
          <p:nvSpPr>
            <p:cNvPr id="39" name="Freeform 367">
              <a:extLst>
                <a:ext uri="{FF2B5EF4-FFF2-40B4-BE49-F238E27FC236}">
                  <a16:creationId xmlns:a16="http://schemas.microsoft.com/office/drawing/2014/main" id="{5AD94339-254F-C8C1-BA6F-63AC8F82B08F}"/>
                </a:ext>
              </a:extLst>
            </p:cNvPr>
            <p:cNvSpPr/>
            <p:nvPr/>
          </p:nvSpPr>
          <p:spPr>
            <a:xfrm>
              <a:off x="1939483" y="3559547"/>
              <a:ext cx="122688" cy="259169"/>
            </a:xfrm>
            <a:custGeom>
              <a:avLst/>
              <a:gdLst>
                <a:gd name="connsiteX0" fmla="*/ 0 w 108558"/>
                <a:gd name="connsiteY0" fmla="*/ 115781 h 115339"/>
                <a:gd name="connsiteX1" fmla="*/ 108559 w 108558"/>
                <a:gd name="connsiteY1" fmla="*/ 0 h 115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558" h="115339">
                  <a:moveTo>
                    <a:pt x="0" y="115781"/>
                  </a:moveTo>
                  <a:lnTo>
                    <a:pt x="108559" y="0"/>
                  </a:lnTo>
                </a:path>
              </a:pathLst>
            </a:custGeom>
            <a:ln w="7260" cap="flat">
              <a:solidFill>
                <a:srgbClr val="5A422C"/>
              </a:solidFill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A2512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" name="Freeform 368">
              <a:extLst>
                <a:ext uri="{FF2B5EF4-FFF2-40B4-BE49-F238E27FC236}">
                  <a16:creationId xmlns:a16="http://schemas.microsoft.com/office/drawing/2014/main" id="{0C7A3C28-9135-6C33-3AAD-EF2820C8FA1C}"/>
                </a:ext>
              </a:extLst>
            </p:cNvPr>
            <p:cNvSpPr/>
            <p:nvPr/>
          </p:nvSpPr>
          <p:spPr>
            <a:xfrm>
              <a:off x="2044831" y="3569236"/>
              <a:ext cx="20631" cy="24766"/>
            </a:xfrm>
            <a:custGeom>
              <a:avLst/>
              <a:gdLst>
                <a:gd name="connsiteX0" fmla="*/ 28328 w 30532"/>
                <a:gd name="connsiteY0" fmla="*/ 27604 h 30531"/>
                <a:gd name="connsiteX1" fmla="*/ 27605 w 30532"/>
                <a:gd name="connsiteY1" fmla="*/ 4443 h 30531"/>
                <a:gd name="connsiteX2" fmla="*/ 4443 w 30532"/>
                <a:gd name="connsiteY2" fmla="*/ 5166 h 30531"/>
                <a:gd name="connsiteX3" fmla="*/ 5166 w 30532"/>
                <a:gd name="connsiteY3" fmla="*/ 28327 h 30531"/>
                <a:gd name="connsiteX4" fmla="*/ 5191 w 30532"/>
                <a:gd name="connsiteY4" fmla="*/ 28350 h 30531"/>
                <a:gd name="connsiteX5" fmla="*/ 28305 w 30532"/>
                <a:gd name="connsiteY5" fmla="*/ 27629 h 30531"/>
                <a:gd name="connsiteX6" fmla="*/ 28328 w 30532"/>
                <a:gd name="connsiteY6" fmla="*/ 27604 h 3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32" h="30531">
                  <a:moveTo>
                    <a:pt x="28328" y="27604"/>
                  </a:moveTo>
                  <a:cubicBezTo>
                    <a:pt x="34524" y="21009"/>
                    <a:pt x="34200" y="10639"/>
                    <a:pt x="27605" y="4443"/>
                  </a:cubicBezTo>
                  <a:cubicBezTo>
                    <a:pt x="21009" y="-1753"/>
                    <a:pt x="10640" y="-1429"/>
                    <a:pt x="4443" y="5166"/>
                  </a:cubicBezTo>
                  <a:cubicBezTo>
                    <a:pt x="-1753" y="11762"/>
                    <a:pt x="-1429" y="22131"/>
                    <a:pt x="5166" y="28327"/>
                  </a:cubicBezTo>
                  <a:cubicBezTo>
                    <a:pt x="5175" y="28335"/>
                    <a:pt x="5183" y="28342"/>
                    <a:pt x="5191" y="28350"/>
                  </a:cubicBezTo>
                  <a:cubicBezTo>
                    <a:pt x="11773" y="34534"/>
                    <a:pt x="22121" y="34210"/>
                    <a:pt x="28305" y="27629"/>
                  </a:cubicBezTo>
                  <a:cubicBezTo>
                    <a:pt x="28313" y="27620"/>
                    <a:pt x="28320" y="27612"/>
                    <a:pt x="28328" y="27604"/>
                  </a:cubicBezTo>
                  <a:close/>
                </a:path>
              </a:pathLst>
            </a:custGeom>
            <a:solidFill>
              <a:srgbClr val="5A422C"/>
            </a:solidFill>
            <a:ln w="3392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A2512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F3068A3F-47B9-92A1-D7CC-D3FF056DE4F7}"/>
              </a:ext>
            </a:extLst>
          </p:cNvPr>
          <p:cNvSpPr/>
          <p:nvPr/>
        </p:nvSpPr>
        <p:spPr>
          <a:xfrm>
            <a:off x="5366463" y="3643253"/>
            <a:ext cx="417102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KASAI</a:t>
            </a:r>
          </a:p>
        </p:txBody>
      </p:sp>
      <p:pic>
        <p:nvPicPr>
          <p:cNvPr id="42" name="Picture 41" descr="A black text on a white background  Description automatically generated">
            <a:extLst>
              <a:ext uri="{FF2B5EF4-FFF2-40B4-BE49-F238E27FC236}">
                <a16:creationId xmlns:a16="http://schemas.microsoft.com/office/drawing/2014/main" id="{ACA676A5-D2C6-7741-0F54-A8FEC52EA900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97" y="6404239"/>
            <a:ext cx="1626909" cy="428291"/>
          </a:xfrm>
          <a:prstGeom prst="rect">
            <a:avLst/>
          </a:prstGeom>
        </p:spPr>
      </p:pic>
      <p:pic>
        <p:nvPicPr>
          <p:cNvPr id="43" name="Picture 42" descr="A logo with text overlay  Description automatically generated">
            <a:extLst>
              <a:ext uri="{FF2B5EF4-FFF2-40B4-BE49-F238E27FC236}">
                <a16:creationId xmlns:a16="http://schemas.microsoft.com/office/drawing/2014/main" id="{3CEF6341-E008-B90C-641D-36D73DCFE435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1247" y="6311033"/>
            <a:ext cx="516968" cy="586081"/>
          </a:xfrm>
          <a:prstGeom prst="rect">
            <a:avLst/>
          </a:prstGeom>
        </p:spPr>
      </p:pic>
      <p:pic>
        <p:nvPicPr>
          <p:cNvPr id="44" name="Picture 43" descr="A sign with a couple of people and a triangle  Description automatically generated">
            <a:extLst>
              <a:ext uri="{FF2B5EF4-FFF2-40B4-BE49-F238E27FC236}">
                <a16:creationId xmlns:a16="http://schemas.microsoft.com/office/drawing/2014/main" id="{B2FEC911-4A38-35E6-E1E3-6EDDB6A117E3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8717" y="6403955"/>
            <a:ext cx="939511" cy="44312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CA038B0-333E-5AA3-4D7C-A602E11CACA4}"/>
              </a:ext>
            </a:extLst>
          </p:cNvPr>
          <p:cNvSpPr txBox="1"/>
          <p:nvPr/>
        </p:nvSpPr>
        <p:spPr>
          <a:xfrm>
            <a:off x="332391" y="5023037"/>
            <a:ext cx="3245287" cy="6133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latin typeface="Calibri"/>
                <a:cs typeface="Calibri"/>
              </a:rPr>
              <a:t>Système </a:t>
            </a:r>
            <a:r>
              <a:rPr lang="en-US" sz="1600" b="1" err="1">
                <a:latin typeface="Calibri"/>
                <a:cs typeface="Calibri"/>
              </a:rPr>
              <a:t>d’information</a:t>
            </a:r>
            <a:r>
              <a:rPr lang="en-US" sz="1600" b="1">
                <a:latin typeface="Calibri"/>
                <a:cs typeface="Calibri"/>
              </a:rPr>
              <a:t> Sanitaire</a:t>
            </a:r>
          </a:p>
          <a:p>
            <a:pPr marL="298450" indent="-285750">
              <a:lnSpc>
                <a:spcPct val="80000"/>
              </a:lnSpc>
              <a:buFont typeface="Wingdings" panose="05000000000000000000" pitchFamily="2" charset="2"/>
              <a:buChar char="§"/>
              <a:defRPr/>
            </a:pPr>
            <a:r>
              <a:rPr lang="en-US" sz="1300" b="1" err="1">
                <a:solidFill>
                  <a:schemeClr val="accent1"/>
                </a:solidFill>
                <a:ea typeface="+mn-lt"/>
                <a:cs typeface="+mn-lt"/>
              </a:rPr>
              <a:t>eLMIS</a:t>
            </a:r>
            <a:endParaRPr lang="en-US" sz="1300" b="1">
              <a:solidFill>
                <a:schemeClr val="accent1"/>
              </a:solidFill>
              <a:ea typeface="+mn-lt"/>
              <a:cs typeface="+mn-lt"/>
            </a:endParaRPr>
          </a:p>
          <a:p>
            <a:pPr marL="298450" indent="-285750">
              <a:lnSpc>
                <a:spcPct val="80000"/>
              </a:lnSpc>
              <a:buFont typeface="Wingdings" panose="05000000000000000000" pitchFamily="2" charset="2"/>
              <a:buChar char="§"/>
              <a:defRPr/>
            </a:pPr>
            <a:r>
              <a:rPr lang="en-US" sz="1300" b="1">
                <a:solidFill>
                  <a:schemeClr val="accent1"/>
                </a:solidFill>
                <a:ea typeface="+mn-lt"/>
                <a:cs typeface="+mn-lt"/>
              </a:rPr>
              <a:t>Alerte Santé COVID-19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32DBFC1-FB0B-6A34-7191-DE063400F1C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35193" y="6369926"/>
            <a:ext cx="1038281" cy="43892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64AC00-6D05-7CE2-C0E3-B75BE18741AE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1920" y="6428237"/>
            <a:ext cx="316547" cy="316547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6196328-EAE6-385E-EAAD-8F67A67633D0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5673" y="6404239"/>
            <a:ext cx="372881" cy="39549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8149E18-105A-F64C-36E1-3051878660A5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8647" y="6417673"/>
            <a:ext cx="395493" cy="395493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6B7EA18A-4F66-140F-0A0F-82035A4A74F7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6468" t="23959" r="5645" b="21126"/>
          <a:stretch/>
        </p:blipFill>
        <p:spPr>
          <a:xfrm>
            <a:off x="7289393" y="6395248"/>
            <a:ext cx="1067454" cy="415691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F719E2F-AFBF-C8CC-F139-55D77BFABF79}"/>
              </a:ext>
            </a:extLst>
          </p:cNvPr>
          <p:cNvSpPr/>
          <p:nvPr/>
        </p:nvSpPr>
        <p:spPr>
          <a:xfrm>
            <a:off x="7217142" y="3102448"/>
            <a:ext cx="380232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SUD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KIVU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18C353B-EBB9-97DD-CAD8-F2C60C5FD505}"/>
              </a:ext>
            </a:extLst>
          </p:cNvPr>
          <p:cNvSpPr/>
          <p:nvPr/>
        </p:nvSpPr>
        <p:spPr>
          <a:xfrm>
            <a:off x="4579487" y="4137134"/>
            <a:ext cx="572593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KWANGO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98645F1-9505-63D5-A93D-A29BD56EF985}"/>
              </a:ext>
            </a:extLst>
          </p:cNvPr>
          <p:cNvSpPr/>
          <p:nvPr/>
        </p:nvSpPr>
        <p:spPr>
          <a:xfrm>
            <a:off x="6275968" y="1345586"/>
            <a:ext cx="575799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BAS-UELE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4DCF214-F7B6-283A-3BF8-D41A23C7F045}"/>
              </a:ext>
            </a:extLst>
          </p:cNvPr>
          <p:cNvSpPr/>
          <p:nvPr/>
        </p:nvSpPr>
        <p:spPr>
          <a:xfrm>
            <a:off x="7225991" y="1404963"/>
            <a:ext cx="651140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HAUT-UELE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152156D-B385-192E-5759-1250E40214FB}"/>
              </a:ext>
            </a:extLst>
          </p:cNvPr>
          <p:cNvSpPr/>
          <p:nvPr/>
        </p:nvSpPr>
        <p:spPr>
          <a:xfrm>
            <a:off x="7534752" y="1915599"/>
            <a:ext cx="397866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ITURI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919921-502F-BDA4-FC09-D257D0EF7F66}"/>
              </a:ext>
            </a:extLst>
          </p:cNvPr>
          <p:cNvSpPr txBox="1"/>
          <p:nvPr/>
        </p:nvSpPr>
        <p:spPr>
          <a:xfrm>
            <a:off x="8558881" y="1152472"/>
            <a:ext cx="3293562" cy="31155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2700"/>
            <a:r>
              <a:rPr lang="en-US" sz="1600" b="1" err="1">
                <a:latin typeface="Calibri"/>
                <a:ea typeface="Calibri"/>
                <a:cs typeface="Calibri"/>
              </a:rPr>
              <a:t>Accès</a:t>
            </a:r>
            <a:r>
              <a:rPr lang="en-US" sz="1600" b="1">
                <a:latin typeface="Calibri"/>
                <a:ea typeface="Calibri"/>
                <a:cs typeface="Calibri"/>
              </a:rPr>
              <a:t> aux </a:t>
            </a:r>
            <a:r>
              <a:rPr lang="en-US" sz="1600" b="1" err="1">
                <a:latin typeface="Calibri"/>
                <a:ea typeface="Calibri"/>
                <a:cs typeface="Calibri"/>
              </a:rPr>
              <a:t>produits</a:t>
            </a:r>
            <a:r>
              <a:rPr lang="en-US" sz="1600" b="1">
                <a:latin typeface="Calibri"/>
                <a:ea typeface="Calibri"/>
                <a:cs typeface="Calibri"/>
              </a:rPr>
              <a:t> de santé</a:t>
            </a:r>
            <a:endParaRPr lang="en-US" sz="1600">
              <a:solidFill>
                <a:srgbClr val="5A3C2C"/>
              </a:solidFill>
              <a:latin typeface="Calibri"/>
              <a:ea typeface="Calibri"/>
              <a:cs typeface="Calibri"/>
            </a:endParaRP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Nouvelle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Génération</a:t>
            </a: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de la Chaine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d’approvisionnement</a:t>
            </a: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(NGCA+)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Distribution des EPI dans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toutes</a:t>
            </a: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les 26 provinces pendant COVID-19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Engagement des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distributeurs</a:t>
            </a: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privés</a:t>
            </a:r>
            <a:endParaRPr lang="en-US" sz="1300" b="1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Coordination des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investissement</a:t>
            </a: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de la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chaine</a:t>
            </a: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d’approvisionnement</a:t>
            </a: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et plaidoyer (SCICA)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Transport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intégré</a:t>
            </a: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des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échantillons</a:t>
            </a:r>
            <a:endParaRPr lang="en-US" sz="1300" b="1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Immunization Collaborative Supply Planning Strengthening (ICSPS)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Assistance Technique Intro </a:t>
            </a:r>
            <a:r>
              <a:rPr lang="en-US" sz="1300" b="1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Vaccin</a:t>
            </a: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RR</a:t>
            </a:r>
          </a:p>
          <a:p>
            <a:pPr marL="298450" indent="-285750">
              <a:buFont typeface="Wingdings" panose="05000000000000000000" pitchFamily="2" charset="2"/>
              <a:buChar char="§"/>
            </a:pPr>
            <a:endParaRPr lang="en-US" sz="1300" b="1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  <a:p>
            <a:pPr marL="298450" indent="-285750">
              <a:buFont typeface="Wingdings" panose="05000000000000000000" pitchFamily="2" charset="2"/>
              <a:buChar char="§"/>
            </a:pPr>
            <a:endParaRPr lang="en-US" sz="1300" b="1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4" name="Picture 53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9184F964-A5E6-EDFF-D5B8-1E23478C063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25743" y="32989"/>
            <a:ext cx="1974554" cy="9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16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FD57E-311A-A8D3-ADFE-CAE917B3D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79A24BC-7D4D-28CD-0F93-241D72CD92C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79A24BC-7D4D-28CD-0F93-241D72CD92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B14AD3DA-D5C7-308F-AE83-FDDEF30CF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178" y="99437"/>
            <a:ext cx="11387561" cy="382414"/>
          </a:xfrm>
        </p:spPr>
        <p:txBody>
          <a:bodyPr vert="horz"/>
          <a:lstStyle/>
          <a:p>
            <a:r>
              <a:rPr lang="en-US" sz="3400"/>
              <a:t>Nos actions en RDC (2025)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9A83555-83BD-8FF4-E56C-C7E51FD85176}"/>
              </a:ext>
            </a:extLst>
          </p:cNvPr>
          <p:cNvSpPr/>
          <p:nvPr/>
        </p:nvSpPr>
        <p:spPr>
          <a:xfrm>
            <a:off x="4723968" y="3675976"/>
            <a:ext cx="460382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KWILU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55121AA-48A2-1988-173A-9CCD8ECE88CD}"/>
              </a:ext>
            </a:extLst>
          </p:cNvPr>
          <p:cNvSpPr/>
          <p:nvPr/>
        </p:nvSpPr>
        <p:spPr>
          <a:xfrm>
            <a:off x="6934464" y="4021712"/>
            <a:ext cx="713657" cy="215444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/>
                <a:sym typeface="Wingdings" panose="05000000000000000000" pitchFamily="2" charset="2"/>
              </a:rPr>
              <a:t>TANGANYIKA</a:t>
            </a: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0EBDD"/>
              </a:solidFill>
              <a:effectLst/>
              <a:uLnTx/>
              <a:uFillTx/>
              <a:latin typeface="Calibri Light"/>
              <a:ea typeface="+mn-ea"/>
              <a:cs typeface="Calibri" panose="020F0502020204030204" pitchFamily="34" charset="0"/>
              <a:sym typeface="Wingdings" panose="05000000000000000000" pitchFamily="2" charset="2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50F1FB3-FE9C-D6DF-2F81-D5D69D405D6F}"/>
              </a:ext>
            </a:extLst>
          </p:cNvPr>
          <p:cNvSpPr/>
          <p:nvPr/>
        </p:nvSpPr>
        <p:spPr>
          <a:xfrm>
            <a:off x="6292438" y="4547959"/>
            <a:ext cx="813043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HAUT LOMAMI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28D1F117-8505-AB6C-CD2A-13A07BAD51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540" y="126230"/>
            <a:ext cx="536359" cy="536359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F67AB16D-1C82-B18D-B487-8EBB963BEAD4}"/>
              </a:ext>
            </a:extLst>
          </p:cNvPr>
          <p:cNvSpPr/>
          <p:nvPr/>
        </p:nvSpPr>
        <p:spPr>
          <a:xfrm>
            <a:off x="5903246" y="3281100"/>
            <a:ext cx="591829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SANKURU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438B42A-6CCD-242D-8B46-C3C5E65365DE}"/>
              </a:ext>
            </a:extLst>
          </p:cNvPr>
          <p:cNvSpPr/>
          <p:nvPr/>
        </p:nvSpPr>
        <p:spPr>
          <a:xfrm>
            <a:off x="4506159" y="3011507"/>
            <a:ext cx="760144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MAI-NDOMBE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897DD-A1F2-A5A1-F721-C455137586AF}"/>
              </a:ext>
            </a:extLst>
          </p:cNvPr>
          <p:cNvSpPr/>
          <p:nvPr/>
        </p:nvSpPr>
        <p:spPr>
          <a:xfrm>
            <a:off x="6947550" y="5177477"/>
            <a:ext cx="579005" cy="338554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/>
                <a:sym typeface="Wingdings" panose="05000000000000000000" pitchFamily="2" charset="2"/>
              </a:rPr>
              <a:t>HAUT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BDD"/>
              </a:solidFill>
              <a:effectLst/>
              <a:uLnTx/>
              <a:uFillTx/>
              <a:latin typeface="Calibri"/>
              <a:ea typeface="+mn-ea"/>
              <a:cs typeface="Calibri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/>
                <a:sym typeface="Wingdings" panose="05000000000000000000" pitchFamily="2" charset="2"/>
              </a:rPr>
              <a:t>KATANGA</a:t>
            </a: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0EBDD"/>
              </a:solidFill>
              <a:effectLst/>
              <a:uLnTx/>
              <a:uFillTx/>
              <a:latin typeface="Calibri Light"/>
              <a:ea typeface="+mn-ea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FC4AD5-3705-F790-B720-1CB9A0042766}"/>
              </a:ext>
            </a:extLst>
          </p:cNvPr>
          <p:cNvSpPr/>
          <p:nvPr/>
        </p:nvSpPr>
        <p:spPr>
          <a:xfrm>
            <a:off x="5799374" y="4852033"/>
            <a:ext cx="554960" cy="215444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/>
              </a:rPr>
              <a:t>LUALABA</a:t>
            </a: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0EBDD"/>
              </a:solidFill>
              <a:effectLst/>
              <a:uLnTx/>
              <a:uFillTx/>
              <a:latin typeface="Calibri Light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325518-5FD6-3E82-FFD8-5913C0862383}"/>
              </a:ext>
            </a:extLst>
          </p:cNvPr>
          <p:cNvSpPr/>
          <p:nvPr/>
        </p:nvSpPr>
        <p:spPr>
          <a:xfrm>
            <a:off x="4726129" y="2338082"/>
            <a:ext cx="636713" cy="215444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/>
              </a:rPr>
              <a:t>EQUATEUR</a:t>
            </a: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0EBDD"/>
              </a:solidFill>
              <a:effectLst/>
              <a:uLnTx/>
              <a:uFillTx/>
              <a:latin typeface="Calibri Light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254ED62A-3D7D-6ABC-91CB-81A780F690A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9867677" y="6337182"/>
            <a:ext cx="781228" cy="520818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FE7F662E-6D69-A545-6C32-590E51BBDF06}"/>
              </a:ext>
            </a:extLst>
          </p:cNvPr>
          <p:cNvSpPr/>
          <p:nvPr/>
        </p:nvSpPr>
        <p:spPr>
          <a:xfrm>
            <a:off x="7349750" y="2427531"/>
            <a:ext cx="428322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NORD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KIVU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563BD8B-93B2-7914-89F8-798F30FBB238}"/>
              </a:ext>
            </a:extLst>
          </p:cNvPr>
          <p:cNvSpPr/>
          <p:nvPr/>
        </p:nvSpPr>
        <p:spPr>
          <a:xfrm>
            <a:off x="6545606" y="3088147"/>
            <a:ext cx="604653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MANIEMA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B55076E-CAAC-790C-1207-01AE6E0C1273}"/>
              </a:ext>
            </a:extLst>
          </p:cNvPr>
          <p:cNvSpPr/>
          <p:nvPr/>
        </p:nvSpPr>
        <p:spPr>
          <a:xfrm>
            <a:off x="6294186" y="2200670"/>
            <a:ext cx="522900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TSHOPO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F16AD9C-5371-B0A8-68EE-ACD96CEB6465}"/>
              </a:ext>
            </a:extLst>
          </p:cNvPr>
          <p:cNvSpPr/>
          <p:nvPr/>
        </p:nvSpPr>
        <p:spPr>
          <a:xfrm>
            <a:off x="3420539" y="3750975"/>
            <a:ext cx="891591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9F8F4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KONGO-CENTRAL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3B9C27A-2507-424A-67CD-BDCCD9E0E43B}"/>
              </a:ext>
            </a:extLst>
          </p:cNvPr>
          <p:cNvSpPr/>
          <p:nvPr/>
        </p:nvSpPr>
        <p:spPr>
          <a:xfrm>
            <a:off x="4785030" y="1666549"/>
            <a:ext cx="710451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SUD-UBANGI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8AF5B1DB-EE49-508D-D692-A9B0381D1B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474" y="6417673"/>
            <a:ext cx="956769" cy="361446"/>
          </a:xfrm>
          <a:prstGeom prst="rect">
            <a:avLst/>
          </a:prstGeom>
        </p:spPr>
      </p:pic>
      <p:pic>
        <p:nvPicPr>
          <p:cNvPr id="88" name="Picture 11">
            <a:extLst>
              <a:ext uri="{FF2B5EF4-FFF2-40B4-BE49-F238E27FC236}">
                <a16:creationId xmlns:a16="http://schemas.microsoft.com/office/drawing/2014/main" id="{41678732-0F12-0E08-1B0E-7ADB4F5A28FF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1940" y="6395248"/>
            <a:ext cx="425357" cy="4253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54412F-039D-2AB5-B0F6-13FDEC59153C}"/>
              </a:ext>
            </a:extLst>
          </p:cNvPr>
          <p:cNvSpPr/>
          <p:nvPr/>
        </p:nvSpPr>
        <p:spPr>
          <a:xfrm>
            <a:off x="5379272" y="2490482"/>
            <a:ext cx="567784" cy="215444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/>
              </a:rPr>
              <a:t>TSHUAPA</a:t>
            </a: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0EBDD"/>
              </a:solidFill>
              <a:effectLst/>
              <a:uLnTx/>
              <a:uFillTx/>
              <a:latin typeface="Calibri Light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BFBB28-F37E-2BCC-48D4-2D546EF14ED5}"/>
              </a:ext>
            </a:extLst>
          </p:cNvPr>
          <p:cNvSpPr/>
          <p:nvPr/>
        </p:nvSpPr>
        <p:spPr>
          <a:xfrm>
            <a:off x="5335730" y="1837339"/>
            <a:ext cx="615874" cy="215444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/>
              </a:rPr>
              <a:t>MONGALA</a:t>
            </a: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0EBDD"/>
              </a:solidFill>
              <a:effectLst/>
              <a:uLnTx/>
              <a:uFillTx/>
              <a:latin typeface="Calibri Light"/>
              <a:ea typeface="+mn-ea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A69BF24-35A3-2469-6C65-987C4CF678E5}"/>
              </a:ext>
            </a:extLst>
          </p:cNvPr>
          <p:cNvSpPr/>
          <p:nvPr/>
        </p:nvSpPr>
        <p:spPr>
          <a:xfrm>
            <a:off x="5366463" y="3643253"/>
            <a:ext cx="417102" cy="21544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KASAI</a:t>
            </a:r>
          </a:p>
        </p:txBody>
      </p:sp>
      <p:pic>
        <p:nvPicPr>
          <p:cNvPr id="42" name="Picture 41" descr="A black text on a white background  Description automatically generated">
            <a:extLst>
              <a:ext uri="{FF2B5EF4-FFF2-40B4-BE49-F238E27FC236}">
                <a16:creationId xmlns:a16="http://schemas.microsoft.com/office/drawing/2014/main" id="{D6595A7D-0093-0046-FA0E-B24ACE3FE22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97" y="6352287"/>
            <a:ext cx="1824253" cy="480243"/>
          </a:xfrm>
          <a:prstGeom prst="rect">
            <a:avLst/>
          </a:prstGeom>
        </p:spPr>
      </p:pic>
      <p:pic>
        <p:nvPicPr>
          <p:cNvPr id="43" name="Picture 42" descr="A logo with text overlay  Description automatically generated">
            <a:extLst>
              <a:ext uri="{FF2B5EF4-FFF2-40B4-BE49-F238E27FC236}">
                <a16:creationId xmlns:a16="http://schemas.microsoft.com/office/drawing/2014/main" id="{13F01168-9CC1-0047-7ED5-ABEBCF2DD582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5713" y="6273735"/>
            <a:ext cx="516968" cy="586081"/>
          </a:xfrm>
          <a:prstGeom prst="rect">
            <a:avLst/>
          </a:prstGeom>
        </p:spPr>
      </p:pic>
      <p:pic>
        <p:nvPicPr>
          <p:cNvPr id="44" name="Picture 43" descr="A sign with a couple of people and a triangle  Description automatically generated">
            <a:extLst>
              <a:ext uri="{FF2B5EF4-FFF2-40B4-BE49-F238E27FC236}">
                <a16:creationId xmlns:a16="http://schemas.microsoft.com/office/drawing/2014/main" id="{4013BAEA-4633-CAB8-224B-22B61F5A6064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8600" y="6411575"/>
            <a:ext cx="939511" cy="44312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1A6E908-07DB-F4CD-4FBD-C00C54874EB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6157" y="6380489"/>
            <a:ext cx="1038281" cy="438921"/>
          </a:xfrm>
          <a:prstGeom prst="rect">
            <a:avLst/>
          </a:prstGeom>
        </p:spPr>
      </p:pic>
      <p:pic>
        <p:nvPicPr>
          <p:cNvPr id="56" name="Picture 14" descr="PATHlogo">
            <a:extLst>
              <a:ext uri="{FF2B5EF4-FFF2-40B4-BE49-F238E27FC236}">
                <a16:creationId xmlns:a16="http://schemas.microsoft.com/office/drawing/2014/main" id="{88720DDE-FCE9-54CA-AC11-221D304AD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19737" y="6433690"/>
            <a:ext cx="716238" cy="2743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E4157B7D-976A-F061-092D-AF9EDEB4E502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7660" y="6481819"/>
            <a:ext cx="372881" cy="372881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60C2848-C619-B2CD-F799-D26C76B8D7D5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3846" y="6428387"/>
            <a:ext cx="372881" cy="39549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48118A4B-E951-8AE9-342E-9E68F4D69012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8647" y="6417673"/>
            <a:ext cx="395493" cy="395493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4B7F2BB8-D88F-7431-9666-DBF2FC4EA85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6468" t="23959" r="5645" b="21126"/>
          <a:stretch/>
        </p:blipFill>
        <p:spPr>
          <a:xfrm>
            <a:off x="7322798" y="6394809"/>
            <a:ext cx="1067454" cy="415691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BE9B4F8A-6CF6-B553-D9F2-22554D901246}"/>
              </a:ext>
            </a:extLst>
          </p:cNvPr>
          <p:cNvSpPr/>
          <p:nvPr/>
        </p:nvSpPr>
        <p:spPr>
          <a:xfrm>
            <a:off x="7229018" y="3126196"/>
            <a:ext cx="47000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SOUTH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0EBDD"/>
                </a:solidFill>
                <a:effectLst/>
                <a:uLnTx/>
                <a:uFillTx/>
                <a:latin typeface="Calibri Light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KIVU</a:t>
            </a:r>
          </a:p>
        </p:txBody>
      </p:sp>
      <p:pic>
        <p:nvPicPr>
          <p:cNvPr id="63" name="Picture 62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CAE5F91E-DADE-67D9-DD47-AE93F6391FA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5987" y="5399748"/>
            <a:ext cx="1974554" cy="905711"/>
          </a:xfrm>
          <a:prstGeom prst="rect">
            <a:avLst/>
          </a:prstGeom>
        </p:spPr>
      </p:pic>
      <p:pic>
        <p:nvPicPr>
          <p:cNvPr id="85" name="Content Placeholder 3">
            <a:extLst>
              <a:ext uri="{FF2B5EF4-FFF2-40B4-BE49-F238E27FC236}">
                <a16:creationId xmlns:a16="http://schemas.microsoft.com/office/drawing/2014/main" id="{D87CCDFB-E02F-48E3-3F0A-29AD3C1C5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0"/>
          <a:stretch>
            <a:fillRect/>
          </a:stretch>
        </p:blipFill>
        <p:spPr>
          <a:xfrm>
            <a:off x="2736707" y="421727"/>
            <a:ext cx="9454621" cy="5815522"/>
          </a:xfrm>
          <a:prstGeom prst="rect">
            <a:avLst/>
          </a:prstGeom>
        </p:spPr>
      </p:pic>
      <p:sp>
        <p:nvSpPr>
          <p:cNvPr id="86" name="Title 1">
            <a:extLst>
              <a:ext uri="{FF2B5EF4-FFF2-40B4-BE49-F238E27FC236}">
                <a16:creationId xmlns:a16="http://schemas.microsoft.com/office/drawing/2014/main" id="{E7A1147F-8200-F7EC-EC42-A179B3E7254A}"/>
              </a:ext>
            </a:extLst>
          </p:cNvPr>
          <p:cNvSpPr txBox="1">
            <a:spLocks/>
          </p:cNvSpPr>
          <p:nvPr/>
        </p:nvSpPr>
        <p:spPr>
          <a:xfrm>
            <a:off x="244929" y="2427530"/>
            <a:ext cx="2593718" cy="15388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rgbClr val="0000FF"/>
                </a:solidFill>
                <a:ea typeface="Calibri Light"/>
                <a:cs typeface="Calibri Light"/>
              </a:rPr>
              <a:t>Présence Village Reach en RDC</a:t>
            </a:r>
          </a:p>
        </p:txBody>
      </p:sp>
    </p:spTree>
    <p:extLst>
      <p:ext uri="{BB962C8B-B14F-4D97-AF65-F5344CB8AC3E}">
        <p14:creationId xmlns:p14="http://schemas.microsoft.com/office/powerpoint/2010/main" val="408318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d3d1b2d_0_290"/>
          <p:cNvSpPr txBox="1"/>
          <p:nvPr/>
        </p:nvSpPr>
        <p:spPr>
          <a:xfrm>
            <a:off x="407500" y="180357"/>
            <a:ext cx="11479400" cy="591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Cartographie Intervention et Présence sur terrain </a:t>
            </a:r>
          </a:p>
        </p:txBody>
      </p:sp>
      <p:sp>
        <p:nvSpPr>
          <p:cNvPr id="177" name="Google Shape;177;g3aabd3d1b2d_0_2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d3d1b2d_0_2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d3d1b2d_0_2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d3d1b2d_0_2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3085363"/>
              </p:ext>
            </p:extLst>
          </p:nvPr>
        </p:nvGraphicFramePr>
        <p:xfrm>
          <a:off x="81280" y="822961"/>
          <a:ext cx="11978631" cy="6575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4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1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7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1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400">
                          <a:latin typeface="Arial"/>
                        </a:rPr>
                        <a:t>Domaine d’intervention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400">
                          <a:latin typeface="Arial"/>
                        </a:rPr>
                        <a:t>Interventions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400">
                          <a:latin typeface="Arial"/>
                        </a:rPr>
                        <a:t>Zones d’intervention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400">
                          <a:latin typeface="Arial"/>
                        </a:rPr>
                        <a:t>Nombre consultants ou AT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1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000" b="1">
                          <a:latin typeface="Arial"/>
                        </a:rPr>
                        <a:t>PRESTATIONS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altLang="en-US" sz="1800" b="1">
                          <a:latin typeface="Arial"/>
                        </a:rPr>
                        <a:t>IPVS (Intensification Périodique de la Vaccination Supplémentaire)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b="1">
                          <a:latin typeface="Arial"/>
                        </a:rPr>
                        <a:t>Haut-Katanga</a:t>
                      </a:r>
                      <a:r>
                        <a:rPr lang="fr-FR" altLang="en-US">
                          <a:latin typeface="Arial"/>
                        </a:rPr>
                        <a:t>: Antennes PEV et 9 ZS</a:t>
                      </a:r>
                    </a:p>
                    <a:p>
                      <a:pPr>
                        <a:buNone/>
                      </a:pPr>
                      <a:r>
                        <a:rPr lang="fr-FR" altLang="en-US" b="1">
                          <a:latin typeface="Arial"/>
                        </a:rPr>
                        <a:t>Haut-Lomami: </a:t>
                      </a:r>
                      <a:r>
                        <a:rPr lang="fr-FR" altLang="en-US">
                          <a:latin typeface="Arial"/>
                        </a:rPr>
                        <a:t>Antennes PEV et </a:t>
                      </a:r>
                      <a:r>
                        <a:rPr lang="fr-FR" altLang="en-US" b="1">
                          <a:latin typeface="Arial"/>
                        </a:rPr>
                        <a:t>9 ZS</a:t>
                      </a:r>
                    </a:p>
                    <a:p>
                      <a:pPr>
                        <a:buNone/>
                      </a:pPr>
                      <a:r>
                        <a:rPr lang="fr-FR" altLang="en-US" b="1">
                          <a:latin typeface="Arial"/>
                        </a:rPr>
                        <a:t>Tanganyika</a:t>
                      </a:r>
                      <a:r>
                        <a:rPr lang="fr-FR" altLang="en-US">
                          <a:latin typeface="Arial"/>
                        </a:rPr>
                        <a:t>: Antennes PEV et 8 ZS</a:t>
                      </a:r>
                    </a:p>
                    <a:p>
                      <a:pPr>
                        <a:buNone/>
                      </a:pPr>
                      <a:r>
                        <a:rPr lang="fr-FR" altLang="en-US">
                          <a:latin typeface="Arial"/>
                        </a:rPr>
                        <a:t>T</a:t>
                      </a:r>
                      <a:r>
                        <a:rPr lang="fr-FR" altLang="en-US" b="1">
                          <a:latin typeface="Arial"/>
                        </a:rPr>
                        <a:t>shopo</a:t>
                      </a:r>
                      <a:r>
                        <a:rPr lang="fr-FR" altLang="en-US">
                          <a:latin typeface="Arial"/>
                        </a:rPr>
                        <a:t>: Antennes PEV et 8 ZS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en-US" b="1">
                          <a:latin typeface="Arial"/>
                        </a:rPr>
                        <a:t>Maindombe</a:t>
                      </a:r>
                      <a:r>
                        <a:rPr lang="fr-FR" altLang="en-US">
                          <a:latin typeface="Arial"/>
                        </a:rPr>
                        <a:t>: Antennes PEV et 8 ZS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en-US" b="1">
                          <a:latin typeface="Arial"/>
                        </a:rPr>
                        <a:t>Mongala</a:t>
                      </a:r>
                      <a:r>
                        <a:rPr lang="fr-FR" altLang="en-US">
                          <a:latin typeface="Arial"/>
                        </a:rPr>
                        <a:t>: Antennes PEV et 8 ZS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b="1">
                          <a:latin typeface="Arial"/>
                        </a:rPr>
                        <a:t>Haut-Katanga</a:t>
                      </a:r>
                      <a:r>
                        <a:rPr lang="fr-FR" altLang="en-US">
                          <a:latin typeface="Arial"/>
                        </a:rPr>
                        <a:t>: 2 AT et 9 PF </a:t>
                      </a:r>
                    </a:p>
                    <a:p>
                      <a:pPr>
                        <a:buNone/>
                      </a:pPr>
                      <a:r>
                        <a:rPr lang="fr-FR" altLang="en-US" b="1">
                          <a:latin typeface="Arial"/>
                        </a:rPr>
                        <a:t>Haut-Lomami</a:t>
                      </a:r>
                      <a:r>
                        <a:rPr lang="fr-FR" altLang="en-US">
                          <a:latin typeface="Arial"/>
                        </a:rPr>
                        <a:t>: 2 AT et 8 PF </a:t>
                      </a:r>
                      <a:r>
                        <a:rPr lang="fr-FR" altLang="en-US" b="1">
                          <a:latin typeface="Arial"/>
                        </a:rPr>
                        <a:t>Tanganyika</a:t>
                      </a:r>
                      <a:r>
                        <a:rPr lang="fr-FR" altLang="en-US">
                          <a:latin typeface="Arial"/>
                        </a:rPr>
                        <a:t>: 2 AT et 8 PF </a:t>
                      </a:r>
                    </a:p>
                    <a:p>
                      <a:pPr>
                        <a:buNone/>
                      </a:pPr>
                      <a:r>
                        <a:rPr lang="fr-FR" altLang="en-US" b="1">
                          <a:latin typeface="Arial"/>
                        </a:rPr>
                        <a:t>Tshopo</a:t>
                      </a:r>
                      <a:r>
                        <a:rPr lang="fr-FR" altLang="en-US">
                          <a:latin typeface="Arial"/>
                        </a:rPr>
                        <a:t>: 2 AT et 8 PF </a:t>
                      </a:r>
                    </a:p>
                    <a:p>
                      <a:pPr>
                        <a:buNone/>
                      </a:pPr>
                      <a:r>
                        <a:rPr lang="fr-FR" altLang="en-US" b="1">
                          <a:latin typeface="Arial"/>
                        </a:rPr>
                        <a:t>Maindombe</a:t>
                      </a:r>
                      <a:r>
                        <a:rPr lang="fr-FR" altLang="en-US">
                          <a:latin typeface="Arial"/>
                        </a:rPr>
                        <a:t>: 1 AT et 6 PF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en-US" b="1">
                          <a:latin typeface="Arial"/>
                        </a:rPr>
                        <a:t>Mongala</a:t>
                      </a:r>
                      <a:r>
                        <a:rPr lang="fr-FR" altLang="en-US">
                          <a:latin typeface="Arial"/>
                        </a:rPr>
                        <a:t>: 2 AT et 9 PF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468">
                <a:tc rowSpan="2"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fr-FR" altLang="en-US" sz="2000" b="1" kern="120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Activité de Vaccination Supplémentaire (AVS)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altLang="en-US" sz="1800" b="1">
                          <a:latin typeface="Arial"/>
                        </a:rPr>
                        <a:t>Ripostes Rapide Polio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>
                          <a:latin typeface="Arial"/>
                        </a:rPr>
                        <a:t>26 Provinces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b="1" dirty="0">
                          <a:latin typeface="Arial"/>
                        </a:rPr>
                        <a:t>National:</a:t>
                      </a:r>
                      <a:r>
                        <a:rPr lang="fr-FR" altLang="en-US" dirty="0">
                          <a:latin typeface="Arial"/>
                        </a:rPr>
                        <a:t> 2 AT (Chief program et Financier)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152968"/>
                  </a:ext>
                </a:extLst>
              </a:tr>
              <a:tr h="15947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altLang="en-US" sz="1800" b="1">
                          <a:solidFill>
                            <a:schemeClr val="tx1"/>
                          </a:solidFill>
                          <a:latin typeface="Arial"/>
                        </a:rPr>
                        <a:t>Introduction du vaccin  RR</a:t>
                      </a:r>
                      <a:endParaRPr lang="en-US" sz="1800"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1800" b="1">
                          <a:solidFill>
                            <a:schemeClr val="tx1"/>
                          </a:solidFill>
                          <a:latin typeface="Arial"/>
                        </a:rPr>
                        <a:t>Coordination nationale : </a:t>
                      </a:r>
                      <a:r>
                        <a:rPr lang="fr-FR" altLang="en-US" sz="1800" b="0">
                          <a:solidFill>
                            <a:schemeClr val="tx1"/>
                          </a:solidFill>
                          <a:latin typeface="Arial"/>
                        </a:rPr>
                        <a:t>Direction PEV</a:t>
                      </a:r>
                    </a:p>
                    <a:p>
                      <a:pPr lvl="0">
                        <a:buNone/>
                      </a:pPr>
                      <a:r>
                        <a:rPr lang="fr-FR" altLang="en-US" sz="1800" b="1">
                          <a:solidFill>
                            <a:schemeClr val="tx1"/>
                          </a:solidFill>
                          <a:latin typeface="Arial"/>
                        </a:rPr>
                        <a:t>Haut-Katanga</a:t>
                      </a:r>
                      <a:r>
                        <a:rPr lang="fr-FR" altLang="en-US" sz="1800">
                          <a:solidFill>
                            <a:schemeClr val="tx1"/>
                          </a:solidFill>
                          <a:latin typeface="Arial"/>
                        </a:rPr>
                        <a:t>: </a:t>
                      </a:r>
                      <a:r>
                        <a:rPr lang="fr-FR" altLang="en-US" sz="1800" b="1">
                          <a:solidFill>
                            <a:schemeClr val="tx1"/>
                          </a:solidFill>
                          <a:latin typeface="Arial"/>
                        </a:rPr>
                        <a:t>2 </a:t>
                      </a:r>
                      <a:r>
                        <a:rPr lang="fr-FR" altLang="en-US" sz="1800">
                          <a:solidFill>
                            <a:schemeClr val="tx1"/>
                          </a:solidFill>
                          <a:latin typeface="Arial"/>
                        </a:rPr>
                        <a:t>Antennes PEV et 7 ZS</a:t>
                      </a:r>
                    </a:p>
                    <a:p>
                      <a:pPr>
                        <a:buNone/>
                      </a:pPr>
                      <a:r>
                        <a:rPr lang="fr-FR" altLang="en-US" sz="1800" b="1">
                          <a:solidFill>
                            <a:schemeClr val="tx1"/>
                          </a:solidFill>
                          <a:latin typeface="Arial"/>
                        </a:rPr>
                        <a:t>Haut-</a:t>
                      </a:r>
                      <a:r>
                        <a:rPr lang="fr-FR" altLang="en-US" sz="1800" b="1" err="1">
                          <a:solidFill>
                            <a:schemeClr val="tx1"/>
                          </a:solidFill>
                          <a:latin typeface="Arial"/>
                        </a:rPr>
                        <a:t>Lomami</a:t>
                      </a:r>
                      <a:r>
                        <a:rPr lang="fr-FR" altLang="en-US" sz="1800" b="1">
                          <a:solidFill>
                            <a:schemeClr val="tx1"/>
                          </a:solidFill>
                          <a:latin typeface="Arial"/>
                        </a:rPr>
                        <a:t>: 2 </a:t>
                      </a:r>
                      <a:r>
                        <a:rPr lang="fr-FR" altLang="en-US" sz="1800">
                          <a:solidFill>
                            <a:schemeClr val="tx1"/>
                          </a:solidFill>
                          <a:latin typeface="Arial"/>
                        </a:rPr>
                        <a:t>Antennes PEV et 3</a:t>
                      </a:r>
                      <a:r>
                        <a:rPr lang="fr-FR" altLang="en-US" sz="1800" b="1">
                          <a:solidFill>
                            <a:schemeClr val="tx1"/>
                          </a:solidFill>
                          <a:latin typeface="Arial"/>
                        </a:rPr>
                        <a:t> </a:t>
                      </a:r>
                      <a:r>
                        <a:rPr lang="fr-FR" altLang="en-US" sz="1800" b="0">
                          <a:solidFill>
                            <a:schemeClr val="tx1"/>
                          </a:solidFill>
                          <a:latin typeface="Arial"/>
                        </a:rPr>
                        <a:t>ZS</a:t>
                      </a:r>
                    </a:p>
                    <a:p>
                      <a:pPr>
                        <a:buNone/>
                      </a:pPr>
                      <a:r>
                        <a:rPr lang="fr-FR" altLang="en-US" sz="1800" b="1">
                          <a:solidFill>
                            <a:schemeClr val="tx1"/>
                          </a:solidFill>
                          <a:latin typeface="Arial"/>
                        </a:rPr>
                        <a:t>Tanganyika</a:t>
                      </a:r>
                      <a:r>
                        <a:rPr lang="fr-FR" altLang="en-US" sz="1800">
                          <a:solidFill>
                            <a:schemeClr val="tx1"/>
                          </a:solidFill>
                          <a:latin typeface="Arial"/>
                        </a:rPr>
                        <a:t>: </a:t>
                      </a:r>
                      <a:r>
                        <a:rPr lang="fr-FR" altLang="en-US" sz="1800" b="1">
                          <a:solidFill>
                            <a:schemeClr val="tx1"/>
                          </a:solidFill>
                          <a:latin typeface="Arial"/>
                        </a:rPr>
                        <a:t>2 </a:t>
                      </a:r>
                      <a:r>
                        <a:rPr lang="fr-FR" altLang="en-US" sz="1800">
                          <a:solidFill>
                            <a:schemeClr val="tx1"/>
                          </a:solidFill>
                          <a:latin typeface="Arial"/>
                        </a:rPr>
                        <a:t>Antennes PEV et 3 ZS</a:t>
                      </a:r>
                    </a:p>
                    <a:p>
                      <a:pPr>
                        <a:buNone/>
                      </a:pPr>
                      <a:r>
                        <a:rPr lang="fr-FR" altLang="en-US" sz="1800" b="1">
                          <a:solidFill>
                            <a:schemeClr val="tx1"/>
                          </a:solidFill>
                          <a:latin typeface="Arial"/>
                        </a:rPr>
                        <a:t>Lualaba: 2 </a:t>
                      </a:r>
                      <a:r>
                        <a:rPr lang="fr-FR" altLang="en-US" sz="1800">
                          <a:solidFill>
                            <a:schemeClr val="tx1"/>
                          </a:solidFill>
                          <a:latin typeface="Arial"/>
                        </a:rPr>
                        <a:t>Antennes PEV et 4 ZS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1800" b="1" dirty="0">
                          <a:solidFill>
                            <a:schemeClr val="tx1"/>
                          </a:solidFill>
                          <a:latin typeface="Arial"/>
                        </a:rPr>
                        <a:t>Direction PEV: </a:t>
                      </a:r>
                      <a:r>
                        <a:rPr lang="fr-FR" altLang="en-US" sz="1800" b="0" dirty="0">
                          <a:solidFill>
                            <a:schemeClr val="tx1"/>
                          </a:solidFill>
                          <a:latin typeface="Arial"/>
                        </a:rPr>
                        <a:t>1 AT Coordo</a:t>
                      </a:r>
                    </a:p>
                    <a:p>
                      <a:pPr lvl="0">
                        <a:buNone/>
                      </a:pPr>
                      <a:r>
                        <a:rPr lang="fr-FR" altLang="en-US" sz="1800" b="1" dirty="0">
                          <a:solidFill>
                            <a:schemeClr val="tx1"/>
                          </a:solidFill>
                          <a:latin typeface="Arial"/>
                        </a:rPr>
                        <a:t>Haut-Katanga</a:t>
                      </a:r>
                      <a:r>
                        <a:rPr lang="fr-FR" altLang="en-US" sz="1800" dirty="0">
                          <a:solidFill>
                            <a:schemeClr val="tx1"/>
                          </a:solidFill>
                          <a:latin typeface="Arial"/>
                        </a:rPr>
                        <a:t>: 2 AT et 7 PF</a:t>
                      </a:r>
                    </a:p>
                    <a:p>
                      <a:pPr>
                        <a:buNone/>
                      </a:pPr>
                      <a:r>
                        <a:rPr lang="fr-FR" altLang="en-US" sz="1800" b="1" dirty="0">
                          <a:solidFill>
                            <a:schemeClr val="tx1"/>
                          </a:solidFill>
                          <a:latin typeface="Arial"/>
                        </a:rPr>
                        <a:t>Haut-Lomami</a:t>
                      </a:r>
                      <a:r>
                        <a:rPr lang="fr-FR" altLang="en-US" sz="1800" dirty="0">
                          <a:solidFill>
                            <a:schemeClr val="tx1"/>
                          </a:solidFill>
                          <a:latin typeface="Arial"/>
                        </a:rPr>
                        <a:t>: 2 AT et 3 PF </a:t>
                      </a:r>
                    </a:p>
                    <a:p>
                      <a:pPr lvl="0">
                        <a:buNone/>
                      </a:pPr>
                      <a:r>
                        <a:rPr lang="fr-FR" altLang="en-US" sz="1800" b="1" dirty="0">
                          <a:solidFill>
                            <a:schemeClr val="tx1"/>
                          </a:solidFill>
                          <a:latin typeface="Arial"/>
                        </a:rPr>
                        <a:t>Tanganyika</a:t>
                      </a:r>
                      <a:r>
                        <a:rPr lang="fr-FR" altLang="en-US" sz="1800" dirty="0">
                          <a:solidFill>
                            <a:schemeClr val="tx1"/>
                          </a:solidFill>
                          <a:latin typeface="Arial"/>
                        </a:rPr>
                        <a:t>: 2 AT et 3 PF </a:t>
                      </a:r>
                      <a:endParaRPr lang="fr-FR" sz="1800" dirty="0">
                        <a:latin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en-US" sz="1800" b="1" dirty="0">
                          <a:solidFill>
                            <a:schemeClr val="tx1"/>
                          </a:solidFill>
                          <a:latin typeface="Arial"/>
                        </a:rPr>
                        <a:t>Lualaba: </a:t>
                      </a:r>
                      <a:r>
                        <a:rPr lang="fr-FR" altLang="en-US" sz="1800" dirty="0">
                          <a:solidFill>
                            <a:schemeClr val="tx1"/>
                          </a:solidFill>
                          <a:latin typeface="Arial"/>
                        </a:rPr>
                        <a:t>2 AT et 4 PF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F6C3BA99-BC7A-A47E-47DB-65AA4781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d3d1b2d_0_290">
            <a:extLst>
              <a:ext uri="{FF2B5EF4-FFF2-40B4-BE49-F238E27FC236}">
                <a16:creationId xmlns:a16="http://schemas.microsoft.com/office/drawing/2014/main" id="{ABAC8FBD-9099-2305-5D37-F046D7C8FFCF}"/>
              </a:ext>
            </a:extLst>
          </p:cNvPr>
          <p:cNvSpPr txBox="1"/>
          <p:nvPr/>
        </p:nvSpPr>
        <p:spPr>
          <a:xfrm>
            <a:off x="407500" y="180357"/>
            <a:ext cx="11479400" cy="591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Cartographie Intervention et Présence sur terrain </a:t>
            </a:r>
          </a:p>
        </p:txBody>
      </p:sp>
      <p:sp>
        <p:nvSpPr>
          <p:cNvPr id="177" name="Google Shape;177;g3aabd3d1b2d_0_290">
            <a:extLst>
              <a:ext uri="{FF2B5EF4-FFF2-40B4-BE49-F238E27FC236}">
                <a16:creationId xmlns:a16="http://schemas.microsoft.com/office/drawing/2014/main" id="{29A4F477-001E-08DE-16FA-E5CA315EE961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d3d1b2d_0_290">
            <a:extLst>
              <a:ext uri="{FF2B5EF4-FFF2-40B4-BE49-F238E27FC236}">
                <a16:creationId xmlns:a16="http://schemas.microsoft.com/office/drawing/2014/main" id="{A6CF5BCF-18E5-D018-9C92-1D6020FE7E42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d3d1b2d_0_290">
            <a:extLst>
              <a:ext uri="{FF2B5EF4-FFF2-40B4-BE49-F238E27FC236}">
                <a16:creationId xmlns:a16="http://schemas.microsoft.com/office/drawing/2014/main" id="{9B2AA3D2-0587-FA6D-9A32-34A017DCAA74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d3d1b2d_0_290">
            <a:extLst>
              <a:ext uri="{FF2B5EF4-FFF2-40B4-BE49-F238E27FC236}">
                <a16:creationId xmlns:a16="http://schemas.microsoft.com/office/drawing/2014/main" id="{71C74FC3-881D-5DB2-D703-17D3E6C05FC0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2C705050-9A33-BFDB-6CBE-2E048FBC11A8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3094366"/>
              </p:ext>
            </p:extLst>
          </p:nvPr>
        </p:nvGraphicFramePr>
        <p:xfrm>
          <a:off x="103046" y="-1246"/>
          <a:ext cx="11958316" cy="6728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6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8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5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8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400" dirty="0"/>
                        <a:t>Domaine d’intervention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400" dirty="0"/>
                        <a:t>Interventions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400" dirty="0"/>
                        <a:t>Zones d’intervention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400" dirty="0"/>
                        <a:t>Nombre consultants ou AT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6972">
                <a:tc rowSpan="3"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fr-FR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CHAINE D’APPROVISIONNEMENT</a:t>
                      </a:r>
                    </a:p>
                    <a:p>
                      <a:pPr marL="0" algn="l" rtl="0" eaLnBrk="1" latinLnBrk="0" hangingPunct="1">
                        <a:buNone/>
                      </a:pPr>
                      <a:endParaRPr lang="fr-FR" altLang="en-US" sz="1800" b="1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>
                        <a:buNone/>
                      </a:pPr>
                      <a:endParaRPr lang="fr-FR" altLang="en-US" sz="1800" b="1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>
                        <a:buNone/>
                      </a:pPr>
                      <a:endParaRPr lang="fr-FR" altLang="en-US" sz="1800" b="1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>
                        <a:buNone/>
                      </a:pPr>
                      <a:r>
                        <a:rPr lang="fr-FR" altLang="en-US" sz="1800" b="1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fr-FR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NGCA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fr-FR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 provinces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en-US" b="1" dirty="0"/>
                        <a:t>National:</a:t>
                      </a:r>
                      <a:r>
                        <a:rPr lang="fr-FR" altLang="en-US" dirty="0"/>
                        <a:t> 2 AT (Chief program et </a:t>
                      </a:r>
                      <a:r>
                        <a:rPr lang="fr-FR" altLang="en-US" dirty="0" err="1"/>
                        <a:t>Supply</a:t>
                      </a:r>
                      <a:r>
                        <a:rPr lang="fr-FR" altLang="en-US" dirty="0"/>
                        <a:t> Chain </a:t>
                      </a:r>
                      <a:r>
                        <a:rPr lang="fr-FR" altLang="en-US" dirty="0" err="1"/>
                        <a:t>Specialist</a:t>
                      </a:r>
                      <a:r>
                        <a:rPr lang="fr-FR" altLang="en-US" dirty="0"/>
                        <a:t>)</a:t>
                      </a:r>
                      <a:endParaRPr lang="fr-FR" alt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buNone/>
                      </a:pPr>
                      <a:r>
                        <a:rPr lang="fr-FR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 AT (</a:t>
                      </a:r>
                      <a:r>
                        <a:rPr lang="fr-FR" alt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Haut Katanga, </a:t>
                      </a:r>
                      <a:r>
                        <a:rPr lang="fr-FR" altLang="en-US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Maindombe</a:t>
                      </a:r>
                      <a:r>
                        <a:rPr lang="fr-FR" alt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fr-FR" altLang="en-US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Tshopo</a:t>
                      </a:r>
                      <a:r>
                        <a:rPr lang="fr-FR" alt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Lualaba, Maniema et Kassaï)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4188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fr-FR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Immunisation Collaborative Supply </a:t>
                      </a:r>
                      <a:r>
                        <a:rPr lang="fr-FR" altLang="en-US" sz="1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planing</a:t>
                      </a:r>
                      <a:r>
                        <a:rPr lang="fr-FR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altLang="en-US" sz="1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strengthen</a:t>
                      </a:r>
                      <a:r>
                        <a:rPr lang="fr-FR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(ICSPS)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1" i="0" u="none" strike="noStrike" kern="1200" noProof="0" dirty="0">
                          <a:solidFill>
                            <a:srgbClr val="0000FF"/>
                          </a:solidFill>
                          <a:latin typeface="Calibri"/>
                        </a:rPr>
                        <a:t>Niveau 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fr-FR" altLang="en-US" sz="1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projet officer et 1 consultant</a:t>
                      </a:r>
                      <a:endParaRPr lang="fr-FR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48807"/>
                  </a:ext>
                </a:extLst>
              </a:tr>
              <a:tr h="104188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fr-FR" altLang="en-US" sz="1800" b="1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E-LMIS</a:t>
                      </a:r>
                      <a:endParaRPr lang="fr-FR" altLang="en-US" sz="1800" b="1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fr-FR" altLang="en-US" sz="1800" b="1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Kinshasa et Maniema comme provinces pilotes pour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fr-FR" altLang="en-US" sz="1800" b="0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fr-FR" altLang="en-US" sz="1800" b="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50276"/>
                  </a:ext>
                </a:extLst>
              </a:tr>
              <a:tr h="204844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SURVEILLANCE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Transport intégré des échantillons (Polio, Mpox, Fièvre jaune, Cholera, Rougeole, FHV)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11 provinces (Equateur, Haut Katanga, Haut Lomami, Kasaï, Lualaba, </a:t>
                      </a:r>
                      <a:r>
                        <a:rPr lang="fr-FR" sz="1800" b="1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Maindombe</a:t>
                      </a: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, Maniema, </a:t>
                      </a:r>
                      <a:r>
                        <a:rPr lang="fr-FR" sz="1800" b="1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Mongala</a:t>
                      </a: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, Sankuru, Tanganyika, </a:t>
                      </a:r>
                      <a:r>
                        <a:rPr lang="fr-FR" sz="1800" b="1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Tshopo</a:t>
                      </a: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275"/>
                        </a:lnSpc>
                        <a:buNone/>
                      </a:pPr>
                      <a:r>
                        <a:rPr lang="fr-FR" sz="1800" b="1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National : </a:t>
                      </a:r>
                      <a:endParaRPr lang="fr-FR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ts val="1275"/>
                        </a:lnSpc>
                        <a:buNone/>
                      </a:pPr>
                      <a:r>
                        <a:rPr lang="fr-FR" sz="1800" b="1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 AT (Program Manager, Project Senior </a:t>
                      </a:r>
                      <a:r>
                        <a:rPr lang="fr-FR" sz="1800" b="1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Officer</a:t>
                      </a:r>
                      <a:r>
                        <a:rPr lang="fr-FR" sz="1800" b="1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Project </a:t>
                      </a:r>
                      <a:r>
                        <a:rPr lang="fr-FR" sz="1800" b="1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Officer</a:t>
                      </a:r>
                      <a:r>
                        <a:rPr lang="fr-FR" sz="1800" b="1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M&amp;E </a:t>
                      </a:r>
                      <a:r>
                        <a:rPr lang="fr-FR" sz="1800" b="1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Officer</a:t>
                      </a:r>
                      <a:r>
                        <a:rPr lang="fr-FR" sz="1800" b="1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ts val="1275"/>
                        </a:lnSpc>
                        <a:buNone/>
                      </a:pPr>
                      <a:endParaRPr lang="fr-FR" sz="1800" b="1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ts val="1275"/>
                        </a:lnSpc>
                        <a:buNone/>
                      </a:pPr>
                      <a:r>
                        <a:rPr lang="fr-FR" sz="1800" b="1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Digital Solution Assistant)</a:t>
                      </a:r>
                      <a:endParaRPr lang="fr-FR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ts val="1275"/>
                        </a:lnSpc>
                        <a:buNone/>
                      </a:pPr>
                      <a:endParaRPr lang="fr-FR" sz="1800" b="1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ts val="1275"/>
                        </a:lnSpc>
                        <a:buNone/>
                      </a:pPr>
                      <a:r>
                        <a:rPr lang="fr-FR" sz="1800" b="1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Provincial : 11 AT (toutes les 11 provinces)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ts val="1275"/>
                        </a:lnSpc>
                        <a:buNone/>
                      </a:pPr>
                      <a:r>
                        <a:rPr lang="fr-FR" sz="1800" b="1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PF INRB/Antenne PEV/Aéroport : 48</a:t>
                      </a:r>
                      <a:endParaRPr lang="fr-FR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26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d3d1b2d_0_290"/>
          <p:cNvSpPr txBox="1"/>
          <p:nvPr/>
        </p:nvSpPr>
        <p:spPr>
          <a:xfrm>
            <a:off x="235500" y="168118"/>
            <a:ext cx="116514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Réalisations majeures de l’année</a:t>
            </a:r>
            <a:r>
              <a:rPr lang="fr-FR" alt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en lien avec les activités planifiées dans le PAO du PEV</a:t>
            </a:r>
            <a:endParaRPr sz="27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d3d1b2d_0_2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d3d1b2d_0_2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d3d1b2d_0_2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d3d1b2d_0_2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1702825"/>
              </p:ext>
            </p:extLst>
          </p:nvPr>
        </p:nvGraphicFramePr>
        <p:xfrm>
          <a:off x="111760" y="964692"/>
          <a:ext cx="11652454" cy="5664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6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0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>
                          <a:latin typeface="Arial"/>
                        </a:rPr>
                        <a:t>Activité prévu dans le PAO du PEV en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>
                          <a:latin typeface="Arial"/>
                        </a:rPr>
                        <a:t>Niveau de réalisation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800">
                          <a:latin typeface="Arial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800">
                          <a:latin typeface="Arial"/>
                        </a:rPr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56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altLang="en-US" sz="1600" b="1">
                          <a:latin typeface="Arial"/>
                        </a:rPr>
                        <a:t>33. Mobiliser les ressources (Interne et externe) en faveur de la vaccination: 33.13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2000" b="1">
                        <a:latin typeface="Arial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>
                          <a:latin typeface="Arial"/>
                        </a:rPr>
                        <a:t>100 %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1600" b="0" u="none">
                          <a:solidFill>
                            <a:schemeClr val="tx1"/>
                          </a:solidFill>
                          <a:latin typeface="Arial"/>
                        </a:rPr>
                        <a:t>PEC de 5 cadres du NC pour leurs participation à la Revue Annuelle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sz="1600">
                          <a:solidFill>
                            <a:schemeClr val="tx1"/>
                          </a:solidFill>
                          <a:latin typeface="Arial"/>
                        </a:rPr>
                        <a:t>Analyse et réflexion de la RA enrichi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sz="1600">
                          <a:solidFill>
                            <a:schemeClr val="tx1"/>
                          </a:solidFill>
                          <a:latin typeface="Arial"/>
                        </a:rPr>
                        <a:t>Travaux des groupes productifs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sz="1600">
                          <a:solidFill>
                            <a:schemeClr val="tx1"/>
                          </a:solidFill>
                          <a:latin typeface="Arial"/>
                        </a:rPr>
                        <a:t>PAO PEV 2026 élaboré.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06984"/>
                  </a:ext>
                </a:extLst>
              </a:tr>
              <a:tr h="39573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en-US" sz="1600" b="1">
                          <a:latin typeface="Arial"/>
                        </a:rPr>
                        <a:t>2. Apporter un appui technique et financier aux antennes PEV à l'organisation des séances de vaccination</a:t>
                      </a:r>
                    </a:p>
                    <a:p>
                      <a:pPr algn="just">
                        <a:buNone/>
                      </a:pPr>
                      <a:endParaRPr lang="fr-FR" altLang="en-US" sz="1600" b="1"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fr-FR" altLang="en-US" sz="2400">
                        <a:latin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en-US" sz="2000" b="1" kern="120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100%</a:t>
                      </a:r>
                    </a:p>
                    <a:p>
                      <a:pPr algn="ctr">
                        <a:buNone/>
                      </a:pPr>
                      <a:endParaRPr lang="fr-FR" altLang="en-US" sz="2400">
                        <a:latin typeface="Arial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1800" b="1" u="sng">
                          <a:solidFill>
                            <a:srgbClr val="0000FF"/>
                          </a:solidFill>
                          <a:latin typeface="Arial"/>
                        </a:rPr>
                        <a:t>En consortium avec ACASUS avec le financement de la FG: </a:t>
                      </a:r>
                      <a:r>
                        <a:rPr lang="fr-FR" altLang="en-US" sz="1800" b="0" u="none">
                          <a:solidFill>
                            <a:srgbClr val="FF0000"/>
                          </a:solidFill>
                          <a:latin typeface="Arial"/>
                        </a:rPr>
                        <a:t>Appui technique et financier à l’organisation de 3 passages des IPVS dans 2 Pools: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sz="1800" b="1" u="none">
                          <a:solidFill>
                            <a:schemeClr val="tx1"/>
                          </a:solidFill>
                          <a:latin typeface="Arial"/>
                        </a:rPr>
                        <a:t>Sud-Est</a:t>
                      </a:r>
                      <a:r>
                        <a:rPr lang="fr-FR" altLang="en-US" sz="1800" b="0" u="none">
                          <a:solidFill>
                            <a:schemeClr val="tx1"/>
                          </a:solidFill>
                          <a:latin typeface="Arial"/>
                        </a:rPr>
                        <a:t> (Localités avec beaucoup d’EZD et ESV) : Haut-Katanga; Haut-Lomami et Tanganyika.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sz="1800" b="1" u="none">
                          <a:solidFill>
                            <a:schemeClr val="tx1"/>
                          </a:solidFill>
                          <a:latin typeface="Arial"/>
                        </a:rPr>
                        <a:t>Nord-Ouest (Localités d’accès difficiles):</a:t>
                      </a:r>
                      <a:r>
                        <a:rPr lang="fr-FR" altLang="en-US" sz="1800" b="0" u="none">
                          <a:solidFill>
                            <a:schemeClr val="tx1"/>
                          </a:solidFill>
                          <a:latin typeface="Arial"/>
                        </a:rPr>
                        <a:t> Maindombe; </a:t>
                      </a:r>
                      <a:r>
                        <a:rPr lang="fr-FR" altLang="en-US" sz="1800" b="0" u="none" kern="120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Mongala et Tshopo.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FR" altLang="en-US" sz="2000">
                        <a:solidFill>
                          <a:srgbClr val="FF0000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Google Shape;99;p2">
            <a:extLst>
              <a:ext uri="{FF2B5EF4-FFF2-40B4-BE49-F238E27FC236}">
                <a16:creationId xmlns:a16="http://schemas.microsoft.com/office/drawing/2014/main" id="{85B2D6D3-BC36-2F77-95A4-40F22FFE7B5F}"/>
              </a:ext>
            </a:extLst>
          </p:cNvPr>
          <p:cNvSpPr/>
          <p:nvPr/>
        </p:nvSpPr>
        <p:spPr>
          <a:xfrm>
            <a:off x="7876514" y="2651761"/>
            <a:ext cx="3887700" cy="176783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175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Identification de </a:t>
            </a:r>
            <a:r>
              <a:rPr kumimoji="0" 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56,157</a:t>
            </a: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EZD et </a:t>
            </a:r>
            <a:r>
              <a:rPr kumimoji="0" 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13,6945</a:t>
            </a: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ESV</a:t>
            </a: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  <a:tabLst/>
              <a:defRPr/>
            </a:pPr>
            <a:r>
              <a:rPr kumimoji="0" lang="en-US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Rattrapage</a:t>
            </a: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kumimoji="0" 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90,353</a:t>
            </a: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EZD et </a:t>
            </a:r>
            <a:r>
              <a:rPr kumimoji="0" 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188,891 </a:t>
            </a: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ESV</a:t>
            </a: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  <a:tabLst/>
              <a:defRPr/>
            </a:pPr>
            <a:r>
              <a:rPr kumimoji="0" 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81%</a:t>
            </a: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des </a:t>
            </a:r>
            <a:r>
              <a:rPr kumimoji="0" lang="en-US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localités</a:t>
            </a: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kumimoji="0" lang="en-US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visitées</a:t>
            </a: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% de </a:t>
            </a:r>
            <a:r>
              <a:rPr kumimoji="0" lang="en-US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refus</a:t>
            </a: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à la vaccination </a:t>
            </a:r>
            <a:r>
              <a:rPr kumimoji="0" lang="en-US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brisé</a:t>
            </a: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35B6C5D8-C45C-727B-B5C5-74CD2E584CE9}"/>
              </a:ext>
            </a:extLst>
          </p:cNvPr>
          <p:cNvSpPr/>
          <p:nvPr/>
        </p:nvSpPr>
        <p:spPr>
          <a:xfrm>
            <a:off x="7876514" y="4666950"/>
            <a:ext cx="4010320" cy="196192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175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Identification de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25,339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EZD et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47,852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ESV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Rattrapage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36,762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EZD et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18,905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ESV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70% des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localités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visitées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Xx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% de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refus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à la vaccination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brisé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7c5302bb6_0_2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g3a7c5302bb6_0_2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 b="0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g3a7c5302bb6_0_2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Google Shape;110;g3a7c5302bb6_0_2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:</a:t>
            </a:r>
            <a:endParaRPr sz="1200" b="1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a7c5302bb6_0_22"/>
          <p:cNvSpPr txBox="1"/>
          <p:nvPr/>
        </p:nvSpPr>
        <p:spPr>
          <a:xfrm>
            <a:off x="389475" y="168124"/>
            <a:ext cx="11497500" cy="885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7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Synthèse des résultats partiels des IPVS 2025 dans le deux pool Nord et Sud Est</a:t>
            </a:r>
            <a:endParaRPr sz="270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a7c5302bb6_0_22"/>
          <p:cNvSpPr/>
          <p:nvPr/>
        </p:nvSpPr>
        <p:spPr>
          <a:xfrm>
            <a:off x="0" y="195751"/>
            <a:ext cx="235500" cy="7317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3" name="Google Shape;113;g3a7c5302bb6_0_22"/>
          <p:cNvGraphicFramePr/>
          <p:nvPr>
            <p:extLst>
              <p:ext uri="{D42A27DB-BD31-4B8C-83A1-F6EECF244321}">
                <p14:modId xmlns:p14="http://schemas.microsoft.com/office/powerpoint/2010/main" val="332859678"/>
              </p:ext>
            </p:extLst>
          </p:nvPr>
        </p:nvGraphicFramePr>
        <p:xfrm>
          <a:off x="352342" y="1125334"/>
          <a:ext cx="3517800" cy="26146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700">
                <a:tc gridSpan="3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HAUT-KATANGA : 3 Pass</a:t>
                      </a:r>
                      <a:endParaRPr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674E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372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Identification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ZD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9,342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3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20,141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372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Rattrapage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ZD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22,750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3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46,646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4" name="Google Shape;114;g3a7c5302bb6_0_22"/>
          <p:cNvGraphicFramePr/>
          <p:nvPr>
            <p:extLst>
              <p:ext uri="{D42A27DB-BD31-4B8C-83A1-F6EECF244321}">
                <p14:modId xmlns:p14="http://schemas.microsoft.com/office/powerpoint/2010/main" val="4132367899"/>
              </p:ext>
            </p:extLst>
          </p:nvPr>
        </p:nvGraphicFramePr>
        <p:xfrm>
          <a:off x="4300817" y="1125333"/>
          <a:ext cx="3517800" cy="255818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35">
                <a:tc gridSpan="3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HAUT-LOMAMI : 3 Pass</a:t>
                      </a:r>
                      <a:endParaRPr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74E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063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Identification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ZD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26,622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06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65,959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063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Rattrapage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ZD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46,750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06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104,881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5" name="Google Shape;115;g3a7c5302bb6_0_22"/>
          <p:cNvGraphicFramePr/>
          <p:nvPr>
            <p:extLst>
              <p:ext uri="{D42A27DB-BD31-4B8C-83A1-F6EECF244321}">
                <p14:modId xmlns:p14="http://schemas.microsoft.com/office/powerpoint/2010/main" val="700596830"/>
              </p:ext>
            </p:extLst>
          </p:nvPr>
        </p:nvGraphicFramePr>
        <p:xfrm>
          <a:off x="8249292" y="1125333"/>
          <a:ext cx="3517800" cy="2542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246">
                <a:tc gridSpan="3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TANGANYIKA : 3 Pass</a:t>
                      </a:r>
                      <a:endParaRPr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74E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66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Identification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ZD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20,193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6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50,845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66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Rattrapage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ZD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20,853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06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37,364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6" name="Google Shape;116;g3a7c5302bb6_0_22"/>
          <p:cNvGraphicFramePr/>
          <p:nvPr>
            <p:extLst>
              <p:ext uri="{D42A27DB-BD31-4B8C-83A1-F6EECF244321}">
                <p14:modId xmlns:p14="http://schemas.microsoft.com/office/powerpoint/2010/main" val="1345996106"/>
              </p:ext>
            </p:extLst>
          </p:nvPr>
        </p:nvGraphicFramePr>
        <p:xfrm>
          <a:off x="352342" y="3683521"/>
          <a:ext cx="3517800" cy="26763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9737">
                <a:tc gridSpan="3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MAINDOMBE : 2 Pass</a:t>
                      </a:r>
                      <a:endParaRPr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125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652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Identification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ZD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3,524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7,858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652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Rattrapage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ZD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6,647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1,527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7" name="Google Shape;117;g3a7c5302bb6_0_22"/>
          <p:cNvGraphicFramePr/>
          <p:nvPr>
            <p:extLst>
              <p:ext uri="{D42A27DB-BD31-4B8C-83A1-F6EECF244321}">
                <p14:modId xmlns:p14="http://schemas.microsoft.com/office/powerpoint/2010/main" val="2079477587"/>
              </p:ext>
            </p:extLst>
          </p:nvPr>
        </p:nvGraphicFramePr>
        <p:xfrm>
          <a:off x="4300817" y="3683521"/>
          <a:ext cx="3517800" cy="26763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9736">
                <a:tc gridSpan="3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MONGALA : 3 Pass</a:t>
                      </a:r>
                      <a:endParaRPr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651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Identification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ZD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12,475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65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18,754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651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Rattrapage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ZD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18,754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65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12,629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8" name="Google Shape;118;g3a7c5302bb6_0_22"/>
          <p:cNvGraphicFramePr/>
          <p:nvPr>
            <p:extLst>
              <p:ext uri="{D42A27DB-BD31-4B8C-83A1-F6EECF244321}">
                <p14:modId xmlns:p14="http://schemas.microsoft.com/office/powerpoint/2010/main" val="457685282"/>
              </p:ext>
            </p:extLst>
          </p:nvPr>
        </p:nvGraphicFramePr>
        <p:xfrm>
          <a:off x="8249292" y="3683520"/>
          <a:ext cx="3517800" cy="26722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784">
                <a:tc gridSpan="3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TSHOPO : 2 Pass </a:t>
                      </a:r>
                      <a:r>
                        <a:rPr lang="en-US" sz="11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(6ZS)3 Pass (2ZS)</a:t>
                      </a:r>
                      <a:endParaRPr sz="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878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Identification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ZD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9,339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7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21,240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78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Rattrapage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ZD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11,361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7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Enfants SV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4,749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DB6A1201-472F-B4A8-88EF-EB52BB174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d3d1b2d_0_290">
            <a:extLst>
              <a:ext uri="{FF2B5EF4-FFF2-40B4-BE49-F238E27FC236}">
                <a16:creationId xmlns:a16="http://schemas.microsoft.com/office/drawing/2014/main" id="{1A4A3C5A-B55A-0F80-B006-D82314D84135}"/>
              </a:ext>
            </a:extLst>
          </p:cNvPr>
          <p:cNvSpPr txBox="1"/>
          <p:nvPr/>
        </p:nvSpPr>
        <p:spPr>
          <a:xfrm>
            <a:off x="270669" y="261902"/>
            <a:ext cx="11768631" cy="520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400" b="1" i="0" u="none" strike="noStrike" cap="none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Réalisations</a:t>
            </a:r>
            <a:r>
              <a:rPr lang="en-US" sz="2400" b="1" i="0" u="none" strike="noStrike" cap="none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majeures de </a:t>
            </a:r>
            <a:r>
              <a:rPr lang="en-US" sz="2400" b="1" i="0" u="none" strike="noStrike" cap="none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l’année</a:t>
            </a:r>
            <a:r>
              <a:rPr lang="fr-FR" altLang="en-US" sz="2400" b="1" i="0" u="none" strike="noStrike" cap="none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en lien avec les activités planifiées dans le PAO du PEV</a:t>
            </a:r>
            <a:endParaRPr sz="24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4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d3d1b2d_0_290">
            <a:extLst>
              <a:ext uri="{FF2B5EF4-FFF2-40B4-BE49-F238E27FC236}">
                <a16:creationId xmlns:a16="http://schemas.microsoft.com/office/drawing/2014/main" id="{AEBDC22C-B9E3-6B2E-6BE4-AC3991FA5B9B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d3d1b2d_0_290">
            <a:extLst>
              <a:ext uri="{FF2B5EF4-FFF2-40B4-BE49-F238E27FC236}">
                <a16:creationId xmlns:a16="http://schemas.microsoft.com/office/drawing/2014/main" id="{F5314C5A-1E1F-C30B-AE60-C668543DF2D5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d3d1b2d_0_290">
            <a:extLst>
              <a:ext uri="{FF2B5EF4-FFF2-40B4-BE49-F238E27FC236}">
                <a16:creationId xmlns:a16="http://schemas.microsoft.com/office/drawing/2014/main" id="{E194F99E-62E7-0138-83E9-EC8EEB94E421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d3d1b2d_0_290">
            <a:extLst>
              <a:ext uri="{FF2B5EF4-FFF2-40B4-BE49-F238E27FC236}">
                <a16:creationId xmlns:a16="http://schemas.microsoft.com/office/drawing/2014/main" id="{6C427B03-87C9-ACA5-4A66-6ABB9E35F633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FDA19A7A-2CD9-8A83-A107-E963B22E4E66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6126302"/>
              </p:ext>
            </p:extLst>
          </p:nvPr>
        </p:nvGraphicFramePr>
        <p:xfrm>
          <a:off x="0" y="785446"/>
          <a:ext cx="12191989" cy="6336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2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9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>
                          <a:latin typeface="Arial"/>
                        </a:rPr>
                        <a:t>Activités prévues dans le PAO du PEV en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>
                          <a:latin typeface="Arial"/>
                        </a:rPr>
                        <a:t>Niveau de réalisation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800">
                          <a:latin typeface="Arial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800">
                          <a:latin typeface="Arial"/>
                        </a:rPr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68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altLang="en-US" sz="1800" b="1">
                          <a:latin typeface="Arial"/>
                        </a:rPr>
                        <a:t>19. Organiser la campagne de rattrapage contre la rougeole et la Rubéole dans 7 provinces du Bloc 1 (</a:t>
                      </a:r>
                      <a:r>
                        <a:rPr lang="fr-FR" altLang="en-US" sz="1800" b="0">
                          <a:latin typeface="Arial"/>
                        </a:rPr>
                        <a:t>Haut Katanga, Haut </a:t>
                      </a:r>
                      <a:r>
                        <a:rPr lang="fr-FR" altLang="en-US" sz="1800" b="0" err="1">
                          <a:latin typeface="Arial"/>
                        </a:rPr>
                        <a:t>Lomami</a:t>
                      </a:r>
                      <a:r>
                        <a:rPr lang="fr-FR" altLang="en-US" sz="1800" b="0">
                          <a:latin typeface="Arial"/>
                        </a:rPr>
                        <a:t>, Lualaba, Tanganyika, Bas Uélé, Haut Uélé, Ituri</a:t>
                      </a:r>
                      <a:r>
                        <a:rPr lang="fr-FR" altLang="en-US" sz="1800" b="1">
                          <a:latin typeface="Arial"/>
                        </a:rPr>
                        <a:t>) : </a:t>
                      </a:r>
                    </a:p>
                    <a:p>
                      <a:pPr lvl="0" algn="l">
                        <a:buNone/>
                      </a:pPr>
                      <a:r>
                        <a:rPr lang="fr-FR" altLang="en-US" sz="1800" b="1">
                          <a:solidFill>
                            <a:srgbClr val="FF0000"/>
                          </a:solidFill>
                          <a:latin typeface="Arial"/>
                        </a:rPr>
                        <a:t>19.2 </a:t>
                      </a:r>
                      <a:r>
                        <a:rPr lang="fr-FR" altLang="en-US" sz="1800" b="1">
                          <a:latin typeface="Arial"/>
                        </a:rPr>
                        <a:t>Appuyer techniquement les </a:t>
                      </a:r>
                      <a:r>
                        <a:rPr lang="fr-FR" altLang="en-US" sz="1800" b="1" u="sng">
                          <a:solidFill>
                            <a:srgbClr val="0000FF"/>
                          </a:solidFill>
                          <a:latin typeface="Arial"/>
                        </a:rPr>
                        <a:t>supervisions prospectives</a:t>
                      </a:r>
                      <a:r>
                        <a:rPr lang="fr-FR" altLang="en-US" sz="1800" b="1">
                          <a:latin typeface="Arial"/>
                        </a:rPr>
                        <a:t>; </a:t>
                      </a:r>
                      <a:r>
                        <a:rPr lang="fr-FR" altLang="en-US" sz="1800" b="1" kern="120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19.3</a:t>
                      </a:r>
                      <a:r>
                        <a:rPr lang="fr-FR" altLang="en-US" sz="1800" b="1" kern="120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  Apporter un </a:t>
                      </a:r>
                      <a:r>
                        <a:rPr lang="fr-FR" altLang="en-US" sz="1800" b="1" u="sng" kern="1200">
                          <a:solidFill>
                            <a:srgbClr val="0000FF"/>
                          </a:solidFill>
                          <a:latin typeface="Arial"/>
                          <a:ea typeface="+mn-ea"/>
                          <a:cs typeface="+mn-cs"/>
                        </a:rPr>
                        <a:t>appui technique</a:t>
                      </a:r>
                      <a:r>
                        <a:rPr lang="fr-FR" altLang="en-US" sz="1800" b="1" kern="120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 et financier </a:t>
                      </a:r>
                      <a:endParaRPr lang="fr-FR" altLang="en-US" sz="1800" b="1"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altLang="en-US" sz="2000" b="1">
                          <a:latin typeface="Arial"/>
                        </a:rPr>
                        <a:t>100%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>
                          <a:latin typeface="Arial"/>
                        </a:rPr>
                        <a:t>Mettre à la disposition du PEV </a:t>
                      </a:r>
                      <a:r>
                        <a:rPr lang="fr-FR" altLang="en-US" b="1" u="sng">
                          <a:solidFill>
                            <a:srgbClr val="0000FF"/>
                          </a:solidFill>
                          <a:latin typeface="Arial"/>
                        </a:rPr>
                        <a:t>28 consultants et 1 Coordonnateur National dans le cadre de l’Assistance technique en plus des autres staffs VR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>
                          <a:latin typeface="Arial"/>
                        </a:rPr>
                        <a:t>Appui managérial, technique, logistique et communicationnel à la conduite d'une campagne de rattrapage de haute qualité: Supervisions prospectives RR, en équipe avec les membres des ECZS &amp; ECP dans les ZS et des AS; Supervisions pendant la campagne RR et </a:t>
                      </a:r>
                      <a:r>
                        <a:rPr lang="fr-FR" altLang="en-US" u="sng" dirty="0">
                          <a:solidFill>
                            <a:srgbClr val="0000FF"/>
                          </a:solidFill>
                          <a:latin typeface="Arial"/>
                        </a:rPr>
                        <a:t>Supervisons post-introduction en cours</a:t>
                      </a:r>
                      <a:endParaRPr lang="en-US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u="none" dirty="0">
                          <a:solidFill>
                            <a:schemeClr val="tx1"/>
                          </a:solidFill>
                          <a:latin typeface="Arial"/>
                        </a:rPr>
                        <a:t>Conduite d'un remplacement, </a:t>
                      </a:r>
                      <a:r>
                        <a:rPr lang="fr-FR" altLang="en-US" b="1" u="none" dirty="0">
                          <a:solidFill>
                            <a:schemeClr val="tx1"/>
                          </a:solidFill>
                          <a:latin typeface="Arial"/>
                        </a:rPr>
                        <a:t>Switch VAR - RR </a:t>
                      </a:r>
                      <a:r>
                        <a:rPr lang="fr-FR" altLang="en-US" u="none" dirty="0">
                          <a:solidFill>
                            <a:schemeClr val="tx1"/>
                          </a:solidFill>
                          <a:latin typeface="Arial"/>
                        </a:rPr>
                        <a:t>adéquat et efficient dans les Provinces du Bloc1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u="none" dirty="0">
                          <a:solidFill>
                            <a:schemeClr val="tx1"/>
                          </a:solidFill>
                          <a:latin typeface="Arial"/>
                        </a:rPr>
                        <a:t>Disponibilité, </a:t>
                      </a:r>
                      <a:r>
                        <a:rPr lang="fr-FR" altLang="en-US" b="1" u="none" dirty="0">
                          <a:solidFill>
                            <a:schemeClr val="tx1"/>
                          </a:solidFill>
                          <a:latin typeface="Arial"/>
                        </a:rPr>
                        <a:t>utilisation &amp; acceptation  communautaire </a:t>
                      </a:r>
                      <a:r>
                        <a:rPr lang="fr-FR" altLang="en-US" u="none" dirty="0">
                          <a:solidFill>
                            <a:schemeClr val="tx1"/>
                          </a:solidFill>
                          <a:latin typeface="Arial"/>
                        </a:rPr>
                        <a:t>optimales du nouveau vaccin RR dans les AS du Bloc1.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>
                          <a:latin typeface="Arial"/>
                        </a:rPr>
                        <a:t>Objectifs de Couverture atteint dans les 2/4 provinces (HL et TAN) appuyées par l’AT VR (100%), les 2 autres ont connu des retards du lancement suite aux litiges de paiement des acteurs des campagnes de masses précédentes.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>
                          <a:latin typeface="Arial"/>
                        </a:rPr>
                        <a:t>Livrables de la campagne partagés (pré, Pendant et Post-Campagne):  </a:t>
                      </a:r>
                      <a:r>
                        <a:rPr lang="fr-FR" altLang="en-US" dirty="0">
                          <a:solidFill>
                            <a:srgbClr val="FF0000"/>
                          </a:solidFill>
                          <a:latin typeface="Arial"/>
                        </a:rPr>
                        <a:t>(Voir Dia Suivante sur la supervision ODK)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332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52B7F8-AD8A-9434-7BB7-8C1F28CD9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9" y="0"/>
            <a:ext cx="11822908" cy="2187349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65B939-336A-38D3-05B0-474D8FB59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49286"/>
            <a:ext cx="12192000" cy="2171812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A42B0A-ADE1-5099-B792-ED112F685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21098"/>
            <a:ext cx="11537156" cy="215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65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d3d1b2d_0_290"/>
          <p:cNvSpPr txBox="1"/>
          <p:nvPr/>
        </p:nvSpPr>
        <p:spPr>
          <a:xfrm>
            <a:off x="199310" y="64182"/>
            <a:ext cx="11992690" cy="65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altLang="en-US" sz="28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Réalisations majeures de l’année en lien avec les activités planifiées dans le PAO du PEV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8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d3d1b2d_0_2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d3d1b2d_0_2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d3d1b2d_0_2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d3d1b2d_0_2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3015307"/>
              </p:ext>
            </p:extLst>
          </p:nvPr>
        </p:nvGraphicFramePr>
        <p:xfrm>
          <a:off x="103610" y="683790"/>
          <a:ext cx="12088390" cy="6174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4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7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dirty="0"/>
                        <a:t>Activité  prévue dans le PAO du PEV en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dirty="0"/>
                        <a:t>Niveau de réalisation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80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8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6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altLang="en-US" b="1" dirty="0"/>
                        <a:t>17. Organiser les ripostes à tout cas de poliovirus , Rougeole, FJ, TNN,MVE et autres épidémies (Choléra, MPOX,….)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Réalisé</a:t>
                      </a:r>
                    </a:p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altLang="en-US" dirty="0"/>
                        <a:t>* Décaissement rapide pour 3 </a:t>
                      </a:r>
                      <a:r>
                        <a:rPr lang="fr-FR" altLang="en-US" dirty="0" err="1"/>
                        <a:t>rispostes</a:t>
                      </a:r>
                      <a:r>
                        <a:rPr lang="fr-FR" altLang="en-US" dirty="0"/>
                        <a:t> rapide contre les cas confirmé de: </a:t>
                      </a:r>
                      <a:r>
                        <a:rPr lang="fr-FR" altLang="en-US" sz="1800" b="1" u="sng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Mwanda</a:t>
                      </a:r>
                      <a:r>
                        <a:rPr lang="fr-FR" altLang="en-US" sz="1800" b="1" u="sng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altLang="en-US" dirty="0"/>
                        <a:t>(KC); </a:t>
                      </a:r>
                      <a:r>
                        <a:rPr lang="fr-FR" altLang="en-US" b="1" u="sng" dirty="0" err="1">
                          <a:solidFill>
                            <a:srgbClr val="FF0000"/>
                          </a:solidFill>
                        </a:rPr>
                        <a:t>Lotumbe</a:t>
                      </a:r>
                      <a:r>
                        <a:rPr lang="fr-FR" altLang="en-US" dirty="0"/>
                        <a:t> (Equateur), </a:t>
                      </a:r>
                      <a:r>
                        <a:rPr lang="fr-FR" altLang="en-US" sz="1800" b="1" u="sng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Samba &amp; Kabambare </a:t>
                      </a:r>
                      <a:r>
                        <a:rPr lang="fr-FR" altLang="en-US" dirty="0"/>
                        <a:t>(Maniema)</a:t>
                      </a:r>
                    </a:p>
                    <a:p>
                      <a:pPr algn="just">
                        <a:buNone/>
                      </a:pPr>
                      <a:r>
                        <a:rPr lang="fr-FR" altLang="en-US" dirty="0"/>
                        <a:t>* Formation des cadres des Antennes PEV et des DPS de 26 provinces sur le SOP de gestion des fonds d’urgence (Allocation et justification).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/>
                        <a:t>Réalisation de ces 3 ripostes dans le respect du délai de 14 jours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/>
                        <a:t>Tous les fonds de ces ripostes rapides justifiés endéans 1 mois après la riposte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/>
                        <a:t>Couverture vaccinale nVPO2 </a:t>
                      </a:r>
                      <a:r>
                        <a:rPr lang="en-US" altLang="en-US" dirty="0"/>
                        <a:t>&gt;</a:t>
                      </a:r>
                      <a:r>
                        <a:rPr lang="fr-FR" altLang="en-US" dirty="0"/>
                        <a:t>100% pour toutes les ZS ciblées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/>
                        <a:t>Aucune ZS rejetées par les enquêtes LQAS.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8">
                <a:tc>
                  <a:txBody>
                    <a:bodyPr/>
                    <a:lstStyle/>
                    <a:p>
                      <a:pPr marL="0" algn="just" rtl="0" eaLnBrk="1" latinLnBrk="0" hangingPunct="1">
                        <a:buNone/>
                      </a:pPr>
                      <a:r>
                        <a:rPr lang="fr-FR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13. </a:t>
                      </a:r>
                      <a:r>
                        <a:rPr lang="fr-FR" altLang="en-US" sz="1800" b="1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Renforcer la visibilité des données logistiques à tous les niveaux de la CA  en temps réel: </a:t>
                      </a:r>
                      <a:r>
                        <a:rPr lang="fr-FR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13.3 Assurer la mise en </a:t>
                      </a:r>
                      <a:r>
                        <a:rPr lang="fr-FR" altLang="en-US" sz="1800" b="1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oeuvre</a:t>
                      </a:r>
                      <a:r>
                        <a:rPr lang="fr-FR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du projet </a:t>
                      </a:r>
                      <a:r>
                        <a:rPr lang="fr-FR" altLang="en-US" sz="1800" b="1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eLMIS</a:t>
                      </a:r>
                      <a:endParaRPr lang="fr-FR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buNone/>
                      </a:pPr>
                      <a:endParaRPr lang="fr-FR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Réalisé</a:t>
                      </a:r>
                      <a:endParaRPr lang="fr-FR" dirty="0"/>
                    </a:p>
                    <a:p>
                      <a:pPr>
                        <a:buNone/>
                      </a:pPr>
                      <a:endParaRPr lang="fr-FR" altLang="en-US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Renforcement des capacités des cadres du PEV et autres partenaires sur l’Initiative de renforcement collaboratif des activités de PPA / </a:t>
                      </a:r>
                      <a:r>
                        <a:rPr lang="fr-FR" alt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Forecast</a:t>
                      </a:r>
                      <a:r>
                        <a:rPr lang="fr-F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(Fin Unicef).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altLang="en-US" sz="1800" dirty="0"/>
                        <a:t>Co organisation de l’atelier de </a:t>
                      </a:r>
                      <a:r>
                        <a:rPr lang="fr-FR" altLang="en-US" sz="1800" dirty="0" err="1"/>
                        <a:t>Forcast</a:t>
                      </a:r>
                      <a:r>
                        <a:rPr lang="fr-FR" altLang="en-US" sz="1800" dirty="0"/>
                        <a:t>  2026 avec UNICEF </a:t>
                      </a:r>
                      <a:r>
                        <a:rPr lang="fr-F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    Avril et Septembre 2025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altLang="en-US" dirty="0"/>
                        <a:t>Quantification des besoins en vaccins et intrant  </a:t>
                      </a:r>
                      <a:r>
                        <a:rPr lang="fr-FR" altLang="en-US" dirty="0">
                          <a:solidFill>
                            <a:srgbClr val="FF0000"/>
                          </a:solidFill>
                        </a:rPr>
                        <a:t>chiffrée</a:t>
                      </a:r>
                      <a:r>
                        <a:rPr lang="fr-FR" altLang="en-US" dirty="0"/>
                        <a:t> pour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 commission logistique est proactive sur les activités des PPA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altLang="en-US" dirty="0"/>
                        <a:t>Plan d’approvisionnement revu et mis à jour pour 2026 après chaque atelier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1D576A-8F2F-1689-BC40-4768D773F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543"/>
            <a:ext cx="12192000" cy="501104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500"/>
            </a:pPr>
            <a:r>
              <a:rPr lang="fr-FR" sz="28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Réalisations majeures de l’année</a:t>
            </a:r>
            <a:r>
              <a:rPr lang="fr-FR" altLang="en-US" sz="28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en lien avec les activités planifiées dans le PAO du PEV</a:t>
            </a:r>
            <a:endParaRPr lang="fr-FR" sz="28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19A666A6-E6F5-8A0B-5C93-7066B6337A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388217"/>
              </p:ext>
            </p:extLst>
          </p:nvPr>
        </p:nvGraphicFramePr>
        <p:xfrm>
          <a:off x="87442" y="774490"/>
          <a:ext cx="12009499" cy="5845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923">
                  <a:extLst>
                    <a:ext uri="{9D8B030D-6E8A-4147-A177-3AD203B41FA5}">
                      <a16:colId xmlns:a16="http://schemas.microsoft.com/office/drawing/2014/main" val="4011529173"/>
                    </a:ext>
                  </a:extLst>
                </a:gridCol>
                <a:gridCol w="1597680">
                  <a:extLst>
                    <a:ext uri="{9D8B030D-6E8A-4147-A177-3AD203B41FA5}">
                      <a16:colId xmlns:a16="http://schemas.microsoft.com/office/drawing/2014/main" val="2690008650"/>
                    </a:ext>
                  </a:extLst>
                </a:gridCol>
                <a:gridCol w="2259346">
                  <a:extLst>
                    <a:ext uri="{9D8B030D-6E8A-4147-A177-3AD203B41FA5}">
                      <a16:colId xmlns:a16="http://schemas.microsoft.com/office/drawing/2014/main" val="3442217660"/>
                    </a:ext>
                  </a:extLst>
                </a:gridCol>
                <a:gridCol w="6409550">
                  <a:extLst>
                    <a:ext uri="{9D8B030D-6E8A-4147-A177-3AD203B41FA5}">
                      <a16:colId xmlns:a16="http://schemas.microsoft.com/office/drawing/2014/main" val="1646748833"/>
                    </a:ext>
                  </a:extLst>
                </a:gridCol>
              </a:tblGrid>
              <a:tr h="94286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/>
                        <a:t>Activité  prévue dans le </a:t>
                      </a:r>
                      <a:r>
                        <a:rPr lang="fr-FR" altLang="en-US" dirty="0"/>
                        <a:t>PAO du PEV en 2025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sz="2400" dirty="0"/>
                        <a:t>Niveau de réalisation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sz="2400" dirty="0"/>
                        <a:t>Input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sz="2400" dirty="0"/>
                        <a:t>Output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324695"/>
                  </a:ext>
                </a:extLst>
              </a:tr>
              <a:tr h="4902900">
                <a:tc>
                  <a:txBody>
                    <a:bodyPr/>
                    <a:lstStyle/>
                    <a:p>
                      <a:r>
                        <a:rPr lang="fr-FR"/>
                        <a:t>Appuyer la réalisation des distributions des vaccins jusqu'au dernier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 err="1"/>
                        <a:t>Realisé</a:t>
                      </a:r>
                      <a:endParaRPr lang="fr-FR" sz="28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dirty="0"/>
                        <a:t>*</a:t>
                      </a:r>
                      <a:r>
                        <a:rPr lang="fr-FR" b="1" dirty="0"/>
                        <a:t>Renforcement du leadership des antennes et ZS </a:t>
                      </a:r>
                      <a:r>
                        <a:rPr lang="fr-FR" dirty="0"/>
                        <a:t>dans la gestion des approvisionnements et des stocks des vaccins </a:t>
                      </a:r>
                    </a:p>
                    <a:p>
                      <a:pPr lvl="0" algn="just">
                        <a:buNone/>
                      </a:pPr>
                      <a:r>
                        <a:rPr lang="fr-FR" dirty="0"/>
                        <a:t>*Meilleurs </a:t>
                      </a:r>
                      <a:r>
                        <a:rPr lang="fr-FR" b="1" dirty="0"/>
                        <a:t>suivis des flux logistiques</a:t>
                      </a:r>
                      <a:r>
                        <a:rPr lang="fr-FR" dirty="0"/>
                        <a:t>(stocks approvisionnés, consommés) pour améliorer les prévisions et mieux réaliser des ajustements dans les cas échéants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/>
                        <a:buChar char="•"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Sous - commissions logistiques provinciales progressivement robustes, 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resiliente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 et 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integrant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l'utilisation 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regulière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des données logistiques pour prise de décision prompte sur la chaine d'approvisionnement</a:t>
                      </a:r>
                      <a:endParaRPr lang="fr-FR" dirty="0"/>
                    </a:p>
                    <a:p>
                      <a:pPr marL="285750" lvl="0" indent="-285750" algn="just">
                        <a:buFont typeface="Arial"/>
                        <a:buChar char="•"/>
                      </a:pPr>
                      <a:r>
                        <a:rPr lang="fr-FR" b="1" dirty="0"/>
                        <a:t>Supervisions  formatives conjointes </a:t>
                      </a:r>
                      <a:r>
                        <a:rPr lang="fr-FR" dirty="0"/>
                        <a:t>avec les antennes  sur le Tas axées sur la gestion efficace des vaccins et la maitrise du système de contrôle d'inventaire Max-Min</a:t>
                      </a:r>
                    </a:p>
                    <a:p>
                      <a:pPr marL="285750" lvl="0" indent="-285750" algn="just">
                        <a:buFont typeface="Arial"/>
                        <a:buChar char="•"/>
                      </a:pPr>
                      <a:endParaRPr lang="fr-FR" dirty="0"/>
                    </a:p>
                    <a:p>
                      <a:pPr marL="285750" lvl="0" indent="-285750" algn="just">
                        <a:buFont typeface="Arial"/>
                        <a:buChar char="•"/>
                      </a:pPr>
                      <a:r>
                        <a:rPr lang="fr-FR" dirty="0"/>
                        <a:t>95% des ESS n'ont pas declaré de rupture en Penta et 88% en VAR dans les Provinces appuyées</a:t>
                      </a:r>
                    </a:p>
                    <a:p>
                      <a:pPr marL="285750" lvl="0" indent="-285750" algn="just">
                        <a:buFont typeface="Arial"/>
                        <a:buChar char="•"/>
                      </a:pPr>
                      <a:r>
                        <a:rPr lang="fr-FR" dirty="0"/>
                        <a:t>Augmentation significative des livraisons réalisées </a:t>
                      </a:r>
                      <a:r>
                        <a:rPr lang="fr-FR" b="1" dirty="0">
                          <a:solidFill>
                            <a:srgbClr val="FF0000"/>
                          </a:solidFill>
                        </a:rPr>
                        <a:t>On Time In Full (S</a:t>
                      </a:r>
                      <a:r>
                        <a:rPr lang="fr-FR" dirty="0"/>
                        <a:t>uivi en temps réel des approvisionnements des vaccins par l'utilisation d'une application mobile "Livraison au premier </a:t>
                      </a:r>
                      <a:r>
                        <a:rPr lang="fr-FR" dirty="0" err="1"/>
                        <a:t>Km"par</a:t>
                      </a:r>
                      <a:r>
                        <a:rPr lang="fr-FR" dirty="0"/>
                        <a:t> les Antennes &amp; ZS(Lualaba, Haut Lomami, Tanganyika, </a:t>
                      </a:r>
                      <a:r>
                        <a:rPr lang="fr-FR" dirty="0" err="1"/>
                        <a:t>Tshopo</a:t>
                      </a:r>
                      <a:r>
                        <a:rPr lang="fr-FR" dirty="0"/>
                        <a:t> et Maniema)</a:t>
                      </a:r>
                    </a:p>
                    <a:p>
                      <a:pPr marL="285750" lvl="0" indent="-285750" algn="just">
                        <a:buFont typeface="Arial"/>
                        <a:buChar char="•"/>
                      </a:pPr>
                      <a:r>
                        <a:rPr lang="fr-FR" dirty="0"/>
                        <a:t>Autres </a:t>
                      </a:r>
                      <a:r>
                        <a:rPr lang="fr-FR" b="1" dirty="0"/>
                        <a:t>KPI de la CA généralement au vert </a:t>
                      </a:r>
                      <a:r>
                        <a:rPr lang="fr-FR" dirty="0"/>
                        <a:t>dans les provinces appuyées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904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963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A2ED3-E3ED-A364-3DAC-DCCE37CFD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090E7B-51C5-F166-AC8D-FD7366B0B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192" y="108543"/>
            <a:ext cx="10515600" cy="501104"/>
          </a:xfrm>
        </p:spPr>
        <p:txBody>
          <a:bodyPr/>
          <a:lstStyle/>
          <a:p>
            <a:r>
              <a:rPr lang="fr-FR" sz="2700" b="0">
                <a:solidFill>
                  <a:srgbClr val="1155CC"/>
                </a:solidFill>
                <a:latin typeface="Times New Roman"/>
                <a:cs typeface="Times New Roman"/>
              </a:rPr>
              <a:t>Autres r</a:t>
            </a:r>
            <a:r>
              <a:rPr lang="en-US" sz="2700" b="0">
                <a:solidFill>
                  <a:srgbClr val="1155CC"/>
                </a:solidFill>
                <a:latin typeface="Times New Roman"/>
                <a:cs typeface="Times New Roman"/>
              </a:rPr>
              <a:t>éalisations majeures </a:t>
            </a:r>
            <a:r>
              <a:rPr lang="fr-FR" sz="2700" b="0">
                <a:solidFill>
                  <a:srgbClr val="1155CC"/>
                </a:solidFill>
                <a:latin typeface="Times New Roman"/>
                <a:cs typeface="Times New Roman"/>
              </a:rPr>
              <a:t>non planifiées dans le PAO du PEV</a:t>
            </a:r>
            <a:endParaRPr lang="fr-FR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3FD4C4E9-84A8-4E71-A9C5-A1B154E68A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3148528"/>
              </p:ext>
            </p:extLst>
          </p:nvPr>
        </p:nvGraphicFramePr>
        <p:xfrm>
          <a:off x="112426" y="824458"/>
          <a:ext cx="11961328" cy="5550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0332">
                  <a:extLst>
                    <a:ext uri="{9D8B030D-6E8A-4147-A177-3AD203B41FA5}">
                      <a16:colId xmlns:a16="http://schemas.microsoft.com/office/drawing/2014/main" val="4011529173"/>
                    </a:ext>
                  </a:extLst>
                </a:gridCol>
                <a:gridCol w="2990332">
                  <a:extLst>
                    <a:ext uri="{9D8B030D-6E8A-4147-A177-3AD203B41FA5}">
                      <a16:colId xmlns:a16="http://schemas.microsoft.com/office/drawing/2014/main" val="2690008650"/>
                    </a:ext>
                  </a:extLst>
                </a:gridCol>
                <a:gridCol w="2990332">
                  <a:extLst>
                    <a:ext uri="{9D8B030D-6E8A-4147-A177-3AD203B41FA5}">
                      <a16:colId xmlns:a16="http://schemas.microsoft.com/office/drawing/2014/main" val="3442217660"/>
                    </a:ext>
                  </a:extLst>
                </a:gridCol>
                <a:gridCol w="2990332">
                  <a:extLst>
                    <a:ext uri="{9D8B030D-6E8A-4147-A177-3AD203B41FA5}">
                      <a16:colId xmlns:a16="http://schemas.microsoft.com/office/drawing/2014/main" val="1646748833"/>
                    </a:ext>
                  </a:extLst>
                </a:gridCol>
              </a:tblGrid>
              <a:tr h="11157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dirty="0"/>
                        <a:t>Activité non prévue dans le PAO du PEV en 2025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sz="2400" dirty="0"/>
                        <a:t>Niveau de réalisation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sz="2400" dirty="0"/>
                        <a:t>Input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sz="2400" dirty="0"/>
                        <a:t>Output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324695"/>
                  </a:ext>
                </a:extLst>
              </a:tr>
              <a:tr h="44352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dirty="0">
                          <a:solidFill>
                            <a:srgbClr val="0000FF"/>
                          </a:solidFill>
                        </a:rPr>
                        <a:t>Elaboration Plan de transition 2026-2027, SNV 2025-2030 et Evaluation Conjointe Subvention GAVI en RDC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fr-FR" altLang="en-US" sz="28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fr-FR" alt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  <a:endParaRPr lang="fr-FR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>
                          <a:solidFill>
                            <a:srgbClr val="0000FF"/>
                          </a:solidFill>
                        </a:rPr>
                        <a:t>Participer aux travaux de groupes et à l’atelier sur l’élaboration du Plan de transition </a:t>
                      </a:r>
                      <a:r>
                        <a:rPr lang="fr-FR" altLang="en-US" err="1">
                          <a:solidFill>
                            <a:srgbClr val="0000FF"/>
                          </a:solidFill>
                        </a:rPr>
                        <a:t>Gavi</a:t>
                      </a:r>
                      <a:r>
                        <a:rPr lang="fr-FR" altLang="en-US" dirty="0">
                          <a:solidFill>
                            <a:srgbClr val="0000FF"/>
                          </a:solidFill>
                        </a:rPr>
                        <a:t> 6.0 et la SNV </a:t>
                      </a:r>
                      <a:endParaRPr lang="fr-FR"/>
                    </a:p>
                    <a:p>
                      <a:pPr marL="2857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>
                          <a:solidFill>
                            <a:srgbClr val="0000FF"/>
                          </a:solidFill>
                        </a:rPr>
                        <a:t>Participer aux travaux de groupes et à l’atelier sur l’évaluation Conjointe de la Subvention </a:t>
                      </a:r>
                      <a:r>
                        <a:rPr lang="fr-FR" altLang="en-US" err="1">
                          <a:solidFill>
                            <a:srgbClr val="0000FF"/>
                          </a:solidFill>
                        </a:rPr>
                        <a:t>Gavi</a:t>
                      </a:r>
                      <a:r>
                        <a:rPr lang="fr-FR" altLang="en-US" dirty="0">
                          <a:solidFill>
                            <a:srgbClr val="0000FF"/>
                          </a:solidFill>
                        </a:rPr>
                        <a:t> en RDC.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>
                          <a:solidFill>
                            <a:srgbClr val="0000FF"/>
                          </a:solidFill>
                        </a:rPr>
                        <a:t>Plan de transition GAVI 6.0 validé et SNV en cours de finalisation</a:t>
                      </a:r>
                      <a:endParaRPr lang="fr-FR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>
                          <a:solidFill>
                            <a:srgbClr val="0000FF"/>
                          </a:solidFill>
                        </a:rPr>
                        <a:t>Evaluation conjointe de la Subvention GAVI 6.0 réalisée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775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978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04586809-8873-FDE8-74DE-3D0E6A2A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d3d1b2d_0_290">
            <a:extLst>
              <a:ext uri="{FF2B5EF4-FFF2-40B4-BE49-F238E27FC236}">
                <a16:creationId xmlns:a16="http://schemas.microsoft.com/office/drawing/2014/main" id="{828C7C27-C75A-BA65-07B1-0B7870ED200A}"/>
              </a:ext>
            </a:extLst>
          </p:cNvPr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altLang="en-US" sz="27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Autres r</a:t>
            </a:r>
            <a:r>
              <a:rPr lang="en-US" sz="27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éalisations majeures </a:t>
            </a:r>
            <a:r>
              <a:rPr lang="fr-FR" altLang="en-US" sz="27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non planifiées dans le PAO du PEV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d3d1b2d_0_290">
            <a:extLst>
              <a:ext uri="{FF2B5EF4-FFF2-40B4-BE49-F238E27FC236}">
                <a16:creationId xmlns:a16="http://schemas.microsoft.com/office/drawing/2014/main" id="{8B6FF08C-25F1-AC54-6406-764EBEC1BCC4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d3d1b2d_0_290">
            <a:extLst>
              <a:ext uri="{FF2B5EF4-FFF2-40B4-BE49-F238E27FC236}">
                <a16:creationId xmlns:a16="http://schemas.microsoft.com/office/drawing/2014/main" id="{804FF7C3-3C28-B834-8C25-A66DD09828D5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d3d1b2d_0_290">
            <a:extLst>
              <a:ext uri="{FF2B5EF4-FFF2-40B4-BE49-F238E27FC236}">
                <a16:creationId xmlns:a16="http://schemas.microsoft.com/office/drawing/2014/main" id="{EEB0A0F5-A3A8-9F9C-99F2-1B992DD85D13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d3d1b2d_0_290">
            <a:extLst>
              <a:ext uri="{FF2B5EF4-FFF2-40B4-BE49-F238E27FC236}">
                <a16:creationId xmlns:a16="http://schemas.microsoft.com/office/drawing/2014/main" id="{30806E81-A9F1-4C0A-F878-83319279D721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0B4D0201-CA98-79DE-CE04-4B462121CEA1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3343838"/>
              </p:ext>
            </p:extLst>
          </p:nvPr>
        </p:nvGraphicFramePr>
        <p:xfrm>
          <a:off x="107156" y="857249"/>
          <a:ext cx="12005097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5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1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9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dirty="0"/>
                        <a:t>Activité non prévue dans le PAO du PEV en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400" dirty="0"/>
                        <a:t>Niveau de réalisation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40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sz="24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fr-FR" altLang="en-US" sz="2000" b="1" dirty="0">
                          <a:solidFill>
                            <a:schemeClr val="tx1"/>
                          </a:solidFill>
                        </a:rPr>
                        <a:t>Conception/redynamisation des circuits de transport des échantillons </a:t>
                      </a: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&amp; formation des prestataires et transporteurs en biosécurité et bio sureté</a:t>
                      </a:r>
                    </a:p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*Atelier </a:t>
                      </a:r>
                      <a:r>
                        <a:rPr lang="fr-FR" sz="2000" b="1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d'élaboration du manuel des procédures opérationnelles standard intégrée pour le transport des échantillons</a:t>
                      </a:r>
                    </a:p>
                    <a:p>
                      <a:pPr lvl="0" algn="just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*</a:t>
                      </a:r>
                      <a:r>
                        <a:rPr lang="fr-FR" sz="1800" b="0" i="0" u="none" strike="noStrike" noProof="0" dirty="0">
                          <a:solidFill>
                            <a:schemeClr val="tx1"/>
                          </a:solidFill>
                        </a:rPr>
                        <a:t>Mise en place d'un </a:t>
                      </a:r>
                      <a:r>
                        <a:rPr lang="fr-FR" sz="2000" b="1" i="0" u="none" strike="noStrike" noProof="0" dirty="0">
                          <a:solidFill>
                            <a:schemeClr val="tx1"/>
                          </a:solidFill>
                        </a:rPr>
                        <a:t>système de suivi du transport des échantillons de polio - numérisé avec Tec4med </a:t>
                      </a:r>
                      <a:r>
                        <a:rPr lang="fr-FR" sz="1800" b="0" i="0" u="none" strike="noStrike" noProof="0" dirty="0">
                          <a:solidFill>
                            <a:schemeClr val="tx1"/>
                          </a:solidFill>
                        </a:rPr>
                        <a:t>(Haut Lomami)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fr-FR" alt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Réalisée</a:t>
                      </a:r>
                      <a:endParaRPr lang="fr-FR" sz="2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b="1" dirty="0">
                          <a:solidFill>
                            <a:srgbClr val="FF0000"/>
                          </a:solidFill>
                        </a:rPr>
                        <a:t>Création du hub à Lubumbashi </a:t>
                      </a: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&amp; points focaux dans les points de transit pour la réception et l'expédition des échantillons</a:t>
                      </a:r>
                    </a:p>
                    <a:p>
                      <a:pPr marL="285750" lvl="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 mise en place des </a:t>
                      </a:r>
                      <a:r>
                        <a:rPr lang="fr-FR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Réseaux des transporteurs/Motocyclistes gérés par les ONG locales </a:t>
                      </a: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titre des Gestionnaires des transporteurs</a:t>
                      </a:r>
                    </a:p>
                    <a:p>
                      <a:pPr marL="285750" lvl="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Diversification des transporteurs aériens agrées </a:t>
                      </a:r>
                    </a:p>
                    <a:p>
                      <a:pPr marL="285750" lvl="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fr-FR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Coordination de suivi de la mise </a:t>
                      </a: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œuvre par le COUP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Circuits de transport des échantillons optimisés dans 11 provinces.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Suivi hebdomadaire &amp; actions fondées sur les données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Extension de PLST (Polio </a:t>
                      </a:r>
                      <a:r>
                        <a:rPr lang="fr-FR" altLang="en-US" dirty="0" err="1">
                          <a:solidFill>
                            <a:schemeClr val="tx1"/>
                          </a:solidFill>
                        </a:rPr>
                        <a:t>Lab</a:t>
                      </a: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altLang="en-US" dirty="0" err="1">
                          <a:solidFill>
                            <a:schemeClr val="tx1"/>
                          </a:solidFill>
                        </a:rPr>
                        <a:t>Sample</a:t>
                      </a: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 Transport) pour inclure Fièvre jaune, Mpox, Cholera, Fièvre hémorragique virale &amp; Rougeole)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Extension géographique du programme de transport des échantillons dans 3 nouvelles provinces (Kasaï, </a:t>
                      </a:r>
                      <a:r>
                        <a:rPr lang="fr-FR" altLang="en-US" dirty="0" err="1">
                          <a:solidFill>
                            <a:schemeClr val="tx1"/>
                          </a:solidFill>
                        </a:rPr>
                        <a:t>Maindombe</a:t>
                      </a: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 &amp; </a:t>
                      </a:r>
                      <a:r>
                        <a:rPr lang="fr-FR" altLang="en-US" dirty="0" err="1">
                          <a:solidFill>
                            <a:schemeClr val="tx1"/>
                          </a:solidFill>
                        </a:rPr>
                        <a:t>Mongala</a:t>
                      </a: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FR" altLang="en-US" dirty="0" err="1">
                          <a:solidFill>
                            <a:schemeClr val="tx1"/>
                          </a:solidFill>
                        </a:rPr>
                        <a:t>Maindombe</a:t>
                      </a: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en-US" dirty="0">
                          <a:solidFill>
                            <a:schemeClr val="tx1"/>
                          </a:solidFill>
                        </a:rPr>
                        <a:t>Manuel de procédures opérationnelles standard intégrée pour le transport des échantillons.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3646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d3d1b2d_0_290"/>
          <p:cNvSpPr txBox="1"/>
          <p:nvPr/>
        </p:nvSpPr>
        <p:spPr>
          <a:xfrm>
            <a:off x="383700" y="115404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0" i="0" u="none" strike="noStrike" cap="none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Redevabilités</a:t>
            </a:r>
            <a:r>
              <a:rPr lang="en-US" sz="27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b="0" i="0" u="none" strike="noStrike" cap="none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</a:t>
            </a:r>
            <a:r>
              <a:rPr lang="fr-FR" altLang="en-US" sz="27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</a:t>
            </a:r>
            <a:r>
              <a:rPr lang="en-US" sz="2700" b="0" i="0" u="none" strike="noStrike" cap="none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cières</a:t>
            </a:r>
            <a:r>
              <a:rPr lang="en-US" sz="27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Voir FINANCE TEAM/DIRECTION TEAM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d3d1b2d_0_2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d3d1b2d_0_2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d3d1b2d_0_2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d3d1b2d_0_2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6319130"/>
              </p:ext>
            </p:extLst>
          </p:nvPr>
        </p:nvGraphicFramePr>
        <p:xfrm>
          <a:off x="181429" y="858761"/>
          <a:ext cx="11818460" cy="5666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3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3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36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3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Activités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Budget Prévu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Budget décaissé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Taux de décaissement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Source de financement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IPVS (Haut </a:t>
                      </a: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Arial"/>
                        </a:rPr>
                        <a:t>Lomami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, Haut Katanga, Tanganyika)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dirty="0"/>
                        <a:t>2,300,000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Calibri"/>
                        </a:rPr>
                        <a:t>503,999.09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Gates </a:t>
                      </a:r>
                      <a:r>
                        <a:rPr lang="fr-FR" altLang="en-US" err="1"/>
                        <a:t>Foundation</a:t>
                      </a:r>
                      <a:endParaRPr lang="fr-FR" alt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IPVS (</a:t>
                      </a: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Arial"/>
                        </a:rPr>
                        <a:t>Tshopo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Arial"/>
                        </a:rPr>
                        <a:t>Maindombe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Arial"/>
                        </a:rPr>
                        <a:t>Mongala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dirty="0"/>
                        <a:t>3,200,000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Calibri"/>
                        </a:rPr>
                        <a:t>2,864,076.88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Gates </a:t>
                      </a:r>
                      <a:r>
                        <a:rPr lang="fr-FR" altLang="en-US" err="1"/>
                        <a:t>Foundation</a:t>
                      </a:r>
                      <a:endParaRPr lang="fr-FR" alt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 Riposte Rapide Polio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dirty="0"/>
                        <a:t>3,700,000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Calibri"/>
                        </a:rPr>
                        <a:t>1246312.55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Gates </a:t>
                      </a:r>
                      <a:r>
                        <a:rPr lang="fr-FR" altLang="en-US" err="1"/>
                        <a:t>Foundation</a:t>
                      </a:r>
                      <a:endParaRPr lang="fr-FR" alt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ICSPS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dirty="0"/>
                        <a:t>496,025.02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Calibri"/>
                        </a:rPr>
                        <a:t>254,808.74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JSI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err="1">
                          <a:latin typeface="Arial"/>
                        </a:rPr>
                        <a:t>eLMIS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 dirty="0"/>
                        <a:t>647,341.83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Unicef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chemeClr val="dk1"/>
                          </a:solidFill>
                          <a:latin typeface="Arial"/>
                        </a:rPr>
                        <a:t>Transport intégré des échantillons (Polio, Mpox, Fièvre jaune, Cholera, Rougeole, FHV)(Projet </a:t>
                      </a:r>
                      <a:r>
                        <a:rPr lang="fr-FR" sz="1800" b="0" i="0" u="none" strike="noStrike" noProof="0" dirty="0" err="1">
                          <a:solidFill>
                            <a:schemeClr val="dk1"/>
                          </a:solidFill>
                          <a:latin typeface="Arial"/>
                        </a:rPr>
                        <a:t>multipays</a:t>
                      </a:r>
                      <a:r>
                        <a:rPr lang="fr-FR" sz="1800" b="0" i="0" u="none" strike="noStrike" noProof="0" dirty="0">
                          <a:solidFill>
                            <a:schemeClr val="dk1"/>
                          </a:solidFill>
                          <a:latin typeface="Arial"/>
                        </a:rPr>
                        <a:t>)</a:t>
                      </a:r>
                      <a:endParaRPr lang="fr-FR" sz="1800" b="0" i="0" u="none" strike="noStrike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7D66D815-3CEF-9A3B-397A-E81819A04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d3d1b2d_0_290">
            <a:extLst>
              <a:ext uri="{FF2B5EF4-FFF2-40B4-BE49-F238E27FC236}">
                <a16:creationId xmlns:a16="http://schemas.microsoft.com/office/drawing/2014/main" id="{00750EBA-3274-5A9B-C5F9-C6DDC46168DE}"/>
              </a:ext>
            </a:extLst>
          </p:cNvPr>
          <p:cNvSpPr txBox="1"/>
          <p:nvPr/>
        </p:nvSpPr>
        <p:spPr>
          <a:xfrm>
            <a:off x="383700" y="115404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0" i="0" u="none" strike="noStrike" cap="none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Redevabilités</a:t>
            </a:r>
            <a:r>
              <a:rPr lang="en-US" sz="27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b="0" i="0" u="none" strike="noStrike" cap="none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</a:t>
            </a:r>
            <a:r>
              <a:rPr lang="fr-FR" altLang="en-US" sz="27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</a:t>
            </a:r>
            <a:r>
              <a:rPr lang="en-US" sz="2700" b="0" i="0" u="none" strike="noStrike" cap="none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cières</a:t>
            </a:r>
            <a:r>
              <a:rPr lang="en-US" sz="27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Voir FINANCE TEAM/DIRECTION TEAM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d3d1b2d_0_290">
            <a:extLst>
              <a:ext uri="{FF2B5EF4-FFF2-40B4-BE49-F238E27FC236}">
                <a16:creationId xmlns:a16="http://schemas.microsoft.com/office/drawing/2014/main" id="{6B6E2D1B-AEBA-F3D4-7692-9A8D4BAD30E7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d3d1b2d_0_290">
            <a:extLst>
              <a:ext uri="{FF2B5EF4-FFF2-40B4-BE49-F238E27FC236}">
                <a16:creationId xmlns:a16="http://schemas.microsoft.com/office/drawing/2014/main" id="{B1C664DB-0A15-5A73-EF73-A34077301A3A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d3d1b2d_0_290">
            <a:extLst>
              <a:ext uri="{FF2B5EF4-FFF2-40B4-BE49-F238E27FC236}">
                <a16:creationId xmlns:a16="http://schemas.microsoft.com/office/drawing/2014/main" id="{56ED460F-595B-93F4-81D4-0C24F1D052A2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d3d1b2d_0_290">
            <a:extLst>
              <a:ext uri="{FF2B5EF4-FFF2-40B4-BE49-F238E27FC236}">
                <a16:creationId xmlns:a16="http://schemas.microsoft.com/office/drawing/2014/main" id="{5454F230-9122-52C8-FC38-8110318A037F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19A68F7E-6E76-51CE-91CD-3721B38EFD97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1325598"/>
              </p:ext>
            </p:extLst>
          </p:nvPr>
        </p:nvGraphicFramePr>
        <p:xfrm>
          <a:off x="181429" y="858761"/>
          <a:ext cx="11818460" cy="4843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3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3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36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3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Activités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Budget Prévu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Budget décaissé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Taux de décaissement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Source de financement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</a:rPr>
                        <a:t>NGCA/Appui coordination provinciale (</a:t>
                      </a: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</a:rPr>
                        <a:t>Tshopo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</a:rPr>
                        <a:t> et Haut Katanga)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dirty="0"/>
                        <a:t>3,211,588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Calibri"/>
                        </a:rPr>
                        <a:t>2,117,061.94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Gates </a:t>
                      </a:r>
                      <a:r>
                        <a:rPr lang="fr-FR" altLang="en-US" err="1"/>
                        <a:t>Foundation</a:t>
                      </a:r>
                      <a:endParaRPr lang="fr-FR" alt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</a:rPr>
                        <a:t>NGCA Kasai,Kasai 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</a:rPr>
                        <a:t>Oriental, Maniema,Tshopo, </a:t>
                      </a:r>
                      <a:endParaRPr lang="fr-FR" sz="1800" b="0" i="0" u="none" strike="noStrike" noProof="0" err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dirty="0"/>
                        <a:t>2,680,568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Calibri"/>
                        </a:rPr>
                        <a:t>820,201.82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/>
                        <a:t>Gavi_Unicef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</a:rPr>
                        <a:t>NGCA Mongala,Tshuapa, Kasai, Kasai Oriental</a:t>
                      </a:r>
                      <a:endParaRPr lang="fr-FR" alt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dirty="0"/>
                        <a:t>388,620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 sz="1800" b="0" i="0" u="none" strike="noStrike" noProof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GAVI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</a:rPr>
                        <a:t>NGCA Kwilu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altLang="en-US" dirty="0"/>
                        <a:t>78,878.71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Calibri"/>
                        </a:rPr>
                        <a:t>61093.51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altLang="en-US"/>
                        <a:t>Pfizer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800" b="0" i="0" u="none" strike="noStrike" noProof="0">
                        <a:solidFill>
                          <a:schemeClr val="dk1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41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513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d3d1b2d_0_290"/>
          <p:cNvSpPr txBox="1"/>
          <p:nvPr/>
        </p:nvSpPr>
        <p:spPr>
          <a:xfrm>
            <a:off x="458550" y="115997"/>
            <a:ext cx="11274900" cy="54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Valeur ajoutée - Innovations - Bonnes pratiques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d3d1b2d_0_2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d3d1b2d_0_2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d3d1b2d_0_2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d3d1b2d_0_2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g3aabd3d1b2d_0_290"/>
          <p:cNvSpPr/>
          <p:nvPr/>
        </p:nvSpPr>
        <p:spPr>
          <a:xfrm>
            <a:off x="117313" y="636905"/>
            <a:ext cx="11970156" cy="6040738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en-US" sz="2000" b="1">
                <a:latin typeface="Times New Roman"/>
                <a:ea typeface="Calibri"/>
                <a:cs typeface="Calibri"/>
                <a:sym typeface="+mn-ea"/>
              </a:rPr>
              <a:t>La valeur ajoutée de l’intervention de </a:t>
            </a:r>
            <a:r>
              <a:rPr lang="fr-FR" altLang="en-US" sz="2000" b="1" err="1">
                <a:latin typeface="Times New Roman"/>
                <a:ea typeface="Calibri"/>
                <a:cs typeface="Calibri"/>
                <a:sym typeface="+mn-ea"/>
              </a:rPr>
              <a:t>Villagereach</a:t>
            </a:r>
            <a:r>
              <a:rPr lang="fr-FR" altLang="en-US" sz="2000" b="1" dirty="0">
                <a:latin typeface="Times New Roman"/>
                <a:ea typeface="Calibri"/>
                <a:cs typeface="Calibri"/>
                <a:sym typeface="+mn-ea"/>
              </a:rPr>
              <a:t> </a:t>
            </a:r>
            <a:r>
              <a:rPr lang="fr-FR" altLang="en-US" sz="2000">
                <a:latin typeface="Times New Roman"/>
                <a:ea typeface="Calibri"/>
                <a:cs typeface="Calibri"/>
                <a:sym typeface="+mn-ea"/>
              </a:rPr>
              <a:t>dans son accompagnement à matérialiser les innovations dans la vaccination en terme de: </a:t>
            </a:r>
            <a:r>
              <a:rPr lang="fr-FR" altLang="en-US" sz="2000" b="1">
                <a:latin typeface="Times New Roman"/>
                <a:ea typeface="Calibri"/>
                <a:cs typeface="Calibri"/>
                <a:sym typeface="+mn-ea"/>
              </a:rPr>
              <a:t>(i) </a:t>
            </a:r>
            <a:r>
              <a:rPr lang="fr-FR" altLang="en-US" sz="2000" b="1" u="sng">
                <a:latin typeface="Times New Roman"/>
                <a:ea typeface="Calibri"/>
                <a:cs typeface="Calibri"/>
                <a:sym typeface="+mn-ea"/>
              </a:rPr>
              <a:t>Approches de vaccination innovantes</a:t>
            </a:r>
            <a:r>
              <a:rPr lang="fr-FR" altLang="en-US" sz="2000">
                <a:latin typeface="Times New Roman"/>
                <a:ea typeface="Calibri"/>
                <a:cs typeface="Calibri"/>
                <a:sym typeface="+mn-ea"/>
              </a:rPr>
              <a:t>: IPVS, vaccination en stratégie spéciale ; </a:t>
            </a:r>
            <a:r>
              <a:rPr lang="fr-FR" altLang="en-US" sz="2000" b="1">
                <a:latin typeface="Times New Roman"/>
                <a:ea typeface="Calibri"/>
                <a:cs typeface="Calibri"/>
                <a:sym typeface="+mn-ea"/>
              </a:rPr>
              <a:t>(ii) NGCA: reforcement du leadership des antennes et ZS dans l'optimisation de  la gestion des approvisionnements et des stocks des vaccins permettant une disponibilité permanente de ces derniers </a:t>
            </a:r>
            <a:r>
              <a:rPr lang="fr-FR" altLang="en-US" sz="2000">
                <a:latin typeface="Times New Roman"/>
                <a:ea typeface="Calibri"/>
                <a:cs typeface="Calibri"/>
                <a:sym typeface="+mn-ea"/>
              </a:rPr>
              <a:t>; </a:t>
            </a:r>
            <a:r>
              <a:rPr lang="fr-FR" altLang="en-US" sz="2000" b="1">
                <a:latin typeface="Times New Roman"/>
                <a:ea typeface="Calibri"/>
                <a:cs typeface="Calibri"/>
                <a:sym typeface="+mn-ea"/>
              </a:rPr>
              <a:t>(iii) </a:t>
            </a:r>
            <a:r>
              <a:rPr lang="fr-FR" altLang="en-US" sz="2000" b="1" u="sng">
                <a:latin typeface="Times New Roman"/>
                <a:ea typeface="Calibri"/>
                <a:cs typeface="Calibri"/>
                <a:sym typeface="+mn-ea"/>
              </a:rPr>
              <a:t>Utilisation des équipements de pointe </a:t>
            </a:r>
            <a:r>
              <a:rPr lang="fr-FR" altLang="en-US" sz="2000">
                <a:latin typeface="Times New Roman"/>
                <a:ea typeface="Calibri"/>
                <a:cs typeface="Calibri"/>
                <a:sym typeface="+mn-ea"/>
              </a:rPr>
              <a:t>pour la CF et la distribution des vaccins et le transports </a:t>
            </a:r>
            <a:r>
              <a:rPr lang="fr-FR" altLang="en-US" sz="2000" err="1">
                <a:latin typeface="Times New Roman"/>
                <a:ea typeface="Calibri"/>
                <a:cs typeface="Calibri"/>
                <a:sym typeface="+mn-ea"/>
              </a:rPr>
              <a:t>integré</a:t>
            </a:r>
            <a:r>
              <a:rPr lang="fr-FR" altLang="en-US" sz="2000">
                <a:latin typeface="Times New Roman"/>
                <a:ea typeface="Calibri"/>
                <a:cs typeface="Calibri"/>
                <a:sym typeface="+mn-ea"/>
              </a:rPr>
              <a:t> des échantillons/Unité de transfusion: DRONE; Indigo; </a:t>
            </a:r>
            <a:r>
              <a:rPr lang="fr-FR" altLang="en-US" sz="2000" b="1">
                <a:latin typeface="Times New Roman"/>
                <a:ea typeface="Calibri"/>
                <a:cs typeface="Calibri"/>
                <a:sym typeface="+mn-ea"/>
              </a:rPr>
              <a:t>(iv) </a:t>
            </a:r>
            <a:r>
              <a:rPr lang="fr-FR" altLang="en-US" sz="2000" b="1" u="sng">
                <a:latin typeface="Times New Roman"/>
                <a:ea typeface="Calibri"/>
                <a:cs typeface="Calibri"/>
                <a:sym typeface="+mn-ea"/>
              </a:rPr>
              <a:t>Accompagnement de proximité au niveau des Antennes PEV et des Zones de Santé (Assistance technique) </a:t>
            </a:r>
            <a:r>
              <a:rPr lang="fr-FR" altLang="en-US" sz="2000">
                <a:latin typeface="Times New Roman"/>
                <a:ea typeface="Calibri"/>
                <a:cs typeface="Calibri"/>
                <a:sym typeface="+mn-ea"/>
              </a:rPr>
              <a:t>permet d’améliorer sensiblement les performances des antennes appuyées et la qualité des activités (Routine et AVS); </a:t>
            </a:r>
            <a:r>
              <a:rPr lang="fr-FR" altLang="en-US" sz="2000" b="1">
                <a:latin typeface="Times New Roman"/>
                <a:ea typeface="Calibri"/>
                <a:cs typeface="Calibri"/>
                <a:sym typeface="+mn-ea"/>
              </a:rPr>
              <a:t>(v) </a:t>
            </a:r>
            <a:r>
              <a:rPr lang="fr-FR" altLang="en-US" sz="2000">
                <a:latin typeface="Times New Roman"/>
                <a:ea typeface="Calibri"/>
                <a:cs typeface="Calibri"/>
                <a:sym typeface="+mn-ea"/>
              </a:rPr>
              <a:t>Introduction des </a:t>
            </a:r>
            <a:r>
              <a:rPr lang="fr-FR" altLang="en-US" sz="2000" b="1" u="sng">
                <a:latin typeface="Times New Roman"/>
                <a:ea typeface="Calibri"/>
                <a:cs typeface="Calibri"/>
                <a:sym typeface="+mn-ea"/>
              </a:rPr>
              <a:t>revues trimestrielles  du  forecast  </a:t>
            </a:r>
            <a:r>
              <a:rPr lang="fr-FR" altLang="en-US" sz="2000">
                <a:latin typeface="Times New Roman"/>
                <a:ea typeface="Calibri"/>
                <a:cs typeface="Calibri"/>
                <a:sym typeface="+mn-ea"/>
              </a:rPr>
              <a:t>dans les habitudes  opérationnelles  de la division Logistique; </a:t>
            </a:r>
            <a:r>
              <a:rPr lang="fr-FR" altLang="en-US" sz="2000" b="1">
                <a:latin typeface="Times New Roman"/>
                <a:ea typeface="Calibri"/>
                <a:cs typeface="Calibri"/>
                <a:sym typeface="+mn-ea"/>
              </a:rPr>
              <a:t>(vi) </a:t>
            </a:r>
            <a:r>
              <a:rPr lang="fr-FR" altLang="en-US" sz="2000">
                <a:latin typeface="Times New Roman"/>
                <a:ea typeface="Calibri"/>
                <a:cs typeface="Calibri"/>
                <a:sym typeface="+mn-ea"/>
              </a:rPr>
              <a:t>Le  Renforcement des capacités des cadres de la  division Logistique  sur les PPA à travers le Sommet technique  ICSPS; </a:t>
            </a:r>
            <a:r>
              <a:rPr lang="fr-FR" altLang="en-US" sz="2000" b="1">
                <a:latin typeface="Times New Roman"/>
                <a:ea typeface="Calibri"/>
                <a:cs typeface="Calibri"/>
                <a:sym typeface="+mn-ea"/>
              </a:rPr>
              <a:t>(vii) </a:t>
            </a:r>
            <a:r>
              <a:rPr lang="fr-FR" altLang="en-US" sz="2000">
                <a:latin typeface="Times New Roman"/>
                <a:ea typeface="Calibri"/>
                <a:cs typeface="Calibri"/>
                <a:sym typeface="+mn-ea"/>
              </a:rPr>
              <a:t>Appui  dans l’introduction de l’approche des méthodes  combinées dans l’élaboration du </a:t>
            </a:r>
            <a:r>
              <a:rPr lang="fr-FR" altLang="en-US" sz="2000" dirty="0">
                <a:latin typeface="Times New Roman"/>
                <a:ea typeface="Calibri"/>
                <a:cs typeface="Calibri"/>
                <a:sym typeface="+mn-ea"/>
              </a:rPr>
              <a:t>forecast.</a:t>
            </a:r>
            <a:endParaRPr lang="fr-FR" altLang="en-US" sz="2000" dirty="0">
              <a:latin typeface="Times New Roman"/>
              <a:ea typeface="Calibri"/>
              <a:cs typeface="Calibri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Technique </a:t>
            </a:r>
            <a:r>
              <a:rPr lang="en-US" altLang="en-US" sz="2000" b="1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Managériale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: la transparence dans la gestion des fonds et la simplification des procedures de gestion en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vue</a:t>
            </a:r>
            <a:r>
              <a:rPr lang="en-US" altLang="en-US" sz="2000" dirty="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de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favoriser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le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décaissement</a:t>
            </a:r>
            <a:r>
              <a:rPr lang="en-US" altLang="en-US" sz="2000" dirty="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rapide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des fonds,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ce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qui a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permi</a:t>
            </a:r>
            <a:r>
              <a:rPr lang="en-US" altLang="en-US" sz="2000" dirty="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d’avoir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100% de respect de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delai</a:t>
            </a:r>
            <a:r>
              <a:rPr lang="en-US" altLang="en-US" sz="2000" dirty="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des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réponses</a:t>
            </a:r>
            <a:r>
              <a:rPr lang="en-US" altLang="en-US" sz="2000" dirty="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Rapide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aux epidemies de Polio dans le pays en 2025.</a:t>
            </a:r>
            <a:endParaRPr lang="en-US" altLang="en-US" sz="2000" dirty="0">
              <a:latin typeface="Times New Roman"/>
              <a:ea typeface="Times New Roman" panose="02020603050405020304"/>
              <a:cs typeface="Calibri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Exécution</a:t>
            </a:r>
            <a:r>
              <a:rPr lang="en-US" altLang="en-US" sz="2000" b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financière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: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moins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de 5% des fonds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alloués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pour 2025 sera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remonté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en 2026 suite à un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chevauchement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des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activités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au 4e trimester 2025</a:t>
            </a:r>
            <a:endParaRPr lang="en-US" altLang="en-US" sz="2000" dirty="0">
              <a:latin typeface="Times New Roman"/>
              <a:ea typeface="Times New Roman" panose="02020603050405020304"/>
              <a:cs typeface="Calibri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Bonne pratique reproductible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: Les supervisions en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Binome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; la vaccination en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stratégie</a:t>
            </a:r>
            <a:r>
              <a:rPr lang="en-US" altLang="en-US" sz="2000" dirty="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spéciale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et dans les ZS </a:t>
            </a:r>
            <a:r>
              <a:rPr lang="en-US" altLang="en-US" sz="2000" err="1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d’accès</a:t>
            </a:r>
            <a:r>
              <a:rPr lang="en-US" altLang="en-US" sz="2000" dirty="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 </a:t>
            </a:r>
            <a:r>
              <a:rPr lang="en-US" altLang="en-US" sz="2000">
                <a:latin typeface="Times New Roman"/>
                <a:ea typeface="Times New Roman" panose="02020603050405020304"/>
                <a:cs typeface="Calibri"/>
                <a:sym typeface="Times New Roman" panose="02020603050405020304"/>
              </a:rPr>
              <a:t>difficile.</a:t>
            </a:r>
            <a:endParaRPr lang="en-US" altLang="en-US" sz="2000">
              <a:latin typeface="Times New Roman"/>
              <a:ea typeface="Times New Roman" panose="02020603050405020304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d3d1b2d_0_29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0" i="0" u="none" strike="noStrike" cap="none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rencontrés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d3d1b2d_0_2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d3d1b2d_0_2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d3d1b2d_0_2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d3d1b2d_0_2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g3aabd3d1b2d_0_290"/>
          <p:cNvSpPr/>
          <p:nvPr/>
        </p:nvSpPr>
        <p:spPr>
          <a:xfrm>
            <a:off x="267700" y="822961"/>
            <a:ext cx="11640300" cy="5589329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400" b="1" u="sng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Logistiques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technologiques et opérationnel avec l'utilisation des D4H, retards dans le decaissement des fonds pour les distribution des vaccins par la CAGF dans certaines provinces,</a:t>
            </a:r>
            <a:endParaRPr lang="en-US" alt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u="sng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Securitaires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compromises dans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certaines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provinces (TNGK,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Tshopo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etc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…)</a:t>
            </a:r>
            <a:endParaRPr lang="en-US" alt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u="sng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Appui</a:t>
            </a:r>
            <a:r>
              <a:rPr lang="en-US" altLang="en-US" sz="2400" b="1" u="sng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aux Zones de Santé </a:t>
            </a:r>
            <a:r>
              <a:rPr lang="en-US" altLang="en-US" sz="2400" b="1" u="sng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difficiles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identification et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atteintes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cibles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faible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couverture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reseau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telephonique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internet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ce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qui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limittait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 promptitude et la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complétude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face au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delai</a:t>
            </a:r>
            <a:endParaRPr lang="en-US" altLang="en-US" sz="24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u="sng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Financières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la justification des fonds dans le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delai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requis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au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moins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15-30%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d’échecs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paiement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par MM (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recours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au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paiement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manuel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par les PF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ce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qui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contraste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avec les directives du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gouvernement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des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bailleurs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).</a:t>
            </a:r>
            <a:endParaRPr lang="en-US" alt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u="sng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Capacités</a:t>
            </a:r>
            <a:r>
              <a:rPr lang="en-US" altLang="en-US" sz="2400" b="1" u="sng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locales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faible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rapportage des données dans le DHIS 2 (IPVS),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rareté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competences locales dans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certaines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Zones de Santé (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Recours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à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d’autres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ZS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voires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d’autres</a:t>
            </a: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provinces).</a:t>
            </a:r>
            <a:endParaRPr lang="en-US" alt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FB09E447-293F-3B91-B150-FEAB0F4F4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d3d1b2d_0_290">
            <a:extLst>
              <a:ext uri="{FF2B5EF4-FFF2-40B4-BE49-F238E27FC236}">
                <a16:creationId xmlns:a16="http://schemas.microsoft.com/office/drawing/2014/main" id="{B8838A00-882B-3786-C763-153A85E4077E}"/>
              </a:ext>
            </a:extLst>
          </p:cNvPr>
          <p:cNvSpPr txBox="1"/>
          <p:nvPr/>
        </p:nvSpPr>
        <p:spPr>
          <a:xfrm>
            <a:off x="407500" y="163474"/>
            <a:ext cx="11274900" cy="65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6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Priorités et engagements pour 2026</a:t>
            </a:r>
            <a:endParaRPr sz="36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d3d1b2d_0_290">
            <a:extLst>
              <a:ext uri="{FF2B5EF4-FFF2-40B4-BE49-F238E27FC236}">
                <a16:creationId xmlns:a16="http://schemas.microsoft.com/office/drawing/2014/main" id="{7CF0FA70-0156-B4F2-11AD-E97EA9BF0072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d3d1b2d_0_290">
            <a:extLst>
              <a:ext uri="{FF2B5EF4-FFF2-40B4-BE49-F238E27FC236}">
                <a16:creationId xmlns:a16="http://schemas.microsoft.com/office/drawing/2014/main" id="{167DC409-DB6D-F480-94DA-2F437D046B44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d3d1b2d_0_290">
            <a:extLst>
              <a:ext uri="{FF2B5EF4-FFF2-40B4-BE49-F238E27FC236}">
                <a16:creationId xmlns:a16="http://schemas.microsoft.com/office/drawing/2014/main" id="{754931ED-FEA0-0F78-0FF5-98CB6EB51C42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d3d1b2d_0_290">
            <a:extLst>
              <a:ext uri="{FF2B5EF4-FFF2-40B4-BE49-F238E27FC236}">
                <a16:creationId xmlns:a16="http://schemas.microsoft.com/office/drawing/2014/main" id="{88C250F1-2953-68C3-6DC2-246B2BC10D32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9449367-6148-58E2-562A-CEE0B97AA1BD}"/>
              </a:ext>
            </a:extLst>
          </p:cNvPr>
          <p:cNvSpPr/>
          <p:nvPr/>
        </p:nvSpPr>
        <p:spPr>
          <a:xfrm>
            <a:off x="458592" y="927440"/>
            <a:ext cx="2924688" cy="2384720"/>
          </a:xfrm>
          <a:prstGeom prst="rect">
            <a:avLst/>
          </a:prstGeom>
          <a:ln w="57150">
            <a:solidFill>
              <a:srgbClr val="CC33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fr-C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Contribuer</a:t>
            </a:r>
            <a:r>
              <a:rPr lang="en-US" altLang="fr-C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à </a:t>
            </a:r>
            <a:r>
              <a:rPr lang="en-US" altLang="fr-CA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l’arrêt</a:t>
            </a:r>
            <a:r>
              <a:rPr lang="en-US" altLang="fr-CA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circulation du Virus de la </a:t>
            </a:r>
            <a:r>
              <a:rPr lang="en-US" altLang="fr-CA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poliomyélite</a:t>
            </a:r>
            <a:r>
              <a:rPr lang="en-US" altLang="fr-CA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fr-C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par le </a:t>
            </a:r>
            <a:r>
              <a:rPr lang="en-US" altLang="fr-C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decaissement</a:t>
            </a:r>
            <a:r>
              <a:rPr lang="en-US" altLang="fr-C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fr-C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rapide</a:t>
            </a:r>
            <a:r>
              <a:rPr lang="en-US" altLang="fr-C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fonds </a:t>
            </a:r>
            <a:r>
              <a:rPr lang="en-US" altLang="fr-C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alloués</a:t>
            </a:r>
            <a:r>
              <a:rPr lang="en-US" altLang="fr-C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aux ripostes </a:t>
            </a:r>
            <a:r>
              <a:rPr lang="en-US" altLang="fr-C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rapides</a:t>
            </a:r>
            <a:r>
              <a:rPr lang="en-US" altLang="fr-C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epidemies de </a:t>
            </a:r>
            <a:r>
              <a:rPr lang="en-US" altLang="fr-C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Poliomyélite</a:t>
            </a:r>
            <a:r>
              <a:rPr lang="en-US" altLang="fr-C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fr-C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couplée</a:t>
            </a:r>
            <a:r>
              <a:rPr lang="en-US" altLang="fr-C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aux IPVS sur </a:t>
            </a:r>
            <a:r>
              <a:rPr lang="en-US" altLang="fr-C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finacement</a:t>
            </a:r>
            <a:r>
              <a:rPr lang="en-US" altLang="fr-C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2F02A8-5407-2741-70FC-29C97AAEEE46}"/>
              </a:ext>
            </a:extLst>
          </p:cNvPr>
          <p:cNvSpPr/>
          <p:nvPr/>
        </p:nvSpPr>
        <p:spPr>
          <a:xfrm>
            <a:off x="4155440" y="988540"/>
            <a:ext cx="3434080" cy="2384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00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fr-CA" sz="2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Assitance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Technique: Nationale (RR, COUP, NGCA</a:t>
            </a:r>
            <a:r>
              <a:rPr lang="fr-FR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et </a:t>
            </a:r>
            <a:r>
              <a:rPr lang="en-US" altLang="fr-CA" sz="2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Provinciale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</a:t>
            </a:r>
            <a:r>
              <a:rPr lang="en-US" altLang="fr-CA" sz="2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Antennes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PEV </a:t>
            </a:r>
            <a:r>
              <a:rPr lang="en-US" altLang="fr-CA" sz="2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ciblées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/Orientées)  sur </a:t>
            </a:r>
            <a:r>
              <a:rPr lang="en-US" altLang="fr-CA" sz="2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financement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GAVI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FE8BE1-BA24-FC24-F3FA-7303239C307F}"/>
              </a:ext>
            </a:extLst>
          </p:cNvPr>
          <p:cNvSpPr/>
          <p:nvPr/>
        </p:nvSpPr>
        <p:spPr>
          <a:xfrm>
            <a:off x="8413872" y="975063"/>
            <a:ext cx="3317594" cy="217135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fr-FR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Diagnostic, Qualité &amp; Transports des échantillons, et Ripostes Rapide sur financement FG</a:t>
            </a:r>
            <a:endParaRPr lang="en-US" altLang="fr-CA" sz="2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D6670-DD9F-145D-174C-1251DF3B89EC}"/>
              </a:ext>
            </a:extLst>
          </p:cNvPr>
          <p:cNvSpPr/>
          <p:nvPr/>
        </p:nvSpPr>
        <p:spPr>
          <a:xfrm>
            <a:off x="458592" y="3647425"/>
            <a:ext cx="2924688" cy="2171351"/>
          </a:xfrm>
          <a:prstGeom prst="rect">
            <a:avLst/>
          </a:prstGeom>
          <a:solidFill>
            <a:srgbClr val="99FFCC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fr-CA" sz="2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Rattrapage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EZD et ESV dans le </a:t>
            </a:r>
            <a:r>
              <a:rPr lang="en-US" altLang="fr-CA" sz="2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Kwilu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Kasai sur </a:t>
            </a:r>
            <a:r>
              <a:rPr lang="en-US" altLang="fr-CA" sz="2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financement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Pfizer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B8A737-FA02-2AE8-08F2-7A1C36CFE422}"/>
              </a:ext>
            </a:extLst>
          </p:cNvPr>
          <p:cNvSpPr/>
          <p:nvPr/>
        </p:nvSpPr>
        <p:spPr>
          <a:xfrm>
            <a:off x="4155440" y="3677703"/>
            <a:ext cx="3434080" cy="2171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Replication de </a:t>
            </a:r>
            <a:r>
              <a:rPr lang="en-US" altLang="fr-CA" sz="2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l'expérience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de transport des </a:t>
            </a:r>
            <a:r>
              <a:rPr lang="en-US" altLang="fr-CA" sz="2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échantillons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de Haut Lomami dans 5 </a:t>
            </a:r>
            <a:r>
              <a:rPr lang="en-US" altLang="fr-CA" sz="2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nouvelles</a:t>
            </a:r>
            <a:r>
              <a:rPr lang="en-US" altLang="fr-CA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provinces.</a:t>
            </a:r>
            <a:endParaRPr lang="en-US" altLang="fr-CA" sz="2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C1EA47-DE15-91BD-EEE0-E9C63AFA78ED}"/>
              </a:ext>
            </a:extLst>
          </p:cNvPr>
          <p:cNvSpPr/>
          <p:nvPr/>
        </p:nvSpPr>
        <p:spPr>
          <a:xfrm>
            <a:off x="8413872" y="3684169"/>
            <a:ext cx="3329500" cy="2159445"/>
          </a:xfrm>
          <a:prstGeom prst="rect">
            <a:avLst/>
          </a:prstGeom>
          <a:solidFill>
            <a:srgbClr val="FFFFCC"/>
          </a:solidFill>
          <a:ln w="38100">
            <a:solidFill>
              <a:schemeClr val="accent4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fr-FR" altLang="fr-CA" sz="240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Implémentation d’</a:t>
            </a:r>
            <a:r>
              <a:rPr lang="fr-FR" altLang="fr-CA" sz="2400" err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eLMIS</a:t>
            </a:r>
            <a:r>
              <a:rPr lang="fr-FR" altLang="fr-CA" sz="240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la visibilité des stocks des vaccins à tous les niveaux de la chaine d’approvisionnement sur financement Unicef</a:t>
            </a:r>
          </a:p>
        </p:txBody>
      </p:sp>
    </p:spTree>
    <p:extLst>
      <p:ext uri="{BB962C8B-B14F-4D97-AF65-F5344CB8AC3E}">
        <p14:creationId xmlns:p14="http://schemas.microsoft.com/office/powerpoint/2010/main" val="313452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d3d1b2d_0_29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700" b="0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 </a:t>
            </a:r>
          </a:p>
        </p:txBody>
      </p:sp>
      <p:sp>
        <p:nvSpPr>
          <p:cNvPr id="177" name="Google Shape;177;g3aabd3d1b2d_0_2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d3d1b2d_0_2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d3d1b2d_0_2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d3d1b2d_0_2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g3aabd3d1b2d_0_290"/>
          <p:cNvSpPr/>
          <p:nvPr/>
        </p:nvSpPr>
        <p:spPr>
          <a:xfrm>
            <a:off x="267700" y="927441"/>
            <a:ext cx="11547400" cy="5484845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altLang="en-US" sz="2000" b="1" u="sng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 Ministère de la santé</a:t>
            </a:r>
            <a:r>
              <a:rPr lang="fr-FR" altLang="en-US" sz="2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</a:p>
          <a:p>
            <a:pPr lvl="1"/>
            <a:endParaRPr lang="fr-FR" altLang="en-US" sz="2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altLang="en-US" sz="2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altLang="en-US" sz="2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altLang="en-US" sz="2000" b="1" u="sng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 PEV</a:t>
            </a:r>
            <a:r>
              <a:rPr lang="fr-FR" alt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fr-FR" altLang="en-US" sz="2000" b="1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Assainir le climat de travail dans certaines Antennes PEV avec les partenaires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fr-FR" altLang="en-US" sz="2000" b="1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S’inscrire dans la pérennisation  des revues trimestrielles  du </a:t>
            </a:r>
            <a:r>
              <a:rPr lang="fr-FR" altLang="en-US" sz="2000" b="1" err="1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Forecast</a:t>
            </a:r>
            <a:endParaRPr lang="fr-FR" altLang="en-US" sz="2000" b="1"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abd3d1b2d_0_178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3" name="Google Shape;223;g3aabd3d1b2d_0_178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g3aabd3d1b2d_0_178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382"/>
  <p:tag name="TABLE_ENDDRAG_RECT" val="35*93*884*38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382"/>
  <p:tag name="TABLE_ENDDRAG_RECT" val="35*93*884*38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9*355"/>
  <p:tag name="TABLE_ENDDRAG_RECT" val="36*120*900*35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9*355"/>
  <p:tag name="TABLE_ENDDRAG_RECT" val="36*120*900*35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9*355"/>
  <p:tag name="TABLE_ENDDRAG_RECT" val="36*120*900*35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9*355"/>
  <p:tag name="TABLE_ENDDRAG_RECT" val="36*120*900*35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2*362"/>
  <p:tag name="TABLE_ENDDRAG_RECT" val="36*103*882*36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2*362"/>
  <p:tag name="TABLE_ENDDRAG_RECT" val="36*103*882*36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illageReachOrgThemeFY24">
  <a:themeElements>
    <a:clrScheme name="Custom 1">
      <a:dk1>
        <a:srgbClr val="5A3C2C"/>
      </a:dk1>
      <a:lt1>
        <a:srgbClr val="FFFFFF"/>
      </a:lt1>
      <a:dk2>
        <a:srgbClr val="424F57"/>
      </a:dk2>
      <a:lt2>
        <a:srgbClr val="F0EBDD"/>
      </a:lt2>
      <a:accent1>
        <a:srgbClr val="A2522E"/>
      </a:accent1>
      <a:accent2>
        <a:srgbClr val="958D55"/>
      </a:accent2>
      <a:accent3>
        <a:srgbClr val="A49483"/>
      </a:accent3>
      <a:accent4>
        <a:srgbClr val="B79443"/>
      </a:accent4>
      <a:accent5>
        <a:srgbClr val="6C8D9E"/>
      </a:accent5>
      <a:accent6>
        <a:srgbClr val="CDBA96"/>
      </a:accent6>
      <a:hlink>
        <a:srgbClr val="6C8D9E"/>
      </a:hlink>
      <a:folHlink>
        <a:srgbClr val="A2522E"/>
      </a:folHlink>
    </a:clrScheme>
    <a:fontScheme name="Custom 1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DarkRed">
      <a:srgbClr val="803B1D"/>
    </a:custClr>
    <a:custClr name="LightestRed">
      <a:srgbClr val="EFE1D8"/>
    </a:custClr>
    <a:custClr name="DarkGreen">
      <a:srgbClr val="726B3D"/>
    </a:custClr>
    <a:custClr name="LightestGreen">
      <a:srgbClr val="E1E1D7"/>
    </a:custClr>
    <a:custClr name="DarkGold">
      <a:srgbClr val="9F7A26"/>
    </a:custClr>
    <a:custClr name="PrimaryCream">
      <a:srgbClr val="F0EBDD"/>
    </a:custClr>
    <a:custClr name="LightestCream">
      <a:srgbClr val="F9F8F4"/>
    </a:custClr>
    <a:custClr name="DarkerLightBlue">
      <a:srgbClr val="557286"/>
    </a:custClr>
    <a:custClr name="LightestBlue">
      <a:srgbClr val="E5EEF3"/>
    </a:custClr>
    <a:custClr name="Cream2">
      <a:srgbClr val="E8DBC2"/>
    </a:custClr>
    <a:custClr name="tan">
      <a:srgbClr val="CDBA96"/>
    </a:custClr>
    <a:custClr name="MiddleBrown">
      <a:srgbClr val="725C48"/>
    </a:custClr>
    <a:custClr name="DarkestBrown">
      <a:srgbClr val="301A00"/>
    </a:custClr>
    <a:custClr name="StatusIndicatorGreen">
      <a:srgbClr val="00B050"/>
    </a:custClr>
    <a:custClr name="StatusIndicatorYellow">
      <a:srgbClr val="FFC000"/>
    </a:custClr>
    <a:custClr name="StatusIndicatorRed">
      <a:srgbClr val="FF0000"/>
    </a:custClr>
  </a:custClrLst>
  <a:extLst>
    <a:ext uri="{05A4C25C-085E-4340-85A3-A5531E510DB2}">
      <thm15:themeFamily xmlns:thm15="http://schemas.microsoft.com/office/thememl/2012/main" name="VillageReachOrgThemeFY24" id="{296E7C26-EF97-EF49-BD16-244E561DF201}" vid="{47EAA6A8-BC42-F74B-896E-D119C4CBA57D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053174a-9100-4e8e-979a-4436da01b0ee}" enabled="0" method="" siteId="{0053174a-9100-4e8e-979a-4436da01b0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3111</Words>
  <Application>Microsoft Office PowerPoint</Application>
  <PresentationFormat>Widescreen</PresentationFormat>
  <Paragraphs>448</Paragraphs>
  <Slides>22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Office Theme</vt:lpstr>
      <vt:lpstr>VillageReachOrgThemeFY24</vt:lpstr>
      <vt:lpstr>PowerPoint Presentation</vt:lpstr>
      <vt:lpstr>PowerPoint Presentation</vt:lpstr>
      <vt:lpstr>PowerPoint Presentation</vt:lpstr>
      <vt:lpstr>Nos actions en RDC (2015-à présent)</vt:lpstr>
      <vt:lpstr>Nos actions en RDC (2025)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Réalisations majeures de l’année en lien avec les activités planifiées dans le PAO du PEV</vt:lpstr>
      <vt:lpstr>Autres réalisations majeures non planifiées dans le PAO du PEV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Carla Toko</dc:creator>
  <cp:lastModifiedBy>Benedict Nguimbis</cp:lastModifiedBy>
  <cp:revision>396</cp:revision>
  <dcterms:created xsi:type="dcterms:W3CDTF">2025-07-23T00:59:00Z</dcterms:created>
  <dcterms:modified xsi:type="dcterms:W3CDTF">2025-12-17T14:25:29Z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1036-12.2.0.23155</vt:lpwstr>
  </property>
  <property fmtid="{D5CDD505-2E9C-101B-9397-08002B2CF9AE}" pid="3" name="ICV">
    <vt:lpwstr>7B1E43FCB6934876B8E89E70B7276213_13</vt:lpwstr>
  </property>
</Properties>
</file>