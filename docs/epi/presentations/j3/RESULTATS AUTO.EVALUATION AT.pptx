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65" r:id="rId3"/>
    <p:sldId id="266" r:id="rId4"/>
    <p:sldId id="268" r:id="rId5"/>
    <p:sldId id="267" r:id="rId6"/>
    <p:sldId id="269" r:id="rId7"/>
    <p:sldId id="258" r:id="rId8"/>
    <p:sldId id="257" r:id="rId9"/>
    <p:sldId id="259" r:id="rId10"/>
    <p:sldId id="260" r:id="rId11"/>
    <p:sldId id="270" r:id="rId12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1104" y="30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>
                <a:sym typeface="+mn-ea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re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fr-FR" altLang="en-US" dirty="0"/>
              <a:t>RESULTATS AUTO-EVALUATION DES ASSISTANTS TECHNIQUES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altLang="en-US"/>
              <a:t>Rappel de la déclaration de Lusaka sur l’assistance technique en Afrique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altLang="en-US"/>
              <a:t>Les principes clés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altLang="en-US"/>
              <a:t>(1) </a:t>
            </a:r>
            <a:r>
              <a:rPr lang="en-US" altLang="fr-FR"/>
              <a:t>L’assistance technique doit </a:t>
            </a:r>
            <a:r>
              <a:rPr lang="en-US" altLang="en-US"/>
              <a:t>ê</a:t>
            </a:r>
            <a:r>
              <a:rPr lang="en-US" altLang="fr-FR"/>
              <a:t>tre pilot</a:t>
            </a:r>
            <a:r>
              <a:rPr lang="en-US" altLang="en-US"/>
              <a:t>é</a:t>
            </a:r>
            <a:r>
              <a:rPr lang="en-US" altLang="fr-FR"/>
              <a:t>e par les pays</a:t>
            </a:r>
            <a:r>
              <a:rPr lang="fr-FR" altLang="en-US"/>
              <a:t>, qui doivent i</a:t>
            </a:r>
            <a:r>
              <a:rPr lang="en-US" altLang="fr-FR"/>
              <a:t>dentifier leurs besoins en AT</a:t>
            </a:r>
            <a:r>
              <a:rPr lang="fr-FR" altLang="en-US"/>
              <a:t>, d</a:t>
            </a:r>
            <a:r>
              <a:rPr lang="en-US" altLang="en-US"/>
              <a:t>é</a:t>
            </a:r>
            <a:r>
              <a:rPr lang="en-US" altLang="fr-FR"/>
              <a:t>finir les profils requis</a:t>
            </a:r>
            <a:r>
              <a:rPr lang="fr-FR" altLang="en-US"/>
              <a:t>, p</a:t>
            </a:r>
            <a:r>
              <a:rPr lang="en-US" altLang="fr-FR"/>
              <a:t>articiper à la s</a:t>
            </a:r>
            <a:r>
              <a:rPr lang="en-US" altLang="en-US"/>
              <a:t>é</a:t>
            </a:r>
            <a:r>
              <a:rPr lang="en-US" altLang="fr-FR"/>
              <a:t>lection et à</a:t>
            </a:r>
            <a:r>
              <a:rPr lang="fr-FR" altLang="en-US"/>
              <a:t> </a:t>
            </a:r>
            <a:r>
              <a:rPr lang="en-US" altLang="fr-FR"/>
              <a:t>l’</a:t>
            </a:r>
            <a:r>
              <a:rPr lang="en-US" altLang="en-US"/>
              <a:t>é</a:t>
            </a:r>
            <a:r>
              <a:rPr lang="en-US" altLang="fr-FR"/>
              <a:t>valuation des experts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altLang="en-US"/>
              <a:t>(2) </a:t>
            </a:r>
            <a:r>
              <a:rPr lang="en-US" altLang="fr-FR"/>
              <a:t>Priorit</a:t>
            </a:r>
            <a:r>
              <a:rPr lang="en-US" altLang="en-US"/>
              <a:t>é</a:t>
            </a:r>
            <a:r>
              <a:rPr lang="en-US" altLang="fr-FR"/>
              <a:t> au d</a:t>
            </a:r>
            <a:r>
              <a:rPr lang="en-US" altLang="en-US"/>
              <a:t>é</a:t>
            </a:r>
            <a:r>
              <a:rPr lang="en-US" altLang="fr-FR"/>
              <a:t>veloppement des capacit</a:t>
            </a:r>
            <a:r>
              <a:rPr lang="en-US" altLang="en-US"/>
              <a:t>é</a:t>
            </a:r>
            <a:r>
              <a:rPr lang="en-US" altLang="fr-FR"/>
              <a:t>s, pas à la substitution</a:t>
            </a:r>
            <a:r>
              <a:rPr lang="fr-FR" altLang="en-US"/>
              <a:t>, l’AT ne doit pas faire le </a:t>
            </a:r>
            <a:r>
              <a:rPr lang="en-US" altLang="fr-FR"/>
              <a:t>travail à la place des </a:t>
            </a:r>
            <a:r>
              <a:rPr lang="en-US" altLang="en-US"/>
              <a:t>é</a:t>
            </a:r>
            <a:r>
              <a:rPr lang="en-US" altLang="fr-FR"/>
              <a:t>quipes nationales</a:t>
            </a:r>
            <a:r>
              <a:rPr lang="fr-FR" altLang="en-US"/>
              <a:t>, son role est de f</a:t>
            </a:r>
            <a:r>
              <a:rPr lang="en-US" altLang="fr-FR"/>
              <a:t>ormer</a:t>
            </a:r>
            <a:r>
              <a:rPr lang="fr-FR" altLang="en-US"/>
              <a:t>, </a:t>
            </a:r>
            <a:r>
              <a:rPr lang="en-US" altLang="fr-FR"/>
              <a:t>Coacher</a:t>
            </a:r>
            <a:r>
              <a:rPr lang="fr-FR" altLang="en-US"/>
              <a:t>, </a:t>
            </a:r>
            <a:r>
              <a:rPr lang="en-US" altLang="fr-FR"/>
              <a:t>Mentorer</a:t>
            </a:r>
            <a:r>
              <a:rPr lang="fr-FR" altLang="en-US"/>
              <a:t>; </a:t>
            </a:r>
            <a:r>
              <a:rPr lang="en-US" altLang="fr-FR"/>
              <a:t>Quand l’expert part, la capacit</a:t>
            </a:r>
            <a:r>
              <a:rPr lang="en-US" altLang="en-US"/>
              <a:t>é</a:t>
            </a:r>
            <a:r>
              <a:rPr lang="en-US" altLang="fr-FR"/>
              <a:t> reste.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altLang="en-US"/>
              <a:t>(3) </a:t>
            </a:r>
            <a:r>
              <a:rPr lang="en-US" altLang="fr-FR"/>
              <a:t>Utilisation accrue des comp</a:t>
            </a:r>
            <a:r>
              <a:rPr lang="en-US" altLang="en-US"/>
              <a:t>é</a:t>
            </a:r>
            <a:r>
              <a:rPr lang="en-US" altLang="fr-FR"/>
              <a:t>tences locales et r</a:t>
            </a:r>
            <a:r>
              <a:rPr lang="en-US" altLang="en-US"/>
              <a:t>é</a:t>
            </a:r>
            <a:r>
              <a:rPr lang="en-US" altLang="fr-FR"/>
              <a:t>gionales</a:t>
            </a:r>
            <a:r>
              <a:rPr lang="fr-FR" altLang="en-US"/>
              <a:t>, e</a:t>
            </a:r>
            <a:r>
              <a:rPr lang="en-US" altLang="fr-FR"/>
              <a:t>ncourager</a:t>
            </a:r>
            <a:r>
              <a:rPr lang="fr-FR" altLang="en-US"/>
              <a:t> l’expertise nationale ou </a:t>
            </a:r>
            <a:r>
              <a:rPr lang="en-US" altLang="fr-FR"/>
              <a:t>Sud–Sud</a:t>
            </a:r>
          </a:p>
          <a:p>
            <a:endParaRPr lang="en-US" altLang="fr-FR"/>
          </a:p>
          <a:p>
            <a:endParaRPr lang="en-US" altLang="fr-FR"/>
          </a:p>
          <a:p>
            <a:endParaRPr lang="en-US" altLang="fr-FR"/>
          </a:p>
          <a:p>
            <a:endParaRPr lang="en-US" altLang="fr-FR"/>
          </a:p>
          <a:p>
            <a:endParaRPr lang="en-US" altLang="fr-F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altLang="en-US">
                <a:sym typeface="+mn-ea"/>
              </a:rPr>
              <a:t>Rappel de la déclaration de Lusaka sur l’assistance technique en Afrique </a:t>
            </a:r>
            <a:endParaRPr lang="fr-FR" alt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altLang="en-US"/>
              <a:t>(3) </a:t>
            </a:r>
            <a:r>
              <a:rPr lang="en-US" altLang="fr-FR"/>
              <a:t>Int</a:t>
            </a:r>
            <a:r>
              <a:rPr lang="en-US" altLang="en-US"/>
              <a:t>é</a:t>
            </a:r>
            <a:r>
              <a:rPr lang="en-US" altLang="fr-FR"/>
              <a:t>gration de l’AT dans les syst</a:t>
            </a:r>
            <a:r>
              <a:rPr lang="" altLang="en-US"/>
              <a:t>è</a:t>
            </a:r>
            <a:r>
              <a:rPr lang="en-US" altLang="fr-FR"/>
              <a:t>mes nationaux</a:t>
            </a:r>
            <a:r>
              <a:rPr lang="fr-FR" altLang="en-US"/>
              <a:t>: l</a:t>
            </a:r>
            <a:r>
              <a:rPr lang="en-US" altLang="fr-FR"/>
              <a:t>’AT doit </a:t>
            </a:r>
            <a:r>
              <a:rPr lang="en-US" altLang="en-US"/>
              <a:t>ê</a:t>
            </a:r>
            <a:r>
              <a:rPr lang="en-US" altLang="fr-FR"/>
              <a:t>tre :</a:t>
            </a:r>
            <a:r>
              <a:rPr lang="fr-FR" altLang="en-US"/>
              <a:t>, </a:t>
            </a:r>
            <a:r>
              <a:rPr lang="en-US" altLang="fr-FR"/>
              <a:t>Int</a:t>
            </a:r>
            <a:r>
              <a:rPr lang="en-US" altLang="en-US"/>
              <a:t>é</a:t>
            </a:r>
            <a:r>
              <a:rPr lang="en-US" altLang="fr-FR"/>
              <a:t>gr</a:t>
            </a:r>
            <a:r>
              <a:rPr lang="en-US" altLang="en-US"/>
              <a:t>é</a:t>
            </a:r>
            <a:r>
              <a:rPr lang="en-US" altLang="fr-FR"/>
              <a:t>e aux structures existantes</a:t>
            </a:r>
            <a:r>
              <a:rPr lang="fr-FR" altLang="en-US"/>
              <a:t>, i</a:t>
            </a:r>
            <a:r>
              <a:rPr lang="en-US" altLang="fr-FR"/>
              <a:t>nscrite dans les plans nationaux</a:t>
            </a:r>
            <a:r>
              <a:rPr lang="fr-FR" altLang="en-US"/>
              <a:t>, </a:t>
            </a:r>
            <a:r>
              <a:rPr lang="en-US" altLang="fr-FR"/>
              <a:t>Financ</a:t>
            </a:r>
            <a:r>
              <a:rPr lang="en-US" altLang="en-US"/>
              <a:t>é</a:t>
            </a:r>
            <a:r>
              <a:rPr lang="en-US" altLang="fr-FR"/>
              <a:t>e de mani</a:t>
            </a:r>
            <a:r>
              <a:rPr lang="" altLang="en-US"/>
              <a:t>è</a:t>
            </a:r>
            <a:r>
              <a:rPr lang="en-US" altLang="fr-FR"/>
              <a:t>re pr</a:t>
            </a:r>
            <a:r>
              <a:rPr lang="en-US" altLang="en-US"/>
              <a:t>é</a:t>
            </a:r>
            <a:r>
              <a:rPr lang="en-US" altLang="fr-FR"/>
              <a:t>visible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altLang="en-US"/>
              <a:t>(4) </a:t>
            </a:r>
            <a:r>
              <a:rPr lang="en-US" altLang="fr-FR"/>
              <a:t>Suivi, </a:t>
            </a:r>
            <a:r>
              <a:rPr lang="en-US" altLang="en-US"/>
              <a:t>é</a:t>
            </a:r>
            <a:r>
              <a:rPr lang="en-US" altLang="fr-FR"/>
              <a:t>valuation et redevabilit</a:t>
            </a:r>
            <a:r>
              <a:rPr lang="en-US" altLang="en-US"/>
              <a:t>é</a:t>
            </a:r>
            <a:r>
              <a:rPr lang="en-US" altLang="fr-FR"/>
              <a:t> de l’assistance technique</a:t>
            </a:r>
            <a:r>
              <a:rPr lang="fr-FR" altLang="en-US"/>
              <a:t>, </a:t>
            </a:r>
            <a:r>
              <a:rPr lang="en-US" altLang="fr-FR"/>
              <a:t>Chaque AT doit avoir :</a:t>
            </a:r>
            <a:r>
              <a:rPr lang="fr-FR" altLang="en-US"/>
              <a:t> D</a:t>
            </a:r>
            <a:r>
              <a:rPr lang="en-US" altLang="fr-FR"/>
              <a:t>es objectifs clairs</a:t>
            </a:r>
            <a:r>
              <a:rPr lang="fr-FR" altLang="en-US"/>
              <a:t>, </a:t>
            </a:r>
            <a:r>
              <a:rPr lang="en-US" altLang="fr-FR"/>
              <a:t>Des indicateurs de performance</a:t>
            </a:r>
            <a:r>
              <a:rPr lang="fr-FR" altLang="en-US"/>
              <a:t>, </a:t>
            </a:r>
            <a:r>
              <a:rPr lang="en-US" altLang="fr-FR"/>
              <a:t>Une </a:t>
            </a:r>
            <a:r>
              <a:rPr lang="en-US" altLang="en-US"/>
              <a:t>é</a:t>
            </a:r>
            <a:r>
              <a:rPr lang="en-US" altLang="fr-FR"/>
              <a:t>valuation r</a:t>
            </a:r>
            <a:r>
              <a:rPr lang="en-US" altLang="en-US"/>
              <a:t>é</a:t>
            </a:r>
            <a:r>
              <a:rPr lang="en-US" altLang="fr-FR"/>
              <a:t>guli</a:t>
            </a:r>
            <a:r>
              <a:rPr lang="" altLang="en-US"/>
              <a:t>è</a:t>
            </a:r>
            <a:r>
              <a:rPr lang="en-US" altLang="fr-FR"/>
              <a:t>re</a:t>
            </a:r>
          </a:p>
          <a:p>
            <a:endParaRPr lang="fr-F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altLang="en-US"/>
              <a:t>OBJECTIFS DE L’AUTOEVALUATION DES AT DE TERRAIN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fr-FR"/>
              <a:t>Objectif g</a:t>
            </a:r>
            <a:r>
              <a:rPr lang="en-US" altLang="en-US"/>
              <a:t>é</a:t>
            </a:r>
            <a:r>
              <a:rPr lang="en-US" altLang="fr-FR"/>
              <a:t>n</a:t>
            </a:r>
            <a:r>
              <a:rPr lang="en-US" altLang="en-US"/>
              <a:t>é</a:t>
            </a:r>
            <a:r>
              <a:rPr lang="en-US" altLang="fr-FR"/>
              <a:t>ral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fr-FR"/>
              <a:t>Am</a:t>
            </a:r>
            <a:r>
              <a:rPr lang="en-US" altLang="en-US"/>
              <a:t>é</a:t>
            </a:r>
            <a:r>
              <a:rPr lang="en-US" altLang="fr-FR"/>
              <a:t>liorer en continu la qualit</a:t>
            </a:r>
            <a:r>
              <a:rPr lang="en-US" altLang="en-US"/>
              <a:t>é</a:t>
            </a:r>
            <a:r>
              <a:rPr lang="en-US" altLang="fr-FR"/>
              <a:t>, la pertinence et l’impact de l’assistance technique</a:t>
            </a:r>
          </a:p>
          <a:p>
            <a:r>
              <a:rPr lang="en-US" altLang="fr-FR"/>
              <a:t>Objectifs sp</a:t>
            </a:r>
            <a:r>
              <a:rPr lang="en-US" altLang="en-US"/>
              <a:t>é</a:t>
            </a:r>
            <a:r>
              <a:rPr lang="en-US" altLang="fr-FR"/>
              <a:t>cifiques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fr-FR"/>
              <a:t>Renforcer la redevabilit</a:t>
            </a:r>
            <a:r>
              <a:rPr lang="en-US" altLang="en-US"/>
              <a:t>é</a:t>
            </a:r>
            <a:r>
              <a:rPr lang="en-US" altLang="fr-FR"/>
              <a:t> individuelle </a:t>
            </a:r>
            <a:r>
              <a:rPr lang="fr-FR" altLang="en-US"/>
              <a:t>des AT</a:t>
            </a:r>
            <a:endParaRPr lang="en-US" altLang="fr-FR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fr-FR"/>
              <a:t>Alimenter l</a:t>
            </a:r>
            <a:r>
              <a:rPr lang="fr-FR" altLang="en-US"/>
              <a:t>a reflexion sur l’</a:t>
            </a:r>
            <a:r>
              <a:rPr lang="en-US" altLang="en-US"/>
              <a:t>é</a:t>
            </a:r>
            <a:r>
              <a:rPr lang="en-US" altLang="fr-FR"/>
              <a:t>valuation de</a:t>
            </a:r>
            <a:r>
              <a:rPr lang="fr-FR" altLang="en-US"/>
              <a:t>s AT</a:t>
            </a:r>
            <a:endParaRPr lang="en-US" altLang="fr-FR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fr-FR"/>
              <a:t>Produire des enseignements utiles pour </a:t>
            </a:r>
            <a:r>
              <a:rPr lang="fr-FR" altLang="en-US"/>
              <a:t>l</a:t>
            </a:r>
            <a:r>
              <a:rPr lang="en-US" altLang="fr-FR"/>
              <a:t>’am</a:t>
            </a:r>
            <a:r>
              <a:rPr lang="en-US" altLang="en-US"/>
              <a:t>é</a:t>
            </a:r>
            <a:r>
              <a:rPr lang="en-US" altLang="fr-FR"/>
              <a:t>lioration des futurs dispositifs d’AT</a:t>
            </a:r>
          </a:p>
          <a:p>
            <a:endParaRPr lang="en-US" altLang="fr-F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METHODOLOGIE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7700" y="1500505"/>
            <a:ext cx="10515600" cy="435133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altLang="en-US"/>
              <a:t>Questionnaire en ligne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altLang="en-US"/>
              <a:t>Les indicateurs étaient basés sur le cadre de performance des AT, produit en 2024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altLang="en-US"/>
              <a:t>Les indicateurs comprenaient les volets processus et résultats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altLang="en-US"/>
              <a:t>Le seuil de performance est placé à un niveau élevé car l’AT doit avoir un niveau de compétence très élevé , l’appréciation très bien ou très performant est considérée comme le seuil acceptable pour un AT dans cette analyse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DESCRIPTION DE L’ECHANTION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7700" y="1825625"/>
            <a:ext cx="4380230" cy="4351655"/>
          </a:xfrm>
        </p:spPr>
        <p:txBody>
          <a:bodyPr>
            <a:normAutofit lnSpcReduction="2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altLang="en-US"/>
              <a:t>Total participant : 110 AT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altLang="en-US"/>
              <a:t>Affiliation des AT : </a:t>
            </a:r>
          </a:p>
          <a:p>
            <a:pPr marL="971550" lvl="1" indent="-514350">
              <a:buAutoNum type="arabicPeriod"/>
            </a:pPr>
            <a:r>
              <a:rPr lang="en-US" altLang="fr-FR"/>
              <a:t>AFENET</a:t>
            </a:r>
            <a:r>
              <a:rPr lang="fr-FR" altLang="en-US"/>
              <a:t> (</a:t>
            </a:r>
            <a:r>
              <a:rPr lang="en-US" altLang="fr-FR"/>
              <a:t>25</a:t>
            </a:r>
            <a:r>
              <a:rPr lang="fr-FR" altLang="en-US"/>
              <a:t>)</a:t>
            </a:r>
            <a:endParaRPr lang="en-US" altLang="fr-FR"/>
          </a:p>
          <a:p>
            <a:pPr marL="971550" lvl="1" indent="-514350">
              <a:buAutoNum type="arabicPeriod"/>
            </a:pPr>
            <a:r>
              <a:rPr lang="en-US" altLang="fr-FR"/>
              <a:t>GENGER</a:t>
            </a:r>
            <a:r>
              <a:rPr lang="fr-FR" altLang="en-US"/>
              <a:t> (</a:t>
            </a:r>
            <a:r>
              <a:rPr lang="en-US" altLang="fr-FR"/>
              <a:t>9</a:t>
            </a:r>
            <a:r>
              <a:rPr lang="fr-FR" altLang="en-US"/>
              <a:t>)</a:t>
            </a:r>
            <a:endParaRPr lang="en-US" altLang="fr-FR"/>
          </a:p>
          <a:p>
            <a:pPr marL="971550" lvl="1" indent="-514350">
              <a:buAutoNum type="arabicPeriod"/>
            </a:pPr>
            <a:r>
              <a:rPr lang="en-US" altLang="fr-FR"/>
              <a:t>Mcking</a:t>
            </a:r>
            <a:r>
              <a:rPr lang="fr-FR" altLang="en-US"/>
              <a:t> (</a:t>
            </a:r>
            <a:r>
              <a:rPr lang="en-US" altLang="fr-FR"/>
              <a:t>1</a:t>
            </a:r>
            <a:r>
              <a:rPr lang="fr-FR" altLang="en-US"/>
              <a:t>)</a:t>
            </a:r>
            <a:endParaRPr lang="en-US" altLang="fr-FR"/>
          </a:p>
          <a:p>
            <a:pPr marL="971550" lvl="1" indent="-514350">
              <a:buAutoNum type="arabicPeriod"/>
            </a:pPr>
            <a:r>
              <a:rPr lang="en-US" altLang="fr-FR"/>
              <a:t>OMS</a:t>
            </a:r>
            <a:r>
              <a:rPr lang="fr-FR" altLang="en-US"/>
              <a:t> (</a:t>
            </a:r>
            <a:r>
              <a:rPr lang="en-US" altLang="fr-FR"/>
              <a:t>16</a:t>
            </a:r>
            <a:r>
              <a:rPr lang="fr-FR" altLang="en-US"/>
              <a:t>)</a:t>
            </a:r>
            <a:endParaRPr lang="en-US" altLang="fr-FR"/>
          </a:p>
          <a:p>
            <a:pPr marL="971550" lvl="1" indent="-514350">
              <a:buAutoNum type="arabicPeriod"/>
            </a:pPr>
            <a:r>
              <a:rPr lang="en-US" altLang="fr-FR"/>
              <a:t>PATH</a:t>
            </a:r>
            <a:r>
              <a:rPr lang="fr-FR" altLang="en-US"/>
              <a:t> (</a:t>
            </a:r>
            <a:r>
              <a:rPr lang="en-US" altLang="fr-FR"/>
              <a:t>14</a:t>
            </a:r>
            <a:r>
              <a:rPr lang="fr-FR" altLang="en-US"/>
              <a:t>)</a:t>
            </a:r>
            <a:endParaRPr lang="en-US" altLang="fr-FR"/>
          </a:p>
          <a:p>
            <a:pPr marL="971550" lvl="1" indent="-514350">
              <a:buAutoNum type="arabicPeriod"/>
            </a:pPr>
            <a:r>
              <a:rPr lang="en-US" altLang="fr-FR"/>
              <a:t>UNICEF</a:t>
            </a:r>
            <a:r>
              <a:rPr lang="fr-FR" altLang="en-US"/>
              <a:t> (</a:t>
            </a:r>
            <a:r>
              <a:rPr lang="en-US" altLang="fr-FR"/>
              <a:t>16</a:t>
            </a:r>
            <a:r>
              <a:rPr lang="fr-FR" altLang="en-US"/>
              <a:t>)</a:t>
            </a:r>
            <a:endParaRPr lang="en-US" altLang="fr-FR"/>
          </a:p>
          <a:p>
            <a:pPr marL="971550" lvl="1" indent="-514350">
              <a:buAutoNum type="arabicPeriod"/>
            </a:pPr>
            <a:r>
              <a:rPr lang="en-US" altLang="fr-FR"/>
              <a:t>VILLAGE REACH</a:t>
            </a:r>
            <a:r>
              <a:rPr lang="fr-FR" altLang="en-US"/>
              <a:t> (</a:t>
            </a:r>
            <a:r>
              <a:rPr lang="en-US" altLang="fr-FR"/>
              <a:t>29</a:t>
            </a:r>
            <a:r>
              <a:rPr lang="fr-FR" altLang="en-US"/>
              <a:t>)</a:t>
            </a:r>
            <a:endParaRPr lang="en-US" altLang="fr-FR"/>
          </a:p>
          <a:p>
            <a:pPr marL="971550" lvl="1" indent="-514350">
              <a:buAutoNum type="arabicPeriod"/>
            </a:pPr>
            <a:r>
              <a:rPr lang="en-US" altLang="fr-FR"/>
              <a:t>Total g</a:t>
            </a:r>
            <a:r>
              <a:rPr lang="en-US" altLang="en-US"/>
              <a:t>é</a:t>
            </a:r>
            <a:r>
              <a:rPr lang="en-US" altLang="fr-FR"/>
              <a:t>n</a:t>
            </a:r>
            <a:r>
              <a:rPr lang="en-US" altLang="en-US"/>
              <a:t>é</a:t>
            </a:r>
            <a:r>
              <a:rPr lang="en-US" altLang="fr-FR"/>
              <a:t>ral	</a:t>
            </a:r>
            <a:r>
              <a:rPr lang="fr-FR" altLang="en-US"/>
              <a:t>(</a:t>
            </a:r>
            <a:r>
              <a:rPr lang="en-US" altLang="fr-FR"/>
              <a:t>110</a:t>
            </a:r>
            <a:r>
              <a:rPr lang="fr-FR" altLang="en-US"/>
              <a:t>)</a:t>
            </a:r>
          </a:p>
          <a:p>
            <a:pPr marL="514350" lvl="0" indent="-514350">
              <a:buFont typeface="Arial" panose="020B0604020202020204" pitchFamily="34" charset="0"/>
              <a:buChar char="•"/>
            </a:pPr>
            <a:endParaRPr lang="en-US" altLang="fr-FR"/>
          </a:p>
          <a:p>
            <a:pPr marL="514350" indent="-514350">
              <a:buAutoNum type="arabicPeriod"/>
            </a:pPr>
            <a:endParaRPr lang="en-US" altLang="fr-FR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5689600" y="1228725"/>
          <a:ext cx="5339715" cy="4707255"/>
        </p:xfrm>
        <a:graphic>
          <a:graphicData uri="http://schemas.openxmlformats.org/drawingml/2006/table">
            <a:tbl>
              <a:tblPr/>
              <a:tblGrid>
                <a:gridCol w="2068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415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Provinces </a:t>
                      </a:r>
                    </a:p>
                  </a:txBody>
                  <a:tcPr marL="7937" marR="7937" marT="7937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en-US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Nbr auto-évaluation</a:t>
                      </a:r>
                    </a:p>
                  </a:txBody>
                  <a:tcPr marL="7937" marR="7937" marT="7937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15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Bas-Uélé</a:t>
                      </a:r>
                    </a:p>
                  </a:txBody>
                  <a:tcPr marL="7937" marR="7937" marT="7937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</a:p>
                  </a:txBody>
                  <a:tcPr marL="7937" marR="7937" marT="7937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15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Équateur</a:t>
                      </a:r>
                    </a:p>
                  </a:txBody>
                  <a:tcPr marL="7937" marR="7937" marT="7937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</a:p>
                  </a:txBody>
                  <a:tcPr marL="7937" marR="7937" marT="7937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15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Haut-Katanga</a:t>
                      </a:r>
                    </a:p>
                  </a:txBody>
                  <a:tcPr marL="7937" marR="7937" marT="7937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23</a:t>
                      </a:r>
                    </a:p>
                  </a:txBody>
                  <a:tcPr marL="7937" marR="7937" marT="7937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15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Haut-Lomami</a:t>
                      </a:r>
                    </a:p>
                  </a:txBody>
                  <a:tcPr marL="7937" marR="7937" marT="7937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</a:t>
                      </a:r>
                    </a:p>
                  </a:txBody>
                  <a:tcPr marL="7937" marR="7937" marT="7937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15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Haut-Uélé</a:t>
                      </a:r>
                    </a:p>
                  </a:txBody>
                  <a:tcPr marL="7937" marR="7937" marT="7937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</a:p>
                  </a:txBody>
                  <a:tcPr marL="7937" marR="7937" marT="7937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15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Ituri</a:t>
                      </a:r>
                    </a:p>
                  </a:txBody>
                  <a:tcPr marL="7937" marR="7937" marT="7937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</a:t>
                      </a:r>
                    </a:p>
                  </a:txBody>
                  <a:tcPr marL="7937" marR="7937" marT="7937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415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Kinshasa</a:t>
                      </a:r>
                    </a:p>
                  </a:txBody>
                  <a:tcPr marL="7937" marR="7937" marT="7937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</a:p>
                  </a:txBody>
                  <a:tcPr marL="7937" marR="7937" marT="7937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415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Kongo Central</a:t>
                      </a:r>
                    </a:p>
                  </a:txBody>
                  <a:tcPr marL="7937" marR="7937" marT="7937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</a:t>
                      </a:r>
                    </a:p>
                  </a:txBody>
                  <a:tcPr marL="7937" marR="7937" marT="7937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415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Kwango</a:t>
                      </a:r>
                    </a:p>
                  </a:txBody>
                  <a:tcPr marL="7937" marR="7937" marT="7937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</a:p>
                  </a:txBody>
                  <a:tcPr marL="7937" marR="7937" marT="7937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415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Kwilu</a:t>
                      </a:r>
                    </a:p>
                  </a:txBody>
                  <a:tcPr marL="7937" marR="7937" marT="7937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</a:t>
                      </a:r>
                    </a:p>
                  </a:txBody>
                  <a:tcPr marL="7937" marR="7937" marT="7937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415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Lualaba</a:t>
                      </a:r>
                    </a:p>
                  </a:txBody>
                  <a:tcPr marL="7937" marR="7937" marT="7937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</a:p>
                  </a:txBody>
                  <a:tcPr marL="7937" marR="7937" marT="7937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415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Mai-Ndombe</a:t>
                      </a:r>
                    </a:p>
                  </a:txBody>
                  <a:tcPr marL="7937" marR="7937" marT="7937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</a:p>
                  </a:txBody>
                  <a:tcPr marL="7937" marR="7937" marT="7937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415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Maniema</a:t>
                      </a:r>
                    </a:p>
                  </a:txBody>
                  <a:tcPr marL="7937" marR="7937" marT="7937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</a:p>
                  </a:txBody>
                  <a:tcPr marL="7937" marR="7937" marT="7937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415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Mongala</a:t>
                      </a:r>
                    </a:p>
                  </a:txBody>
                  <a:tcPr marL="7937" marR="7937" marT="7937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</a:t>
                      </a:r>
                    </a:p>
                  </a:txBody>
                  <a:tcPr marL="7937" marR="7937" marT="7937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415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Sankuru</a:t>
                      </a:r>
                    </a:p>
                  </a:txBody>
                  <a:tcPr marL="7937" marR="7937" marT="7937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</a:p>
                  </a:txBody>
                  <a:tcPr marL="7937" marR="7937" marT="7937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415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Sud-Ubangi</a:t>
                      </a:r>
                    </a:p>
                  </a:txBody>
                  <a:tcPr marL="7937" marR="7937" marT="7937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</a:p>
                  </a:txBody>
                  <a:tcPr marL="7937" marR="7937" marT="7937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415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Tanganyika</a:t>
                      </a:r>
                    </a:p>
                  </a:txBody>
                  <a:tcPr marL="7937" marR="7937" marT="7937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</a:p>
                  </a:txBody>
                  <a:tcPr marL="7937" marR="7937" marT="7937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415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Tshopo</a:t>
                      </a:r>
                    </a:p>
                  </a:txBody>
                  <a:tcPr marL="7937" marR="7937" marT="7937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</a:t>
                      </a:r>
                    </a:p>
                  </a:txBody>
                  <a:tcPr marL="7937" marR="7937" marT="7937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415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Tshuapa</a:t>
                      </a:r>
                    </a:p>
                  </a:txBody>
                  <a:tcPr marL="7937" marR="7937" marT="7937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</a:p>
                  </a:txBody>
                  <a:tcPr marL="7937" marR="7937" marT="7937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415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Total général</a:t>
                      </a:r>
                    </a:p>
                  </a:txBody>
                  <a:tcPr marL="7937" marR="7937" marT="7937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110</a:t>
                      </a:r>
                    </a:p>
                  </a:txBody>
                  <a:tcPr marL="7937" marR="7937" marT="7937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altLang="en-US"/>
              <a:t>Performance des AT : Processus, Résultats et global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727710" y="1583690"/>
          <a:ext cx="10675620" cy="4660265"/>
        </p:xfrm>
        <a:graphic>
          <a:graphicData uri="http://schemas.openxmlformats.org/drawingml/2006/table">
            <a:tbl>
              <a:tblPr/>
              <a:tblGrid>
                <a:gridCol w="175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3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8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8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34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58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306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Plage de performance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Processus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Résultats 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Global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4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Nbr 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Nbr 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Nbr 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30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Médiocre &lt;50%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48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Moins performant 50 à 69%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22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23%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103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Performant 70 à 79%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25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26%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25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26%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842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Très performant 80 à 89%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37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39%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18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19%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46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48%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230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Excellent 90 à 99%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57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60%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Performance des AT par organisation 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374650" y="1458595"/>
          <a:ext cx="11251565" cy="5038725"/>
        </p:xfrm>
        <a:graphic>
          <a:graphicData uri="http://schemas.openxmlformats.org/drawingml/2006/table">
            <a:tbl>
              <a:tblPr/>
              <a:tblGrid>
                <a:gridCol w="1290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7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38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72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738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87884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Organisation 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Moins performant 50 à 69%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Performant 70 à 79%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Très performant 80 à 89%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Excellent 90 à 100%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63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Nbr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Nbr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Nbr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Nbr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26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AFENET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99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GENGER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78%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26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Mcking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99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OMS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19%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50%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25%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926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PATH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40%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60%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UNICEF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27%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53%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7884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VILLAGE REACH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33%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46%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13%</a:t>
                      </a:r>
                    </a:p>
                  </a:txBody>
                  <a:tcPr marL="7937" marR="7937" marT="7937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altLang="en-US"/>
              <a:t>Recommandations des AT pour amélioration de leur rendement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fr-FR"/>
              <a:t>Organiser une formation pour la ma</a:t>
            </a:r>
            <a:r>
              <a:rPr lang="en-US" altLang="en-US"/>
              <a:t>î</a:t>
            </a:r>
            <a:r>
              <a:rPr lang="en-US" altLang="fr-FR"/>
              <a:t>trise des crit</a:t>
            </a:r>
            <a:r>
              <a:rPr lang="en-US" altLang="en-US"/>
              <a:t>é</a:t>
            </a:r>
            <a:r>
              <a:rPr lang="en-US" altLang="fr-FR"/>
              <a:t>rium mashako 3.0 de qualit</a:t>
            </a:r>
            <a:r>
              <a:rPr lang="en-US" altLang="en-US"/>
              <a:t>é</a:t>
            </a:r>
            <a:r>
              <a:rPr lang="en-US" altLang="fr-FR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fr-FR"/>
              <a:t>Donner beaucoup plus de temps aux consultant</a:t>
            </a:r>
            <a:r>
              <a:rPr lang="fr-FR" altLang="en-US"/>
              <a:t>s</a:t>
            </a:r>
            <a:r>
              <a:rPr lang="en-US" altLang="fr-FR"/>
              <a:t> pour qu'il puisse bien accompagner </a:t>
            </a:r>
            <a:r>
              <a:rPr lang="fr-FR" altLang="en-US"/>
              <a:t>l’antenne </a:t>
            </a:r>
            <a:endParaRPr lang="en-US" altLang="en-US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fr-FR"/>
              <a:t>Donner suffisamment des moyens logistique</a:t>
            </a:r>
            <a:r>
              <a:rPr lang="fr-FR" altLang="en-US"/>
              <a:t>s</a:t>
            </a:r>
            <a:r>
              <a:rPr lang="en-US" altLang="fr-FR"/>
              <a:t> pour permettre au </a:t>
            </a:r>
            <a:r>
              <a:rPr lang="fr-FR" altLang="en-US"/>
              <a:t>ATs pour </a:t>
            </a:r>
            <a:r>
              <a:rPr lang="en-US" altLang="fr-FR"/>
              <a:t>atteindre </a:t>
            </a:r>
            <a:r>
              <a:rPr lang="fr-FR" altLang="en-US"/>
              <a:t>les résultats</a:t>
            </a:r>
            <a:r>
              <a:rPr lang="en-US" altLang="fr-FR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altLang="en-US"/>
              <a:t>Partager les orientations claires sur l’approche antenne</a:t>
            </a:r>
            <a:r>
              <a:rPr lang="en-US" altLang="fr-FR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fr-FR">
                <a:sym typeface="+mn-ea"/>
              </a:rPr>
              <a:t>Mieux repartir les Assistances techniques dans les ZS d'intervention pour </a:t>
            </a:r>
            <a:r>
              <a:rPr lang="en-US" altLang="en-US">
                <a:sym typeface="+mn-ea"/>
              </a:rPr>
              <a:t>é</a:t>
            </a:r>
            <a:r>
              <a:rPr lang="en-US" altLang="fr-FR">
                <a:sym typeface="+mn-ea"/>
              </a:rPr>
              <a:t>viter la concentration des appuis </a:t>
            </a:r>
            <a:r>
              <a:rPr lang="fr-FR" altLang="en-US">
                <a:sym typeface="+mn-ea"/>
              </a:rPr>
              <a:t>dans la même zone</a:t>
            </a:r>
            <a:r>
              <a:rPr lang="en-US" altLang="fr-FR">
                <a:sym typeface="+mn-ea"/>
              </a:rPr>
              <a:t>.</a:t>
            </a:r>
            <a:endParaRPr lang="en-US" altLang="fr-FR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fr-FR">
                <a:sym typeface="+mn-ea"/>
              </a:rPr>
              <a:t>Tenir des r</a:t>
            </a:r>
            <a:r>
              <a:rPr lang="en-US" altLang="en-US">
                <a:sym typeface="+mn-ea"/>
              </a:rPr>
              <a:t>é</a:t>
            </a:r>
            <a:r>
              <a:rPr lang="en-US" altLang="fr-FR">
                <a:sym typeface="+mn-ea"/>
              </a:rPr>
              <a:t>unions de</a:t>
            </a:r>
            <a:r>
              <a:rPr lang="fr-FR" altLang="en-US">
                <a:sym typeface="+mn-ea"/>
              </a:rPr>
              <a:t>e</a:t>
            </a:r>
            <a:r>
              <a:rPr lang="en-US" altLang="fr-FR">
                <a:sym typeface="+mn-ea"/>
              </a:rPr>
              <a:t> suivi et d'orientations avec le niveau central pour corriger certaines erreurs à mi-parcours;</a:t>
            </a:r>
            <a:endParaRPr lang="en-US" altLang="fr-FR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fr-F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altLang="en-US">
                <a:sym typeface="+mn-ea"/>
              </a:rPr>
              <a:t>Recommandations des AT pour amélioration de leur rendement</a:t>
            </a:r>
            <a:endParaRPr lang="fr-FR" alt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altLang="en-US"/>
              <a:t>Renforcer la </a:t>
            </a:r>
            <a:r>
              <a:rPr lang="en-US" altLang="fr-FR"/>
              <a:t>coordination provinciale </a:t>
            </a:r>
            <a:r>
              <a:rPr lang="fr-FR" altLang="en-US"/>
              <a:t>des activités des AT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altLang="en-US"/>
              <a:t>Mettre à la disposition des antennes les moyens pour l’organisation des </a:t>
            </a:r>
            <a:r>
              <a:rPr lang="en-US" altLang="fr-FR"/>
              <a:t>missions conjointes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fr-FR"/>
              <a:t>Mettre à jour les TDRs de l'assistance technique selon l'approche Antenne PEV et le contexte de chaque province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fr-FR">
                <a:sym typeface="+mn-ea"/>
              </a:rPr>
              <a:t>Revisiter les TDR et le cadre de performance des assistants techniques pour les rendre plus sp</a:t>
            </a:r>
            <a:r>
              <a:rPr lang="en-US" altLang="en-US">
                <a:sym typeface="+mn-ea"/>
              </a:rPr>
              <a:t>é</a:t>
            </a:r>
            <a:r>
              <a:rPr lang="en-US" altLang="fr-FR">
                <a:sym typeface="+mn-ea"/>
              </a:rPr>
              <a:t>cifiques à chaque type d'assistance technique au lieu de les garder plus g</a:t>
            </a:r>
            <a:r>
              <a:rPr lang="en-US" altLang="en-US">
                <a:sym typeface="+mn-ea"/>
              </a:rPr>
              <a:t>é</a:t>
            </a:r>
            <a:r>
              <a:rPr lang="en-US" altLang="fr-FR">
                <a:sym typeface="+mn-ea"/>
              </a:rPr>
              <a:t>n</a:t>
            </a:r>
            <a:r>
              <a:rPr lang="en-US" altLang="en-US">
                <a:sym typeface="+mn-ea"/>
              </a:rPr>
              <a:t>é</a:t>
            </a:r>
            <a:r>
              <a:rPr lang="en-US" altLang="fr-FR">
                <a:sym typeface="+mn-ea"/>
              </a:rPr>
              <a:t>rique et globalisant.</a:t>
            </a:r>
            <a:endParaRPr lang="en-US" altLang="fr-FR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fr-F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altLang="en-US"/>
              <a:t>MERCI </a:t>
            </a:r>
          </a:p>
        </p:txBody>
      </p:sp>
      <p:sp>
        <p:nvSpPr>
          <p:cNvPr id="5" name="Sous-titr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20*370"/>
  <p:tag name="TABLE_ENDDRAG_RECT" val="448*124*420*37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40*366"/>
  <p:tag name="TABLE_ENDDRAG_RECT" val="57*124*840*36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64*396"/>
  <p:tag name="TABLE_ENDDRAG_RECT" val="51*114*864*39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805</Words>
  <Application>Microsoft Office PowerPoint</Application>
  <PresentationFormat>Widescreen</PresentationFormat>
  <Paragraphs>213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微软雅黑</vt:lpstr>
      <vt:lpstr>Arial</vt:lpstr>
      <vt:lpstr>Calibri</vt:lpstr>
      <vt:lpstr>Calibri Light</vt:lpstr>
      <vt:lpstr>Office Theme</vt:lpstr>
      <vt:lpstr>RESULTATS AUTO-EVALUATION DES ASSISTANTS TECHNIQUES</vt:lpstr>
      <vt:lpstr>Rappel de la déclaration de Lusaka sur l’assistance technique en Afrique </vt:lpstr>
      <vt:lpstr>Rappel de la déclaration de Lusaka sur l’assistance technique en Afrique </vt:lpstr>
      <vt:lpstr>OBJECTIFS DE L’AUTOEVALUATION DES AT DE TERRAIN </vt:lpstr>
      <vt:lpstr>METHODOLOGIE </vt:lpstr>
      <vt:lpstr>DESCRIPTION DE L’ECHANTION</vt:lpstr>
      <vt:lpstr>Performance des AT : Processus, Résultats et global</vt:lpstr>
      <vt:lpstr>Performance des AT par organisation </vt:lpstr>
      <vt:lpstr>Recommandations des AT pour amélioration de leur rendement </vt:lpstr>
      <vt:lpstr>Recommandations des AT pour amélioration de leur rendement</vt:lpstr>
      <vt:lpstr>MERCI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Benedict Nguimbis</cp:lastModifiedBy>
  <cp:revision>4</cp:revision>
  <dcterms:created xsi:type="dcterms:W3CDTF">2025-07-23T01:59:00Z</dcterms:created>
  <dcterms:modified xsi:type="dcterms:W3CDTF">2025-12-17T07:40:05Z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1036-12.2.0.23155</vt:lpwstr>
  </property>
  <property fmtid="{D5CDD505-2E9C-101B-9397-08002B2CF9AE}" pid="3" name="ICV">
    <vt:lpwstr>A98185A5F0C143D3BA3EEF074225BC7A_11</vt:lpwstr>
  </property>
</Properties>
</file>