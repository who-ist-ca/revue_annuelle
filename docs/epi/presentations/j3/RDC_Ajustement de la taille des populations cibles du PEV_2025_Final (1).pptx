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2"/>
  </p:notesMasterIdLst>
  <p:sldIdLst>
    <p:sldId id="256" r:id="rId3"/>
    <p:sldId id="257" r:id="rId4"/>
    <p:sldId id="260" r:id="rId5"/>
    <p:sldId id="259" r:id="rId6"/>
    <p:sldId id="261" r:id="rId7"/>
    <p:sldId id="2186" r:id="rId8"/>
    <p:sldId id="262" r:id="rId9"/>
    <p:sldId id="285" r:id="rId10"/>
    <p:sldId id="263" r:id="rId11"/>
    <p:sldId id="284" r:id="rId12"/>
    <p:sldId id="283" r:id="rId13"/>
    <p:sldId id="281" r:id="rId14"/>
    <p:sldId id="286" r:id="rId15"/>
    <p:sldId id="2181" r:id="rId16"/>
    <p:sldId id="287" r:id="rId17"/>
    <p:sldId id="2184" r:id="rId18"/>
    <p:sldId id="2185" r:id="rId19"/>
    <p:sldId id="2182" r:id="rId20"/>
    <p:sldId id="26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F6F3F68-0D6E-C36E-9479-1ED2DC05523C}" name="NIMPA MENGOUO, Marcellin" initials="NMM" userId="S::nimpamengouom@who.int::cb4c7e70-d9af-4057-816a-3f9ff3da972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2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3" autoAdjust="0"/>
    <p:restoredTop sz="94660"/>
  </p:normalViewPr>
  <p:slideViewPr>
    <p:cSldViewPr snapToGrid="0">
      <p:cViewPr varScale="1">
        <p:scale>
          <a:sx n="77" d="100"/>
          <a:sy n="77" d="100"/>
        </p:scale>
        <p:origin x="96" y="3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WANGA, Cedric" userId="721c01b3-afc0-4c7c-852d-72588a3043f2" providerId="ADAL" clId="{3B8516EC-9079-4863-8A58-782ACA0A73CA}"/>
    <pc:docChg chg="custSel modSld">
      <pc:chgData name="MWANGA, Cedric" userId="721c01b3-afc0-4c7c-852d-72588a3043f2" providerId="ADAL" clId="{3B8516EC-9079-4863-8A58-782ACA0A73CA}" dt="2025-02-20T13:12:31.638" v="33" actId="20577"/>
      <pc:docMkLst>
        <pc:docMk/>
      </pc:docMkLst>
      <pc:sldChg chg="modSp mod">
        <pc:chgData name="MWANGA, Cedric" userId="721c01b3-afc0-4c7c-852d-72588a3043f2" providerId="ADAL" clId="{3B8516EC-9079-4863-8A58-782ACA0A73CA}" dt="2025-02-20T12:34:32.797" v="13" actId="20577"/>
        <pc:sldMkLst>
          <pc:docMk/>
          <pc:sldMk cId="115884726" sldId="257"/>
        </pc:sldMkLst>
        <pc:spChg chg="mod">
          <ac:chgData name="MWANGA, Cedric" userId="721c01b3-afc0-4c7c-852d-72588a3043f2" providerId="ADAL" clId="{3B8516EC-9079-4863-8A58-782ACA0A73CA}" dt="2025-02-20T12:34:32.797" v="13" actId="20577"/>
          <ac:spMkLst>
            <pc:docMk/>
            <pc:sldMk cId="115884726" sldId="257"/>
            <ac:spMk id="5" creationId="{683B44C2-FA59-4A22-936C-6C1B0CD162EA}"/>
          </ac:spMkLst>
        </pc:spChg>
      </pc:sldChg>
      <pc:sldChg chg="modSp mod">
        <pc:chgData name="MWANGA, Cedric" userId="721c01b3-afc0-4c7c-852d-72588a3043f2" providerId="ADAL" clId="{3B8516EC-9079-4863-8A58-782ACA0A73CA}" dt="2025-02-20T12:36:58.365" v="31" actId="20577"/>
        <pc:sldMkLst>
          <pc:docMk/>
          <pc:sldMk cId="465089167" sldId="259"/>
        </pc:sldMkLst>
        <pc:spChg chg="mod">
          <ac:chgData name="MWANGA, Cedric" userId="721c01b3-afc0-4c7c-852d-72588a3043f2" providerId="ADAL" clId="{3B8516EC-9079-4863-8A58-782ACA0A73CA}" dt="2025-02-20T12:36:58.365" v="31" actId="20577"/>
          <ac:spMkLst>
            <pc:docMk/>
            <pc:sldMk cId="465089167" sldId="259"/>
            <ac:spMk id="5" creationId="{683B44C2-FA59-4A22-936C-6C1B0CD162EA}"/>
          </ac:spMkLst>
        </pc:spChg>
      </pc:sldChg>
      <pc:sldChg chg="modSp mod">
        <pc:chgData name="MWANGA, Cedric" userId="721c01b3-afc0-4c7c-852d-72588a3043f2" providerId="ADAL" clId="{3B8516EC-9079-4863-8A58-782ACA0A73CA}" dt="2025-02-20T12:35:44.421" v="18" actId="20577"/>
        <pc:sldMkLst>
          <pc:docMk/>
          <pc:sldMk cId="3605824073" sldId="260"/>
        </pc:sldMkLst>
        <pc:spChg chg="mod">
          <ac:chgData name="MWANGA, Cedric" userId="721c01b3-afc0-4c7c-852d-72588a3043f2" providerId="ADAL" clId="{3B8516EC-9079-4863-8A58-782ACA0A73CA}" dt="2025-02-20T12:34:46.969" v="16" actId="33524"/>
          <ac:spMkLst>
            <pc:docMk/>
            <pc:sldMk cId="3605824073" sldId="260"/>
            <ac:spMk id="2" creationId="{8487084C-31A5-4472-8BF7-8EE2508FD9FD}"/>
          </ac:spMkLst>
        </pc:spChg>
        <pc:spChg chg="mod">
          <ac:chgData name="MWANGA, Cedric" userId="721c01b3-afc0-4c7c-852d-72588a3043f2" providerId="ADAL" clId="{3B8516EC-9079-4863-8A58-782ACA0A73CA}" dt="2025-02-20T12:35:44.421" v="18" actId="20577"/>
          <ac:spMkLst>
            <pc:docMk/>
            <pc:sldMk cId="3605824073" sldId="260"/>
            <ac:spMk id="3" creationId="{5B7A9EC5-FCCF-4EBA-9181-20303A2677C1}"/>
          </ac:spMkLst>
        </pc:spChg>
      </pc:sldChg>
      <pc:sldChg chg="modSp mod">
        <pc:chgData name="MWANGA, Cedric" userId="721c01b3-afc0-4c7c-852d-72588a3043f2" providerId="ADAL" clId="{3B8516EC-9079-4863-8A58-782ACA0A73CA}" dt="2025-02-20T13:12:31.638" v="33" actId="20577"/>
        <pc:sldMkLst>
          <pc:docMk/>
          <pc:sldMk cId="1806927491" sldId="2182"/>
        </pc:sldMkLst>
        <pc:spChg chg="mod">
          <ac:chgData name="MWANGA, Cedric" userId="721c01b3-afc0-4c7c-852d-72588a3043f2" providerId="ADAL" clId="{3B8516EC-9079-4863-8A58-782ACA0A73CA}" dt="2025-02-20T13:12:31.638" v="33" actId="20577"/>
          <ac:spMkLst>
            <pc:docMk/>
            <pc:sldMk cId="1806927491" sldId="2182"/>
            <ac:spMk id="5" creationId="{683B44C2-FA59-4A22-936C-6C1B0CD162EA}"/>
          </ac:spMkLst>
        </pc:spChg>
      </pc:sldChg>
    </pc:docChg>
  </pc:docChgLst>
  <pc:docChgLst>
    <pc:chgData name="MWANGA, Cedric" userId="721c01b3-afc0-4c7c-852d-72588a3043f2" providerId="ADAL" clId="{B12E47BB-4E30-48D8-A0C6-874D084003E3}"/>
    <pc:docChg chg="modSld">
      <pc:chgData name="MWANGA, Cedric" userId="721c01b3-afc0-4c7c-852d-72588a3043f2" providerId="ADAL" clId="{B12E47BB-4E30-48D8-A0C6-874D084003E3}" dt="2025-02-18T09:14:23.560" v="0"/>
      <pc:docMkLst>
        <pc:docMk/>
      </pc:docMkLst>
      <pc:sldChg chg="modSp">
        <pc:chgData name="MWANGA, Cedric" userId="721c01b3-afc0-4c7c-852d-72588a3043f2" providerId="ADAL" clId="{B12E47BB-4E30-48D8-A0C6-874D084003E3}" dt="2025-02-18T09:14:23.560" v="0"/>
        <pc:sldMkLst>
          <pc:docMk/>
          <pc:sldMk cId="600383615" sldId="262"/>
        </pc:sldMkLst>
        <pc:graphicFrameChg chg="mod">
          <ac:chgData name="MWANGA, Cedric" userId="721c01b3-afc0-4c7c-852d-72588a3043f2" providerId="ADAL" clId="{B12E47BB-4E30-48D8-A0C6-874D084003E3}" dt="2025-02-18T09:14:23.560" v="0"/>
          <ac:graphicFrameMkLst>
            <pc:docMk/>
            <pc:sldMk cId="600383615" sldId="262"/>
            <ac:graphicFrameMk id="2" creationId="{5FE0C9C7-7251-A4D3-24FF-13004EF174DD}"/>
          </ac:graphicFrameMkLst>
        </pc:graphicFrame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7BBAE-A262-4095-BC6E-BE8B600A77C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BE6EF9-8ED8-40C8-9CDD-7446378D20F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9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="" xmlns:a16="http://schemas.microsoft.com/office/drawing/2014/main" id="{CE720700-6DCE-4403-9393-0E7AD176CA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668588" y="519113"/>
            <a:ext cx="4525962" cy="25463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="" xmlns:a16="http://schemas.microsoft.com/office/drawing/2014/main" id="{F88417B1-1280-4925-9505-73680753A21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92188" y="3228975"/>
            <a:ext cx="7942262" cy="30575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altLang="fr-FR"/>
          </a:p>
        </p:txBody>
      </p:sp>
    </p:spTree>
    <p:extLst>
      <p:ext uri="{BB962C8B-B14F-4D97-AF65-F5344CB8AC3E}">
        <p14:creationId xmlns:p14="http://schemas.microsoft.com/office/powerpoint/2010/main" val="3859500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8F692FF-03A7-4027-ADFE-44E69135861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13CA12D-4510-440A-A164-A3C2A0711B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1380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692FF-03A7-4027-ADFE-44E69135861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A12D-4510-440A-A164-A3C2A0711B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8859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8F692FF-03A7-4027-ADFE-44E69135861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F13CA12D-4510-440A-A164-A3C2A0711B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15456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692FF-03A7-4027-ADFE-44E69135861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A12D-4510-440A-A164-A3C2A0711B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3851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692FF-03A7-4027-ADFE-44E69135861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A12D-4510-440A-A164-A3C2A0711B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2049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692FF-03A7-4027-ADFE-44E69135861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A12D-4510-440A-A164-A3C2A0711B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8689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692FF-03A7-4027-ADFE-44E69135861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A12D-4510-440A-A164-A3C2A0711B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612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692FF-03A7-4027-ADFE-44E69135861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fr-F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13CA12D-4510-440A-A164-A3C2A0711BAD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91079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28F692FF-03A7-4027-ADFE-44E69135861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13CA12D-4510-440A-A164-A3C2A0711BAD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2475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692FF-03A7-4027-ADFE-44E69135861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A12D-4510-440A-A164-A3C2A0711B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3018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692FF-03A7-4027-ADFE-44E69135861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A12D-4510-440A-A164-A3C2A0711B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2265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31D32E6-157C-23F0-EA5E-B34448339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6760B33-88DE-7CF5-AB74-92417737E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30D6108-FADD-B30D-DCC9-0ECD81371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56924-F9DA-4FFB-BB0A-49F438EC028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23548E3-CEB8-8BDC-B3A7-9DED88E36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1AB8C36-4E76-4855-DF93-9F3FC37F6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BDC2A-1B28-4739-94E8-53CDF1A4BB6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15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607910F-5F37-4B3B-1C70-232F042A5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F6D3E9B-FFC1-2E05-BE3A-6D66646B3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A355BF7-2878-8235-84FF-CCB2EC17B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56924-F9DA-4FFB-BB0A-49F438EC028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AB4E131-3760-C961-80D7-D5BF4815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D524B3E-1B44-EBA6-4FAA-7184CE126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BDC2A-1B28-4739-94E8-53CDF1A4BB6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217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9977A56-E770-16C3-1013-AED9B4F16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6A3123D-A054-23C9-47D6-51E627DE1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C2A76FD-6F52-5A61-1DA3-DD1123419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56924-F9DA-4FFB-BB0A-49F438EC028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D99CB9E-8549-1952-1029-7B6B8388C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64AB1D7-419D-1CB0-AC1D-6034426A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BDC2A-1B28-4739-94E8-53CDF1A4BB6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4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61AB598-F240-2C0A-4783-510ECFD6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C47E4A2-7B9B-6C47-695A-8240A33158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35798F2-43E5-0ADF-5BA5-0A7DB89A6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5ED5E06-138E-0049-6256-671ECCB59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56924-F9DA-4FFB-BB0A-49F438EC028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721B34B-D49F-FA0F-5D00-3C96560FA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AEEFE7E-852F-7621-5304-789A756D3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BDC2A-1B28-4739-94E8-53CDF1A4BB6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235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B9CFBCA-D583-634B-9B65-20924E380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2A9A6EF-1E4C-83CE-0A7C-1ACF4CC1B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141A090-0A28-95E6-D903-B5DAA5C78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117E50F7-AA12-55B8-4DA9-C154C62F0C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9684BB27-E1F7-A26D-B0DE-D9F8F9EF03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22D53845-BB2B-1AD6-5CEB-DC4D97AD2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56924-F9DA-4FFB-BB0A-49F438EC028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D0686CD3-45B3-25F3-DA10-0EC782A42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169F86AF-38DD-D1E1-72B0-10C22C0B3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BDC2A-1B28-4739-94E8-53CDF1A4BB6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111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D09D1B-65D8-265B-49FA-66243A97F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66D099D-5F84-E78D-1C9C-EEED423C1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56924-F9DA-4FFB-BB0A-49F438EC028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307DB71-62A0-65E8-2CA1-887C04C96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050A542-EAD9-33E5-5D20-4207CC0EF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BDC2A-1B28-4739-94E8-53CDF1A4BB6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090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5FDEA37-7B90-56F5-F785-685B53C84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56924-F9DA-4FFB-BB0A-49F438EC028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2ACC1AB4-1DC5-21C0-61E6-E284B4234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B81DFEA-6A56-E417-DE72-77D805CE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BDC2A-1B28-4739-94E8-53CDF1A4BB6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3123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BE2802E-F0EF-C2B5-9569-46C603C8B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62E938C-91CC-0C33-5571-5A48E8EC7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437D8E66-7832-1441-C05E-F9B793847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0968700-31EC-3F99-4DF4-FEEB31DAC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56924-F9DA-4FFB-BB0A-49F438EC028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3F06C71-C579-5383-8843-12A104BA1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3A0D16E-D6FF-65C9-75A7-DF735E15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BDC2A-1B28-4739-94E8-53CDF1A4BB6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037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86E28E7-D8D0-0BE1-7408-64DDBE62A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3137F361-8A13-ED78-830F-F219F4153C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D09E3F04-4AEE-C654-5194-D12123CF1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E7C51F0-C5FE-37D6-7A98-EEA524FBF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56924-F9DA-4FFB-BB0A-49F438EC028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E466029-B4AF-BAAA-094C-CAFF7A5B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4A79549-F9B2-D821-F594-5FAA0A0F9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BDC2A-1B28-4739-94E8-53CDF1A4BB6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878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E87F28C-4F2C-0B5F-298D-A493F16A6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36A2B7C-51B7-106D-71D5-3882BB08D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19F3E36-F8C6-E38C-0F2C-A52E61096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56924-F9DA-4FFB-BB0A-49F438EC028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BEB4C59-1CF0-8C18-BCBD-AB7F47E0A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9EAC27-1E24-A35B-56EB-BD2E2811F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BDC2A-1B28-4739-94E8-53CDF1A4BB6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5468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DDF3504D-859E-2EEC-B8F1-686E962A9A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9B355A6-4670-2C43-56A6-07FEAF3F2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A202CA6-E23F-DAC0-6CE3-9FF4469A6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56924-F9DA-4FFB-BB0A-49F438EC028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65CEAAD-FA08-AA2E-D29C-E822E556F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EEEEBEA-FFA4-0E13-E3A7-DC4D123B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BDC2A-1B28-4739-94E8-53CDF1A4BB6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8929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51432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8F692FF-03A7-4027-ADFE-44E691358618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13CA12D-4510-440A-A164-A3C2A0711B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3361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0150F2ED-9CBC-0E44-DBFE-18345E681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C4414EE-11B9-A8C7-6894-240E37E27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DCDF880-683A-3734-E0D7-EF325D054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F56924-F9DA-4FFB-BB0A-49F438EC028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0FB2CC-221F-8F5A-3102-09C67D499D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62275FA-65FD-0956-30D0-D0BCB5B39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BDC2A-1B28-4739-94E8-53CDF1A4BB6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568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1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4E73FA-3960-4ED3-B9D4-3A7BB5820E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4400" b="1" dirty="0"/>
              <a:t>ajustement des cibles du PEV-RDC POUR LES ANNEES 2024 ET 2025</a:t>
            </a:r>
            <a:br>
              <a:rPr lang="fr-FR" sz="4400" b="1" dirty="0"/>
            </a:br>
            <a:endParaRPr lang="fr-FR" sz="4400" b="1" dirty="0"/>
          </a:p>
        </p:txBody>
      </p:sp>
    </p:spTree>
    <p:extLst>
      <p:ext uri="{BB962C8B-B14F-4D97-AF65-F5344CB8AC3E}">
        <p14:creationId xmlns:p14="http://schemas.microsoft.com/office/powerpoint/2010/main" val="3343144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70120F84-A866-4D9F-8B1C-9120A013D6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252FEFEF-6AC0-46B6-AC09-11FC56196FA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0D55A6F-7190-47FE-A830-5DF140C82A13}"/>
              </a:ext>
            </a:extLst>
          </p:cNvPr>
          <p:cNvSpPr/>
          <p:nvPr/>
        </p:nvSpPr>
        <p:spPr>
          <a:xfrm>
            <a:off x="337625" y="337625"/>
            <a:ext cx="11465169" cy="86094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Justification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683B44C2-FA59-4A22-936C-6C1B0CD162EA}"/>
              </a:ext>
            </a:extLst>
          </p:cNvPr>
          <p:cNvSpPr/>
          <p:nvPr/>
        </p:nvSpPr>
        <p:spPr>
          <a:xfrm>
            <a:off x="210313" y="1023730"/>
            <a:ext cx="11722608" cy="55854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1984: Dernier recensement général de la population en RDC.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Projections à partir du taux de croissance estimé, utilisées chaque année pour fixer les cibles du PEV.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Constat: </a:t>
            </a:r>
          </a:p>
          <a:p>
            <a:pPr marL="914400" lvl="1" indent="-4572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Couverture vaccinale de plus de 100% dans plusieurs zones de santé; </a:t>
            </a:r>
          </a:p>
          <a:p>
            <a:pPr marL="914400" lvl="1" indent="-4572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Ecart CV adm et ECV.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Janvier-Septembre 2024: </a:t>
            </a:r>
            <a:endParaRPr lang="fr-FR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fr-FR" sz="24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 </a:t>
            </a:r>
            <a:r>
              <a:rPr lang="fr-F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provinces (35 %) avec au moins 30 % de ZS avec une CV Penta 3 &lt;80 %</a:t>
            </a:r>
          </a:p>
          <a:p>
            <a:pPr marL="914400" lvl="1" indent="-4572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fr-FR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fr-FR" sz="24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 provinces sur 26 (soit 27 %) avec moins de 10 % de ZS ayant une CV </a:t>
            </a:r>
            <a:r>
              <a:rPr lang="fr-FR" sz="2400" dirty="0" err="1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adm</a:t>
            </a:r>
            <a:r>
              <a:rPr lang="fr-FR" sz="24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Penta 3 &lt; 80 %.</a:t>
            </a:r>
          </a:p>
          <a:p>
            <a:pPr marL="914400" lvl="1" indent="-4572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Nécessité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d’ajuster les cibles du PEV de 2024 et 2025 afin de réduire l’écart entre les CV </a:t>
            </a:r>
            <a:r>
              <a:rPr lang="fr-FR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admin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et ECV.</a:t>
            </a: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884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70120F84-A866-4D9F-8B1C-9120A013D6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252FEFEF-6AC0-46B6-AC09-11FC56196FA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0D55A6F-7190-47FE-A830-5DF140C82A13}"/>
              </a:ext>
            </a:extLst>
          </p:cNvPr>
          <p:cNvSpPr/>
          <p:nvPr/>
        </p:nvSpPr>
        <p:spPr>
          <a:xfrm>
            <a:off x="337625" y="337625"/>
            <a:ext cx="11465169" cy="110976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Méthodologie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487084C-31A5-4472-8BF7-8EE2508FD9FD}"/>
              </a:ext>
            </a:extLst>
          </p:cNvPr>
          <p:cNvSpPr/>
          <p:nvPr/>
        </p:nvSpPr>
        <p:spPr>
          <a:xfrm>
            <a:off x="259080" y="1631852"/>
            <a:ext cx="5705622" cy="48252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b="1" dirty="0"/>
              <a:t>Atelier d’ajustement des données (Kinshasa: 27-29 novembre 2024)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b="1" dirty="0"/>
              <a:t>Participants: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fr-FR" sz="2400" dirty="0"/>
              <a:t>PEV-RDC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fr-FR" sz="2400" dirty="0"/>
              <a:t>INS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fr-FR" sz="2400" dirty="0"/>
              <a:t>PNLP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fr-FR" sz="2400" dirty="0"/>
              <a:t>DSNIS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fr-FR" sz="2400" dirty="0"/>
              <a:t>OMS RDC.</a:t>
            </a:r>
          </a:p>
          <a:p>
            <a:endParaRPr lang="fr-FR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b="1" dirty="0"/>
              <a:t>Appui technique:</a:t>
            </a:r>
            <a:r>
              <a:rPr lang="fr-FR" sz="2400" dirty="0"/>
              <a:t> OMS HQ et OMS AFRO.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5B7A9EC5-FCCF-4EBA-9181-20303A2677C1}"/>
              </a:ext>
            </a:extLst>
          </p:cNvPr>
          <p:cNvSpPr/>
          <p:nvPr/>
        </p:nvSpPr>
        <p:spPr>
          <a:xfrm>
            <a:off x="6096000" y="1631852"/>
            <a:ext cx="5836920" cy="48252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2400" dirty="0"/>
          </a:p>
          <a:p>
            <a:endParaRPr lang="fr-FR" sz="2400" dirty="0"/>
          </a:p>
          <a:p>
            <a:pPr>
              <a:spcAft>
                <a:spcPts val="600"/>
              </a:spcAft>
            </a:pP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Données utilisées pour l’ajustement: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Cibles admin du PEV 2023 et 2024.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CV administratives 2023 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CV administratives 2024.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Enquête de CV 2023.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fr-F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endParaRPr lang="fr-F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endParaRPr lang="fr-F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endParaRPr lang="fr-F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endParaRPr lang="fr-F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/>
          </a:p>
          <a:p>
            <a:endParaRPr lang="fr-FR" dirty="0"/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05824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70120F84-A866-4D9F-8B1C-9120A013D6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252FEFEF-6AC0-46B6-AC09-11FC56196FA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0D55A6F-7190-47FE-A830-5DF140C82A13}"/>
              </a:ext>
            </a:extLst>
          </p:cNvPr>
          <p:cNvSpPr/>
          <p:nvPr/>
        </p:nvSpPr>
        <p:spPr>
          <a:xfrm>
            <a:off x="337625" y="337625"/>
            <a:ext cx="11465169" cy="110976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Méthodologie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683B44C2-FA59-4A22-936C-6C1B0CD162EA}"/>
              </a:ext>
            </a:extLst>
          </p:cNvPr>
          <p:cNvSpPr/>
          <p:nvPr/>
        </p:nvSpPr>
        <p:spPr>
          <a:xfrm>
            <a:off x="363415" y="1630017"/>
            <a:ext cx="11465169" cy="48903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Principes :</a:t>
            </a:r>
          </a:p>
          <a:p>
            <a:endParaRPr lang="fr-FR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Population de référence: cibles du PEV 2023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Population des données sur le nombre d’enfants vaccinés (Penta 1 pour les </a:t>
            </a: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nourrissons survivants </a:t>
            </a: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et BCG pour les naissances vivantes) et les résultats de l’ECV 2023.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Hypothèses émises :</a:t>
            </a:r>
            <a:endParaRPr lang="fr-F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Les données sur les enfants vaccinés sont correctes.  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Les résultats de l’ECV sont fiables.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Les cibles réelles sont celles calculées en utilisant les données sur les enfants vaccinés et les résultats de l’ECV pour chaque zone de santé. 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fr-F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fr-F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6508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70120F84-A866-4D9F-8B1C-9120A013D6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252FEFEF-6AC0-46B6-AC09-11FC56196FA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0D55A6F-7190-47FE-A830-5DF140C82A13}"/>
              </a:ext>
            </a:extLst>
          </p:cNvPr>
          <p:cNvSpPr/>
          <p:nvPr/>
        </p:nvSpPr>
        <p:spPr>
          <a:xfrm>
            <a:off x="337625" y="337625"/>
            <a:ext cx="11465169" cy="110976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Méthodologie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683B44C2-FA59-4A22-936C-6C1B0CD162EA}"/>
              </a:ext>
            </a:extLst>
          </p:cNvPr>
          <p:cNvSpPr/>
          <p:nvPr/>
        </p:nvSpPr>
        <p:spPr>
          <a:xfrm>
            <a:off x="210312" y="1447391"/>
            <a:ext cx="11722607" cy="51617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fr-FR" sz="2000" b="1" dirty="0">
                <a:latin typeface="Calibri" panose="020F0502020204030204" pitchFamily="34" charset="0"/>
                <a:cs typeface="Calibri" panose="020F0502020204030204" pitchFamily="34" charset="0"/>
              </a:rPr>
              <a:t>Procédure: 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Calcul de la population ajustée 2023: Vaccinés </a:t>
            </a:r>
            <a:r>
              <a:rPr lang="fr-F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2023 / CV 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ECV 2023.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Ajustement de la cible 2024: </a:t>
            </a:r>
            <a:r>
              <a:rPr lang="fr-F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augmentation de 3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% </a:t>
            </a:r>
            <a:r>
              <a:rPr lang="fr-F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de la 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cible </a:t>
            </a:r>
            <a:r>
              <a:rPr lang="fr-F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2023.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Cible ajustée 2024: </a:t>
            </a:r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Application du taux de croissance à la cible ajustée de 2023.</a:t>
            </a:r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Maintien de la cible admin lorsque la cible ajustée est inférieure à la cible admin.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CV ajustée (Penta 1): </a:t>
            </a:r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Nb de vaccinés de 2024 divisé par la cible ajustée.</a:t>
            </a:r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Si la CV ajustée restait &gt;100%, on appliquait une augmentation de 5% au nombre de vaccinés de l’année comme dénominateur de manière à ramener la CV à 95</a:t>
            </a:r>
            <a:r>
              <a:rPr lang="fr-F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%.    </a:t>
            </a:r>
            <a:r>
              <a:rPr lang="fr-FR" sz="20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pourquoi</a:t>
            </a:r>
            <a:endParaRPr lang="fr-FR" sz="2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Calcul des cibles ajustées 2025 en appliquant 3% de taux de croissance à la population ajustée de 2024.</a:t>
            </a: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4453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70120F84-A866-4D9F-8B1C-9120A013D6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252FEFEF-6AC0-46B6-AC09-11FC56196FA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0D55A6F-7190-47FE-A830-5DF140C82A13}"/>
              </a:ext>
            </a:extLst>
          </p:cNvPr>
          <p:cNvSpPr/>
          <p:nvPr/>
        </p:nvSpPr>
        <p:spPr>
          <a:xfrm>
            <a:off x="337625" y="337625"/>
            <a:ext cx="11465169" cy="110976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Méthodologie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24" y="2087217"/>
            <a:ext cx="11465169" cy="4422912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795130" y="1674056"/>
            <a:ext cx="10088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E</a:t>
            </a:r>
            <a:r>
              <a:rPr lang="fr-FR" dirty="0" smtClean="0"/>
              <a:t>tapes </a:t>
            </a:r>
            <a:r>
              <a:rPr lang="fr-FR" dirty="0"/>
              <a:t>suivies pour l’ajustement des cibles 2024 et 2025 par zone de santé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464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70120F84-A866-4D9F-8B1C-9120A013D6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252FEFEF-6AC0-46B6-AC09-11FC56196FA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0D55A6F-7190-47FE-A830-5DF140C82A13}"/>
              </a:ext>
            </a:extLst>
          </p:cNvPr>
          <p:cNvSpPr/>
          <p:nvPr/>
        </p:nvSpPr>
        <p:spPr>
          <a:xfrm>
            <a:off x="337625" y="337625"/>
            <a:ext cx="11465169" cy="110976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Résultats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683B44C2-FA59-4A22-936C-6C1B0CD162EA}"/>
              </a:ext>
            </a:extLst>
          </p:cNvPr>
          <p:cNvSpPr/>
          <p:nvPr/>
        </p:nvSpPr>
        <p:spPr>
          <a:xfrm>
            <a:off x="337625" y="1630017"/>
            <a:ext cx="11465169" cy="48903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Réajustement des cibles de survivants et naissances vivantes 2024 et 2025: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fr-F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dirty="0"/>
          </a:p>
        </p:txBody>
      </p:sp>
      <p:graphicFrame>
        <p:nvGraphicFramePr>
          <p:cNvPr id="2" name="Object 1">
            <a:extLst>
              <a:ext uri="{FF2B5EF4-FFF2-40B4-BE49-F238E27FC236}">
                <a16:creationId xmlns="" xmlns:a16="http://schemas.microsoft.com/office/drawing/2014/main" id="{5FE0C9C7-7251-A4D3-24FF-13004EF174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5978888"/>
              </p:ext>
            </p:extLst>
          </p:nvPr>
        </p:nvGraphicFramePr>
        <p:xfrm>
          <a:off x="3927475" y="4064000"/>
          <a:ext cx="3810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" name="Feuille de calcul" showAsIcon="1" r:id="rId3" imgW="381071" imgH="792417" progId="Excel.Sheet.12">
                  <p:embed/>
                </p:oleObj>
              </mc:Choice>
              <mc:Fallback>
                <p:oleObj name="Feuille de calcul" showAsIcon="1" r:id="rId3" imgW="381071" imgH="792417" progId="Excel.Sheet.12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="" xmlns:a16="http://schemas.microsoft.com/office/drawing/2014/main" id="{5FE0C9C7-7251-A4D3-24FF-13004EF174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27475" y="4064000"/>
                        <a:ext cx="3810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0383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0D55A6F-7190-47FE-A830-5DF140C82A13}"/>
              </a:ext>
            </a:extLst>
          </p:cNvPr>
          <p:cNvSpPr/>
          <p:nvPr/>
        </p:nvSpPr>
        <p:spPr>
          <a:xfrm>
            <a:off x="337625" y="337625"/>
            <a:ext cx="11465169" cy="110976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Survivants admin et ajustés en 2024 par province </a:t>
            </a:r>
          </a:p>
        </p:txBody>
      </p:sp>
      <p:pic>
        <p:nvPicPr>
          <p:cNvPr id="3" name="Picture 2" descr="A graph of different colored bars&#10;&#10;Description automatically generated">
            <a:extLst>
              <a:ext uri="{FF2B5EF4-FFF2-40B4-BE49-F238E27FC236}">
                <a16:creationId xmlns="" xmlns:a16="http://schemas.microsoft.com/office/drawing/2014/main" id="{B41B2C63-5354-B9C3-2C74-6D9CEAE771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24" y="1447390"/>
            <a:ext cx="11465169" cy="507298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CD623939-BCC8-1B1A-0E9E-4C537DF8F80C}"/>
              </a:ext>
            </a:extLst>
          </p:cNvPr>
          <p:cNvSpPr/>
          <p:nvPr/>
        </p:nvSpPr>
        <p:spPr>
          <a:xfrm>
            <a:off x="1556951" y="1558351"/>
            <a:ext cx="428368" cy="3993952"/>
          </a:xfrm>
          <a:prstGeom prst="rect">
            <a:avLst/>
          </a:prstGeom>
          <a:noFill/>
          <a:ln w="19050">
            <a:solidFill>
              <a:schemeClr val="tx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6275FA4-0C17-B049-088A-4ECE938C02D6}"/>
              </a:ext>
            </a:extLst>
          </p:cNvPr>
          <p:cNvSpPr/>
          <p:nvPr/>
        </p:nvSpPr>
        <p:spPr>
          <a:xfrm>
            <a:off x="7497309" y="2779076"/>
            <a:ext cx="428368" cy="3246183"/>
          </a:xfrm>
          <a:prstGeom prst="rect">
            <a:avLst/>
          </a:prstGeom>
          <a:noFill/>
          <a:ln w="19050">
            <a:solidFill>
              <a:schemeClr val="tx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A158A1A4-768D-2DA7-EF8B-3CB3CC853A66}"/>
              </a:ext>
            </a:extLst>
          </p:cNvPr>
          <p:cNvSpPr/>
          <p:nvPr/>
        </p:nvSpPr>
        <p:spPr>
          <a:xfrm>
            <a:off x="10863079" y="2031308"/>
            <a:ext cx="939714" cy="3993952"/>
          </a:xfrm>
          <a:prstGeom prst="rect">
            <a:avLst/>
          </a:prstGeom>
          <a:noFill/>
          <a:ln w="19050">
            <a:solidFill>
              <a:schemeClr val="tx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6723B453-02DD-84C8-C384-48945986783E}"/>
              </a:ext>
            </a:extLst>
          </p:cNvPr>
          <p:cNvSpPr/>
          <p:nvPr/>
        </p:nvSpPr>
        <p:spPr>
          <a:xfrm>
            <a:off x="3239836" y="1986906"/>
            <a:ext cx="428368" cy="3993952"/>
          </a:xfrm>
          <a:prstGeom prst="rect">
            <a:avLst/>
          </a:prstGeom>
          <a:noFill/>
          <a:ln w="19050">
            <a:solidFill>
              <a:schemeClr val="tx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FAE38D3B-6AFB-F889-02F1-124ADFB54994}"/>
              </a:ext>
            </a:extLst>
          </p:cNvPr>
          <p:cNvSpPr/>
          <p:nvPr/>
        </p:nvSpPr>
        <p:spPr>
          <a:xfrm>
            <a:off x="9180194" y="1986906"/>
            <a:ext cx="428368" cy="3993952"/>
          </a:xfrm>
          <a:prstGeom prst="rect">
            <a:avLst/>
          </a:prstGeom>
          <a:noFill/>
          <a:ln w="19050">
            <a:solidFill>
              <a:schemeClr val="tx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="" xmlns:a16="http://schemas.microsoft.com/office/drawing/2014/main" id="{7D54BADB-014E-2AB2-12F0-6CC0EFF5C9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515185"/>
              </p:ext>
            </p:extLst>
          </p:nvPr>
        </p:nvGraphicFramePr>
        <p:xfrm>
          <a:off x="5072241" y="1223070"/>
          <a:ext cx="3643630" cy="808237"/>
        </p:xfrm>
        <a:graphic>
          <a:graphicData uri="http://schemas.openxmlformats.org/drawingml/2006/table">
            <a:tbl>
              <a:tblPr firstRow="1" bandRow="1"/>
              <a:tblGrid>
                <a:gridCol w="990600">
                  <a:extLst>
                    <a:ext uri="{9D8B030D-6E8A-4147-A177-3AD203B41FA5}">
                      <a16:colId xmlns="" xmlns:a16="http://schemas.microsoft.com/office/drawing/2014/main" val="3498737656"/>
                    </a:ext>
                  </a:extLst>
                </a:gridCol>
                <a:gridCol w="1169670">
                  <a:extLst>
                    <a:ext uri="{9D8B030D-6E8A-4147-A177-3AD203B41FA5}">
                      <a16:colId xmlns="" xmlns:a16="http://schemas.microsoft.com/office/drawing/2014/main" val="28740788"/>
                    </a:ext>
                  </a:extLst>
                </a:gridCol>
                <a:gridCol w="797560">
                  <a:extLst>
                    <a:ext uri="{9D8B030D-6E8A-4147-A177-3AD203B41FA5}">
                      <a16:colId xmlns="" xmlns:a16="http://schemas.microsoft.com/office/drawing/2014/main" val="3562965254"/>
                    </a:ext>
                  </a:extLst>
                </a:gridCol>
                <a:gridCol w="685800">
                  <a:extLst>
                    <a:ext uri="{9D8B030D-6E8A-4147-A177-3AD203B41FA5}">
                      <a16:colId xmlns="" xmlns:a16="http://schemas.microsoft.com/office/drawing/2014/main" val="3826535450"/>
                    </a:ext>
                  </a:extLst>
                </a:gridCol>
              </a:tblGrid>
              <a:tr h="606178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Provinces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Cibles admin 2024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Cibles ajustées 2024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% variation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90916604"/>
                  </a:ext>
                </a:extLst>
              </a:tr>
              <a:tr h="202059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RDC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4,477,135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6,270,615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53237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8428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70120F84-A866-4D9F-8B1C-9120A013D6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252FEFEF-6AC0-46B6-AC09-11FC56196FA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0D55A6F-7190-47FE-A830-5DF140C82A13}"/>
              </a:ext>
            </a:extLst>
          </p:cNvPr>
          <p:cNvSpPr/>
          <p:nvPr/>
        </p:nvSpPr>
        <p:spPr>
          <a:xfrm>
            <a:off x="337625" y="337625"/>
            <a:ext cx="5578787" cy="110976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CV administrative Penta 1 2024 par ZS</a:t>
            </a:r>
          </a:p>
        </p:txBody>
      </p:sp>
      <p:pic>
        <p:nvPicPr>
          <p:cNvPr id="5" name="Picture 4" descr="A line with red dots&#10;&#10;Description automatically generated with medium confidence">
            <a:extLst>
              <a:ext uri="{FF2B5EF4-FFF2-40B4-BE49-F238E27FC236}">
                <a16:creationId xmlns="" xmlns:a16="http://schemas.microsoft.com/office/drawing/2014/main" id="{E8C9C4A8-D29F-6F07-4DE0-47E7A9A6C6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13" y="1558350"/>
            <a:ext cx="5584130" cy="365249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="" xmlns:a16="http://schemas.microsoft.com/office/drawing/2014/main" id="{F59AF799-2C88-134C-01E4-0DA52ECCD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556367"/>
              </p:ext>
            </p:extLst>
          </p:nvPr>
        </p:nvGraphicFramePr>
        <p:xfrm>
          <a:off x="694485" y="5299649"/>
          <a:ext cx="3228157" cy="1220725"/>
        </p:xfrm>
        <a:graphic>
          <a:graphicData uri="http://schemas.openxmlformats.org/drawingml/2006/table">
            <a:tbl>
              <a:tblPr firstRow="1" bandRow="1"/>
              <a:tblGrid>
                <a:gridCol w="1041910">
                  <a:extLst>
                    <a:ext uri="{9D8B030D-6E8A-4147-A177-3AD203B41FA5}">
                      <a16:colId xmlns="" xmlns:a16="http://schemas.microsoft.com/office/drawing/2014/main" val="2486949696"/>
                    </a:ext>
                  </a:extLst>
                </a:gridCol>
                <a:gridCol w="1300446">
                  <a:extLst>
                    <a:ext uri="{9D8B030D-6E8A-4147-A177-3AD203B41FA5}">
                      <a16:colId xmlns="" xmlns:a16="http://schemas.microsoft.com/office/drawing/2014/main" val="2918131375"/>
                    </a:ext>
                  </a:extLst>
                </a:gridCol>
                <a:gridCol w="885801">
                  <a:extLst>
                    <a:ext uri="{9D8B030D-6E8A-4147-A177-3AD203B41FA5}">
                      <a16:colId xmlns="" xmlns:a16="http://schemas.microsoft.com/office/drawing/2014/main" val="149693458"/>
                    </a:ext>
                  </a:extLst>
                </a:gridCol>
              </a:tblGrid>
              <a:tr h="244145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CV Penta1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Nombre de ZS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% de ZS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38647546"/>
                  </a:ext>
                </a:extLst>
              </a:tr>
              <a:tr h="244145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50%-79%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55774630"/>
                  </a:ext>
                </a:extLst>
              </a:tr>
              <a:tr h="244145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80%-99%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177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34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97175837"/>
                  </a:ext>
                </a:extLst>
              </a:tr>
              <a:tr h="244145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&gt;=100%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326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63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6375914"/>
                  </a:ext>
                </a:extLst>
              </a:tr>
              <a:tr h="244145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519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40095010"/>
                  </a:ext>
                </a:extLst>
              </a:tr>
            </a:tbl>
          </a:graphicData>
        </a:graphic>
      </p:graphicFrame>
      <p:pic>
        <p:nvPicPr>
          <p:cNvPr id="2" name="Picture 1" descr="A line of dots on a white background&#10;&#10;Description automatically generated">
            <a:extLst>
              <a:ext uri="{FF2B5EF4-FFF2-40B4-BE49-F238E27FC236}">
                <a16:creationId xmlns="" xmlns:a16="http://schemas.microsoft.com/office/drawing/2014/main" id="{CF4EAE53-2CED-D64C-6822-95A886F843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412" y="1558350"/>
            <a:ext cx="6016507" cy="366647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74AE5A65-7EC2-CE3B-CF8E-16ABFDF4F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51054"/>
              </p:ext>
            </p:extLst>
          </p:nvPr>
        </p:nvGraphicFramePr>
        <p:xfrm>
          <a:off x="7805530" y="5335788"/>
          <a:ext cx="3065037" cy="1143702"/>
        </p:xfrm>
        <a:graphic>
          <a:graphicData uri="http://schemas.openxmlformats.org/drawingml/2006/table">
            <a:tbl>
              <a:tblPr firstRow="1" bandRow="1"/>
              <a:tblGrid>
                <a:gridCol w="989262">
                  <a:extLst>
                    <a:ext uri="{9D8B030D-6E8A-4147-A177-3AD203B41FA5}">
                      <a16:colId xmlns="" xmlns:a16="http://schemas.microsoft.com/office/drawing/2014/main" val="2975615269"/>
                    </a:ext>
                  </a:extLst>
                </a:gridCol>
                <a:gridCol w="1234734">
                  <a:extLst>
                    <a:ext uri="{9D8B030D-6E8A-4147-A177-3AD203B41FA5}">
                      <a16:colId xmlns="" xmlns:a16="http://schemas.microsoft.com/office/drawing/2014/main" val="2451210645"/>
                    </a:ext>
                  </a:extLst>
                </a:gridCol>
                <a:gridCol w="841041">
                  <a:extLst>
                    <a:ext uri="{9D8B030D-6E8A-4147-A177-3AD203B41FA5}">
                      <a16:colId xmlns="" xmlns:a16="http://schemas.microsoft.com/office/drawing/2014/main" val="633833261"/>
                    </a:ext>
                  </a:extLst>
                </a:gridCol>
              </a:tblGrid>
              <a:tr h="190617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CV Penta1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Nombre de ZS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% de ZS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64161081"/>
                  </a:ext>
                </a:extLst>
              </a:tr>
              <a:tr h="190617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&lt;30%</a:t>
                      </a:r>
                      <a:endParaRPr lang="en-US" sz="1200" dirty="0">
                        <a:solidFill>
                          <a:srgbClr val="FFC000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1200" dirty="0">
                        <a:solidFill>
                          <a:srgbClr val="FFC000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dirty="0">
                        <a:solidFill>
                          <a:srgbClr val="FFC000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5358603"/>
                  </a:ext>
                </a:extLst>
              </a:tr>
              <a:tr h="190617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30%-49%</a:t>
                      </a:r>
                      <a:endParaRPr lang="en-US" sz="1200">
                        <a:solidFill>
                          <a:srgbClr val="FFC000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US" sz="1200">
                        <a:solidFill>
                          <a:srgbClr val="FFC000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200" dirty="0">
                        <a:solidFill>
                          <a:srgbClr val="FFC000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51292862"/>
                  </a:ext>
                </a:extLst>
              </a:tr>
              <a:tr h="190617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50%-79%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132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44865794"/>
                  </a:ext>
                </a:extLst>
              </a:tr>
              <a:tr h="190617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80%-99%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335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65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18359876"/>
                  </a:ext>
                </a:extLst>
              </a:tr>
              <a:tr h="190617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519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27208207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B8AA214C-FD4C-E04C-0548-5CB16DB87DD1}"/>
              </a:ext>
            </a:extLst>
          </p:cNvPr>
          <p:cNvSpPr/>
          <p:nvPr/>
        </p:nvSpPr>
        <p:spPr>
          <a:xfrm>
            <a:off x="6224007" y="337625"/>
            <a:ext cx="5578787" cy="109103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CV ajustée Penta 1 2024 par ZS</a:t>
            </a:r>
          </a:p>
        </p:txBody>
      </p:sp>
    </p:spTree>
    <p:extLst>
      <p:ext uri="{BB962C8B-B14F-4D97-AF65-F5344CB8AC3E}">
        <p14:creationId xmlns:p14="http://schemas.microsoft.com/office/powerpoint/2010/main" val="156440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70120F84-A866-4D9F-8B1C-9120A013D6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252FEFEF-6AC0-46B6-AC09-11FC56196FA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0D55A6F-7190-47FE-A830-5DF140C82A13}"/>
              </a:ext>
            </a:extLst>
          </p:cNvPr>
          <p:cNvSpPr/>
          <p:nvPr/>
        </p:nvSpPr>
        <p:spPr>
          <a:xfrm>
            <a:off x="337625" y="337625"/>
            <a:ext cx="11465169" cy="110976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Comparaison du nombre de vaccinés Penta 1 en 2023 et 2024 dans les zones de santé avec moins de 30% de CV Penta 1 ajustée</a:t>
            </a:r>
          </a:p>
        </p:txBody>
      </p:sp>
      <p:pic>
        <p:nvPicPr>
          <p:cNvPr id="3" name="Picture 2" descr="A graph of different colored bars&#10;&#10;Description automatically generated">
            <a:extLst>
              <a:ext uri="{FF2B5EF4-FFF2-40B4-BE49-F238E27FC236}">
                <a16:creationId xmlns="" xmlns:a16="http://schemas.microsoft.com/office/drawing/2014/main" id="{5FB4DA8E-64AF-CBA1-504B-3A0650C3D8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12" y="1447390"/>
            <a:ext cx="11771376" cy="50296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CF955B4-3FAE-D0B7-17DD-58673E9A750D}"/>
              </a:ext>
            </a:extLst>
          </p:cNvPr>
          <p:cNvSpPr/>
          <p:nvPr/>
        </p:nvSpPr>
        <p:spPr>
          <a:xfrm>
            <a:off x="683741" y="2557156"/>
            <a:ext cx="930875" cy="3637698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C8A7C8F-7835-910F-AA1F-5C0524AF0408}"/>
              </a:ext>
            </a:extLst>
          </p:cNvPr>
          <p:cNvSpPr/>
          <p:nvPr/>
        </p:nvSpPr>
        <p:spPr>
          <a:xfrm>
            <a:off x="1767016" y="2668116"/>
            <a:ext cx="930875" cy="3637698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5CAE7D7D-BFD5-59AF-4B66-6DB0DAA84C68}"/>
              </a:ext>
            </a:extLst>
          </p:cNvPr>
          <p:cNvSpPr/>
          <p:nvPr/>
        </p:nvSpPr>
        <p:spPr>
          <a:xfrm>
            <a:off x="9221384" y="2557156"/>
            <a:ext cx="930875" cy="3637698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B93DC8E3-1804-2721-266B-467B9DEF5CA6}"/>
              </a:ext>
            </a:extLst>
          </p:cNvPr>
          <p:cNvSpPr/>
          <p:nvPr/>
        </p:nvSpPr>
        <p:spPr>
          <a:xfrm>
            <a:off x="8185353" y="2758194"/>
            <a:ext cx="930875" cy="3637698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793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70120F84-A866-4D9F-8B1C-9120A013D6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252FEFEF-6AC0-46B6-AC09-11FC56196FA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0D55A6F-7190-47FE-A830-5DF140C82A13}"/>
              </a:ext>
            </a:extLst>
          </p:cNvPr>
          <p:cNvSpPr/>
          <p:nvPr/>
        </p:nvSpPr>
        <p:spPr>
          <a:xfrm>
            <a:off x="337625" y="337625"/>
            <a:ext cx="11465169" cy="110976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/>
              <a:t>Comparaison CV Penta 1 ECV 2023 et CV ajustée 2024 (</a:t>
            </a:r>
            <a:r>
              <a:rPr lang="fr-FR" sz="3200" b="1" dirty="0">
                <a:solidFill>
                  <a:srgbClr val="FFFF00"/>
                </a:solidFill>
              </a:rPr>
              <a:t>12 ZS avec &lt;30% </a:t>
            </a:r>
            <a:r>
              <a:rPr lang="fr-FR" sz="3200" b="1" dirty="0"/>
              <a:t>de CV Penta 1 ajustée) </a:t>
            </a:r>
          </a:p>
        </p:txBody>
      </p:sp>
      <p:pic>
        <p:nvPicPr>
          <p:cNvPr id="7" name="Picture 6" descr="A graph with red and blue dots&#10;&#10;Description automatically generated">
            <a:extLst>
              <a:ext uri="{FF2B5EF4-FFF2-40B4-BE49-F238E27FC236}">
                <a16:creationId xmlns="" xmlns:a16="http://schemas.microsoft.com/office/drawing/2014/main" id="{EE809420-92EF-E316-65D2-5744C3D45A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12" y="1542003"/>
            <a:ext cx="11722608" cy="50586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AEEF8B7F-BF24-9386-D7A3-62289BA8F4AE}"/>
              </a:ext>
            </a:extLst>
          </p:cNvPr>
          <p:cNvSpPr txBox="1"/>
          <p:nvPr/>
        </p:nvSpPr>
        <p:spPr>
          <a:xfrm>
            <a:off x="5156886" y="1795849"/>
            <a:ext cx="63266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ECV 2023 et CV ajustée 2024 à l’exception de </a:t>
            </a:r>
            <a:r>
              <a:rPr lang="fr-FR" dirty="0" err="1"/>
              <a:t>Dekese</a:t>
            </a:r>
            <a:r>
              <a:rPr lang="fr-FR" dirty="0"/>
              <a:t> et </a:t>
            </a:r>
            <a:r>
              <a:rPr lang="fr-FR" b="1" dirty="0" err="1"/>
              <a:t>Basali</a:t>
            </a:r>
            <a:r>
              <a:rPr lang="fr-FR" dirty="0"/>
              <a:t> où le nombre de vaccinés en 2024 doit avoir baissé comparé à 2023.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934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70120F84-A866-4D9F-8B1C-9120A013D6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252FEFEF-6AC0-46B6-AC09-11FC56196FA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0D55A6F-7190-47FE-A830-5DF140C82A13}"/>
              </a:ext>
            </a:extLst>
          </p:cNvPr>
          <p:cNvSpPr/>
          <p:nvPr/>
        </p:nvSpPr>
        <p:spPr>
          <a:xfrm>
            <a:off x="337625" y="337625"/>
            <a:ext cx="11465169" cy="110976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Comparaison % variation CV Penta 1 ajustée 2024/ECV 2023 et Vaccinés 2024/Vaccinés 2023 (</a:t>
            </a:r>
            <a:r>
              <a:rPr lang="fr-FR" sz="2400" b="1" dirty="0">
                <a:solidFill>
                  <a:srgbClr val="FFFF00"/>
                </a:solidFill>
              </a:rPr>
              <a:t>ZS avec &lt;30</a:t>
            </a:r>
            <a:r>
              <a:rPr lang="fr-FR" sz="2400" b="1" dirty="0"/>
              <a:t>% de CV Penta ajustée)</a:t>
            </a:r>
          </a:p>
        </p:txBody>
      </p:sp>
      <p:pic>
        <p:nvPicPr>
          <p:cNvPr id="5" name="Picture 4" descr="A graph of a line&#10;&#10;Description automatically generated">
            <a:extLst>
              <a:ext uri="{FF2B5EF4-FFF2-40B4-BE49-F238E27FC236}">
                <a16:creationId xmlns="" xmlns:a16="http://schemas.microsoft.com/office/drawing/2014/main" id="{DF9E4FD0-9B19-23F9-E363-977B7598F7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24" y="1447390"/>
            <a:ext cx="11465169" cy="50296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D3FEE3A4-0223-6B97-F378-42F69BF8F729}"/>
              </a:ext>
            </a:extLst>
          </p:cNvPr>
          <p:cNvSpPr txBox="1"/>
          <p:nvPr/>
        </p:nvSpPr>
        <p:spPr>
          <a:xfrm>
            <a:off x="8365787" y="4883285"/>
            <a:ext cx="226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r= 0,99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9988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0D55A6F-7190-47FE-A830-5DF140C82A13}"/>
              </a:ext>
            </a:extLst>
          </p:cNvPr>
          <p:cNvSpPr/>
          <p:nvPr/>
        </p:nvSpPr>
        <p:spPr>
          <a:xfrm>
            <a:off x="250076" y="0"/>
            <a:ext cx="11465169" cy="80739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/>
              <a:t>CV Penta 1 Adm Vs Ajustée 2024 par province &amp; National</a:t>
            </a:r>
          </a:p>
        </p:txBody>
      </p:sp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="" xmlns:a16="http://schemas.microsoft.com/office/drawing/2014/main" id="{5DBA3E2B-E41B-00E9-933E-01204019F1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7396"/>
            <a:ext cx="12192000" cy="605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798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5B0F83B5-1F35-5F68-2474-89CD7BC18F76}"/>
              </a:ext>
            </a:extLst>
          </p:cNvPr>
          <p:cNvSpPr/>
          <p:nvPr/>
        </p:nvSpPr>
        <p:spPr>
          <a:xfrm>
            <a:off x="211451" y="0"/>
            <a:ext cx="11465169" cy="1109766"/>
          </a:xfrm>
          <a:prstGeom prst="rect">
            <a:avLst/>
          </a:prstGeom>
          <a:solidFill>
            <a:srgbClr val="2683C6">
              <a:lumMod val="75000"/>
            </a:srgbClr>
          </a:solidFill>
          <a:ln w="12700" cap="flat" cmpd="sng" algn="ctr">
            <a:solidFill>
              <a:srgbClr val="1CADE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Couverture vaccinale admin </a:t>
            </a:r>
            <a:r>
              <a:rPr lang="fr-FR" sz="2800" b="1" kern="0" dirty="0">
                <a:solidFill>
                  <a:schemeClr val="bg1"/>
                </a:solidFill>
                <a:latin typeface="Century Gothic" panose="020B0502020202020204"/>
              </a:rPr>
              <a:t>Vs ajustée Par Province pour DTC1, DTC 3 et VAR1</a:t>
            </a:r>
            <a:endParaRPr kumimoji="0" lang="fr-FR" sz="2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543F9E1D-9CC1-E273-25A9-76A567E832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228534"/>
              </p:ext>
            </p:extLst>
          </p:nvPr>
        </p:nvGraphicFramePr>
        <p:xfrm>
          <a:off x="109331" y="1222513"/>
          <a:ext cx="10535478" cy="5525053"/>
        </p:xfrm>
        <a:graphic>
          <a:graphicData uri="http://schemas.openxmlformats.org/drawingml/2006/table">
            <a:tbl>
              <a:tblPr/>
              <a:tblGrid>
                <a:gridCol w="1937533">
                  <a:extLst>
                    <a:ext uri="{9D8B030D-6E8A-4147-A177-3AD203B41FA5}">
                      <a16:colId xmlns="" xmlns:a16="http://schemas.microsoft.com/office/drawing/2014/main" val="3542284253"/>
                    </a:ext>
                  </a:extLst>
                </a:gridCol>
                <a:gridCol w="1733583">
                  <a:extLst>
                    <a:ext uri="{9D8B030D-6E8A-4147-A177-3AD203B41FA5}">
                      <a16:colId xmlns="" xmlns:a16="http://schemas.microsoft.com/office/drawing/2014/main" val="2498022655"/>
                    </a:ext>
                  </a:extLst>
                </a:gridCol>
                <a:gridCol w="1305286">
                  <a:extLst>
                    <a:ext uri="{9D8B030D-6E8A-4147-A177-3AD203B41FA5}">
                      <a16:colId xmlns="" xmlns:a16="http://schemas.microsoft.com/office/drawing/2014/main" val="1225226977"/>
                    </a:ext>
                  </a:extLst>
                </a:gridCol>
                <a:gridCol w="1305286">
                  <a:extLst>
                    <a:ext uri="{9D8B030D-6E8A-4147-A177-3AD203B41FA5}">
                      <a16:colId xmlns="" xmlns:a16="http://schemas.microsoft.com/office/drawing/2014/main" val="3974426038"/>
                    </a:ext>
                  </a:extLst>
                </a:gridCol>
                <a:gridCol w="1305286">
                  <a:extLst>
                    <a:ext uri="{9D8B030D-6E8A-4147-A177-3AD203B41FA5}">
                      <a16:colId xmlns="" xmlns:a16="http://schemas.microsoft.com/office/drawing/2014/main" val="828486052"/>
                    </a:ext>
                  </a:extLst>
                </a:gridCol>
                <a:gridCol w="1305286">
                  <a:extLst>
                    <a:ext uri="{9D8B030D-6E8A-4147-A177-3AD203B41FA5}">
                      <a16:colId xmlns="" xmlns:a16="http://schemas.microsoft.com/office/drawing/2014/main" val="3341612997"/>
                    </a:ext>
                  </a:extLst>
                </a:gridCol>
                <a:gridCol w="1643218">
                  <a:extLst>
                    <a:ext uri="{9D8B030D-6E8A-4147-A177-3AD203B41FA5}">
                      <a16:colId xmlns="" xmlns:a16="http://schemas.microsoft.com/office/drawing/2014/main" val="2921562081"/>
                    </a:ext>
                  </a:extLst>
                </a:gridCol>
              </a:tblGrid>
              <a:tr h="18611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Province</a:t>
                      </a:r>
                    </a:p>
                  </a:txBody>
                  <a:tcPr marL="7477" marR="7477" marT="747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CV DTC1</a:t>
                      </a:r>
                    </a:p>
                  </a:txBody>
                  <a:tcPr marL="7477" marR="7477" marT="747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CV DTC3</a:t>
                      </a:r>
                    </a:p>
                  </a:txBody>
                  <a:tcPr marL="7477" marR="7477" marT="7477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CV VAR1</a:t>
                      </a:r>
                    </a:p>
                  </a:txBody>
                  <a:tcPr marL="7477" marR="7477" marT="7477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421494902"/>
                  </a:ext>
                </a:extLst>
              </a:tr>
              <a:tr h="1857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Admin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Ajustee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Admin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Ajustee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Admin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Ajustee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063390512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Bas Uele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97875562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Equateur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85643719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Haut Katanga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93557974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Haut Lomami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68234169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Haut Uele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658764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Ituri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7198213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Kasai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96649157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Kasai Central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04279577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Kasai Oriental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00132399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Kinshasa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73681961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Kongo Central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31888047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Kwango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6361011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Kwilu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94299352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Lomami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11364632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Lualaba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23806234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Maindombe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75126781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Maniema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6027439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Mongala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83301296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Nord Kivu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46941833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Nord Ubangi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503838694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Sankuru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27991499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Sud Kivu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84813222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Sud Ubangi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86830991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Tanganyika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84519494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Tshopo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77585972"/>
                  </a:ext>
                </a:extLst>
              </a:tr>
              <a:tr h="18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Tshuapa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36080078"/>
                  </a:ext>
                </a:extLst>
              </a:tr>
              <a:tr h="19505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RDC</a:t>
                      </a:r>
                    </a:p>
                  </a:txBody>
                  <a:tcPr marL="7477" marR="7477" marT="747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</a:t>
                      </a:r>
                    </a:p>
                  </a:txBody>
                  <a:tcPr marL="7477" marR="7477" marT="7477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9386796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81F3080A-6EBF-AA6E-6DA7-15592D1A6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472130"/>
              </p:ext>
            </p:extLst>
          </p:nvPr>
        </p:nvGraphicFramePr>
        <p:xfrm>
          <a:off x="10783957" y="4743416"/>
          <a:ext cx="1451112" cy="762000"/>
        </p:xfrm>
        <a:graphic>
          <a:graphicData uri="http://schemas.openxmlformats.org/drawingml/2006/table">
            <a:tbl>
              <a:tblPr/>
              <a:tblGrid>
                <a:gridCol w="764448">
                  <a:extLst>
                    <a:ext uri="{9D8B030D-6E8A-4147-A177-3AD203B41FA5}">
                      <a16:colId xmlns="" xmlns:a16="http://schemas.microsoft.com/office/drawing/2014/main" val="4253056358"/>
                    </a:ext>
                  </a:extLst>
                </a:gridCol>
                <a:gridCol w="686664">
                  <a:extLst>
                    <a:ext uri="{9D8B030D-6E8A-4147-A177-3AD203B41FA5}">
                      <a16:colId xmlns="" xmlns:a16="http://schemas.microsoft.com/office/drawing/2014/main" val="362495502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274153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50%-80%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704152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80%-100%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645795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&gt;100%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66681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5204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of a number of bars&#10;&#10;Description automatically generated with medium confidence">
            <a:extLst>
              <a:ext uri="{FF2B5EF4-FFF2-40B4-BE49-F238E27FC236}">
                <a16:creationId xmlns="" xmlns:a16="http://schemas.microsoft.com/office/drawing/2014/main" id="{A6E18826-76F3-42E0-41C9-9F9D09C663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4096"/>
            <a:ext cx="12192000" cy="6096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0D55A6F-7190-47FE-A830-5DF140C82A13}"/>
              </a:ext>
            </a:extLst>
          </p:cNvPr>
          <p:cNvSpPr/>
          <p:nvPr/>
        </p:nvSpPr>
        <p:spPr>
          <a:xfrm>
            <a:off x="0" y="-9939"/>
            <a:ext cx="12192000" cy="80739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/>
              <a:t>Nb d’enfants Zéro-dose 2024 par province (Admin vs Cibles ajustées)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="" xmlns:a16="http://schemas.microsoft.com/office/drawing/2014/main" id="{31529746-C0A4-F273-1C83-DE7BD049E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712427"/>
              </p:ext>
            </p:extLst>
          </p:nvPr>
        </p:nvGraphicFramePr>
        <p:xfrm>
          <a:off x="5264549" y="1317935"/>
          <a:ext cx="4231005" cy="807395"/>
        </p:xfrm>
        <a:graphic>
          <a:graphicData uri="http://schemas.openxmlformats.org/drawingml/2006/table">
            <a:tbl>
              <a:tblPr firstRow="1" bandRow="1"/>
              <a:tblGrid>
                <a:gridCol w="900430">
                  <a:extLst>
                    <a:ext uri="{9D8B030D-6E8A-4147-A177-3AD203B41FA5}">
                      <a16:colId xmlns="" xmlns:a16="http://schemas.microsoft.com/office/drawing/2014/main" val="499018617"/>
                    </a:ext>
                  </a:extLst>
                </a:gridCol>
                <a:gridCol w="1710055">
                  <a:extLst>
                    <a:ext uri="{9D8B030D-6E8A-4147-A177-3AD203B41FA5}">
                      <a16:colId xmlns="" xmlns:a16="http://schemas.microsoft.com/office/drawing/2014/main" val="2626115646"/>
                    </a:ext>
                  </a:extLst>
                </a:gridCol>
                <a:gridCol w="1620520">
                  <a:extLst>
                    <a:ext uri="{9D8B030D-6E8A-4147-A177-3AD203B41FA5}">
                      <a16:colId xmlns="" xmlns:a16="http://schemas.microsoft.com/office/drawing/2014/main" val="3055292247"/>
                    </a:ext>
                  </a:extLst>
                </a:gridCol>
              </a:tblGrid>
              <a:tr h="5382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Pays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# Enfants Zéro dose admin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# Enfants Zéro dose ajustés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93563742"/>
                  </a:ext>
                </a:extLst>
              </a:tr>
              <a:tr h="269132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RDC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130,309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1,582,984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48302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1991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0D55A6F-7190-47FE-A830-5DF140C82A13}"/>
              </a:ext>
            </a:extLst>
          </p:cNvPr>
          <p:cNvSpPr/>
          <p:nvPr/>
        </p:nvSpPr>
        <p:spPr>
          <a:xfrm>
            <a:off x="0" y="0"/>
            <a:ext cx="12192000" cy="80739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/>
              <a:t>Nb d’enfants Zéro-dose ajusté 2024 par province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180F1081-0F83-98A3-210E-69FFE42CD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264928"/>
              </p:ext>
            </p:extLst>
          </p:nvPr>
        </p:nvGraphicFramePr>
        <p:xfrm>
          <a:off x="1749287" y="950514"/>
          <a:ext cx="8478078" cy="5907486"/>
        </p:xfrm>
        <a:graphic>
          <a:graphicData uri="http://schemas.openxmlformats.org/drawingml/2006/table">
            <a:tbl>
              <a:tblPr firstRow="1" bandRow="1"/>
              <a:tblGrid>
                <a:gridCol w="2582417">
                  <a:extLst>
                    <a:ext uri="{9D8B030D-6E8A-4147-A177-3AD203B41FA5}">
                      <a16:colId xmlns="" xmlns:a16="http://schemas.microsoft.com/office/drawing/2014/main" val="3108143568"/>
                    </a:ext>
                  </a:extLst>
                </a:gridCol>
                <a:gridCol w="2425078">
                  <a:extLst>
                    <a:ext uri="{9D8B030D-6E8A-4147-A177-3AD203B41FA5}">
                      <a16:colId xmlns="" xmlns:a16="http://schemas.microsoft.com/office/drawing/2014/main" val="964022955"/>
                    </a:ext>
                  </a:extLst>
                </a:gridCol>
                <a:gridCol w="2239233">
                  <a:extLst>
                    <a:ext uri="{9D8B030D-6E8A-4147-A177-3AD203B41FA5}">
                      <a16:colId xmlns="" xmlns:a16="http://schemas.microsoft.com/office/drawing/2014/main" val="2610271418"/>
                    </a:ext>
                  </a:extLst>
                </a:gridCol>
                <a:gridCol w="1231350">
                  <a:extLst>
                    <a:ext uri="{9D8B030D-6E8A-4147-A177-3AD203B41FA5}">
                      <a16:colId xmlns="" xmlns:a16="http://schemas.microsoft.com/office/drawing/2014/main" val="3312740433"/>
                    </a:ext>
                  </a:extLst>
                </a:gridCol>
              </a:tblGrid>
              <a:tr h="360126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Province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# </a:t>
                      </a:r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Zéro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-dose </a:t>
                      </a:r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ajusté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Somme </a:t>
                      </a:r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cumulée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% </a:t>
                      </a:r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cumulée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66342614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Mongala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294,068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294,068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168485327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Tshopo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151,377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445,445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28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33967743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Sankuru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149,043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594,488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38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90475937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Haut Katanga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135,382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729,870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46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17945270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Maniema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122,222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852,092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54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11741288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Kasai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120,242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972,334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61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71288470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Tshuapa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74,446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1,046,780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66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02226929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Kasai Oriental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57,247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1,104,027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74811708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Sud Kivu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40,199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1,144,226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72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5105157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Haut Uele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39,122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1,183,348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75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21584368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Lualaba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38,714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1,222,062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77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91146336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Kinshasa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38,065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1,260,127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15198930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Bas Uele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37,534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1,297,661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82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9315342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Nord Kivu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35,250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1,332,911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84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39090511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Sud Ubangi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30,782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1,363,693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86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66385800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Maindombe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28,124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1,391,817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88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47204645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Ituri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27,449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1,419,266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09036247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Lomami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27,245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1,446,511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91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11480611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Kasai Central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24,393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1,470,904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93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63594792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Tanganyika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20,924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1,491,828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94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17044939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Kwilu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20,572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1,512,400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96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90559399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Kongo Central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17,909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1,530,309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97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70887176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Kwango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17,025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1,547,334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98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27228546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Equateur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16,226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1,563,560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99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66081589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Haut Lomami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9,802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1,573,362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99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93849307"/>
                  </a:ext>
                </a:extLst>
              </a:tr>
              <a:tr h="18006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Nord Ubangi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9,622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1,582,984</a:t>
                      </a:r>
                      <a:endParaRPr lang="en-US" sz="1600" dirty="0">
                        <a:effectLst/>
                        <a:highlight>
                          <a:srgbClr val="00FF00"/>
                        </a:highlight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1600" dirty="0">
                        <a:effectLst/>
                        <a:highlight>
                          <a:srgbClr val="00FF00"/>
                        </a:highlight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7038463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649A5CC4-13EE-A2FF-7829-2879AF7981D3}"/>
              </a:ext>
            </a:extLst>
          </p:cNvPr>
          <p:cNvSpPr/>
          <p:nvPr/>
        </p:nvSpPr>
        <p:spPr>
          <a:xfrm>
            <a:off x="1600200" y="1311965"/>
            <a:ext cx="9134061" cy="2117035"/>
          </a:xfrm>
          <a:prstGeom prst="rect">
            <a:avLst/>
          </a:prstGeom>
          <a:noFill/>
          <a:ln w="222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94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0D55A6F-7190-47FE-A830-5DF140C82A13}"/>
              </a:ext>
            </a:extLst>
          </p:cNvPr>
          <p:cNvSpPr/>
          <p:nvPr/>
        </p:nvSpPr>
        <p:spPr>
          <a:xfrm>
            <a:off x="0" y="0"/>
            <a:ext cx="12192000" cy="80739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bg1"/>
                </a:solidFill>
              </a:rPr>
              <a:t>Cibles admin et ajustées 2025  (Par province et national)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DAB01D05-BD51-A72C-B53D-FFDC1DF84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124162"/>
              </p:ext>
            </p:extLst>
          </p:nvPr>
        </p:nvGraphicFramePr>
        <p:xfrm>
          <a:off x="1431235" y="826091"/>
          <a:ext cx="7921487" cy="6031909"/>
        </p:xfrm>
        <a:graphic>
          <a:graphicData uri="http://schemas.openxmlformats.org/drawingml/2006/table">
            <a:tbl>
              <a:tblPr firstRow="1" bandRow="1"/>
              <a:tblGrid>
                <a:gridCol w="2613464">
                  <a:extLst>
                    <a:ext uri="{9D8B030D-6E8A-4147-A177-3AD203B41FA5}">
                      <a16:colId xmlns="" xmlns:a16="http://schemas.microsoft.com/office/drawing/2014/main" val="2519532491"/>
                    </a:ext>
                  </a:extLst>
                </a:gridCol>
                <a:gridCol w="1915558">
                  <a:extLst>
                    <a:ext uri="{9D8B030D-6E8A-4147-A177-3AD203B41FA5}">
                      <a16:colId xmlns="" xmlns:a16="http://schemas.microsoft.com/office/drawing/2014/main" val="1105957055"/>
                    </a:ext>
                  </a:extLst>
                </a:gridCol>
                <a:gridCol w="2065460">
                  <a:extLst>
                    <a:ext uri="{9D8B030D-6E8A-4147-A177-3AD203B41FA5}">
                      <a16:colId xmlns="" xmlns:a16="http://schemas.microsoft.com/office/drawing/2014/main" val="1304593966"/>
                    </a:ext>
                  </a:extLst>
                </a:gridCol>
                <a:gridCol w="1327005">
                  <a:extLst>
                    <a:ext uri="{9D8B030D-6E8A-4147-A177-3AD203B41FA5}">
                      <a16:colId xmlns="" xmlns:a16="http://schemas.microsoft.com/office/drawing/2014/main" val="38524689"/>
                    </a:ext>
                  </a:extLst>
                </a:gridCol>
              </a:tblGrid>
              <a:tr h="271189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Provinces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Cibles admin 2025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Cibles ajustées 2025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% variation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76122985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Mongala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119,112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422,422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255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19403595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Sankuru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103,414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250,674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142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77633437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Maniema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119,488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260,157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118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91004803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Tshopo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155,846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318,447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104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43475662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Tshuapa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90,243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163,325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81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0173377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Haut Katanga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298,254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504,207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69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34217984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Bas Uele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61,748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100,273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62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81290921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Lualaba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121,966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191,939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57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55150148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Haut Uele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89,569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134,287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30272401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Kasai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218,083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323,766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67316848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Tanganyika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131,842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183,094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39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26033649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Maindombe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87,623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116,228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537509383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Kasai Oriental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215,963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282,066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31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9839066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Sud Kivu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322,007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404,127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95022055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Sud Ubangi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137,383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167,594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43256962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Haut Lomami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173,573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210,432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72373958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Lomami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172,921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202,940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24711308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Ituri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264,447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303,728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118362667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Kongo Central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171,080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197,207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77234531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Nord Kivu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388,505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437,382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56454285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Equateur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114,665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129,090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29139045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Nord Ubangi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64,707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72,623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36130140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Kwilu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229,738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256,147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71251394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Kwango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111,417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122,814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82516569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Kinshasa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437,272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477,018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6959131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Kasai Central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210,589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226,751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91597864"/>
                  </a:ext>
                </a:extLst>
              </a:tr>
              <a:tr h="13559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RDC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4,611,455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6,458,738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04006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5066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70120F84-A866-4D9F-8B1C-9120A013D6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252FEFEF-6AC0-46B6-AC09-11FC56196FA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0D55A6F-7190-47FE-A830-5DF140C82A13}"/>
              </a:ext>
            </a:extLst>
          </p:cNvPr>
          <p:cNvSpPr/>
          <p:nvPr/>
        </p:nvSpPr>
        <p:spPr>
          <a:xfrm>
            <a:off x="337625" y="337625"/>
            <a:ext cx="11465169" cy="86094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Résumé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683B44C2-FA59-4A22-936C-6C1B0CD162EA}"/>
              </a:ext>
            </a:extLst>
          </p:cNvPr>
          <p:cNvSpPr/>
          <p:nvPr/>
        </p:nvSpPr>
        <p:spPr>
          <a:xfrm>
            <a:off x="210313" y="1198568"/>
            <a:ext cx="11722608" cy="54106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Augmentation de 40% des cibles ajustées 2024 comparée aux cibles administratives (même % de croissance en 2025).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% des ZS avec &gt;100% de CV Penta1 en 2024 passée de 63% avec les cibles admin à 0% avec les cibles ajustées.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% de ZS avec &lt;30% de CV Penta1 en 2024 passée de 0% avec les cibles admin à 2% (12ZS) avec les cibles ajustées.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Baisse de la CV Penta ajustée 2024 comparée à ECV 2023 corrélée avec une baisse du nombre de vaccinés Penta1 entre 2023 et 2024.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fr-F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CV Admin/Ajustée au niveau national: Penta1(106%/75%); Penta3 (100%/71%); VAR1 (96%/69%)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130K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ZD en 2024 à partir des cibles admin Vs 1,5 million à partir des cibles ajustées.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fr-F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10 provinces abritent 75% des ZD en 2024 calculée à partir des cibles ajustées.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6927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0D55A6F-7190-47FE-A830-5DF140C82A13}"/>
              </a:ext>
            </a:extLst>
          </p:cNvPr>
          <p:cNvSpPr/>
          <p:nvPr/>
        </p:nvSpPr>
        <p:spPr>
          <a:xfrm>
            <a:off x="337625" y="337625"/>
            <a:ext cx="11465169" cy="110976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 smtClean="0"/>
              <a:t>Recommandations</a:t>
            </a:r>
            <a:endParaRPr lang="fr-FR" sz="3600" b="1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BEC12674-DD8F-45D5-8F52-E2EB6FFB668E}"/>
              </a:ext>
            </a:extLst>
          </p:cNvPr>
          <p:cNvSpPr/>
          <p:nvPr/>
        </p:nvSpPr>
        <p:spPr>
          <a:xfrm>
            <a:off x="337625" y="1705231"/>
            <a:ext cx="11516751" cy="48151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fr-F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Faire valider des cibles ajustées par le CCIA.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Assurer la dissémination des cibles ajustées aux zones de santé avec pour recommandations de les utiliser pour le suivi de la performance.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 Présenter dans les rapports périodiques de suivi de la performance les deux CV: administratives et ajustées.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 Organiser un dénombrement des cibles du PEV dans les 12 ZS avec des CV ajustées 2024 &lt;30% (si possible les 52 ZS avec moins de 50% de CV ajustée en 2024).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fr-F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fr-F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6765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8243</TotalTime>
  <Words>1430</Words>
  <Application>Microsoft Office PowerPoint</Application>
  <PresentationFormat>Grand écran</PresentationFormat>
  <Paragraphs>563</Paragraphs>
  <Slides>19</Slides>
  <Notes>1</Notes>
  <HiddenSlides>1</HiddenSlides>
  <MMClips>0</MMClips>
  <ScaleCrop>false</ScaleCrop>
  <HeadingPairs>
    <vt:vector size="8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30" baseType="lpstr">
      <vt:lpstr>Arial</vt:lpstr>
      <vt:lpstr>Calibri</vt:lpstr>
      <vt:lpstr>Calibri Light</vt:lpstr>
      <vt:lpstr>Cambria</vt:lpstr>
      <vt:lpstr>Century Gothic</vt:lpstr>
      <vt:lpstr>Garamond</vt:lpstr>
      <vt:lpstr>Times New Roman</vt:lpstr>
      <vt:lpstr>Wingdings</vt:lpstr>
      <vt:lpstr>Savon</vt:lpstr>
      <vt:lpstr>Office Theme</vt:lpstr>
      <vt:lpstr>Feuille de calcul</vt:lpstr>
      <vt:lpstr>ajustement des cibles du PEV-RDC POUR LES ANNEES 2024 ET 2025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World Health Organization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Triangulation des données en vue de l’ajustement des cibles du PEV-RDC en 2023</dc:title>
  <dc:creator>MBOUSSOU, Franck Fortune Roland</dc:creator>
  <cp:lastModifiedBy>Compte Microsoft</cp:lastModifiedBy>
  <cp:revision>33</cp:revision>
  <dcterms:created xsi:type="dcterms:W3CDTF">2023-02-23T04:12:06Z</dcterms:created>
  <dcterms:modified xsi:type="dcterms:W3CDTF">2025-12-17T06:36:44Z</dcterms:modified>
</cp:coreProperties>
</file>