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0" r:id="rId2"/>
  </p:sldMasterIdLst>
  <p:notesMasterIdLst>
    <p:notesMasterId r:id="rId22"/>
  </p:notesMasterIdLst>
  <p:sldIdLst>
    <p:sldId id="256" r:id="rId3"/>
    <p:sldId id="257" r:id="rId4"/>
    <p:sldId id="260" r:id="rId5"/>
    <p:sldId id="259" r:id="rId6"/>
    <p:sldId id="261" r:id="rId7"/>
    <p:sldId id="2186" r:id="rId8"/>
    <p:sldId id="262" r:id="rId9"/>
    <p:sldId id="285" r:id="rId10"/>
    <p:sldId id="263" r:id="rId11"/>
    <p:sldId id="284" r:id="rId12"/>
    <p:sldId id="283" r:id="rId13"/>
    <p:sldId id="281" r:id="rId14"/>
    <p:sldId id="286" r:id="rId15"/>
    <p:sldId id="2181" r:id="rId16"/>
    <p:sldId id="287" r:id="rId17"/>
    <p:sldId id="2184" r:id="rId18"/>
    <p:sldId id="2185" r:id="rId19"/>
    <p:sldId id="2182" r:id="rId20"/>
    <p:sldId id="268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F6F3F68-0D6E-C36E-9479-1ED2DC05523C}" name="NIMPA MENGOUO, Marcellin" initials="NMM" userId="S::nimpamengouom@who.int::cb4c7e70-d9af-4057-816a-3f9ff3da972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224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63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666" y="30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tableStyles" Target="tableStyle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notesMaster" Target="notesMasters/notesMaster1.xml"/><Relationship Id="rId27" Type="http://schemas.microsoft.com/office/2018/10/relationships/authors" Target="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827BBAE-A262-4095-BC6E-BE8B600A77C1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BE6EF9-8ED8-40C8-9CDD-7446378D20FB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2668588" y="519113"/>
            <a:ext cx="4525962" cy="2546350"/>
          </a:xfrm>
          <a:noFill/>
          <a:ln>
            <a:solidFill>
              <a:srgbClr val="000000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2531" name="Notes Placeholder 2"/>
          <p:cNvSpPr>
            <a:spLocks noGrp="1"/>
          </p:cNvSpPr>
          <p:nvPr>
            <p:ph type="body" idx="1"/>
          </p:nvPr>
        </p:nvSpPr>
        <p:spPr bwMode="auto">
          <a:xfrm>
            <a:off x="992188" y="3228975"/>
            <a:ext cx="7942262" cy="3057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s-ES" altLang="fr-FR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 dpi="0" rotWithShape="1">
            <a:blip r:embed="rId2">
              <a:alphaModFix amt="45000"/>
              <a:duotone>
                <a:schemeClr val="accent1">
                  <a:shade val="45000"/>
                  <a:satMod val="135000"/>
                </a:schemeClr>
                <a:prstClr val="white"/>
              </a:duotone>
            </a:blip>
            <a:srcRect/>
            <a:tile tx="-44450" ty="38100" sx="85000" sy="85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0" name="Rectangle 9"/>
          <p:cNvSpPr/>
          <p:nvPr/>
        </p:nvSpPr>
        <p:spPr>
          <a:xfrm>
            <a:off x="1307870" y="1267730"/>
            <a:ext cx="9576262" cy="4307950"/>
          </a:xfrm>
          <a:prstGeom prst="rect">
            <a:avLst/>
          </a:prstGeom>
          <a:solidFill>
            <a:schemeClr val="bg1"/>
          </a:solidFill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  <p:txBody>
          <a:bodyPr/>
          <a:lstStyle/>
          <a:p>
            <a:endParaRPr lang="en-GB"/>
          </a:p>
        </p:txBody>
      </p:sp>
      <p:sp>
        <p:nvSpPr>
          <p:cNvPr id="11" name="Rectangle 10"/>
          <p:cNvSpPr/>
          <p:nvPr/>
        </p:nvSpPr>
        <p:spPr>
          <a:xfrm>
            <a:off x="1447801" y="1411615"/>
            <a:ext cx="9296400" cy="4034770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  <p:txBody>
          <a:bodyPr/>
          <a:lstStyle/>
          <a:p>
            <a:endParaRPr lang="en-GB"/>
          </a:p>
        </p:txBody>
      </p:sp>
      <p:sp>
        <p:nvSpPr>
          <p:cNvPr id="15" name="Rectangle 14"/>
          <p:cNvSpPr/>
          <p:nvPr/>
        </p:nvSpPr>
        <p:spPr>
          <a:xfrm>
            <a:off x="5135880" y="1267730"/>
            <a:ext cx="1920240" cy="73152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grpSp>
        <p:nvGrpSpPr>
          <p:cNvPr id="4" name="Group 3"/>
          <p:cNvGrpSpPr/>
          <p:nvPr/>
        </p:nvGrpSpPr>
        <p:grpSpPr>
          <a:xfrm>
            <a:off x="5250180" y="1267730"/>
            <a:ext cx="1691640" cy="645295"/>
            <a:chOff x="5318306" y="1386268"/>
            <a:chExt cx="1567331" cy="645295"/>
          </a:xfrm>
        </p:grpSpPr>
        <p:cxnSp>
          <p:nvCxnSpPr>
            <p:cNvPr id="17" name="Straight Connector 16"/>
            <p:cNvCxnSpPr/>
            <p:nvPr/>
          </p:nvCxnSpPr>
          <p:spPr>
            <a:xfrm>
              <a:off x="5318306" y="1386268"/>
              <a:ext cx="0" cy="64008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6885637" y="1386268"/>
              <a:ext cx="0" cy="64008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5318306" y="2031563"/>
              <a:ext cx="1567331" cy="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61708" y="2091263"/>
            <a:ext cx="9068586" cy="2590800"/>
          </a:xfrm>
        </p:spPr>
        <p:txBody>
          <a:bodyPr tIns="45720" bIns="45720" anchor="ctr">
            <a:noAutofit/>
          </a:bodyPr>
          <a:lstStyle>
            <a:lvl1pPr algn="ctr">
              <a:lnSpc>
                <a:spcPct val="83000"/>
              </a:lnSpc>
              <a:defRPr lang="en-US" sz="7200" b="0" kern="1200" cap="all" spc="-100" baseline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62100" y="4682062"/>
            <a:ext cx="9070848" cy="457201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 spc="8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600"/>
            </a:lvl2pPr>
            <a:lvl3pPr marL="914400" indent="0" algn="ctr">
              <a:buNone/>
              <a:defRPr sz="16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20" name="Date Placeholder 19"/>
          <p:cNvSpPr>
            <a:spLocks noGrp="1"/>
          </p:cNvSpPr>
          <p:nvPr>
            <p:ph type="dt" sz="half" idx="10"/>
          </p:nvPr>
        </p:nvSpPr>
        <p:spPr>
          <a:xfrm>
            <a:off x="5318760" y="1341255"/>
            <a:ext cx="1554480" cy="527213"/>
          </a:xfrm>
        </p:spPr>
        <p:txBody>
          <a:bodyPr/>
          <a:lstStyle>
            <a:lvl1pPr algn="ctr">
              <a:defRPr sz="13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fld id="{28F692FF-03A7-4027-ADFE-44E691358618}" type="datetimeFigureOut">
              <a:rPr lang="fr-FR" smtClean="0"/>
              <a:t>17/12/2025</a:t>
            </a:fld>
            <a:endParaRPr lang="fr-FR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11"/>
          </p:nvPr>
        </p:nvSpPr>
        <p:spPr>
          <a:xfrm>
            <a:off x="1453896" y="5211060"/>
            <a:ext cx="5905500" cy="228600"/>
          </a:xfrm>
        </p:spPr>
        <p:txBody>
          <a:bodyPr/>
          <a:lstStyle>
            <a:lvl1pPr algn="l"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22" name="Slide Number Placeholder 21"/>
          <p:cNvSpPr>
            <a:spLocks noGrp="1"/>
          </p:cNvSpPr>
          <p:nvPr>
            <p:ph type="sldNum" sz="quarter" idx="12"/>
          </p:nvPr>
        </p:nvSpPr>
        <p:spPr>
          <a:xfrm>
            <a:off x="8606919" y="5212080"/>
            <a:ext cx="2111881" cy="228600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F13CA12D-4510-440A-A164-A3C2A0711BAD}" type="slidenum">
              <a:rPr lang="fr-FR" smtClean="0"/>
              <a:t>‹#›</a:t>
            </a:fld>
            <a:endParaRPr lang="fr-FR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F692FF-03A7-4027-ADFE-44E691358618}" type="datetimeFigureOut">
              <a:rPr lang="fr-FR" smtClean="0"/>
              <a:t>17/12/2025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3CA12D-4510-440A-A164-A3C2A0711BAD}" type="slidenum">
              <a:rPr lang="fr-FR" smtClean="0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 dpi="0" rotWithShape="1">
            <a:blip r:embed="rId2">
              <a:alphaModFix amt="45000"/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rcRect/>
            <a:tile tx="-44450" ty="38100" sx="85000" sy="85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3" name="Rectangle 22"/>
          <p:cNvSpPr/>
          <p:nvPr/>
        </p:nvSpPr>
        <p:spPr>
          <a:xfrm>
            <a:off x="1307870" y="1267730"/>
            <a:ext cx="9576262" cy="4307950"/>
          </a:xfrm>
          <a:prstGeom prst="rect">
            <a:avLst/>
          </a:prstGeom>
          <a:solidFill>
            <a:schemeClr val="bg1"/>
          </a:solidFill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</p:sp>
      <p:sp>
        <p:nvSpPr>
          <p:cNvPr id="24" name="Rectangle 23"/>
          <p:cNvSpPr/>
          <p:nvPr/>
        </p:nvSpPr>
        <p:spPr>
          <a:xfrm>
            <a:off x="1447800" y="1411615"/>
            <a:ext cx="9296400" cy="4034770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</p:sp>
      <p:sp>
        <p:nvSpPr>
          <p:cNvPr id="30" name="Rectangle 29"/>
          <p:cNvSpPr/>
          <p:nvPr/>
        </p:nvSpPr>
        <p:spPr>
          <a:xfrm>
            <a:off x="5135880" y="1267730"/>
            <a:ext cx="1920240" cy="73152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31" name="Group 30"/>
          <p:cNvGrpSpPr/>
          <p:nvPr/>
        </p:nvGrpSpPr>
        <p:grpSpPr>
          <a:xfrm>
            <a:off x="5250180" y="1267730"/>
            <a:ext cx="1691640" cy="645295"/>
            <a:chOff x="5318306" y="1386268"/>
            <a:chExt cx="1567331" cy="645295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5318306" y="1386268"/>
              <a:ext cx="0" cy="64008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/>
            <p:nvPr/>
          </p:nvCxnSpPr>
          <p:spPr>
            <a:xfrm>
              <a:off x="6885637" y="1386268"/>
              <a:ext cx="0" cy="64008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/>
            <p:cNvCxnSpPr/>
            <p:nvPr/>
          </p:nvCxnSpPr>
          <p:spPr>
            <a:xfrm>
              <a:off x="5318306" y="2031563"/>
              <a:ext cx="1567331" cy="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3623" y="2094309"/>
            <a:ext cx="9070848" cy="2587752"/>
          </a:xfrm>
        </p:spPr>
        <p:txBody>
          <a:bodyPr anchor="ctr">
            <a:noAutofit/>
          </a:bodyPr>
          <a:lstStyle>
            <a:lvl1pPr algn="ctr">
              <a:lnSpc>
                <a:spcPct val="83000"/>
              </a:lnSpc>
              <a:defRPr lang="en-US" sz="7200" kern="1200" cap="all" spc="-100" baseline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63624" y="4682062"/>
            <a:ext cx="9070848" cy="45720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>
                <a:solidFill>
                  <a:schemeClr val="tx1"/>
                </a:solidFill>
                <a:effectLst/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321808" y="1344502"/>
            <a:ext cx="1554480" cy="530352"/>
          </a:xfrm>
        </p:spPr>
        <p:txBody>
          <a:bodyPr/>
          <a:lstStyle>
            <a:lvl1pPr algn="ctr">
              <a:defRPr lang="en-US" sz="1300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28F692FF-03A7-4027-ADFE-44E691358618}" type="datetimeFigureOut">
              <a:rPr lang="fr-FR" smtClean="0"/>
              <a:t>17/12/2025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453553" y="5211060"/>
            <a:ext cx="5907024" cy="228600"/>
          </a:xfrm>
        </p:spPr>
        <p:txBody>
          <a:bodyPr/>
          <a:lstStyle>
            <a:lvl1pPr algn="l">
              <a:defRPr/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04504" y="5211060"/>
            <a:ext cx="2112264" cy="228600"/>
          </a:xfrm>
        </p:spPr>
        <p:txBody>
          <a:bodyPr/>
          <a:lstStyle/>
          <a:p>
            <a:fld id="{F13CA12D-4510-440A-A164-A3C2A0711BAD}" type="slidenum">
              <a:rPr lang="fr-FR" smtClean="0"/>
              <a:t>‹#›</a:t>
            </a:fld>
            <a:endParaRPr lang="fr-FR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6800" y="2103120"/>
            <a:ext cx="4754880" cy="374904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70320" y="2103120"/>
            <a:ext cx="4754880" cy="374904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F692FF-03A7-4027-ADFE-44E691358618}" type="datetimeFigureOut">
              <a:rPr lang="fr-FR" smtClean="0"/>
              <a:t>17/12/2025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3CA12D-4510-440A-A164-A3C2A0711BAD}" type="slidenum">
              <a:rPr lang="fr-FR" smtClean="0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2074334"/>
            <a:ext cx="4754880" cy="640080"/>
          </a:xfrm>
        </p:spPr>
        <p:txBody>
          <a:bodyPr anchor="ctr">
            <a:normAutofit/>
          </a:bodyPr>
          <a:lstStyle>
            <a:lvl1pPr marL="0" indent="0" algn="ctr">
              <a:spcBef>
                <a:spcPts val="0"/>
              </a:spcBef>
              <a:buNone/>
              <a:defRPr sz="1900" b="0">
                <a:solidFill>
                  <a:schemeClr val="tx2"/>
                </a:solidFill>
                <a:latin typeface="+mn-lt"/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755898"/>
            <a:ext cx="4754880" cy="320040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73368" y="2074334"/>
            <a:ext cx="4754880" cy="640080"/>
          </a:xfrm>
        </p:spPr>
        <p:txBody>
          <a:bodyPr anchor="ctr">
            <a:normAutofit/>
          </a:bodyPr>
          <a:lstStyle>
            <a:lvl1pPr marL="0" indent="0" algn="ctr">
              <a:spcBef>
                <a:spcPts val="0"/>
              </a:spcBef>
              <a:buNone/>
              <a:defRPr sz="1900" b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73368" y="2756581"/>
            <a:ext cx="4754880" cy="320040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F692FF-03A7-4027-ADFE-44E691358618}" type="datetimeFigureOut">
              <a:rPr lang="fr-FR" smtClean="0"/>
              <a:t>17/12/2025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3CA12D-4510-440A-A164-A3C2A0711BAD}" type="slidenum">
              <a:rPr lang="fr-FR" smtClean="0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F692FF-03A7-4027-ADFE-44E691358618}" type="datetimeFigureOut">
              <a:rPr lang="fr-FR" smtClean="0"/>
              <a:t>17/12/2025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3CA12D-4510-440A-A164-A3C2A0711BAD}" type="slidenum">
              <a:rPr lang="fr-FR" smtClean="0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F692FF-03A7-4027-ADFE-44E691358618}" type="datetimeFigureOut">
              <a:rPr lang="fr-FR" smtClean="0"/>
              <a:t>17/12/2025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3CA12D-4510-440A-A164-A3C2A0711BAD}" type="slidenum">
              <a:rPr lang="fr-FR" smtClean="0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/>
          <p:cNvSpPr/>
          <p:nvPr/>
        </p:nvSpPr>
        <p:spPr>
          <a:xfrm>
            <a:off x="245529" y="237744"/>
            <a:ext cx="8531352" cy="638251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9020386" y="237744"/>
            <a:ext cx="2926080" cy="638251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96400" y="607392"/>
            <a:ext cx="2430780" cy="1645920"/>
          </a:xfrm>
        </p:spPr>
        <p:txBody>
          <a:bodyPr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800" b="0" kern="1200" cap="none" spc="0" baseline="0" dirty="0">
                <a:solidFill>
                  <a:srgbClr val="FFFFFF"/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609600"/>
            <a:ext cx="7772400" cy="533400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296400" y="2286000"/>
            <a:ext cx="2430780" cy="3505200"/>
          </a:xfrm>
        </p:spPr>
        <p:txBody>
          <a:bodyPr>
            <a:normAutofit/>
          </a:bodyPr>
          <a:lstStyle>
            <a:lvl1pPr marL="0" indent="0">
              <a:lnSpc>
                <a:spcPct val="110000"/>
              </a:lnSpc>
              <a:spcBef>
                <a:spcPts val="800"/>
              </a:spcBef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F692FF-03A7-4027-ADFE-44E691358618}" type="datetimeFigureOut">
              <a:rPr lang="fr-FR" smtClean="0"/>
              <a:t>17/12/2025</a:t>
            </a:fld>
            <a:endParaRPr lang="fr-FR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algn="r">
              <a:defRPr/>
            </a:lvl1pPr>
          </a:lstStyle>
          <a:p>
            <a:endParaRPr lang="fr-FR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>
          <a:xfrm>
            <a:off x="10393677" y="6223002"/>
            <a:ext cx="1463040" cy="274320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F13CA12D-4510-440A-A164-A3C2A0711BAD}" type="slidenum">
              <a:rPr lang="fr-FR" smtClean="0"/>
              <a:t>‹#›</a:t>
            </a:fld>
            <a:endParaRPr lang="fr-FR"/>
          </a:p>
        </p:txBody>
      </p:sp>
      <p:sp>
        <p:nvSpPr>
          <p:cNvPr id="12" name="Rectangle 11"/>
          <p:cNvSpPr/>
          <p:nvPr/>
        </p:nvSpPr>
        <p:spPr>
          <a:xfrm>
            <a:off x="9157546" y="374904"/>
            <a:ext cx="2651760" cy="6108192"/>
          </a:xfrm>
          <a:prstGeom prst="rect">
            <a:avLst/>
          </a:prstGeom>
          <a:noFill/>
          <a:ln w="63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/>
        </p:nvSpPr>
        <p:spPr>
          <a:xfrm>
            <a:off x="9020386" y="237744"/>
            <a:ext cx="2926080" cy="638251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96400" y="603504"/>
            <a:ext cx="2432304" cy="1645920"/>
          </a:xfrm>
        </p:spPr>
        <p:txBody>
          <a:bodyPr anchor="b">
            <a:noAutofit/>
          </a:bodyPr>
          <a:lstStyle>
            <a:lvl1pPr algn="l">
              <a:defRPr sz="2800" b="0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28599" y="237744"/>
            <a:ext cx="8531352" cy="6382512"/>
          </a:xfr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296400" y="2286000"/>
            <a:ext cx="2432304" cy="3502152"/>
          </a:xfrm>
        </p:spPr>
        <p:txBody>
          <a:bodyPr>
            <a:normAutofit/>
          </a:bodyPr>
          <a:lstStyle>
            <a:lvl1pPr marL="0" indent="0" algn="l">
              <a:lnSpc>
                <a:spcPct val="110000"/>
              </a:lnSpc>
              <a:spcBef>
                <a:spcPts val="800"/>
              </a:spcBef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12700" dist="635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fld id="{28F692FF-03A7-4027-ADFE-44E691358618}" type="datetimeFigureOut">
              <a:rPr lang="fr-FR" smtClean="0"/>
              <a:t>17/12/2025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marL="0" algn="r" defTabSz="914400" rtl="0" eaLnBrk="1" latinLnBrk="0" hangingPunct="1">
              <a:defRPr lang="en-US" sz="1000" kern="1200" dirty="0">
                <a:solidFill>
                  <a:srgbClr val="FFFFFF"/>
                </a:solidFill>
                <a:effectLst>
                  <a:outerShdw blurRad="12700" dist="6350" dir="2700000" algn="tl" rotWithShape="0">
                    <a:prstClr val="black">
                      <a:alpha val="40000"/>
                    </a:prstClr>
                  </a:outerShdw>
                </a:effectLst>
                <a:latin typeface="+mn-lt"/>
                <a:ea typeface="+mn-ea"/>
                <a:cs typeface="+mn-cs"/>
              </a:defRPr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396728" y="6227064"/>
            <a:ext cx="1463040" cy="274320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F13CA12D-4510-440A-A164-A3C2A0711BAD}" type="slidenum">
              <a:rPr lang="fr-FR" smtClean="0"/>
              <a:t>‹#›</a:t>
            </a:fld>
            <a:endParaRPr lang="fr-FR"/>
          </a:p>
        </p:txBody>
      </p:sp>
      <p:sp>
        <p:nvSpPr>
          <p:cNvPr id="10" name="Rectangle 9"/>
          <p:cNvSpPr/>
          <p:nvPr/>
        </p:nvSpPr>
        <p:spPr>
          <a:xfrm>
            <a:off x="9157546" y="374904"/>
            <a:ext cx="2651760" cy="6108192"/>
          </a:xfrm>
          <a:prstGeom prst="rect">
            <a:avLst/>
          </a:prstGeom>
          <a:noFill/>
          <a:ln w="63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F692FF-03A7-4027-ADFE-44E691358618}" type="datetimeFigureOut">
              <a:rPr lang="fr-FR" smtClean="0"/>
              <a:t>17/12/2025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3CA12D-4510-440A-A164-A3C2A0711BAD}" type="slidenum">
              <a:rPr lang="fr-FR" smtClean="0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1600" y="762000"/>
            <a:ext cx="2362200" cy="52578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762000"/>
            <a:ext cx="8077200" cy="52578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F692FF-03A7-4027-ADFE-44E691358618}" type="datetimeFigureOut">
              <a:rPr lang="fr-FR" smtClean="0"/>
              <a:t>17/12/2025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3CA12D-4510-440A-A164-A3C2A0711BAD}" type="slidenum">
              <a:rPr lang="fr-FR" smtClean="0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F56924-F9DA-4FFB-BB0A-49F438EC028A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EBDC2A-1B28-4739-94E8-53CDF1A4BB6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F56924-F9DA-4FFB-BB0A-49F438EC028A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EBDC2A-1B28-4739-94E8-53CDF1A4BB6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F56924-F9DA-4FFB-BB0A-49F438EC028A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EBDC2A-1B28-4739-94E8-53CDF1A4BB6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F56924-F9DA-4FFB-BB0A-49F438EC028A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EBDC2A-1B28-4739-94E8-53CDF1A4BB6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F56924-F9DA-4FFB-BB0A-49F438EC028A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EBDC2A-1B28-4739-94E8-53CDF1A4BB6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F56924-F9DA-4FFB-BB0A-49F438EC028A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EBDC2A-1B28-4739-94E8-53CDF1A4BB6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F56924-F9DA-4FFB-BB0A-49F438EC028A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EBDC2A-1B28-4739-94E8-53CDF1A4BB6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F56924-F9DA-4FFB-BB0A-49F438EC028A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EBDC2A-1B28-4739-94E8-53CDF1A4BB6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F56924-F9DA-4FFB-BB0A-49F438EC028A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EBDC2A-1B28-4739-94E8-53CDF1A4BB6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F56924-F9DA-4FFB-BB0A-49F438EC028A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EBDC2A-1B28-4739-94E8-53CDF1A4BB6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F56924-F9DA-4FFB-BB0A-49F438EC028A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EBDC2A-1B28-4739-94E8-53CDF1A4BB6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  <a:endParaRPr lang="fr-BE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4696" y="237744"/>
            <a:ext cx="11722608" cy="6382512"/>
          </a:xfrm>
          <a:prstGeom prst="rect">
            <a:avLst/>
          </a:prstGeom>
          <a:solidFill>
            <a:schemeClr val="bg2"/>
          </a:solidFill>
          <a:ln w="6350" cap="flat" cmpd="sng" algn="ctr">
            <a:noFill/>
            <a:prstDash val="solid"/>
          </a:ln>
          <a:effectLst>
            <a:softEdge rad="0"/>
          </a:effectLst>
        </p:spPr>
        <p:txBody>
          <a:bodyPr/>
          <a:lstStyle/>
          <a:p>
            <a:endParaRPr lang="en-GB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6800" y="642594"/>
            <a:ext cx="10058400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6800" y="2103120"/>
            <a:ext cx="10058400" cy="39319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74320" y="6307672"/>
            <a:ext cx="2743200" cy="27432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28F692FF-03A7-4027-ADFE-44E691358618}" type="datetimeFigureOut">
              <a:rPr lang="fr-FR" smtClean="0"/>
              <a:t>17/12/2025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489960" y="6307672"/>
            <a:ext cx="5212080" cy="27432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69880" y="6307672"/>
            <a:ext cx="1463040" cy="27432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F13CA12D-4510-440A-A164-A3C2A0711BAD}" type="slidenum">
              <a:rPr lang="fr-FR" smtClean="0"/>
              <a:t>‹#›</a:t>
            </a:fld>
            <a:endParaRPr lang="fr-F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4800" kern="1200" cap="none" spc="0" baseline="0" dirty="0"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n-ea"/>
          <a:cs typeface="+mn-cs"/>
        </a:defRPr>
      </a:lvl1pPr>
    </p:titleStyle>
    <p:bodyStyle>
      <a:lvl1pPr marL="182880" indent="-182880" algn="l" defTabSz="914400" rtl="0" eaLnBrk="1" latinLnBrk="0" hangingPunct="1">
        <a:lnSpc>
          <a:spcPct val="100000"/>
        </a:lnSpc>
        <a:spcBef>
          <a:spcPts val="900"/>
        </a:spcBef>
        <a:spcAft>
          <a:spcPts val="0"/>
        </a:spcAft>
        <a:buClr>
          <a:schemeClr val="tx1">
            <a:lumMod val="85000"/>
            <a:lumOff val="15000"/>
          </a:schemeClr>
        </a:buClr>
        <a:buFont typeface="Garamond" panose="02020404030301010803" pitchFamily="18" charset="0"/>
        <a:buChar char="◦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anose="02020404030301010803" pitchFamily="18" charset="0"/>
        <a:buChar char="◦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anose="02020404030301010803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anose="02020404030301010803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anose="02020404030301010803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2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anose="02020404030301010803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89992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anose="02020404030301010803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275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anose="02020404030301010803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499995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anose="02020404030301010803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F56924-F9DA-4FFB-BB0A-49F438EC028A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EBDC2A-1B28-4739-94E8-53CDF1A4BB68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package" Target="../embeddings/Microsoft_Excel_Worksheet.xlsx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sz="4400" b="1" dirty="0"/>
              <a:t>ajustement des cibles du PEV-RDC POUR LES ANNEES 2024 ET 2025</a:t>
            </a:r>
            <a:br>
              <a:rPr lang="fr-FR" sz="4400" b="1" dirty="0"/>
            </a:br>
            <a:endParaRPr lang="fr-FR" sz="4400" b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0" y="0"/>
            <a:ext cx="12192001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0" name="Rectangle 9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210312" y="226665"/>
            <a:ext cx="11722608" cy="6382512"/>
          </a:xfrm>
          <a:prstGeom prst="rect">
            <a:avLst/>
          </a:prstGeom>
          <a:ln w="6350" cap="flat" cmpd="sng" algn="ctr">
            <a:noFill/>
            <a:prstDash val="solid"/>
          </a:ln>
          <a:effectLst>
            <a:softEdge rad="0"/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337625" y="337625"/>
            <a:ext cx="11465169" cy="860943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b="1" dirty="0"/>
              <a:t>Justification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210313" y="1023730"/>
            <a:ext cx="11722608" cy="558544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457200" indent="-457200">
              <a:spcBef>
                <a:spcPts val="600"/>
              </a:spcBef>
              <a:buFont typeface="Wingdings" panose="05000000000000000000" pitchFamily="2" charset="2"/>
              <a:buChar char="q"/>
            </a:pPr>
            <a:r>
              <a:rPr lang="fr-FR" sz="2400" dirty="0">
                <a:latin typeface="Calibri" panose="020F0502020204030204" pitchFamily="34" charset="0"/>
                <a:cs typeface="Calibri" panose="020F0502020204030204" pitchFamily="34" charset="0"/>
              </a:rPr>
              <a:t>1984: Dernier recensement général de la population en RDC.</a:t>
            </a:r>
          </a:p>
          <a:p>
            <a:pPr marL="457200" indent="-457200">
              <a:spcBef>
                <a:spcPts val="600"/>
              </a:spcBef>
              <a:buFont typeface="Wingdings" panose="05000000000000000000" pitchFamily="2" charset="2"/>
              <a:buChar char="q"/>
            </a:pPr>
            <a:r>
              <a:rPr lang="fr-FR" sz="2400" dirty="0">
                <a:latin typeface="Calibri" panose="020F0502020204030204" pitchFamily="34" charset="0"/>
                <a:cs typeface="Calibri" panose="020F0502020204030204" pitchFamily="34" charset="0"/>
              </a:rPr>
              <a:t>Projections à partir du taux de croissance estimé, utilisées chaque année pour fixer les cibles du PEV.</a:t>
            </a:r>
          </a:p>
          <a:p>
            <a:pPr marL="457200" indent="-457200">
              <a:spcBef>
                <a:spcPts val="600"/>
              </a:spcBef>
              <a:buFont typeface="Wingdings" panose="05000000000000000000" pitchFamily="2" charset="2"/>
              <a:buChar char="q"/>
            </a:pPr>
            <a:r>
              <a:rPr lang="fr-FR" sz="2400" dirty="0">
                <a:latin typeface="Calibri" panose="020F0502020204030204" pitchFamily="34" charset="0"/>
                <a:cs typeface="Calibri" panose="020F0502020204030204" pitchFamily="34" charset="0"/>
              </a:rPr>
              <a:t>Constat: </a:t>
            </a:r>
          </a:p>
          <a:p>
            <a:pPr marL="914400" lvl="1" indent="-457200">
              <a:spcBef>
                <a:spcPts val="600"/>
              </a:spcBef>
              <a:buFont typeface="Wingdings" panose="05000000000000000000" pitchFamily="2" charset="2"/>
              <a:buChar char="ü"/>
            </a:pPr>
            <a:r>
              <a:rPr lang="fr-FR" sz="2400" dirty="0">
                <a:latin typeface="Calibri" panose="020F0502020204030204" pitchFamily="34" charset="0"/>
                <a:cs typeface="Calibri" panose="020F0502020204030204" pitchFamily="34" charset="0"/>
              </a:rPr>
              <a:t>Couverture vaccinale de plus de 100% dans plusieurs zones de santé; </a:t>
            </a:r>
          </a:p>
          <a:p>
            <a:pPr marL="914400" lvl="1" indent="-457200">
              <a:spcBef>
                <a:spcPts val="600"/>
              </a:spcBef>
              <a:buFont typeface="Wingdings" panose="05000000000000000000" pitchFamily="2" charset="2"/>
              <a:buChar char="ü"/>
            </a:pPr>
            <a:r>
              <a:rPr lang="fr-FR" sz="2400" dirty="0">
                <a:latin typeface="Calibri" panose="020F0502020204030204" pitchFamily="34" charset="0"/>
                <a:cs typeface="Calibri" panose="020F0502020204030204" pitchFamily="34" charset="0"/>
              </a:rPr>
              <a:t>Ecart CV adm et ECV.</a:t>
            </a:r>
          </a:p>
          <a:p>
            <a:pPr marL="457200" indent="-457200">
              <a:spcBef>
                <a:spcPts val="600"/>
              </a:spcBef>
              <a:buFont typeface="Wingdings" panose="05000000000000000000" pitchFamily="2" charset="2"/>
              <a:buChar char="q"/>
            </a:pPr>
            <a:r>
              <a:rPr lang="fr-FR" sz="2400" dirty="0">
                <a:latin typeface="Calibri" panose="020F0502020204030204" pitchFamily="34" charset="0"/>
                <a:cs typeface="Calibri" panose="020F0502020204030204" pitchFamily="34" charset="0"/>
              </a:rPr>
              <a:t>Janvier-Septembre 2024: </a:t>
            </a:r>
          </a:p>
          <a:p>
            <a:pPr>
              <a:spcBef>
                <a:spcPts val="600"/>
              </a:spcBef>
            </a:pPr>
            <a:endParaRPr lang="fr-FR" sz="20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914400" lvl="1" indent="-457200">
              <a:spcBef>
                <a:spcPts val="600"/>
              </a:spcBef>
              <a:buFont typeface="Wingdings" panose="05000000000000000000" pitchFamily="2" charset="2"/>
              <a:buChar char="ü"/>
            </a:pPr>
            <a:r>
              <a:rPr lang="fr-FR" sz="24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7 provinces (35 %) avec au moins 30 % de ZS avec une CV Penta 3 &lt;80 %</a:t>
            </a:r>
          </a:p>
          <a:p>
            <a:pPr marL="914400" lvl="1" indent="-457200">
              <a:spcBef>
                <a:spcPts val="600"/>
              </a:spcBef>
              <a:buFont typeface="Wingdings" panose="05000000000000000000" pitchFamily="2" charset="2"/>
              <a:buChar char="ü"/>
            </a:pPr>
            <a:r>
              <a:rPr lang="fr-FR" sz="24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xx provinces sur 26 (soit 27 %) avec moins de 10 % de ZS ayant une CV </a:t>
            </a:r>
            <a:r>
              <a:rPr lang="fr-FR" sz="2400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adm</a:t>
            </a:r>
            <a:r>
              <a:rPr lang="fr-FR" sz="24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Penta 3 &lt; 80 %.</a:t>
            </a:r>
          </a:p>
          <a:p>
            <a:pPr marL="914400" lvl="1" indent="-457200">
              <a:spcBef>
                <a:spcPts val="600"/>
              </a:spcBef>
              <a:buFont typeface="Wingdings" panose="05000000000000000000" pitchFamily="2" charset="2"/>
              <a:buChar char="ü"/>
            </a:pPr>
            <a:r>
              <a:rPr lang="fr-FR" sz="2400" dirty="0">
                <a:latin typeface="Calibri" panose="020F0502020204030204" pitchFamily="34" charset="0"/>
                <a:cs typeface="Calibri" panose="020F0502020204030204" pitchFamily="34" charset="0"/>
              </a:rPr>
              <a:t>Nécessité d’ajuster les cibles du PEV de 2024 et 2025 afin de réduire l’écart entre les CV </a:t>
            </a:r>
            <a:r>
              <a:rPr lang="fr-FR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admin</a:t>
            </a:r>
            <a:r>
              <a:rPr lang="fr-FR" sz="2400" dirty="0">
                <a:latin typeface="Calibri" panose="020F0502020204030204" pitchFamily="34" charset="0"/>
                <a:cs typeface="Calibri" panose="020F0502020204030204" pitchFamily="34" charset="0"/>
              </a:rPr>
              <a:t> et ECV.</a:t>
            </a:r>
          </a:p>
          <a:p>
            <a:pPr algn="ctr"/>
            <a:endParaRPr lang="fr-FR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0" y="0"/>
            <a:ext cx="12192001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0" name="Rectangle 9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210312" y="226665"/>
            <a:ext cx="11722608" cy="6382512"/>
          </a:xfrm>
          <a:prstGeom prst="rect">
            <a:avLst/>
          </a:prstGeom>
          <a:ln w="6350" cap="flat" cmpd="sng" algn="ctr">
            <a:noFill/>
            <a:prstDash val="solid"/>
          </a:ln>
          <a:effectLst>
            <a:softEdge rad="0"/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337625" y="337625"/>
            <a:ext cx="11465169" cy="1109766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b="1" dirty="0"/>
              <a:t>Méthodologie</a:t>
            </a:r>
          </a:p>
        </p:txBody>
      </p:sp>
      <p:sp>
        <p:nvSpPr>
          <p:cNvPr id="2" name="Rectangle 1"/>
          <p:cNvSpPr/>
          <p:nvPr/>
        </p:nvSpPr>
        <p:spPr>
          <a:xfrm>
            <a:off x="259080" y="1631852"/>
            <a:ext cx="5705622" cy="482521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342900" indent="-342900">
              <a:buFont typeface="Wingdings" panose="05000000000000000000" pitchFamily="2" charset="2"/>
              <a:buChar char="q"/>
            </a:pPr>
            <a:r>
              <a:rPr lang="fr-FR" sz="2400" b="1" dirty="0"/>
              <a:t>Atelier d’ajustement des données (Kinshasa: 27-29 novembre 2024)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FR" sz="2400" b="1" dirty="0"/>
              <a:t>Participants:</a:t>
            </a:r>
          </a:p>
          <a:p>
            <a:pPr marL="800100" lvl="1" indent="-342900">
              <a:buFont typeface="Wingdings" panose="05000000000000000000" pitchFamily="2" charset="2"/>
              <a:buChar char="ü"/>
            </a:pPr>
            <a:r>
              <a:rPr lang="fr-FR" sz="2400" dirty="0"/>
              <a:t>PEV-RDC</a:t>
            </a:r>
          </a:p>
          <a:p>
            <a:pPr marL="800100" lvl="1" indent="-342900">
              <a:buFont typeface="Wingdings" panose="05000000000000000000" pitchFamily="2" charset="2"/>
              <a:buChar char="ü"/>
            </a:pPr>
            <a:r>
              <a:rPr lang="fr-FR" sz="2400" dirty="0"/>
              <a:t>INS</a:t>
            </a:r>
          </a:p>
          <a:p>
            <a:pPr marL="800100" lvl="1" indent="-342900">
              <a:buFont typeface="Wingdings" panose="05000000000000000000" pitchFamily="2" charset="2"/>
              <a:buChar char="ü"/>
            </a:pPr>
            <a:r>
              <a:rPr lang="fr-FR" sz="2400" dirty="0"/>
              <a:t>PNLP</a:t>
            </a:r>
          </a:p>
          <a:p>
            <a:pPr marL="800100" lvl="1" indent="-342900">
              <a:buFont typeface="Wingdings" panose="05000000000000000000" pitchFamily="2" charset="2"/>
              <a:buChar char="ü"/>
            </a:pPr>
            <a:r>
              <a:rPr lang="fr-FR" sz="2400" dirty="0"/>
              <a:t>DSNIS</a:t>
            </a:r>
          </a:p>
          <a:p>
            <a:pPr marL="800100" lvl="1" indent="-342900">
              <a:buFont typeface="Wingdings" panose="05000000000000000000" pitchFamily="2" charset="2"/>
              <a:buChar char="ü"/>
            </a:pPr>
            <a:r>
              <a:rPr lang="fr-FR" sz="2400" dirty="0"/>
              <a:t>OMS RDC.</a:t>
            </a:r>
          </a:p>
          <a:p>
            <a:endParaRPr lang="fr-FR" sz="2400" dirty="0"/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FR" sz="2400" b="1" dirty="0"/>
              <a:t>Appui technique:</a:t>
            </a:r>
            <a:r>
              <a:rPr lang="fr-FR" sz="2400" dirty="0"/>
              <a:t> OMS HQ et OMS AFRO.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0" y="1631852"/>
            <a:ext cx="5836920" cy="482521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fr-FR" sz="2400" dirty="0"/>
          </a:p>
          <a:p>
            <a:endParaRPr lang="fr-FR" sz="2400" dirty="0"/>
          </a:p>
          <a:p>
            <a:pPr>
              <a:spcAft>
                <a:spcPts val="600"/>
              </a:spcAft>
            </a:pPr>
            <a:r>
              <a:rPr lang="fr-FR" sz="2400" b="1" dirty="0">
                <a:latin typeface="Calibri" panose="020F0502020204030204" pitchFamily="34" charset="0"/>
                <a:cs typeface="Calibri" panose="020F0502020204030204" pitchFamily="34" charset="0"/>
              </a:rPr>
              <a:t>Données utilisées pour l’ajustement:</a:t>
            </a:r>
          </a:p>
          <a:p>
            <a:pPr marL="342900" indent="-342900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fr-FR" sz="2400" dirty="0">
                <a:latin typeface="Calibri" panose="020F0502020204030204" pitchFamily="34" charset="0"/>
                <a:cs typeface="Calibri" panose="020F0502020204030204" pitchFamily="34" charset="0"/>
              </a:rPr>
              <a:t>Cibles admin du PEV 2023 et 2024.</a:t>
            </a:r>
          </a:p>
          <a:p>
            <a:pPr marL="342900" indent="-342900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fr-FR" sz="2400" dirty="0">
                <a:latin typeface="Calibri" panose="020F0502020204030204" pitchFamily="34" charset="0"/>
                <a:cs typeface="Calibri" panose="020F0502020204030204" pitchFamily="34" charset="0"/>
              </a:rPr>
              <a:t>CV administratives 2023 .</a:t>
            </a:r>
          </a:p>
          <a:p>
            <a:pPr marL="342900" indent="-342900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fr-FR" sz="2400" dirty="0">
                <a:latin typeface="Calibri" panose="020F0502020204030204" pitchFamily="34" charset="0"/>
                <a:cs typeface="Calibri" panose="020F0502020204030204" pitchFamily="34" charset="0"/>
              </a:rPr>
              <a:t>CV administratives 2024.</a:t>
            </a:r>
          </a:p>
          <a:p>
            <a:pPr marL="342900" indent="-342900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fr-FR" sz="2400" dirty="0">
                <a:latin typeface="Calibri" panose="020F0502020204030204" pitchFamily="34" charset="0"/>
                <a:cs typeface="Calibri" panose="020F0502020204030204" pitchFamily="34" charset="0"/>
              </a:rPr>
              <a:t>Enquête de CV 2023.</a:t>
            </a:r>
          </a:p>
          <a:p>
            <a:pPr marL="342900" indent="-342900">
              <a:spcAft>
                <a:spcPts val="600"/>
              </a:spcAft>
              <a:buFont typeface="Wingdings" panose="05000000000000000000" pitchFamily="2" charset="2"/>
              <a:buChar char="q"/>
            </a:pPr>
            <a:endParaRPr lang="fr-FR" sz="2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>
              <a:spcAft>
                <a:spcPts val="600"/>
              </a:spcAft>
            </a:pPr>
            <a:endParaRPr lang="fr-FR" sz="2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>
              <a:spcAft>
                <a:spcPts val="600"/>
              </a:spcAft>
            </a:pPr>
            <a:endParaRPr lang="fr-FR" sz="2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>
              <a:spcAft>
                <a:spcPts val="600"/>
              </a:spcAft>
            </a:pPr>
            <a:endParaRPr lang="fr-FR" sz="2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>
              <a:spcAft>
                <a:spcPts val="600"/>
              </a:spcAft>
            </a:pPr>
            <a:endParaRPr lang="fr-FR" sz="2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fr-FR" dirty="0"/>
          </a:p>
          <a:p>
            <a:endParaRPr lang="fr-FR" dirty="0"/>
          </a:p>
          <a:p>
            <a:pPr algn="ctr"/>
            <a:endParaRPr lang="fr-FR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0" y="0"/>
            <a:ext cx="12192001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0" name="Rectangle 9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210312" y="226665"/>
            <a:ext cx="11722608" cy="6382512"/>
          </a:xfrm>
          <a:prstGeom prst="rect">
            <a:avLst/>
          </a:prstGeom>
          <a:ln w="6350" cap="flat" cmpd="sng" algn="ctr">
            <a:noFill/>
            <a:prstDash val="solid"/>
          </a:ln>
          <a:effectLst>
            <a:softEdge rad="0"/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337625" y="337625"/>
            <a:ext cx="11465169" cy="1109766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b="1" dirty="0"/>
              <a:t>Méthodologie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3415" y="1630017"/>
            <a:ext cx="11465169" cy="4890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fr-FR" sz="2400" b="1" dirty="0">
                <a:latin typeface="Calibri" panose="020F0502020204030204" pitchFamily="34" charset="0"/>
                <a:cs typeface="Calibri" panose="020F0502020204030204" pitchFamily="34" charset="0"/>
              </a:rPr>
              <a:t>Principes :</a:t>
            </a:r>
          </a:p>
          <a:p>
            <a:endParaRPr lang="fr-FR" sz="2400" b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457200" indent="-457200">
              <a:buFont typeface="Wingdings" panose="05000000000000000000" pitchFamily="2" charset="2"/>
              <a:buChar char="q"/>
            </a:pPr>
            <a:r>
              <a:rPr lang="fr-FR" sz="2400" dirty="0">
                <a:latin typeface="Calibri" panose="020F0502020204030204" pitchFamily="34" charset="0"/>
                <a:cs typeface="Calibri" panose="020F0502020204030204" pitchFamily="34" charset="0"/>
              </a:rPr>
              <a:t>Population de référence: cibles du PEV 2023</a:t>
            </a:r>
          </a:p>
          <a:p>
            <a:pPr marL="457200" indent="-457200">
              <a:buFont typeface="Wingdings" panose="05000000000000000000" pitchFamily="2" charset="2"/>
              <a:buChar char="q"/>
            </a:pPr>
            <a:r>
              <a:rPr lang="fr-FR" sz="2400" dirty="0">
                <a:latin typeface="Calibri" panose="020F0502020204030204" pitchFamily="34" charset="0"/>
                <a:cs typeface="Calibri" panose="020F0502020204030204" pitchFamily="34" charset="0"/>
              </a:rPr>
              <a:t>Population des données sur le nombre d’enfants vaccinés (Penta 1 pour les nourrissons survivants et BCG pour les naissances vivantes) et les résultats de l’ECV 2023.</a:t>
            </a:r>
          </a:p>
          <a:p>
            <a:pPr marL="457200" indent="-457200">
              <a:buFont typeface="Wingdings" panose="05000000000000000000" pitchFamily="2" charset="2"/>
              <a:buChar char="q"/>
            </a:pPr>
            <a:r>
              <a:rPr lang="fr-FR" sz="2400" dirty="0">
                <a:latin typeface="Calibri" panose="020F0502020204030204" pitchFamily="34" charset="0"/>
                <a:cs typeface="Calibri" panose="020F0502020204030204" pitchFamily="34" charset="0"/>
              </a:rPr>
              <a:t>Hypothèses émises :</a:t>
            </a:r>
          </a:p>
          <a:p>
            <a:pPr marL="914400" lvl="1" indent="-457200">
              <a:buFont typeface="Wingdings" panose="05000000000000000000" pitchFamily="2" charset="2"/>
              <a:buChar char="ü"/>
            </a:pPr>
            <a:r>
              <a:rPr lang="fr-FR" sz="2400" dirty="0">
                <a:latin typeface="Calibri" panose="020F0502020204030204" pitchFamily="34" charset="0"/>
                <a:cs typeface="Calibri" panose="020F0502020204030204" pitchFamily="34" charset="0"/>
              </a:rPr>
              <a:t>Les données sur les enfants vaccinés sont correctes.  </a:t>
            </a:r>
          </a:p>
          <a:p>
            <a:pPr marL="914400" lvl="1" indent="-457200">
              <a:buFont typeface="Wingdings" panose="05000000000000000000" pitchFamily="2" charset="2"/>
              <a:buChar char="ü"/>
            </a:pPr>
            <a:r>
              <a:rPr lang="fr-FR" sz="2400" dirty="0">
                <a:latin typeface="Calibri" panose="020F0502020204030204" pitchFamily="34" charset="0"/>
                <a:cs typeface="Calibri" panose="020F0502020204030204" pitchFamily="34" charset="0"/>
              </a:rPr>
              <a:t>Les résultats de l’ECV sont fiables.</a:t>
            </a:r>
          </a:p>
          <a:p>
            <a:pPr marL="914400" lvl="1" indent="-457200">
              <a:buFont typeface="Wingdings" panose="05000000000000000000" pitchFamily="2" charset="2"/>
              <a:buChar char="ü"/>
            </a:pPr>
            <a:r>
              <a:rPr lang="fr-FR" sz="2400" dirty="0">
                <a:latin typeface="Calibri" panose="020F0502020204030204" pitchFamily="34" charset="0"/>
                <a:cs typeface="Calibri" panose="020F0502020204030204" pitchFamily="34" charset="0"/>
              </a:rPr>
              <a:t>Les cibles réelles sont celles calculées en utilisant les données sur les enfants vaccinés et les résultats de l’ECV pour chaque zone de santé.  </a:t>
            </a:r>
          </a:p>
          <a:p>
            <a:pPr marL="457200" indent="-457200">
              <a:buFont typeface="Wingdings" panose="05000000000000000000" pitchFamily="2" charset="2"/>
              <a:buChar char="ü"/>
            </a:pPr>
            <a:endParaRPr lang="fr-FR" sz="2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457200" indent="-457200">
              <a:buFont typeface="Wingdings" panose="05000000000000000000" pitchFamily="2" charset="2"/>
              <a:buChar char="ü"/>
            </a:pPr>
            <a:endParaRPr lang="fr-FR" sz="2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fr-FR" sz="2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ctr"/>
            <a:endParaRPr lang="fr-FR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0" y="0"/>
            <a:ext cx="12192001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0" name="Rectangle 9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210312" y="226665"/>
            <a:ext cx="11722608" cy="6382512"/>
          </a:xfrm>
          <a:prstGeom prst="rect">
            <a:avLst/>
          </a:prstGeom>
          <a:ln w="6350" cap="flat" cmpd="sng" algn="ctr">
            <a:noFill/>
            <a:prstDash val="solid"/>
          </a:ln>
          <a:effectLst>
            <a:softEdge rad="0"/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337625" y="337625"/>
            <a:ext cx="11465169" cy="1109766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b="1" dirty="0"/>
              <a:t>Méthodologie</a:t>
            </a:r>
          </a:p>
        </p:txBody>
      </p:sp>
      <p:sp>
        <p:nvSpPr>
          <p:cNvPr id="5" name="Rectangle 4"/>
          <p:cNvSpPr/>
          <p:nvPr/>
        </p:nvSpPr>
        <p:spPr>
          <a:xfrm>
            <a:off x="210312" y="1447391"/>
            <a:ext cx="11722607" cy="516178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spcAft>
                <a:spcPts val="1200"/>
              </a:spcAft>
            </a:pPr>
            <a:r>
              <a:rPr lang="fr-FR" sz="2000" b="1" dirty="0">
                <a:latin typeface="Calibri" panose="020F0502020204030204" pitchFamily="34" charset="0"/>
                <a:cs typeface="Calibri" panose="020F0502020204030204" pitchFamily="34" charset="0"/>
              </a:rPr>
              <a:t>Procédure: </a:t>
            </a:r>
          </a:p>
          <a:p>
            <a:pPr marL="457200" indent="-457200">
              <a:spcAft>
                <a:spcPts val="1200"/>
              </a:spcAft>
              <a:buFont typeface="Wingdings" panose="05000000000000000000" pitchFamily="2" charset="2"/>
              <a:buChar char="q"/>
            </a:pPr>
            <a:r>
              <a:rPr lang="fr-FR" sz="2000" dirty="0">
                <a:latin typeface="Calibri" panose="020F0502020204030204" pitchFamily="34" charset="0"/>
                <a:cs typeface="Calibri" panose="020F0502020204030204" pitchFamily="34" charset="0"/>
              </a:rPr>
              <a:t>Calcul de la population ajustée 2023: Vaccinés 2023 / CV ECV 2023.</a:t>
            </a:r>
          </a:p>
          <a:p>
            <a:pPr marL="457200" indent="-457200">
              <a:spcAft>
                <a:spcPts val="1200"/>
              </a:spcAft>
              <a:buFont typeface="Wingdings" panose="05000000000000000000" pitchFamily="2" charset="2"/>
              <a:buChar char="q"/>
            </a:pPr>
            <a:r>
              <a:rPr lang="fr-FR" sz="2000" dirty="0">
                <a:latin typeface="Calibri" panose="020F0502020204030204" pitchFamily="34" charset="0"/>
                <a:cs typeface="Calibri" panose="020F0502020204030204" pitchFamily="34" charset="0"/>
              </a:rPr>
              <a:t>Ajustement de la cible 2024: augmentation de 3% de la cible de 2023.</a:t>
            </a:r>
          </a:p>
          <a:p>
            <a:pPr marL="457200" indent="-457200">
              <a:spcAft>
                <a:spcPts val="1200"/>
              </a:spcAft>
              <a:buFont typeface="Wingdings" panose="05000000000000000000" pitchFamily="2" charset="2"/>
              <a:buChar char="q"/>
            </a:pPr>
            <a:r>
              <a:rPr lang="fr-FR" sz="2000" dirty="0">
                <a:latin typeface="Calibri" panose="020F0502020204030204" pitchFamily="34" charset="0"/>
                <a:cs typeface="Calibri" panose="020F0502020204030204" pitchFamily="34" charset="0"/>
              </a:rPr>
              <a:t>Cible ajustée 2024: </a:t>
            </a:r>
          </a:p>
          <a:p>
            <a:pPr marL="914400" lvl="1" indent="-457200">
              <a:spcAft>
                <a:spcPts val="1200"/>
              </a:spcAft>
              <a:buFont typeface="Wingdings" panose="05000000000000000000" pitchFamily="2" charset="2"/>
              <a:buChar char="ü"/>
            </a:pPr>
            <a:r>
              <a:rPr lang="fr-FR" sz="2000" dirty="0">
                <a:latin typeface="Calibri" panose="020F0502020204030204" pitchFamily="34" charset="0"/>
                <a:cs typeface="Calibri" panose="020F0502020204030204" pitchFamily="34" charset="0"/>
              </a:rPr>
              <a:t>Application du taux de croissance à la cible ajustée de 2023.</a:t>
            </a:r>
          </a:p>
          <a:p>
            <a:pPr marL="914400" lvl="1" indent="-457200">
              <a:spcAft>
                <a:spcPts val="1200"/>
              </a:spcAft>
              <a:buFont typeface="Wingdings" panose="05000000000000000000" pitchFamily="2" charset="2"/>
              <a:buChar char="ü"/>
            </a:pPr>
            <a:r>
              <a:rPr lang="fr-FR" sz="2000" dirty="0">
                <a:latin typeface="Calibri" panose="020F0502020204030204" pitchFamily="34" charset="0"/>
                <a:cs typeface="Calibri" panose="020F0502020204030204" pitchFamily="34" charset="0"/>
              </a:rPr>
              <a:t>Maintien de la cible admin lorsque la cible ajustée est inférieure à la cible admin.</a:t>
            </a:r>
          </a:p>
          <a:p>
            <a:pPr marL="457200" indent="-457200">
              <a:spcAft>
                <a:spcPts val="1200"/>
              </a:spcAft>
              <a:buFont typeface="Wingdings" panose="05000000000000000000" pitchFamily="2" charset="2"/>
              <a:buChar char="q"/>
            </a:pPr>
            <a:r>
              <a:rPr lang="fr-FR" sz="2000" dirty="0">
                <a:latin typeface="Calibri" panose="020F0502020204030204" pitchFamily="34" charset="0"/>
                <a:cs typeface="Calibri" panose="020F0502020204030204" pitchFamily="34" charset="0"/>
              </a:rPr>
              <a:t>CV ajustée (Penta 1): </a:t>
            </a:r>
          </a:p>
          <a:p>
            <a:pPr marL="914400" lvl="1" indent="-457200">
              <a:spcAft>
                <a:spcPts val="1200"/>
              </a:spcAft>
              <a:buFont typeface="Wingdings" panose="05000000000000000000" pitchFamily="2" charset="2"/>
              <a:buChar char="ü"/>
            </a:pPr>
            <a:r>
              <a:rPr lang="fr-FR" sz="2000" dirty="0">
                <a:latin typeface="Calibri" panose="020F0502020204030204" pitchFamily="34" charset="0"/>
                <a:cs typeface="Calibri" panose="020F0502020204030204" pitchFamily="34" charset="0"/>
              </a:rPr>
              <a:t>Nb de vaccinés de 2024 divisé par la cible ajustée.</a:t>
            </a:r>
          </a:p>
          <a:p>
            <a:pPr marL="914400" lvl="1" indent="-457200">
              <a:spcAft>
                <a:spcPts val="1200"/>
              </a:spcAft>
              <a:buFont typeface="Wingdings" panose="05000000000000000000" pitchFamily="2" charset="2"/>
              <a:buChar char="ü"/>
            </a:pPr>
            <a:r>
              <a:rPr lang="fr-FR" sz="2000" dirty="0">
                <a:latin typeface="Calibri" panose="020F0502020204030204" pitchFamily="34" charset="0"/>
                <a:cs typeface="Calibri" panose="020F0502020204030204" pitchFamily="34" charset="0"/>
              </a:rPr>
              <a:t>Si la CV ajustée restait &gt;100%, on appliquait une augmentation de 5% au nombre de vaccinés de l’année comme dénominateur de manière à ramener la CV à 95%.    </a:t>
            </a:r>
            <a:r>
              <a:rPr lang="fr-FR" sz="200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pourquoi</a:t>
            </a:r>
          </a:p>
          <a:p>
            <a:pPr marL="457200" indent="-457200">
              <a:spcAft>
                <a:spcPts val="1200"/>
              </a:spcAft>
              <a:buFont typeface="Wingdings" panose="05000000000000000000" pitchFamily="2" charset="2"/>
              <a:buChar char="q"/>
            </a:pPr>
            <a:r>
              <a:rPr lang="fr-FR" sz="2000" dirty="0">
                <a:latin typeface="Calibri" panose="020F0502020204030204" pitchFamily="34" charset="0"/>
                <a:cs typeface="Calibri" panose="020F0502020204030204" pitchFamily="34" charset="0"/>
              </a:rPr>
              <a:t>Calcul des cibles ajustées 2025 en appliquant 3% de taux de croissance à la population ajustée de 2024.</a:t>
            </a:r>
          </a:p>
          <a:p>
            <a:pPr algn="ctr"/>
            <a:endParaRPr lang="fr-FR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0" y="0"/>
            <a:ext cx="12192001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0" name="Rectangle 9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210312" y="226665"/>
            <a:ext cx="11722608" cy="6382512"/>
          </a:xfrm>
          <a:prstGeom prst="rect">
            <a:avLst/>
          </a:prstGeom>
          <a:ln w="6350" cap="flat" cmpd="sng" algn="ctr">
            <a:noFill/>
            <a:prstDash val="solid"/>
          </a:ln>
          <a:effectLst>
            <a:softEdge rad="0"/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337625" y="337625"/>
            <a:ext cx="11465169" cy="1109766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b="1" dirty="0"/>
              <a:t>Méthodologie</a:t>
            </a:r>
          </a:p>
        </p:txBody>
      </p:sp>
      <p:pic>
        <p:nvPicPr>
          <p:cNvPr id="2" name="Imag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624" y="2087217"/>
            <a:ext cx="11465169" cy="4422912"/>
          </a:xfrm>
          <a:prstGeom prst="rect">
            <a:avLst/>
          </a:prstGeom>
        </p:spPr>
      </p:pic>
      <p:sp>
        <p:nvSpPr>
          <p:cNvPr id="3" name="ZoneTexte 2"/>
          <p:cNvSpPr txBox="1"/>
          <p:nvPr/>
        </p:nvSpPr>
        <p:spPr>
          <a:xfrm>
            <a:off x="795130" y="1674056"/>
            <a:ext cx="100882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Etapes suivies pour l’ajustement des cibles 2024 et 2025 par zone de santé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0" y="0"/>
            <a:ext cx="12192001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0" name="Rectangle 9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210312" y="226665"/>
            <a:ext cx="11722608" cy="6382512"/>
          </a:xfrm>
          <a:prstGeom prst="rect">
            <a:avLst/>
          </a:prstGeom>
          <a:ln w="6350" cap="flat" cmpd="sng" algn="ctr">
            <a:noFill/>
            <a:prstDash val="solid"/>
          </a:ln>
          <a:effectLst>
            <a:softEdge rad="0"/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337625" y="337625"/>
            <a:ext cx="11465169" cy="1109766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b="1" dirty="0"/>
              <a:t>Résultats </a:t>
            </a:r>
          </a:p>
        </p:txBody>
      </p:sp>
      <p:sp>
        <p:nvSpPr>
          <p:cNvPr id="5" name="Rectangle 4"/>
          <p:cNvSpPr/>
          <p:nvPr/>
        </p:nvSpPr>
        <p:spPr>
          <a:xfrm>
            <a:off x="337625" y="1630017"/>
            <a:ext cx="11465169" cy="4890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457200" indent="-457200">
              <a:spcBef>
                <a:spcPts val="1200"/>
              </a:spcBef>
              <a:spcAft>
                <a:spcPts val="1200"/>
              </a:spcAft>
              <a:buFont typeface="Wingdings" panose="05000000000000000000" pitchFamily="2" charset="2"/>
              <a:buChar char="q"/>
            </a:pPr>
            <a:r>
              <a:rPr lang="fr-FR" sz="2400" dirty="0">
                <a:latin typeface="Calibri" panose="020F0502020204030204" pitchFamily="34" charset="0"/>
                <a:cs typeface="Calibri" panose="020F0502020204030204" pitchFamily="34" charset="0"/>
              </a:rPr>
              <a:t>Réajustement des cibles de survivants et naissances vivantes 2024 et 2025: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endParaRPr lang="fr-FR" sz="2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ctr"/>
            <a:endParaRPr lang="fr-FR" dirty="0"/>
          </a:p>
        </p:txBody>
      </p:sp>
      <p:graphicFrame>
        <p:nvGraphicFramePr>
          <p:cNvPr id="2" name="Object 1"/>
          <p:cNvGraphicFramePr>
            <a:graphicFrameLocks noChangeAspect="1"/>
          </p:cNvGraphicFramePr>
          <p:nvPr/>
        </p:nvGraphicFramePr>
        <p:xfrm>
          <a:off x="3927475" y="4064000"/>
          <a:ext cx="381000" cy="7921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Feuille de calcul" showAsIcon="1" r:id="rId2" imgW="328295" imgH="676275" progId="Excel.Sheet.12">
                  <p:embed/>
                </p:oleObj>
              </mc:Choice>
              <mc:Fallback>
                <p:oleObj name="Feuille de calcul" showAsIcon="1" r:id="rId2" imgW="328295" imgH="676275" progId="Excel.Sheet.12">
                  <p:embed/>
                  <p:pic>
                    <p:nvPicPr>
                      <p:cNvPr id="2" name="Object 1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927475" y="4064000"/>
                        <a:ext cx="381000" cy="79216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337625" y="337625"/>
            <a:ext cx="11465169" cy="1109766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b="1" dirty="0"/>
              <a:t>Survivants admin et ajustés en 2024 par province </a:t>
            </a:r>
          </a:p>
        </p:txBody>
      </p:sp>
      <p:pic>
        <p:nvPicPr>
          <p:cNvPr id="3" name="Picture 2" descr="A graph of different colored bars&#10;&#10;Description automatically generated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24" y="1447390"/>
            <a:ext cx="11465169" cy="507298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556951" y="1558351"/>
            <a:ext cx="428368" cy="3993952"/>
          </a:xfrm>
          <a:prstGeom prst="rect">
            <a:avLst/>
          </a:prstGeom>
          <a:noFill/>
          <a:ln w="19050">
            <a:solidFill>
              <a:schemeClr val="tx2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7497309" y="2779076"/>
            <a:ext cx="428368" cy="3246183"/>
          </a:xfrm>
          <a:prstGeom prst="rect">
            <a:avLst/>
          </a:prstGeom>
          <a:noFill/>
          <a:ln w="19050">
            <a:solidFill>
              <a:schemeClr val="tx2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0863079" y="2031308"/>
            <a:ext cx="939714" cy="3993952"/>
          </a:xfrm>
          <a:prstGeom prst="rect">
            <a:avLst/>
          </a:prstGeom>
          <a:noFill/>
          <a:ln w="19050">
            <a:solidFill>
              <a:schemeClr val="tx2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3239836" y="1986906"/>
            <a:ext cx="428368" cy="3993952"/>
          </a:xfrm>
          <a:prstGeom prst="rect">
            <a:avLst/>
          </a:prstGeom>
          <a:noFill/>
          <a:ln w="19050">
            <a:solidFill>
              <a:schemeClr val="tx2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9180194" y="1986906"/>
            <a:ext cx="428368" cy="3993952"/>
          </a:xfrm>
          <a:prstGeom prst="rect">
            <a:avLst/>
          </a:prstGeom>
          <a:noFill/>
          <a:ln w="19050">
            <a:solidFill>
              <a:schemeClr val="tx2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72241" y="1223070"/>
          <a:ext cx="3643630" cy="808237"/>
        </p:xfrm>
        <a:graphic>
          <a:graphicData uri="http://schemas.openxmlformats.org/drawingml/2006/table">
            <a:tbl>
              <a:tblPr firstRow="1" bandRow="1"/>
              <a:tblGrid>
                <a:gridCol w="990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96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7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06178">
                <a:tc>
                  <a:txBody>
                    <a:bodyPr/>
                    <a:lstStyle/>
                    <a:p>
                      <a:pPr marL="63500" marR="63500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fr-FR" sz="11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Provinces</a:t>
                      </a:r>
                      <a:endParaRPr lang="en-US" sz="12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ct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fr-FR" sz="11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Cibles admin 2024</a:t>
                      </a:r>
                      <a:endParaRPr lang="en-US" sz="1200" dirty="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ct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fr-FR" sz="11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Cibles ajustées 2024</a:t>
                      </a:r>
                      <a:endParaRPr lang="en-US" sz="1200" dirty="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ct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fr-FR" sz="11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% variation</a:t>
                      </a:r>
                      <a:endParaRPr lang="en-US" sz="1200" dirty="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059">
                <a:tc>
                  <a:txBody>
                    <a:bodyPr/>
                    <a:lstStyle/>
                    <a:p>
                      <a:pPr marL="63500" marR="63500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fr-FR" sz="11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RDC</a:t>
                      </a:r>
                      <a:endParaRPr lang="en-US" sz="12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ct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fr-FR" sz="11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4,477,135</a:t>
                      </a:r>
                      <a:endParaRPr lang="en-US" sz="1200" dirty="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ct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fr-FR" sz="11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6,270,615</a:t>
                      </a:r>
                      <a:endParaRPr lang="en-US" sz="12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ct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fr-FR" sz="11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40</a:t>
                      </a:r>
                      <a:endParaRPr lang="en-US" sz="1200" dirty="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0" y="0"/>
            <a:ext cx="12192001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0" name="Rectangle 9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210312" y="226665"/>
            <a:ext cx="11722608" cy="6382512"/>
          </a:xfrm>
          <a:prstGeom prst="rect">
            <a:avLst/>
          </a:prstGeom>
          <a:ln w="6350" cap="flat" cmpd="sng" algn="ctr">
            <a:noFill/>
            <a:prstDash val="solid"/>
          </a:ln>
          <a:effectLst>
            <a:softEdge rad="0"/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337625" y="337625"/>
            <a:ext cx="5578787" cy="1109766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b="1" dirty="0"/>
              <a:t>CV administrative Penta 1 2024 par ZS</a:t>
            </a:r>
          </a:p>
        </p:txBody>
      </p:sp>
      <p:pic>
        <p:nvPicPr>
          <p:cNvPr id="5" name="Picture 4" descr="A line with red dots&#10;&#10;Description automatically generated with medium confidence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313" y="1558350"/>
            <a:ext cx="5584130" cy="3652495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94485" y="5299649"/>
          <a:ext cx="3228157" cy="1220725"/>
        </p:xfrm>
        <a:graphic>
          <a:graphicData uri="http://schemas.openxmlformats.org/drawingml/2006/table">
            <a:tbl>
              <a:tblPr firstRow="1" bandRow="1"/>
              <a:tblGrid>
                <a:gridCol w="10419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004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580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4145">
                <a:tc>
                  <a:txBody>
                    <a:bodyPr/>
                    <a:lstStyle/>
                    <a:p>
                      <a:pPr marL="63500" marR="63500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100" b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CV Penta1</a:t>
                      </a:r>
                      <a:endParaRPr lang="en-US" sz="12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100" b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Nombre de ZS</a:t>
                      </a:r>
                      <a:endParaRPr lang="en-US" sz="12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100" b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% de ZS</a:t>
                      </a:r>
                      <a:endParaRPr lang="en-US" sz="12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4145">
                <a:tc>
                  <a:txBody>
                    <a:bodyPr/>
                    <a:lstStyle/>
                    <a:p>
                      <a:pPr marL="63500" marR="63500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50%-79%</a:t>
                      </a:r>
                      <a:endParaRPr lang="en-US" sz="12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16</a:t>
                      </a:r>
                      <a:endParaRPr lang="en-US" sz="1200" dirty="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3</a:t>
                      </a:r>
                      <a:endParaRPr lang="en-US" sz="1200" dirty="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4145">
                <a:tc>
                  <a:txBody>
                    <a:bodyPr/>
                    <a:lstStyle/>
                    <a:p>
                      <a:pPr marL="63500" marR="63500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80%-99%</a:t>
                      </a:r>
                      <a:endParaRPr lang="en-US" sz="12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177</a:t>
                      </a:r>
                      <a:endParaRPr lang="en-US" sz="12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34</a:t>
                      </a:r>
                      <a:endParaRPr lang="en-US" sz="1200" dirty="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4145">
                <a:tc>
                  <a:txBody>
                    <a:bodyPr/>
                    <a:lstStyle/>
                    <a:p>
                      <a:pPr marL="63500" marR="63500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&gt;=100%</a:t>
                      </a:r>
                      <a:endParaRPr lang="en-US" sz="12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326</a:t>
                      </a:r>
                      <a:endParaRPr lang="en-US" sz="12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63</a:t>
                      </a:r>
                      <a:endParaRPr lang="en-US" sz="1200" dirty="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4145">
                <a:tc>
                  <a:txBody>
                    <a:bodyPr/>
                    <a:lstStyle/>
                    <a:p>
                      <a:pPr marL="63500" marR="63500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Total</a:t>
                      </a:r>
                      <a:endParaRPr lang="en-US" sz="12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519</a:t>
                      </a:r>
                      <a:endParaRPr lang="en-US" sz="1200" dirty="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100</a:t>
                      </a:r>
                      <a:endParaRPr lang="en-US" sz="1200" dirty="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2" name="Picture 1" descr="A line of dots on a white background&#10;&#10;Description automatically generated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6412" y="1558350"/>
            <a:ext cx="6016507" cy="3666479"/>
          </a:xfrm>
          <a:prstGeom prst="rect">
            <a:avLst/>
          </a:prstGeom>
        </p:spPr>
      </p:pic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805530" y="5335788"/>
          <a:ext cx="3065037" cy="1143702"/>
        </p:xfrm>
        <a:graphic>
          <a:graphicData uri="http://schemas.openxmlformats.org/drawingml/2006/table">
            <a:tbl>
              <a:tblPr firstRow="1" bandRow="1"/>
              <a:tblGrid>
                <a:gridCol w="9892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7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4104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90617">
                <a:tc>
                  <a:txBody>
                    <a:bodyPr/>
                    <a:lstStyle/>
                    <a:p>
                      <a:pPr marL="63500" marR="63500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100" b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CV Penta1</a:t>
                      </a:r>
                      <a:endParaRPr lang="en-US" sz="12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100" b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Nombre de ZS</a:t>
                      </a:r>
                      <a:endParaRPr lang="en-US" sz="12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% de ZS</a:t>
                      </a:r>
                      <a:endParaRPr lang="en-US" sz="1200" dirty="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617">
                <a:tc>
                  <a:txBody>
                    <a:bodyPr/>
                    <a:lstStyle/>
                    <a:p>
                      <a:pPr marL="63500" marR="63500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100" dirty="0">
                          <a:solidFill>
                            <a:srgbClr val="FFC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&lt;30%</a:t>
                      </a:r>
                      <a:endParaRPr lang="en-US" sz="1200" dirty="0">
                        <a:solidFill>
                          <a:srgbClr val="FFC000"/>
                        </a:solidFill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100" dirty="0">
                          <a:solidFill>
                            <a:srgbClr val="FFC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12</a:t>
                      </a:r>
                      <a:endParaRPr lang="en-US" sz="1200" dirty="0">
                        <a:solidFill>
                          <a:srgbClr val="FFC000"/>
                        </a:solidFill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100" dirty="0">
                          <a:solidFill>
                            <a:srgbClr val="FFC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2</a:t>
                      </a:r>
                      <a:endParaRPr lang="en-US" sz="1200" dirty="0">
                        <a:solidFill>
                          <a:srgbClr val="FFC000"/>
                        </a:solidFill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617">
                <a:tc>
                  <a:txBody>
                    <a:bodyPr/>
                    <a:lstStyle/>
                    <a:p>
                      <a:pPr marL="63500" marR="63500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100">
                          <a:solidFill>
                            <a:srgbClr val="FFC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30%-49%</a:t>
                      </a:r>
                      <a:endParaRPr lang="en-US" sz="1200">
                        <a:solidFill>
                          <a:srgbClr val="FFC000"/>
                        </a:solidFill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100">
                          <a:solidFill>
                            <a:srgbClr val="FFC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40</a:t>
                      </a:r>
                      <a:endParaRPr lang="en-US" sz="1200">
                        <a:solidFill>
                          <a:srgbClr val="FFC000"/>
                        </a:solidFill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100" dirty="0">
                          <a:solidFill>
                            <a:srgbClr val="FFC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8</a:t>
                      </a:r>
                      <a:endParaRPr lang="en-US" sz="1200" dirty="0">
                        <a:solidFill>
                          <a:srgbClr val="FFC000"/>
                        </a:solidFill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617">
                <a:tc>
                  <a:txBody>
                    <a:bodyPr/>
                    <a:lstStyle/>
                    <a:p>
                      <a:pPr marL="63500" marR="63500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50%-79%</a:t>
                      </a:r>
                      <a:endParaRPr lang="en-US" sz="1200" dirty="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132</a:t>
                      </a:r>
                      <a:endParaRPr lang="en-US" sz="1200" dirty="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25</a:t>
                      </a:r>
                      <a:endParaRPr lang="en-US" sz="1200" dirty="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617">
                <a:tc>
                  <a:txBody>
                    <a:bodyPr/>
                    <a:lstStyle/>
                    <a:p>
                      <a:pPr marL="63500" marR="63500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80%-99%</a:t>
                      </a:r>
                      <a:endParaRPr lang="en-US" sz="12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335</a:t>
                      </a:r>
                      <a:endParaRPr lang="en-US" sz="12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65</a:t>
                      </a:r>
                      <a:endParaRPr lang="en-US" sz="1200" dirty="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617">
                <a:tc>
                  <a:txBody>
                    <a:bodyPr/>
                    <a:lstStyle/>
                    <a:p>
                      <a:pPr marL="63500" marR="63500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Total</a:t>
                      </a:r>
                      <a:endParaRPr lang="en-US" sz="12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519</a:t>
                      </a:r>
                      <a:endParaRPr lang="en-US" sz="12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100</a:t>
                      </a:r>
                      <a:endParaRPr lang="en-US" sz="1200" dirty="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224007" y="337625"/>
            <a:ext cx="5578787" cy="1091038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b="1" dirty="0"/>
              <a:t>CV ajustée Penta 1 2024 par ZS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0" y="0"/>
            <a:ext cx="12192001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0" name="Rectangle 9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210312" y="226665"/>
            <a:ext cx="11722608" cy="6382512"/>
          </a:xfrm>
          <a:prstGeom prst="rect">
            <a:avLst/>
          </a:prstGeom>
          <a:ln w="6350" cap="flat" cmpd="sng" algn="ctr">
            <a:noFill/>
            <a:prstDash val="solid"/>
          </a:ln>
          <a:effectLst>
            <a:softEdge rad="0"/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337625" y="337625"/>
            <a:ext cx="11465169" cy="1109766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400" b="1" dirty="0"/>
              <a:t>Comparaison du nombre de vaccinés Penta 1 en 2023 et 2024 dans les zones de santé avec moins de 30% de CV Penta 1 ajustée</a:t>
            </a:r>
          </a:p>
        </p:txBody>
      </p:sp>
      <p:pic>
        <p:nvPicPr>
          <p:cNvPr id="3" name="Picture 2" descr="A graph of different colored bars&#10;&#10;Description automatically generated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312" y="1447390"/>
            <a:ext cx="11771376" cy="502960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83741" y="2557156"/>
            <a:ext cx="930875" cy="3637698"/>
          </a:xfrm>
          <a:prstGeom prst="rect">
            <a:avLst/>
          </a:prstGeom>
          <a:noFill/>
          <a:ln>
            <a:solidFill>
              <a:srgbClr val="0070C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1767016" y="2668116"/>
            <a:ext cx="930875" cy="3637698"/>
          </a:xfrm>
          <a:prstGeom prst="rect">
            <a:avLst/>
          </a:prstGeom>
          <a:noFill/>
          <a:ln>
            <a:solidFill>
              <a:srgbClr val="0070C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9221384" y="2557156"/>
            <a:ext cx="930875" cy="3637698"/>
          </a:xfrm>
          <a:prstGeom prst="rect">
            <a:avLst/>
          </a:prstGeom>
          <a:noFill/>
          <a:ln>
            <a:solidFill>
              <a:srgbClr val="0070C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8185353" y="2758194"/>
            <a:ext cx="930875" cy="3637698"/>
          </a:xfrm>
          <a:prstGeom prst="rect">
            <a:avLst/>
          </a:prstGeom>
          <a:noFill/>
          <a:ln>
            <a:solidFill>
              <a:srgbClr val="0070C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0" y="0"/>
            <a:ext cx="12192001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0" name="Rectangle 9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210312" y="226665"/>
            <a:ext cx="11722608" cy="6382512"/>
          </a:xfrm>
          <a:prstGeom prst="rect">
            <a:avLst/>
          </a:prstGeom>
          <a:ln w="6350" cap="flat" cmpd="sng" algn="ctr">
            <a:noFill/>
            <a:prstDash val="solid"/>
          </a:ln>
          <a:effectLst>
            <a:softEdge rad="0"/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337625" y="337625"/>
            <a:ext cx="11465169" cy="1109766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200" b="1" dirty="0"/>
              <a:t>Comparaison CV Penta 1 ECV 2023 et CV ajustée 2024 (</a:t>
            </a:r>
            <a:r>
              <a:rPr lang="fr-FR" sz="3200" b="1" dirty="0">
                <a:solidFill>
                  <a:srgbClr val="FFFF00"/>
                </a:solidFill>
              </a:rPr>
              <a:t>12 ZS avec &lt;30% </a:t>
            </a:r>
            <a:r>
              <a:rPr lang="fr-FR" sz="3200" b="1" dirty="0"/>
              <a:t>de CV Penta 1 ajustée) </a:t>
            </a:r>
          </a:p>
        </p:txBody>
      </p:sp>
      <p:pic>
        <p:nvPicPr>
          <p:cNvPr id="7" name="Picture 6" descr="A graph with red and blue dots&#10;&#10;Description automatically generated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312" y="1542003"/>
            <a:ext cx="11722608" cy="50586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56886" y="1795849"/>
            <a:ext cx="63266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ECV 2023 et CV ajustée 2024 à l’exception de </a:t>
            </a:r>
            <a:r>
              <a:rPr lang="fr-FR" dirty="0" err="1"/>
              <a:t>Dekese</a:t>
            </a:r>
            <a:r>
              <a:rPr lang="fr-FR" dirty="0"/>
              <a:t> et </a:t>
            </a:r>
            <a:r>
              <a:rPr lang="fr-FR" b="1" dirty="0" err="1"/>
              <a:t>Basali</a:t>
            </a:r>
            <a:r>
              <a:rPr lang="fr-FR" dirty="0"/>
              <a:t> où le nombre de vaccinés en 2024 doit avoir baissé comparé à 2023.</a:t>
            </a:r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0" y="0"/>
            <a:ext cx="12192001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0" name="Rectangle 9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210312" y="226665"/>
            <a:ext cx="11722608" cy="6382512"/>
          </a:xfrm>
          <a:prstGeom prst="rect">
            <a:avLst/>
          </a:prstGeom>
          <a:ln w="6350" cap="flat" cmpd="sng" algn="ctr">
            <a:noFill/>
            <a:prstDash val="solid"/>
          </a:ln>
          <a:effectLst>
            <a:softEdge rad="0"/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337625" y="337625"/>
            <a:ext cx="11465169" cy="1109766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400" b="1" dirty="0"/>
              <a:t>Comparaison % variation CV Penta 1 ajustée 2024/ECV 2023 et Vaccinés 2024/Vaccinés 2023 (</a:t>
            </a:r>
            <a:r>
              <a:rPr lang="fr-FR" sz="2400" b="1" dirty="0">
                <a:solidFill>
                  <a:srgbClr val="FFFF00"/>
                </a:solidFill>
              </a:rPr>
              <a:t>ZS avec &lt;30</a:t>
            </a:r>
            <a:r>
              <a:rPr lang="fr-FR" sz="2400" b="1" dirty="0"/>
              <a:t>% de CV Penta ajustée)</a:t>
            </a:r>
          </a:p>
        </p:txBody>
      </p:sp>
      <p:pic>
        <p:nvPicPr>
          <p:cNvPr id="5" name="Picture 4" descr="A graph of a line&#10;&#10;Description automatically generated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24" y="1447390"/>
            <a:ext cx="11465169" cy="502960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365787" y="4883285"/>
            <a:ext cx="22665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r= 0,99</a:t>
            </a:r>
            <a:endParaRPr lang="en-US" b="1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50076" y="0"/>
            <a:ext cx="11465169" cy="807396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800" b="1" dirty="0"/>
              <a:t>CV Penta 1 Adm Vs Ajustée 2024 par province &amp; National</a:t>
            </a:r>
          </a:p>
        </p:txBody>
      </p:sp>
      <p:pic>
        <p:nvPicPr>
          <p:cNvPr id="12" name="Picture 11" descr="A screenshot of a computer&#10;&#10;Description automatically generated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07396"/>
            <a:ext cx="12192000" cy="605060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11451" y="0"/>
            <a:ext cx="11465169" cy="1109766"/>
          </a:xfrm>
          <a:prstGeom prst="rect">
            <a:avLst/>
          </a:prstGeom>
          <a:solidFill>
            <a:srgbClr val="2683C6">
              <a:lumMod val="75000"/>
            </a:srgbClr>
          </a:solidFill>
          <a:ln w="12700" cap="flat" cmpd="sng" algn="ctr">
            <a:solidFill>
              <a:srgbClr val="1CADE4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fr-FR" sz="28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entury Gothic" panose="020B0502020202020204"/>
                <a:ea typeface="+mn-ea"/>
                <a:cs typeface="+mn-cs"/>
              </a:rPr>
              <a:t>Couverture vaccinale admin </a:t>
            </a:r>
            <a:r>
              <a:rPr lang="fr-FR" sz="2800" b="1" kern="0" dirty="0">
                <a:solidFill>
                  <a:schemeClr val="bg1"/>
                </a:solidFill>
                <a:latin typeface="Century Gothic" panose="020B0502020202020204"/>
              </a:rPr>
              <a:t>Vs ajustée Par Province pour DTC1, DTC 3 et VAR1</a:t>
            </a:r>
            <a:endParaRPr kumimoji="0" lang="fr-FR" sz="2800" b="1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109331" y="1222513"/>
          <a:ext cx="10535478" cy="5525053"/>
        </p:xfrm>
        <a:graphic>
          <a:graphicData uri="http://schemas.openxmlformats.org/drawingml/2006/table">
            <a:tbl>
              <a:tblPr/>
              <a:tblGrid>
                <a:gridCol w="19375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35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052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052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0528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0528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4321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186111"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Province</a:t>
                      </a:r>
                    </a:p>
                  </a:txBody>
                  <a:tcPr marL="7477" marR="7477" marT="747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CV DTC1</a:t>
                      </a:r>
                    </a:p>
                  </a:txBody>
                  <a:tcPr marL="7477" marR="7477" marT="7477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CV DTC3</a:t>
                      </a:r>
                    </a:p>
                  </a:txBody>
                  <a:tcPr marL="7477" marR="7477" marT="7477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CV VAR1</a:t>
                      </a:r>
                    </a:p>
                  </a:txBody>
                  <a:tcPr marL="7477" marR="7477" marT="7477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577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Admin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Ajustee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Admin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Ajustee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Admin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Ajustee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5770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Bas Uele</a:t>
                      </a:r>
                    </a:p>
                  </a:txBody>
                  <a:tcPr marL="7477" marR="7477" marT="7477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62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94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58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87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54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5770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Equateur</a:t>
                      </a:r>
                    </a:p>
                  </a:txBody>
                  <a:tcPr marL="7477" marR="7477" marT="7477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89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95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85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82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73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5770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Haut Katanga</a:t>
                      </a:r>
                    </a:p>
                  </a:txBody>
                  <a:tcPr marL="7477" marR="7477" marT="7477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124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8DB4E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73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116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8DB4E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68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106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8DB4E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63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5770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Haut Lomami</a:t>
                      </a:r>
                    </a:p>
                  </a:txBody>
                  <a:tcPr marL="7477" marR="7477" marT="7477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116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8DB4E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96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110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8DB4E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91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106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8DB4E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87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5770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Haut Uele</a:t>
                      </a:r>
                    </a:p>
                  </a:txBody>
                  <a:tcPr marL="7477" marR="7477" marT="7477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106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8DB4E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70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66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92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61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5770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Ituri</a:t>
                      </a:r>
                    </a:p>
                  </a:txBody>
                  <a:tcPr marL="7477" marR="7477" marT="7477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105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8DB4E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91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98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85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95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83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5770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Kasai</a:t>
                      </a:r>
                    </a:p>
                  </a:txBody>
                  <a:tcPr marL="7477" marR="7477" marT="7477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92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62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87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59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81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54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5770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Kasai Central</a:t>
                      </a:r>
                    </a:p>
                  </a:txBody>
                  <a:tcPr marL="7477" marR="7477" marT="7477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96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89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92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85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95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89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5770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Kasai Oriental</a:t>
                      </a:r>
                    </a:p>
                  </a:txBody>
                  <a:tcPr marL="7477" marR="7477" marT="7477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103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8DB4E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79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99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76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98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75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5770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Kinshasa</a:t>
                      </a:r>
                    </a:p>
                  </a:txBody>
                  <a:tcPr marL="7477" marR="7477" marT="7477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103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8DB4E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94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95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87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94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87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5770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Kongo Central</a:t>
                      </a:r>
                    </a:p>
                  </a:txBody>
                  <a:tcPr marL="7477" marR="7477" marT="7477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105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8DB4E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91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98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85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90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78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5770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Kwango</a:t>
                      </a:r>
                    </a:p>
                  </a:txBody>
                  <a:tcPr marL="7477" marR="7477" marT="7477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96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87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91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83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91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83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5770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Kwilu</a:t>
                      </a:r>
                    </a:p>
                  </a:txBody>
                  <a:tcPr marL="7477" marR="7477" marT="7477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102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8DB4E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92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99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89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98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88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5770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Lomami</a:t>
                      </a:r>
                    </a:p>
                  </a:txBody>
                  <a:tcPr marL="7477" marR="7477" marT="7477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101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8DB4E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86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99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84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96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81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5770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Lualaba</a:t>
                      </a:r>
                    </a:p>
                  </a:txBody>
                  <a:tcPr marL="7477" marR="7477" marT="7477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125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8DB4E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80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114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8DB4E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73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102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8DB4E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65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5770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Maindombe</a:t>
                      </a:r>
                    </a:p>
                  </a:txBody>
                  <a:tcPr marL="7477" marR="7477" marT="7477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101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8DB4E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76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94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71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88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67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5770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Maniema</a:t>
                      </a:r>
                    </a:p>
                  </a:txBody>
                  <a:tcPr marL="7477" marR="7477" marT="7477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113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8DB4E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52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105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8DB4E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48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99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46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5770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Mongala</a:t>
                      </a:r>
                    </a:p>
                  </a:txBody>
                  <a:tcPr marL="7477" marR="7477" marT="7477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102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8DB4E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29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96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27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95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27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5770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Nord Kivu</a:t>
                      </a:r>
                    </a:p>
                  </a:txBody>
                  <a:tcPr marL="7477" marR="7477" marT="7477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104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8DB4E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92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98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87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96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85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5770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Nord Ubangi</a:t>
                      </a:r>
                    </a:p>
                  </a:txBody>
                  <a:tcPr marL="7477" marR="7477" marT="7477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105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8DB4E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93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98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87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107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8DB4E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95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5770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Sankuru</a:t>
                      </a:r>
                    </a:p>
                  </a:txBody>
                  <a:tcPr marL="7477" marR="7477" marT="7477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94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39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90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37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95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39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5770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Sud Kivu</a:t>
                      </a:r>
                    </a:p>
                  </a:txBody>
                  <a:tcPr marL="7477" marR="7477" marT="7477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113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8DB4E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90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108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8DB4E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86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101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8DB4E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81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5770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Sud Ubangi</a:t>
                      </a:r>
                    </a:p>
                  </a:txBody>
                  <a:tcPr marL="7477" marR="7477" marT="7477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82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92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76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99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81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5770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Tanganyika</a:t>
                      </a:r>
                    </a:p>
                  </a:txBody>
                  <a:tcPr marL="7477" marR="7477" marT="7477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123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8DB4E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88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116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8DB4E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84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111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8DB4E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80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185770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Tshopo</a:t>
                      </a:r>
                    </a:p>
                  </a:txBody>
                  <a:tcPr marL="7477" marR="7477" marT="7477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105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8DB4E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52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99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48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92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45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  <a:tr h="185770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Tshuapa</a:t>
                      </a:r>
                    </a:p>
                  </a:txBody>
                  <a:tcPr marL="7477" marR="7477" marT="7477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97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54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91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50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91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51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7"/>
                  </a:ext>
                </a:extLst>
              </a:tr>
              <a:tr h="195057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RDC</a:t>
                      </a:r>
                    </a:p>
                  </a:txBody>
                  <a:tcPr marL="7477" marR="7477" marT="7477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106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DB4E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75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71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96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69</a:t>
                      </a:r>
                    </a:p>
                  </a:txBody>
                  <a:tcPr marL="7477" marR="7477" marT="7477" marB="0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8"/>
                  </a:ext>
                </a:extLst>
              </a:tr>
            </a:tbl>
          </a:graphicData>
        </a:graphic>
      </p:graphicFrame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783957" y="4743416"/>
          <a:ext cx="1451112" cy="762000"/>
        </p:xfrm>
        <a:graphic>
          <a:graphicData uri="http://schemas.openxmlformats.org/drawingml/2006/table">
            <a:tbl>
              <a:tblPr/>
              <a:tblGrid>
                <a:gridCol w="7644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66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&lt;50%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50%-80%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80%-100%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&gt;100%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DB4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graph of a number of bars&#10;&#10;Description automatically generated with medium confidence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64096"/>
            <a:ext cx="12192000" cy="6096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-9939"/>
            <a:ext cx="12192000" cy="807396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800" b="1" dirty="0"/>
              <a:t>Nb d’enfants Zéro-dose 2024 par province (Admin vs Cibles ajustées)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264549" y="1317935"/>
          <a:ext cx="4231005" cy="807395"/>
        </p:xfrm>
        <a:graphic>
          <a:graphicData uri="http://schemas.openxmlformats.org/drawingml/2006/table">
            <a:tbl>
              <a:tblPr firstRow="1" bandRow="1"/>
              <a:tblGrid>
                <a:gridCol w="9004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100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20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8263">
                <a:tc>
                  <a:txBody>
                    <a:bodyPr/>
                    <a:lstStyle/>
                    <a:p>
                      <a:pPr marL="63500" marR="63500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fr-FR" sz="11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Pays</a:t>
                      </a:r>
                      <a:endParaRPr lang="en-US" sz="12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fr-FR" sz="11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# Enfants Zéro dose admin</a:t>
                      </a:r>
                      <a:endParaRPr lang="en-US" sz="12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fr-FR" sz="11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# Enfants Zéro dose ajustés</a:t>
                      </a:r>
                      <a:endParaRPr lang="en-US" sz="12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9132">
                <a:tc>
                  <a:txBody>
                    <a:bodyPr/>
                    <a:lstStyle/>
                    <a:p>
                      <a:pPr marL="63500" marR="63500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fr-FR" sz="11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RDC</a:t>
                      </a:r>
                      <a:endParaRPr lang="en-US" sz="12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fr-FR" sz="11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130,309</a:t>
                      </a:r>
                      <a:endParaRPr lang="en-US" sz="12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fr-FR" sz="11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1,582,984</a:t>
                      </a:r>
                      <a:endParaRPr lang="en-US" sz="1200" dirty="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807396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200" b="1" dirty="0"/>
              <a:t>Nb d’enfants Zéro-dose ajusté 2024 par province</a:t>
            </a:r>
          </a:p>
        </p:txBody>
      </p:sp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1749287" y="950514"/>
          <a:ext cx="8478078" cy="5907486"/>
        </p:xfrm>
        <a:graphic>
          <a:graphicData uri="http://schemas.openxmlformats.org/drawingml/2006/table">
            <a:tbl>
              <a:tblPr firstRow="1" bandRow="1"/>
              <a:tblGrid>
                <a:gridCol w="25824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2507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392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313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0126">
                <a:tc>
                  <a:txBody>
                    <a:bodyPr/>
                    <a:lstStyle/>
                    <a:p>
                      <a:pPr marL="63500" marR="63500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Province</a:t>
                      </a:r>
                      <a:endParaRPr lang="en-US" sz="1600" b="1" dirty="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# </a:t>
                      </a:r>
                      <a:r>
                        <a:rPr lang="en-US" sz="1400" b="1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Zéro</a:t>
                      </a:r>
                      <a:r>
                        <a:rPr lang="en-US" sz="1400" b="1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-dose </a:t>
                      </a:r>
                      <a:r>
                        <a:rPr lang="en-US" sz="1400" b="1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ajusté</a:t>
                      </a:r>
                      <a:endParaRPr lang="en-US" sz="1600" b="1" dirty="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Somme </a:t>
                      </a:r>
                      <a:r>
                        <a:rPr lang="en-US" sz="1400" b="1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cumulée</a:t>
                      </a:r>
                      <a:endParaRPr lang="en-US" sz="1600" b="1" dirty="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% </a:t>
                      </a:r>
                      <a:r>
                        <a:rPr lang="en-US" sz="1400" b="1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cumulée</a:t>
                      </a:r>
                      <a:r>
                        <a:rPr lang="en-US" sz="1400" b="1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 </a:t>
                      </a:r>
                      <a:endParaRPr lang="en-US" sz="1600" b="1" dirty="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0063">
                <a:tc>
                  <a:txBody>
                    <a:bodyPr/>
                    <a:lstStyle/>
                    <a:p>
                      <a:pPr marL="63500" marR="63500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Mongala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294,068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294,068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19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0063">
                <a:tc>
                  <a:txBody>
                    <a:bodyPr/>
                    <a:lstStyle/>
                    <a:p>
                      <a:pPr marL="63500" marR="63500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Tshopo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151,377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445,445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28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0063">
                <a:tc>
                  <a:txBody>
                    <a:bodyPr/>
                    <a:lstStyle/>
                    <a:p>
                      <a:pPr marL="63500" marR="63500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Sankuru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149,043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594,488</a:t>
                      </a:r>
                      <a:endParaRPr lang="en-US" sz="1600" dirty="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38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0063">
                <a:tc>
                  <a:txBody>
                    <a:bodyPr/>
                    <a:lstStyle/>
                    <a:p>
                      <a:pPr marL="63500" marR="63500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Haut Katanga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135,382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729,870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46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0063">
                <a:tc>
                  <a:txBody>
                    <a:bodyPr/>
                    <a:lstStyle/>
                    <a:p>
                      <a:pPr marL="63500" marR="63500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Maniema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122,222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852,092</a:t>
                      </a:r>
                      <a:endParaRPr lang="en-US" sz="1600" dirty="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54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0063">
                <a:tc>
                  <a:txBody>
                    <a:bodyPr/>
                    <a:lstStyle/>
                    <a:p>
                      <a:pPr marL="63500" marR="63500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Kasai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120,242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972,334</a:t>
                      </a:r>
                      <a:endParaRPr lang="en-US" sz="1600" dirty="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61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0063">
                <a:tc>
                  <a:txBody>
                    <a:bodyPr/>
                    <a:lstStyle/>
                    <a:p>
                      <a:pPr marL="63500" marR="63500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Tshuapa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74,446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1,046,780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66</a:t>
                      </a:r>
                      <a:endParaRPr lang="en-US" sz="1600" dirty="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0063">
                <a:tc>
                  <a:txBody>
                    <a:bodyPr/>
                    <a:lstStyle/>
                    <a:p>
                      <a:pPr marL="63500" marR="63500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Kasai Oriental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57,247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1,104,027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70</a:t>
                      </a:r>
                      <a:endParaRPr lang="en-US" sz="1600" dirty="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0063">
                <a:tc>
                  <a:txBody>
                    <a:bodyPr/>
                    <a:lstStyle/>
                    <a:p>
                      <a:pPr marL="63500" marR="63500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Sud Kivu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40,199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1,144,226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72</a:t>
                      </a:r>
                      <a:endParaRPr lang="en-US" sz="1600" dirty="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0063">
                <a:tc>
                  <a:txBody>
                    <a:bodyPr/>
                    <a:lstStyle/>
                    <a:p>
                      <a:pPr marL="63500" marR="63500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Haut Uele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39,122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1,183,348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75</a:t>
                      </a:r>
                      <a:endParaRPr lang="en-US" sz="1600" dirty="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0063">
                <a:tc>
                  <a:txBody>
                    <a:bodyPr/>
                    <a:lstStyle/>
                    <a:p>
                      <a:pPr marL="63500" marR="63500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Lualaba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38,714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1,222,062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77</a:t>
                      </a:r>
                      <a:endParaRPr lang="en-US" sz="1600" dirty="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0063">
                <a:tc>
                  <a:txBody>
                    <a:bodyPr/>
                    <a:lstStyle/>
                    <a:p>
                      <a:pPr marL="63500" marR="63500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Kinshasa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38,065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1,260,127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80</a:t>
                      </a:r>
                      <a:endParaRPr lang="en-US" sz="1600" dirty="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0063">
                <a:tc>
                  <a:txBody>
                    <a:bodyPr/>
                    <a:lstStyle/>
                    <a:p>
                      <a:pPr marL="63500" marR="63500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Bas Uele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37,534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1,297,661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82</a:t>
                      </a:r>
                      <a:endParaRPr lang="en-US" sz="1600" dirty="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0063">
                <a:tc>
                  <a:txBody>
                    <a:bodyPr/>
                    <a:lstStyle/>
                    <a:p>
                      <a:pPr marL="63500" marR="63500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Nord Kivu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35,250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1,332,911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84</a:t>
                      </a:r>
                      <a:endParaRPr lang="en-US" sz="1600" dirty="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0063">
                <a:tc>
                  <a:txBody>
                    <a:bodyPr/>
                    <a:lstStyle/>
                    <a:p>
                      <a:pPr marL="63500" marR="63500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Sud Ubangi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30,782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1,363,693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86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0063">
                <a:tc>
                  <a:txBody>
                    <a:bodyPr/>
                    <a:lstStyle/>
                    <a:p>
                      <a:pPr marL="63500" marR="63500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Maindombe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28,124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1,391,817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88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0063">
                <a:tc>
                  <a:txBody>
                    <a:bodyPr/>
                    <a:lstStyle/>
                    <a:p>
                      <a:pPr marL="63500" marR="63500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Ituri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27,449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1,419,266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90</a:t>
                      </a:r>
                      <a:endParaRPr lang="en-US" sz="1600" dirty="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0063">
                <a:tc>
                  <a:txBody>
                    <a:bodyPr/>
                    <a:lstStyle/>
                    <a:p>
                      <a:pPr marL="63500" marR="63500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Lomami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27,245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1,446,511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91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0063">
                <a:tc>
                  <a:txBody>
                    <a:bodyPr/>
                    <a:lstStyle/>
                    <a:p>
                      <a:pPr marL="63500" marR="63500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Kasai Central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24,393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1,470,904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93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0063">
                <a:tc>
                  <a:txBody>
                    <a:bodyPr/>
                    <a:lstStyle/>
                    <a:p>
                      <a:pPr marL="63500" marR="63500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Tanganyika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20,924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1,491,828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94</a:t>
                      </a:r>
                      <a:endParaRPr lang="en-US" sz="1600" dirty="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0063">
                <a:tc>
                  <a:txBody>
                    <a:bodyPr/>
                    <a:lstStyle/>
                    <a:p>
                      <a:pPr marL="63500" marR="63500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Kwilu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20,572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1,512,400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96</a:t>
                      </a:r>
                      <a:endParaRPr lang="en-US" sz="1600" dirty="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0063">
                <a:tc>
                  <a:txBody>
                    <a:bodyPr/>
                    <a:lstStyle/>
                    <a:p>
                      <a:pPr marL="63500" marR="63500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Kongo Central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17,909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1,530,309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97</a:t>
                      </a:r>
                      <a:endParaRPr lang="en-US" sz="1600" dirty="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0063">
                <a:tc>
                  <a:txBody>
                    <a:bodyPr/>
                    <a:lstStyle/>
                    <a:p>
                      <a:pPr marL="63500" marR="63500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Kwango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17,025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1,547,334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98</a:t>
                      </a:r>
                      <a:endParaRPr lang="en-US" sz="1600" dirty="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0063">
                <a:tc>
                  <a:txBody>
                    <a:bodyPr/>
                    <a:lstStyle/>
                    <a:p>
                      <a:pPr marL="63500" marR="63500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Equateur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16,226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1,563,560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99</a:t>
                      </a:r>
                      <a:endParaRPr lang="en-US" sz="1600" dirty="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0063">
                <a:tc>
                  <a:txBody>
                    <a:bodyPr/>
                    <a:lstStyle/>
                    <a:p>
                      <a:pPr marL="63500" marR="63500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Haut Lomami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9,802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1,573,362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99</a:t>
                      </a:r>
                      <a:endParaRPr lang="en-US" sz="1600" dirty="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180063">
                <a:tc>
                  <a:txBody>
                    <a:bodyPr/>
                    <a:lstStyle/>
                    <a:p>
                      <a:pPr marL="63500" marR="63500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Nord Ubangi</a:t>
                      </a:r>
                      <a:endParaRPr lang="en-US" sz="1600" dirty="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9,622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1,582,984</a:t>
                      </a:r>
                      <a:endParaRPr lang="en-US" sz="1600" dirty="0">
                        <a:effectLst/>
                        <a:highlight>
                          <a:srgbClr val="00FF00"/>
                        </a:highlight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100</a:t>
                      </a:r>
                      <a:endParaRPr lang="en-US" sz="1600" dirty="0">
                        <a:effectLst/>
                        <a:highlight>
                          <a:srgbClr val="00FF00"/>
                        </a:highlight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1600200" y="1311965"/>
            <a:ext cx="9134061" cy="2117035"/>
          </a:xfrm>
          <a:prstGeom prst="rect">
            <a:avLst/>
          </a:prstGeom>
          <a:noFill/>
          <a:ln w="22225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807396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200" b="1" dirty="0">
                <a:solidFill>
                  <a:schemeClr val="bg1"/>
                </a:solidFill>
              </a:rPr>
              <a:t>Cibles admin et ajustées 2025  (Par province et national)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431235" y="826091"/>
          <a:ext cx="7921487" cy="6031909"/>
        </p:xfrm>
        <a:graphic>
          <a:graphicData uri="http://schemas.openxmlformats.org/drawingml/2006/table">
            <a:tbl>
              <a:tblPr firstRow="1" bandRow="1"/>
              <a:tblGrid>
                <a:gridCol w="26134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155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654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70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1189">
                <a:tc>
                  <a:txBody>
                    <a:bodyPr/>
                    <a:lstStyle/>
                    <a:p>
                      <a:pPr marL="63500" marR="63500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Provinces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Cibles admin 2025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Cibles ajustées 2025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% variation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5594">
                <a:tc>
                  <a:txBody>
                    <a:bodyPr/>
                    <a:lstStyle/>
                    <a:p>
                      <a:pPr marL="63500" marR="63500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Mongala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119,112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422,422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255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5594">
                <a:tc>
                  <a:txBody>
                    <a:bodyPr/>
                    <a:lstStyle/>
                    <a:p>
                      <a:pPr marL="63500" marR="63500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Sankuru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103,414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250,674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142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5594">
                <a:tc>
                  <a:txBody>
                    <a:bodyPr/>
                    <a:lstStyle/>
                    <a:p>
                      <a:pPr marL="63500" marR="63500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Maniema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119,488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260,157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118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5594">
                <a:tc>
                  <a:txBody>
                    <a:bodyPr/>
                    <a:lstStyle/>
                    <a:p>
                      <a:pPr marL="63500" marR="63500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Tshopo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155,846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318,447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104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5594">
                <a:tc>
                  <a:txBody>
                    <a:bodyPr/>
                    <a:lstStyle/>
                    <a:p>
                      <a:pPr marL="63500" marR="63500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Tshuapa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90,243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163,325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81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5594">
                <a:tc>
                  <a:txBody>
                    <a:bodyPr/>
                    <a:lstStyle/>
                    <a:p>
                      <a:pPr marL="63500" marR="63500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Haut Katanga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298,254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504,207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69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5594">
                <a:tc>
                  <a:txBody>
                    <a:bodyPr/>
                    <a:lstStyle/>
                    <a:p>
                      <a:pPr marL="63500" marR="63500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Bas Uele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61,748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100,273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62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5594">
                <a:tc>
                  <a:txBody>
                    <a:bodyPr/>
                    <a:lstStyle/>
                    <a:p>
                      <a:pPr marL="63500" marR="63500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Lualaba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121,966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191,939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57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35594">
                <a:tc>
                  <a:txBody>
                    <a:bodyPr/>
                    <a:lstStyle/>
                    <a:p>
                      <a:pPr marL="63500" marR="63500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Haut Uele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89,569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134,287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50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35594">
                <a:tc>
                  <a:txBody>
                    <a:bodyPr/>
                    <a:lstStyle/>
                    <a:p>
                      <a:pPr marL="63500" marR="63500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Kasai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218,083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323,766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48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35594">
                <a:tc>
                  <a:txBody>
                    <a:bodyPr/>
                    <a:lstStyle/>
                    <a:p>
                      <a:pPr marL="63500" marR="63500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Tanganyika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131,842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183,094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39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35594">
                <a:tc>
                  <a:txBody>
                    <a:bodyPr/>
                    <a:lstStyle/>
                    <a:p>
                      <a:pPr marL="63500" marR="63500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Maindombe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87,623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116,228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33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35594">
                <a:tc>
                  <a:txBody>
                    <a:bodyPr/>
                    <a:lstStyle/>
                    <a:p>
                      <a:pPr marL="63500" marR="63500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Kasai Oriental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215,963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282,066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31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35594">
                <a:tc>
                  <a:txBody>
                    <a:bodyPr/>
                    <a:lstStyle/>
                    <a:p>
                      <a:pPr marL="63500" marR="63500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Sud Kivu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322,007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404,127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26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35594">
                <a:tc>
                  <a:txBody>
                    <a:bodyPr/>
                    <a:lstStyle/>
                    <a:p>
                      <a:pPr marL="63500" marR="63500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Sud Ubangi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137,383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167,594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22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35594">
                <a:tc>
                  <a:txBody>
                    <a:bodyPr/>
                    <a:lstStyle/>
                    <a:p>
                      <a:pPr marL="63500" marR="63500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Haut Lomami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173,573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210,432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21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35594">
                <a:tc>
                  <a:txBody>
                    <a:bodyPr/>
                    <a:lstStyle/>
                    <a:p>
                      <a:pPr marL="63500" marR="63500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Lomami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172,921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202,940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17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35594">
                <a:tc>
                  <a:txBody>
                    <a:bodyPr/>
                    <a:lstStyle/>
                    <a:p>
                      <a:pPr marL="63500" marR="63500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Ituri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264,447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303,728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15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35594">
                <a:tc>
                  <a:txBody>
                    <a:bodyPr/>
                    <a:lstStyle/>
                    <a:p>
                      <a:pPr marL="63500" marR="63500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Kongo Central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171,080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197,207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15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35594">
                <a:tc>
                  <a:txBody>
                    <a:bodyPr/>
                    <a:lstStyle/>
                    <a:p>
                      <a:pPr marL="63500" marR="63500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Nord Kivu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388,505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437,382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13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35594">
                <a:tc>
                  <a:txBody>
                    <a:bodyPr/>
                    <a:lstStyle/>
                    <a:p>
                      <a:pPr marL="63500" marR="63500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Equateur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114,665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129,090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13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35594">
                <a:tc>
                  <a:txBody>
                    <a:bodyPr/>
                    <a:lstStyle/>
                    <a:p>
                      <a:pPr marL="63500" marR="63500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Nord Ubangi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64,707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72,623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12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35594">
                <a:tc>
                  <a:txBody>
                    <a:bodyPr/>
                    <a:lstStyle/>
                    <a:p>
                      <a:pPr marL="63500" marR="63500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Kwilu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229,738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256,147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11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35594">
                <a:tc>
                  <a:txBody>
                    <a:bodyPr/>
                    <a:lstStyle/>
                    <a:p>
                      <a:pPr marL="63500" marR="63500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Kwango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111,417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122,814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10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35594">
                <a:tc>
                  <a:txBody>
                    <a:bodyPr/>
                    <a:lstStyle/>
                    <a:p>
                      <a:pPr marL="63500" marR="63500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Kinshasa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437,272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477,018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9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135594">
                <a:tc>
                  <a:txBody>
                    <a:bodyPr/>
                    <a:lstStyle/>
                    <a:p>
                      <a:pPr marL="63500" marR="63500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Kasai Central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210,589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226,751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8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  <a:tr h="135594">
                <a:tc>
                  <a:txBody>
                    <a:bodyPr/>
                    <a:lstStyle/>
                    <a:p>
                      <a:pPr marL="63500" marR="63500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RDC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4,611,455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6,458,738</a:t>
                      </a:r>
                      <a:endParaRPr lang="en-US" sz="160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63500" algn="r">
                        <a:spcBef>
                          <a:spcPts val="500"/>
                        </a:spcBef>
                        <a:spcAft>
                          <a:spcPts val="500"/>
                        </a:spcAft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  <a:cs typeface="Times New Roman" panose="02020603050405020304" pitchFamily="18" charset="0"/>
                        </a:rPr>
                        <a:t>40</a:t>
                      </a:r>
                      <a:endParaRPr lang="en-US" sz="1600" dirty="0">
                        <a:effectLst/>
                        <a:latin typeface="Cambria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0" y="0"/>
            <a:ext cx="12192001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0" name="Rectangle 9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210312" y="226665"/>
            <a:ext cx="11722608" cy="6382512"/>
          </a:xfrm>
          <a:prstGeom prst="rect">
            <a:avLst/>
          </a:prstGeom>
          <a:ln w="6350" cap="flat" cmpd="sng" algn="ctr">
            <a:noFill/>
            <a:prstDash val="solid"/>
          </a:ln>
          <a:effectLst>
            <a:softEdge rad="0"/>
          </a:effectLst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37625" y="337625"/>
            <a:ext cx="11465169" cy="860943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fr-FR" sz="36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entury Gothic" panose="020B0502020202020204"/>
                <a:ea typeface="+mn-ea"/>
                <a:cs typeface="+mn-cs"/>
              </a:rPr>
              <a:t>Résumé</a:t>
            </a:r>
          </a:p>
        </p:txBody>
      </p:sp>
      <p:sp>
        <p:nvSpPr>
          <p:cNvPr id="5" name="Rectangle 4"/>
          <p:cNvSpPr/>
          <p:nvPr/>
        </p:nvSpPr>
        <p:spPr>
          <a:xfrm>
            <a:off x="210313" y="1198568"/>
            <a:ext cx="11722608" cy="541060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457200" marR="0" lvl="0" indent="-457200" algn="l" defTabSz="4572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q"/>
              <a:defRPr/>
            </a:pPr>
            <a:r>
              <a:rPr kumimoji="0" lang="fr-FR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Augmentation de 40% des cibles ajustées 2024 comparée aux cibles administratives (même % de croissance en 2025).</a:t>
            </a:r>
          </a:p>
          <a:p>
            <a:pPr marL="457200" marR="0" lvl="0" indent="-457200" algn="l" defTabSz="4572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q"/>
              <a:defRPr/>
            </a:pPr>
            <a:r>
              <a:rPr kumimoji="0" lang="fr-FR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% des ZS avec &gt;100% de CV Penta1 en 2024 passée de 63% avec les cibles admin à 0% avec les cibles ajustées.</a:t>
            </a:r>
          </a:p>
          <a:p>
            <a:pPr marL="457200" marR="0" lvl="0" indent="-457200" algn="l" defTabSz="4572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q"/>
              <a:defRPr/>
            </a:pPr>
            <a:r>
              <a:rPr kumimoji="0" lang="fr-FR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% de ZS avec &lt;30% de CV Penta1 en 2024 passée de 0% avec les cibles admin à 2% (12ZS) avec les cibles ajustées.</a:t>
            </a:r>
          </a:p>
          <a:p>
            <a:pPr marL="457200" marR="0" lvl="0" indent="-457200" algn="l" defTabSz="4572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q"/>
              <a:defRPr/>
            </a:pPr>
            <a:r>
              <a:rPr kumimoji="0" lang="fr-FR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Baisse de la CV Penta ajustée 2024 comparée à ECV 2023 corrélée avec une baisse du nombre de vaccinés Penta1 entre 2023 et 2024.</a:t>
            </a:r>
          </a:p>
          <a:p>
            <a:pPr marL="457200" marR="0" lvl="0" indent="-457200" algn="l" defTabSz="4572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q"/>
              <a:defRPr/>
            </a:pPr>
            <a:r>
              <a:rPr lang="fr-FR" sz="24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CV Admin/Ajustée au niveau national: Penta1(106%/75%); Penta3 (100%/71%); VAR1 (96%/69%)</a:t>
            </a:r>
            <a:endParaRPr kumimoji="0" lang="fr-FR" sz="24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Calibri" panose="020F0502020204030204" pitchFamily="34" charset="0"/>
            </a:endParaRPr>
          </a:p>
          <a:p>
            <a:pPr marL="457200" marR="0" lvl="0" indent="-457200" algn="l" defTabSz="4572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q"/>
              <a:defRPr/>
            </a:pPr>
            <a:r>
              <a:rPr kumimoji="0" lang="fr-FR" sz="24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130K </a:t>
            </a:r>
            <a:r>
              <a:rPr kumimoji="0" lang="fr-FR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ZD en 2024 à partir des cibles admin Vs 1,5 million à partir des cibles ajustées.</a:t>
            </a:r>
          </a:p>
          <a:p>
            <a:pPr marL="457200" marR="0" lvl="0" indent="-457200" algn="l" defTabSz="4572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q"/>
              <a:defRPr/>
            </a:pPr>
            <a:r>
              <a:rPr lang="fr-FR" sz="24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10 provinces abritent 75% des ZD en 2024 calculée à partir des cibles ajustées.</a:t>
            </a:r>
            <a:endParaRPr kumimoji="0" lang="fr-FR" sz="24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Calibri" panose="020F0502020204030204" pitchFamily="34" charset="0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fr-FR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337625" y="337625"/>
            <a:ext cx="11465169" cy="1109766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b="1" dirty="0"/>
              <a:t>Recommandations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337625" y="1705231"/>
            <a:ext cx="11516751" cy="481514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342900" indent="-342900">
              <a:spcBef>
                <a:spcPts val="1200"/>
              </a:spcBef>
              <a:spcAft>
                <a:spcPts val="1200"/>
              </a:spcAft>
              <a:buFont typeface="Wingdings" panose="05000000000000000000" pitchFamily="2" charset="2"/>
              <a:buChar char="q"/>
            </a:pPr>
            <a:endParaRPr lang="fr-FR" sz="2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spcBef>
                <a:spcPts val="1200"/>
              </a:spcBef>
              <a:spcAft>
                <a:spcPts val="1200"/>
              </a:spcAft>
              <a:buFont typeface="Wingdings" panose="05000000000000000000" pitchFamily="2" charset="2"/>
              <a:buChar char="q"/>
            </a:pPr>
            <a:r>
              <a:rPr lang="fr-FR" sz="2400" dirty="0">
                <a:latin typeface="Calibri" panose="020F0502020204030204" pitchFamily="34" charset="0"/>
                <a:cs typeface="Calibri" panose="020F0502020204030204" pitchFamily="34" charset="0"/>
              </a:rPr>
              <a:t>Faire valider des cibles ajustées par le CC</a:t>
            </a:r>
            <a:r>
              <a:rPr lang="" altLang="fr-FR" sz="2400" dirty="0">
                <a:latin typeface="Calibri" panose="020F0502020204030204" pitchFamily="34" charset="0"/>
                <a:cs typeface="Calibri" panose="020F0502020204030204" pitchFamily="34" charset="0"/>
              </a:rPr>
              <a:t>PeV</a:t>
            </a:r>
            <a:r>
              <a:rPr lang="fr-FR" sz="2400" dirty="0"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342900" indent="-342900">
              <a:spcBef>
                <a:spcPts val="1200"/>
              </a:spcBef>
              <a:spcAft>
                <a:spcPts val="1200"/>
              </a:spcAft>
              <a:buFont typeface="Wingdings" panose="05000000000000000000" pitchFamily="2" charset="2"/>
              <a:buChar char="q"/>
            </a:pPr>
            <a:r>
              <a:rPr lang="fr-FR" sz="2400" dirty="0">
                <a:latin typeface="Calibri" panose="020F0502020204030204" pitchFamily="34" charset="0"/>
                <a:cs typeface="Calibri" panose="020F0502020204030204" pitchFamily="34" charset="0"/>
              </a:rPr>
              <a:t>Assurer la dissémination des cibles ajustées aux zones de santé avec pour recommandations de les utiliser pour le suivi de la performance.</a:t>
            </a:r>
          </a:p>
          <a:p>
            <a:pPr marL="342900" indent="-342900">
              <a:spcBef>
                <a:spcPts val="1200"/>
              </a:spcBef>
              <a:spcAft>
                <a:spcPts val="1200"/>
              </a:spcAft>
              <a:buFont typeface="Wingdings" panose="05000000000000000000" pitchFamily="2" charset="2"/>
              <a:buChar char="q"/>
            </a:pPr>
            <a:r>
              <a:rPr lang="fr-FR" sz="2400" dirty="0">
                <a:latin typeface="Calibri" panose="020F0502020204030204" pitchFamily="34" charset="0"/>
                <a:cs typeface="Calibri" panose="020F0502020204030204" pitchFamily="34" charset="0"/>
              </a:rPr>
              <a:t> Présenter dans les rapports périodiques de suivi de la performance les deux CV: administratives et ajustées.</a:t>
            </a:r>
          </a:p>
          <a:p>
            <a:pPr marL="342900" indent="-342900">
              <a:spcBef>
                <a:spcPts val="1200"/>
              </a:spcBef>
              <a:spcAft>
                <a:spcPts val="1200"/>
              </a:spcAft>
              <a:buFont typeface="Wingdings" panose="05000000000000000000" pitchFamily="2" charset="2"/>
              <a:buChar char="q"/>
            </a:pPr>
            <a:r>
              <a:rPr lang="fr-FR" sz="2400" dirty="0">
                <a:latin typeface="Calibri" panose="020F0502020204030204" pitchFamily="34" charset="0"/>
                <a:cs typeface="Calibri" panose="020F0502020204030204" pitchFamily="34" charset="0"/>
              </a:rPr>
              <a:t> Organiser un dénombrement des cibles du PEV dans les 12 ZS avec des CV ajustées 2024 &lt;30% (si possible les 52 ZS avec moins de 50% de CV ajustée en 2024).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endParaRPr lang="fr-FR" sz="2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>
              <a:spcBef>
                <a:spcPts val="1200"/>
              </a:spcBef>
              <a:spcAft>
                <a:spcPts val="1200"/>
              </a:spcAft>
            </a:pPr>
            <a:endParaRPr lang="fr-FR" sz="2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ctr"/>
            <a:endParaRPr lang="fr-FR" dirty="0"/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avon">
  <a:themeElements>
    <a:clrScheme name="Savon">
      <a:dk1>
        <a:sysClr val="windowText" lastClr="000000"/>
      </a:dk1>
      <a:lt1>
        <a:sysClr val="window" lastClr="FFFFFF"/>
      </a:lt1>
      <a:dk2>
        <a:srgbClr val="1485A4"/>
      </a:dk2>
      <a:lt2>
        <a:srgbClr val="E3DED1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F49100"/>
      </a:hlink>
      <a:folHlink>
        <a:srgbClr val="739D9B"/>
      </a:folHlink>
    </a:clrScheme>
    <a:fontScheme name="Savon">
      <a:majorFont>
        <a:latin typeface="Century Gothic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Savo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5000"/>
                <a:lumMod val="105000"/>
              </a:schemeClr>
            </a:gs>
            <a:gs pos="100000">
              <a:schemeClr val="phClr">
                <a:tint val="65000"/>
                <a:satMod val="100000"/>
                <a:lumMod val="10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0000"/>
                <a:lumMod val="100000"/>
              </a:schemeClr>
            </a:gs>
            <a:gs pos="50000">
              <a:schemeClr val="phClr">
                <a:shade val="99000"/>
                <a:satMod val="105000"/>
                <a:lumMod val="100000"/>
              </a:schemeClr>
            </a:gs>
            <a:gs pos="100000">
              <a:schemeClr val="phClr">
                <a:shade val="98000"/>
                <a:satMod val="105000"/>
                <a:lumMod val="100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12700" dir="5400000" algn="ctr" rotWithShape="0">
              <a:srgbClr val="000000">
                <a:alpha val="63000"/>
              </a:srgbClr>
            </a:outerShdw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0" lon="0" rev="0"/>
            </a:camera>
            <a:lightRig rig="flat" dir="tl">
              <a:rot lat="0" lon="0" rev="4200000"/>
            </a:lightRig>
          </a:scene3d>
          <a:sp3d prstMaterial="flat">
            <a:bevelT w="50800" h="63500" prst="rible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shade val="92000"/>
                <a:satMod val="160000"/>
              </a:schemeClr>
            </a:gs>
            <a:gs pos="77000">
              <a:schemeClr val="phClr">
                <a:tint val="100000"/>
                <a:shade val="73000"/>
                <a:satMod val="155000"/>
              </a:schemeClr>
            </a:gs>
            <a:gs pos="100000">
              <a:schemeClr val="phClr">
                <a:tint val="100000"/>
                <a:shade val="67000"/>
                <a:satMod val="145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5000"/>
              </a:schemeClr>
              <a:schemeClr val="phClr">
                <a:shade val="92000"/>
                <a:satMod val="115000"/>
              </a:schemeClr>
            </a:duotone>
          </a:blip>
          <a:tile tx="0" ty="0" sx="60000" sy="6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TM03457510[[fn=Savon]]</Template>
  <TotalTime>0</TotalTime>
  <Words>1442</Words>
  <Application>Microsoft Office PowerPoint</Application>
  <PresentationFormat>Widescreen</PresentationFormat>
  <Paragraphs>563</Paragraphs>
  <Slides>19</Slides>
  <Notes>1</Notes>
  <HiddenSlides>1</HiddenSlides>
  <MMClips>0</MMClips>
  <ScaleCrop>false</ScaleCrop>
  <HeadingPairs>
    <vt:vector size="8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9" baseType="lpstr">
      <vt:lpstr>Arial</vt:lpstr>
      <vt:lpstr>Calibri</vt:lpstr>
      <vt:lpstr>Calibri Light</vt:lpstr>
      <vt:lpstr>Cambria</vt:lpstr>
      <vt:lpstr>Century Gothic</vt:lpstr>
      <vt:lpstr>Garamond</vt:lpstr>
      <vt:lpstr>Wingdings</vt:lpstr>
      <vt:lpstr>Savon</vt:lpstr>
      <vt:lpstr>Office Theme</vt:lpstr>
      <vt:lpstr>Feuille de calcul</vt:lpstr>
      <vt:lpstr>ajustement des cibles du PEV-RDC POUR LES ANNEES 2024 ET 2025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World Health Organization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Triangulation des données en vue de l’ajustement des cibles du PEV-RDC en 2023</dc:title>
  <dc:creator>MBOUSSOU, Franck Fortune Roland</dc:creator>
  <cp:lastModifiedBy>Benedict Nguimbis</cp:lastModifiedBy>
  <cp:revision>36</cp:revision>
  <dcterms:created xsi:type="dcterms:W3CDTF">2023-02-23T04:12:00Z</dcterms:created>
  <dcterms:modified xsi:type="dcterms:W3CDTF">2025-12-17T13:30:33Z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0C4E5993BD0646EFA6349B36D4B80505_13</vt:lpwstr>
  </property>
  <property fmtid="{D5CDD505-2E9C-101B-9397-08002B2CF9AE}" pid="3" name="KSOProductBuildVer">
    <vt:lpwstr>3084-12.2.0.23155</vt:lpwstr>
  </property>
</Properties>
</file>