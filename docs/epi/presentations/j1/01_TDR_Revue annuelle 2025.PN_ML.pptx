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258" r:id="rId3"/>
    <p:sldId id="259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na Seminara" initials="NS" lastIdx="0" clrIdx="0"/>
  <p:cmAuthor id="2" name="Ashley Hartz" initials="AH" lastIdx="0" clrIdx="1"/>
  <p:cmAuthor id="3" name="Samera Zaidi" initials="SZ" lastIdx="0" clrIdx="2"/>
  <p:cmAuthor id="4" name="Kaitlin Love" initials="KL" lastIdx="0" clrIdx="3"/>
  <p:cmAuthor id="5" name="Jordan Freeman" initials="JF" lastIdx="0" clrIdx="4"/>
  <p:cmAuthor id="6" name="Leila Scott" initials="LS" lastIdx="0" clrIdx="5"/>
  <p:cmAuthor id="7" name="Mona Korsgard" initials="MK" lastIdx="0" clrIdx="6"/>
  <p:cmAuthor id="8" name="Emma Vincent" initials="EV" lastIdx="0" clrIdx="7"/>
  <p:cmAuthor id="9" name="Juan Andres Gil" initials="JAG" lastIdx="0" clrIdx="8"/>
  <p:cmAuthor id="10" name="Catherine Muller" initials="CM" lastIdx="0" clrIdx="9"/>
  <p:cmAuthor id="11" name="Cairn Verhulst" initials="CV" lastIdx="0" clrIdx="10"/>
  <p:cmAuthor id="12" name="Daniel Murphy" initials="DM" lastIdx="0" clrIdx="11"/>
  <p:cmAuthor id="13" name="Megan Bellinger" initials="MB" lastIdx="0" clrIdx="12"/>
  <p:cmAuthor id="14" name="Massimiliano Sani" initials="MS" lastIdx="0" clrIdx="13"/>
  <p:cmAuthor id="15" name="Jeremiah Chinodya" initials="JC" lastIdx="0" clrIdx="14"/>
  <p:cmAuthor id="16" name="Loveness Chimombe" initials="LC" lastIdx="0" clrIdx="15"/>
  <p:cmAuthor id="17" name="Hollis Henry" initials="HH" lastIdx="0" clrIdx="16"/>
  <p:cmAuthor id="18" name="UNICEF ESARO" initials="UNICEF" lastIdx="0" clrIdx="17"/>
  <p:cmAuthor id="19" name="Sanya Batra" initials="SB" lastIdx="0" clrIdx="18"/>
  <p:cmAuthor id="20" name="Marika Klein" initials="MK" lastIdx="0" clrIdx="19"/>
  <p:cmAuthor id="21" name="Seth Messinger" initials="SM" lastIdx="0" clrIdx="20"/>
  <p:cmAuthor id="22" name="Sandra Sonia Dupuy" initials="SSD" lastIdx="0" clrIdx="21"/>
  <p:cmAuthor id="23" name="User" initials="U" lastIdx="0" clrIdx="2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12" y="32"/>
      </p:cViewPr>
      <p:guideLst>
        <p:guide orient="horz" pos="2159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F5B4B3-BBC0-4ED2-AD14-A7DAA2712339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5B4B3-BBC0-4ED2-AD14-A7DAA2712339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23740" y="1537970"/>
            <a:ext cx="7278370" cy="287528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</a:pPr>
            <a:r>
              <a:rPr lang="fr-FR" sz="4000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TDR__Revue annuelle du PEV 2025</a:t>
            </a:r>
            <a:br>
              <a:rPr lang="fr-FR" sz="4000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br>
              <a:rPr lang="fr-FR" sz="4000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lang="fr-FR" sz="4000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Du 15 - 21 Décembre 2025</a:t>
            </a:r>
            <a:endParaRPr lang="fr-FR" sz="4000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360833" y="1295465"/>
            <a:ext cx="4156382" cy="337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20065" y="365125"/>
            <a:ext cx="10896600" cy="8667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</a:pPr>
            <a:r>
              <a:rPr lang="fr-FR" sz="4000" b="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Plan  de présentation</a:t>
            </a:r>
            <a:endParaRPr lang="fr-FR" sz="4000" b="0" dirty="0" err="1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82930" y="1588770"/>
            <a:ext cx="10770870" cy="456279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et justification</a:t>
            </a:r>
            <a:endParaRPr lang="fr-FR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général</a:t>
            </a:r>
            <a:endParaRPr lang="fr-FR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 spécifiques</a:t>
            </a:r>
            <a:endParaRPr lang="fr-FR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 attendus</a:t>
            </a:r>
            <a:endParaRPr lang="fr-FR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</a:t>
            </a:r>
            <a:endParaRPr lang="fr-FR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Lieu, </a:t>
            </a:r>
            <a:r>
              <a:rPr lang="fr-FR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période,budget</a:t>
            </a:r>
            <a:r>
              <a:rPr lang="fr-FR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 prise en charge</a:t>
            </a:r>
            <a:endParaRPr lang="fr-FR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7665" y="216535"/>
            <a:ext cx="11353165" cy="866775"/>
          </a:xfrm>
        </p:spPr>
        <p:txBody>
          <a:bodyPr/>
          <a:lstStyle/>
          <a:p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Contexte et justification 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(1/</a:t>
            </a:r>
            <a:r>
              <a:rPr lang="en-US" alt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1800" y="1401445"/>
            <a:ext cx="11529695" cy="501840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plan PEV 2025 prévoit une revue annuelle en fin de mise en œuvre pour évaluer les progrès 2025, analyser les résultats et identifier les goulots d’étranglement afin de </a:t>
            </a:r>
            <a:r>
              <a:rPr lang="fr-FR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draft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 plan 2026, aligné sur SNV, Plan </a:t>
            </a:r>
            <a:r>
              <a:rPr lang="fr-FR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Mashako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3.0 et la transition RSS4 GAVI.</a:t>
            </a: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Cette revue intégrera les écarts et proposera des ajustements et actions correctives pour renforcer l’efficacité du programme.</a:t>
            </a: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RDC présente un fort gap en zéros doses et sous-vaccinés (1,96 M sous-vaccinés soit 42% et 1,03 M zéro dose soit 22% fin nov. 2024, ECV 2023), justifiant l’orientation ciblée du plan.</a:t>
            </a: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fr-CA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4655" y="365125"/>
            <a:ext cx="10939145" cy="866775"/>
          </a:xfrm>
        </p:spPr>
        <p:txBody>
          <a:bodyPr anchor="t" anchorCtr="0"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Contexte et justification (</a:t>
            </a:r>
            <a:r>
              <a:rPr lang="en-US" alt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3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14655" y="1296670"/>
            <a:ext cx="11512550" cy="467741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fr-CA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RDC 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clar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pays libre de la circulation de </a:t>
            </a:r>
            <a:r>
              <a:rPr lang="en-US" altLang="fr-CA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PVS (2015). 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Ce statut est menac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par la survenue des 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pid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mies de polio virus d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riv</a:t>
            </a:r>
            <a:r>
              <a:rPr lang="en-US" alt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d’une souche vaccinale de type 1 et 2. </a:t>
            </a:r>
            <a:endParaRPr lang="en-US" altLang="fr-CA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fr-CA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 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pit des couvertures administratives acceptables de la vaccination dans notre pays, les enfants continuent à mourir des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mies et d'autres maladies à pr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vention vaccinale. De la semaine 1 à semaine 44 de 2023, 298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132 cas de rougeole ont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notifi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 pour tout le pays avec 5 727 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è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 soit une 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talit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 1,92%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301 ZS ont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mie confirm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fr-C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fr-C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Contexte et justification 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4909" y="1379096"/>
            <a:ext cx="11445834" cy="48418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fr-FR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L’ann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2024  a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marqu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 la survenue de l’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 de  Mpox avec un cumul de 57415 cas notifi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12651 cas confirm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1285 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soit une 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2,2% repartie dans les 26 provinces du pays. Les provinces les plus touch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taient le Sankuru, le Sud Kivu, la Tshopo, le Nord Kivu, l’Equateur et le Sud Ubangi d’o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ù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mise 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des campagnes de riposte dans les dites provinces.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revue constitue une opportunit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valuer le niveau de mise 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annuel op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rationnel du PEV 2025, de faire le point sur le processus d’introduction des nouveaux vaccins PALU, RR ainsi que les ripostes à l’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 de cVDPV2, de rougeole, de la fi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vre jaune, Ebola et Mpox. 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Contexte et justification 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FR" sz="36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0045" y="1379220"/>
            <a:ext cx="11570970" cy="4841875"/>
          </a:xfrm>
        </p:spPr>
        <p:txBody>
          <a:bodyPr/>
          <a:lstStyle/>
          <a:p>
            <a:pPr marL="457200" lvl="1" indent="0" algn="just">
              <a:buNone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Notons qu’au cours de l’ann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2025, le programme a pu relever plusieurs 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 à savoir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renforcement du PEV de routine avec un accent particulier sur les 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ances d’orientations du plan Mashako 3.0, l’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laboration des microplans int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au niveau des provinces, l’intensification 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riodique de la vaccination syst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matique, le rattrapage des enfants z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 dose et sous vaccin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L’extension de MoU dans les provinces du Haut Katanga, Kasa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ï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Oriental et la Tshopo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finalisation du document final de la SNV 2026-2030 y compris son Costing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d’am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lioration de la qualit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donn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de la surveillance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miologique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financement 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renne et 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gulier des vaccins traditionnels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gestion efficace des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mies notamment celle de la rougeole, chol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 et Mpox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de la circulation de l’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 de cVDPV2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L’organisation de campagne pr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ventive de qualit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contre la fi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vre jaune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maintien de statut d’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limination du TNN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fr-FR" sz="2400" dirty="0"/>
          </a:p>
          <a:p>
            <a:pPr lvl="1" algn="just"/>
            <a:endParaRPr lang="fr-FR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 général </a:t>
            </a:r>
            <a:endParaRPr lang="fr-FR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0218" y="1787236"/>
            <a:ext cx="11643096" cy="323470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Evaluer</a:t>
            </a:r>
            <a:r>
              <a:rPr lang="en-US" alt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mise en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des activit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de vaccination pour l’ann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2025 tout en mettant en place le document finalis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SNV 2026-2030 et le draft du plan d’action op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rationnel pour l’an 2026 avec la participation de toutes les parties prenantes (Gouvernement et PTF).</a:t>
            </a:r>
            <a:endParaRPr lang="en-US" alt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Objectifs spécifiques </a:t>
            </a:r>
            <a:endParaRPr lang="fr-FR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2" y="1496291"/>
            <a:ext cx="11645898" cy="4637810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senter les 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sultats obtenus à la mise 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d’action 2025 ;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gager les forces, les faiblesses, les opportunit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et les menaces li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à la mise 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Evaluer</a:t>
            </a:r>
            <a:r>
              <a:rPr lang="en-US" altLang="fr-C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ripostes aux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mies de cVDPV2 et de rougeole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Evaluer les ripostes aux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mies de Mpox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Ebola ; 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Evaluer la mise 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de la campagne pr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ventive contre la fi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vre jaune et la campagne contre le chol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Evaluer le niveau de mise en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MASHAKO 3.0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Proposer des pistes de solutions face aux probl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 identifi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Elaborer le PAO 2026, le rapport final de la revue ainsi que la feuille de route S1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;</a:t>
            </a:r>
            <a:endParaRPr lang="en-US" altLang="fr-C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Formuler des recommandations pertinentes à l’issue de l’atelier.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Résultats attendus </a:t>
            </a:r>
            <a:endParaRPr lang="fr-FR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6290"/>
            <a:ext cx="11208327" cy="4710545"/>
          </a:xfrm>
        </p:spPr>
        <p:txBody>
          <a:bodyPr>
            <a:normAutofit fontScale="77500" lnSpcReduction="20000"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sultats obtenus à la mise en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d’action 2025 sont pr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forces, les faiblesses, les opportunit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et les menaces li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à la mise en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ripostes aux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mies de cVDPV2 et de rougeole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ripostes aux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mies de Mpox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Ebola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; 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de la campagne pr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ventive contre la fi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vre jaune et la campagne contre le chol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niveau de mise en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uvre du plan MASHAKO 3.0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pistes de solutions face aux probl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 identifi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PAO 2026, le rapport final de la revue ainsi que la feuille de route S1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sont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;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recommandations pertinentes sont formul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es.</a:t>
            </a:r>
            <a:endParaRPr lang="en-US" altLang="fr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Méthodologie/Techniques</a:t>
            </a:r>
            <a:endParaRPr lang="fr-FR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7151" y="1305371"/>
            <a:ext cx="10679987" cy="4710545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altLang="fr-C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altLang="fr-C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préparatoire</a:t>
            </a:r>
            <a:endParaRPr lang="en-US" altLang="fr-CA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tabLst>
                <a:tab pos="457200" algn="l"/>
              </a:tabLst>
            </a:pPr>
            <a:r>
              <a:rPr lang="en-US" altLang="fr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unions pr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paratoires</a:t>
            </a:r>
            <a:endParaRPr lang="en-US" altLang="fr-C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tabLst>
                <a:tab pos="457200" algn="l"/>
              </a:tabLst>
            </a:pPr>
            <a:r>
              <a:rPr lang="en-US" altLang="fr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travaux en groupe</a:t>
            </a:r>
            <a:endParaRPr lang="en-US" altLang="fr-C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457200" algn="l"/>
              </a:tabLst>
            </a:pPr>
            <a:r>
              <a:rPr lang="en-US" altLang="fr-C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Phase de la revue</a:t>
            </a:r>
            <a:r>
              <a:rPr lang="en-US" altLang="fr-C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proprement dite à Matadi du 15 au 21 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cembre 2025</a:t>
            </a:r>
            <a:endParaRPr lang="en-US" alt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tabLst>
                <a:tab pos="457200" algn="l"/>
              </a:tabLst>
            </a:pPr>
            <a:r>
              <a:rPr lang="en-US" altLang="fr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Exposés</a:t>
            </a:r>
            <a:endParaRPr lang="en-US" altLang="fr-CA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tabLst>
                <a:tab pos="457200" algn="l"/>
              </a:tabLst>
            </a:pPr>
            <a:r>
              <a:rPr lang="en-US" altLang="fr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Travaux</a:t>
            </a:r>
            <a:r>
              <a:rPr lang="en-US" altLang="fr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en-US" altLang="fr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groupes</a:t>
            </a:r>
            <a:r>
              <a:rPr lang="en-US" altLang="fr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validation en pl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re.</a:t>
            </a:r>
            <a:endParaRPr lang="en-US" altLang="fr-C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en-US" altLang="fr-C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Phase de Rapport :</a:t>
            </a:r>
            <a:endParaRPr lang="en-US" altLang="fr-CA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tabLst>
                <a:tab pos="457200" algn="l"/>
              </a:tabLst>
            </a:pPr>
            <a:r>
              <a:rPr lang="en-US" altLang="fr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finaliser</a:t>
            </a:r>
            <a:r>
              <a:rPr lang="en-US" altLang="fr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documents essentiels notamment le Rapport final de la Revue, le PAO 2026 et la feuille de route S1 2026.</a:t>
            </a:r>
            <a:endParaRPr lang="en-US" altLang="fr-C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3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Lieu, Période, Participant, </a:t>
            </a:r>
            <a:r>
              <a:rPr lang="fr-FR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Budget et Prise en charge</a:t>
            </a:r>
            <a:endParaRPr lang="fr-FR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84960"/>
            <a:ext cx="11208385" cy="4384675"/>
          </a:xfrm>
        </p:spPr>
        <p:txBody>
          <a:bodyPr>
            <a:normAutofit lnSpcReduction="10000"/>
          </a:bodyPr>
          <a:lstStyle/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L’atelier sera organisé 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Kongo Central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l’hôtel Leydia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 1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Décembre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participants sont les cadres des Ministères de Budget, des Finances, de la Santé publique, Hygiène et Prév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oyance Sociale (SG, INSP, DES, DEP, PEV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25 DPS)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ainsi que les partenaires d’appui au secteur de la santé; 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en charge sera assurée par l’Unicef, OMS,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Gavi</a:t>
            </a:r>
            <a:r>
              <a:rPr lang="en-US" alt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/CAGF, Village Reach, CHAI, PATH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963084" y="2641895"/>
            <a:ext cx="10363200" cy="1362075"/>
          </a:xfrm>
        </p:spPr>
        <p:txBody>
          <a:bodyPr/>
          <a:lstStyle/>
          <a:p>
            <a:pPr algn="ctr"/>
            <a:r>
              <a:rPr lang="fr-FR" sz="8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</a:t>
            </a:r>
            <a:endParaRPr lang="fr-FR" sz="8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5567</Words>
  <Application>WPS Presentation</Application>
  <PresentationFormat>Grand écran</PresentationFormat>
  <Paragraphs>96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Arial</vt:lpstr>
      <vt:lpstr>Times New Roman</vt:lpstr>
      <vt:lpstr>Times New Roman</vt:lpstr>
      <vt:lpstr>Microsoft YaHei</vt:lpstr>
      <vt:lpstr>Arial Unicode MS</vt:lpstr>
      <vt:lpstr>Calibri</vt:lpstr>
      <vt:lpstr>Office Theme</vt:lpstr>
      <vt:lpstr>TDR__Revue annuelle du PEV 2025  Du 15 - 21 Décembre 2025</vt:lpstr>
      <vt:lpstr>Plan  de présentation</vt:lpstr>
      <vt:lpstr>1. Contexte et justification (1/4)</vt:lpstr>
      <vt:lpstr>Contexte et justification (2/4) </vt:lpstr>
      <vt:lpstr> Contexte et justification (3/4)</vt:lpstr>
      <vt:lpstr> Contexte et justification (4/4)</vt:lpstr>
      <vt:lpstr> Objectif général </vt:lpstr>
      <vt:lpstr> Objectifs spécifiques </vt:lpstr>
      <vt:lpstr> Résultats attendus </vt:lpstr>
      <vt:lpstr> Méthodologie/Techniques</vt:lpstr>
      <vt:lpstr> Lieu, Période, Participant, Budget et Prise en charge</vt:lpstr>
      <vt:lpstr>MERCI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Mymy MWIKA</cp:lastModifiedBy>
  <cp:revision>7</cp:revision>
  <dcterms:created xsi:type="dcterms:W3CDTF">2025-07-23T00:59:00Z</dcterms:created>
  <dcterms:modified xsi:type="dcterms:W3CDTF">2025-12-15T07:50:28Z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3084-12.2.0.23155</vt:lpwstr>
  </property>
  <property fmtid="{D5CDD505-2E9C-101B-9397-08002B2CF9AE}" pid="3" name="ICV">
    <vt:lpwstr>7F3DC23493874424B56C831C9A976E55_13</vt:lpwstr>
  </property>
</Properties>
</file>