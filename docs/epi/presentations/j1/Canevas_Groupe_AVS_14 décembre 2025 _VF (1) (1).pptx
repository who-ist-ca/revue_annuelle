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6"/>
  </p:notesMasterIdLst>
  <p:handoutMasterIdLst>
    <p:handoutMasterId r:id="rId40"/>
  </p:handoutMasterIdLst>
  <p:sldIdLst>
    <p:sldId id="258" r:id="rId5"/>
    <p:sldId id="273" r:id="rId7"/>
    <p:sldId id="16775126" r:id="rId8"/>
    <p:sldId id="16775127" r:id="rId9"/>
    <p:sldId id="16775128" r:id="rId10"/>
    <p:sldId id="264" r:id="rId11"/>
    <p:sldId id="312" r:id="rId12"/>
    <p:sldId id="16775115" r:id="rId13"/>
    <p:sldId id="16775134" r:id="rId14"/>
    <p:sldId id="16775135" r:id="rId15"/>
    <p:sldId id="16775136" r:id="rId16"/>
    <p:sldId id="319" r:id="rId17"/>
    <p:sldId id="16775119" r:id="rId18"/>
    <p:sldId id="318" r:id="rId19"/>
    <p:sldId id="320" r:id="rId20"/>
    <p:sldId id="16775146" r:id="rId21"/>
    <p:sldId id="322" r:id="rId22"/>
    <p:sldId id="16775137" r:id="rId23"/>
    <p:sldId id="16775138" r:id="rId24"/>
    <p:sldId id="16775139" r:id="rId25"/>
    <p:sldId id="16775140" r:id="rId26"/>
    <p:sldId id="16775141" r:id="rId27"/>
    <p:sldId id="16775142" r:id="rId28"/>
    <p:sldId id="16775123" r:id="rId29"/>
    <p:sldId id="274" r:id="rId30"/>
    <p:sldId id="16775113" r:id="rId31"/>
    <p:sldId id="16775112" r:id="rId32"/>
    <p:sldId id="16775114" r:id="rId33"/>
    <p:sldId id="283" r:id="rId34"/>
    <p:sldId id="16775118" r:id="rId35"/>
    <p:sldId id="277" r:id="rId36"/>
    <p:sldId id="278" r:id="rId37"/>
    <p:sldId id="279" r:id="rId38"/>
    <p:sldId id="16775144" r:id="rId3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3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na Seminara" initials="NS" lastIdx="0" clrIdx="0"/>
  <p:cmAuthor id="2" name="Ashley Hartz" initials="AH" lastIdx="0" clrIdx="1"/>
  <p:cmAuthor id="3" name="Samera Zaidi" initials="SZ" lastIdx="0" clrIdx="2"/>
  <p:cmAuthor id="4" name="Kaitlin Love" initials="KL" lastIdx="0" clrIdx="3"/>
  <p:cmAuthor id="5" name="Jordan Freeman" initials="JF" lastIdx="0" clrIdx="4"/>
  <p:cmAuthor id="6" name="Leila Scott" initials="LS" lastIdx="0" clrIdx="5"/>
  <p:cmAuthor id="7" name="Mona Korsgard" initials="MK" lastIdx="0" clrIdx="6"/>
  <p:cmAuthor id="8" name="Emma Vincent" initials="EV" lastIdx="0" clrIdx="7"/>
  <p:cmAuthor id="9" name="Juan Andres Gil" initials="JAG" lastIdx="0" clrIdx="8"/>
  <p:cmAuthor id="10" name="Catherine Muller" initials="CM" lastIdx="0" clrIdx="9"/>
  <p:cmAuthor id="11" name="Cairn Verhulst" initials="CV" lastIdx="0" clrIdx="10"/>
  <p:cmAuthor id="12" name="Daniel Murphy" initials="DM" lastIdx="0" clrIdx="11"/>
  <p:cmAuthor id="13" name="Megan Bellinger" initials="MB" lastIdx="0" clrIdx="12"/>
  <p:cmAuthor id="14" name="Massimiliano Sani" initials="MS" lastIdx="0" clrIdx="13"/>
  <p:cmAuthor id="15" name="Jeremiah Chinodya" initials="JC" lastIdx="0" clrIdx="14"/>
  <p:cmAuthor id="16" name="Loveness Chimombe" initials="LC" lastIdx="0" clrIdx="15"/>
  <p:cmAuthor id="17" name="Hollis Henry" initials="HH" lastIdx="0" clrIdx="16"/>
  <p:cmAuthor id="18" name="UNICEF ESARO" initials="UNICEF" lastIdx="0" clrIdx="17"/>
  <p:cmAuthor id="19" name="Sanya Batra" initials="SB" lastIdx="0" clrIdx="18"/>
  <p:cmAuthor id="20" name="Marika Klein" initials="MK" lastIdx="0" clrIdx="19"/>
  <p:cmAuthor id="21" name="Seth Messinger" initials="SM" lastIdx="0" clrIdx="20"/>
  <p:cmAuthor id="22" name="Sandra Sonia Dupuy" initials="SSD" lastIdx="0" clrIdx="2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>
        <p:scale>
          <a:sx n="91" d="100"/>
          <a:sy n="91" d="100"/>
        </p:scale>
        <p:origin x="494" y="163"/>
      </p:cViewPr>
      <p:guideLst>
        <p:guide orient="horz" pos="2131"/>
        <p:guide pos="383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CA" sz="1860" b="1" i="0" u="none" strike="noStrike" kern="1200" spc="0" baseline="0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proportion des PPL vacc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2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fr-CA" sz="1195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Feuil1!$A$2:$A$5</c:f>
              <c:strCache>
                <c:ptCount val="2"/>
                <c:pt idx="0">
                  <c:v>total vacc</c:v>
                </c:pt>
                <c:pt idx="1">
                  <c:v>ppl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1493910</c:v>
                </c:pt>
                <c:pt idx="1">
                  <c:v>92627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legendEntry>
        <c:idx val="3"/>
        <c:delete val="1"/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CA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ba2fbd3-ee8a-45ec-ac43-581afdb1af8d}"/>
      </c:ext>
    </c:extLst>
  </c:chart>
  <c:spPr>
    <a:noFill/>
    <a:ln>
      <a:noFill/>
    </a:ln>
    <a:effectLst/>
  </c:spPr>
  <c:txPr>
    <a:bodyPr/>
    <a:lstStyle/>
    <a:p>
      <a:pPr>
        <a:defRPr lang="fr-CA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CA" sz="1860" b="1" i="0" u="none" strike="noStrike" kern="1200" spc="0" baseline="0">
              <a:solidFill>
                <a:schemeClr val="tx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/>
      <c:pie3D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proportion des &lt;18 ans </c:v>
                </c:pt>
              </c:strCache>
            </c:strRef>
          </c:tx>
          <c:explosion val="0"/>
          <c:dPt>
            <c:idx val="0"/>
            <c:bubble3D val="0"/>
            <c:spPr>
              <a:solidFill>
                <a:schemeClr val="accent3">
                  <a:shade val="76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Pt>
            <c:idx val="1"/>
            <c:bubble3D val="0"/>
            <c:spPr>
              <a:solidFill>
                <a:schemeClr val="accent3">
                  <a:tint val="77000"/>
                </a:schemeClr>
              </a:solidFill>
              <a:ln w="25400">
                <a:solidFill>
                  <a:schemeClr val="lt1"/>
                </a:solidFill>
              </a:ln>
              <a:effectLst/>
              <a:scene3d>
                <a:camera prst="orthographicFront"/>
                <a:lightRig rig="threePt" dir="t"/>
              </a:scene3d>
              <a:sp3d contourW="25400">
                <a:contourClr>
                  <a:schemeClr val="lt1"/>
                </a:contourClr>
              </a:sp3d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fr-CA" sz="1195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Feuil1!$A$2:$A$3</c:f>
              <c:strCache>
                <c:ptCount val="2"/>
                <c:pt idx="0">
                  <c:v>totl vaccines</c:v>
                </c:pt>
                <c:pt idx="1">
                  <c:v>&lt;18 ans</c:v>
                </c:pt>
              </c:strCache>
            </c:strRef>
          </c:cat>
          <c:val>
            <c:numRef>
              <c:f>Feuil1!$B$2:$B$3</c:f>
              <c:numCache>
                <c:formatCode>General</c:formatCode>
                <c:ptCount val="2"/>
                <c:pt idx="0">
                  <c:v>1493910</c:v>
                </c:pt>
                <c:pt idx="1">
                  <c:v>280008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fr-CA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8481347-a899-4f06-885b-8d459a9f7006}"/>
      </c:ext>
    </c:extLst>
  </c:chart>
  <c:spPr>
    <a:noFill/>
    <a:ln>
      <a:noFill/>
    </a:ln>
    <a:effectLst/>
  </c:spPr>
  <c:txPr>
    <a:bodyPr/>
    <a:lstStyle/>
    <a:p>
      <a:pPr>
        <a:defRPr lang="fr-CA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f1c646a8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9" name="Google Shape;1289;g2f1c646a8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295a8824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295a8824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200" lvl="1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600" lvl="0" indent="-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6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5"/>
            </a:lvl9pPr>
          </a:lstStyle>
          <a:p/>
        </p:txBody>
      </p:sp>
      <p:sp>
        <p:nvSpPr>
          <p:cNvPr id="11" name="Google Shape;11;p31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5"/>
            </a:lvl9pPr>
          </a:lstStyle>
          <a:p/>
        </p:txBody>
      </p:sp>
      <p:sp>
        <p:nvSpPr>
          <p:cNvPr id="12" name="Google Shape;12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5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  <p:sp>
        <p:nvSpPr>
          <p:cNvPr id="24" name="Google Shape;24;p3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3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8" name="Google Shape;28;p36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5"/>
            </a:lvl1pPr>
            <a:lvl2pPr marL="12192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29" name="Google Shape;29;p3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32" name="Google Shape;32;p3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2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8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4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8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6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2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8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4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3" name="Google Shape;33;p3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36" name="Google Shape;36;p3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9" name="Google Shape;39;p3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40" name="Google Shape;40;p3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41" name="Google Shape;41;p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6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3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6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4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p4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4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3735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2400">
                <a:solidFill>
                  <a:schemeClr val="dk2"/>
                </a:solidFill>
              </a:defRPr>
            </a:lvl1pPr>
            <a:lvl2pPr marL="1219200" lvl="1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828800" lvl="2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2438400" lvl="3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3048000" lvl="4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3657600" lvl="5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4267200" lvl="6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4876800" lvl="7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5486400" lvl="8" indent="-42354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5">
                <a:solidFill>
                  <a:schemeClr val="dk2"/>
                </a:solidFill>
              </a:defRPr>
            </a:lvl1pPr>
            <a:lvl2pPr lvl="1" algn="r">
              <a:buNone/>
              <a:defRPr sz="1335">
                <a:solidFill>
                  <a:schemeClr val="dk2"/>
                </a:solidFill>
              </a:defRPr>
            </a:lvl2pPr>
            <a:lvl3pPr lvl="2" algn="r">
              <a:buNone/>
              <a:defRPr sz="1335">
                <a:solidFill>
                  <a:schemeClr val="dk2"/>
                </a:solidFill>
              </a:defRPr>
            </a:lvl3pPr>
            <a:lvl4pPr lvl="3" algn="r">
              <a:buNone/>
              <a:defRPr sz="1335">
                <a:solidFill>
                  <a:schemeClr val="dk2"/>
                </a:solidFill>
              </a:defRPr>
            </a:lvl4pPr>
            <a:lvl5pPr lvl="4" algn="r">
              <a:buNone/>
              <a:defRPr sz="1335">
                <a:solidFill>
                  <a:schemeClr val="dk2"/>
                </a:solidFill>
              </a:defRPr>
            </a:lvl5pPr>
            <a:lvl6pPr lvl="5" algn="r">
              <a:buNone/>
              <a:defRPr sz="1335">
                <a:solidFill>
                  <a:schemeClr val="dk2"/>
                </a:solidFill>
              </a:defRPr>
            </a:lvl6pPr>
            <a:lvl7pPr lvl="6" algn="r">
              <a:buNone/>
              <a:defRPr sz="1335">
                <a:solidFill>
                  <a:schemeClr val="dk2"/>
                </a:solidFill>
              </a:defRPr>
            </a:lvl7pPr>
            <a:lvl8pPr lvl="7" algn="r">
              <a:buNone/>
              <a:defRPr sz="1335">
                <a:solidFill>
                  <a:schemeClr val="dk2"/>
                </a:solidFill>
              </a:defRPr>
            </a:lvl8pPr>
            <a:lvl9pPr lvl="8" algn="r">
              <a:buNone/>
              <a:defRPr sz="1335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3735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3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2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1219200" marR="0" lvl="1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828800" marR="0" lvl="2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2438400" marR="0" lvl="3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3048000" marR="0" lvl="4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3657600" marR="0" lvl="5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4267200" marR="0" lvl="6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4876800" marR="0" lvl="7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5486400" marR="0" lvl="8" indent="-42354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86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3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865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notesSlide" Target="../notesSlides/notesSlide2.xml"/><Relationship Id="rId17" Type="http://schemas.openxmlformats.org/officeDocument/2006/relationships/slideLayout" Target="../slideLayouts/slideLayout1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1.png"/><Relationship Id="rId7" Type="http://schemas.openxmlformats.org/officeDocument/2006/relationships/image" Target="../media/image20.png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26.png"/><Relationship Id="rId12" Type="http://schemas.openxmlformats.org/officeDocument/2006/relationships/image" Target="../media/image25.png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4.xml"/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tags" Target="../tags/tag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4.xml"/><Relationship Id="rId2" Type="http://schemas.openxmlformats.org/officeDocument/2006/relationships/image" Target="../media/image30.png"/><Relationship Id="rId1" Type="http://schemas.openxmlformats.org/officeDocument/2006/relationships/tags" Target="../tags/tag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317108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"/>
          <p:cNvSpPr txBox="1"/>
          <p:nvPr/>
        </p:nvSpPr>
        <p:spPr>
          <a:xfrm>
            <a:off x="4719955" y="153797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2025 </a:t>
            </a:r>
            <a:endParaRPr lang="fr-FR" sz="4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DU PEV</a:t>
            </a:r>
            <a:endParaRPr lang="fr-FR" sz="4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4000" b="1" i="0" u="none" strike="noStrike" cap="none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169;p1"/>
          <p:cNvSpPr txBox="1"/>
          <p:nvPr/>
        </p:nvSpPr>
        <p:spPr>
          <a:xfrm>
            <a:off x="4719955" y="33839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3600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Groupe: </a:t>
            </a:r>
            <a:r>
              <a:rPr lang="fr-FR" sz="3600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AVS</a:t>
            </a:r>
            <a:endParaRPr sz="360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36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2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endParaRPr sz="14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4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10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169;p1"/>
          <p:cNvSpPr txBox="1"/>
          <p:nvPr/>
        </p:nvSpPr>
        <p:spPr>
          <a:xfrm>
            <a:off x="4812665" y="4765040"/>
            <a:ext cx="7215505" cy="63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28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Décembre 2025</a:t>
            </a:r>
            <a:r>
              <a:rPr lang="fr-FR" sz="32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2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465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2000" b="1" i="1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Zone de texte 3"/>
          <p:cNvSpPr txBox="1"/>
          <p:nvPr/>
        </p:nvSpPr>
        <p:spPr>
          <a:xfrm>
            <a:off x="0" y="1652270"/>
            <a:ext cx="22167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sz="480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PLAN</a:t>
            </a:r>
            <a:endParaRPr lang="fr-FR" altLang="en-US" sz="480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grpSp>
        <p:nvGrpSpPr>
          <p:cNvPr id="17" name="Grouper 16"/>
          <p:cNvGrpSpPr/>
          <p:nvPr>
            <p:custDataLst>
              <p:tags r:id="rId2"/>
            </p:custDataLst>
          </p:nvPr>
        </p:nvGrpSpPr>
        <p:grpSpPr>
          <a:xfrm>
            <a:off x="4811394" y="1043940"/>
            <a:ext cx="6731133" cy="5407312"/>
            <a:chOff x="7577" y="1109"/>
            <a:chExt cx="9803" cy="9071"/>
          </a:xfrm>
        </p:grpSpPr>
        <p:sp>
          <p:nvSpPr>
            <p:cNvPr id="5" name="序号"/>
            <p:cNvSpPr txBox="1"/>
            <p:nvPr>
              <p:custDataLst>
                <p:tags r:id="rId3"/>
              </p:custDataLst>
            </p:nvPr>
          </p:nvSpPr>
          <p:spPr>
            <a:xfrm>
              <a:off x="7577" y="1357"/>
              <a:ext cx="1787" cy="1387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 dirty="0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alt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项标题"/>
            <p:cNvSpPr txBox="1"/>
            <p:nvPr>
              <p:custDataLst>
                <p:tags r:id="rId4"/>
              </p:custDataLst>
            </p:nvPr>
          </p:nvSpPr>
          <p:spPr>
            <a:xfrm>
              <a:off x="10752" y="1109"/>
              <a:ext cx="6628" cy="163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Rappel des objectifs</a:t>
              </a:r>
              <a:endParaRPr lang="fr-F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序号"/>
            <p:cNvSpPr txBox="1"/>
            <p:nvPr>
              <p:custDataLst>
                <p:tags r:id="rId5"/>
              </p:custDataLst>
            </p:nvPr>
          </p:nvSpPr>
          <p:spPr>
            <a:xfrm>
              <a:off x="7577" y="2715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altLang="en-US" sz="4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项标题"/>
            <p:cNvSpPr txBox="1"/>
            <p:nvPr>
              <p:custDataLst>
                <p:tags r:id="rId6"/>
              </p:custDataLst>
            </p:nvPr>
          </p:nvSpPr>
          <p:spPr>
            <a:xfrm>
              <a:off x="10752" y="2567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AVS Polio, Rougeole et FJ </a:t>
              </a:r>
              <a:endParaRPr lang="fr-F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序号"/>
            <p:cNvSpPr txBox="1"/>
            <p:nvPr>
              <p:custDataLst>
                <p:tags r:id="rId7"/>
              </p:custDataLst>
            </p:nvPr>
          </p:nvSpPr>
          <p:spPr>
            <a:xfrm>
              <a:off x="7577" y="3909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altLang="en-US" sz="4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项标题"/>
            <p:cNvSpPr txBox="1"/>
            <p:nvPr>
              <p:custDataLst>
                <p:tags r:id="rId8"/>
              </p:custDataLst>
            </p:nvPr>
          </p:nvSpPr>
          <p:spPr>
            <a:xfrm>
              <a:off x="10752" y="4041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Vaccination MPox, </a:t>
              </a:r>
              <a:r>
                <a:rPr lang="en-US" altLang="fr-FR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Cholera et Ebola </a:t>
              </a: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endParaRPr lang="fr-F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序号"/>
            <p:cNvSpPr txBox="1"/>
            <p:nvPr>
              <p:custDataLst>
                <p:tags r:id="rId9"/>
              </p:custDataLst>
            </p:nvPr>
          </p:nvSpPr>
          <p:spPr>
            <a:xfrm>
              <a:off x="7577" y="5218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en-US" altLang="en-US" sz="4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项标题"/>
            <p:cNvSpPr txBox="1"/>
            <p:nvPr>
              <p:custDataLst>
                <p:tags r:id="rId10"/>
              </p:custDataLst>
            </p:nvPr>
          </p:nvSpPr>
          <p:spPr>
            <a:xfrm>
              <a:off x="10752" y="5190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Analyse FFOM</a:t>
              </a:r>
              <a:endParaRPr lang="fr-F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序号"/>
            <p:cNvSpPr txBox="1"/>
            <p:nvPr>
              <p:custDataLst>
                <p:tags r:id="rId11"/>
              </p:custDataLst>
            </p:nvPr>
          </p:nvSpPr>
          <p:spPr>
            <a:xfrm>
              <a:off x="7577" y="6324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en-US" sz="4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项标题"/>
            <p:cNvSpPr txBox="1"/>
            <p:nvPr>
              <p:custDataLst>
                <p:tags r:id="rId12"/>
              </p:custDataLst>
            </p:nvPr>
          </p:nvSpPr>
          <p:spPr>
            <a:xfrm>
              <a:off x="10752" y="6306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Problèmes /Défis</a:t>
              </a:r>
              <a:endParaRPr lang="fr-F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序号"/>
            <p:cNvSpPr txBox="1"/>
            <p:nvPr>
              <p:custDataLst>
                <p:tags r:id="rId13"/>
              </p:custDataLst>
            </p:nvPr>
          </p:nvSpPr>
          <p:spPr>
            <a:xfrm>
              <a:off x="7577" y="7623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en-US" altLang="en-US" sz="4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项标题"/>
            <p:cNvSpPr txBox="1"/>
            <p:nvPr>
              <p:custDataLst>
                <p:tags r:id="rId14"/>
              </p:custDataLst>
            </p:nvPr>
          </p:nvSpPr>
          <p:spPr>
            <a:xfrm>
              <a:off x="10752" y="7655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 fontScale="97500"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Piste de solution/Recommandations</a:t>
              </a:r>
              <a:endParaRPr lang="fr-FR" alt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序号"/>
            <p:cNvSpPr txBox="1"/>
            <p:nvPr>
              <p:custDataLst>
                <p:tags r:id="rId15"/>
              </p:custDataLst>
            </p:nvPr>
          </p:nvSpPr>
          <p:spPr>
            <a:xfrm>
              <a:off x="7577" y="8977"/>
              <a:ext cx="1787" cy="1162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lstStyle/>
            <a:p>
              <a:pPr algn="r">
                <a:lnSpc>
                  <a:spcPct val="100000"/>
                </a:lnSpc>
              </a:pPr>
              <a:r>
                <a:rPr 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en-US" sz="4000" b="1">
                  <a:solidFill>
                    <a:schemeClr val="accent1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en-US" altLang="en-US" sz="40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项标题"/>
            <p:cNvSpPr txBox="1"/>
            <p:nvPr>
              <p:custDataLst>
                <p:tags r:id="rId16"/>
              </p:custDataLst>
            </p:nvPr>
          </p:nvSpPr>
          <p:spPr>
            <a:xfrm>
              <a:off x="10752" y="8771"/>
              <a:ext cx="6628" cy="14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lstStyle/>
            <a:p>
              <a:pPr>
                <a:lnSpc>
                  <a:spcPct val="100000"/>
                </a:lnSpc>
              </a:pPr>
              <a:r>
                <a:rPr lang="fr-FR" altLang="en-US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Actions prioritaires 202</a:t>
              </a:r>
              <a:r>
                <a:rPr lang="en-US" altLang="fr-FR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US" altLang="fr-F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Zone de texte 1"/>
          <p:cNvSpPr txBox="1"/>
          <p:nvPr/>
        </p:nvSpPr>
        <p:spPr>
          <a:xfrm>
            <a:off x="5464140" y="495300"/>
            <a:ext cx="5580849" cy="700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0</a:t>
            </a: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</a:t>
            </a:r>
            <a:r>
              <a:rPr lang="en-US" altLang="en-US" sz="4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fr-FR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Processus </a:t>
            </a:r>
            <a:endParaRPr lang="fr-FR" alt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114300"/>
            <a:ext cx="10515600" cy="1085215"/>
          </a:xfrm>
        </p:spPr>
        <p:txBody>
          <a:bodyPr/>
          <a:lstStyle/>
          <a:p>
            <a:endParaRPr lang="fr-CA" altLang="en-US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58115" y="1266825"/>
          <a:ext cx="11976100" cy="5287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8990"/>
                <a:gridCol w="4082415"/>
                <a:gridCol w="2814320"/>
                <a:gridCol w="4270375"/>
              </a:tblGrid>
              <a:tr h="95694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N°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Activités planifiées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Niveau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réalisation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8426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/>
                        <a:t>1</a:t>
                      </a:r>
                      <a:endParaRPr lang="en-US" alt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deux passages de JNV polio dans les 26 provinces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/>
                        <a:t>Le 2 ème passage a été scindé en deux blocs suite à la campagne de rattrapage contre la RR dans 7 provinces du Bloc 1 (Bas Uélé, Haut Uélé, Ituri, Haut Katanga, Haut Lomami, Lualaba et Tanganyika) </a:t>
                      </a:r>
                      <a:endParaRPr lang="en-US" altLang="fr-CA" dirty="0"/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/>
                        <a:t>2</a:t>
                      </a:r>
                      <a:endParaRPr lang="en-US" alt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campagne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vaccination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</a:t>
                      </a:r>
                      <a:r>
                        <a:rPr lang="en-US" alt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ventive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contre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Fi</a:t>
                      </a:r>
                      <a:r>
                        <a:rPr lang="en-US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è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vre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Jaune dans 63 ZS des 4 provinces du Bloc 6 (Haut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Katanga,Haut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-Lomami, Tanganyika et Lualaba )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CA" altLang="en-US"/>
                    </a:p>
                  </a:txBody>
                  <a:tcPr/>
                </a:tc>
              </a:tr>
              <a:tr h="1404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en-US"/>
                        <a:t>3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fr-C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</a:t>
                      </a:r>
                      <a:r>
                        <a:rPr lang="en-US" altLang="fr-C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altLang="fr-C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campagne</a:t>
                      </a:r>
                      <a:r>
                        <a:rPr lang="en-US" altLang="fr-C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vaccination </a:t>
                      </a:r>
                      <a:r>
                        <a:rPr lang="en-US" altLang="fr-C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préventive</a:t>
                      </a:r>
                      <a:r>
                        <a:rPr lang="en-US" altLang="fr-C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fr-C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contre</a:t>
                      </a:r>
                      <a:r>
                        <a:rPr lang="en-US" altLang="fr-C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 </a:t>
                      </a:r>
                      <a:r>
                        <a:rPr lang="en-US" altLang="fr-CA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choléra</a:t>
                      </a:r>
                      <a:r>
                        <a:rPr lang="en-US" altLang="fr-CA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dans 2 provinces ( Nord Kivu et Sud Kivu)</a:t>
                      </a:r>
                      <a:endParaRPr lang="en-US" altLang="fr-CA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CA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itre 1"/>
          <p:cNvSpPr txBox="1"/>
          <p:nvPr/>
        </p:nvSpPr>
        <p:spPr>
          <a:xfrm>
            <a:off x="157480" y="34290"/>
            <a:ext cx="11877675" cy="1165225"/>
          </a:xfrm>
          <a:prstGeom prst="rect">
            <a:avLst/>
          </a:prstGeom>
          <a:solidFill>
            <a:srgbClr val="002060"/>
          </a:solidFill>
          <a:ln w="9528">
            <a:solidFill>
              <a:srgbClr val="FF0000"/>
            </a:solidFill>
            <a:prstDash val="solid"/>
          </a:ln>
        </p:spPr>
        <p:txBody>
          <a:bodyPr vert="horz" lIns="91440" tIns="45720" rIns="91440" bIns="45720" rtlCol="0" anchor="b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Campagnes</a:t>
            </a:r>
            <a:r>
              <a:rPr lang="en-US" alt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planifiées et réalisées  en 2025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114300"/>
            <a:ext cx="10515600" cy="1085215"/>
          </a:xfrm>
        </p:spPr>
        <p:txBody>
          <a:bodyPr/>
          <a:lstStyle/>
          <a:p>
            <a:endParaRPr lang="fr-CA" altLang="en-US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88265" y="1334770"/>
          <a:ext cx="12046585" cy="53060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435"/>
                <a:gridCol w="4106545"/>
                <a:gridCol w="2558415"/>
                <a:gridCol w="4568190"/>
              </a:tblGrid>
              <a:tr h="104267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N°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Activités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planifiées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Niveau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de </a:t>
                      </a: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réalisation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Observations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</a:tr>
              <a:tr h="1162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/>
                        <a:t>4</a:t>
                      </a:r>
                      <a:endParaRPr lang="en-US" alt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 les ripostes à tout cas de poliovirus , Rougeole,FJ, TNN,MVE et autres 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pid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mies ( Chol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ra,MPOX,….)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Riposte Polio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Riposte contre la rougeole organisée :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Dans 30 ZS de 9 provinces avec l’appui financier de MRP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742950" lvl="1" indent="-285750">
                        <a:buFont typeface="Courier New" panose="02070309020205020404" pitchFamily="49" charset="0"/>
                        <a:buChar char="o"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Dans 15 ZS avec l’appui de MSF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Sauf pour le TNN et la FJ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0629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/>
                        <a:t>5</a:t>
                      </a:r>
                      <a:endParaRPr lang="en-US" alt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 la campagne de vaccination pr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ventive contre la Fi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è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vre Jaune dans les provinces du Bloc 7 (Ituri et Nord Kivu) 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réalisée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Reportée pour l’ année 2026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516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/>
                        <a:t>6 </a:t>
                      </a:r>
                      <a:endParaRPr lang="en-US" alt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 la campagne de rattrapage contre la rougeole et la Rub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ole dans 9 provinces du Bloc 1 ( Equateur, Tshopo, Bas U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Haut U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Ituri, Mongala, Nord Ubangi, Sud Ubangi et Tshuapa)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 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 dans 7 provinces Haut Katanga ,Lualaba , Tanganyika , Haut Lomami , haut Uelé, Bas Uelé et Ituri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itre 1"/>
          <p:cNvSpPr txBox="1"/>
          <p:nvPr/>
        </p:nvSpPr>
        <p:spPr>
          <a:xfrm>
            <a:off x="157480" y="34290"/>
            <a:ext cx="11877675" cy="1165225"/>
          </a:xfrm>
          <a:prstGeom prst="rect">
            <a:avLst/>
          </a:prstGeom>
          <a:solidFill>
            <a:srgbClr val="002060"/>
          </a:solidFill>
          <a:ln w="9528">
            <a:solidFill>
              <a:srgbClr val="FF0000"/>
            </a:solidFill>
            <a:prstDash val="solid"/>
          </a:ln>
        </p:spPr>
        <p:txBody>
          <a:bodyPr vert="horz" lIns="91440" tIns="45720" rIns="91440" bIns="45720" rtlCol="0" anchor="b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Campagnes</a:t>
            </a:r>
            <a:r>
              <a:rPr lang="en-US" alt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planifiées et réalisées  en 2025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7700" y="114300"/>
            <a:ext cx="10515600" cy="1085215"/>
          </a:xfrm>
        </p:spPr>
        <p:txBody>
          <a:bodyPr/>
          <a:lstStyle/>
          <a:p>
            <a:endParaRPr lang="fr-CA" altLang="en-US"/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custDataLst>
              <p:tags r:id="rId1"/>
            </p:custDataLst>
          </p:nvPr>
        </p:nvGraphicFramePr>
        <p:xfrm>
          <a:off x="157480" y="1305560"/>
          <a:ext cx="12033885" cy="5350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"/>
                <a:gridCol w="4102100"/>
                <a:gridCol w="4160520"/>
                <a:gridCol w="2958465"/>
              </a:tblGrid>
              <a:tr h="98171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Activités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planifiées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Niveau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altLang="fr-CA" sz="2800" b="0" dirty="0" err="1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réalisation</a:t>
                      </a:r>
                      <a:r>
                        <a:rPr lang="en-US" altLang="fr-CA" sz="2800" b="0" dirty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altLang="fr-CA" sz="2800" b="0" dirty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fr-CA" sz="3200" b="0">
                          <a:solidFill>
                            <a:schemeClr val="tx1"/>
                          </a:solidFill>
                          <a:uFillTx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Observations</a:t>
                      </a:r>
                      <a:endParaRPr lang="en-US" altLang="fr-CA" sz="3200" b="0">
                        <a:solidFill>
                          <a:schemeClr val="tx1"/>
                        </a:solidFill>
                        <a:uFillTx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7373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Organiser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campagne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vaccination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contre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la Mpox dans 57 ZS de  12 provinces ( Kinshasa, Bas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  <a:r>
                        <a:rPr lang="en-US" alt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alt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Equateur, Kasai , Kinshasa, Lomami, Nord Kivu, Nord Ubangi, Sankuru, Sud Ubangi,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Tshopo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</a:t>
                      </a:r>
                      <a:r>
                        <a:rPr lang="en-US" altLang="fr-CA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Tshuapa</a:t>
                      </a: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CA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Soumettre au portail GAVI le plan de vaccination pr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ventive contre la MVE dan les provinces endemiques ( Equateur,Ituri 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Nord Kivu  et Sud Kivu)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Réalisée</a:t>
                      </a:r>
                      <a:endParaRPr lang="en-US" altLang="fr-CA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fr-CA" alt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4427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Mettre en place un cadre de concertation pour la planification et l’int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gration des activit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 de diff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rents programmes et projets de sant</a:t>
                      </a:r>
                      <a:r>
                        <a:rPr lang="en-US" alt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</a:t>
                      </a:r>
                      <a:r>
                        <a:rPr lang="en-US" altLang="fr-CA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 niveau central </a:t>
                      </a:r>
                      <a:endParaRPr lang="en-US" altLang="fr-CA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fr-CA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 réalisée</a:t>
                      </a:r>
                      <a:endParaRPr lang="en-US" altLang="fr-CA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A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Cadre mi en place au sein du PEV (Polio, rougeole)</a:t>
                      </a:r>
                      <a:endParaRPr lang="fr-CA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itre 1"/>
          <p:cNvSpPr txBox="1"/>
          <p:nvPr/>
        </p:nvSpPr>
        <p:spPr>
          <a:xfrm>
            <a:off x="157480" y="34290"/>
            <a:ext cx="11877675" cy="1165225"/>
          </a:xfrm>
          <a:prstGeom prst="rect">
            <a:avLst/>
          </a:prstGeom>
          <a:solidFill>
            <a:srgbClr val="002060"/>
          </a:solidFill>
          <a:ln w="9528">
            <a:solidFill>
              <a:srgbClr val="FF0000"/>
            </a:solidFill>
            <a:prstDash val="solid"/>
          </a:ln>
        </p:spPr>
        <p:txBody>
          <a:bodyPr vert="horz" lIns="91440" tIns="45720" rIns="91440" bIns="45720" rtlCol="0" anchor="b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Campagnes</a:t>
            </a:r>
            <a:r>
              <a:rPr lang="en-US" alt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planifiées et réalisées  en 2025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Objectifs </a:t>
            </a:r>
            <a:endParaRPr lang="fr-FR" altLang="en-GB" sz="3200" b="1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6" name="Grouper 5"/>
          <p:cNvGrpSpPr/>
          <p:nvPr/>
        </p:nvGrpSpPr>
        <p:grpSpPr>
          <a:xfrm>
            <a:off x="680720" y="1029335"/>
            <a:ext cx="6492875" cy="5398770"/>
            <a:chOff x="722" y="2799"/>
            <a:chExt cx="4889" cy="4423"/>
          </a:xfrm>
        </p:grpSpPr>
        <p:sp>
          <p:nvSpPr>
            <p:cNvPr id="239" name="Google Shape;239;p17"/>
            <p:cNvSpPr/>
            <p:nvPr/>
          </p:nvSpPr>
          <p:spPr>
            <a:xfrm>
              <a:off x="881" y="3235"/>
              <a:ext cx="4730" cy="3940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Contribuer</a:t>
              </a:r>
              <a:r>
                <a:rPr lang="en-US" alt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(</a:t>
              </a: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à</a:t>
              </a:r>
              <a:r>
                <a:rPr lang="en-US" alt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  </a:t>
              </a: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au) :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662940" lvl="1" indent="-171450">
                <a:spcBef>
                  <a:spcPts val="1000"/>
                </a:spcBef>
                <a:spcAft>
                  <a:spcPts val="1000"/>
                </a:spcAft>
                <a:buFont typeface="Courier New" panose="02070309020205020404" pitchFamily="49" charset="0"/>
                <a:buChar char="o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L’arrêt de la circulation du Poliovirus variant de type 1 </a:t>
              </a:r>
              <a:r>
                <a:rPr lang="en-US" alt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et 2 </a:t>
              </a: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dans le pays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662940" lvl="1" indent="-171450">
                <a:spcBef>
                  <a:spcPts val="1000"/>
                </a:spcBef>
                <a:spcAft>
                  <a:spcPts val="1000"/>
                </a:spcAft>
                <a:buFont typeface="Courier New" panose="02070309020205020404" pitchFamily="49" charset="0"/>
                <a:buChar char="o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L’élimination de la rougeole et rubéole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662940" lvl="1" indent="-171450">
                <a:spcBef>
                  <a:spcPts val="1000"/>
                </a:spcBef>
                <a:spcAft>
                  <a:spcPts val="1000"/>
                </a:spcAft>
                <a:buFont typeface="Courier New" panose="02070309020205020404" pitchFamily="49" charset="0"/>
                <a:buChar char="o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L’élimination des épidémies de fièvre jaune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662940" lvl="1" indent="-171450">
                <a:spcBef>
                  <a:spcPts val="1000"/>
                </a:spcBef>
                <a:spcAft>
                  <a:spcPts val="1000"/>
                </a:spcAft>
                <a:buFont typeface="Courier New" panose="02070309020205020404" pitchFamily="49" charset="0"/>
                <a:buChar char="o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L’interruption de la transmission interhumaine de </a:t>
              </a:r>
              <a:r>
                <a:rPr lang="fr-FR" dirty="0" err="1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Mpox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662940" lvl="1" indent="-171450">
                <a:spcBef>
                  <a:spcPts val="1000"/>
                </a:spcBef>
                <a:spcAft>
                  <a:spcPts val="1000"/>
                </a:spcAft>
                <a:buFont typeface="Courier New" panose="02070309020205020404" pitchFamily="49" charset="0"/>
                <a:buChar char="o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Maintien du statut des pays ayant éliminé le TNN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662940" lvl="1" indent="-171450">
                <a:spcBef>
                  <a:spcPts val="1000"/>
                </a:spcBef>
                <a:spcAft>
                  <a:spcPts val="1000"/>
                </a:spcAft>
                <a:buFont typeface="Courier New" panose="02070309020205020404" pitchFamily="49" charset="0"/>
                <a:buChar char="o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Contrôle des épidémies de MVE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Améliorer la qualité des AVS en réduisant à moins de 5% la proportion des cibles manquées  au cours des AVS(Polio, Rougeole, FJ, Choléra, </a:t>
              </a:r>
              <a:r>
                <a:rPr lang="fr-FR" dirty="0" err="1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Mpox</a:t>
              </a: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, MVE, </a:t>
              </a:r>
              <a:r>
                <a:rPr lang="fr-FR" dirty="0" err="1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etc</a:t>
              </a:r>
              <a:r>
                <a:rPr lang="fr-FR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)</a:t>
              </a:r>
              <a:endParaRPr lang="fr-FR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41" name="Google Shape;241;p17"/>
            <p:cNvSpPr/>
            <p:nvPr/>
          </p:nvSpPr>
          <p:spPr>
            <a:xfrm>
              <a:off x="722" y="2799"/>
              <a:ext cx="4889" cy="4423"/>
            </a:xfrm>
            <a:prstGeom prst="rect">
              <a:avLst/>
            </a:prstGeom>
            <a:noFill/>
            <a:ln w="19050" cap="flat" cmpd="sng">
              <a:solidFill>
                <a:srgbClr val="1155C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7" name="Google Shape;237;p17"/>
            <p:cNvSpPr/>
            <p:nvPr/>
          </p:nvSpPr>
          <p:spPr>
            <a:xfrm>
              <a:off x="1009" y="2944"/>
              <a:ext cx="4123" cy="3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2400" b="1" dirty="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Objectifs SNV</a:t>
              </a:r>
              <a:endParaRPr lang="fr-FR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5" name="Grouper 4"/>
          <p:cNvGrpSpPr/>
          <p:nvPr/>
        </p:nvGrpSpPr>
        <p:grpSpPr>
          <a:xfrm>
            <a:off x="8061325" y="1668257"/>
            <a:ext cx="3825875" cy="4993599"/>
            <a:chOff x="12695" y="3418"/>
            <a:chExt cx="6025" cy="7073"/>
          </a:xfrm>
        </p:grpSpPr>
        <p:sp>
          <p:nvSpPr>
            <p:cNvPr id="225" name="Google Shape;225;p16"/>
            <p:cNvSpPr txBox="1"/>
            <p:nvPr/>
          </p:nvSpPr>
          <p:spPr>
            <a:xfrm>
              <a:off x="18360" y="10230"/>
              <a:ext cx="360" cy="2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-GB" sz="1200">
                  <a:solidFill>
                    <a:srgbClr val="1155CC"/>
                  </a:solidFill>
                  <a:latin typeface="Source Serif Pro"/>
                  <a:ea typeface="Source Serif Pro"/>
                  <a:cs typeface="Source Serif Pro"/>
                  <a:sym typeface="Source Serif Pro"/>
                </a:rPr>
              </a:fld>
              <a:endParaRPr sz="1200">
                <a:solidFill>
                  <a:srgbClr val="1155CC"/>
                </a:solidFill>
                <a:latin typeface="Source Serif Pro"/>
                <a:ea typeface="Source Serif Pro"/>
                <a:cs typeface="Source Serif Pro"/>
                <a:sym typeface="Source Serif Pro"/>
              </a:endParaRPr>
            </a:p>
          </p:txBody>
        </p:sp>
        <p:sp>
          <p:nvSpPr>
            <p:cNvPr id="3" name="Google Shape;236;p17"/>
            <p:cNvSpPr/>
            <p:nvPr/>
          </p:nvSpPr>
          <p:spPr>
            <a:xfrm>
              <a:off x="12695" y="3418"/>
              <a:ext cx="5263" cy="6288"/>
            </a:xfrm>
            <a:prstGeom prst="rect">
              <a:avLst/>
            </a:prstGeom>
            <a:solidFill>
              <a:srgbClr val="F2F2F2"/>
            </a:solidFill>
            <a:ln w="9525" cap="flat" cmpd="sng">
              <a:solidFill>
                <a:srgbClr val="D9D9D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endParaRPr lang="en-US" alt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altLang="fr-FR" sz="2000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0 à 59 mois </a:t>
              </a:r>
              <a:endParaRPr lang="en-US" alt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altLang="fr-FR" sz="2000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1 an et plus </a:t>
              </a:r>
              <a:endParaRPr lang="en-US" alt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altLang="fr-FR" sz="2000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9 mois à 60 ans </a:t>
              </a:r>
              <a:endParaRPr lang="en-US" alt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altLang="fr-FR" sz="2000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5 ans à 14 ans </a:t>
              </a:r>
              <a:endParaRPr lang="en-US" alt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r>
                <a:rPr lang="en-US" altLang="fr-FR" sz="2000" dirty="0">
                  <a:solidFill>
                    <a:schemeClr val="dk1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6 mois à 14 ans </a:t>
              </a:r>
              <a:endParaRPr lang="en-US" alt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05740" lvl="0" indent="-17145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Char char="•"/>
                <a:tabLst>
                  <a:tab pos="0" algn="l"/>
                </a:tabLst>
              </a:pPr>
              <a:endParaRPr lang="fr-FR" sz="20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34290" lvl="0" indent="0" algn="l" defTabSz="914400" rtl="0">
                <a:spcBef>
                  <a:spcPts val="1000"/>
                </a:spcBef>
                <a:spcAft>
                  <a:spcPts val="1000"/>
                </a:spcAft>
                <a:buFont typeface="Arial" panose="020B0604020202020204" pitchFamily="34" charset="0"/>
                <a:buNone/>
                <a:tabLst>
                  <a:tab pos="0" algn="l"/>
                </a:tabLst>
              </a:pPr>
              <a:endParaRPr lang="en-US" sz="12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Google Shape;235;p17"/>
            <p:cNvSpPr/>
            <p:nvPr/>
          </p:nvSpPr>
          <p:spPr>
            <a:xfrm>
              <a:off x="12695" y="3683"/>
              <a:ext cx="4896" cy="4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altLang="en-GB" sz="2400" b="1" dirty="0"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Cibles 2025</a:t>
              </a:r>
              <a:endParaRPr lang="fr-FR" altLang="en-GB" sz="24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1167523" y="471899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169;p1"/>
          <p:cNvSpPr txBox="1"/>
          <p:nvPr/>
        </p:nvSpPr>
        <p:spPr>
          <a:xfrm>
            <a:off x="4719955" y="2761615"/>
            <a:ext cx="7215505" cy="9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36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AVS </a:t>
            </a:r>
            <a:r>
              <a:rPr lang="en-GB" sz="3600" b="1" dirty="0" err="1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contre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la Polio </a:t>
            </a:r>
            <a:r>
              <a:rPr lang="fr-FR" altLang="en-GB" sz="36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en</a:t>
            </a:r>
            <a:r>
              <a:rPr lang="en-GB" sz="36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 202</a:t>
            </a:r>
            <a:r>
              <a:rPr lang="fr-FR" altLang="en-GB" sz="36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5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lang="fr-FR" sz="3600" b="1" dirty="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sz="3600" b="1" dirty="0">
              <a:solidFill>
                <a:srgbClr val="00B0F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2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4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4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10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ZoneTexte 29"/>
          <p:cNvSpPr txBox="1"/>
          <p:nvPr/>
        </p:nvSpPr>
        <p:spPr>
          <a:xfrm>
            <a:off x="408997" y="1120255"/>
            <a:ext cx="249776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23 - 25 janvier  2025, 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fr-F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VPO2</a:t>
            </a:r>
            <a:endParaRPr lang="fr-FR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province:</a:t>
            </a:r>
            <a:r>
              <a:rPr lang="fr-FR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12ZS)</a:t>
            </a:r>
            <a:endParaRPr lang="fr-FR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3362831" y="976849"/>
            <a:ext cx="2408648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– 12 Avril 2025, nVPO2_VPOb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 provinces: 118 ZS )</a:t>
            </a:r>
            <a:endParaRPr lang="fr-FR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6355542" y="984551"/>
            <a:ext cx="2680882" cy="8002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29-31 Mai 2025 , nVPO2 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 province: 5ZS)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9496386" y="965332"/>
            <a:ext cx="2533061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l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27-29 Juin 2025_nVPO2_VPOb (7 provinces: 149 ZS)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561963" y="4000839"/>
            <a:ext cx="2356864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l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28-30 Août, nVPO2_VPOb (26 provinces) </a:t>
            </a:r>
            <a:endParaRPr lang="fr-FR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1"/>
          <a:srcRect l="7584" t="3176" r="10842" b="2068"/>
          <a:stretch>
            <a:fillRect/>
          </a:stretch>
        </p:blipFill>
        <p:spPr>
          <a:xfrm>
            <a:off x="9594158" y="1715514"/>
            <a:ext cx="2247023" cy="2136702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rcRect l="5167" t="3524" r="13065" b="1365"/>
          <a:stretch>
            <a:fillRect/>
          </a:stretch>
        </p:blipFill>
        <p:spPr>
          <a:xfrm>
            <a:off x="3362830" y="1805589"/>
            <a:ext cx="2344796" cy="2046626"/>
          </a:xfrm>
          <a:prstGeom prst="rect">
            <a:avLst/>
          </a:prstGeom>
        </p:spPr>
      </p:pic>
      <p:grpSp>
        <p:nvGrpSpPr>
          <p:cNvPr id="8" name="Groupe 7"/>
          <p:cNvGrpSpPr/>
          <p:nvPr/>
        </p:nvGrpSpPr>
        <p:grpSpPr>
          <a:xfrm>
            <a:off x="530644" y="1756559"/>
            <a:ext cx="2376114" cy="1991027"/>
            <a:chOff x="150311" y="425196"/>
            <a:chExt cx="2833373" cy="2344364"/>
          </a:xfrm>
        </p:grpSpPr>
        <p:grpSp>
          <p:nvGrpSpPr>
            <p:cNvPr id="10" name="Groupe 9"/>
            <p:cNvGrpSpPr/>
            <p:nvPr/>
          </p:nvGrpSpPr>
          <p:grpSpPr>
            <a:xfrm>
              <a:off x="150311" y="425196"/>
              <a:ext cx="2833373" cy="2344364"/>
              <a:chOff x="104189" y="332857"/>
              <a:chExt cx="2879496" cy="2436703"/>
            </a:xfrm>
          </p:grpSpPr>
          <p:pic>
            <p:nvPicPr>
              <p:cNvPr id="14" name="Image 13"/>
              <p:cNvPicPr>
                <a:picLocks noChangeAspect="1"/>
              </p:cNvPicPr>
              <p:nvPr/>
            </p:nvPicPr>
            <p:blipFill>
              <a:blip r:embed="rId3"/>
              <a:srcRect l="29425" t="277" r="6599" b="1538"/>
              <a:stretch>
                <a:fillRect/>
              </a:stretch>
            </p:blipFill>
            <p:spPr>
              <a:xfrm>
                <a:off x="1273189" y="332858"/>
                <a:ext cx="1710496" cy="2436702"/>
              </a:xfrm>
              <a:prstGeom prst="rect">
                <a:avLst/>
              </a:prstGeom>
            </p:spPr>
          </p:pic>
          <p:pic>
            <p:nvPicPr>
              <p:cNvPr id="16" name="Image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189" y="332857"/>
                <a:ext cx="839244" cy="830989"/>
              </a:xfrm>
              <a:prstGeom prst="rect">
                <a:avLst/>
              </a:prstGeom>
            </p:spPr>
          </p:pic>
        </p:grpSp>
        <p:cxnSp>
          <p:nvCxnSpPr>
            <p:cNvPr id="12" name="Connecteur droit avec flèche 11"/>
            <p:cNvCxnSpPr/>
            <p:nvPr/>
          </p:nvCxnSpPr>
          <p:spPr>
            <a:xfrm>
              <a:off x="793464" y="909772"/>
              <a:ext cx="703433" cy="187890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e 28"/>
          <p:cNvGrpSpPr/>
          <p:nvPr/>
        </p:nvGrpSpPr>
        <p:grpSpPr>
          <a:xfrm>
            <a:off x="6231002" y="1861188"/>
            <a:ext cx="2805422" cy="1991027"/>
            <a:chOff x="6280831" y="1659900"/>
            <a:chExt cx="3128294" cy="2118837"/>
          </a:xfrm>
        </p:grpSpPr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5"/>
            <a:srcRect l="3139" t="8202" r="2525" b="8202"/>
            <a:stretch>
              <a:fillRect/>
            </a:stretch>
          </p:blipFill>
          <p:spPr>
            <a:xfrm>
              <a:off x="6280831" y="2349796"/>
              <a:ext cx="3128294" cy="1428941"/>
            </a:xfrm>
            <a:prstGeom prst="rect">
              <a:avLst/>
            </a:prstGeom>
          </p:spPr>
        </p:pic>
        <p:pic>
          <p:nvPicPr>
            <p:cNvPr id="21" name="Image 20"/>
            <p:cNvPicPr>
              <a:picLocks noChangeAspect="1"/>
            </p:cNvPicPr>
            <p:nvPr/>
          </p:nvPicPr>
          <p:blipFill>
            <a:blip r:embed="rId6"/>
            <a:srcRect l="6647" t="3874" r="9857" b="3578"/>
            <a:stretch>
              <a:fillRect/>
            </a:stretch>
          </p:blipFill>
          <p:spPr>
            <a:xfrm>
              <a:off x="6413912" y="1659900"/>
              <a:ext cx="838205" cy="829014"/>
            </a:xfrm>
            <a:prstGeom prst="rect">
              <a:avLst/>
            </a:prstGeom>
          </p:spPr>
        </p:pic>
        <p:cxnSp>
          <p:nvCxnSpPr>
            <p:cNvPr id="24" name="Connecteur droit avec flèche 23"/>
            <p:cNvCxnSpPr/>
            <p:nvPr/>
          </p:nvCxnSpPr>
          <p:spPr>
            <a:xfrm>
              <a:off x="6442159" y="2155428"/>
              <a:ext cx="65457" cy="1332851"/>
            </a:xfrm>
            <a:prstGeom prst="straightConnector1">
              <a:avLst/>
            </a:prstGeom>
            <a:ln w="127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ZoneTexte 40"/>
          <p:cNvSpPr txBox="1"/>
          <p:nvPr/>
        </p:nvSpPr>
        <p:spPr>
          <a:xfrm>
            <a:off x="3362830" y="4033707"/>
            <a:ext cx="286817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l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oct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 01</a:t>
            </a:r>
            <a:r>
              <a:rPr lang="fr-FR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2025, nVPO2_VPOb (3 provinces: 7 ZS) </a:t>
            </a:r>
            <a:endParaRPr lang="fr-FR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ZoneTexte 51"/>
          <p:cNvSpPr txBox="1"/>
          <p:nvPr/>
        </p:nvSpPr>
        <p:spPr>
          <a:xfrm>
            <a:off x="6662796" y="4023057"/>
            <a:ext cx="283359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l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 au 15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2025, nVPO2_VPOb (3 provinces: 11 ZS) </a:t>
            </a:r>
            <a:endParaRPr lang="fr-FR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3372521" y="4706252"/>
            <a:ext cx="2550257" cy="2008872"/>
            <a:chOff x="1177391" y="1533833"/>
            <a:chExt cx="4272171" cy="3613354"/>
          </a:xfrm>
        </p:grpSpPr>
        <p:grpSp>
          <p:nvGrpSpPr>
            <p:cNvPr id="5" name="Groupe 4"/>
            <p:cNvGrpSpPr/>
            <p:nvPr/>
          </p:nvGrpSpPr>
          <p:grpSpPr>
            <a:xfrm>
              <a:off x="2671431" y="2239050"/>
              <a:ext cx="2778131" cy="2908137"/>
              <a:chOff x="702486" y="1784555"/>
              <a:chExt cx="3139510" cy="3288890"/>
            </a:xfrm>
          </p:grpSpPr>
          <p:pic>
            <p:nvPicPr>
              <p:cNvPr id="13" name="Image 12"/>
              <p:cNvPicPr>
                <a:picLocks noChangeAspect="1"/>
              </p:cNvPicPr>
              <p:nvPr/>
            </p:nvPicPr>
            <p:blipFill>
              <a:blip r:embed="rId7"/>
              <a:srcRect l="10848" t="3172" r="12224" b="1296"/>
              <a:stretch>
                <a:fillRect/>
              </a:stretch>
            </p:blipFill>
            <p:spPr>
              <a:xfrm>
                <a:off x="702486" y="1784555"/>
                <a:ext cx="3139510" cy="328889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15" name="ZoneTexte 14"/>
              <p:cNvSpPr txBox="1"/>
              <p:nvPr/>
            </p:nvSpPr>
            <p:spPr>
              <a:xfrm>
                <a:off x="702488" y="1784555"/>
                <a:ext cx="74411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700" dirty="0">
                    <a:highlight>
                      <a:srgbClr val="00FFFF"/>
                    </a:highlight>
                    <a:latin typeface="Arial Black" panose="020B0A04020102020204" charset="0"/>
                  </a:rPr>
                  <a:t>EQUATEUR</a:t>
                </a:r>
                <a:endParaRPr lang="fr-FR" sz="700" dirty="0">
                  <a:highlight>
                    <a:srgbClr val="00FFFF"/>
                  </a:highlight>
                  <a:latin typeface="Arial Black" panose="020B0A04020102020204" charset="0"/>
                </a:endParaRPr>
              </a:p>
            </p:txBody>
          </p:sp>
        </p:grpSp>
        <p:grpSp>
          <p:nvGrpSpPr>
            <p:cNvPr id="7" name="Groupe 6"/>
            <p:cNvGrpSpPr/>
            <p:nvPr/>
          </p:nvGrpSpPr>
          <p:grpSpPr>
            <a:xfrm>
              <a:off x="1177391" y="1533833"/>
              <a:ext cx="1786087" cy="1443284"/>
              <a:chOff x="1177391" y="1533833"/>
              <a:chExt cx="1786087" cy="1443284"/>
            </a:xfrm>
          </p:grpSpPr>
          <p:pic>
            <p:nvPicPr>
              <p:cNvPr id="9" name="Image 8"/>
              <p:cNvPicPr>
                <a:picLocks noChangeAspect="1"/>
              </p:cNvPicPr>
              <p:nvPr/>
            </p:nvPicPr>
            <p:blipFill>
              <a:blip r:embed="rId8"/>
              <a:srcRect l="2964" t="2057" r="8773" b="5455"/>
              <a:stretch>
                <a:fillRect/>
              </a:stretch>
            </p:blipFill>
            <p:spPr>
              <a:xfrm>
                <a:off x="1177391" y="1533833"/>
                <a:ext cx="1053105" cy="1071159"/>
              </a:xfrm>
              <a:prstGeom prst="rect">
                <a:avLst/>
              </a:prstGeom>
            </p:spPr>
          </p:pic>
          <p:cxnSp>
            <p:nvCxnSpPr>
              <p:cNvPr id="11" name="Connecteur droit avec flèche 10"/>
              <p:cNvCxnSpPr/>
              <p:nvPr/>
            </p:nvCxnSpPr>
            <p:spPr>
              <a:xfrm>
                <a:off x="1618326" y="1917290"/>
                <a:ext cx="1345152" cy="1059827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Groupe 21"/>
          <p:cNvGrpSpPr/>
          <p:nvPr/>
        </p:nvGrpSpPr>
        <p:grpSpPr>
          <a:xfrm>
            <a:off x="6662796" y="4524060"/>
            <a:ext cx="2574942" cy="2253086"/>
            <a:chOff x="6389823" y="1687131"/>
            <a:chExt cx="4590310" cy="3460055"/>
          </a:xfrm>
        </p:grpSpPr>
        <p:pic>
          <p:nvPicPr>
            <p:cNvPr id="23" name="Image 22"/>
            <p:cNvPicPr>
              <a:picLocks noChangeAspect="1"/>
            </p:cNvPicPr>
            <p:nvPr/>
          </p:nvPicPr>
          <p:blipFill>
            <a:blip r:embed="rId9"/>
            <a:srcRect l="6427" t="1332" r="11092" b="1598"/>
            <a:stretch>
              <a:fillRect/>
            </a:stretch>
          </p:blipFill>
          <p:spPr>
            <a:xfrm>
              <a:off x="8008374" y="2291815"/>
              <a:ext cx="2971759" cy="285537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25" name="Image 24"/>
            <p:cNvPicPr>
              <a:picLocks noChangeAspect="1"/>
            </p:cNvPicPr>
            <p:nvPr/>
          </p:nvPicPr>
          <p:blipFill>
            <a:blip r:embed="rId10"/>
            <a:srcRect l="9232" t="3294" r="14855" b="4383"/>
            <a:stretch>
              <a:fillRect/>
            </a:stretch>
          </p:blipFill>
          <p:spPr>
            <a:xfrm>
              <a:off x="6389823" y="1687131"/>
              <a:ext cx="1416093" cy="1244895"/>
            </a:xfrm>
            <a:prstGeom prst="rect">
              <a:avLst/>
            </a:prstGeom>
          </p:spPr>
        </p:pic>
        <p:cxnSp>
          <p:nvCxnSpPr>
            <p:cNvPr id="26" name="Connecteur droit avec flèche 25"/>
            <p:cNvCxnSpPr/>
            <p:nvPr/>
          </p:nvCxnSpPr>
          <p:spPr>
            <a:xfrm>
              <a:off x="7433187" y="2291815"/>
              <a:ext cx="781665" cy="923333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3" name="Image 42"/>
          <p:cNvPicPr>
            <a:picLocks noChangeAspect="1"/>
          </p:cNvPicPr>
          <p:nvPr/>
        </p:nvPicPr>
        <p:blipFill>
          <a:blip r:embed="rId11"/>
          <a:srcRect l="11986" t="2159" r="11570" b="2561"/>
          <a:stretch>
            <a:fillRect/>
          </a:stretch>
        </p:blipFill>
        <p:spPr>
          <a:xfrm>
            <a:off x="665033" y="4636627"/>
            <a:ext cx="2253794" cy="2221373"/>
          </a:xfrm>
          <a:prstGeom prst="rect">
            <a:avLst/>
          </a:prstGeom>
        </p:spPr>
      </p:pic>
      <p:sp>
        <p:nvSpPr>
          <p:cNvPr id="18" name="Titre 1"/>
          <p:cNvSpPr txBox="1"/>
          <p:nvPr/>
        </p:nvSpPr>
        <p:spPr>
          <a:xfrm>
            <a:off x="157218" y="34274"/>
            <a:ext cx="11877563" cy="625531"/>
          </a:xfrm>
          <a:prstGeom prst="rect">
            <a:avLst/>
          </a:prstGeom>
          <a:solidFill>
            <a:srgbClr val="002060"/>
          </a:solidFill>
          <a:ln w="9528">
            <a:solidFill>
              <a:srgbClr val="FF0000"/>
            </a:solidFill>
            <a:prstDash val="solid"/>
          </a:ln>
        </p:spPr>
        <p:txBody>
          <a:bodyPr vert="horz" lIns="91440" tIns="45720" rIns="91440" bIns="45720" rtlCol="0" anchor="b" anchorCtr="1"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Campagnes</a:t>
            </a:r>
            <a:r>
              <a:rPr lang="en-US" alt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contre la poliomyelite</a:t>
            </a:r>
            <a:r>
              <a:rPr lang="fr-FR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planifiées et réalisées  en 2025</a:t>
            </a:r>
            <a:endParaRPr lang="fr-FR" sz="3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1233" y="4827420"/>
            <a:ext cx="2247023" cy="1996306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9594158" y="3976440"/>
            <a:ext cx="2550396" cy="52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l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au 29 </a:t>
            </a:r>
            <a:r>
              <a:rPr lang="fr-F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Nov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2025, nVPO2_VPOb (17 provinces ) </a:t>
            </a:r>
            <a:endParaRPr lang="fr-FR" sz="1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526117" y="148448"/>
            <a:ext cx="11460269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fr-FR" sz="2000" b="1" dirty="0">
                <a:solidFill>
                  <a:srgbClr val="4472C4"/>
                </a:solidFill>
                <a:latin typeface="Book Antiqua" panose="02040602050305030304" pitchFamily="18" charset="0"/>
                <a:sym typeface="+mn-ea"/>
              </a:rPr>
              <a:t>Tableau synoptique des campagnes de vaccination contre la polio conduite en 2025</a:t>
            </a:r>
            <a:endParaRPr lang="fr-FR" sz="2000" b="1" i="0" u="none" strike="noStrike" cap="none" dirty="0">
              <a:solidFill>
                <a:srgbClr val="4472C4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134460" y="181007"/>
            <a:ext cx="267322" cy="4840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" name="Google Shape;343;p30"/>
          <p:cNvGraphicFramePr/>
          <p:nvPr/>
        </p:nvGraphicFramePr>
        <p:xfrm>
          <a:off x="134460" y="729894"/>
          <a:ext cx="11923080" cy="550105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6637"/>
                <a:gridCol w="692017"/>
                <a:gridCol w="812318"/>
                <a:gridCol w="774155"/>
                <a:gridCol w="934087"/>
                <a:gridCol w="894424"/>
                <a:gridCol w="801925"/>
                <a:gridCol w="895585"/>
                <a:gridCol w="744644"/>
                <a:gridCol w="1092998"/>
                <a:gridCol w="1047273"/>
                <a:gridCol w="758963"/>
                <a:gridCol w="604027"/>
                <a:gridCol w="604027"/>
              </a:tblGrid>
              <a:tr h="541969"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Périodes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Provinces 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ZS</a:t>
                      </a:r>
                      <a:endParaRPr lang="fr-FR"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Couvertes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Type</a:t>
                      </a:r>
                      <a:endParaRPr lang="fr-FR"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vaccins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Cible attendue</a:t>
                      </a:r>
                      <a:endParaRPr lang="fr-FR"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 0-59 mois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Vaccinés </a:t>
                      </a:r>
                      <a:endParaRPr lang="fr-FR"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0-59 mois 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Vaccinés 5-14 ans </a:t>
                      </a:r>
                      <a:endParaRPr lang="fr-FR"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MI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LQAS</a:t>
                      </a: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PFA notifiés </a:t>
                      </a:r>
                      <a:endParaRPr lang="fr-FR"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635659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# nombre</a:t>
                      </a:r>
                      <a:endParaRPr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# nombre</a:t>
                      </a:r>
                      <a:endParaRPr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CV</a:t>
                      </a:r>
                      <a:endParaRPr lang="fr-FR"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# nombre</a:t>
                      </a:r>
                      <a:endParaRPr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CV</a:t>
                      </a:r>
                      <a:endParaRPr lang="fr-FR"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Proportion </a:t>
                      </a:r>
                      <a:r>
                        <a:rPr lang="fr-FR" sz="900" b="1" kern="1200" dirty="0" err="1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enfts</a:t>
                      </a: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 manqués dans les ménages</a:t>
                      </a:r>
                      <a:endParaRPr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Proportion </a:t>
                      </a:r>
                      <a:r>
                        <a:rPr lang="fr-FR" sz="900" b="1" kern="1200" dirty="0" err="1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enfts</a:t>
                      </a: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 manqués en hors ménages</a:t>
                      </a:r>
                      <a:endParaRPr lang="fr-FR"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Nb </a:t>
                      </a:r>
                      <a:r>
                        <a:rPr lang="fr-FR" sz="900" b="1" kern="1200" dirty="0" err="1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zs</a:t>
                      </a: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 rejetées</a:t>
                      </a:r>
                      <a:endParaRPr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Prop % </a:t>
                      </a:r>
                      <a:r>
                        <a:rPr lang="fr-FR" sz="900" b="1" kern="1200" dirty="0" err="1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zs</a:t>
                      </a:r>
                      <a:r>
                        <a:rPr lang="fr-FR" sz="900" b="1" kern="1200" dirty="0">
                          <a:solidFill>
                            <a:schemeClr val="bg1"/>
                          </a:solidFill>
                          <a:latin typeface="Arial Black" panose="020B0A04020102020204" charset="0"/>
                          <a:ea typeface="+mn-ea"/>
                          <a:cs typeface="+mn-cs"/>
                        </a:rPr>
                        <a:t> acceptées</a:t>
                      </a:r>
                      <a:endParaRPr lang="fr-FR" sz="900" b="1" kern="1200" dirty="0">
                        <a:solidFill>
                          <a:schemeClr val="bg1"/>
                        </a:solidFill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  <a:tc v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70C0"/>
                    </a:solidFill>
                  </a:tcPr>
                </a:tc>
              </a:tr>
              <a:tr h="4482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</a:rPr>
                        <a:t>23 - 25 janvier  2025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1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1 137 837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1 674 442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147,2%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2,9%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1,7%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1/12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92%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200" b="1" dirty="0">
                          <a:effectLst/>
                          <a:latin typeface="Arial Rounded"/>
                        </a:rPr>
                        <a:t>7</a:t>
                      </a:r>
                      <a:endParaRPr lang="fr-FR" sz="12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843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 – 12 Avril 2025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4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89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6822251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7599997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4975" marR="4975" marT="497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111,4%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2,5%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10/102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88%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fr-FR" sz="1200" b="1" dirty="0">
                          <a:solidFill>
                            <a:schemeClr val="tx1"/>
                          </a:solidFill>
                          <a:effectLst/>
                          <a:latin typeface="Arial Rounded"/>
                        </a:rPr>
                        <a:t>157</a:t>
                      </a:r>
                      <a:endParaRPr lang="fr-FR" sz="1200" b="1" dirty="0">
                        <a:solidFill>
                          <a:schemeClr val="tx1"/>
                        </a:solidFill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1069">
                <a:tc v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29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1116043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1174257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105,2%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1 756 684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102,2%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9933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29-31 Mai 2025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188 136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195 823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104,1%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0,1%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0,8%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0/5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100%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200" b="1" dirty="0">
                          <a:effectLst/>
                          <a:latin typeface="Arial Rounded"/>
                        </a:rPr>
                        <a:t>3</a:t>
                      </a:r>
                      <a:endParaRPr lang="fr-FR" sz="12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00105"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27-29 Juin 2025_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120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7768216</a:t>
                      </a:r>
                      <a:endParaRPr lang="fr-FR" sz="1200" b="1" kern="120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8922669</a:t>
                      </a:r>
                      <a:endParaRPr lang="fr-FR" sz="1200" b="1" kern="120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114,9%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1,5%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2,2%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7/116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91%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Arial Rounded"/>
                          <a:ea typeface="+mn-ea"/>
                          <a:cs typeface="+mn-cs"/>
                        </a:rPr>
                        <a:t>154</a:t>
                      </a:r>
                      <a:endParaRPr lang="fr-FR" sz="1200" b="1" kern="1200" dirty="0">
                        <a:solidFill>
                          <a:schemeClr val="tx1"/>
                        </a:solidFill>
                        <a:effectLst/>
                        <a:latin typeface="Arial Rounded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751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29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_</a:t>
                      </a: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1117525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1187002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106,2%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1742073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101,4%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6751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28-30 Août 2025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kern="120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fr-FR" sz="1200" b="1" kern="120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519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26884292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30219546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112,4%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0,9%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0,3%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21/329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94%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Arial Rounded"/>
                          <a:ea typeface="+mn-ea"/>
                          <a:cs typeface="+mn-cs"/>
                        </a:rPr>
                        <a:t>453</a:t>
                      </a:r>
                      <a:endParaRPr sz="1200" b="1" kern="1200" dirty="0">
                        <a:solidFill>
                          <a:schemeClr val="tx1"/>
                        </a:solidFill>
                        <a:effectLst/>
                        <a:latin typeface="Arial Rounded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50339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889993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929328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104,4%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538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30 </a:t>
                      </a: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Oct</a:t>
                      </a: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au 01 </a:t>
                      </a: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2025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287438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286494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99,7%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0,5%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0,0%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0/7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100%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Arial Rounded"/>
                          <a:ea typeface="+mn-ea"/>
                          <a:cs typeface="+mn-cs"/>
                        </a:rPr>
                        <a:t>2</a:t>
                      </a:r>
                      <a:endParaRPr sz="1200" b="1" kern="1200" dirty="0">
                        <a:solidFill>
                          <a:schemeClr val="tx1"/>
                        </a:solidFill>
                        <a:effectLst/>
                        <a:latin typeface="Arial Rounded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5386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287438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286494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99,7%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379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13-15 </a:t>
                      </a: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2025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630675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631662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100,2%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1,3%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2,6%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0/11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100%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Arial Rounded"/>
                          <a:ea typeface="+mn-ea"/>
                          <a:cs typeface="+mn-cs"/>
                        </a:rPr>
                        <a:t>10</a:t>
                      </a:r>
                      <a:endParaRPr sz="1200" b="1" kern="1200" dirty="0">
                        <a:solidFill>
                          <a:schemeClr val="tx1"/>
                        </a:solidFill>
                        <a:effectLst/>
                        <a:latin typeface="Arial Rounded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3797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630675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631662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100,2%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7379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27 - 29  </a:t>
                      </a: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2025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323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nVPO2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i="0" u="none" strike="noStrike" kern="1200" cap="none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16689315</a:t>
                      </a:r>
                      <a:endParaRPr lang="fr-FR" sz="1200" b="1" i="0" u="none" strike="noStrike" kern="1200" cap="none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i="0" u="none" strike="noStrike" kern="1200" cap="none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16537365</a:t>
                      </a:r>
                      <a:endParaRPr lang="fr-FR" sz="1200" b="1" i="0" u="none" strike="noStrike" kern="1200" cap="none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99,1%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7,1%</a:t>
                      </a:r>
                      <a:endParaRPr lang="fr-FR"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2,4%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13/268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highlight>
                            <a:srgbClr val="00FF00"/>
                          </a:highlight>
                          <a:latin typeface="Aptos Narrow" panose="020B0004020202020204" pitchFamily="34" charset="0"/>
                        </a:rPr>
                        <a:t>95%</a:t>
                      </a:r>
                      <a:endParaRPr sz="1200" b="1" dirty="0">
                        <a:highlight>
                          <a:srgbClr val="00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effectLst/>
                          <a:latin typeface="Arial Rounded"/>
                          <a:ea typeface="+mn-ea"/>
                          <a:cs typeface="+mn-cs"/>
                        </a:rPr>
                        <a:t>334</a:t>
                      </a:r>
                      <a:endParaRPr sz="1200" b="1" kern="1200" dirty="0">
                        <a:solidFill>
                          <a:schemeClr val="tx1"/>
                        </a:solidFill>
                        <a:effectLst/>
                        <a:latin typeface="Arial Rounded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73797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323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VPOb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i="0" u="none" strike="noStrike" kern="1200" cap="none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16689315</a:t>
                      </a:r>
                      <a:endParaRPr lang="fr-FR" sz="1200" b="1" i="0" u="none" strike="noStrike" kern="1200" cap="none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i="0" u="none" strike="noStrike" kern="1200" cap="none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16512975</a:t>
                      </a:r>
                      <a:endParaRPr lang="fr-FR" sz="1200" b="1" i="0" u="none" strike="noStrike" kern="1200" cap="none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noProof="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98,9%</a:t>
                      </a:r>
                      <a:endParaRPr lang="fr-FR" sz="1200" b="1" kern="1200" noProof="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1"/>
          <a:srcRect l="7436" t="7657" r="8174" b="3748"/>
          <a:stretch>
            <a:fillRect/>
          </a:stretch>
        </p:blipFill>
        <p:spPr>
          <a:xfrm>
            <a:off x="3154262" y="1565717"/>
            <a:ext cx="1970653" cy="197065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rcRect l="813" t="8756" r="4651" b="3788"/>
          <a:stretch>
            <a:fillRect/>
          </a:stretch>
        </p:blipFill>
        <p:spPr>
          <a:xfrm>
            <a:off x="9719553" y="1660506"/>
            <a:ext cx="2099632" cy="2047279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rcRect l="5289" t="11975" r="16054" b="20428"/>
          <a:stretch>
            <a:fillRect/>
          </a:stretch>
        </p:blipFill>
        <p:spPr>
          <a:xfrm>
            <a:off x="-30134" y="5992486"/>
            <a:ext cx="2099632" cy="898664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/>
          <a:srcRect l="7532" t="3703" r="7532" b="9243"/>
          <a:stretch>
            <a:fillRect/>
          </a:stretch>
        </p:blipFill>
        <p:spPr>
          <a:xfrm>
            <a:off x="864081" y="4319019"/>
            <a:ext cx="2099632" cy="2044602"/>
          </a:xfrm>
          <a:prstGeom prst="rect">
            <a:avLst/>
          </a:prstGeom>
        </p:spPr>
      </p:pic>
      <p:grpSp>
        <p:nvGrpSpPr>
          <p:cNvPr id="27" name="Groupe 26"/>
          <p:cNvGrpSpPr/>
          <p:nvPr/>
        </p:nvGrpSpPr>
        <p:grpSpPr>
          <a:xfrm>
            <a:off x="143207" y="1236087"/>
            <a:ext cx="2404602" cy="2300283"/>
            <a:chOff x="306394" y="990767"/>
            <a:chExt cx="2572561" cy="2357557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5"/>
            <a:srcRect l="7843" t="2205" r="4211" b="2624"/>
            <a:stretch>
              <a:fillRect/>
            </a:stretch>
          </p:blipFill>
          <p:spPr>
            <a:xfrm>
              <a:off x="306394" y="990767"/>
              <a:ext cx="650929" cy="639674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6"/>
            <a:srcRect l="20425" t="7121" r="25136" b="4238"/>
            <a:stretch>
              <a:fillRect/>
            </a:stretch>
          </p:blipFill>
          <p:spPr>
            <a:xfrm>
              <a:off x="1236134" y="990767"/>
              <a:ext cx="1642821" cy="2357557"/>
            </a:xfrm>
            <a:prstGeom prst="rect">
              <a:avLst/>
            </a:prstGeom>
          </p:spPr>
        </p:pic>
        <p:cxnSp>
          <p:nvCxnSpPr>
            <p:cNvPr id="22" name="Connecteur droit avec flèche 21"/>
            <p:cNvCxnSpPr/>
            <p:nvPr/>
          </p:nvCxnSpPr>
          <p:spPr>
            <a:xfrm>
              <a:off x="813232" y="1553841"/>
              <a:ext cx="827005" cy="92104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e 27"/>
          <p:cNvGrpSpPr/>
          <p:nvPr/>
        </p:nvGrpSpPr>
        <p:grpSpPr>
          <a:xfrm>
            <a:off x="6150483" y="1309222"/>
            <a:ext cx="2912211" cy="2194731"/>
            <a:chOff x="8284374" y="941027"/>
            <a:chExt cx="3601232" cy="2247256"/>
          </a:xfrm>
        </p:grpSpPr>
        <p:pic>
          <p:nvPicPr>
            <p:cNvPr id="13" name="Image 12"/>
            <p:cNvPicPr>
              <a:picLocks noChangeAspect="1"/>
            </p:cNvPicPr>
            <p:nvPr/>
          </p:nvPicPr>
          <p:blipFill>
            <a:blip r:embed="rId7"/>
            <a:srcRect l="6389" t="4039" r="7127" b="2983"/>
            <a:stretch>
              <a:fillRect/>
            </a:stretch>
          </p:blipFill>
          <p:spPr>
            <a:xfrm>
              <a:off x="8284374" y="941027"/>
              <a:ext cx="704643" cy="612814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8"/>
            <a:srcRect l="6353" t="9015" r="6050" b="19440"/>
            <a:stretch>
              <a:fillRect/>
            </a:stretch>
          </p:blipFill>
          <p:spPr>
            <a:xfrm>
              <a:off x="8284374" y="1555600"/>
              <a:ext cx="3601232" cy="1632683"/>
            </a:xfrm>
            <a:prstGeom prst="rect">
              <a:avLst/>
            </a:prstGeom>
          </p:spPr>
        </p:pic>
        <p:cxnSp>
          <p:nvCxnSpPr>
            <p:cNvPr id="23" name="Connecteur droit avec flèche 22"/>
            <p:cNvCxnSpPr/>
            <p:nvPr/>
          </p:nvCxnSpPr>
          <p:spPr>
            <a:xfrm>
              <a:off x="8361865" y="1310604"/>
              <a:ext cx="176696" cy="179572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ZoneTexte 29"/>
          <p:cNvSpPr txBox="1"/>
          <p:nvPr/>
        </p:nvSpPr>
        <p:spPr>
          <a:xfrm>
            <a:off x="149816" y="749215"/>
            <a:ext cx="30898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solidFill>
                  <a:srgbClr val="000000"/>
                </a:solidFill>
              </a:rPr>
              <a:t>23 - 25 janvier  2025, </a:t>
            </a:r>
            <a:r>
              <a:rPr lang="fr-FR" sz="1400" dirty="0"/>
              <a:t>n</a:t>
            </a:r>
            <a:r>
              <a:rPr lang="fr-FR" sz="1400" dirty="0">
                <a:solidFill>
                  <a:schemeClr val="tx1"/>
                </a:solidFill>
              </a:rPr>
              <a:t>VPO2 </a:t>
            </a:r>
            <a:endParaRPr lang="fr-FR" sz="1400" dirty="0">
              <a:solidFill>
                <a:schemeClr val="tx1"/>
              </a:solidFill>
            </a:endParaRPr>
          </a:p>
          <a:p>
            <a:pPr algn="ctr"/>
            <a:r>
              <a:rPr lang="fr-FR" sz="1400" dirty="0">
                <a:solidFill>
                  <a:schemeClr val="tx1"/>
                </a:solidFill>
              </a:rPr>
              <a:t>(12ZS) </a:t>
            </a:r>
            <a:r>
              <a:rPr lang="fr-FR" sz="1600" b="1" dirty="0">
                <a:solidFill>
                  <a:srgbClr val="00B050"/>
                </a:solidFill>
                <a:latin typeface="Aptos Narrow" panose="020B0004020202020204" pitchFamily="34" charset="0"/>
              </a:rPr>
              <a:t>92%</a:t>
            </a:r>
            <a:endParaRPr lang="fr-FR" b="1" dirty="0">
              <a:solidFill>
                <a:srgbClr val="00B050"/>
              </a:solidFill>
              <a:latin typeface="Aptos Narrow" panose="020B0004020202020204" pitchFamily="34" charset="0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fr-FR" sz="1400" dirty="0"/>
          </a:p>
        </p:txBody>
      </p:sp>
      <p:sp>
        <p:nvSpPr>
          <p:cNvPr id="32" name="ZoneTexte 31"/>
          <p:cNvSpPr txBox="1"/>
          <p:nvPr/>
        </p:nvSpPr>
        <p:spPr>
          <a:xfrm>
            <a:off x="3090160" y="762619"/>
            <a:ext cx="23476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ctr"/>
            <a:r>
              <a:rPr lang="fr-FR" dirty="0"/>
              <a:t>10 – 12 Avril 2025, nVPO2_VPOb </a:t>
            </a:r>
            <a:r>
              <a:rPr lang="fr-FR" dirty="0">
                <a:solidFill>
                  <a:schemeClr val="tx1"/>
                </a:solidFill>
              </a:rPr>
              <a:t>(105 ZS )</a:t>
            </a:r>
            <a:r>
              <a:rPr lang="fr-FR" b="1" dirty="0">
                <a:latin typeface="Aptos Narrow" panose="020B0004020202020204" pitchFamily="34" charset="0"/>
              </a:rPr>
              <a:t> </a:t>
            </a:r>
            <a:r>
              <a:rPr lang="fr-FR" sz="1600" b="1" dirty="0">
                <a:solidFill>
                  <a:srgbClr val="00B050"/>
                </a:solidFill>
                <a:latin typeface="Aptos Narrow" panose="020B0004020202020204" pitchFamily="34" charset="0"/>
              </a:rPr>
              <a:t>88%</a:t>
            </a:r>
            <a:endParaRPr lang="fr-FR" sz="18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5709410" y="832755"/>
            <a:ext cx="33532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pPr algn="ctr"/>
            <a:r>
              <a:rPr lang="fr-FR" dirty="0"/>
              <a:t>29-31 Mai 2025 , nVPO2 </a:t>
            </a:r>
            <a:endParaRPr lang="fr-FR" dirty="0"/>
          </a:p>
          <a:p>
            <a:pPr algn="ctr"/>
            <a:r>
              <a:rPr lang="fr-FR" dirty="0"/>
              <a:t>(5ZS) </a:t>
            </a:r>
            <a:r>
              <a:rPr lang="fr-FR" b="1" dirty="0">
                <a:solidFill>
                  <a:srgbClr val="00B050"/>
                </a:solidFill>
                <a:latin typeface="Aptos Narrow" panose="020B0004020202020204" pitchFamily="34" charset="0"/>
              </a:rPr>
              <a:t>100%</a:t>
            </a:r>
            <a:endParaRPr lang="fr-FR" sz="18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9542496" y="832755"/>
            <a:ext cx="2545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dirty="0"/>
              <a:t>27-29 Juin 2025_nVPO2_VPOb</a:t>
            </a:r>
            <a:endParaRPr lang="fr-FR" dirty="0"/>
          </a:p>
          <a:p>
            <a:r>
              <a:rPr lang="fr-FR" dirty="0"/>
              <a:t> (118 ZS</a:t>
            </a:r>
            <a:r>
              <a:rPr lang="fr-FR" sz="1200" dirty="0"/>
              <a:t>) </a:t>
            </a:r>
            <a:r>
              <a:rPr lang="fr-FR" b="1" dirty="0">
                <a:solidFill>
                  <a:srgbClr val="00B050"/>
                </a:solidFill>
                <a:latin typeface="Aptos Narrow" panose="020B0004020202020204" pitchFamily="34" charset="0"/>
              </a:rPr>
              <a:t>91%</a:t>
            </a:r>
            <a:endParaRPr lang="fr-FR" sz="12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691359" y="3703502"/>
            <a:ext cx="24450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dirty="0"/>
              <a:t>28-30 Août 2025, nVPO2_VPOb (389 ZS) </a:t>
            </a:r>
            <a:r>
              <a:rPr lang="fr-FR" b="1" dirty="0">
                <a:solidFill>
                  <a:srgbClr val="00B050"/>
                </a:solidFill>
                <a:latin typeface="Aptos Narrow" panose="020B0004020202020204" pitchFamily="34" charset="0"/>
              </a:rPr>
              <a:t>94%</a:t>
            </a:r>
            <a:r>
              <a:rPr lang="fr-FR" sz="1800" b="1" dirty="0">
                <a:solidFill>
                  <a:srgbClr val="00B050"/>
                </a:solidFill>
                <a:latin typeface="Aptos Narrow" panose="020B0004020202020204" pitchFamily="34" charset="0"/>
              </a:rPr>
              <a:t> </a:t>
            </a:r>
            <a:endParaRPr lang="fr-FR" sz="18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3469412" y="4366554"/>
            <a:ext cx="2243928" cy="2095726"/>
            <a:chOff x="6694988" y="4460801"/>
            <a:chExt cx="2524697" cy="2092257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9"/>
            <a:srcRect l="11044" t="2253" r="9805" b="7351"/>
            <a:stretch>
              <a:fillRect/>
            </a:stretch>
          </p:blipFill>
          <p:spPr>
            <a:xfrm>
              <a:off x="7302569" y="4460801"/>
              <a:ext cx="1917116" cy="2092257"/>
            </a:xfrm>
            <a:prstGeom prst="rect">
              <a:avLst/>
            </a:prstGeom>
          </p:spPr>
        </p:pic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10"/>
            <a:srcRect l="8902" t="8284" r="15208" b="11290"/>
            <a:stretch>
              <a:fillRect/>
            </a:stretch>
          </p:blipFill>
          <p:spPr>
            <a:xfrm>
              <a:off x="6694988" y="4508575"/>
              <a:ext cx="733975" cy="583807"/>
            </a:xfrm>
            <a:prstGeom prst="rect">
              <a:avLst/>
            </a:prstGeom>
          </p:spPr>
        </p:pic>
        <p:cxnSp>
          <p:nvCxnSpPr>
            <p:cNvPr id="10" name="Connecteur droit avec flèche 9"/>
            <p:cNvCxnSpPr/>
            <p:nvPr/>
          </p:nvCxnSpPr>
          <p:spPr>
            <a:xfrm>
              <a:off x="6997240" y="4682424"/>
              <a:ext cx="1006900" cy="97217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ZoneTexte 15"/>
          <p:cNvSpPr txBox="1"/>
          <p:nvPr/>
        </p:nvSpPr>
        <p:spPr>
          <a:xfrm>
            <a:off x="3469412" y="3683001"/>
            <a:ext cx="25456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dirty="0"/>
              <a:t>30 </a:t>
            </a:r>
            <a:r>
              <a:rPr lang="fr-FR" dirty="0" err="1"/>
              <a:t>Oct</a:t>
            </a:r>
            <a:r>
              <a:rPr lang="fr-FR" dirty="0"/>
              <a:t> au 01 </a:t>
            </a:r>
            <a:r>
              <a:rPr lang="fr-FR" dirty="0" err="1"/>
              <a:t>Nov</a:t>
            </a:r>
            <a:r>
              <a:rPr lang="fr-FR" dirty="0"/>
              <a:t> 2025, nVPO2_VPOb (7ZS) </a:t>
            </a:r>
            <a:r>
              <a:rPr lang="fr-FR" b="1" dirty="0">
                <a:solidFill>
                  <a:srgbClr val="00B050"/>
                </a:solidFill>
                <a:latin typeface="Aptos Narrow" panose="020B0004020202020204" pitchFamily="34" charset="0"/>
              </a:rPr>
              <a:t>100%</a:t>
            </a:r>
            <a:r>
              <a:rPr lang="fr-FR" sz="1800" b="1" dirty="0">
                <a:solidFill>
                  <a:srgbClr val="00B050"/>
                </a:solidFill>
                <a:latin typeface="Aptos Narrow" panose="020B0004020202020204" pitchFamily="34" charset="0"/>
              </a:rPr>
              <a:t> </a:t>
            </a:r>
            <a:endParaRPr lang="fr-FR" sz="18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6279252" y="3636599"/>
            <a:ext cx="23826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dirty="0"/>
              <a:t>13 -15 </a:t>
            </a:r>
            <a:r>
              <a:rPr lang="fr-FR" dirty="0" err="1"/>
              <a:t>Nov</a:t>
            </a:r>
            <a:r>
              <a:rPr lang="fr-FR" dirty="0"/>
              <a:t> 2025, nVPO2_VPOb (11ZS) </a:t>
            </a:r>
            <a:r>
              <a:rPr lang="fr-FR" b="1" dirty="0">
                <a:solidFill>
                  <a:srgbClr val="00B050"/>
                </a:solidFill>
                <a:latin typeface="Aptos Narrow" panose="020B0004020202020204" pitchFamily="34" charset="0"/>
              </a:rPr>
              <a:t>100%</a:t>
            </a:r>
            <a:r>
              <a:rPr lang="fr-FR" sz="1800" b="1" dirty="0">
                <a:solidFill>
                  <a:srgbClr val="00B050"/>
                </a:solidFill>
                <a:latin typeface="Aptos Narrow" panose="020B0004020202020204" pitchFamily="34" charset="0"/>
              </a:rPr>
              <a:t> </a:t>
            </a:r>
            <a:endParaRPr lang="fr-FR" sz="18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  <p:grpSp>
        <p:nvGrpSpPr>
          <p:cNvPr id="29" name="Groupe 28"/>
          <p:cNvGrpSpPr/>
          <p:nvPr/>
        </p:nvGrpSpPr>
        <p:grpSpPr>
          <a:xfrm>
            <a:off x="6150483" y="4319019"/>
            <a:ext cx="2511422" cy="2305835"/>
            <a:chOff x="6150483" y="4214393"/>
            <a:chExt cx="2511422" cy="2305835"/>
          </a:xfrm>
        </p:grpSpPr>
        <p:grpSp>
          <p:nvGrpSpPr>
            <p:cNvPr id="26" name="Groupe 25"/>
            <p:cNvGrpSpPr/>
            <p:nvPr/>
          </p:nvGrpSpPr>
          <p:grpSpPr>
            <a:xfrm>
              <a:off x="6150483" y="4214393"/>
              <a:ext cx="2511422" cy="2305835"/>
              <a:chOff x="6136317" y="4214393"/>
              <a:chExt cx="2511422" cy="2305835"/>
            </a:xfrm>
          </p:grpSpPr>
          <p:pic>
            <p:nvPicPr>
              <p:cNvPr id="6" name="Image 5"/>
              <p:cNvPicPr>
                <a:picLocks noChangeAspect="1"/>
              </p:cNvPicPr>
              <p:nvPr/>
            </p:nvPicPr>
            <p:blipFill>
              <a:blip r:embed="rId11"/>
              <a:srcRect l="15355" t="12476" r="21521" b="18795"/>
              <a:stretch>
                <a:fillRect/>
              </a:stretch>
            </p:blipFill>
            <p:spPr>
              <a:xfrm>
                <a:off x="6136317" y="4355904"/>
                <a:ext cx="702350" cy="643278"/>
              </a:xfrm>
              <a:prstGeom prst="rect">
                <a:avLst/>
              </a:prstGeom>
            </p:spPr>
          </p:pic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12"/>
              <a:srcRect l="17887" t="1440" r="12107" b="1440"/>
              <a:stretch>
                <a:fillRect/>
              </a:stretch>
            </p:blipFill>
            <p:spPr>
              <a:xfrm>
                <a:off x="6866399" y="4214393"/>
                <a:ext cx="1781340" cy="2305835"/>
              </a:xfrm>
              <a:prstGeom prst="rect">
                <a:avLst/>
              </a:prstGeom>
            </p:spPr>
          </p:pic>
        </p:grpSp>
        <p:cxnSp>
          <p:nvCxnSpPr>
            <p:cNvPr id="24" name="Connecteur droit avec flèche 23"/>
            <p:cNvCxnSpPr/>
            <p:nvPr/>
          </p:nvCxnSpPr>
          <p:spPr>
            <a:xfrm>
              <a:off x="6761563" y="4706794"/>
              <a:ext cx="740729" cy="97480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Google Shape;1291;g2f1c646a89f_0_0"/>
          <p:cNvSpPr txBox="1"/>
          <p:nvPr/>
        </p:nvSpPr>
        <p:spPr>
          <a:xfrm>
            <a:off x="576399" y="39654"/>
            <a:ext cx="11511727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fr-FR" sz="2400" b="1" dirty="0">
                <a:solidFill>
                  <a:srgbClr val="4472C4"/>
                </a:solidFill>
                <a:latin typeface="Book Antiqua" panose="02040602050305030304" pitchFamily="18" charset="0"/>
                <a:sym typeface="+mn-ea"/>
              </a:rPr>
              <a:t>Résultats LQAS par province et par campagnes de vaccination contre la polio conduite en 2025</a:t>
            </a:r>
            <a:endParaRPr lang="fr-FR" sz="2400" b="1" i="0" u="none" strike="noStrike" cap="none" dirty="0">
              <a:solidFill>
                <a:srgbClr val="4472C4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8" name="Google Shape;1292;g2f1c646a89f_0_0"/>
          <p:cNvSpPr/>
          <p:nvPr/>
        </p:nvSpPr>
        <p:spPr>
          <a:xfrm>
            <a:off x="103874" y="39654"/>
            <a:ext cx="256344" cy="81433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" name="Image 19" descr="Une image contenant carte, texte, atlas&#10;&#10;Le contenu généré par l’IA peut être incorrect."/>
          <p:cNvPicPr>
            <a:picLocks noChangeAspect="1"/>
          </p:cNvPicPr>
          <p:nvPr/>
        </p:nvPicPr>
        <p:blipFill>
          <a:blip r:embed="rId13"/>
          <a:srcRect l="10608" t="2051" r="2490" b="1652"/>
          <a:stretch>
            <a:fillRect/>
          </a:stretch>
        </p:blipFill>
        <p:spPr>
          <a:xfrm>
            <a:off x="9542496" y="4458085"/>
            <a:ext cx="2251213" cy="2208500"/>
          </a:xfrm>
          <a:prstGeom prst="rect">
            <a:avLst/>
          </a:prstGeom>
        </p:spPr>
      </p:pic>
      <p:sp>
        <p:nvSpPr>
          <p:cNvPr id="25" name="ZoneTexte 24"/>
          <p:cNvSpPr txBox="1"/>
          <p:nvPr/>
        </p:nvSpPr>
        <p:spPr>
          <a:xfrm>
            <a:off x="9440287" y="3703502"/>
            <a:ext cx="26581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lang="fr-FR" dirty="0"/>
              <a:t>27 -29 </a:t>
            </a:r>
            <a:r>
              <a:rPr lang="fr-FR" dirty="0" err="1"/>
              <a:t>Nov</a:t>
            </a:r>
            <a:r>
              <a:rPr lang="fr-FR" dirty="0"/>
              <a:t> 2025, nVPO2_VPOb (323ZS) </a:t>
            </a:r>
            <a:r>
              <a:rPr lang="fr-FR" b="1" dirty="0">
                <a:solidFill>
                  <a:srgbClr val="00B050"/>
                </a:solidFill>
                <a:latin typeface="Aptos Narrow" panose="020B0004020202020204" pitchFamily="34" charset="0"/>
              </a:rPr>
              <a:t>100%</a:t>
            </a:r>
            <a:r>
              <a:rPr lang="fr-FR" sz="1800" b="1" dirty="0">
                <a:solidFill>
                  <a:srgbClr val="00B050"/>
                </a:solidFill>
                <a:latin typeface="Aptos Narrow" panose="020B0004020202020204" pitchFamily="34" charset="0"/>
              </a:rPr>
              <a:t> </a:t>
            </a:r>
            <a:endParaRPr lang="fr-FR" sz="1800" b="1" dirty="0">
              <a:solidFill>
                <a:srgbClr val="00B050"/>
              </a:solidFill>
              <a:latin typeface="Aptos Narrow" panose="020B00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458599" y="105113"/>
            <a:ext cx="11608713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fr-FR" sz="2400" b="1" dirty="0">
                <a:solidFill>
                  <a:srgbClr val="4472C4"/>
                </a:solidFill>
                <a:latin typeface="Book Antiqua" panose="02040602050305030304" pitchFamily="18" charset="0"/>
                <a:sym typeface="+mn-ea"/>
              </a:rPr>
              <a:t>Récupération des enfants de 0 à 59 mois en routine pendant les AVS polio en 2025</a:t>
            </a:r>
            <a:endParaRPr lang="fr-FR" sz="2400" b="1" i="0" u="none" strike="noStrike" cap="none" dirty="0">
              <a:solidFill>
                <a:srgbClr val="4472C4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198518" y="93772"/>
            <a:ext cx="186981" cy="47426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" name="Google Shape;343;p30"/>
          <p:cNvGraphicFramePr/>
          <p:nvPr/>
        </p:nvGraphicFramePr>
        <p:xfrm>
          <a:off x="198518" y="659369"/>
          <a:ext cx="11868792" cy="5945943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22967"/>
                <a:gridCol w="819477"/>
                <a:gridCol w="857148"/>
                <a:gridCol w="1299889"/>
                <a:gridCol w="930580"/>
                <a:gridCol w="712706"/>
                <a:gridCol w="712706"/>
                <a:gridCol w="712706"/>
                <a:gridCol w="712706"/>
                <a:gridCol w="712706"/>
                <a:gridCol w="601718"/>
                <a:gridCol w="679807"/>
                <a:gridCol w="709364"/>
                <a:gridCol w="665030"/>
                <a:gridCol w="719282"/>
              </a:tblGrid>
              <a:tr h="367686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</a:rPr>
                        <a:t>Période </a:t>
                      </a:r>
                      <a:endParaRPr sz="14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Nb provinces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Nb ZS couvertes 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Tranche 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d’âges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600" b="1" dirty="0">
                          <a:latin typeface="Arial Black" panose="020B0A04020102020204" charset="0"/>
                        </a:rPr>
                        <a:t>Récupération en routine </a:t>
                      </a:r>
                      <a:endParaRPr lang="fr-FR" sz="1600" b="1" dirty="0">
                        <a:latin typeface="Arial Black" panose="020B0A0402010202020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74812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BCG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VPI 1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DTC-</a:t>
                      </a:r>
                      <a:r>
                        <a:rPr lang="fr-FR" sz="1100" b="1" dirty="0" err="1">
                          <a:effectLst/>
                          <a:latin typeface="Arial Rounded"/>
                        </a:rPr>
                        <a:t>HepB</a:t>
                      </a:r>
                      <a:r>
                        <a:rPr lang="fr-FR" sz="1100" b="1" dirty="0">
                          <a:effectLst/>
                          <a:latin typeface="Arial Rounded"/>
                        </a:rPr>
                        <a:t>-Hib 1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DTC-</a:t>
                      </a:r>
                      <a:r>
                        <a:rPr lang="fr-FR" sz="1100" b="1" dirty="0" err="1">
                          <a:effectLst/>
                          <a:latin typeface="Arial Rounded"/>
                        </a:rPr>
                        <a:t>HepB</a:t>
                      </a:r>
                      <a:r>
                        <a:rPr lang="fr-FR" sz="1100" b="1" dirty="0">
                          <a:effectLst/>
                          <a:latin typeface="Arial Rounded"/>
                        </a:rPr>
                        <a:t>-Hib 3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PCV13-3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1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Rounded"/>
                          <a:ea typeface="+mn-ea"/>
                          <a:cs typeface="+mn-cs"/>
                          <a:sym typeface="Arial" panose="020B0604020202020204"/>
                        </a:rPr>
                        <a:t>ROTA3</a:t>
                      </a:r>
                      <a:endParaRPr kumimoji="0" lang="fr-FR" sz="11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 Rounded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VAR1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VAR2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VAA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VPI2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100" b="1" dirty="0">
                          <a:effectLst/>
                          <a:latin typeface="Arial Rounded"/>
                        </a:rPr>
                        <a:t>Td-FE récupérées </a:t>
                      </a:r>
                      <a:endParaRPr lang="fr-FR" sz="1100" b="1" dirty="0">
                        <a:effectLst/>
                        <a:latin typeface="Arial Rounded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372991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</a:rPr>
                        <a:t>23 - 25 janvier  2025, </a:t>
                      </a:r>
                      <a:r>
                        <a:rPr lang="fr-FR" sz="105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nVPO2</a:t>
                      </a:r>
                      <a:endParaRPr sz="105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1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12</a:t>
                      </a:r>
                      <a:endParaRPr sz="1200" b="1" kern="1200" dirty="0">
                        <a:solidFill>
                          <a:schemeClr val="tx1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2018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2055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2021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2214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2205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1008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1927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1473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967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77141">
                <a:tc v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 marL="71725" marR="71725" marT="35875" marB="35875" anchor="ctr"/>
                </a:tc>
                <a:tc vMerge="1">
                  <a:tcPr marL="71725" marR="71725" marT="35875" marB="3587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372991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</a:rPr>
                        <a:t>10 – 12 Avril 2025,</a:t>
                      </a:r>
                      <a:r>
                        <a:rPr lang="fr-FR" sz="105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 nVPO2_VPOb</a:t>
                      </a:r>
                      <a:endParaRPr sz="105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6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118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22341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19083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21060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20033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20033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20081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20564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11518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19434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17925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17812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67624">
                <a:tc vMerge="1"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377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377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1169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375807">
                <a:tc row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</a:rPr>
                        <a:t>29-31 Mai 2025 , </a:t>
                      </a:r>
                      <a:r>
                        <a:rPr lang="fr-FR" sz="1050" b="1" dirty="0">
                          <a:solidFill>
                            <a:schemeClr val="tx1"/>
                          </a:solidFill>
                          <a:latin typeface="Aptos Narrow" panose="020B0004020202020204" pitchFamily="34" charset="0"/>
                        </a:rPr>
                        <a:t>nVPO2</a:t>
                      </a:r>
                      <a:endParaRPr sz="105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1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dirty="0">
                          <a:latin typeface="Aptos Narrow" panose="020B0004020202020204" pitchFamily="34" charset="0"/>
                        </a:rPr>
                        <a:t>5</a:t>
                      </a:r>
                      <a:endParaRPr sz="1200" b="1" dirty="0">
                        <a:latin typeface="Aptos Narrow" panose="020B0004020202020204" pitchFamily="34" charset="0"/>
                      </a:endParaRPr>
                    </a:p>
                  </a:txBody>
                  <a:tcPr marL="71725" marR="71725" marT="35875" marB="3587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529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425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435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435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435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398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461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384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9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316942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fr-FR" sz="10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fr-FR" sz="10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fr-FR" sz="1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ptos Narrow" panose="020B0004020202020204" pitchFamily="34" charset="0"/>
                          <a:ea typeface="+mn-ea"/>
                          <a:cs typeface="+mn-cs"/>
                          <a:sym typeface="Arial" panose="020B0604020202020204"/>
                        </a:rPr>
                        <a:t>0</a:t>
                      </a:r>
                      <a:endParaRPr kumimoji="0" lang="fr-FR" sz="1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ptos Narrow" panose="020B0004020202020204" pitchFamily="34" charset="0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316942">
                <a:tc rowSpan="2">
                  <a:txBody>
                    <a:bodyPr/>
                    <a:lstStyle/>
                    <a:p>
                      <a:pPr marL="0" marR="0" lvl="0" indent="0" algn="l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27-29 Juin 2025_nVPO2_VPOb</a:t>
                      </a:r>
                      <a:endParaRPr sz="105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149</a:t>
                      </a:r>
                      <a:endParaRPr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24398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22427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24613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23873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23873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23578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23908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16382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23405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20992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16445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83011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439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437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434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23520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28-30 Août, nVPO2_VPOb</a:t>
                      </a:r>
                      <a:endParaRPr lang="fr-FR" sz="105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26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519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69079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53182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56147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55382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55382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56181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51939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30479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53653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49863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39767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35202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4667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2596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3688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3688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3631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2376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7550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1860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2039</a:t>
                      </a:r>
                      <a:endParaRPr lang="fr-FR" sz="1000" b="1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23520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30 </a:t>
                      </a:r>
                      <a:r>
                        <a:rPr lang="fr-FR" sz="105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Oct</a:t>
                      </a: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au 01 </a:t>
                      </a:r>
                      <a:r>
                        <a:rPr lang="fr-FR" sz="105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2025</a:t>
                      </a:r>
                      <a:endParaRPr lang="fr-FR" sz="105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7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758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508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583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519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519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531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491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242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519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357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560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35202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13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0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10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25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23520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13 - 15  </a:t>
                      </a:r>
                      <a:r>
                        <a:rPr lang="fr-FR" sz="105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2025</a:t>
                      </a:r>
                      <a:endParaRPr lang="fr-FR" sz="105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11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1339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1366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1552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1426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1426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1426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1137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469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1191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1120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1138</a:t>
                      </a:r>
                      <a:endParaRPr lang="fr-FR" sz="1100" b="1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35202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8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</a:tr>
              <a:tr h="235202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27 - 29  </a:t>
                      </a:r>
                      <a:r>
                        <a:rPr lang="fr-FR" sz="1050" b="1" kern="1200" dirty="0" err="1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Nov</a:t>
                      </a:r>
                      <a:r>
                        <a:rPr lang="fr-FR" sz="105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  2025</a:t>
                      </a:r>
                      <a:endParaRPr lang="fr-FR" sz="105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17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2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323</a:t>
                      </a:r>
                      <a:endParaRPr lang="fr-FR" sz="12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35158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31114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32736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33718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33718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33926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30744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17041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34822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32541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</a:rPr>
                        <a:t>53340</a:t>
                      </a:r>
                      <a:endParaRPr lang="fr-FR" sz="1100" b="1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</a:tr>
              <a:tr h="235202">
                <a:tc vMerge="1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100" b="1" kern="1200" dirty="0">
                          <a:solidFill>
                            <a:schemeClr val="tx1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100" b="1" kern="120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370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1563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2264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1178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1178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1223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2339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4252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2014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Rounded"/>
                        </a:rPr>
                        <a:t>2106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Arial Rounded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tx2"/>
                    </a:solidFill>
                  </a:tcPr>
                </a:tc>
                <a:tc vMerge="1"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</a:tr>
              <a:tr h="269190">
                <a:tc rowSpan="2"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600" b="1" kern="1200" dirty="0">
                          <a:solidFill>
                            <a:srgbClr val="000000"/>
                          </a:solidFill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Total  récupérés </a:t>
                      </a:r>
                      <a:endParaRPr lang="fr-FR" sz="1600" b="1" kern="1200" dirty="0">
                        <a:solidFill>
                          <a:srgbClr val="000000"/>
                        </a:solidFill>
                        <a:latin typeface="Aptos Narrow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 hMerge="1"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000" b="1" kern="1200" dirty="0">
                          <a:solidFill>
                            <a:schemeClr val="tx1"/>
                          </a:solidFill>
                          <a:effectLst/>
                          <a:latin typeface="Arial Black" panose="020B0A04020102020204" charset="0"/>
                          <a:ea typeface="+mn-ea"/>
                          <a:cs typeface="+mn-cs"/>
                        </a:rPr>
                        <a:t>0-23 mois</a:t>
                      </a:r>
                      <a:endParaRPr lang="fr-FR" sz="1000" b="1" kern="1200" dirty="0">
                        <a:solidFill>
                          <a:schemeClr val="tx1"/>
                        </a:solidFill>
                        <a:effectLst/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155620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130160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139101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137600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137600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138363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131248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77537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135412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124655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130038</a:t>
                      </a:r>
                      <a:endParaRPr lang="fr-FR" sz="1000" b="1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</a:tr>
              <a:tr h="269190">
                <a:tc vMerge="1" gridSpan="3">
                  <a:tcPr marL="9525" marR="9525" marT="9525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 hMerge="1">
                  <a:tcPr/>
                </a:tc>
                <a:tc vMerge="1" hMerge="1"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000" b="1" kern="1200" dirty="0">
                          <a:solidFill>
                            <a:schemeClr val="tx1"/>
                          </a:solidFill>
                          <a:effectLst/>
                          <a:latin typeface="Arial Black" panose="020B0A04020102020204" charset="0"/>
                          <a:ea typeface="+mn-ea"/>
                          <a:cs typeface="+mn-cs"/>
                        </a:rPr>
                        <a:t>24-59 mois</a:t>
                      </a:r>
                      <a:endParaRPr lang="fr-FR" sz="1000" b="1" kern="1200" dirty="0">
                        <a:solidFill>
                          <a:schemeClr val="tx1"/>
                        </a:solidFill>
                        <a:effectLst/>
                        <a:latin typeface="Arial Black" panose="020B0A04020102020204" charset="0"/>
                        <a:ea typeface="+mn-ea"/>
                        <a:cs typeface="+mn-cs"/>
                      </a:endParaRPr>
                    </a:p>
                  </a:txBody>
                  <a:tcPr marL="28575" marR="28575" marT="19050" marB="1905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1561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7206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5981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5707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5707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5693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5604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14402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4735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Black" panose="020B0A04020102020204" charset="0"/>
                        </a:rPr>
                        <a:t>5977</a:t>
                      </a:r>
                      <a:endParaRPr lang="fr-FR" sz="1000" b="0" i="0" u="none" strike="noStrike" dirty="0">
                        <a:solidFill>
                          <a:srgbClr val="000000"/>
                        </a:solidFill>
                        <a:effectLst/>
                        <a:latin typeface="Arial Black" panose="020B0A0402010202020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vMerge="1"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458591" y="237256"/>
            <a:ext cx="116404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en-US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Campagne de r</a:t>
            </a:r>
            <a:r>
              <a:rPr lang="fr-FR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iposte </a:t>
            </a:r>
            <a:r>
              <a:rPr lang="en-US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contre la  </a:t>
            </a:r>
            <a:r>
              <a:rPr lang="fr-FR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rougeole organisée en Août - </a:t>
            </a:r>
            <a:r>
              <a:rPr lang="en-US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septembre</a:t>
            </a:r>
            <a:r>
              <a:rPr lang="en-US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</a:t>
            </a:r>
            <a:r>
              <a:rPr lang="fr-FR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2025</a:t>
            </a:r>
            <a:endParaRPr lang="fr-FR" sz="2800" b="1" i="0" u="none" strike="noStrike" cap="none" dirty="0">
              <a:solidFill>
                <a:srgbClr val="4472C4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14893" y="1701767"/>
          <a:ext cx="6786542" cy="3765635"/>
        </p:xfrm>
        <a:graphic>
          <a:graphicData uri="http://schemas.openxmlformats.org/drawingml/2006/table">
            <a:tbl>
              <a:tblPr/>
              <a:tblGrid>
                <a:gridCol w="557943"/>
                <a:gridCol w="1029759"/>
                <a:gridCol w="734776"/>
                <a:gridCol w="691869"/>
                <a:gridCol w="903805"/>
                <a:gridCol w="887660"/>
                <a:gridCol w="860824"/>
                <a:gridCol w="1119906"/>
              </a:tblGrid>
              <a:tr h="26805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PROVINCE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Nbre ZS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Nbr AS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Tranche d'âge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Enfants vaccinés au VAR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</a:tr>
              <a:tr h="644638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Cible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vaccinés au VAR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(%)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0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Equateur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25065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25338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101%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Ituri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71829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73442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102%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Katanga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463593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445161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Lomami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119361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123259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103%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0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Kinshasa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166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1068704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1066089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3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Kwilu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58291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59830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103%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40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Lualaba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78971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78272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99%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57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 Ndombe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19574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20473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105%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5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Tanganyika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79531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95846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121%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4826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RIPOSTE 30 ZS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506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1984919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1987710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fr-FR" sz="1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03200" y="1199405"/>
            <a:ext cx="5957570" cy="3435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fr-FR" b="1" dirty="0">
                <a:latin typeface="Book Antiqua" panose="02040602050305030304" pitchFamily="18" charset="0"/>
              </a:rPr>
              <a:t>Riposte organisée dans 30 ZS avec appui de MRP</a:t>
            </a:r>
            <a:endParaRPr lang="fr-FR" b="1" dirty="0">
              <a:latin typeface="Book Antiqua" panose="02040602050305030304" pitchFamily="18" charset="0"/>
            </a:endParaRPr>
          </a:p>
        </p:txBody>
      </p:sp>
      <p:pic>
        <p:nvPicPr>
          <p:cNvPr id="7" name="Imag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858" y="956232"/>
            <a:ext cx="3747247" cy="4064003"/>
          </a:xfrm>
          <a:prstGeom prst="rect">
            <a:avLst/>
          </a:prstGeom>
          <a:noFill/>
        </p:spPr>
      </p:pic>
      <p:pic>
        <p:nvPicPr>
          <p:cNvPr id="8" name="Picture 3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119" y="956232"/>
            <a:ext cx="1335740" cy="515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267701" y="228294"/>
            <a:ext cx="11831290" cy="539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en-US" altLang="fr-F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Campagne de r</a:t>
            </a:r>
            <a:r>
              <a:rPr lang="fr-FR" altLang="fr-FR" sz="2800" b="1" dirty="0" err="1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iposte</a:t>
            </a:r>
            <a:r>
              <a:rPr lang="fr-FR" altLang="fr-FR" sz="2800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 contre la rougeole organisée janvier-décembre 2025</a:t>
            </a:r>
            <a:endParaRPr lang="fr-FR" sz="2800" b="1" i="0" u="none" strike="noStrike" cap="none" dirty="0">
              <a:solidFill>
                <a:srgbClr val="4472C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489753" y="1234108"/>
            <a:ext cx="6070438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Book Antiqua" panose="02040602050305030304" pitchFamily="18" charset="0"/>
                <a:sym typeface="+mn-ea"/>
              </a:rPr>
              <a:t>Riposte organisée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dans</a:t>
            </a:r>
            <a:r>
              <a:rPr lang="fr-FR" b="1" dirty="0">
                <a:latin typeface="Book Antiqua" panose="02040602050305030304" pitchFamily="18" charset="0"/>
                <a:sym typeface="+mn-ea"/>
              </a:rPr>
              <a:t> 13 ZS avec appui de MSF</a:t>
            </a:r>
            <a:endParaRPr lang="fr-FR" b="1" dirty="0">
              <a:latin typeface="Book Antiqua" panose="02040602050305030304" pitchFamily="18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/>
        </p:nvGraphicFramePr>
        <p:xfrm>
          <a:off x="527050" y="1886109"/>
          <a:ext cx="11155450" cy="3855720"/>
        </p:xfrm>
        <a:graphic>
          <a:graphicData uri="http://schemas.openxmlformats.org/drawingml/2006/table">
            <a:tbl>
              <a:tblPr/>
              <a:tblGrid>
                <a:gridCol w="559681"/>
                <a:gridCol w="1119361"/>
                <a:gridCol w="877681"/>
                <a:gridCol w="1564561"/>
                <a:gridCol w="1399201"/>
                <a:gridCol w="1437361"/>
                <a:gridCol w="1437361"/>
                <a:gridCol w="737761"/>
                <a:gridCol w="1081201"/>
                <a:gridCol w="941281"/>
              </a:tblGrid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N°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Province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Zone de santé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Aire de santé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Début de l'intervention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 de l'intervention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Tranche d'âge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Cible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Vaccinés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 (%)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NORD KIVU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Bambo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févr-25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mai-25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37287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39128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TANGANYIKA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27/02/2025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16/03/2025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70851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72977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NYEMBA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 AS de Nyemba + 8 AS urbaine de Kalemie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29/04/2025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31/08/2025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121479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144803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119,20%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LOMAMI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MULONGO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14/04/2025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21/05/2025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70425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74651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KINKONJA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19/05/2025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22/07/2025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62545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67549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108%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LWAMBA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19/05/2025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25/06/2025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31605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32554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BUKAMA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22/07/2025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06/10/2025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76918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78764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102,40%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KABONDO DIANDA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28/07/2025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16/10/2025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57 397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59234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103,20%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Maniema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Kabambare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oct-25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 cours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15450  données partielles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49.5%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Maniema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Kasongo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Decembre 2024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févr-25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à 59 mois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49838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43210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86.7%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Nord-Ubangi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Businga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13/05/2025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28/06/2025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6 mois à 9 ans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54 229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55856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103.7%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Sud-Kivu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Minova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 cours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Sud-Ubangi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Budjala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 cours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367553" y="181007"/>
            <a:ext cx="11731437" cy="86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fr-FR" alt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C</a:t>
            </a:r>
            <a:r>
              <a:rPr lang="fr-FR" sz="2800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ampagne de Rattrapage contre la rougeole-Rubéole Bloc 1, novembre 2025 </a:t>
            </a:r>
            <a:endParaRPr lang="fr-FR" sz="2800" b="1" i="0" u="none" strike="noStrike" cap="none" dirty="0">
              <a:solidFill>
                <a:srgbClr val="4472C4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355553" y="5093176"/>
            <a:ext cx="8093245" cy="1353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Book Antiqua" panose="02040602050305030304" pitchFamily="18" charset="0"/>
                <a:ea typeface="MS PGothic" panose="020B0600070205080204" pitchFamily="34" charset="-128"/>
              </a:rPr>
              <a:t>Lancement officiel le 26 novembre 2025 présidé par les APA, synchronisé dans 9/13 antennes excepté (Bunia, </a:t>
            </a:r>
            <a:r>
              <a:rPr lang="fr-FR" sz="1400" dirty="0" err="1">
                <a:latin typeface="Book Antiqua" panose="02040602050305030304" pitchFamily="18" charset="0"/>
                <a:ea typeface="MS PGothic" panose="020B0600070205080204" pitchFamily="34" charset="-128"/>
              </a:rPr>
              <a:t>Aru</a:t>
            </a:r>
            <a:r>
              <a:rPr lang="fr-FR" sz="1400" dirty="0">
                <a:latin typeface="Book Antiqua" panose="02040602050305030304" pitchFamily="18" charset="0"/>
                <a:ea typeface="MS PGothic" panose="020B0600070205080204" pitchFamily="34" charset="-128"/>
              </a:rPr>
              <a:t>, </a:t>
            </a:r>
            <a:r>
              <a:rPr lang="fr-FR" sz="1400" dirty="0" err="1">
                <a:latin typeface="Book Antiqua" panose="02040602050305030304" pitchFamily="18" charset="0"/>
                <a:ea typeface="MS PGothic" panose="020B0600070205080204" pitchFamily="34" charset="-128"/>
              </a:rPr>
              <a:t>Kisenge</a:t>
            </a:r>
            <a:r>
              <a:rPr lang="fr-FR" sz="1400" dirty="0">
                <a:latin typeface="Book Antiqua" panose="02040602050305030304" pitchFamily="18" charset="0"/>
                <a:ea typeface="MS PGothic" panose="020B0600070205080204" pitchFamily="34" charset="-128"/>
              </a:rPr>
              <a:t> et Lubumbashi)</a:t>
            </a:r>
            <a:endParaRPr lang="fr-FR" sz="1400" dirty="0">
              <a:latin typeface="Book Antiqua" panose="02040602050305030304" pitchFamily="18" charset="0"/>
              <a:ea typeface="MS PGothic" panose="020B0600070205080204" pitchFamily="34" charset="-128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Book Antiqua" panose="02040602050305030304" pitchFamily="18" charset="0"/>
                <a:ea typeface="MS PGothic" panose="020B0600070205080204" pitchFamily="34" charset="-128"/>
              </a:rPr>
              <a:t>1 ZS </a:t>
            </a:r>
            <a:r>
              <a:rPr lang="fr-FR" sz="1400" dirty="0" err="1">
                <a:latin typeface="Book Antiqua" panose="02040602050305030304" pitchFamily="18" charset="0"/>
                <a:ea typeface="MS PGothic" panose="020B0600070205080204" pitchFamily="34" charset="-128"/>
              </a:rPr>
              <a:t>Kapolowe</a:t>
            </a:r>
            <a:r>
              <a:rPr lang="fr-FR" sz="1400" dirty="0">
                <a:latin typeface="Book Antiqua" panose="02040602050305030304" pitchFamily="18" charset="0"/>
                <a:ea typeface="MS PGothic" panose="020B0600070205080204" pitchFamily="34" charset="-128"/>
              </a:rPr>
              <a:t> dans l’antenne de Likasi (Haut Katanga) n’a pas lancé suite aux arriérés des campagnes antérieures (Polio et Fièvre Jaune)</a:t>
            </a:r>
            <a:endParaRPr lang="fr-FR" sz="1400" dirty="0">
              <a:latin typeface="Book Antiqua" panose="02040602050305030304" pitchFamily="18" charset="0"/>
              <a:ea typeface="MS PGothic" panose="020B0600070205080204" pitchFamily="34" charset="-128"/>
            </a:endParaRPr>
          </a:p>
        </p:txBody>
      </p:sp>
      <p:pic>
        <p:nvPicPr>
          <p:cNvPr id="5" name="Google Shape;436;g3a7c25ac39f_2_28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502603" y="1299882"/>
            <a:ext cx="2680431" cy="375621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267700" y="1413658"/>
          <a:ext cx="9234903" cy="3662721"/>
        </p:xfrm>
        <a:graphic>
          <a:graphicData uri="http://schemas.openxmlformats.org/drawingml/2006/table">
            <a:tbl>
              <a:tblPr/>
              <a:tblGrid>
                <a:gridCol w="894210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  <a:gridCol w="490629"/>
              </a:tblGrid>
              <a:tr h="305227"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Province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Nbre ZS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Tranche d'âge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Cible (46%)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 à  11 mois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12 à 59 mois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  à 14 ans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Total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CV (%)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0 Dose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Dose +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0 Dose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Dose +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0 Dose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Dose +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05227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Féminin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Masculin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Féminin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Masculin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Féminin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Masculin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Féminin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Masculin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Féminin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Masculin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Féminin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Masculin</a:t>
                      </a:r>
                      <a:endParaRPr lang="fr-FR" sz="8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BAS UELE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 mois à 14 ans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876 345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9 655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7 940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25 570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22 415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1 776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1 560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133 189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118 203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294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226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285 996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258 417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865 241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HAUT KATANGA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4 877 090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56 807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47 437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294 941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274 756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6 606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5 750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718 053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655 464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6 359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5 808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1 249 082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1 141 689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4 462 752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91,5%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HAUT LOMAMI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2 334 853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25 858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21 653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81 222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72 695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832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628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380 519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344 697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481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740 365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682 415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2 351 729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HAUT UELE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1 302 414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10 531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8 741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44 918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49 706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312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278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198 876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193 176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415 898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386 814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1 309 370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100,5%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ITURI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3 549 805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28 505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23 438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116 772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109 820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2 313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1 940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539 456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504 266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101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1 129 161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1 065 107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3 520 998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99,2%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LUALABA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1 933 733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25 329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24 248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114 041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108 606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1 953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1 615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302 364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276 314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1 561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1 305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496 022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459 042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1 812 400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93,7%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522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TANGANYIKA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1 923 504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15 090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12 280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77 731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70 079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1 605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1 368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299 732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271 634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5 529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5 429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605 412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558 042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1 923 931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841" marR="5841" marT="584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1045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TOTAL GENERAL BLOC 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128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16797744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171775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145737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755195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708076,8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15397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13139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2572189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2363754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14391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13305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4921936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4551526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16246421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96,72%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5841" marR="5841" marT="584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458470" y="318135"/>
            <a:ext cx="112750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sz="2935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Campagne de vaccination préventive  contre la fièvre jaune Bloc 6</a:t>
            </a:r>
            <a:endParaRPr lang="fr-FR" sz="2935" b="1" dirty="0">
              <a:solidFill>
                <a:srgbClr val="0000FF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+mn-ea"/>
            </a:endParaRPr>
          </a:p>
          <a:p>
            <a:r>
              <a:rPr lang="en-US" altLang="fr-FR" sz="2935" b="1" i="0" u="none" strike="noStrike" cap="none" dirty="0">
                <a:solidFill>
                  <a:srgbClr val="4472C4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                                             </a:t>
            </a:r>
            <a:r>
              <a:rPr lang="fr-FR" sz="2935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Times New Roman" panose="02020603050405020304"/>
              </a:rPr>
              <a:t>Novembre 2025</a:t>
            </a:r>
            <a:endParaRPr lang="fr-FR" sz="2935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2281" y="1900567"/>
          <a:ext cx="8712426" cy="2510069"/>
        </p:xfrm>
        <a:graphic>
          <a:graphicData uri="http://schemas.openxmlformats.org/drawingml/2006/table">
            <a:tbl>
              <a:tblPr/>
              <a:tblGrid>
                <a:gridCol w="1083719"/>
                <a:gridCol w="652601"/>
                <a:gridCol w="858354"/>
                <a:gridCol w="646063"/>
                <a:gridCol w="646063"/>
                <a:gridCol w="646063"/>
                <a:gridCol w="646063"/>
                <a:gridCol w="646560"/>
                <a:gridCol w="646063"/>
                <a:gridCol w="646063"/>
                <a:gridCol w="845043"/>
                <a:gridCol w="749771"/>
              </a:tblGrid>
              <a:tr h="301725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Province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Nbre ZS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Tranche d'âge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Cible (92,6%)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 à  11 mois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12 à 59 mois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  à 60 ans 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Total 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CV (%)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725"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0 Dose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Dose +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0 Dose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Dose +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0 Dose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Dose +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 vMerge="1">
                  <a:tcPr/>
                </a:tc>
              </a:tr>
              <a:tr h="3338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HAUT KATANGA</a:t>
                      </a:r>
                      <a:endParaRPr lang="fr-FR" sz="105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 mois à 60 ans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9812841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83 319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721 661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79 813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1 875 258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2 396 998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2 894 215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8 051 264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82%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8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HAUT LOMAMI</a:t>
                      </a:r>
                      <a:endParaRPr lang="fr-FR" sz="105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15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4347434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31 032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192 684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82 020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744 306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1 656 931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1 230 091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3 937 064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91%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172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LUALABA</a:t>
                      </a:r>
                      <a:endParaRPr lang="fr-FR" sz="105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10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2222854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17 783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228 756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6 646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543 966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65 186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1 250 275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2 112 612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95%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38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TANGANYIKA</a:t>
                      </a:r>
                      <a:endParaRPr lang="fr-FR" sz="105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3857221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13 078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190 573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3 512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763 344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374 482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2 155 791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3 500 780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91%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344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TOTAL GENERAL BLOC 1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63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 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20240350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145212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1333674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171991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3926874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4493597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7530372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17601720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</a:rPr>
                        <a:t>87%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Book Antiqua" panose="0204060205030503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3" name="ZoneTexte 2"/>
          <p:cNvSpPr txBox="1"/>
          <p:nvPr/>
        </p:nvSpPr>
        <p:spPr>
          <a:xfrm>
            <a:off x="326090" y="5176842"/>
            <a:ext cx="9615767" cy="121499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Book Antiqua" panose="02040602050305030304" pitchFamily="18" charset="0"/>
              </a:rPr>
              <a:t>3 provinces n’ont pas atteint l’objectif de 95% suite au taux de satisfaction en vaccin variant de 80 à 90% du besoin</a:t>
            </a:r>
            <a:endParaRPr lang="fr-FR" sz="1400" dirty="0">
              <a:latin typeface="Book Antiqua" panose="0204060205030503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dirty="0">
                <a:latin typeface="Book Antiqua" panose="02040602050305030304" pitchFamily="18" charset="0"/>
              </a:rPr>
              <a:t>51 ZS n’ayant pas atteint l’objectif de 95%:  (27/27 ZS)  Haut Katanga, (7/15ZS) Haut </a:t>
            </a:r>
            <a:r>
              <a:rPr lang="fr-FR" sz="1400" dirty="0" err="1">
                <a:latin typeface="Book Antiqua" panose="02040602050305030304" pitchFamily="18" charset="0"/>
              </a:rPr>
              <a:t>Lomami</a:t>
            </a:r>
            <a:r>
              <a:rPr lang="fr-FR" sz="1400" dirty="0">
                <a:latin typeface="Book Antiqua" panose="02040602050305030304" pitchFamily="18" charset="0"/>
              </a:rPr>
              <a:t>, Lualaba (3/10 ZS), (10/11 ZS) Tanganyika</a:t>
            </a:r>
            <a:endParaRPr lang="fr-FR" sz="1400" dirty="0">
              <a:latin typeface="Book Antiqua" panose="02040602050305030304" pitchFamily="18" charset="0"/>
            </a:endParaRPr>
          </a:p>
        </p:txBody>
      </p:sp>
      <p:pic>
        <p:nvPicPr>
          <p:cNvPr id="4" name="Picture 8" descr="A map of the region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9" t="2256" r="16281" b="1716"/>
          <a:stretch>
            <a:fillRect/>
          </a:stretch>
        </p:blipFill>
        <p:spPr>
          <a:xfrm>
            <a:off x="9054354" y="1461250"/>
            <a:ext cx="3021105" cy="3715587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458470" y="58076"/>
            <a:ext cx="11529398" cy="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sz="2400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Campagne de vaccination préventive  contre la fièvre jaune Bloc 6, Octobre 2</a:t>
            </a:r>
            <a:r>
              <a:rPr lang="fr-FR" sz="2400" b="1" i="0" u="none" strike="noStrike" cap="none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Times New Roman" panose="02020603050405020304"/>
              </a:rPr>
              <a:t>025: Gestion des vaccins, surveillance MPV et MAPI</a:t>
            </a:r>
            <a:endParaRPr lang="fr-FR" sz="2400" b="1" i="0" u="none" strike="noStrike" cap="none" dirty="0">
              <a:solidFill>
                <a:srgbClr val="0000FF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/>
        </p:nvGraphicFramePr>
        <p:xfrm>
          <a:off x="4404220" y="3959520"/>
          <a:ext cx="7659148" cy="2403571"/>
        </p:xfrm>
        <a:graphic>
          <a:graphicData uri="http://schemas.openxmlformats.org/drawingml/2006/table">
            <a:tbl>
              <a:tblPr/>
              <a:tblGrid>
                <a:gridCol w="1075018"/>
                <a:gridCol w="865598"/>
                <a:gridCol w="865598"/>
                <a:gridCol w="695271"/>
                <a:gridCol w="865598"/>
                <a:gridCol w="865598"/>
                <a:gridCol w="865598"/>
                <a:gridCol w="865598"/>
                <a:gridCol w="695271"/>
              </a:tblGrid>
              <a:tr h="17417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Antenne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Surveillance des MPV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Surveillance des MAPI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14475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PFA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FJ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ROUGEOLE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TNN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MAPI  Non graves Détectées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MAPI non graves Notifiées 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MAPI  graves Notifiées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MAPI  graves detectées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Likasi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193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Lubumbashi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870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HAUT KATANGA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1 076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1 063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Kabondo Dianda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48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Kamina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HAUT LOMAMI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141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Kabalo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748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Kalemie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558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562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TANGANYIKA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1 306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1 310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Kisenge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Kolwezi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183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Lualaba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216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4730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BLOC 6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2 623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2 730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au 8"/>
          <p:cNvGraphicFramePr>
            <a:graphicFrameLocks noGrp="1"/>
          </p:cNvGraphicFramePr>
          <p:nvPr/>
        </p:nvGraphicFramePr>
        <p:xfrm>
          <a:off x="415924" y="1006679"/>
          <a:ext cx="11640396" cy="2868412"/>
        </p:xfrm>
        <a:graphic>
          <a:graphicData uri="http://schemas.openxmlformats.org/drawingml/2006/table">
            <a:tbl>
              <a:tblPr/>
              <a:tblGrid>
                <a:gridCol w="1016917"/>
                <a:gridCol w="818816"/>
                <a:gridCol w="818816"/>
                <a:gridCol w="818816"/>
                <a:gridCol w="632377"/>
                <a:gridCol w="654341"/>
                <a:gridCol w="604008"/>
                <a:gridCol w="654341"/>
                <a:gridCol w="914400"/>
                <a:gridCol w="847288"/>
                <a:gridCol w="587229"/>
                <a:gridCol w="796955"/>
                <a:gridCol w="864066"/>
                <a:gridCol w="620785"/>
                <a:gridCol w="595040"/>
                <a:gridCol w="396201"/>
              </a:tblGrid>
              <a:tr h="28978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Antenne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VAA (en flacon)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SAB 0.5 ml  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SD 5 ml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523231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Qté reçue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Utilisée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rendue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Flacons cassés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Flacons virés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Flacons sans étiquettes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Tx perte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reçue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Utilisée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rendue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Tx perte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reçue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Qté Utilisée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Qté rendue 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Tx perte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Likasi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214 489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181 624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32 865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2 037 064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1 792 416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244 648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207 489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181 669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25 820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Lubumbashi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814 951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645 822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169 129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7 728 480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6 485 405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1 243 075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770 151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645 106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125 045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2,5%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HAUT KATANGA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1 029 440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827 446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201 994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9 765 544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8 277 821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1 487 723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977 640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826 775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150 865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Kabondo Dianda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318 727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205 859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112 868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2 292 455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2 022 411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270 044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232 883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205 067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27 816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4,5%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Kamina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241 661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205 476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36 185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2 189 609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2 018 466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171 143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227 461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210 363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17 098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5,9%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HAUT LOMAMI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560 388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411 335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149 053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4 482 064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4 040 877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441 187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460 344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415 430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44 914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Kabalo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189 357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184 956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4 401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1 912 983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1 844 877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68 106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189 357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184 900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4 457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1,8%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Kalemie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179 176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172 895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6 281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1 768 000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1 705 825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62 175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180 217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174 362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5 855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3,4%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TANGANYIKA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368 533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357 851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10 682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3 680 983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3 550 702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130 281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369 574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359 262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10 312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Kisenge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28 524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28 260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270 852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269 399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1 453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28 524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28 425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5,6%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455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Kolwezi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334 415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188 398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146 017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2 606 544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1 953 559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652 985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255 315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190 176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65 139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2,4%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Lualaba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362 939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216 658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146 281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2 877 396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2 222 958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654 438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283 839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218 601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65 238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2,8%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23022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BLOC 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2 321 300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1 813 290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508 010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2,9%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20 805 987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18 092 358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2 713 629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2 091 397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1 820 068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271 329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3,2%</a:t>
                      </a:r>
                      <a:endParaRPr lang="fr-FR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565" marR="7565" marT="756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340215" y="3934437"/>
          <a:ext cx="3996894" cy="2435901"/>
        </p:xfrm>
        <a:graphic>
          <a:graphicData uri="http://schemas.openxmlformats.org/drawingml/2006/table">
            <a:tbl>
              <a:tblPr/>
              <a:tblGrid>
                <a:gridCol w="1402419"/>
                <a:gridCol w="897548"/>
                <a:gridCol w="939621"/>
                <a:gridCol w="757306"/>
              </a:tblGrid>
              <a:tr h="233279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Antenne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Récupération par les aidants communautaires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79935"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 Identifiées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 Recuperée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Proportion 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Likasi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13 927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13 419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Lubumbashi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26 146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22 990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88%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KATANGA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40 073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36 409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Kabondo Dianda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1 278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1 110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Kamina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#DIV/0!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9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LOMAMI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1 278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1 110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Kabalo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11 315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10 272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Kalemie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4 529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4 279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484%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9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TANGANYIKA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15 844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14 551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Kisenge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456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455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44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Kolwezi 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7 341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6 372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199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Lualaba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7 797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6 827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88%</a:t>
                      </a:r>
                      <a:endParaRPr lang="fr-FR" sz="9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  <a:tr h="18532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 6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64 992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58 897</a:t>
                      </a:r>
                      <a:endParaRPr lang="fr-FR" sz="9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</a:t>
                      </a:r>
                      <a:endParaRPr lang="fr-FR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Google Shape;169;p1"/>
          <p:cNvSpPr txBox="1"/>
          <p:nvPr/>
        </p:nvSpPr>
        <p:spPr>
          <a:xfrm>
            <a:off x="4719955" y="2761615"/>
            <a:ext cx="7215505" cy="106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3600">
                <a:solidFill>
                  <a:srgbClr val="00206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Vaccination MPox, Cholera, MVE </a:t>
            </a:r>
            <a:r>
              <a:rPr lang="fr-FR" sz="3600" b="1">
                <a:solidFill>
                  <a:srgbClr val="00B0F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36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fr-FR" sz="2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</a:t>
            </a:r>
            <a:endParaRPr sz="14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sz="1400" b="1" i="0" u="none" strike="noStrike" cap="none" dirty="0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en-GB" sz="1400" b="1" i="0" u="none" strike="noStrike" cap="none" dirty="0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0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endParaRPr lang="fr-FR" altLang="en-GB" sz="10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-1" y="187272"/>
            <a:ext cx="12263121" cy="89741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/>
              </a:rPr>
              <a:t>Distribution spatiale des cas Mpox en RDC de Janvier 2025 à ce jour</a:t>
            </a:r>
            <a:endParaRPr kumimoji="0" lang="fr-FR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0B0004020202020204" pitchFamily="34" charset="0"/>
              <a:ea typeface="Calibri Light" panose="020F0302020204030204" pitchFamily="34" charset="0"/>
              <a:cs typeface="Calibri Light" panose="020F0302020204030204"/>
            </a:endParaRPr>
          </a:p>
        </p:txBody>
      </p:sp>
      <p:pic>
        <p:nvPicPr>
          <p:cNvPr id="25" name="Picture 24" descr="A map of different colored regions&#10;&#10;AI-generated content may be incorrect.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091" y="1358598"/>
            <a:ext cx="2732400" cy="2732400"/>
          </a:xfrm>
          <a:prstGeom prst="rect">
            <a:avLst/>
          </a:prstGeom>
        </p:spPr>
      </p:pic>
      <p:pic>
        <p:nvPicPr>
          <p:cNvPr id="27" name="Picture 26" descr="A map of the country&#10;&#10;AI-generated content may b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451" y="1396384"/>
            <a:ext cx="2732400" cy="2732400"/>
          </a:xfrm>
          <a:prstGeom prst="rect">
            <a:avLst/>
          </a:prstGeom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8811" y="1267293"/>
            <a:ext cx="2732400" cy="2823705"/>
          </a:xfrm>
          <a:prstGeom prst="rect">
            <a:avLst/>
          </a:prstGeom>
          <a:solidFill>
            <a:schemeClr val="bg2"/>
          </a:solidFill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46171" y="1267293"/>
            <a:ext cx="2427890" cy="2537452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2483" y="4142735"/>
            <a:ext cx="2640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Situation épidémiologique de Janvier à juin 2025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3149843" y="4293610"/>
            <a:ext cx="24416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Situation épidémiologique de juin à octobre 2025</a:t>
            </a:r>
            <a:endParaRPr lang="fr-FR" dirty="0"/>
          </a:p>
        </p:txBody>
      </p:sp>
      <p:sp>
        <p:nvSpPr>
          <p:cNvPr id="11" name="ZoneTexte 10"/>
          <p:cNvSpPr txBox="1"/>
          <p:nvPr/>
        </p:nvSpPr>
        <p:spPr>
          <a:xfrm>
            <a:off x="6495394" y="4540469"/>
            <a:ext cx="19444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Situation épidémiologique d’octobre à Novembre 2025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9574923" y="4355803"/>
            <a:ext cx="219913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Situation épidémiologique  actuelle </a:t>
            </a:r>
            <a:endParaRPr lang="fr-F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90805" y="441325"/>
            <a:ext cx="12353925" cy="85090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Campagne de vaccination</a:t>
            </a:r>
            <a:r>
              <a:rPr lang="en-US" alt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de la riposte </a:t>
            </a:r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contre le MPox</a:t>
            </a:r>
            <a:r>
              <a:rPr lang="en-US" alt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de janvier à nov 2025 </a:t>
            </a:r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</a:t>
            </a:r>
            <a:endParaRPr lang="fr-FR" sz="2935" b="1" dirty="0">
              <a:solidFill>
                <a:schemeClr val="bg1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4"/>
            <a:ext cx="11414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0436" y="1372005"/>
          <a:ext cx="12078924" cy="462856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872461"/>
                <a:gridCol w="1173635"/>
                <a:gridCol w="787747"/>
                <a:gridCol w="1339169"/>
                <a:gridCol w="1437639"/>
                <a:gridCol w="1349016"/>
                <a:gridCol w="1349016"/>
                <a:gridCol w="2770241"/>
              </a:tblGrid>
              <a:tr h="1205803"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altLang="en-US" sz="1600" u="none" strike="noStrike" dirty="0">
                          <a:effectLst/>
                        </a:rPr>
                        <a:t>Stratégie de vaccination  </a:t>
                      </a:r>
                      <a:endParaRPr lang="fr-FR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PROVINCE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Nbre ZS</a:t>
                      </a:r>
                      <a:endParaRPr lang="en-US" sz="1600" u="none" strike="noStrike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altLang="en-US" sz="1600" u="none" strike="noStrike" dirty="0">
                          <a:effectLst/>
                        </a:rPr>
                        <a:t>Total vacciné</a:t>
                      </a:r>
                      <a:endParaRPr lang="fr-FR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altLang="en-US" sz="1600" u="none" strike="noStrike" dirty="0">
                          <a:effectLst/>
                        </a:rPr>
                        <a:t>Agents de santé vaccinés </a:t>
                      </a:r>
                      <a:endParaRPr lang="fr-FR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altLang="en-US" sz="1600" u="none" strike="noStrike" dirty="0">
                          <a:effectLst/>
                        </a:rPr>
                        <a:t>Moins de 18ans </a:t>
                      </a:r>
                      <a:endParaRPr lang="fr-FR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altLang="en-US" sz="1600" u="none" strike="noStrike" dirty="0">
                          <a:effectLst/>
                        </a:rPr>
                        <a:t>Autres </a:t>
                      </a:r>
                      <a:endParaRPr lang="fr-FR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altLang="en-US" sz="1600" u="none" strike="noStrike">
                          <a:effectLst/>
                        </a:rPr>
                        <a:t>Communauté à haut risque vacciné </a:t>
                      </a:r>
                      <a:endParaRPr lang="fr-FR" altLang="en-US" sz="1600" u="none" strike="noStrike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734695">
                <a:tc rowSpan="4"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err="1">
                          <a:effectLst/>
                        </a:rPr>
                        <a:t>Géographique</a:t>
                      </a:r>
                      <a:r>
                        <a:rPr lang="en-US" sz="1600" u="none" strike="noStrike" dirty="0">
                          <a:effectLst/>
                        </a:rPr>
                        <a:t> et </a:t>
                      </a:r>
                      <a:r>
                        <a:rPr lang="en-US" sz="1600" u="none" strike="noStrike" dirty="0" err="1">
                          <a:effectLst/>
                        </a:rPr>
                        <a:t>ciblée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Nord </a:t>
                      </a:r>
                      <a:r>
                        <a:rPr lang="en-US" sz="1600" u="none" strike="noStrike" dirty="0" err="1">
                          <a:effectLst/>
                        </a:rPr>
                        <a:t>kivu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600" u="none" strike="noStrike" dirty="0">
                          <a:effectLst/>
                        </a:rPr>
                        <a:t>8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81523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fr-FR" sz="1600" u="none" strike="noStrike" dirty="0">
                          <a:effectLst/>
                        </a:rPr>
                        <a:t>10294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altLang="en-US" sz="1600" u="none" strike="noStrike" dirty="0">
                          <a:effectLst/>
                        </a:rPr>
                        <a:t>27231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altLang="en-US" sz="1600" u="none" strike="noStrike" dirty="0">
                          <a:effectLst/>
                        </a:rPr>
                        <a:t>21 405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et </a:t>
                      </a:r>
                      <a:r>
                        <a:rPr lang="fr-FR" altLang="en-US" sz="1600" u="none" strike="noStrike" noProof="0" dirty="0">
                          <a:effectLst/>
                        </a:rPr>
                        <a:t>communauté origine des cas </a:t>
                      </a:r>
                      <a:endParaRPr lang="fr-FR" altLang="en-US" sz="1600" u="none" strike="noStrike" noProof="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734695">
                <a:tc vMerge="1"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Sud </a:t>
                      </a:r>
                      <a:r>
                        <a:rPr lang="en-US" sz="1600" u="none" strike="noStrike" dirty="0" err="1">
                          <a:effectLst/>
                        </a:rPr>
                        <a:t>kivu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7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91794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4821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3519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83454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et </a:t>
                      </a:r>
                      <a:r>
                        <a:rPr lang="fr-FR" altLang="en-US" sz="1600" u="none" strike="noStrike" noProof="0" dirty="0">
                          <a:effectLst/>
                        </a:rPr>
                        <a:t>communauté origine des cas </a:t>
                      </a:r>
                      <a:endParaRPr lang="fr-FR" altLang="en-US" sz="1600" u="none" strike="noStrike" noProof="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721973">
                <a:tc vMerge="1"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Sankuru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11 ZS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375611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50519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179113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145979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et </a:t>
                      </a:r>
                      <a:r>
                        <a:rPr lang="fr-FR" altLang="en-US" sz="1600" u="none" strike="noStrike" noProof="0" dirty="0">
                          <a:effectLst/>
                        </a:rPr>
                        <a:t>communauté origine des cas </a:t>
                      </a:r>
                      <a:endParaRPr lang="fr-FR" altLang="en-US" sz="1600" u="none" strike="noStrike" noProof="0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734695">
                <a:tc vMerge="1"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Sud Ubangi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16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25398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11063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7263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7074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et </a:t>
                      </a:r>
                      <a:r>
                        <a:rPr lang="fr-FR" altLang="en-US" sz="1600" u="none" strike="noStrike" noProof="0" dirty="0">
                          <a:effectLst/>
                        </a:rPr>
                        <a:t>communauté origine des cas </a:t>
                      </a:r>
                      <a:endParaRPr lang="fr-FR" altLang="en-US" sz="1600" u="none" strike="noStrike" noProof="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4967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err="1">
                          <a:effectLst/>
                        </a:rPr>
                        <a:t>ciblée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Haut </a:t>
                      </a:r>
                      <a:r>
                        <a:rPr lang="en-US" sz="1600" u="none" strike="noStrike" dirty="0" err="1">
                          <a:effectLst/>
                        </a:rPr>
                        <a:t>uéle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9120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492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5174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3274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1" y="101599"/>
            <a:ext cx="12192000" cy="1117593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 </a:t>
            </a:r>
            <a:endParaRPr lang="fr-FR" sz="2935" b="1" dirty="0">
              <a:solidFill>
                <a:schemeClr val="bg1"/>
              </a:solidFill>
              <a:latin typeface="Book Antiqua" panose="02040602050305030304" pitchFamily="18" charset="0"/>
              <a:ea typeface="MS PGothic" panose="020B0600070205080204" pitchFamily="34" charset="-128"/>
              <a:sym typeface="+mn-ea"/>
            </a:endParaRPr>
          </a:p>
          <a:p>
            <a:pPr algn="ctr"/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 Campagne de vaccination</a:t>
            </a:r>
            <a:r>
              <a:rPr lang="en-US" alt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de riposte</a:t>
            </a:r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contre le MPox</a:t>
            </a:r>
            <a:r>
              <a:rPr lang="en-US" alt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( suite)</a:t>
            </a:r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</a:t>
            </a:r>
            <a:endParaRPr lang="fr-FR" sz="2935" b="1" dirty="0">
              <a:solidFill>
                <a:schemeClr val="bg1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4"/>
            <a:ext cx="114148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0436" y="1660634"/>
          <a:ext cx="11817665" cy="2727681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831961"/>
                <a:gridCol w="1148250"/>
                <a:gridCol w="770708"/>
                <a:gridCol w="1310204"/>
                <a:gridCol w="1406544"/>
                <a:gridCol w="1319838"/>
                <a:gridCol w="1319838"/>
                <a:gridCol w="2710322"/>
              </a:tblGrid>
              <a:tr h="50236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 err="1">
                          <a:effectLst/>
                        </a:rPr>
                        <a:t>ciblée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Haut </a:t>
                      </a:r>
                      <a:r>
                        <a:rPr lang="en-US" sz="1600" u="none" strike="noStrike" dirty="0" err="1">
                          <a:effectLst/>
                        </a:rPr>
                        <a:t>uéle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16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9120</a:t>
                      </a:r>
                      <a:endParaRPr lang="en-US" sz="1600" b="0" i="0" u="none" strike="noStrike" cap="none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492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5174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3274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</a:t>
                      </a: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497205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u="none" strike="noStrike" dirty="0" err="1">
                          <a:effectLst/>
                        </a:rPr>
                        <a:t>Géographique</a:t>
                      </a:r>
                      <a:r>
                        <a:rPr lang="en-US" sz="1600" u="none" strike="noStrike" dirty="0">
                          <a:effectLst/>
                        </a:rPr>
                        <a:t> et </a:t>
                      </a:r>
                      <a:r>
                        <a:rPr lang="en-US" sz="1600" u="none" strike="noStrike" dirty="0" err="1">
                          <a:effectLst/>
                        </a:rPr>
                        <a:t>ciblée</a:t>
                      </a:r>
                      <a:endParaRPr lang="en-US" sz="1600" u="none" strike="noStrike" dirty="0">
                        <a:effectLst/>
                      </a:endParaRPr>
                    </a:p>
                    <a:p>
                      <a:pPr algn="ctr" rtl="0" fontAlgn="ctr"/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Equateur 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  <a:endParaRPr lang="fr-FR" sz="16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36239</a:t>
                      </a:r>
                      <a:endParaRPr lang="fr-FR" sz="1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1855</a:t>
                      </a:r>
                      <a:endParaRPr lang="fr-FR" sz="1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18821</a:t>
                      </a:r>
                      <a:endParaRPr lang="fr-FR" sz="1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fr-FR" sz="15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13.719</a:t>
                      </a:r>
                      <a:endParaRPr lang="fr-FR" sz="1500" b="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et </a:t>
                      </a:r>
                      <a:r>
                        <a:rPr lang="fr-FR" altLang="en-US" sz="1600" u="none" strike="noStrike" noProof="0" dirty="0">
                          <a:effectLst/>
                        </a:rPr>
                        <a:t>communauté origine des cas </a:t>
                      </a:r>
                      <a:endParaRPr lang="fr-FR" altLang="en-US" sz="1600" u="none" strike="noStrike" noProof="0" dirty="0">
                        <a:effectLst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96707">
                <a:tc vMerge="1"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effectLst/>
                        </a:rPr>
                        <a:t>Kinshasa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500" b="0" u="none" strike="noStrike" dirty="0">
                          <a:effectLst/>
                        </a:rPr>
                        <a:t>28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399" marR="6399" marT="63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500" b="0" u="none" strike="noStrike" dirty="0">
                          <a:effectLst/>
                        </a:rPr>
                        <a:t>811180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399" marR="6399" marT="63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500" b="0" u="none" strike="noStrike" dirty="0">
                          <a:effectLst/>
                        </a:rPr>
                        <a:t>10348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399" marR="6399" marT="63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500" b="0" u="none" strike="noStrike" dirty="0">
                          <a:effectLst/>
                        </a:rPr>
                        <a:t>5791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399" marR="6399" marT="63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500" b="0" u="none" strike="noStrike" dirty="0">
                          <a:effectLst/>
                        </a:rPr>
                        <a:t>795041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/>
                      </a:endParaRPr>
                    </a:p>
                  </a:txBody>
                  <a:tcPr marL="6399" marR="6399" marT="639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500" b="0" u="none" strike="noStrike" dirty="0">
                          <a:effectLst/>
                        </a:rPr>
                        <a:t>PPL, contacts et communauté origine des cas </a:t>
                      </a:r>
                      <a:endParaRPr lang="fr-FR" sz="15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/>
                      </a:endParaRPr>
                    </a:p>
                  </a:txBody>
                  <a:tcPr marL="6399" marR="6399" marT="6399" marB="0" anchor="ctr">
                    <a:solidFill>
                      <a:schemeClr val="bg1"/>
                    </a:solidFill>
                  </a:tcPr>
                </a:tc>
              </a:tr>
              <a:tr h="496707">
                <a:tc vMerge="1"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 err="1">
                          <a:effectLst/>
                        </a:rPr>
                        <a:t>Tshopo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>
                          <a:effectLst/>
                        </a:rPr>
                        <a:t>1</a:t>
                      </a:r>
                      <a:endParaRPr lang="en-US" sz="1600" u="none" strike="noStrike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2510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376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RAS</a:t>
                      </a:r>
                      <a:endParaRPr lang="en-US" sz="15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5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  <a:tr h="734695">
                <a:tc vMerge="1"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 err="1">
                          <a:effectLst/>
                        </a:rPr>
                        <a:t>Tshuapa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effectLst/>
                        </a:rPr>
                        <a:t>1</a:t>
                      </a:r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60535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  <a:p>
                      <a:pPr algn="ctr" rtl="0" fontAlgn="ctr"/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2859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 rtl="0" fontAlgn="ctr"/>
                      <a:endParaRPr 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33096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24580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altLang="en-US" sz="1600" u="none" strike="noStrike" dirty="0">
                          <a:effectLst/>
                        </a:rPr>
                        <a:t>PPL, contacts et </a:t>
                      </a:r>
                      <a:r>
                        <a:rPr lang="fr-FR" altLang="en-US" sz="1600" u="none" strike="noStrike" noProof="0" dirty="0">
                          <a:effectLst/>
                        </a:rPr>
                        <a:t>communauté origine des cas </a:t>
                      </a:r>
                      <a:endParaRPr lang="fr-FR" altLang="en-US" sz="1600" u="none" strike="noStrike" noProof="0" dirty="0">
                        <a:effectLst/>
                      </a:endParaRPr>
                    </a:p>
                    <a:p>
                      <a:pPr algn="ctr" rtl="0" fontAlgn="ctr">
                        <a:buNone/>
                      </a:pPr>
                      <a:endParaRPr lang="en-US" altLang="en-US" sz="1600" u="none" strike="noStrike" dirty="0">
                        <a:effectLst/>
                      </a:endParaRPr>
                    </a:p>
                  </a:txBody>
                  <a:tcPr marL="3175" marR="3175" marT="3175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ZoneTexte 3"/>
          <p:cNvSpPr txBox="1"/>
          <p:nvPr/>
        </p:nvSpPr>
        <p:spPr>
          <a:xfrm>
            <a:off x="267970" y="5197475"/>
            <a:ext cx="94056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 Cumul des vaccinés depuis le début :</a:t>
            </a:r>
            <a:r>
              <a:rPr lang="fr-FR" b="1" dirty="0">
                <a:solidFill>
                  <a:srgbClr val="FF0000"/>
                </a:solidFill>
              </a:rPr>
              <a:t>1.493.908 dont 697.178 avec le LC16 (46%)</a:t>
            </a:r>
            <a:endParaRPr lang="fr-FR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5419" y="146345"/>
            <a:ext cx="11360800" cy="763600"/>
          </a:xfrm>
          <a:solidFill>
            <a:schemeClr val="accent5">
              <a:lumMod val="50000"/>
            </a:schemeClr>
          </a:solidFill>
        </p:spPr>
        <p:txBody>
          <a:bodyPr/>
          <a:lstStyle/>
          <a:p>
            <a:r>
              <a:rPr lang="fr-FR" sz="2935" b="1" dirty="0" err="1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+mn-cs"/>
              </a:rPr>
              <a:t>Mpox</a:t>
            </a:r>
            <a:r>
              <a:rPr lang="fr-FR" sz="2935" b="1" dirty="0">
                <a:solidFill>
                  <a:schemeClr val="bg1"/>
                </a:solidFill>
                <a:latin typeface="Book Antiqua" panose="02040602050305030304" pitchFamily="18" charset="0"/>
                <a:ea typeface="MS PGothic" panose="020B0600070205080204" pitchFamily="34" charset="-128"/>
                <a:cs typeface="+mn-cs"/>
              </a:rPr>
              <a:t> : personnes vaccinées par catégorie</a:t>
            </a:r>
            <a:endParaRPr lang="fr-FR" sz="2935" b="1" dirty="0">
              <a:solidFill>
                <a:schemeClr val="bg1"/>
              </a:solidFill>
              <a:latin typeface="Book Antiqua" panose="02040602050305030304" pitchFamily="18" charset="0"/>
              <a:ea typeface="MS PGothic" panose="020B0600070205080204" pitchFamily="34" charset="-128"/>
              <a:cs typeface="+mn-cs"/>
            </a:endParaRPr>
          </a:p>
        </p:txBody>
      </p:sp>
      <p:graphicFrame>
        <p:nvGraphicFramePr>
          <p:cNvPr id="7" name="Graphique 6"/>
          <p:cNvGraphicFramePr/>
          <p:nvPr/>
        </p:nvGraphicFramePr>
        <p:xfrm>
          <a:off x="-58455" y="1048081"/>
          <a:ext cx="5371435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9" name="Graphique 8"/>
          <p:cNvGraphicFramePr/>
          <p:nvPr/>
        </p:nvGraphicFramePr>
        <p:xfrm>
          <a:off x="5644055" y="1150883"/>
          <a:ext cx="6172200" cy="51789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753"/>
          </a:xfrm>
        </p:spPr>
        <p:txBody>
          <a:bodyPr>
            <a:normAutofit/>
          </a:bodyPr>
          <a:lstStyle/>
          <a:p>
            <a:r>
              <a:rPr lang="en-US" altLang="fr-FR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 de </a:t>
            </a:r>
            <a:r>
              <a:rPr lang="fr-FR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MAPI</a:t>
            </a:r>
            <a:r>
              <a:rPr lang="en-US" altLang="fr-FR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signalés lors de la campagne </a:t>
            </a:r>
            <a:endParaRPr lang="en-US" altLang="fr-FR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9114" y="1547329"/>
            <a:ext cx="10515600" cy="4351338"/>
          </a:xfrm>
        </p:spPr>
        <p:txBody>
          <a:bodyPr/>
          <a:lstStyle/>
          <a:p>
            <a:pPr marL="114300" marR="0" lvl="0" indent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None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Cas de MAPI signalés – Vaccination </a:t>
            </a:r>
            <a:r>
              <a:rPr kumimoji="0" lang="fr-FR" sz="2200" b="1" i="0" u="none" strike="noStrike" kern="1200" cap="none" spc="0" normalizeH="0" baseline="0" noProof="0" dirty="0" err="1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Mpox</a:t>
            </a:r>
            <a:endParaRPr kumimoji="0" lang="fr-FR" sz="2200" b="1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457200" marR="0" lvl="0" indent="-3429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Total cas signalés : 46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41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cas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après vaccin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MVA-BN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5 cas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après vaccin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LC16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457200" marR="0" lvl="0" indent="-3429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Cas MVA-BN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: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Investigations complètes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Sur 41, 3 cas Classés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MAPI graves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Aucun cas n’a été relié au vaccin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457200" marR="0" lvl="0" indent="-3429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Cas LC16</a:t>
            </a: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: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Toutes classés </a:t>
            </a:r>
            <a:r>
              <a:rPr kumimoji="0" lang="fr-FR" sz="2200" b="1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MAPI légers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914400" marR="0" lvl="1" indent="-342900" algn="just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3575A"/>
              </a:buClr>
              <a:buSzPts val="1800"/>
              <a:buFont typeface="Arial" panose="020B0604020202020204"/>
              <a:buChar char="•"/>
              <a:defRPr/>
            </a:pPr>
            <a:r>
              <a:rPr kumimoji="0" lang="fr-FR" sz="2200" b="0" i="0" u="none" strike="noStrike" kern="1200" cap="none" spc="0" normalizeH="0" baseline="0" noProof="0" dirty="0">
                <a:ln>
                  <a:noFill/>
                </a:ln>
                <a:solidFill>
                  <a:srgbClr val="53575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Investigations: processus normal de scarification</a:t>
            </a:r>
            <a:endParaRPr kumimoji="0" lang="fr-FR" sz="2200" b="0" i="0" u="none" strike="noStrike" kern="1200" cap="none" spc="0" normalizeH="0" baseline="0" noProof="0" dirty="0">
              <a:ln>
                <a:noFill/>
              </a:ln>
              <a:solidFill>
                <a:srgbClr val="53575A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458592" y="64232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fr-FR" sz="2935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Campagne de vaccination contre le Cholera: vaccination réactive</a:t>
            </a:r>
            <a:endParaRPr lang="fr-FR" sz="2935" b="1" dirty="0">
              <a:solidFill>
                <a:srgbClr val="0000FF"/>
              </a:solidFill>
              <a:latin typeface="Times New Roman" panose="02020603050405020304" pitchFamily="18" charset="0"/>
              <a:ea typeface="MS PGothic" panose="020B0600070205080204" pitchFamily="34" charset="-128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altLang="fr-FR" sz="2935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Du mois de Mai à Septembre 2025</a:t>
            </a:r>
            <a:r>
              <a:rPr lang="fr-FR" sz="2935" b="1" dirty="0">
                <a:solidFill>
                  <a:srgbClr val="0000FF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  <a:sym typeface="+mn-ea"/>
              </a:rPr>
              <a:t> </a:t>
            </a:r>
            <a:r>
              <a:rPr lang="fr-FR" sz="2935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 </a:t>
            </a:r>
            <a:endParaRPr lang="fr-FR" sz="2935" b="1" dirty="0">
              <a:solidFill>
                <a:srgbClr val="4472C4"/>
              </a:solidFill>
              <a:latin typeface="Book Antiqua" panose="02040602050305030304" pitchFamily="18" charset="0"/>
              <a:sym typeface="Times New Roman" panose="02020603050405020304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>
              <a:buSzPts val="1400"/>
            </a:pPr>
            <a:endParaRPr sz="1865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4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6" name="Tableau 5"/>
          <p:cNvGraphicFramePr>
            <a:graphicFrameLocks noGrp="1"/>
          </p:cNvGraphicFramePr>
          <p:nvPr/>
        </p:nvGraphicFramePr>
        <p:xfrm>
          <a:off x="458592" y="1021481"/>
          <a:ext cx="10975975" cy="4759325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750060"/>
                <a:gridCol w="1548765"/>
                <a:gridCol w="2312035"/>
                <a:gridCol w="1389380"/>
                <a:gridCol w="1750060"/>
                <a:gridCol w="2225675"/>
              </a:tblGrid>
              <a:tr h="619125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Province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Nbre des ZS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Période de MEO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cible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vaccinée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</a:t>
                      </a:r>
                      <a:endParaRPr lang="en-US" sz="20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Lualaba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 2025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415971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385310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54546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</a:t>
                      </a:r>
                      <a:r>
                        <a:rPr lang="en-US" sz="2000" b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lomami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Mai2025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1511857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1460635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Haut Katanga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Juillet 2025</a:t>
                      </a:r>
                      <a:endParaRPr lang="en-US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1253075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1075497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Maniema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Juillet 2025</a:t>
                      </a:r>
                      <a:endParaRPr lang="en-US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810311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792093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Tanganyika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Juillet 2025</a:t>
                      </a:r>
                      <a:endParaRPr lang="en-US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854583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831165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Tshopo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lang="en-US" sz="20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 panose="020B0604020202020204"/>
                        </a:rPr>
                        <a:t>Juillet 2025</a:t>
                      </a:r>
                      <a:endParaRPr lang="en-US" sz="2000" b="0" i="0" u="none" strike="noStrike" cap="non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 panose="020B0604020202020204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475583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447693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Kinshasa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Aout et septembre 2025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4616720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4209749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Equateur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septembre 2025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435351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420355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Maidombe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septembre 2025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921171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858371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  <a:tr h="544830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en-US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11.294.622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10.480.868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93%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2f1c646a89f_0_0"/>
          <p:cNvSpPr txBox="1"/>
          <p:nvPr/>
        </p:nvSpPr>
        <p:spPr>
          <a:xfrm>
            <a:off x="284480" y="318135"/>
            <a:ext cx="1144905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en-US" altLang="fr-FR" sz="2935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Campagne de vaccination de riposte contre la </a:t>
            </a:r>
            <a:r>
              <a:rPr lang="fr-FR" sz="2935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MVE </a:t>
            </a:r>
            <a:r>
              <a:rPr lang="en-US" altLang="fr-FR" sz="2935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de Septembre</a:t>
            </a:r>
            <a:endParaRPr lang="en-US" altLang="fr-FR" sz="2935" b="1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  <a:sym typeface="+mn-e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/>
              <a:buNone/>
            </a:pPr>
            <a:r>
              <a:rPr lang="en-US" altLang="fr-FR" sz="2935" b="1" dirty="0">
                <a:solidFill>
                  <a:srgbClr val="0000FF"/>
                </a:solidFill>
                <a:latin typeface="Book Antiqua" panose="02040602050305030304" pitchFamily="18" charset="0"/>
                <a:ea typeface="MS PGothic" panose="020B0600070205080204" pitchFamily="34" charset="-128"/>
                <a:sym typeface="+mn-ea"/>
              </a:rPr>
              <a:t>à Octobre 2025 </a:t>
            </a:r>
            <a:endParaRPr lang="en-US" altLang="fr-FR" sz="2935" b="1" i="0" u="none" strike="noStrike" cap="none" dirty="0">
              <a:solidFill>
                <a:srgbClr val="0000FF"/>
              </a:solidFill>
              <a:latin typeface="Book Antiqua" panose="02040602050305030304" pitchFamily="18" charset="0"/>
              <a:ea typeface="MS PGothic" panose="020B0600070205080204" pitchFamily="34" charset="-128"/>
              <a:cs typeface="Times New Roman" panose="02020603050405020304"/>
              <a:sym typeface="+mn-ea"/>
            </a:endParaRPr>
          </a:p>
        </p:txBody>
      </p:sp>
      <p:sp>
        <p:nvSpPr>
          <p:cNvPr id="1292" name="Google Shape;1292;g2f1c646a89f_0_0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865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23" name="Google Shape;223;p16"/>
          <p:cNvCxnSpPr/>
          <p:nvPr/>
        </p:nvCxnSpPr>
        <p:spPr>
          <a:xfrm>
            <a:off x="267700" y="6427967"/>
            <a:ext cx="116404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2865" y="1214120"/>
          <a:ext cx="11929110" cy="5183505"/>
        </p:xfrm>
        <a:graphic>
          <a:graphicData uri="http://schemas.openxmlformats.org/drawingml/2006/table">
            <a:tbl>
              <a:tblPr firstRow="1" bandRow="1"/>
              <a:tblGrid>
                <a:gridCol w="2794000"/>
                <a:gridCol w="2942590"/>
                <a:gridCol w="2308860"/>
                <a:gridCol w="1234440"/>
                <a:gridCol w="2649220"/>
              </a:tblGrid>
              <a:tr h="55816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Strategies Ciblée</a:t>
                      </a:r>
                      <a:endParaRPr lang="en-US" altLang="fr-FR" sz="1800" b="1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l" rtl="0" fontAlgn="ctr"/>
                      <a:r>
                        <a:rPr lang="fr-FR" sz="1800" b="1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Zs</a:t>
                      </a:r>
                      <a:r>
                        <a:rPr 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/ villes</a:t>
                      </a:r>
                      <a:endParaRPr lang="fr-FR" sz="1800" b="1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l" rtl="0" fontAlgn="ctr"/>
                      <a:r>
                        <a:rPr 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Doses </a:t>
                      </a:r>
                      <a:r>
                        <a:rPr lang="fr-FR" sz="1800" b="1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recues</a:t>
                      </a:r>
                      <a:endParaRPr lang="fr-FR" sz="1800" b="1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l" rtl="0" fontAlgn="ctr"/>
                      <a:r>
                        <a:rPr lang="en-US" alt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personnes vaccinées</a:t>
                      </a:r>
                      <a:endParaRPr lang="en-US" altLang="fr-FR" sz="1800" b="1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l" rtl="0" fontAlgn="ctr"/>
                      <a:r>
                        <a:rPr lang="fr-FR" sz="1800" b="1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Donnees</a:t>
                      </a:r>
                      <a:r>
                        <a:rPr 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fr-FR" sz="1800" b="1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encodees</a:t>
                      </a:r>
                      <a:r>
                        <a:rPr 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sur le </a:t>
                      </a:r>
                      <a:r>
                        <a:rPr lang="en-US" altLang="fr-FR" sz="1800" b="1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DHIS2</a:t>
                      </a:r>
                      <a:endParaRPr lang="en-US" altLang="fr-FR" sz="1800" b="1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Kinshasa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347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347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347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G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éographique et PPL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BULAPE 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39048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39045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39017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Mweka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2030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2030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2030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Kananga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685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685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373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Tshikapa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170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170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Mushenge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1200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1200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1156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Kakenge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700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700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698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Luebo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400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400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399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Oshwe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Ilebo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800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800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799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Dekese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300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162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Benadibele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850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850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848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Inongo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100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PPL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Mukedi</a:t>
                      </a:r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 </a:t>
                      </a:r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l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200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200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200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algn="just" rtl="0" fontAlgn="ctr"/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just" rtl="0" fontAlgn="ctr"/>
                      <a:r>
                        <a:rPr lang="fr-FR" sz="1600" b="0" i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Kole</a:t>
                      </a:r>
                      <a:endParaRPr lang="fr-FR" sz="1600" b="0" i="0" dirty="0" err="1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650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650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581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</a:tr>
              <a:tr h="82486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l" rtl="0" fontAlgn="ctr"/>
                      <a:r>
                        <a:rPr lang="en-US" alt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TOTAL</a:t>
                      </a:r>
                      <a:endParaRPr lang="en-US" alt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47580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47577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defRPr sz="1865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 panose="020B0604020202020204"/>
                        </a:defRPr>
                      </a:lvl9pPr>
                    </a:lstStyle>
                    <a:p>
                      <a:pPr algn="ctr" rtl="0" fontAlgn="ctr"/>
                      <a:r>
                        <a:rPr lang="fr-FR" sz="1600" b="0" i="0" dirty="0">
                          <a:solidFill>
                            <a:schemeClr val="tx1"/>
                          </a:solidFill>
                          <a:effectLst/>
                          <a:uFillTx/>
                          <a:latin typeface="Aptos" panose="020B0004020202020204" pitchFamily="34" charset="0"/>
                        </a:rPr>
                        <a:t>46810</a:t>
                      </a:r>
                      <a:endParaRPr lang="fr-FR" sz="1600" b="0" i="0" dirty="0">
                        <a:solidFill>
                          <a:schemeClr val="tx1"/>
                        </a:solidFill>
                        <a:effectLst/>
                        <a:uFillTx/>
                        <a:latin typeface="Aptos" panose="020B0004020202020204" pitchFamily="34" charset="0"/>
                      </a:endParaRPr>
                    </a:p>
                  </a:txBody>
                  <a:tcPr marL="9525" marR="9525" marT="9525" marB="0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ANALYSE FFOM/LE</a:t>
            </a:r>
            <a:r>
              <a:rPr lang="en-US" altLang="en-US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Ç</a:t>
            </a: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ONS APPRISES -BONNE PRATIQUE</a:t>
            </a:r>
            <a:endParaRPr lang="fr-FR" altLang="en-GB" sz="4000" b="1" i="0" u="none" strike="noStrike" cap="none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Forces - Faiblesses </a:t>
            </a:r>
            <a:endParaRPr lang="fr-FR" altLang="en-GB" sz="32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143691" y="965203"/>
          <a:ext cx="11903529" cy="5678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3891"/>
                <a:gridCol w="4880672"/>
                <a:gridCol w="5018966"/>
              </a:tblGrid>
              <a:tr h="485409"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Domaine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forts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à améliorer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18605">
                <a:tc>
                  <a:txBody>
                    <a:bodyPr/>
                    <a:lstStyle/>
                    <a:p>
                      <a:pPr marL="396240" marR="635000" indent="-6350" algn="l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Coordination et Finances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635000" lvl="0" indent="-342900" algn="l" defTabSz="914400" rtl="0" eaLnBrk="1" fontAlgn="base" latinLnBrk="0" hangingPunct="1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  <a:defRPr/>
                      </a:pP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Implication des autres secteurs dans l’organisation des campagnes (EPST, Ministère de l’intérieur </a:t>
                      </a:r>
                      <a:r>
                        <a:rPr lang="fr-FR" altLang="en-US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etc</a:t>
                      </a: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) </a:t>
                      </a:r>
                      <a:endParaRPr lang="fr-FR" alt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Tenue régulière des réunion du poste de commandement et ses commissions à chaque campagne avec TDR spécifiques des participants : Suivi des préparatifs à travers l’OSP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Tenue des points de presse en faveur des campagne Polio et RR au niveau central et en provinces</a:t>
                      </a:r>
                      <a:endParaRPr lang="fr-FR" alt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42900" marR="635000" lvl="0" indent="-342900" algn="l" defTabSz="914400" rtl="0" eaLnBrk="1" fontAlgn="base" latinLnBrk="0" hangingPunct="1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  <a:defRPr/>
                      </a:pP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Vulgarisation des directives en faveur de l’introduction du RR</a:t>
                      </a:r>
                      <a:endParaRPr lang="fr-FR" alt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Mise en place d’un mécanisme d’alerte des DCT bloqués des DPS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635000" lvl="0" indent="-342900" algn="l" defTabSz="914400" rtl="0" eaLnBrk="1" fontAlgn="base" latinLnBrk="0" hangingPunct="1">
                        <a:lnSpc>
                          <a:spcPct val="11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  <a:defRPr/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Reports de la campagne (Polio, FJ)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Retard du déploiement des superviseurs nationaux, provinciaux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documentation des activités de vaccination dans les zones de santé à sécurité compromise et au niveau des points d’entrée (POLIO)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fonctionnement des organes de coordination au niveau provincial : Transmission non systématique des livrables (pré, per et post campagnes) Polio.</a:t>
                      </a:r>
                      <a:endParaRPr lang="fr-FR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Arrivée tardive des Fonds dans les provinces depuis (fin de la campagne ) et autres au jour 5 (plafonnement du retrait par la banque</a:t>
                      </a:r>
                      <a:r>
                        <a:rPr lang="fr-FR" sz="105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)</a:t>
                      </a:r>
                      <a:r>
                        <a:rPr lang="fr-FR" sz="14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</a:t>
                      </a:r>
                      <a:r>
                        <a:rPr lang="fr-FR" sz="1200" b="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CVPFJ</a:t>
                      </a:r>
                      <a:endParaRPr lang="fr-FR" sz="1200" b="1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2816542">
                <a:tc>
                  <a:txBody>
                    <a:bodyPr/>
                    <a:lstStyle/>
                    <a:p>
                      <a:pPr marL="396240" marR="635000" indent="-6350" algn="l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Elaboration et utilisation d’une liste de contrôle (checklist) pour le suivi des activités critiques ;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Implémentation des bases des données des campagne FJ et RR dans le DHIS2 </a:t>
                      </a:r>
                      <a:endParaRPr lang="fr-FR" alt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Mise en place d’un mécanisme  de collecte des données pour la campagne RR : collecteur des données; achat méga et un second Data pour les ZS avec pus de 15 AS </a:t>
                      </a:r>
                      <a:r>
                        <a:rPr lang="fr-FR" altLang="en-US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etc</a:t>
                      </a: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)</a:t>
                      </a:r>
                      <a:endParaRPr lang="fr-FR" alt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altLang="en-US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Utilisation des Outils digitalisé pour la supervision; le monitorage </a:t>
                      </a:r>
                      <a:r>
                        <a:rPr lang="fr-FR" altLang="en-US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etc</a:t>
                      </a:r>
                      <a:endParaRPr lang="fr-FR" altLang="en-US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228600" marR="635000" indent="-6350" algn="l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 marR="635000" indent="-6350" algn="just">
                        <a:lnSpc>
                          <a:spcPct val="111000"/>
                        </a:lnSpc>
                        <a:buNone/>
                      </a:pP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utilisation des plateformes numériques (Dashboard (préparatifs), Power BI (MEO &amp; évaluation campagne)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utilisation de l’ODK pour le suivi des préparatifs et de la mise œuvre des campagnes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 déploiement des superviseurs de proximité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Non revisite des ménages par les équipes de vaccination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Absence &amp; non utilisation des croquis par les équipes de vaccination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remontée/ encodage des données dans le masque de saisie en ligne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transmission des données de vaccination au niveau des points d’entrée dans les ZS/AS frontalière</a:t>
                      </a:r>
                      <a:endParaRPr lang="fr-FR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Forces - Faiblesses</a:t>
            </a:r>
            <a:endParaRPr lang="fr-FR" altLang="en-GB" sz="32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315686" y="965200"/>
          <a:ext cx="11642271" cy="5654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4508"/>
                <a:gridCol w="4454555"/>
                <a:gridCol w="5213208"/>
              </a:tblGrid>
              <a:tr h="398780"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Domaines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forts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à améliorer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38640">
                <a:tc>
                  <a:txBody>
                    <a:bodyPr/>
                    <a:lstStyle/>
                    <a:p>
                      <a:pPr marL="396240" marR="635000" indent="-6350" algn="just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(suite)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228600" marR="635000" indent="-6350" algn="l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Surveillance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Investigations anticipées des VDPV avec les résultats de DIT et l’envoi des isolats en séquençage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Appui aux analyses de risque Ripostes Rapides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Réduction des délais de séquençage des isolats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Formation en cascade sur le surveillance et l’introduction de </a:t>
                      </a:r>
                      <a:r>
                        <a:rPr lang="fr-FR" sz="1200" u="none" strike="noStrike" dirty="0" err="1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eSurv</a:t>
                      </a: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compagnon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Mise à profit des AVS pour renforcement de la notification des PFA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Amélioration des principaux indicateurs de surveillance à l’exception du taux de NPENT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89890" marR="635000" indent="0" algn="l">
                        <a:lnSpc>
                          <a:spcPct val="111000"/>
                        </a:lnSpc>
                        <a:spcAft>
                          <a:spcPts val="1030"/>
                        </a:spcAft>
                        <a:buFont typeface="Arial" panose="020B0604020202020204" pitchFamily="34" charset="0"/>
                        <a:buNone/>
                      </a:pP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89890" marR="635000" indent="0" algn="l">
                        <a:lnSpc>
                          <a:spcPct val="111000"/>
                        </a:lnSpc>
                        <a:spcAft>
                          <a:spcPts val="103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Vaccination de routine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Mise en place de la stratégie spéciale permet de récupération des enfants ZD/SV dans les Zones à haut risque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just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Surveillance 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réalisation des prélèvements chez les contacts des inadéquats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Baisse des performances de la surveillance environnementale non extension vers certaines zones prioritaires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taux d’investigations des ZD et cas chauds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Mauvaise/absence de gestion des bases des données PFA au niveau provincial par la partie nationale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Gestion non optimale de la logistique de la surveillance (Retour des BI vers les provinces et ruptures des kits de prélèvements)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96240" marR="635000" indent="-6350" algn="just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Vaccination de routine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marR="635000" lvl="0" indent="-17145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Identification des enfants à récupérer non systématique dans les aires de santé</a:t>
                      </a:r>
                      <a:endParaRPr lang="fr-FR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48590" indent="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      Gestion des données: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Faible remontée des données: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891540" lvl="1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Courier New" panose="02070309020205020404" pitchFamily="49" charset="0"/>
                        <a:buChar char="o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Assignation tardive des canevas fièvre jaune dans le DHIS2 pour certaines structures et  AS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891540" lvl="1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Courier New" panose="02070309020205020404" pitchFamily="49" charset="0"/>
                        <a:buChar char="o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 connectivité dans certaines ZS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891540" lvl="1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Courier New" panose="02070309020205020404" pitchFamily="49" charset="0"/>
                        <a:buChar char="o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Absence de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Mega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891540" lvl="1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Courier New" panose="02070309020205020404" pitchFamily="49" charset="0"/>
                        <a:buChar char="o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Faible analyse des données avant encodage au niveau opérationnel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Wingdings" panose="05000000000000000000" pitchFamily="2" charset="2"/>
                        <a:buChar char=""/>
                        <a:tabLst>
                          <a:tab pos="228600" algn="l"/>
                        </a:tabLst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 dirty="0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Forces - Faiblesses </a:t>
            </a:r>
            <a:endParaRPr lang="fr-FR" altLang="en-GB" sz="32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235600" y="965203"/>
          <a:ext cx="11722356" cy="5502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259"/>
                <a:gridCol w="4104779"/>
                <a:gridCol w="5764318"/>
              </a:tblGrid>
              <a:tr h="548567"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Domaine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forts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à améliorer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54142">
                <a:tc>
                  <a:txBody>
                    <a:bodyPr/>
                    <a:lstStyle/>
                    <a:p>
                      <a:pPr marL="396240" marR="635000" indent="-6350" algn="just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Logistique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L’acquisition des antigènes et autres intrants à temps (aux moins deux mois)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Utilisation des portes vaccins homologués dans les zones de santé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 expéditions des intrants dans les antennes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Les expéditions groupées de vaccins et autres intrants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L’utilisation des formulaires logistique ODK l’élaboration des livrables à temps.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 Contractualisation avec plusieurs transporteurs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spcAft>
                          <a:spcPts val="1030"/>
                        </a:spcAft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Contribution à l’approvisionnement des vaccins de routine aux provinces ciblées par la campagne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de certains outils de gestion (Fiche de pointage, fiche de gestion de stocks ; jetons de vaccination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etc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) CVPFJ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en matériels de chaine de froid (faible CV en matériels de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CdF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dans certaines ZS, BI sans coussinet pour la plupart, insuffisance en accu,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etc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)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Utilisation des blocs des glaces dans certains sites avec risque d’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entâcher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la qualité des vaccins)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Carburant non disponible entravant la mobilité des acteurs dans les ZS et transport des intrants (J5 de la campagne) FJ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14859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</a:pPr>
                      <a:r>
                        <a:rPr lang="fr-FR" sz="1200" b="1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Sécurité vaccinale :</a:t>
                      </a:r>
                      <a:endParaRPr lang="fr-FR" sz="1200" b="1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Absence des kits de PEC des cas de MAPI (toutes les ZS)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de fiche  notification et investigation des cas de MAPI dans certains sites (FJ)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Non maitrise du circuit pour la PEC des MAPI dans sites;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Faible communication sur les MAPI et les MPV (par certains prestataires)</a:t>
                      </a:r>
                      <a:endParaRPr lang="fr-FR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96240" marR="635000" indent="-6350" algn="just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Forces - Faiblesses - Opportunités - Ménaces</a:t>
            </a:r>
            <a:endParaRPr lang="fr-FR" altLang="en-GB" sz="3200" b="1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" name="Zone de texte 4"/>
          <p:cNvSpPr txBox="1"/>
          <p:nvPr>
            <p:custDataLst>
              <p:tags r:id="rId1"/>
            </p:custDataLst>
          </p:nvPr>
        </p:nvSpPr>
        <p:spPr>
          <a:xfrm>
            <a:off x="4949505" y="4335309"/>
            <a:ext cx="700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fr-FR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Menaces</a:t>
            </a:r>
            <a:endParaRPr lang="fr-FR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 de texte 13"/>
          <p:cNvSpPr txBox="1"/>
          <p:nvPr/>
        </p:nvSpPr>
        <p:spPr>
          <a:xfrm>
            <a:off x="4681057" y="4761411"/>
            <a:ext cx="7489605" cy="20965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635000" indent="-342900" fontAlgn="base">
              <a:spcAft>
                <a:spcPts val="103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>
                <a:tab pos="228600" algn="l"/>
              </a:tabLst>
              <a:defRPr/>
            </a:pPr>
            <a:r>
              <a:rPr lang="fr-FR" sz="140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Refus de prester pour certains acteurs du fait de l’existence des litiges des campagnes antérieures </a:t>
            </a:r>
            <a:r>
              <a:rPr lang="fr-FR" sz="1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( Polio, FJ Bloc 6 )</a:t>
            </a:r>
            <a:endParaRPr lang="fr-FR" sz="1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635000" lvl="0" indent="-342900" fontAlgn="base">
              <a:spcAft>
                <a:spcPts val="103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>
                <a:tab pos="228600" algn="l"/>
              </a:tabLst>
              <a:defRPr/>
            </a:pPr>
            <a:r>
              <a:rPr lang="fr-FR" sz="1400" dirty="0">
                <a:solidFill>
                  <a:srgbClr val="000000"/>
                </a:solidFill>
              </a:rPr>
              <a:t>Existence des conflits internes ; </a:t>
            </a:r>
            <a:endParaRPr lang="fr-FR" sz="1400" dirty="0">
              <a:solidFill>
                <a:srgbClr val="000000"/>
              </a:solidFill>
            </a:endParaRPr>
          </a:p>
          <a:p>
            <a:pPr marL="342900" marR="635000" lvl="0" indent="-342900" fontAlgn="base">
              <a:spcAft>
                <a:spcPts val="103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>
                <a:tab pos="228600" algn="l"/>
              </a:tabLst>
              <a:defRPr/>
            </a:pPr>
            <a:r>
              <a:rPr lang="fr-FR" sz="1400" b="1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Insécurité dans certaines Provinces/ZS/AS</a:t>
            </a:r>
            <a:endParaRPr lang="fr-FR" sz="1400" b="1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342900" marR="635000" indent="-342900" fontAlgn="base">
              <a:spcAft>
                <a:spcPts val="103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>
                <a:tab pos="228600" algn="l"/>
              </a:tabLst>
              <a:defRPr/>
            </a:pPr>
            <a:r>
              <a:rPr lang="fr-FR" sz="1400" dirty="0">
                <a:solidFill>
                  <a:srgbClr val="000000"/>
                </a:solidFill>
              </a:rPr>
              <a:t>Persistance des groupes armés dans certaines localités (Nord Kivu, Sud Kivu);</a:t>
            </a:r>
            <a:endParaRPr lang="fr-FR" sz="1400" dirty="0">
              <a:solidFill>
                <a:srgbClr val="000000"/>
              </a:solidFill>
            </a:endParaRPr>
          </a:p>
          <a:p>
            <a:pPr marL="342900" marR="635000" lvl="0" indent="-342900" fontAlgn="base">
              <a:spcAft>
                <a:spcPts val="103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>
                <a:tab pos="228600" algn="l"/>
              </a:tabLst>
              <a:defRPr/>
            </a:pPr>
            <a:r>
              <a:rPr lang="fr-FR" sz="1400" dirty="0">
                <a:solidFill>
                  <a:srgbClr val="000000"/>
                </a:solidFill>
              </a:rPr>
              <a:t>Irrégularité /absence des avions dans certaines provinces;</a:t>
            </a:r>
            <a:endParaRPr lang="fr-FR" sz="1400" dirty="0">
              <a:solidFill>
                <a:srgbClr val="000000"/>
              </a:solidFill>
            </a:endParaRPr>
          </a:p>
          <a:p>
            <a:pPr marL="342900" marR="635000" lvl="0" indent="-342900" fontAlgn="base">
              <a:spcAft>
                <a:spcPts val="1030"/>
              </a:spcAft>
              <a:buClr>
                <a:srgbClr val="000000"/>
              </a:buClr>
              <a:buSzPts val="1200"/>
              <a:buFont typeface="Arial" panose="020B0604020202020204" pitchFamily="34" charset="0"/>
              <a:buChar char="•"/>
              <a:tabLst>
                <a:tab pos="228600" algn="l"/>
              </a:tabLst>
              <a:defRPr/>
            </a:pPr>
            <a:r>
              <a:rPr lang="fr-FR" sz="1400" dirty="0">
                <a:solidFill>
                  <a:srgbClr val="000000"/>
                </a:solidFill>
              </a:rPr>
              <a:t>Plafonnements de retrait des fonds;</a:t>
            </a:r>
            <a:endParaRPr lang="fr-FR" sz="1400" dirty="0">
              <a:solidFill>
                <a:srgbClr val="000000"/>
              </a:solidFill>
            </a:endParaRPr>
          </a:p>
        </p:txBody>
      </p:sp>
      <p:sp>
        <p:nvSpPr>
          <p:cNvPr id="6" name="Zone de texte 4"/>
          <p:cNvSpPr txBox="1"/>
          <p:nvPr>
            <p:custDataLst>
              <p:tags r:id="rId2"/>
            </p:custDataLst>
          </p:nvPr>
        </p:nvSpPr>
        <p:spPr>
          <a:xfrm>
            <a:off x="701026" y="4776650"/>
            <a:ext cx="4789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fr-FR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Opportunités</a:t>
            </a:r>
            <a:endParaRPr lang="fr-F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 de texte 13"/>
          <p:cNvSpPr txBox="1"/>
          <p:nvPr/>
        </p:nvSpPr>
        <p:spPr>
          <a:xfrm>
            <a:off x="335308" y="5257761"/>
            <a:ext cx="4941368" cy="1600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20040" indent="-171450">
              <a:lnSpc>
                <a:spcPct val="150000"/>
              </a:lnSpc>
              <a:buClr>
                <a:srgbClr val="38761D"/>
              </a:buClr>
              <a:buSzPts val="1111"/>
              <a:buFont typeface="Arial" panose="020B0604020202020204" pitchFamily="34" charset="0"/>
              <a:buChar char="•"/>
            </a:pPr>
            <a:r>
              <a:rPr lang="fr-FR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</a:t>
            </a:r>
            <a:endParaRPr lang="fr-FR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3" name="Tableau 12"/>
          <p:cNvGraphicFramePr>
            <a:graphicFrameLocks noGrp="1"/>
          </p:cNvGraphicFramePr>
          <p:nvPr/>
        </p:nvGraphicFramePr>
        <p:xfrm>
          <a:off x="235600" y="965203"/>
          <a:ext cx="11722356" cy="3330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259"/>
                <a:gridCol w="4966282"/>
                <a:gridCol w="4902815"/>
              </a:tblGrid>
              <a:tr h="446065"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Domaine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forts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96240" marR="635000" indent="-6350" algn="ctr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4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Points à améliorer</a:t>
                      </a:r>
                      <a:endParaRPr lang="en-US" sz="16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884727">
                <a:tc>
                  <a:txBody>
                    <a:bodyPr/>
                    <a:lstStyle/>
                    <a:p>
                      <a:pPr marL="396240" marR="635000" indent="-6350" algn="just">
                        <a:lnSpc>
                          <a:spcPct val="111000"/>
                        </a:lnSpc>
                        <a:spcAft>
                          <a:spcPts val="1030"/>
                        </a:spcAft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L’implication des pédiatres, des sages femmes et des infirmiers dans la sensibilisation des parents et gardiens d’enfants ;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L’implication et le déploiement des PROVED pour la sensibilisation de leurs paires dans les provinces (Kinshasa, Tanganyika et Haut Katanga);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L’implication des leaders communautaires et religieux et autres influenceurs communautaires dès le début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Mise en place de l’écoute sociale dans les provinces pour la gestion de la désinformation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marR="635000" lvl="0" indent="-342900" algn="l" fontAlgn="base">
                        <a:lnSpc>
                          <a:spcPct val="111000"/>
                        </a:lnSpc>
                        <a:buClr>
                          <a:srgbClr val="000000"/>
                        </a:buClr>
                        <a:buSzPts val="1200"/>
                        <a:buFont typeface="Arial" panose="020B0604020202020204" pitchFamily="34" charset="0"/>
                        <a:buChar char="•"/>
                        <a:tabLst>
                          <a:tab pos="228600" algn="l"/>
                        </a:tabLst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 des contenus sur les plateformes digitales du PEV et UNICEF (Facebook, Instagram, Twitter, site web, SMS)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des piles et mégaphones dans toutes les ZS;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Insuffisance d’affiches, de banderoles,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etc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 (CVPFJ)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Existence des rumeurs  et groupes réfractaires (Haut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Lomami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Tanganyika, Lualaba , Haut Katanga </a:t>
                      </a:r>
                      <a:r>
                        <a:rPr lang="fr-FR" sz="1200" dirty="0" err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etc</a:t>
                      </a:r>
                      <a:r>
                        <a:rPr lang="fr-FR" sz="1200" dirty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) CVPFJ</a:t>
                      </a:r>
                      <a:endParaRPr lang="fr-FR" sz="1200" dirty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Le déploiement tardif des superviseurs  (Polio)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Faible communication / collaboration entre la commission finance et communication dans le cadre de gestion des ressources  (Polio)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34340" indent="-285750">
                        <a:lnSpc>
                          <a:spcPct val="150000"/>
                        </a:lnSpc>
                        <a:buClr>
                          <a:srgbClr val="38761D"/>
                        </a:buClr>
                        <a:buSzPts val="1111"/>
                        <a:buFont typeface="Arial" panose="020B0604020202020204" pitchFamily="34" charset="0"/>
                        <a:buChar char="•"/>
                      </a:pPr>
                      <a:r>
                        <a:rPr lang="fr-FR" sz="1200" u="none" strike="noStrike" dirty="0">
                          <a:solidFill>
                            <a:srgbClr val="000000"/>
                          </a:solidFill>
                          <a:effectLst/>
                          <a:uFill>
                            <a:solidFill>
                              <a:srgbClr val="000000"/>
                            </a:solidFill>
                          </a:uFill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 mise en place des équipes d’écoute sociale sur le terrain, en ligne et hors ligne  </a:t>
                      </a:r>
                      <a:endParaRPr lang="en-US" sz="1200" u="none" strike="noStrike" dirty="0">
                        <a:solidFill>
                          <a:srgbClr val="000000"/>
                        </a:solidFill>
                        <a:effectLst/>
                        <a:uFill>
                          <a:solidFill>
                            <a:srgbClr val="000000"/>
                          </a:solidFill>
                        </a:uFill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2665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Leçons apprises - Bonne pratique</a:t>
            </a:r>
            <a:endParaRPr lang="fr-FR" altLang="en-GB" sz="3200" b="1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05456" y="1342390"/>
            <a:ext cx="0" cy="5332095"/>
          </a:xfrm>
          <a:prstGeom prst="rect">
            <a:avLst/>
          </a:prstGeom>
          <a:ln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altLang="en-US"/>
          </a:p>
        </p:txBody>
      </p:sp>
      <p:sp>
        <p:nvSpPr>
          <p:cNvPr id="4" name="Zone de texte 3"/>
          <p:cNvSpPr txBox="1"/>
          <p:nvPr>
            <p:custDataLst>
              <p:tags r:id="rId1"/>
            </p:custDataLst>
          </p:nvPr>
        </p:nvSpPr>
        <p:spPr>
          <a:xfrm>
            <a:off x="808903" y="1011418"/>
            <a:ext cx="508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>
              <a:buClrTx/>
              <a:buSzTx/>
              <a:buFontTx/>
            </a:pPr>
            <a:r>
              <a:rPr lang="fr-FR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Leçons apprises 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Zone de texte 7"/>
          <p:cNvSpPr txBox="1"/>
          <p:nvPr>
            <p:custDataLst>
              <p:tags r:id="rId2"/>
            </p:custDataLst>
          </p:nvPr>
        </p:nvSpPr>
        <p:spPr>
          <a:xfrm>
            <a:off x="7138764" y="1142365"/>
            <a:ext cx="28784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en-US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Bonnes pratiques  </a:t>
            </a:r>
            <a:endParaRPr lang="fr-FR" altLang="en-US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0" y="1392371"/>
            <a:ext cx="6701246" cy="51476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342900">
              <a:spcBef>
                <a:spcPts val="12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La disponibilité des fonds et des vaccins au pays ont permis d’organiser les ripostes rapides aux cas de poliovirus variants notifiés dans les zones de santé de </a:t>
            </a:r>
            <a:r>
              <a:rPr lang="fr-FR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Muanda</a:t>
            </a: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</a:t>
            </a:r>
            <a:r>
              <a:rPr lang="fr-FR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Lotumbe</a:t>
            </a: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, Kabambare et Samba dans les délais requis selon les SOPs;</a:t>
            </a: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>
              <a:spcBef>
                <a:spcPts val="12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cs typeface="Times New Roman" panose="02020603050405020304"/>
              </a:rPr>
              <a:t>La régularité du fonctionnement des postes de commandements à tous les niveaux a permis le suivi des préparatifs, l'amélioration de la coordination et la mise en œuvre d’une campagne de qualité en dépit de certains défis enregistrés (FJ et RR). </a:t>
            </a:r>
            <a:endParaRPr lang="fr-FR" dirty="0">
              <a:latin typeface="Times New Roman" panose="02020603050405020304"/>
              <a:cs typeface="Times New Roman" panose="02020603050405020304"/>
            </a:endParaRPr>
          </a:p>
          <a:p>
            <a:pPr marL="457200" indent="-342900">
              <a:spcBef>
                <a:spcPts val="12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L’implication des autorités politico-administratives dans les préparatifs et la mise en œuvre de la campagne a permis d’atteindre un plus grand nombre d’enfants cibles au sein des groupes réfractaires ;</a:t>
            </a: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>
              <a:spcBef>
                <a:spcPts val="12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cs typeface="Times New Roman" panose="02020603050405020304"/>
              </a:rPr>
              <a:t>La mise en place d’un système de remontée des données plus efficace dans DHIS2 avec une formation plus efficace des gestionnaires de données a permis d’atteindre des taux de complétude de près de 100% pour la campagne RR dans les 7 provinces du bloc 1 (RR)</a:t>
            </a:r>
            <a:endParaRPr lang="fr-FR" dirty="0"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Zone de texte 13"/>
          <p:cNvSpPr txBox="1"/>
          <p:nvPr/>
        </p:nvSpPr>
        <p:spPr>
          <a:xfrm>
            <a:off x="6701249" y="1603375"/>
            <a:ext cx="5324746" cy="4806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342900">
              <a:spcBef>
                <a:spcPts val="5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Elaboration et utilisation d’une liste de contrôle (checklist) pour le suivi des activités critiques; </a:t>
            </a: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342900">
              <a:spcBef>
                <a:spcPts val="5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Répartition des provinces aux membres du COUP/GPEI pour le suivi pendant les campagnes</a:t>
            </a: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342900">
              <a:spcBef>
                <a:spcPts val="5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Formation des superviseurs nationaux avec un accent sur la pratique </a:t>
            </a: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>
              <a:spcBef>
                <a:spcPts val="5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Création des groupes WhatsApp pour le partage en temps réel des informations  en lien avec les activités de campagne</a:t>
            </a: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indent="-342900">
              <a:spcBef>
                <a:spcPts val="5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cs typeface="Times New Roman" panose="02020603050405020304"/>
              </a:rPr>
              <a:t>L’ intégration des groupes réfractaires dans les activités de vaccination et les visites  en dehors des périodes de campagne, facilite leur adhésion à la vaccination et réduit les cas de résistances</a:t>
            </a:r>
            <a:endParaRPr lang="fr-FR" dirty="0"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>
              <a:spcBef>
                <a:spcPts val="500"/>
              </a:spcBef>
              <a:buClr>
                <a:srgbClr val="38761D"/>
              </a:buClr>
              <a:buSzPts val="1800"/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Débriefing de la m</a:t>
            </a:r>
            <a:r>
              <a:rPr lang="fr-FR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ission des superviseurs centraux après chaque campagne réalisée</a:t>
            </a:r>
            <a:endParaRPr lang="fr-FR" dirty="0"/>
          </a:p>
          <a:p>
            <a:pPr marL="457200" lvl="0" indent="-342900">
              <a:spcBef>
                <a:spcPts val="1200"/>
              </a:spcBef>
              <a:buClr>
                <a:srgbClr val="38761D"/>
              </a:buClr>
              <a:buSzPts val="1800"/>
              <a:buFont typeface="Times New Roman" panose="02020603050405020304"/>
              <a:buChar char="✔"/>
            </a:pPr>
            <a:endParaRPr lang="fr-FR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GB" sz="1600"/>
            </a:fld>
            <a:endParaRPr lang="en-GB" sz="1600"/>
          </a:p>
        </p:txBody>
      </p:sp>
      <p:sp>
        <p:nvSpPr>
          <p:cNvPr id="167" name="Google Shape;167;p1"/>
          <p:cNvSpPr txBox="1"/>
          <p:nvPr/>
        </p:nvSpPr>
        <p:spPr>
          <a:xfrm>
            <a:off x="295033" y="5920417"/>
            <a:ext cx="3302000" cy="348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 panose="020B0604020202020204"/>
              <a:buNone/>
            </a:pPr>
            <a:r>
              <a:rPr lang="en-GB" sz="2265" b="0" i="0" u="none" strike="noStrike" cap="non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October 2024</a:t>
            </a:r>
            <a:endParaRPr sz="2265" b="0" i="0" u="none" strike="noStrike" cap="none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68" name="Google Shape;168;p1"/>
          <p:cNvPicPr preferRelativeResize="0"/>
          <p:nvPr/>
        </p:nvPicPr>
        <p:blipFill rotWithShape="1">
          <a:blip r:embed="rId1"/>
          <a:srcRect l="-17785"/>
          <a:stretch>
            <a:fillRect/>
          </a:stretch>
        </p:blipFill>
        <p:spPr>
          <a:xfrm>
            <a:off x="-683503" y="1646443"/>
            <a:ext cx="4526453" cy="37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"/>
          <p:cNvSpPr txBox="1"/>
          <p:nvPr/>
        </p:nvSpPr>
        <p:spPr>
          <a:xfrm>
            <a:off x="4648835" y="3042920"/>
            <a:ext cx="7215505" cy="122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RECOMMANDATION/</a:t>
            </a:r>
            <a:endParaRPr lang="fr-FR" sz="4000" b="1" i="0" u="none" strike="noStrike" cap="none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 panose="020B0604020202020204"/>
              <a:buNone/>
            </a:pPr>
            <a:r>
              <a:rPr 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ACTION PRIORITAIRE POUR 202</a:t>
            </a:r>
            <a:r>
              <a:rPr lang="en-US" altLang="fr-FR" sz="4000" b="1" i="0" u="none" strike="noStrike" cap="none" dirty="0" err="1">
                <a:solidFill>
                  <a:srgbClr val="145ABE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lang="en-US" altLang="fr-FR" sz="4000" b="1" i="0" u="none" strike="noStrike" cap="none" dirty="0" err="1">
              <a:solidFill>
                <a:srgbClr val="145ABE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0" name="Google Shape;170;p1"/>
          <p:cNvSpPr/>
          <p:nvPr/>
        </p:nvSpPr>
        <p:spPr>
          <a:xfrm>
            <a:off x="3660828" y="1516400"/>
            <a:ext cx="373600" cy="1867200"/>
          </a:xfrm>
          <a:prstGeom prst="rect">
            <a:avLst/>
          </a:prstGeom>
          <a:solidFill>
            <a:srgbClr val="145ABE"/>
          </a:solidFill>
          <a:ln>
            <a:noFill/>
          </a:ln>
        </p:spPr>
        <p:txBody>
          <a:bodyPr spcFirstLastPara="1" wrap="square" lIns="91433" tIns="91433" rIns="91433" bIns="91433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</a:pPr>
            <a:endParaRPr sz="1465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3200" b="1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Recommandations </a:t>
            </a:r>
            <a:endParaRPr lang="fr-FR" altLang="en-GB" sz="3200" b="1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216535" y="1375410"/>
            <a:ext cx="11388725" cy="5034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Au niveau central (PEV et partenaires)</a:t>
            </a:r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fr-FR" dirty="0"/>
              <a:t>- Mobiliser les fonds de la campagne dans un delai requis pour éviter le report des campagnes  et le prefinancement des activités </a:t>
            </a:r>
            <a:r>
              <a:rPr lang="en-US" altLang="fr-FR" dirty="0">
                <a:sym typeface="+mn-ea"/>
              </a:rPr>
              <a:t> au niveau des provinces</a:t>
            </a:r>
            <a:endParaRPr lang="en-US" altLang="fr-FR" dirty="0"/>
          </a:p>
          <a:p>
            <a:pPr indent="0">
              <a:buFont typeface="Arial" panose="020B0604020202020204" pitchFamily="34" charset="0"/>
              <a:buNone/>
            </a:pPr>
            <a:endParaRPr lang="en-US" altLang="fr-FR" dirty="0"/>
          </a:p>
          <a:p>
            <a:pPr indent="0">
              <a:buFont typeface="Arial" panose="020B0604020202020204" pitchFamily="34" charset="0"/>
              <a:buNone/>
            </a:pPr>
            <a:r>
              <a:rPr lang="en-US" altLang="fr-FR" dirty="0"/>
              <a:t>- Payer les arrierés de certains prestataires pour un bon deroulement des activités de masse  dans la communauté </a:t>
            </a:r>
            <a:endParaRPr lang="fr-FR" dirty="0"/>
          </a:p>
          <a:p>
            <a:endParaRPr lang="fr-F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"/>
          <p:cNvSpPr txBox="1"/>
          <p:nvPr/>
        </p:nvSpPr>
        <p:spPr>
          <a:xfrm>
            <a:off x="458592" y="317941"/>
            <a:ext cx="11274800" cy="7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-FR" altLang="en-GB" sz="3200" b="1" dirty="0">
                <a:solidFill>
                  <a:srgbClr val="0070C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Actions prioritaires pour 2026 </a:t>
            </a:r>
            <a:endParaRPr lang="fr-FR" altLang="en-GB" sz="3200" b="1" dirty="0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0" y="272241"/>
            <a:ext cx="235600" cy="6552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5">
              <a:solidFill>
                <a:srgbClr val="0070C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Google Shape;224;p16"/>
          <p:cNvSpPr txBox="1"/>
          <p:nvPr/>
        </p:nvSpPr>
        <p:spPr>
          <a:xfrm>
            <a:off x="267700" y="6492843"/>
            <a:ext cx="1141480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2190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 b="1">
                <a:solidFill>
                  <a:srgbClr val="1155CC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Revue annuelle PEV 2025</a:t>
            </a:r>
            <a:endParaRPr lang="fr-FR" sz="1200" b="1">
              <a:solidFill>
                <a:srgbClr val="1155CC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Zone de texte 11"/>
          <p:cNvSpPr txBox="1"/>
          <p:nvPr/>
        </p:nvSpPr>
        <p:spPr>
          <a:xfrm>
            <a:off x="216535" y="1375410"/>
            <a:ext cx="11388725" cy="5034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Campagne de vaccination préventive contre la fièvre jaune dans les provinces du Bloc 7 (Ituri et Nord Kivu)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Campagne de rattrapage contre la rougeole et rubéole (RR) dans les provinces du Bloc 2</a:t>
            </a:r>
            <a:r>
              <a:rPr lang="en-US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( 11 provinces )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3</a:t>
            </a:r>
            <a:r>
              <a:rPr lang="en-US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( 8 provinces )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intégrée à la Polio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Organiser des ripostes contre la rougeole</a:t>
            </a:r>
            <a:r>
              <a:rPr lang="en-US" alt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la polio  et autres MPV </a:t>
            </a:r>
            <a:endParaRPr lang="en-US" alt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855;p19" descr="Une image contenant texte, graphisme, Graphique, carte&#10;&#10;Le contenu généré par l’IA peut être incorrect.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0198" y="-115047"/>
            <a:ext cx="6678919" cy="642631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854;p19"/>
          <p:cNvSpPr txBox="1"/>
          <p:nvPr/>
        </p:nvSpPr>
        <p:spPr>
          <a:xfrm>
            <a:off x="6556077" y="2461403"/>
            <a:ext cx="3964472" cy="1273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Clr>
                <a:srgbClr val="000000"/>
              </a:buClr>
              <a:buSzPts val="6600"/>
            </a:pPr>
            <a:r>
              <a:rPr lang="en-GB" sz="8800" b="1" dirty="0">
                <a:solidFill>
                  <a:srgbClr val="083C9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Baumans" panose="02000506020000020003"/>
                <a:cs typeface="Times New Roman" panose="02020603050405020304" pitchFamily="18" charset="0"/>
                <a:sym typeface="Baumans" panose="02000506020000020003"/>
              </a:rPr>
              <a:t>Merci </a:t>
            </a:r>
            <a:endParaRPr sz="8800" b="1" dirty="0">
              <a:solidFill>
                <a:srgbClr val="083C9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Baumans" panose="02000506020000020003"/>
              <a:cs typeface="Times New Roman" panose="02020603050405020304" pitchFamily="18" charset="0"/>
              <a:sym typeface="Baumans" panose="02000506020000020003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60.4,&quot;left&quot;:378.85,&quot;top&quot;:55.45,&quot;width&quot;:490.15}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1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1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1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1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i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GROUP_CODE" val="l1-1"/>
  <p:tag name="KSO_WM_UNIT_SUBTYPE" val="d"/>
  <p:tag name="KSO_WM_UNIT_TYPE" val="l_h_i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6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38021_2*l_h_f*1_2_1"/>
  <p:tag name="KSO_WM_TEMPLATE_CATEGORY" val="custom"/>
  <p:tag name="KSO_WM_TEMPLATE_INDEX" val="20238021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8"/>
  <p:tag name="KSO_WM_DIAGRAM_GROUP_CODE" val="l1-1"/>
  <p:tag name="KSO_WM_UNIT_TYPE" val="l_h_f"/>
  <p:tag name="KSO_WM_UNIT_INDEX" val="1_2_1"/>
  <p:tag name="KSO_WM_DIAGRAM_MAX_ITEMCNT" val="6"/>
  <p:tag name="KSO_WM_DIAGRAM_MIN_ITEMCNT" val="2"/>
  <p:tag name="KSO_WM_DIAGRAM_VIRTUALLY_FRAME" val="{&quot;height&quot;:460.4,&quot;left&quot;:378.85,&quot;top&quot;:55.45,&quot;width&quot;:490.1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TABLE_ENDDRAG_ORIGIN_RECT" val="943*382"/>
  <p:tag name="TABLE_ENDDRAG_RECT" val="12*99*943*382"/>
</p:tagLst>
</file>

<file path=ppt/tags/tag17.xml><?xml version="1.0" encoding="utf-8"?>
<p:tagLst xmlns:p="http://schemas.openxmlformats.org/presentationml/2006/main">
  <p:tag name="TABLE_ENDDRAG_ORIGIN_RECT" val="948*421"/>
  <p:tag name="TABLE_ENDDRAG_RECT" val="6*105*948*421"/>
</p:tagLst>
</file>

<file path=ppt/tags/tag18.xml><?xml version="1.0" encoding="utf-8"?>
<p:tagLst xmlns:p="http://schemas.openxmlformats.org/presentationml/2006/main">
  <p:tag name="TABLE_ENDDRAG_ORIGIN_RECT" val="947*407"/>
  <p:tag name="TABLE_ENDDRAG_RECT" val="12*102*947*407"/>
</p:tagLst>
</file>

<file path=ppt/tags/tag19.xml><?xml version="1.0" encoding="utf-8"?>
<p:tagLst xmlns:p="http://schemas.openxmlformats.org/presentationml/2006/main">
  <p:tag name="TABLE_ENDDRAG_ORIGIN_RECT" val="805*350"/>
  <p:tag name="TABLE_ENDDRAG_RECT" val="106*145*805*350"/>
</p:tagLst>
</file>

<file path=ppt/tags/tag20.xml><?xml version="1.0" encoding="utf-8"?>
<p:tagLst xmlns:p="http://schemas.openxmlformats.org/presentationml/2006/main">
  <p:tag name="TABLE_ENDDRAG_ORIGIN_RECT" val="877*302"/>
  <p:tag name="TABLE_ENDDRAG_RECT" val="36*104*877*302"/>
</p:tagLst>
</file>

<file path=ppt/tags/tag21.xml><?xml version="1.0" encoding="utf-8"?>
<p:tagLst xmlns:p="http://schemas.openxmlformats.org/presentationml/2006/main">
  <p:tag name="TABLE_ENDDRAG_ORIGIN_RECT" val="881*341"/>
  <p:tag name="TABLE_ENDDRAG_RECT" val="16*117*881*341"/>
</p:tagLst>
</file>

<file path=ppt/tags/tag22.xml><?xml version="1.0" encoding="utf-8"?>
<p:tagLst xmlns:p="http://schemas.openxmlformats.org/presentationml/2006/main">
  <p:tag name="TABLE_ENDDRAG_ORIGIN_RECT" val="881*341"/>
  <p:tag name="TABLE_ENDDRAG_RECT" val="16*117*881*341"/>
</p:tagLst>
</file>

<file path=ppt/tags/tag23.xml><?xml version="1.0" encoding="utf-8"?>
<p:tagLst xmlns:p="http://schemas.openxmlformats.org/presentationml/2006/main">
  <p:tag name="TABLE_ENDDRAG_ORIGIN_RECT" val="939*387"/>
  <p:tag name="TABLE_ENDDRAG_RECT" val="4*95*939*387"/>
</p:tagLst>
</file>

<file path=ppt/tags/tag24.xml><?xml version="1.0" encoding="utf-8"?>
<p:tagLst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5.xml><?xml version="1.0" encoding="utf-8"?>
<p:tagLst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6.xml><?xml version="1.0" encoding="utf-8"?>
<p:tagLst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ags/tag27.xml><?xml version="1.0" encoding="utf-8"?>
<p:tagLst xmlns:p="http://schemas.openxmlformats.org/presentationml/2006/main">
  <p:tag name="KSO_WM_DIAGRAM_VIRTUALLY_FRAME" val="{&quot;height&quot;:297.92496062992126,&quot;left&quot;:80,&quot;top&quot;:139.17503937007874,&quot;width&quot;:81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26560</Words>
  <Application>WPS Presentation</Application>
  <PresentationFormat>Grand écran</PresentationFormat>
  <Paragraphs>3921</Paragraphs>
  <Slides>34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34</vt:i4>
      </vt:variant>
    </vt:vector>
  </HeadingPairs>
  <TitlesOfParts>
    <vt:vector size="62" baseType="lpstr">
      <vt:lpstr>Arial</vt:lpstr>
      <vt:lpstr>SimSun</vt:lpstr>
      <vt:lpstr>Wingdings</vt:lpstr>
      <vt:lpstr>Calibri Light</vt:lpstr>
      <vt:lpstr>Arial</vt:lpstr>
      <vt:lpstr>Times New Roman</vt:lpstr>
      <vt:lpstr>Arial Black</vt:lpstr>
      <vt:lpstr>Times New Roman</vt:lpstr>
      <vt:lpstr>Courier New</vt:lpstr>
      <vt:lpstr>Source Serif Pro</vt:lpstr>
      <vt:lpstr>Calibri</vt:lpstr>
      <vt:lpstr>Book Antiqua</vt:lpstr>
      <vt:lpstr>Aptos Narrow</vt:lpstr>
      <vt:lpstr>Segoe UI Variable Display</vt:lpstr>
      <vt:lpstr>Arial Rounded</vt:lpstr>
      <vt:lpstr>Microsoft YaHei</vt:lpstr>
      <vt:lpstr>Arial Unicode MS</vt:lpstr>
      <vt:lpstr>MS PGothic</vt:lpstr>
      <vt:lpstr>Calibri</vt:lpstr>
      <vt:lpstr>Aptos</vt:lpstr>
      <vt:lpstr>Segoe UI</vt:lpstr>
      <vt:lpstr>Calibri Light</vt:lpstr>
      <vt:lpstr>Baumans</vt:lpstr>
      <vt:lpstr>Yu Gothic UI</vt:lpstr>
      <vt:lpstr>Segoe Print</vt:lpstr>
      <vt:lpstr>Office Theme</vt:lpstr>
      <vt:lpstr>Simple Light</vt:lpstr>
      <vt:lpstr>2_Simple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Mpox : personnes vaccinées par catégorie</vt:lpstr>
      <vt:lpstr>Cas de MAPI signalés lors de la campagne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jacky</cp:lastModifiedBy>
  <cp:revision>93</cp:revision>
  <dcterms:created xsi:type="dcterms:W3CDTF">2025-07-23T00:59:00Z</dcterms:created>
  <dcterms:modified xsi:type="dcterms:W3CDTF">2025-12-13T21:07:09Z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3084-12.2.0.23155</vt:lpwstr>
  </property>
  <property fmtid="{D5CDD505-2E9C-101B-9397-08002B2CF9AE}" pid="3" name="ICV">
    <vt:lpwstr>789209F62CD74C08A008674CEE846742_13</vt:lpwstr>
  </property>
</Properties>
</file>