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3" r:id="rId3"/>
    <p:sldId id="2147475721" r:id="rId4"/>
    <p:sldId id="2147475728" r:id="rId5"/>
    <p:sldId id="2147475730" r:id="rId6"/>
    <p:sldId id="2147475731" r:id="rId7"/>
    <p:sldId id="2147475732" r:id="rId8"/>
    <p:sldId id="2147475729" r:id="rId9"/>
    <p:sldId id="2147475733" r:id="rId10"/>
    <p:sldId id="2147475724" r:id="rId11"/>
    <p:sldId id="2147475703" r:id="rId12"/>
    <p:sldId id="2147475704" r:id="rId13"/>
    <p:sldId id="2147475720" r:id="rId14"/>
    <p:sldId id="274" r:id="rId15"/>
  </p:sldIdLst>
  <p:sldSz cx="9144000" cy="5143500" type="screen16x9"/>
  <p:notesSz cx="6858000" cy="9144000"/>
  <p:embeddedFontLst>
    <p:embeddedFont>
      <p:font typeface="Bodoni MT" panose="02070603080606020203" pitchFamily="18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Arial Black" panose="020B0A04020102020204" pitchFamily="34" charset="0"/>
      <p:regular r:id="rId25"/>
      <p:bold r:id="rId26"/>
    </p:embeddedFont>
    <p:embeddedFont>
      <p:font typeface="Baumans" panose="020B060402020202020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9" roundtripDataSignature="AMtx7mjfPPF1upyAIy1fZUgkdfw4g3v4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BD29E2-17EC-4BB6-9B1A-1A163F3B1572}">
  <a:tblStyle styleId="{CCBD29E2-17EC-4BB6-9B1A-1A163F3B15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79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GB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6" name="Google Shape;58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88218ad529_0_1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388218ad529_0_1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1522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88218ad529_0_1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388218ad529_0_1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8938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de55cb9c9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37de55cb9c9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960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" name="Google Shape;59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2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1600"/>
            </a:lvl1pPr>
            <a:lvl2pPr marL="914400" lvl="1" indent="-406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1400"/>
            </a:lvl2pPr>
            <a:lvl3pPr marL="1371600" lvl="2" indent="-381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200"/>
            </a:lvl3pPr>
            <a:lvl4pPr marL="1828800" lvl="3" indent="-355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000"/>
            </a:lvl4pPr>
            <a:lvl5pPr marL="2286000" lvl="4" indent="-355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1000"/>
            </a:lvl5pPr>
            <a:lvl6pPr marL="2743200" lvl="5" indent="-355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000"/>
            </a:lvl6pPr>
            <a:lvl7pPr marL="3200400" lvl="6" indent="-355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000"/>
            </a:lvl7pPr>
            <a:lvl8pPr marL="3657600" lvl="7" indent="-355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000"/>
            </a:lvl8pPr>
            <a:lvl9pPr marL="4114800" lvl="8" indent="-355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1000"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450"/>
            </a:lvl4pPr>
            <a:lvl5pPr marL="2286000" lvl="4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450"/>
            </a:lvl5pPr>
            <a:lvl6pPr marL="2743200" lvl="5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450"/>
            </a:lvl6pPr>
            <a:lvl7pPr marL="3200400" lvl="6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450"/>
            </a:lvl7pPr>
            <a:lvl8pPr marL="3657600" lvl="7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450"/>
            </a:lvl8pPr>
            <a:lvl9pPr marL="4114800" lvl="8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450"/>
            </a:lvl9pPr>
          </a:lstStyle>
          <a:p>
            <a:endParaRPr/>
          </a:p>
        </p:txBody>
      </p:sp>
      <p:sp>
        <p:nvSpPr>
          <p:cNvPr id="58" name="Google Shape;58;p4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1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450"/>
            </a:lvl4pPr>
            <a:lvl5pPr marL="2286000" lvl="4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450"/>
            </a:lvl5pPr>
            <a:lvl6pPr marL="2743200" lvl="5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450"/>
            </a:lvl6pPr>
            <a:lvl7pPr marL="3200400" lvl="6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450"/>
            </a:lvl7pPr>
            <a:lvl8pPr marL="3657600" lvl="7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450"/>
            </a:lvl8pPr>
            <a:lvl9pPr marL="4114800" lvl="8" indent="-22860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450"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2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body" idx="1"/>
          </p:nvPr>
        </p:nvSpPr>
        <p:spPr>
          <a:xfrm rot="5400000">
            <a:off x="1154510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3"/>
          <p:cNvSpPr txBox="1">
            <a:spLocks noGrp="1"/>
          </p:cNvSpPr>
          <p:nvPr>
            <p:ph type="title"/>
          </p:nvPr>
        </p:nvSpPr>
        <p:spPr>
          <a:xfrm rot="5400000">
            <a:off x="2366169" y="1085851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 sz="6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6717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6" r:id="rId3"/>
    <p:sldLayoutId id="2147483657" r:id="rId4"/>
    <p:sldLayoutId id="2147483658" r:id="rId5"/>
    <p:sldLayoutId id="2147483659" r:id="rId6"/>
    <p:sldLayoutId id="2147483661" r:id="rId7"/>
    <p:sldLayoutId id="2147483752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"/>
          <p:cNvSpPr txBox="1"/>
          <p:nvPr/>
        </p:nvSpPr>
        <p:spPr>
          <a:xfrm>
            <a:off x="3186267" y="2562417"/>
            <a:ext cx="582692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 dirty="0" smtClean="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PRESENTATION DES PERFORMANCES DE LA GESTION DU PROGRAMME EN 2025 </a:t>
            </a:r>
            <a:endParaRPr sz="1800" b="1" i="0" u="none" strike="noStrike" cap="none" dirty="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39" name="Google Shape;139;p1"/>
          <p:cNvPicPr preferRelativeResize="0"/>
          <p:nvPr/>
        </p:nvPicPr>
        <p:blipFill rotWithShape="1">
          <a:blip r:embed="rId4">
            <a:alphaModFix/>
          </a:blip>
          <a:srcRect l="-17785"/>
          <a:stretch/>
        </p:blipFill>
        <p:spPr>
          <a:xfrm>
            <a:off x="-517585" y="1634779"/>
            <a:ext cx="3460625" cy="277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"/>
          <p:cNvSpPr txBox="1"/>
          <p:nvPr/>
        </p:nvSpPr>
        <p:spPr>
          <a:xfrm>
            <a:off x="4195501" y="4801968"/>
            <a:ext cx="24765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1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DECEMBRE</a:t>
            </a:r>
            <a:r>
              <a:rPr lang="en-GB" sz="1300" b="1" i="0" u="none" strike="noStrike" cap="none" dirty="0" smtClean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3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2025</a:t>
            </a:r>
            <a:endParaRPr sz="13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8"/>
          <p:cNvSpPr txBox="1"/>
          <p:nvPr/>
        </p:nvSpPr>
        <p:spPr>
          <a:xfrm>
            <a:off x="259200" y="204073"/>
            <a:ext cx="8796300" cy="4914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just">
              <a:buSzPts val="2400"/>
            </a:pPr>
            <a:r>
              <a:rPr lang="fr-FR" altLang="fr-FR" sz="2400" b="1" dirty="0" smtClean="0">
                <a:solidFill>
                  <a:schemeClr val="tx1"/>
                </a:solidFill>
                <a:latin typeface="Bodoni MT" panose="02070603080606020203" pitchFamily="18" charset="0"/>
              </a:rPr>
              <a:t>PLAN DE PRESENTATION</a:t>
            </a:r>
            <a:endParaRPr sz="2400" b="1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18"/>
          <p:cNvSpPr txBox="1"/>
          <p:nvPr/>
        </p:nvSpPr>
        <p:spPr>
          <a:xfrm>
            <a:off x="259200" y="879975"/>
            <a:ext cx="8569200" cy="39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0000" anchor="t" anchorCtr="0">
            <a:noAutofit/>
          </a:bodyPr>
          <a:lstStyle/>
          <a:p>
            <a:pPr marL="342900" indent="-342900">
              <a:lnSpc>
                <a:spcPct val="250000"/>
              </a:lnSpc>
              <a:buSzPts val="1800"/>
              <a:buFont typeface="+mj-lt"/>
              <a:buAutoNum type="arabicPeriod"/>
            </a:pPr>
            <a:r>
              <a:rPr lang="fr-FR" sz="2000" dirty="0" smtClean="0">
                <a:latin typeface="Bodoni MT" panose="02070603080606020203" pitchFamily="18" charset="0"/>
              </a:rPr>
              <a:t>RAPPEL DES OBJECTIFS PAO 2025 (</a:t>
            </a:r>
            <a:r>
              <a:rPr lang="fr-FR" sz="2000" b="1" dirty="0" smtClean="0">
                <a:latin typeface="Bodoni MT" panose="02070603080606020203" pitchFamily="18" charset="0"/>
              </a:rPr>
              <a:t>Gestion Programme</a:t>
            </a:r>
            <a:r>
              <a:rPr lang="fr-FR" sz="2000" dirty="0" smtClean="0">
                <a:latin typeface="Bodoni MT" panose="02070603080606020203" pitchFamily="18" charset="0"/>
              </a:rPr>
              <a:t>)</a:t>
            </a:r>
          </a:p>
          <a:p>
            <a:pPr marL="342900" indent="-342900">
              <a:lnSpc>
                <a:spcPct val="250000"/>
              </a:lnSpc>
              <a:buSzPts val="1800"/>
              <a:buFont typeface="+mj-lt"/>
              <a:buAutoNum type="arabicPeriod"/>
            </a:pPr>
            <a:r>
              <a:rPr lang="fr-FR" sz="2000" dirty="0" smtClean="0">
                <a:latin typeface="Bodoni MT" panose="02070603080606020203" pitchFamily="18" charset="0"/>
              </a:rPr>
              <a:t>ACTIVITES AVEC RESULTATS AUX FORTS IMPACTS</a:t>
            </a:r>
          </a:p>
          <a:p>
            <a:pPr marL="342900" indent="-342900">
              <a:lnSpc>
                <a:spcPct val="250000"/>
              </a:lnSpc>
              <a:buSzPts val="1800"/>
              <a:buFont typeface="+mj-lt"/>
              <a:buAutoNum type="arabicPeriod"/>
            </a:pPr>
            <a:r>
              <a:rPr lang="fr-FR" sz="2000" dirty="0" smtClean="0">
                <a:latin typeface="Bodoni MT" panose="02070603080606020203" pitchFamily="18" charset="0"/>
              </a:rPr>
              <a:t>CAUSES PROFONDES POUR LES ACTIVITES NON REALISEES</a:t>
            </a:r>
          </a:p>
          <a:p>
            <a:pPr marL="342900" indent="-342900">
              <a:lnSpc>
                <a:spcPct val="250000"/>
              </a:lnSpc>
              <a:buSzPts val="1800"/>
              <a:buFont typeface="+mj-lt"/>
              <a:buAutoNum type="arabicPeriod"/>
            </a:pPr>
            <a:r>
              <a:rPr lang="fr-FR" sz="2000" dirty="0">
                <a:latin typeface="Bodoni MT" panose="02070603080606020203" pitchFamily="18" charset="0"/>
              </a:rPr>
              <a:t>PERSPECTIVES POUR 2026</a:t>
            </a:r>
          </a:p>
          <a:p>
            <a:pPr marL="342900" indent="-342900">
              <a:lnSpc>
                <a:spcPct val="150000"/>
              </a:lnSpc>
              <a:buSzPts val="1800"/>
              <a:buFont typeface="+mj-lt"/>
              <a:buAutoNum type="arabicPeriod"/>
            </a:pPr>
            <a:endParaRPr lang="fr-FR" sz="2000" dirty="0" smtClean="0">
              <a:latin typeface="Bodoni MT" panose="02070603080606020203" pitchFamily="18" charset="0"/>
            </a:endParaRPr>
          </a:p>
          <a:p>
            <a:pPr marL="342900" indent="-342900">
              <a:lnSpc>
                <a:spcPct val="150000"/>
              </a:lnSpc>
              <a:buSzPts val="1800"/>
              <a:buFont typeface="+mj-lt"/>
              <a:buAutoNum type="arabicPeriod"/>
            </a:pPr>
            <a:endParaRPr lang="fr-FR" sz="2000" dirty="0" smtClean="0">
              <a:latin typeface="Bodoni MT" panose="02070603080606020203" pitchFamily="18" charset="0"/>
            </a:endParaRPr>
          </a:p>
          <a:p>
            <a:pPr marL="342900" indent="-342900">
              <a:lnSpc>
                <a:spcPct val="150000"/>
              </a:lnSpc>
              <a:buSzPts val="1800"/>
              <a:buFont typeface="+mj-lt"/>
              <a:buAutoNum type="arabicPeriod"/>
            </a:pPr>
            <a:endParaRPr lang="fr-FR" sz="2000" dirty="0" smtClean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SzPts val="1800"/>
            </a:pPr>
            <a:endParaRPr lang="fr-FR" sz="2000" dirty="0">
              <a:latin typeface="Arial Black" panose="020B0A04020102020204" pitchFamily="34" charset="0"/>
            </a:endParaRPr>
          </a:p>
          <a:p>
            <a:pPr>
              <a:lnSpc>
                <a:spcPct val="150000"/>
              </a:lnSpc>
              <a:buSzPts val="1800"/>
            </a:pPr>
            <a:endParaRPr lang="en-US" sz="2400" dirty="0">
              <a:latin typeface="Arial Black" panose="020B0A04020102020204" pitchFamily="34" charset="0"/>
            </a:endParaRPr>
          </a:p>
          <a:p>
            <a:pPr marL="342900" lvl="0" indent="-342900">
              <a:buSzPts val="1800"/>
              <a:buFont typeface="+mj-lt"/>
              <a:buAutoNum type="arabicPeriod"/>
            </a:pPr>
            <a:endParaRPr lang="fr-FR" sz="2400" dirty="0"/>
          </a:p>
          <a:p>
            <a:pPr lvl="0">
              <a:buSzPts val="1800"/>
            </a:pPr>
            <a:endParaRPr lang="fr-FR" sz="2400" dirty="0"/>
          </a:p>
          <a:p>
            <a:pPr marL="342900" lvl="0" indent="-342900">
              <a:buSzPts val="1800"/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SzPts val="1800"/>
              <a:buFont typeface="+mj-lt"/>
              <a:buAutoNum type="arabicPeriod"/>
            </a:pPr>
            <a:endParaRPr lang="fr-FR" sz="1800" dirty="0"/>
          </a:p>
          <a:p>
            <a:pPr marL="342900" indent="-342900">
              <a:buSzPts val="1800"/>
              <a:buFont typeface="+mj-lt"/>
              <a:buAutoNum type="arabicPeriod"/>
            </a:pPr>
            <a:endParaRPr lang="fr-FR" sz="1800" dirty="0"/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7E24B3-02BE-0F14-F02C-AD526EFE6454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>
                <a:solidFill>
                  <a:schemeClr val="tx1"/>
                </a:solidFill>
                <a:latin typeface="Bodoni MT" panose="02070603080606020203" pitchFamily="18" charset="0"/>
              </a:rPr>
              <a:t>GESTION </a:t>
            </a:r>
            <a:r>
              <a:rPr lang="fr-FR" sz="2000" b="1" dirty="0" smtClean="0">
                <a:solidFill>
                  <a:schemeClr val="tx1"/>
                </a:solidFill>
                <a:latin typeface="Bodoni MT" panose="02070603080606020203" pitchFamily="18" charset="0"/>
              </a:rPr>
              <a:t>DU PROGRAMME</a:t>
            </a:r>
            <a:endParaRPr lang="fr-CG" sz="2000" b="1" dirty="0">
              <a:latin typeface="Bodoni MT" panose="02070603080606020203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BF0CAA-9FD8-A073-2054-6CA9ADE8F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fr-FR" sz="1800" b="1" dirty="0" smtClean="0">
                <a:solidFill>
                  <a:srgbClr val="0070C0"/>
                </a:solidFill>
                <a:latin typeface="Bodoni MT" panose="02070603080606020203" pitchFamily="18" charset="0"/>
              </a:rPr>
              <a:t>1.RAPPEL </a:t>
            </a:r>
            <a:r>
              <a:rPr lang="fr-FR" sz="1800" b="1" dirty="0">
                <a:solidFill>
                  <a:srgbClr val="0070C0"/>
                </a:solidFill>
                <a:latin typeface="Bodoni MT" panose="02070603080606020203" pitchFamily="18" charset="0"/>
              </a:rPr>
              <a:t>DES OBJECTIFS</a:t>
            </a:r>
            <a:endParaRPr lang="fr-FR" sz="1800" dirty="0" smtClean="0">
              <a:solidFill>
                <a:srgbClr val="0070C0"/>
              </a:solidFill>
              <a:latin typeface="Bodoni MT" panose="02070603080606020203" pitchFamily="18" charset="0"/>
              <a:cs typeface="Arial" panose="020B0604020202020204" pitchFamily="34" charset="0"/>
            </a:endParaRPr>
          </a:p>
          <a:p>
            <a:endParaRPr lang="fr-FR" sz="1800" dirty="0">
              <a:latin typeface="Bodoni MT" panose="02070603080606020203" pitchFamily="18" charset="0"/>
              <a:cs typeface="Arial" panose="020B0604020202020204" pitchFamily="34" charset="0"/>
            </a:endParaRPr>
          </a:p>
          <a:p>
            <a:r>
              <a:rPr lang="fr-FR" sz="1800" dirty="0" smtClean="0">
                <a:latin typeface="Bodoni MT" panose="02070603080606020203" pitchFamily="18" charset="0"/>
                <a:cs typeface="Arial" panose="020B0604020202020204" pitchFamily="34" charset="0"/>
              </a:rPr>
              <a:t>D'ici fin 2025, renforcer le leadership du Programme dans la gouvernance des activités de vaccination à tous les niveaux ;</a:t>
            </a:r>
          </a:p>
          <a:p>
            <a:endParaRPr lang="fr-FR" sz="1800" dirty="0" smtClean="0">
              <a:latin typeface="Bodoni MT" panose="02070603080606020203" pitchFamily="18" charset="0"/>
              <a:cs typeface="Arial" panose="020B0604020202020204" pitchFamily="34" charset="0"/>
            </a:endParaRPr>
          </a:p>
          <a:p>
            <a:r>
              <a:rPr lang="fr-FR" sz="1800" dirty="0" smtClean="0">
                <a:latin typeface="Bodoni MT" panose="02070603080606020203" pitchFamily="18" charset="0"/>
                <a:cs typeface="Arial" panose="020B0604020202020204" pitchFamily="34" charset="0"/>
              </a:rPr>
              <a:t>D'ici fin 2025, Accroitre le financement domestique de 2 à 3%  la part du budget de la vaccination dans le budget de la santé ;</a:t>
            </a:r>
          </a:p>
          <a:p>
            <a:endParaRPr lang="fr-FR" sz="1800" dirty="0" smtClean="0">
              <a:latin typeface="Bodoni MT" panose="02070603080606020203" pitchFamily="18" charset="0"/>
              <a:cs typeface="Arial" panose="020B0604020202020204" pitchFamily="34" charset="0"/>
            </a:endParaRPr>
          </a:p>
          <a:p>
            <a:r>
              <a:rPr lang="fr-FR" sz="1800" dirty="0" smtClean="0">
                <a:latin typeface="Bodoni MT" panose="02070603080606020203" pitchFamily="18" charset="0"/>
                <a:cs typeface="Arial" panose="020B0604020202020204" pitchFamily="34" charset="0"/>
              </a:rPr>
              <a:t>D'ici fin 2025,renforcer les capacités managériales des ressources humaines dédiées à la vaccination à tous les niveaux.</a:t>
            </a:r>
            <a:endParaRPr lang="fr-FR" sz="1800" dirty="0">
              <a:latin typeface="Bodoni MT" panose="020706030806060202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7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BF0CAA-9FD8-A073-2054-6CA9ADE8F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739140"/>
            <a:ext cx="8520600" cy="382973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FR" sz="1800" b="1" dirty="0">
                <a:solidFill>
                  <a:srgbClr val="0070C0"/>
                </a:solidFill>
                <a:latin typeface="Bodoni MT" panose="02070603080606020203" pitchFamily="18" charset="0"/>
              </a:rPr>
              <a:t>2</a:t>
            </a:r>
            <a:r>
              <a:rPr lang="fr-FR" sz="1800" b="1" dirty="0" smtClean="0">
                <a:solidFill>
                  <a:srgbClr val="0070C0"/>
                </a:solidFill>
                <a:latin typeface="Bodoni MT" panose="02070603080606020203" pitchFamily="18" charset="0"/>
              </a:rPr>
              <a:t>. ACTIVITES AVEC RESULTATS AUX FORTS IMPACTS</a:t>
            </a:r>
            <a:endParaRPr lang="fr-FR" sz="1600" dirty="0">
              <a:solidFill>
                <a:srgbClr val="0070C0"/>
              </a:solidFill>
              <a:latin typeface="Bodoni MT" panose="02070603080606020203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710558"/>
              </p:ext>
            </p:extLst>
          </p:nvPr>
        </p:nvGraphicFramePr>
        <p:xfrm>
          <a:off x="411480" y="1310641"/>
          <a:ext cx="8519160" cy="2865120"/>
        </p:xfrm>
        <a:graphic>
          <a:graphicData uri="http://schemas.openxmlformats.org/drawingml/2006/table">
            <a:tbl>
              <a:tblPr firstRow="1" bandRow="1">
                <a:tableStyleId>{CCBD29E2-17EC-4BB6-9B1A-1A163F3B1572}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674995477"/>
                    </a:ext>
                  </a:extLst>
                </a:gridCol>
                <a:gridCol w="2623002">
                  <a:extLst>
                    <a:ext uri="{9D8B030D-6E8A-4147-A177-3AD203B41FA5}">
                      <a16:colId xmlns:a16="http://schemas.microsoft.com/office/drawing/2014/main" val="3408525795"/>
                    </a:ext>
                  </a:extLst>
                </a:gridCol>
                <a:gridCol w="4638858">
                  <a:extLst>
                    <a:ext uri="{9D8B030D-6E8A-4147-A177-3AD203B41FA5}">
                      <a16:colId xmlns:a16="http://schemas.microsoft.com/office/drawing/2014/main" val="2908813588"/>
                    </a:ext>
                  </a:extLst>
                </a:gridCol>
              </a:tblGrid>
              <a:tr h="315768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latin typeface="Bodoni MT" panose="02070603080606020203" pitchFamily="18" charset="0"/>
                        </a:rPr>
                        <a:t>DOMAINE</a:t>
                      </a:r>
                      <a:endParaRPr lang="en-US" sz="1600" b="1" dirty="0">
                        <a:latin typeface="Bodoni MT" panose="02070603080606020203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latin typeface="Bodoni MT" panose="02070603080606020203" pitchFamily="18" charset="0"/>
                        </a:rPr>
                        <a:t>ACTIVITES</a:t>
                      </a:r>
                      <a:endParaRPr lang="en-US" sz="1600" b="1" dirty="0">
                        <a:latin typeface="Bodoni MT" panose="02070603080606020203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latin typeface="Bodoni MT" panose="02070603080606020203" pitchFamily="18" charset="0"/>
                        </a:rPr>
                        <a:t>RESULTATS OBTENUS</a:t>
                      </a:r>
                      <a:endParaRPr lang="en-US" sz="1600" b="1" dirty="0">
                        <a:latin typeface="Bodoni MT" panose="02070603080606020203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7646"/>
                  </a:ext>
                </a:extLst>
              </a:tr>
              <a:tr h="602830">
                <a:tc rowSpan="2">
                  <a:txBody>
                    <a:bodyPr/>
                    <a:lstStyle/>
                    <a:p>
                      <a:r>
                        <a:rPr lang="fr-FR" sz="1400" dirty="0" smtClean="0">
                          <a:latin typeface="Bodoni MT" panose="02070603080606020203" pitchFamily="18" charset="0"/>
                        </a:rPr>
                        <a:t>Gouvernance</a:t>
                      </a:r>
                      <a:endParaRPr lang="en-US" sz="1400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cs typeface="Times New Roman" pitchFamily="18" charset="0"/>
                        </a:rPr>
                        <a:t>Organiser le Forum national sur la vaccination et l’éradication de la poliomyélite</a:t>
                      </a:r>
                      <a:endParaRPr lang="fr-CA" sz="1400" b="1" i="0" u="none" strike="noStrike" dirty="0" smtClean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Bodoni MT" panose="02070603080606020203" pitchFamily="18" charset="0"/>
                        </a:rPr>
                        <a:t>Organisé du 05 au 06 Mars 2025 à Kinshasa</a:t>
                      </a:r>
                      <a:r>
                        <a:rPr lang="fr-FR" sz="1400" baseline="0" dirty="0" smtClean="0">
                          <a:latin typeface="Bodoni MT" panose="02070603080606020203" pitchFamily="18" charset="0"/>
                        </a:rPr>
                        <a:t> (FCH), les Gouvernements Provinciaux ont renouvelé leur engagement en faveur de la vaccination</a:t>
                      </a:r>
                      <a:endParaRPr lang="en-US" sz="1400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16758"/>
                  </a:ext>
                </a:extLst>
              </a:tr>
              <a:tr h="1596002">
                <a:tc vMerge="1">
                  <a:txBody>
                    <a:bodyPr/>
                    <a:lstStyle/>
                    <a:p>
                      <a:endParaRPr lang="en-US" sz="1400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A" sz="1400" b="1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Appuyer la mise en œuvre des activités de la feuille de route des REPACAV du niveau national et provincial 12/26 provinces :Haut Katanga, Kasai, Kinshasa, Kasai Oriental, Tshopo, Tanganyika, Lualaba, Ituri, Kongo Central, Équateur, Kwilu et Kwango)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Une</a:t>
                      </a: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feuille de route a été élaborée, des missions mixtes (PEV-Parlementaires) d’accompagnement des provinces ont abouti à l’installation </a:t>
                      </a: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et à la redynamisation de 19 </a:t>
                      </a: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sur </a:t>
                      </a: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les 26 </a:t>
                      </a: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REPACAV Provinciaux </a:t>
                      </a: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prévus.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Il reste 7 provinces (Nord et Sud Kivu, Maniema, Kwango, Kinshasa, </a:t>
                      </a:r>
                      <a:r>
                        <a:rPr lang="fr-FR" sz="1400" b="0" i="0" u="none" strike="noStrike" kern="1200" cap="none" dirty="0" smtClean="0">
                          <a:solidFill>
                            <a:srgbClr val="FF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Equateur, </a:t>
                      </a:r>
                      <a:r>
                        <a:rPr lang="fr-FR" sz="1400" b="0" i="0" u="none" strike="noStrike" kern="1200" cap="none" dirty="0" smtClean="0">
                          <a:solidFill>
                            <a:srgbClr val="FF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Kongo Central</a:t>
                      </a:r>
                      <a:r>
                        <a:rPr lang="fr-FR" sz="1400" b="0" i="0" u="none" strike="noStrike" kern="1200" cap="none" dirty="0" smtClean="0">
                          <a:solidFill>
                            <a:srgbClr val="FF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, </a:t>
                      </a:r>
                      <a:r>
                        <a:rPr lang="fr-FR" sz="1400" b="0" i="0" u="none" strike="noStrike" kern="1200" cap="none" dirty="0" smtClean="0">
                          <a:solidFill>
                            <a:srgbClr val="FF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…..)</a:t>
                      </a:r>
                      <a:endParaRPr lang="en-US" sz="1400" b="0" i="0" u="none" strike="noStrike" kern="1200" cap="none" dirty="0" smtClean="0">
                        <a:solidFill>
                          <a:srgbClr val="FF0000"/>
                        </a:solidFill>
                        <a:effectLst/>
                        <a:latin typeface="Bodoni MT" panose="02070603080606020203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endParaRPr lang="en-US" sz="1400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134504"/>
                  </a:ext>
                </a:extLst>
              </a:tr>
            </a:tbl>
          </a:graphicData>
        </a:graphic>
      </p:graphicFrame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311700" y="129541"/>
            <a:ext cx="8520600" cy="49530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 smtClean="0">
                <a:solidFill>
                  <a:schemeClr val="tx1"/>
                </a:solidFill>
                <a:latin typeface="Bodoni MT" panose="02070603080606020203" pitchFamily="18" charset="0"/>
              </a:rPr>
              <a:t>GESTION DU PROGRAMME</a:t>
            </a:r>
            <a:endParaRPr lang="en-US" sz="2000" b="1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12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BF0CAA-9FD8-A073-2054-6CA9ADE8F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739140"/>
            <a:ext cx="8520600" cy="382973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FR" sz="1800" b="1" dirty="0">
                <a:solidFill>
                  <a:srgbClr val="0070C0"/>
                </a:solidFill>
                <a:latin typeface="Bodoni MT" panose="02070603080606020203" pitchFamily="18" charset="0"/>
              </a:rPr>
              <a:t>2</a:t>
            </a:r>
            <a:r>
              <a:rPr lang="fr-FR" sz="1800" b="1" dirty="0" smtClean="0">
                <a:solidFill>
                  <a:srgbClr val="0070C0"/>
                </a:solidFill>
                <a:latin typeface="Bodoni MT" panose="02070603080606020203" pitchFamily="18" charset="0"/>
              </a:rPr>
              <a:t>. ACTIVITES AVEC RESULTATS AUX FORTS IMPACTS (suite1)</a:t>
            </a:r>
            <a:endParaRPr lang="fr-FR" sz="1600" dirty="0">
              <a:solidFill>
                <a:srgbClr val="0070C0"/>
              </a:solidFill>
              <a:latin typeface="Bodoni MT" panose="02070603080606020203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262314"/>
              </p:ext>
            </p:extLst>
          </p:nvPr>
        </p:nvGraphicFramePr>
        <p:xfrm>
          <a:off x="411480" y="1287781"/>
          <a:ext cx="8519160" cy="2982874"/>
        </p:xfrm>
        <a:graphic>
          <a:graphicData uri="http://schemas.openxmlformats.org/drawingml/2006/table">
            <a:tbl>
              <a:tblPr firstRow="1" bandRow="1">
                <a:tableStyleId>{CCBD29E2-17EC-4BB6-9B1A-1A163F3B1572}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674995477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3408525795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908813588"/>
                    </a:ext>
                  </a:extLst>
                </a:gridCol>
              </a:tblGrid>
              <a:tr h="308067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latin typeface="Bodoni MT" panose="02070603080606020203" pitchFamily="18" charset="0"/>
                        </a:rPr>
                        <a:t>DOMAINE</a:t>
                      </a:r>
                      <a:endParaRPr lang="en-US" sz="1600" b="1" dirty="0">
                        <a:latin typeface="Bodoni MT" panose="02070603080606020203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latin typeface="Bodoni MT" panose="02070603080606020203" pitchFamily="18" charset="0"/>
                        </a:rPr>
                        <a:t>ACTIVITES</a:t>
                      </a:r>
                      <a:endParaRPr lang="en-US" sz="1600" b="1" dirty="0">
                        <a:latin typeface="Bodoni MT" panose="02070603080606020203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latin typeface="Bodoni MT" panose="02070603080606020203" pitchFamily="18" charset="0"/>
                        </a:rPr>
                        <a:t>RESULTATS OBTENUS</a:t>
                      </a:r>
                      <a:endParaRPr lang="en-US" sz="1600" b="1" dirty="0">
                        <a:latin typeface="Bodoni MT" panose="02070603080606020203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7646"/>
                  </a:ext>
                </a:extLst>
              </a:tr>
              <a:tr h="1456318">
                <a:tc rowSpan="2">
                  <a:txBody>
                    <a:bodyPr/>
                    <a:lstStyle/>
                    <a:p>
                      <a:r>
                        <a:rPr lang="fr-FR" sz="1400" dirty="0" smtClean="0">
                          <a:latin typeface="Bodoni MT" panose="02070603080606020203" pitchFamily="18" charset="0"/>
                        </a:rPr>
                        <a:t>Gouvernance</a:t>
                      </a:r>
                      <a:endParaRPr lang="en-US" sz="1400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Organiser les réunions stratégiques et technique de coordination des partenaires en faveur de la vaccination (CCPeV) avec d'autres secteurs connexes (intérieur, budget, finances, plan, genre et famille, EPSP, ESU, …)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dirty="0" smtClean="0">
                          <a:latin typeface="Bodoni MT" panose="02070603080606020203" pitchFamily="18" charset="0"/>
                        </a:rPr>
                        <a:t>Elaboration et signature de l’arrêté ministériel</a:t>
                      </a:r>
                      <a:r>
                        <a:rPr lang="fr-FR" sz="1400" baseline="0" dirty="0" smtClean="0">
                          <a:latin typeface="Bodoni MT" panose="02070603080606020203" pitchFamily="18" charset="0"/>
                        </a:rPr>
                        <a:t>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Arial"/>
                          <a:sym typeface="Arial"/>
                        </a:rPr>
                        <a:t>N°1250/CAB/MIN/SPHPS/SEM/ARR/CJ-G/OBM 22/2025</a:t>
                      </a:r>
                    </a:p>
                    <a:p>
                      <a:r>
                        <a:rPr lang="fr-FR" sz="1400" dirty="0" smtClean="0">
                          <a:latin typeface="Bodoni MT" panose="02070603080606020203" pitchFamily="18" charset="0"/>
                        </a:rPr>
                        <a:t>Portant</a:t>
                      </a:r>
                      <a:r>
                        <a:rPr lang="fr-FR" sz="1400" baseline="0" dirty="0" smtClean="0">
                          <a:latin typeface="Bodoni MT" panose="02070603080606020203" pitchFamily="18" charset="0"/>
                        </a:rPr>
                        <a:t> création, organisation et fonctionnement du CCPeV</a:t>
                      </a:r>
                      <a:endParaRPr lang="en-US" sz="1400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16758"/>
                  </a:ext>
                </a:extLst>
              </a:tr>
              <a:tr h="1062634">
                <a:tc vMerge="1">
                  <a:txBody>
                    <a:bodyPr/>
                    <a:lstStyle/>
                    <a:p>
                      <a:endParaRPr lang="en-US" sz="1400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cs typeface="Times New Roman" pitchFamily="18" charset="0"/>
                        </a:rPr>
                        <a:t>Apporter un appui technique et financier à l'organisation des sessions du Groupe Technique Consultatif pour la Vaccination (GTCV)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Un appui substantiel à été apporté au GTCV ayant permis l’organisation de 2 sessions :</a:t>
                      </a:r>
                    </a:p>
                    <a:p>
                      <a:pPr marL="171450" marR="0" indent="-17145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</a:pPr>
                      <a:r>
                        <a:rPr lang="fr-F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cs typeface="Times New Roman" panose="02020603050405020304" pitchFamily="18" charset="0"/>
                        </a:rPr>
                        <a:t>Du 31 juillet au 13 août 2025  à Memling </a:t>
                      </a:r>
                    </a:p>
                    <a:p>
                      <a:pPr marL="171450" marR="0" indent="-17145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</a:pPr>
                      <a:r>
                        <a:rPr lang="fr-F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cs typeface="Times New Roman" panose="02020603050405020304" pitchFamily="18" charset="0"/>
                        </a:rPr>
                        <a:t>Du 08 au 12 décembre 2025 à Selton Hôtel</a:t>
                      </a:r>
                      <a:endParaRPr lang="en-US" sz="1400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134504"/>
                  </a:ext>
                </a:extLst>
              </a:tr>
            </a:tbl>
          </a:graphicData>
        </a:graphic>
      </p:graphicFrame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311700" y="205740"/>
            <a:ext cx="8520600" cy="31784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 smtClean="0">
                <a:solidFill>
                  <a:schemeClr val="tx1"/>
                </a:solidFill>
                <a:latin typeface="Bodoni MT" panose="02070603080606020203" pitchFamily="18" charset="0"/>
              </a:rPr>
              <a:t>GESTION DU PROGRAMME</a:t>
            </a:r>
            <a:endParaRPr lang="en-US" sz="2000" b="1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227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BF0CAA-9FD8-A073-2054-6CA9ADE8F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739140"/>
            <a:ext cx="8520600" cy="382973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FR" sz="1800" b="1" dirty="0">
                <a:solidFill>
                  <a:srgbClr val="0070C0"/>
                </a:solidFill>
                <a:latin typeface="Bodoni MT" panose="02070603080606020203" pitchFamily="18" charset="0"/>
              </a:rPr>
              <a:t>2</a:t>
            </a:r>
            <a:r>
              <a:rPr lang="fr-FR" sz="1800" b="1" dirty="0" smtClean="0">
                <a:solidFill>
                  <a:srgbClr val="0070C0"/>
                </a:solidFill>
                <a:latin typeface="Bodoni MT" panose="02070603080606020203" pitchFamily="18" charset="0"/>
              </a:rPr>
              <a:t>. ACTIVITES AVEC RESULTATS AUX FORTS IMPACTS (suite2)</a:t>
            </a:r>
            <a:endParaRPr lang="fr-FR" sz="1600" dirty="0">
              <a:solidFill>
                <a:srgbClr val="0070C0"/>
              </a:solidFill>
              <a:latin typeface="Bodoni MT" panose="02070603080606020203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174380"/>
              </p:ext>
            </p:extLst>
          </p:nvPr>
        </p:nvGraphicFramePr>
        <p:xfrm>
          <a:off x="411480" y="1287780"/>
          <a:ext cx="8519160" cy="3215639"/>
        </p:xfrm>
        <a:graphic>
          <a:graphicData uri="http://schemas.openxmlformats.org/drawingml/2006/table">
            <a:tbl>
              <a:tblPr firstRow="1" bandRow="1">
                <a:tableStyleId>{CCBD29E2-17EC-4BB6-9B1A-1A163F3B1572}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674995477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3408525795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908813588"/>
                    </a:ext>
                  </a:extLst>
                </a:gridCol>
              </a:tblGrid>
              <a:tr h="336876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latin typeface="Bodoni MT" panose="02070603080606020203" pitchFamily="18" charset="0"/>
                        </a:rPr>
                        <a:t>DOMAINE</a:t>
                      </a:r>
                      <a:endParaRPr lang="en-US" sz="1600" b="1" dirty="0">
                        <a:latin typeface="Bodoni MT" panose="02070603080606020203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latin typeface="Bodoni MT" panose="02070603080606020203" pitchFamily="18" charset="0"/>
                        </a:rPr>
                        <a:t>ACTIVITES</a:t>
                      </a:r>
                      <a:endParaRPr lang="en-US" sz="1600" b="1" dirty="0">
                        <a:latin typeface="Bodoni MT" panose="02070603080606020203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latin typeface="Bodoni MT" panose="02070603080606020203" pitchFamily="18" charset="0"/>
                        </a:rPr>
                        <a:t>RESULTATS OBTENUS</a:t>
                      </a:r>
                      <a:endParaRPr lang="en-US" sz="1600" b="1" dirty="0">
                        <a:latin typeface="Bodoni MT" panose="02070603080606020203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7646"/>
                  </a:ext>
                </a:extLst>
              </a:tr>
              <a:tr h="2878763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Bodoni MT" panose="02070603080606020203" pitchFamily="18" charset="0"/>
                        </a:rPr>
                        <a:t>Gouvernance</a:t>
                      </a:r>
                      <a:endParaRPr lang="en-US" sz="1400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CA" sz="1400" b="1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Organiser les Fora provinciaux sur le MoU (Haut-Lomami, Tanganyika, Tshopo, Haut-Katanga, Lualaba, Kasaï-Oriental)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Plusieurs fora organisés ayant permis :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400" b="0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Le</a:t>
                      </a: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renforcement des capacités de 15 cadres DPS et 69 Gestionnaires des ZS dans les 3 provinces (Haut Katanga, Kasai Oriental et Tshopo)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Un </a:t>
                      </a:r>
                      <a:r>
                        <a:rPr lang="fr-FR" sz="1400" b="0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accent particulier a été mis au Haut Katanga avec des résultats suivants</a:t>
                      </a: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 :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Décaissement de plus de 200.000 USD (achat 2 jeep 4x4 pour les antennes Lubumbashi et Likasi, achat 68 Motos pour les 27 ZS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Elaboration du draft du Projet d’arrêté Provincial portant création, organisation et fonctionnement du FPPV-HKT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Signature en cours du MoU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16758"/>
                  </a:ext>
                </a:extLst>
              </a:tr>
            </a:tbl>
          </a:graphicData>
        </a:graphic>
      </p:graphicFrame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311700" y="205740"/>
            <a:ext cx="8520600" cy="31784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 smtClean="0">
                <a:solidFill>
                  <a:schemeClr val="tx1"/>
                </a:solidFill>
                <a:latin typeface="Bodoni MT" panose="02070603080606020203" pitchFamily="18" charset="0"/>
              </a:rPr>
              <a:t>GESTION DU PROGRAMME</a:t>
            </a:r>
            <a:endParaRPr lang="en-US" sz="2000" b="1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79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BF0CAA-9FD8-A073-2054-6CA9ADE8F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739140"/>
            <a:ext cx="8520600" cy="382973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FR" sz="1800" b="1" dirty="0">
                <a:solidFill>
                  <a:srgbClr val="0070C0"/>
                </a:solidFill>
                <a:latin typeface="Bodoni MT" panose="02070603080606020203" pitchFamily="18" charset="0"/>
              </a:rPr>
              <a:t>2</a:t>
            </a:r>
            <a:r>
              <a:rPr lang="fr-FR" sz="1800" b="1" dirty="0" smtClean="0">
                <a:solidFill>
                  <a:srgbClr val="0070C0"/>
                </a:solidFill>
                <a:latin typeface="Bodoni MT" panose="02070603080606020203" pitchFamily="18" charset="0"/>
              </a:rPr>
              <a:t>. ACTIVITES AVEC RESULTATS AUX FORTS IMPACTS (suite3)</a:t>
            </a:r>
            <a:endParaRPr lang="fr-FR" sz="1600" dirty="0">
              <a:solidFill>
                <a:srgbClr val="0070C0"/>
              </a:solidFill>
              <a:latin typeface="Bodoni MT" panose="02070603080606020203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435751"/>
              </p:ext>
            </p:extLst>
          </p:nvPr>
        </p:nvGraphicFramePr>
        <p:xfrm>
          <a:off x="411480" y="1287781"/>
          <a:ext cx="8519160" cy="2065019"/>
        </p:xfrm>
        <a:graphic>
          <a:graphicData uri="http://schemas.openxmlformats.org/drawingml/2006/table">
            <a:tbl>
              <a:tblPr firstRow="1" bandRow="1">
                <a:tableStyleId>{CCBD29E2-17EC-4BB6-9B1A-1A163F3B1572}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674995477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3408525795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2908813588"/>
                    </a:ext>
                  </a:extLst>
                </a:gridCol>
              </a:tblGrid>
              <a:tr h="284189"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latin typeface="Bodoni MT" panose="02070603080606020203" pitchFamily="18" charset="0"/>
                        </a:rPr>
                        <a:t>DOMAINE</a:t>
                      </a:r>
                      <a:endParaRPr lang="en-US" sz="1600" b="1" dirty="0">
                        <a:latin typeface="Bodoni MT" panose="02070603080606020203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latin typeface="Bodoni MT" panose="02070603080606020203" pitchFamily="18" charset="0"/>
                        </a:rPr>
                        <a:t>ACTIVITES</a:t>
                      </a:r>
                      <a:endParaRPr lang="en-US" sz="1600" b="1" dirty="0">
                        <a:latin typeface="Bodoni MT" panose="02070603080606020203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>
                          <a:latin typeface="Bodoni MT" panose="02070603080606020203" pitchFamily="18" charset="0"/>
                        </a:rPr>
                        <a:t>RESULTATS OBTENUS</a:t>
                      </a:r>
                      <a:endParaRPr lang="en-US" sz="1600" b="1" dirty="0">
                        <a:latin typeface="Bodoni MT" panose="02070603080606020203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7646"/>
                  </a:ext>
                </a:extLst>
              </a:tr>
              <a:tr h="1729739"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latin typeface="Bodoni MT" panose="02070603080606020203" pitchFamily="18" charset="0"/>
                        </a:rPr>
                        <a:t>Gouvernance</a:t>
                      </a:r>
                      <a:endParaRPr lang="en-US" sz="1400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Organiser un atelier de 5 jours pour l'élaboration du Forecast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dirty="0" smtClean="0">
                          <a:latin typeface="Bodoni MT" panose="02070603080606020203" pitchFamily="18" charset="0"/>
                          <a:cs typeface="Times New Roman" panose="02020603050405020304" pitchFamily="18" charset="0"/>
                        </a:rPr>
                        <a:t>Existence de toute la quantification de besoin en vaccins pour 2026 à l’issue de l’atelier Forecast organisé</a:t>
                      </a:r>
                      <a:r>
                        <a:rPr lang="fr-FR" sz="1400" b="0" baseline="0" dirty="0" smtClean="0">
                          <a:latin typeface="Bodoni MT" panose="02070603080606020203" pitchFamily="18" charset="0"/>
                          <a:cs typeface="Times New Roman" panose="02020603050405020304" pitchFamily="18" charset="0"/>
                        </a:rPr>
                        <a:t> du 10 au 17 septembre 2025 à Bibwa </a:t>
                      </a:r>
                      <a:r>
                        <a:rPr lang="fr-FR" sz="1400" b="0" dirty="0" smtClean="0">
                          <a:latin typeface="Bodoni MT" panose="02070603080606020203" pitchFamily="18" charset="0"/>
                          <a:cs typeface="Times New Roman" panose="02020603050405020304" pitchFamily="18" charset="0"/>
                        </a:rPr>
                        <a:t>(Cfr Rapport de l’atelier)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fr-FR" sz="1400" b="0" i="0" u="none" strike="noStrike" kern="1200" cap="none" baseline="0" dirty="0" smtClean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  <a:ea typeface="Arial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16758"/>
                  </a:ext>
                </a:extLst>
              </a:tr>
            </a:tbl>
          </a:graphicData>
        </a:graphic>
      </p:graphicFrame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311700" y="205740"/>
            <a:ext cx="8520600" cy="317840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 smtClean="0">
                <a:solidFill>
                  <a:schemeClr val="tx1"/>
                </a:solidFill>
                <a:latin typeface="Bodoni MT" panose="02070603080606020203" pitchFamily="18" charset="0"/>
              </a:rPr>
              <a:t>GESTION DU PROGRAMME</a:t>
            </a:r>
            <a:endParaRPr lang="en-US" sz="2000" b="1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44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BF0CAA-9FD8-A073-2054-6CA9ADE8F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24840"/>
            <a:ext cx="8520600" cy="394403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FR" sz="1800" b="1" dirty="0" smtClean="0">
                <a:solidFill>
                  <a:srgbClr val="0070C0"/>
                </a:solidFill>
                <a:latin typeface="Bodoni MT" panose="02070603080606020203" pitchFamily="18" charset="0"/>
              </a:rPr>
              <a:t>3. CAUSES PROFONDES POUR LES ACTIVITES NON </a:t>
            </a:r>
            <a:r>
              <a:rPr lang="fr-FR" sz="1800" b="1" dirty="0" smtClean="0">
                <a:solidFill>
                  <a:srgbClr val="0070C0"/>
                </a:solidFill>
                <a:latin typeface="Bodoni MT" panose="02070603080606020203" pitchFamily="18" charset="0"/>
              </a:rPr>
              <a:t>REALISEES</a:t>
            </a:r>
          </a:p>
          <a:p>
            <a:pPr marL="114300" indent="0">
              <a:buNone/>
            </a:pPr>
            <a:endParaRPr lang="fr-FR" sz="1600" dirty="0">
              <a:solidFill>
                <a:srgbClr val="0070C0"/>
              </a:solidFill>
              <a:latin typeface="Bodoni MT" panose="02070603080606020203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064855"/>
              </p:ext>
            </p:extLst>
          </p:nvPr>
        </p:nvGraphicFramePr>
        <p:xfrm>
          <a:off x="243840" y="1021081"/>
          <a:ext cx="8686800" cy="3586292"/>
        </p:xfrm>
        <a:graphic>
          <a:graphicData uri="http://schemas.openxmlformats.org/drawingml/2006/table">
            <a:tbl>
              <a:tblPr firstRow="1" bandRow="1">
                <a:tableStyleId>{CCBD29E2-17EC-4BB6-9B1A-1A163F3B1572}</a:tableStyleId>
              </a:tblPr>
              <a:tblGrid>
                <a:gridCol w="1264920">
                  <a:extLst>
                    <a:ext uri="{9D8B030D-6E8A-4147-A177-3AD203B41FA5}">
                      <a16:colId xmlns:a16="http://schemas.microsoft.com/office/drawing/2014/main" val="674995477"/>
                    </a:ext>
                  </a:extLst>
                </a:gridCol>
                <a:gridCol w="3808855">
                  <a:extLst>
                    <a:ext uri="{9D8B030D-6E8A-4147-A177-3AD203B41FA5}">
                      <a16:colId xmlns:a16="http://schemas.microsoft.com/office/drawing/2014/main" val="3408525795"/>
                    </a:ext>
                  </a:extLst>
                </a:gridCol>
                <a:gridCol w="3613025">
                  <a:extLst>
                    <a:ext uri="{9D8B030D-6E8A-4147-A177-3AD203B41FA5}">
                      <a16:colId xmlns:a16="http://schemas.microsoft.com/office/drawing/2014/main" val="2908813588"/>
                    </a:ext>
                  </a:extLst>
                </a:gridCol>
              </a:tblGrid>
              <a:tr h="418055">
                <a:tc>
                  <a:txBody>
                    <a:bodyPr/>
                    <a:lstStyle/>
                    <a:p>
                      <a:r>
                        <a:rPr lang="fr-FR" sz="1600" b="1" dirty="0" smtClean="0"/>
                        <a:t>DOMAINE</a:t>
                      </a:r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/>
                        <a:t>ACTIVITES NON REALISEES</a:t>
                      </a:r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/>
                        <a:t>CAUSES DE NON REALISATION</a:t>
                      </a:r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7646"/>
                  </a:ext>
                </a:extLst>
              </a:tr>
              <a:tr h="549406"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dirty="0" smtClean="0">
                          <a:latin typeface="Bodoni MT" panose="02070603080606020203" pitchFamily="18" charset="0"/>
                        </a:rPr>
                        <a:t>Gouvernance</a:t>
                      </a:r>
                      <a:endParaRPr lang="en-US" sz="1400" dirty="0" smtClean="0">
                        <a:latin typeface="Bodoni MT" panose="02070603080606020203" pitchFamily="18" charset="0"/>
                      </a:endParaRPr>
                    </a:p>
                    <a:p>
                      <a:endParaRPr lang="en-US" sz="1400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Organiser 2 revues du programme (semestrielle et annuelle)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La tenue de la revue à</a:t>
                      </a:r>
                      <a:r>
                        <a:rPr lang="fr-FR" sz="1400" b="0" i="0" u="none" strike="noStrike" kern="1200" cap="none" baseline="0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 mi parcours n’était pas opportune cette année quoique planifiée</a:t>
                      </a:r>
                      <a:endParaRPr lang="en-US" sz="1400" b="0" i="0" u="none" strike="noStrike" kern="1200" cap="non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  <a:ea typeface="Arial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16758"/>
                  </a:ext>
                </a:extLst>
              </a:tr>
              <a:tr h="549406">
                <a:tc vMerge="1">
                  <a:txBody>
                    <a:bodyPr/>
                    <a:lstStyle/>
                    <a:p>
                      <a:endParaRPr lang="en-US" sz="1400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Organiser des supervisions formatives en cascade (NC, NP, 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Conflit d’agenda et mobilisation tardive de fonds (activité reportée au T1 2026)</a:t>
                      </a:r>
                      <a:endParaRPr lang="en-US" sz="1400" b="0" i="0" u="none" strike="noStrike" kern="1200" cap="non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  <a:ea typeface="Arial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957515"/>
                  </a:ext>
                </a:extLst>
              </a:tr>
              <a:tr h="3347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Assurer l'évaluation des performances des Assistances Techniques en appui au PEV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Non application du cadre de redevabilité</a:t>
                      </a:r>
                      <a:endParaRPr lang="en-US" sz="1400" b="0" i="0" u="none" strike="noStrike" kern="1200" cap="none" dirty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  <a:ea typeface="Arial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171762"/>
                  </a:ext>
                </a:extLst>
              </a:tr>
              <a:tr h="549406"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cap="none" dirty="0" smtClean="0">
                          <a:solidFill>
                            <a:srgbClr val="000000"/>
                          </a:solidFill>
                          <a:latin typeface="Bodoni MT" panose="02070603080606020203" pitchFamily="18" charset="0"/>
                          <a:ea typeface="Arial"/>
                          <a:cs typeface="Arial"/>
                          <a:sym typeface="Arial"/>
                        </a:rPr>
                        <a:t>RHS</a:t>
                      </a:r>
                      <a:endParaRPr lang="en-US" sz="1400" b="0" i="0" u="none" strike="noStrike" cap="none" dirty="0" smtClean="0">
                        <a:solidFill>
                          <a:srgbClr val="000000"/>
                        </a:solidFill>
                        <a:latin typeface="Bodoni MT" panose="02070603080606020203" pitchFamily="18" charset="0"/>
                        <a:ea typeface="Arial"/>
                        <a:cs typeface="Arial"/>
                        <a:sym typeface="Arial"/>
                      </a:endParaRPr>
                    </a:p>
                    <a:p>
                      <a:endParaRPr lang="en-US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cs typeface="Times New Roman" pitchFamily="18" charset="0"/>
                        </a:rPr>
                        <a:t>Mettre en place un outil de gestion des RH à tous les niveaux</a:t>
                      </a:r>
                      <a:endParaRPr lang="fr-CA" sz="1400" b="1" i="0" u="none" strike="noStrike" dirty="0" smtClean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 smtClean="0">
                          <a:solidFill>
                            <a:schemeClr val="tx1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Activité</a:t>
                      </a:r>
                      <a:r>
                        <a:rPr lang="fr-FR" sz="1400" b="0" i="0" u="none" strike="noStrike" kern="1200" cap="none" baseline="0" dirty="0" smtClean="0">
                          <a:solidFill>
                            <a:schemeClr val="tx1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 avec un budget non sécurisé</a:t>
                      </a:r>
                      <a:endParaRPr lang="fr-FR" dirty="0" smtClean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878870"/>
                  </a:ext>
                </a:extLst>
              </a:tr>
              <a:tr h="1001859">
                <a:tc vMerge="1">
                  <a:txBody>
                    <a:bodyPr/>
                    <a:lstStyle/>
                    <a:p>
                      <a:endParaRPr lang="en-US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Mettre en place un fichier unique des prestataires pour résoudre le problème de l’</a:t>
                      </a:r>
                      <a:r>
                        <a:rPr lang="fr-FR" sz="1400" b="1" i="0" u="none" strike="noStrike" kern="1200" cap="none" dirty="0" err="1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impaiement</a:t>
                      </a:r>
                      <a:r>
                        <a:rPr lang="fr-FR" sz="1400" b="1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 dans les 26 DPS</a:t>
                      </a:r>
                      <a:endParaRPr lang="fr-CA" sz="1400" b="1" i="0" u="none" strike="noStrike" kern="1200" cap="none" dirty="0" smtClean="0">
                        <a:solidFill>
                          <a:srgbClr val="000000"/>
                        </a:solidFill>
                        <a:effectLst/>
                        <a:latin typeface="Bodoni MT" panose="02070603080606020203" pitchFamily="18" charset="0"/>
                        <a:ea typeface="Arial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>
                          <a:latin typeface="Bodoni MT" panose="02070603080606020203" pitchFamily="18" charset="0"/>
                        </a:rPr>
                        <a:t>Aucune initiative n’a été entreprise</a:t>
                      </a:r>
                      <a:r>
                        <a:rPr lang="fr-FR" baseline="0" dirty="0" smtClean="0">
                          <a:latin typeface="Bodoni MT" panose="02070603080606020203" pitchFamily="18" charset="0"/>
                        </a:rPr>
                        <a:t> au contraire ce sont plutôt des approches particulières ont continué (Come care avec OMS, ORBIT avec CAGF, Mobile money…),  </a:t>
                      </a:r>
                      <a:endParaRPr lang="en-US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446948"/>
                  </a:ext>
                </a:extLst>
              </a:tr>
            </a:tbl>
          </a:graphicData>
        </a:graphic>
      </p:graphicFrame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311700" y="99061"/>
            <a:ext cx="8520600" cy="434339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 smtClean="0">
                <a:solidFill>
                  <a:schemeClr val="tx1"/>
                </a:solidFill>
                <a:latin typeface="Bodoni MT" panose="02070603080606020203" pitchFamily="18" charset="0"/>
              </a:rPr>
              <a:t>GESTION DU PROGRAMME</a:t>
            </a:r>
            <a:endParaRPr lang="en-US" sz="2000" b="1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667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BF0CAA-9FD8-A073-2054-6CA9ADE8F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624840"/>
            <a:ext cx="8520600" cy="394403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FR" sz="1800" b="1" dirty="0" smtClean="0">
                <a:solidFill>
                  <a:srgbClr val="0070C0"/>
                </a:solidFill>
                <a:latin typeface="Bodoni MT" panose="02070603080606020203" pitchFamily="18" charset="0"/>
              </a:rPr>
              <a:t>3. CAUSES PROFONDES POUR LES ACTIVITES NON REALISEES</a:t>
            </a:r>
            <a:endParaRPr lang="fr-FR" sz="1600" dirty="0">
              <a:solidFill>
                <a:srgbClr val="0070C0"/>
              </a:solidFill>
              <a:latin typeface="Bodoni MT" panose="02070603080606020203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149856"/>
              </p:ext>
            </p:extLst>
          </p:nvPr>
        </p:nvGraphicFramePr>
        <p:xfrm>
          <a:off x="243840" y="1226820"/>
          <a:ext cx="8686800" cy="1470660"/>
        </p:xfrm>
        <a:graphic>
          <a:graphicData uri="http://schemas.openxmlformats.org/drawingml/2006/table">
            <a:tbl>
              <a:tblPr firstRow="1" bandRow="1">
                <a:tableStyleId>{CCBD29E2-17EC-4BB6-9B1A-1A163F3B1572}</a:tableStyleId>
              </a:tblPr>
              <a:tblGrid>
                <a:gridCol w="1264920">
                  <a:extLst>
                    <a:ext uri="{9D8B030D-6E8A-4147-A177-3AD203B41FA5}">
                      <a16:colId xmlns:a16="http://schemas.microsoft.com/office/drawing/2014/main" val="674995477"/>
                    </a:ext>
                  </a:extLst>
                </a:gridCol>
                <a:gridCol w="3808855">
                  <a:extLst>
                    <a:ext uri="{9D8B030D-6E8A-4147-A177-3AD203B41FA5}">
                      <a16:colId xmlns:a16="http://schemas.microsoft.com/office/drawing/2014/main" val="3408525795"/>
                    </a:ext>
                  </a:extLst>
                </a:gridCol>
                <a:gridCol w="3613025">
                  <a:extLst>
                    <a:ext uri="{9D8B030D-6E8A-4147-A177-3AD203B41FA5}">
                      <a16:colId xmlns:a16="http://schemas.microsoft.com/office/drawing/2014/main" val="2908813588"/>
                    </a:ext>
                  </a:extLst>
                </a:gridCol>
              </a:tblGrid>
              <a:tr h="394279">
                <a:tc>
                  <a:txBody>
                    <a:bodyPr/>
                    <a:lstStyle/>
                    <a:p>
                      <a:r>
                        <a:rPr lang="fr-FR" sz="1600" b="1" dirty="0" smtClean="0"/>
                        <a:t>DOMAINE</a:t>
                      </a:r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/>
                        <a:t>ACTIVITES NON REALISEES</a:t>
                      </a:r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 smtClean="0"/>
                        <a:t>CAUSES DE NON REALISATION</a:t>
                      </a:r>
                      <a:endParaRPr lang="en-US" sz="1600" b="1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57646"/>
                  </a:ext>
                </a:extLst>
              </a:tr>
              <a:tr h="10763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cap="none" dirty="0" smtClean="0">
                          <a:solidFill>
                            <a:srgbClr val="000000"/>
                          </a:solidFill>
                          <a:latin typeface="Bodoni MT" panose="02070603080606020203" pitchFamily="18" charset="0"/>
                          <a:ea typeface="Arial"/>
                          <a:cs typeface="Arial"/>
                          <a:sym typeface="Arial"/>
                        </a:rPr>
                        <a:t>Financement 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latin typeface="Bodoni MT" panose="020706030806060202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1" i="0" u="none" strike="noStrike" kern="1200" cap="none" dirty="0" smtClean="0">
                          <a:solidFill>
                            <a:srgbClr val="000000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Assurer trimestriellement l'appui au fonctionnement du bureau surveillance (carburant pour la récupération des échantillons, fournitures du bureau)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kern="1200" cap="none" dirty="0" smtClean="0">
                          <a:solidFill>
                            <a:schemeClr val="tx1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Activité</a:t>
                      </a:r>
                      <a:r>
                        <a:rPr lang="fr-FR" sz="1400" b="0" i="0" u="none" strike="noStrike" kern="1200" cap="none" baseline="0" dirty="0" smtClean="0">
                          <a:solidFill>
                            <a:schemeClr val="tx1"/>
                          </a:solidFill>
                          <a:effectLst/>
                          <a:latin typeface="Bodoni MT" panose="02070603080606020203" pitchFamily="18" charset="0"/>
                          <a:ea typeface="Arial"/>
                          <a:cs typeface="Times New Roman" pitchFamily="18" charset="0"/>
                          <a:sym typeface="Arial"/>
                        </a:rPr>
                        <a:t> reprise dans la requête globale (non disponibilité de fonds à l’OMS)</a:t>
                      </a:r>
                      <a:endParaRPr lang="en-US" sz="1400" b="0" i="0" u="none" strike="noStrike" kern="1200" cap="none" dirty="0" smtClean="0">
                        <a:solidFill>
                          <a:schemeClr val="tx1"/>
                        </a:solidFill>
                        <a:effectLst/>
                        <a:latin typeface="Bodoni MT" panose="02070603080606020203" pitchFamily="18" charset="0"/>
                        <a:ea typeface="Arial"/>
                        <a:cs typeface="Times New Roman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134504"/>
                  </a:ext>
                </a:extLst>
              </a:tr>
            </a:tbl>
          </a:graphicData>
        </a:graphic>
      </p:graphicFrame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311700" y="99061"/>
            <a:ext cx="8520600" cy="434339"/>
          </a:xfrm>
          <a:solidFill>
            <a:schemeClr val="bg1">
              <a:lumMod val="85000"/>
            </a:schemeClr>
          </a:solidFill>
        </p:spPr>
        <p:txBody>
          <a:bodyPr>
            <a:noAutofit/>
          </a:bodyPr>
          <a:lstStyle/>
          <a:p>
            <a:r>
              <a:rPr lang="fr-FR" sz="2000" b="1" dirty="0" smtClean="0">
                <a:solidFill>
                  <a:schemeClr val="tx1"/>
                </a:solidFill>
                <a:latin typeface="Bodoni MT" panose="02070603080606020203" pitchFamily="18" charset="0"/>
              </a:rPr>
              <a:t>GESTION DU PROGRAMME</a:t>
            </a:r>
            <a:endParaRPr lang="en-US" sz="2000" b="1" dirty="0">
              <a:solidFill>
                <a:schemeClr val="tx1"/>
              </a:solidFill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33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7E24B3-02BE-0F14-F02C-AD526EFE6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8121"/>
            <a:ext cx="8520600" cy="480059"/>
          </a:xfr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r>
              <a:rPr lang="fr-FR" sz="2000" b="1" dirty="0" smtClean="0">
                <a:latin typeface="Bodoni MT" panose="02070603080606020203" pitchFamily="18" charset="0"/>
              </a:rPr>
              <a:t>GESTION DU PROGRAMME</a:t>
            </a:r>
            <a:endParaRPr lang="fr-CG" sz="2000" dirty="0">
              <a:latin typeface="Bodoni MT" panose="02070603080606020203" pitchFamily="18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BF0CAA-9FD8-A073-2054-6CA9ADE8F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876300"/>
            <a:ext cx="8520600" cy="3692575"/>
          </a:xfrm>
        </p:spPr>
        <p:txBody>
          <a:bodyPr>
            <a:normAutofit fontScale="85000" lnSpcReduction="20000"/>
          </a:bodyPr>
          <a:lstStyle/>
          <a:p>
            <a:pPr marL="114300" indent="0">
              <a:buNone/>
            </a:pPr>
            <a:r>
              <a:rPr lang="fr-FR" sz="2400" b="1" dirty="0" smtClean="0">
                <a:solidFill>
                  <a:srgbClr val="0070C0"/>
                </a:solidFill>
                <a:latin typeface="Bodoni MT" panose="02070603080606020203" pitchFamily="18" charset="0"/>
              </a:rPr>
              <a:t>4. PERSPECTIVES POUR 2026</a:t>
            </a:r>
            <a:endParaRPr lang="fr-FR" sz="2400" dirty="0">
              <a:solidFill>
                <a:srgbClr val="0070C0"/>
              </a:solidFill>
              <a:latin typeface="Bodoni MT" panose="02070603080606020203" pitchFamily="18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endParaRPr lang="fr-FR" sz="800" dirty="0" smtClean="0">
              <a:latin typeface="Bodoni MT" panose="02070603080606020203" pitchFamily="18" charset="0"/>
              <a:cs typeface="Arial" panose="020B0604020202020204" pitchFamily="34" charset="0"/>
            </a:endParaRPr>
          </a:p>
          <a:p>
            <a:pPr algn="just"/>
            <a:r>
              <a:rPr lang="fr-FR" sz="2000" dirty="0" smtClean="0">
                <a:latin typeface="Bodoni MT" panose="02070603080606020203" pitchFamily="18" charset="0"/>
              </a:rPr>
              <a:t>Renforcement du suivi </a:t>
            </a:r>
            <a:r>
              <a:rPr lang="fr-FR" sz="2000" dirty="0">
                <a:latin typeface="Bodoni MT" panose="02070603080606020203" pitchFamily="18" charset="0"/>
              </a:rPr>
              <a:t>de la tenue des réunions CCPeV au niveau provincial </a:t>
            </a:r>
          </a:p>
          <a:p>
            <a:pPr algn="just"/>
            <a:r>
              <a:rPr lang="fr-FR" sz="2000" dirty="0">
                <a:latin typeface="Bodoni MT" panose="02070603080606020203" pitchFamily="18" charset="0"/>
              </a:rPr>
              <a:t>Accentuer l’accompagnement des antennes PEV et ZS (augmenter le rythme de supervision)</a:t>
            </a:r>
          </a:p>
          <a:p>
            <a:pPr algn="just"/>
            <a:r>
              <a:rPr lang="fr-FR" sz="2000" dirty="0" smtClean="0">
                <a:latin typeface="Bodoni MT" panose="02070603080606020203" pitchFamily="18" charset="0"/>
              </a:rPr>
              <a:t>Organisation systématique sous l’égide du REPACAV des </a:t>
            </a:r>
            <a:r>
              <a:rPr lang="fr-FR" sz="2000" dirty="0">
                <a:latin typeface="Bodoni MT" panose="02070603080606020203" pitchFamily="18" charset="0"/>
              </a:rPr>
              <a:t>réunions de suivi </a:t>
            </a:r>
            <a:r>
              <a:rPr lang="fr-FR" sz="2000" dirty="0" smtClean="0">
                <a:latin typeface="Bodoni MT" panose="02070603080606020203" pitchFamily="18" charset="0"/>
              </a:rPr>
              <a:t>trimestriel sur le décaissement du Gouvernement avec toutes les parties prenantes (Ministre Finances, Santé</a:t>
            </a:r>
            <a:r>
              <a:rPr lang="fr-FR" sz="2000" dirty="0">
                <a:latin typeface="Bodoni MT" panose="02070603080606020203" pitchFamily="18" charset="0"/>
              </a:rPr>
              <a:t>, </a:t>
            </a:r>
            <a:r>
              <a:rPr lang="fr-FR" sz="2000" dirty="0" smtClean="0">
                <a:latin typeface="Bodoni MT" panose="02070603080606020203" pitchFamily="18" charset="0"/>
              </a:rPr>
              <a:t>Budget, SG, </a:t>
            </a:r>
            <a:r>
              <a:rPr lang="fr-FR" sz="2000" dirty="0">
                <a:latin typeface="Bodoni MT" panose="02070603080606020203" pitchFamily="18" charset="0"/>
              </a:rPr>
              <a:t>DEP, PEV, DAF, </a:t>
            </a:r>
            <a:r>
              <a:rPr lang="fr-FR" sz="2000" dirty="0" smtClean="0">
                <a:latin typeface="Bodoni MT" panose="02070603080606020203" pitchFamily="18" charset="0"/>
              </a:rPr>
              <a:t>INSP</a:t>
            </a:r>
            <a:r>
              <a:rPr lang="fr-FR" sz="2000" dirty="0">
                <a:latin typeface="Bodoni MT" panose="02070603080606020203" pitchFamily="18" charset="0"/>
              </a:rPr>
              <a:t>, CAGF, CNCSU </a:t>
            </a:r>
            <a:r>
              <a:rPr lang="fr-FR" sz="2000" dirty="0" smtClean="0">
                <a:latin typeface="Bodoni MT" panose="02070603080606020203" pitchFamily="18" charset="0"/>
              </a:rPr>
              <a:t>et PTF). </a:t>
            </a:r>
          </a:p>
          <a:p>
            <a:pPr algn="just"/>
            <a:r>
              <a:rPr lang="fr-FR" sz="2000" dirty="0" smtClean="0">
                <a:latin typeface="Bodoni MT" panose="02070603080606020203" pitchFamily="18" charset="0"/>
                <a:cs typeface="Arial" panose="020B0604020202020204" pitchFamily="34" charset="0"/>
              </a:rPr>
              <a:t>Respect du chronogramme de la soumission des requêtes / Fiches Techniques  des activités</a:t>
            </a:r>
          </a:p>
          <a:p>
            <a:pPr algn="just"/>
            <a:r>
              <a:rPr lang="fr-FR" sz="2000" dirty="0" smtClean="0">
                <a:latin typeface="Bodoni MT" panose="02070603080606020203" pitchFamily="18" charset="0"/>
              </a:rPr>
              <a:t>Passage à l’</a:t>
            </a:r>
            <a:r>
              <a:rPr lang="fr-FR" sz="2000" dirty="0">
                <a:latin typeface="Bodoni MT" panose="02070603080606020203" pitchFamily="18" charset="0"/>
              </a:rPr>
              <a:t>é</a:t>
            </a:r>
            <a:r>
              <a:rPr lang="fr-FR" sz="2000" dirty="0" smtClean="0">
                <a:latin typeface="Bodoni MT" panose="02070603080606020203" pitchFamily="18" charset="0"/>
              </a:rPr>
              <a:t>chelle (extension) </a:t>
            </a:r>
            <a:r>
              <a:rPr lang="fr-FR" sz="2000" dirty="0">
                <a:latin typeface="Bodoni MT" panose="02070603080606020203" pitchFamily="18" charset="0"/>
              </a:rPr>
              <a:t>de la justification électronique /paiement </a:t>
            </a:r>
            <a:r>
              <a:rPr lang="fr-FR" sz="2000" dirty="0" smtClean="0">
                <a:latin typeface="Bodoni MT" panose="02070603080606020203" pitchFamily="18" charset="0"/>
              </a:rPr>
              <a:t>direct au delà du Haut Katanga et Lualaba</a:t>
            </a:r>
          </a:p>
          <a:p>
            <a:pPr algn="just"/>
            <a:r>
              <a:rPr lang="fr-FR" sz="2000" dirty="0" smtClean="0">
                <a:latin typeface="Bodoni MT" panose="02070603080606020203" pitchFamily="18" charset="0"/>
              </a:rPr>
              <a:t>Consolidation de l’approche </a:t>
            </a:r>
            <a:r>
              <a:rPr lang="fr-FR" sz="2000" dirty="0">
                <a:latin typeface="Bodoni MT" panose="02070603080606020203" pitchFamily="18" charset="0"/>
              </a:rPr>
              <a:t>MoU provinciale dans l’utilisation des </a:t>
            </a:r>
            <a:r>
              <a:rPr lang="fr-FR" sz="2000" dirty="0" smtClean="0">
                <a:latin typeface="Bodoni MT" panose="02070603080606020203" pitchFamily="18" charset="0"/>
              </a:rPr>
              <a:t>fonds au Haut Katanga et l’accompagnement des provinces du </a:t>
            </a:r>
            <a:r>
              <a:rPr lang="fr-FR" sz="2000" dirty="0">
                <a:latin typeface="Bodoni MT" panose="02070603080606020203" pitchFamily="18" charset="0"/>
              </a:rPr>
              <a:t>Kasai </a:t>
            </a:r>
            <a:r>
              <a:rPr lang="fr-FR" sz="2000" dirty="0" smtClean="0">
                <a:latin typeface="Bodoni MT" panose="02070603080606020203" pitchFamily="18" charset="0"/>
              </a:rPr>
              <a:t>Oriental et de la Tshopo </a:t>
            </a:r>
          </a:p>
        </p:txBody>
      </p:sp>
    </p:spTree>
    <p:extLst>
      <p:ext uri="{BB962C8B-B14F-4D97-AF65-F5344CB8AC3E}">
        <p14:creationId xmlns:p14="http://schemas.microsoft.com/office/powerpoint/2010/main" val="3364399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88218ad529_0_1593"/>
          <p:cNvSpPr txBox="1"/>
          <p:nvPr/>
        </p:nvSpPr>
        <p:spPr>
          <a:xfrm>
            <a:off x="343944" y="-1"/>
            <a:ext cx="8456100" cy="501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Budget PAO 2025 PAR DOMAINE DE MISE EN OEUVRE (en USD) |</a:t>
            </a:r>
            <a:endParaRPr lang="en-GB" sz="1800" i="0" u="none" strike="noStrike" cap="none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15" name="Google Shape;415;g388218ad529_0_1593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16" name="Google Shape;416;g388218ad529_0_1593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</a:t>
            </a:fld>
            <a:endParaRPr sz="9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417" name="Google Shape;417;g388218ad529_0_1593"/>
          <p:cNvGraphicFramePr/>
          <p:nvPr>
            <p:extLst>
              <p:ext uri="{D42A27DB-BD31-4B8C-83A1-F6EECF244321}">
                <p14:modId xmlns:p14="http://schemas.microsoft.com/office/powerpoint/2010/main" val="3499780666"/>
              </p:ext>
            </p:extLst>
          </p:nvPr>
        </p:nvGraphicFramePr>
        <p:xfrm>
          <a:off x="191386" y="563879"/>
          <a:ext cx="8723864" cy="380818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36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3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59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11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Domaine </a:t>
                      </a:r>
                      <a:endParaRPr sz="1200" b="1" dirty="0"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Budget Total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b="1" dirty="0"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Budget  Niveau Central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Budget  Niveau Provincial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Budget  Niveau Opérationnel</a:t>
                      </a: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4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PRESTATION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21 584 097,00    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418 129,00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218 038,00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20 947 930,00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34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LOGISTIQUE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172 563 384,45    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171 462 689,45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230 695,00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870 000,00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994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AVS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77 631 469,00    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8 930 226,00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7 747 880,00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60 953 363,00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53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QUALITE DONNEES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6 157 174,55    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6 157 174,55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 -      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-  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5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SURVEILLANCE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5 150 695,00    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1 218 568,00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1 809 028,00    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2 123 099,00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GESTION PROG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4 180 813,72    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2 799 665,72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1 381 148,00    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  -  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582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</a:p>
                  </a:txBody>
                  <a:tcPr marL="6350" marR="6350" marT="6350" marB="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5 035 971,00    </a:t>
                      </a:r>
                    </a:p>
                  </a:txBody>
                  <a:tcPr marL="6350" marR="6350" marT="6350" marB="0" anchor="b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1 573 148,90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1 499 178,10    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1 963 644,00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7328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b="1" dirty="0">
                          <a:latin typeface="Times New Roman" panose="02020603050405020304" pitchFamily="18" charset="0"/>
                          <a:ea typeface="Times New Roman" panose="02020603050405020304"/>
                          <a:cs typeface="Times New Roman" panose="02020603050405020304" pitchFamily="18" charset="0"/>
                          <a:sym typeface="Times New Roman" panose="02020603050405020304"/>
                        </a:rPr>
                        <a:t>Total Général</a:t>
                      </a:r>
                      <a:endParaRPr sz="1100" b="1" dirty="0"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292 303 604,72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192 559 601,62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12 885 967,10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86 858 036,00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7328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US" sz="11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 panose="02020603050405020304"/>
                        <a:cs typeface="Times New Roman" panose="02020603050405020304" pitchFamily="18" charset="0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193609"/>
                  </a:ext>
                </a:extLst>
              </a:tr>
            </a:tbl>
          </a:graphicData>
        </a:graphic>
      </p:graphicFrame>
      <p:sp>
        <p:nvSpPr>
          <p:cNvPr id="418" name="Google Shape;418;g388218ad529_0_1593"/>
          <p:cNvSpPr/>
          <p:nvPr/>
        </p:nvSpPr>
        <p:spPr>
          <a:xfrm>
            <a:off x="373500" y="4562000"/>
            <a:ext cx="8456100" cy="372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A4C2F4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fr-FR" altLang="en-GB" b="1" i="0" u="none" strike="noStrike" cap="none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Hormis la logistique, le budget du Niveau central représente 7% du glob</a:t>
            </a:r>
            <a:r>
              <a:rPr lang="fr-FR" altLang="en-GB" sz="1600" b="1" i="0" u="none" strike="noStrike" cap="none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al  </a:t>
            </a:r>
            <a:endParaRPr lang="en-US" altLang="en-GB" sz="1600" b="1" i="0" u="none" strike="noStrike" cap="none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09871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88218ad529_0_1593"/>
          <p:cNvSpPr txBox="1"/>
          <p:nvPr/>
        </p:nvSpPr>
        <p:spPr>
          <a:xfrm>
            <a:off x="343944" y="0"/>
            <a:ext cx="84561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8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Synthèse du Financement au </a:t>
            </a:r>
            <a:r>
              <a:rPr lang="en-GB" sz="1800" b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31 Octobre </a:t>
            </a:r>
            <a:r>
              <a:rPr lang="en-GB" sz="18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2025 (en USD) |</a:t>
            </a:r>
            <a:endParaRPr lang="en-GB" sz="1800" i="0" u="none" strike="noStrike" cap="none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15" name="Google Shape;415;g388218ad529_0_1593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16" name="Google Shape;416;g388218ad529_0_1593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</a:t>
            </a:fld>
            <a:endParaRPr sz="9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417" name="Google Shape;417;g388218ad529_0_1593"/>
          <p:cNvGraphicFramePr/>
          <p:nvPr>
            <p:extLst>
              <p:ext uri="{D42A27DB-BD31-4B8C-83A1-F6EECF244321}">
                <p14:modId xmlns:p14="http://schemas.microsoft.com/office/powerpoint/2010/main" val="4179180004"/>
              </p:ext>
            </p:extLst>
          </p:nvPr>
        </p:nvGraphicFramePr>
        <p:xfrm>
          <a:off x="121920" y="320041"/>
          <a:ext cx="8707680" cy="401516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90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7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78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9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69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35380">
                  <a:extLst>
                    <a:ext uri="{9D8B030D-6E8A-4147-A177-3AD203B41FA5}">
                      <a16:colId xmlns:a16="http://schemas.microsoft.com/office/drawing/2014/main" val="3062881253"/>
                    </a:ext>
                  </a:extLst>
                </a:gridCol>
              </a:tblGrid>
              <a:tr h="37466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Source de financement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Fonds</a:t>
                      </a:r>
                      <a:r>
                        <a:rPr lang="en-GB" sz="1000" b="1" baseline="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en-GB" sz="1000" b="1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reçus 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Décaissement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Taux décaissement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Dépenses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Tx d’absorption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GB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Observation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Gouvernement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 smtClean="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18.043.178,00</a:t>
                      </a:r>
                      <a:endParaRPr sz="1000" b="1" dirty="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     9.021.589,00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50%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9 021 589,00 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dirty="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100%</a:t>
                      </a:r>
                      <a:endParaRPr sz="1000" b="1" dirty="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b="1" i="0" u="none" strike="noStrike" cap="none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/>
                        </a:rPr>
                        <a:t>Données Au 30/11/2025</a:t>
                      </a:r>
                      <a:endParaRPr lang="en-US" sz="10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8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CAGF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76.917.674,00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61.176.929,00        </a:t>
                      </a:r>
                      <a:endParaRPr lang="en-US"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80%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44.060.693,00</a:t>
                      </a:r>
                      <a:endParaRPr lang="en-US"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72%</a:t>
                      </a:r>
                      <a:endParaRPr sz="1000" b="1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b="1" i="0" u="none" strike="noStrike" cap="none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/>
                        </a:rPr>
                        <a:t>Données Au </a:t>
                      </a:r>
                      <a:r>
                        <a:rPr lang="fr-FR" sz="1000" b="1" i="0" u="none" strike="noStrike" cap="none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/>
                        </a:rPr>
                        <a:t>30/11/2025</a:t>
                      </a:r>
                      <a:endParaRPr lang="en-US" sz="10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865412"/>
                  </a:ext>
                </a:extLst>
              </a:tr>
              <a:tr h="30915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OMS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139.188.542,00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 font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107.899.341,84    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78%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96.260.561,11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0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89%</a:t>
                      </a: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000" b="1" i="0" u="none" strike="noStrike" cap="none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/>
                        </a:rPr>
                        <a:t>Données Au 31/10/2025</a:t>
                      </a:r>
                      <a:endParaRPr lang="en-US" sz="1000" b="1" i="0" u="none" strike="noStrike" cap="none" dirty="0" smtClean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2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UNICEF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21.055.716,00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16.410.849,78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78%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16.410.849,78</a:t>
                      </a:r>
                      <a:endParaRPr lang="en-US"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000" b="1" i="0" u="none" strike="noStrike" cap="none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100%</a:t>
                      </a:r>
                      <a:endParaRPr sz="1000" b="1" i="0" u="none" strike="noStrike" cap="none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/>
                        </a:rPr>
                        <a:t>Données Au 31/10/2025</a:t>
                      </a:r>
                      <a:endParaRPr kumimoji="0" lang="en-US" sz="10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976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SANRU</a:t>
                      </a:r>
                    </a:p>
                    <a:p>
                      <a:pPr algn="l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32.270.615,24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30.167.155,88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99%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27.145.494,256</a:t>
                      </a:r>
                      <a:endParaRPr lang="en-US"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84%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/>
                        </a:rPr>
                        <a:t>Données Au 31/10/2025</a:t>
                      </a:r>
                      <a:endParaRPr kumimoji="0" lang="en-US" sz="10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36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PATH</a:t>
                      </a:r>
                    </a:p>
                    <a:p>
                      <a:endParaRPr lang="en-US" b="1" dirty="0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11.089.810,00</a:t>
                      </a:r>
                      <a:endParaRPr lang="en-US"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9.395.569,00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85%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9.395.569,00</a:t>
                      </a:r>
                      <a:endParaRPr lang="en-US"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100%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/>
                        </a:rPr>
                        <a:t>Données Au 31/10/2025</a:t>
                      </a:r>
                      <a:endParaRPr kumimoji="0" lang="en-US" sz="10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206606"/>
                  </a:ext>
                </a:extLst>
              </a:tr>
              <a:tr h="37343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Village Reach</a:t>
                      </a:r>
                    </a:p>
                    <a:p>
                      <a:endParaRPr lang="en-US" b="1" dirty="0"/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 panose="020B0604020202020204"/>
                        </a:rPr>
                        <a:t>12.876.119,05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7.906.284,54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61%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7.906.284,54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100%</a:t>
                      </a:r>
                      <a:endParaRPr sz="100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000" b="1" i="0" u="none" strike="noStrike" cap="none" dirty="0" smtClean="0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/>
                        </a:rPr>
                        <a:t>Données Au 30/09/2025</a:t>
                      </a:r>
                      <a:endParaRPr lang="en-US" sz="1000" b="1" i="0" u="none" strike="noStrike" cap="none" dirty="0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492755"/>
                  </a:ext>
                </a:extLst>
              </a:tr>
              <a:tr h="3211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UNOPS</a:t>
                      </a:r>
                      <a:endParaRPr lang="en-US" sz="11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14.069.727,63</a:t>
                      </a: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14.069.637,64</a:t>
                      </a: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GB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100</a:t>
                      </a:r>
                      <a:r>
                        <a:rPr lang="en-GB" sz="1000" b="1" i="0" u="none" strike="noStrike" cap="none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%</a:t>
                      </a: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13.487.289,00</a:t>
                      </a: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GB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96%</a:t>
                      </a: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/>
                        </a:rPr>
                        <a:t>Données Au 31/10/2025</a:t>
                      </a:r>
                      <a:endParaRPr kumimoji="0" lang="en-US" sz="10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EFEF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470583"/>
                  </a:ext>
                </a:extLst>
              </a:tr>
              <a:tr h="2354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fr-FR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CHAI</a:t>
                      </a:r>
                      <a:endParaRPr lang="en-US" sz="1100" b="1" i="0" u="none" strike="noStrike" cap="non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1.612.438,19</a:t>
                      </a: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1.612.438,19</a:t>
                      </a:r>
                      <a:endParaRPr lang="en-US"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100%</a:t>
                      </a: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US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1.608.788,19</a:t>
                      </a: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fr-FR" sz="1000" b="1" i="0" u="none" strike="noStrike" cap="none" dirty="0" smtClean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99,8%</a:t>
                      </a:r>
                      <a:endParaRPr sz="1000" b="1" i="0" u="none" strike="noStrike" cap="none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fr-FR" sz="10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Arial"/>
                        </a:rPr>
                        <a:t>Données Au 31/10/2025</a:t>
                      </a:r>
                      <a:endParaRPr kumimoji="0" lang="en-US" sz="10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Arial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947148"/>
                  </a:ext>
                </a:extLst>
              </a:tr>
              <a:tr h="29290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50" b="1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Total Général</a:t>
                      </a:r>
                      <a:endParaRPr sz="105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327.604.801,41</a:t>
                      </a:r>
                      <a:endParaRPr sz="105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259.763.254,23</a:t>
                      </a:r>
                      <a:endParaRPr sz="105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79%</a:t>
                      </a:r>
                      <a:endParaRPr sz="105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225.297.117,87</a:t>
                      </a:r>
                      <a:endParaRPr sz="105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87%</a:t>
                      </a:r>
                      <a:endParaRPr sz="105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1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18" name="Google Shape;418;g388218ad529_0_1593"/>
          <p:cNvSpPr/>
          <p:nvPr/>
        </p:nvSpPr>
        <p:spPr>
          <a:xfrm>
            <a:off x="373500" y="4562000"/>
            <a:ext cx="8456100" cy="372300"/>
          </a:xfrm>
          <a:prstGeom prst="rect">
            <a:avLst/>
          </a:prstGeom>
          <a:solidFill>
            <a:srgbClr val="A4C2F4"/>
          </a:solidFill>
          <a:ln w="9525" cap="flat" cmpd="sng">
            <a:solidFill>
              <a:srgbClr val="A4C2F4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lang="en-US" altLang="en-GB" sz="1200" b="1" i="0" u="none" strike="noStrike" cap="none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05597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de55cb9c9_0_266"/>
          <p:cNvSpPr txBox="1"/>
          <p:nvPr/>
        </p:nvSpPr>
        <p:spPr>
          <a:xfrm>
            <a:off x="343944" y="238456"/>
            <a:ext cx="845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 dirty="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Statut de décaissement du cofinancement</a:t>
            </a:r>
            <a:endParaRPr sz="2000" b="0" i="0" u="none" strike="noStrike" cap="none" dirty="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g37de55cb9c9_0_266"/>
          <p:cNvSpPr/>
          <p:nvPr/>
        </p:nvSpPr>
        <p:spPr>
          <a:xfrm>
            <a:off x="0" y="204181"/>
            <a:ext cx="176700" cy="491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68550" tIns="68550" rIns="68550" bIns="685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g37de55cb9c9_0_266"/>
          <p:cNvSpPr txBox="1"/>
          <p:nvPr/>
        </p:nvSpPr>
        <p:spPr>
          <a:xfrm>
            <a:off x="-173500" y="5497482"/>
            <a:ext cx="8561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g37de55cb9c9_0_266"/>
          <p:cNvSpPr txBox="1"/>
          <p:nvPr/>
        </p:nvSpPr>
        <p:spPr>
          <a:xfrm>
            <a:off x="8743950" y="4872050"/>
            <a:ext cx="171300" cy="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 sz="900" b="0" i="0" u="none" strike="noStrike" cap="non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900" b="0" i="0" u="none" strike="noStrike" cap="non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" name="Google Shape;158;g37de55cb9c9_0_266"/>
          <p:cNvGrpSpPr/>
          <p:nvPr/>
        </p:nvGrpSpPr>
        <p:grpSpPr>
          <a:xfrm>
            <a:off x="1182108" y="864609"/>
            <a:ext cx="6779785" cy="4069581"/>
            <a:chOff x="343950" y="695575"/>
            <a:chExt cx="7397474" cy="4440350"/>
          </a:xfrm>
        </p:grpSpPr>
        <p:pic>
          <p:nvPicPr>
            <p:cNvPr id="159" name="Google Shape;159;g37de55cb9c9_0_266" title="Chart"/>
            <p:cNvPicPr preferRelativeResize="0"/>
            <p:nvPr/>
          </p:nvPicPr>
          <p:blipFill rotWithShape="1">
            <a:blip r:embed="rId3">
              <a:alphaModFix/>
            </a:blip>
            <a:srcRect l="8148" t="4855" r="3473" b="3878"/>
            <a:stretch/>
          </p:blipFill>
          <p:spPr>
            <a:xfrm>
              <a:off x="1807943" y="695575"/>
              <a:ext cx="5933481" cy="39110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0" name="Google Shape;160;g37de55cb9c9_0_266"/>
            <p:cNvGrpSpPr/>
            <p:nvPr/>
          </p:nvGrpSpPr>
          <p:grpSpPr>
            <a:xfrm>
              <a:off x="343950" y="4489425"/>
              <a:ext cx="7099598" cy="646500"/>
              <a:chOff x="343950" y="4489425"/>
              <a:chExt cx="7099598" cy="646500"/>
            </a:xfrm>
          </p:grpSpPr>
          <p:sp>
            <p:nvSpPr>
              <p:cNvPr id="161" name="Google Shape;161;g37de55cb9c9_0_266"/>
              <p:cNvSpPr txBox="1"/>
              <p:nvPr/>
            </p:nvSpPr>
            <p:spPr>
              <a:xfrm>
                <a:off x="343950" y="4489425"/>
                <a:ext cx="1636200" cy="6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3800" tIns="83800" rIns="83800" bIns="838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-GB" sz="916" b="1" dirty="0"/>
                  <a:t>Montant total de cofinancement </a:t>
                </a:r>
                <a:r>
                  <a:rPr lang="en-GB" sz="916" b="1" dirty="0" err="1"/>
                  <a:t>prevu</a:t>
                </a:r>
                <a:r>
                  <a:rPr lang="en-GB" sz="916" b="1" dirty="0"/>
                  <a:t> en million USD</a:t>
                </a:r>
                <a:endParaRPr sz="916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g37de55cb9c9_0_266"/>
              <p:cNvSpPr/>
              <p:nvPr/>
            </p:nvSpPr>
            <p:spPr>
              <a:xfrm>
                <a:off x="2998962" y="4623519"/>
                <a:ext cx="373800" cy="285900"/>
              </a:xfrm>
              <a:prstGeom prst="ellipse">
                <a:avLst/>
              </a:prstGeom>
              <a:solidFill>
                <a:srgbClr val="EEEEEE"/>
              </a:solidFill>
              <a:ln w="87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83800" rIns="0" bIns="83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16"/>
                  <a:buFont typeface="Arial"/>
                  <a:buNone/>
                </a:pPr>
                <a:r>
                  <a:rPr lang="en-GB" sz="916" b="1"/>
                  <a:t>16.9</a:t>
                </a:r>
                <a:endParaRPr sz="91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g37de55cb9c9_0_266"/>
              <p:cNvSpPr/>
              <p:nvPr/>
            </p:nvSpPr>
            <p:spPr>
              <a:xfrm>
                <a:off x="2184805" y="4663119"/>
                <a:ext cx="373800" cy="246300"/>
              </a:xfrm>
              <a:prstGeom prst="ellipse">
                <a:avLst/>
              </a:prstGeom>
              <a:solidFill>
                <a:srgbClr val="EEEEEE"/>
              </a:solidFill>
              <a:ln w="87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83800" rIns="0" bIns="83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16"/>
                  <a:buFont typeface="Arial"/>
                  <a:buNone/>
                </a:pPr>
                <a:r>
                  <a:rPr lang="en-GB" sz="916" b="1"/>
                  <a:t>9</a:t>
                </a:r>
                <a:endParaRPr sz="91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g37de55cb9c9_0_266"/>
              <p:cNvSpPr/>
              <p:nvPr/>
            </p:nvSpPr>
            <p:spPr>
              <a:xfrm>
                <a:off x="3813119" y="4623519"/>
                <a:ext cx="373800" cy="285900"/>
              </a:xfrm>
              <a:prstGeom prst="ellipse">
                <a:avLst/>
              </a:prstGeom>
              <a:solidFill>
                <a:srgbClr val="EEEEEE"/>
              </a:solidFill>
              <a:ln w="87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83800" rIns="0" bIns="83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16"/>
                  <a:buFont typeface="Arial"/>
                  <a:buNone/>
                </a:pPr>
                <a:r>
                  <a:rPr lang="en-GB" sz="916" b="1"/>
                  <a:t>17.5</a:t>
                </a:r>
                <a:endParaRPr sz="91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g37de55cb9c9_0_266"/>
              <p:cNvSpPr/>
              <p:nvPr/>
            </p:nvSpPr>
            <p:spPr>
              <a:xfrm>
                <a:off x="4627277" y="4623519"/>
                <a:ext cx="373800" cy="285900"/>
              </a:xfrm>
              <a:prstGeom prst="ellipse">
                <a:avLst/>
              </a:prstGeom>
              <a:solidFill>
                <a:srgbClr val="EEEEEE"/>
              </a:solidFill>
              <a:ln w="87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83800" rIns="0" bIns="83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16"/>
                  <a:buFont typeface="Arial"/>
                  <a:buNone/>
                </a:pPr>
                <a:r>
                  <a:rPr lang="en-GB" sz="916" b="1"/>
                  <a:t>18.7</a:t>
                </a:r>
                <a:endParaRPr sz="91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g37de55cb9c9_0_266"/>
              <p:cNvSpPr/>
              <p:nvPr/>
            </p:nvSpPr>
            <p:spPr>
              <a:xfrm>
                <a:off x="5441434" y="4623519"/>
                <a:ext cx="373800" cy="285900"/>
              </a:xfrm>
              <a:prstGeom prst="ellipse">
                <a:avLst/>
              </a:prstGeom>
              <a:solidFill>
                <a:srgbClr val="EEEEEE"/>
              </a:solidFill>
              <a:ln w="87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83800" rIns="0" bIns="83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16"/>
                  <a:buFont typeface="Arial"/>
                  <a:buNone/>
                </a:pPr>
                <a:r>
                  <a:rPr lang="en-GB" sz="916" b="1"/>
                  <a:t>19.2</a:t>
                </a:r>
                <a:endParaRPr sz="91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g37de55cb9c9_0_266"/>
              <p:cNvSpPr/>
              <p:nvPr/>
            </p:nvSpPr>
            <p:spPr>
              <a:xfrm>
                <a:off x="6255591" y="4623519"/>
                <a:ext cx="373800" cy="285900"/>
              </a:xfrm>
              <a:prstGeom prst="ellipse">
                <a:avLst/>
              </a:prstGeom>
              <a:solidFill>
                <a:srgbClr val="EEEEEE"/>
              </a:solidFill>
              <a:ln w="87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83800" rIns="0" bIns="83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16"/>
                  <a:buFont typeface="Arial"/>
                  <a:buNone/>
                </a:pPr>
                <a:r>
                  <a:rPr lang="en-GB" sz="916" b="1"/>
                  <a:t>15.6</a:t>
                </a:r>
                <a:endParaRPr sz="91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g37de55cb9c9_0_266"/>
              <p:cNvSpPr/>
              <p:nvPr/>
            </p:nvSpPr>
            <p:spPr>
              <a:xfrm>
                <a:off x="7069748" y="4623519"/>
                <a:ext cx="373800" cy="285900"/>
              </a:xfrm>
              <a:prstGeom prst="ellipse">
                <a:avLst/>
              </a:prstGeom>
              <a:solidFill>
                <a:srgbClr val="EEEEEE"/>
              </a:solidFill>
              <a:ln w="87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83800" rIns="0" bIns="83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16"/>
                  <a:buFont typeface="Arial"/>
                  <a:buNone/>
                </a:pPr>
                <a:r>
                  <a:rPr lang="en-GB" sz="916" b="1"/>
                  <a:t>18</a:t>
                </a:r>
                <a:endParaRPr sz="91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444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9"/>
          <p:cNvSpPr txBox="1"/>
          <p:nvPr/>
        </p:nvSpPr>
        <p:spPr>
          <a:xfrm>
            <a:off x="4917058" y="1846052"/>
            <a:ext cx="2973354" cy="95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GB" sz="6600" b="0" i="0" u="none" strike="noStrike" cap="none" dirty="0" err="1" smtClean="0">
                <a:solidFill>
                  <a:srgbClr val="083C92"/>
                </a:solidFill>
                <a:latin typeface="Baumans"/>
                <a:ea typeface="Baumans"/>
                <a:cs typeface="Baumans"/>
                <a:sym typeface="Baumans"/>
              </a:rPr>
              <a:t>Merci</a:t>
            </a:r>
            <a:r>
              <a:rPr lang="en-GB" sz="6600" b="0" i="0" u="none" strike="noStrike" cap="none" dirty="0" smtClean="0">
                <a:solidFill>
                  <a:srgbClr val="083C92"/>
                </a:solidFill>
                <a:latin typeface="Baumans"/>
                <a:ea typeface="Baumans"/>
                <a:cs typeface="Baumans"/>
                <a:sym typeface="Baumans"/>
              </a:rPr>
              <a:t> </a:t>
            </a:r>
            <a:endParaRPr sz="6600" b="0" i="0" u="none" strike="noStrike" cap="none" dirty="0">
              <a:solidFill>
                <a:srgbClr val="083C92"/>
              </a:solidFill>
              <a:latin typeface="Baumans"/>
              <a:ea typeface="Baumans"/>
              <a:cs typeface="Baumans"/>
              <a:sym typeface="Baumans"/>
            </a:endParaRPr>
          </a:p>
        </p:txBody>
      </p:sp>
      <p:pic>
        <p:nvPicPr>
          <p:cNvPr id="596" name="Google Shape;596;p19" descr="Une image contenant texte, graphisme, Graphique, carte&#10;&#10;Le contenu généré par l’IA peut êtr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648" y="-86285"/>
            <a:ext cx="5009189" cy="4819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5023</TotalTime>
  <Words>1209</Words>
  <Application>Microsoft Office PowerPoint</Application>
  <PresentationFormat>Affichage à l'écran (16:9)</PresentationFormat>
  <Paragraphs>245</Paragraphs>
  <Slides>14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Bodoni MT</vt:lpstr>
      <vt:lpstr>Calibri</vt:lpstr>
      <vt:lpstr>Arial Black</vt:lpstr>
      <vt:lpstr>Baumans</vt:lpstr>
      <vt:lpstr>Times New Roman</vt:lpstr>
      <vt:lpstr>Arial</vt:lpstr>
      <vt:lpstr>Office Theme</vt:lpstr>
      <vt:lpstr>Présentation PowerPoint</vt:lpstr>
      <vt:lpstr>Présentation PowerPoint</vt:lpstr>
      <vt:lpstr>GESTION DU PROGRAMME</vt:lpstr>
      <vt:lpstr>GESTION DU PROGRAMME</vt:lpstr>
      <vt:lpstr>GESTION DU PROGRAMME</vt:lpstr>
      <vt:lpstr>GESTION DU PROGRAMME</vt:lpstr>
      <vt:lpstr>GESTION DU PROGRAMME</vt:lpstr>
      <vt:lpstr>GESTION DU PROGRAMME</vt:lpstr>
      <vt:lpstr>GESTION DU PROGRAMME</vt:lpstr>
      <vt:lpstr>GESTION DU PROGRAMME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Mr David OLELA</dc:creator>
  <cp:lastModifiedBy>PEV</cp:lastModifiedBy>
  <cp:revision>151</cp:revision>
  <dcterms:modified xsi:type="dcterms:W3CDTF">2025-12-14T15:19:48Z</dcterms:modified>
</cp:coreProperties>
</file>