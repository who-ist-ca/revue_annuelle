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6"/>
  </p:handoutMasterIdLst>
  <p:sldIdLst>
    <p:sldId id="258" r:id="rId3"/>
    <p:sldId id="293" r:id="rId5"/>
    <p:sldId id="291" r:id="rId6"/>
    <p:sldId id="297" r:id="rId7"/>
    <p:sldId id="298" r:id="rId8"/>
    <p:sldId id="299" r:id="rId9"/>
    <p:sldId id="300" r:id="rId10"/>
    <p:sldId id="335" r:id="rId11"/>
    <p:sldId id="336" r:id="rId12"/>
    <p:sldId id="337" r:id="rId13"/>
    <p:sldId id="338" r:id="rId14"/>
    <p:sldId id="339" r:id="rId15"/>
    <p:sldId id="340" r:id="rId16"/>
    <p:sldId id="341" r:id="rId17"/>
    <p:sldId id="342" r:id="rId18"/>
    <p:sldId id="343" r:id="rId19"/>
    <p:sldId id="344" r:id="rId20"/>
    <p:sldId id="302" r:id="rId21"/>
    <p:sldId id="303" r:id="rId22"/>
    <p:sldId id="305" r:id="rId23"/>
    <p:sldId id="306" r:id="rId24"/>
    <p:sldId id="307" r:id="rId2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ina Seminara" initials="NS" lastIdx="0" clrIdx="0"/>
  <p:cmAuthor id="2" name="Ashley Hartz" initials="AH" lastIdx="0" clrIdx="1"/>
  <p:cmAuthor id="3" name="Samera Zaidi" initials="SZ" lastIdx="0" clrIdx="2"/>
  <p:cmAuthor id="4" name="Kaitlin Love" initials="KL" lastIdx="0" clrIdx="3"/>
  <p:cmAuthor id="5" name="Jordan Freeman" initials="JF" lastIdx="0" clrIdx="4"/>
  <p:cmAuthor id="6" name="Leila Scott" initials="LS" lastIdx="0" clrIdx="5"/>
  <p:cmAuthor id="7" name="Mona Korsgard" initials="MK" lastIdx="0" clrIdx="6"/>
  <p:cmAuthor id="8" name="Emma Vincent" initials="EV" lastIdx="0" clrIdx="7"/>
  <p:cmAuthor id="9" name="Juan Andres Gil" initials="JAG" lastIdx="0" clrIdx="8"/>
  <p:cmAuthor id="10" name="Catherine Muller" initials="CM" lastIdx="0" clrIdx="9"/>
  <p:cmAuthor id="11" name="Cairn Verhulst" initials="CV" lastIdx="0" clrIdx="10"/>
  <p:cmAuthor id="12" name="Daniel Murphy" initials="DM" lastIdx="0" clrIdx="11"/>
  <p:cmAuthor id="13" name="Megan Bellinger" initials="MB" lastIdx="0" clrIdx="12"/>
  <p:cmAuthor id="14" name="Massimiliano Sani" initials="MS" lastIdx="0" clrIdx="13"/>
  <p:cmAuthor id="15" name="Jeremiah Chinodya" initials="JC" lastIdx="0" clrIdx="14"/>
  <p:cmAuthor id="16" name="Loveness Chimombe" initials="LC" lastIdx="0" clrIdx="15"/>
  <p:cmAuthor id="17" name="Hollis Henry" initials="HH" lastIdx="0" clrIdx="16"/>
  <p:cmAuthor id="18" name="UNICEF ESARO" initials="UNICEF" lastIdx="0" clrIdx="17"/>
  <p:cmAuthor id="19" name="Sanya Batra" initials="SB" lastIdx="0" clrIdx="18"/>
  <p:cmAuthor id="20" name="Marika Klein" initials="MK" lastIdx="0" clrIdx="19"/>
  <p:cmAuthor id="21" name="Seth Messinger" initials="SM" lastIdx="0" clrIdx="20"/>
  <p:cmAuthor id="22" name="Sandra Sonia Dupuy" initials="SSD" lastIdx="0" clrIdx="2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3300"/>
    <a:srgbClr val="CC0000"/>
    <a:srgbClr val="FF3300"/>
    <a:srgbClr val="FF6600"/>
    <a:srgbClr val="B2B2B2"/>
    <a:srgbClr val="202020"/>
    <a:srgbClr val="323232"/>
    <a:srgbClr val="990000"/>
    <a:srgbClr val="FF8D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71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804" y="72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lenovo\Downloads\data%20(27)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najma\OneDrive\Documents\PEV%20DE%20ROUTINE\Routine_RDC_%202025%20DPS\RDC_CV%20Cumul&#233;e%20par%20Province_2025%20DPS.xls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najma\OneDrive\Documents\PEV%20DE%20ROUTINE\Routine_RDC_%202025%20DPS\RDC_CV%20Cumul&#233;e%20par%20Province_2025%20DPS.xls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file:///C:\Users\najma\OneDrive\Documents\PEV%20DE%20ROUTINE\Routine_RDC_%202025%20DPS\RDC_CV%20Cumul&#233;e%20par%20Province_2025%20DPS.xls" TargetMode="Externa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1.xlsx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2.xlsx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multiLvlStrRef>
              <c:f>'[data (27).xls]Feuille4'!$E$12:$F$75</c:f>
              <c:multiLvlStrCache>
                <c:ptCount val="64"/>
                <c:lvl>
                  <c:pt idx="0">
                    <c:v>Décaissement tardif</c:v>
                  </c:pt>
                  <c:pt idx="1">
                    <c:v>Fond non disponible </c:v>
                  </c:pt>
                  <c:pt idx="2">
                    <c:v>Insécurité</c:v>
                  </c:pt>
                  <c:pt idx="3">
                    <c:v>Grève</c:v>
                  </c:pt>
                  <c:pt idx="4">
                    <c:v>Surcharge du Tavail </c:v>
                  </c:pt>
                  <c:pt idx="5">
                    <c:v>Mauvaise gestion des fonds</c:v>
                  </c:pt>
                  <c:pt idx="6">
                    <c:v>Lourdeurs procédures </c:v>
                  </c:pt>
                  <c:pt idx="7">
                    <c:v>Manque de personnel qualifié</c:v>
                  </c:pt>
                  <c:pt idx="8">
                    <c:v>Décaissement tardif</c:v>
                  </c:pt>
                  <c:pt idx="9">
                    <c:v>Fond non disponible </c:v>
                  </c:pt>
                  <c:pt idx="10">
                    <c:v>Insécurité</c:v>
                  </c:pt>
                  <c:pt idx="11">
                    <c:v>Grève</c:v>
                  </c:pt>
                  <c:pt idx="12">
                    <c:v>Surcharge du Tavail </c:v>
                  </c:pt>
                  <c:pt idx="13">
                    <c:v>Mauvaise gestion des fonds</c:v>
                  </c:pt>
                  <c:pt idx="14">
                    <c:v>Lourdeurs procédures </c:v>
                  </c:pt>
                  <c:pt idx="15">
                    <c:v>Manque de personnel qualifié</c:v>
                  </c:pt>
                  <c:pt idx="16">
                    <c:v>Décaissement tardif</c:v>
                  </c:pt>
                  <c:pt idx="17">
                    <c:v>Fond non disponible </c:v>
                  </c:pt>
                  <c:pt idx="18">
                    <c:v>Insécurité</c:v>
                  </c:pt>
                  <c:pt idx="19">
                    <c:v>Grève</c:v>
                  </c:pt>
                  <c:pt idx="20">
                    <c:v>Surcharge du Tavail </c:v>
                  </c:pt>
                  <c:pt idx="21">
                    <c:v>Mauvaise gestion des fonds</c:v>
                  </c:pt>
                  <c:pt idx="22">
                    <c:v>Lourdeurs procédures </c:v>
                  </c:pt>
                  <c:pt idx="23">
                    <c:v>Manque de personnel qualifié</c:v>
                  </c:pt>
                  <c:pt idx="24">
                    <c:v>Décaissement tardif</c:v>
                  </c:pt>
                  <c:pt idx="25">
                    <c:v>Fond non disponible </c:v>
                  </c:pt>
                  <c:pt idx="26">
                    <c:v>Insécurité</c:v>
                  </c:pt>
                  <c:pt idx="27">
                    <c:v>Grève</c:v>
                  </c:pt>
                  <c:pt idx="28">
                    <c:v>Surcharge du Tavail </c:v>
                  </c:pt>
                  <c:pt idx="29">
                    <c:v>Mauvaise gestion des fonds</c:v>
                  </c:pt>
                  <c:pt idx="30">
                    <c:v>Lourdeurs procédures </c:v>
                  </c:pt>
                  <c:pt idx="31">
                    <c:v>Manque de personnel qualifié</c:v>
                  </c:pt>
                  <c:pt idx="32">
                    <c:v>Décaissement tardif</c:v>
                  </c:pt>
                  <c:pt idx="33">
                    <c:v>Fond non disponible </c:v>
                  </c:pt>
                  <c:pt idx="34">
                    <c:v>Insécurité</c:v>
                  </c:pt>
                  <c:pt idx="35">
                    <c:v>Grève</c:v>
                  </c:pt>
                  <c:pt idx="36">
                    <c:v>Surcharge du Tavail </c:v>
                  </c:pt>
                  <c:pt idx="37">
                    <c:v>Mauvaise gestion des fonds</c:v>
                  </c:pt>
                  <c:pt idx="38">
                    <c:v>Lourdeurs procédures </c:v>
                  </c:pt>
                  <c:pt idx="39">
                    <c:v>Manque de personnel qualifié</c:v>
                  </c:pt>
                  <c:pt idx="40">
                    <c:v>Décaissement tardif</c:v>
                  </c:pt>
                  <c:pt idx="41">
                    <c:v>Fond non disponible </c:v>
                  </c:pt>
                  <c:pt idx="42">
                    <c:v>Insécurité</c:v>
                  </c:pt>
                  <c:pt idx="43">
                    <c:v>Grève</c:v>
                  </c:pt>
                  <c:pt idx="44">
                    <c:v>Surcharge du Tavail </c:v>
                  </c:pt>
                  <c:pt idx="45">
                    <c:v>Mauvaise gestion des fonds</c:v>
                  </c:pt>
                  <c:pt idx="46">
                    <c:v>Lourdeurs procédures </c:v>
                  </c:pt>
                  <c:pt idx="47">
                    <c:v>Manque de personnel qualifié</c:v>
                  </c:pt>
                  <c:pt idx="48">
                    <c:v>Décaissement tardif</c:v>
                  </c:pt>
                  <c:pt idx="49">
                    <c:v>Fond non disponible </c:v>
                  </c:pt>
                  <c:pt idx="50">
                    <c:v>Insécurité</c:v>
                  </c:pt>
                  <c:pt idx="51">
                    <c:v>Grève</c:v>
                  </c:pt>
                  <c:pt idx="52">
                    <c:v>Surcharge du Tavail </c:v>
                  </c:pt>
                  <c:pt idx="53">
                    <c:v>Mauvaise gestion des fonds</c:v>
                  </c:pt>
                  <c:pt idx="54">
                    <c:v>Lourdeurs procédures </c:v>
                  </c:pt>
                  <c:pt idx="55">
                    <c:v>Manque de personnel qualifié</c:v>
                  </c:pt>
                  <c:pt idx="56">
                    <c:v>Décaissement tardif</c:v>
                  </c:pt>
                  <c:pt idx="57">
                    <c:v>Fond non disponible </c:v>
                  </c:pt>
                  <c:pt idx="58">
                    <c:v>Insécurité</c:v>
                  </c:pt>
                  <c:pt idx="59">
                    <c:v>Grève</c:v>
                  </c:pt>
                  <c:pt idx="60">
                    <c:v>Surcharge du Tavail </c:v>
                  </c:pt>
                  <c:pt idx="61">
                    <c:v>Mauvaise gestion des fonds</c:v>
                  </c:pt>
                  <c:pt idx="62">
                    <c:v>Lourdeurs procédures </c:v>
                  </c:pt>
                  <c:pt idx="63">
                    <c:v>Manque de personnel qualifié</c:v>
                  </c:pt>
                </c:lvl>
                <c:lvl>
                  <c:pt idx="0">
                    <c:v>Prestation </c:v>
                  </c:pt>
                  <c:pt idx="8">
                    <c:v>Logistique / chaîne de froid</c:v>
                  </c:pt>
                  <c:pt idx="16">
                    <c:v>Surveillance épidémiologique</c:v>
                  </c:pt>
                  <c:pt idx="24">
                    <c:v>Gestion du Programme  </c:v>
                  </c:pt>
                  <c:pt idx="32">
                    <c:v>Génération de la demande</c:v>
                  </c:pt>
                  <c:pt idx="40">
                    <c:v>AVS</c:v>
                  </c:pt>
                  <c:pt idx="48">
                    <c:v>Qualité des données </c:v>
                  </c:pt>
                  <c:pt idx="56">
                    <c:v>Prestation </c:v>
                  </c:pt>
                </c:lvl>
              </c:multiLvlStrCache>
            </c:multiLvlStrRef>
          </c:cat>
          <c:val>
            <c:numRef>
              <c:f>'[data (27).xls]Feuille4'!$G$12:$G$75</c:f>
              <c:numCache>
                <c:formatCode>0%</c:formatCode>
                <c:ptCount val="64"/>
                <c:pt idx="0">
                  <c:v>0.12</c:v>
                </c:pt>
                <c:pt idx="1">
                  <c:v>0.4</c:v>
                </c:pt>
                <c:pt idx="2">
                  <c:v>0.2</c:v>
                </c:pt>
                <c:pt idx="3">
                  <c:v>0.32</c:v>
                </c:pt>
                <c:pt idx="4">
                  <c:v>0.36</c:v>
                </c:pt>
                <c:pt idx="5">
                  <c:v>0.4</c:v>
                </c:pt>
                <c:pt idx="6">
                  <c:v>0.44</c:v>
                </c:pt>
                <c:pt idx="7">
                  <c:v>0.48</c:v>
                </c:pt>
                <c:pt idx="8">
                  <c:v>0.52</c:v>
                </c:pt>
                <c:pt idx="9">
                  <c:v>0.56</c:v>
                </c:pt>
                <c:pt idx="10">
                  <c:v>0.6</c:v>
                </c:pt>
                <c:pt idx="11">
                  <c:v>0.64</c:v>
                </c:pt>
                <c:pt idx="12">
                  <c:v>0.44</c:v>
                </c:pt>
                <c:pt idx="13">
                  <c:v>0.48</c:v>
                </c:pt>
                <c:pt idx="14">
                  <c:v>0.52</c:v>
                </c:pt>
                <c:pt idx="15">
                  <c:v>0.56</c:v>
                </c:pt>
                <c:pt idx="16">
                  <c:v>0.6</c:v>
                </c:pt>
                <c:pt idx="17">
                  <c:v>0.64</c:v>
                </c:pt>
                <c:pt idx="18">
                  <c:v>0.44</c:v>
                </c:pt>
                <c:pt idx="19">
                  <c:v>0.48</c:v>
                </c:pt>
                <c:pt idx="20">
                  <c:v>0.52</c:v>
                </c:pt>
                <c:pt idx="21">
                  <c:v>0.56</c:v>
                </c:pt>
                <c:pt idx="22">
                  <c:v>0.6</c:v>
                </c:pt>
                <c:pt idx="23">
                  <c:v>0.64</c:v>
                </c:pt>
                <c:pt idx="24">
                  <c:v>0.44</c:v>
                </c:pt>
                <c:pt idx="25">
                  <c:v>0.48</c:v>
                </c:pt>
                <c:pt idx="26">
                  <c:v>0.52</c:v>
                </c:pt>
                <c:pt idx="27">
                  <c:v>0.56</c:v>
                </c:pt>
                <c:pt idx="28">
                  <c:v>0.6</c:v>
                </c:pt>
                <c:pt idx="29">
                  <c:v>0.64</c:v>
                </c:pt>
                <c:pt idx="30">
                  <c:v>0.44</c:v>
                </c:pt>
                <c:pt idx="31">
                  <c:v>0.48</c:v>
                </c:pt>
                <c:pt idx="32">
                  <c:v>0.52</c:v>
                </c:pt>
                <c:pt idx="33">
                  <c:v>0.56</c:v>
                </c:pt>
                <c:pt idx="34">
                  <c:v>0.6</c:v>
                </c:pt>
                <c:pt idx="35">
                  <c:v>0.64</c:v>
                </c:pt>
                <c:pt idx="36">
                  <c:v>0.44</c:v>
                </c:pt>
                <c:pt idx="37">
                  <c:v>0.48</c:v>
                </c:pt>
                <c:pt idx="38">
                  <c:v>0.52</c:v>
                </c:pt>
                <c:pt idx="39">
                  <c:v>0.56</c:v>
                </c:pt>
                <c:pt idx="40">
                  <c:v>0.6</c:v>
                </c:pt>
                <c:pt idx="41">
                  <c:v>0.64</c:v>
                </c:pt>
                <c:pt idx="42">
                  <c:v>0.44</c:v>
                </c:pt>
                <c:pt idx="43">
                  <c:v>0.48</c:v>
                </c:pt>
                <c:pt idx="44">
                  <c:v>0.52</c:v>
                </c:pt>
                <c:pt idx="45">
                  <c:v>0.56</c:v>
                </c:pt>
                <c:pt idx="46">
                  <c:v>0.6</c:v>
                </c:pt>
                <c:pt idx="47">
                  <c:v>0.64</c:v>
                </c:pt>
                <c:pt idx="48">
                  <c:v>0.44</c:v>
                </c:pt>
                <c:pt idx="49">
                  <c:v>0.48</c:v>
                </c:pt>
                <c:pt idx="50">
                  <c:v>0.52</c:v>
                </c:pt>
                <c:pt idx="51">
                  <c:v>0.56</c:v>
                </c:pt>
                <c:pt idx="52">
                  <c:v>0.6</c:v>
                </c:pt>
                <c:pt idx="53">
                  <c:v>0.64</c:v>
                </c:pt>
                <c:pt idx="54">
                  <c:v>0.44</c:v>
                </c:pt>
                <c:pt idx="55">
                  <c:v>0.48</c:v>
                </c:pt>
                <c:pt idx="56">
                  <c:v>0.52</c:v>
                </c:pt>
                <c:pt idx="57">
                  <c:v>0.56</c:v>
                </c:pt>
                <c:pt idx="58">
                  <c:v>0.6</c:v>
                </c:pt>
                <c:pt idx="59">
                  <c:v>0.64</c:v>
                </c:pt>
                <c:pt idx="60">
                  <c:v>0.44</c:v>
                </c:pt>
                <c:pt idx="61">
                  <c:v>0.48</c:v>
                </c:pt>
                <c:pt idx="62">
                  <c:v>0.52</c:v>
                </c:pt>
                <c:pt idx="63">
                  <c:v>0.56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46"/>
        <c:overlap val="-28"/>
        <c:axId val="189105344"/>
        <c:axId val="189107304"/>
      </c:barChart>
      <c:catAx>
        <c:axId val="18910534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fr-FR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89107304"/>
        <c:crosses val="autoZero"/>
        <c:auto val="1"/>
        <c:lblAlgn val="ctr"/>
        <c:lblOffset val="100"/>
        <c:noMultiLvlLbl val="0"/>
      </c:catAx>
      <c:valAx>
        <c:axId val="1891073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fr-FR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891053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2ed10170-587b-49ed-a254-5f6e995e0954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fr-FR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418959319942716"/>
          <c:y val="0.0181730763727112"/>
          <c:w val="0.941950221407142"/>
          <c:h val="0.930945807663664"/>
        </c:manualLayout>
      </c:layout>
      <c:lineChart>
        <c:grouping val="standard"/>
        <c:varyColors val="0"/>
        <c:ser>
          <c:idx val="0"/>
          <c:order val="0"/>
          <c:tx>
            <c:strRef>
              <c:f>'Données  DTC3 sup 100 '!$B$3</c:f>
              <c:strCache>
                <c:ptCount val="1"/>
                <c:pt idx="0">
                  <c:v>CV &gt;100%</c:v>
                </c:pt>
              </c:strCache>
            </c:strRef>
          </c:tx>
          <c:spPr>
            <a:ln w="28575" cap="rnd" cmpd="sng" algn="ctr">
              <a:solidFill>
                <a:schemeClr val="accent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 cap="flat" cmpd="sng" algn="ctr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dLbls>
            <c:spPr>
              <a:noFill/>
              <a:ln w="25400"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200" b="0" i="0" u="none" strike="noStrike" kern="1200" baseline="0">
                    <a:solidFill>
                      <a:srgbClr val="0066CC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'Données  DTC3 sup 100 '!$A$4:$A$9</c:f>
              <c:numCache>
                <c:formatCode>General</c:formatCod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numCache>
            </c:numRef>
          </c:cat>
          <c:val>
            <c:numRef>
              <c:f>'Données  DTC3 sup 100 '!$B$4:$B$9</c:f>
              <c:numCache>
                <c:formatCode>General</c:formatCode>
                <c:ptCount val="6"/>
                <c:pt idx="0">
                  <c:v>124</c:v>
                </c:pt>
                <c:pt idx="1">
                  <c:v>81</c:v>
                </c:pt>
                <c:pt idx="2">
                  <c:v>137</c:v>
                </c:pt>
                <c:pt idx="3">
                  <c:v>146</c:v>
                </c:pt>
                <c:pt idx="4">
                  <c:v>161</c:v>
                </c:pt>
                <c:pt idx="5">
                  <c:v>205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69945456"/>
        <c:axId val="569941536"/>
      </c:lineChart>
      <c:catAx>
        <c:axId val="5699454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333333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69941536"/>
        <c:crosses val="autoZero"/>
        <c:auto val="1"/>
        <c:lblAlgn val="ctr"/>
        <c:lblOffset val="100"/>
        <c:noMultiLvlLbl val="0"/>
      </c:catAx>
      <c:valAx>
        <c:axId val="569941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333333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69945456"/>
        <c:crosses val="autoZero"/>
        <c:crossBetween val="between"/>
      </c:valAx>
      <c:spPr>
        <a:noFill/>
        <a:ln w="25400"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c20c9b04-9a5c-4a17-b79a-fcb1b1dfb9ab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en-US" sz="1000" b="0" i="0" u="none" strike="noStrike" baseline="0">
          <a:solidFill>
            <a:srgbClr val="000000"/>
          </a:solidFill>
          <a:latin typeface="Calibri" panose="020F0502020204030204"/>
          <a:ea typeface="Calibri" panose="020F0502020204030204"/>
          <a:cs typeface="Calibri" panose="020F0502020204030204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'EV Tx néga'!$B$2</c:f>
              <c:strCache>
                <c:ptCount val="1"/>
                <c:pt idx="0">
                  <c:v>Tx Ab négatif</c:v>
                </c:pt>
              </c:strCache>
            </c:strRef>
          </c:tx>
          <c:spPr>
            <a:ln w="28575" cap="rnd" cmpd="sng" algn="ctr">
              <a:solidFill>
                <a:schemeClr val="accent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 cap="flat" cmpd="sng" algn="ctr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dLbls>
            <c:spPr>
              <a:noFill/>
              <a:ln w="25400"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600" b="1" i="0" u="none" strike="noStrike" kern="1200" baseline="0">
                    <a:solidFill>
                      <a:srgbClr val="0066CC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'EV Tx néga'!$A$3:$A$8</c:f>
              <c:numCache>
                <c:formatCode>General</c:formatCode>
                <c:ptCount val="6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</c:numCache>
            </c:numRef>
          </c:cat>
          <c:val>
            <c:numRef>
              <c:f>'EV Tx néga'!$B$3:$B$8</c:f>
              <c:numCache>
                <c:formatCode>General</c:formatCode>
                <c:ptCount val="6"/>
                <c:pt idx="0">
                  <c:v>9</c:v>
                </c:pt>
                <c:pt idx="1">
                  <c:v>29</c:v>
                </c:pt>
                <c:pt idx="2">
                  <c:v>7</c:v>
                </c:pt>
                <c:pt idx="3">
                  <c:v>6</c:v>
                </c:pt>
                <c:pt idx="4">
                  <c:v>11</c:v>
                </c:pt>
                <c:pt idx="5">
                  <c:v>18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70036792"/>
        <c:axId val="570028168"/>
      </c:lineChart>
      <c:catAx>
        <c:axId val="570036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28168"/>
        <c:crosses val="autoZero"/>
        <c:auto val="1"/>
        <c:lblAlgn val="ctr"/>
        <c:lblOffset val="100"/>
        <c:noMultiLvlLbl val="0"/>
      </c:catAx>
      <c:valAx>
        <c:axId val="570028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333333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36792"/>
        <c:crosses val="autoZero"/>
        <c:crossBetween val="between"/>
      </c:valAx>
      <c:spPr>
        <a:noFill/>
        <a:ln w="25400"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9505628b-06c1-4d4f-a820-bf69f0b94b5d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en-US" sz="1000" b="0" i="0" u="none" strike="noStrike" baseline="0">
          <a:solidFill>
            <a:srgbClr val="000000"/>
          </a:solidFill>
          <a:latin typeface="Calibri" panose="020F0502020204030204"/>
          <a:ea typeface="Calibri" panose="020F0502020204030204"/>
          <a:cs typeface="Calibri" panose="020F0502020204030204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'CV RDC 1995-2024 '!$A$17</c:f>
              <c:strCache>
                <c:ptCount val="1"/>
                <c:pt idx="0">
                  <c:v>Cible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elete val="1"/>
          </c:dLbls>
          <c:cat>
            <c:numRef>
              <c:f>'CV RDC 1995-2024 '!$B$16:$G$16</c:f>
              <c:numCache>
                <c:formatCode>_-* #,##0\ _F_-;\-* #,##0\ _F_-;_-* "-"??\ _F_-;_-@_-</c:formatCode>
                <c:ptCount val="6"/>
                <c:pt idx="0" c:formatCode="_-* #,##0\ _F_-;\-* #,##0\ _F_-;_-* &quot;-&quot;??\ _F_-;_-@_-">
                  <c:v>2020</c:v>
                </c:pt>
                <c:pt idx="1" c:formatCode="_-* #,##0\ _F_-;\-* #,##0\ _F_-;_-* &quot;-&quot;??\ _F_-;_-@_-">
                  <c:v>2021</c:v>
                </c:pt>
                <c:pt idx="2" c:formatCode="_-* #,##0\ _F_-;\-* #,##0\ _F_-;_-* &quot;-&quot;??\ _F_-;_-@_-">
                  <c:v>2022</c:v>
                </c:pt>
                <c:pt idx="3" c:formatCode="_-* #,##0\ _F_-;\-* #,##0\ _F_-;_-* &quot;-&quot;??\ _F_-;_-@_-">
                  <c:v>2023</c:v>
                </c:pt>
                <c:pt idx="4" c:formatCode="_-* #,##0\ _F_-;\-* #,##0\ _F_-;_-* &quot;-&quot;??\ _F_-;_-@_-">
                  <c:v>2024</c:v>
                </c:pt>
                <c:pt idx="5" c:formatCode="_-* #,##0\ _F_-;\-* #,##0\ _F_-;_-* &quot;-&quot;??\ _F_-;_-@_-">
                  <c:v>2025</c:v>
                </c:pt>
              </c:numCache>
            </c:numRef>
          </c:cat>
          <c:val>
            <c:numRef>
              <c:f>'CV RDC 1995-2024 '!$B$17:$G$17</c:f>
              <c:numCache>
                <c:formatCode>_-* #,##0\ _F_-;\-* #,##0\ _F_-;_-* "-"??\ _F_-;_-@_-</c:formatCode>
                <c:ptCount val="6"/>
                <c:pt idx="0">
                  <c:v>3921467</c:v>
                </c:pt>
                <c:pt idx="1">
                  <c:v>4081418</c:v>
                </c:pt>
                <c:pt idx="2">
                  <c:v>4211597</c:v>
                </c:pt>
                <c:pt idx="3" c:formatCode="General">
                  <c:v>4324938</c:v>
                </c:pt>
                <c:pt idx="4" c:formatCode="General">
                  <c:v>4487354</c:v>
                </c:pt>
                <c:pt idx="5">
                  <c:v>4083987.5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'CV RDC 1995-2024 '!$A$18</c:f>
              <c:strCache>
                <c:ptCount val="1"/>
                <c:pt idx="0">
                  <c:v>DTC-HepB-Hib1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delete val="1"/>
          </c:dLbls>
          <c:cat>
            <c:numRef>
              <c:f>'CV RDC 1995-2024 '!$B$16:$G$16</c:f>
              <c:numCache>
                <c:formatCode>_-* #,##0\ _F_-;\-* #,##0\ _F_-;_-* "-"??\ _F_-;_-@_-</c:formatCode>
                <c:ptCount val="6"/>
                <c:pt idx="0" c:formatCode="_-* #,##0\ _F_-;\-* #,##0\ _F_-;_-* &quot;-&quot;??\ _F_-;_-@_-">
                  <c:v>2020</c:v>
                </c:pt>
                <c:pt idx="1" c:formatCode="_-* #,##0\ _F_-;\-* #,##0\ _F_-;_-* &quot;-&quot;??\ _F_-;_-@_-">
                  <c:v>2021</c:v>
                </c:pt>
                <c:pt idx="2" c:formatCode="_-* #,##0\ _F_-;\-* #,##0\ _F_-;_-* &quot;-&quot;??\ _F_-;_-@_-">
                  <c:v>2022</c:v>
                </c:pt>
                <c:pt idx="3" c:formatCode="_-* #,##0\ _F_-;\-* #,##0\ _F_-;_-* &quot;-&quot;??\ _F_-;_-@_-">
                  <c:v>2023</c:v>
                </c:pt>
                <c:pt idx="4" c:formatCode="_-* #,##0\ _F_-;\-* #,##0\ _F_-;_-* &quot;-&quot;??\ _F_-;_-@_-">
                  <c:v>2024</c:v>
                </c:pt>
                <c:pt idx="5" c:formatCode="_-* #,##0\ _F_-;\-* #,##0\ _F_-;_-* &quot;-&quot;??\ _F_-;_-@_-">
                  <c:v>2025</c:v>
                </c:pt>
              </c:numCache>
            </c:numRef>
          </c:cat>
          <c:val>
            <c:numRef>
              <c:f>'CV RDC 1995-2024 '!$B$18:$G$18</c:f>
              <c:numCache>
                <c:formatCode>_-* #,##0\ _F_-;\-* #,##0\ _F_-;_-* "-"??\ _F_-;_-@_-</c:formatCode>
                <c:ptCount val="6"/>
                <c:pt idx="0">
                  <c:v>3930179</c:v>
                </c:pt>
                <c:pt idx="1">
                  <c:v>3739699</c:v>
                </c:pt>
                <c:pt idx="2">
                  <c:v>4263357</c:v>
                </c:pt>
                <c:pt idx="3" c:formatCode="General">
                  <c:v>4244011</c:v>
                </c:pt>
                <c:pt idx="4" c:formatCode="General">
                  <c:v>4692347</c:v>
                </c:pt>
                <c:pt idx="5">
                  <c:v>4085919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'CV RDC 1995-2024 '!$A$19</c:f>
              <c:strCache>
                <c:ptCount val="1"/>
                <c:pt idx="0">
                  <c:v>DTC-HepB-Hib3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delete val="1"/>
          </c:dLbls>
          <c:cat>
            <c:numRef>
              <c:f>'CV RDC 1995-2024 '!$B$16:$G$16</c:f>
              <c:numCache>
                <c:formatCode>_-* #,##0\ _F_-;\-* #,##0\ _F_-;_-* "-"??\ _F_-;_-@_-</c:formatCode>
                <c:ptCount val="6"/>
                <c:pt idx="0" c:formatCode="_-* #,##0\ _F_-;\-* #,##0\ _F_-;_-* &quot;-&quot;??\ _F_-;_-@_-">
                  <c:v>2020</c:v>
                </c:pt>
                <c:pt idx="1" c:formatCode="_-* #,##0\ _F_-;\-* #,##0\ _F_-;_-* &quot;-&quot;??\ _F_-;_-@_-">
                  <c:v>2021</c:v>
                </c:pt>
                <c:pt idx="2" c:formatCode="_-* #,##0\ _F_-;\-* #,##0\ _F_-;_-* &quot;-&quot;??\ _F_-;_-@_-">
                  <c:v>2022</c:v>
                </c:pt>
                <c:pt idx="3" c:formatCode="_-* #,##0\ _F_-;\-* #,##0\ _F_-;_-* &quot;-&quot;??\ _F_-;_-@_-">
                  <c:v>2023</c:v>
                </c:pt>
                <c:pt idx="4" c:formatCode="_-* #,##0\ _F_-;\-* #,##0\ _F_-;_-* &quot;-&quot;??\ _F_-;_-@_-">
                  <c:v>2024</c:v>
                </c:pt>
                <c:pt idx="5" c:formatCode="_-* #,##0\ _F_-;\-* #,##0\ _F_-;_-* &quot;-&quot;??\ _F_-;_-@_-">
                  <c:v>2025</c:v>
                </c:pt>
              </c:numCache>
            </c:numRef>
          </c:cat>
          <c:val>
            <c:numRef>
              <c:f>'CV RDC 1995-2024 '!$B$19:$G$19</c:f>
              <c:numCache>
                <c:formatCode>_-* #,##0\ _F_-;\-* #,##0\ _F_-;_-* "-"??\ _F_-;_-@_-</c:formatCode>
                <c:ptCount val="6"/>
                <c:pt idx="0">
                  <c:v>3710713</c:v>
                </c:pt>
                <c:pt idx="1">
                  <c:v>3513627</c:v>
                </c:pt>
                <c:pt idx="2">
                  <c:v>3999784</c:v>
                </c:pt>
                <c:pt idx="3" c:formatCode="General">
                  <c:v>3985031</c:v>
                </c:pt>
                <c:pt idx="4" c:formatCode="General">
                  <c:v>4431254</c:v>
                </c:pt>
                <c:pt idx="5">
                  <c:v>3869106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'CV RDC 1995-2024 '!$A$20</c:f>
              <c:strCache>
                <c:ptCount val="1"/>
                <c:pt idx="0">
                  <c:v>VAR1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delete val="1"/>
          </c:dLbls>
          <c:cat>
            <c:numRef>
              <c:f>'CV RDC 1995-2024 '!$B$16:$G$16</c:f>
              <c:numCache>
                <c:formatCode>_-* #,##0\ _F_-;\-* #,##0\ _F_-;_-* "-"??\ _F_-;_-@_-</c:formatCode>
                <c:ptCount val="6"/>
                <c:pt idx="0" c:formatCode="_-* #,##0\ _F_-;\-* #,##0\ _F_-;_-* &quot;-&quot;??\ _F_-;_-@_-">
                  <c:v>2020</c:v>
                </c:pt>
                <c:pt idx="1" c:formatCode="_-* #,##0\ _F_-;\-* #,##0\ _F_-;_-* &quot;-&quot;??\ _F_-;_-@_-">
                  <c:v>2021</c:v>
                </c:pt>
                <c:pt idx="2" c:formatCode="_-* #,##0\ _F_-;\-* #,##0\ _F_-;_-* &quot;-&quot;??\ _F_-;_-@_-">
                  <c:v>2022</c:v>
                </c:pt>
                <c:pt idx="3" c:formatCode="_-* #,##0\ _F_-;\-* #,##0\ _F_-;_-* &quot;-&quot;??\ _F_-;_-@_-">
                  <c:v>2023</c:v>
                </c:pt>
                <c:pt idx="4" c:formatCode="_-* #,##0\ _F_-;\-* #,##0\ _F_-;_-* &quot;-&quot;??\ _F_-;_-@_-">
                  <c:v>2024</c:v>
                </c:pt>
                <c:pt idx="5" c:formatCode="_-* #,##0\ _F_-;\-* #,##0\ _F_-;_-* &quot;-&quot;??\ _F_-;_-@_-">
                  <c:v>2025</c:v>
                </c:pt>
              </c:numCache>
            </c:numRef>
          </c:cat>
          <c:val>
            <c:numRef>
              <c:f>'CV RDC 1995-2024 '!$B$20:$G$20</c:f>
              <c:numCache>
                <c:formatCode>_-* #,##0\ _F_-;\-* #,##0\ _F_-;_-* "-"??\ _F_-;_-@_-</c:formatCode>
                <c:ptCount val="6"/>
                <c:pt idx="0">
                  <c:v>3573901</c:v>
                </c:pt>
                <c:pt idx="1">
                  <c:v>3447653</c:v>
                </c:pt>
                <c:pt idx="2">
                  <c:v>3996876</c:v>
                </c:pt>
                <c:pt idx="3" c:formatCode="General">
                  <c:v>4136412</c:v>
                </c:pt>
                <c:pt idx="4" c:formatCode="General">
                  <c:v>4278821</c:v>
                </c:pt>
                <c:pt idx="5">
                  <c:v>3287902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70025816"/>
        <c:axId val="570019936"/>
      </c:lineChart>
      <c:catAx>
        <c:axId val="570025816"/>
        <c:scaling>
          <c:orientation val="minMax"/>
        </c:scaling>
        <c:delete val="0"/>
        <c:axPos val="b"/>
        <c:numFmt formatCode="_-* #,##0\ _F_-;\-* #,##0\ _F_-;_-* &quot;-&quot;??\ _F_-;_-@_-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70019936"/>
        <c:crosses val="autoZero"/>
        <c:auto val="1"/>
        <c:lblAlgn val="ctr"/>
        <c:lblOffset val="100"/>
        <c:noMultiLvlLbl val="0"/>
      </c:catAx>
      <c:valAx>
        <c:axId val="570019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-* #,##0\ _F_-;\-* #,##0\ _F_-;_-* &quot;-&quot;??\ _F_-;_-@_-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70025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59f0db26-5cfe-4b36-b196-84949619ecf6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698656106403122"/>
          <c:y val="0.0856191162460718"/>
          <c:w val="0.922468538573441"/>
          <c:h val="0.77832138162595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'Tableau synthese CV Antigènes'!$AM$1</c:f>
              <c:strCache>
                <c:ptCount val="1"/>
                <c:pt idx="0">
                  <c:v>PENTA3</c:v>
                </c:pt>
              </c:strCache>
            </c:strRef>
          </c:tx>
          <c:invertIfNegative val="0"/>
          <c:dLbls>
            <c:delete val="1"/>
          </c:dLbls>
          <c:cat>
            <c:strRef>
              <c:f>'Tableau synthese CV Antigènes'!$AL$2:$AL$28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Juinndombe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Antigènes'!$AM$2:$AM$28</c:f>
              <c:numCache>
                <c:formatCode>0.0%</c:formatCode>
                <c:ptCount val="27"/>
                <c:pt idx="0">
                  <c:v>0.903044223739122</c:v>
                </c:pt>
                <c:pt idx="1">
                  <c:v>0.904047664409304</c:v>
                </c:pt>
                <c:pt idx="2">
                  <c:v>0.896199656603621</c:v>
                </c:pt>
                <c:pt idx="3">
                  <c:v>1.01356834897286</c:v>
                </c:pt>
                <c:pt idx="4">
                  <c:v>0.931518964442926</c:v>
                </c:pt>
                <c:pt idx="5">
                  <c:v>0.848415377732091</c:v>
                </c:pt>
                <c:pt idx="6">
                  <c:v>0.843149547894885</c:v>
                </c:pt>
                <c:pt idx="7">
                  <c:v>0.943217680585809</c:v>
                </c:pt>
                <c:pt idx="8">
                  <c:v>0.892666790905702</c:v>
                </c:pt>
                <c:pt idx="9">
                  <c:v>0.773885061561333</c:v>
                </c:pt>
                <c:pt idx="10">
                  <c:v>1.27198204692914</c:v>
                </c:pt>
                <c:pt idx="11">
                  <c:v>1.02784943501798</c:v>
                </c:pt>
                <c:pt idx="12">
                  <c:v>0.929377847410634</c:v>
                </c:pt>
                <c:pt idx="13">
                  <c:v>0.953058946674455</c:v>
                </c:pt>
                <c:pt idx="14">
                  <c:v>1.19821063151382</c:v>
                </c:pt>
                <c:pt idx="15">
                  <c:v>0.951842072174022</c:v>
                </c:pt>
                <c:pt idx="16">
                  <c:v>1.28275443345392</c:v>
                </c:pt>
                <c:pt idx="17">
                  <c:v>0.945246166765154</c:v>
                </c:pt>
                <c:pt idx="18">
                  <c:v>0.97200197198143</c:v>
                </c:pt>
                <c:pt idx="19">
                  <c:v>0.934095465597407</c:v>
                </c:pt>
                <c:pt idx="20">
                  <c:v>1.24730120925189</c:v>
                </c:pt>
                <c:pt idx="21">
                  <c:v>0.820756387357304</c:v>
                </c:pt>
                <c:pt idx="22">
                  <c:v>0.982500570553547</c:v>
                </c:pt>
                <c:pt idx="23">
                  <c:v>0.993634152191044</c:v>
                </c:pt>
                <c:pt idx="24">
                  <c:v>0.970812780029218</c:v>
                </c:pt>
                <c:pt idx="25">
                  <c:v>0.875147832691369</c:v>
                </c:pt>
                <c:pt idx="26">
                  <c:v>0.939082616356359</c:v>
                </c:pt>
              </c:numCache>
            </c:numRef>
          </c:val>
        </c:ser>
        <c:ser>
          <c:idx val="1"/>
          <c:order val="1"/>
          <c:tx>
            <c:strRef>
              <c:f>'Tableau synthese CV Antigènes'!$AN$1</c:f>
              <c:strCache>
                <c:ptCount val="1"/>
                <c:pt idx="0">
                  <c:v>VPO3</c:v>
                </c:pt>
              </c:strCache>
            </c:strRef>
          </c:tx>
          <c:invertIfNegative val="0"/>
          <c:dLbls>
            <c:delete val="1"/>
          </c:dLbls>
          <c:cat>
            <c:strRef>
              <c:f>'Tableau synthese CV Antigènes'!$AL$2:$AL$28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Juinndombe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Antigènes'!$AN$2:$AN$28</c:f>
              <c:numCache>
                <c:formatCode>0.0%</c:formatCode>
                <c:ptCount val="27"/>
                <c:pt idx="0">
                  <c:v>0.900164989809453</c:v>
                </c:pt>
                <c:pt idx="1">
                  <c:v>0.903528066924156</c:v>
                </c:pt>
                <c:pt idx="2">
                  <c:v>0.891781470115051</c:v>
                </c:pt>
                <c:pt idx="3">
                  <c:v>0.991388651926314</c:v>
                </c:pt>
                <c:pt idx="4">
                  <c:v>0.941830314968543</c:v>
                </c:pt>
                <c:pt idx="5">
                  <c:v>0.869484512448094</c:v>
                </c:pt>
                <c:pt idx="6">
                  <c:v>0.852933385137044</c:v>
                </c:pt>
                <c:pt idx="7">
                  <c:v>0.946682042739788</c:v>
                </c:pt>
                <c:pt idx="8">
                  <c:v>0.888063734625419</c:v>
                </c:pt>
                <c:pt idx="9">
                  <c:v>0.773057058639372</c:v>
                </c:pt>
                <c:pt idx="10">
                  <c:v>1.27134252691798</c:v>
                </c:pt>
                <c:pt idx="11">
                  <c:v>1.04790538822076</c:v>
                </c:pt>
                <c:pt idx="12">
                  <c:v>0.925522564866827</c:v>
                </c:pt>
                <c:pt idx="13">
                  <c:v>0.948224313117702</c:v>
                </c:pt>
                <c:pt idx="14">
                  <c:v>1.19489522359174</c:v>
                </c:pt>
                <c:pt idx="15">
                  <c:v>0.950401792348228</c:v>
                </c:pt>
                <c:pt idx="16">
                  <c:v>1.21355629200503</c:v>
                </c:pt>
                <c:pt idx="17">
                  <c:v>0.948651758778341</c:v>
                </c:pt>
                <c:pt idx="18">
                  <c:v>0.96658929378415</c:v>
                </c:pt>
                <c:pt idx="19">
                  <c:v>0.947148402508211</c:v>
                </c:pt>
                <c:pt idx="20">
                  <c:v>1.23643827393573</c:v>
                </c:pt>
                <c:pt idx="21">
                  <c:v>0.813245321115167</c:v>
                </c:pt>
                <c:pt idx="22">
                  <c:v>0.98008584070145</c:v>
                </c:pt>
                <c:pt idx="23">
                  <c:v>0.987302566210984</c:v>
                </c:pt>
                <c:pt idx="24">
                  <c:v>0.967304201125924</c:v>
                </c:pt>
                <c:pt idx="25">
                  <c:v>0.838843378722943</c:v>
                </c:pt>
                <c:pt idx="26">
                  <c:v>0.935943935512372</c:v>
                </c:pt>
              </c:numCache>
            </c:numRef>
          </c:val>
        </c:ser>
        <c:ser>
          <c:idx val="2"/>
          <c:order val="2"/>
          <c:tx>
            <c:strRef>
              <c:f>'Tableau synthese CV Antigènes'!$AO$1</c:f>
              <c:strCache>
                <c:ptCount val="1"/>
                <c:pt idx="0">
                  <c:v>VPI1</c:v>
                </c:pt>
              </c:strCache>
            </c:strRef>
          </c:tx>
          <c:invertIfNegative val="0"/>
          <c:dLbls>
            <c:delete val="1"/>
          </c:dLbls>
          <c:cat>
            <c:strRef>
              <c:f>'Tableau synthese CV Antigènes'!$AL$2:$AL$28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Juinndombe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Antigènes'!$AO$2:$AO$28</c:f>
              <c:numCache>
                <c:formatCode>0.0%</c:formatCode>
                <c:ptCount val="27"/>
                <c:pt idx="0">
                  <c:v>0.896897544563424</c:v>
                </c:pt>
                <c:pt idx="1">
                  <c:v>0.92557632021061</c:v>
                </c:pt>
                <c:pt idx="2">
                  <c:v>0.892873849148945</c:v>
                </c:pt>
                <c:pt idx="3">
                  <c:v>0.99462799437438</c:v>
                </c:pt>
                <c:pt idx="4">
                  <c:v>0.930413459025949</c:v>
                </c:pt>
                <c:pt idx="5">
                  <c:v>0.86029218726312</c:v>
                </c:pt>
                <c:pt idx="6">
                  <c:v>0.84670810963549</c:v>
                </c:pt>
                <c:pt idx="7">
                  <c:v>0.951513166949036</c:v>
                </c:pt>
                <c:pt idx="8">
                  <c:v>0.67</c:v>
                </c:pt>
                <c:pt idx="9">
                  <c:v>0.764527259943306</c:v>
                </c:pt>
                <c:pt idx="10">
                  <c:v>1.26801702285993</c:v>
                </c:pt>
                <c:pt idx="11">
                  <c:v>1.05182937906478</c:v>
                </c:pt>
                <c:pt idx="12">
                  <c:v>0.93354732698995</c:v>
                </c:pt>
                <c:pt idx="13">
                  <c:v>0.949253696817585</c:v>
                </c:pt>
                <c:pt idx="14">
                  <c:v>1.19091356144609</c:v>
                </c:pt>
                <c:pt idx="15">
                  <c:v>0.94738406318942</c:v>
                </c:pt>
                <c:pt idx="16">
                  <c:v>1.15282450858863</c:v>
                </c:pt>
                <c:pt idx="17">
                  <c:v>0.950844400211489</c:v>
                </c:pt>
                <c:pt idx="18">
                  <c:v>0.906387371102255</c:v>
                </c:pt>
                <c:pt idx="19">
                  <c:v>0.939896770891098</c:v>
                </c:pt>
                <c:pt idx="20">
                  <c:v>1.25103836881699</c:v>
                </c:pt>
                <c:pt idx="21">
                  <c:v>0.821974062281587</c:v>
                </c:pt>
                <c:pt idx="22">
                  <c:v>0.977921418212069</c:v>
                </c:pt>
                <c:pt idx="23">
                  <c:v>0.99031760715387</c:v>
                </c:pt>
                <c:pt idx="24">
                  <c:v>0.972108631470852</c:v>
                </c:pt>
                <c:pt idx="25">
                  <c:v>0.867053653773124</c:v>
                </c:pt>
                <c:pt idx="26">
                  <c:v>0.930370542678367</c:v>
                </c:pt>
              </c:numCache>
            </c:numRef>
          </c:val>
        </c:ser>
        <c:ser>
          <c:idx val="3"/>
          <c:order val="3"/>
          <c:tx>
            <c:strRef>
              <c:f>'Tableau synthese CV Antigènes'!$AP$1</c:f>
              <c:strCache>
                <c:ptCount val="1"/>
                <c:pt idx="0">
                  <c:v>PCV13 (3)</c:v>
                </c:pt>
              </c:strCache>
            </c:strRef>
          </c:tx>
          <c:invertIfNegative val="0"/>
          <c:dLbls>
            <c:delete val="1"/>
          </c:dLbls>
          <c:cat>
            <c:strRef>
              <c:f>'Tableau synthese CV Antigènes'!$AL$2:$AL$28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Juinndombe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Antigènes'!$AP$2:$AP$28</c:f>
              <c:numCache>
                <c:formatCode>0.0%</c:formatCode>
                <c:ptCount val="27"/>
                <c:pt idx="0">
                  <c:v>0.881304390022969</c:v>
                </c:pt>
                <c:pt idx="1">
                  <c:v>0.941891681244263</c:v>
                </c:pt>
                <c:pt idx="2">
                  <c:v>0.893544418456879</c:v>
                </c:pt>
                <c:pt idx="3">
                  <c:v>0.987953335024093</c:v>
                </c:pt>
                <c:pt idx="4">
                  <c:v>0.933609374685936</c:v>
                </c:pt>
                <c:pt idx="5">
                  <c:v>0.853799136971562</c:v>
                </c:pt>
                <c:pt idx="6">
                  <c:v>0.826645945182255</c:v>
                </c:pt>
                <c:pt idx="7">
                  <c:v>0.960862199063198</c:v>
                </c:pt>
                <c:pt idx="8">
                  <c:v>0.797344390607529</c:v>
                </c:pt>
                <c:pt idx="9">
                  <c:v>0.678914495012309</c:v>
                </c:pt>
                <c:pt idx="10">
                  <c:v>1.63057835864282</c:v>
                </c:pt>
                <c:pt idx="11">
                  <c:v>1.15031064927515</c:v>
                </c:pt>
                <c:pt idx="12">
                  <c:v>0.943975271844124</c:v>
                </c:pt>
                <c:pt idx="13">
                  <c:v>0.93624182420671</c:v>
                </c:pt>
                <c:pt idx="14">
                  <c:v>1.20495248972858</c:v>
                </c:pt>
                <c:pt idx="15">
                  <c:v>0.948321388155413</c:v>
                </c:pt>
                <c:pt idx="16">
                  <c:v>1.13204651437341</c:v>
                </c:pt>
                <c:pt idx="17">
                  <c:v>0.893929026840419</c:v>
                </c:pt>
                <c:pt idx="18">
                  <c:v>0.973804486257754</c:v>
                </c:pt>
                <c:pt idx="19">
                  <c:v>0.899372947148403</c:v>
                </c:pt>
                <c:pt idx="20">
                  <c:v>1.5970644902069</c:v>
                </c:pt>
                <c:pt idx="21">
                  <c:v>0.699690921798556</c:v>
                </c:pt>
                <c:pt idx="22">
                  <c:v>0.97201710924444</c:v>
                </c:pt>
                <c:pt idx="23">
                  <c:v>0.999499777298112</c:v>
                </c:pt>
                <c:pt idx="24">
                  <c:v>0.971900806239647</c:v>
                </c:pt>
                <c:pt idx="25">
                  <c:v>0.862778712092443</c:v>
                </c:pt>
                <c:pt idx="26">
                  <c:v>0.932739550908681</c:v>
                </c:pt>
              </c:numCache>
            </c:numRef>
          </c:val>
        </c:ser>
        <c:ser>
          <c:idx val="4"/>
          <c:order val="4"/>
          <c:tx>
            <c:strRef>
              <c:f>'Tableau synthese CV Antigènes'!$AQ$1</c:f>
              <c:strCache>
                <c:ptCount val="1"/>
                <c:pt idx="0">
                  <c:v>Rota3</c:v>
                </c:pt>
              </c:strCache>
            </c:strRef>
          </c:tx>
          <c:invertIfNegative val="0"/>
          <c:dLbls>
            <c:delete val="1"/>
          </c:dLbls>
          <c:cat>
            <c:strRef>
              <c:f>'Tableau synthese CV Antigènes'!$AL$2:$AL$28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Juinndombe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Antigènes'!$AQ$2:$AQ$28</c:f>
              <c:numCache>
                <c:formatCode>0.0%</c:formatCode>
                <c:ptCount val="27"/>
                <c:pt idx="0">
                  <c:v>0.860276277053476</c:v>
                </c:pt>
                <c:pt idx="1">
                  <c:v>0.8952664669103</c:v>
                </c:pt>
                <c:pt idx="2">
                  <c:v>0.922784484973029</c:v>
                </c:pt>
                <c:pt idx="3">
                  <c:v>0.99446660364743</c:v>
                </c:pt>
                <c:pt idx="4">
                  <c:v>0.89505738578119</c:v>
                </c:pt>
                <c:pt idx="5">
                  <c:v>0.844525463776101</c:v>
                </c:pt>
                <c:pt idx="6">
                  <c:v>0.811722944334558</c:v>
                </c:pt>
                <c:pt idx="7">
                  <c:v>0.893530185034905</c:v>
                </c:pt>
                <c:pt idx="8">
                  <c:v>0.878382407752516</c:v>
                </c:pt>
                <c:pt idx="9">
                  <c:v>0.756993117653399</c:v>
                </c:pt>
                <c:pt idx="10">
                  <c:v>1.25823818050743</c:v>
                </c:pt>
                <c:pt idx="11">
                  <c:v>0.959070595501944</c:v>
                </c:pt>
                <c:pt idx="12">
                  <c:v>0.905388479158971</c:v>
                </c:pt>
                <c:pt idx="13">
                  <c:v>1.01568942684147</c:v>
                </c:pt>
                <c:pt idx="14">
                  <c:v>1.15958374974222</c:v>
                </c:pt>
                <c:pt idx="15">
                  <c:v>0.948481419247168</c:v>
                </c:pt>
                <c:pt idx="16">
                  <c:v>1.17092092725172</c:v>
                </c:pt>
                <c:pt idx="17">
                  <c:v>0.939274717755731</c:v>
                </c:pt>
                <c:pt idx="18">
                  <c:v>0.894314120208701</c:v>
                </c:pt>
                <c:pt idx="19">
                  <c:v>0.873835828747743</c:v>
                </c:pt>
                <c:pt idx="20">
                  <c:v>1.21901110497933</c:v>
                </c:pt>
                <c:pt idx="21">
                  <c:v>0.793787372835288</c:v>
                </c:pt>
                <c:pt idx="22">
                  <c:v>0.940331141916913</c:v>
                </c:pt>
                <c:pt idx="23">
                  <c:v>0.979203069859869</c:v>
                </c:pt>
                <c:pt idx="24">
                  <c:v>0.968111052023545</c:v>
                </c:pt>
                <c:pt idx="25">
                  <c:v>0.845396842619216</c:v>
                </c:pt>
                <c:pt idx="26">
                  <c:v>0.915940609514598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70054824"/>
        <c:axId val="570057960"/>
      </c:barChart>
      <c:catAx>
        <c:axId val="5700548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-2700000" spcFirstLastPara="0" vertOverflow="ellipsis" vert="horz" wrap="square" anchor="ctr" anchorCtr="1"/>
          <a:lstStyle/>
          <a:p>
            <a:pPr>
              <a:defRPr lang="en-US" sz="700" b="0" i="0" u="none" strike="noStrike" kern="1200" baseline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57960"/>
        <c:crosses val="autoZero"/>
        <c:auto val="1"/>
        <c:lblAlgn val="ctr"/>
        <c:lblOffset val="100"/>
        <c:noMultiLvlLbl val="0"/>
      </c:catAx>
      <c:valAx>
        <c:axId val="570057960"/>
        <c:scaling>
          <c:orientation val="minMax"/>
          <c:max val="1.2"/>
        </c:scaling>
        <c:delete val="0"/>
        <c:axPos val="l"/>
        <c:majorGridlines/>
        <c:numFmt formatCode="0.0%" sourceLinked="1"/>
        <c:majorTickMark val="out"/>
        <c:minorTickMark val="none"/>
        <c:tickLblPos val="nextTo"/>
        <c:txPr>
          <a:bodyPr rot="0" spcFirstLastPara="0" vertOverflow="ellipsis" vert="horz" wrap="square" anchor="ctr" anchorCtr="1"/>
          <a:lstStyle/>
          <a:p>
            <a:pPr>
              <a:defRPr lang="en-US" sz="1050" b="0" i="0" u="none" strike="noStrike" kern="1200" baseline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54824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349118860142482"/>
          <c:y val="0.0151744950186824"/>
          <c:w val="0.352422831761414"/>
          <c:h val="0.031866455422270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en-US" sz="800" b="0" i="0" u="none" strike="noStrike" kern="1200" baseline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fb697724-80b2-4f87-8da9-4fefadbad6fe}"/>
      </c:ext>
    </c:extLst>
  </c:chart>
  <c:txPr>
    <a:bodyPr/>
    <a:lstStyle/>
    <a:p>
      <a:pPr>
        <a:defRPr lang="en-US" sz="1050" b="0" i="0" u="none" strike="noStrike" baseline="0">
          <a:solidFill>
            <a:srgbClr val="000000"/>
          </a:solidFill>
          <a:latin typeface="Calibri" panose="020F0502020204030204"/>
          <a:ea typeface="Calibri" panose="020F0502020204030204"/>
          <a:cs typeface="Calibri" panose="020F0502020204030204"/>
        </a:defRPr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469663593052649"/>
          <c:y val="0.0419047611191458"/>
          <c:w val="0.89769730371236"/>
          <c:h val="0.7908987478271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'Tableau synthese CV Antigènes'!$P$35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4F81BD"/>
            </a:solidFill>
            <a:ln w="25400">
              <a:noFill/>
            </a:ln>
          </c:spPr>
          <c:invertIfNegative val="0"/>
          <c:dLbls>
            <c:delete val="1"/>
          </c:dLbls>
          <c:cat>
            <c:strRef>
              <c:f>'Tableau synthese CV Antigènes'!$K$36:$K$62</c:f>
              <c:strCache>
                <c:ptCount val="27"/>
                <c:pt idx="0">
                  <c:v> BAS UELE </c:v>
                </c:pt>
                <c:pt idx="1">
                  <c:v> EQUATEUR </c:v>
                </c:pt>
                <c:pt idx="2">
                  <c:v> HAUT KATANGA </c:v>
                </c:pt>
                <c:pt idx="3">
                  <c:v> HAUT LOMAMI </c:v>
                </c:pt>
                <c:pt idx="4">
                  <c:v> HAUT UELE </c:v>
                </c:pt>
                <c:pt idx="5">
                  <c:v> ITURI </c:v>
                </c:pt>
                <c:pt idx="6">
                  <c:v> KASAI  </c:v>
                </c:pt>
                <c:pt idx="7">
                  <c:v> KASAI CENTRAL </c:v>
                </c:pt>
                <c:pt idx="8">
                  <c:v> KASAI-ORIENTAL   </c:v>
                </c:pt>
                <c:pt idx="9">
                  <c:v> KINSHASA </c:v>
                </c:pt>
                <c:pt idx="10">
                  <c:v> KONGO CENTRAL </c:v>
                </c:pt>
                <c:pt idx="11">
                  <c:v> KWANGO </c:v>
                </c:pt>
                <c:pt idx="12">
                  <c:v> KWILU </c:v>
                </c:pt>
                <c:pt idx="13">
                  <c:v> LOMAMI </c:v>
                </c:pt>
                <c:pt idx="14">
                  <c:v> LUALABA </c:v>
                </c:pt>
                <c:pt idx="15">
                  <c:v> MAI-NDOMBE </c:v>
                </c:pt>
                <c:pt idx="16">
                  <c:v> MANIEMA </c:v>
                </c:pt>
                <c:pt idx="17">
                  <c:v> MONGALA </c:v>
                </c:pt>
                <c:pt idx="18">
                  <c:v> NORD-KIVU </c:v>
                </c:pt>
                <c:pt idx="19">
                  <c:v> NORD-UBANGI </c:v>
                </c:pt>
                <c:pt idx="20">
                  <c:v> SANKURU </c:v>
                </c:pt>
                <c:pt idx="21">
                  <c:v> SUD-KIVU </c:v>
                </c:pt>
                <c:pt idx="22">
                  <c:v> SUD-UBANGI </c:v>
                </c:pt>
                <c:pt idx="23">
                  <c:v> TANGANYIKA </c:v>
                </c:pt>
                <c:pt idx="24">
                  <c:v> TSHOPO </c:v>
                </c:pt>
                <c:pt idx="25">
                  <c:v> TSHUAPA </c:v>
                </c:pt>
                <c:pt idx="26">
                  <c:v> National </c:v>
                </c:pt>
              </c:strCache>
            </c:strRef>
          </c:cat>
          <c:val>
            <c:numRef>
              <c:f>'Tableau synthese CV Antigènes'!$P$36:$P$62</c:f>
              <c:numCache>
                <c:formatCode>0%</c:formatCode>
                <c:ptCount val="27"/>
                <c:pt idx="0">
                  <c:v>0.768917213936786</c:v>
                </c:pt>
                <c:pt idx="1">
                  <c:v>0.876162599373019</c:v>
                </c:pt>
                <c:pt idx="2">
                  <c:v>0.809160841997107</c:v>
                </c:pt>
                <c:pt idx="3">
                  <c:v>0.961277753441081</c:v>
                </c:pt>
                <c:pt idx="4">
                  <c:v>0.887600249241221</c:v>
                </c:pt>
                <c:pt idx="5">
                  <c:v>0.864440935797932</c:v>
                </c:pt>
                <c:pt idx="6">
                  <c:v>0.662943274936423</c:v>
                </c:pt>
                <c:pt idx="7">
                  <c:v>0.920049165468377</c:v>
                </c:pt>
                <c:pt idx="8">
                  <c:v>0.879808050689526</c:v>
                </c:pt>
                <c:pt idx="9">
                  <c:v>0.725819834091481</c:v>
                </c:pt>
                <c:pt idx="10">
                  <c:v>1.19199553498756</c:v>
                </c:pt>
                <c:pt idx="11">
                  <c:v>1.02810376775788</c:v>
                </c:pt>
                <c:pt idx="12">
                  <c:v>0.934311590049295</c:v>
                </c:pt>
                <c:pt idx="13">
                  <c:v>0.851890191361273</c:v>
                </c:pt>
                <c:pt idx="14">
                  <c:v>1.06844968987452</c:v>
                </c:pt>
                <c:pt idx="15">
                  <c:v>0.899489043585611</c:v>
                </c:pt>
                <c:pt idx="16">
                  <c:v>1.02888174926425</c:v>
                </c:pt>
                <c:pt idx="17">
                  <c:v>0.904021397692284</c:v>
                </c:pt>
                <c:pt idx="18">
                  <c:v>0.871446325130438</c:v>
                </c:pt>
                <c:pt idx="19">
                  <c:v>0.907449274125894</c:v>
                </c:pt>
                <c:pt idx="20">
                  <c:v>1.11808843320069</c:v>
                </c:pt>
                <c:pt idx="21">
                  <c:v>0.701355905878698</c:v>
                </c:pt>
                <c:pt idx="22">
                  <c:v>0.963020768149124</c:v>
                </c:pt>
                <c:pt idx="23">
                  <c:v>0.942268818309521</c:v>
                </c:pt>
                <c:pt idx="24">
                  <c:v>0.872890421090593</c:v>
                </c:pt>
                <c:pt idx="25">
                  <c:v>0.830792600227852</c:v>
                </c:pt>
                <c:pt idx="26">
                  <c:v>0.869941856253641</c:v>
                </c:pt>
              </c:numCache>
            </c:numRef>
          </c:val>
        </c:ser>
        <c:ser>
          <c:idx val="1"/>
          <c:order val="1"/>
          <c:tx>
            <c:strRef>
              <c:f>'Tableau synthese CV Antigènes'!$Q$35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0504D"/>
            </a:solidFill>
            <a:ln w="25400">
              <a:noFill/>
            </a:ln>
          </c:spPr>
          <c:invertIfNegative val="0"/>
          <c:dLbls>
            <c:delete val="1"/>
          </c:dLbls>
          <c:cat>
            <c:strRef>
              <c:f>'Tableau synthese CV Antigènes'!$K$36:$K$62</c:f>
              <c:strCache>
                <c:ptCount val="27"/>
                <c:pt idx="0">
                  <c:v> BAS UELE </c:v>
                </c:pt>
                <c:pt idx="1">
                  <c:v> EQUATEUR </c:v>
                </c:pt>
                <c:pt idx="2">
                  <c:v> HAUT KATANGA </c:v>
                </c:pt>
                <c:pt idx="3">
                  <c:v> HAUT LOMAMI </c:v>
                </c:pt>
                <c:pt idx="4">
                  <c:v> HAUT UELE </c:v>
                </c:pt>
                <c:pt idx="5">
                  <c:v> ITURI </c:v>
                </c:pt>
                <c:pt idx="6">
                  <c:v> KASAI  </c:v>
                </c:pt>
                <c:pt idx="7">
                  <c:v> KASAI CENTRAL </c:v>
                </c:pt>
                <c:pt idx="8">
                  <c:v> KASAI-ORIENTAL   </c:v>
                </c:pt>
                <c:pt idx="9">
                  <c:v> KINSHASA </c:v>
                </c:pt>
                <c:pt idx="10">
                  <c:v> KONGO CENTRAL </c:v>
                </c:pt>
                <c:pt idx="11">
                  <c:v> KWANGO </c:v>
                </c:pt>
                <c:pt idx="12">
                  <c:v> KWILU </c:v>
                </c:pt>
                <c:pt idx="13">
                  <c:v> LOMAMI </c:v>
                </c:pt>
                <c:pt idx="14">
                  <c:v> LUALABA </c:v>
                </c:pt>
                <c:pt idx="15">
                  <c:v> MAI-NDOMBE </c:v>
                </c:pt>
                <c:pt idx="16">
                  <c:v> MANIEMA </c:v>
                </c:pt>
                <c:pt idx="17">
                  <c:v> MONGALA </c:v>
                </c:pt>
                <c:pt idx="18">
                  <c:v> NORD-KIVU </c:v>
                </c:pt>
                <c:pt idx="19">
                  <c:v> NORD-UBANGI </c:v>
                </c:pt>
                <c:pt idx="20">
                  <c:v> SANKURU </c:v>
                </c:pt>
                <c:pt idx="21">
                  <c:v> SUD-KIVU </c:v>
                </c:pt>
                <c:pt idx="22">
                  <c:v> SUD-UBANGI </c:v>
                </c:pt>
                <c:pt idx="23">
                  <c:v> TANGANYIKA </c:v>
                </c:pt>
                <c:pt idx="24">
                  <c:v> TSHOPO </c:v>
                </c:pt>
                <c:pt idx="25">
                  <c:v> TSHUAPA </c:v>
                </c:pt>
                <c:pt idx="26">
                  <c:v> National </c:v>
                </c:pt>
              </c:strCache>
            </c:strRef>
          </c:cat>
          <c:val>
            <c:numRef>
              <c:f>'Tableau synthese CV Antigènes'!$Q$36:$Q$62</c:f>
              <c:numCache>
                <c:formatCode>0%</c:formatCode>
                <c:ptCount val="27"/>
                <c:pt idx="0">
                  <c:v>0.896546892202983</c:v>
                </c:pt>
                <c:pt idx="1">
                  <c:v>0.94357242308556</c:v>
                </c:pt>
                <c:pt idx="2">
                  <c:v>1.14618806205191</c:v>
                </c:pt>
                <c:pt idx="3">
                  <c:v>1.09913955779205</c:v>
                </c:pt>
                <c:pt idx="4">
                  <c:v>0.97804967801288</c:v>
                </c:pt>
                <c:pt idx="5">
                  <c:v>0.969128145114102</c:v>
                </c:pt>
                <c:pt idx="6">
                  <c:v>0.827355206793462</c:v>
                </c:pt>
                <c:pt idx="7">
                  <c:v>0.904498811468594</c:v>
                </c:pt>
                <c:pt idx="8">
                  <c:v>0.986191766187188</c:v>
                </c:pt>
                <c:pt idx="9">
                  <c:v>0.920814250562181</c:v>
                </c:pt>
                <c:pt idx="10">
                  <c:v>0.973106672027171</c:v>
                </c:pt>
                <c:pt idx="11">
                  <c:v>0.920046153136105</c:v>
                </c:pt>
                <c:pt idx="12">
                  <c:v>0.985657988531771</c:v>
                </c:pt>
                <c:pt idx="13">
                  <c:v>0.97718451806583</c:v>
                </c:pt>
                <c:pt idx="14">
                  <c:v>1.14923868156368</c:v>
                </c:pt>
                <c:pt idx="15">
                  <c:v>0.941230957306752</c:v>
                </c:pt>
                <c:pt idx="16">
                  <c:v>1.02913890158013</c:v>
                </c:pt>
                <c:pt idx="17">
                  <c:v>0.953265597302088</c:v>
                </c:pt>
                <c:pt idx="18">
                  <c:v>0.896846425285863</c:v>
                </c:pt>
                <c:pt idx="19">
                  <c:v>0.844780352313428</c:v>
                </c:pt>
                <c:pt idx="20">
                  <c:v>0.934374501992032</c:v>
                </c:pt>
                <c:pt idx="21">
                  <c:v>1.07494706134487</c:v>
                </c:pt>
                <c:pt idx="22">
                  <c:v>0.913337631764406</c:v>
                </c:pt>
                <c:pt idx="23">
                  <c:v>1.21945266907807</c:v>
                </c:pt>
                <c:pt idx="24">
                  <c:v>0.975867781531679</c:v>
                </c:pt>
                <c:pt idx="25">
                  <c:v>0.855769702101112</c:v>
                </c:pt>
                <c:pt idx="26">
                  <c:v>0.978116725357527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70062664"/>
        <c:axId val="570058352"/>
      </c:barChart>
      <c:catAx>
        <c:axId val="570062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-27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58352"/>
        <c:crosses val="autoZero"/>
        <c:auto val="1"/>
        <c:lblAlgn val="ctr"/>
        <c:lblOffset val="100"/>
        <c:noMultiLvlLbl val="0"/>
      </c:catAx>
      <c:valAx>
        <c:axId val="570058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62664"/>
        <c:crosses val="autoZero"/>
        <c:crossBetween val="between"/>
      </c:valAx>
      <c:spPr>
        <a:noFill/>
        <a:ln w="25400">
          <a:noFill/>
        </a:ln>
      </c:spPr>
    </c:plotArea>
    <c:legend>
      <c:legendPos val="r"/>
      <c:layout>
        <c:manualLayout>
          <c:xMode val="edge"/>
          <c:yMode val="edge"/>
          <c:x val="0.385340541200298"/>
          <c:y val="0.0551299202262857"/>
          <c:w val="0.16855329855066"/>
          <c:h val="0.062554198302321"/>
        </c:manualLayout>
      </c:layout>
      <c:overlay val="0"/>
      <c:spPr>
        <a:noFill/>
        <a:ln w="25400">
          <a:noFill/>
        </a:ln>
      </c:spPr>
      <c:txPr>
        <a:bodyPr rot="0" spcFirstLastPara="0" vertOverflow="ellipsis" vert="horz" wrap="square" anchor="ctr" anchorCtr="1"/>
        <a:lstStyle/>
        <a:p>
          <a:pPr>
            <a:defRPr lang="en-US" sz="1200" b="0" i="0" u="none" strike="noStrike" kern="1200" baseline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7d1c9f28-65ca-4e19-8e36-77640ff6d36e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en-US" sz="1200" b="0" i="0" u="none" strike="noStrike" baseline="0">
          <a:solidFill>
            <a:srgbClr val="000000"/>
          </a:solidFill>
          <a:latin typeface="Calibri" panose="020F0502020204030204"/>
          <a:ea typeface="Calibri" panose="020F0502020204030204"/>
          <a:cs typeface="Calibri" panose="020F0502020204030204"/>
        </a:defRPr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514012898332649"/>
          <c:y val="0.0689375531430428"/>
          <c:w val="0.93242746583405"/>
          <c:h val="0.7600426418182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'Tableau synthese CV Antigènes'!$BJ$2</c:f>
              <c:strCache>
                <c:ptCount val="1"/>
                <c:pt idx="0">
                  <c:v>VPI2</c:v>
                </c:pt>
              </c:strCache>
            </c:strRef>
          </c:tx>
          <c:spPr>
            <a:solidFill>
              <a:srgbClr val="4F81BD"/>
            </a:solidFill>
            <a:ln w="25400">
              <a:noFill/>
            </a:ln>
          </c:spPr>
          <c:invertIfNegative val="0"/>
          <c:dLbls>
            <c:delete val="1"/>
          </c:dLbls>
          <c:cat>
            <c:strRef>
              <c:f>'Tableau synthese CV Antigènes'!$BI$3:$BI$29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MAI-NDOMBE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Antigènes'!$BJ$3:$BJ$29</c:f>
              <c:numCache>
                <c:formatCode>0%</c:formatCode>
                <c:ptCount val="27"/>
                <c:pt idx="0">
                  <c:v>0.896897544563424</c:v>
                </c:pt>
                <c:pt idx="1">
                  <c:v>0.92557632021061</c:v>
                </c:pt>
                <c:pt idx="2">
                  <c:v>0.892873849148945</c:v>
                </c:pt>
                <c:pt idx="3">
                  <c:v>0.99462799437438</c:v>
                </c:pt>
                <c:pt idx="4">
                  <c:v>0.930413459025949</c:v>
                </c:pt>
                <c:pt idx="5">
                  <c:v>0.86029218726312</c:v>
                </c:pt>
                <c:pt idx="6">
                  <c:v>0.84670810963549</c:v>
                </c:pt>
                <c:pt idx="7">
                  <c:v>0.951513166949036</c:v>
                </c:pt>
                <c:pt idx="8">
                  <c:v>0.889181885948565</c:v>
                </c:pt>
                <c:pt idx="9">
                  <c:v>0.764527259943306</c:v>
                </c:pt>
                <c:pt idx="10">
                  <c:v>1.26801702285993</c:v>
                </c:pt>
                <c:pt idx="11">
                  <c:v>1.05182937906478</c:v>
                </c:pt>
                <c:pt idx="12">
                  <c:v>0.93354732698995</c:v>
                </c:pt>
                <c:pt idx="13">
                  <c:v>0.949253696817585</c:v>
                </c:pt>
                <c:pt idx="14">
                  <c:v>1.19091356144609</c:v>
                </c:pt>
                <c:pt idx="15">
                  <c:v>0.94738406318942</c:v>
                </c:pt>
                <c:pt idx="16">
                  <c:v>1.15282450858863</c:v>
                </c:pt>
                <c:pt idx="17">
                  <c:v>0.950844400211489</c:v>
                </c:pt>
                <c:pt idx="18">
                  <c:v>0.906387371102255</c:v>
                </c:pt>
                <c:pt idx="19">
                  <c:v>0.939896770891098</c:v>
                </c:pt>
                <c:pt idx="20">
                  <c:v>1.25103836881699</c:v>
                </c:pt>
                <c:pt idx="21">
                  <c:v>0.821974062281587</c:v>
                </c:pt>
                <c:pt idx="22">
                  <c:v>0.977921418212069</c:v>
                </c:pt>
                <c:pt idx="23">
                  <c:v>0.99031760715387</c:v>
                </c:pt>
                <c:pt idx="24">
                  <c:v>0.972108631470852</c:v>
                </c:pt>
                <c:pt idx="25">
                  <c:v>0.867053653773124</c:v>
                </c:pt>
                <c:pt idx="26">
                  <c:v>0.930370542678367</c:v>
                </c:pt>
              </c:numCache>
            </c:numRef>
          </c:val>
        </c:ser>
        <c:ser>
          <c:idx val="1"/>
          <c:order val="1"/>
          <c:tx>
            <c:strRef>
              <c:f>'Tableau synthese CV Antigènes'!$BK$2</c:f>
              <c:strCache>
                <c:ptCount val="1"/>
                <c:pt idx="0">
                  <c:v>VAR1</c:v>
                </c:pt>
              </c:strCache>
            </c:strRef>
          </c:tx>
          <c:spPr>
            <a:solidFill>
              <a:srgbClr val="C0504D"/>
            </a:solidFill>
            <a:ln w="25400">
              <a:noFill/>
            </a:ln>
          </c:spPr>
          <c:invertIfNegative val="0"/>
          <c:dLbls>
            <c:delete val="1"/>
          </c:dLbls>
          <c:cat>
            <c:strRef>
              <c:f>'Tableau synthese CV Antigènes'!$BI$3:$BI$29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MAI-NDOMBE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Antigènes'!$BK$3:$BK$29</c:f>
              <c:numCache>
                <c:formatCode>0%</c:formatCode>
                <c:ptCount val="27"/>
                <c:pt idx="0">
                  <c:v>0.768917213936786</c:v>
                </c:pt>
                <c:pt idx="1">
                  <c:v>0.876162599373019</c:v>
                </c:pt>
                <c:pt idx="2">
                  <c:v>0.809160841997107</c:v>
                </c:pt>
                <c:pt idx="3">
                  <c:v>0.961277753441081</c:v>
                </c:pt>
                <c:pt idx="4">
                  <c:v>0.887600249241221</c:v>
                </c:pt>
                <c:pt idx="5">
                  <c:v>0.864440935797932</c:v>
                </c:pt>
                <c:pt idx="6">
                  <c:v>0.662943274936423</c:v>
                </c:pt>
                <c:pt idx="7">
                  <c:v>0.920049165468377</c:v>
                </c:pt>
                <c:pt idx="8">
                  <c:v>0.879808050689526</c:v>
                </c:pt>
                <c:pt idx="9">
                  <c:v>0.725819834091481</c:v>
                </c:pt>
                <c:pt idx="10">
                  <c:v>1.19199553498756</c:v>
                </c:pt>
                <c:pt idx="11">
                  <c:v>1.02810376775788</c:v>
                </c:pt>
                <c:pt idx="12">
                  <c:v>0.934311590049295</c:v>
                </c:pt>
                <c:pt idx="13">
                  <c:v>0.851890191361273</c:v>
                </c:pt>
                <c:pt idx="14">
                  <c:v>1.06844968987452</c:v>
                </c:pt>
                <c:pt idx="15">
                  <c:v>0.899489043585611</c:v>
                </c:pt>
                <c:pt idx="16">
                  <c:v>1.02888174926425</c:v>
                </c:pt>
                <c:pt idx="17">
                  <c:v>0.904021397692284</c:v>
                </c:pt>
                <c:pt idx="18">
                  <c:v>0.871446325130438</c:v>
                </c:pt>
                <c:pt idx="19">
                  <c:v>0.907449274125894</c:v>
                </c:pt>
                <c:pt idx="20">
                  <c:v>1.11808843320069</c:v>
                </c:pt>
                <c:pt idx="21">
                  <c:v>0.701355905878698</c:v>
                </c:pt>
                <c:pt idx="22">
                  <c:v>0.963020768149124</c:v>
                </c:pt>
                <c:pt idx="23">
                  <c:v>0.942268818309521</c:v>
                </c:pt>
                <c:pt idx="24">
                  <c:v>0.872890421090593</c:v>
                </c:pt>
                <c:pt idx="25">
                  <c:v>0.830792600227852</c:v>
                </c:pt>
                <c:pt idx="26">
                  <c:v>0.869941856253641</c:v>
                </c:pt>
              </c:numCache>
            </c:numRef>
          </c:val>
        </c:ser>
        <c:ser>
          <c:idx val="2"/>
          <c:order val="2"/>
          <c:tx>
            <c:strRef>
              <c:f>'Tableau synthese CV Antigènes'!$BL$2</c:f>
              <c:strCache>
                <c:ptCount val="1"/>
                <c:pt idx="0">
                  <c:v>VAA</c:v>
                </c:pt>
              </c:strCache>
            </c:strRef>
          </c:tx>
          <c:spPr>
            <a:solidFill>
              <a:srgbClr val="9BBB59"/>
            </a:solidFill>
            <a:ln w="25400">
              <a:noFill/>
            </a:ln>
          </c:spPr>
          <c:invertIfNegative val="0"/>
          <c:dLbls>
            <c:delete val="1"/>
          </c:dLbls>
          <c:cat>
            <c:strRef>
              <c:f>'Tableau synthese CV Antigènes'!$BI$3:$BI$29</c:f>
              <c:strCache>
                <c:ptCount val="27"/>
                <c:pt idx="0">
                  <c:v>BAS UELE</c:v>
                </c:pt>
                <c:pt idx="1">
                  <c:v>EQUATEUR</c:v>
                </c:pt>
                <c:pt idx="2">
                  <c:v>HAUT KATANGA</c:v>
                </c:pt>
                <c:pt idx="3">
                  <c:v>HAUT LOMAMI</c:v>
                </c:pt>
                <c:pt idx="4">
                  <c:v>HAUT UELE</c:v>
                </c:pt>
                <c:pt idx="5">
                  <c:v>ITURI</c:v>
                </c:pt>
                <c:pt idx="6">
                  <c:v>KASAI </c:v>
                </c:pt>
                <c:pt idx="7">
                  <c:v>KASAI CENTRAL</c:v>
                </c:pt>
                <c:pt idx="8">
                  <c:v>KASAI-ORIENTAL  </c:v>
                </c:pt>
                <c:pt idx="9">
                  <c:v>KINSHASA</c:v>
                </c:pt>
                <c:pt idx="10">
                  <c:v>KONGO CENTRAL</c:v>
                </c:pt>
                <c:pt idx="11">
                  <c:v>KWANGO</c:v>
                </c:pt>
                <c:pt idx="12">
                  <c:v>KWILU</c:v>
                </c:pt>
                <c:pt idx="13">
                  <c:v>LOMAMI</c:v>
                </c:pt>
                <c:pt idx="14">
                  <c:v>LUALABA</c:v>
                </c:pt>
                <c:pt idx="15">
                  <c:v>MAI-NDOMBE</c:v>
                </c:pt>
                <c:pt idx="16">
                  <c:v>MANIEMA</c:v>
                </c:pt>
                <c:pt idx="17">
                  <c:v>MONGALA</c:v>
                </c:pt>
                <c:pt idx="18">
                  <c:v>NORD-KIVU</c:v>
                </c:pt>
                <c:pt idx="19">
                  <c:v>NORD-UBANGI</c:v>
                </c:pt>
                <c:pt idx="20">
                  <c:v>SANKURU</c:v>
                </c:pt>
                <c:pt idx="21">
                  <c:v>SUD-KIVU</c:v>
                </c:pt>
                <c:pt idx="22">
                  <c:v>SUD-UBANGI</c:v>
                </c:pt>
                <c:pt idx="23">
                  <c:v>TANGANYIKA</c:v>
                </c:pt>
                <c:pt idx="24">
                  <c:v>TSHOPO</c:v>
                </c:pt>
                <c:pt idx="25">
                  <c:v>TSHUAPA</c:v>
                </c:pt>
                <c:pt idx="26">
                  <c:v>National</c:v>
                </c:pt>
              </c:strCache>
            </c:strRef>
          </c:cat>
          <c:val>
            <c:numRef>
              <c:f>'Tableau synthese CV Antigènes'!$BL$3:$BL$29</c:f>
              <c:numCache>
                <c:formatCode>0%</c:formatCode>
                <c:ptCount val="27"/>
                <c:pt idx="0">
                  <c:v>0.73616913176019</c:v>
                </c:pt>
                <c:pt idx="1">
                  <c:v>0.764236979501167</c:v>
                </c:pt>
                <c:pt idx="2">
                  <c:v>0.704705824067717</c:v>
                </c:pt>
                <c:pt idx="3">
                  <c:v>0.878935854560084</c:v>
                </c:pt>
                <c:pt idx="4">
                  <c:v>0.749899159958612</c:v>
                </c:pt>
                <c:pt idx="5">
                  <c:v>0.714444258042869</c:v>
                </c:pt>
                <c:pt idx="6">
                  <c:v>0.722951994267972</c:v>
                </c:pt>
                <c:pt idx="7">
                  <c:v>0.806782327853919</c:v>
                </c:pt>
                <c:pt idx="8">
                  <c:v>0.775850995504175</c:v>
                </c:pt>
                <c:pt idx="9">
                  <c:v>0.634907509265492</c:v>
                </c:pt>
                <c:pt idx="10">
                  <c:v>1.04703787682802</c:v>
                </c:pt>
                <c:pt idx="11">
                  <c:v>0.903138373751783</c:v>
                </c:pt>
                <c:pt idx="12">
                  <c:v>0.819669701931555</c:v>
                </c:pt>
                <c:pt idx="13">
                  <c:v>0.802853855934769</c:v>
                </c:pt>
                <c:pt idx="14">
                  <c:v>0.936048885474841</c:v>
                </c:pt>
                <c:pt idx="15">
                  <c:v>0.781972134401149</c:v>
                </c:pt>
                <c:pt idx="16">
                  <c:v>0.887283322051856</c:v>
                </c:pt>
                <c:pt idx="17">
                  <c:v>0.795077574335004</c:v>
                </c:pt>
                <c:pt idx="18">
                  <c:v>0.776894349268651</c:v>
                </c:pt>
                <c:pt idx="19">
                  <c:v>0.818872044264695</c:v>
                </c:pt>
                <c:pt idx="20">
                  <c:v>1.06254434870755</c:v>
                </c:pt>
                <c:pt idx="21">
                  <c:v>0.654436157065111</c:v>
                </c:pt>
                <c:pt idx="22">
                  <c:v>0.8544028570878</c:v>
                </c:pt>
                <c:pt idx="23">
                  <c:v>0.831311543037528</c:v>
                </c:pt>
                <c:pt idx="24">
                  <c:v>0.760903651083165</c:v>
                </c:pt>
                <c:pt idx="25">
                  <c:v>0.714435829712306</c:v>
                </c:pt>
                <c:pt idx="26">
                  <c:v>0.888624169393271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70059136"/>
        <c:axId val="570059528"/>
      </c:barChart>
      <c:catAx>
        <c:axId val="570059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-27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333333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59528"/>
        <c:crosses val="autoZero"/>
        <c:auto val="1"/>
        <c:lblAlgn val="ctr"/>
        <c:lblOffset val="100"/>
        <c:noMultiLvlLbl val="0"/>
      </c:catAx>
      <c:valAx>
        <c:axId val="570059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333333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</a:p>
        </c:txPr>
        <c:crossAx val="570059136"/>
        <c:crosses val="autoZero"/>
        <c:crossBetween val="between"/>
      </c:valAx>
      <c:spPr>
        <a:noFill/>
        <a:ln w="25400">
          <a:noFill/>
        </a:ln>
      </c:spPr>
    </c:plotArea>
    <c:legend>
      <c:legendPos val="r"/>
      <c:layout>
        <c:manualLayout>
          <c:xMode val="edge"/>
          <c:yMode val="edge"/>
          <c:x val="0.422907444261775"/>
          <c:y val="0.0151744950186824"/>
          <c:w val="0.207048426638978"/>
          <c:h val="0.0379361581315195"/>
        </c:manualLayout>
      </c:layout>
      <c:overlay val="0"/>
      <c:spPr>
        <a:noFill/>
        <a:ln w="25400">
          <a:noFill/>
        </a:ln>
      </c:spPr>
      <c:txPr>
        <a:bodyPr rot="0" spcFirstLastPara="0" vertOverflow="ellipsis" vert="horz" wrap="square" anchor="ctr" anchorCtr="1"/>
        <a:lstStyle/>
        <a:p>
          <a:pPr>
            <a:defRPr lang="en-US" sz="1100" b="0" i="0" u="none" strike="noStrike" kern="1200" baseline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5abaf577-9d73-4a0d-9417-f9c8dac796eb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en-US" sz="1000" b="0" i="0" u="none" strike="noStrike" baseline="0">
          <a:solidFill>
            <a:srgbClr val="000000"/>
          </a:solidFill>
          <a:latin typeface="Calibri" panose="020F0502020204030204"/>
          <a:ea typeface="Calibri" panose="020F0502020204030204"/>
          <a:cs typeface="Calibri" panose="020F0502020204030204"/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2f1c646a8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9" name="Google Shape;1289;g2f1c646a89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2f1c646a8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9" name="Google Shape;1289;g2f1c646a89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F79FB3-60D9-463F-87AE-5B5BE1B62AB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altLang="fr-FR"/>
          </a:p>
        </p:txBody>
      </p:sp>
      <p:sp>
        <p:nvSpPr>
          <p:cNvPr id="6963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B9FF02-D613-4A39-BF80-4756F76E7438}" type="slidenum">
              <a:rPr lang="fr-FR" altLang="fr-FR"/>
            </a:fld>
            <a:endParaRPr lang="fr-FR" altLang="fr-F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altLang="fr-FR"/>
          </a:p>
        </p:txBody>
      </p:sp>
      <p:sp>
        <p:nvSpPr>
          <p:cNvPr id="6963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B9FF02-D613-4A39-BF80-4756F76E7438}" type="slidenum">
              <a:rPr lang="fr-FR" altLang="fr-FR"/>
            </a:fld>
            <a:endParaRPr lang="fr-FR" altLang="fr-F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altLang="fr-FR"/>
          </a:p>
        </p:txBody>
      </p:sp>
      <p:sp>
        <p:nvSpPr>
          <p:cNvPr id="6963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B9FF02-D613-4A39-BF80-4756F76E7438}" type="slidenum">
              <a:rPr lang="fr-FR" altLang="fr-FR"/>
            </a:fld>
            <a:endParaRPr lang="fr-FR" altLang="fr-F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altLang="fr-FR"/>
          </a:p>
        </p:txBody>
      </p:sp>
      <p:sp>
        <p:nvSpPr>
          <p:cNvPr id="6963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B9FF02-D613-4A39-BF80-4756F76E7438}" type="slidenum">
              <a:rPr lang="fr-FR" altLang="fr-FR"/>
            </a:fld>
            <a:endParaRPr lang="fr-FR" altLang="fr-F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295a8824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g3295a8824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295a8824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g3295a8824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295a8824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g3295a8824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295a8824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g3295a8824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600" lvl="0" indent="-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200" lvl="1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800" lvl="2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400" lvl="3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8000" lvl="4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600" lvl="5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200" lvl="6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800" lvl="7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400" lvl="8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ATH: DataVis - full pag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367D-202E-4BB0-8243-51A46362D732}" type="slidenum">
              <a:rPr lang="en-US" smtClean="0"/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4"/>
          </p:nvPr>
        </p:nvSpPr>
        <p:spPr>
          <a:xfrm>
            <a:off x="762002" y="2019301"/>
            <a:ext cx="10718799" cy="409992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1800"/>
              </a:spcAft>
              <a:buNone/>
              <a:defRPr sz="1600"/>
            </a:lvl1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762001" y="847225"/>
            <a:ext cx="10718800" cy="101246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3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sz="3200">
                <a:solidFill>
                  <a:srgbClr val="F65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H1 – Arial 32 pt. red: </a:t>
            </a:r>
            <a:r>
              <a:rPr lang="en-US"/>
              <a:t>Data Vis, Long title with large full page data visual graphic</a:t>
            </a:r>
            <a:endParaRPr lang="en-US"/>
          </a:p>
        </p:txBody>
      </p:sp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1.xml"/><Relationship Id="rId1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1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1.xml"/><Relationship Id="rId2" Type="http://schemas.openxmlformats.org/officeDocument/2006/relationships/tags" Target="../tags/tag23.xml"/><Relationship Id="rId1" Type="http://schemas.openxmlformats.org/officeDocument/2006/relationships/tags" Target="../tags/tag2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 sz="1600"/>
            </a:fld>
            <a:endParaRPr lang="en-GB" sz="1600"/>
          </a:p>
        </p:txBody>
      </p:sp>
      <p:sp>
        <p:nvSpPr>
          <p:cNvPr id="167" name="Google Shape;167;p1"/>
          <p:cNvSpPr txBox="1"/>
          <p:nvPr/>
        </p:nvSpPr>
        <p:spPr>
          <a:xfrm>
            <a:off x="295033" y="5920417"/>
            <a:ext cx="3302000" cy="34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/>
              <a:buNone/>
            </a:pPr>
            <a:r>
              <a:rPr lang="en-GB" sz="2265" b="0" i="0" u="none" strike="noStrike" cap="non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October 2024</a:t>
            </a:r>
            <a:endParaRPr sz="2265" b="0" i="0" u="none" strike="noStrike" cap="none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8" name="Google Shape;168;p1"/>
          <p:cNvPicPr preferRelativeResize="0"/>
          <p:nvPr/>
        </p:nvPicPr>
        <p:blipFill rotWithShape="1">
          <a:blip r:embed="rId1"/>
          <a:srcRect l="-17785"/>
          <a:stretch>
            <a:fillRect/>
          </a:stretch>
        </p:blipFill>
        <p:spPr>
          <a:xfrm>
            <a:off x="-683503" y="1646443"/>
            <a:ext cx="4526453" cy="370315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"/>
          <p:cNvSpPr txBox="1"/>
          <p:nvPr/>
        </p:nvSpPr>
        <p:spPr>
          <a:xfrm>
            <a:off x="4081145" y="1537970"/>
            <a:ext cx="7854315" cy="16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r>
              <a:rPr lang="fr-FR" sz="4000" i="0" u="none" strike="noStrike" cap="none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ANNUELLE DU PEV</a:t>
            </a:r>
            <a:endParaRPr lang="fr-FR" sz="4000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r>
              <a:rPr lang="fr-FR" sz="4000" i="0" u="none" strike="noStrike" cap="none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Exercice 2025</a:t>
            </a:r>
            <a:endParaRPr lang="fr-FR" sz="4000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lang="fr-FR" sz="4000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lang="fr-FR" altLang="en-GB" sz="4000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0" name="Google Shape;170;p1"/>
          <p:cNvSpPr/>
          <p:nvPr/>
        </p:nvSpPr>
        <p:spPr>
          <a:xfrm>
            <a:off x="3660828" y="1516400"/>
            <a:ext cx="373600" cy="1867200"/>
          </a:xfrm>
          <a:prstGeom prst="rect">
            <a:avLst/>
          </a:prstGeom>
          <a:solidFill>
            <a:srgbClr val="145ABE"/>
          </a:solidFill>
          <a:ln>
            <a:noFill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endParaRPr sz="1465" b="0" i="0" u="none" strike="noStrike" cap="none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" name="Google Shape;169;p1"/>
          <p:cNvSpPr txBox="1"/>
          <p:nvPr/>
        </p:nvSpPr>
        <p:spPr>
          <a:xfrm>
            <a:off x="4034429" y="3383914"/>
            <a:ext cx="7901032" cy="1177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r>
              <a:rPr lang="fr-FR" sz="3200" b="1" i="0" u="none" strike="noStrike" cap="none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Domaine: </a:t>
            </a:r>
            <a:r>
              <a:rPr lang="fr-FR" sz="3200" b="1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Q</a:t>
            </a:r>
            <a:r>
              <a:rPr lang="fr-FR" sz="3200" b="1" i="0" u="none" strike="noStrike" cap="none" dirty="0" smtClean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ualité des données  </a:t>
            </a:r>
            <a:r>
              <a:rPr lang="fr-FR" sz="2000" b="1" i="0" u="none" strike="noStrike" cap="none" dirty="0" smtClean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endParaRPr sz="1400" b="1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r>
              <a:rPr lang="en-GB" sz="2000" b="1" i="0" u="none" strike="noStrike" cap="none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endParaRPr sz="1465" b="0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lang="fr-FR" altLang="en-GB" sz="2000" b="1" i="1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" name="Google Shape;169;p1"/>
          <p:cNvSpPr txBox="1"/>
          <p:nvPr/>
        </p:nvSpPr>
        <p:spPr>
          <a:xfrm>
            <a:off x="4081106" y="5580083"/>
            <a:ext cx="7215505" cy="637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r>
              <a:rPr lang="fr-FR" i="0" u="none" strike="noStrike" cap="none" dirty="0" smtClean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Décembre </a:t>
            </a:r>
            <a:r>
              <a:rPr lang="fr-FR" i="0" u="none" strike="noStrike" cap="none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2025 </a:t>
            </a:r>
            <a:endParaRPr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r>
              <a:rPr lang="en-GB" sz="2000" b="1" i="0" u="none" strike="noStrike" cap="none" dirty="0">
                <a:solidFill>
                  <a:srgbClr val="145AB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endParaRPr sz="1465" b="0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lang="fr-FR" altLang="en-GB" sz="2000" b="1" i="1" u="none" strike="noStrike" cap="none" dirty="0">
              <a:solidFill>
                <a:srgbClr val="145ABE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 sz="1600"/>
            </a:fld>
            <a:endParaRPr lang="en-GB" sz="1600"/>
          </a:p>
        </p:txBody>
      </p:sp>
      <p:sp>
        <p:nvSpPr>
          <p:cNvPr id="167" name="Google Shape;167;p1"/>
          <p:cNvSpPr txBox="1"/>
          <p:nvPr/>
        </p:nvSpPr>
        <p:spPr>
          <a:xfrm>
            <a:off x="295033" y="5920417"/>
            <a:ext cx="3302000" cy="34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/>
              <a:buNone/>
            </a:pPr>
            <a:r>
              <a:rPr lang="en-GB" sz="2265" b="0" i="0" u="none" strike="noStrike" cap="non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October 2024</a:t>
            </a:r>
            <a:endParaRPr sz="2265" b="0" i="0" u="none" strike="noStrike" cap="none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8" name="Google Shape;168;p1"/>
          <p:cNvPicPr preferRelativeResize="0"/>
          <p:nvPr/>
        </p:nvPicPr>
        <p:blipFill rotWithShape="1">
          <a:blip r:embed="rId1"/>
          <a:srcRect l="-17785"/>
          <a:stretch>
            <a:fillRect/>
          </a:stretch>
        </p:blipFill>
        <p:spPr>
          <a:xfrm>
            <a:off x="-683503" y="1646443"/>
            <a:ext cx="4526453" cy="370315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"/>
          <p:cNvSpPr/>
          <p:nvPr/>
        </p:nvSpPr>
        <p:spPr>
          <a:xfrm>
            <a:off x="3855610" y="1646443"/>
            <a:ext cx="373600" cy="1867200"/>
          </a:xfrm>
          <a:prstGeom prst="rect">
            <a:avLst/>
          </a:prstGeom>
          <a:solidFill>
            <a:srgbClr val="145ABE"/>
          </a:solidFill>
          <a:ln>
            <a:noFill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endParaRPr sz="1465" b="0" i="0" u="none" strike="noStrike" cap="none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4" name="Zone de texte 3"/>
          <p:cNvSpPr txBox="1"/>
          <p:nvPr/>
        </p:nvSpPr>
        <p:spPr>
          <a:xfrm>
            <a:off x="0" y="1652270"/>
            <a:ext cx="221678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altLang="en-US" sz="4800">
                <a:solidFill>
                  <a:schemeClr val="bg1"/>
                </a:solidFill>
                <a:latin typeface="Arial Black" panose="020B0A04020102020204" charset="0"/>
                <a:cs typeface="Arial Black" panose="020B0A04020102020204" charset="0"/>
              </a:rPr>
              <a:t>PLAN</a:t>
            </a:r>
            <a:endParaRPr lang="fr-FR" altLang="en-US" sz="4800">
              <a:solidFill>
                <a:schemeClr val="bg1"/>
              </a:solidFill>
              <a:latin typeface="Arial Black" panose="020B0A04020102020204" charset="0"/>
              <a:cs typeface="Arial Black" panose="020B0A04020102020204" charset="0"/>
            </a:endParaRPr>
          </a:p>
        </p:txBody>
      </p:sp>
      <p:grpSp>
        <p:nvGrpSpPr>
          <p:cNvPr id="17" name="Grouper 16"/>
          <p:cNvGrpSpPr/>
          <p:nvPr>
            <p:custDataLst>
              <p:tags r:id="rId2"/>
            </p:custDataLst>
          </p:nvPr>
        </p:nvGrpSpPr>
        <p:grpSpPr>
          <a:xfrm>
            <a:off x="4811395" y="704215"/>
            <a:ext cx="6224905" cy="5847715"/>
            <a:chOff x="7577" y="1109"/>
            <a:chExt cx="9803" cy="9209"/>
          </a:xfrm>
        </p:grpSpPr>
        <p:sp>
          <p:nvSpPr>
            <p:cNvPr id="5" name="序号"/>
            <p:cNvSpPr txBox="1"/>
            <p:nvPr>
              <p:custDataLst>
                <p:tags r:id="rId3"/>
              </p:custDataLst>
            </p:nvPr>
          </p:nvSpPr>
          <p:spPr>
            <a:xfrm>
              <a:off x="7577" y="1357"/>
              <a:ext cx="1787" cy="138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 dirty="0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01</a:t>
              </a:r>
              <a:endParaRPr lang="en-US" sz="4400" b="1" dirty="0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" name="项标题"/>
            <p:cNvSpPr txBox="1"/>
            <p:nvPr>
              <p:custDataLst>
                <p:tags r:id="rId4"/>
              </p:custDataLst>
            </p:nvPr>
          </p:nvSpPr>
          <p:spPr>
            <a:xfrm>
              <a:off x="10752" y="1109"/>
              <a:ext cx="6628" cy="16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/>
                  </a:solidFill>
                  <a:latin typeface="+mj-lt"/>
                  <a:cs typeface="+mj-lt"/>
                </a:rPr>
                <a:t>Rappel des objectifs</a:t>
              </a:r>
              <a:endParaRPr lang="fr-FR" altLang="en-US" sz="2400" b="1" dirty="0">
                <a:solidFill>
                  <a:schemeClr val="tx1"/>
                </a:solidFill>
                <a:latin typeface="+mj-lt"/>
                <a:cs typeface="+mj-lt"/>
              </a:endParaRPr>
            </a:p>
          </p:txBody>
        </p:sp>
        <p:sp>
          <p:nvSpPr>
            <p:cNvPr id="7" name="序号"/>
            <p:cNvSpPr txBox="1"/>
            <p:nvPr>
              <p:custDataLst>
                <p:tags r:id="rId5"/>
              </p:custDataLst>
            </p:nvPr>
          </p:nvSpPr>
          <p:spPr>
            <a:xfrm>
              <a:off x="7577" y="2715"/>
              <a:ext cx="1787" cy="116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02</a:t>
              </a:r>
              <a:endParaRPr lang="en-US" sz="4400" b="1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" name="项标题"/>
            <p:cNvSpPr txBox="1"/>
            <p:nvPr>
              <p:custDataLst>
                <p:tags r:id="rId6"/>
              </p:custDataLst>
            </p:nvPr>
          </p:nvSpPr>
          <p:spPr>
            <a:xfrm>
              <a:off x="10752" y="2567"/>
              <a:ext cx="6628" cy="1409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/>
                  </a:solidFill>
                  <a:latin typeface="+mj-lt"/>
                  <a:cs typeface="+mj-lt"/>
                </a:rPr>
                <a:t>Etat de mise en oeuvre du PAO 2025 </a:t>
              </a:r>
              <a:endParaRPr lang="fr-FR" altLang="en-US" sz="2400" b="1" dirty="0">
                <a:solidFill>
                  <a:schemeClr val="tx1"/>
                </a:solidFill>
                <a:latin typeface="+mj-lt"/>
                <a:cs typeface="+mj-lt"/>
              </a:endParaRPr>
            </a:p>
          </p:txBody>
        </p:sp>
        <p:sp>
          <p:nvSpPr>
            <p:cNvPr id="9" name="序号"/>
            <p:cNvSpPr txBox="1"/>
            <p:nvPr>
              <p:custDataLst>
                <p:tags r:id="rId7"/>
              </p:custDataLst>
            </p:nvPr>
          </p:nvSpPr>
          <p:spPr>
            <a:xfrm>
              <a:off x="7577" y="4164"/>
              <a:ext cx="1787" cy="116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</a:t>
              </a:r>
              <a:r>
                <a:rPr lang="fr-FR" alt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3</a:t>
              </a:r>
              <a:endParaRPr lang="fr-FR" altLang="en-US" sz="4400" b="1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" name="项标题"/>
            <p:cNvSpPr txBox="1"/>
            <p:nvPr>
              <p:custDataLst>
                <p:tags r:id="rId8"/>
              </p:custDataLst>
            </p:nvPr>
          </p:nvSpPr>
          <p:spPr>
            <a:xfrm>
              <a:off x="10752" y="4041"/>
              <a:ext cx="6628" cy="1409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lt"/>
                  <a:cs typeface="+mj-lt"/>
                </a:rPr>
                <a:t>Indicateurs du cadre de suivi et évaluation du PAO 2025   </a:t>
              </a:r>
              <a:endParaRPr lang="fr-F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+mj-lt"/>
              </a:endParaRPr>
            </a:p>
          </p:txBody>
        </p:sp>
        <p:sp>
          <p:nvSpPr>
            <p:cNvPr id="11" name="序号"/>
            <p:cNvSpPr txBox="1"/>
            <p:nvPr>
              <p:custDataLst>
                <p:tags r:id="rId9"/>
              </p:custDataLst>
            </p:nvPr>
          </p:nvSpPr>
          <p:spPr>
            <a:xfrm>
              <a:off x="7577" y="5473"/>
              <a:ext cx="1787" cy="116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</a:t>
              </a:r>
              <a:r>
                <a:rPr lang="fr-FR" alt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4</a:t>
              </a:r>
              <a:endParaRPr lang="fr-FR" altLang="en-US" sz="4400" b="1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2" name="项标题"/>
            <p:cNvSpPr txBox="1"/>
            <p:nvPr>
              <p:custDataLst>
                <p:tags r:id="rId10"/>
              </p:custDataLst>
            </p:nvPr>
          </p:nvSpPr>
          <p:spPr>
            <a:xfrm>
              <a:off x="10752" y="5370"/>
              <a:ext cx="6628" cy="1409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/>
                  </a:solidFill>
                  <a:latin typeface="+mj-lt"/>
                  <a:cs typeface="+mj-lt"/>
                </a:rPr>
                <a:t>Classification des antennes selon le Benchmarking</a:t>
              </a:r>
              <a:endParaRPr lang="fr-FR" altLang="en-US" sz="2400" b="1" dirty="0">
                <a:solidFill>
                  <a:schemeClr val="tx1"/>
                </a:solidFill>
                <a:latin typeface="+mj-lt"/>
                <a:cs typeface="+mj-lt"/>
              </a:endParaRPr>
            </a:p>
          </p:txBody>
        </p:sp>
        <p:sp>
          <p:nvSpPr>
            <p:cNvPr id="13" name="序号"/>
            <p:cNvSpPr txBox="1"/>
            <p:nvPr>
              <p:custDataLst>
                <p:tags r:id="rId11"/>
              </p:custDataLst>
            </p:nvPr>
          </p:nvSpPr>
          <p:spPr>
            <a:xfrm>
              <a:off x="7577" y="6879"/>
              <a:ext cx="1787" cy="116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</a:t>
              </a:r>
              <a:r>
                <a:rPr lang="fr-FR" alt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5</a:t>
              </a:r>
              <a:endParaRPr lang="fr-FR" altLang="en-US" sz="4400" b="1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4" name="项标题"/>
            <p:cNvSpPr txBox="1"/>
            <p:nvPr>
              <p:custDataLst>
                <p:tags r:id="rId12"/>
              </p:custDataLst>
            </p:nvPr>
          </p:nvSpPr>
          <p:spPr>
            <a:xfrm>
              <a:off x="10752" y="6711"/>
              <a:ext cx="6628" cy="1409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lt"/>
                  <a:cs typeface="+mj-lt"/>
                  <a:sym typeface="+mn-ea"/>
                </a:rPr>
                <a:t>Analyse FFOM</a:t>
              </a:r>
              <a:endParaRPr lang="fr-F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+mj-lt"/>
              </a:endParaRPr>
            </a:p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lt"/>
                  <a:cs typeface="+mj-lt"/>
                </a:rPr>
                <a:t>Problèmes /Défis</a:t>
              </a:r>
              <a:endParaRPr lang="fr-F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+mj-lt"/>
              </a:endParaRPr>
            </a:p>
          </p:txBody>
        </p:sp>
        <p:sp>
          <p:nvSpPr>
            <p:cNvPr id="15" name="序号"/>
            <p:cNvSpPr txBox="1"/>
            <p:nvPr>
              <p:custDataLst>
                <p:tags r:id="rId13"/>
              </p:custDataLst>
            </p:nvPr>
          </p:nvSpPr>
          <p:spPr>
            <a:xfrm>
              <a:off x="7577" y="8058"/>
              <a:ext cx="1787" cy="116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</a:t>
              </a:r>
              <a:r>
                <a:rPr lang="fr-FR" alt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6</a:t>
              </a:r>
              <a:endParaRPr lang="fr-FR" altLang="en-US" sz="4400" b="1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6" name="项标题"/>
            <p:cNvSpPr txBox="1"/>
            <p:nvPr>
              <p:custDataLst>
                <p:tags r:id="rId14"/>
              </p:custDataLst>
            </p:nvPr>
          </p:nvSpPr>
          <p:spPr>
            <a:xfrm>
              <a:off x="10752" y="7925"/>
              <a:ext cx="6628" cy="1409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 fontScale="97500"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lt"/>
                  <a:cs typeface="+mj-lt"/>
                </a:rPr>
                <a:t>Piste de solution/Recommandations</a:t>
              </a:r>
              <a:endParaRPr lang="fr-F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+mj-lt"/>
              </a:endParaRPr>
            </a:p>
          </p:txBody>
        </p:sp>
        <p:sp>
          <p:nvSpPr>
            <p:cNvPr id="18" name="序号"/>
            <p:cNvSpPr txBox="1"/>
            <p:nvPr>
              <p:custDataLst>
                <p:tags r:id="rId15"/>
              </p:custDataLst>
            </p:nvPr>
          </p:nvSpPr>
          <p:spPr>
            <a:xfrm>
              <a:off x="7577" y="8977"/>
              <a:ext cx="1787" cy="116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0</a:t>
              </a:r>
              <a:r>
                <a:rPr lang="fr-FR" altLang="en-US" sz="4400" b="1">
                  <a:solidFill>
                    <a:schemeClr val="accent1">
                      <a:lumMod val="75000"/>
                    </a:schemeClr>
                  </a:solidFill>
                  <a:latin typeface="+mj-lt"/>
                </a:rPr>
                <a:t>7</a:t>
              </a:r>
              <a:endParaRPr lang="fr-FR" altLang="en-US" sz="4400" b="1">
                <a:solidFill>
                  <a:schemeClr val="accent1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项标题"/>
            <p:cNvSpPr txBox="1"/>
            <p:nvPr>
              <p:custDataLst>
                <p:tags r:id="rId16"/>
              </p:custDataLst>
            </p:nvPr>
          </p:nvSpPr>
          <p:spPr>
            <a:xfrm>
              <a:off x="10752" y="8909"/>
              <a:ext cx="6628" cy="1409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>
                <a:lnSpc>
                  <a:spcPct val="100000"/>
                </a:lnSpc>
              </a:pPr>
              <a:r>
                <a:rPr lang="fr-FR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lt"/>
                  <a:cs typeface="+mj-lt"/>
                </a:rPr>
                <a:t>Actions prioritaires </a:t>
              </a:r>
              <a:r>
                <a:rPr lang="fr-FR" altLang="en-US" sz="24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lt"/>
                  <a:cs typeface="+mj-lt"/>
                </a:rPr>
                <a:t>2026</a:t>
              </a:r>
              <a:endParaRPr lang="fr-F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+mj-l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g2f1c646a89f_0_0"/>
          <p:cNvSpPr txBox="1"/>
          <p:nvPr/>
        </p:nvSpPr>
        <p:spPr>
          <a:xfrm>
            <a:off x="458592" y="317941"/>
            <a:ext cx="112748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/>
              <a:buNone/>
            </a:pPr>
            <a:r>
              <a:rPr lang="en-US" altLang="en-US" sz="2935" b="1" i="0" u="none" strike="noStrike" cap="none" dirty="0" err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É</a:t>
            </a:r>
            <a:r>
              <a:rPr lang="en-US" altLang="fr-FR" sz="2935" b="1" i="0" u="none" strike="noStrike" cap="none" dirty="0" err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tat</a:t>
            </a:r>
            <a:r>
              <a:rPr lang="en-US" altLang="fr-FR" sz="2935" b="1" i="0" u="none" strike="noStrike" cap="none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altLang="fr-FR" sz="2935" b="1" i="0" u="none" strike="noStrike" cap="none" dirty="0" smtClean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de </a:t>
            </a:r>
            <a:r>
              <a:rPr lang="en-US" altLang="fr-FR" sz="2935" b="1" i="0" u="none" strike="noStrike" cap="none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la mise en </a:t>
            </a:r>
            <a:r>
              <a:rPr lang="en-US" altLang="en-US" sz="2935" b="1" i="0" u="none" strike="noStrike" cap="none" dirty="0" err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œ</a:t>
            </a:r>
            <a:r>
              <a:rPr lang="en-US" altLang="fr-FR" sz="2935" b="1" i="0" u="none" strike="noStrike" cap="none" dirty="0" err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uvre</a:t>
            </a:r>
            <a:r>
              <a:rPr lang="en-US" altLang="fr-FR" sz="2935" b="1" i="0" u="none" strike="noStrike" cap="none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altLang="fr-FR" sz="2935" b="1" i="0" u="none" strike="noStrike" cap="none" dirty="0" smtClean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des </a:t>
            </a:r>
            <a:r>
              <a:rPr lang="en-US" altLang="fr-FR" sz="2935" b="1" i="0" u="none" strike="noStrike" cap="none" dirty="0" err="1" smtClean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activités</a:t>
            </a:r>
            <a:r>
              <a:rPr lang="en-US" altLang="fr-FR" sz="2935" b="1" i="0" u="none" strike="noStrike" cap="none" dirty="0" smtClean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du </a:t>
            </a:r>
            <a:r>
              <a:rPr lang="en-US" altLang="fr-FR" sz="2935" b="1" i="0" u="none" strike="noStrike" cap="none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PAO</a:t>
            </a:r>
            <a:r>
              <a:rPr lang="fr-FR" altLang="en-US" sz="2935" b="1" i="0" u="none" strike="noStrike" cap="none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2025</a:t>
            </a:r>
            <a:endParaRPr lang="fr-FR" altLang="en-US" sz="2935" b="1" i="0" u="none" strike="noStrike" cap="none" dirty="0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292" name="Google Shape;1292;g2f1c646a89f_0_0"/>
          <p:cNvSpPr/>
          <p:nvPr/>
        </p:nvSpPr>
        <p:spPr>
          <a:xfrm>
            <a:off x="0" y="272241"/>
            <a:ext cx="235600" cy="655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865" b="0" i="0" u="none" strike="noStrike" cap="none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223" name="Google Shape;223;p16"/>
          <p:cNvCxnSpPr/>
          <p:nvPr/>
        </p:nvCxnSpPr>
        <p:spPr>
          <a:xfrm>
            <a:off x="267700" y="6427967"/>
            <a:ext cx="11640400" cy="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16"/>
          <p:cNvSpPr txBox="1"/>
          <p:nvPr/>
        </p:nvSpPr>
        <p:spPr>
          <a:xfrm>
            <a:off x="267700" y="6492843"/>
            <a:ext cx="11414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annuelle PEV 2025</a:t>
            </a:r>
            <a:endParaRPr lang="fr-FR" sz="1200" b="1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7" name="Google Shape;165;p3"/>
          <p:cNvSpPr txBox="1"/>
          <p:nvPr/>
        </p:nvSpPr>
        <p:spPr>
          <a:xfrm flipH="1">
            <a:off x="458592" y="4383358"/>
            <a:ext cx="11170073" cy="1004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defTabSz="1219200">
              <a:buClr>
                <a:srgbClr val="000000"/>
              </a:buClr>
            </a:pPr>
            <a:r>
              <a:rPr lang="fr-FR" sz="2000" b="1" kern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Commentaire</a:t>
            </a:r>
            <a:r>
              <a:rPr lang="fr-FR" sz="2000" kern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 : </a:t>
            </a:r>
            <a:r>
              <a:rPr lang="fr-FR" sz="2400" kern="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Sur  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17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fr-FR" sz="2400" kern="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activités planifiées,</a:t>
            </a:r>
            <a:r>
              <a:rPr lang="fr-FR" sz="2400" b="1" kern="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10 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ont été réalisées 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(59%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), 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5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en cours de </a:t>
            </a:r>
            <a:endParaRPr lang="fr-FR" sz="2400" kern="0" dirty="0" smtClean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defTabSz="1219200">
              <a:buClr>
                <a:srgbClr val="000000"/>
              </a:buClr>
            </a:pPr>
            <a:r>
              <a:rPr lang="fr-FR" sz="2400" kern="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            réalisation (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29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%) et 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2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non réalisées (</a:t>
            </a:r>
            <a:r>
              <a:rPr lang="fr-FR" sz="2400" b="1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12</a:t>
            </a:r>
            <a:r>
              <a:rPr lang="fr-FR" sz="2400" kern="0" dirty="0" smtClean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%). </a:t>
            </a:r>
            <a:endParaRPr sz="500" kern="0" dirty="0">
              <a:solidFill>
                <a:srgbClr val="000000"/>
              </a:solidFill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708660" y="2089150"/>
          <a:ext cx="10012680" cy="2163445"/>
        </p:xfrm>
        <a:graphic>
          <a:graphicData uri="http://schemas.openxmlformats.org/drawingml/2006/table">
            <a:tbl>
              <a:tblPr/>
              <a:tblGrid>
                <a:gridCol w="2421890"/>
                <a:gridCol w="1146175"/>
                <a:gridCol w="1016635"/>
                <a:gridCol w="1059815"/>
                <a:gridCol w="1080770"/>
                <a:gridCol w="1081405"/>
                <a:gridCol w="1102995"/>
                <a:gridCol w="1102995"/>
              </a:tblGrid>
              <a:tr h="920750">
                <a:tc rowSpan="3">
                  <a:txBody>
                    <a:bodyPr/>
                    <a:lstStyle/>
                    <a:p>
                      <a:pPr algn="l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Domaine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activités planifiées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activités totalement réalisées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Activités partiellement réalisées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Activités non réalisées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hMerge="1">
                  <a:tcPr/>
                </a:tc>
              </a:tr>
              <a:tr h="414020">
                <a:tc vMerge="1"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PAO 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Total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%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Total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%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Total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%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</a:tr>
              <a:tr h="414655">
                <a:tc vMerge="1"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2025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14020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Qualité des données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59%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29%</a:t>
                      </a:r>
                      <a:endParaRPr lang="fr-FR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12%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5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1516" y="-1"/>
            <a:ext cx="11887200" cy="653143"/>
          </a:xfrm>
        </p:spPr>
        <p:txBody>
          <a:bodyPr>
            <a:noAutofit/>
          </a:bodyPr>
          <a:lstStyle/>
          <a:p>
            <a:pPr algn="ctr"/>
            <a:r>
              <a:rPr lang="fr-FR" sz="2800" dirty="0">
                <a:solidFill>
                  <a:srgbClr val="2205CD"/>
                </a:solidFill>
              </a:rPr>
              <a:t>Evaluation des </a:t>
            </a:r>
            <a:r>
              <a:rPr lang="fr-FR" sz="2800" dirty="0" smtClean="0">
                <a:solidFill>
                  <a:srgbClr val="2205CD"/>
                </a:solidFill>
              </a:rPr>
              <a:t>activités du PAO 2025 (1/3)</a:t>
            </a:r>
            <a:endParaRPr lang="fr-FR" sz="2800" dirty="0">
              <a:solidFill>
                <a:srgbClr val="2205CD"/>
              </a:solidFill>
            </a:endParaRP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15" y="653143"/>
            <a:ext cx="11887200" cy="612865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1514" y="81736"/>
            <a:ext cx="11887200" cy="527863"/>
          </a:xfrm>
        </p:spPr>
        <p:txBody>
          <a:bodyPr>
            <a:noAutofit/>
          </a:bodyPr>
          <a:lstStyle/>
          <a:p>
            <a:r>
              <a:rPr lang="fr-FR" sz="2800" dirty="0">
                <a:solidFill>
                  <a:srgbClr val="2205CD"/>
                </a:solidFill>
              </a:rPr>
              <a:t>Evaluation des </a:t>
            </a:r>
            <a:r>
              <a:rPr lang="fr-FR" sz="2800" dirty="0" smtClean="0">
                <a:solidFill>
                  <a:srgbClr val="2205CD"/>
                </a:solidFill>
              </a:rPr>
              <a:t>activités du PAO 2025 </a:t>
            </a:r>
            <a:r>
              <a:rPr lang="fr-FR" sz="2800" dirty="0">
                <a:solidFill>
                  <a:srgbClr val="2205CD"/>
                </a:solidFill>
              </a:rPr>
              <a:t> </a:t>
            </a:r>
            <a:r>
              <a:rPr lang="fr-FR" sz="2800" dirty="0" smtClean="0">
                <a:solidFill>
                  <a:srgbClr val="2205CD"/>
                </a:solidFill>
              </a:rPr>
              <a:t>(2/3</a:t>
            </a:r>
            <a:r>
              <a:rPr lang="fr-FR" sz="2800" dirty="0">
                <a:solidFill>
                  <a:srgbClr val="2205CD"/>
                </a:solidFill>
              </a:rPr>
              <a:t>)</a:t>
            </a:r>
            <a:endParaRPr lang="fr-FR" sz="2800" dirty="0">
              <a:solidFill>
                <a:srgbClr val="2205CD"/>
              </a:solidFill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14" y="707571"/>
            <a:ext cx="11887200" cy="5954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1514" y="103508"/>
            <a:ext cx="11887200" cy="440778"/>
          </a:xfrm>
        </p:spPr>
        <p:txBody>
          <a:bodyPr>
            <a:normAutofit fontScale="90000"/>
          </a:bodyPr>
          <a:lstStyle/>
          <a:p>
            <a:pPr algn="ctr"/>
            <a:r>
              <a:rPr lang="fr-FR" sz="3555" dirty="0">
                <a:solidFill>
                  <a:srgbClr val="2205CD"/>
                </a:solidFill>
              </a:rPr>
              <a:t>Evaluation des </a:t>
            </a:r>
            <a:r>
              <a:rPr lang="fr-FR" sz="3555" dirty="0" smtClean="0">
                <a:solidFill>
                  <a:srgbClr val="2205CD"/>
                </a:solidFill>
              </a:rPr>
              <a:t>activités du PAO 2025 </a:t>
            </a:r>
            <a:r>
              <a:rPr lang="fr-FR" sz="3555" dirty="0">
                <a:solidFill>
                  <a:srgbClr val="2205CD"/>
                </a:solidFill>
              </a:rPr>
              <a:t> </a:t>
            </a:r>
            <a:r>
              <a:rPr lang="fr-FR" sz="3555" dirty="0" smtClean="0">
                <a:solidFill>
                  <a:srgbClr val="2205CD"/>
                </a:solidFill>
              </a:rPr>
              <a:t>(3/3</a:t>
            </a:r>
            <a:r>
              <a:rPr lang="fr-FR" sz="3555" dirty="0">
                <a:solidFill>
                  <a:srgbClr val="2205CD"/>
                </a:solidFill>
              </a:rPr>
              <a:t>)</a:t>
            </a:r>
            <a:endParaRPr lang="fr-FR" sz="3555" dirty="0">
              <a:solidFill>
                <a:srgbClr val="2205CD"/>
              </a:solidFill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14" y="892629"/>
            <a:ext cx="11756572" cy="57694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g2f1c646a89f_0_0"/>
          <p:cNvSpPr txBox="1"/>
          <p:nvPr/>
        </p:nvSpPr>
        <p:spPr>
          <a:xfrm>
            <a:off x="458592" y="317941"/>
            <a:ext cx="112748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/>
              <a:buNone/>
            </a:pPr>
            <a:r>
              <a:rPr lang="fr-FR" sz="2935" b="1" dirty="0">
                <a:solidFill>
                  <a:srgbClr val="4472C4"/>
                </a:solidFill>
                <a:latin typeface="Book Antiqua" panose="02040602050305030304" pitchFamily="18" charset="0"/>
                <a:sym typeface="+mn-ea"/>
              </a:rPr>
              <a:t>Raisons de non réalisation des activités </a:t>
            </a:r>
            <a:endParaRPr lang="fr-FR" sz="2935" b="1" i="0" u="none" strike="noStrike" cap="none" dirty="0">
              <a:solidFill>
                <a:srgbClr val="4472C4"/>
              </a:solidFill>
              <a:latin typeface="Book Antiqua" panose="02040602050305030304" pitchFamily="18" charset="0"/>
              <a:sym typeface="Times New Roman" panose="02020603050405020304"/>
            </a:endParaRPr>
          </a:p>
        </p:txBody>
      </p:sp>
      <p:sp>
        <p:nvSpPr>
          <p:cNvPr id="1292" name="Google Shape;1292;g2f1c646a89f_0_0"/>
          <p:cNvSpPr/>
          <p:nvPr/>
        </p:nvSpPr>
        <p:spPr>
          <a:xfrm>
            <a:off x="0" y="272241"/>
            <a:ext cx="235600" cy="655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865" b="0" i="0" u="none" strike="noStrike" cap="none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223" name="Google Shape;223;p16"/>
          <p:cNvCxnSpPr/>
          <p:nvPr/>
        </p:nvCxnSpPr>
        <p:spPr>
          <a:xfrm>
            <a:off x="267700" y="6427967"/>
            <a:ext cx="11640400" cy="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16"/>
          <p:cNvSpPr txBox="1"/>
          <p:nvPr/>
        </p:nvSpPr>
        <p:spPr>
          <a:xfrm>
            <a:off x="267700" y="6492843"/>
            <a:ext cx="11414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annuelle PEV 2025</a:t>
            </a:r>
            <a:endParaRPr lang="fr-FR" sz="1200" b="1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graphicFrame>
        <p:nvGraphicFramePr>
          <p:cNvPr id="4" name="Graphique 3"/>
          <p:cNvGraphicFramePr/>
          <p:nvPr/>
        </p:nvGraphicFramePr>
        <p:xfrm>
          <a:off x="267970" y="2057400"/>
          <a:ext cx="11465560" cy="3425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" name="ZoneTexte 1"/>
          <p:cNvSpPr txBox="1"/>
          <p:nvPr/>
        </p:nvSpPr>
        <p:spPr>
          <a:xfrm>
            <a:off x="836762" y="1049541"/>
            <a:ext cx="4011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2205CD"/>
                </a:solidFill>
              </a:rPr>
              <a:t>Lourdeurs administratives</a:t>
            </a:r>
            <a:endParaRPr lang="fr-FR" dirty="0" smtClean="0">
              <a:solidFill>
                <a:srgbClr val="2205CD"/>
              </a:solidFill>
            </a:endParaRPr>
          </a:p>
          <a:p>
            <a:r>
              <a:rPr lang="fr-FR" dirty="0" smtClean="0">
                <a:solidFill>
                  <a:srgbClr val="2205CD"/>
                </a:solidFill>
              </a:rPr>
              <a:t>-   Décaissement tardif des fonds</a:t>
            </a:r>
            <a:endParaRPr lang="fr-FR" dirty="0">
              <a:solidFill>
                <a:srgbClr val="2205CD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52650" y="365126"/>
            <a:ext cx="7886700" cy="471587"/>
          </a:xfrm>
          <a:solidFill>
            <a:srgbClr val="0070C0"/>
          </a:solidFill>
          <a:ln w="9525" cap="flat">
            <a:solidFill>
              <a:schemeClr val="accent1"/>
            </a:solidFill>
            <a:miter lim="800000"/>
          </a:ln>
          <a:effectLst>
            <a:outerShdw blurRad="63500" dist="20000" dir="5400000" rotWithShape="0">
              <a:srgbClr val="000000">
                <a:alpha val="37999"/>
              </a:srgbClr>
            </a:outerShdw>
          </a:effectLst>
        </p:spPr>
        <p:txBody>
          <a:bodyPr vert="horz" wrap="square" lIns="91440" tIns="45720" rIns="91440" bIns="45720" numCol="1" rtlCol="0" anchor="ctr" anchorCtr="0" compatLnSpc="1">
            <a:noAutofit/>
          </a:bodyPr>
          <a:lstStyle/>
          <a:p>
            <a:pPr algn="ctr"/>
            <a:br>
              <a:rPr lang="fr-FR" altLang="fr-FR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</a:rPr>
            </a:br>
            <a:r>
              <a:rPr lang="fr-FR" altLang="fr-FR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</a:rPr>
              <a:t>Résultats obtenus</a:t>
            </a:r>
            <a:br>
              <a:rPr lang="fr-FR" altLang="fr-FR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</a:rPr>
            </a:br>
            <a:endParaRPr lang="fr-FR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MS PGothic" panose="020B0600070205080204" pitchFamily="34" charset="-128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5488" y="1170432"/>
            <a:ext cx="11210544" cy="5354912"/>
          </a:xfrm>
        </p:spPr>
        <p:txBody>
          <a:bodyPr>
            <a:normAutofit/>
          </a:bodyPr>
          <a:lstStyle/>
          <a:p>
            <a:endParaRPr lang="fr-FR" dirty="0"/>
          </a:p>
          <a:p>
            <a:pPr algn="just"/>
            <a:r>
              <a:rPr lang="fr-FR" sz="2800" dirty="0"/>
              <a:t>JRF </a:t>
            </a:r>
            <a:r>
              <a:rPr lang="fr-FR" sz="2800" dirty="0" smtClean="0"/>
              <a:t>2025 </a:t>
            </a:r>
            <a:r>
              <a:rPr lang="fr-FR" sz="2800" dirty="0"/>
              <a:t>élaborés et partagés</a:t>
            </a:r>
            <a:endParaRPr lang="fr-FR" sz="2800" dirty="0"/>
          </a:p>
          <a:p>
            <a:pPr algn="just"/>
            <a:r>
              <a:rPr lang="fr-FR" sz="2800" dirty="0"/>
              <a:t>Réalisation des estimations des couvertures vaccinales du niveau provincial (WUESNIC </a:t>
            </a:r>
            <a:r>
              <a:rPr lang="fr-FR" sz="2800" dirty="0" smtClean="0"/>
              <a:t>2025)</a:t>
            </a:r>
            <a:endParaRPr lang="fr-FR" sz="2800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81000" y="247824"/>
            <a:ext cx="11595100" cy="864096"/>
          </a:xfrm>
          <a:solidFill>
            <a:srgbClr val="0070C0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3200"/>
            </a:pPr>
            <a:r>
              <a:rPr lang="fr-FR" altLang="en-US" sz="24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E</a:t>
            </a:r>
            <a:r>
              <a:rPr lang="en-US" sz="24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volution du </a:t>
            </a:r>
            <a:r>
              <a:rPr lang="en-US" sz="2400" b="1" dirty="0" err="1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nombre</a:t>
            </a:r>
            <a:r>
              <a:rPr lang="en-US" sz="24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 de  ZS avec CV DTC3 &gt; 100%, </a:t>
            </a:r>
            <a:r>
              <a:rPr lang="en-US" sz="2400" b="1" dirty="0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2020-2025</a:t>
            </a:r>
            <a:br>
              <a:rPr lang="en-US" sz="24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</a:br>
            <a:r>
              <a:rPr lang="en-US" sz="24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(</a:t>
            </a:r>
            <a:r>
              <a:rPr lang="en-US" sz="2400" b="1" dirty="0" err="1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Dénominateur</a:t>
            </a:r>
            <a:r>
              <a:rPr lang="en-US" sz="2400" b="1" dirty="0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 Administrative)</a:t>
            </a:r>
            <a:endParaRPr lang="en-US" sz="2400" b="1" dirty="0">
              <a:solidFill>
                <a:schemeClr val="lt1"/>
              </a:solidFill>
              <a:latin typeface="Arial" panose="020B0604020202020204" pitchFamily="34" charset="0"/>
              <a:ea typeface="Lato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6384032" y="6370433"/>
            <a:ext cx="50885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Source</a:t>
            </a:r>
            <a:r>
              <a:rPr lang="fr-FR" sz="1400" dirty="0"/>
              <a:t> </a:t>
            </a:r>
            <a:r>
              <a:rPr lang="fr-FR" sz="1400" dirty="0" smtClean="0"/>
              <a:t>DHIS2 2020-2025</a:t>
            </a:r>
            <a:endParaRPr lang="fr-FR" sz="1400" dirty="0"/>
          </a:p>
        </p:txBody>
      </p:sp>
      <p:graphicFrame>
        <p:nvGraphicFramePr>
          <p:cNvPr id="6" name="Graphique 5"/>
          <p:cNvGraphicFramePr>
            <a:graphicFrameLocks noGrp="1"/>
          </p:cNvGraphicFramePr>
          <p:nvPr/>
        </p:nvGraphicFramePr>
        <p:xfrm>
          <a:off x="613955" y="1567543"/>
          <a:ext cx="10620102" cy="46111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93700" y="142880"/>
            <a:ext cx="11569700" cy="765843"/>
          </a:xfrm>
          <a:solidFill>
            <a:srgbClr val="0070C0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3200"/>
            </a:pPr>
            <a:r>
              <a:rPr lang="fr-FR" altLang="fr-FR" sz="20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Evolution du nombre de ZS avec Taux d’abandon DTC1/DTC3 négatif de </a:t>
            </a:r>
            <a:r>
              <a:rPr lang="fr-FR" altLang="fr-FR" sz="2000" b="1" dirty="0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2020 </a:t>
            </a:r>
            <a:r>
              <a:rPr lang="fr-FR" altLang="fr-FR" sz="20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– </a:t>
            </a:r>
            <a:r>
              <a:rPr lang="fr-FR" altLang="fr-FR" sz="2000" b="1" dirty="0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2025, </a:t>
            </a:r>
            <a:br>
              <a:rPr lang="fr-FR" altLang="fr-FR" sz="20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</a:br>
            <a:r>
              <a:rPr lang="fr-FR" altLang="fr-FR" sz="2000" b="1" dirty="0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Janvier- Octobre 2025</a:t>
            </a:r>
            <a:endParaRPr lang="fr-FR" altLang="fr-FR" sz="2000" b="1" dirty="0">
              <a:solidFill>
                <a:schemeClr val="lt1"/>
              </a:solidFill>
              <a:latin typeface="Arial" panose="020B0604020202020204" pitchFamily="34" charset="0"/>
              <a:ea typeface="Lato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6740769" y="6334780"/>
            <a:ext cx="5070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Source : </a:t>
            </a:r>
            <a:r>
              <a:rPr lang="fr-FR" dirty="0" smtClean="0"/>
              <a:t> </a:t>
            </a:r>
            <a:r>
              <a:rPr lang="fr-FR" dirty="0"/>
              <a:t>DHIS2 </a:t>
            </a:r>
            <a:r>
              <a:rPr lang="fr-FR" dirty="0" smtClean="0"/>
              <a:t>2020-2025</a:t>
            </a:r>
            <a:endParaRPr lang="fr-FR" dirty="0"/>
          </a:p>
        </p:txBody>
      </p:sp>
      <p:graphicFrame>
        <p:nvGraphicFramePr>
          <p:cNvPr id="6" name="Graphique 5"/>
          <p:cNvGraphicFramePr>
            <a:graphicFrameLocks noGrp="1"/>
          </p:cNvGraphicFramePr>
          <p:nvPr/>
        </p:nvGraphicFramePr>
        <p:xfrm>
          <a:off x="561703" y="1227909"/>
          <a:ext cx="11025051" cy="4715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"/>
          <p:cNvSpPr txBox="1"/>
          <p:nvPr/>
        </p:nvSpPr>
        <p:spPr>
          <a:xfrm>
            <a:off x="254000" y="46892"/>
            <a:ext cx="11836400" cy="688405"/>
          </a:xfrm>
          <a:prstGeom prst="rect">
            <a:avLst/>
          </a:prstGeom>
          <a:solidFill>
            <a:srgbClr val="0070C0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lnSpc>
                <a:spcPct val="90000"/>
              </a:lnSpc>
              <a:buClr>
                <a:schemeClr val="lt1"/>
              </a:buClr>
              <a:buSzPts val="3200"/>
              <a:buFont typeface="Arimo"/>
              <a:buNone/>
              <a:defRPr sz="4000" b="1">
                <a:solidFill>
                  <a:schemeClr val="lt1"/>
                </a:solidFill>
                <a:latin typeface="Lato"/>
                <a:ea typeface="Lato"/>
                <a:cs typeface="Lato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pPr algn="ctr"/>
            <a:r>
              <a:rPr lang="fr-FR" sz="2000" dirty="0">
                <a:latin typeface="Arial" panose="020B0604020202020204" pitchFamily="34" charset="0"/>
                <a:cs typeface="Arial" panose="020B0604020202020204" pitchFamily="34" charset="0"/>
              </a:rPr>
              <a:t>Incohérences: VPO,Penta,PCV2 &gt; VPO,Penta,PCV1 et VPO,Penta,PCV3 &gt; VPO,Penta,PCV2</a:t>
            </a:r>
            <a:br>
              <a:rPr lang="fr-FR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000" dirty="0">
                <a:latin typeface="Arial" panose="020B0604020202020204" pitchFamily="34" charset="0"/>
                <a:cs typeface="Arial" panose="020B0604020202020204" pitchFamily="34" charset="0"/>
              </a:rPr>
              <a:t>RDC, Janvier- </a:t>
            </a:r>
            <a:r>
              <a:rPr lang="fr-FR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Octobre 2025</a:t>
            </a:r>
            <a:endParaRPr lang="fr-F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70535" y="920750"/>
          <a:ext cx="11129645" cy="5534025"/>
        </p:xfrm>
        <a:graphic>
          <a:graphicData uri="http://schemas.openxmlformats.org/drawingml/2006/table">
            <a:tbl>
              <a:tblPr/>
              <a:tblGrid>
                <a:gridCol w="1561465"/>
                <a:gridCol w="952500"/>
                <a:gridCol w="1015365"/>
                <a:gridCol w="1015365"/>
                <a:gridCol w="1016000"/>
                <a:gridCol w="1015365"/>
                <a:gridCol w="1016000"/>
                <a:gridCol w="1066165"/>
                <a:gridCol w="1066165"/>
                <a:gridCol w="1405255"/>
              </a:tblGrid>
              <a:tr h="451485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DPS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Nombre de ZS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CV de plus de 100%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VPO2&gt;VPO1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VPO3&gt;VPO2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PENTA2&gt;PENTA1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PENTA3&gt;PENTA2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PNEUMO2&gt;PNEUMO1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PNEUMO3&gt;PNEUMO2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CV</a:t>
                      </a:r>
                      <a:b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&gt;=90% tous Ag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Bas Uélé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84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Equateur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Haut Katanga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Haut lomami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Haut Uélé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Ituri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84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Kasai 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13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Kasai Central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Kasai Oriental  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Kinshasa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84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Kongo Central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Kwango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Kwilu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Lomami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Lualaba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84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Octobrendombe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Maniema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Mongala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Nord Kivu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Nord Ubangi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84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Sankuru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Sud Kivu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Sud Ubangi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Tanganyika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Tshopo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23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84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Tshuapa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fr-FR" sz="11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National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519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75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27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58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260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322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185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169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effectLst/>
                          <a:latin typeface="Arial" panose="020B0604020202020204" pitchFamily="34" charset="0"/>
                        </a:rPr>
                        <a:t>39</a:t>
                      </a:r>
                      <a:endParaRPr lang="fr-FR" sz="11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E4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Proportion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100,0%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14,5%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5,2%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11,2%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50,1%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62,0%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35,6%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32,6%</a:t>
                      </a:r>
                      <a:endParaRPr lang="fr-FR" sz="1100" b="1" i="0" u="none" strike="noStrike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7,5%</a:t>
                      </a:r>
                      <a:endParaRPr lang="fr-FR" sz="1100" b="1" i="0" u="none" strike="noStrike" dirty="0">
                        <a:solidFill>
                          <a:srgbClr val="00206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31371" y="116632"/>
            <a:ext cx="11425269" cy="576064"/>
          </a:xfrm>
          <a:solidFill>
            <a:srgbClr val="0070C0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Clr>
                <a:schemeClr val="lt1"/>
              </a:buClr>
              <a:buSzPts val="3200"/>
            </a:pPr>
            <a:r>
              <a:rPr lang="fr-FR" sz="24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Evolution de la consistance Interne des données</a:t>
            </a:r>
            <a:endParaRPr lang="fr-FR" sz="2400" b="1" dirty="0">
              <a:solidFill>
                <a:schemeClr val="lt1"/>
              </a:solidFill>
              <a:latin typeface="Arial" panose="020B0604020202020204" pitchFamily="34" charset="0"/>
              <a:ea typeface="Lato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5327915" y="637203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Source</a:t>
            </a:r>
            <a:r>
              <a:rPr lang="fr-FR" dirty="0"/>
              <a:t> : </a:t>
            </a:r>
            <a:r>
              <a:rPr lang="fr-FR" dirty="0" smtClean="0"/>
              <a:t>DHIS2  2020-2025</a:t>
            </a:r>
            <a:endParaRPr lang="fr-FR" dirty="0"/>
          </a:p>
        </p:txBody>
      </p:sp>
      <p:graphicFrame>
        <p:nvGraphicFramePr>
          <p:cNvPr id="3" name="Tableau 2"/>
          <p:cNvGraphicFramePr>
            <a:graphicFrameLocks noGrp="1"/>
          </p:cNvGraphicFramePr>
          <p:nvPr/>
        </p:nvGraphicFramePr>
        <p:xfrm>
          <a:off x="600894" y="979714"/>
          <a:ext cx="10946670" cy="4615958"/>
        </p:xfrm>
        <a:graphic>
          <a:graphicData uri="http://schemas.openxmlformats.org/drawingml/2006/table">
            <a:tbl>
              <a:tblPr/>
              <a:tblGrid>
                <a:gridCol w="1563810"/>
                <a:gridCol w="1563810"/>
                <a:gridCol w="1563810"/>
                <a:gridCol w="1563810"/>
                <a:gridCol w="1563810"/>
                <a:gridCol w="1563810"/>
                <a:gridCol w="1563810"/>
              </a:tblGrid>
              <a:tr h="822960"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fr-F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National</a:t>
                      </a:r>
                      <a:endParaRPr lang="fr-FR" sz="1400" b="1" i="0" u="none" strike="noStrike" dirty="0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VPO2&gt;VPO1</a:t>
                      </a:r>
                      <a:endParaRPr lang="fr-FR" sz="1400" b="1" i="0" u="none" strike="noStrike" dirty="0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VPO3&gt;VPO2</a:t>
                      </a:r>
                      <a:endParaRPr lang="fr-FR" sz="1400" b="1" i="0" u="none" strike="noStrike" dirty="0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PENTA2&gt;PENTA1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PENTA3&gt;PENTA2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PNEUMO2&gt;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PNEUMO3&gt;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AEFF7"/>
                    </a:solidFill>
                  </a:tcPr>
                </a:tc>
              </a:tr>
              <a:tr h="287383">
                <a:tc vMerge="1"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(# ZS)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(# ZS)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(# ZS)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(# ZS)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PNEUMO1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PNEUMO2</a:t>
                      </a:r>
                      <a:endParaRPr lang="fr-FR" sz="14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</a:tr>
              <a:tr h="447854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8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2020</a:t>
                      </a:r>
                      <a:endParaRPr lang="fr-FR" sz="18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153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22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161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151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</a:tr>
              <a:tr h="447854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8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2021</a:t>
                      </a:r>
                      <a:endParaRPr lang="fr-FR" sz="18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135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142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10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</a:tr>
              <a:tr h="447854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8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2022</a:t>
                      </a:r>
                      <a:endParaRPr lang="fr-FR" sz="18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121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128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</a:tr>
              <a:tr h="447854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8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2023</a:t>
                      </a:r>
                      <a:endParaRPr lang="fr-FR" sz="18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128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0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131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</a:tr>
              <a:tr h="447854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8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2024</a:t>
                      </a:r>
                      <a:endParaRPr lang="fr-FR" sz="18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134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148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</a:tr>
              <a:tr h="447854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8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2025</a:t>
                      </a:r>
                      <a:endParaRPr lang="fr-FR" sz="18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58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260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322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185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169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DF"/>
                    </a:solidFill>
                  </a:tcPr>
                </a:tc>
              </a:tr>
              <a:tr h="818491">
                <a:tc>
                  <a:txBody>
                    <a:bodyPr/>
                    <a:lstStyle/>
                    <a:p>
                      <a:pPr algn="l" rtl="0" fontAlgn="ctr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Conclusion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100" b="0" i="0" u="none" strike="noStrike" dirty="0">
                          <a:solidFill>
                            <a:srgbClr val="FFFFFF"/>
                          </a:solidFill>
                          <a:effectLst/>
                          <a:latin typeface="Franklin Gothic Book" panose="020B0503020102020204" pitchFamily="34" charset="0"/>
                        </a:rPr>
                        <a:t>Augmentation et Diminution</a:t>
                      </a:r>
                      <a:endParaRPr lang="fr-FR" sz="1100" b="0" i="0" u="none" strike="noStrike" dirty="0">
                        <a:solidFill>
                          <a:srgbClr val="FFFFFF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Franklin Gothic Book" panose="020B0503020102020204" pitchFamily="34" charset="0"/>
                        </a:rPr>
                        <a:t>Augmentation et Diminution</a:t>
                      </a:r>
                      <a:endParaRPr lang="fr-FR" sz="1100" b="0" i="0" u="none" strike="noStrike">
                        <a:solidFill>
                          <a:srgbClr val="FFFFFF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Franklin Gothic Book" panose="020B0503020102020204" pitchFamily="34" charset="0"/>
                        </a:rPr>
                        <a:t>Augmentation et Diminution</a:t>
                      </a:r>
                      <a:endParaRPr lang="fr-FR" sz="1100" b="0" i="0" u="none" strike="noStrike">
                        <a:solidFill>
                          <a:srgbClr val="FFFFFF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Franklin Gothic Book" panose="020B0503020102020204" pitchFamily="34" charset="0"/>
                        </a:rPr>
                        <a:t>Augmentation et Diminution</a:t>
                      </a:r>
                      <a:endParaRPr lang="fr-FR" sz="1100" b="0" i="0" u="none" strike="noStrike">
                        <a:solidFill>
                          <a:srgbClr val="FFFFFF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Franklin Gothic Book" panose="020B0503020102020204" pitchFamily="34" charset="0"/>
                        </a:rPr>
                        <a:t>Augmentation et Diminution</a:t>
                      </a:r>
                      <a:endParaRPr lang="fr-FR" sz="1100" b="0" i="0" u="none" strike="noStrike">
                        <a:solidFill>
                          <a:srgbClr val="FFFFFF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100" b="0" i="0" u="none" strike="noStrike" dirty="0">
                          <a:solidFill>
                            <a:srgbClr val="FFFFFF"/>
                          </a:solidFill>
                          <a:effectLst/>
                          <a:latin typeface="Franklin Gothic Book" panose="020B0503020102020204" pitchFamily="34" charset="0"/>
                        </a:rPr>
                        <a:t>Augmentation et Diminution</a:t>
                      </a:r>
                      <a:endParaRPr lang="fr-FR" sz="1100" b="0" i="0" u="none" strike="noStrike" dirty="0">
                        <a:solidFill>
                          <a:srgbClr val="FFFFFF"/>
                        </a:solidFill>
                        <a:effectLst/>
                        <a:latin typeface="Franklin Gothic Book" panose="020B05030201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re 1"/>
          <p:cNvSpPr>
            <a:spLocks noGrp="1"/>
          </p:cNvSpPr>
          <p:nvPr>
            <p:ph type="title"/>
          </p:nvPr>
        </p:nvSpPr>
        <p:spPr>
          <a:xfrm>
            <a:off x="316523" y="44624"/>
            <a:ext cx="11512062" cy="792088"/>
          </a:xfrm>
        </p:spPr>
        <p:txBody>
          <a:bodyPr>
            <a:normAutofit/>
          </a:bodyPr>
          <a:lstStyle/>
          <a:p>
            <a:pPr algn="ctr"/>
            <a:r>
              <a:rPr lang="fr-FR" altLang="fr-FR" sz="2000" b="1" dirty="0" smtClean="0">
                <a:solidFill>
                  <a:srgbClr val="008000"/>
                </a:solidFill>
              </a:rPr>
              <a:t>Evolution de nombre des enfants vaccinés  en DTC </a:t>
            </a:r>
            <a:r>
              <a:rPr lang="fr-FR" altLang="fr-FR" sz="2000" b="1" dirty="0" err="1" smtClean="0">
                <a:solidFill>
                  <a:srgbClr val="008000"/>
                </a:solidFill>
              </a:rPr>
              <a:t>HepB</a:t>
            </a:r>
            <a:r>
              <a:rPr lang="fr-FR" altLang="fr-FR" sz="2000" b="1" dirty="0" smtClean="0">
                <a:solidFill>
                  <a:srgbClr val="008000"/>
                </a:solidFill>
              </a:rPr>
              <a:t> Hib1, </a:t>
            </a:r>
            <a:r>
              <a:rPr lang="fr-FR" altLang="fr-FR" sz="2000" b="1" dirty="0">
                <a:solidFill>
                  <a:srgbClr val="008000"/>
                </a:solidFill>
              </a:rPr>
              <a:t>DTC </a:t>
            </a:r>
            <a:r>
              <a:rPr lang="fr-FR" altLang="fr-FR" sz="2000" b="1" dirty="0" err="1">
                <a:solidFill>
                  <a:srgbClr val="008000"/>
                </a:solidFill>
              </a:rPr>
              <a:t>HepB</a:t>
            </a:r>
            <a:r>
              <a:rPr lang="fr-FR" altLang="fr-FR" sz="2000" b="1" dirty="0">
                <a:solidFill>
                  <a:srgbClr val="008000"/>
                </a:solidFill>
              </a:rPr>
              <a:t> </a:t>
            </a:r>
            <a:r>
              <a:rPr lang="fr-FR" altLang="fr-FR" sz="2000" b="1" dirty="0" smtClean="0">
                <a:solidFill>
                  <a:srgbClr val="008000"/>
                </a:solidFill>
              </a:rPr>
              <a:t>Hib3 et VAR 1 par rapport à la cible de 2020-2025</a:t>
            </a:r>
            <a:endParaRPr lang="fr-FR" altLang="fr-FR" sz="2000" dirty="0">
              <a:solidFill>
                <a:srgbClr val="FF0000"/>
              </a:solidFill>
            </a:endParaRPr>
          </a:p>
        </p:txBody>
      </p:sp>
      <p:graphicFrame>
        <p:nvGraphicFramePr>
          <p:cNvPr id="4" name="Graphique 3"/>
          <p:cNvGraphicFramePr/>
          <p:nvPr/>
        </p:nvGraphicFramePr>
        <p:xfrm>
          <a:off x="653143" y="1267097"/>
          <a:ext cx="10816046" cy="51728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Ellipse 5"/>
          <p:cNvSpPr/>
          <p:nvPr/>
        </p:nvSpPr>
        <p:spPr>
          <a:xfrm>
            <a:off x="6746862" y="1726622"/>
            <a:ext cx="1127968" cy="20984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re 1"/>
          <p:cNvSpPr>
            <a:spLocks noGrp="1"/>
          </p:cNvSpPr>
          <p:nvPr>
            <p:ph type="title"/>
          </p:nvPr>
        </p:nvSpPr>
        <p:spPr>
          <a:xfrm>
            <a:off x="529770" y="162552"/>
            <a:ext cx="11497129" cy="792088"/>
          </a:xfrm>
          <a:solidFill>
            <a:srgbClr val="0070C0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Clr>
                <a:schemeClr val="lt1"/>
              </a:buClr>
              <a:buSzPts val="3200"/>
            </a:pPr>
            <a:r>
              <a:rPr lang="fr-FR" altLang="fr-FR" sz="20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Comparaison des CV des antigènes qui se donnent au même moment par province </a:t>
            </a:r>
            <a:br>
              <a:rPr lang="fr-FR" altLang="fr-FR" sz="20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</a:br>
            <a:r>
              <a:rPr lang="fr-FR" altLang="fr-FR" sz="2000" b="1" dirty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RDC, </a:t>
            </a:r>
            <a:r>
              <a:rPr lang="fr-FR" altLang="fr-FR" sz="2000" b="1" dirty="0" smtClean="0">
                <a:solidFill>
                  <a:schemeClr val="lt1"/>
                </a:solidFill>
                <a:latin typeface="Arial" panose="020B0604020202020204" pitchFamily="34" charset="0"/>
                <a:ea typeface="Lato"/>
                <a:cs typeface="Arial" panose="020B0604020202020204" pitchFamily="34" charset="0"/>
                <a:sym typeface="Arial" panose="020B0604020202020204"/>
              </a:rPr>
              <a:t>Janvier-Octobre 2025</a:t>
            </a:r>
            <a:endParaRPr lang="fr-FR" altLang="fr-FR" sz="2000" b="1" dirty="0">
              <a:solidFill>
                <a:schemeClr val="lt1"/>
              </a:solidFill>
              <a:latin typeface="Arial" panose="020B0604020202020204" pitchFamily="34" charset="0"/>
              <a:ea typeface="Lato"/>
              <a:cs typeface="Arial" panose="020B0604020202020204" pitchFamily="34" charset="0"/>
              <a:sym typeface="Arial" panose="020B0604020202020204"/>
            </a:endParaRPr>
          </a:p>
        </p:txBody>
      </p:sp>
      <p:graphicFrame>
        <p:nvGraphicFramePr>
          <p:cNvPr id="6" name="Graphique 5"/>
          <p:cNvGraphicFramePr>
            <a:graphicFrameLocks noGrp="1"/>
          </p:cNvGraphicFramePr>
          <p:nvPr/>
        </p:nvGraphicFramePr>
        <p:xfrm>
          <a:off x="374073" y="1357745"/>
          <a:ext cx="11471563" cy="47936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re 1"/>
          <p:cNvSpPr>
            <a:spLocks noGrp="1"/>
          </p:cNvSpPr>
          <p:nvPr>
            <p:ph type="title"/>
          </p:nvPr>
        </p:nvSpPr>
        <p:spPr>
          <a:xfrm>
            <a:off x="567160" y="44624"/>
            <a:ext cx="11076972" cy="720080"/>
          </a:xfrm>
        </p:spPr>
        <p:txBody>
          <a:bodyPr>
            <a:normAutofit fontScale="90000"/>
          </a:bodyPr>
          <a:lstStyle/>
          <a:p>
            <a:r>
              <a:rPr lang="fr-FR" altLang="fr-FR" sz="2400" b="1" dirty="0">
                <a:solidFill>
                  <a:srgbClr val="008000"/>
                </a:solidFill>
                <a:latin typeface="Maiandra GD" panose="020E0502030308020204" pitchFamily="34" charset="0"/>
              </a:rPr>
              <a:t>Comparaison des CV de VAR </a:t>
            </a:r>
            <a:r>
              <a:rPr lang="fr-FR" altLang="fr-FR" sz="2400" b="1" dirty="0" smtClean="0">
                <a:solidFill>
                  <a:srgbClr val="008000"/>
                </a:solidFill>
                <a:latin typeface="Maiandra GD" panose="020E0502030308020204" pitchFamily="34" charset="0"/>
              </a:rPr>
              <a:t>2024 </a:t>
            </a:r>
            <a:r>
              <a:rPr lang="fr-FR" altLang="fr-FR" sz="2400" b="1" dirty="0">
                <a:solidFill>
                  <a:srgbClr val="008000"/>
                </a:solidFill>
                <a:latin typeface="Maiandra GD" panose="020E0502030308020204" pitchFamily="34" charset="0"/>
              </a:rPr>
              <a:t>et </a:t>
            </a:r>
            <a:r>
              <a:rPr lang="fr-FR" altLang="fr-FR" sz="2400" b="1" dirty="0" smtClean="0">
                <a:solidFill>
                  <a:srgbClr val="008000"/>
                </a:solidFill>
                <a:latin typeface="Maiandra GD" panose="020E0502030308020204" pitchFamily="34" charset="0"/>
              </a:rPr>
              <a:t>2025 </a:t>
            </a:r>
            <a:r>
              <a:rPr lang="fr-FR" altLang="fr-FR" sz="2400" b="1" dirty="0">
                <a:solidFill>
                  <a:srgbClr val="008000"/>
                </a:solidFill>
                <a:latin typeface="Maiandra GD" panose="020E0502030308020204" pitchFamily="34" charset="0"/>
              </a:rPr>
              <a:t>par province </a:t>
            </a:r>
            <a:br>
              <a:rPr lang="fr-FR" altLang="fr-FR" sz="2400" b="1" dirty="0">
                <a:solidFill>
                  <a:srgbClr val="008000"/>
                </a:solidFill>
                <a:latin typeface="Maiandra GD" panose="020E0502030308020204" pitchFamily="34" charset="0"/>
              </a:rPr>
            </a:br>
            <a:r>
              <a:rPr lang="fr-FR" altLang="fr-FR" sz="2400" b="1" dirty="0">
                <a:solidFill>
                  <a:srgbClr val="008000"/>
                </a:solidFill>
                <a:latin typeface="Maiandra GD" panose="020E0502030308020204" pitchFamily="34" charset="0"/>
              </a:rPr>
              <a:t> </a:t>
            </a:r>
            <a:r>
              <a:rPr lang="fr-FR" altLang="fr-FR" sz="1800" b="1" dirty="0">
                <a:solidFill>
                  <a:srgbClr val="008000"/>
                </a:solidFill>
                <a:latin typeface="Maiandra GD" panose="020E0502030308020204" pitchFamily="34" charset="0"/>
              </a:rPr>
              <a:t>RDC, </a:t>
            </a:r>
            <a:r>
              <a:rPr lang="fr-FR" altLang="fr-FR" sz="1800" b="1" dirty="0" smtClean="0">
                <a:solidFill>
                  <a:srgbClr val="008000"/>
                </a:solidFill>
              </a:rPr>
              <a:t>Janvier-Octobre 2025</a:t>
            </a:r>
            <a:endParaRPr lang="fr-FR" altLang="fr-FR" sz="1800" dirty="0">
              <a:solidFill>
                <a:srgbClr val="FF0000"/>
              </a:solidFill>
              <a:latin typeface="Maiandra GD" panose="020E0502030308020204" pitchFamily="34" charset="0"/>
            </a:endParaRPr>
          </a:p>
        </p:txBody>
      </p:sp>
      <p:graphicFrame>
        <p:nvGraphicFramePr>
          <p:cNvPr id="4" name="Graphique 3"/>
          <p:cNvGraphicFramePr>
            <a:graphicFrameLocks noGrp="1"/>
          </p:cNvGraphicFramePr>
          <p:nvPr/>
        </p:nvGraphicFramePr>
        <p:xfrm>
          <a:off x="567160" y="1343891"/>
          <a:ext cx="11076971" cy="48490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re 1"/>
          <p:cNvSpPr>
            <a:spLocks noGrp="1"/>
          </p:cNvSpPr>
          <p:nvPr>
            <p:ph type="title"/>
          </p:nvPr>
        </p:nvSpPr>
        <p:spPr>
          <a:xfrm>
            <a:off x="1610270" y="44624"/>
            <a:ext cx="9022234" cy="720080"/>
          </a:xfrm>
        </p:spPr>
        <p:txBody>
          <a:bodyPr>
            <a:normAutofit fontScale="90000"/>
          </a:bodyPr>
          <a:lstStyle/>
          <a:p>
            <a:pPr algn="ctr"/>
            <a:r>
              <a:rPr lang="fr-FR" altLang="fr-FR" sz="222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Comparaison des CV des antigènes qui se donnent au même moment par province </a:t>
            </a:r>
            <a:br>
              <a:rPr lang="fr-FR" altLang="fr-FR" sz="222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altLang="fr-FR" sz="222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RDC, </a:t>
            </a:r>
            <a:r>
              <a:rPr lang="fr-FR" altLang="fr-FR" sz="2220" b="1" dirty="0" smtClean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Janvier-Octobre 2025</a:t>
            </a:r>
            <a:endParaRPr lang="fr-FR" altLang="fr-FR" sz="222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Graphique 3"/>
          <p:cNvGraphicFramePr>
            <a:graphicFrameLocks noGrp="1"/>
          </p:cNvGraphicFramePr>
          <p:nvPr/>
        </p:nvGraphicFramePr>
        <p:xfrm>
          <a:off x="728980" y="1025525"/>
          <a:ext cx="10786745" cy="51327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634902" y="130622"/>
            <a:ext cx="8922196" cy="706090"/>
          </a:xfrm>
          <a:solidFill>
            <a:schemeClr val="accent2"/>
          </a:solidFill>
          <a:ln w="9525" cap="flat">
            <a:solidFill>
              <a:schemeClr val="accent1"/>
            </a:solidFill>
            <a:miter lim="800000"/>
          </a:ln>
          <a:effectLst>
            <a:outerShdw blurRad="63500" dist="20000" dir="5400000" rotWithShape="0">
              <a:srgbClr val="000000">
                <a:alpha val="37999"/>
              </a:srgbClr>
            </a:outerShdw>
          </a:effectLst>
        </p:spPr>
        <p:txBody>
          <a:bodyPr vert="horz" wrap="square" lIns="91440" tIns="45720" rIns="91440" bIns="45720" numCol="1" rtlCol="0" anchor="ctr" anchorCtr="0" compatLnSpc="1">
            <a:noAutofit/>
          </a:bodyPr>
          <a:lstStyle/>
          <a:p>
            <a:pPr algn="ctr"/>
            <a:r>
              <a:rPr lang="fr-F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</a:rPr>
              <a:t>Triangulation des données DTC3 selon différentes sources</a:t>
            </a:r>
            <a:endParaRPr lang="fr-FR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MS PGothic" panose="020B0600070205080204" pitchFamily="34" charset="-128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 flipV="1">
            <a:off x="1963866" y="2907153"/>
            <a:ext cx="1391854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endParaRPr lang="en-GB"/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 flipV="1">
            <a:off x="1963866" y="6536178"/>
            <a:ext cx="1391854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endParaRPr lang="en-GB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 txBox="1"/>
          <p:nvPr/>
        </p:nvSpPr>
        <p:spPr>
          <a:xfrm>
            <a:off x="458592" y="317941"/>
            <a:ext cx="112748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altLang="en-GB" sz="2665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Analyse FFOM</a:t>
            </a:r>
            <a:endParaRPr lang="fr-FR" altLang="en-GB" sz="3200" b="1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0" y="272241"/>
            <a:ext cx="2356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5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grpSp>
        <p:nvGrpSpPr>
          <p:cNvPr id="17" name="Grouper 16"/>
          <p:cNvGrpSpPr/>
          <p:nvPr/>
        </p:nvGrpSpPr>
        <p:grpSpPr>
          <a:xfrm>
            <a:off x="103505" y="1142365"/>
            <a:ext cx="11728450" cy="5534660"/>
            <a:chOff x="163" y="1799"/>
            <a:chExt cx="18470" cy="8716"/>
          </a:xfrm>
        </p:grpSpPr>
        <p:sp>
          <p:nvSpPr>
            <p:cNvPr id="224" name="Google Shape;224;p16"/>
            <p:cNvSpPr txBox="1"/>
            <p:nvPr/>
          </p:nvSpPr>
          <p:spPr>
            <a:xfrm>
              <a:off x="422" y="10225"/>
              <a:ext cx="17976" cy="2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12190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FR" sz="1200" b="1">
                  <a:solidFill>
                    <a:srgbClr val="1155C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rPr>
                <a:t>Revue annuelle PEV 2025</a:t>
              </a:r>
              <a:endParaRPr lang="fr-FR" sz="12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" name="Rectangle 2"/>
            <p:cNvSpPr/>
            <p:nvPr/>
          </p:nvSpPr>
          <p:spPr>
            <a:xfrm>
              <a:off x="9600" y="2114"/>
              <a:ext cx="0" cy="8397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altLang="en-US"/>
            </a:p>
          </p:txBody>
        </p:sp>
        <p:sp>
          <p:nvSpPr>
            <p:cNvPr id="4" name="Zone de texte 3"/>
            <p:cNvSpPr txBox="1"/>
            <p:nvPr>
              <p:custDataLst>
                <p:tags r:id="rId1"/>
              </p:custDataLst>
            </p:nvPr>
          </p:nvSpPr>
          <p:spPr>
            <a:xfrm>
              <a:off x="163" y="1799"/>
              <a:ext cx="80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fr-FR" altLang="en-US" dirty="0">
                  <a:solidFill>
                    <a:srgbClr val="2205CD"/>
                  </a:solidFill>
                  <a:sym typeface="+mn-ea"/>
                </a:rPr>
                <a:t>Forces </a:t>
              </a:r>
              <a:endParaRPr lang="fr-FR" altLang="en-US" dirty="0">
                <a:solidFill>
                  <a:srgbClr val="2205CD"/>
                </a:solidFill>
                <a:sym typeface="+mn-ea"/>
              </a:endParaRPr>
            </a:p>
          </p:txBody>
        </p:sp>
        <p:sp>
          <p:nvSpPr>
            <p:cNvPr id="5" name="Zone de texte 4"/>
            <p:cNvSpPr txBox="1"/>
            <p:nvPr>
              <p:custDataLst>
                <p:tags r:id="rId2"/>
              </p:custDataLst>
            </p:nvPr>
          </p:nvSpPr>
          <p:spPr>
            <a:xfrm>
              <a:off x="163" y="7785"/>
              <a:ext cx="6400" cy="58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fr-FR" altLang="en-US" dirty="0" err="1">
                  <a:solidFill>
                    <a:srgbClr val="2205CD"/>
                  </a:solidFill>
                  <a:sym typeface="+mn-ea"/>
                </a:rPr>
                <a:t>Oportunités</a:t>
              </a:r>
              <a:r>
                <a:rPr lang="fr-FR" altLang="en-US" dirty="0">
                  <a:solidFill>
                    <a:srgbClr val="2205CD"/>
                  </a:solidFill>
                  <a:sym typeface="+mn-ea"/>
                </a:rPr>
                <a:t>  </a:t>
              </a:r>
              <a:endParaRPr lang="fr-FR" altLang="en-US" dirty="0">
                <a:solidFill>
                  <a:srgbClr val="2205CD"/>
                </a:solidFill>
              </a:endParaRPr>
            </a:p>
          </p:txBody>
        </p:sp>
        <p:sp>
          <p:nvSpPr>
            <p:cNvPr id="6" name="Zone de texte 5"/>
            <p:cNvSpPr txBox="1"/>
            <p:nvPr>
              <p:custDataLst>
                <p:tags r:id="rId3"/>
              </p:custDataLst>
            </p:nvPr>
          </p:nvSpPr>
          <p:spPr>
            <a:xfrm>
              <a:off x="9905" y="7355"/>
              <a:ext cx="4533" cy="67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fr-FR" altLang="en-US" dirty="0" err="1">
                  <a:solidFill>
                    <a:srgbClr val="2205CD"/>
                  </a:solidFill>
                  <a:sym typeface="+mn-ea"/>
                </a:rPr>
                <a:t>Ménaces</a:t>
              </a:r>
              <a:r>
                <a:rPr lang="fr-FR" altLang="en-US" dirty="0">
                  <a:solidFill>
                    <a:srgbClr val="2205CD"/>
                  </a:solidFill>
                  <a:sym typeface="+mn-ea"/>
                </a:rPr>
                <a:t>  </a:t>
              </a:r>
              <a:endParaRPr lang="fr-FR" altLang="en-US" dirty="0">
                <a:solidFill>
                  <a:srgbClr val="2205CD"/>
                </a:solidFill>
                <a:sym typeface="+mn-ea"/>
              </a:endParaRPr>
            </a:p>
          </p:txBody>
        </p:sp>
        <p:sp>
          <p:nvSpPr>
            <p:cNvPr id="8" name="Zone de texte 7"/>
            <p:cNvSpPr txBox="1"/>
            <p:nvPr>
              <p:custDataLst>
                <p:tags r:id="rId4"/>
              </p:custDataLst>
            </p:nvPr>
          </p:nvSpPr>
          <p:spPr>
            <a:xfrm>
              <a:off x="9905" y="1799"/>
              <a:ext cx="453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fr-FR" altLang="en-US" dirty="0">
                  <a:solidFill>
                    <a:srgbClr val="2205CD"/>
                  </a:solidFill>
                  <a:sym typeface="+mn-ea"/>
                </a:rPr>
                <a:t>Faiblesses </a:t>
              </a:r>
              <a:endParaRPr lang="fr-FR" altLang="en-US" dirty="0">
                <a:solidFill>
                  <a:srgbClr val="2205CD"/>
                </a:solidFill>
                <a:sym typeface="+mn-ea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881" y="6489"/>
              <a:ext cx="7691" cy="0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alt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9905" y="6489"/>
              <a:ext cx="7691" cy="0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altLang="en-US"/>
            </a:p>
          </p:txBody>
        </p:sp>
        <p:sp>
          <p:nvSpPr>
            <p:cNvPr id="12" name="Zone de texte 11"/>
            <p:cNvSpPr txBox="1"/>
            <p:nvPr/>
          </p:nvSpPr>
          <p:spPr>
            <a:xfrm>
              <a:off x="341" y="2378"/>
              <a:ext cx="8763" cy="527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dirty="0" smtClean="0"/>
                <a:t>Amélioration </a:t>
              </a:r>
              <a:r>
                <a:rPr lang="fr-FR" dirty="0"/>
                <a:t>de </a:t>
              </a:r>
              <a:r>
                <a:rPr lang="fr-FR" dirty="0" smtClean="0"/>
                <a:t>la complétude </a:t>
              </a:r>
              <a:r>
                <a:rPr lang="fr-FR" dirty="0"/>
                <a:t>et </a:t>
              </a:r>
              <a:r>
                <a:rPr lang="fr-FR" dirty="0" smtClean="0"/>
                <a:t>la promptitude </a:t>
              </a:r>
              <a:r>
                <a:rPr lang="fr-FR" dirty="0"/>
                <a:t>des données dans le DHIS2;</a:t>
              </a:r>
              <a:endParaRPr lang="fr-FR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dirty="0"/>
                <a:t>7 réunions d’analyse des données tenues sur 6 au niveau de central </a:t>
              </a:r>
              <a:endParaRPr lang="fr-FR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dirty="0"/>
                <a:t>Implémentation des 7 cours certifiant (Vaccination pratique, Gestion des données, Utilisation des données, DQS,  Monitorage pour action, Stratégie de vaccination et Genre &amp; Equité vaccinale) en ligne pour la formation de prestataires au niveau opérationnel;</a:t>
              </a:r>
              <a:endParaRPr lang="fr-FR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dirty="0"/>
                <a:t>Analyses mensuelles des performances des zones de santé par le niveau central suivi de retro informations aux DPS, antennes et ZS</a:t>
              </a:r>
              <a:endParaRPr lang="fr-FR" dirty="0"/>
            </a:p>
            <a:p>
              <a:endParaRPr lang="fr-FR" altLang="en-US" dirty="0"/>
            </a:p>
          </p:txBody>
        </p:sp>
        <p:sp>
          <p:nvSpPr>
            <p:cNvPr id="14" name="Zone de texte 13"/>
            <p:cNvSpPr txBox="1"/>
            <p:nvPr/>
          </p:nvSpPr>
          <p:spPr>
            <a:xfrm>
              <a:off x="9897" y="2525"/>
              <a:ext cx="8733" cy="418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sz="1600" dirty="0" smtClean="0"/>
                <a:t>Non </a:t>
              </a:r>
              <a:r>
                <a:rPr lang="fr-FR" sz="1600" dirty="0"/>
                <a:t>maitrise du dénominateur ;</a:t>
              </a:r>
              <a:endParaRPr lang="fr-FR" sz="1600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sz="1600" dirty="0"/>
                <a:t>Ecart  de </a:t>
              </a:r>
              <a:r>
                <a:rPr lang="fr-FR" sz="1600" dirty="0" smtClean="0"/>
                <a:t>plus 20 points </a:t>
              </a:r>
              <a:r>
                <a:rPr lang="fr-FR" sz="1600" dirty="0"/>
                <a:t>entre les données administratives et les données des estimations OMS-Unicef pour DTC3 en 2024;</a:t>
              </a:r>
              <a:endParaRPr lang="fr-FR" sz="1600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sz="1600" dirty="0"/>
                <a:t>Faible analyse et validation des données PEV aux niveaux intermédiaire et opérationnel; </a:t>
              </a:r>
              <a:endParaRPr lang="fr-FR" sz="1600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sz="1600" dirty="0"/>
                <a:t>Faible rapportage des données de la gestion de vaccins et autres intrants dans le DHIS2;</a:t>
              </a:r>
              <a:endParaRPr lang="fr-FR" sz="1600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sz="1600" dirty="0"/>
                <a:t>Faible réalisation de DQS dans les AS;</a:t>
              </a:r>
              <a:endParaRPr lang="fr-FR" sz="1600" dirty="0"/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fr-FR" sz="1600" dirty="0"/>
                <a:t>Distribution tardive et insuffisante des outils de collecte des données aux ESS qui vaccinent.</a:t>
              </a:r>
              <a:endParaRPr lang="fr-FR" sz="1600" dirty="0"/>
            </a:p>
            <a:p>
              <a:r>
                <a:rPr lang="fr-FR" altLang="en-US" sz="1600" dirty="0" smtClean="0">
                  <a:solidFill>
                    <a:srgbClr val="FF0000"/>
                  </a:solidFill>
                </a:rPr>
                <a:t> </a:t>
              </a:r>
              <a:endParaRPr lang="fr-FR" alt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15" name="Zone de texte 14"/>
            <p:cNvSpPr txBox="1"/>
            <p:nvPr/>
          </p:nvSpPr>
          <p:spPr>
            <a:xfrm>
              <a:off x="371" y="8498"/>
              <a:ext cx="8733" cy="15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endParaRPr lang="fr-FR" altLang="en-US" sz="1200" dirty="0" smtClean="0">
                <a:solidFill>
                  <a:srgbClr val="FF0000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altLang="en-US" dirty="0"/>
                <a:t>Présence </a:t>
              </a:r>
              <a:r>
                <a:rPr lang="fr-FR" altLang="en-US" dirty="0" smtClean="0"/>
                <a:t>des assistances techniques </a:t>
              </a:r>
              <a:r>
                <a:rPr lang="fr-FR" altLang="en-US" dirty="0"/>
                <a:t>sur terrain en appui au PEV</a:t>
              </a:r>
              <a:endParaRPr lang="fr-FR" altLang="en-US" dirty="0"/>
            </a:p>
            <a:p>
              <a:endParaRPr lang="fr-F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6" name="Zone de texte 15"/>
            <p:cNvSpPr txBox="1"/>
            <p:nvPr/>
          </p:nvSpPr>
          <p:spPr>
            <a:xfrm>
              <a:off x="9900" y="8035"/>
              <a:ext cx="8733" cy="225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endParaRPr lang="fr-FR" altLang="en-US" sz="1200" dirty="0">
                <a:solidFill>
                  <a:srgbClr val="FF0000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altLang="en-US" sz="1600" dirty="0" smtClean="0"/>
                <a:t>Instabilité du personnel formé commis à la gestion des données</a:t>
              </a:r>
              <a:endParaRPr lang="fr-FR" altLang="en-US" sz="1600" dirty="0" smtClean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altLang="en-US" sz="1600" dirty="0" smtClean="0"/>
                <a:t>Faible ou absence des couvertures internet dans les Aires de santé d’accès difficiles </a:t>
              </a:r>
              <a:endParaRPr lang="fr-FR" altLang="en-US" sz="1600" dirty="0" smtClean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altLang="en-US" sz="1600" dirty="0" err="1" smtClean="0"/>
                <a:t>Vsat</a:t>
              </a:r>
              <a:r>
                <a:rPr lang="fr-FR" altLang="en-US" sz="1600" dirty="0" smtClean="0"/>
                <a:t> de plusieurs Zones de Santé  en panne et/ou sans abonnement Internet</a:t>
              </a:r>
              <a:endParaRPr lang="fr-FR" altLang="en-US" sz="1600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 txBox="1"/>
          <p:nvPr/>
        </p:nvSpPr>
        <p:spPr>
          <a:xfrm>
            <a:off x="458592" y="317941"/>
            <a:ext cx="112748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altLang="en-GB" sz="2665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Leçons apprises - Bonne pratique</a:t>
            </a:r>
            <a:endParaRPr lang="fr-FR" altLang="en-GB" sz="3200" b="1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0" y="272241"/>
            <a:ext cx="2356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5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267700" y="6492843"/>
            <a:ext cx="11414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annuelle PEV 2025</a:t>
            </a:r>
            <a:endParaRPr lang="fr-FR" sz="1200" b="1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096000" y="1342390"/>
            <a:ext cx="0" cy="5332095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altLang="en-US"/>
          </a:p>
        </p:txBody>
      </p:sp>
      <p:sp>
        <p:nvSpPr>
          <p:cNvPr id="4" name="Zone de texte 3"/>
          <p:cNvSpPr txBox="1"/>
          <p:nvPr>
            <p:custDataLst>
              <p:tags r:id="rId1"/>
            </p:custDataLst>
          </p:nvPr>
        </p:nvSpPr>
        <p:spPr>
          <a:xfrm>
            <a:off x="103505" y="1142048"/>
            <a:ext cx="5080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Tx/>
              <a:buFontTx/>
            </a:pPr>
            <a:r>
              <a:rPr lang="fr-FR" altLang="en-US">
                <a:sym typeface="+mn-ea"/>
              </a:rPr>
              <a:t>Leçons apprises  </a:t>
            </a:r>
            <a:endParaRPr lang="fr-FR" altLang="en-US">
              <a:sym typeface="+mn-ea"/>
            </a:endParaRPr>
          </a:p>
        </p:txBody>
      </p:sp>
      <p:sp>
        <p:nvSpPr>
          <p:cNvPr id="8" name="Zone de texte 7"/>
          <p:cNvSpPr txBox="1"/>
          <p:nvPr>
            <p:custDataLst>
              <p:tags r:id="rId2"/>
            </p:custDataLst>
          </p:nvPr>
        </p:nvSpPr>
        <p:spPr>
          <a:xfrm>
            <a:off x="6289675" y="1142365"/>
            <a:ext cx="2878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Tx/>
              <a:buFontTx/>
            </a:pPr>
            <a:r>
              <a:rPr lang="fr-FR" altLang="en-US">
                <a:sym typeface="+mn-ea"/>
              </a:rPr>
              <a:t>Bonnes pratiques  </a:t>
            </a:r>
            <a:endParaRPr lang="fr-FR" altLang="en-US">
              <a:sym typeface="+mn-ea"/>
            </a:endParaRPr>
          </a:p>
        </p:txBody>
      </p:sp>
      <p:sp>
        <p:nvSpPr>
          <p:cNvPr id="12" name="Zone de texte 11"/>
          <p:cNvSpPr txBox="1"/>
          <p:nvPr/>
        </p:nvSpPr>
        <p:spPr>
          <a:xfrm>
            <a:off x="216535" y="1627505"/>
            <a:ext cx="5685791" cy="4782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fr-FR" altLang="en-US" sz="1200" dirty="0">
              <a:solidFill>
                <a:srgbClr val="FF33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L’utilisation par toutes les zones de santé du logiciel DHIS2 a permis, chaque mois, d’avoir les données de la vaccination de Routine et de réduire sensiblement le temps d’attente des données de vaccination du niveau opérationnel.</a:t>
            </a:r>
            <a:endParaRPr lang="fr-F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Zone de texte 13"/>
          <p:cNvSpPr txBox="1"/>
          <p:nvPr/>
        </p:nvSpPr>
        <p:spPr>
          <a:xfrm>
            <a:off x="6284595" y="1603375"/>
            <a:ext cx="5545455" cy="4806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fr-FR" altLang="en-US" sz="1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 txBox="1"/>
          <p:nvPr/>
        </p:nvSpPr>
        <p:spPr>
          <a:xfrm>
            <a:off x="458592" y="317941"/>
            <a:ext cx="112748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altLang="en-GB" sz="3200" b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Recommandations </a:t>
            </a:r>
            <a:endParaRPr lang="fr-FR" altLang="en-GB" sz="3200" b="1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0" y="272241"/>
            <a:ext cx="2356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5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267700" y="6492843"/>
            <a:ext cx="11414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annuelle PEV 2025</a:t>
            </a:r>
            <a:endParaRPr lang="fr-FR" sz="1200" b="1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2" name="Zone de texte 11"/>
          <p:cNvSpPr txBox="1"/>
          <p:nvPr/>
        </p:nvSpPr>
        <p:spPr>
          <a:xfrm>
            <a:off x="235600" y="1131952"/>
            <a:ext cx="11388725" cy="50342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fr-FR" dirty="0"/>
          </a:p>
          <a:p>
            <a:pPr marL="171450" lvl="0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Proposer à la hiérarchie d’autoriser l’utilisation sur DHIS2 des cibles réajustées en 2024 et 2025 pour améliorer le dénominateur;</a:t>
            </a:r>
            <a:endParaRPr lang="fr-FR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Revoir le calcul des nourrissons survivants qui est passé de 3,49% à 3,77% étant donné que la mortalité infantile a fortement baissé de 2017 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à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2024;</a:t>
            </a:r>
            <a:endParaRPr lang="fr-FR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Rendre les outils de gestion disponibles à temps et en quantité suffisante dans les structures qui vaccinent;</a:t>
            </a:r>
            <a:endParaRPr lang="fr-FR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Renforcer les capacités des gestionnaires des données dans l’analyse et traitement des données;</a:t>
            </a:r>
            <a:endParaRPr lang="fr-FR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Superviser mensuellement/trimestriellement les gestionnaires des données pour s’assurer de l’amélioration de la qualité des données de la vaccination;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Vulgariser au niveau des AS les outils d’auto-évaluation de la qualité des données (DQS)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 txBox="1"/>
          <p:nvPr/>
        </p:nvSpPr>
        <p:spPr>
          <a:xfrm>
            <a:off x="458592" y="89335"/>
            <a:ext cx="11274800" cy="46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altLang="en-GB" sz="3200" b="1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Actions prioritaires pour 2026 </a:t>
            </a:r>
            <a:endParaRPr lang="fr-FR" altLang="en-GB" sz="3200" b="1" dirty="0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0" y="272241"/>
            <a:ext cx="2356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5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267700" y="6492843"/>
            <a:ext cx="11414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annuelle PEV 2025</a:t>
            </a:r>
            <a:endParaRPr lang="fr-FR" sz="1200" b="1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2" name="Zone de texte 11"/>
          <p:cNvSpPr txBox="1"/>
          <p:nvPr/>
        </p:nvSpPr>
        <p:spPr>
          <a:xfrm>
            <a:off x="235601" y="692901"/>
            <a:ext cx="11497792" cy="57852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28600" indent="-2286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Poursuivre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déploiement des registres électroniques de vaccination pour le suivi des enregistrements de vaccination individuelle à  Kinshasa  après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 phase pilote.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Appuyer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décentralisation de DHIS2 vers les aires de santé pour la saisie des données SNIS dans la DPS de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Kinshasa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Réaliser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estimations de couverture vaccinale des provinces (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ESNIC)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Doter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chaque FOSA des outils de gestion des données : outils spécifiques au PEV : (fiches de pointage, registre de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vaccination,Nouvelles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cartes de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vaccination-CPS)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Contribuer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l'impression   des outils intégrés du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SNIS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Appuyer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l'organisation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systematique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 réunions de monitorage mensuel au niveau des AS et BCZS des 6 DPS a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(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Tshopo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Oriental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Sud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kivu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katanga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Tshuapa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)..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Réaliser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monitorage semestriel des données par la méthode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Tanahashi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Transversale dans les DPS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(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Tshopo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Kasai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Oriental,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Sud </a:t>
            </a:r>
            <a:r>
              <a:rPr lang="fr-FR" sz="13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kivu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katanga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Tshuapa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Réaliser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trimestriellement le Lot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Quality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Assurance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(LQAS) en routine pour mesurer les performances dans 6 DPS a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(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Tshopo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Oriental, Sud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kivu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katanga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Tshuapa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)..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Contribuer 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realisation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 DQR intégré national chaque deux ans dans les 6 DPS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(Haut Katanga,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Kasai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Oriental,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Sud Kivu, </a:t>
            </a:r>
            <a:r>
              <a:rPr lang="fr-FR" sz="13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Tshopo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Tshuapa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)..</a:t>
            </a:r>
            <a:endParaRPr lang="fr-FR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Organiser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ateliers d'amélioration des données à tous les niveaux (Validation des données, Joint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Reporting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(JRF),analyse des données dans 6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DPS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impact: Haut Katanga,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Kasai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Oriental,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Sud Kivu,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Tshopo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Tshuapa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)..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Organiser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enquêtes indépendantes quantitatives et qualitatives de couverture vaccinale avec focus sur les enfants zéro – dose et les communautés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manquées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toutes les deux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ans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Appuyer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connexion internet adaptée au contexte de chaque ZS des 6 DPS a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Haut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 (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Kasai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oriental,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Katanga,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Sud </a:t>
            </a:r>
            <a:r>
              <a:rPr lang="fr-FR" sz="13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Kivu,Tshopo,Tshuapa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fr-FR" sz="13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Doter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structures de 6 DPS a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Haut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en matériels informatique pour améliorer la gestion de données (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Tshopo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Mongala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Kasai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oriental, Sud Kivu, </a:t>
            </a:r>
            <a:r>
              <a:rPr lang="fr-FR" sz="13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r>
              <a:rPr lang="fr-FR" sz="13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Katanga, </a:t>
            </a:r>
            <a:r>
              <a:rPr lang="fr-FR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Tshuapa</a:t>
            </a:r>
            <a:r>
              <a:rPr lang="fr-F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+mj-lt"/>
              <a:buAutoNum type="arabicPeriod"/>
            </a:pPr>
            <a:endParaRPr lang="fr-FR" sz="1400" dirty="0">
              <a:solidFill>
                <a:srgbClr val="2205CD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5858" y="2443938"/>
            <a:ext cx="11360800" cy="763600"/>
          </a:xfrm>
        </p:spPr>
        <p:txBody>
          <a:bodyPr>
            <a:normAutofit fontScale="90000"/>
          </a:bodyPr>
          <a:lstStyle/>
          <a:p>
            <a:pPr algn="ctr"/>
            <a:r>
              <a:rPr lang="fr-FR" b="1" dirty="0" smtClean="0"/>
              <a:t>Merci </a:t>
            </a:r>
            <a:endParaRPr lang="fr-FR" b="1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60.4,&quot;left&quot;:378.85,&quot;top&quot;:55.45,&quot;width&quot;:490.15}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1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1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1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1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i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SUBTYPE" val="d"/>
  <p:tag name="KSO_WM_UNIT_TYPE" val="l_h_i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6"/>
  <p:tag name="KSO_WM_UNIT_TEXT_FILL_TYPE" val="1"/>
  <p:tag name="KSO_WM_UNIT_USESOURCEFORMAT_APPLY" val="1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21_2*l_h_f*1_2_1"/>
  <p:tag name="KSO_WM_TEMPLATE_CATEGORY" val="custom"/>
  <p:tag name="KSO_WM_TEMPLATE_INDEX" val="20238021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78"/>
  <p:tag name="KSO_WM_DIAGRAM_GROUP_CODE" val="l1-1"/>
  <p:tag name="KSO_WM_UNIT_TYPE" val="l_h_f"/>
  <p:tag name="KSO_WM_UNIT_INDEX" val="1_2_1"/>
  <p:tag name="KSO_WM_DIAGRAM_MAX_ITEMCNT" val="6"/>
  <p:tag name="KSO_WM_DIAGRAM_MIN_ITEMCNT" val="2"/>
  <p:tag name="KSO_WM_DIAGRAM_VIRTUALLY_FRAME" val="{&quot;height&quot;:460.4,&quot;left&quot;:378.85,&quot;top&quot;:55.45,&quot;width&quot;:490.1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16.xml><?xml version="1.0" encoding="utf-8"?>
<p:tagLst xmlns:p="http://schemas.openxmlformats.org/presentationml/2006/main">
  <p:tag name="TABLE_ENDDRAG_ORIGIN_RECT" val="788*170"/>
  <p:tag name="TABLE_ENDDRAG_RECT" val="55*164*788*170"/>
</p:tagLst>
</file>

<file path=ppt/tags/tag17.xml><?xml version="1.0" encoding="utf-8"?>
<p:tagLst xmlns:p="http://schemas.openxmlformats.org/presentationml/2006/main">
  <p:tag name="TABLE_ENDDRAG_ORIGIN_RECT" val="876*435"/>
  <p:tag name="TABLE_ENDDRAG_RECT" val="37*72*876*435"/>
</p:tagLst>
</file>

<file path=ppt/tags/tag18.xml><?xml version="1.0" encoding="utf-8"?>
<p:tagLst xmlns:p="http://schemas.openxmlformats.org/presentationml/2006/main">
  <p:tag name="KSO_WM_DIAGRAM_VIRTUALLY_FRAME" val="{&quot;height&quot;:297.92496062992126,&quot;left&quot;:80,&quot;top&quot;:139.17503937007874,&quot;width&quot;:818}"/>
</p:tagLst>
</file>

<file path=ppt/tags/tag19.xml><?xml version="1.0" encoding="utf-8"?>
<p:tagLst xmlns:p="http://schemas.openxmlformats.org/presentationml/2006/main">
  <p:tag name="KSO_WM_DIAGRAM_VIRTUALLY_FRAME" val="{&quot;height&quot;:297.92496062992126,&quot;left&quot;:80,&quot;top&quot;:139.17503937007874,&quot;width&quot;:818}"/>
</p:tagLst>
</file>

<file path=ppt/tags/tag20.xml><?xml version="1.0" encoding="utf-8"?>
<p:tagLst xmlns:p="http://schemas.openxmlformats.org/presentationml/2006/main">
  <p:tag name="KSO_WM_DIAGRAM_VIRTUALLY_FRAME" val="{&quot;height&quot;:297.92496062992126,&quot;left&quot;:80,&quot;top&quot;:139.17503937007874,&quot;width&quot;:818}"/>
</p:tagLst>
</file>

<file path=ppt/tags/tag21.xml><?xml version="1.0" encoding="utf-8"?>
<p:tagLst xmlns:p="http://schemas.openxmlformats.org/presentationml/2006/main">
  <p:tag name="KSO_WM_DIAGRAM_VIRTUALLY_FRAME" val="{&quot;height&quot;:297.92496062992126,&quot;left&quot;:80,&quot;top&quot;:139.17503937007874,&quot;width&quot;:818}"/>
</p:tagLst>
</file>

<file path=ppt/tags/tag22.xml><?xml version="1.0" encoding="utf-8"?>
<p:tagLst xmlns:p="http://schemas.openxmlformats.org/presentationml/2006/main">
  <p:tag name="KSO_WM_DIAGRAM_VIRTUALLY_FRAME" val="{&quot;height&quot;:297.92496062992126,&quot;left&quot;:80,&quot;top&quot;:139.17503937007874,&quot;width&quot;:818}"/>
</p:tagLst>
</file>

<file path=ppt/tags/tag23.xml><?xml version="1.0" encoding="utf-8"?>
<p:tagLst xmlns:p="http://schemas.openxmlformats.org/presentationml/2006/main">
  <p:tag name="KSO_WM_DIAGRAM_VIRTUALLY_FRAME" val="{&quot;height&quot;:297.92496062992126,&quot;left&quot;:80,&quot;top&quot;:139.17503937007874,&quot;width&quot;:81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7794</Words>
  <Application>WPS Presentation</Application>
  <PresentationFormat>Grand écran</PresentationFormat>
  <Paragraphs>950</Paragraphs>
  <Slides>22</Slides>
  <Notes>60</Notes>
  <HiddenSlides>1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45" baseType="lpstr">
      <vt:lpstr>Arial</vt:lpstr>
      <vt:lpstr>SimSun</vt:lpstr>
      <vt:lpstr>Wingdings</vt:lpstr>
      <vt:lpstr>Calibri Light</vt:lpstr>
      <vt:lpstr>Arial</vt:lpstr>
      <vt:lpstr>Times New Roman</vt:lpstr>
      <vt:lpstr>Arial Black</vt:lpstr>
      <vt:lpstr>Source Serif Pro</vt:lpstr>
      <vt:lpstr>Calibri</vt:lpstr>
      <vt:lpstr>Times New Roman</vt:lpstr>
      <vt:lpstr>Calibri</vt:lpstr>
      <vt:lpstr>Segoe Print</vt:lpstr>
      <vt:lpstr>Microsoft YaHei</vt:lpstr>
      <vt:lpstr>Arial Unicode MS</vt:lpstr>
      <vt:lpstr>Aptos Narrow</vt:lpstr>
      <vt:lpstr>Segoe UI Variable Display</vt:lpstr>
      <vt:lpstr>Book Antiqua</vt:lpstr>
      <vt:lpstr>MS PGothic</vt:lpstr>
      <vt:lpstr>Lato</vt:lpstr>
      <vt:lpstr>Arimo</vt:lpstr>
      <vt:lpstr>Franklin Gothic Book</vt:lpstr>
      <vt:lpstr>Maiandra GD</vt:lpstr>
      <vt:lpstr>Office Theme</vt:lpstr>
      <vt:lpstr>PowerPoint 演示文稿</vt:lpstr>
      <vt:lpstr>PowerPoint 演示文稿</vt:lpstr>
      <vt:lpstr>PowerPoint 演示文稿</vt:lpstr>
      <vt:lpstr>Evaluation des activités du PAO 2025 (1/3)</vt:lpstr>
      <vt:lpstr>Evaluation des activités du PAO 2025  (2/3)</vt:lpstr>
      <vt:lpstr>Evaluation des activités du PAO 2025  (3/3)</vt:lpstr>
      <vt:lpstr>PowerPoint 演示文稿</vt:lpstr>
      <vt:lpstr> Résultats obtenus </vt:lpstr>
      <vt:lpstr>Evolution du nombre de  ZS avec CV DTC3 &gt; 100%, 2020-2025 (Dénominateur Administrative)</vt:lpstr>
      <vt:lpstr>Evolution du nombre de ZS avec Taux d’abandon DTC1/DTC3 négatif de 2020 – 2025,  Janvier- Octobre 2025</vt:lpstr>
      <vt:lpstr>PowerPoint 演示文稿</vt:lpstr>
      <vt:lpstr>Evolution de la consistance Interne des données</vt:lpstr>
      <vt:lpstr>Evolution de nombre des enfants vaccinés  en DTC HepB Hib1, DTC HepB Hib3 et VAR 1 par rapport à la cible de 2020-2025</vt:lpstr>
      <vt:lpstr>Comparaison des CV des antigènes qui se donnent au même moment par province  RDC, Janvier-Octobre 2025</vt:lpstr>
      <vt:lpstr>Comparaison des CV de VAR 2024 et 2025 par province   RDC, Janvier-Octobre 2025</vt:lpstr>
      <vt:lpstr>Comparaison des CV des antigènes qui se donnent au même moment par province  RDC, Janvier-Octobre 2025</vt:lpstr>
      <vt:lpstr>Triangulation des données DTC3 selon différentes sources</vt:lpstr>
      <vt:lpstr>PowerPoint 演示文稿</vt:lpstr>
      <vt:lpstr>PowerPoint 演示文稿</vt:lpstr>
      <vt:lpstr>PowerPoint 演示文稿</vt:lpstr>
      <vt:lpstr>PowerPoint 演示文稿</vt:lpstr>
      <vt:lpstr>Merci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Papy Tshij</cp:lastModifiedBy>
  <cp:revision>200</cp:revision>
  <dcterms:created xsi:type="dcterms:W3CDTF">2025-07-23T00:59:00Z</dcterms:created>
  <dcterms:modified xsi:type="dcterms:W3CDTF">2025-12-14T05:35:41Z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1033-12.2.0.23155</vt:lpwstr>
  </property>
  <property fmtid="{D5CDD505-2E9C-101B-9397-08002B2CF9AE}" pid="3" name="ICV">
    <vt:lpwstr>660B6B08150D47D28CC74F278AEBE4A4_13</vt:lpwstr>
  </property>
</Properties>
</file>