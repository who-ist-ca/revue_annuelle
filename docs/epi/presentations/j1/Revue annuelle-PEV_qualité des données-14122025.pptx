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tags/tag17.xml" ContentType="application/vnd.openxmlformats-officedocument.presentationml.tags+xml"/>
  <Override PartName="/ppt/notesSlides/notesSlide7.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theme/themeOverride1.xml" ContentType="application/vnd.openxmlformats-officedocument.themeOverride+xml"/>
  <Override PartName="/ppt/notesSlides/notesSlide9.xml" ContentType="application/vnd.openxmlformats-officedocument.presentationml.notesSlide+xml"/>
  <Override PartName="/ppt/charts/chart6.xml" ContentType="application/vnd.openxmlformats-officedocument.drawingml.chart+xml"/>
  <Override PartName="/ppt/theme/themeOverride2.xml" ContentType="application/vnd.openxmlformats-officedocument.themeOverride+xml"/>
  <Override PartName="/ppt/notesSlides/notesSlide10.xml" ContentType="application/vnd.openxmlformats-officedocument.presentationml.notesSlide+xml"/>
  <Override PartName="/ppt/charts/chart7.xml" ContentType="application/vnd.openxmlformats-officedocument.drawingml.chart+xml"/>
  <Override PartName="/ppt/theme/themeOverride3.xml" ContentType="application/vnd.openxmlformats-officedocument.themeOverride+xml"/>
  <Override PartName="/ppt/notesSlides/notesSlide1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258" r:id="rId2"/>
    <p:sldId id="293" r:id="rId3"/>
    <p:sldId id="351" r:id="rId4"/>
    <p:sldId id="291" r:id="rId5"/>
    <p:sldId id="297" r:id="rId6"/>
    <p:sldId id="298" r:id="rId7"/>
    <p:sldId id="299" r:id="rId8"/>
    <p:sldId id="300" r:id="rId9"/>
    <p:sldId id="335" r:id="rId10"/>
    <p:sldId id="350" r:id="rId11"/>
    <p:sldId id="336" r:id="rId12"/>
    <p:sldId id="337" r:id="rId13"/>
    <p:sldId id="338" r:id="rId14"/>
    <p:sldId id="339" r:id="rId15"/>
    <p:sldId id="340" r:id="rId16"/>
    <p:sldId id="341" r:id="rId17"/>
    <p:sldId id="342" r:id="rId18"/>
    <p:sldId id="343" r:id="rId19"/>
    <p:sldId id="349" r:id="rId20"/>
    <p:sldId id="346" r:id="rId21"/>
    <p:sldId id="347" r:id="rId22"/>
    <p:sldId id="302" r:id="rId23"/>
    <p:sldId id="303" r:id="rId24"/>
    <p:sldId id="305" r:id="rId25"/>
    <p:sldId id="306" r:id="rId26"/>
    <p:sldId id="307" r:id="rId27"/>
    <p:sldId id="348" r:id="rId28"/>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na Seminara" initials="NS" lastIdx="0" clrIdx="0"/>
  <p:cmAuthor id="2" name="Ashley Hartz" initials="AH" lastIdx="0" clrIdx="1"/>
  <p:cmAuthor id="3" name="Samera Zaidi" initials="SZ" lastIdx="0" clrIdx="2"/>
  <p:cmAuthor id="4" name="Kaitlin Love" initials="KL" lastIdx="0" clrIdx="3"/>
  <p:cmAuthor id="5" name="Jordan Freeman" initials="JF" lastIdx="0" clrIdx="4"/>
  <p:cmAuthor id="6" name="Leila Scott" initials="LS" lastIdx="0" clrIdx="5"/>
  <p:cmAuthor id="7" name="Mona Korsgard" initials="MK" lastIdx="0" clrIdx="6"/>
  <p:cmAuthor id="8" name="Emma Vincent" initials="EV" lastIdx="0" clrIdx="7"/>
  <p:cmAuthor id="9" name="Juan Andres Gil" initials="JAG" lastIdx="0" clrIdx="8"/>
  <p:cmAuthor id="10" name="Catherine Muller" initials="CM" lastIdx="0" clrIdx="9"/>
  <p:cmAuthor id="11" name="Cairn Verhulst" initials="CV" lastIdx="0" clrIdx="10"/>
  <p:cmAuthor id="12" name="Daniel Murphy" initials="DM" lastIdx="0" clrIdx="11"/>
  <p:cmAuthor id="13" name="Megan Bellinger" initials="MB" lastIdx="0" clrIdx="12"/>
  <p:cmAuthor id="14" name="Massimiliano Sani" initials="MS" lastIdx="0" clrIdx="13"/>
  <p:cmAuthor id="15" name="Jeremiah Chinodya" initials="JC" lastIdx="0" clrIdx="14"/>
  <p:cmAuthor id="16" name="Loveness Chimombe" initials="LC" lastIdx="0" clrIdx="15"/>
  <p:cmAuthor id="17" name="Hollis Henry" initials="HH" lastIdx="0" clrIdx="16"/>
  <p:cmAuthor id="18" name="UNICEF ESARO" initials="UNICEF" lastIdx="0" clrIdx="17"/>
  <p:cmAuthor id="19" name="Sanya Batra" initials="SB" lastIdx="0" clrIdx="18"/>
  <p:cmAuthor id="20" name="Marika Klein" initials="MK" lastIdx="0" clrIdx="19"/>
  <p:cmAuthor id="21" name="Seth Messinger" initials="SM" lastIdx="0" clrIdx="20"/>
  <p:cmAuthor id="22" name="Sandra Sonia Dupuy" initials="SSD"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4224F8"/>
    <a:srgbClr val="CC3300"/>
    <a:srgbClr val="CC0000"/>
    <a:srgbClr val="FF6600"/>
    <a:srgbClr val="B2B2B2"/>
    <a:srgbClr val="202020"/>
    <a:srgbClr val="323232"/>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1" autoAdjust="0"/>
    <p:restoredTop sz="94660"/>
  </p:normalViewPr>
  <p:slideViewPr>
    <p:cSldViewPr snapToGrid="0" showGuides="1">
      <p:cViewPr varScale="1">
        <p:scale>
          <a:sx n="99" d="100"/>
          <a:sy n="99" d="100"/>
        </p:scale>
        <p:origin x="1152" y="30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enovo\Downloads\data%20(27).xls"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najma\OneDrive\Documents\PEV%20DE%20ROUTINE\Routine_RDC_%202025%20DPS\RDC_CV%20Cumul&#233;e%20par%20Province_2025%20DPS.xls"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najma\OneDrive\Documents\PEV%20DE%20ROUTINE\Routine_RDC_%202025%20DPS\RDC_CV%20Cumul&#233;e%20par%20Province_2025%20DPS.xls"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najma\OneDrive\Documents\PEV%20DE%20ROUTINE\Routine_RDC_%202025%20DPS\RDC_CV%20Cumul&#233;e%20par%20Province_2025%20DPS.xls"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cat>
            <c:multiLvlStrRef>
              <c:f>'[data (27).xls]Feuille4'!$E$12:$F$75</c:f>
              <c:multiLvlStrCache>
                <c:ptCount val="64"/>
                <c:lvl>
                  <c:pt idx="0">
                    <c:v>Décaissement tardif</c:v>
                  </c:pt>
                  <c:pt idx="1">
                    <c:v>Fond non disponible </c:v>
                  </c:pt>
                  <c:pt idx="2">
                    <c:v>Insécurité</c:v>
                  </c:pt>
                  <c:pt idx="3">
                    <c:v>Grève</c:v>
                  </c:pt>
                  <c:pt idx="4">
                    <c:v>Surcharge du Tavail </c:v>
                  </c:pt>
                  <c:pt idx="5">
                    <c:v>Mauvaise gestion des fonds</c:v>
                  </c:pt>
                  <c:pt idx="6">
                    <c:v>Lourdeurs procédures </c:v>
                  </c:pt>
                  <c:pt idx="7">
                    <c:v>Manque de personnel qualifié</c:v>
                  </c:pt>
                  <c:pt idx="8">
                    <c:v>Décaissement tardif</c:v>
                  </c:pt>
                  <c:pt idx="9">
                    <c:v>Fond non disponible </c:v>
                  </c:pt>
                  <c:pt idx="10">
                    <c:v>Insécurité</c:v>
                  </c:pt>
                  <c:pt idx="11">
                    <c:v>Grève</c:v>
                  </c:pt>
                  <c:pt idx="12">
                    <c:v>Surcharge du Tavail </c:v>
                  </c:pt>
                  <c:pt idx="13">
                    <c:v>Mauvaise gestion des fonds</c:v>
                  </c:pt>
                  <c:pt idx="14">
                    <c:v>Lourdeurs procédures </c:v>
                  </c:pt>
                  <c:pt idx="15">
                    <c:v>Manque de personnel qualifié</c:v>
                  </c:pt>
                  <c:pt idx="16">
                    <c:v>Décaissement tardif</c:v>
                  </c:pt>
                  <c:pt idx="17">
                    <c:v>Fond non disponible </c:v>
                  </c:pt>
                  <c:pt idx="18">
                    <c:v>Insécurité</c:v>
                  </c:pt>
                  <c:pt idx="19">
                    <c:v>Grève</c:v>
                  </c:pt>
                  <c:pt idx="20">
                    <c:v>Surcharge du Tavail </c:v>
                  </c:pt>
                  <c:pt idx="21">
                    <c:v>Mauvaise gestion des fonds</c:v>
                  </c:pt>
                  <c:pt idx="22">
                    <c:v>Lourdeurs procédures </c:v>
                  </c:pt>
                  <c:pt idx="23">
                    <c:v>Manque de personnel qualifié</c:v>
                  </c:pt>
                  <c:pt idx="24">
                    <c:v>Décaissement tardif</c:v>
                  </c:pt>
                  <c:pt idx="25">
                    <c:v>Fond non disponible </c:v>
                  </c:pt>
                  <c:pt idx="26">
                    <c:v>Insécurité</c:v>
                  </c:pt>
                  <c:pt idx="27">
                    <c:v>Grève</c:v>
                  </c:pt>
                  <c:pt idx="28">
                    <c:v>Surcharge du Tavail </c:v>
                  </c:pt>
                  <c:pt idx="29">
                    <c:v>Mauvaise gestion des fonds</c:v>
                  </c:pt>
                  <c:pt idx="30">
                    <c:v>Lourdeurs procédures </c:v>
                  </c:pt>
                  <c:pt idx="31">
                    <c:v>Manque de personnel qualifié</c:v>
                  </c:pt>
                  <c:pt idx="32">
                    <c:v>Décaissement tardif</c:v>
                  </c:pt>
                  <c:pt idx="33">
                    <c:v>Fond non disponible </c:v>
                  </c:pt>
                  <c:pt idx="34">
                    <c:v>Insécurité</c:v>
                  </c:pt>
                  <c:pt idx="35">
                    <c:v>Grève</c:v>
                  </c:pt>
                  <c:pt idx="36">
                    <c:v>Surcharge du Tavail </c:v>
                  </c:pt>
                  <c:pt idx="37">
                    <c:v>Mauvaise gestion des fonds</c:v>
                  </c:pt>
                  <c:pt idx="38">
                    <c:v>Lourdeurs procédures </c:v>
                  </c:pt>
                  <c:pt idx="39">
                    <c:v>Manque de personnel qualifié</c:v>
                  </c:pt>
                  <c:pt idx="40">
                    <c:v>Décaissement tardif</c:v>
                  </c:pt>
                  <c:pt idx="41">
                    <c:v>Fond non disponible </c:v>
                  </c:pt>
                  <c:pt idx="42">
                    <c:v>Insécurité</c:v>
                  </c:pt>
                  <c:pt idx="43">
                    <c:v>Grève</c:v>
                  </c:pt>
                  <c:pt idx="44">
                    <c:v>Surcharge du Tavail </c:v>
                  </c:pt>
                  <c:pt idx="45">
                    <c:v>Mauvaise gestion des fonds</c:v>
                  </c:pt>
                  <c:pt idx="46">
                    <c:v>Lourdeurs procédures </c:v>
                  </c:pt>
                  <c:pt idx="47">
                    <c:v>Manque de personnel qualifié</c:v>
                  </c:pt>
                  <c:pt idx="48">
                    <c:v>Décaissement tardif</c:v>
                  </c:pt>
                  <c:pt idx="49">
                    <c:v>Fond non disponible </c:v>
                  </c:pt>
                  <c:pt idx="50">
                    <c:v>Insécurité</c:v>
                  </c:pt>
                  <c:pt idx="51">
                    <c:v>Grève</c:v>
                  </c:pt>
                  <c:pt idx="52">
                    <c:v>Surcharge du Tavail </c:v>
                  </c:pt>
                  <c:pt idx="53">
                    <c:v>Mauvaise gestion des fonds</c:v>
                  </c:pt>
                  <c:pt idx="54">
                    <c:v>Lourdeurs procédures </c:v>
                  </c:pt>
                  <c:pt idx="55">
                    <c:v>Manque de personnel qualifié</c:v>
                  </c:pt>
                  <c:pt idx="56">
                    <c:v>Décaissement tardif</c:v>
                  </c:pt>
                  <c:pt idx="57">
                    <c:v>Fond non disponible </c:v>
                  </c:pt>
                  <c:pt idx="58">
                    <c:v>Insécurité</c:v>
                  </c:pt>
                  <c:pt idx="59">
                    <c:v>Grève</c:v>
                  </c:pt>
                  <c:pt idx="60">
                    <c:v>Surcharge du Tavail </c:v>
                  </c:pt>
                  <c:pt idx="61">
                    <c:v>Mauvaise gestion des fonds</c:v>
                  </c:pt>
                  <c:pt idx="62">
                    <c:v>Lourdeurs procédures </c:v>
                  </c:pt>
                  <c:pt idx="63">
                    <c:v>Manque de personnel qualifié</c:v>
                  </c:pt>
                </c:lvl>
                <c:lvl>
                  <c:pt idx="0">
                    <c:v>Prestation </c:v>
                  </c:pt>
                  <c:pt idx="8">
                    <c:v>Logistique / chaîne de froid</c:v>
                  </c:pt>
                  <c:pt idx="16">
                    <c:v>Surveillance épidémiologique</c:v>
                  </c:pt>
                  <c:pt idx="24">
                    <c:v>Gestion du Programme  </c:v>
                  </c:pt>
                  <c:pt idx="32">
                    <c:v>Génération de la demande</c:v>
                  </c:pt>
                  <c:pt idx="40">
                    <c:v>AVS</c:v>
                  </c:pt>
                  <c:pt idx="48">
                    <c:v>Qualité des données </c:v>
                  </c:pt>
                  <c:pt idx="56">
                    <c:v>Prestation </c:v>
                  </c:pt>
                </c:lvl>
              </c:multiLvlStrCache>
            </c:multiLvlStrRef>
          </c:cat>
          <c:val>
            <c:numRef>
              <c:f>'[data (27).xls]Feuille4'!$G$12:$G$75</c:f>
              <c:numCache>
                <c:formatCode>0%</c:formatCode>
                <c:ptCount val="64"/>
                <c:pt idx="0">
                  <c:v>0.12</c:v>
                </c:pt>
                <c:pt idx="1">
                  <c:v>0.4</c:v>
                </c:pt>
                <c:pt idx="2">
                  <c:v>0.2</c:v>
                </c:pt>
                <c:pt idx="3">
                  <c:v>0.32</c:v>
                </c:pt>
                <c:pt idx="4">
                  <c:v>0.36</c:v>
                </c:pt>
                <c:pt idx="5">
                  <c:v>0.4</c:v>
                </c:pt>
                <c:pt idx="6">
                  <c:v>0.44</c:v>
                </c:pt>
                <c:pt idx="7">
                  <c:v>0.48</c:v>
                </c:pt>
                <c:pt idx="8">
                  <c:v>0.52</c:v>
                </c:pt>
                <c:pt idx="9">
                  <c:v>0.56000000000000005</c:v>
                </c:pt>
                <c:pt idx="10">
                  <c:v>0.6</c:v>
                </c:pt>
                <c:pt idx="11">
                  <c:v>0.64</c:v>
                </c:pt>
                <c:pt idx="12">
                  <c:v>0.44</c:v>
                </c:pt>
                <c:pt idx="13">
                  <c:v>0.48</c:v>
                </c:pt>
                <c:pt idx="14">
                  <c:v>0.52</c:v>
                </c:pt>
                <c:pt idx="15">
                  <c:v>0.56000000000000005</c:v>
                </c:pt>
                <c:pt idx="16">
                  <c:v>0.6</c:v>
                </c:pt>
                <c:pt idx="17">
                  <c:v>0.64</c:v>
                </c:pt>
                <c:pt idx="18">
                  <c:v>0.44</c:v>
                </c:pt>
                <c:pt idx="19">
                  <c:v>0.48</c:v>
                </c:pt>
                <c:pt idx="20">
                  <c:v>0.52</c:v>
                </c:pt>
                <c:pt idx="21">
                  <c:v>0.56000000000000005</c:v>
                </c:pt>
                <c:pt idx="22">
                  <c:v>0.6</c:v>
                </c:pt>
                <c:pt idx="23">
                  <c:v>0.64</c:v>
                </c:pt>
                <c:pt idx="24">
                  <c:v>0.44</c:v>
                </c:pt>
                <c:pt idx="25">
                  <c:v>0.48</c:v>
                </c:pt>
                <c:pt idx="26">
                  <c:v>0.52</c:v>
                </c:pt>
                <c:pt idx="27">
                  <c:v>0.56000000000000005</c:v>
                </c:pt>
                <c:pt idx="28">
                  <c:v>0.6</c:v>
                </c:pt>
                <c:pt idx="29">
                  <c:v>0.64</c:v>
                </c:pt>
                <c:pt idx="30">
                  <c:v>0.44</c:v>
                </c:pt>
                <c:pt idx="31">
                  <c:v>0.48</c:v>
                </c:pt>
                <c:pt idx="32">
                  <c:v>0.52</c:v>
                </c:pt>
                <c:pt idx="33">
                  <c:v>0.56000000000000005</c:v>
                </c:pt>
                <c:pt idx="34">
                  <c:v>0.6</c:v>
                </c:pt>
                <c:pt idx="35">
                  <c:v>0.64</c:v>
                </c:pt>
                <c:pt idx="36">
                  <c:v>0.44</c:v>
                </c:pt>
                <c:pt idx="37">
                  <c:v>0.48</c:v>
                </c:pt>
                <c:pt idx="38">
                  <c:v>0.52</c:v>
                </c:pt>
                <c:pt idx="39">
                  <c:v>0.56000000000000005</c:v>
                </c:pt>
                <c:pt idx="40">
                  <c:v>0.6</c:v>
                </c:pt>
                <c:pt idx="41">
                  <c:v>0.64</c:v>
                </c:pt>
                <c:pt idx="42">
                  <c:v>0.44</c:v>
                </c:pt>
                <c:pt idx="43">
                  <c:v>0.48</c:v>
                </c:pt>
                <c:pt idx="44">
                  <c:v>0.52</c:v>
                </c:pt>
                <c:pt idx="45">
                  <c:v>0.56000000000000005</c:v>
                </c:pt>
                <c:pt idx="46">
                  <c:v>0.6</c:v>
                </c:pt>
                <c:pt idx="47">
                  <c:v>0.64</c:v>
                </c:pt>
                <c:pt idx="48">
                  <c:v>0.44</c:v>
                </c:pt>
                <c:pt idx="49">
                  <c:v>0.48</c:v>
                </c:pt>
                <c:pt idx="50">
                  <c:v>0.52</c:v>
                </c:pt>
                <c:pt idx="51">
                  <c:v>0.56000000000000005</c:v>
                </c:pt>
                <c:pt idx="52">
                  <c:v>0.6</c:v>
                </c:pt>
                <c:pt idx="53">
                  <c:v>0.64</c:v>
                </c:pt>
                <c:pt idx="54">
                  <c:v>0.44</c:v>
                </c:pt>
                <c:pt idx="55">
                  <c:v>0.48</c:v>
                </c:pt>
                <c:pt idx="56">
                  <c:v>0.52</c:v>
                </c:pt>
                <c:pt idx="57">
                  <c:v>0.56000000000000005</c:v>
                </c:pt>
                <c:pt idx="58">
                  <c:v>0.6</c:v>
                </c:pt>
                <c:pt idx="59">
                  <c:v>0.64</c:v>
                </c:pt>
                <c:pt idx="60">
                  <c:v>0.44</c:v>
                </c:pt>
                <c:pt idx="61">
                  <c:v>0.48</c:v>
                </c:pt>
                <c:pt idx="62">
                  <c:v>0.52</c:v>
                </c:pt>
                <c:pt idx="63">
                  <c:v>0.56000000000000005</c:v>
                </c:pt>
              </c:numCache>
            </c:numRef>
          </c:val>
          <c:extLst>
            <c:ext xmlns:c16="http://schemas.microsoft.com/office/drawing/2014/chart" uri="{C3380CC4-5D6E-409C-BE32-E72D297353CC}">
              <c16:uniqueId val="{00000000-BE65-40D2-A971-40A7DA741806}"/>
            </c:ext>
          </c:extLst>
        </c:ser>
        <c:dLbls>
          <c:showLegendKey val="0"/>
          <c:showVal val="0"/>
          <c:showCatName val="0"/>
          <c:showSerName val="0"/>
          <c:showPercent val="0"/>
          <c:showBubbleSize val="0"/>
        </c:dLbls>
        <c:gapWidth val="246"/>
        <c:overlap val="-28"/>
        <c:axId val="125747352"/>
        <c:axId val="125744608"/>
      </c:barChart>
      <c:catAx>
        <c:axId val="125747352"/>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fr-FR" sz="900" b="0" i="0" u="none" strike="noStrike" kern="1200" baseline="0">
                <a:solidFill>
                  <a:schemeClr val="tx1">
                    <a:lumMod val="65000"/>
                    <a:lumOff val="35000"/>
                  </a:schemeClr>
                </a:solidFill>
                <a:latin typeface="+mn-lt"/>
                <a:ea typeface="+mn-ea"/>
                <a:cs typeface="+mn-cs"/>
              </a:defRPr>
            </a:pPr>
            <a:endParaRPr lang="fr-FR"/>
          </a:p>
        </c:txPr>
        <c:crossAx val="125744608"/>
        <c:crosses val="autoZero"/>
        <c:auto val="1"/>
        <c:lblAlgn val="ctr"/>
        <c:lblOffset val="100"/>
        <c:noMultiLvlLbl val="0"/>
      </c:catAx>
      <c:valAx>
        <c:axId val="125744608"/>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fr-FR" sz="900" b="0" i="0" u="none" strike="noStrike" kern="1200" baseline="0">
                <a:solidFill>
                  <a:schemeClr val="tx1">
                    <a:lumMod val="65000"/>
                    <a:lumOff val="35000"/>
                  </a:schemeClr>
                </a:solidFill>
                <a:latin typeface="+mn-lt"/>
                <a:ea typeface="+mn-ea"/>
                <a:cs typeface="+mn-cs"/>
              </a:defRPr>
            </a:pPr>
            <a:endParaRPr lang="fr-FR"/>
          </a:p>
        </c:txPr>
        <c:crossAx val="125747352"/>
        <c:crosses val="autoZero"/>
        <c:crossBetween val="between"/>
      </c:valAx>
      <c:spPr>
        <a:noFill/>
        <a:ln>
          <a:noFill/>
        </a:ln>
        <a:effectLst/>
      </c:spPr>
    </c:plotArea>
    <c:plotVisOnly val="1"/>
    <c:dispBlanksAs val="gap"/>
    <c:showDLblsOverMax val="0"/>
    <c:extLst>
      <c:ext uri="{0b15fc19-7d7d-44ad-8c2d-2c3a37ce22c3}">
        <chartProps xmlns="https://web.wps.cn/et/2018/main" chartId="{2ed10170-587b-49ed-a254-5f6e995e0954}"/>
      </c:ext>
    </c:extLst>
  </c:chart>
  <c:spPr>
    <a:solidFill>
      <a:schemeClr val="bg1"/>
    </a:solidFill>
    <a:ln w="9525" cap="flat" cmpd="sng" algn="ctr">
      <a:solidFill>
        <a:schemeClr val="tx1">
          <a:lumMod val="15000"/>
          <a:lumOff val="85000"/>
        </a:schemeClr>
      </a:solidFill>
      <a:round/>
    </a:ln>
    <a:effectLst/>
  </c:spPr>
  <c:txPr>
    <a:bodyPr/>
    <a:lstStyle/>
    <a:p>
      <a:pPr>
        <a:defRPr lang="fr-F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8959319942716E-2"/>
          <c:y val="1.8173076372711199E-2"/>
          <c:w val="0.94195022140714202"/>
          <c:h val="0.93094580766366397"/>
        </c:manualLayout>
      </c:layout>
      <c:lineChart>
        <c:grouping val="standard"/>
        <c:varyColors val="0"/>
        <c:ser>
          <c:idx val="0"/>
          <c:order val="0"/>
          <c:tx>
            <c:strRef>
              <c:f>'Données  DTC3 sup 100 '!$B$3</c:f>
              <c:strCache>
                <c:ptCount val="1"/>
                <c:pt idx="0">
                  <c:v>CV &gt;100%</c:v>
                </c:pt>
              </c:strCache>
            </c:strRef>
          </c:tx>
          <c:spPr>
            <a:ln w="28575" cap="rnd" cmpd="sng" algn="ctr">
              <a:solidFill>
                <a:schemeClr val="accent1"/>
              </a:solidFill>
              <a:prstDash val="solid"/>
              <a:round/>
            </a:ln>
            <a:effectLst/>
          </c:spPr>
          <c:marker>
            <c:symbol val="circle"/>
            <c:size val="5"/>
            <c:spPr>
              <a:solidFill>
                <a:schemeClr val="accent1"/>
              </a:solidFill>
              <a:ln w="9525" cap="flat" cmpd="sng" algn="ctr">
                <a:solidFill>
                  <a:schemeClr val="accent1"/>
                </a:solidFill>
                <a:prstDash val="solid"/>
                <a:round/>
              </a:ln>
              <a:effectLst/>
            </c:spPr>
          </c:marker>
          <c:dLbls>
            <c:spPr>
              <a:noFill/>
              <a:ln w="25400">
                <a:noFill/>
              </a:ln>
              <a:effectLst/>
            </c:spPr>
            <c:txPr>
              <a:bodyPr rot="0" spcFirstLastPara="0" vertOverflow="ellipsis" vert="horz" wrap="square" lIns="38100" tIns="19050" rIns="38100" bIns="19050" anchor="ctr" anchorCtr="1">
                <a:spAutoFit/>
              </a:bodyPr>
              <a:lstStyle/>
              <a:p>
                <a:pPr>
                  <a:defRPr lang="en-US" sz="1200" b="0" i="0" u="none" strike="noStrike" kern="1200" baseline="0">
                    <a:solidFill>
                      <a:srgbClr val="0066CC"/>
                    </a:solidFill>
                    <a:latin typeface="Calibri" panose="020F0502020204030204"/>
                    <a:ea typeface="Calibri" panose="020F0502020204030204"/>
                    <a:cs typeface="Calibri" panose="020F0502020204030204"/>
                  </a:defRPr>
                </a:pPr>
                <a:endParaRPr lang="fr-FR"/>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'Données  DTC3 sup 100 '!$A$4:$A$9</c:f>
              <c:numCache>
                <c:formatCode>General</c:formatCode>
                <c:ptCount val="6"/>
                <c:pt idx="0">
                  <c:v>2020</c:v>
                </c:pt>
                <c:pt idx="1">
                  <c:v>2021</c:v>
                </c:pt>
                <c:pt idx="2">
                  <c:v>2022</c:v>
                </c:pt>
                <c:pt idx="3">
                  <c:v>2023</c:v>
                </c:pt>
                <c:pt idx="4">
                  <c:v>2024</c:v>
                </c:pt>
                <c:pt idx="5">
                  <c:v>2025</c:v>
                </c:pt>
              </c:numCache>
            </c:numRef>
          </c:cat>
          <c:val>
            <c:numRef>
              <c:f>'Données  DTC3 sup 100 '!$B$4:$B$9</c:f>
              <c:numCache>
                <c:formatCode>General</c:formatCode>
                <c:ptCount val="6"/>
                <c:pt idx="0">
                  <c:v>124</c:v>
                </c:pt>
                <c:pt idx="1">
                  <c:v>81</c:v>
                </c:pt>
                <c:pt idx="2">
                  <c:v>137</c:v>
                </c:pt>
                <c:pt idx="3">
                  <c:v>146</c:v>
                </c:pt>
                <c:pt idx="4">
                  <c:v>161</c:v>
                </c:pt>
                <c:pt idx="5">
                  <c:v>205</c:v>
                </c:pt>
              </c:numCache>
            </c:numRef>
          </c:val>
          <c:smooth val="0"/>
          <c:extLst>
            <c:ext xmlns:c16="http://schemas.microsoft.com/office/drawing/2014/chart" uri="{C3380CC4-5D6E-409C-BE32-E72D297353CC}">
              <c16:uniqueId val="{00000000-F56C-4ECD-83A7-9514485E720C}"/>
            </c:ext>
          </c:extLst>
        </c:ser>
        <c:dLbls>
          <c:showLegendKey val="0"/>
          <c:showVal val="0"/>
          <c:showCatName val="0"/>
          <c:showSerName val="0"/>
          <c:showPercent val="0"/>
          <c:showBubbleSize val="0"/>
        </c:dLbls>
        <c:marker val="1"/>
        <c:smooth val="0"/>
        <c:axId val="125745392"/>
        <c:axId val="125746568"/>
      </c:lineChart>
      <c:catAx>
        <c:axId val="125745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0" spcFirstLastPara="0" vertOverflow="ellipsis" vert="horz" wrap="square" anchor="ctr" anchorCtr="1"/>
          <a:lstStyle/>
          <a:p>
            <a:pPr>
              <a:defRPr lang="en-US" sz="900" b="0" i="0" u="none" strike="noStrike" kern="1200" baseline="0">
                <a:solidFill>
                  <a:srgbClr val="333333"/>
                </a:solidFill>
                <a:latin typeface="Calibri" panose="020F0502020204030204"/>
                <a:ea typeface="Calibri" panose="020F0502020204030204"/>
                <a:cs typeface="Calibri" panose="020F0502020204030204"/>
              </a:defRPr>
            </a:pPr>
            <a:endParaRPr lang="fr-FR"/>
          </a:p>
        </c:txPr>
        <c:crossAx val="125746568"/>
        <c:crosses val="autoZero"/>
        <c:auto val="1"/>
        <c:lblAlgn val="ctr"/>
        <c:lblOffset val="100"/>
        <c:noMultiLvlLbl val="0"/>
      </c:catAx>
      <c:valAx>
        <c:axId val="125746568"/>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ln w="9525" cap="flat" cmpd="sng" algn="ctr">
            <a:noFill/>
            <a:prstDash val="solid"/>
            <a:round/>
          </a:ln>
        </c:spPr>
        <c:txPr>
          <a:bodyPr rot="0" spcFirstLastPara="0" vertOverflow="ellipsis" vert="horz" wrap="square" anchor="ctr" anchorCtr="1"/>
          <a:lstStyle/>
          <a:p>
            <a:pPr>
              <a:defRPr lang="en-US" sz="900" b="0" i="0" u="none" strike="noStrike" kern="1200" baseline="0">
                <a:solidFill>
                  <a:srgbClr val="333333"/>
                </a:solidFill>
                <a:latin typeface="Calibri" panose="020F0502020204030204"/>
                <a:ea typeface="Calibri" panose="020F0502020204030204"/>
                <a:cs typeface="Calibri" panose="020F0502020204030204"/>
              </a:defRPr>
            </a:pPr>
            <a:endParaRPr lang="fr-FR"/>
          </a:p>
        </c:txPr>
        <c:crossAx val="125745392"/>
        <c:crosses val="autoZero"/>
        <c:crossBetween val="between"/>
      </c:valAx>
      <c:spPr>
        <a:noFill/>
        <a:ln w="25400">
          <a:noFill/>
        </a:ln>
      </c:spPr>
    </c:plotArea>
    <c:plotVisOnly val="1"/>
    <c:dispBlanksAs val="gap"/>
    <c:showDLblsOverMax val="0"/>
    <c:extLst>
      <c:ext uri="{0b15fc19-7d7d-44ad-8c2d-2c3a37ce22c3}">
        <chartProps xmlns="https://web.wps.cn/et/2018/main" chartId="{c20c9b04-9a5c-4a17-b79a-fcb1b1dfb9ab}"/>
      </c:ext>
    </c:extLst>
  </c:chart>
  <c:spPr>
    <a:solidFill>
      <a:schemeClr val="bg1"/>
    </a:solidFill>
    <a:ln w="9525" cap="flat" cmpd="sng" algn="ctr">
      <a:solidFill>
        <a:schemeClr val="tx1">
          <a:lumMod val="15000"/>
          <a:lumOff val="85000"/>
        </a:schemeClr>
      </a:solidFill>
      <a:round/>
    </a:ln>
    <a:effectLst/>
  </c:spPr>
  <c:txPr>
    <a:bodyPr/>
    <a:lstStyle/>
    <a:p>
      <a:pPr>
        <a:defRPr lang="en-US" sz="1000" b="0" i="0" u="none" strike="noStrike" baseline="0">
          <a:solidFill>
            <a:srgbClr val="000000"/>
          </a:solidFill>
          <a:latin typeface="Calibri" panose="020F0502020204030204"/>
          <a:ea typeface="Calibri" panose="020F0502020204030204"/>
          <a:cs typeface="Calibri" panose="020F0502020204030204"/>
        </a:defRPr>
      </a:pPr>
      <a:endParaRPr lang="fr-F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'EV Tx néga'!$B$2</c:f>
              <c:strCache>
                <c:ptCount val="1"/>
                <c:pt idx="0">
                  <c:v>Tx Ab négatif</c:v>
                </c:pt>
              </c:strCache>
            </c:strRef>
          </c:tx>
          <c:spPr>
            <a:ln w="28575" cap="rnd" cmpd="sng" algn="ctr">
              <a:solidFill>
                <a:schemeClr val="accent1"/>
              </a:solidFill>
              <a:prstDash val="solid"/>
              <a:round/>
            </a:ln>
            <a:effectLst/>
          </c:spPr>
          <c:marker>
            <c:symbol val="circle"/>
            <c:size val="5"/>
            <c:spPr>
              <a:solidFill>
                <a:schemeClr val="accent1"/>
              </a:solidFill>
              <a:ln w="9525" cap="flat" cmpd="sng" algn="ctr">
                <a:solidFill>
                  <a:schemeClr val="accent1"/>
                </a:solidFill>
                <a:prstDash val="solid"/>
                <a:round/>
              </a:ln>
              <a:effectLst/>
            </c:spPr>
          </c:marker>
          <c:dLbls>
            <c:spPr>
              <a:noFill/>
              <a:ln w="25400">
                <a:noFill/>
              </a:ln>
              <a:effectLst/>
            </c:spPr>
            <c:txPr>
              <a:bodyPr rot="0" spcFirstLastPara="0" vertOverflow="ellipsis" vert="horz" wrap="square" lIns="38100" tIns="19050" rIns="38100" bIns="19050" anchor="ctr" anchorCtr="1">
                <a:spAutoFit/>
              </a:bodyPr>
              <a:lstStyle/>
              <a:p>
                <a:pPr>
                  <a:defRPr lang="en-US" sz="1600" b="1" i="0" u="none" strike="noStrike" kern="1200" baseline="0">
                    <a:solidFill>
                      <a:srgbClr val="0066CC"/>
                    </a:solidFill>
                    <a:latin typeface="Calibri" panose="020F0502020204030204"/>
                    <a:ea typeface="Calibri" panose="020F0502020204030204"/>
                    <a:cs typeface="Calibri" panose="020F0502020204030204"/>
                  </a:defRPr>
                </a:pPr>
                <a:endParaRPr lang="fr-FR"/>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'EV Tx néga'!$A$3:$A$8</c:f>
              <c:numCache>
                <c:formatCode>General</c:formatCode>
                <c:ptCount val="6"/>
                <c:pt idx="0">
                  <c:v>2020</c:v>
                </c:pt>
                <c:pt idx="1">
                  <c:v>2021</c:v>
                </c:pt>
                <c:pt idx="2">
                  <c:v>2022</c:v>
                </c:pt>
                <c:pt idx="3">
                  <c:v>2023</c:v>
                </c:pt>
                <c:pt idx="4">
                  <c:v>2024</c:v>
                </c:pt>
                <c:pt idx="5">
                  <c:v>2025</c:v>
                </c:pt>
              </c:numCache>
            </c:numRef>
          </c:cat>
          <c:val>
            <c:numRef>
              <c:f>'EV Tx néga'!$B$3:$B$8</c:f>
              <c:numCache>
                <c:formatCode>General</c:formatCode>
                <c:ptCount val="6"/>
                <c:pt idx="0">
                  <c:v>9</c:v>
                </c:pt>
                <c:pt idx="1">
                  <c:v>29</c:v>
                </c:pt>
                <c:pt idx="2">
                  <c:v>7</c:v>
                </c:pt>
                <c:pt idx="3">
                  <c:v>6</c:v>
                </c:pt>
                <c:pt idx="4">
                  <c:v>11</c:v>
                </c:pt>
                <c:pt idx="5">
                  <c:v>18</c:v>
                </c:pt>
              </c:numCache>
            </c:numRef>
          </c:val>
          <c:smooth val="0"/>
          <c:extLst>
            <c:ext xmlns:c16="http://schemas.microsoft.com/office/drawing/2014/chart" uri="{C3380CC4-5D6E-409C-BE32-E72D297353CC}">
              <c16:uniqueId val="{00000000-578A-4998-94AA-63AD8FB7FDD7}"/>
            </c:ext>
          </c:extLst>
        </c:ser>
        <c:dLbls>
          <c:showLegendKey val="0"/>
          <c:showVal val="0"/>
          <c:showCatName val="0"/>
          <c:showSerName val="0"/>
          <c:showPercent val="0"/>
          <c:showBubbleSize val="0"/>
        </c:dLbls>
        <c:marker val="1"/>
        <c:smooth val="0"/>
        <c:axId val="125749312"/>
        <c:axId val="125749704"/>
      </c:lineChart>
      <c:catAx>
        <c:axId val="12574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0" spcFirstLastPara="0" vertOverflow="ellipsis" vert="horz" wrap="square" anchor="ctr" anchorCtr="1"/>
          <a:lstStyle/>
          <a:p>
            <a:pPr>
              <a:defRPr lang="en-US" sz="1400" b="0" i="0" u="none" strike="noStrike" kern="1200" baseline="0">
                <a:solidFill>
                  <a:srgbClr val="000000"/>
                </a:solidFill>
                <a:latin typeface="Calibri" panose="020F0502020204030204"/>
                <a:ea typeface="Calibri" panose="020F0502020204030204"/>
                <a:cs typeface="Calibri" panose="020F0502020204030204"/>
              </a:defRPr>
            </a:pPr>
            <a:endParaRPr lang="fr-FR"/>
          </a:p>
        </c:txPr>
        <c:crossAx val="125749704"/>
        <c:crosses val="autoZero"/>
        <c:auto val="1"/>
        <c:lblAlgn val="ctr"/>
        <c:lblOffset val="100"/>
        <c:noMultiLvlLbl val="0"/>
      </c:catAx>
      <c:valAx>
        <c:axId val="125749704"/>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ln w="9525" cap="flat" cmpd="sng" algn="ctr">
            <a:noFill/>
            <a:prstDash val="solid"/>
            <a:round/>
          </a:ln>
        </c:spPr>
        <c:txPr>
          <a:bodyPr rot="0" spcFirstLastPara="0" vertOverflow="ellipsis" vert="horz" wrap="square" anchor="ctr" anchorCtr="1"/>
          <a:lstStyle/>
          <a:p>
            <a:pPr>
              <a:defRPr lang="en-US" sz="1200" b="0" i="0" u="none" strike="noStrike" kern="1200" baseline="0">
                <a:solidFill>
                  <a:srgbClr val="333333"/>
                </a:solidFill>
                <a:latin typeface="Calibri" panose="020F0502020204030204"/>
                <a:ea typeface="Calibri" panose="020F0502020204030204"/>
                <a:cs typeface="Calibri" panose="020F0502020204030204"/>
              </a:defRPr>
            </a:pPr>
            <a:endParaRPr lang="fr-FR"/>
          </a:p>
        </c:txPr>
        <c:crossAx val="125749312"/>
        <c:crosses val="autoZero"/>
        <c:crossBetween val="between"/>
      </c:valAx>
      <c:spPr>
        <a:noFill/>
        <a:ln w="25400">
          <a:noFill/>
        </a:ln>
      </c:spPr>
    </c:plotArea>
    <c:plotVisOnly val="1"/>
    <c:dispBlanksAs val="gap"/>
    <c:showDLblsOverMax val="0"/>
    <c:extLst>
      <c:ext uri="{0b15fc19-7d7d-44ad-8c2d-2c3a37ce22c3}">
        <chartProps xmlns="https://web.wps.cn/et/2018/main" chartId="{9505628b-06c1-4d4f-a820-bf69f0b94b5d}"/>
      </c:ext>
    </c:extLst>
  </c:chart>
  <c:spPr>
    <a:solidFill>
      <a:schemeClr val="bg1"/>
    </a:solidFill>
    <a:ln w="9525" cap="flat" cmpd="sng" algn="ctr">
      <a:solidFill>
        <a:schemeClr val="tx1">
          <a:lumMod val="15000"/>
          <a:lumOff val="85000"/>
        </a:schemeClr>
      </a:solidFill>
      <a:round/>
    </a:ln>
    <a:effectLst/>
  </c:spPr>
  <c:txPr>
    <a:bodyPr/>
    <a:lstStyle/>
    <a:p>
      <a:pPr>
        <a:defRPr lang="en-US" sz="1000" b="0" i="0" u="none" strike="noStrike" baseline="0">
          <a:solidFill>
            <a:srgbClr val="000000"/>
          </a:solidFill>
          <a:latin typeface="Calibri" panose="020F0502020204030204"/>
          <a:ea typeface="Calibri" panose="020F0502020204030204"/>
          <a:cs typeface="Calibri" panose="020F0502020204030204"/>
        </a:defRPr>
      </a:pPr>
      <a:endParaRPr lang="fr-F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'CV RDC 1995-2024 '!$A$17</c:f>
              <c:strCache>
                <c:ptCount val="1"/>
                <c:pt idx="0">
                  <c:v>Cible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'CV RDC 1995-2024 '!$B$16:$G$16</c:f>
              <c:numCache>
                <c:formatCode>_-* #,##0\ _F_-;\-* #,##0\ _F_-;_-* "-"??\ _F_-;_-@_-</c:formatCode>
                <c:ptCount val="6"/>
                <c:pt idx="0">
                  <c:v>2020</c:v>
                </c:pt>
                <c:pt idx="1">
                  <c:v>2021</c:v>
                </c:pt>
                <c:pt idx="2">
                  <c:v>2022</c:v>
                </c:pt>
                <c:pt idx="3">
                  <c:v>2023</c:v>
                </c:pt>
                <c:pt idx="4">
                  <c:v>2024</c:v>
                </c:pt>
                <c:pt idx="5">
                  <c:v>2025</c:v>
                </c:pt>
              </c:numCache>
            </c:numRef>
          </c:cat>
          <c:val>
            <c:numRef>
              <c:f>'CV RDC 1995-2024 '!$B$17:$G$17</c:f>
              <c:numCache>
                <c:formatCode>_-* #,##0\ _F_-;\-* #,##0\ _F_-;_-* "-"??\ _F_-;_-@_-</c:formatCode>
                <c:ptCount val="6"/>
                <c:pt idx="0">
                  <c:v>3921467</c:v>
                </c:pt>
                <c:pt idx="1">
                  <c:v>4081418</c:v>
                </c:pt>
                <c:pt idx="2">
                  <c:v>4211597</c:v>
                </c:pt>
                <c:pt idx="3" formatCode="General">
                  <c:v>4324938</c:v>
                </c:pt>
                <c:pt idx="4" formatCode="General">
                  <c:v>4487354</c:v>
                </c:pt>
                <c:pt idx="5">
                  <c:v>4083987.5</c:v>
                </c:pt>
              </c:numCache>
            </c:numRef>
          </c:val>
          <c:smooth val="0"/>
          <c:extLst>
            <c:ext xmlns:c16="http://schemas.microsoft.com/office/drawing/2014/chart" uri="{C3380CC4-5D6E-409C-BE32-E72D297353CC}">
              <c16:uniqueId val="{00000000-DB5B-4ED8-A6A3-2A34A6F75BFD}"/>
            </c:ext>
          </c:extLst>
        </c:ser>
        <c:ser>
          <c:idx val="1"/>
          <c:order val="1"/>
          <c:tx>
            <c:strRef>
              <c:f>'CV RDC 1995-2024 '!$A$18</c:f>
              <c:strCache>
                <c:ptCount val="1"/>
                <c:pt idx="0">
                  <c:v>DTC-HepB-Hib1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'CV RDC 1995-2024 '!$B$16:$G$16</c:f>
              <c:numCache>
                <c:formatCode>_-* #,##0\ _F_-;\-* #,##0\ _F_-;_-* "-"??\ _F_-;_-@_-</c:formatCode>
                <c:ptCount val="6"/>
                <c:pt idx="0">
                  <c:v>2020</c:v>
                </c:pt>
                <c:pt idx="1">
                  <c:v>2021</c:v>
                </c:pt>
                <c:pt idx="2">
                  <c:v>2022</c:v>
                </c:pt>
                <c:pt idx="3">
                  <c:v>2023</c:v>
                </c:pt>
                <c:pt idx="4">
                  <c:v>2024</c:v>
                </c:pt>
                <c:pt idx="5">
                  <c:v>2025</c:v>
                </c:pt>
              </c:numCache>
            </c:numRef>
          </c:cat>
          <c:val>
            <c:numRef>
              <c:f>'CV RDC 1995-2024 '!$B$18:$G$18</c:f>
              <c:numCache>
                <c:formatCode>_-* #,##0\ _F_-;\-* #,##0\ _F_-;_-* "-"??\ _F_-;_-@_-</c:formatCode>
                <c:ptCount val="6"/>
                <c:pt idx="0">
                  <c:v>3930179</c:v>
                </c:pt>
                <c:pt idx="1">
                  <c:v>3739699</c:v>
                </c:pt>
                <c:pt idx="2">
                  <c:v>4263357</c:v>
                </c:pt>
                <c:pt idx="3" formatCode="General">
                  <c:v>4244011</c:v>
                </c:pt>
                <c:pt idx="4" formatCode="General">
                  <c:v>4692347</c:v>
                </c:pt>
                <c:pt idx="5">
                  <c:v>4085919</c:v>
                </c:pt>
              </c:numCache>
            </c:numRef>
          </c:val>
          <c:smooth val="0"/>
          <c:extLst>
            <c:ext xmlns:c16="http://schemas.microsoft.com/office/drawing/2014/chart" uri="{C3380CC4-5D6E-409C-BE32-E72D297353CC}">
              <c16:uniqueId val="{00000001-DB5B-4ED8-A6A3-2A34A6F75BFD}"/>
            </c:ext>
          </c:extLst>
        </c:ser>
        <c:ser>
          <c:idx val="2"/>
          <c:order val="2"/>
          <c:tx>
            <c:strRef>
              <c:f>'CV RDC 1995-2024 '!$A$19</c:f>
              <c:strCache>
                <c:ptCount val="1"/>
                <c:pt idx="0">
                  <c:v>DTC-HepB-Hib3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'CV RDC 1995-2024 '!$B$16:$G$16</c:f>
              <c:numCache>
                <c:formatCode>_-* #,##0\ _F_-;\-* #,##0\ _F_-;_-* "-"??\ _F_-;_-@_-</c:formatCode>
                <c:ptCount val="6"/>
                <c:pt idx="0">
                  <c:v>2020</c:v>
                </c:pt>
                <c:pt idx="1">
                  <c:v>2021</c:v>
                </c:pt>
                <c:pt idx="2">
                  <c:v>2022</c:v>
                </c:pt>
                <c:pt idx="3">
                  <c:v>2023</c:v>
                </c:pt>
                <c:pt idx="4">
                  <c:v>2024</c:v>
                </c:pt>
                <c:pt idx="5">
                  <c:v>2025</c:v>
                </c:pt>
              </c:numCache>
            </c:numRef>
          </c:cat>
          <c:val>
            <c:numRef>
              <c:f>'CV RDC 1995-2024 '!$B$19:$G$19</c:f>
              <c:numCache>
                <c:formatCode>_-* #,##0\ _F_-;\-* #,##0\ _F_-;_-* "-"??\ _F_-;_-@_-</c:formatCode>
                <c:ptCount val="6"/>
                <c:pt idx="0">
                  <c:v>3710713</c:v>
                </c:pt>
                <c:pt idx="1">
                  <c:v>3513627</c:v>
                </c:pt>
                <c:pt idx="2">
                  <c:v>3999784</c:v>
                </c:pt>
                <c:pt idx="3" formatCode="General">
                  <c:v>3985031</c:v>
                </c:pt>
                <c:pt idx="4" formatCode="General">
                  <c:v>4431254</c:v>
                </c:pt>
                <c:pt idx="5">
                  <c:v>3869106</c:v>
                </c:pt>
              </c:numCache>
            </c:numRef>
          </c:val>
          <c:smooth val="0"/>
          <c:extLst>
            <c:ext xmlns:c16="http://schemas.microsoft.com/office/drawing/2014/chart" uri="{C3380CC4-5D6E-409C-BE32-E72D297353CC}">
              <c16:uniqueId val="{00000002-DB5B-4ED8-A6A3-2A34A6F75BFD}"/>
            </c:ext>
          </c:extLst>
        </c:ser>
        <c:ser>
          <c:idx val="3"/>
          <c:order val="3"/>
          <c:tx>
            <c:strRef>
              <c:f>'CV RDC 1995-2024 '!$A$20</c:f>
              <c:strCache>
                <c:ptCount val="1"/>
                <c:pt idx="0">
                  <c:v>VAR1</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'CV RDC 1995-2024 '!$B$16:$G$16</c:f>
              <c:numCache>
                <c:formatCode>_-* #,##0\ _F_-;\-* #,##0\ _F_-;_-* "-"??\ _F_-;_-@_-</c:formatCode>
                <c:ptCount val="6"/>
                <c:pt idx="0">
                  <c:v>2020</c:v>
                </c:pt>
                <c:pt idx="1">
                  <c:v>2021</c:v>
                </c:pt>
                <c:pt idx="2">
                  <c:v>2022</c:v>
                </c:pt>
                <c:pt idx="3">
                  <c:v>2023</c:v>
                </c:pt>
                <c:pt idx="4">
                  <c:v>2024</c:v>
                </c:pt>
                <c:pt idx="5">
                  <c:v>2025</c:v>
                </c:pt>
              </c:numCache>
            </c:numRef>
          </c:cat>
          <c:val>
            <c:numRef>
              <c:f>'CV RDC 1995-2024 '!$B$20:$G$20</c:f>
              <c:numCache>
                <c:formatCode>_-* #,##0\ _F_-;\-* #,##0\ _F_-;_-* "-"??\ _F_-;_-@_-</c:formatCode>
                <c:ptCount val="6"/>
                <c:pt idx="0">
                  <c:v>3573901</c:v>
                </c:pt>
                <c:pt idx="1">
                  <c:v>3447653</c:v>
                </c:pt>
                <c:pt idx="2">
                  <c:v>3996876</c:v>
                </c:pt>
                <c:pt idx="3" formatCode="General">
                  <c:v>4136412</c:v>
                </c:pt>
                <c:pt idx="4" formatCode="General">
                  <c:v>4278821</c:v>
                </c:pt>
                <c:pt idx="5">
                  <c:v>3287902</c:v>
                </c:pt>
              </c:numCache>
            </c:numRef>
          </c:val>
          <c:smooth val="0"/>
          <c:extLst>
            <c:ext xmlns:c16="http://schemas.microsoft.com/office/drawing/2014/chart" uri="{C3380CC4-5D6E-409C-BE32-E72D297353CC}">
              <c16:uniqueId val="{00000003-DB5B-4ED8-A6A3-2A34A6F75BFD}"/>
            </c:ext>
          </c:extLst>
        </c:ser>
        <c:dLbls>
          <c:showLegendKey val="0"/>
          <c:showVal val="0"/>
          <c:showCatName val="0"/>
          <c:showSerName val="0"/>
          <c:showPercent val="0"/>
          <c:showBubbleSize val="0"/>
        </c:dLbls>
        <c:marker val="1"/>
        <c:smooth val="0"/>
        <c:axId val="141876176"/>
        <c:axId val="141870688"/>
      </c:lineChart>
      <c:catAx>
        <c:axId val="141876176"/>
        <c:scaling>
          <c:orientation val="minMax"/>
        </c:scaling>
        <c:delete val="0"/>
        <c:axPos val="b"/>
        <c:numFmt formatCode="_-* #,##0\ _F_-;\-* #,##0\ _F_-;_-* &quot;-&quot;??\ _F_-;_-@_-"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fr-FR"/>
          </a:p>
        </c:txPr>
        <c:crossAx val="141870688"/>
        <c:crosses val="autoZero"/>
        <c:auto val="1"/>
        <c:lblAlgn val="ctr"/>
        <c:lblOffset val="100"/>
        <c:noMultiLvlLbl val="0"/>
      </c:catAx>
      <c:valAx>
        <c:axId val="141870688"/>
        <c:scaling>
          <c:orientation val="minMax"/>
        </c:scaling>
        <c:delete val="0"/>
        <c:axPos val="l"/>
        <c:majorGridlines>
          <c:spPr>
            <a:ln w="9525" cap="flat" cmpd="sng" algn="ctr">
              <a:solidFill>
                <a:schemeClr val="tx1">
                  <a:lumMod val="15000"/>
                  <a:lumOff val="85000"/>
                </a:schemeClr>
              </a:solidFill>
              <a:round/>
            </a:ln>
            <a:effectLst/>
          </c:spPr>
        </c:majorGridlines>
        <c:numFmt formatCode="_-* #,##0\ _F_-;\-* #,##0\ _F_-;_-* &quot;-&quot;??\ _F_-;_-@_-"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fr-FR"/>
          </a:p>
        </c:txPr>
        <c:crossAx val="14187617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uri="{0b15fc19-7d7d-44ad-8c2d-2c3a37ce22c3}">
        <chartProps xmlns="https://web.wps.cn/et/2018/main" chartId="{59f0db26-5cfe-4b36-b196-84949619ecf6}"/>
      </c:ext>
    </c:extLst>
  </c:chart>
  <c:spPr>
    <a:noFill/>
    <a:ln>
      <a:noFill/>
    </a:ln>
    <a:effectLst/>
  </c:spPr>
  <c:txPr>
    <a:bodyPr/>
    <a:lstStyle/>
    <a:p>
      <a:pPr>
        <a:defRPr lang="en-US"/>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9865610640312201E-2"/>
          <c:y val="8.5619116246071797E-2"/>
          <c:w val="0.92246853857344102"/>
          <c:h val="0.77832138162595699"/>
        </c:manualLayout>
      </c:layout>
      <c:barChart>
        <c:barDir val="col"/>
        <c:grouping val="clustered"/>
        <c:varyColors val="0"/>
        <c:ser>
          <c:idx val="0"/>
          <c:order val="0"/>
          <c:tx>
            <c:strRef>
              <c:f>'Tableau synthese CV Antigènes'!$AM$1</c:f>
              <c:strCache>
                <c:ptCount val="1"/>
                <c:pt idx="0">
                  <c:v>PENTA3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Antigènes'!$AM$2:$AM$28</c:f>
              <c:numCache>
                <c:formatCode>0.0%</c:formatCode>
                <c:ptCount val="27"/>
                <c:pt idx="0">
                  <c:v>0.90304422373912197</c:v>
                </c:pt>
                <c:pt idx="1">
                  <c:v>0.90404766440930395</c:v>
                </c:pt>
                <c:pt idx="2">
                  <c:v>0.896199656603621</c:v>
                </c:pt>
                <c:pt idx="3">
                  <c:v>1.01356834897286</c:v>
                </c:pt>
                <c:pt idx="4">
                  <c:v>0.93151896444292603</c:v>
                </c:pt>
                <c:pt idx="5">
                  <c:v>0.84841537773209097</c:v>
                </c:pt>
                <c:pt idx="6">
                  <c:v>0.84314954789488505</c:v>
                </c:pt>
                <c:pt idx="7">
                  <c:v>0.94321768058580902</c:v>
                </c:pt>
                <c:pt idx="8">
                  <c:v>0.892666790905702</c:v>
                </c:pt>
                <c:pt idx="9">
                  <c:v>0.77388506156133297</c:v>
                </c:pt>
                <c:pt idx="10">
                  <c:v>1.2719820469291401</c:v>
                </c:pt>
                <c:pt idx="11">
                  <c:v>1.0278494350179801</c:v>
                </c:pt>
                <c:pt idx="12">
                  <c:v>0.92937784741063401</c:v>
                </c:pt>
                <c:pt idx="13">
                  <c:v>0.95305894667445501</c:v>
                </c:pt>
                <c:pt idx="14">
                  <c:v>1.1982106315138199</c:v>
                </c:pt>
                <c:pt idx="15">
                  <c:v>0.95184207217402195</c:v>
                </c:pt>
                <c:pt idx="16">
                  <c:v>1.28275443345392</c:v>
                </c:pt>
                <c:pt idx="17">
                  <c:v>0.94524616676515405</c:v>
                </c:pt>
                <c:pt idx="18">
                  <c:v>0.97200197198143001</c:v>
                </c:pt>
                <c:pt idx="19">
                  <c:v>0.93409546559740697</c:v>
                </c:pt>
                <c:pt idx="20">
                  <c:v>1.24730120925189</c:v>
                </c:pt>
                <c:pt idx="21">
                  <c:v>0.82075638735730405</c:v>
                </c:pt>
                <c:pt idx="22">
                  <c:v>0.982500570553547</c:v>
                </c:pt>
                <c:pt idx="23">
                  <c:v>0.99363415219104401</c:v>
                </c:pt>
                <c:pt idx="24">
                  <c:v>0.970812780029218</c:v>
                </c:pt>
                <c:pt idx="25">
                  <c:v>0.87514783269136898</c:v>
                </c:pt>
                <c:pt idx="26">
                  <c:v>0.93908261635635903</c:v>
                </c:pt>
              </c:numCache>
            </c:numRef>
          </c:val>
          <c:extLst>
            <c:ext xmlns:c16="http://schemas.microsoft.com/office/drawing/2014/chart" uri="{C3380CC4-5D6E-409C-BE32-E72D297353CC}">
              <c16:uniqueId val="{00000000-8166-446E-9E61-8CFC40502460}"/>
            </c:ext>
          </c:extLst>
        </c:ser>
        <c:ser>
          <c:idx val="1"/>
          <c:order val="1"/>
          <c:tx>
            <c:strRef>
              <c:f>'Tableau synthese CV Antigènes'!$AN$1</c:f>
              <c:strCache>
                <c:ptCount val="1"/>
                <c:pt idx="0">
                  <c:v>VPO3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Antigènes'!$AN$2:$AN$28</c:f>
              <c:numCache>
                <c:formatCode>0.0%</c:formatCode>
                <c:ptCount val="27"/>
                <c:pt idx="0">
                  <c:v>0.90016498980945303</c:v>
                </c:pt>
                <c:pt idx="1">
                  <c:v>0.90352806692415599</c:v>
                </c:pt>
                <c:pt idx="2">
                  <c:v>0.89178147011505104</c:v>
                </c:pt>
                <c:pt idx="3">
                  <c:v>0.99138865192631398</c:v>
                </c:pt>
                <c:pt idx="4">
                  <c:v>0.94183031496854297</c:v>
                </c:pt>
                <c:pt idx="5">
                  <c:v>0.86948451244809399</c:v>
                </c:pt>
                <c:pt idx="6">
                  <c:v>0.85293338513704398</c:v>
                </c:pt>
                <c:pt idx="7">
                  <c:v>0.94668204273978795</c:v>
                </c:pt>
                <c:pt idx="8">
                  <c:v>0.88806373462541899</c:v>
                </c:pt>
                <c:pt idx="9">
                  <c:v>0.77305705863937202</c:v>
                </c:pt>
                <c:pt idx="10">
                  <c:v>1.2713425269179801</c:v>
                </c:pt>
                <c:pt idx="11">
                  <c:v>1.0479053882207601</c:v>
                </c:pt>
                <c:pt idx="12">
                  <c:v>0.92552256486682705</c:v>
                </c:pt>
                <c:pt idx="13">
                  <c:v>0.94822431311770194</c:v>
                </c:pt>
                <c:pt idx="14">
                  <c:v>1.1948952235917401</c:v>
                </c:pt>
                <c:pt idx="15">
                  <c:v>0.95040179234822797</c:v>
                </c:pt>
                <c:pt idx="16">
                  <c:v>1.21355629200503</c:v>
                </c:pt>
                <c:pt idx="17">
                  <c:v>0.94865175877834096</c:v>
                </c:pt>
                <c:pt idx="18">
                  <c:v>0.96658929378415004</c:v>
                </c:pt>
                <c:pt idx="19">
                  <c:v>0.94714840250821097</c:v>
                </c:pt>
                <c:pt idx="20">
                  <c:v>1.23643827393573</c:v>
                </c:pt>
                <c:pt idx="21">
                  <c:v>0.81324532111516701</c:v>
                </c:pt>
                <c:pt idx="22">
                  <c:v>0.98008584070145</c:v>
                </c:pt>
                <c:pt idx="23">
                  <c:v>0.987302566210984</c:v>
                </c:pt>
                <c:pt idx="24">
                  <c:v>0.96730420112592397</c:v>
                </c:pt>
                <c:pt idx="25">
                  <c:v>0.83884337872294301</c:v>
                </c:pt>
                <c:pt idx="26">
                  <c:v>0.93594393551237198</c:v>
                </c:pt>
              </c:numCache>
            </c:numRef>
          </c:val>
          <c:extLst>
            <c:ext xmlns:c16="http://schemas.microsoft.com/office/drawing/2014/chart" uri="{C3380CC4-5D6E-409C-BE32-E72D297353CC}">
              <c16:uniqueId val="{00000001-8166-446E-9E61-8CFC40502460}"/>
            </c:ext>
          </c:extLst>
        </c:ser>
        <c:ser>
          <c:idx val="2"/>
          <c:order val="2"/>
          <c:tx>
            <c:strRef>
              <c:f>'Tableau synthese CV Antigènes'!$AO$1</c:f>
              <c:strCache>
                <c:ptCount val="1"/>
                <c:pt idx="0">
                  <c:v>VPI1</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Antigènes'!$AO$2:$AO$28</c:f>
              <c:numCache>
                <c:formatCode>0.0%</c:formatCode>
                <c:ptCount val="27"/>
                <c:pt idx="0">
                  <c:v>0.89689754456342397</c:v>
                </c:pt>
                <c:pt idx="1">
                  <c:v>0.92557632021060998</c:v>
                </c:pt>
                <c:pt idx="2">
                  <c:v>0.89287384914894496</c:v>
                </c:pt>
                <c:pt idx="3">
                  <c:v>0.99462799437437999</c:v>
                </c:pt>
                <c:pt idx="4">
                  <c:v>0.93041345902594896</c:v>
                </c:pt>
                <c:pt idx="5">
                  <c:v>0.86029218726311996</c:v>
                </c:pt>
                <c:pt idx="6">
                  <c:v>0.84670810963549004</c:v>
                </c:pt>
                <c:pt idx="7">
                  <c:v>0.95151316694903598</c:v>
                </c:pt>
                <c:pt idx="8">
                  <c:v>0.67</c:v>
                </c:pt>
                <c:pt idx="9">
                  <c:v>0.76452725994330595</c:v>
                </c:pt>
                <c:pt idx="10">
                  <c:v>1.2680170228599299</c:v>
                </c:pt>
                <c:pt idx="11">
                  <c:v>1.0518293790647799</c:v>
                </c:pt>
                <c:pt idx="12">
                  <c:v>0.93354732698995002</c:v>
                </c:pt>
                <c:pt idx="13">
                  <c:v>0.94925369681758498</c:v>
                </c:pt>
                <c:pt idx="14">
                  <c:v>1.19091356144609</c:v>
                </c:pt>
                <c:pt idx="15">
                  <c:v>0.94738406318942003</c:v>
                </c:pt>
                <c:pt idx="16">
                  <c:v>1.1528245085886299</c:v>
                </c:pt>
                <c:pt idx="17">
                  <c:v>0.95084440021148897</c:v>
                </c:pt>
                <c:pt idx="18">
                  <c:v>0.90638737110225498</c:v>
                </c:pt>
                <c:pt idx="19">
                  <c:v>0.93989677089109802</c:v>
                </c:pt>
                <c:pt idx="20">
                  <c:v>1.2510383688169899</c:v>
                </c:pt>
                <c:pt idx="21">
                  <c:v>0.82197406228158698</c:v>
                </c:pt>
                <c:pt idx="22">
                  <c:v>0.97792141821206902</c:v>
                </c:pt>
                <c:pt idx="23">
                  <c:v>0.99031760715386996</c:v>
                </c:pt>
                <c:pt idx="24">
                  <c:v>0.97210863147085202</c:v>
                </c:pt>
                <c:pt idx="25">
                  <c:v>0.86705365377312404</c:v>
                </c:pt>
                <c:pt idx="26">
                  <c:v>0.93037054267836705</c:v>
                </c:pt>
              </c:numCache>
            </c:numRef>
          </c:val>
          <c:extLst>
            <c:ext xmlns:c16="http://schemas.microsoft.com/office/drawing/2014/chart" uri="{C3380CC4-5D6E-409C-BE32-E72D297353CC}">
              <c16:uniqueId val="{00000002-8166-446E-9E61-8CFC40502460}"/>
            </c:ext>
          </c:extLst>
        </c:ser>
        <c:ser>
          <c:idx val="3"/>
          <c:order val="3"/>
          <c:tx>
            <c:strRef>
              <c:f>'Tableau synthese CV Antigènes'!$AP$1</c:f>
              <c:strCache>
                <c:ptCount val="1"/>
                <c:pt idx="0">
                  <c:v>PCV13 (3)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Antigènes'!$AP$2:$AP$28</c:f>
              <c:numCache>
                <c:formatCode>0.0%</c:formatCode>
                <c:ptCount val="27"/>
                <c:pt idx="0">
                  <c:v>0.88130439002296901</c:v>
                </c:pt>
                <c:pt idx="1">
                  <c:v>0.94189168124426303</c:v>
                </c:pt>
                <c:pt idx="2">
                  <c:v>0.89354441845687904</c:v>
                </c:pt>
                <c:pt idx="3">
                  <c:v>0.98795333502409299</c:v>
                </c:pt>
                <c:pt idx="4">
                  <c:v>0.93360937468593597</c:v>
                </c:pt>
                <c:pt idx="5">
                  <c:v>0.85379913697156196</c:v>
                </c:pt>
                <c:pt idx="6">
                  <c:v>0.82664594518225498</c:v>
                </c:pt>
                <c:pt idx="7">
                  <c:v>0.96086219906319803</c:v>
                </c:pt>
                <c:pt idx="8">
                  <c:v>0.79734439060752904</c:v>
                </c:pt>
                <c:pt idx="9">
                  <c:v>0.67891449501230905</c:v>
                </c:pt>
                <c:pt idx="10">
                  <c:v>1.63057835864282</c:v>
                </c:pt>
                <c:pt idx="11">
                  <c:v>1.15031064927515</c:v>
                </c:pt>
                <c:pt idx="12">
                  <c:v>0.943975271844124</c:v>
                </c:pt>
                <c:pt idx="13">
                  <c:v>0.93624182420670998</c:v>
                </c:pt>
                <c:pt idx="14">
                  <c:v>1.2049524897285799</c:v>
                </c:pt>
                <c:pt idx="15">
                  <c:v>0.948321388155413</c:v>
                </c:pt>
                <c:pt idx="16">
                  <c:v>1.13204651437341</c:v>
                </c:pt>
                <c:pt idx="17">
                  <c:v>0.89392902684041897</c:v>
                </c:pt>
                <c:pt idx="18">
                  <c:v>0.97380448625775395</c:v>
                </c:pt>
                <c:pt idx="19">
                  <c:v>0.89937294714840299</c:v>
                </c:pt>
                <c:pt idx="20">
                  <c:v>1.5970644902069</c:v>
                </c:pt>
                <c:pt idx="21">
                  <c:v>0.69969092179855596</c:v>
                </c:pt>
                <c:pt idx="22">
                  <c:v>0.97201710924443996</c:v>
                </c:pt>
                <c:pt idx="23">
                  <c:v>0.99949977729811201</c:v>
                </c:pt>
                <c:pt idx="24">
                  <c:v>0.97190080623964703</c:v>
                </c:pt>
                <c:pt idx="25">
                  <c:v>0.86277871209244295</c:v>
                </c:pt>
                <c:pt idx="26">
                  <c:v>0.93273955090868099</c:v>
                </c:pt>
              </c:numCache>
            </c:numRef>
          </c:val>
          <c:extLst>
            <c:ext xmlns:c16="http://schemas.microsoft.com/office/drawing/2014/chart" uri="{C3380CC4-5D6E-409C-BE32-E72D297353CC}">
              <c16:uniqueId val="{00000003-8166-446E-9E61-8CFC40502460}"/>
            </c:ext>
          </c:extLst>
        </c:ser>
        <c:ser>
          <c:idx val="4"/>
          <c:order val="4"/>
          <c:tx>
            <c:strRef>
              <c:f>'Tableau synthese CV Antigènes'!$AQ$1</c:f>
              <c:strCache>
                <c:ptCount val="1"/>
                <c:pt idx="0">
                  <c:v>Rota3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Antigènes'!$AQ$2:$AQ$28</c:f>
              <c:numCache>
                <c:formatCode>0.0%</c:formatCode>
                <c:ptCount val="27"/>
                <c:pt idx="0">
                  <c:v>0.86027627705347598</c:v>
                </c:pt>
                <c:pt idx="1">
                  <c:v>0.89526646691029999</c:v>
                </c:pt>
                <c:pt idx="2">
                  <c:v>0.92278448497302901</c:v>
                </c:pt>
                <c:pt idx="3">
                  <c:v>0.99446660364743</c:v>
                </c:pt>
                <c:pt idx="4">
                  <c:v>0.89505738578118998</c:v>
                </c:pt>
                <c:pt idx="5">
                  <c:v>0.84452546377610105</c:v>
                </c:pt>
                <c:pt idx="6">
                  <c:v>0.81172294433455805</c:v>
                </c:pt>
                <c:pt idx="7">
                  <c:v>0.893530185034905</c:v>
                </c:pt>
                <c:pt idx="8">
                  <c:v>0.87838240775251597</c:v>
                </c:pt>
                <c:pt idx="9">
                  <c:v>0.75699311765339905</c:v>
                </c:pt>
                <c:pt idx="10">
                  <c:v>1.2582381805074301</c:v>
                </c:pt>
                <c:pt idx="11">
                  <c:v>0.95907059550194396</c:v>
                </c:pt>
                <c:pt idx="12">
                  <c:v>0.90538847915897103</c:v>
                </c:pt>
                <c:pt idx="13">
                  <c:v>1.01568942684147</c:v>
                </c:pt>
                <c:pt idx="14">
                  <c:v>1.1595837497422199</c:v>
                </c:pt>
                <c:pt idx="15">
                  <c:v>0.948481419247168</c:v>
                </c:pt>
                <c:pt idx="16">
                  <c:v>1.17092092725172</c:v>
                </c:pt>
                <c:pt idx="17">
                  <c:v>0.93927471775573101</c:v>
                </c:pt>
                <c:pt idx="18">
                  <c:v>0.89431412020870105</c:v>
                </c:pt>
                <c:pt idx="19">
                  <c:v>0.87383582874774302</c:v>
                </c:pt>
                <c:pt idx="20">
                  <c:v>1.21901110497933</c:v>
                </c:pt>
                <c:pt idx="21">
                  <c:v>0.793787372835288</c:v>
                </c:pt>
                <c:pt idx="22">
                  <c:v>0.94033114191691303</c:v>
                </c:pt>
                <c:pt idx="23">
                  <c:v>0.97920306985986905</c:v>
                </c:pt>
                <c:pt idx="24">
                  <c:v>0.96811105202354497</c:v>
                </c:pt>
                <c:pt idx="25">
                  <c:v>0.84539684261921599</c:v>
                </c:pt>
                <c:pt idx="26">
                  <c:v>0.91594060951459799</c:v>
                </c:pt>
              </c:numCache>
            </c:numRef>
          </c:val>
          <c:extLst>
            <c:ext xmlns:c16="http://schemas.microsoft.com/office/drawing/2014/chart" uri="{C3380CC4-5D6E-409C-BE32-E72D297353CC}">
              <c16:uniqueId val="{00000004-8166-446E-9E61-8CFC40502460}"/>
            </c:ext>
          </c:extLst>
        </c:ser>
        <c:dLbls>
          <c:showLegendKey val="0"/>
          <c:showVal val="0"/>
          <c:showCatName val="0"/>
          <c:showSerName val="0"/>
          <c:showPercent val="0"/>
          <c:showBubbleSize val="0"/>
        </c:dLbls>
        <c:gapWidth val="150"/>
        <c:axId val="141869120"/>
        <c:axId val="141873824"/>
      </c:barChart>
      <c:catAx>
        <c:axId val="141869120"/>
        <c:scaling>
          <c:orientation val="minMax"/>
        </c:scaling>
        <c:delete val="0"/>
        <c:axPos val="b"/>
        <c:numFmt formatCode="General" sourceLinked="1"/>
        <c:majorTickMark val="out"/>
        <c:minorTickMark val="none"/>
        <c:tickLblPos val="nextTo"/>
        <c:txPr>
          <a:bodyPr rot="-2700000" spcFirstLastPara="0" vertOverflow="ellipsis" vert="horz" wrap="square" anchor="ctr" anchorCtr="1"/>
          <a:lstStyle/>
          <a:p>
            <a:pPr>
              <a:defRPr lang="en-US" sz="700" b="0" i="0" u="none" strike="noStrike" kern="1200" baseline="0">
                <a:solidFill>
                  <a:srgbClr val="000000"/>
                </a:solidFill>
                <a:latin typeface="Calibri" panose="020F0502020204030204"/>
                <a:ea typeface="Calibri" panose="020F0502020204030204"/>
                <a:cs typeface="Calibri" panose="020F0502020204030204"/>
              </a:defRPr>
            </a:pPr>
            <a:endParaRPr lang="fr-FR"/>
          </a:p>
        </c:txPr>
        <c:crossAx val="141873824"/>
        <c:crosses val="autoZero"/>
        <c:auto val="1"/>
        <c:lblAlgn val="ctr"/>
        <c:lblOffset val="100"/>
        <c:noMultiLvlLbl val="0"/>
      </c:catAx>
      <c:valAx>
        <c:axId val="141873824"/>
        <c:scaling>
          <c:orientation val="minMax"/>
          <c:max val="1.2"/>
        </c:scaling>
        <c:delete val="0"/>
        <c:axPos val="l"/>
        <c:majorGridlines/>
        <c:numFmt formatCode="0.0%" sourceLinked="1"/>
        <c:majorTickMark val="out"/>
        <c:minorTickMark val="none"/>
        <c:tickLblPos val="nextTo"/>
        <c:txPr>
          <a:bodyPr rot="0" spcFirstLastPara="0" vertOverflow="ellipsis" vert="horz" wrap="square" anchor="ctr" anchorCtr="1"/>
          <a:lstStyle/>
          <a:p>
            <a:pPr>
              <a:defRPr lang="en-US" sz="1050" b="0" i="0" u="none" strike="noStrike" kern="1200" baseline="0">
                <a:solidFill>
                  <a:srgbClr val="000000"/>
                </a:solidFill>
                <a:latin typeface="Calibri" panose="020F0502020204030204"/>
                <a:ea typeface="Calibri" panose="020F0502020204030204"/>
                <a:cs typeface="Calibri" panose="020F0502020204030204"/>
              </a:defRPr>
            </a:pPr>
            <a:endParaRPr lang="fr-FR"/>
          </a:p>
        </c:txPr>
        <c:crossAx val="141869120"/>
        <c:crosses val="autoZero"/>
        <c:crossBetween val="between"/>
      </c:valAx>
    </c:plotArea>
    <c:legend>
      <c:legendPos val="r"/>
      <c:layout>
        <c:manualLayout>
          <c:xMode val="edge"/>
          <c:yMode val="edge"/>
          <c:x val="0.349118860142482"/>
          <c:y val="1.5174495018682401E-2"/>
          <c:w val="0.35242283176141398"/>
          <c:h val="3.1866455422270401E-2"/>
        </c:manualLayout>
      </c:layout>
      <c:overlay val="0"/>
      <c:txPr>
        <a:bodyPr rot="0" spcFirstLastPara="0" vertOverflow="ellipsis" vert="horz" wrap="square" anchor="ctr" anchorCtr="1"/>
        <a:lstStyle/>
        <a:p>
          <a:pPr>
            <a:defRPr lang="en-US" sz="1200" b="0" i="0" u="none" strike="noStrike" kern="1200" baseline="0">
              <a:solidFill>
                <a:srgbClr val="000000"/>
              </a:solidFill>
              <a:latin typeface="Calibri" panose="020F0502020204030204"/>
              <a:ea typeface="Calibri" panose="020F0502020204030204"/>
              <a:cs typeface="Calibri" panose="020F0502020204030204"/>
            </a:defRPr>
          </a:pPr>
          <a:endParaRPr lang="fr-FR"/>
        </a:p>
      </c:txPr>
    </c:legend>
    <c:plotVisOnly val="1"/>
    <c:dispBlanksAs val="gap"/>
    <c:showDLblsOverMax val="0"/>
    <c:extLst>
      <c:ext uri="{0b15fc19-7d7d-44ad-8c2d-2c3a37ce22c3}">
        <chartProps xmlns="https://web.wps.cn/et/2018/main" chartId="{fb697724-80b2-4f87-8da9-4fefadbad6fe}"/>
      </c:ext>
    </c:extLst>
  </c:chart>
  <c:txPr>
    <a:bodyPr/>
    <a:lstStyle/>
    <a:p>
      <a:pPr>
        <a:defRPr lang="en-US" sz="1050" b="0" i="0" u="none" strike="noStrike" baseline="0">
          <a:solidFill>
            <a:srgbClr val="000000"/>
          </a:solidFill>
          <a:latin typeface="Calibri" panose="020F0502020204030204"/>
          <a:ea typeface="Calibri" panose="020F0502020204030204"/>
          <a:cs typeface="Calibri" panose="020F0502020204030204"/>
        </a:defRPr>
      </a:pPr>
      <a:endParaRPr lang="fr-FR"/>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6966359305264903E-2"/>
          <c:y val="4.1904761119145803E-2"/>
          <c:w val="0.89769730371236001"/>
          <c:h val="0.79089874782716996"/>
        </c:manualLayout>
      </c:layout>
      <c:barChart>
        <c:barDir val="col"/>
        <c:grouping val="clustered"/>
        <c:varyColors val="0"/>
        <c:ser>
          <c:idx val="0"/>
          <c:order val="0"/>
          <c:tx>
            <c:strRef>
              <c:f>'Tableau synthese CV Antigènes'!$P$35</c:f>
              <c:strCache>
                <c:ptCount val="1"/>
                <c:pt idx="0">
                  <c:v>2025</c:v>
                </c:pt>
              </c:strCache>
            </c:strRef>
          </c:tx>
          <c:spPr>
            <a:solidFill>
              <a:srgbClr val="4F81BD"/>
            </a:solidFill>
            <a:ln w="25400">
              <a:noFill/>
            </a:ln>
          </c:spPr>
          <c:invertIfNegative val="0"/>
          <c:cat>
            <c:strRef>
              <c:f>'Tableau synthese CV Antigènes'!$K$36:$K$62</c:f>
              <c:strCache>
                <c:ptCount val="27"/>
                <c:pt idx="0">
                  <c:v> BAS UELE </c:v>
                </c:pt>
                <c:pt idx="1">
                  <c:v> EQUATEUR </c:v>
                </c:pt>
                <c:pt idx="2">
                  <c:v> HAUT KATANGA </c:v>
                </c:pt>
                <c:pt idx="3">
                  <c:v> HAUT LOMAMI </c:v>
                </c:pt>
                <c:pt idx="4">
                  <c:v> HAUT UELE </c:v>
                </c:pt>
                <c:pt idx="5">
                  <c:v> ITURI </c:v>
                </c:pt>
                <c:pt idx="6">
                  <c:v> KASAI  </c:v>
                </c:pt>
                <c:pt idx="7">
                  <c:v> KASAI CENTRAL </c:v>
                </c:pt>
                <c:pt idx="8">
                  <c:v> KASAI-ORIENTAL   </c:v>
                </c:pt>
                <c:pt idx="9">
                  <c:v> KINSHASA </c:v>
                </c:pt>
                <c:pt idx="10">
                  <c:v> KONGO CENTRAL </c:v>
                </c:pt>
                <c:pt idx="11">
                  <c:v> KWANGO </c:v>
                </c:pt>
                <c:pt idx="12">
                  <c:v> KWILU </c:v>
                </c:pt>
                <c:pt idx="13">
                  <c:v> LOMAMI </c:v>
                </c:pt>
                <c:pt idx="14">
                  <c:v> LUALABA </c:v>
                </c:pt>
                <c:pt idx="15">
                  <c:v> MAI-NDOMBE </c:v>
                </c:pt>
                <c:pt idx="16">
                  <c:v> MANIEMA </c:v>
                </c:pt>
                <c:pt idx="17">
                  <c:v> MONGALA </c:v>
                </c:pt>
                <c:pt idx="18">
                  <c:v> NORD-KIVU </c:v>
                </c:pt>
                <c:pt idx="19">
                  <c:v> NORD-UBANGI </c:v>
                </c:pt>
                <c:pt idx="20">
                  <c:v> SANKURU </c:v>
                </c:pt>
                <c:pt idx="21">
                  <c:v> SUD-KIVU </c:v>
                </c:pt>
                <c:pt idx="22">
                  <c:v> SUD-UBANGI </c:v>
                </c:pt>
                <c:pt idx="23">
                  <c:v> TANGANYIKA </c:v>
                </c:pt>
                <c:pt idx="24">
                  <c:v> TSHOPO </c:v>
                </c:pt>
                <c:pt idx="25">
                  <c:v> TSHUAPA </c:v>
                </c:pt>
                <c:pt idx="26">
                  <c:v> National </c:v>
                </c:pt>
              </c:strCache>
            </c:strRef>
          </c:cat>
          <c:val>
            <c:numRef>
              <c:f>'Tableau synthese CV Antigènes'!$P$36:$P$62</c:f>
              <c:numCache>
                <c:formatCode>0%</c:formatCode>
                <c:ptCount val="27"/>
                <c:pt idx="0">
                  <c:v>0.76891721393678603</c:v>
                </c:pt>
                <c:pt idx="1">
                  <c:v>0.87616259937301899</c:v>
                </c:pt>
                <c:pt idx="2">
                  <c:v>0.80916084199710703</c:v>
                </c:pt>
                <c:pt idx="3">
                  <c:v>0.96127775344108102</c:v>
                </c:pt>
                <c:pt idx="4">
                  <c:v>0.88760024924122105</c:v>
                </c:pt>
                <c:pt idx="5">
                  <c:v>0.86444093579793202</c:v>
                </c:pt>
                <c:pt idx="6">
                  <c:v>0.66294327493642302</c:v>
                </c:pt>
                <c:pt idx="7">
                  <c:v>0.92004916546837701</c:v>
                </c:pt>
                <c:pt idx="8">
                  <c:v>0.87980805068952594</c:v>
                </c:pt>
                <c:pt idx="9">
                  <c:v>0.72581983409148099</c:v>
                </c:pt>
                <c:pt idx="10">
                  <c:v>1.1919955349875599</c:v>
                </c:pt>
                <c:pt idx="11">
                  <c:v>1.0281037677578799</c:v>
                </c:pt>
                <c:pt idx="12">
                  <c:v>0.93431159004929498</c:v>
                </c:pt>
                <c:pt idx="13">
                  <c:v>0.85189019136127297</c:v>
                </c:pt>
                <c:pt idx="14">
                  <c:v>1.0684496898745199</c:v>
                </c:pt>
                <c:pt idx="15">
                  <c:v>0.89948904358561099</c:v>
                </c:pt>
                <c:pt idx="16">
                  <c:v>1.0288817492642499</c:v>
                </c:pt>
                <c:pt idx="17">
                  <c:v>0.90402139769228396</c:v>
                </c:pt>
                <c:pt idx="18">
                  <c:v>0.87144632513043796</c:v>
                </c:pt>
                <c:pt idx="19">
                  <c:v>0.90744927412589405</c:v>
                </c:pt>
                <c:pt idx="20">
                  <c:v>1.11808843320069</c:v>
                </c:pt>
                <c:pt idx="21">
                  <c:v>0.701355905878698</c:v>
                </c:pt>
                <c:pt idx="22">
                  <c:v>0.96302076814912396</c:v>
                </c:pt>
                <c:pt idx="23">
                  <c:v>0.94226881830952103</c:v>
                </c:pt>
                <c:pt idx="24">
                  <c:v>0.87289042109059301</c:v>
                </c:pt>
                <c:pt idx="25">
                  <c:v>0.83079260022785195</c:v>
                </c:pt>
                <c:pt idx="26">
                  <c:v>0.86994185625364095</c:v>
                </c:pt>
              </c:numCache>
            </c:numRef>
          </c:val>
          <c:extLst>
            <c:ext xmlns:c16="http://schemas.microsoft.com/office/drawing/2014/chart" uri="{C3380CC4-5D6E-409C-BE32-E72D297353CC}">
              <c16:uniqueId val="{00000000-D234-4754-96A7-D8AC2363DB2E}"/>
            </c:ext>
          </c:extLst>
        </c:ser>
        <c:ser>
          <c:idx val="1"/>
          <c:order val="1"/>
          <c:tx>
            <c:strRef>
              <c:f>'Tableau synthese CV Antigènes'!$Q$35</c:f>
              <c:strCache>
                <c:ptCount val="1"/>
                <c:pt idx="0">
                  <c:v>2024</c:v>
                </c:pt>
              </c:strCache>
            </c:strRef>
          </c:tx>
          <c:spPr>
            <a:solidFill>
              <a:srgbClr val="C0504D"/>
            </a:solidFill>
            <a:ln w="25400">
              <a:noFill/>
            </a:ln>
          </c:spPr>
          <c:invertIfNegative val="0"/>
          <c:cat>
            <c:strRef>
              <c:f>'Tableau synthese CV Antigènes'!$K$36:$K$62</c:f>
              <c:strCache>
                <c:ptCount val="27"/>
                <c:pt idx="0">
                  <c:v> BAS UELE </c:v>
                </c:pt>
                <c:pt idx="1">
                  <c:v> EQUATEUR </c:v>
                </c:pt>
                <c:pt idx="2">
                  <c:v> HAUT KATANGA </c:v>
                </c:pt>
                <c:pt idx="3">
                  <c:v> HAUT LOMAMI </c:v>
                </c:pt>
                <c:pt idx="4">
                  <c:v> HAUT UELE </c:v>
                </c:pt>
                <c:pt idx="5">
                  <c:v> ITURI </c:v>
                </c:pt>
                <c:pt idx="6">
                  <c:v> KASAI  </c:v>
                </c:pt>
                <c:pt idx="7">
                  <c:v> KASAI CENTRAL </c:v>
                </c:pt>
                <c:pt idx="8">
                  <c:v> KASAI-ORIENTAL   </c:v>
                </c:pt>
                <c:pt idx="9">
                  <c:v> KINSHASA </c:v>
                </c:pt>
                <c:pt idx="10">
                  <c:v> KONGO CENTRAL </c:v>
                </c:pt>
                <c:pt idx="11">
                  <c:v> KWANGO </c:v>
                </c:pt>
                <c:pt idx="12">
                  <c:v> KWILU </c:v>
                </c:pt>
                <c:pt idx="13">
                  <c:v> LOMAMI </c:v>
                </c:pt>
                <c:pt idx="14">
                  <c:v> LUALABA </c:v>
                </c:pt>
                <c:pt idx="15">
                  <c:v> MAI-NDOMBE </c:v>
                </c:pt>
                <c:pt idx="16">
                  <c:v> MANIEMA </c:v>
                </c:pt>
                <c:pt idx="17">
                  <c:v> MONGALA </c:v>
                </c:pt>
                <c:pt idx="18">
                  <c:v> NORD-KIVU </c:v>
                </c:pt>
                <c:pt idx="19">
                  <c:v> NORD-UBANGI </c:v>
                </c:pt>
                <c:pt idx="20">
                  <c:v> SANKURU </c:v>
                </c:pt>
                <c:pt idx="21">
                  <c:v> SUD-KIVU </c:v>
                </c:pt>
                <c:pt idx="22">
                  <c:v> SUD-UBANGI </c:v>
                </c:pt>
                <c:pt idx="23">
                  <c:v> TANGANYIKA </c:v>
                </c:pt>
                <c:pt idx="24">
                  <c:v> TSHOPO </c:v>
                </c:pt>
                <c:pt idx="25">
                  <c:v> TSHUAPA </c:v>
                </c:pt>
                <c:pt idx="26">
                  <c:v> National </c:v>
                </c:pt>
              </c:strCache>
            </c:strRef>
          </c:cat>
          <c:val>
            <c:numRef>
              <c:f>'Tableau synthese CV Antigènes'!$Q$36:$Q$62</c:f>
              <c:numCache>
                <c:formatCode>0%</c:formatCode>
                <c:ptCount val="27"/>
                <c:pt idx="0">
                  <c:v>0.896546892202983</c:v>
                </c:pt>
                <c:pt idx="1">
                  <c:v>0.94357242308556</c:v>
                </c:pt>
                <c:pt idx="2">
                  <c:v>1.14618806205191</c:v>
                </c:pt>
                <c:pt idx="3">
                  <c:v>1.09913955779205</c:v>
                </c:pt>
                <c:pt idx="4">
                  <c:v>0.97804967801288001</c:v>
                </c:pt>
                <c:pt idx="5">
                  <c:v>0.96912814511410195</c:v>
                </c:pt>
                <c:pt idx="6">
                  <c:v>0.82735520679346197</c:v>
                </c:pt>
                <c:pt idx="7">
                  <c:v>0.90449881146859401</c:v>
                </c:pt>
                <c:pt idx="8">
                  <c:v>0.98619176618718796</c:v>
                </c:pt>
                <c:pt idx="9">
                  <c:v>0.92081425056218102</c:v>
                </c:pt>
                <c:pt idx="10">
                  <c:v>0.97310667202717105</c:v>
                </c:pt>
                <c:pt idx="11">
                  <c:v>0.92004615313610505</c:v>
                </c:pt>
                <c:pt idx="12">
                  <c:v>0.985657988531771</c:v>
                </c:pt>
                <c:pt idx="13">
                  <c:v>0.97718451806582995</c:v>
                </c:pt>
                <c:pt idx="14">
                  <c:v>1.1492386815636799</c:v>
                </c:pt>
                <c:pt idx="15">
                  <c:v>0.94123095730675199</c:v>
                </c:pt>
                <c:pt idx="16">
                  <c:v>1.02913890158013</c:v>
                </c:pt>
                <c:pt idx="17">
                  <c:v>0.95326559730208804</c:v>
                </c:pt>
                <c:pt idx="18">
                  <c:v>0.896846425285863</c:v>
                </c:pt>
                <c:pt idx="19">
                  <c:v>0.84478035231342796</c:v>
                </c:pt>
                <c:pt idx="20">
                  <c:v>0.93437450199203198</c:v>
                </c:pt>
                <c:pt idx="21">
                  <c:v>1.0749470613448699</c:v>
                </c:pt>
                <c:pt idx="22">
                  <c:v>0.91333763176440597</c:v>
                </c:pt>
                <c:pt idx="23">
                  <c:v>1.21945266907807</c:v>
                </c:pt>
                <c:pt idx="24">
                  <c:v>0.97586778153167897</c:v>
                </c:pt>
                <c:pt idx="25">
                  <c:v>0.85576970210111203</c:v>
                </c:pt>
                <c:pt idx="26">
                  <c:v>0.97811672535752703</c:v>
                </c:pt>
              </c:numCache>
            </c:numRef>
          </c:val>
          <c:extLst>
            <c:ext xmlns:c16="http://schemas.microsoft.com/office/drawing/2014/chart" uri="{C3380CC4-5D6E-409C-BE32-E72D297353CC}">
              <c16:uniqueId val="{00000001-D234-4754-96A7-D8AC2363DB2E}"/>
            </c:ext>
          </c:extLst>
        </c:ser>
        <c:dLbls>
          <c:showLegendKey val="0"/>
          <c:showVal val="0"/>
          <c:showCatName val="0"/>
          <c:showSerName val="0"/>
          <c:showPercent val="0"/>
          <c:showBubbleSize val="0"/>
        </c:dLbls>
        <c:gapWidth val="219"/>
        <c:overlap val="-27"/>
        <c:axId val="141869512"/>
        <c:axId val="141872648"/>
      </c:barChart>
      <c:catAx>
        <c:axId val="141869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2700000" spcFirstLastPara="0" vertOverflow="ellipsis" vert="horz" wrap="square" anchor="ctr" anchorCtr="1"/>
          <a:lstStyle/>
          <a:p>
            <a:pPr>
              <a:defRPr lang="en-US" sz="1200" b="0" i="0" u="none" strike="noStrike" kern="1200" baseline="0">
                <a:solidFill>
                  <a:srgbClr val="000000"/>
                </a:solidFill>
                <a:latin typeface="Calibri" panose="020F0502020204030204"/>
                <a:ea typeface="Calibri" panose="020F0502020204030204"/>
                <a:cs typeface="Calibri" panose="020F0502020204030204"/>
              </a:defRPr>
            </a:pPr>
            <a:endParaRPr lang="fr-FR"/>
          </a:p>
        </c:txPr>
        <c:crossAx val="141872648"/>
        <c:crosses val="autoZero"/>
        <c:auto val="1"/>
        <c:lblAlgn val="ctr"/>
        <c:lblOffset val="100"/>
        <c:noMultiLvlLbl val="0"/>
      </c:catAx>
      <c:valAx>
        <c:axId val="141872648"/>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none"/>
        <c:minorTickMark val="none"/>
        <c:tickLblPos val="nextTo"/>
        <c:spPr>
          <a:ln w="9525" cap="flat" cmpd="sng" algn="ctr">
            <a:noFill/>
            <a:prstDash val="solid"/>
            <a:round/>
          </a:ln>
        </c:spPr>
        <c:txPr>
          <a:bodyPr rot="0" spcFirstLastPara="0" vertOverflow="ellipsis" vert="horz" wrap="square" anchor="ctr" anchorCtr="1"/>
          <a:lstStyle/>
          <a:p>
            <a:pPr>
              <a:defRPr lang="en-US" sz="1200" b="0" i="0" u="none" strike="noStrike" kern="1200" baseline="0">
                <a:solidFill>
                  <a:srgbClr val="000000"/>
                </a:solidFill>
                <a:latin typeface="Calibri" panose="020F0502020204030204"/>
                <a:ea typeface="Calibri" panose="020F0502020204030204"/>
                <a:cs typeface="Calibri" panose="020F0502020204030204"/>
              </a:defRPr>
            </a:pPr>
            <a:endParaRPr lang="fr-FR"/>
          </a:p>
        </c:txPr>
        <c:crossAx val="141869512"/>
        <c:crosses val="autoZero"/>
        <c:crossBetween val="between"/>
      </c:valAx>
      <c:spPr>
        <a:noFill/>
        <a:ln w="25400">
          <a:noFill/>
        </a:ln>
      </c:spPr>
    </c:plotArea>
    <c:legend>
      <c:legendPos val="r"/>
      <c:layout>
        <c:manualLayout>
          <c:xMode val="edge"/>
          <c:yMode val="edge"/>
          <c:x val="0.38534054120029798"/>
          <c:y val="5.5129920226285697E-2"/>
          <c:w val="0.16855329855066001"/>
          <c:h val="6.2554198302321007E-2"/>
        </c:manualLayout>
      </c:layout>
      <c:overlay val="0"/>
      <c:spPr>
        <a:noFill/>
        <a:ln w="25400">
          <a:noFill/>
        </a:ln>
      </c:spPr>
      <c:txPr>
        <a:bodyPr rot="0" spcFirstLastPara="0" vertOverflow="ellipsis" vert="horz" wrap="square" anchor="ctr" anchorCtr="1"/>
        <a:lstStyle/>
        <a:p>
          <a:pPr>
            <a:defRPr lang="en-US" sz="1200" b="0" i="0" u="none" strike="noStrike" kern="1200" baseline="0">
              <a:solidFill>
                <a:srgbClr val="000000"/>
              </a:solidFill>
              <a:latin typeface="Calibri" panose="020F0502020204030204"/>
              <a:ea typeface="Calibri" panose="020F0502020204030204"/>
              <a:cs typeface="Calibri" panose="020F0502020204030204"/>
            </a:defRPr>
          </a:pPr>
          <a:endParaRPr lang="fr-FR"/>
        </a:p>
      </c:txPr>
    </c:legend>
    <c:plotVisOnly val="1"/>
    <c:dispBlanksAs val="gap"/>
    <c:showDLblsOverMax val="0"/>
    <c:extLst>
      <c:ext uri="{0b15fc19-7d7d-44ad-8c2d-2c3a37ce22c3}">
        <chartProps xmlns="https://web.wps.cn/et/2018/main" chartId="{7d1c9f28-65ca-4e19-8e36-77640ff6d36e}"/>
      </c:ext>
    </c:extLst>
  </c:chart>
  <c:spPr>
    <a:solidFill>
      <a:schemeClr val="bg1"/>
    </a:solidFill>
    <a:ln w="9525" cap="flat" cmpd="sng" algn="ctr">
      <a:solidFill>
        <a:schemeClr val="tx1">
          <a:lumMod val="15000"/>
          <a:lumOff val="85000"/>
        </a:schemeClr>
      </a:solidFill>
      <a:round/>
    </a:ln>
    <a:effectLst/>
  </c:spPr>
  <c:txPr>
    <a:bodyPr/>
    <a:lstStyle/>
    <a:p>
      <a:pPr>
        <a:defRPr lang="en-US" sz="1200" b="0" i="0" u="none" strike="noStrike" baseline="0">
          <a:solidFill>
            <a:srgbClr val="000000"/>
          </a:solidFill>
          <a:latin typeface="Calibri" panose="020F0502020204030204"/>
          <a:ea typeface="Calibri" panose="020F0502020204030204"/>
          <a:cs typeface="Calibri" panose="020F0502020204030204"/>
        </a:defRPr>
      </a:pPr>
      <a:endParaRPr lang="fr-FR"/>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401289833264897E-2"/>
          <c:y val="6.8937553143042798E-2"/>
          <c:w val="0.93242746583405001"/>
          <c:h val="0.76004264181827996"/>
        </c:manualLayout>
      </c:layout>
      <c:barChart>
        <c:barDir val="col"/>
        <c:grouping val="clustered"/>
        <c:varyColors val="0"/>
        <c:ser>
          <c:idx val="0"/>
          <c:order val="0"/>
          <c:tx>
            <c:strRef>
              <c:f>'Tableau synthese CV Antigènes'!$BJ$2</c:f>
              <c:strCache>
                <c:ptCount val="1"/>
                <c:pt idx="0">
                  <c:v>VPI2</c:v>
                </c:pt>
              </c:strCache>
            </c:strRef>
          </c:tx>
          <c:spPr>
            <a:solidFill>
              <a:srgbClr val="4F81BD"/>
            </a:solidFill>
            <a:ln w="25400">
              <a:noFill/>
            </a:ln>
          </c:spPr>
          <c:invertIfNegative val="0"/>
          <c:cat>
            <c:strRef>
              <c:f>'Tableau synthese CV Antigènes'!$BI$3:$BI$29</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Antigènes'!$BJ$3:$BJ$29</c:f>
              <c:numCache>
                <c:formatCode>0%</c:formatCode>
                <c:ptCount val="27"/>
                <c:pt idx="0">
                  <c:v>0.89689754456342397</c:v>
                </c:pt>
                <c:pt idx="1">
                  <c:v>0.92557632021060998</c:v>
                </c:pt>
                <c:pt idx="2">
                  <c:v>0.89287384914894496</c:v>
                </c:pt>
                <c:pt idx="3">
                  <c:v>0.99462799437437999</c:v>
                </c:pt>
                <c:pt idx="4">
                  <c:v>0.93041345902594896</c:v>
                </c:pt>
                <c:pt idx="5">
                  <c:v>0.86029218726311996</c:v>
                </c:pt>
                <c:pt idx="6">
                  <c:v>0.84670810963549004</c:v>
                </c:pt>
                <c:pt idx="7">
                  <c:v>0.95151316694903598</c:v>
                </c:pt>
                <c:pt idx="8">
                  <c:v>0.88918188594856495</c:v>
                </c:pt>
                <c:pt idx="9">
                  <c:v>0.76452725994330595</c:v>
                </c:pt>
                <c:pt idx="10">
                  <c:v>1.2680170228599299</c:v>
                </c:pt>
                <c:pt idx="11">
                  <c:v>1.0518293790647799</c:v>
                </c:pt>
                <c:pt idx="12">
                  <c:v>0.93354732698995002</c:v>
                </c:pt>
                <c:pt idx="13">
                  <c:v>0.94925369681758498</c:v>
                </c:pt>
                <c:pt idx="14">
                  <c:v>1.19091356144609</c:v>
                </c:pt>
                <c:pt idx="15">
                  <c:v>0.94738406318942003</c:v>
                </c:pt>
                <c:pt idx="16">
                  <c:v>1.1528245085886299</c:v>
                </c:pt>
                <c:pt idx="17">
                  <c:v>0.95084440021148897</c:v>
                </c:pt>
                <c:pt idx="18">
                  <c:v>0.90638737110225498</c:v>
                </c:pt>
                <c:pt idx="19">
                  <c:v>0.93989677089109802</c:v>
                </c:pt>
                <c:pt idx="20">
                  <c:v>1.2510383688169899</c:v>
                </c:pt>
                <c:pt idx="21">
                  <c:v>0.82197406228158698</c:v>
                </c:pt>
                <c:pt idx="22">
                  <c:v>0.97792141821206902</c:v>
                </c:pt>
                <c:pt idx="23">
                  <c:v>0.99031760715386996</c:v>
                </c:pt>
                <c:pt idx="24">
                  <c:v>0.97210863147085202</c:v>
                </c:pt>
                <c:pt idx="25">
                  <c:v>0.86705365377312404</c:v>
                </c:pt>
                <c:pt idx="26">
                  <c:v>0.93037054267836705</c:v>
                </c:pt>
              </c:numCache>
            </c:numRef>
          </c:val>
          <c:extLst>
            <c:ext xmlns:c16="http://schemas.microsoft.com/office/drawing/2014/chart" uri="{C3380CC4-5D6E-409C-BE32-E72D297353CC}">
              <c16:uniqueId val="{00000000-770D-4F15-8CBA-8CB6806D4F72}"/>
            </c:ext>
          </c:extLst>
        </c:ser>
        <c:ser>
          <c:idx val="1"/>
          <c:order val="1"/>
          <c:tx>
            <c:strRef>
              <c:f>'Tableau synthese CV Antigènes'!$BK$2</c:f>
              <c:strCache>
                <c:ptCount val="1"/>
                <c:pt idx="0">
                  <c:v>VAR1</c:v>
                </c:pt>
              </c:strCache>
            </c:strRef>
          </c:tx>
          <c:spPr>
            <a:solidFill>
              <a:srgbClr val="C0504D"/>
            </a:solidFill>
            <a:ln w="25400">
              <a:noFill/>
            </a:ln>
          </c:spPr>
          <c:invertIfNegative val="0"/>
          <c:cat>
            <c:strRef>
              <c:f>'Tableau synthese CV Antigènes'!$BI$3:$BI$29</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Antigènes'!$BK$3:$BK$29</c:f>
              <c:numCache>
                <c:formatCode>0%</c:formatCode>
                <c:ptCount val="27"/>
                <c:pt idx="0">
                  <c:v>0.76891721393678603</c:v>
                </c:pt>
                <c:pt idx="1">
                  <c:v>0.87616259937301899</c:v>
                </c:pt>
                <c:pt idx="2">
                  <c:v>0.80916084199710703</c:v>
                </c:pt>
                <c:pt idx="3">
                  <c:v>0.96127775344108102</c:v>
                </c:pt>
                <c:pt idx="4">
                  <c:v>0.88760024924122105</c:v>
                </c:pt>
                <c:pt idx="5">
                  <c:v>0.86444093579793202</c:v>
                </c:pt>
                <c:pt idx="6">
                  <c:v>0.66294327493642302</c:v>
                </c:pt>
                <c:pt idx="7">
                  <c:v>0.92004916546837701</c:v>
                </c:pt>
                <c:pt idx="8">
                  <c:v>0.87980805068952594</c:v>
                </c:pt>
                <c:pt idx="9">
                  <c:v>0.72581983409148099</c:v>
                </c:pt>
                <c:pt idx="10">
                  <c:v>1.1919955349875599</c:v>
                </c:pt>
                <c:pt idx="11">
                  <c:v>1.0281037677578799</c:v>
                </c:pt>
                <c:pt idx="12">
                  <c:v>0.93431159004929498</c:v>
                </c:pt>
                <c:pt idx="13">
                  <c:v>0.85189019136127297</c:v>
                </c:pt>
                <c:pt idx="14">
                  <c:v>1.0684496898745199</c:v>
                </c:pt>
                <c:pt idx="15">
                  <c:v>0.89948904358561099</c:v>
                </c:pt>
                <c:pt idx="16">
                  <c:v>1.0288817492642499</c:v>
                </c:pt>
                <c:pt idx="17">
                  <c:v>0.90402139769228396</c:v>
                </c:pt>
                <c:pt idx="18">
                  <c:v>0.87144632513043796</c:v>
                </c:pt>
                <c:pt idx="19">
                  <c:v>0.90744927412589405</c:v>
                </c:pt>
                <c:pt idx="20">
                  <c:v>1.11808843320069</c:v>
                </c:pt>
                <c:pt idx="21">
                  <c:v>0.701355905878698</c:v>
                </c:pt>
                <c:pt idx="22">
                  <c:v>0.96302076814912396</c:v>
                </c:pt>
                <c:pt idx="23">
                  <c:v>0.94226881830952103</c:v>
                </c:pt>
                <c:pt idx="24">
                  <c:v>0.87289042109059301</c:v>
                </c:pt>
                <c:pt idx="25">
                  <c:v>0.83079260022785195</c:v>
                </c:pt>
                <c:pt idx="26">
                  <c:v>0.86994185625364095</c:v>
                </c:pt>
              </c:numCache>
            </c:numRef>
          </c:val>
          <c:extLst>
            <c:ext xmlns:c16="http://schemas.microsoft.com/office/drawing/2014/chart" uri="{C3380CC4-5D6E-409C-BE32-E72D297353CC}">
              <c16:uniqueId val="{00000001-770D-4F15-8CBA-8CB6806D4F72}"/>
            </c:ext>
          </c:extLst>
        </c:ser>
        <c:ser>
          <c:idx val="2"/>
          <c:order val="2"/>
          <c:tx>
            <c:strRef>
              <c:f>'Tableau synthese CV Antigènes'!$BL$2</c:f>
              <c:strCache>
                <c:ptCount val="1"/>
                <c:pt idx="0">
                  <c:v>VAA</c:v>
                </c:pt>
              </c:strCache>
            </c:strRef>
          </c:tx>
          <c:spPr>
            <a:solidFill>
              <a:srgbClr val="9BBB59"/>
            </a:solidFill>
            <a:ln w="25400">
              <a:noFill/>
            </a:ln>
          </c:spPr>
          <c:invertIfNegative val="0"/>
          <c:cat>
            <c:strRef>
              <c:f>'Tableau synthese CV Antigènes'!$BI$3:$BI$29</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Antigènes'!$BL$3:$BL$29</c:f>
              <c:numCache>
                <c:formatCode>0%</c:formatCode>
                <c:ptCount val="27"/>
                <c:pt idx="0">
                  <c:v>0.73616913176019005</c:v>
                </c:pt>
                <c:pt idx="1">
                  <c:v>0.76423697950116698</c:v>
                </c:pt>
                <c:pt idx="2">
                  <c:v>0.70470582406771698</c:v>
                </c:pt>
                <c:pt idx="3">
                  <c:v>0.87893585456008405</c:v>
                </c:pt>
                <c:pt idx="4">
                  <c:v>0.749899159958612</c:v>
                </c:pt>
                <c:pt idx="5">
                  <c:v>0.71444425804286904</c:v>
                </c:pt>
                <c:pt idx="6">
                  <c:v>0.72295199426797196</c:v>
                </c:pt>
                <c:pt idx="7">
                  <c:v>0.80678232785391901</c:v>
                </c:pt>
                <c:pt idx="8">
                  <c:v>0.77585099550417502</c:v>
                </c:pt>
                <c:pt idx="9">
                  <c:v>0.634907509265492</c:v>
                </c:pt>
                <c:pt idx="10">
                  <c:v>1.04703787682802</c:v>
                </c:pt>
                <c:pt idx="11">
                  <c:v>0.90313837375178296</c:v>
                </c:pt>
                <c:pt idx="12">
                  <c:v>0.81966970193155497</c:v>
                </c:pt>
                <c:pt idx="13">
                  <c:v>0.80285385593476899</c:v>
                </c:pt>
                <c:pt idx="14">
                  <c:v>0.936048885474841</c:v>
                </c:pt>
                <c:pt idx="15">
                  <c:v>0.78197213440114899</c:v>
                </c:pt>
                <c:pt idx="16">
                  <c:v>0.887283322051856</c:v>
                </c:pt>
                <c:pt idx="17">
                  <c:v>0.79507757433500403</c:v>
                </c:pt>
                <c:pt idx="18">
                  <c:v>0.77689434926865097</c:v>
                </c:pt>
                <c:pt idx="19">
                  <c:v>0.81887204426469495</c:v>
                </c:pt>
                <c:pt idx="20">
                  <c:v>1.0625443487075501</c:v>
                </c:pt>
                <c:pt idx="21">
                  <c:v>0.65443615706511105</c:v>
                </c:pt>
                <c:pt idx="22">
                  <c:v>0.85440285708779995</c:v>
                </c:pt>
                <c:pt idx="23">
                  <c:v>0.83131154303752797</c:v>
                </c:pt>
                <c:pt idx="24">
                  <c:v>0.76090365108316504</c:v>
                </c:pt>
                <c:pt idx="25">
                  <c:v>0.71443582971230601</c:v>
                </c:pt>
                <c:pt idx="26">
                  <c:v>0.88862416939327105</c:v>
                </c:pt>
              </c:numCache>
            </c:numRef>
          </c:val>
          <c:extLst>
            <c:ext xmlns:c16="http://schemas.microsoft.com/office/drawing/2014/chart" uri="{C3380CC4-5D6E-409C-BE32-E72D297353CC}">
              <c16:uniqueId val="{00000002-770D-4F15-8CBA-8CB6806D4F72}"/>
            </c:ext>
          </c:extLst>
        </c:ser>
        <c:dLbls>
          <c:showLegendKey val="0"/>
          <c:showVal val="0"/>
          <c:showCatName val="0"/>
          <c:showSerName val="0"/>
          <c:showPercent val="0"/>
          <c:showBubbleSize val="0"/>
        </c:dLbls>
        <c:gapWidth val="219"/>
        <c:overlap val="-27"/>
        <c:axId val="141873040"/>
        <c:axId val="141871864"/>
      </c:barChart>
      <c:catAx>
        <c:axId val="14187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2700000" spcFirstLastPara="0" vertOverflow="ellipsis" vert="horz" wrap="square" anchor="ctr" anchorCtr="1"/>
          <a:lstStyle/>
          <a:p>
            <a:pPr>
              <a:defRPr lang="en-US" sz="900" b="0" i="0" u="none" strike="noStrike" kern="1200" baseline="0">
                <a:solidFill>
                  <a:srgbClr val="333333"/>
                </a:solidFill>
                <a:latin typeface="Calibri" panose="020F0502020204030204"/>
                <a:ea typeface="Calibri" panose="020F0502020204030204"/>
                <a:cs typeface="Calibri" panose="020F0502020204030204"/>
              </a:defRPr>
            </a:pPr>
            <a:endParaRPr lang="fr-FR"/>
          </a:p>
        </c:txPr>
        <c:crossAx val="141871864"/>
        <c:crosses val="autoZero"/>
        <c:auto val="1"/>
        <c:lblAlgn val="ctr"/>
        <c:lblOffset val="100"/>
        <c:noMultiLvlLbl val="0"/>
      </c:catAx>
      <c:valAx>
        <c:axId val="141871864"/>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none"/>
        <c:minorTickMark val="none"/>
        <c:tickLblPos val="nextTo"/>
        <c:spPr>
          <a:ln w="9525" cap="flat" cmpd="sng" algn="ctr">
            <a:noFill/>
            <a:prstDash val="solid"/>
            <a:round/>
          </a:ln>
        </c:spPr>
        <c:txPr>
          <a:bodyPr rot="0" spcFirstLastPara="0" vertOverflow="ellipsis" vert="horz" wrap="square" anchor="ctr" anchorCtr="1"/>
          <a:lstStyle/>
          <a:p>
            <a:pPr>
              <a:defRPr lang="en-US" sz="900" b="0" i="0" u="none" strike="noStrike" kern="1200" baseline="0">
                <a:solidFill>
                  <a:srgbClr val="333333"/>
                </a:solidFill>
                <a:latin typeface="Calibri" panose="020F0502020204030204"/>
                <a:ea typeface="Calibri" panose="020F0502020204030204"/>
                <a:cs typeface="Calibri" panose="020F0502020204030204"/>
              </a:defRPr>
            </a:pPr>
            <a:endParaRPr lang="fr-FR"/>
          </a:p>
        </c:txPr>
        <c:crossAx val="141873040"/>
        <c:crosses val="autoZero"/>
        <c:crossBetween val="between"/>
      </c:valAx>
      <c:spPr>
        <a:noFill/>
        <a:ln w="25400">
          <a:noFill/>
        </a:ln>
      </c:spPr>
    </c:plotArea>
    <c:legend>
      <c:legendPos val="r"/>
      <c:layout>
        <c:manualLayout>
          <c:xMode val="edge"/>
          <c:yMode val="edge"/>
          <c:x val="0.42290744426177501"/>
          <c:y val="1.5174495018682401E-2"/>
          <c:w val="0.20704842663897799"/>
          <c:h val="3.7936158131519501E-2"/>
        </c:manualLayout>
      </c:layout>
      <c:overlay val="0"/>
      <c:spPr>
        <a:noFill/>
        <a:ln w="25400">
          <a:noFill/>
        </a:ln>
      </c:spPr>
      <c:txPr>
        <a:bodyPr rot="0" spcFirstLastPara="0" vertOverflow="ellipsis" vert="horz" wrap="square" anchor="ctr" anchorCtr="1"/>
        <a:lstStyle/>
        <a:p>
          <a:pPr>
            <a:defRPr lang="en-US" sz="1100" b="0" i="0" u="none" strike="noStrike" kern="1200" baseline="0">
              <a:solidFill>
                <a:srgbClr val="333333"/>
              </a:solidFill>
              <a:latin typeface="Calibri" panose="020F0502020204030204"/>
              <a:ea typeface="Calibri" panose="020F0502020204030204"/>
              <a:cs typeface="Calibri" panose="020F0502020204030204"/>
            </a:defRPr>
          </a:pPr>
          <a:endParaRPr lang="fr-FR"/>
        </a:p>
      </c:txPr>
    </c:legend>
    <c:plotVisOnly val="1"/>
    <c:dispBlanksAs val="gap"/>
    <c:showDLblsOverMax val="0"/>
    <c:extLst>
      <c:ext uri="{0b15fc19-7d7d-44ad-8c2d-2c3a37ce22c3}">
        <chartProps xmlns="https://web.wps.cn/et/2018/main" chartId="{5abaf577-9d73-4a0d-9417-f9c8dac796eb}"/>
      </c:ext>
    </c:extLst>
  </c:chart>
  <c:spPr>
    <a:solidFill>
      <a:schemeClr val="bg1"/>
    </a:solidFill>
    <a:ln w="9525" cap="flat" cmpd="sng" algn="ctr">
      <a:solidFill>
        <a:schemeClr val="tx1">
          <a:lumMod val="15000"/>
          <a:lumOff val="85000"/>
        </a:schemeClr>
      </a:solidFill>
      <a:round/>
    </a:ln>
    <a:effectLst/>
  </c:spPr>
  <c:txPr>
    <a:bodyPr/>
    <a:lstStyle/>
    <a:p>
      <a:pPr>
        <a:defRPr lang="en-US" sz="1000" b="0" i="0" u="none" strike="noStrike" baseline="0">
          <a:solidFill>
            <a:srgbClr val="000000"/>
          </a:solidFill>
          <a:latin typeface="Calibri" panose="020F0502020204030204"/>
          <a:ea typeface="Calibri" panose="020F0502020204030204"/>
          <a:cs typeface="Calibri" panose="020F0502020204030204"/>
        </a:defRPr>
      </a:pPr>
      <a:endParaRPr lang="fr-FR"/>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12/15/2025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a:t>
            </a:fld>
            <a:endParaRPr lang="en-US"/>
          </a:p>
        </p:txBody>
      </p:sp>
    </p:spTree>
    <p:extLst>
      <p:ext uri="{BB962C8B-B14F-4D97-AF65-F5344CB8AC3E}">
        <p14:creationId xmlns:p14="http://schemas.microsoft.com/office/powerpoint/2010/main" val="1475035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12/15/2025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a:t>
            </a:fld>
            <a:endParaRPr lang="en-US"/>
          </a:p>
        </p:txBody>
      </p:sp>
    </p:spTree>
    <p:extLst>
      <p:ext uri="{BB962C8B-B14F-4D97-AF65-F5344CB8AC3E}">
        <p14:creationId xmlns:p14="http://schemas.microsoft.com/office/powerpoint/2010/main" val="1434183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42316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904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647236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2f1c646a89f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9" name="Google Shape;1289;g2f1c646a8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808292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2f1c646a89f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9" name="Google Shape;1289;g2f1c646a8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358027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F79FB3-60D9-463F-87AE-5B5BE1B62AB7}" type="slidenum">
              <a:rPr lang="en-US" smtClean="0"/>
              <a:t>12</a:t>
            </a:fld>
            <a:endParaRPr lang="en-US"/>
          </a:p>
        </p:txBody>
      </p:sp>
    </p:spTree>
    <p:extLst>
      <p:ext uri="{BB962C8B-B14F-4D97-AF65-F5344CB8AC3E}">
        <p14:creationId xmlns:p14="http://schemas.microsoft.com/office/powerpoint/2010/main" val="4175710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fr-F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t>15</a:t>
            </a:fld>
            <a:endParaRPr lang="fr-FR" altLang="fr-FR"/>
          </a:p>
        </p:txBody>
      </p:sp>
    </p:spTree>
    <p:extLst>
      <p:ext uri="{BB962C8B-B14F-4D97-AF65-F5344CB8AC3E}">
        <p14:creationId xmlns:p14="http://schemas.microsoft.com/office/powerpoint/2010/main" val="1018259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fr-F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t>16</a:t>
            </a:fld>
            <a:endParaRPr lang="fr-FR" altLang="fr-FR"/>
          </a:p>
        </p:txBody>
      </p:sp>
    </p:spTree>
    <p:extLst>
      <p:ext uri="{BB962C8B-B14F-4D97-AF65-F5344CB8AC3E}">
        <p14:creationId xmlns:p14="http://schemas.microsoft.com/office/powerpoint/2010/main" val="1503769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fr-F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t>17</a:t>
            </a:fld>
            <a:endParaRPr lang="fr-FR" altLang="fr-FR"/>
          </a:p>
        </p:txBody>
      </p:sp>
    </p:spTree>
    <p:extLst>
      <p:ext uri="{BB962C8B-B14F-4D97-AF65-F5344CB8AC3E}">
        <p14:creationId xmlns:p14="http://schemas.microsoft.com/office/powerpoint/2010/main" val="1469538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fr-F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t>18</a:t>
            </a:fld>
            <a:endParaRPr lang="fr-FR" altLang="fr-FR"/>
          </a:p>
        </p:txBody>
      </p:sp>
    </p:spTree>
    <p:extLst>
      <p:ext uri="{BB962C8B-B14F-4D97-AF65-F5344CB8AC3E}">
        <p14:creationId xmlns:p14="http://schemas.microsoft.com/office/powerpoint/2010/main" val="3310811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E720700-6DCE-4403-9393-0E7AD176CA90}"/>
              </a:ext>
            </a:extLst>
          </p:cNvPr>
          <p:cNvSpPr>
            <a:spLocks noGrp="1" noRot="1" noChangeAspect="1" noTextEdit="1"/>
          </p:cNvSpPr>
          <p:nvPr>
            <p:ph type="sldImg"/>
          </p:nvPr>
        </p:nvSpPr>
        <p:spPr bwMode="auto">
          <a:xfrm>
            <a:off x="2668588" y="519113"/>
            <a:ext cx="4525962" cy="25463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F88417B1-1280-4925-9505-73680753A218}"/>
              </a:ext>
            </a:extLst>
          </p:cNvPr>
          <p:cNvSpPr>
            <a:spLocks noGrp="1"/>
          </p:cNvSpPr>
          <p:nvPr>
            <p:ph type="body" idx="1"/>
          </p:nvPr>
        </p:nvSpPr>
        <p:spPr bwMode="auto">
          <a:xfrm>
            <a:off x="992188" y="3228975"/>
            <a:ext cx="7942262" cy="30575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fr-FR"/>
          </a:p>
        </p:txBody>
      </p:sp>
    </p:spTree>
    <p:extLst>
      <p:ext uri="{BB962C8B-B14F-4D97-AF65-F5344CB8AC3E}">
        <p14:creationId xmlns:p14="http://schemas.microsoft.com/office/powerpoint/2010/main" val="1748041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74391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132849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004405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080508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897837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TH: DataVis - full page graphic">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a:p>
        </p:txBody>
      </p:sp>
      <p:sp>
        <p:nvSpPr>
          <p:cNvPr id="4" name="Date Placeholder 3"/>
          <p:cNvSpPr>
            <a:spLocks noGrp="1"/>
          </p:cNvSpPr>
          <p:nvPr>
            <p:ph type="dt" sz="half" idx="11"/>
          </p:nvPr>
        </p:nvSpPr>
        <p:spPr/>
        <p:txBody>
          <a:bodyPr/>
          <a:lstStyle/>
          <a:p>
            <a:endParaRPr lang="en-US"/>
          </a:p>
        </p:txBody>
      </p:sp>
      <p:sp>
        <p:nvSpPr>
          <p:cNvPr id="5" name="Slide Number Placeholder 4"/>
          <p:cNvSpPr>
            <a:spLocks noGrp="1"/>
          </p:cNvSpPr>
          <p:nvPr>
            <p:ph type="sldNum" sz="quarter" idx="12"/>
          </p:nvPr>
        </p:nvSpPr>
        <p:spPr/>
        <p:txBody>
          <a:bodyPr/>
          <a:lstStyle/>
          <a:p>
            <a:fld id="{E28D367D-202E-4BB0-8243-51A46362D732}" type="slidenum">
              <a:rPr lang="en-US" smtClean="0"/>
              <a:t>‹#›</a:t>
            </a:fld>
            <a:endParaRPr lang="en-US"/>
          </a:p>
        </p:txBody>
      </p:sp>
      <p:sp>
        <p:nvSpPr>
          <p:cNvPr id="6" name="Content Placeholder 2"/>
          <p:cNvSpPr>
            <a:spLocks noGrp="1"/>
          </p:cNvSpPr>
          <p:nvPr>
            <p:ph sz="quarter" idx="14"/>
          </p:nvPr>
        </p:nvSpPr>
        <p:spPr>
          <a:xfrm>
            <a:off x="762002" y="2019301"/>
            <a:ext cx="10718799" cy="4099923"/>
          </a:xfrm>
          <a:prstGeom prst="rect">
            <a:avLst/>
          </a:prstGeom>
        </p:spPr>
        <p:txBody>
          <a:bodyPr/>
          <a:lstStyle>
            <a:lvl1pPr marL="0" indent="0">
              <a:spcBef>
                <a:spcPts val="0"/>
              </a:spcBef>
              <a:spcAft>
                <a:spcPts val="1800"/>
              </a:spcAft>
              <a:buNone/>
              <a:defRPr sz="1600"/>
            </a:lvl1pPr>
          </a:lstStyle>
          <a:p>
            <a:pPr lvl="0"/>
            <a:r>
              <a:rPr lang="en-US"/>
              <a:t>Edit Master text styles</a:t>
            </a:r>
          </a:p>
        </p:txBody>
      </p:sp>
      <p:sp>
        <p:nvSpPr>
          <p:cNvPr id="7" name="Text Placeholder 4"/>
          <p:cNvSpPr>
            <a:spLocks noGrp="1"/>
          </p:cNvSpPr>
          <p:nvPr>
            <p:ph type="body" sz="quarter" idx="16" hasCustomPrompt="1"/>
          </p:nvPr>
        </p:nvSpPr>
        <p:spPr>
          <a:xfrm>
            <a:off x="762001" y="847225"/>
            <a:ext cx="10718800" cy="1012465"/>
          </a:xfrm>
          <a:prstGeom prst="rect">
            <a:avLst/>
          </a:prstGeom>
        </p:spPr>
        <p:txBody>
          <a:bodyPr lIns="0" tIns="0" rIns="0" bIns="0"/>
          <a:lstStyle>
            <a:lvl1pPr marL="0" indent="0">
              <a:buNone/>
              <a:defRPr sz="3200" baseline="0">
                <a:solidFill>
                  <a:schemeClr val="accent1"/>
                </a:solidFill>
                <a:latin typeface="+mj-lt"/>
              </a:defRPr>
            </a:lvl1pPr>
          </a:lstStyle>
          <a:p>
            <a:pPr lvl="0"/>
            <a:r>
              <a:rPr lang="en-US" sz="3200">
                <a:solidFill>
                  <a:srgbClr val="F65050"/>
                </a:solidFill>
                <a:latin typeface="Arial" panose="020B0604020202020204" pitchFamily="34" charset="0"/>
                <a:cs typeface="Arial" panose="020B0604020202020204" pitchFamily="34" charset="0"/>
              </a:rPr>
              <a:t>H1 – Arial 32 pt. red: </a:t>
            </a:r>
            <a:r>
              <a:rPr lang="en-US"/>
              <a:t>Data Vis, Long title with large full page data visual graphic</a:t>
            </a: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 Column Lis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54E43CC-A238-47A3-B91D-337B8322DEDB}"/>
              </a:ext>
            </a:extLst>
          </p:cNvPr>
          <p:cNvSpPr>
            <a:spLocks noGrp="1"/>
          </p:cNvSpPr>
          <p:nvPr>
            <p:ph type="ftr" sz="quarter" idx="11"/>
          </p:nvPr>
        </p:nvSpPr>
        <p:spPr/>
        <p:txBody>
          <a:bodyPr/>
          <a:lstStyle/>
          <a:p>
            <a:r>
              <a:rPr lang="en-GB"/>
              <a:t>Immunization, Vaccines and Biologicals</a:t>
            </a:r>
            <a:endParaRPr lang="en-GB" dirty="0"/>
          </a:p>
        </p:txBody>
      </p:sp>
      <p:sp>
        <p:nvSpPr>
          <p:cNvPr id="7" name="Slide Number Placeholder 6">
            <a:extLst>
              <a:ext uri="{FF2B5EF4-FFF2-40B4-BE49-F238E27FC236}">
                <a16:creationId xmlns:a16="http://schemas.microsoft.com/office/drawing/2014/main" id="{16FE5D80-3F53-4103-9967-095D04856AB1}"/>
              </a:ext>
            </a:extLst>
          </p:cNvPr>
          <p:cNvSpPr>
            <a:spLocks noGrp="1"/>
          </p:cNvSpPr>
          <p:nvPr>
            <p:ph type="sldNum" sz="quarter" idx="12"/>
          </p:nvPr>
        </p:nvSpPr>
        <p:spPr/>
        <p:txBody>
          <a:bodyPr/>
          <a:lstStyle/>
          <a:p>
            <a:fld id="{E2E31AFC-DF42-41A5-B57C-06A83BBA6616}" type="slidenum">
              <a:rPr lang="en-GB" smtClean="0"/>
              <a:t>‹#›</a:t>
            </a:fld>
            <a:endParaRPr lang="en-GB"/>
          </a:p>
        </p:txBody>
      </p:sp>
      <p:sp>
        <p:nvSpPr>
          <p:cNvPr id="8" name="Title 1">
            <a:extLst>
              <a:ext uri="{FF2B5EF4-FFF2-40B4-BE49-F238E27FC236}">
                <a16:creationId xmlns:a16="http://schemas.microsoft.com/office/drawing/2014/main" id="{2D9919F6-A4D0-4CA9-A4CD-91445785695F}"/>
              </a:ext>
            </a:extLst>
          </p:cNvPr>
          <p:cNvSpPr>
            <a:spLocks noGrp="1"/>
          </p:cNvSpPr>
          <p:nvPr>
            <p:ph type="title"/>
          </p:nvPr>
        </p:nvSpPr>
        <p:spPr>
          <a:xfrm>
            <a:off x="577639" y="537198"/>
            <a:ext cx="7246760" cy="403133"/>
          </a:xfrm>
        </p:spPr>
        <p:txBody>
          <a:bodyPr lIns="0" tIns="0" rIns="0" bIns="0" anchor="t" anchorCtr="0"/>
          <a:lstStyle>
            <a:lvl1pPr>
              <a:defRPr/>
            </a:lvl1pPr>
          </a:lstStyle>
          <a:p>
            <a:r>
              <a:rPr lang="en-US"/>
              <a:t>Click to edit Master title style</a:t>
            </a:r>
            <a:endParaRPr lang="en-GB" dirty="0"/>
          </a:p>
        </p:txBody>
      </p:sp>
      <p:sp>
        <p:nvSpPr>
          <p:cNvPr id="19" name="object 14">
            <a:extLst>
              <a:ext uri="{FF2B5EF4-FFF2-40B4-BE49-F238E27FC236}">
                <a16:creationId xmlns:a16="http://schemas.microsoft.com/office/drawing/2014/main" id="{FFCCEE77-DD40-4843-B514-E7A8B70251C9}"/>
              </a:ext>
            </a:extLst>
          </p:cNvPr>
          <p:cNvSpPr/>
          <p:nvPr userDrawn="1"/>
        </p:nvSpPr>
        <p:spPr>
          <a:xfrm>
            <a:off x="577850" y="6397939"/>
            <a:ext cx="11042887" cy="0"/>
          </a:xfrm>
          <a:custGeom>
            <a:avLst/>
            <a:gdLst/>
            <a:ahLst/>
            <a:cxnLst/>
            <a:rect l="l" t="t" r="r" b="b"/>
            <a:pathLst>
              <a:path w="18209260">
                <a:moveTo>
                  <a:pt x="0" y="0"/>
                </a:moveTo>
                <a:lnTo>
                  <a:pt x="18208869" y="0"/>
                </a:lnTo>
              </a:path>
            </a:pathLst>
          </a:custGeom>
          <a:ln w="9622">
            <a:solidFill>
              <a:schemeClr val="tx1"/>
            </a:solidFill>
          </a:ln>
        </p:spPr>
        <p:txBody>
          <a:bodyPr wrap="square" lIns="0" tIns="0" rIns="0" bIns="0" rtlCol="0"/>
          <a:lstStyle/>
          <a:p>
            <a:endParaRPr sz="1092"/>
          </a:p>
        </p:txBody>
      </p:sp>
      <p:sp>
        <p:nvSpPr>
          <p:cNvPr id="5" name="Text Placeholder 4">
            <a:extLst>
              <a:ext uri="{FF2B5EF4-FFF2-40B4-BE49-F238E27FC236}">
                <a16:creationId xmlns:a16="http://schemas.microsoft.com/office/drawing/2014/main" id="{8032B504-645A-42DC-ABCE-1D8DD23450AD}"/>
              </a:ext>
            </a:extLst>
          </p:cNvPr>
          <p:cNvSpPr>
            <a:spLocks noGrp="1"/>
          </p:cNvSpPr>
          <p:nvPr>
            <p:ph type="body" sz="quarter" idx="13"/>
          </p:nvPr>
        </p:nvSpPr>
        <p:spPr>
          <a:xfrm>
            <a:off x="586304" y="1996560"/>
            <a:ext cx="5335021" cy="1245368"/>
          </a:xfrm>
        </p:spPr>
        <p:txBody>
          <a:bodyPr/>
          <a:lstStyle>
            <a:lvl1pPr marL="207935" indent="-207935">
              <a:spcAft>
                <a:spcPts val="364"/>
              </a:spcAft>
              <a:buClr>
                <a:schemeClr val="accent1"/>
              </a:buClr>
              <a:buSzPct val="110000"/>
              <a:buFont typeface="Wingdings" pitchFamily="2" charset="2"/>
              <a:buChar char="§"/>
              <a:defRPr sz="1213"/>
            </a:lvl1pPr>
            <a:lvl2pPr>
              <a:spcAft>
                <a:spcPts val="364"/>
              </a:spcAft>
              <a:buSzPct val="110000"/>
              <a:defRPr sz="1092"/>
            </a:lvl2pPr>
            <a:lvl3pPr>
              <a:spcAft>
                <a:spcPts val="364"/>
              </a:spcAft>
              <a:buSzPct val="110000"/>
              <a:defRPr sz="970"/>
            </a:lvl3pPr>
            <a:lvl4pPr>
              <a:spcAft>
                <a:spcPts val="364"/>
              </a:spcAft>
              <a:buSzPct val="110000"/>
              <a:defRPr sz="849"/>
            </a:lvl4pPr>
            <a:lvl5pPr>
              <a:spcAft>
                <a:spcPts val="364"/>
              </a:spcAft>
              <a:buSzPct val="110000"/>
              <a:defRPr sz="84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ext Placeholder 4">
            <a:extLst>
              <a:ext uri="{FF2B5EF4-FFF2-40B4-BE49-F238E27FC236}">
                <a16:creationId xmlns:a16="http://schemas.microsoft.com/office/drawing/2014/main" id="{0F4306BB-6547-4B5E-8784-4CBAC01B610A}"/>
              </a:ext>
            </a:extLst>
          </p:cNvPr>
          <p:cNvSpPr>
            <a:spLocks noGrp="1"/>
          </p:cNvSpPr>
          <p:nvPr>
            <p:ph type="body" sz="quarter" idx="15"/>
          </p:nvPr>
        </p:nvSpPr>
        <p:spPr>
          <a:xfrm>
            <a:off x="6270675" y="1996560"/>
            <a:ext cx="5335021" cy="1245368"/>
          </a:xfrm>
        </p:spPr>
        <p:txBody>
          <a:bodyPr/>
          <a:lstStyle>
            <a:lvl1pPr marL="207935" indent="-207935">
              <a:spcAft>
                <a:spcPts val="364"/>
              </a:spcAft>
              <a:buClr>
                <a:schemeClr val="accent1"/>
              </a:buClr>
              <a:buSzPct val="110000"/>
              <a:buFont typeface="Wingdings" pitchFamily="2" charset="2"/>
              <a:buChar char="§"/>
              <a:defRPr sz="1213"/>
            </a:lvl1pPr>
            <a:lvl2pPr>
              <a:spcAft>
                <a:spcPts val="364"/>
              </a:spcAft>
              <a:buSzPct val="110000"/>
              <a:defRPr sz="1092"/>
            </a:lvl2pPr>
            <a:lvl3pPr>
              <a:spcAft>
                <a:spcPts val="364"/>
              </a:spcAft>
              <a:buSzPct val="110000"/>
              <a:defRPr sz="970"/>
            </a:lvl3pPr>
            <a:lvl4pPr>
              <a:spcAft>
                <a:spcPts val="364"/>
              </a:spcAft>
              <a:buSzPct val="110000"/>
              <a:defRPr sz="849"/>
            </a:lvl4pPr>
            <a:lvl5pPr>
              <a:spcAft>
                <a:spcPts val="364"/>
              </a:spcAft>
              <a:buSzPct val="110000"/>
              <a:defRPr sz="84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ext Placeholder 4">
            <a:extLst>
              <a:ext uri="{FF2B5EF4-FFF2-40B4-BE49-F238E27FC236}">
                <a16:creationId xmlns:a16="http://schemas.microsoft.com/office/drawing/2014/main" id="{BA5CFFDE-62DF-4CF6-A0E2-E3FC6F3B8137}"/>
              </a:ext>
            </a:extLst>
          </p:cNvPr>
          <p:cNvSpPr>
            <a:spLocks noGrp="1"/>
          </p:cNvSpPr>
          <p:nvPr>
            <p:ph type="body" sz="quarter" idx="16"/>
          </p:nvPr>
        </p:nvSpPr>
        <p:spPr>
          <a:xfrm>
            <a:off x="586304" y="1529131"/>
            <a:ext cx="5335021" cy="300484"/>
          </a:xfrm>
        </p:spPr>
        <p:txBody>
          <a:bodyPr/>
          <a:lstStyle>
            <a:lvl1pPr>
              <a:defRPr lang="en-GB" sz="1698" b="1" i="0" kern="1200" dirty="0">
                <a:solidFill>
                  <a:schemeClr val="accent1"/>
                </a:solidFill>
                <a:latin typeface="Poppins SemiBold" pitchFamily="2" charset="77"/>
                <a:ea typeface="+mn-ea"/>
                <a:cs typeface="Poppins SemiBold" pitchFamily="2" charset="77"/>
              </a:defRPr>
            </a:lvl1pPr>
          </a:lstStyle>
          <a:p>
            <a:pPr lvl="0"/>
            <a:r>
              <a:rPr lang="en-US"/>
              <a:t>Click to edit Master text styles</a:t>
            </a:r>
          </a:p>
        </p:txBody>
      </p:sp>
      <p:sp>
        <p:nvSpPr>
          <p:cNvPr id="25" name="Text Placeholder 4">
            <a:extLst>
              <a:ext uri="{FF2B5EF4-FFF2-40B4-BE49-F238E27FC236}">
                <a16:creationId xmlns:a16="http://schemas.microsoft.com/office/drawing/2014/main" id="{426E4A3A-D76E-4C23-88DA-34D816F1BC1E}"/>
              </a:ext>
            </a:extLst>
          </p:cNvPr>
          <p:cNvSpPr>
            <a:spLocks noGrp="1"/>
          </p:cNvSpPr>
          <p:nvPr>
            <p:ph type="body" sz="quarter" idx="18"/>
          </p:nvPr>
        </p:nvSpPr>
        <p:spPr>
          <a:xfrm>
            <a:off x="6270675" y="1529131"/>
            <a:ext cx="5335021" cy="300484"/>
          </a:xfrm>
        </p:spPr>
        <p:txBody>
          <a:bodyPr/>
          <a:lstStyle>
            <a:lvl1pPr>
              <a:defRPr lang="en-GB" sz="1698" b="1" i="0" kern="1200" dirty="0">
                <a:solidFill>
                  <a:schemeClr val="accent1"/>
                </a:solidFill>
                <a:latin typeface="Poppins SemiBold" pitchFamily="2" charset="77"/>
                <a:ea typeface="+mn-ea"/>
                <a:cs typeface="Poppins SemiBold" pitchFamily="2" charset="77"/>
              </a:defRPr>
            </a:lvl1pPr>
          </a:lstStyle>
          <a:p>
            <a:pPr marL="0" lvl="0" indent="0" algn="l" defTabSz="554492" rtl="0" eaLnBrk="1" latinLnBrk="0" hangingPunct="1">
              <a:lnSpc>
                <a:spcPct val="120000"/>
              </a:lnSpc>
              <a:spcBef>
                <a:spcPts val="606"/>
              </a:spcBef>
              <a:spcAft>
                <a:spcPts val="728"/>
              </a:spcAft>
              <a:buSzPct val="75000"/>
              <a:buFontTx/>
              <a:buNone/>
            </a:pPr>
            <a:r>
              <a:rPr lang="en-US"/>
              <a:t>Click to edit Master text styles</a:t>
            </a:r>
          </a:p>
        </p:txBody>
      </p:sp>
    </p:spTree>
    <p:extLst>
      <p:ext uri="{BB962C8B-B14F-4D97-AF65-F5344CB8AC3E}">
        <p14:creationId xmlns:p14="http://schemas.microsoft.com/office/powerpoint/2010/main" val="2996512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8554">
          <p15:clr>
            <a:srgbClr val="FBAE40"/>
          </p15:clr>
        </p15:guide>
        <p15:guide id="2" pos="807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Titre 3"/>
          <p:cNvSpPr>
            <a:spLocks noGrp="1"/>
          </p:cNvSpPr>
          <p:nvPr>
            <p:ph type="title"/>
          </p:nvPr>
        </p:nvSpPr>
        <p:spPr/>
        <p:txBody>
          <a:bodyPr/>
          <a:lstStyle/>
          <a:p>
            <a:r>
              <a:rPr lang="fr-FR"/>
              <a:t>Cliquez pour modifier le style du titre</a:t>
            </a:r>
            <a:endParaRPr lang="fr-BE"/>
          </a:p>
        </p:txBody>
      </p:sp>
    </p:spTree>
    <p:extLst>
      <p:ext uri="{BB962C8B-B14F-4D97-AF65-F5344CB8AC3E}">
        <p14:creationId xmlns:p14="http://schemas.microsoft.com/office/powerpoint/2010/main" val="3497555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2.xml"/><Relationship Id="rId2" Type="http://schemas.openxmlformats.org/officeDocument/2006/relationships/tags" Target="../tags/tag2.xml"/><Relationship Id="rId16"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notesSlide" Target="../notesSlides/notesSlide12.xml"/><Relationship Id="rId5" Type="http://schemas.openxmlformats.org/officeDocument/2006/relationships/slideLayout" Target="../slideLayouts/slideLayout11.xml"/><Relationship Id="rId4"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1</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081145" y="1537970"/>
            <a:ext cx="7854315" cy="1625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4000" b="1" i="0" u="none" strike="noStrike" cap="none" dirty="0">
                <a:solidFill>
                  <a:srgbClr val="4224F8"/>
                </a:solidFill>
                <a:latin typeface="Times New Roman" panose="02020603050405020304"/>
                <a:ea typeface="Times New Roman" panose="02020603050405020304"/>
                <a:cs typeface="Times New Roman" panose="02020603050405020304"/>
                <a:sym typeface="Times New Roman" panose="02020603050405020304"/>
              </a:rPr>
              <a:t>REVUE ANNUELLE DU PEV</a:t>
            </a:r>
          </a:p>
          <a:p>
            <a:pPr marL="0" marR="0" lvl="0" indent="0" algn="ctr" rtl="0">
              <a:lnSpc>
                <a:spcPct val="100000"/>
              </a:lnSpc>
              <a:spcBef>
                <a:spcPts val="0"/>
              </a:spcBef>
              <a:spcAft>
                <a:spcPts val="0"/>
              </a:spcAft>
              <a:buClr>
                <a:srgbClr val="000000"/>
              </a:buClr>
              <a:buSzPts val="1500"/>
              <a:buFont typeface="Arial" panose="020B0604020202020204"/>
              <a:buNone/>
            </a:pPr>
            <a:r>
              <a:rPr lang="fr-FR" sz="4000" i="0" u="none" strike="noStrike" cap="none" dirty="0">
                <a:solidFill>
                  <a:srgbClr val="4224F8"/>
                </a:solidFill>
                <a:latin typeface="Times New Roman" panose="02020603050405020304"/>
                <a:ea typeface="Times New Roman" panose="02020603050405020304"/>
                <a:cs typeface="Times New Roman" panose="02020603050405020304"/>
                <a:sym typeface="Times New Roman" panose="02020603050405020304"/>
              </a:rPr>
              <a:t>Exercice 2025</a:t>
            </a:r>
          </a:p>
          <a:p>
            <a:pPr marL="0" marR="0" lvl="0" indent="0" algn="ctr" rtl="0">
              <a:lnSpc>
                <a:spcPct val="100000"/>
              </a:lnSpc>
              <a:spcBef>
                <a:spcPts val="0"/>
              </a:spcBef>
              <a:spcAft>
                <a:spcPts val="0"/>
              </a:spcAft>
              <a:buClr>
                <a:srgbClr val="000000"/>
              </a:buClr>
              <a:buSzPts val="1500"/>
              <a:buFont typeface="Arial" panose="020B0604020202020204"/>
              <a:buNone/>
            </a:pPr>
            <a:endParaRPr lang="fr-FR" sz="4000" b="1" i="0" u="none" strike="noStrike" cap="none" dirty="0">
              <a:solidFill>
                <a:srgbClr val="4224F8"/>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4000" b="1" i="0" u="none" strike="noStrike" cap="none" dirty="0">
              <a:solidFill>
                <a:srgbClr val="4224F8"/>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034429" y="3383914"/>
            <a:ext cx="7901032" cy="1177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2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Domaine : </a:t>
            </a:r>
            <a:r>
              <a:rPr lang="fr-FR" sz="3200" b="1" dirty="0">
                <a:solidFill>
                  <a:srgbClr val="4224F8"/>
                </a:solidFill>
                <a:latin typeface="Times New Roman" panose="02020603050405020304"/>
                <a:ea typeface="Times New Roman" panose="02020603050405020304"/>
                <a:cs typeface="Times New Roman" panose="02020603050405020304"/>
                <a:sym typeface="Times New Roman" panose="02020603050405020304"/>
              </a:rPr>
              <a:t>Q</a:t>
            </a:r>
            <a:r>
              <a:rPr lang="fr-FR" sz="3200" b="1" i="0" u="none" strike="noStrike" cap="none" dirty="0">
                <a:solidFill>
                  <a:srgbClr val="4224F8"/>
                </a:solidFill>
                <a:latin typeface="Times New Roman" panose="02020603050405020304"/>
                <a:ea typeface="Times New Roman" panose="02020603050405020304"/>
                <a:cs typeface="Times New Roman" panose="02020603050405020304"/>
                <a:sym typeface="Times New Roman" panose="02020603050405020304"/>
              </a:rPr>
              <a:t>ualité des données  </a:t>
            </a:r>
            <a:r>
              <a:rPr lang="fr-FR" sz="2000" b="1" i="0" u="none" strike="noStrike" cap="none" dirty="0">
                <a:solidFill>
                  <a:srgbClr val="4224F8"/>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4224F8"/>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Google Shape;169;p1"/>
          <p:cNvSpPr txBox="1"/>
          <p:nvPr/>
        </p:nvSpPr>
        <p:spPr>
          <a:xfrm>
            <a:off x="4081106" y="5580083"/>
            <a:ext cx="7215505" cy="6375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Décembre 2025 </a:t>
            </a:r>
            <a:endParaRPr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2</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18"/>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855610" y="1646443"/>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Zone de texte 3"/>
          <p:cNvSpPr txBox="1"/>
          <p:nvPr/>
        </p:nvSpPr>
        <p:spPr>
          <a:xfrm>
            <a:off x="0" y="1652270"/>
            <a:ext cx="2216785" cy="829945"/>
          </a:xfrm>
          <a:prstGeom prst="rect">
            <a:avLst/>
          </a:prstGeom>
          <a:noFill/>
        </p:spPr>
        <p:txBody>
          <a:bodyPr wrap="square" rtlCol="0">
            <a:spAutoFit/>
          </a:bodyPr>
          <a:lstStyle/>
          <a:p>
            <a:r>
              <a:rPr lang="fr-FR" altLang="en-US" sz="4800">
                <a:solidFill>
                  <a:schemeClr val="bg1"/>
                </a:solidFill>
                <a:latin typeface="Arial Black" panose="020B0A04020102020204" charset="0"/>
                <a:cs typeface="Arial Black" panose="020B0A04020102020204" charset="0"/>
              </a:rPr>
              <a:t>PLAN</a:t>
            </a:r>
          </a:p>
        </p:txBody>
      </p:sp>
      <p:grpSp>
        <p:nvGrpSpPr>
          <p:cNvPr id="17" name="Grouper 16"/>
          <p:cNvGrpSpPr/>
          <p:nvPr>
            <p:custDataLst>
              <p:tags r:id="rId1"/>
            </p:custDataLst>
          </p:nvPr>
        </p:nvGrpSpPr>
        <p:grpSpPr>
          <a:xfrm>
            <a:off x="4811395" y="704215"/>
            <a:ext cx="6224905" cy="5847715"/>
            <a:chOff x="7577" y="1109"/>
            <a:chExt cx="9803" cy="9209"/>
          </a:xfrm>
        </p:grpSpPr>
        <p:sp>
          <p:nvSpPr>
            <p:cNvPr id="5" name="序号"/>
            <p:cNvSpPr txBox="1"/>
            <p:nvPr>
              <p:custDataLst>
                <p:tags r:id="rId2"/>
              </p:custDataLst>
            </p:nvPr>
          </p:nvSpPr>
          <p:spPr>
            <a:xfrm>
              <a:off x="7577" y="1357"/>
              <a:ext cx="1787" cy="1387"/>
            </a:xfrm>
            <a:prstGeom prst="rect">
              <a:avLst/>
            </a:prstGeom>
            <a:noFill/>
          </p:spPr>
          <p:txBody>
            <a:bodyPr wrap="none" lIns="0" tIns="0" rIns="0" bIns="0" rtlCol="0" anchor="ctr" anchorCtr="0">
              <a:noAutofit/>
            </a:bodyPr>
            <a:lstStyle/>
            <a:p>
              <a:pPr algn="r">
                <a:lnSpc>
                  <a:spcPct val="100000"/>
                </a:lnSpc>
              </a:pPr>
              <a:r>
                <a:rPr lang="en-US" sz="4400" b="1" dirty="0">
                  <a:solidFill>
                    <a:schemeClr val="accent1">
                      <a:lumMod val="75000"/>
                    </a:schemeClr>
                  </a:solidFill>
                  <a:latin typeface="+mj-lt"/>
                </a:rPr>
                <a:t>01</a:t>
              </a:r>
            </a:p>
          </p:txBody>
        </p:sp>
        <p:sp>
          <p:nvSpPr>
            <p:cNvPr id="6" name="项标题"/>
            <p:cNvSpPr txBox="1"/>
            <p:nvPr>
              <p:custDataLst>
                <p:tags r:id="rId3"/>
              </p:custDataLst>
            </p:nvPr>
          </p:nvSpPr>
          <p:spPr>
            <a:xfrm>
              <a:off x="10752" y="1109"/>
              <a:ext cx="6628" cy="1635"/>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solidFill>
                  <a:latin typeface="+mj-lt"/>
                  <a:cs typeface="+mj-lt"/>
                </a:rPr>
                <a:t>Rappel des objectifs</a:t>
              </a:r>
            </a:p>
          </p:txBody>
        </p:sp>
        <p:sp>
          <p:nvSpPr>
            <p:cNvPr id="7" name="序号"/>
            <p:cNvSpPr txBox="1"/>
            <p:nvPr>
              <p:custDataLst>
                <p:tags r:id="rId4"/>
              </p:custDataLst>
            </p:nvPr>
          </p:nvSpPr>
          <p:spPr>
            <a:xfrm>
              <a:off x="7577" y="2715"/>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02</a:t>
              </a:r>
            </a:p>
          </p:txBody>
        </p:sp>
        <p:sp>
          <p:nvSpPr>
            <p:cNvPr id="8" name="项标题"/>
            <p:cNvSpPr txBox="1"/>
            <p:nvPr>
              <p:custDataLst>
                <p:tags r:id="rId5"/>
              </p:custDataLst>
            </p:nvPr>
          </p:nvSpPr>
          <p:spPr>
            <a:xfrm>
              <a:off x="10752" y="2567"/>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solidFill>
                  <a:latin typeface="+mj-lt"/>
                  <a:cs typeface="+mj-lt"/>
                </a:rPr>
                <a:t>Etat de mise en oeuvre du PAO 2025 </a:t>
              </a:r>
            </a:p>
          </p:txBody>
        </p:sp>
        <p:sp>
          <p:nvSpPr>
            <p:cNvPr id="9" name="序号"/>
            <p:cNvSpPr txBox="1"/>
            <p:nvPr>
              <p:custDataLst>
                <p:tags r:id="rId6"/>
              </p:custDataLst>
            </p:nvPr>
          </p:nvSpPr>
          <p:spPr>
            <a:xfrm>
              <a:off x="7577" y="4164"/>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3</a:t>
              </a:r>
            </a:p>
          </p:txBody>
        </p:sp>
        <p:sp>
          <p:nvSpPr>
            <p:cNvPr id="10" name="项标题"/>
            <p:cNvSpPr txBox="1"/>
            <p:nvPr>
              <p:custDataLst>
                <p:tags r:id="rId7"/>
              </p:custDataLst>
            </p:nvPr>
          </p:nvSpPr>
          <p:spPr>
            <a:xfrm>
              <a:off x="10752" y="4041"/>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Indicateurs du cadre de suivi et évaluation du PAO 2025   </a:t>
              </a:r>
            </a:p>
          </p:txBody>
        </p:sp>
        <p:sp>
          <p:nvSpPr>
            <p:cNvPr id="11" name="序号"/>
            <p:cNvSpPr txBox="1"/>
            <p:nvPr>
              <p:custDataLst>
                <p:tags r:id="rId8"/>
              </p:custDataLst>
            </p:nvPr>
          </p:nvSpPr>
          <p:spPr>
            <a:xfrm>
              <a:off x="7577" y="5473"/>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4</a:t>
              </a:r>
            </a:p>
          </p:txBody>
        </p:sp>
        <p:sp>
          <p:nvSpPr>
            <p:cNvPr id="12" name="项标题"/>
            <p:cNvSpPr txBox="1"/>
            <p:nvPr>
              <p:custDataLst>
                <p:tags r:id="rId9"/>
              </p:custDataLst>
            </p:nvPr>
          </p:nvSpPr>
          <p:spPr>
            <a:xfrm>
              <a:off x="10752" y="5370"/>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solidFill>
                  <a:latin typeface="+mj-lt"/>
                  <a:cs typeface="+mj-lt"/>
                </a:rPr>
                <a:t>Classification des antennes selon le Benchmarking</a:t>
              </a:r>
            </a:p>
          </p:txBody>
        </p:sp>
        <p:sp>
          <p:nvSpPr>
            <p:cNvPr id="13" name="序号"/>
            <p:cNvSpPr txBox="1"/>
            <p:nvPr>
              <p:custDataLst>
                <p:tags r:id="rId10"/>
              </p:custDataLst>
            </p:nvPr>
          </p:nvSpPr>
          <p:spPr>
            <a:xfrm>
              <a:off x="7577" y="6879"/>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5</a:t>
              </a:r>
            </a:p>
          </p:txBody>
        </p:sp>
        <p:sp>
          <p:nvSpPr>
            <p:cNvPr id="14" name="项标题"/>
            <p:cNvSpPr txBox="1"/>
            <p:nvPr>
              <p:custDataLst>
                <p:tags r:id="rId11"/>
              </p:custDataLst>
            </p:nvPr>
          </p:nvSpPr>
          <p:spPr>
            <a:xfrm>
              <a:off x="10752" y="6711"/>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sym typeface="+mn-ea"/>
                </a:rPr>
                <a:t>Analyse FFOM</a:t>
              </a:r>
              <a:endParaRPr lang="fr-FR" altLang="en-US" sz="2400" b="1" dirty="0">
                <a:solidFill>
                  <a:schemeClr val="tx1">
                    <a:lumMod val="85000"/>
                    <a:lumOff val="15000"/>
                  </a:schemeClr>
                </a:solidFill>
                <a:latin typeface="+mj-lt"/>
                <a:cs typeface="+mj-lt"/>
              </a:endParaRPr>
            </a:p>
            <a:p>
              <a:pPr>
                <a:lnSpc>
                  <a:spcPct val="100000"/>
                </a:lnSpc>
              </a:pPr>
              <a:r>
                <a:rPr lang="fr-FR" altLang="en-US" sz="2400" b="1" dirty="0">
                  <a:solidFill>
                    <a:schemeClr val="tx1">
                      <a:lumMod val="85000"/>
                      <a:lumOff val="15000"/>
                    </a:schemeClr>
                  </a:solidFill>
                  <a:latin typeface="+mj-lt"/>
                  <a:cs typeface="+mj-lt"/>
                </a:rPr>
                <a:t>Problèmes /Défis</a:t>
              </a:r>
            </a:p>
          </p:txBody>
        </p:sp>
        <p:sp>
          <p:nvSpPr>
            <p:cNvPr id="15" name="序号"/>
            <p:cNvSpPr txBox="1"/>
            <p:nvPr>
              <p:custDataLst>
                <p:tags r:id="rId12"/>
              </p:custDataLst>
            </p:nvPr>
          </p:nvSpPr>
          <p:spPr>
            <a:xfrm>
              <a:off x="7577" y="8058"/>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6</a:t>
              </a:r>
            </a:p>
          </p:txBody>
        </p:sp>
        <p:sp>
          <p:nvSpPr>
            <p:cNvPr id="16" name="项标题"/>
            <p:cNvSpPr txBox="1"/>
            <p:nvPr>
              <p:custDataLst>
                <p:tags r:id="rId13"/>
              </p:custDataLst>
            </p:nvPr>
          </p:nvSpPr>
          <p:spPr>
            <a:xfrm>
              <a:off x="10752" y="7925"/>
              <a:ext cx="6628" cy="1409"/>
            </a:xfrm>
            <a:prstGeom prst="rect">
              <a:avLst/>
            </a:prstGeom>
            <a:noFill/>
          </p:spPr>
          <p:txBody>
            <a:bodyPr wrap="square" lIns="0" tIns="0" rIns="0" bIns="0" rtlCol="0" anchor="ctr" anchorCtr="0">
              <a:normAutofit fontScale="97500"/>
            </a:bodyPr>
            <a:lstStyle/>
            <a:p>
              <a:pPr>
                <a:lnSpc>
                  <a:spcPct val="100000"/>
                </a:lnSpc>
              </a:pPr>
              <a:r>
                <a:rPr lang="fr-FR" altLang="en-US" sz="2400" b="1" dirty="0">
                  <a:solidFill>
                    <a:schemeClr val="tx1">
                      <a:lumMod val="85000"/>
                      <a:lumOff val="15000"/>
                    </a:schemeClr>
                  </a:solidFill>
                  <a:latin typeface="+mj-lt"/>
                  <a:cs typeface="+mj-lt"/>
                </a:rPr>
                <a:t>Piste de solution/Recommandations</a:t>
              </a:r>
            </a:p>
          </p:txBody>
        </p:sp>
        <p:sp>
          <p:nvSpPr>
            <p:cNvPr id="18" name="序号"/>
            <p:cNvSpPr txBox="1"/>
            <p:nvPr>
              <p:custDataLst>
                <p:tags r:id="rId14"/>
              </p:custDataLst>
            </p:nvPr>
          </p:nvSpPr>
          <p:spPr>
            <a:xfrm>
              <a:off x="7577" y="8977"/>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7</a:t>
              </a:r>
            </a:p>
          </p:txBody>
        </p:sp>
        <p:sp>
          <p:nvSpPr>
            <p:cNvPr id="19" name="项标题"/>
            <p:cNvSpPr txBox="1"/>
            <p:nvPr>
              <p:custDataLst>
                <p:tags r:id="rId15"/>
              </p:custDataLst>
            </p:nvPr>
          </p:nvSpPr>
          <p:spPr>
            <a:xfrm>
              <a:off x="10752" y="8909"/>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Actions prioritaires 2026</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292063"/>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Objectifs </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pSp>
        <p:nvGrpSpPr>
          <p:cNvPr id="6" name="Grouper 5"/>
          <p:cNvGrpSpPr/>
          <p:nvPr/>
        </p:nvGrpSpPr>
        <p:grpSpPr>
          <a:xfrm>
            <a:off x="458470" y="1307465"/>
            <a:ext cx="3495829" cy="4855673"/>
            <a:chOff x="722" y="2799"/>
            <a:chExt cx="4431" cy="4423"/>
          </a:xfrm>
        </p:grpSpPr>
        <p:sp>
          <p:nvSpPr>
            <p:cNvPr id="239" name="Google Shape;239;p17"/>
            <p:cNvSpPr/>
            <p:nvPr/>
          </p:nvSpPr>
          <p:spPr>
            <a:xfrm>
              <a:off x="881" y="3213"/>
              <a:ext cx="4063" cy="3823"/>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171450" indent="-171450">
                <a:buFont typeface="Arial" panose="020B0604020202020204" pitchFamily="34" charset="0"/>
                <a:buChar char="•"/>
              </a:pPr>
              <a:r>
                <a:rPr lang="fr-FR" sz="1200" dirty="0"/>
                <a:t>Contribuer à l’amélioration de la qualité des données de vaccination afin de garantir la réduction de la mortalité et la morbidité due aux maladies à prévention vaccinale.</a:t>
              </a:r>
              <a:endParaRPr lang="fr-FR" sz="1200" dirty="0">
                <a:latin typeface="Times New Roman" panose="02020603050405020304"/>
                <a:ea typeface="Times New Roman" panose="02020603050405020304"/>
                <a:cs typeface="Times New Roman" panose="02020603050405020304"/>
                <a:sym typeface="Times New Roman" panose="02020603050405020304"/>
              </a:endParaRPr>
            </a:p>
            <a:p>
              <a:pPr marL="171450" indent="-171450">
                <a:buFont typeface="Arial" panose="020B0604020202020204" pitchFamily="34" charset="0"/>
                <a:buChar char="•"/>
              </a:pPr>
              <a:r>
                <a:rPr lang="fr-FR" sz="1200" dirty="0"/>
                <a:t>Réduire de 30 % à moins de 10% les écarts entre les données administratives et les données des estimations OMS-Unicef (WUENIC) / enquêtes de CV.</a:t>
              </a:r>
              <a:endParaRPr lang="fr-FR" sz="1200" dirty="0">
                <a:latin typeface="Times New Roman" panose="02020603050405020304"/>
                <a:ea typeface="Times New Roman" panose="02020603050405020304"/>
                <a:cs typeface="Times New Roman" panose="02020603050405020304"/>
                <a:sym typeface="Times New Roman" panose="02020603050405020304"/>
              </a:endParaRPr>
            </a:p>
            <a:p>
              <a:pPr marL="171450" indent="-171450">
                <a:buFont typeface="Arial" panose="020B0604020202020204" pitchFamily="34" charset="0"/>
                <a:buChar char="•"/>
              </a:pPr>
              <a:r>
                <a:rPr lang="fr-FR" sz="1200" dirty="0"/>
                <a:t>Renforcer les capacités des agents et des structures impliquées dans la gestion des données de vaccination à tous les niveaux</a:t>
              </a:r>
            </a:p>
            <a:p>
              <a:pPr marL="171450" indent="-171450">
                <a:buFont typeface="Arial" panose="020B0604020202020204" pitchFamily="34" charset="0"/>
                <a:buChar char="•"/>
              </a:pPr>
              <a:r>
                <a:rPr lang="fr-FR" sz="1200" dirty="0"/>
                <a:t>Rendre disponible à toutes les structures de santé les outils de gestion actualisés à temps et en quantité suffisante y compris les documents actualisés des politiques, normes et directives du PEV</a:t>
              </a:r>
            </a:p>
            <a:p>
              <a:pPr marL="171450" indent="-171450">
                <a:buFont typeface="Arial" panose="020B0604020202020204" pitchFamily="34" charset="0"/>
                <a:buChar char="•"/>
              </a:pPr>
              <a:r>
                <a:rPr lang="fr-FR" sz="1200" dirty="0"/>
                <a:t>Promouvoir l’utilisation des Nouvelles Technologies de l'Information et de Communication (NTIC) et l’archivage informatisé des informations à tous les niveaux</a:t>
              </a:r>
              <a:endParaRPr lang="fr-FR" sz="12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41" name="Google Shape;241;p17"/>
            <p:cNvSpPr/>
            <p:nvPr/>
          </p:nvSpPr>
          <p:spPr>
            <a:xfrm>
              <a:off x="722" y="2799"/>
              <a:ext cx="4431" cy="4423"/>
            </a:xfrm>
            <a:prstGeom prst="rect">
              <a:avLst/>
            </a:prstGeom>
            <a:noFill/>
            <a:ln w="19050" cap="flat" cmpd="sng">
              <a:solidFill>
                <a:srgbClr val="1155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 name="Google Shape;237;p17"/>
            <p:cNvSpPr/>
            <p:nvPr/>
          </p:nvSpPr>
          <p:spPr>
            <a:xfrm>
              <a:off x="910" y="2888"/>
              <a:ext cx="4123" cy="23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b="1" dirty="0">
                  <a:latin typeface="Times New Roman" panose="02020603050405020304"/>
                  <a:ea typeface="Times New Roman" panose="02020603050405020304"/>
                  <a:cs typeface="Times New Roman" panose="02020603050405020304"/>
                  <a:sym typeface="Times New Roman" panose="02020603050405020304"/>
                </a:rPr>
                <a:t>Objectifs SNV</a:t>
              </a:r>
            </a:p>
          </p:txBody>
        </p:sp>
      </p:grpSp>
      <p:grpSp>
        <p:nvGrpSpPr>
          <p:cNvPr id="2" name="Grouper 1"/>
          <p:cNvGrpSpPr/>
          <p:nvPr/>
        </p:nvGrpSpPr>
        <p:grpSpPr>
          <a:xfrm>
            <a:off x="4496109" y="1215431"/>
            <a:ext cx="3200553" cy="4913718"/>
            <a:chOff x="542" y="1658"/>
            <a:chExt cx="4063" cy="4288"/>
          </a:xfrm>
        </p:grpSpPr>
        <p:sp>
          <p:nvSpPr>
            <p:cNvPr id="235" name="Google Shape;235;p17"/>
            <p:cNvSpPr/>
            <p:nvPr/>
          </p:nvSpPr>
          <p:spPr>
            <a:xfrm>
              <a:off x="772" y="1658"/>
              <a:ext cx="3581" cy="49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ltLang="en-GB" b="1" dirty="0">
                  <a:latin typeface="Times New Roman" panose="02020603050405020304"/>
                  <a:ea typeface="Times New Roman" panose="02020603050405020304"/>
                  <a:cs typeface="Times New Roman" panose="02020603050405020304"/>
                  <a:sym typeface="Times New Roman" panose="02020603050405020304"/>
                </a:rPr>
                <a:t>Objectifs </a:t>
              </a:r>
              <a:r>
                <a:rPr lang="fr-FR" altLang="en-GB" b="1" dirty="0" err="1">
                  <a:latin typeface="Times New Roman" panose="02020603050405020304"/>
                  <a:ea typeface="Times New Roman" panose="02020603050405020304"/>
                  <a:cs typeface="Times New Roman" panose="02020603050405020304"/>
                  <a:sym typeface="Times New Roman" panose="02020603050405020304"/>
                </a:rPr>
                <a:t>Mashako</a:t>
              </a:r>
              <a:endParaRPr lang="fr-FR" altLang="en-GB"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36" name="Google Shape;236;p17"/>
            <p:cNvSpPr/>
            <p:nvPr/>
          </p:nvSpPr>
          <p:spPr>
            <a:xfrm>
              <a:off x="542" y="2266"/>
              <a:ext cx="4063" cy="3680"/>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171450" indent="-171450">
                <a:buFont typeface="Arial" panose="020B0604020202020204" pitchFamily="34" charset="0"/>
                <a:buChar char="•"/>
              </a:pPr>
              <a:endParaRPr lang="fr-FR" sz="1200" dirty="0"/>
            </a:p>
            <a:p>
              <a:pPr marL="171450" indent="-171450">
                <a:buFont typeface="Arial" panose="020B0604020202020204" pitchFamily="34" charset="0"/>
                <a:buChar char="•"/>
              </a:pPr>
              <a:endParaRPr lang="fr-FR" sz="1200" dirty="0"/>
            </a:p>
            <a:p>
              <a:pPr marL="171450" indent="-171450">
                <a:buFont typeface="Arial" panose="020B0604020202020204" pitchFamily="34" charset="0"/>
                <a:buChar char="•"/>
              </a:pPr>
              <a:r>
                <a:rPr lang="fr-FR" sz="1200" dirty="0"/>
                <a:t>Contribuer à l’amélioration de la qualité des données de vaccination afin de garantir la réduction de la mortalité et la morbidité due aux maladies à prévention vaccinale.</a:t>
              </a:r>
              <a:endParaRPr lang="fr-FR" sz="1200" dirty="0">
                <a:latin typeface="Times New Roman" panose="02020603050405020304"/>
                <a:ea typeface="Times New Roman" panose="02020603050405020304"/>
                <a:cs typeface="Times New Roman" panose="02020603050405020304"/>
                <a:sym typeface="Times New Roman" panose="02020603050405020304"/>
              </a:endParaRPr>
            </a:p>
            <a:p>
              <a:pPr marL="171450" indent="-171450">
                <a:buFont typeface="Arial" panose="020B0604020202020204" pitchFamily="34" charset="0"/>
                <a:buChar char="•"/>
              </a:pPr>
              <a:r>
                <a:rPr lang="fr-FR" sz="1200" dirty="0"/>
                <a:t>Réduire de 30 % à moins de 10% les écarts entre les données administratives et les données des estimations OMS-Unicef (WUENIC) / enquêtes de CV.</a:t>
              </a:r>
              <a:endParaRPr lang="fr-FR" sz="1200" dirty="0">
                <a:latin typeface="Times New Roman" panose="02020603050405020304"/>
                <a:ea typeface="Times New Roman" panose="02020603050405020304"/>
                <a:cs typeface="Times New Roman" panose="02020603050405020304"/>
                <a:sym typeface="Times New Roman" panose="02020603050405020304"/>
              </a:endParaRPr>
            </a:p>
            <a:p>
              <a:pPr marL="171450" indent="-171450">
                <a:buFont typeface="Arial" panose="020B0604020202020204" pitchFamily="34" charset="0"/>
                <a:buChar char="•"/>
              </a:pPr>
              <a:r>
                <a:rPr lang="fr-FR" sz="1200" dirty="0"/>
                <a:t>Renforcer les capacités des agents et des structures impliquées dans la gestion des données de vaccination à tous les niveaux</a:t>
              </a:r>
            </a:p>
            <a:p>
              <a:pPr marL="171450" indent="-171450">
                <a:buFont typeface="Arial" panose="020B0604020202020204" pitchFamily="34" charset="0"/>
                <a:buChar char="•"/>
              </a:pPr>
              <a:r>
                <a:rPr lang="fr-FR" sz="1200" dirty="0"/>
                <a:t>Rendre disponible à toutes les structures de santé les outils de gestion actualisés à temps et en quantité suffisante y compris les documents actualisés des politiques, normes et directives du PEV</a:t>
              </a:r>
            </a:p>
            <a:p>
              <a:pPr marL="171450" indent="-171450">
                <a:buFont typeface="Arial" panose="020B0604020202020204" pitchFamily="34" charset="0"/>
                <a:buChar char="•"/>
              </a:pPr>
              <a:r>
                <a:rPr lang="fr-FR" sz="1200" dirty="0"/>
                <a:t>Promouvoir l’utilisation des Nouvelles Technologies de l'Information et de Communication (NTIC) et l’archivage informatisé des informations à tous les niveaux</a:t>
              </a:r>
              <a:endParaRPr lang="fr-FR" sz="1200" dirty="0">
                <a:latin typeface="Times New Roman" panose="02020603050405020304"/>
                <a:ea typeface="Times New Roman" panose="02020603050405020304"/>
                <a:cs typeface="Times New Roman" panose="02020603050405020304"/>
                <a:sym typeface="Times New Roman" panose="02020603050405020304"/>
              </a:endParaRPr>
            </a:p>
            <a:p>
              <a:pPr marL="34290" lvl="0" algn="l" defTabSz="914400" rtl="0">
                <a:spcBef>
                  <a:spcPts val="1000"/>
                </a:spcBef>
                <a:spcAft>
                  <a:spcPts val="1000"/>
                </a:spcAft>
                <a:tabLst>
                  <a:tab pos="0" algn="l"/>
                </a:tabLst>
              </a:pPr>
              <a:endParaRPr sz="1200" dirty="0">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 name="Grouper 4"/>
          <p:cNvGrpSpPr/>
          <p:nvPr/>
        </p:nvGrpSpPr>
        <p:grpSpPr>
          <a:xfrm>
            <a:off x="8061325" y="2153285"/>
            <a:ext cx="3825875" cy="4507865"/>
            <a:chOff x="12695" y="4105"/>
            <a:chExt cx="6025" cy="6385"/>
          </a:xfrm>
        </p:grpSpPr>
        <p:sp>
          <p:nvSpPr>
            <p:cNvPr id="225" name="Google Shape;225;p16"/>
            <p:cNvSpPr txBox="1"/>
            <p:nvPr/>
          </p:nvSpPr>
          <p:spPr>
            <a:xfrm>
              <a:off x="18360" y="10230"/>
              <a:ext cx="360" cy="261"/>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GB" sz="1200">
                  <a:solidFill>
                    <a:srgbClr val="1155CC"/>
                  </a:solidFill>
                  <a:latin typeface="Source Serif Pro"/>
                  <a:ea typeface="Source Serif Pro"/>
                  <a:cs typeface="Source Serif Pro"/>
                  <a:sym typeface="Source Serif Pro"/>
                </a:rPr>
                <a:t>3</a:t>
              </a:fld>
              <a:endParaRPr sz="1200">
                <a:solidFill>
                  <a:srgbClr val="1155CC"/>
                </a:solidFill>
                <a:latin typeface="Source Serif Pro"/>
                <a:ea typeface="Source Serif Pro"/>
                <a:cs typeface="Source Serif Pro"/>
                <a:sym typeface="Source Serif Pro"/>
              </a:endParaRPr>
            </a:p>
          </p:txBody>
        </p:sp>
        <p:sp>
          <p:nvSpPr>
            <p:cNvPr id="3" name="Google Shape;236;p17"/>
            <p:cNvSpPr/>
            <p:nvPr/>
          </p:nvSpPr>
          <p:spPr>
            <a:xfrm>
              <a:off x="12695" y="4105"/>
              <a:ext cx="4896" cy="5601"/>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205740" lvl="0" indent="-171450">
                <a:spcBef>
                  <a:spcPts val="1000"/>
                </a:spcBef>
                <a:spcAft>
                  <a:spcPts val="1000"/>
                </a:spcAft>
                <a:buFont typeface="Arial" panose="020B0604020202020204" pitchFamily="34" charset="0"/>
                <a:buChar char="•"/>
                <a:tabLst>
                  <a:tab pos="0" algn="l"/>
                </a:tabLst>
              </a:pPr>
              <a:r>
                <a:rPr lang="fr-FR" sz="1200" dirty="0">
                  <a:sym typeface="Times New Roman" panose="02020603050405020304"/>
                </a:rPr>
                <a:t>Réduire d’au moins 5 points, d’ici [2025], l’écart entre les taux de couverture vaccinale issus des données administratives nationales et les estimations WUENIC de l’OMS-UNICEF</a:t>
              </a:r>
              <a:endParaRPr lang="fr-FR" sz="1200" dirty="0">
                <a:latin typeface="Times New Roman" panose="02020603050405020304"/>
                <a:ea typeface="Times New Roman" panose="02020603050405020304"/>
                <a:cs typeface="Times New Roman" panose="02020603050405020304"/>
                <a:sym typeface="Times New Roman" panose="02020603050405020304"/>
              </a:endParaRPr>
            </a:p>
            <a:p>
              <a:pPr marL="34290" lvl="0" algn="l" defTabSz="914400" rtl="0">
                <a:spcBef>
                  <a:spcPts val="1000"/>
                </a:spcBef>
                <a:spcAft>
                  <a:spcPts val="1000"/>
                </a:spcAft>
                <a:tabLst>
                  <a:tab pos="0" algn="l"/>
                </a:tabLst>
              </a:pPr>
              <a:endParaRPr lang="fr-FR" sz="12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Google Shape;235;p17"/>
            <p:cNvSpPr/>
            <p:nvPr/>
          </p:nvSpPr>
          <p:spPr>
            <a:xfrm>
              <a:off x="12695" y="4105"/>
              <a:ext cx="4896" cy="78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ltLang="en-GB" sz="2400" b="1">
                  <a:latin typeface="Times New Roman" panose="02020603050405020304"/>
                  <a:ea typeface="Times New Roman" panose="02020603050405020304"/>
                  <a:cs typeface="Times New Roman" panose="02020603050405020304"/>
                  <a:sym typeface="Times New Roman" panose="02020603050405020304"/>
                </a:rPr>
                <a:t>Cibles 2025</a:t>
              </a:r>
            </a:p>
          </p:txBody>
        </p:sp>
      </p:grpSp>
    </p:spTree>
    <p:extLst>
      <p:ext uri="{BB962C8B-B14F-4D97-AF65-F5344CB8AC3E}">
        <p14:creationId xmlns:p14="http://schemas.microsoft.com/office/powerpoint/2010/main" val="36879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2f1c646a89f_0_0"/>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200"/>
              <a:buFont typeface="Arial" panose="020B0604020202020204"/>
              <a:buNone/>
            </a:pPr>
            <a:r>
              <a:rPr lang="en-US" altLang="en-US"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É</a:t>
            </a:r>
            <a:r>
              <a:rPr lang="en-US" altLang="fr-FR"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tat</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 la mise en </a:t>
            </a:r>
            <a:r>
              <a:rPr lang="en-US" altLang="en-US"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œ</a:t>
            </a:r>
            <a:r>
              <a:rPr lang="en-US" altLang="fr-FR"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uvre</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a:t>
            </a:r>
            <a:r>
              <a:rPr lang="en-US" altLang="fr-FR"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activités</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du PAO</a:t>
            </a:r>
            <a:r>
              <a:rPr lang="fr-FR" altLang="en-US"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2025</a:t>
            </a:r>
          </a:p>
        </p:txBody>
      </p:sp>
      <p:sp>
        <p:nvSpPr>
          <p:cNvPr id="1292" name="Google Shape;1292;g2f1c646a89f_0_0"/>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7" name="Google Shape;165;p3"/>
          <p:cNvSpPr txBox="1"/>
          <p:nvPr/>
        </p:nvSpPr>
        <p:spPr>
          <a:xfrm flipH="1">
            <a:off x="458592" y="4383358"/>
            <a:ext cx="11170073" cy="1004993"/>
          </a:xfrm>
          <a:prstGeom prst="rect">
            <a:avLst/>
          </a:prstGeom>
          <a:noFill/>
          <a:ln>
            <a:noFill/>
          </a:ln>
        </p:spPr>
        <p:txBody>
          <a:bodyPr spcFirstLastPara="1" wrap="square" lIns="121900" tIns="60933" rIns="121900" bIns="60933" anchor="ctr" anchorCtr="0">
            <a:noAutofit/>
          </a:bodyPr>
          <a:lstStyle/>
          <a:p>
            <a:pPr defTabSz="1219200">
              <a:buClr>
                <a:srgbClr val="000000"/>
              </a:buClr>
            </a:pPr>
            <a:r>
              <a:rPr lang="fr-FR" sz="2000" b="1" kern="0" dirty="0">
                <a:solidFill>
                  <a:srgbClr val="000000"/>
                </a:solidFill>
                <a:latin typeface="Arial" panose="020B0604020202020204"/>
                <a:ea typeface="Arial" panose="020B0604020202020204"/>
                <a:cs typeface="Arial" panose="020B0604020202020204"/>
                <a:sym typeface="Arial" panose="020B0604020202020204"/>
              </a:rPr>
              <a:t>Commentaire</a:t>
            </a:r>
            <a:r>
              <a:rPr lang="fr-FR" sz="2000" kern="0" dirty="0">
                <a:solidFill>
                  <a:srgbClr val="000000"/>
                </a:solidFill>
                <a:latin typeface="Arial" panose="020B0604020202020204"/>
                <a:ea typeface="Arial" panose="020B0604020202020204"/>
                <a:cs typeface="Arial" panose="020B0604020202020204"/>
                <a:sym typeface="Arial" panose="020B0604020202020204"/>
              </a:rPr>
              <a:t>s : </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Sur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17</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activités planifiées,</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11 </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ont été réalisées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(65%</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4 </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en cours de </a:t>
            </a:r>
          </a:p>
          <a:p>
            <a:pPr defTabSz="1219200">
              <a:buClr>
                <a:srgbClr val="000000"/>
              </a:buClr>
            </a:pP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réalisation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23</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 et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non réalisées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12</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 </a:t>
            </a:r>
            <a:endParaRPr sz="500" kern="0" dirty="0">
              <a:solidFill>
                <a:srgbClr val="000000"/>
              </a:solidFill>
              <a:latin typeface="Arial" panose="020B0604020202020204"/>
              <a:cs typeface="Arial" panose="020B0604020202020204"/>
              <a:sym typeface="Arial" panose="020B0604020202020204"/>
            </a:endParaRPr>
          </a:p>
        </p:txBody>
      </p:sp>
      <p:graphicFrame>
        <p:nvGraphicFramePr>
          <p:cNvPr id="2" name="Tableau 1"/>
          <p:cNvGraphicFramePr>
            <a:graphicFrameLocks noGrp="1"/>
          </p:cNvGraphicFramePr>
          <p:nvPr>
            <p:custDataLst>
              <p:tags r:id="rId1"/>
            </p:custDataLst>
            <p:extLst>
              <p:ext uri="{D42A27DB-BD31-4B8C-83A1-F6EECF244321}">
                <p14:modId xmlns:p14="http://schemas.microsoft.com/office/powerpoint/2010/main" val="3402803970"/>
              </p:ext>
            </p:extLst>
          </p:nvPr>
        </p:nvGraphicFramePr>
        <p:xfrm>
          <a:off x="708660" y="2089150"/>
          <a:ext cx="10012680" cy="2166620"/>
        </p:xfrm>
        <a:graphic>
          <a:graphicData uri="http://schemas.openxmlformats.org/drawingml/2006/table">
            <a:tbl>
              <a:tblPr/>
              <a:tblGrid>
                <a:gridCol w="2421890">
                  <a:extLst>
                    <a:ext uri="{9D8B030D-6E8A-4147-A177-3AD203B41FA5}">
                      <a16:colId xmlns:a16="http://schemas.microsoft.com/office/drawing/2014/main" val="20000"/>
                    </a:ext>
                  </a:extLst>
                </a:gridCol>
                <a:gridCol w="1146175">
                  <a:extLst>
                    <a:ext uri="{9D8B030D-6E8A-4147-A177-3AD203B41FA5}">
                      <a16:colId xmlns:a16="http://schemas.microsoft.com/office/drawing/2014/main" val="20001"/>
                    </a:ext>
                  </a:extLst>
                </a:gridCol>
                <a:gridCol w="1016635">
                  <a:extLst>
                    <a:ext uri="{9D8B030D-6E8A-4147-A177-3AD203B41FA5}">
                      <a16:colId xmlns:a16="http://schemas.microsoft.com/office/drawing/2014/main" val="20002"/>
                    </a:ext>
                  </a:extLst>
                </a:gridCol>
                <a:gridCol w="1059815">
                  <a:extLst>
                    <a:ext uri="{9D8B030D-6E8A-4147-A177-3AD203B41FA5}">
                      <a16:colId xmlns:a16="http://schemas.microsoft.com/office/drawing/2014/main" val="20003"/>
                    </a:ext>
                  </a:extLst>
                </a:gridCol>
                <a:gridCol w="1080770">
                  <a:extLst>
                    <a:ext uri="{9D8B030D-6E8A-4147-A177-3AD203B41FA5}">
                      <a16:colId xmlns:a16="http://schemas.microsoft.com/office/drawing/2014/main" val="20004"/>
                    </a:ext>
                  </a:extLst>
                </a:gridCol>
                <a:gridCol w="1081405">
                  <a:extLst>
                    <a:ext uri="{9D8B030D-6E8A-4147-A177-3AD203B41FA5}">
                      <a16:colId xmlns:a16="http://schemas.microsoft.com/office/drawing/2014/main" val="20005"/>
                    </a:ext>
                  </a:extLst>
                </a:gridCol>
                <a:gridCol w="1102995">
                  <a:extLst>
                    <a:ext uri="{9D8B030D-6E8A-4147-A177-3AD203B41FA5}">
                      <a16:colId xmlns:a16="http://schemas.microsoft.com/office/drawing/2014/main" val="20006"/>
                    </a:ext>
                  </a:extLst>
                </a:gridCol>
                <a:gridCol w="1102995">
                  <a:extLst>
                    <a:ext uri="{9D8B030D-6E8A-4147-A177-3AD203B41FA5}">
                      <a16:colId xmlns:a16="http://schemas.microsoft.com/office/drawing/2014/main" val="20007"/>
                    </a:ext>
                  </a:extLst>
                </a:gridCol>
              </a:tblGrid>
              <a:tr h="920750">
                <a:tc rowSpan="3">
                  <a:txBody>
                    <a:bodyPr/>
                    <a:lstStyle/>
                    <a:p>
                      <a:pPr algn="l" rtl="0" fontAlgn="ctr"/>
                      <a:r>
                        <a:rPr lang="fr-FR" sz="2000" b="1" i="0" u="none" strike="noStrike" dirty="0">
                          <a:solidFill>
                            <a:srgbClr val="000000"/>
                          </a:solidFill>
                          <a:effectLst/>
                          <a:latin typeface="Times New Roman" panose="02020603050405020304" pitchFamily="18" charset="0"/>
                        </a:rPr>
                        <a:t>Domaine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a:txBody>
                    <a:bodyPr/>
                    <a:lstStyle/>
                    <a:p>
                      <a:pPr algn="ctr" rtl="0" fontAlgn="ctr"/>
                      <a:r>
                        <a:rPr lang="fr-FR" sz="2000" b="1" i="0" u="none" strike="noStrike" dirty="0">
                          <a:solidFill>
                            <a:srgbClr val="000000"/>
                          </a:solidFill>
                          <a:effectLst/>
                          <a:latin typeface="Times New Roman" panose="02020603050405020304" pitchFamily="18" charset="0"/>
                        </a:rPr>
                        <a:t>activités planifiées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gridSpan="2">
                  <a:txBody>
                    <a:bodyPr/>
                    <a:lstStyle/>
                    <a:p>
                      <a:pPr algn="ctr" rtl="0" fontAlgn="ctr"/>
                      <a:r>
                        <a:rPr lang="fr-FR" sz="2000" b="1" i="0" u="none" strike="noStrike" dirty="0">
                          <a:solidFill>
                            <a:srgbClr val="000000"/>
                          </a:solidFill>
                          <a:effectLst/>
                          <a:latin typeface="Times New Roman" panose="02020603050405020304" pitchFamily="18" charset="0"/>
                        </a:rPr>
                        <a:t>activités totalement réalisées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tc gridSpan="2">
                  <a:txBody>
                    <a:bodyPr/>
                    <a:lstStyle/>
                    <a:p>
                      <a:pPr algn="ctr" rtl="0" fontAlgn="ctr"/>
                      <a:r>
                        <a:rPr lang="fr-FR" sz="2000" b="1" i="0" u="none" strike="noStrike">
                          <a:solidFill>
                            <a:srgbClr val="000000"/>
                          </a:solidFill>
                          <a:effectLst/>
                          <a:latin typeface="Times New Roman" panose="02020603050405020304" pitchFamily="18" charset="0"/>
                        </a:rPr>
                        <a:t>Activités partiellement réalisées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tc gridSpan="2">
                  <a:txBody>
                    <a:bodyPr/>
                    <a:lstStyle/>
                    <a:p>
                      <a:pPr algn="ctr" rtl="0" fontAlgn="ctr"/>
                      <a:r>
                        <a:rPr lang="fr-FR" sz="2000" b="1" i="0" u="none" strike="noStrike">
                          <a:solidFill>
                            <a:srgbClr val="000000"/>
                          </a:solidFill>
                          <a:effectLst/>
                          <a:latin typeface="Times New Roman" panose="02020603050405020304" pitchFamily="18" charset="0"/>
                        </a:rPr>
                        <a:t>Activités non réalisées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extLst>
                  <a:ext uri="{0D108BD9-81ED-4DB2-BD59-A6C34878D82A}">
                    <a16:rowId xmlns:a16="http://schemas.microsoft.com/office/drawing/2014/main" val="10000"/>
                  </a:ext>
                </a:extLst>
              </a:tr>
              <a:tr h="414020">
                <a:tc vMerge="1">
                  <a:txBody>
                    <a:bodyPr/>
                    <a:lstStyle/>
                    <a:p>
                      <a:endParaRPr lang="fr-FR"/>
                    </a:p>
                  </a:txBody>
                  <a:tcPr/>
                </a:tc>
                <a:tc>
                  <a:txBody>
                    <a:bodyPr/>
                    <a:lstStyle/>
                    <a:p>
                      <a:pPr algn="ctr" rtl="0" fontAlgn="ctr"/>
                      <a:r>
                        <a:rPr lang="fr-FR" sz="2000" b="1" i="0" u="none" strike="noStrike">
                          <a:solidFill>
                            <a:srgbClr val="000000"/>
                          </a:solidFill>
                          <a:effectLst/>
                          <a:latin typeface="Times New Roman" panose="02020603050405020304" pitchFamily="18" charset="0"/>
                        </a:rPr>
                        <a:t>PAO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9DAF8"/>
                    </a:solidFill>
                  </a:tcPr>
                </a:tc>
                <a:tc rowSpan="2">
                  <a:txBody>
                    <a:bodyPr/>
                    <a:lstStyle/>
                    <a:p>
                      <a:pPr algn="ctr" rtl="0" fontAlgn="ctr"/>
                      <a:r>
                        <a:rPr lang="fr-FR" sz="2000" b="1" i="0" u="none" strike="noStrike" dirty="0">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extLst>
                  <a:ext uri="{0D108BD9-81ED-4DB2-BD59-A6C34878D82A}">
                    <a16:rowId xmlns:a16="http://schemas.microsoft.com/office/drawing/2014/main" val="10001"/>
                  </a:ext>
                </a:extLst>
              </a:tr>
              <a:tr h="414655">
                <a:tc vMerge="1">
                  <a:txBody>
                    <a:bodyPr/>
                    <a:lstStyle/>
                    <a:p>
                      <a:endParaRPr lang="fr-FR"/>
                    </a:p>
                  </a:txBody>
                  <a:tcPr/>
                </a:tc>
                <a:tc>
                  <a:txBody>
                    <a:bodyPr/>
                    <a:lstStyle/>
                    <a:p>
                      <a:pPr algn="ctr" rtl="0" fontAlgn="ctr"/>
                      <a:r>
                        <a:rPr lang="fr-FR" sz="2000" b="1" i="0" u="none" strike="noStrike" dirty="0">
                          <a:solidFill>
                            <a:srgbClr val="000000"/>
                          </a:solidFill>
                          <a:effectLst/>
                          <a:latin typeface="Times New Roman" panose="02020603050405020304" pitchFamily="18" charset="0"/>
                        </a:rPr>
                        <a:t>2025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1155CC"/>
                      </a:solidFill>
                      <a:prstDash val="solid"/>
                      <a:round/>
                      <a:headEnd type="none" w="med" len="med"/>
                      <a:tailEnd type="none" w="med" len="med"/>
                    </a:lnB>
                    <a:solidFill>
                      <a:srgbClr val="C9DAF8"/>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10002"/>
                  </a:ext>
                </a:extLst>
              </a:tr>
              <a:tr h="414020">
                <a:tc>
                  <a:txBody>
                    <a:bodyPr/>
                    <a:lstStyle/>
                    <a:p>
                      <a:pPr algn="l" rtl="0" fontAlgn="ctr"/>
                      <a:r>
                        <a:rPr lang="fr-FR" sz="2000" b="1" i="0" u="none" strike="noStrike" dirty="0">
                          <a:solidFill>
                            <a:srgbClr val="000000"/>
                          </a:solidFill>
                          <a:effectLst/>
                          <a:latin typeface="Times New Roman" panose="02020603050405020304" pitchFamily="18" charset="0"/>
                        </a:rPr>
                        <a:t>Qualité des données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FEFEF"/>
                    </a:solidFill>
                  </a:tcPr>
                </a:tc>
                <a:tc>
                  <a:txBody>
                    <a:bodyPr/>
                    <a:lstStyle/>
                    <a:p>
                      <a:pPr algn="ctr" rtl="0" fontAlgn="ctr"/>
                      <a:r>
                        <a:rPr lang="fr-FR" sz="2000" b="0" i="0" u="none" strike="noStrike">
                          <a:solidFill>
                            <a:srgbClr val="000000"/>
                          </a:solidFill>
                          <a:effectLst/>
                          <a:latin typeface="Times New Roman" panose="02020603050405020304" pitchFamily="18" charset="0"/>
                        </a:rPr>
                        <a:t>17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0" i="0" u="none" strike="noStrike" dirty="0">
                          <a:solidFill>
                            <a:srgbClr val="000000"/>
                          </a:solidFill>
                          <a:effectLst/>
                          <a:latin typeface="Times New Roman" panose="02020603050405020304" pitchFamily="18" charset="0"/>
                        </a:rPr>
                        <a:t>11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dirty="0">
                          <a:solidFill>
                            <a:srgbClr val="000000"/>
                          </a:solidFill>
                          <a:effectLst/>
                          <a:latin typeface="Times New Roman" panose="02020603050405020304" pitchFamily="18" charset="0"/>
                        </a:rPr>
                        <a:t>65%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93C47D"/>
                    </a:solidFill>
                  </a:tcPr>
                </a:tc>
                <a:tc>
                  <a:txBody>
                    <a:bodyPr/>
                    <a:lstStyle/>
                    <a:p>
                      <a:pPr algn="ctr" rtl="0" fontAlgn="ctr"/>
                      <a:r>
                        <a:rPr lang="fr-FR" sz="2000" b="0" i="0" u="none" strike="noStrike" dirty="0">
                          <a:solidFill>
                            <a:srgbClr val="000000"/>
                          </a:solidFill>
                          <a:effectLst/>
                          <a:latin typeface="Times New Roman" panose="02020603050405020304" pitchFamily="18" charset="0"/>
                        </a:rPr>
                        <a:t>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dirty="0">
                          <a:solidFill>
                            <a:srgbClr val="000000"/>
                          </a:solidFill>
                          <a:effectLst/>
                          <a:latin typeface="Times New Roman" panose="02020603050405020304" pitchFamily="18" charset="0"/>
                        </a:rPr>
                        <a:t>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FFD966"/>
                    </a:solidFill>
                  </a:tcPr>
                </a:tc>
                <a:tc>
                  <a:txBody>
                    <a:bodyPr/>
                    <a:lstStyle/>
                    <a:p>
                      <a:pPr algn="ctr" rtl="0" fontAlgn="ctr"/>
                      <a:r>
                        <a:rPr lang="fr-FR" sz="2000" b="0" i="0" u="none" strike="noStrike" dirty="0">
                          <a:solidFill>
                            <a:srgbClr val="000000"/>
                          </a:solidFill>
                          <a:effectLst/>
                          <a:latin typeface="Times New Roman" panose="02020603050405020304" pitchFamily="18" charset="0"/>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dirty="0">
                          <a:solidFill>
                            <a:srgbClr val="000000"/>
                          </a:solidFill>
                          <a:effectLst/>
                          <a:latin typeface="Times New Roman" panose="02020603050405020304" pitchFamily="18" charset="0"/>
                        </a:rPr>
                        <a:t>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E06666"/>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1516" y="-1"/>
            <a:ext cx="11887200" cy="653143"/>
          </a:xfrm>
        </p:spPr>
        <p:txBody>
          <a:bodyPr>
            <a:noAutofit/>
          </a:bodyPr>
          <a:lstStyle/>
          <a:p>
            <a:pPr algn="ctr"/>
            <a:r>
              <a:rPr lang="fr-FR" sz="2800" b="1" dirty="0">
                <a:solidFill>
                  <a:srgbClr val="4224F8"/>
                </a:solidFill>
              </a:rPr>
              <a:t>Evaluation des activités du PAO 2025 (1/3)</a:t>
            </a:r>
          </a:p>
        </p:txBody>
      </p:sp>
      <p:pic>
        <p:nvPicPr>
          <p:cNvPr id="7" name="Image 6"/>
          <p:cNvPicPr>
            <a:picLocks noChangeAspect="1"/>
          </p:cNvPicPr>
          <p:nvPr/>
        </p:nvPicPr>
        <p:blipFill>
          <a:blip r:embed="rId2"/>
          <a:stretch>
            <a:fillRect/>
          </a:stretch>
        </p:blipFill>
        <p:spPr>
          <a:xfrm>
            <a:off x="141515" y="653143"/>
            <a:ext cx="11887200" cy="61286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1514" y="81736"/>
            <a:ext cx="11887200" cy="527863"/>
          </a:xfrm>
        </p:spPr>
        <p:txBody>
          <a:bodyPr>
            <a:noAutofit/>
          </a:bodyPr>
          <a:lstStyle/>
          <a:p>
            <a:pPr algn="ctr"/>
            <a:r>
              <a:rPr lang="fr-FR" sz="2800" b="1" dirty="0">
                <a:solidFill>
                  <a:srgbClr val="4224F8"/>
                </a:solidFill>
              </a:rPr>
              <a:t>Evaluation des activités du PAO 2025  (2/3)</a:t>
            </a:r>
          </a:p>
        </p:txBody>
      </p:sp>
      <p:pic>
        <p:nvPicPr>
          <p:cNvPr id="4" name="Image 3"/>
          <p:cNvPicPr>
            <a:picLocks noChangeAspect="1"/>
          </p:cNvPicPr>
          <p:nvPr/>
        </p:nvPicPr>
        <p:blipFill>
          <a:blip r:embed="rId2"/>
          <a:stretch>
            <a:fillRect/>
          </a:stretch>
        </p:blipFill>
        <p:spPr>
          <a:xfrm>
            <a:off x="141514" y="707571"/>
            <a:ext cx="11887200" cy="59544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1514" y="103508"/>
            <a:ext cx="11887200" cy="440778"/>
          </a:xfrm>
        </p:spPr>
        <p:txBody>
          <a:bodyPr>
            <a:normAutofit fontScale="90000"/>
          </a:bodyPr>
          <a:lstStyle/>
          <a:p>
            <a:pPr algn="ctr"/>
            <a:r>
              <a:rPr lang="fr-FR" sz="3555" b="1" dirty="0">
                <a:solidFill>
                  <a:srgbClr val="2205CD"/>
                </a:solidFill>
              </a:rPr>
              <a:t>Evaluation des activités du PAO 2025  (3/3)</a:t>
            </a:r>
          </a:p>
        </p:txBody>
      </p:sp>
      <p:pic>
        <p:nvPicPr>
          <p:cNvPr id="4" name="Image 3"/>
          <p:cNvPicPr>
            <a:picLocks noChangeAspect="1"/>
          </p:cNvPicPr>
          <p:nvPr/>
        </p:nvPicPr>
        <p:blipFill>
          <a:blip r:embed="rId2"/>
          <a:stretch>
            <a:fillRect/>
          </a:stretch>
        </p:blipFill>
        <p:spPr>
          <a:xfrm>
            <a:off x="141514" y="892629"/>
            <a:ext cx="11756572" cy="57694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2f1c646a89f_0_0"/>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algn="l" rtl="0">
              <a:lnSpc>
                <a:spcPct val="100000"/>
              </a:lnSpc>
              <a:spcBef>
                <a:spcPts val="0"/>
              </a:spcBef>
              <a:spcAft>
                <a:spcPts val="0"/>
              </a:spcAft>
              <a:buClr>
                <a:schemeClr val="dk1"/>
              </a:buClr>
              <a:buSzPts val="2200"/>
              <a:buFont typeface="Arial" panose="020B0604020202020204"/>
              <a:buNone/>
            </a:pPr>
            <a:r>
              <a:rPr lang="fr-FR" sz="2935" b="1" dirty="0">
                <a:solidFill>
                  <a:srgbClr val="4224F8"/>
                </a:solidFill>
                <a:latin typeface="Book Antiqua" panose="02040602050305030304" pitchFamily="18" charset="0"/>
                <a:sym typeface="+mn-ea"/>
              </a:rPr>
              <a:t>Raisons de non réalisation des activités </a:t>
            </a:r>
            <a:endParaRPr lang="fr-FR" sz="2935" b="1" i="0" u="none" strike="noStrike" cap="none" dirty="0">
              <a:solidFill>
                <a:srgbClr val="4224F8"/>
              </a:solidFill>
              <a:latin typeface="Book Antiqua" panose="02040602050305030304" pitchFamily="18" charset="0"/>
              <a:sym typeface="Times New Roman" panose="02020603050405020304"/>
            </a:endParaRPr>
          </a:p>
        </p:txBody>
      </p:sp>
      <p:sp>
        <p:nvSpPr>
          <p:cNvPr id="1292" name="Google Shape;1292;g2f1c646a89f_0_0"/>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4" name="Graphique 3"/>
          <p:cNvGraphicFramePr/>
          <p:nvPr/>
        </p:nvGraphicFramePr>
        <p:xfrm>
          <a:off x="267970" y="2057400"/>
          <a:ext cx="11465560" cy="3425825"/>
        </p:xfrm>
        <a:graphic>
          <a:graphicData uri="http://schemas.openxmlformats.org/drawingml/2006/chart">
            <c:chart xmlns:c="http://schemas.openxmlformats.org/drawingml/2006/chart" xmlns:r="http://schemas.openxmlformats.org/officeDocument/2006/relationships" r:id="rId3"/>
          </a:graphicData>
        </a:graphic>
      </p:graphicFrame>
      <p:sp>
        <p:nvSpPr>
          <p:cNvPr id="2" name="ZoneTexte 1"/>
          <p:cNvSpPr txBox="1"/>
          <p:nvPr/>
        </p:nvSpPr>
        <p:spPr>
          <a:xfrm>
            <a:off x="836762" y="1049541"/>
            <a:ext cx="4011283" cy="646331"/>
          </a:xfrm>
          <a:prstGeom prst="rect">
            <a:avLst/>
          </a:prstGeom>
          <a:noFill/>
        </p:spPr>
        <p:txBody>
          <a:bodyPr wrap="square" rtlCol="0">
            <a:spAutoFit/>
          </a:bodyPr>
          <a:lstStyle/>
          <a:p>
            <a:pPr marL="285750" indent="-285750">
              <a:buFontTx/>
              <a:buChar char="-"/>
            </a:pPr>
            <a:r>
              <a:rPr lang="fr-FR" dirty="0">
                <a:solidFill>
                  <a:srgbClr val="2205CD"/>
                </a:solidFill>
              </a:rPr>
              <a:t>Lourdeurs administratives</a:t>
            </a:r>
          </a:p>
          <a:p>
            <a:r>
              <a:rPr lang="fr-FR" dirty="0">
                <a:solidFill>
                  <a:srgbClr val="2205CD"/>
                </a:solidFill>
              </a:rPr>
              <a:t>-   Décaissement tardif des fonds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8734" y="168351"/>
            <a:ext cx="11107298" cy="641877"/>
          </a:xfrm>
          <a:solidFill>
            <a:srgbClr val="4224F8"/>
          </a:solidFill>
          <a:ln w="9525" cap="flat">
            <a:solidFill>
              <a:schemeClr val="accent1"/>
            </a:solidFill>
            <a:miter lim="800000"/>
          </a:ln>
          <a:effectLst>
            <a:outerShdw blurRad="63500" dist="20000" dir="5400000" rotWithShape="0">
              <a:srgbClr val="000000">
                <a:alpha val="37999"/>
              </a:srgbClr>
            </a:outerShdw>
          </a:effectLst>
        </p:spPr>
        <p:txBody>
          <a:bodyPr vert="horz" wrap="square" lIns="91440" tIns="45720" rIns="91440" bIns="45720" numCol="1" rtlCol="0" anchor="ctr" anchorCtr="0" compatLnSpc="1">
            <a:noAutofit/>
          </a:bodyPr>
          <a:lstStyle/>
          <a:p>
            <a:pPr algn="ctr"/>
            <a:br>
              <a:rPr lang="fr-FR" altLang="fr-FR" sz="4000" b="1" dirty="0">
                <a:solidFill>
                  <a:schemeClr val="bg1"/>
                </a:solidFill>
                <a:effectLst>
                  <a:outerShdw blurRad="38100" dist="38100" dir="2700000" algn="tl">
                    <a:srgbClr val="000000">
                      <a:alpha val="43137"/>
                    </a:srgbClr>
                  </a:outerShdw>
                </a:effectLst>
                <a:ea typeface="MS PGothic" panose="020B0600070205080204" pitchFamily="34" charset="-128"/>
              </a:rPr>
            </a:br>
            <a:r>
              <a:rPr lang="fr-FR" altLang="fr-FR" sz="4000" b="1" dirty="0">
                <a:solidFill>
                  <a:schemeClr val="bg1"/>
                </a:solidFill>
                <a:effectLst>
                  <a:outerShdw blurRad="38100" dist="38100" dir="2700000" algn="tl">
                    <a:srgbClr val="000000">
                      <a:alpha val="43137"/>
                    </a:srgbClr>
                  </a:outerShdw>
                </a:effectLst>
                <a:ea typeface="MS PGothic" panose="020B0600070205080204" pitchFamily="34" charset="-128"/>
              </a:rPr>
              <a:t>Résultats obtenus (1/2)</a:t>
            </a:r>
            <a:br>
              <a:rPr lang="fr-FR" altLang="fr-FR" sz="4000" b="1" dirty="0">
                <a:solidFill>
                  <a:schemeClr val="bg1"/>
                </a:solidFill>
                <a:effectLst>
                  <a:outerShdw blurRad="38100" dist="38100" dir="2700000" algn="tl">
                    <a:srgbClr val="000000">
                      <a:alpha val="43137"/>
                    </a:srgbClr>
                  </a:outerShdw>
                </a:effectLst>
                <a:ea typeface="MS PGothic" panose="020B0600070205080204" pitchFamily="34" charset="-128"/>
              </a:rPr>
            </a:br>
            <a:endParaRPr lang="fr-FR" sz="4000" b="1" dirty="0">
              <a:solidFill>
                <a:schemeClr val="bg1"/>
              </a:solidFill>
              <a:effectLst>
                <a:outerShdw blurRad="38100" dist="38100" dir="2700000" algn="tl">
                  <a:srgbClr val="000000">
                    <a:alpha val="43137"/>
                  </a:srgbClr>
                </a:outerShdw>
              </a:effectLst>
              <a:ea typeface="MS PGothic" panose="020B0600070205080204" pitchFamily="34" charset="-128"/>
            </a:endParaRPr>
          </a:p>
        </p:txBody>
      </p:sp>
      <p:sp>
        <p:nvSpPr>
          <p:cNvPr id="3" name="Espace réservé du contenu 2"/>
          <p:cNvSpPr>
            <a:spLocks noGrp="1"/>
          </p:cNvSpPr>
          <p:nvPr>
            <p:ph idx="1"/>
          </p:nvPr>
        </p:nvSpPr>
        <p:spPr>
          <a:xfrm>
            <a:off x="475488" y="1008381"/>
            <a:ext cx="11210544" cy="5716509"/>
          </a:xfrm>
        </p:spPr>
        <p:txBody>
          <a:bodyPr>
            <a:normAutofit/>
          </a:bodyPr>
          <a:lstStyle/>
          <a:p>
            <a:pPr marL="457200" indent="-457200" algn="just">
              <a:buFont typeface="Wingdings" panose="05000000000000000000" pitchFamily="2" charset="2"/>
              <a:buChar char="§"/>
            </a:pPr>
            <a:r>
              <a:rPr lang="fr-FR" sz="2800" dirty="0"/>
              <a:t>JRF 2024 élaboré et partagé en 2025</a:t>
            </a:r>
          </a:p>
          <a:p>
            <a:pPr marL="457200" lvl="0" indent="-457200" algn="just">
              <a:buFont typeface="Wingdings" panose="05000000000000000000" pitchFamily="2" charset="2"/>
              <a:buChar char="§"/>
            </a:pPr>
            <a:r>
              <a:rPr lang="fr-FR" sz="2800" dirty="0"/>
              <a:t>Réalisation des estimations des couvertures vaccinales du niveau provincial (WUESNIC 2025)  : </a:t>
            </a:r>
            <a:r>
              <a:rPr lang="fr-FR" dirty="0">
                <a:solidFill>
                  <a:srgbClr val="4224F8"/>
                </a:solidFill>
              </a:rPr>
              <a:t>Augmentation des CV WUENIC de la RDC pour l’année 2024 (de +2 à + 37 points) selon les antigènes.</a:t>
            </a:r>
          </a:p>
          <a:p>
            <a:pPr marL="457200" indent="-457200" algn="just">
              <a:buFont typeface="Wingdings" panose="05000000000000000000" pitchFamily="2" charset="2"/>
              <a:buChar char="§"/>
            </a:pPr>
            <a:r>
              <a:rPr lang="fr-FR" dirty="0"/>
              <a:t>653 374 exemplaires du canevas SNIS intégrés et 27 224 REH imprimés. Distribution prévue dans 24 749 ESS.</a:t>
            </a:r>
            <a:endParaRPr lang="en-US" dirty="0"/>
          </a:p>
          <a:p>
            <a:pPr marL="457200" indent="-457200" algn="just">
              <a:buFont typeface="Wingdings" panose="05000000000000000000" pitchFamily="2" charset="2"/>
              <a:buChar char="§"/>
            </a:pPr>
            <a:endParaRPr lang="fr-FR" sz="2800" dirty="0"/>
          </a:p>
          <a:p>
            <a:pPr marL="457200" indent="-457200" algn="just">
              <a:buFont typeface="Wingdings" panose="05000000000000000000" pitchFamily="2" charset="2"/>
              <a:buChar char="§"/>
            </a:pPr>
            <a:endParaRPr lang="fr-FR" sz="2800" dirty="0"/>
          </a:p>
          <a:p>
            <a:pPr marL="457200" indent="-457200" algn="just">
              <a:buFont typeface="Wingdings" panose="05000000000000000000" pitchFamily="2" charset="2"/>
              <a:buChar char="§"/>
            </a:pPr>
            <a:endParaRPr lang="fr-FR" sz="2800" dirty="0"/>
          </a:p>
          <a:p>
            <a:pPr marL="457200" indent="-457200" algn="just">
              <a:buFont typeface="Wingdings" panose="05000000000000000000" pitchFamily="2" charset="2"/>
              <a:buChar char="§"/>
            </a:pPr>
            <a:r>
              <a:rPr lang="fr-FR" sz="2800" dirty="0"/>
              <a:t>Formation e-learning : </a:t>
            </a:r>
          </a:p>
          <a:p>
            <a:endParaRPr lang="fr-FR" dirty="0"/>
          </a:p>
          <a:p>
            <a:pPr marL="0" indent="0">
              <a:buNone/>
            </a:pPr>
            <a:endParaRPr lang="fr-FR" dirty="0"/>
          </a:p>
        </p:txBody>
      </p:sp>
      <p:pic>
        <p:nvPicPr>
          <p:cNvPr id="6" name="Image 5"/>
          <p:cNvPicPr>
            <a:picLocks noChangeAspect="1"/>
          </p:cNvPicPr>
          <p:nvPr/>
        </p:nvPicPr>
        <p:blipFill>
          <a:blip r:embed="rId2"/>
          <a:stretch>
            <a:fillRect/>
          </a:stretch>
        </p:blipFill>
        <p:spPr>
          <a:xfrm>
            <a:off x="4784838" y="4067116"/>
            <a:ext cx="5942814" cy="20754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8734" y="168351"/>
            <a:ext cx="11107298" cy="641877"/>
          </a:xfrm>
          <a:solidFill>
            <a:srgbClr val="4224F8"/>
          </a:solidFill>
          <a:ln w="9525" cap="flat">
            <a:solidFill>
              <a:schemeClr val="accent1"/>
            </a:solidFill>
            <a:miter lim="800000"/>
          </a:ln>
          <a:effectLst>
            <a:outerShdw blurRad="63500" dist="20000" dir="5400000" rotWithShape="0">
              <a:srgbClr val="000000">
                <a:alpha val="37999"/>
              </a:srgbClr>
            </a:outerShdw>
          </a:effectLst>
        </p:spPr>
        <p:txBody>
          <a:bodyPr vert="horz" wrap="square" lIns="91440" tIns="45720" rIns="91440" bIns="45720" numCol="1" rtlCol="0" anchor="ctr" anchorCtr="0" compatLnSpc="1">
            <a:noAutofit/>
          </a:bodyPr>
          <a:lstStyle/>
          <a:p>
            <a:pPr algn="ctr"/>
            <a:br>
              <a:rPr lang="fr-FR" altLang="fr-FR" sz="4000" b="1" dirty="0">
                <a:solidFill>
                  <a:schemeClr val="bg1"/>
                </a:solidFill>
                <a:effectLst>
                  <a:outerShdw blurRad="38100" dist="38100" dir="2700000" algn="tl">
                    <a:srgbClr val="000000">
                      <a:alpha val="43137"/>
                    </a:srgbClr>
                  </a:outerShdw>
                </a:effectLst>
                <a:ea typeface="MS PGothic" panose="020B0600070205080204" pitchFamily="34" charset="-128"/>
              </a:rPr>
            </a:br>
            <a:r>
              <a:rPr lang="fr-FR" altLang="fr-FR" sz="4000" b="1" dirty="0">
                <a:solidFill>
                  <a:schemeClr val="bg1"/>
                </a:solidFill>
                <a:effectLst>
                  <a:outerShdw blurRad="38100" dist="38100" dir="2700000" algn="tl">
                    <a:srgbClr val="000000">
                      <a:alpha val="43137"/>
                    </a:srgbClr>
                  </a:outerShdw>
                </a:effectLst>
                <a:ea typeface="MS PGothic" panose="020B0600070205080204" pitchFamily="34" charset="-128"/>
              </a:rPr>
              <a:t>Résultats obtenus (2/2)</a:t>
            </a:r>
            <a:br>
              <a:rPr lang="fr-FR" altLang="fr-FR" sz="4000" b="1" dirty="0">
                <a:solidFill>
                  <a:schemeClr val="bg1"/>
                </a:solidFill>
                <a:effectLst>
                  <a:outerShdw blurRad="38100" dist="38100" dir="2700000" algn="tl">
                    <a:srgbClr val="000000">
                      <a:alpha val="43137"/>
                    </a:srgbClr>
                  </a:outerShdw>
                </a:effectLst>
                <a:ea typeface="MS PGothic" panose="020B0600070205080204" pitchFamily="34" charset="-128"/>
              </a:rPr>
            </a:br>
            <a:endParaRPr lang="fr-FR" sz="4000" b="1" dirty="0">
              <a:solidFill>
                <a:schemeClr val="bg1"/>
              </a:solidFill>
              <a:effectLst>
                <a:outerShdw blurRad="38100" dist="38100" dir="2700000" algn="tl">
                  <a:srgbClr val="000000">
                    <a:alpha val="43137"/>
                  </a:srgbClr>
                </a:outerShdw>
              </a:effectLst>
              <a:ea typeface="MS PGothic" panose="020B0600070205080204" pitchFamily="34" charset="-128"/>
            </a:endParaRPr>
          </a:p>
        </p:txBody>
      </p:sp>
      <p:sp>
        <p:nvSpPr>
          <p:cNvPr id="3" name="Espace réservé du contenu 2"/>
          <p:cNvSpPr>
            <a:spLocks noGrp="1"/>
          </p:cNvSpPr>
          <p:nvPr>
            <p:ph idx="1"/>
          </p:nvPr>
        </p:nvSpPr>
        <p:spPr>
          <a:xfrm>
            <a:off x="475488" y="1008381"/>
            <a:ext cx="11210544" cy="5716509"/>
          </a:xfrm>
        </p:spPr>
        <p:txBody>
          <a:bodyPr>
            <a:normAutofit/>
          </a:bodyPr>
          <a:lstStyle/>
          <a:p>
            <a:pPr marL="457200" indent="-457200" algn="just">
              <a:buFont typeface="Wingdings" panose="05000000000000000000" pitchFamily="2" charset="2"/>
              <a:buChar char="§"/>
            </a:pPr>
            <a:r>
              <a:rPr lang="fr-FR" dirty="0"/>
              <a:t>Phase pilote de décentralisation du DHIS2 des Aire de Santé démarrée : formations en cascade dans 2 provinces pilotes : Kinshasa et Sud </a:t>
            </a:r>
            <a:r>
              <a:rPr lang="fr-FR" dirty="0" err="1"/>
              <a:t>Ubangi</a:t>
            </a:r>
            <a:r>
              <a:rPr lang="fr-FR" dirty="0"/>
              <a:t>. </a:t>
            </a:r>
          </a:p>
          <a:p>
            <a:pPr marL="457200" indent="-457200" algn="just">
              <a:buFont typeface="Wingdings" panose="05000000000000000000" pitchFamily="2" charset="2"/>
              <a:buChar char="§"/>
            </a:pPr>
            <a:endParaRPr lang="fr-FR" dirty="0"/>
          </a:p>
          <a:p>
            <a:pPr marL="909638" indent="-457200" algn="just" defTabSz="452438">
              <a:buFontTx/>
              <a:buChar char="-"/>
            </a:pPr>
            <a:r>
              <a:rPr lang="fr-FR" dirty="0"/>
              <a:t>Kinshasa :  </a:t>
            </a:r>
            <a:r>
              <a:rPr lang="fr-FR" b="1" dirty="0"/>
              <a:t>105</a:t>
            </a:r>
            <a:r>
              <a:rPr lang="fr-FR" dirty="0"/>
              <a:t> participants (MCZS, IS PEV et Data Managers) formés au   niveau provincial et </a:t>
            </a:r>
            <a:r>
              <a:rPr lang="fr-FR" b="1" dirty="0"/>
              <a:t>460</a:t>
            </a:r>
            <a:r>
              <a:rPr lang="fr-FR" dirty="0"/>
              <a:t> (IT et DN) au niveau des zones de santé.</a:t>
            </a:r>
          </a:p>
          <a:p>
            <a:pPr marL="909638" indent="-457200" algn="just" defTabSz="452438">
              <a:buFontTx/>
              <a:buChar char="-"/>
            </a:pPr>
            <a:r>
              <a:rPr lang="fr-FR" dirty="0"/>
              <a:t>Sud-</a:t>
            </a:r>
            <a:r>
              <a:rPr lang="fr-FR" dirty="0" err="1"/>
              <a:t>Ubangi</a:t>
            </a:r>
            <a:r>
              <a:rPr lang="fr-FR" dirty="0"/>
              <a:t> : </a:t>
            </a:r>
            <a:r>
              <a:rPr lang="fr-FR" b="1" dirty="0"/>
              <a:t>55</a:t>
            </a:r>
            <a:r>
              <a:rPr lang="fr-FR" dirty="0"/>
              <a:t> participants (MCZS, IS PEV et Data Managers) formés au niveau provincial et </a:t>
            </a:r>
            <a:r>
              <a:rPr lang="fr-FR" b="1" dirty="0"/>
              <a:t>343</a:t>
            </a:r>
            <a:r>
              <a:rPr lang="fr-FR" dirty="0"/>
              <a:t> (IT et DN) au niveau des zones de santé. </a:t>
            </a:r>
          </a:p>
          <a:p>
            <a:pPr marL="909638" indent="-457200" algn="just" defTabSz="452438">
              <a:buFontTx/>
              <a:buChar char="-"/>
            </a:pPr>
            <a:r>
              <a:rPr lang="fr-FR" dirty="0"/>
              <a:t>Démarrage de la saisie de données au niveau des IT </a:t>
            </a:r>
          </a:p>
          <a:p>
            <a:pPr marL="909638" indent="-457200" algn="just" defTabSz="452438">
              <a:buFontTx/>
              <a:buChar char="-"/>
            </a:pPr>
            <a:r>
              <a:rPr lang="fr-FR" dirty="0"/>
              <a:t>Evaluation prévue  en fin décembre.</a:t>
            </a:r>
          </a:p>
          <a:p>
            <a:pPr lvl="0" algn="just"/>
            <a:r>
              <a:rPr lang="fr-FR" dirty="0"/>
              <a:t> </a:t>
            </a:r>
            <a:endParaRPr lang="en-US" dirty="0"/>
          </a:p>
          <a:p>
            <a:pPr marL="457200" indent="-457200" algn="just">
              <a:buFont typeface="Wingdings" panose="05000000000000000000" pitchFamily="2" charset="2"/>
              <a:buChar char="§"/>
            </a:pPr>
            <a:endParaRPr lang="fr-FR" dirty="0"/>
          </a:p>
          <a:p>
            <a:pPr marL="0" indent="0">
              <a:buNone/>
            </a:pPr>
            <a:endParaRPr lang="fr-FR" dirty="0"/>
          </a:p>
        </p:txBody>
      </p:sp>
    </p:spTree>
    <p:extLst>
      <p:ext uri="{BB962C8B-B14F-4D97-AF65-F5344CB8AC3E}">
        <p14:creationId xmlns:p14="http://schemas.microsoft.com/office/powerpoint/2010/main" val="317939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81000" y="247824"/>
            <a:ext cx="11595100" cy="864096"/>
          </a:xfrm>
          <a:solidFill>
            <a:srgbClr val="4224F8"/>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lgn="ctr">
              <a:buClr>
                <a:schemeClr val="lt1"/>
              </a:buClr>
              <a:buSzPts val="3200"/>
            </a:pPr>
            <a:r>
              <a:rPr lang="fr-FR" altLang="en-US" sz="2400" b="1" dirty="0">
                <a:solidFill>
                  <a:schemeClr val="lt1"/>
                </a:solidFill>
                <a:latin typeface="Arial" panose="020B0604020202020204" pitchFamily="34" charset="0"/>
                <a:ea typeface="Lato"/>
                <a:cs typeface="Arial" panose="020B0604020202020204" pitchFamily="34" charset="0"/>
                <a:sym typeface="Arial" panose="020B0604020202020204"/>
              </a:rPr>
              <a:t>E</a:t>
            </a:r>
            <a:r>
              <a:rPr lang="en-US" sz="2400" b="1" dirty="0">
                <a:solidFill>
                  <a:schemeClr val="lt1"/>
                </a:solidFill>
                <a:latin typeface="Arial" panose="020B0604020202020204" pitchFamily="34" charset="0"/>
                <a:ea typeface="Lato"/>
                <a:cs typeface="Arial" panose="020B0604020202020204" pitchFamily="34" charset="0"/>
                <a:sym typeface="Arial" panose="020B0604020202020204"/>
              </a:rPr>
              <a:t>volution du </a:t>
            </a:r>
            <a:r>
              <a:rPr lang="en-US" sz="2400" b="1" dirty="0" err="1">
                <a:solidFill>
                  <a:schemeClr val="lt1"/>
                </a:solidFill>
                <a:latin typeface="Arial" panose="020B0604020202020204" pitchFamily="34" charset="0"/>
                <a:ea typeface="Lato"/>
                <a:cs typeface="Arial" panose="020B0604020202020204" pitchFamily="34" charset="0"/>
                <a:sym typeface="Arial" panose="020B0604020202020204"/>
              </a:rPr>
              <a:t>nombre</a:t>
            </a:r>
            <a:r>
              <a:rPr lang="en-US" sz="2400" b="1" dirty="0">
                <a:solidFill>
                  <a:schemeClr val="lt1"/>
                </a:solidFill>
                <a:latin typeface="Arial" panose="020B0604020202020204" pitchFamily="34" charset="0"/>
                <a:ea typeface="Lato"/>
                <a:cs typeface="Arial" panose="020B0604020202020204" pitchFamily="34" charset="0"/>
                <a:sym typeface="Arial" panose="020B0604020202020204"/>
              </a:rPr>
              <a:t> de  ZS avec CV DTC3 &gt; 100%, 2020-2025</a:t>
            </a:r>
            <a:br>
              <a:rPr lang="en-US" sz="2400" b="1" dirty="0">
                <a:solidFill>
                  <a:schemeClr val="lt1"/>
                </a:solidFill>
                <a:latin typeface="Arial" panose="020B0604020202020204" pitchFamily="34" charset="0"/>
                <a:ea typeface="Lato"/>
                <a:cs typeface="Arial" panose="020B0604020202020204" pitchFamily="34" charset="0"/>
                <a:sym typeface="Arial" panose="020B0604020202020204"/>
              </a:rPr>
            </a:br>
            <a:r>
              <a:rPr lang="en-US" sz="2400" b="1" dirty="0">
                <a:solidFill>
                  <a:schemeClr val="lt1"/>
                </a:solidFill>
                <a:latin typeface="Arial" panose="020B0604020202020204" pitchFamily="34" charset="0"/>
                <a:ea typeface="Lato"/>
                <a:cs typeface="Arial" panose="020B0604020202020204" pitchFamily="34" charset="0"/>
                <a:sym typeface="Arial" panose="020B0604020202020204"/>
              </a:rPr>
              <a:t>(</a:t>
            </a:r>
            <a:r>
              <a:rPr lang="en-US" sz="2400" b="1" dirty="0" err="1">
                <a:solidFill>
                  <a:schemeClr val="lt1"/>
                </a:solidFill>
                <a:latin typeface="Arial" panose="020B0604020202020204" pitchFamily="34" charset="0"/>
                <a:ea typeface="Lato"/>
                <a:cs typeface="Arial" panose="020B0604020202020204" pitchFamily="34" charset="0"/>
                <a:sym typeface="Arial" panose="020B0604020202020204"/>
              </a:rPr>
              <a:t>Dénominateur</a:t>
            </a:r>
            <a:r>
              <a:rPr lang="en-US" sz="2400" b="1" dirty="0">
                <a:solidFill>
                  <a:schemeClr val="lt1"/>
                </a:solidFill>
                <a:latin typeface="Arial" panose="020B0604020202020204" pitchFamily="34" charset="0"/>
                <a:ea typeface="Lato"/>
                <a:cs typeface="Arial" panose="020B0604020202020204" pitchFamily="34" charset="0"/>
                <a:sym typeface="Arial" panose="020B0604020202020204"/>
              </a:rPr>
              <a:t> Administrative)</a:t>
            </a:r>
          </a:p>
        </p:txBody>
      </p:sp>
      <p:sp>
        <p:nvSpPr>
          <p:cNvPr id="5" name="ZoneTexte 4"/>
          <p:cNvSpPr txBox="1"/>
          <p:nvPr/>
        </p:nvSpPr>
        <p:spPr>
          <a:xfrm>
            <a:off x="6384032" y="6370433"/>
            <a:ext cx="5088565" cy="307777"/>
          </a:xfrm>
          <a:prstGeom prst="rect">
            <a:avLst/>
          </a:prstGeom>
          <a:noFill/>
        </p:spPr>
        <p:txBody>
          <a:bodyPr wrap="square" rtlCol="0">
            <a:spAutoFit/>
          </a:bodyPr>
          <a:lstStyle/>
          <a:p>
            <a:r>
              <a:rPr lang="fr-FR" sz="1400" b="1" dirty="0"/>
              <a:t>Source</a:t>
            </a:r>
            <a:r>
              <a:rPr lang="fr-FR" sz="1400" dirty="0"/>
              <a:t> DHIS2 2020-2025</a:t>
            </a:r>
          </a:p>
        </p:txBody>
      </p:sp>
      <p:graphicFrame>
        <p:nvGraphicFramePr>
          <p:cNvPr id="6" name="Graphique 5"/>
          <p:cNvGraphicFramePr>
            <a:graphicFrameLocks noGrp="1"/>
          </p:cNvGraphicFramePr>
          <p:nvPr/>
        </p:nvGraphicFramePr>
        <p:xfrm>
          <a:off x="613955" y="1567543"/>
          <a:ext cx="10620102" cy="461118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3700" y="142880"/>
            <a:ext cx="11569700" cy="765843"/>
          </a:xfrm>
          <a:solidFill>
            <a:srgbClr val="4224F8"/>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lgn="ctr">
              <a:buClr>
                <a:schemeClr val="lt1"/>
              </a:buClr>
              <a:buSzPts val="3200"/>
            </a:pPr>
            <a:r>
              <a:rPr lang="fr-FR" altLang="fr-FR" sz="2000" b="1" dirty="0">
                <a:solidFill>
                  <a:schemeClr val="lt1"/>
                </a:solidFill>
                <a:latin typeface="Arial" panose="020B0604020202020204" pitchFamily="34" charset="0"/>
                <a:ea typeface="Lato"/>
                <a:cs typeface="Arial" panose="020B0604020202020204" pitchFamily="34" charset="0"/>
                <a:sym typeface="Arial" panose="020B0604020202020204"/>
              </a:rPr>
              <a:t>Evolution du nombre de ZS avec Taux d’abandon DTC1/DTC3 négatif de 2020 – 2025, </a:t>
            </a:r>
            <a:br>
              <a:rPr lang="fr-FR" altLang="fr-FR" sz="2000" b="1" dirty="0">
                <a:solidFill>
                  <a:schemeClr val="lt1"/>
                </a:solidFill>
                <a:latin typeface="Arial" panose="020B0604020202020204" pitchFamily="34" charset="0"/>
                <a:ea typeface="Lato"/>
                <a:cs typeface="Arial" panose="020B0604020202020204" pitchFamily="34" charset="0"/>
                <a:sym typeface="Arial" panose="020B0604020202020204"/>
              </a:rPr>
            </a:br>
            <a:r>
              <a:rPr lang="fr-FR" altLang="fr-FR" sz="2000" b="1" dirty="0">
                <a:solidFill>
                  <a:schemeClr val="lt1"/>
                </a:solidFill>
                <a:latin typeface="Arial" panose="020B0604020202020204" pitchFamily="34" charset="0"/>
                <a:ea typeface="Lato"/>
                <a:cs typeface="Arial" panose="020B0604020202020204" pitchFamily="34" charset="0"/>
                <a:sym typeface="Arial" panose="020B0604020202020204"/>
              </a:rPr>
              <a:t>Janvier- Octobre 2025</a:t>
            </a:r>
          </a:p>
        </p:txBody>
      </p:sp>
      <p:sp>
        <p:nvSpPr>
          <p:cNvPr id="5" name="ZoneTexte 4"/>
          <p:cNvSpPr txBox="1"/>
          <p:nvPr/>
        </p:nvSpPr>
        <p:spPr>
          <a:xfrm>
            <a:off x="6740769" y="6334780"/>
            <a:ext cx="5070231" cy="369332"/>
          </a:xfrm>
          <a:prstGeom prst="rect">
            <a:avLst/>
          </a:prstGeom>
          <a:noFill/>
        </p:spPr>
        <p:txBody>
          <a:bodyPr wrap="square" rtlCol="0">
            <a:spAutoFit/>
          </a:bodyPr>
          <a:lstStyle/>
          <a:p>
            <a:r>
              <a:rPr lang="fr-FR" b="1" dirty="0"/>
              <a:t>Source : </a:t>
            </a:r>
            <a:r>
              <a:rPr lang="fr-FR" dirty="0"/>
              <a:t> DHIS2 2020-2025</a:t>
            </a:r>
          </a:p>
        </p:txBody>
      </p:sp>
      <p:graphicFrame>
        <p:nvGraphicFramePr>
          <p:cNvPr id="6" name="Graphique 5"/>
          <p:cNvGraphicFramePr>
            <a:graphicFrameLocks noGrp="1"/>
          </p:cNvGraphicFramePr>
          <p:nvPr/>
        </p:nvGraphicFramePr>
        <p:xfrm>
          <a:off x="561703" y="1227909"/>
          <a:ext cx="11025051" cy="471569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p:cNvSpPr txBox="1"/>
          <p:nvPr/>
        </p:nvSpPr>
        <p:spPr>
          <a:xfrm>
            <a:off x="254000" y="46892"/>
            <a:ext cx="11836400" cy="688405"/>
          </a:xfrm>
          <a:prstGeom prst="rect">
            <a:avLst/>
          </a:prstGeom>
          <a:solidFill>
            <a:srgbClr val="4224F8"/>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L="0" indent="0">
              <a:lnSpc>
                <a:spcPct val="90000"/>
              </a:lnSpc>
              <a:buClr>
                <a:schemeClr val="lt1"/>
              </a:buClr>
              <a:buSzPts val="3200"/>
              <a:buFont typeface="Arimo"/>
              <a:buNone/>
              <a:defRPr sz="4000" b="1">
                <a:solidFill>
                  <a:schemeClr val="lt1"/>
                </a:solidFill>
                <a:latin typeface="Lato"/>
                <a:ea typeface="Lato"/>
                <a:cs typeface="Lato"/>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pPr algn="ctr"/>
            <a:r>
              <a:rPr lang="fr-FR" sz="2000" dirty="0">
                <a:latin typeface="Arial" panose="020B0604020202020204" pitchFamily="34" charset="0"/>
                <a:cs typeface="Arial" panose="020B0604020202020204" pitchFamily="34" charset="0"/>
              </a:rPr>
              <a:t>Incohérences: VPO,Penta,PCV2 &gt; VPO,Penta,PCV1 et VPO,Penta,PCV3 &gt; VPO,Penta,PCV2</a:t>
            </a:r>
            <a:br>
              <a:rPr lang="fr-FR" sz="2000" dirty="0">
                <a:latin typeface="Arial" panose="020B0604020202020204" pitchFamily="34" charset="0"/>
                <a:cs typeface="Arial" panose="020B0604020202020204" pitchFamily="34" charset="0"/>
              </a:rPr>
            </a:br>
            <a:r>
              <a:rPr lang="fr-FR" sz="2000" dirty="0">
                <a:latin typeface="Arial" panose="020B0604020202020204" pitchFamily="34" charset="0"/>
                <a:cs typeface="Arial" panose="020B0604020202020204" pitchFamily="34" charset="0"/>
              </a:rPr>
              <a:t>RDC, Janvier- Octobre 2025</a:t>
            </a:r>
          </a:p>
        </p:txBody>
      </p:sp>
      <p:graphicFrame>
        <p:nvGraphicFramePr>
          <p:cNvPr id="2" name="Tableau 1"/>
          <p:cNvGraphicFramePr>
            <a:graphicFrameLocks noGrp="1"/>
          </p:cNvGraphicFramePr>
          <p:nvPr>
            <p:custDataLst>
              <p:tags r:id="rId1"/>
            </p:custDataLst>
            <p:extLst>
              <p:ext uri="{D42A27DB-BD31-4B8C-83A1-F6EECF244321}">
                <p14:modId xmlns:p14="http://schemas.microsoft.com/office/powerpoint/2010/main" val="1532855906"/>
              </p:ext>
            </p:extLst>
          </p:nvPr>
        </p:nvGraphicFramePr>
        <p:xfrm>
          <a:off x="470535" y="920750"/>
          <a:ext cx="11129645" cy="5534025"/>
        </p:xfrm>
        <a:graphic>
          <a:graphicData uri="http://schemas.openxmlformats.org/drawingml/2006/table">
            <a:tbl>
              <a:tblPr/>
              <a:tblGrid>
                <a:gridCol w="156146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015365">
                  <a:extLst>
                    <a:ext uri="{9D8B030D-6E8A-4147-A177-3AD203B41FA5}">
                      <a16:colId xmlns:a16="http://schemas.microsoft.com/office/drawing/2014/main" val="20002"/>
                    </a:ext>
                  </a:extLst>
                </a:gridCol>
                <a:gridCol w="1015365">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5365">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gridCol w="1066165">
                  <a:extLst>
                    <a:ext uri="{9D8B030D-6E8A-4147-A177-3AD203B41FA5}">
                      <a16:colId xmlns:a16="http://schemas.microsoft.com/office/drawing/2014/main" val="20007"/>
                    </a:ext>
                  </a:extLst>
                </a:gridCol>
                <a:gridCol w="1066165">
                  <a:extLst>
                    <a:ext uri="{9D8B030D-6E8A-4147-A177-3AD203B41FA5}">
                      <a16:colId xmlns:a16="http://schemas.microsoft.com/office/drawing/2014/main" val="20008"/>
                    </a:ext>
                  </a:extLst>
                </a:gridCol>
                <a:gridCol w="1405255">
                  <a:extLst>
                    <a:ext uri="{9D8B030D-6E8A-4147-A177-3AD203B41FA5}">
                      <a16:colId xmlns:a16="http://schemas.microsoft.com/office/drawing/2014/main" val="20009"/>
                    </a:ext>
                  </a:extLst>
                </a:gridCol>
              </a:tblGrid>
              <a:tr h="451485">
                <a:tc>
                  <a:txBody>
                    <a:bodyPr/>
                    <a:lstStyle/>
                    <a:p>
                      <a:pPr algn="ctr" fontAlgn="ctr"/>
                      <a:r>
                        <a:rPr lang="fr-FR" sz="1100" b="1" i="0" u="none" strike="noStrike" dirty="0">
                          <a:effectLst/>
                          <a:latin typeface="Arial" panose="020B0604020202020204" pitchFamily="34" charset="0"/>
                        </a:rPr>
                        <a:t>DPS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Nombre de ZS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CV de plus de 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VPO2&gt;VPO1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VPO3&gt;VPO2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PENTA2&gt;PENTA1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PENTA3&gt;PENTA2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PNEUMO2&gt;PNEUMO1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PNEUMO3&gt;PNEUMO2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dirty="0">
                          <a:effectLst/>
                          <a:latin typeface="Arial" panose="020B0604020202020204" pitchFamily="34" charset="0"/>
                        </a:rPr>
                        <a:t>CV</a:t>
                      </a:r>
                      <a:br>
                        <a:rPr lang="fr-FR" sz="1100" b="1" i="0" u="none" strike="noStrike" dirty="0">
                          <a:effectLst/>
                          <a:latin typeface="Arial" panose="020B0604020202020204" pitchFamily="34" charset="0"/>
                        </a:rPr>
                      </a:br>
                      <a:r>
                        <a:rPr lang="fr-FR" sz="1100" b="1" i="0" u="none" strike="noStrike" dirty="0">
                          <a:effectLst/>
                          <a:latin typeface="Arial" panose="020B0604020202020204" pitchFamily="34" charset="0"/>
                        </a:rPr>
                        <a:t>&gt;=90% tous 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extLst>
                  <a:ext uri="{0D108BD9-81ED-4DB2-BD59-A6C34878D82A}">
                    <a16:rowId xmlns:a16="http://schemas.microsoft.com/office/drawing/2014/main" val="10000"/>
                  </a:ext>
                </a:extLst>
              </a:tr>
              <a:tr h="177800">
                <a:tc>
                  <a:txBody>
                    <a:bodyPr/>
                    <a:lstStyle/>
                    <a:p>
                      <a:pPr algn="l" fontAlgn="ctr"/>
                      <a:r>
                        <a:rPr lang="fr-FR" sz="1100" b="0" i="0" u="none" strike="noStrike">
                          <a:effectLst/>
                          <a:latin typeface="Arial" panose="020B0604020202020204" pitchFamily="34" charset="0"/>
                        </a:rPr>
                        <a:t>Bas Uélé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8435">
                <a:tc>
                  <a:txBody>
                    <a:bodyPr/>
                    <a:lstStyle/>
                    <a:p>
                      <a:pPr algn="l" fontAlgn="ctr"/>
                      <a:r>
                        <a:rPr lang="fr-FR" sz="1100" b="0" i="0" u="none" strike="noStrike">
                          <a:effectLst/>
                          <a:latin typeface="Arial" panose="020B0604020202020204" pitchFamily="34" charset="0"/>
                        </a:rPr>
                        <a:t>Equateur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dirty="0">
                          <a:solidFill>
                            <a:srgbClr val="FF0000"/>
                          </a:solidFill>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7800">
                <a:tc>
                  <a:txBody>
                    <a:bodyPr/>
                    <a:lstStyle/>
                    <a:p>
                      <a:pPr algn="l" fontAlgn="ctr"/>
                      <a:r>
                        <a:rPr lang="fr-FR" sz="1100" b="0" i="0" u="none" strike="noStrike">
                          <a:effectLst/>
                          <a:latin typeface="Arial" panose="020B0604020202020204" pitchFamily="34" charset="0"/>
                        </a:rPr>
                        <a:t>Haut Katanga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dirty="0">
                          <a:solidFill>
                            <a:srgbClr val="FF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77800">
                <a:tc>
                  <a:txBody>
                    <a:bodyPr/>
                    <a:lstStyle/>
                    <a:p>
                      <a:pPr algn="l" fontAlgn="ctr"/>
                      <a:r>
                        <a:rPr lang="fr-FR" sz="1100" b="0" i="0" u="none" strike="noStrike">
                          <a:effectLst/>
                          <a:latin typeface="Arial" panose="020B0604020202020204" pitchFamily="34" charset="0"/>
                        </a:rPr>
                        <a:t>Haut lomami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77800">
                <a:tc>
                  <a:txBody>
                    <a:bodyPr/>
                    <a:lstStyle/>
                    <a:p>
                      <a:pPr algn="l" fontAlgn="ctr"/>
                      <a:r>
                        <a:rPr lang="fr-FR" sz="1100" b="0" i="0" u="none" strike="noStrike">
                          <a:effectLst/>
                          <a:latin typeface="Arial" panose="020B0604020202020204" pitchFamily="34" charset="0"/>
                        </a:rPr>
                        <a:t>Haut Uélé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dirty="0">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77800">
                <a:tc>
                  <a:txBody>
                    <a:bodyPr/>
                    <a:lstStyle/>
                    <a:p>
                      <a:pPr algn="l" fontAlgn="ctr"/>
                      <a:r>
                        <a:rPr lang="fr-FR" sz="1100" b="0" i="0" u="none" strike="noStrike">
                          <a:effectLst/>
                          <a:latin typeface="Arial" panose="020B0604020202020204" pitchFamily="34" charset="0"/>
                        </a:rPr>
                        <a:t>Ituri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dirty="0">
                          <a:solidFill>
                            <a:srgbClr val="FF0000"/>
                          </a:solidFill>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78435">
                <a:tc>
                  <a:txBody>
                    <a:bodyPr/>
                    <a:lstStyle/>
                    <a:p>
                      <a:pPr algn="l" fontAlgn="ctr"/>
                      <a:r>
                        <a:rPr lang="fr-FR" sz="1100" b="0" i="0" u="none" strike="noStrike">
                          <a:effectLst/>
                          <a:latin typeface="Arial" panose="020B0604020202020204" pitchFamily="34" charset="0"/>
                        </a:rPr>
                        <a:t>Kasai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8130">
                <a:tc>
                  <a:txBody>
                    <a:bodyPr/>
                    <a:lstStyle/>
                    <a:p>
                      <a:pPr algn="l" fontAlgn="ctr"/>
                      <a:r>
                        <a:rPr lang="fr-FR" sz="1100" b="0" i="0" u="none" strike="noStrike">
                          <a:effectLst/>
                          <a:latin typeface="Arial" panose="020B0604020202020204" pitchFamily="34" charset="0"/>
                        </a:rPr>
                        <a:t>Kasai Central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77800">
                <a:tc>
                  <a:txBody>
                    <a:bodyPr/>
                    <a:lstStyle/>
                    <a:p>
                      <a:pPr algn="l" fontAlgn="ctr"/>
                      <a:r>
                        <a:rPr lang="fr-FR" sz="1100" b="0" i="0" u="none" strike="noStrike">
                          <a:effectLst/>
                          <a:latin typeface="Arial" panose="020B0604020202020204" pitchFamily="34" charset="0"/>
                        </a:rPr>
                        <a:t>Kasai Oriental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77800">
                <a:tc>
                  <a:txBody>
                    <a:bodyPr/>
                    <a:lstStyle/>
                    <a:p>
                      <a:pPr algn="l" fontAlgn="ctr"/>
                      <a:r>
                        <a:rPr lang="fr-FR" sz="1100" b="0" i="0" u="none" strike="noStrike">
                          <a:effectLst/>
                          <a:latin typeface="Arial" panose="020B0604020202020204" pitchFamily="34" charset="0"/>
                        </a:rPr>
                        <a:t>Kinshasa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78435">
                <a:tc>
                  <a:txBody>
                    <a:bodyPr/>
                    <a:lstStyle/>
                    <a:p>
                      <a:pPr algn="l" fontAlgn="ctr"/>
                      <a:r>
                        <a:rPr lang="fr-FR" sz="1100" b="0" i="0" u="none" strike="noStrike">
                          <a:effectLst/>
                          <a:latin typeface="Arial" panose="020B0604020202020204" pitchFamily="34" charset="0"/>
                        </a:rPr>
                        <a:t>Kongo Central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dirty="0">
                          <a:solidFill>
                            <a:srgbClr val="FF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77800">
                <a:tc>
                  <a:txBody>
                    <a:bodyPr/>
                    <a:lstStyle/>
                    <a:p>
                      <a:pPr algn="l" fontAlgn="ctr"/>
                      <a:r>
                        <a:rPr lang="fr-FR" sz="1100" b="0" i="0" u="none" strike="noStrike">
                          <a:effectLst/>
                          <a:latin typeface="Arial" panose="020B0604020202020204" pitchFamily="34" charset="0"/>
                        </a:rPr>
                        <a:t>Kwango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77800">
                <a:tc>
                  <a:txBody>
                    <a:bodyPr/>
                    <a:lstStyle/>
                    <a:p>
                      <a:pPr algn="l" fontAlgn="ctr"/>
                      <a:r>
                        <a:rPr lang="fr-FR" sz="1100" b="0" i="0" u="none" strike="noStrike">
                          <a:effectLst/>
                          <a:latin typeface="Arial" panose="020B0604020202020204" pitchFamily="34" charset="0"/>
                        </a:rPr>
                        <a:t>Kwilu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77800">
                <a:tc>
                  <a:txBody>
                    <a:bodyPr/>
                    <a:lstStyle/>
                    <a:p>
                      <a:pPr algn="l" fontAlgn="ctr"/>
                      <a:r>
                        <a:rPr lang="fr-FR" sz="1100" b="0" i="0" u="none" strike="noStrike">
                          <a:effectLst/>
                          <a:latin typeface="Arial" panose="020B0604020202020204" pitchFamily="34" charset="0"/>
                        </a:rPr>
                        <a:t>Lomami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solidFill>
                            <a:srgbClr val="FF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77800">
                <a:tc>
                  <a:txBody>
                    <a:bodyPr/>
                    <a:lstStyle/>
                    <a:p>
                      <a:pPr algn="l" fontAlgn="ctr"/>
                      <a:r>
                        <a:rPr lang="fr-FR" sz="1100" b="0" i="0" u="none" strike="noStrike">
                          <a:effectLst/>
                          <a:latin typeface="Arial" panose="020B0604020202020204" pitchFamily="34" charset="0"/>
                        </a:rPr>
                        <a:t>Lualaba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78435">
                <a:tc>
                  <a:txBody>
                    <a:bodyPr/>
                    <a:lstStyle/>
                    <a:p>
                      <a:pPr algn="l" fontAlgn="ctr"/>
                      <a:r>
                        <a:rPr lang="fr-FR" sz="1100" b="0" i="0" u="none" strike="noStrike" dirty="0" err="1">
                          <a:effectLst/>
                          <a:latin typeface="Arial" panose="020B0604020202020204" pitchFamily="34" charset="0"/>
                        </a:rPr>
                        <a:t>Maindombe</a:t>
                      </a:r>
                      <a:endParaRPr lang="fr-FR" sz="1100" b="0" i="0" u="none" strike="noStrike" dirty="0">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77800">
                <a:tc>
                  <a:txBody>
                    <a:bodyPr/>
                    <a:lstStyle/>
                    <a:p>
                      <a:pPr algn="l" fontAlgn="ctr"/>
                      <a:r>
                        <a:rPr lang="fr-FR" sz="1100" b="0" i="0" u="none" strike="noStrike">
                          <a:effectLst/>
                          <a:latin typeface="Arial" panose="020B0604020202020204" pitchFamily="34" charset="0"/>
                        </a:rPr>
                        <a:t>Maniema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77800">
                <a:tc>
                  <a:txBody>
                    <a:bodyPr/>
                    <a:lstStyle/>
                    <a:p>
                      <a:pPr algn="l" fontAlgn="ctr"/>
                      <a:r>
                        <a:rPr lang="fr-FR" sz="1100" b="0" i="0" u="none" strike="noStrike">
                          <a:effectLst/>
                          <a:latin typeface="Arial" panose="020B0604020202020204" pitchFamily="34" charset="0"/>
                        </a:rPr>
                        <a:t>Mongala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77800">
                <a:tc>
                  <a:txBody>
                    <a:bodyPr/>
                    <a:lstStyle/>
                    <a:p>
                      <a:pPr algn="l" fontAlgn="ctr"/>
                      <a:r>
                        <a:rPr lang="fr-FR" sz="1100" b="0" i="0" u="none" strike="noStrike">
                          <a:effectLst/>
                          <a:latin typeface="Arial" panose="020B0604020202020204" pitchFamily="34" charset="0"/>
                        </a:rPr>
                        <a:t>Nord Kivu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77800">
                <a:tc>
                  <a:txBody>
                    <a:bodyPr/>
                    <a:lstStyle/>
                    <a:p>
                      <a:pPr algn="l" fontAlgn="ctr"/>
                      <a:r>
                        <a:rPr lang="fr-FR" sz="1100" b="0" i="0" u="none" strike="noStrike">
                          <a:effectLst/>
                          <a:latin typeface="Arial" panose="020B0604020202020204" pitchFamily="34" charset="0"/>
                        </a:rPr>
                        <a:t>Nord Ubangi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78435">
                <a:tc>
                  <a:txBody>
                    <a:bodyPr/>
                    <a:lstStyle/>
                    <a:p>
                      <a:pPr algn="l" fontAlgn="ctr"/>
                      <a:r>
                        <a:rPr lang="fr-FR" sz="1100" b="0" i="0" u="none" strike="noStrike">
                          <a:effectLst/>
                          <a:latin typeface="Arial" panose="020B0604020202020204" pitchFamily="34" charset="0"/>
                        </a:rPr>
                        <a:t>Sankuru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77800">
                <a:tc>
                  <a:txBody>
                    <a:bodyPr/>
                    <a:lstStyle/>
                    <a:p>
                      <a:pPr algn="l" fontAlgn="ctr"/>
                      <a:r>
                        <a:rPr lang="fr-FR" sz="1100" b="0" i="0" u="none" strike="noStrike">
                          <a:effectLst/>
                          <a:latin typeface="Arial" panose="020B0604020202020204" pitchFamily="34" charset="0"/>
                        </a:rPr>
                        <a:t>Sud Kivu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177800">
                <a:tc>
                  <a:txBody>
                    <a:bodyPr/>
                    <a:lstStyle/>
                    <a:p>
                      <a:pPr algn="l" fontAlgn="ctr"/>
                      <a:r>
                        <a:rPr lang="fr-FR" sz="1100" b="0" i="0" u="none" strike="noStrike">
                          <a:effectLst/>
                          <a:latin typeface="Arial" panose="020B0604020202020204" pitchFamily="34" charset="0"/>
                        </a:rPr>
                        <a:t>Sud Ubangi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177800">
                <a:tc>
                  <a:txBody>
                    <a:bodyPr/>
                    <a:lstStyle/>
                    <a:p>
                      <a:pPr algn="l" fontAlgn="ctr"/>
                      <a:r>
                        <a:rPr lang="fr-FR" sz="1100" b="0" i="0" u="none" strike="noStrike">
                          <a:effectLst/>
                          <a:latin typeface="Arial" panose="020B0604020202020204" pitchFamily="34" charset="0"/>
                        </a:rPr>
                        <a:t>Tanganyika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r h="177800">
                <a:tc>
                  <a:txBody>
                    <a:bodyPr/>
                    <a:lstStyle/>
                    <a:p>
                      <a:pPr algn="l" fontAlgn="ctr"/>
                      <a:r>
                        <a:rPr lang="fr-FR" sz="1100" b="0" i="0" u="none" strike="noStrike">
                          <a:effectLst/>
                          <a:latin typeface="Arial" panose="020B0604020202020204" pitchFamily="34" charset="0"/>
                        </a:rPr>
                        <a:t>Tshopo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178435">
                <a:tc>
                  <a:txBody>
                    <a:bodyPr/>
                    <a:lstStyle/>
                    <a:p>
                      <a:pPr algn="l" fontAlgn="ctr"/>
                      <a:r>
                        <a:rPr lang="fr-FR" sz="1100" b="0" i="0" u="none" strike="noStrike">
                          <a:effectLst/>
                          <a:latin typeface="Arial" panose="020B0604020202020204" pitchFamily="34" charset="0"/>
                        </a:rPr>
                        <a:t>Tshuapa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rgbClr val="FF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177800">
                <a:tc>
                  <a:txBody>
                    <a:bodyPr/>
                    <a:lstStyle/>
                    <a:p>
                      <a:pPr algn="l" fontAlgn="ctr"/>
                      <a:r>
                        <a:rPr lang="fr-FR" sz="1100" b="1" i="0" u="none" strike="noStrike">
                          <a:effectLst/>
                          <a:latin typeface="Arial" panose="020B0604020202020204" pitchFamily="34" charset="0"/>
                        </a:rPr>
                        <a:t>National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519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322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185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169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extLst>
                  <a:ext uri="{0D108BD9-81ED-4DB2-BD59-A6C34878D82A}">
                    <a16:rowId xmlns:a16="http://schemas.microsoft.com/office/drawing/2014/main" val="10027"/>
                  </a:ext>
                </a:extLst>
              </a:tr>
              <a:tr h="177800">
                <a:tc>
                  <a:txBody>
                    <a:bodyPr/>
                    <a:lstStyle/>
                    <a:p>
                      <a:pPr algn="l" fontAlgn="ctr"/>
                      <a:r>
                        <a:rPr lang="fr-FR" sz="1100" b="1" i="0" u="none" strike="noStrike">
                          <a:solidFill>
                            <a:srgbClr val="002060"/>
                          </a:solidFill>
                          <a:effectLst/>
                          <a:latin typeface="Arial" panose="020B0604020202020204" pitchFamily="34" charset="0"/>
                        </a:rPr>
                        <a:t>Proportion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14,5%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11,2%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50,1%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62,0%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35,6%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32,6%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dirty="0">
                          <a:solidFill>
                            <a:srgbClr val="002060"/>
                          </a:solidFill>
                          <a:effectLst/>
                          <a:latin typeface="Arial" panose="020B0604020202020204" pitchFamily="34" charset="0"/>
                        </a:rPr>
                        <a:t>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a:xfrm>
            <a:off x="431371" y="116632"/>
            <a:ext cx="11425269" cy="576064"/>
          </a:xfrm>
          <a:solidFill>
            <a:srgbClr val="4224F8"/>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lgn="ctr">
              <a:buClr>
                <a:schemeClr val="lt1"/>
              </a:buClr>
              <a:buSzPts val="3200"/>
            </a:pPr>
            <a:r>
              <a:rPr lang="fr-FR" sz="2400" b="1" dirty="0">
                <a:solidFill>
                  <a:schemeClr val="lt1"/>
                </a:solidFill>
                <a:latin typeface="Arial" panose="020B0604020202020204" pitchFamily="34" charset="0"/>
                <a:ea typeface="Lato"/>
                <a:cs typeface="Arial" panose="020B0604020202020204" pitchFamily="34" charset="0"/>
                <a:sym typeface="Arial" panose="020B0604020202020204"/>
              </a:rPr>
              <a:t>Evolution de la consistance Interne des données</a:t>
            </a:r>
          </a:p>
        </p:txBody>
      </p:sp>
      <p:sp>
        <p:nvSpPr>
          <p:cNvPr id="5" name="ZoneTexte 4"/>
          <p:cNvSpPr txBox="1"/>
          <p:nvPr/>
        </p:nvSpPr>
        <p:spPr>
          <a:xfrm>
            <a:off x="5327915" y="6372036"/>
            <a:ext cx="6624736" cy="369332"/>
          </a:xfrm>
          <a:prstGeom prst="rect">
            <a:avLst/>
          </a:prstGeom>
          <a:noFill/>
        </p:spPr>
        <p:txBody>
          <a:bodyPr wrap="square" rtlCol="0">
            <a:spAutoFit/>
          </a:bodyPr>
          <a:lstStyle/>
          <a:p>
            <a:r>
              <a:rPr lang="fr-FR" b="1" dirty="0"/>
              <a:t>Source</a:t>
            </a:r>
            <a:r>
              <a:rPr lang="fr-FR" dirty="0"/>
              <a:t> : DHIS2  2020-2025</a:t>
            </a:r>
          </a:p>
        </p:txBody>
      </p:sp>
      <p:graphicFrame>
        <p:nvGraphicFramePr>
          <p:cNvPr id="3" name="Tableau 2"/>
          <p:cNvGraphicFramePr>
            <a:graphicFrameLocks noGrp="1"/>
          </p:cNvGraphicFramePr>
          <p:nvPr/>
        </p:nvGraphicFramePr>
        <p:xfrm>
          <a:off x="600894" y="979714"/>
          <a:ext cx="10946670" cy="4615958"/>
        </p:xfrm>
        <a:graphic>
          <a:graphicData uri="http://schemas.openxmlformats.org/drawingml/2006/table">
            <a:tbl>
              <a:tblPr/>
              <a:tblGrid>
                <a:gridCol w="1563810">
                  <a:extLst>
                    <a:ext uri="{9D8B030D-6E8A-4147-A177-3AD203B41FA5}">
                      <a16:colId xmlns:a16="http://schemas.microsoft.com/office/drawing/2014/main" val="20000"/>
                    </a:ext>
                  </a:extLst>
                </a:gridCol>
                <a:gridCol w="1563810">
                  <a:extLst>
                    <a:ext uri="{9D8B030D-6E8A-4147-A177-3AD203B41FA5}">
                      <a16:colId xmlns:a16="http://schemas.microsoft.com/office/drawing/2014/main" val="20001"/>
                    </a:ext>
                  </a:extLst>
                </a:gridCol>
                <a:gridCol w="1563810">
                  <a:extLst>
                    <a:ext uri="{9D8B030D-6E8A-4147-A177-3AD203B41FA5}">
                      <a16:colId xmlns:a16="http://schemas.microsoft.com/office/drawing/2014/main" val="20002"/>
                    </a:ext>
                  </a:extLst>
                </a:gridCol>
                <a:gridCol w="1563810">
                  <a:extLst>
                    <a:ext uri="{9D8B030D-6E8A-4147-A177-3AD203B41FA5}">
                      <a16:colId xmlns:a16="http://schemas.microsoft.com/office/drawing/2014/main" val="20003"/>
                    </a:ext>
                  </a:extLst>
                </a:gridCol>
                <a:gridCol w="1563810">
                  <a:extLst>
                    <a:ext uri="{9D8B030D-6E8A-4147-A177-3AD203B41FA5}">
                      <a16:colId xmlns:a16="http://schemas.microsoft.com/office/drawing/2014/main" val="20004"/>
                    </a:ext>
                  </a:extLst>
                </a:gridCol>
                <a:gridCol w="1563810">
                  <a:extLst>
                    <a:ext uri="{9D8B030D-6E8A-4147-A177-3AD203B41FA5}">
                      <a16:colId xmlns:a16="http://schemas.microsoft.com/office/drawing/2014/main" val="20005"/>
                    </a:ext>
                  </a:extLst>
                </a:gridCol>
                <a:gridCol w="1563810">
                  <a:extLst>
                    <a:ext uri="{9D8B030D-6E8A-4147-A177-3AD203B41FA5}">
                      <a16:colId xmlns:a16="http://schemas.microsoft.com/office/drawing/2014/main" val="20006"/>
                    </a:ext>
                  </a:extLst>
                </a:gridCol>
              </a:tblGrid>
              <a:tr h="822960">
                <a:tc rowSpan="2">
                  <a:txBody>
                    <a:bodyPr/>
                    <a:lstStyle/>
                    <a:p>
                      <a:pPr algn="l" rtl="0" fontAlgn="ctr"/>
                      <a:r>
                        <a:rPr lang="fr-FR" sz="1400" b="1" i="0" u="none" strike="noStrike" dirty="0">
                          <a:solidFill>
                            <a:srgbClr val="000000"/>
                          </a:solidFill>
                          <a:effectLst/>
                          <a:latin typeface="Franklin Gothic Book" panose="020B0503020102020204" pitchFamily="34" charset="0"/>
                        </a:rPr>
                        <a:t>National</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dirty="0">
                          <a:solidFill>
                            <a:srgbClr val="000000"/>
                          </a:solidFill>
                          <a:effectLst/>
                          <a:latin typeface="Franklin Gothic Book" panose="020B0503020102020204" pitchFamily="34" charset="0"/>
                        </a:rPr>
                        <a:t>VPO2&gt;VPO1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dirty="0">
                          <a:solidFill>
                            <a:srgbClr val="000000"/>
                          </a:solidFill>
                          <a:effectLst/>
                          <a:latin typeface="Franklin Gothic Book" panose="020B0503020102020204" pitchFamily="34" charset="0"/>
                        </a:rPr>
                        <a:t>VPO3&gt;VPO2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PENTA2&gt;PENTA1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PENTA3&gt;PENTA2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PNEUMO2&gt;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PNEUMO3&gt;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extLst>
                  <a:ext uri="{0D108BD9-81ED-4DB2-BD59-A6C34878D82A}">
                    <a16:rowId xmlns:a16="http://schemas.microsoft.com/office/drawing/2014/main" val="10000"/>
                  </a:ext>
                </a:extLst>
              </a:tr>
              <a:tr h="287383">
                <a:tc vMerge="1">
                  <a:txBody>
                    <a:bodyPr/>
                    <a:lstStyle/>
                    <a:p>
                      <a:endParaRPr lang="fr-FR"/>
                    </a:p>
                  </a:txBody>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10001"/>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161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2"/>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3"/>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121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128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4"/>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128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5"/>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6"/>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58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260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322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169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7"/>
                  </a:ext>
                </a:extLst>
              </a:tr>
              <a:tr h="818491">
                <a:tc>
                  <a:txBody>
                    <a:bodyPr/>
                    <a:lstStyle/>
                    <a:p>
                      <a:pPr algn="l" rtl="0" fontAlgn="ctr"/>
                      <a:r>
                        <a:rPr lang="fr-FR" sz="1100" b="1" i="0" u="none" strike="noStrike">
                          <a:solidFill>
                            <a:srgbClr val="000000"/>
                          </a:solidFill>
                          <a:effectLst/>
                          <a:latin typeface="Franklin Gothic Book" panose="020B0503020102020204" pitchFamily="34" charset="0"/>
                        </a:rPr>
                        <a:t>Conclusion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100" b="0" i="0" u="none" strike="noStrike" dirty="0">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dirty="0">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Titre 1"/>
          <p:cNvSpPr>
            <a:spLocks noGrp="1"/>
          </p:cNvSpPr>
          <p:nvPr>
            <p:ph type="title"/>
          </p:nvPr>
        </p:nvSpPr>
        <p:spPr>
          <a:xfrm>
            <a:off x="316523" y="44624"/>
            <a:ext cx="11512062" cy="792088"/>
          </a:xfrm>
        </p:spPr>
        <p:txBody>
          <a:bodyPr>
            <a:normAutofit/>
          </a:bodyPr>
          <a:lstStyle/>
          <a:p>
            <a:pPr algn="ctr"/>
            <a:r>
              <a:rPr lang="fr-FR" altLang="fr-FR" sz="2000" b="1" dirty="0">
                <a:solidFill>
                  <a:srgbClr val="008000"/>
                </a:solidFill>
              </a:rPr>
              <a:t>Evolution de nombre des enfants vaccinés  en DTC </a:t>
            </a:r>
            <a:r>
              <a:rPr lang="fr-FR" altLang="fr-FR" sz="2000" b="1" dirty="0" err="1">
                <a:solidFill>
                  <a:srgbClr val="008000"/>
                </a:solidFill>
              </a:rPr>
              <a:t>HepB</a:t>
            </a:r>
            <a:r>
              <a:rPr lang="fr-FR" altLang="fr-FR" sz="2000" b="1" dirty="0">
                <a:solidFill>
                  <a:srgbClr val="008000"/>
                </a:solidFill>
              </a:rPr>
              <a:t> Hib1, DTC </a:t>
            </a:r>
            <a:r>
              <a:rPr lang="fr-FR" altLang="fr-FR" sz="2000" b="1" dirty="0" err="1">
                <a:solidFill>
                  <a:srgbClr val="008000"/>
                </a:solidFill>
              </a:rPr>
              <a:t>HepB</a:t>
            </a:r>
            <a:r>
              <a:rPr lang="fr-FR" altLang="fr-FR" sz="2000" b="1" dirty="0">
                <a:solidFill>
                  <a:srgbClr val="008000"/>
                </a:solidFill>
              </a:rPr>
              <a:t> Hib3 et VAR 1 par rapport à la cible de 2020-2025</a:t>
            </a:r>
            <a:endParaRPr lang="fr-FR" altLang="fr-FR" sz="2000" dirty="0">
              <a:solidFill>
                <a:srgbClr val="FF0000"/>
              </a:solidFill>
            </a:endParaRPr>
          </a:p>
        </p:txBody>
      </p:sp>
      <p:graphicFrame>
        <p:nvGraphicFramePr>
          <p:cNvPr id="4" name="Graphique 3"/>
          <p:cNvGraphicFramePr/>
          <p:nvPr/>
        </p:nvGraphicFramePr>
        <p:xfrm>
          <a:off x="653143" y="1267097"/>
          <a:ext cx="10816046" cy="5172892"/>
        </p:xfrm>
        <a:graphic>
          <a:graphicData uri="http://schemas.openxmlformats.org/drawingml/2006/chart">
            <c:chart xmlns:c="http://schemas.openxmlformats.org/drawingml/2006/chart" xmlns:r="http://schemas.openxmlformats.org/officeDocument/2006/relationships" r:id="rId3"/>
          </a:graphicData>
        </a:graphic>
      </p:graphicFrame>
      <p:sp>
        <p:nvSpPr>
          <p:cNvPr id="6" name="Ellipse 5"/>
          <p:cNvSpPr/>
          <p:nvPr/>
        </p:nvSpPr>
        <p:spPr>
          <a:xfrm>
            <a:off x="6746862" y="1726622"/>
            <a:ext cx="1127968" cy="20984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fr-F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529770" y="162552"/>
            <a:ext cx="11497129" cy="792088"/>
          </a:xfrm>
          <a:solidFill>
            <a:srgbClr val="0070C0"/>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lgn="ctr">
              <a:buClr>
                <a:schemeClr val="lt1"/>
              </a:buClr>
              <a:buSzPts val="3200"/>
            </a:pPr>
            <a:r>
              <a:rPr lang="fr-FR" altLang="fr-FR" sz="2000" b="1" dirty="0">
                <a:solidFill>
                  <a:schemeClr val="lt1"/>
                </a:solidFill>
                <a:latin typeface="Arial" panose="020B0604020202020204" pitchFamily="34" charset="0"/>
                <a:ea typeface="Lato"/>
                <a:cs typeface="Arial" panose="020B0604020202020204" pitchFamily="34" charset="0"/>
                <a:sym typeface="Arial" panose="020B0604020202020204"/>
              </a:rPr>
              <a:t>Comparaison des CV des antigènes qui se donnent au même moment par province </a:t>
            </a:r>
            <a:br>
              <a:rPr lang="fr-FR" altLang="fr-FR" sz="2000" b="1" dirty="0">
                <a:solidFill>
                  <a:schemeClr val="lt1"/>
                </a:solidFill>
                <a:latin typeface="Arial" panose="020B0604020202020204" pitchFamily="34" charset="0"/>
                <a:ea typeface="Lato"/>
                <a:cs typeface="Arial" panose="020B0604020202020204" pitchFamily="34" charset="0"/>
                <a:sym typeface="Arial" panose="020B0604020202020204"/>
              </a:rPr>
            </a:br>
            <a:r>
              <a:rPr lang="fr-FR" altLang="fr-FR" sz="2000" b="1" dirty="0">
                <a:solidFill>
                  <a:schemeClr val="lt1"/>
                </a:solidFill>
                <a:latin typeface="Arial" panose="020B0604020202020204" pitchFamily="34" charset="0"/>
                <a:ea typeface="Lato"/>
                <a:cs typeface="Arial" panose="020B0604020202020204" pitchFamily="34" charset="0"/>
                <a:sym typeface="Arial" panose="020B0604020202020204"/>
              </a:rPr>
              <a:t>RDC, Janvier-Octobre 2025</a:t>
            </a:r>
          </a:p>
        </p:txBody>
      </p:sp>
      <p:graphicFrame>
        <p:nvGraphicFramePr>
          <p:cNvPr id="6" name="Graphique 5"/>
          <p:cNvGraphicFramePr>
            <a:graphicFrameLocks noGrp="1"/>
          </p:cNvGraphicFramePr>
          <p:nvPr>
            <p:extLst>
              <p:ext uri="{D42A27DB-BD31-4B8C-83A1-F6EECF244321}">
                <p14:modId xmlns:p14="http://schemas.microsoft.com/office/powerpoint/2010/main" val="448937187"/>
              </p:ext>
            </p:extLst>
          </p:nvPr>
        </p:nvGraphicFramePr>
        <p:xfrm>
          <a:off x="374073" y="1357745"/>
          <a:ext cx="11471563" cy="4793673"/>
        </p:xfrm>
        <a:graphic>
          <a:graphicData uri="http://schemas.openxmlformats.org/drawingml/2006/chart">
            <c:chart xmlns:c="http://schemas.openxmlformats.org/drawingml/2006/chart" xmlns:r="http://schemas.openxmlformats.org/officeDocument/2006/relationships" r:id="rId3"/>
          </a:graphicData>
        </a:graphic>
      </p:graphicFrame>
      <p:sp>
        <p:nvSpPr>
          <p:cNvPr id="2" name="Ellipse 1"/>
          <p:cNvSpPr/>
          <p:nvPr/>
        </p:nvSpPr>
        <p:spPr>
          <a:xfrm>
            <a:off x="5078028" y="1615736"/>
            <a:ext cx="417250" cy="3994952"/>
          </a:xfrm>
          <a:prstGeom prst="ellipse">
            <a:avLst/>
          </a:prstGeom>
          <a:noFill/>
          <a:ln w="285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p:cNvSpPr/>
          <p:nvPr/>
        </p:nvSpPr>
        <p:spPr>
          <a:xfrm>
            <a:off x="8993081" y="1544714"/>
            <a:ext cx="417250" cy="3994952"/>
          </a:xfrm>
          <a:prstGeom prst="ellipse">
            <a:avLst/>
          </a:prstGeom>
          <a:noFill/>
          <a:ln w="285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p:cNvSpPr/>
          <p:nvPr/>
        </p:nvSpPr>
        <p:spPr>
          <a:xfrm>
            <a:off x="7035554" y="1846554"/>
            <a:ext cx="417250" cy="3994952"/>
          </a:xfrm>
          <a:prstGeom prst="ellipse">
            <a:avLst/>
          </a:prstGeom>
          <a:noFill/>
          <a:ln w="285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567160" y="44624"/>
            <a:ext cx="11076972" cy="720080"/>
          </a:xfrm>
        </p:spPr>
        <p:txBody>
          <a:bodyPr>
            <a:normAutofit fontScale="90000"/>
          </a:bodyPr>
          <a:lstStyle/>
          <a:p>
            <a:r>
              <a:rPr lang="fr-FR" altLang="fr-FR" sz="2400" b="1" dirty="0">
                <a:solidFill>
                  <a:srgbClr val="008000"/>
                </a:solidFill>
                <a:latin typeface="Maiandra GD" panose="020E0502030308020204" pitchFamily="34" charset="0"/>
              </a:rPr>
              <a:t>Comparaison des CV de VAR 2024 et 2025 par province </a:t>
            </a:r>
            <a:br>
              <a:rPr lang="fr-FR" altLang="fr-FR" sz="2400" b="1" dirty="0">
                <a:solidFill>
                  <a:srgbClr val="008000"/>
                </a:solidFill>
                <a:latin typeface="Maiandra GD" panose="020E0502030308020204" pitchFamily="34" charset="0"/>
              </a:rPr>
            </a:br>
            <a:r>
              <a:rPr lang="fr-FR" altLang="fr-FR" sz="2400" b="1" dirty="0">
                <a:solidFill>
                  <a:srgbClr val="008000"/>
                </a:solidFill>
                <a:latin typeface="Maiandra GD" panose="020E0502030308020204" pitchFamily="34" charset="0"/>
              </a:rPr>
              <a:t> </a:t>
            </a:r>
            <a:r>
              <a:rPr lang="fr-FR" altLang="fr-FR" sz="1800" b="1" dirty="0">
                <a:solidFill>
                  <a:srgbClr val="008000"/>
                </a:solidFill>
                <a:latin typeface="Maiandra GD" panose="020E0502030308020204" pitchFamily="34" charset="0"/>
              </a:rPr>
              <a:t>RDC, </a:t>
            </a:r>
            <a:r>
              <a:rPr lang="fr-FR" altLang="fr-FR" sz="1800" b="1" dirty="0">
                <a:solidFill>
                  <a:srgbClr val="008000"/>
                </a:solidFill>
              </a:rPr>
              <a:t>Janvier-Octobre 2025</a:t>
            </a:r>
            <a:endParaRPr lang="fr-FR" altLang="fr-FR" sz="1800" dirty="0">
              <a:solidFill>
                <a:srgbClr val="FF0000"/>
              </a:solidFill>
              <a:latin typeface="Maiandra GD" panose="020E0502030308020204" pitchFamily="34" charset="0"/>
            </a:endParaRPr>
          </a:p>
        </p:txBody>
      </p:sp>
      <p:graphicFrame>
        <p:nvGraphicFramePr>
          <p:cNvPr id="4" name="Graphique 3"/>
          <p:cNvGraphicFramePr>
            <a:graphicFrameLocks noGrp="1"/>
          </p:cNvGraphicFramePr>
          <p:nvPr/>
        </p:nvGraphicFramePr>
        <p:xfrm>
          <a:off x="567160" y="1343891"/>
          <a:ext cx="11076971" cy="484909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1610270" y="44624"/>
            <a:ext cx="9022234" cy="720080"/>
          </a:xfrm>
        </p:spPr>
        <p:txBody>
          <a:bodyPr>
            <a:normAutofit fontScale="90000"/>
          </a:bodyPr>
          <a:lstStyle/>
          <a:p>
            <a:pPr algn="ctr"/>
            <a:r>
              <a:rPr lang="fr-FR" altLang="fr-FR" sz="2220" b="1" dirty="0">
                <a:solidFill>
                  <a:srgbClr val="008000"/>
                </a:solidFill>
                <a:latin typeface="Arial" panose="020B0604020202020204" pitchFamily="34" charset="0"/>
                <a:cs typeface="Arial" panose="020B0604020202020204" pitchFamily="34" charset="0"/>
              </a:rPr>
              <a:t>Comparaison des CV des antigènes qui se donnent au même moment par province </a:t>
            </a:r>
            <a:br>
              <a:rPr lang="fr-FR" altLang="fr-FR" sz="2220" b="1" dirty="0">
                <a:solidFill>
                  <a:srgbClr val="008000"/>
                </a:solidFill>
                <a:latin typeface="Arial" panose="020B0604020202020204" pitchFamily="34" charset="0"/>
                <a:cs typeface="Arial" panose="020B0604020202020204" pitchFamily="34" charset="0"/>
              </a:rPr>
            </a:br>
            <a:r>
              <a:rPr lang="fr-FR" altLang="fr-FR" sz="2220" b="1" dirty="0">
                <a:solidFill>
                  <a:srgbClr val="008000"/>
                </a:solidFill>
                <a:latin typeface="Arial" panose="020B0604020202020204" pitchFamily="34" charset="0"/>
                <a:cs typeface="Arial" panose="020B0604020202020204" pitchFamily="34" charset="0"/>
              </a:rPr>
              <a:t>RDC, Janvier-Octobre 2025</a:t>
            </a:r>
            <a:endParaRPr lang="fr-FR" altLang="fr-FR" sz="2220" dirty="0">
              <a:solidFill>
                <a:srgbClr val="FF0000"/>
              </a:solidFill>
              <a:latin typeface="Arial" panose="020B0604020202020204" pitchFamily="34" charset="0"/>
              <a:cs typeface="Arial" panose="020B0604020202020204" pitchFamily="34" charset="0"/>
            </a:endParaRPr>
          </a:p>
        </p:txBody>
      </p:sp>
      <p:graphicFrame>
        <p:nvGraphicFramePr>
          <p:cNvPr id="4" name="Graphique 3"/>
          <p:cNvGraphicFramePr>
            <a:graphicFrameLocks noGrp="1"/>
          </p:cNvGraphicFramePr>
          <p:nvPr/>
        </p:nvGraphicFramePr>
        <p:xfrm>
          <a:off x="728980" y="1025525"/>
          <a:ext cx="10786745" cy="513270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298688C-DB6C-F2C4-298B-96A37891595F}"/>
              </a:ext>
            </a:extLst>
          </p:cNvPr>
          <p:cNvSpPr txBox="1">
            <a:spLocks/>
          </p:cNvSpPr>
          <p:nvPr/>
        </p:nvSpPr>
        <p:spPr>
          <a:xfrm>
            <a:off x="0" y="-27384"/>
            <a:ext cx="12192000" cy="736841"/>
          </a:xfrm>
          <a:prstGeom prst="rect">
            <a:avLst/>
          </a:prstGeom>
          <a:solidFill>
            <a:srgbClr val="4224F8"/>
          </a:solidFill>
          <a:ln>
            <a:solidFill>
              <a:srgbClr val="00205C"/>
            </a:solidFill>
          </a:ln>
        </p:spPr>
        <p:txBody>
          <a:bodyPr/>
          <a:lstStyle>
            <a:lvl1pPr algn="ctr" rtl="0" eaLnBrk="0" fontAlgn="base" hangingPunct="0">
              <a:spcBef>
                <a:spcPct val="0"/>
              </a:spcBef>
              <a:spcAft>
                <a:spcPct val="0"/>
              </a:spcAft>
              <a:defRPr sz="3500" b="1">
                <a:solidFill>
                  <a:srgbClr val="000066"/>
                </a:solidFill>
                <a:latin typeface="+mj-lt"/>
                <a:ea typeface="+mj-ea"/>
                <a:cs typeface="+mj-cs"/>
              </a:defRPr>
            </a:lvl1pPr>
            <a:lvl2pPr algn="ctr" rtl="0" eaLnBrk="0" fontAlgn="base" hangingPunct="0">
              <a:spcBef>
                <a:spcPct val="0"/>
              </a:spcBef>
              <a:spcAft>
                <a:spcPct val="0"/>
              </a:spcAft>
              <a:defRPr sz="3500" b="1">
                <a:solidFill>
                  <a:srgbClr val="000066"/>
                </a:solidFill>
                <a:latin typeface="Arial" charset="0"/>
                <a:cs typeface="Arial" charset="0"/>
              </a:defRPr>
            </a:lvl2pPr>
            <a:lvl3pPr algn="ctr" rtl="0" eaLnBrk="0" fontAlgn="base" hangingPunct="0">
              <a:spcBef>
                <a:spcPct val="0"/>
              </a:spcBef>
              <a:spcAft>
                <a:spcPct val="0"/>
              </a:spcAft>
              <a:defRPr sz="3500" b="1">
                <a:solidFill>
                  <a:srgbClr val="000066"/>
                </a:solidFill>
                <a:latin typeface="Arial" charset="0"/>
                <a:cs typeface="Arial" charset="0"/>
              </a:defRPr>
            </a:lvl3pPr>
            <a:lvl4pPr algn="ctr" rtl="0" eaLnBrk="0" fontAlgn="base" hangingPunct="0">
              <a:spcBef>
                <a:spcPct val="0"/>
              </a:spcBef>
              <a:spcAft>
                <a:spcPct val="0"/>
              </a:spcAft>
              <a:defRPr sz="3500" b="1">
                <a:solidFill>
                  <a:srgbClr val="000066"/>
                </a:solidFill>
                <a:latin typeface="Arial" charset="0"/>
                <a:cs typeface="Arial" charset="0"/>
              </a:defRPr>
            </a:lvl4pPr>
            <a:lvl5pPr algn="ctr" rtl="0" eaLnBrk="0" fontAlgn="base" hangingPunct="0">
              <a:spcBef>
                <a:spcPct val="0"/>
              </a:spcBef>
              <a:spcAft>
                <a:spcPct val="0"/>
              </a:spcAft>
              <a:defRPr sz="3500" b="1">
                <a:solidFill>
                  <a:srgbClr val="000066"/>
                </a:solidFill>
                <a:latin typeface="Arial" charset="0"/>
                <a:cs typeface="Arial" charset="0"/>
              </a:defRPr>
            </a:lvl5pPr>
            <a:lvl6pPr marL="457200" algn="ctr" rtl="0" eaLnBrk="1" fontAlgn="base" hangingPunct="1">
              <a:spcBef>
                <a:spcPct val="0"/>
              </a:spcBef>
              <a:spcAft>
                <a:spcPct val="0"/>
              </a:spcAft>
              <a:defRPr sz="3500" b="1">
                <a:solidFill>
                  <a:srgbClr val="000066"/>
                </a:solidFill>
                <a:latin typeface="Arial" charset="0"/>
                <a:cs typeface="Arial" charset="0"/>
              </a:defRPr>
            </a:lvl6pPr>
            <a:lvl7pPr marL="914400" algn="ctr" rtl="0" eaLnBrk="1" fontAlgn="base" hangingPunct="1">
              <a:spcBef>
                <a:spcPct val="0"/>
              </a:spcBef>
              <a:spcAft>
                <a:spcPct val="0"/>
              </a:spcAft>
              <a:defRPr sz="3500" b="1">
                <a:solidFill>
                  <a:srgbClr val="000066"/>
                </a:solidFill>
                <a:latin typeface="Arial" charset="0"/>
                <a:cs typeface="Arial" charset="0"/>
              </a:defRPr>
            </a:lvl7pPr>
            <a:lvl8pPr marL="1371600" algn="ctr" rtl="0" eaLnBrk="1" fontAlgn="base" hangingPunct="1">
              <a:spcBef>
                <a:spcPct val="0"/>
              </a:spcBef>
              <a:spcAft>
                <a:spcPct val="0"/>
              </a:spcAft>
              <a:defRPr sz="3500" b="1">
                <a:solidFill>
                  <a:srgbClr val="000066"/>
                </a:solidFill>
                <a:latin typeface="Arial" charset="0"/>
                <a:cs typeface="Arial" charset="0"/>
              </a:defRPr>
            </a:lvl8pPr>
            <a:lvl9pPr marL="1828800" algn="ctr" rtl="0" eaLnBrk="1" fontAlgn="base" hangingPunct="1">
              <a:spcBef>
                <a:spcPct val="0"/>
              </a:spcBef>
              <a:spcAft>
                <a:spcPct val="0"/>
              </a:spcAft>
              <a:defRPr sz="3500" b="1">
                <a:solidFill>
                  <a:srgbClr val="000066"/>
                </a:solidFill>
                <a:latin typeface="Arial" charset="0"/>
                <a:cs typeface="Arial" charset="0"/>
              </a:defRPr>
            </a:lvl9pPr>
          </a:lstStyle>
          <a:p>
            <a:pPr eaLnBrk="1" hangingPunct="1">
              <a:defRPr/>
            </a:pPr>
            <a:r>
              <a:rPr lang="fr-CA" sz="2800" dirty="0">
                <a:solidFill>
                  <a:schemeClr val="bg1"/>
                </a:solidFill>
              </a:rPr>
              <a:t>Couverture vaccinale</a:t>
            </a:r>
            <a:r>
              <a:rPr lang="fr-FR" sz="2800" dirty="0">
                <a:solidFill>
                  <a:schemeClr val="bg1"/>
                </a:solidFill>
              </a:rPr>
              <a:t> DTC3 estimée au niveau national (admin, WUENIC, ECV,EDS)</a:t>
            </a:r>
            <a:br>
              <a:rPr lang="fr-FR" sz="2800" dirty="0">
                <a:solidFill>
                  <a:schemeClr val="bg1"/>
                </a:solidFill>
              </a:rPr>
            </a:br>
            <a:endParaRPr lang="fr-FR" sz="2800" dirty="0">
              <a:solidFill>
                <a:schemeClr val="bg1"/>
              </a:solidFill>
            </a:endParaRPr>
          </a:p>
        </p:txBody>
      </p:sp>
      <p:pic>
        <p:nvPicPr>
          <p:cNvPr id="5" name="Picture 4">
            <a:extLst>
              <a:ext uri="{FF2B5EF4-FFF2-40B4-BE49-F238E27FC236}">
                <a16:creationId xmlns:a16="http://schemas.microsoft.com/office/drawing/2014/main" id="{D64D1DC5-10A7-9610-2C8A-501D560F018D}"/>
              </a:ext>
            </a:extLst>
          </p:cNvPr>
          <p:cNvPicPr>
            <a:picLocks noChangeAspect="1"/>
          </p:cNvPicPr>
          <p:nvPr/>
        </p:nvPicPr>
        <p:blipFill rotWithShape="1">
          <a:blip r:embed="rId3"/>
          <a:srcRect l="51171" t="22058" r="19062" b="16666"/>
          <a:stretch/>
        </p:blipFill>
        <p:spPr>
          <a:xfrm>
            <a:off x="1616185" y="800100"/>
            <a:ext cx="8959629" cy="5619750"/>
          </a:xfrm>
          <a:prstGeom prst="rect">
            <a:avLst/>
          </a:prstGeom>
        </p:spPr>
      </p:pic>
    </p:spTree>
    <p:extLst>
      <p:ext uri="{BB962C8B-B14F-4D97-AF65-F5344CB8AC3E}">
        <p14:creationId xmlns:p14="http://schemas.microsoft.com/office/powerpoint/2010/main" val="138950799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t>Points de discussion</a:t>
            </a:r>
          </a:p>
        </p:txBody>
      </p:sp>
      <p:sp>
        <p:nvSpPr>
          <p:cNvPr id="5" name="Espace réservé du texte 4"/>
          <p:cNvSpPr>
            <a:spLocks noGrp="1"/>
          </p:cNvSpPr>
          <p:nvPr>
            <p:ph type="body" sz="quarter" idx="16"/>
          </p:nvPr>
        </p:nvSpPr>
        <p:spPr/>
        <p:txBody>
          <a:bodyPr>
            <a:normAutofit fontScale="92500" lnSpcReduction="10000"/>
          </a:bodyPr>
          <a:lstStyle/>
          <a:p>
            <a:r>
              <a:rPr lang="fr-FR" dirty="0"/>
              <a:t>Calcul de la proportion des nourrissons survivants</a:t>
            </a:r>
          </a:p>
        </p:txBody>
      </p:sp>
      <p:sp>
        <p:nvSpPr>
          <p:cNvPr id="6" name="Espace réservé du texte 5"/>
          <p:cNvSpPr>
            <a:spLocks noGrp="1"/>
          </p:cNvSpPr>
          <p:nvPr>
            <p:ph type="body" sz="quarter" idx="18"/>
          </p:nvPr>
        </p:nvSpPr>
        <p:spPr/>
        <p:txBody>
          <a:bodyPr>
            <a:normAutofit lnSpcReduction="10000"/>
          </a:bodyPr>
          <a:lstStyle/>
          <a:p>
            <a:r>
              <a:rPr lang="fr-FR" dirty="0"/>
              <a:t>Utilisation de la cible ajustée 2025</a:t>
            </a:r>
          </a:p>
        </p:txBody>
      </p:sp>
      <p:pic>
        <p:nvPicPr>
          <p:cNvPr id="8" name="Image 7"/>
          <p:cNvPicPr>
            <a:picLocks noChangeAspect="1"/>
          </p:cNvPicPr>
          <p:nvPr/>
        </p:nvPicPr>
        <p:blipFill>
          <a:blip r:embed="rId2"/>
          <a:stretch>
            <a:fillRect/>
          </a:stretch>
        </p:blipFill>
        <p:spPr>
          <a:xfrm>
            <a:off x="586303" y="2189296"/>
            <a:ext cx="4839711" cy="2494847"/>
          </a:xfrm>
          <a:prstGeom prst="rect">
            <a:avLst/>
          </a:prstGeom>
        </p:spPr>
      </p:pic>
      <p:sp>
        <p:nvSpPr>
          <p:cNvPr id="9" name="ZoneTexte 8"/>
          <p:cNvSpPr txBox="1"/>
          <p:nvPr/>
        </p:nvSpPr>
        <p:spPr>
          <a:xfrm>
            <a:off x="465826" y="4934309"/>
            <a:ext cx="4873925" cy="923330"/>
          </a:xfrm>
          <a:prstGeom prst="rect">
            <a:avLst/>
          </a:prstGeom>
          <a:noFill/>
        </p:spPr>
        <p:txBody>
          <a:bodyPr wrap="square" rtlCol="0">
            <a:spAutoFit/>
          </a:bodyPr>
          <a:lstStyle/>
          <a:p>
            <a:r>
              <a:rPr lang="fr-FR" dirty="0"/>
              <a:t>Depuis 2005, la cible du NS de 3,49% est calculée sur base du taux de mortalité infantile de 128 pour 1000 NV. </a:t>
            </a:r>
            <a:r>
              <a:rPr lang="fr-FR" dirty="0">
                <a:solidFill>
                  <a:srgbClr val="FF0000"/>
                </a:solidFill>
              </a:rPr>
              <a:t>Doit-on continuer avec ce taux?</a:t>
            </a:r>
          </a:p>
        </p:txBody>
      </p:sp>
      <p:pic>
        <p:nvPicPr>
          <p:cNvPr id="10" name="Picture 1"/>
          <p:cNvPicPr/>
          <p:nvPr/>
        </p:nvPicPr>
        <p:blipFill>
          <a:blip r:embed="rId3">
            <a:extLst>
              <a:ext uri="{28A0092B-C50C-407E-A947-70E740481C1C}">
                <a14:useLocalDpi xmlns:a14="http://schemas.microsoft.com/office/drawing/2010/main" val="0"/>
              </a:ext>
            </a:extLst>
          </a:blip>
          <a:stretch>
            <a:fillRect/>
          </a:stretch>
        </p:blipFill>
        <p:spPr>
          <a:xfrm>
            <a:off x="5555848" y="1982262"/>
            <a:ext cx="6377651" cy="4175470"/>
          </a:xfrm>
          <a:prstGeom prst="rect">
            <a:avLst/>
          </a:prstGeom>
        </p:spPr>
      </p:pic>
    </p:spTree>
    <p:extLst>
      <p:ext uri="{BB962C8B-B14F-4D97-AF65-F5344CB8AC3E}">
        <p14:creationId xmlns:p14="http://schemas.microsoft.com/office/powerpoint/2010/main" val="150488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Points de discussion</a:t>
            </a:r>
          </a:p>
        </p:txBody>
      </p:sp>
      <p:sp>
        <p:nvSpPr>
          <p:cNvPr id="6" name="Espace réservé du texte 5"/>
          <p:cNvSpPr>
            <a:spLocks noGrp="1"/>
          </p:cNvSpPr>
          <p:nvPr>
            <p:ph type="body" sz="quarter" idx="18"/>
          </p:nvPr>
        </p:nvSpPr>
        <p:spPr>
          <a:xfrm>
            <a:off x="5921325" y="236714"/>
            <a:ext cx="5335021" cy="300484"/>
          </a:xfrm>
        </p:spPr>
        <p:txBody>
          <a:bodyPr>
            <a:normAutofit lnSpcReduction="10000"/>
          </a:bodyPr>
          <a:lstStyle/>
          <a:p>
            <a:r>
              <a:rPr lang="fr-FR" dirty="0"/>
              <a:t>Utilisation de la cible ajustée 2025</a:t>
            </a:r>
          </a:p>
        </p:txBody>
      </p:sp>
      <p:graphicFrame>
        <p:nvGraphicFramePr>
          <p:cNvPr id="11" name="Table 4">
            <a:extLst>
              <a:ext uri="{FF2B5EF4-FFF2-40B4-BE49-F238E27FC236}">
                <a16:creationId xmlns:a16="http://schemas.microsoft.com/office/drawing/2014/main" id="{DAB01D05-BD51-A72C-B53D-FFDC1DF84F40}"/>
              </a:ext>
            </a:extLst>
          </p:cNvPr>
          <p:cNvGraphicFramePr>
            <a:graphicFrameLocks noGrp="1"/>
          </p:cNvGraphicFramePr>
          <p:nvPr>
            <p:extLst>
              <p:ext uri="{D42A27DB-BD31-4B8C-83A1-F6EECF244321}">
                <p14:modId xmlns:p14="http://schemas.microsoft.com/office/powerpoint/2010/main" val="2555479009"/>
              </p:ext>
            </p:extLst>
          </p:nvPr>
        </p:nvGraphicFramePr>
        <p:xfrm>
          <a:off x="5648446" y="565139"/>
          <a:ext cx="6099857" cy="6187440"/>
        </p:xfrm>
        <a:graphic>
          <a:graphicData uri="http://schemas.openxmlformats.org/drawingml/2006/table">
            <a:tbl>
              <a:tblPr firstRow="1" bandRow="1"/>
              <a:tblGrid>
                <a:gridCol w="2012470">
                  <a:extLst>
                    <a:ext uri="{9D8B030D-6E8A-4147-A177-3AD203B41FA5}">
                      <a16:colId xmlns:a16="http://schemas.microsoft.com/office/drawing/2014/main" val="2519532491"/>
                    </a:ext>
                  </a:extLst>
                </a:gridCol>
                <a:gridCol w="1475055">
                  <a:extLst>
                    <a:ext uri="{9D8B030D-6E8A-4147-A177-3AD203B41FA5}">
                      <a16:colId xmlns:a16="http://schemas.microsoft.com/office/drawing/2014/main" val="1105957055"/>
                    </a:ext>
                  </a:extLst>
                </a:gridCol>
                <a:gridCol w="1590486">
                  <a:extLst>
                    <a:ext uri="{9D8B030D-6E8A-4147-A177-3AD203B41FA5}">
                      <a16:colId xmlns:a16="http://schemas.microsoft.com/office/drawing/2014/main" val="1304593966"/>
                    </a:ext>
                  </a:extLst>
                </a:gridCol>
                <a:gridCol w="1021846">
                  <a:extLst>
                    <a:ext uri="{9D8B030D-6E8A-4147-A177-3AD203B41FA5}">
                      <a16:colId xmlns:a16="http://schemas.microsoft.com/office/drawing/2014/main" val="38524689"/>
                    </a:ext>
                  </a:extLst>
                </a:gridCol>
              </a:tblGrid>
              <a:tr h="398092">
                <a:tc>
                  <a:txBody>
                    <a:bodyPr/>
                    <a:lstStyle/>
                    <a:p>
                      <a:pPr marL="63500" marR="63500">
                        <a:spcBef>
                          <a:spcPts val="500"/>
                        </a:spcBef>
                        <a:spcAft>
                          <a:spcPts val="500"/>
                        </a:spcAft>
                      </a:pP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Provinces</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Cibles admin 2025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Cibles ajustées 2025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 variation</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3776122985"/>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Mongala</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119,112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422,422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255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w="19050" cap="flat" cmpd="sng" algn="ctr">
                      <a:solidFill>
                        <a:srgbClr val="666666"/>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1619403595"/>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Sankuru</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103,414</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250,674</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142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1677633437"/>
                  </a:ext>
                </a:extLst>
              </a:tr>
              <a:tr h="132697">
                <a:tc>
                  <a:txBody>
                    <a:bodyPr/>
                    <a:lstStyle/>
                    <a:p>
                      <a:pPr marL="63500" marR="63500">
                        <a:spcBef>
                          <a:spcPts val="500"/>
                        </a:spcBef>
                        <a:spcAft>
                          <a:spcPts val="500"/>
                        </a:spcAft>
                      </a:pPr>
                      <a:r>
                        <a:rPr lang="en-US" sz="14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Maniema</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119,488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260,157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3891004803"/>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Tshopo</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155,846</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318,447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104</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643475662"/>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Tshuapa</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90,243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163,325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81</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290173377"/>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Haut Katanga</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298,254</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504,207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69</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1234217984"/>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Bas Uele</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61,748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100,273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2681290921"/>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Lualaba</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121,966</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191,939</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3155150148"/>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Haut Uele</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89,569</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134,287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50</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1030272401"/>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Kasai</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218,083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323,766</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2967316848"/>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Tanganyika</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131,842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183,094</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39</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926033649"/>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Maindombe</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87,623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116,228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1537509383"/>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Kasai Oriental</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215,963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282,066</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31</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C000"/>
                    </a:solidFill>
                  </a:tcPr>
                </a:tc>
                <a:extLst>
                  <a:ext uri="{0D108BD9-81ED-4DB2-BD59-A6C34878D82A}">
                    <a16:rowId xmlns:a16="http://schemas.microsoft.com/office/drawing/2014/main" val="289839066"/>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Sud Kivu</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322,007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404,127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695022055"/>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Sud Ubangi</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137,383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167,594</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43256962"/>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Haut Lomami</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173,573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210,432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21</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072373958"/>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Lomami</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172,921</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202,940</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324711308"/>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Ituri</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264,447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303,728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118362667"/>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Kongo Central</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171,080</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197,207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977234531"/>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Nord Kivu</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388,505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437,382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956454285"/>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Equateur</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114,665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129,090</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029139045"/>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Nord Ubangi</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64,707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72,623</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36130140"/>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Kwilu</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229,738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256,147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971251394"/>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Kwango</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111,417</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122,814</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00B050"/>
                    </a:solidFill>
                  </a:tcPr>
                </a:tc>
                <a:extLst>
                  <a:ext uri="{0D108BD9-81ED-4DB2-BD59-A6C34878D82A}">
                    <a16:rowId xmlns:a16="http://schemas.microsoft.com/office/drawing/2014/main" val="3482516569"/>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Kinshasa</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437,272</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477,018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00B050"/>
                    </a:solidFill>
                  </a:tcPr>
                </a:tc>
                <a:extLst>
                  <a:ext uri="{0D108BD9-81ED-4DB2-BD59-A6C34878D82A}">
                    <a16:rowId xmlns:a16="http://schemas.microsoft.com/office/drawing/2014/main" val="426959131"/>
                  </a:ext>
                </a:extLst>
              </a:tr>
              <a:tr h="132697">
                <a:tc>
                  <a:txBody>
                    <a:bodyPr/>
                    <a:lstStyle/>
                    <a:p>
                      <a:pPr marL="63500" marR="63500">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Kasai Central</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210,589</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226,751</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FFFFFF"/>
                    </a:solidFill>
                  </a:tcPr>
                </a:tc>
                <a:tc>
                  <a:txBody>
                    <a:bodyPr/>
                    <a:lstStyle/>
                    <a:p>
                      <a:pPr marL="63500" marR="63500" algn="r">
                        <a:spcBef>
                          <a:spcPts val="500"/>
                        </a:spcBef>
                        <a:spcAft>
                          <a:spcPts val="500"/>
                        </a:spcAft>
                      </a:pPr>
                      <a:r>
                        <a:rPr lang="en-US" sz="14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a:noFill/>
                    </a:lnB>
                    <a:solidFill>
                      <a:srgbClr val="00B050"/>
                    </a:solidFill>
                  </a:tcPr>
                </a:tc>
                <a:extLst>
                  <a:ext uri="{0D108BD9-81ED-4DB2-BD59-A6C34878D82A}">
                    <a16:rowId xmlns:a16="http://schemas.microsoft.com/office/drawing/2014/main" val="3491597864"/>
                  </a:ext>
                </a:extLst>
              </a:tr>
              <a:tr h="132697">
                <a:tc>
                  <a:txBody>
                    <a:bodyPr/>
                    <a:lstStyle/>
                    <a:p>
                      <a:pPr marL="63500" marR="63500">
                        <a:spcBef>
                          <a:spcPts val="500"/>
                        </a:spcBef>
                        <a:spcAft>
                          <a:spcPts val="500"/>
                        </a:spcAft>
                      </a:pPr>
                      <a:r>
                        <a:rPr lang="en-US" sz="1400" b="1">
                          <a:solidFill>
                            <a:srgbClr val="000000"/>
                          </a:solidFill>
                          <a:effectLst/>
                          <a:latin typeface="Arial" panose="020B0604020202020204" pitchFamily="34" charset="0"/>
                          <a:ea typeface="Arial" panose="020B0604020202020204" pitchFamily="34" charset="0"/>
                          <a:cs typeface="Times New Roman" panose="02020603050405020304" pitchFamily="18" charset="0"/>
                        </a:rPr>
                        <a:t>RDC</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w="19050" cap="flat" cmpd="sng" algn="ctr">
                      <a:solidFill>
                        <a:srgbClr val="666666"/>
                      </a:solidFill>
                      <a:prstDash val="solid"/>
                      <a:round/>
                      <a:headEnd type="none" w="med" len="med"/>
                      <a:tailEnd type="none" w="med" len="med"/>
                    </a:lnB>
                    <a:solidFill>
                      <a:srgbClr val="FFFFFF"/>
                    </a:solidFill>
                  </a:tcPr>
                </a:tc>
                <a:tc>
                  <a:txBody>
                    <a:bodyPr/>
                    <a:lstStyle/>
                    <a:p>
                      <a:pPr marL="63500" marR="63500" algn="r">
                        <a:spcBef>
                          <a:spcPts val="500"/>
                        </a:spcBef>
                        <a:spcAft>
                          <a:spcPts val="500"/>
                        </a:spcAft>
                      </a:pPr>
                      <a:r>
                        <a:rPr lang="en-US" sz="1400" b="1">
                          <a:solidFill>
                            <a:srgbClr val="000000"/>
                          </a:solidFill>
                          <a:effectLst/>
                          <a:latin typeface="Arial" panose="020B0604020202020204" pitchFamily="34" charset="0"/>
                          <a:ea typeface="Arial" panose="020B0604020202020204" pitchFamily="34" charset="0"/>
                          <a:cs typeface="Times New Roman" panose="02020603050405020304" pitchFamily="18" charset="0"/>
                        </a:rPr>
                        <a:t>4,611,455</a:t>
                      </a:r>
                      <a:endParaRPr lang="en-US"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w="19050" cap="flat" cmpd="sng" algn="ctr">
                      <a:solidFill>
                        <a:srgbClr val="666666"/>
                      </a:solidFill>
                      <a:prstDash val="solid"/>
                      <a:round/>
                      <a:headEnd type="none" w="med" len="med"/>
                      <a:tailEnd type="none" w="med" len="med"/>
                    </a:lnB>
                    <a:solidFill>
                      <a:srgbClr val="FFFFFF"/>
                    </a:solidFill>
                  </a:tcPr>
                </a:tc>
                <a:tc>
                  <a:txBody>
                    <a:bodyPr/>
                    <a:lstStyle/>
                    <a:p>
                      <a:pPr marL="63500" marR="63500" algn="r">
                        <a:spcBef>
                          <a:spcPts val="500"/>
                        </a:spcBef>
                        <a:spcAft>
                          <a:spcPts val="500"/>
                        </a:spcAft>
                      </a:pPr>
                      <a:r>
                        <a:rPr lang="en-US" sz="1400" b="1"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6,458,738</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w="19050" cap="flat" cmpd="sng" algn="ctr">
                      <a:solidFill>
                        <a:srgbClr val="666666"/>
                      </a:solidFill>
                      <a:prstDash val="solid"/>
                      <a:round/>
                      <a:headEnd type="none" w="med" len="med"/>
                      <a:tailEnd type="none" w="med" len="med"/>
                    </a:lnB>
                    <a:solidFill>
                      <a:srgbClr val="FFFFFF"/>
                    </a:solidFill>
                  </a:tcPr>
                </a:tc>
                <a:tc>
                  <a:txBody>
                    <a:bodyPr/>
                    <a:lstStyle/>
                    <a:p>
                      <a:pPr marL="63500" marR="63500" algn="r">
                        <a:spcBef>
                          <a:spcPts val="500"/>
                        </a:spcBef>
                        <a:spcAft>
                          <a:spcPts val="500"/>
                        </a:spcAft>
                      </a:pPr>
                      <a:r>
                        <a:rPr lang="en-US" sz="1400" b="1"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40</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nchor="ctr">
                    <a:lnL>
                      <a:noFill/>
                    </a:lnL>
                    <a:lnR>
                      <a:noFill/>
                    </a:lnR>
                    <a:lnT>
                      <a:noFill/>
                    </a:lnT>
                    <a:lnB w="1905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2504006989"/>
                  </a:ext>
                </a:extLst>
              </a:tr>
            </a:tbl>
          </a:graphicData>
        </a:graphic>
      </p:graphicFrame>
      <p:sp>
        <p:nvSpPr>
          <p:cNvPr id="4" name="Rectangle 3"/>
          <p:cNvSpPr/>
          <p:nvPr/>
        </p:nvSpPr>
        <p:spPr>
          <a:xfrm>
            <a:off x="420547" y="2203406"/>
            <a:ext cx="4556567" cy="1938992"/>
          </a:xfrm>
          <a:prstGeom prst="rect">
            <a:avLst/>
          </a:prstGeom>
        </p:spPr>
        <p:txBody>
          <a:bodyPr wrap="square">
            <a:spAutoFit/>
          </a:bodyPr>
          <a:lstStyle/>
          <a:p>
            <a:pPr marL="171450" lvl="0" indent="-171450">
              <a:spcBef>
                <a:spcPts val="600"/>
              </a:spcBef>
              <a:spcAft>
                <a:spcPts val="600"/>
              </a:spcAft>
              <a:buFont typeface="Arial" panose="020B0604020202020204" pitchFamily="34" charset="0"/>
              <a:buChar char="•"/>
            </a:pPr>
            <a:r>
              <a:rPr lang="fr-FR" sz="2400" dirty="0">
                <a:solidFill>
                  <a:srgbClr val="FF0000"/>
                </a:solidFill>
                <a:latin typeface="Times New Roman" panose="02020603050405020304" pitchFamily="18" charset="0"/>
                <a:cs typeface="Times New Roman" panose="02020603050405020304" pitchFamily="18" charset="0"/>
              </a:rPr>
              <a:t>Faire un plaidoyer auprès de la hiérarchie pour qu’elle autorise l’utilisation sur DHIS2 des cibles réajustées en 2024 et 2025 afin d’améliorer le dénominateur;</a:t>
            </a:r>
          </a:p>
        </p:txBody>
      </p:sp>
    </p:spTree>
    <p:extLst>
      <p:ext uri="{BB962C8B-B14F-4D97-AF65-F5344CB8AC3E}">
        <p14:creationId xmlns:p14="http://schemas.microsoft.com/office/powerpoint/2010/main" val="1399331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Analyse FFOM</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7" name="Grouper 16"/>
          <p:cNvGrpSpPr/>
          <p:nvPr/>
        </p:nvGrpSpPr>
        <p:grpSpPr>
          <a:xfrm>
            <a:off x="103505" y="1142365"/>
            <a:ext cx="11728450" cy="5534660"/>
            <a:chOff x="163" y="1799"/>
            <a:chExt cx="18470" cy="8716"/>
          </a:xfrm>
        </p:grpSpPr>
        <p:sp>
          <p:nvSpPr>
            <p:cNvPr id="224" name="Google Shape;224;p16"/>
            <p:cNvSpPr txBox="1"/>
            <p:nvPr/>
          </p:nvSpPr>
          <p:spPr>
            <a:xfrm>
              <a:off x="422" y="10225"/>
              <a:ext cx="17976" cy="29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3" name="Rectangle 2"/>
            <p:cNvSpPr/>
            <p:nvPr/>
          </p:nvSpPr>
          <p:spPr>
            <a:xfrm>
              <a:off x="9600" y="2114"/>
              <a:ext cx="0" cy="8397"/>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4" name="Zone de texte 3"/>
            <p:cNvSpPr txBox="1"/>
            <p:nvPr>
              <p:custDataLst>
                <p:tags r:id="rId1"/>
              </p:custDataLst>
            </p:nvPr>
          </p:nvSpPr>
          <p:spPr>
            <a:xfrm>
              <a:off x="163" y="1799"/>
              <a:ext cx="8000" cy="580"/>
            </a:xfrm>
            <a:prstGeom prst="rect">
              <a:avLst/>
            </a:prstGeom>
            <a:noFill/>
          </p:spPr>
          <p:txBody>
            <a:bodyPr wrap="square" rtlCol="0">
              <a:spAutoFit/>
            </a:bodyPr>
            <a:lstStyle/>
            <a:p>
              <a:pPr lvl="0" algn="l">
                <a:buClrTx/>
                <a:buSzTx/>
                <a:buFontTx/>
              </a:pPr>
              <a:r>
                <a:rPr lang="fr-FR" altLang="en-US" dirty="0">
                  <a:solidFill>
                    <a:srgbClr val="2205CD"/>
                  </a:solidFill>
                  <a:sym typeface="+mn-ea"/>
                </a:rPr>
                <a:t>Forces </a:t>
              </a:r>
            </a:p>
          </p:txBody>
        </p:sp>
        <p:sp>
          <p:nvSpPr>
            <p:cNvPr id="5" name="Zone de texte 4"/>
            <p:cNvSpPr txBox="1"/>
            <p:nvPr>
              <p:custDataLst>
                <p:tags r:id="rId2"/>
              </p:custDataLst>
            </p:nvPr>
          </p:nvSpPr>
          <p:spPr>
            <a:xfrm>
              <a:off x="163" y="7785"/>
              <a:ext cx="6400" cy="581"/>
            </a:xfrm>
            <a:prstGeom prst="rect">
              <a:avLst/>
            </a:prstGeom>
            <a:noFill/>
          </p:spPr>
          <p:txBody>
            <a:bodyPr wrap="square" rtlCol="0">
              <a:noAutofit/>
            </a:bodyPr>
            <a:lstStyle/>
            <a:p>
              <a:pPr lvl="0" algn="l">
                <a:buClrTx/>
                <a:buSzTx/>
                <a:buFontTx/>
              </a:pPr>
              <a:r>
                <a:rPr lang="fr-FR" altLang="en-US" dirty="0" err="1">
                  <a:solidFill>
                    <a:srgbClr val="2205CD"/>
                  </a:solidFill>
                  <a:sym typeface="+mn-ea"/>
                </a:rPr>
                <a:t>Oportunités</a:t>
              </a:r>
              <a:r>
                <a:rPr lang="fr-FR" altLang="en-US" dirty="0">
                  <a:solidFill>
                    <a:srgbClr val="2205CD"/>
                  </a:solidFill>
                  <a:sym typeface="+mn-ea"/>
                </a:rPr>
                <a:t>  </a:t>
              </a:r>
              <a:endParaRPr lang="fr-FR" altLang="en-US" dirty="0">
                <a:solidFill>
                  <a:srgbClr val="2205CD"/>
                </a:solidFill>
              </a:endParaRPr>
            </a:p>
          </p:txBody>
        </p:sp>
        <p:sp>
          <p:nvSpPr>
            <p:cNvPr id="6" name="Zone de texte 5"/>
            <p:cNvSpPr txBox="1"/>
            <p:nvPr>
              <p:custDataLst>
                <p:tags r:id="rId3"/>
              </p:custDataLst>
            </p:nvPr>
          </p:nvSpPr>
          <p:spPr>
            <a:xfrm>
              <a:off x="10115" y="6797"/>
              <a:ext cx="4533" cy="679"/>
            </a:xfrm>
            <a:prstGeom prst="rect">
              <a:avLst/>
            </a:prstGeom>
            <a:noFill/>
          </p:spPr>
          <p:txBody>
            <a:bodyPr wrap="square" rtlCol="0">
              <a:noAutofit/>
            </a:bodyPr>
            <a:lstStyle/>
            <a:p>
              <a:pPr lvl="0" algn="l">
                <a:buClrTx/>
                <a:buSzTx/>
                <a:buFontTx/>
              </a:pPr>
              <a:r>
                <a:rPr lang="fr-FR" altLang="en-US" dirty="0" err="1">
                  <a:solidFill>
                    <a:srgbClr val="2205CD"/>
                  </a:solidFill>
                  <a:sym typeface="+mn-ea"/>
                </a:rPr>
                <a:t>Ménaces</a:t>
              </a:r>
              <a:r>
                <a:rPr lang="fr-FR" altLang="en-US" dirty="0">
                  <a:solidFill>
                    <a:srgbClr val="2205CD"/>
                  </a:solidFill>
                  <a:sym typeface="+mn-ea"/>
                </a:rPr>
                <a:t>  </a:t>
              </a:r>
            </a:p>
          </p:txBody>
        </p:sp>
        <p:sp>
          <p:nvSpPr>
            <p:cNvPr id="8" name="Zone de texte 7"/>
            <p:cNvSpPr txBox="1"/>
            <p:nvPr>
              <p:custDataLst>
                <p:tags r:id="rId4"/>
              </p:custDataLst>
            </p:nvPr>
          </p:nvSpPr>
          <p:spPr>
            <a:xfrm>
              <a:off x="9905" y="1799"/>
              <a:ext cx="4533" cy="580"/>
            </a:xfrm>
            <a:prstGeom prst="rect">
              <a:avLst/>
            </a:prstGeom>
            <a:noFill/>
          </p:spPr>
          <p:txBody>
            <a:bodyPr wrap="square" rtlCol="0">
              <a:spAutoFit/>
            </a:bodyPr>
            <a:lstStyle/>
            <a:p>
              <a:pPr lvl="0" algn="l">
                <a:buClrTx/>
                <a:buSzTx/>
                <a:buFontTx/>
              </a:pPr>
              <a:r>
                <a:rPr lang="fr-FR" altLang="en-US" dirty="0">
                  <a:solidFill>
                    <a:srgbClr val="2205CD"/>
                  </a:solidFill>
                  <a:sym typeface="+mn-ea"/>
                </a:rPr>
                <a:t>Faiblesses </a:t>
              </a:r>
            </a:p>
          </p:txBody>
        </p:sp>
        <p:sp>
          <p:nvSpPr>
            <p:cNvPr id="10" name="Rectangle 9"/>
            <p:cNvSpPr/>
            <p:nvPr/>
          </p:nvSpPr>
          <p:spPr>
            <a:xfrm>
              <a:off x="881" y="6489"/>
              <a:ext cx="7691" cy="0"/>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11" name="Rectangle 10"/>
            <p:cNvSpPr/>
            <p:nvPr/>
          </p:nvSpPr>
          <p:spPr>
            <a:xfrm>
              <a:off x="9905" y="6489"/>
              <a:ext cx="7691" cy="0"/>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12" name="Zone de texte 11"/>
            <p:cNvSpPr txBox="1"/>
            <p:nvPr/>
          </p:nvSpPr>
          <p:spPr>
            <a:xfrm>
              <a:off x="341" y="2378"/>
              <a:ext cx="8763" cy="5276"/>
            </a:xfrm>
            <a:prstGeom prst="rect">
              <a:avLst/>
            </a:prstGeom>
            <a:noFill/>
          </p:spPr>
          <p:txBody>
            <a:bodyPr wrap="square" rtlCol="0">
              <a:noAutofit/>
            </a:bodyPr>
            <a:lstStyle/>
            <a:p>
              <a:pPr marL="171450" lvl="0" indent="-171450">
                <a:buFont typeface="Arial" panose="020B0604020202020204" pitchFamily="34" charset="0"/>
                <a:buChar char="•"/>
              </a:pPr>
              <a:r>
                <a:rPr lang="fr-FR" dirty="0"/>
                <a:t>Amélioration de la complétude et la promptitude des données dans le DHIS2;</a:t>
              </a:r>
            </a:p>
            <a:p>
              <a:pPr marL="171450" lvl="0" indent="-171450">
                <a:buFont typeface="Arial" panose="020B0604020202020204" pitchFamily="34" charset="0"/>
                <a:buChar char="•"/>
              </a:pPr>
              <a:r>
                <a:rPr lang="fr-FR" dirty="0"/>
                <a:t>7 réunions d’analyse des données tenues au niveau de central </a:t>
              </a:r>
            </a:p>
            <a:p>
              <a:pPr marL="171450" lvl="0" indent="-171450">
                <a:buFont typeface="Arial" panose="020B0604020202020204" pitchFamily="34" charset="0"/>
                <a:buChar char="•"/>
              </a:pPr>
              <a:r>
                <a:rPr lang="fr-FR" dirty="0"/>
                <a:t>Implémentation des 7 cours certifiant (Vaccination pratique, Gestion des données, Utilisation des données, DQS,  Monitorage pour action, Stratégie de vaccination et Genre &amp; Equité vaccinale) en ligne pour la formation de prestataires au niveau opérationnel;</a:t>
              </a:r>
            </a:p>
            <a:p>
              <a:pPr marL="171450" lvl="0" indent="-171450">
                <a:buFont typeface="Arial" panose="020B0604020202020204" pitchFamily="34" charset="0"/>
                <a:buChar char="•"/>
              </a:pPr>
              <a:r>
                <a:rPr lang="fr-FR" dirty="0"/>
                <a:t>Analyses mensuelles des performances des zones de santé par le niveau central suivi de retro informations aux DPS, antennes et ZS</a:t>
              </a:r>
            </a:p>
            <a:p>
              <a:endParaRPr lang="fr-FR" altLang="en-US" dirty="0"/>
            </a:p>
          </p:txBody>
        </p:sp>
        <p:sp>
          <p:nvSpPr>
            <p:cNvPr id="14" name="Zone de texte 13"/>
            <p:cNvSpPr txBox="1"/>
            <p:nvPr/>
          </p:nvSpPr>
          <p:spPr>
            <a:xfrm>
              <a:off x="9897" y="2525"/>
              <a:ext cx="8733" cy="4180"/>
            </a:xfrm>
            <a:prstGeom prst="rect">
              <a:avLst/>
            </a:prstGeom>
            <a:noFill/>
          </p:spPr>
          <p:txBody>
            <a:bodyPr wrap="square" rtlCol="0">
              <a:noAutofit/>
            </a:bodyPr>
            <a:lstStyle/>
            <a:p>
              <a:pPr marL="171450" lvl="0" indent="-171450">
                <a:buFont typeface="Arial" panose="020B0604020202020204" pitchFamily="34" charset="0"/>
                <a:buChar char="•"/>
              </a:pPr>
              <a:r>
                <a:rPr lang="fr-FR" sz="1600" dirty="0"/>
                <a:t>Non maitrise du dénominateur ;</a:t>
              </a:r>
            </a:p>
            <a:p>
              <a:pPr marL="171450" lvl="0" indent="-171450">
                <a:buFont typeface="Arial" panose="020B0604020202020204" pitchFamily="34" charset="0"/>
                <a:buChar char="•"/>
              </a:pPr>
              <a:r>
                <a:rPr lang="fr-FR" sz="1600" dirty="0"/>
                <a:t>Ecart  de plus 20 points entre les données administratives et les données des estimations OMS-Unicef pour DTC3 en 2024;</a:t>
              </a:r>
            </a:p>
            <a:p>
              <a:pPr marL="171450" lvl="0" indent="-171450">
                <a:buFont typeface="Arial" panose="020B0604020202020204" pitchFamily="34" charset="0"/>
                <a:buChar char="•"/>
              </a:pPr>
              <a:r>
                <a:rPr lang="fr-FR" sz="1600" dirty="0"/>
                <a:t>Faible analyse et validation des données PEV aux niveaux intermédiaire et opérationnel; </a:t>
              </a:r>
            </a:p>
            <a:p>
              <a:pPr marL="171450" lvl="0" indent="-171450">
                <a:buFont typeface="Arial" panose="020B0604020202020204" pitchFamily="34" charset="0"/>
                <a:buChar char="•"/>
              </a:pPr>
              <a:r>
                <a:rPr lang="fr-FR" sz="1600" dirty="0"/>
                <a:t>Faible rapportage des données de la gestion de vaccins et autres intrants dans le DHIS2;</a:t>
              </a:r>
            </a:p>
            <a:p>
              <a:pPr marL="171450" lvl="0" indent="-171450">
                <a:buFont typeface="Arial" panose="020B0604020202020204" pitchFamily="34" charset="0"/>
                <a:buChar char="•"/>
              </a:pPr>
              <a:r>
                <a:rPr lang="fr-FR" sz="1600" dirty="0"/>
                <a:t>Faible réalisation de DQS dans les AS;</a:t>
              </a:r>
            </a:p>
            <a:p>
              <a:pPr marL="171450" lvl="0" indent="-171450">
                <a:buFont typeface="Arial" panose="020B0604020202020204" pitchFamily="34" charset="0"/>
                <a:buChar char="•"/>
              </a:pPr>
              <a:r>
                <a:rPr lang="fr-FR" sz="1600" dirty="0"/>
                <a:t>Distribution tardive et insuffisante des outils de collecte des données aux ESS qui vaccinent.</a:t>
              </a:r>
            </a:p>
            <a:p>
              <a:r>
                <a:rPr lang="fr-FR" altLang="en-US" sz="1600" dirty="0">
                  <a:solidFill>
                    <a:srgbClr val="FF0000"/>
                  </a:solidFill>
                </a:rPr>
                <a:t> </a:t>
              </a:r>
            </a:p>
          </p:txBody>
        </p:sp>
        <p:sp>
          <p:nvSpPr>
            <p:cNvPr id="15" name="Zone de texte 14"/>
            <p:cNvSpPr txBox="1"/>
            <p:nvPr/>
          </p:nvSpPr>
          <p:spPr>
            <a:xfrm>
              <a:off x="371" y="8498"/>
              <a:ext cx="8733" cy="1595"/>
            </a:xfrm>
            <a:prstGeom prst="rect">
              <a:avLst/>
            </a:prstGeom>
            <a:noFill/>
          </p:spPr>
          <p:txBody>
            <a:bodyPr wrap="square" rtlCol="0">
              <a:noAutofit/>
            </a:bodyPr>
            <a:lstStyle/>
            <a:p>
              <a:endParaRPr lang="fr-FR" altLang="en-US" sz="1200" dirty="0">
                <a:solidFill>
                  <a:srgbClr val="FF0000"/>
                </a:solidFill>
              </a:endParaRPr>
            </a:p>
            <a:p>
              <a:pPr marL="171450" indent="-171450">
                <a:buFont typeface="Arial" panose="020B0604020202020204" pitchFamily="34" charset="0"/>
                <a:buChar char="•"/>
              </a:pPr>
              <a:r>
                <a:rPr lang="fr-FR" altLang="en-US" dirty="0"/>
                <a:t>Présence des assistances techniques sur terrain en appui au PEV</a:t>
              </a:r>
            </a:p>
            <a:p>
              <a:endParaRPr lang="fr-FR" altLang="en-US" dirty="0">
                <a:solidFill>
                  <a:srgbClr val="FF0000"/>
                </a:solidFill>
              </a:endParaRPr>
            </a:p>
          </p:txBody>
        </p:sp>
        <p:sp>
          <p:nvSpPr>
            <p:cNvPr id="16" name="Zone de texte 15"/>
            <p:cNvSpPr txBox="1"/>
            <p:nvPr/>
          </p:nvSpPr>
          <p:spPr>
            <a:xfrm>
              <a:off x="9900" y="7579"/>
              <a:ext cx="8733" cy="2646"/>
            </a:xfrm>
            <a:prstGeom prst="rect">
              <a:avLst/>
            </a:prstGeom>
            <a:noFill/>
          </p:spPr>
          <p:txBody>
            <a:bodyPr wrap="square" rtlCol="0">
              <a:noAutofit/>
            </a:bodyPr>
            <a:lstStyle/>
            <a:p>
              <a:endParaRPr lang="fr-FR" altLang="en-US" sz="1200" dirty="0">
                <a:solidFill>
                  <a:srgbClr val="FF0000"/>
                </a:solidFill>
              </a:endParaRPr>
            </a:p>
            <a:p>
              <a:pPr marL="171450" indent="-171450">
                <a:buFont typeface="Arial" panose="020B0604020202020204" pitchFamily="34" charset="0"/>
                <a:buChar char="•"/>
              </a:pPr>
              <a:r>
                <a:rPr lang="fr-FR" altLang="en-US" sz="1600" dirty="0"/>
                <a:t>Instabilité du personnel formé commis à la gestion des données</a:t>
              </a:r>
            </a:p>
            <a:p>
              <a:pPr marL="171450" indent="-171450">
                <a:buFont typeface="Arial" panose="020B0604020202020204" pitchFamily="34" charset="0"/>
                <a:buChar char="•"/>
              </a:pPr>
              <a:r>
                <a:rPr lang="fr-FR" altLang="en-US" sz="1600" dirty="0"/>
                <a:t>Faible ou absence des couvertures internet dans les Aires de santé d’accès difficiles </a:t>
              </a:r>
            </a:p>
            <a:p>
              <a:pPr marL="171450" indent="-171450">
                <a:buFont typeface="Arial" panose="020B0604020202020204" pitchFamily="34" charset="0"/>
                <a:buChar char="•"/>
              </a:pPr>
              <a:r>
                <a:rPr lang="fr-FR" altLang="en-US" sz="1600" dirty="0" err="1"/>
                <a:t>Vsat</a:t>
              </a:r>
              <a:r>
                <a:rPr lang="fr-FR" altLang="en-US" sz="1600" dirty="0"/>
                <a:t> de plusieurs Zones de Santé  en panne et/ou sans abonnement Internet</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Leçons apprises - Bonne pratique</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3" name="Rectangle 2"/>
          <p:cNvSpPr/>
          <p:nvPr/>
        </p:nvSpPr>
        <p:spPr>
          <a:xfrm>
            <a:off x="6096000" y="1342390"/>
            <a:ext cx="0" cy="5332095"/>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4" name="Zone de texte 3"/>
          <p:cNvSpPr txBox="1"/>
          <p:nvPr>
            <p:custDataLst>
              <p:tags r:id="rId1"/>
            </p:custDataLst>
          </p:nvPr>
        </p:nvSpPr>
        <p:spPr>
          <a:xfrm>
            <a:off x="103505" y="1142048"/>
            <a:ext cx="5080000" cy="368300"/>
          </a:xfrm>
          <a:prstGeom prst="rect">
            <a:avLst/>
          </a:prstGeom>
          <a:noFill/>
        </p:spPr>
        <p:txBody>
          <a:bodyPr wrap="square" rtlCol="0">
            <a:spAutoFit/>
          </a:bodyPr>
          <a:lstStyle/>
          <a:p>
            <a:pPr lvl="0" algn="l">
              <a:buClrTx/>
              <a:buSzTx/>
              <a:buFontTx/>
            </a:pPr>
            <a:r>
              <a:rPr lang="fr-FR" altLang="en-US">
                <a:sym typeface="+mn-ea"/>
              </a:rPr>
              <a:t>Leçons apprises  </a:t>
            </a:r>
          </a:p>
        </p:txBody>
      </p:sp>
      <p:sp>
        <p:nvSpPr>
          <p:cNvPr id="8" name="Zone de texte 7"/>
          <p:cNvSpPr txBox="1"/>
          <p:nvPr>
            <p:custDataLst>
              <p:tags r:id="rId2"/>
            </p:custDataLst>
          </p:nvPr>
        </p:nvSpPr>
        <p:spPr>
          <a:xfrm>
            <a:off x="6289675" y="1142365"/>
            <a:ext cx="2878455" cy="368300"/>
          </a:xfrm>
          <a:prstGeom prst="rect">
            <a:avLst/>
          </a:prstGeom>
          <a:noFill/>
        </p:spPr>
        <p:txBody>
          <a:bodyPr wrap="square" rtlCol="0">
            <a:spAutoFit/>
          </a:bodyPr>
          <a:lstStyle/>
          <a:p>
            <a:pPr lvl="0" algn="l">
              <a:buClrTx/>
              <a:buSzTx/>
              <a:buFontTx/>
            </a:pPr>
            <a:r>
              <a:rPr lang="fr-FR" altLang="en-US">
                <a:sym typeface="+mn-ea"/>
              </a:rPr>
              <a:t>Bonnes pratiques  </a:t>
            </a:r>
          </a:p>
        </p:txBody>
      </p:sp>
      <p:sp>
        <p:nvSpPr>
          <p:cNvPr id="12" name="Zone de texte 11"/>
          <p:cNvSpPr txBox="1"/>
          <p:nvPr/>
        </p:nvSpPr>
        <p:spPr>
          <a:xfrm>
            <a:off x="216535" y="1627505"/>
            <a:ext cx="5685791" cy="4782185"/>
          </a:xfrm>
          <a:prstGeom prst="rect">
            <a:avLst/>
          </a:prstGeom>
          <a:noFill/>
        </p:spPr>
        <p:txBody>
          <a:bodyPr wrap="square" rtlCol="0">
            <a:noAutofit/>
          </a:bodyPr>
          <a:lstStyle/>
          <a:p>
            <a:endParaRPr lang="fr-FR" altLang="en-US" sz="1200" dirty="0">
              <a:solidFill>
                <a:srgbClr val="FF3300"/>
              </a:solidFill>
            </a:endParaRPr>
          </a:p>
          <a:p>
            <a:pPr marL="285750" indent="-285750">
              <a:lnSpc>
                <a:spcPct val="150000"/>
              </a:lnSpc>
              <a:buFont typeface="Arial" panose="020B0604020202020204" pitchFamily="34" charset="0"/>
              <a:buChar char="•"/>
            </a:pPr>
            <a:r>
              <a:rPr lang="fr-FR" altLang="en-US" sz="1400" dirty="0">
                <a:latin typeface="Arial" panose="020B0604020202020204" pitchFamily="34" charset="0"/>
                <a:cs typeface="Arial" panose="020B0604020202020204" pitchFamily="34" charset="0"/>
              </a:rPr>
              <a:t>L’utilisation par toutes les zones de santé du logiciel DHIS2 a permis, chaque mois, d’avoir les données de la vaccination de Routine en temps réel et de réduire sensiblement le temps d’attente des données de vaccination du niveau opérationnel.</a:t>
            </a:r>
          </a:p>
        </p:txBody>
      </p:sp>
      <p:sp>
        <p:nvSpPr>
          <p:cNvPr id="14" name="Zone de texte 13"/>
          <p:cNvSpPr txBox="1"/>
          <p:nvPr/>
        </p:nvSpPr>
        <p:spPr>
          <a:xfrm>
            <a:off x="6284595" y="1603375"/>
            <a:ext cx="5545455" cy="4806315"/>
          </a:xfrm>
          <a:prstGeom prst="rect">
            <a:avLst/>
          </a:prstGeom>
          <a:noFill/>
        </p:spPr>
        <p:txBody>
          <a:bodyPr wrap="square" rtlCol="0">
            <a:noAutofit/>
          </a:bodyPr>
          <a:lstStyle/>
          <a:p>
            <a:endParaRPr lang="fr-FR" altLang="en-US" sz="1400"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35600" y="1131952"/>
            <a:ext cx="11388725" cy="5034280"/>
          </a:xfrm>
          <a:prstGeom prst="rect">
            <a:avLst/>
          </a:prstGeom>
          <a:noFill/>
        </p:spPr>
        <p:txBody>
          <a:bodyPr wrap="square" rtlCol="0">
            <a:noAutofit/>
          </a:bodyPr>
          <a:lstStyle/>
          <a:p>
            <a:pPr marL="171450" lvl="0" indent="-171450">
              <a:spcBef>
                <a:spcPts val="600"/>
              </a:spcBef>
              <a:spcAft>
                <a:spcPts val="600"/>
              </a:spcAft>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Organiser un plaidoyer auprès de la hiérarchie pour autoriser l’utilisation sur DHIS2 des cibles réajustées en 2024 et 2025 pour améliorer le dénominateur;</a:t>
            </a:r>
          </a:p>
          <a:p>
            <a:pPr marL="171450" lvl="0" indent="-171450">
              <a:spcBef>
                <a:spcPts val="600"/>
              </a:spcBef>
              <a:spcAft>
                <a:spcPts val="600"/>
              </a:spcAft>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Revoir le calcul des nourrissons survivants qui est passé de 3,49% à 3,78% étant donné que la mortalité infantile a fortement baissé de 2005 à 2024;</a:t>
            </a:r>
          </a:p>
          <a:p>
            <a:pPr marL="171450" lvl="0" indent="-171450">
              <a:spcBef>
                <a:spcPts val="600"/>
              </a:spcBef>
              <a:spcAft>
                <a:spcPts val="600"/>
              </a:spcAft>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Rendre les outils de gestion disponibles à temps et en quantité suffisante dans les structures qui vaccinent;</a:t>
            </a:r>
          </a:p>
          <a:p>
            <a:pPr marL="171450" lvl="0" indent="-171450">
              <a:spcBef>
                <a:spcPts val="600"/>
              </a:spcBef>
              <a:spcAft>
                <a:spcPts val="600"/>
              </a:spcAft>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Renforcer les capacités des gestionnaires des données dans l’analyse et traitement des données;</a:t>
            </a:r>
          </a:p>
          <a:p>
            <a:pPr marL="171450" lvl="0" indent="-171450">
              <a:spcBef>
                <a:spcPts val="600"/>
              </a:spcBef>
              <a:spcAft>
                <a:spcPts val="600"/>
              </a:spcAft>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Superviser mensuellement/trimestriellement les gestionnaires des données pour s’assurer de l’amélioration de la qualité des données de la vaccination;</a:t>
            </a:r>
          </a:p>
          <a:p>
            <a:pPr marL="171450" lvl="0" indent="-171450">
              <a:spcBef>
                <a:spcPts val="600"/>
              </a:spcBef>
              <a:spcAft>
                <a:spcPts val="600"/>
              </a:spcAft>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Vulgariser au niveau des AS les outils d’auto-évaluation de la qualité des données (DQS)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89335"/>
            <a:ext cx="11274800" cy="46583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Actions prioritaires pour 2026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316626" y="750776"/>
            <a:ext cx="11497792" cy="5785264"/>
          </a:xfrm>
          <a:prstGeom prst="rect">
            <a:avLst/>
          </a:prstGeom>
          <a:noFill/>
        </p:spPr>
        <p:txBody>
          <a:bodyPr wrap="square" rtlCol="0">
            <a:noAutofit/>
          </a:bodyPr>
          <a:lstStyle/>
          <a:p>
            <a:pPr marL="457200" lvl="0" indent="-457200">
              <a:buFont typeface="Wingdings" panose="05000000000000000000" pitchFamily="2" charset="2"/>
              <a:buChar char="q"/>
            </a:pPr>
            <a:r>
              <a:rPr lang="fr-FR" sz="2600" dirty="0"/>
              <a:t>Digitalisation des outils de gestion au niveau des aires de santé </a:t>
            </a:r>
          </a:p>
          <a:p>
            <a:pPr marL="914400" lvl="1" indent="-457200">
              <a:buFont typeface="Wingdings" panose="05000000000000000000" pitchFamily="2" charset="2"/>
              <a:buChar char="§"/>
            </a:pPr>
            <a:r>
              <a:rPr lang="fr-FR" sz="2600" dirty="0"/>
              <a:t>Evaluation de la mise en œuvre du registre électronique de vaccination dans les provinces (</a:t>
            </a:r>
            <a:r>
              <a:rPr lang="fr-FR" sz="2600" dirty="0" err="1"/>
              <a:t>Kasai</a:t>
            </a:r>
            <a:r>
              <a:rPr lang="fr-FR" sz="2600" dirty="0"/>
              <a:t> Central, Kinshasa, Kongo Central et Haut Katanga)</a:t>
            </a:r>
          </a:p>
          <a:p>
            <a:pPr marL="914400" lvl="1" indent="-457200">
              <a:buFont typeface="Wingdings" panose="05000000000000000000" pitchFamily="2" charset="2"/>
              <a:buChar char="§"/>
            </a:pPr>
            <a:r>
              <a:rPr lang="fr-FR" sz="2600" dirty="0"/>
              <a:t>Evaluation de la décentralisation du rapportage sur DHIS2 dans les aires de santé</a:t>
            </a:r>
          </a:p>
          <a:p>
            <a:pPr marL="914400" lvl="1" indent="-457200">
              <a:buFont typeface="Wingdings" panose="05000000000000000000" pitchFamily="2" charset="2"/>
              <a:buChar char="§"/>
            </a:pPr>
            <a:r>
              <a:rPr lang="fr-FR" sz="2600" b="1" dirty="0"/>
              <a:t>Approche de digitalisation pour 2026</a:t>
            </a:r>
            <a:r>
              <a:rPr lang="fr-FR" sz="2600" dirty="0"/>
              <a:t>: sur base des conclusions de l'évaluation du registre électronique, conserver les acquis dans les provinces pilotes et étendre la saisie des données au niveau des aires de santé pour renforcer la culture de rapportage au niveau des AS</a:t>
            </a:r>
          </a:p>
          <a:p>
            <a:pPr marL="457200" lvl="0" indent="-457200">
              <a:buFont typeface="Wingdings" panose="05000000000000000000" pitchFamily="2" charset="2"/>
              <a:buChar char="q"/>
            </a:pPr>
            <a:r>
              <a:rPr lang="fr-FR" sz="2600" dirty="0"/>
              <a:t>Systématiser les auto-évaluations de la qualité des données au niveau opérationnel (pour corriger les erreurs de rapportage)</a:t>
            </a:r>
          </a:p>
          <a:p>
            <a:pPr marL="457200" lvl="0" indent="-457200">
              <a:buFont typeface="Wingdings" panose="05000000000000000000" pitchFamily="2" charset="2"/>
              <a:buChar char="q"/>
            </a:pPr>
            <a:r>
              <a:rPr lang="fr-FR" sz="2600" dirty="0"/>
              <a:t>Utiliser les cibles ajustées pour le suivi des performances</a:t>
            </a:r>
          </a:p>
          <a:p>
            <a:pPr marL="457200" lvl="0" indent="-457200">
              <a:buFont typeface="Wingdings" panose="05000000000000000000" pitchFamily="2" charset="2"/>
              <a:buChar char="q"/>
            </a:pPr>
            <a:r>
              <a:rPr lang="fr-FR" sz="2600" dirty="0"/>
              <a:t>Encourager le renforcement des capacités des acteurs du niveau opérationnel par les formations  e-learning (cours en ligne)</a:t>
            </a:r>
          </a:p>
          <a:p>
            <a:pPr marL="285750" indent="-285750" algn="just">
              <a:buFont typeface="+mj-lt"/>
              <a:buAutoNum type="arabicPeriod"/>
            </a:pPr>
            <a:endParaRPr lang="fr-FR" sz="2600" dirty="0">
              <a:solidFill>
                <a:srgbClr val="2205CD"/>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95858" y="2443938"/>
            <a:ext cx="11360800" cy="763600"/>
          </a:xfrm>
        </p:spPr>
        <p:txBody>
          <a:bodyPr>
            <a:normAutofit/>
          </a:bodyPr>
          <a:lstStyle/>
          <a:p>
            <a:pPr algn="ctr"/>
            <a:r>
              <a:rPr lang="fr-FR" b="1" dirty="0"/>
              <a:t>Merci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89335"/>
            <a:ext cx="11274800" cy="46583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Actions prioritaires pour 2026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35601" y="692901"/>
            <a:ext cx="11497792" cy="5785264"/>
          </a:xfrm>
          <a:prstGeom prst="rect">
            <a:avLst/>
          </a:prstGeom>
          <a:noFill/>
        </p:spPr>
        <p:txBody>
          <a:bodyPr wrap="square" rtlCol="0">
            <a:noAutofit/>
          </a:bodyPr>
          <a:lstStyle/>
          <a:p>
            <a:pPr marL="228600" indent="-2286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  Poursuivre le déploiement des registres électroniques de vaccination pour le suivi des enregistrements de vaccination individuelle à  Kinshasa  après la phase pilote.</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Appuyer la décentralisation de DHIS2 vers les aires de santé pour la saisie des données SNIS dans la DPS de Kinshasa</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Réaliser les estimations de couverture vaccinale des provinces (ESNIC)</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Doter chaque FOSA des outils de gestion des données : outils spécifiques au PEV : (fiches de pointage, registre de </a:t>
            </a:r>
            <a:r>
              <a:rPr lang="fr-FR" sz="1300" dirty="0" err="1">
                <a:latin typeface="Times New Roman" panose="02020603050405020304" pitchFamily="18" charset="0"/>
                <a:cs typeface="Times New Roman" panose="02020603050405020304" pitchFamily="18" charset="0"/>
              </a:rPr>
              <a:t>vaccination,Nouvelles</a:t>
            </a:r>
            <a:r>
              <a:rPr lang="fr-FR" sz="1300" dirty="0">
                <a:latin typeface="Times New Roman" panose="02020603050405020304" pitchFamily="18" charset="0"/>
                <a:cs typeface="Times New Roman" panose="02020603050405020304" pitchFamily="18" charset="0"/>
              </a:rPr>
              <a:t> cartes de vaccination-CPS)</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Contribuer a l'impression   des outils intégrés du SNIS</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Appuyer l'organisation </a:t>
            </a:r>
            <a:r>
              <a:rPr lang="fr-FR" sz="1300" dirty="0" err="1">
                <a:latin typeface="Times New Roman" panose="02020603050405020304" pitchFamily="18" charset="0"/>
                <a:cs typeface="Times New Roman" panose="02020603050405020304" pitchFamily="18" charset="0"/>
              </a:rPr>
              <a:t>systematique</a:t>
            </a:r>
            <a:r>
              <a:rPr lang="fr-FR" sz="1300" dirty="0">
                <a:latin typeface="Times New Roman" panose="02020603050405020304" pitchFamily="18" charset="0"/>
                <a:cs typeface="Times New Roman" panose="02020603050405020304" pitchFamily="18" charset="0"/>
              </a:rPr>
              <a:t> des réunions de monitorage mensuel au niveau des AS et BCZS des 6 DPS a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a:t>
            </a:r>
            <a:r>
              <a:rPr lang="fr-FR" sz="1300" dirty="0">
                <a:latin typeface="Times New Roman" panose="02020603050405020304" pitchFamily="18" charset="0"/>
                <a:cs typeface="Times New Roman" panose="02020603050405020304" pitchFamily="18" charset="0"/>
              </a:rPr>
              <a:t> Oriental, Sud </a:t>
            </a:r>
            <a:r>
              <a:rPr lang="fr-FR" sz="1300" dirty="0" err="1">
                <a:latin typeface="Times New Roman" panose="02020603050405020304" pitchFamily="18" charset="0"/>
                <a:cs typeface="Times New Roman" panose="02020603050405020304" pitchFamily="18" charset="0"/>
              </a:rPr>
              <a:t>kivu</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katanga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Réaliser le monitorage semestriel des données par la méthode </a:t>
            </a:r>
            <a:r>
              <a:rPr lang="fr-FR" sz="1300" dirty="0" err="1">
                <a:latin typeface="Times New Roman" panose="02020603050405020304" pitchFamily="18" charset="0"/>
                <a:cs typeface="Times New Roman" panose="02020603050405020304" pitchFamily="18" charset="0"/>
              </a:rPr>
              <a:t>Tanahashi</a:t>
            </a:r>
            <a:r>
              <a:rPr lang="fr-FR" sz="1300" dirty="0">
                <a:latin typeface="Times New Roman" panose="02020603050405020304" pitchFamily="18" charset="0"/>
                <a:cs typeface="Times New Roman" panose="02020603050405020304" pitchFamily="18" charset="0"/>
              </a:rPr>
              <a:t> Transversale dans les DPS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Sud </a:t>
            </a:r>
            <a:r>
              <a:rPr lang="fr-FR" sz="1300" dirty="0" err="1">
                <a:latin typeface="Times New Roman" panose="02020603050405020304" pitchFamily="18" charset="0"/>
                <a:cs typeface="Times New Roman" panose="02020603050405020304" pitchFamily="18" charset="0"/>
              </a:rPr>
              <a:t>kivu</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katanga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Réaliser trimestriellement le Lot </a:t>
            </a:r>
            <a:r>
              <a:rPr lang="fr-FR" sz="1300" dirty="0" err="1">
                <a:latin typeface="Times New Roman" panose="02020603050405020304" pitchFamily="18" charset="0"/>
                <a:cs typeface="Times New Roman" panose="02020603050405020304" pitchFamily="18" charset="0"/>
              </a:rPr>
              <a:t>Quality</a:t>
            </a:r>
            <a:r>
              <a:rPr lang="fr-FR" sz="1300" dirty="0">
                <a:latin typeface="Times New Roman" panose="02020603050405020304" pitchFamily="18" charset="0"/>
                <a:cs typeface="Times New Roman" panose="02020603050405020304" pitchFamily="18" charset="0"/>
              </a:rPr>
              <a:t> Assurance </a:t>
            </a:r>
            <a:r>
              <a:rPr lang="fr-FR" sz="1300" dirty="0" err="1">
                <a:latin typeface="Times New Roman" panose="02020603050405020304" pitchFamily="18" charset="0"/>
                <a:cs typeface="Times New Roman" panose="02020603050405020304" pitchFamily="18" charset="0"/>
              </a:rPr>
              <a:t>Sampling</a:t>
            </a:r>
            <a:r>
              <a:rPr lang="fr-FR" sz="1300" dirty="0">
                <a:latin typeface="Times New Roman" panose="02020603050405020304" pitchFamily="18" charset="0"/>
                <a:cs typeface="Times New Roman" panose="02020603050405020304" pitchFamily="18" charset="0"/>
              </a:rPr>
              <a:t> (LQAS) en routine pour mesurer les performances dans 6 DPS a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a:t>
            </a:r>
            <a:r>
              <a:rPr lang="fr-FR" sz="1300" dirty="0">
                <a:latin typeface="Times New Roman" panose="02020603050405020304" pitchFamily="18" charset="0"/>
                <a:cs typeface="Times New Roman" panose="02020603050405020304" pitchFamily="18" charset="0"/>
              </a:rPr>
              <a:t> Oriental, Sud </a:t>
            </a:r>
            <a:r>
              <a:rPr lang="fr-FR" sz="1300" dirty="0" err="1">
                <a:latin typeface="Times New Roman" panose="02020603050405020304" pitchFamily="18" charset="0"/>
                <a:cs typeface="Times New Roman" panose="02020603050405020304" pitchFamily="18" charset="0"/>
              </a:rPr>
              <a:t>kivu</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katanga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Contribuer  la </a:t>
            </a:r>
            <a:r>
              <a:rPr lang="fr-FR" sz="1300" dirty="0" err="1">
                <a:latin typeface="Times New Roman" panose="02020603050405020304" pitchFamily="18" charset="0"/>
                <a:cs typeface="Times New Roman" panose="02020603050405020304" pitchFamily="18" charset="0"/>
              </a:rPr>
              <a:t>realisation</a:t>
            </a:r>
            <a:r>
              <a:rPr lang="fr-FR" sz="1300" dirty="0">
                <a:latin typeface="Times New Roman" panose="02020603050405020304" pitchFamily="18" charset="0"/>
                <a:cs typeface="Times New Roman" panose="02020603050405020304" pitchFamily="18" charset="0"/>
              </a:rPr>
              <a:t> des DQR intégré national chaque deux ans dans les 6 DPS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(Haut Katanga,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Sud Kivu,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Organiser les ateliers d'amélioration des données à tous les niveaux (Validation des données, Joint </a:t>
            </a:r>
            <a:r>
              <a:rPr lang="fr-FR" sz="1300" dirty="0" err="1">
                <a:latin typeface="Times New Roman" panose="02020603050405020304" pitchFamily="18" charset="0"/>
                <a:cs typeface="Times New Roman" panose="02020603050405020304" pitchFamily="18" charset="0"/>
              </a:rPr>
              <a:t>Reporting</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Form</a:t>
            </a:r>
            <a:r>
              <a:rPr lang="fr-FR" sz="1300" dirty="0">
                <a:latin typeface="Times New Roman" panose="02020603050405020304" pitchFamily="18" charset="0"/>
                <a:cs typeface="Times New Roman" panose="02020603050405020304" pitchFamily="18" charset="0"/>
              </a:rPr>
              <a:t>(JRF),analyse des données dans 6 DPS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Haut Katanga,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Sud Kivu,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Organiser les enquêtes indépendantes quantitatives et qualitatives de couverture vaccinale avec focus sur les enfants zéro – dose et les communautés manquées toutes les deux ans</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Appuyer la connexion internet adaptée au contexte de chaque ZS des 6 DPS a </a:t>
            </a:r>
            <a:r>
              <a:rPr lang="fr-FR" sz="1300" dirty="0" err="1">
                <a:latin typeface="Times New Roman" panose="02020603050405020304" pitchFamily="18" charset="0"/>
                <a:cs typeface="Times New Roman" panose="02020603050405020304" pitchFamily="18" charset="0"/>
              </a:rPr>
              <a:t>Haut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Katanga,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Sud </a:t>
            </a:r>
            <a:r>
              <a:rPr lang="fr-FR" sz="1300" dirty="0" err="1">
                <a:latin typeface="Times New Roman" panose="02020603050405020304" pitchFamily="18" charset="0"/>
                <a:cs typeface="Times New Roman" panose="02020603050405020304" pitchFamily="18" charset="0"/>
              </a:rPr>
              <a:t>Kivu,Tshopo,Tshuapa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Doter les structures de 6 DPS a </a:t>
            </a:r>
            <a:r>
              <a:rPr lang="fr-FR" sz="1300" dirty="0" err="1">
                <a:latin typeface="Times New Roman" panose="02020603050405020304" pitchFamily="18" charset="0"/>
                <a:cs typeface="Times New Roman" panose="02020603050405020304" pitchFamily="18" charset="0"/>
              </a:rPr>
              <a:t>Haut</a:t>
            </a:r>
            <a:r>
              <a:rPr lang="fr-FR" sz="1300" dirty="0">
                <a:latin typeface="Times New Roman" panose="02020603050405020304" pitchFamily="18" charset="0"/>
                <a:cs typeface="Times New Roman" panose="02020603050405020304" pitchFamily="18" charset="0"/>
              </a:rPr>
              <a:t> impact en matériels informatique pour améliorer la gestion de données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Sud Kivu,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Katanga,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285750" indent="-285750" algn="just">
              <a:buFont typeface="+mj-lt"/>
              <a:buAutoNum type="arabicPeriod"/>
            </a:pPr>
            <a:endParaRPr lang="fr-FR" sz="1400" dirty="0">
              <a:solidFill>
                <a:srgbClr val="2205CD"/>
              </a:solidFill>
            </a:endParaRPr>
          </a:p>
        </p:txBody>
      </p:sp>
    </p:spTree>
    <p:extLst>
      <p:ext uri="{BB962C8B-B14F-4D97-AF65-F5344CB8AC3E}">
        <p14:creationId xmlns:p14="http://schemas.microsoft.com/office/powerpoint/2010/main" val="29456611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60.4,&quot;left&quot;:378.85,&quot;top&quot;:55.45,&quot;width&quot;:490.1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TABLE_ENDDRAG_ORIGIN_RECT" val="788*170"/>
  <p:tag name="TABLE_ENDDRAG_RECT" val="55*164*788*170"/>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876*435"/>
  <p:tag name="TABLE_ENDDRAG_RECT" val="37*72*876*43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534</TotalTime>
  <Words>2437</Words>
  <Application>Microsoft Office PowerPoint</Application>
  <PresentationFormat>Widescreen</PresentationFormat>
  <Paragraphs>645</Paragraphs>
  <Slides>27</Slides>
  <Notes>16</Notes>
  <HiddenSlides>2</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27</vt:i4>
      </vt:variant>
    </vt:vector>
  </HeadingPairs>
  <TitlesOfParts>
    <vt:vector size="42" baseType="lpstr">
      <vt:lpstr>微软雅黑</vt:lpstr>
      <vt:lpstr>MS PGothic</vt:lpstr>
      <vt:lpstr>Arial</vt:lpstr>
      <vt:lpstr>Arial Black</vt:lpstr>
      <vt:lpstr>Book Antiqua</vt:lpstr>
      <vt:lpstr>Calibri</vt:lpstr>
      <vt:lpstr>Calibri Light</vt:lpstr>
      <vt:lpstr>Cambria</vt:lpstr>
      <vt:lpstr>Franklin Gothic Book</vt:lpstr>
      <vt:lpstr>Maiandra GD</vt:lpstr>
      <vt:lpstr>Poppins SemiBold</vt:lpstr>
      <vt:lpstr>Source Serif Pro</vt:lpstr>
      <vt:lpstr>Times New Roman</vt:lpstr>
      <vt:lpstr>Wingdings</vt:lpstr>
      <vt:lpstr>Office Theme</vt:lpstr>
      <vt:lpstr>PowerPoint Presentation</vt:lpstr>
      <vt:lpstr>PowerPoint Presentation</vt:lpstr>
      <vt:lpstr>PowerPoint Presentation</vt:lpstr>
      <vt:lpstr>PowerPoint Presentation</vt:lpstr>
      <vt:lpstr>Evaluation des activités du PAO 2025 (1/3)</vt:lpstr>
      <vt:lpstr>Evaluation des activités du PAO 2025  (2/3)</vt:lpstr>
      <vt:lpstr>Evaluation des activités du PAO 2025  (3/3)</vt:lpstr>
      <vt:lpstr>PowerPoint Presentation</vt:lpstr>
      <vt:lpstr> Résultats obtenus (1/2) </vt:lpstr>
      <vt:lpstr> Résultats obtenus (2/2) </vt:lpstr>
      <vt:lpstr>Evolution du nombre de  ZS avec CV DTC3 &gt; 100%, 2020-2025 (Dénominateur Administrative)</vt:lpstr>
      <vt:lpstr>Evolution du nombre de ZS avec Taux d’abandon DTC1/DTC3 négatif de 2020 – 2025,  Janvier- Octobre 2025</vt:lpstr>
      <vt:lpstr>PowerPoint Presentation</vt:lpstr>
      <vt:lpstr>Evolution de la consistance Interne des données</vt:lpstr>
      <vt:lpstr>Evolution de nombre des enfants vaccinés  en DTC HepB Hib1, DTC HepB Hib3 et VAR 1 par rapport à la cible de 2020-2025</vt:lpstr>
      <vt:lpstr>Comparaison des CV des antigènes qui se donnent au même moment par province  RDC, Janvier-Octobre 2025</vt:lpstr>
      <vt:lpstr>Comparaison des CV de VAR 2024 et 2025 par province   RDC, Janvier-Octobre 2025</vt:lpstr>
      <vt:lpstr>Comparaison des CV des antigènes qui se donnent au même moment par province  RDC, Janvier-Octobre 2025</vt:lpstr>
      <vt:lpstr>PowerPoint Presentation</vt:lpstr>
      <vt:lpstr>Points de discussion</vt:lpstr>
      <vt:lpstr>Points de discussion</vt:lpstr>
      <vt:lpstr>PowerPoint Presentation</vt:lpstr>
      <vt:lpstr>PowerPoint Presentation</vt:lpstr>
      <vt:lpstr>PowerPoint Presentation</vt:lpstr>
      <vt:lpstr>PowerPoint Presentation</vt:lpstr>
      <vt:lpstr>Merci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Benedict Nguimbis</cp:lastModifiedBy>
  <cp:revision>239</cp:revision>
  <dcterms:created xsi:type="dcterms:W3CDTF">2025-07-23T00:59:00Z</dcterms:created>
  <dcterms:modified xsi:type="dcterms:W3CDTF">2025-12-15T13:40:03Z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660B6B08150D47D28CC74F278AEBE4A4_13</vt:lpwstr>
  </property>
</Properties>
</file>