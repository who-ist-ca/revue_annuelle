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9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2bFvuJl+Wce7/K1TjdOn0W8i+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D8B065-BF99-497B-BCA4-A35E4409C4D5}">
  <a:tblStyle styleId="{47D8B065-BF99-497B-BCA4-A35E4409C4D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21" Type="http://customschemas.google.com/relationships/presentationmetadata" Target="meta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7c50a7b14_0_185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a7c50a7b14_0_185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75" lIns="97375" spcFirstLastPara="1" rIns="97375" wrap="square" tIns="97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7c50a7b14_0_39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a7c50a7b14_0_39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c543e2b9_0_5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a7c543e2b9_0_5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c543e2b9_0_6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7c543e2b9_0_6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7c543e2b9_0_7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a7c543e2b9_0_7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7c543e2b9_0_82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7c543e2b9_0_8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7c5588b4c_0_0:notes"/>
          <p:cNvSpPr/>
          <p:nvPr>
            <p:ph idx="2" type="sldImg"/>
          </p:nvPr>
        </p:nvSpPr>
        <p:spPr>
          <a:xfrm>
            <a:off x="394962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7c5588b4c_0_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75" lIns="97375" spcFirstLastPara="1" rIns="97375" wrap="square" tIns="97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7c543e2b9_0_9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a7c543e2b9_0_9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c546b70d_0_852:notes"/>
          <p:cNvSpPr/>
          <p:nvPr>
            <p:ph idx="2" type="sldImg"/>
          </p:nvPr>
        </p:nvSpPr>
        <p:spPr>
          <a:xfrm>
            <a:off x="396296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a7c546b70d_0_85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7c5609517_0_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a7c5609517_0_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7c5609517_0_1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a7c5609517_0_1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c50a7b14_0_3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2" name="Google Shape;82;g3a7c50a7b14_0_3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3" name="Google Shape;83;g3a7c50a7b14_0_3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c50a7b14_0_3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a7c50a7b14_0_3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a7c50a7b14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c50a7b14_0_32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a7c50a7b14_0_3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c50a7b14_0_3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a7c50a7b14_0_32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a7c50a7b14_0_32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a7c50a7b14_0_3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c50a7b14_0_3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g3a7c50a7b14_0_3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c50a7b14_0_33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1" name="Google Shape;101;g3a7c50a7b14_0_336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g3a7c50a7b14_0_33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0a7b14_0_34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5" name="Google Shape;105;g3a7c50a7b14_0_3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0a7b14_0_34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7c50a7b14_0_34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9" name="Google Shape;109;g3a7c50a7b14_0_34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a7c50a7b14_0_34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1" name="Google Shape;111;g3a7c50a7b14_0_3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c50a7b14_0_349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g3a7c50a7b14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c50a7b14_0_35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7" name="Google Shape;117;g3a7c50a7b14_0_35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8" name="Google Shape;118;g3a7c50a7b14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c50a7b14_0_3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c50a7b14_0_358"/>
          <p:cNvSpPr txBox="1"/>
          <p:nvPr>
            <p:ph idx="1" type="body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7c50a7b14_0_358"/>
          <p:cNvSpPr txBox="1"/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g3a7c50a7b14_0_358"/>
          <p:cNvSpPr txBox="1"/>
          <p:nvPr>
            <p:ph idx="10" type="dt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7c50a7b14_0_358"/>
          <p:cNvSpPr txBox="1"/>
          <p:nvPr>
            <p:ph idx="12" type="sldNum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a7c50a7b14_0_358"/>
          <p:cNvSpPr txBox="1"/>
          <p:nvPr>
            <p:ph idx="11" type="ftr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_3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50a7b14_0_364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7c50a7b14_0_36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7c50a7b14_0_364"/>
          <p:cNvSpPr txBox="1"/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c50a7b14_0_19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g3a7c50a7b14_0_19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8" name="Google Shape;138;g3a7c50a7b14_0_1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7c50a7b14_0_19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1" name="Google Shape;141;g3a7c50a7b14_0_19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2" name="Google Shape;142;g3a7c50a7b14_0_1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c50a7b14_0_201"/>
          <p:cNvSpPr txBox="1"/>
          <p:nvPr>
            <p:ph type="title"/>
          </p:nvPr>
        </p:nvSpPr>
        <p:spPr>
          <a:xfrm>
            <a:off x="415627" y="593367"/>
            <a:ext cx="11361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g3a7c50a7b14_0_201"/>
          <p:cNvSpPr txBox="1"/>
          <p:nvPr>
            <p:ph idx="1" type="body"/>
          </p:nvPr>
        </p:nvSpPr>
        <p:spPr>
          <a:xfrm>
            <a:off x="415627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46" name="Google Shape;146;g3a7c50a7b14_0_20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g3a7c50a7b14_0_20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g3a7c50a7b14_0_201"/>
          <p:cNvSpPr txBox="1"/>
          <p:nvPr>
            <p:ph idx="12" type="sldNum"/>
          </p:nvPr>
        </p:nvSpPr>
        <p:spPr>
          <a:xfrm>
            <a:off x="1129733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c50a7b14_0_207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1" name="Google Shape;151;g3a7c50a7b14_0_20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c50a7b14_0_2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g3a7c50a7b14_0_21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5" name="Google Shape;155;g3a7c50a7b14_0_21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56" name="Google Shape;156;g3a7c50a7b14_0_21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7c50a7b14_0_2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g3a7c50a7b14_0_2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c50a7b14_0_21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62" name="Google Shape;162;g3a7c50a7b14_0_21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3" name="Google Shape;163;g3a7c50a7b14_0_2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7c50a7b14_0_22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6" name="Google Shape;166;g3a7c50a7b14_0_22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c50a7b14_0_22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a7c50a7b14_0_22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70" name="Google Shape;170;g3a7c50a7b14_0_22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1" name="Google Shape;171;g3a7c50a7b14_0_22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2" name="Google Shape;172;g3a7c50a7b14_0_2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c50a7b14_0_23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5" name="Google Shape;175;g3a7c50a7b14_0_2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7c50a7b14_0_23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78" name="Google Shape;178;g3a7c50a7b14_0_23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9" name="Google Shape;179;g3a7c50a7b14_0_23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7c50a7b14_0_23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c50a7b14_0_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a7c50a7b14_0_3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a7c50a7b14_0_3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c50a7b14_0_1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g3a7c50a7b14_0_1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g3a7c50a7b14_0_1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87" name="Google Shape;18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October 2024</a:t>
            </a:r>
            <a:endParaRPr b="0" i="0" sz="226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"/>
          <p:cNvSpPr txBox="1"/>
          <p:nvPr/>
        </p:nvSpPr>
        <p:spPr>
          <a:xfrm>
            <a:off x="4719950" y="1537978"/>
            <a:ext cx="72156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4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 DU PEV</a:t>
            </a:r>
            <a:endParaRPr b="1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&amp; Evaluation: </a:t>
            </a:r>
            <a:endParaRPr b="1" i="1" sz="36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et </a:t>
            </a:r>
            <a:r>
              <a:rPr b="1" i="1" lang="en-US" sz="36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décisions de la revue 2024</a:t>
            </a: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4719950" y="4765050"/>
            <a:ext cx="299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28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r>
              <a:rPr b="1" i="0" lang="en-US" sz="32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7c50a7b14_0_185"/>
          <p:cNvSpPr txBox="1"/>
          <p:nvPr>
            <p:ph type="title"/>
          </p:nvPr>
        </p:nvSpPr>
        <p:spPr>
          <a:xfrm>
            <a:off x="179200" y="1541242"/>
            <a:ext cx="113607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7c50a7b14_0_39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Gouvernance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a7c50a7b14_0_39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a7c50a7b14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a7c50a7b14_0_39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6" name="Google Shape;206;g3a7c50a7b14_0_393"/>
          <p:cNvGraphicFramePr/>
          <p:nvPr/>
        </p:nvGraphicFramePr>
        <p:xfrm>
          <a:off x="235475" y="138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1193575"/>
                <a:gridCol w="2234825"/>
                <a:gridCol w="2227775"/>
                <a:gridCol w="1399075"/>
                <a:gridCol w="1058175"/>
                <a:gridCol w="1275050"/>
                <a:gridCol w="908975"/>
                <a:gridCol w="166675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Recommendation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Echeance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06:0:7"/>
                      </a:ext>
                    </a:extLst>
                  </a:tcPr>
                </a:tc>
              </a:tr>
              <a:tr h="13335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Gouvernance et Leadership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20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Retard dans le dépôt des listes des prestataires, echec de paiement des prestataires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Mettre en place un fichier unique des prestataires à tous les niveaux pour les AVS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Fichier unique disponible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SG/Dir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T1-T2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  <a:extLst>
                      <a:ext uri="http://customooxmlschemas.google.com/">
                        <go:slidesCustomData xmlns:go="http://customooxmlschemas.google.com/" cellId="20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Plusieurs initiatices en cours pour le paiement par mobile money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1:7"/>
                      </a:ext>
                    </a:extLst>
                  </a:tcPr>
                </a:tc>
              </a:tr>
              <a:tr h="1314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Décalage de planification entre le niveau central et provincial, cassure d'information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Harmoniser les cycles de planification entre le niveau Central et les provinces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Planification harmonisée entre le niveau central et provincial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4"/>
                    </a:solidFill>
                    <a:extLst>
                      <a:ext uri="http://customooxmlschemas.google.com/">
                        <go:slidesCustomData xmlns:go="http://customooxmlschemas.google.com/" cellId="20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Harmonisation dy cyle de planification en cours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6:2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c543e2b9_0_5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Prestation de services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a7c543e2b9_0_5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a7c543e2b9_0_5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a7c543e2b9_0_5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g3a7c543e2b9_0_58"/>
          <p:cNvGraphicFramePr/>
          <p:nvPr/>
        </p:nvGraphicFramePr>
        <p:xfrm>
          <a:off x="235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1394425"/>
                <a:gridCol w="1945575"/>
                <a:gridCol w="1926275"/>
                <a:gridCol w="1261525"/>
                <a:gridCol w="1471750"/>
                <a:gridCol w="1164625"/>
                <a:gridCol w="816100"/>
                <a:gridCol w="19839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Recommendation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Echeance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15:0:7"/>
                      </a:ext>
                    </a:extLst>
                  </a:tcPr>
                </a:tc>
              </a:tr>
              <a:tr h="1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21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 maîtrise du dénominateur lors des AVS et en routine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Organiser une microplanification intégré à la base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Microplan disponible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CDT/CDA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  <a:extLst>
                      <a:ext uri="http://customooxmlschemas.google.com/">
                        <go:slidesCustomData xmlns:go="http://customooxmlschemas.google.com/" cellId="21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 ZS sur 519 ZS ont transmis les données des micro plans intégrés en ligne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antennes sur 46 ont transmis la synthèse des micro plans (Lisala, Bumba , Tshumbe et Nord Ubangi)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15:1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7c543e2b9_0_6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Logistique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a7c543e2b9_0_6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a7c543e2b9_0_6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a7c543e2b9_0_6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g3a7c543e2b9_0_66"/>
          <p:cNvGraphicFramePr/>
          <p:nvPr/>
        </p:nvGraphicFramePr>
        <p:xfrm>
          <a:off x="235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1394425"/>
                <a:gridCol w="1945575"/>
                <a:gridCol w="1926275"/>
                <a:gridCol w="1261525"/>
                <a:gridCol w="1471750"/>
                <a:gridCol w="1164625"/>
                <a:gridCol w="816100"/>
                <a:gridCol w="19839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Recommendation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Echeance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24:0:7"/>
                      </a:ext>
                    </a:extLst>
                  </a:tcPr>
                </a:tc>
              </a:tr>
              <a:tr h="1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Logistique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22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Réfrigérateurs en panne dans plusieurs AS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Faire un état de lieux de tous les réfrigérateurs du pays et envisager la réparation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Proportion des réfrigérateurs en panne réparés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Logistique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  <a:extLst>
                      <a:ext uri="http://customooxmlschemas.google.com/">
                        <go:slidesCustomData xmlns:go="http://customooxmlschemas.google.com/" cellId="22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1536 réfrigérateurs répertoriés et 113 réparés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4:1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7c543e2b9_0_74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Suivi et évaluation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g3a7c543e2b9_0_7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a7c543e2b9_0_7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a7c543e2b9_0_7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g3a7c543e2b9_0_74"/>
          <p:cNvGraphicFramePr/>
          <p:nvPr/>
        </p:nvGraphicFramePr>
        <p:xfrm>
          <a:off x="235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1394425"/>
                <a:gridCol w="1945575"/>
                <a:gridCol w="1926275"/>
                <a:gridCol w="1261525"/>
                <a:gridCol w="1471750"/>
                <a:gridCol w="1164625"/>
                <a:gridCol w="816100"/>
                <a:gridCol w="19839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Recommendation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Echeance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33:0:7"/>
                      </a:ext>
                    </a:extLst>
                  </a:tcPr>
                </a:tc>
              </a:tr>
              <a:tr h="1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Suivi et évaluation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23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redevabilité des antennes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Partager trimestriellement les rapports d’activités de vaccination des antennes avec la direction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Promotions des antennes ayant rapportés dans le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délai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Chaque trimestre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  <a:extLst>
                      <a:ext uri="http://customooxmlschemas.google.com/">
                        <go:slidesCustomData xmlns:go="http://customooxmlschemas.google.com/" cellId="233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Rapport annuel 2024: 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rapports (4 coordinations, 14 antenn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T1 2025: 3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rapports (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coordinations, 34 antennes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 2025: 2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rapports (1 coordinatio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n, 24 antennes)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T3 2025: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rapports (1 coordination, 7 antennes)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7c543e2b9_0_82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recommandations de la revue 2024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| Suivi et évaluation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g3a7c543e2b9_0_8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3a7c543e2b9_0_8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3a7c543e2b9_0_8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2" name="Google Shape;242;g3a7c543e2b9_0_82"/>
          <p:cNvGraphicFramePr/>
          <p:nvPr/>
        </p:nvGraphicFramePr>
        <p:xfrm>
          <a:off x="235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1394425"/>
                <a:gridCol w="1945575"/>
                <a:gridCol w="1926275"/>
                <a:gridCol w="1261525"/>
                <a:gridCol w="1471750"/>
                <a:gridCol w="1164625"/>
                <a:gridCol w="816100"/>
                <a:gridCol w="1983900"/>
              </a:tblGrid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Recommendation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Echeance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42:0:7"/>
                      </a:ext>
                    </a:extLst>
                  </a:tcPr>
                </a:tc>
              </a:tr>
              <a:tr h="1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Suivi et évaluation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  <a:extLst>
                      <a:ext uri="http://customooxmlschemas.google.com/">
                        <go:slidesCustomData xmlns:go="http://customooxmlschemas.google.com/" cellId="24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Faible redevabilité des antennes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Partager trimestriellement les rapports d’activités de vaccination des antennes avec la direction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Promotions des antennes ayant rapportés dans le 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délai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Chaque trimestre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  <a:extLst>
                      <a:ext uri="http://customooxmlschemas.google.com/">
                        <go:slidesCustomData xmlns:go="http://customooxmlschemas.google.com/" cellId="24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Rapport annuel 2024: 14; rapport T1 2025: 34 antennes; rapport T2 2025: 23 antennes; rapport T3 2025: 6 antennes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42:1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7c5588b4c_0_0"/>
          <p:cNvSpPr txBox="1"/>
          <p:nvPr>
            <p:ph type="title"/>
          </p:nvPr>
        </p:nvSpPr>
        <p:spPr>
          <a:xfrm>
            <a:off x="179200" y="1541242"/>
            <a:ext cx="113607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des décisions de la revue 2024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7c543e2b9_0_9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Suivi décisions de la revue 2024 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g3a7c543e2b9_0_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a7c543e2b9_0_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3a7c543e2b9_0_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6" name="Google Shape;256;g3a7c543e2b9_0_90"/>
          <p:cNvGraphicFramePr/>
          <p:nvPr/>
        </p:nvGraphicFramePr>
        <p:xfrm>
          <a:off x="225975" y="108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{47D8B065-BF99-497B-BCA4-A35E4409C4D5}</a:tableStyleId>
              </a:tblPr>
              <a:tblGrid>
                <a:gridCol w="382850"/>
                <a:gridCol w="3357125"/>
                <a:gridCol w="1860050"/>
                <a:gridCol w="1286650"/>
                <a:gridCol w="1158075"/>
                <a:gridCol w="945675"/>
                <a:gridCol w="2956325"/>
              </a:tblGrid>
              <a:tr h="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Responsable demandé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Décideur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Echéance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commentaires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  <a:extLst>
                      <a:ext uri="http://customooxmlschemas.google.com/">
                        <go:slidesCustomData xmlns:go="http://customooxmlschemas.google.com/" cellId="256:0:6"/>
                      </a:ext>
                    </a:extLst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Mener une réflexion sur la production des vaccins en RDC</a:t>
                      </a:r>
                      <a:endParaRPr sz="1800" u="none" cap="none" strike="noStrike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Directeur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Ministre de la Santé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4"/>
                    </a:solidFill>
                    <a:extLst>
                      <a:ext uri="http://customooxmlschemas.google.com/">
                        <go:slidesCustomData xmlns:go="http://customooxmlschemas.google.com/" cellId="25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Visite de prospection par le directeur et plaidoyer pour l’accompagnement d’Africa CDC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1:6"/>
                      </a:ext>
                    </a:extLst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Mener une réflexion sur les procédures d’allégement de décaissement de fonds dans les provinces MoU</a:t>
                      </a:r>
                      <a:endParaRPr sz="1800" u="none" cap="none" strike="noStrike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Directeur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Ministre de la Santé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  <a:extLst>
                      <a:ext uri="http://customooxmlschemas.google.com/">
                        <go:slidesCustomData xmlns:go="http://customooxmlschemas.google.com/" cellId="25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 réunions de suivi ont été tenu (Réunion de coordination, CCPeV stratégique et technique)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2:6"/>
                      </a:ext>
                    </a:extLst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Mettre en place des commissions mixtes IPS , DPS et les PTFs pour le suivi des paiements des AVS</a:t>
                      </a:r>
                      <a:endParaRPr sz="1800" u="none" cap="none" strike="noStrike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Directeur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Ministre de la Santé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  <a:extLst>
                      <a:ext uri="http://customooxmlschemas.google.com/">
                        <go:slidesCustomData xmlns:go="http://customooxmlschemas.google.com/" cellId="25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3:6"/>
                      </a:ext>
                    </a:extLst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Rappeler et vulgariser les documents de postes et bonne conduite et pratiques aux cadres du PEV</a:t>
                      </a:r>
                      <a:endParaRPr sz="1800" u="none" cap="none" strike="noStrike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Directeur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Ministre de la Santé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  <a:extLst>
                      <a:ext uri="http://customooxmlschemas.google.com/">
                        <go:slidesCustomData xmlns:go="http://customooxmlschemas.google.com/" cellId="25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ancien document decrivant les postes a été partagé avec tous les agents du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4:6"/>
                      </a:ext>
                    </a:extLst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Mener un plaidoyer auprès de l'autorité pour la signature du projet d’arrêté de CCPeV</a:t>
                      </a:r>
                      <a:endParaRPr sz="1800" u="none" cap="none" strike="noStrike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Directeur PEV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SG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T1 2025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  <a:extLst>
                      <a:ext uri="http://customooxmlschemas.google.com/">
                        <go:slidesCustomData xmlns:go="http://customooxmlschemas.google.com/" cellId="25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6:5:6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7c546b70d_0_85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53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a7c546b70d_0_85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a7c546b70d_0_85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F07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7c5609517_0_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Rapportage trimestriel des antennes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g3a7c5609517_0_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g3a7c5609517_0_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3a7c5609517_0_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a7c5609517_0_0" title="Screenshot 2025-12-15 at 08.33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855241"/>
            <a:ext cx="11617055" cy="548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7c5609517_0_1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Rapportage trimestriel des antennes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g3a7c5609517_0_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3a7c5609517_0_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g3a7c5609517_0_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a7c5609517_0_10" title="Screenshot 2025-12-15 at 08.34.09.png"/>
          <p:cNvPicPr preferRelativeResize="0"/>
          <p:nvPr/>
        </p:nvPicPr>
        <p:blipFill rotWithShape="1">
          <a:blip r:embed="rId3">
            <a:alphaModFix/>
          </a:blip>
          <a:srcRect b="0" l="99" r="109" t="0"/>
          <a:stretch/>
        </p:blipFill>
        <p:spPr>
          <a:xfrm>
            <a:off x="387900" y="855241"/>
            <a:ext cx="11617055" cy="54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3084-12.2.0.23131</vt:lpwstr>
  </property>
  <property fmtid="{D5CDD505-2E9C-101B-9397-08002B2CF9AE}" pid="3" name="ICV">
    <vt:lpwstr>864046617A2A49699922BB4C2C890CB9_13</vt:lpwstr>
  </property>
</Properties>
</file>