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9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hNI/aU1cRjrhW1Eh8PUTZOxefv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541FC9-F02A-43B8-B200-78C96D1D1AE5}">
  <a:tblStyle styleId="{66541FC9-F02A-43B8-B200-78C96D1D1AE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82BC3781-0679-4D28-80CC-F76C388936A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2B47075-A97A-4EE4-B61A-65A12A501A06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E5305DD-2C2E-4EF4-BEE8-93DA2D482E71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D6EFA46-F15F-495A-88E2-6BB3AD5D29DE}" styleName="Table_4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Yahe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7c511620c_0_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a7c511620c_0_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7c543e2b9_0_32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a7c543e2b9_0_3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75" lIns="97375" spcFirstLastPara="1" rIns="97375" wrap="square" tIns="97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c546b70d_0_95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a7c546b70d_0_95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7c50a7b14_0_30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a7c50a7b14_0_30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7c50a7b14_0_48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a7c50a7b14_0_48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7c50a7b14_0_45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a7c50a7b14_0_45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7c546b70d_0_215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a7c546b70d_0_215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7c546b70d_0_25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a7c546b70d_0_25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7c546b70d_0_27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a7c546b70d_0_27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7c50a7b14_0_585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a7c50a7b14_0_585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75" lIns="97375" spcFirstLastPara="1" rIns="97375" wrap="square" tIns="97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7c50a7b14_2_32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a7c50a7b14_2_3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7c546b70d_0_91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a7c546b70d_0_91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7c546b70d_0_93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a7c546b70d_0_93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7c50a7b14_2_41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a7c50a7b14_2_41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7c546b70d_0_73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a7c546b70d_0_73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7c546b70d_0_76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a7c546b70d_0_76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7c546b70d_0_77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a7c546b70d_0_77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7c546b70d_0_79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a7c546b70d_0_79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7c50a7b14_2_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a7c50a7b14_2_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7c50a7b14_2_99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a7c50a7b14_2_9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75" lIns="97375" spcFirstLastPara="1" rIns="97375" wrap="square" tIns="97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7c50a7b14_2_72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a7c50a7b14_2_7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7c50a7b14_2_6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a7c50a7b14_2_6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7c546b70d_0_80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a7c546b70d_0_80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7c546b70d_0_28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a7c546b70d_0_28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7c546b70d_0_31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a7c546b70d_0_31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7c546b70d_0_405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a7c546b70d_0_405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7c546b70d_0_47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a7c546b70d_0_47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7c546b70d_0_521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a7c546b70d_0_521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7c546b70d_0_58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a7c546b70d_0_58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7c546b70d_0_54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a7c546b70d_0_54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7c546b70d_0_59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a7c546b70d_0_59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7c546b70d_0_56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a7c546b70d_0_56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7c546b70d_0_61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a7c546b70d_0_61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7c546b70d_0_74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g3a7c546b70d_0_74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7c546b70d_0_94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3a7c546b70d_0_94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7c546b70d_0_81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a7c546b70d_0_81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7c546b70d_0_82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a7c546b70d_0_82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a7c546b70d_0_83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g3a7c546b70d_0_83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7c546b70d_0_852:notes"/>
          <p:cNvSpPr/>
          <p:nvPr>
            <p:ph idx="2" type="sldImg"/>
          </p:nvPr>
        </p:nvSpPr>
        <p:spPr>
          <a:xfrm>
            <a:off x="396296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g3a7c546b70d_0_85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c50a7b14_0_3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2" name="Google Shape;82;g3a7c50a7b14_0_3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3" name="Google Shape;83;g3a7c50a7b14_0_3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7c50a7b14_0_31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a7c50a7b14_0_31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a7c50a7b14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c50a7b14_0_32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g3a7c50a7b14_0_3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c50a7b14_0_3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a7c50a7b14_0_32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4" name="Google Shape;94;g3a7c50a7b14_0_32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a7c50a7b14_0_3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7c50a7b14_0_3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g3a7c50a7b14_0_3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c50a7b14_0_33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1" name="Google Shape;101;g3a7c50a7b14_0_336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" name="Google Shape;102;g3a7c50a7b14_0_33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c50a7b14_0_34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5" name="Google Shape;105;g3a7c50a7b14_0_3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c50a7b14_0_34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7c50a7b14_0_343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9" name="Google Shape;109;g3a7c50a7b14_0_343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a7c50a7b14_0_343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1" name="Google Shape;111;g3a7c50a7b14_0_3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c50a7b14_0_349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4" name="Google Shape;114;g3a7c50a7b14_0_34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c50a7b14_0_352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7" name="Google Shape;117;g3a7c50a7b14_0_352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8" name="Google Shape;118;g3a7c50a7b14_0_3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c50a7b14_0_3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c50a7b14_0_358"/>
          <p:cNvSpPr txBox="1"/>
          <p:nvPr>
            <p:ph idx="1" type="body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g3a7c50a7b14_0_358"/>
          <p:cNvSpPr txBox="1"/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g3a7c50a7b14_0_358"/>
          <p:cNvSpPr txBox="1"/>
          <p:nvPr>
            <p:ph idx="10" type="dt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a7c50a7b14_0_358"/>
          <p:cNvSpPr txBox="1"/>
          <p:nvPr>
            <p:ph idx="12" type="sldNum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a7c50a7b14_0_358"/>
          <p:cNvSpPr txBox="1"/>
          <p:nvPr>
            <p:ph idx="11" type="ftr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_3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50a7b14_0_364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a7c50a7b14_0_36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a7c50a7b14_0_364"/>
          <p:cNvSpPr txBox="1"/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c50a7b14_0_19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g3a7c50a7b14_0_19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8" name="Google Shape;138;g3a7c50a7b14_0_1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7c50a7b14_0_19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41" name="Google Shape;141;g3a7c50a7b14_0_19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2" name="Google Shape;142;g3a7c50a7b14_0_1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7c50a7b14_0_201"/>
          <p:cNvSpPr txBox="1"/>
          <p:nvPr>
            <p:ph type="title"/>
          </p:nvPr>
        </p:nvSpPr>
        <p:spPr>
          <a:xfrm>
            <a:off x="415627" y="593367"/>
            <a:ext cx="11361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g3a7c50a7b14_0_201"/>
          <p:cNvSpPr txBox="1"/>
          <p:nvPr>
            <p:ph idx="1" type="body"/>
          </p:nvPr>
        </p:nvSpPr>
        <p:spPr>
          <a:xfrm>
            <a:off x="415627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46" name="Google Shape;146;g3a7c50a7b14_0_20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g3a7c50a7b14_0_20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g3a7c50a7b14_0_201"/>
          <p:cNvSpPr txBox="1"/>
          <p:nvPr>
            <p:ph idx="12" type="sldNum"/>
          </p:nvPr>
        </p:nvSpPr>
        <p:spPr>
          <a:xfrm>
            <a:off x="1129733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7c50a7b14_0_207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1" name="Google Shape;151;g3a7c50a7b14_0_20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7c50a7b14_0_2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4" name="Google Shape;154;g3a7c50a7b14_0_21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5" name="Google Shape;155;g3a7c50a7b14_0_21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6" name="Google Shape;156;g3a7c50a7b14_0_21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7c50a7b14_0_2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9" name="Google Shape;159;g3a7c50a7b14_0_2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c50a7b14_0_21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62" name="Google Shape;162;g3a7c50a7b14_0_21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63" name="Google Shape;163;g3a7c50a7b14_0_2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7c50a7b14_0_22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6" name="Google Shape;166;g3a7c50a7b14_0_22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c50a7b14_0_22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a7c50a7b14_0_22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70" name="Google Shape;170;g3a7c50a7b14_0_22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1" name="Google Shape;171;g3a7c50a7b14_0_22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2" name="Google Shape;172;g3a7c50a7b14_0_2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7c50a7b14_0_23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75" name="Google Shape;175;g3a7c50a7b14_0_2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7c50a7b14_0_23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78" name="Google Shape;178;g3a7c50a7b14_0_23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9" name="Google Shape;179;g3a7c50a7b14_0_23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7c50a7b14_0_23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c50a7b14_0_3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a7c50a7b14_0_3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a7c50a7b14_0_3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c50a7b14_0_1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g3a7c50a7b14_0_18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g3a7c50a7b14_0_1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spreadsheets/d/1voybQO9lZqP8PrXt1hlk6M3lFgE1B6pk9pd0tu7Jw04/edit?usp=sharing" TargetMode="External"/><Relationship Id="rId4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87" name="Google Shape;18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6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October 2024</a:t>
            </a:r>
            <a:endParaRPr b="0" i="0" sz="226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"/>
          <p:cNvPicPr preferRelativeResize="0"/>
          <p:nvPr/>
        </p:nvPicPr>
        <p:blipFill rotWithShape="1">
          <a:blip r:embed="rId3">
            <a:alphaModFix/>
          </a:blip>
          <a:srcRect b="0" l="-17785" r="0" t="0"/>
          <a:stretch/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"/>
          <p:cNvSpPr txBox="1"/>
          <p:nvPr/>
        </p:nvSpPr>
        <p:spPr>
          <a:xfrm>
            <a:off x="4719950" y="1537978"/>
            <a:ext cx="72156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4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2025 DU PEV</a:t>
            </a:r>
            <a:endParaRPr b="1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4719955" y="33839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&amp; Evaluation: </a:t>
            </a:r>
            <a:endParaRPr b="1" i="1" sz="36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Où en sommes nous?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4719950" y="4765050"/>
            <a:ext cx="299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28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r>
              <a:rPr b="1" i="0" lang="en-US" sz="32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7c511620c_0_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presentation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3a7c511620c_0_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3a7c511620c_0_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3a7c511620c_0_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a7c511620c_0_0"/>
          <p:cNvSpPr txBox="1"/>
          <p:nvPr/>
        </p:nvSpPr>
        <p:spPr>
          <a:xfrm>
            <a:off x="458600" y="1095800"/>
            <a:ext cx="11328900" cy="4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3550" lvl="0" marL="8001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500"/>
              <a:buFont typeface="Times New Roman"/>
              <a:buAutoNum type="arabicPeriod"/>
            </a:pPr>
            <a:r>
              <a:rPr b="0" i="0" lang="en-US" sz="2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Niveau de réalisation des objectifs du PAO 2025</a:t>
            </a:r>
            <a:endParaRPr b="0" i="0" sz="2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3550" lvl="0" marL="8001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500"/>
              <a:buFont typeface="Times New Roman"/>
              <a:buAutoNum type="arabicPeriod"/>
            </a:pPr>
            <a:r>
              <a:rPr b="0" i="0" lang="en-US" sz="2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endParaRPr b="0" i="0" sz="2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1" marL="1219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Financement du PAO 2025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1" marL="1219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1" marL="1219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Zoom sur les activités critiques non réalisés: activités et causes détaillés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1" marL="1219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Niveau de mise en oeuvre par agence de gestion des fonds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3550" lvl="0" marL="8001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500"/>
              <a:buFont typeface="Times New Roman"/>
              <a:buAutoNum type="arabicPeriod"/>
            </a:pPr>
            <a:r>
              <a:rPr b="0" i="0" lang="en-US" sz="2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Statut de fonctionnalité des antennes</a:t>
            </a:r>
            <a:endParaRPr b="0" i="0" sz="2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3550" lvl="0" marL="8001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500"/>
              <a:buFont typeface="Times New Roman"/>
              <a:buAutoNum type="arabicPeriod"/>
            </a:pPr>
            <a:r>
              <a:rPr b="0" i="0" lang="en-US" sz="2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Principaux résultats par groupes thématiques</a:t>
            </a:r>
            <a:endParaRPr b="0" i="0" sz="2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7c543e2b9_0_32"/>
          <p:cNvSpPr txBox="1"/>
          <p:nvPr>
            <p:ph type="title"/>
          </p:nvPr>
        </p:nvSpPr>
        <p:spPr>
          <a:xfrm>
            <a:off x="241100" y="2655367"/>
            <a:ext cx="113607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réalisation des objectifs du PAO 2025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c546b70d_0_95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Prestation de services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a7c546b70d_0_95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a7c546b70d_0_95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3a7c546b70d_0_95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g3a7c546b70d_0_95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g3a7c546b70d_0_95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DHIS2 , calculus avec les cibles ajustées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a7c546b70d_0_959"/>
          <p:cNvSpPr txBox="1"/>
          <p:nvPr/>
        </p:nvSpPr>
        <p:spPr>
          <a:xfrm>
            <a:off x="458600" y="1060350"/>
            <a:ext cx="11274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Objectifs: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Réduire de 20% à 10% le nombre d’enfants 0 dose et de 42% à 25% le nombre d’enfants sous-vaccinés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8" name="Google Shape;218;g3a7c546b70d_0_959"/>
          <p:cNvGrpSpPr/>
          <p:nvPr/>
        </p:nvGrpSpPr>
        <p:grpSpPr>
          <a:xfrm>
            <a:off x="661598" y="2377270"/>
            <a:ext cx="3028443" cy="3889565"/>
            <a:chOff x="661600" y="2129048"/>
            <a:chExt cx="3221748" cy="4137835"/>
          </a:xfrm>
        </p:grpSpPr>
        <p:cxnSp>
          <p:nvCxnSpPr>
            <p:cNvPr id="219" name="Google Shape;219;g3a7c546b70d_0_959"/>
            <p:cNvCxnSpPr/>
            <p:nvPr/>
          </p:nvCxnSpPr>
          <p:spPr>
            <a:xfrm rot="10800000">
              <a:off x="1533050" y="2263000"/>
              <a:ext cx="662400" cy="0"/>
            </a:xfrm>
            <a:prstGeom prst="straightConnector1">
              <a:avLst/>
            </a:prstGeom>
            <a:noFill/>
            <a:ln cap="flat" cmpd="sng" w="10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20" name="Google Shape;220;g3a7c546b70d_0_959" title="Chart"/>
            <p:cNvPicPr preferRelativeResize="0"/>
            <p:nvPr/>
          </p:nvPicPr>
          <p:blipFill rotWithShape="1">
            <a:blip r:embed="rId3">
              <a:alphaModFix/>
            </a:blip>
            <a:srcRect b="5077" l="28238" r="24085" t="23611"/>
            <a:stretch/>
          </p:blipFill>
          <p:spPr>
            <a:xfrm>
              <a:off x="661600" y="2725950"/>
              <a:ext cx="3221748" cy="2979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1" name="Google Shape;221;g3a7c546b70d_0_959"/>
            <p:cNvGrpSpPr/>
            <p:nvPr/>
          </p:nvGrpSpPr>
          <p:grpSpPr>
            <a:xfrm>
              <a:off x="774802" y="2129048"/>
              <a:ext cx="2969284" cy="4137835"/>
              <a:chOff x="5773352" y="1129320"/>
              <a:chExt cx="2594620" cy="3615724"/>
            </a:xfrm>
          </p:grpSpPr>
          <p:grpSp>
            <p:nvGrpSpPr>
              <p:cNvPr id="222" name="Google Shape;222;g3a7c546b70d_0_959"/>
              <p:cNvGrpSpPr/>
              <p:nvPr/>
            </p:nvGrpSpPr>
            <p:grpSpPr>
              <a:xfrm>
                <a:off x="6432364" y="1129320"/>
                <a:ext cx="1264877" cy="1492006"/>
                <a:chOff x="6432364" y="900720"/>
                <a:chExt cx="1264877" cy="1492006"/>
              </a:xfrm>
            </p:grpSpPr>
            <p:cxnSp>
              <p:nvCxnSpPr>
                <p:cNvPr id="223" name="Google Shape;223;g3a7c546b70d_0_959"/>
                <p:cNvCxnSpPr/>
                <p:nvPr/>
              </p:nvCxnSpPr>
              <p:spPr>
                <a:xfrm rot="10800000">
                  <a:off x="7118540" y="1026093"/>
                  <a:ext cx="578700" cy="0"/>
                </a:xfrm>
                <a:prstGeom prst="straightConnector1">
                  <a:avLst/>
                </a:prstGeom>
                <a:noFill/>
                <a:ln cap="flat" cmpd="sng" w="10250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224" name="Google Shape;224;g3a7c546b70d_0_959"/>
                <p:cNvGrpSpPr/>
                <p:nvPr/>
              </p:nvGrpSpPr>
              <p:grpSpPr>
                <a:xfrm>
                  <a:off x="6432364" y="900720"/>
                  <a:ext cx="1252534" cy="1492006"/>
                  <a:chOff x="6432364" y="900720"/>
                  <a:chExt cx="1252534" cy="1492006"/>
                </a:xfrm>
              </p:grpSpPr>
              <p:cxnSp>
                <p:nvCxnSpPr>
                  <p:cNvPr id="225" name="Google Shape;225;g3a7c546b70d_0_959"/>
                  <p:cNvCxnSpPr/>
                  <p:nvPr/>
                </p:nvCxnSpPr>
                <p:spPr>
                  <a:xfrm rot="10800000">
                    <a:off x="6432364" y="1017046"/>
                    <a:ext cx="0" cy="499500"/>
                  </a:xfrm>
                  <a:prstGeom prst="straightConnector1">
                    <a:avLst/>
                  </a:prstGeom>
                  <a:noFill/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6" name="Google Shape;226;g3a7c546b70d_0_959"/>
                  <p:cNvCxnSpPr/>
                  <p:nvPr/>
                </p:nvCxnSpPr>
                <p:spPr>
                  <a:xfrm rot="10800000">
                    <a:off x="7684898" y="1016926"/>
                    <a:ext cx="0" cy="1375800"/>
                  </a:xfrm>
                  <a:prstGeom prst="straightConnector1">
                    <a:avLst/>
                  </a:prstGeom>
                  <a:noFill/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227" name="Google Shape;227;g3a7c546b70d_0_959"/>
                  <p:cNvSpPr/>
                  <p:nvPr/>
                </p:nvSpPr>
                <p:spPr>
                  <a:xfrm>
                    <a:off x="6737022" y="900720"/>
                    <a:ext cx="643200" cy="322800"/>
                  </a:xfrm>
                  <a:prstGeom prst="ellipse">
                    <a:avLst/>
                  </a:prstGeom>
                  <a:solidFill>
                    <a:srgbClr val="D9EAD3"/>
                  </a:solidFill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8350" lIns="98350" spcFirstLastPara="1" rIns="98350" wrap="square" tIns="9835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91"/>
                      <a:buFont typeface="Arial"/>
                      <a:buNone/>
                    </a:pPr>
                    <a:r>
                      <a:rPr b="1" lang="en-US" sz="1410">
                        <a:solidFill>
                          <a:srgbClr val="38761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-11</a:t>
                    </a:r>
                    <a:endParaRPr b="1" i="0" sz="1410" u="none" cap="none" strike="noStrike">
                      <a:solidFill>
                        <a:srgbClr val="38761D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228" name="Google Shape;228;g3a7c546b70d_0_959"/>
              <p:cNvSpPr txBox="1"/>
              <p:nvPr/>
            </p:nvSpPr>
            <p:spPr>
              <a:xfrm>
                <a:off x="5773352" y="4253644"/>
                <a:ext cx="1287300" cy="4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8350" lIns="98350" spcFirstLastPara="1" rIns="98350" wrap="square" tIns="983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1"/>
                  <a:buFont typeface="Arial"/>
                  <a:buNone/>
                </a:pPr>
                <a:r>
                  <a:rPr b="1" lang="en-US" sz="1410"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Proportion ZD 2024</a:t>
                </a:r>
                <a:endParaRPr b="0" i="0" sz="141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9" name="Google Shape;229;g3a7c546b70d_0_959"/>
              <p:cNvSpPr txBox="1"/>
              <p:nvPr/>
            </p:nvSpPr>
            <p:spPr>
              <a:xfrm>
                <a:off x="7080673" y="4253644"/>
                <a:ext cx="1287300" cy="4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8350" lIns="98350" spcFirstLastPara="1" rIns="98350" wrap="square" tIns="983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1"/>
                  <a:buFont typeface="Arial"/>
                  <a:buNone/>
                </a:pPr>
                <a:r>
                  <a:rPr b="1" lang="en-US" sz="1410">
                    <a:latin typeface="Times New Roman"/>
                    <a:ea typeface="Times New Roman"/>
                    <a:cs typeface="Times New Roman"/>
                    <a:sym typeface="Times New Roman"/>
                  </a:rPr>
                  <a:t>Proportion ZD 2025</a:t>
                </a:r>
                <a:endParaRPr b="1" sz="141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30" name="Google Shape;230;g3a7c546b70d_0_959"/>
          <p:cNvGrpSpPr/>
          <p:nvPr/>
        </p:nvGrpSpPr>
        <p:grpSpPr>
          <a:xfrm>
            <a:off x="4134171" y="2377281"/>
            <a:ext cx="2791234" cy="3889553"/>
            <a:chOff x="4355827" y="2129061"/>
            <a:chExt cx="2969398" cy="4137822"/>
          </a:xfrm>
        </p:grpSpPr>
        <p:pic>
          <p:nvPicPr>
            <p:cNvPr id="231" name="Google Shape;231;g3a7c546b70d_0_959" title="Chart"/>
            <p:cNvPicPr preferRelativeResize="0"/>
            <p:nvPr/>
          </p:nvPicPr>
          <p:blipFill rotWithShape="1">
            <a:blip r:embed="rId4">
              <a:alphaModFix/>
            </a:blip>
            <a:srcRect b="5234" l="27625" r="24529" t="2121"/>
            <a:stretch/>
          </p:blipFill>
          <p:spPr>
            <a:xfrm>
              <a:off x="4355827" y="2259048"/>
              <a:ext cx="2866251" cy="34318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2" name="Google Shape;232;g3a7c546b70d_0_959"/>
            <p:cNvCxnSpPr/>
            <p:nvPr/>
          </p:nvCxnSpPr>
          <p:spPr>
            <a:xfrm rot="10800000">
              <a:off x="5069263" y="2263013"/>
              <a:ext cx="662400" cy="0"/>
            </a:xfrm>
            <a:prstGeom prst="straightConnector1">
              <a:avLst/>
            </a:prstGeom>
            <a:noFill/>
            <a:ln cap="flat" cmpd="sng" w="10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3" name="Google Shape;233;g3a7c546b70d_0_959"/>
            <p:cNvGrpSpPr/>
            <p:nvPr/>
          </p:nvGrpSpPr>
          <p:grpSpPr>
            <a:xfrm>
              <a:off x="5065200" y="2129061"/>
              <a:ext cx="1447512" cy="1917889"/>
              <a:chOff x="6432375" y="900720"/>
              <a:chExt cx="1264866" cy="1675891"/>
            </a:xfrm>
          </p:grpSpPr>
          <p:cxnSp>
            <p:nvCxnSpPr>
              <p:cNvPr id="234" name="Google Shape;234;g3a7c546b70d_0_959"/>
              <p:cNvCxnSpPr/>
              <p:nvPr/>
            </p:nvCxnSpPr>
            <p:spPr>
              <a:xfrm rot="10800000">
                <a:off x="7118540" y="1026093"/>
                <a:ext cx="578700" cy="0"/>
              </a:xfrm>
              <a:prstGeom prst="straightConnector1">
                <a:avLst/>
              </a:prstGeom>
              <a:noFill/>
              <a:ln cap="flat" cmpd="sng" w="102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35" name="Google Shape;235;g3a7c546b70d_0_959"/>
              <p:cNvGrpSpPr/>
              <p:nvPr/>
            </p:nvGrpSpPr>
            <p:grpSpPr>
              <a:xfrm>
                <a:off x="6432375" y="900720"/>
                <a:ext cx="1252512" cy="1675891"/>
                <a:chOff x="6432375" y="900720"/>
                <a:chExt cx="1252512" cy="1675891"/>
              </a:xfrm>
            </p:grpSpPr>
            <p:cxnSp>
              <p:nvCxnSpPr>
                <p:cNvPr id="236" name="Google Shape;236;g3a7c546b70d_0_959"/>
                <p:cNvCxnSpPr/>
                <p:nvPr/>
              </p:nvCxnSpPr>
              <p:spPr>
                <a:xfrm rot="10800000">
                  <a:off x="6432375" y="1016862"/>
                  <a:ext cx="0" cy="1538100"/>
                </a:xfrm>
                <a:prstGeom prst="straightConnector1">
                  <a:avLst/>
                </a:prstGeom>
                <a:noFill/>
                <a:ln cap="flat" cmpd="sng" w="10250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7" name="Google Shape;237;g3a7c546b70d_0_959"/>
                <p:cNvCxnSpPr/>
                <p:nvPr/>
              </p:nvCxnSpPr>
              <p:spPr>
                <a:xfrm rot="10800000">
                  <a:off x="7684887" y="1016911"/>
                  <a:ext cx="0" cy="1559700"/>
                </a:xfrm>
                <a:prstGeom prst="straightConnector1">
                  <a:avLst/>
                </a:prstGeom>
                <a:noFill/>
                <a:ln cap="flat" cmpd="sng" w="10250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8" name="Google Shape;238;g3a7c546b70d_0_959"/>
                <p:cNvSpPr/>
                <p:nvPr/>
              </p:nvSpPr>
              <p:spPr>
                <a:xfrm>
                  <a:off x="6737022" y="900720"/>
                  <a:ext cx="643200" cy="322800"/>
                </a:xfrm>
                <a:prstGeom prst="ellipse">
                  <a:avLst/>
                </a:prstGeom>
                <a:solidFill>
                  <a:srgbClr val="FFF2CC"/>
                </a:solidFill>
                <a:ln cap="flat" cmpd="sng" w="10250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8350" lIns="98350" spcFirstLastPara="1" rIns="98350" wrap="square" tIns="983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91"/>
                    <a:buFont typeface="Arial"/>
                    <a:buNone/>
                  </a:pPr>
                  <a:r>
                    <a:rPr b="1" lang="en-US" sz="141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</a:t>
                  </a:r>
                  <a:endParaRPr b="1" i="0" sz="141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39" name="Google Shape;239;g3a7c546b70d_0_959"/>
            <p:cNvSpPr txBox="1"/>
            <p:nvPr/>
          </p:nvSpPr>
          <p:spPr>
            <a:xfrm>
              <a:off x="4355827" y="5704383"/>
              <a:ext cx="147330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350" lIns="98350" spcFirstLastPara="1" rIns="98350" wrap="square" tIns="98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1" lang="en-US" sz="1410">
                  <a:latin typeface="Times New Roman"/>
                  <a:ea typeface="Times New Roman"/>
                  <a:cs typeface="Times New Roman"/>
                  <a:sym typeface="Times New Roman"/>
                </a:rPr>
                <a:t>Proportion SV 2024</a:t>
              </a:r>
              <a:endParaRPr b="0" i="0" sz="141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a7c546b70d_0_959"/>
            <p:cNvSpPr txBox="1"/>
            <p:nvPr/>
          </p:nvSpPr>
          <p:spPr>
            <a:xfrm>
              <a:off x="5851925" y="5704383"/>
              <a:ext cx="147330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8350" lIns="98350" spcFirstLastPara="1" rIns="98350" wrap="square" tIns="98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1"/>
                <a:buFont typeface="Arial"/>
                <a:buNone/>
              </a:pPr>
              <a:r>
                <a:rPr b="1" lang="en-US" sz="1410">
                  <a:latin typeface="Times New Roman"/>
                  <a:ea typeface="Times New Roman"/>
                  <a:cs typeface="Times New Roman"/>
                  <a:sym typeface="Times New Roman"/>
                </a:rPr>
                <a:t>Proportion SV 2025</a:t>
              </a:r>
              <a:endParaRPr b="1" sz="141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1" name="Google Shape;241;g3a7c546b70d_0_959"/>
          <p:cNvSpPr txBox="1"/>
          <p:nvPr/>
        </p:nvSpPr>
        <p:spPr>
          <a:xfrm>
            <a:off x="235500" y="1998625"/>
            <a:ext cx="66900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% des enfants de 0 à 11 mois, zeros doses et sous-vaccinés avec cibles ajustées</a:t>
            </a:r>
            <a:endParaRPr i="1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2" name="Google Shape;242;g3a7c546b70d_0_959"/>
          <p:cNvCxnSpPr/>
          <p:nvPr/>
        </p:nvCxnSpPr>
        <p:spPr>
          <a:xfrm>
            <a:off x="235500" y="2216125"/>
            <a:ext cx="6690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g3a7c546b70d_0_959"/>
          <p:cNvSpPr/>
          <p:nvPr/>
        </p:nvSpPr>
        <p:spPr>
          <a:xfrm rot="-5400000">
            <a:off x="7701450" y="1608425"/>
            <a:ext cx="3721800" cy="5259300"/>
          </a:xfrm>
          <a:prstGeom prst="round2SameRect">
            <a:avLst>
              <a:gd fmla="val 8141" name="adj1"/>
              <a:gd fmla="val 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ctr" bIns="65650" lIns="131375" spcFirstLastPara="1" rIns="131375" wrap="square" tIns="6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t/>
            </a:r>
            <a:endParaRPr b="0" i="0" sz="22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a7c546b70d_0_959"/>
          <p:cNvSpPr txBox="1"/>
          <p:nvPr/>
        </p:nvSpPr>
        <p:spPr>
          <a:xfrm>
            <a:off x="7254589" y="2681627"/>
            <a:ext cx="46086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375" lIns="131375" spcFirstLastPara="1" rIns="131375" wrap="square" tIns="131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Fin 2024, 31% des enfants cibles de 0 - 11 mois n’ont pas été atteints au mois d’Octobre 2025 les nons atteints sont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évalués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 à 20% de la cible</a:t>
            </a:r>
            <a:br>
              <a:rPr b="1"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1. Une legere amelioration de l’atteinte des cibles</a:t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2. La stabilisation de la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fidélisation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 pour contenir la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déperdition</a:t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7c50a7b14_0_304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de la demande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g3a7c50a7b14_0_30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g3a7c50a7b14_0_30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a7c50a7b14_0_30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g3a7c50a7b14_0_30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a7c50a7b14_0_30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DHIS2 , </a:t>
            </a: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calculus</a:t>
            </a: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avec les cibles ajustées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g3a7c50a7b14_0_304"/>
          <p:cNvSpPr txBox="1"/>
          <p:nvPr/>
        </p:nvSpPr>
        <p:spPr>
          <a:xfrm>
            <a:off x="458600" y="1060350"/>
            <a:ext cx="11274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Objectifs: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Contribuer à l’augmentation de la couverture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Penta 3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de 58% à 80%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et réduire le taux d’abandon de 20% à &lt;10%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g3a7c50a7b14_0_304"/>
          <p:cNvSpPr txBox="1"/>
          <p:nvPr/>
        </p:nvSpPr>
        <p:spPr>
          <a:xfrm>
            <a:off x="458600" y="1901550"/>
            <a:ext cx="64740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Couverture Penta 3 et taux d’abandon Penta 1 - penta 3 avec cibles ajustées</a:t>
            </a:r>
            <a:endParaRPr i="1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7" name="Google Shape;257;g3a7c50a7b14_0_304"/>
          <p:cNvCxnSpPr/>
          <p:nvPr/>
        </p:nvCxnSpPr>
        <p:spPr>
          <a:xfrm>
            <a:off x="458600" y="2119050"/>
            <a:ext cx="616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8" name="Google Shape;258;g3a7c50a7b14_0_304" title="Chart"/>
          <p:cNvPicPr preferRelativeResize="0"/>
          <p:nvPr/>
        </p:nvPicPr>
        <p:blipFill rotWithShape="1">
          <a:blip r:embed="rId3">
            <a:alphaModFix/>
          </a:blip>
          <a:srcRect b="4104" l="28093" r="22739" t="0"/>
          <a:stretch/>
        </p:blipFill>
        <p:spPr>
          <a:xfrm>
            <a:off x="1340913" y="2280188"/>
            <a:ext cx="2636724" cy="31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a7c50a7b14_0_304"/>
          <p:cNvSpPr txBox="1"/>
          <p:nvPr/>
        </p:nvSpPr>
        <p:spPr>
          <a:xfrm>
            <a:off x="1340925" y="5532000"/>
            <a:ext cx="2636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8350" lIns="98350" spcFirstLastPara="1" rIns="98350" wrap="square" tIns="9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1"/>
              <a:buFont typeface="Arial"/>
              <a:buNone/>
            </a:pPr>
            <a:r>
              <a:rPr b="1" lang="en-US" sz="1410">
                <a:latin typeface="Times New Roman"/>
                <a:ea typeface="Times New Roman"/>
                <a:cs typeface="Times New Roman"/>
                <a:sym typeface="Times New Roman"/>
              </a:rPr>
              <a:t>Niveau objectif de 80% pour le penta 3</a:t>
            </a:r>
            <a:endParaRPr b="1" sz="14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a7c50a7b14_0_304"/>
          <p:cNvSpPr/>
          <p:nvPr/>
        </p:nvSpPr>
        <p:spPr>
          <a:xfrm rot="-5400000">
            <a:off x="7701450" y="1608425"/>
            <a:ext cx="3721800" cy="5259300"/>
          </a:xfrm>
          <a:prstGeom prst="round2SameRect">
            <a:avLst>
              <a:gd fmla="val 8141" name="adj1"/>
              <a:gd fmla="val 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ctr" bIns="65650" lIns="131375" spcFirstLastPara="1" rIns="131375" wrap="square" tIns="6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t/>
            </a:r>
            <a:endParaRPr b="0" i="0" sz="22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a7c50a7b14_0_304"/>
          <p:cNvSpPr txBox="1"/>
          <p:nvPr/>
        </p:nvSpPr>
        <p:spPr>
          <a:xfrm>
            <a:off x="7254589" y="2681627"/>
            <a:ext cx="46086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375" lIns="131375" spcFirstLastPara="1" rIns="131375" wrap="square" tIns="131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Gap de 8 pts pour atteindre l’objectif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Taux d'abandon de 5%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br>
              <a:rPr b="1"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7c50a7b14_0_48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Logistique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g3a7c50a7b14_0_48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a7c50a7b14_0_48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g3a7c50a7b14_0_48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g3a7c50a7b14_0_48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a7c50a7b14_0_48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DHIS2, eSMT, Parsyl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a7c50a7b14_0_489"/>
          <p:cNvSpPr txBox="1"/>
          <p:nvPr/>
        </p:nvSpPr>
        <p:spPr>
          <a:xfrm>
            <a:off x="458600" y="1060350"/>
            <a:ext cx="11274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Objectifs: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Porter de 80% à 100% la disponibilité des stocks de vaccins et intrants à tous les niveaux</a:t>
            </a:r>
            <a:endParaRPr b="1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Porter de 84% à 100% la fonctionnalité des ECF à tous les niveaux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g3a7c50a7b14_0_489"/>
          <p:cNvSpPr txBox="1"/>
          <p:nvPr/>
        </p:nvSpPr>
        <p:spPr>
          <a:xfrm>
            <a:off x="458592" y="2087413"/>
            <a:ext cx="5536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Disponibilités des vaccins dans les ESS , Jan . - Nov. 2025</a:t>
            </a:r>
            <a:endParaRPr i="1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4" name="Google Shape;274;g3a7c50a7b14_0_489"/>
          <p:cNvCxnSpPr/>
          <p:nvPr/>
        </p:nvCxnSpPr>
        <p:spPr>
          <a:xfrm>
            <a:off x="458592" y="2304913"/>
            <a:ext cx="553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g3a7c50a7b14_0_489"/>
          <p:cNvSpPr txBox="1"/>
          <p:nvPr/>
        </p:nvSpPr>
        <p:spPr>
          <a:xfrm>
            <a:off x="6491042" y="2087413"/>
            <a:ext cx="5536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Fonctionnalités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chaîne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 de froid, Jan . - Nov. 2025</a:t>
            </a:r>
            <a:endParaRPr i="1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6" name="Google Shape;276;g3a7c50a7b14_0_489"/>
          <p:cNvCxnSpPr/>
          <p:nvPr/>
        </p:nvCxnSpPr>
        <p:spPr>
          <a:xfrm>
            <a:off x="6491042" y="2304913"/>
            <a:ext cx="553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7" name="Google Shape;277;g3a7c50a7b14_0_489" title="Chart"/>
          <p:cNvPicPr preferRelativeResize="0"/>
          <p:nvPr/>
        </p:nvPicPr>
        <p:blipFill rotWithShape="1">
          <a:blip r:embed="rId3">
            <a:alphaModFix/>
          </a:blip>
          <a:srcRect b="3716" l="13282" r="8261" t="0"/>
          <a:stretch/>
        </p:blipFill>
        <p:spPr>
          <a:xfrm>
            <a:off x="763567" y="2497012"/>
            <a:ext cx="4926849" cy="373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a7c50a7b14_0_489" title="Chart"/>
          <p:cNvPicPr preferRelativeResize="0"/>
          <p:nvPr/>
        </p:nvPicPr>
        <p:blipFill rotWithShape="1">
          <a:blip r:embed="rId4">
            <a:alphaModFix/>
          </a:blip>
          <a:srcRect b="3906" l="29058" r="22998" t="1036"/>
          <a:stretch/>
        </p:blipFill>
        <p:spPr>
          <a:xfrm>
            <a:off x="7493399" y="2497013"/>
            <a:ext cx="2715978" cy="332936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a7c50a7b14_0_489"/>
          <p:cNvSpPr txBox="1"/>
          <p:nvPr/>
        </p:nvSpPr>
        <p:spPr>
          <a:xfrm>
            <a:off x="7533038" y="5706975"/>
            <a:ext cx="2636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8350" lIns="98350" spcFirstLastPara="1" rIns="98350" wrap="square" tIns="9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1"/>
              <a:buFont typeface="Arial"/>
              <a:buNone/>
            </a:pPr>
            <a:r>
              <a:rPr b="1" lang="en-US" sz="1410">
                <a:latin typeface="Times New Roman"/>
                <a:ea typeface="Times New Roman"/>
                <a:cs typeface="Times New Roman"/>
                <a:sym typeface="Times New Roman"/>
              </a:rPr>
              <a:t>Niveau </a:t>
            </a:r>
            <a:r>
              <a:rPr b="1" lang="en-US" sz="1410">
                <a:latin typeface="Times New Roman"/>
                <a:ea typeface="Times New Roman"/>
                <a:cs typeface="Times New Roman"/>
                <a:sym typeface="Times New Roman"/>
              </a:rPr>
              <a:t>global</a:t>
            </a:r>
            <a:r>
              <a:rPr b="1" lang="en-US" sz="1410"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b="1" lang="en-US" sz="1410">
                <a:latin typeface="Times New Roman"/>
                <a:ea typeface="Times New Roman"/>
                <a:cs typeface="Times New Roman"/>
                <a:sym typeface="Times New Roman"/>
              </a:rPr>
              <a:t>fonctionnalité</a:t>
            </a:r>
            <a:r>
              <a:rPr b="1" lang="en-US" sz="1410">
                <a:latin typeface="Times New Roman"/>
                <a:ea typeface="Times New Roman"/>
                <a:cs typeface="Times New Roman"/>
                <a:sym typeface="Times New Roman"/>
              </a:rPr>
              <a:t> de la chaîne de froid</a:t>
            </a:r>
            <a:endParaRPr b="1" sz="14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g3a7c50a7b14_0_489"/>
          <p:cNvSpPr/>
          <p:nvPr/>
        </p:nvSpPr>
        <p:spPr>
          <a:xfrm>
            <a:off x="10319250" y="2598575"/>
            <a:ext cx="1708500" cy="1782600"/>
          </a:xfrm>
          <a:prstGeom prst="wedgeRectCallout">
            <a:avLst>
              <a:gd fmla="val -65104" name="adj1"/>
              <a:gd fmla="val -2526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Gap de 13 pts pour atteindre l’objectif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7c50a7b14_0_457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AVS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g3a7c50a7b14_0_45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g3a7c50a7b14_0_45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g3a7c50a7b14_0_45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g3a7c50a7b14_0_45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g3a7c50a7b14_0_45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1" name="Google Shape;291;g3a7c50a7b14_0_457"/>
          <p:cNvGraphicFramePr/>
          <p:nvPr/>
        </p:nvGraphicFramePr>
        <p:xfrm>
          <a:off x="458580" y="1123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{66541FC9-F02A-43B8-B200-78C96D1D1AE5}</a:tableStyleId>
              </a:tblPr>
              <a:tblGrid>
                <a:gridCol w="3641500"/>
                <a:gridCol w="1986400"/>
                <a:gridCol w="1233825"/>
                <a:gridCol w="4413175"/>
              </a:tblGrid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Objectif / Résultat attendu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Résultats 2024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Résultats 2025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Réduire à moins de 5% la proportion de cibles manquées lors des AVS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de cibles manquées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Char char="●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&lt; 5% pour toutes les campagnes polios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Char char="●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personnes vaccinée 95% LQAS FJ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3429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Réduire la morbidité et la mortalité des maladies évitables par la vaccination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 cas cVDPV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30 cas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8 cas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95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Incidence rougeole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102 539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74 984 (2.2létalité 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86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Taux mortalité Rougeole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2 231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1117 (1.5létalité)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Organiser riposte autour de 80% des cas de Mpox confirmés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cas Mpox confirmés avec riposte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1.493.908 dont 697.178 avec le LC16 (46%)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7c546b70d_0_215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Qualités des données</a:t>
            </a:r>
            <a:endParaRPr b="1"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3a7c546b70d_0_21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3a7c546b70d_0_21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g3a7c546b70d_0_21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g3a7c546b70d_0_215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g3a7c546b70d_0_21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DHIS2 , calculus avec les cibles ajustées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g3a7c546b70d_0_215"/>
          <p:cNvSpPr txBox="1"/>
          <p:nvPr/>
        </p:nvSpPr>
        <p:spPr>
          <a:xfrm>
            <a:off x="458600" y="1060350"/>
            <a:ext cx="11274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Objectifs: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Réduire d’au moins 5 points les écarts entre données administratives et estimations WUENIC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3" name="Google Shape;303;g3a7c546b70d_0_215"/>
          <p:cNvGrpSpPr/>
          <p:nvPr/>
        </p:nvGrpSpPr>
        <p:grpSpPr>
          <a:xfrm>
            <a:off x="235500" y="2352289"/>
            <a:ext cx="3119526" cy="3965322"/>
            <a:chOff x="235500" y="2352289"/>
            <a:chExt cx="3119526" cy="3965322"/>
          </a:xfrm>
        </p:grpSpPr>
        <p:pic>
          <p:nvPicPr>
            <p:cNvPr id="304" name="Google Shape;304;g3a7c546b70d_0_215" title="Chart"/>
            <p:cNvPicPr preferRelativeResize="0"/>
            <p:nvPr/>
          </p:nvPicPr>
          <p:blipFill rotWithShape="1">
            <a:blip r:embed="rId3">
              <a:alphaModFix/>
            </a:blip>
            <a:srcRect b="4962" l="28340" r="24924" t="18332"/>
            <a:stretch/>
          </p:blipFill>
          <p:spPr>
            <a:xfrm>
              <a:off x="235500" y="2623320"/>
              <a:ext cx="3119526" cy="31656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5" name="Google Shape;305;g3a7c546b70d_0_215"/>
            <p:cNvGrpSpPr/>
            <p:nvPr/>
          </p:nvGrpSpPr>
          <p:grpSpPr>
            <a:xfrm>
              <a:off x="334500" y="2352289"/>
              <a:ext cx="2951631" cy="3965322"/>
              <a:chOff x="-1898558" y="2090431"/>
              <a:chExt cx="3140033" cy="4218428"/>
            </a:xfrm>
          </p:grpSpPr>
          <p:cxnSp>
            <p:nvCxnSpPr>
              <p:cNvPr id="306" name="Google Shape;306;g3a7c546b70d_0_215"/>
              <p:cNvCxnSpPr/>
              <p:nvPr/>
            </p:nvCxnSpPr>
            <p:spPr>
              <a:xfrm rot="10800000">
                <a:off x="-1064237" y="2224383"/>
                <a:ext cx="662400" cy="0"/>
              </a:xfrm>
              <a:prstGeom prst="straightConnector1">
                <a:avLst/>
              </a:prstGeom>
              <a:noFill/>
              <a:ln cap="flat" cmpd="sng" w="102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07" name="Google Shape;307;g3a7c546b70d_0_215"/>
              <p:cNvGrpSpPr/>
              <p:nvPr/>
            </p:nvGrpSpPr>
            <p:grpSpPr>
              <a:xfrm>
                <a:off x="-1898558" y="2090431"/>
                <a:ext cx="3140033" cy="4218428"/>
                <a:chOff x="3437315" y="1095576"/>
                <a:chExt cx="2743825" cy="3686148"/>
              </a:xfrm>
            </p:grpSpPr>
            <p:grpSp>
              <p:nvGrpSpPr>
                <p:cNvPr id="308" name="Google Shape;308;g3a7c546b70d_0_215"/>
                <p:cNvGrpSpPr/>
                <p:nvPr/>
              </p:nvGrpSpPr>
              <p:grpSpPr>
                <a:xfrm>
                  <a:off x="4162796" y="1095576"/>
                  <a:ext cx="1264882" cy="1207085"/>
                  <a:chOff x="4162796" y="866976"/>
                  <a:chExt cx="1264882" cy="1207085"/>
                </a:xfrm>
              </p:grpSpPr>
              <p:cxnSp>
                <p:nvCxnSpPr>
                  <p:cNvPr id="309" name="Google Shape;309;g3a7c546b70d_0_215"/>
                  <p:cNvCxnSpPr/>
                  <p:nvPr/>
                </p:nvCxnSpPr>
                <p:spPr>
                  <a:xfrm rot="10800000">
                    <a:off x="4848978" y="992348"/>
                    <a:ext cx="578700" cy="0"/>
                  </a:xfrm>
                  <a:prstGeom prst="straightConnector1">
                    <a:avLst/>
                  </a:prstGeom>
                  <a:noFill/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310" name="Google Shape;310;g3a7c546b70d_0_215"/>
                  <p:cNvGrpSpPr/>
                  <p:nvPr/>
                </p:nvGrpSpPr>
                <p:grpSpPr>
                  <a:xfrm>
                    <a:off x="4162796" y="866976"/>
                    <a:ext cx="1252538" cy="1207085"/>
                    <a:chOff x="4162796" y="866976"/>
                    <a:chExt cx="1252538" cy="1207085"/>
                  </a:xfrm>
                </p:grpSpPr>
                <p:cxnSp>
                  <p:nvCxnSpPr>
                    <p:cNvPr id="311" name="Google Shape;311;g3a7c546b70d_0_215"/>
                    <p:cNvCxnSpPr/>
                    <p:nvPr/>
                  </p:nvCxnSpPr>
                  <p:spPr>
                    <a:xfrm rot="10800000">
                      <a:off x="4162796" y="983254"/>
                      <a:ext cx="0" cy="319800"/>
                    </a:xfrm>
                    <a:prstGeom prst="straightConnector1">
                      <a:avLst/>
                    </a:prstGeom>
                    <a:noFill/>
                    <a:ln cap="flat" cmpd="sng" w="1025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312" name="Google Shape;312;g3a7c546b70d_0_215"/>
                    <p:cNvCxnSpPr/>
                    <p:nvPr/>
                  </p:nvCxnSpPr>
                  <p:spPr>
                    <a:xfrm rot="10800000">
                      <a:off x="5415334" y="982961"/>
                      <a:ext cx="0" cy="1091100"/>
                    </a:xfrm>
                    <a:prstGeom prst="straightConnector1">
                      <a:avLst/>
                    </a:prstGeom>
                    <a:noFill/>
                    <a:ln cap="flat" cmpd="sng" w="1025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313" name="Google Shape;313;g3a7c546b70d_0_215"/>
                    <p:cNvSpPr/>
                    <p:nvPr/>
                  </p:nvSpPr>
                  <p:spPr>
                    <a:xfrm>
                      <a:off x="4467460" y="866976"/>
                      <a:ext cx="643200" cy="322800"/>
                    </a:xfrm>
                    <a:prstGeom prst="ellipse">
                      <a:avLst/>
                    </a:prstGeom>
                    <a:solidFill>
                      <a:srgbClr val="F4CCCC"/>
                    </a:solidFill>
                    <a:ln cap="flat" cmpd="sng" w="10250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8350" lIns="98350" spcFirstLastPara="1" rIns="98350" wrap="square" tIns="9835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91"/>
                        <a:buFont typeface="Arial"/>
                        <a:buNone/>
                      </a:pPr>
                      <a:r>
                        <a:rPr b="1" lang="en-US" sz="141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-28</a:t>
                      </a:r>
                      <a:endParaRPr b="1" i="0" sz="141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</p:grpSp>
            </p:grpSp>
            <p:sp>
              <p:nvSpPr>
                <p:cNvPr id="314" name="Google Shape;314;g3a7c546b70d_0_215"/>
                <p:cNvSpPr txBox="1"/>
                <p:nvPr/>
              </p:nvSpPr>
              <p:spPr>
                <a:xfrm>
                  <a:off x="3437315" y="4290323"/>
                  <a:ext cx="1361400" cy="49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8350" lIns="98350" spcFirstLastPara="1" rIns="98350" wrap="square" tIns="983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91"/>
                    <a:buFont typeface="Arial"/>
                    <a:buNone/>
                  </a:pPr>
                  <a:r>
                    <a:rPr b="1" lang="en-US" sz="141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Penta 3 couverture admin</a:t>
                  </a:r>
                  <a:endParaRPr b="0" i="0" sz="141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15" name="Google Shape;315;g3a7c546b70d_0_215"/>
                <p:cNvSpPr txBox="1"/>
                <p:nvPr/>
              </p:nvSpPr>
              <p:spPr>
                <a:xfrm>
                  <a:off x="4819741" y="4290324"/>
                  <a:ext cx="1361400" cy="491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8350" lIns="98350" spcFirstLastPara="1" rIns="98350" wrap="square" tIns="983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91"/>
                    <a:buFont typeface="Arial"/>
                    <a:buNone/>
                  </a:pPr>
                  <a:r>
                    <a:rPr b="1" lang="en-US" sz="141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Penta 3 couverture ciblée ajustée</a:t>
                  </a:r>
                  <a:endParaRPr b="1" sz="141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sp>
        <p:nvSpPr>
          <p:cNvPr id="316" name="Google Shape;316;g3a7c546b70d_0_215"/>
          <p:cNvSpPr txBox="1"/>
          <p:nvPr/>
        </p:nvSpPr>
        <p:spPr>
          <a:xfrm>
            <a:off x="235500" y="1998625"/>
            <a:ext cx="11274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Ecart couverture administratives  et couverture administrative avec cible ajustée pour Penta 3 et VAR 1</a:t>
            </a:r>
            <a:endParaRPr i="1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7" name="Google Shape;317;g3a7c546b70d_0_215"/>
          <p:cNvCxnSpPr/>
          <p:nvPr/>
        </p:nvCxnSpPr>
        <p:spPr>
          <a:xfrm>
            <a:off x="235500" y="2216125"/>
            <a:ext cx="11274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8" name="Google Shape;318;g3a7c546b70d_0_215"/>
          <p:cNvGrpSpPr/>
          <p:nvPr/>
        </p:nvGrpSpPr>
        <p:grpSpPr>
          <a:xfrm>
            <a:off x="3748247" y="2377284"/>
            <a:ext cx="2791234" cy="3889553"/>
            <a:chOff x="6398010" y="2219981"/>
            <a:chExt cx="2791234" cy="3889553"/>
          </a:xfrm>
        </p:grpSpPr>
        <p:pic>
          <p:nvPicPr>
            <p:cNvPr id="319" name="Google Shape;319;g3a7c546b70d_0_215" title="Chart"/>
            <p:cNvPicPr preferRelativeResize="0"/>
            <p:nvPr/>
          </p:nvPicPr>
          <p:blipFill rotWithShape="1">
            <a:blip r:embed="rId4">
              <a:alphaModFix/>
            </a:blip>
            <a:srcRect b="5226" l="27674" r="24053" t="8095"/>
            <a:stretch/>
          </p:blipFill>
          <p:spPr>
            <a:xfrm>
              <a:off x="6430250" y="2550825"/>
              <a:ext cx="2726751" cy="3027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0" name="Google Shape;320;g3a7c546b70d_0_215"/>
            <p:cNvGrpSpPr/>
            <p:nvPr/>
          </p:nvGrpSpPr>
          <p:grpSpPr>
            <a:xfrm>
              <a:off x="6398010" y="2219981"/>
              <a:ext cx="2791234" cy="3889553"/>
              <a:chOff x="4355827" y="2129061"/>
              <a:chExt cx="2969397" cy="4137822"/>
            </a:xfrm>
          </p:grpSpPr>
          <p:cxnSp>
            <p:nvCxnSpPr>
              <p:cNvPr id="321" name="Google Shape;321;g3a7c546b70d_0_215"/>
              <p:cNvCxnSpPr/>
              <p:nvPr/>
            </p:nvCxnSpPr>
            <p:spPr>
              <a:xfrm rot="10800000">
                <a:off x="5069263" y="2263013"/>
                <a:ext cx="662400" cy="0"/>
              </a:xfrm>
              <a:prstGeom prst="straightConnector1">
                <a:avLst/>
              </a:prstGeom>
              <a:noFill/>
              <a:ln cap="flat" cmpd="sng" w="102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22" name="Google Shape;322;g3a7c546b70d_0_215"/>
              <p:cNvGrpSpPr/>
              <p:nvPr/>
            </p:nvGrpSpPr>
            <p:grpSpPr>
              <a:xfrm>
                <a:off x="5065206" y="2129061"/>
                <a:ext cx="1447507" cy="1350951"/>
                <a:chOff x="6432379" y="900720"/>
                <a:chExt cx="1264861" cy="1180488"/>
              </a:xfrm>
            </p:grpSpPr>
            <p:cxnSp>
              <p:nvCxnSpPr>
                <p:cNvPr id="323" name="Google Shape;323;g3a7c546b70d_0_215"/>
                <p:cNvCxnSpPr/>
                <p:nvPr/>
              </p:nvCxnSpPr>
              <p:spPr>
                <a:xfrm rot="10800000">
                  <a:off x="7118540" y="1026093"/>
                  <a:ext cx="578700" cy="0"/>
                </a:xfrm>
                <a:prstGeom prst="straightConnector1">
                  <a:avLst/>
                </a:prstGeom>
                <a:noFill/>
                <a:ln cap="flat" cmpd="sng" w="10250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324" name="Google Shape;324;g3a7c546b70d_0_215"/>
                <p:cNvGrpSpPr/>
                <p:nvPr/>
              </p:nvGrpSpPr>
              <p:grpSpPr>
                <a:xfrm>
                  <a:off x="6432379" y="900720"/>
                  <a:ext cx="1252515" cy="1180488"/>
                  <a:chOff x="6432379" y="900720"/>
                  <a:chExt cx="1252515" cy="1180488"/>
                </a:xfrm>
              </p:grpSpPr>
              <p:cxnSp>
                <p:nvCxnSpPr>
                  <p:cNvPr id="325" name="Google Shape;325;g3a7c546b70d_0_215"/>
                  <p:cNvCxnSpPr/>
                  <p:nvPr/>
                </p:nvCxnSpPr>
                <p:spPr>
                  <a:xfrm rot="10800000">
                    <a:off x="6432379" y="1016812"/>
                    <a:ext cx="0" cy="327900"/>
                  </a:xfrm>
                  <a:prstGeom prst="straightConnector1">
                    <a:avLst/>
                  </a:prstGeom>
                  <a:noFill/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6" name="Google Shape;326;g3a7c546b70d_0_215"/>
                  <p:cNvCxnSpPr/>
                  <p:nvPr/>
                </p:nvCxnSpPr>
                <p:spPr>
                  <a:xfrm rot="10800000">
                    <a:off x="7684894" y="1017108"/>
                    <a:ext cx="0" cy="1064100"/>
                  </a:xfrm>
                  <a:prstGeom prst="straightConnector1">
                    <a:avLst/>
                  </a:prstGeom>
                  <a:noFill/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327" name="Google Shape;327;g3a7c546b70d_0_215"/>
                  <p:cNvSpPr/>
                  <p:nvPr/>
                </p:nvSpPr>
                <p:spPr>
                  <a:xfrm>
                    <a:off x="6737022" y="900720"/>
                    <a:ext cx="643200" cy="322800"/>
                  </a:xfrm>
                  <a:prstGeom prst="ellipse">
                    <a:avLst/>
                  </a:prstGeom>
                  <a:solidFill>
                    <a:srgbClr val="F4CCCC"/>
                  </a:solidFill>
                  <a:ln cap="flat" cmpd="sng" w="10250">
                    <a:solidFill>
                      <a:srgbClr val="59595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8350" lIns="98350" spcFirstLastPara="1" rIns="98350" wrap="square" tIns="9835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291"/>
                      <a:buFont typeface="Arial"/>
                      <a:buNone/>
                    </a:pPr>
                    <a:r>
                      <a:rPr b="1" lang="en-US" sz="141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-27</a:t>
                    </a:r>
                    <a:endParaRPr b="1" i="0" sz="1410" u="none" cap="none" strike="noStrike">
                      <a:solidFill>
                        <a:srgbClr val="FF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328" name="Google Shape;328;g3a7c546b70d_0_215"/>
              <p:cNvSpPr txBox="1"/>
              <p:nvPr/>
            </p:nvSpPr>
            <p:spPr>
              <a:xfrm>
                <a:off x="4355827" y="5704383"/>
                <a:ext cx="1473300" cy="5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8350" lIns="98350" spcFirstLastPara="1" rIns="98350" wrap="square" tIns="983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1"/>
                  <a:buFont typeface="Arial"/>
                  <a:buNone/>
                </a:pPr>
                <a:r>
                  <a:rPr b="1" lang="en-US" sz="1410">
                    <a:latin typeface="Times New Roman"/>
                    <a:ea typeface="Times New Roman"/>
                    <a:cs typeface="Times New Roman"/>
                    <a:sym typeface="Times New Roman"/>
                  </a:rPr>
                  <a:t>VAR 1 couverture admin</a:t>
                </a:r>
                <a:endParaRPr b="0" i="0" sz="141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9" name="Google Shape;329;g3a7c546b70d_0_215"/>
              <p:cNvSpPr txBox="1"/>
              <p:nvPr/>
            </p:nvSpPr>
            <p:spPr>
              <a:xfrm>
                <a:off x="5851925" y="5704383"/>
                <a:ext cx="1473300" cy="5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8350" lIns="98350" spcFirstLastPara="1" rIns="98350" wrap="square" tIns="983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1"/>
                  <a:buFont typeface="Arial"/>
                  <a:buNone/>
                </a:pPr>
                <a:r>
                  <a:rPr b="1" lang="en-US" sz="1410">
                    <a:latin typeface="Times New Roman"/>
                    <a:ea typeface="Times New Roman"/>
                    <a:cs typeface="Times New Roman"/>
                    <a:sym typeface="Times New Roman"/>
                  </a:rPr>
                  <a:t>VAR 1 couverture ciblée ajustée</a:t>
                </a:r>
                <a:endParaRPr b="1" sz="141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30" name="Google Shape;330;g3a7c546b70d_0_215"/>
          <p:cNvSpPr/>
          <p:nvPr/>
        </p:nvSpPr>
        <p:spPr>
          <a:xfrm rot="-5400000">
            <a:off x="7701450" y="1608425"/>
            <a:ext cx="3721800" cy="5259300"/>
          </a:xfrm>
          <a:prstGeom prst="round2SameRect">
            <a:avLst>
              <a:gd fmla="val 8141" name="adj1"/>
              <a:gd fmla="val 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ctr" bIns="65650" lIns="131375" spcFirstLastPara="1" rIns="131375" wrap="square" tIns="6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t/>
            </a:r>
            <a:endParaRPr b="0" i="0" sz="22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a7c546b70d_0_215"/>
          <p:cNvSpPr txBox="1"/>
          <p:nvPr/>
        </p:nvSpPr>
        <p:spPr>
          <a:xfrm>
            <a:off x="7254589" y="2681627"/>
            <a:ext cx="46086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375" lIns="131375" spcFirstLastPara="1" rIns="131375" wrap="square" tIns="131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Ecart encore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élevé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 entre les cibles administratives et les cibles administratives 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ajustes. Ceci sous attends un écart important avec les estimations WUENIC</a:t>
            </a:r>
            <a:br>
              <a:rPr b="1"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Implémenter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 le plan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d'amélioration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qualité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 des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données</a:t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2. Finaliser les travaux d’ajustement du </a:t>
            </a: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dénominateur</a:t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7c546b70d_0_259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Gouvernance, Planification,  financement et RH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3a7c546b70d_0_25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g3a7c546b70d_0_25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g3a7c546b70d_0_25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g3a7c546b70d_0_25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g3a7c546b70d_0_25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2" name="Google Shape;342;g3a7c546b70d_0_259"/>
          <p:cNvGraphicFramePr/>
          <p:nvPr/>
        </p:nvGraphicFramePr>
        <p:xfrm>
          <a:off x="458580" y="1123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{66541FC9-F02A-43B8-B200-78C96D1D1AE5}</a:tableStyleId>
              </a:tblPr>
              <a:tblGrid>
                <a:gridCol w="3641500"/>
                <a:gridCol w="2283500"/>
                <a:gridCol w="1097650"/>
                <a:gridCol w="4252250"/>
              </a:tblGrid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Objectif / Résultat attendu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Résultats 2024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Résultats 2025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8474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Renforcer le leadership du Ministère de la Santé dans la gouvernance vaccinale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réunion CCPeV stratégique tenues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sur 3 (66.6%)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847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réunion CCPeV technique tenues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600"/>
                        <a:t>3 sur 7 (42.8%)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Accroître le financement domestique de 2 à 3% du budget santé alloué à la vaccination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budget santé alloué au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102 539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Char char="●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Reçus 9.021.589,00$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Char char="●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Taux décaissement (50%)  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Renforcer les capacités managériales des RH dédiées à la vaccination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gestionnaires ayant reçu formation managériale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7c546b70d_0_27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d’atteinte des objectifs du PAO 2025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Surveillance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g3a7c546b70d_0_27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g3a7c546b70d_0_27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g3a7c546b70d_0_27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g3a7c546b70d_0_27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g3a7c546b70d_0_27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3" name="Google Shape;353;g3a7c546b70d_0_270"/>
          <p:cNvGraphicFramePr/>
          <p:nvPr/>
        </p:nvGraphicFramePr>
        <p:xfrm>
          <a:off x="458580" y="1123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{66541FC9-F02A-43B8-B200-78C96D1D1AE5}</a:tableStyleId>
              </a:tblPr>
              <a:tblGrid>
                <a:gridCol w="3641500"/>
                <a:gridCol w="2283500"/>
                <a:gridCol w="1097650"/>
                <a:gridCol w="4252250"/>
              </a:tblGrid>
              <a:tr h="29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Objectif / Résultat attendu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Résultats 2024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Résultats 2025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847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Réduire les provinces en retard sur ≥2 indicateurs &lt; 20% PFA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provinces sous-performantes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19%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26.9%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Investiguer 100% des cas TNN notifiés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cas TNN investigués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102 539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9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Investiguer 100% des MAPI graves notifiés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de MAPI graves investigués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cas sur 47cas ( 47%)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7c50a7b14_0_585"/>
          <p:cNvSpPr txBox="1"/>
          <p:nvPr>
            <p:ph type="title"/>
          </p:nvPr>
        </p:nvSpPr>
        <p:spPr>
          <a:xfrm>
            <a:off x="241100" y="2655367"/>
            <a:ext cx="113607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7c50a7b14_2_32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Aperçu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 budget pour la mise en oeuvre du PAO 2025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a7c50a7b14_2_3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g3a7c50a7b14_2_3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g3a7c50a7b14_2_3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g3a7c50a7b14_2_3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g3a7c50a7b14_2_3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9" name="Google Shape;369;g3a7c50a7b14_2_32"/>
          <p:cNvGraphicFramePr/>
          <p:nvPr/>
        </p:nvGraphicFramePr>
        <p:xfrm>
          <a:off x="508120" y="142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{82BC3781-0679-4D28-80CC-F76C388936A8}</a:tableStyleId>
              </a:tblPr>
              <a:tblGrid>
                <a:gridCol w="1800150"/>
                <a:gridCol w="1615425"/>
                <a:gridCol w="1576875"/>
                <a:gridCol w="1309850"/>
                <a:gridCol w="1442950"/>
                <a:gridCol w="1282650"/>
                <a:gridCol w="2247000"/>
              </a:tblGrid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 de financement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Fonds</a:t>
                      </a: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reçus 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Décaissement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Taux décaissement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Dépenses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Tx d’absorption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Gouvernement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18.043.178,00</a:t>
                      </a:r>
                      <a:endParaRPr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9.021.589,00    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9 021 589,00 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1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30/11/2025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CAGF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76.917.674,00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61.176.929,00        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44.060.693,00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72%</a:t>
                      </a:r>
                      <a:endParaRPr b="1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30/11/2025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139.188.542,00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107.899.341,84    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96.260.561,11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89%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31/10/2025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21.055.716,00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16.410.849,78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16.410.849,78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31/10/2025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SANRU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32.270.615,24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30.167.155,88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27.145.494,256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31/10/2025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11.089.810,00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9.395.569,00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9.395.569,00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31/10/2025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Villagereach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12.876.119,05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7.906.284,54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7.906.284,54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30/09/2025</a:t>
                      </a:r>
                      <a:endParaRPr i="0"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UNOPS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14.069.727,63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14.069.637,64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13.487.289,00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96%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31/10/2025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CHAI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1.612.438,19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1.612.438,19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1.608.788,19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99,8%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Données Au 31/10/2025</a:t>
                      </a:r>
                      <a:endParaRPr i="0" sz="15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Général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327.604.801,41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259.763.254,23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225.297.117,87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g3a7c50a7b14_2_32"/>
          <p:cNvSpPr txBox="1"/>
          <p:nvPr/>
        </p:nvSpPr>
        <p:spPr>
          <a:xfrm>
            <a:off x="458600" y="5663800"/>
            <a:ext cx="11274900" cy="6465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Le PEV a mobilisé les ressources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nécessaires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pour financer le PAO 2026, cependant le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décaissement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n’a pas ete fait a 100%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7c546b70d_0_913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Aperçu global de la mise en oeuvre des activités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g3a7c546b70d_0_91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g3a7c546b70d_0_91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g3a7c546b70d_0_91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g3a7c546b70d_0_91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g3a7c546b70d_0_91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1" name="Google Shape;381;g3a7c546b70d_0_9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00" y="1592475"/>
            <a:ext cx="5259300" cy="45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a7c546b70d_0_913"/>
          <p:cNvSpPr/>
          <p:nvPr/>
        </p:nvSpPr>
        <p:spPr>
          <a:xfrm>
            <a:off x="1611985" y="4956779"/>
            <a:ext cx="1233300" cy="343500"/>
          </a:xfrm>
          <a:prstGeom prst="ellipse">
            <a:avLst/>
          </a:prstGeom>
          <a:solidFill>
            <a:srgbClr val="FF0000">
              <a:alpha val="9800"/>
            </a:srgbClr>
          </a:solidFill>
          <a:ln cap="flat" cmpd="sng" w="1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550" lIns="65100" spcFirstLastPara="1" rIns="65100" wrap="square" tIns="32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a7c546b70d_0_913"/>
          <p:cNvSpPr/>
          <p:nvPr/>
        </p:nvSpPr>
        <p:spPr>
          <a:xfrm>
            <a:off x="3310640" y="5004253"/>
            <a:ext cx="1233300" cy="343500"/>
          </a:xfrm>
          <a:prstGeom prst="ellipse">
            <a:avLst/>
          </a:prstGeom>
          <a:solidFill>
            <a:srgbClr val="FF0000">
              <a:alpha val="9800"/>
            </a:srgbClr>
          </a:solidFill>
          <a:ln cap="flat" cmpd="sng" w="1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550" lIns="65100" spcFirstLastPara="1" rIns="65100" wrap="square" tIns="32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a7c546b70d_0_913"/>
          <p:cNvSpPr/>
          <p:nvPr/>
        </p:nvSpPr>
        <p:spPr>
          <a:xfrm>
            <a:off x="1148099" y="2845781"/>
            <a:ext cx="1233300" cy="343500"/>
          </a:xfrm>
          <a:prstGeom prst="ellipse">
            <a:avLst/>
          </a:prstGeom>
          <a:solidFill>
            <a:srgbClr val="FF0000">
              <a:alpha val="9800"/>
            </a:srgbClr>
          </a:solidFill>
          <a:ln cap="flat" cmpd="sng" w="1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550" lIns="65100" spcFirstLastPara="1" rIns="65100" wrap="square" tIns="32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a7c546b70d_0_913"/>
          <p:cNvSpPr/>
          <p:nvPr/>
        </p:nvSpPr>
        <p:spPr>
          <a:xfrm>
            <a:off x="4270965" y="3977012"/>
            <a:ext cx="1349400" cy="484200"/>
          </a:xfrm>
          <a:prstGeom prst="ellipse">
            <a:avLst/>
          </a:prstGeom>
          <a:solidFill>
            <a:srgbClr val="FF0000">
              <a:alpha val="9800"/>
            </a:srgbClr>
          </a:solidFill>
          <a:ln cap="flat" cmpd="sng" w="1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550" lIns="65100" spcFirstLastPara="1" rIns="65100" wrap="square" tIns="32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a7c546b70d_0_913"/>
          <p:cNvSpPr/>
          <p:nvPr/>
        </p:nvSpPr>
        <p:spPr>
          <a:xfrm rot="-5400000">
            <a:off x="7289858" y="1196833"/>
            <a:ext cx="4545000" cy="5259300"/>
          </a:xfrm>
          <a:prstGeom prst="round2SameRect">
            <a:avLst>
              <a:gd fmla="val 8141" name="adj1"/>
              <a:gd fmla="val 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ctr" bIns="65650" lIns="131375" spcFirstLastPara="1" rIns="131375" wrap="square" tIns="6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t/>
            </a:r>
            <a:endParaRPr b="0" i="0" sz="229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a7c546b70d_0_913"/>
          <p:cNvSpPr txBox="1"/>
          <p:nvPr/>
        </p:nvSpPr>
        <p:spPr>
          <a:xfrm>
            <a:off x="7254598" y="1925518"/>
            <a:ext cx="4608600" cy="29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375" lIns="131375" spcFirstLastPara="1" rIns="131375" wrap="square" tIns="131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53 %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rPr b="1" lang="en-US" sz="1580">
                <a:latin typeface="Times New Roman"/>
                <a:ea typeface="Times New Roman"/>
                <a:cs typeface="Times New Roman"/>
                <a:sym typeface="Times New Roman"/>
              </a:rPr>
              <a:t>Score globale de mise en oeuvre des activités pour le PAO 2025</a:t>
            </a:r>
            <a:br>
              <a:rPr b="1"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5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Les domaines avec un faible taux d'exécution sont par ordre la logistique, la prestation de services, gestion du programme et surveillance</a:t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1"/>
              <a:buFont typeface="Arial"/>
              <a:buNone/>
            </a:pPr>
            <a:r>
              <a:t/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0">
                <a:latin typeface="Times New Roman"/>
                <a:ea typeface="Times New Roman"/>
                <a:cs typeface="Times New Roman"/>
                <a:sym typeface="Times New Roman"/>
              </a:rPr>
              <a:t>*Logistique: plusieurs activites liees aux acquisitions prévue sur CCEOP en souffrance</a:t>
            </a:r>
            <a:endParaRPr sz="15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7c546b70d_0_933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Aperçu global de la mise en oeuvre des activités par domaine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g3a7c546b70d_0_93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g3a7c546b70d_0_93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g3a7c546b70d_0_93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g3a7c546b70d_0_93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g3a7c546b70d_0_93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8" name="Google Shape;398;g3a7c546b70d_0_933"/>
          <p:cNvGraphicFramePr/>
          <p:nvPr/>
        </p:nvGraphicFramePr>
        <p:xfrm>
          <a:off x="458605" y="152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{62B47075-A97A-4EE4-B61A-65A12A501A06}</a:tableStyleId>
              </a:tblPr>
              <a:tblGrid>
                <a:gridCol w="2049675"/>
                <a:gridCol w="1167525"/>
                <a:gridCol w="1168200"/>
                <a:gridCol w="1693475"/>
                <a:gridCol w="1166825"/>
                <a:gridCol w="1693475"/>
                <a:gridCol w="1167525"/>
                <a:gridCol w="1168200"/>
              </a:tblGrid>
              <a:tr h="555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activités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Activités réalisées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Activités en cours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Activités non réalisées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9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Logistique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Qualité des données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Gouvernance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38%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5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118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39%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28%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7c50a7b14_2_41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oeuvre par domaine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g3a7c50a7b14_2_4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3a7c50a7b14_2_4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3a7c50a7b14_2_4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g3a7c50a7b14_2_4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g3a7c50a7b14_2_4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9" name="Google Shape;409;g3a7c50a7b14_2_41"/>
          <p:cNvGraphicFramePr/>
          <p:nvPr/>
        </p:nvGraphicFramePr>
        <p:xfrm>
          <a:off x="505460" y="1057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{82BC3781-0679-4D28-80CC-F76C388936A8}</a:tableStyleId>
              </a:tblPr>
              <a:tblGrid>
                <a:gridCol w="2642225"/>
                <a:gridCol w="657175"/>
                <a:gridCol w="880150"/>
                <a:gridCol w="801025"/>
                <a:gridCol w="991575"/>
                <a:gridCol w="795625"/>
                <a:gridCol w="929675"/>
                <a:gridCol w="858150"/>
                <a:gridCol w="867775"/>
                <a:gridCol w="808950"/>
                <a:gridCol w="930325"/>
              </a:tblGrid>
              <a:tr h="8693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Domaines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Totalement réalisée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Largement réalisée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Moyennement réalisée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Faiblement réalisée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 réalisée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 hMerge="1"/>
              </a:tr>
              <a:tr h="428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42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AVS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11.1%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22.2%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62.5%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12.5%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18.8%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6.2%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du Programme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29.2%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37.5%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Logistique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7.1%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3.6%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57.1%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Qualité des données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17.6%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29.4%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29.4%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11.8%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5.9%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29.4%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11.8%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41.2%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général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27.1%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10.2%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28.8%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3.4%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30.5%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7c546b70d_0_737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oeuvre par domaine zoom sur les réalisations majeures et points d’attention (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1/2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g3a7c546b70d_0_73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g3a7c546b70d_0_7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g3a7c546b70d_0_73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g3a7c546b70d_0_73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a7c546b70d_0_73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20" name="Google Shape;420;g3a7c546b70d_0_737"/>
          <p:cNvGraphicFramePr/>
          <p:nvPr/>
        </p:nvGraphicFramePr>
        <p:xfrm>
          <a:off x="404500" y="137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{6E5305DD-2C2E-4EF4-BEE8-93DA2D482E71}</a:tableStyleId>
              </a:tblPr>
              <a:tblGrid>
                <a:gridCol w="1334125"/>
                <a:gridCol w="1077600"/>
                <a:gridCol w="4145275"/>
                <a:gridCol w="4806950"/>
              </a:tblGrid>
              <a:tr h="15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global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Principaux constats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Points d’attention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97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81 %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Forte réalisation des activités de communication, plaidoyer et mobilisation communautaire (SMS, médias, leaders communautaires, initiatives confessionnelles).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demande progresse plus rapidement que la capacité du système à fournir des services de qualité (prestation, logistique, surveillance).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 impacte sur la demande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Mise en œuvre des ripostes et campagnes réactives (Polio, Mpox).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Retards notables dans les campagnes préventives (Fièvre Jaune, Choléra).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Qualité des données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54 %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Progrès dans la digitalisation 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électronique, décentralisation DHIS2, tracking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vaccinations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...).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Utilisation limitée des données du DHIS2 pour la prise de décision,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 réalisation des activités d’audit qualité de données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du programme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46 %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 Forum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CCPeV, GTCV fonctionnel ...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Suivi et évaluation des assistances techniques,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Mise en œuvre partielle du renforcement des capacités.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7c546b70d_0_768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oeuvre par domaine zoom sur les réalisations majeures et points d’attention (2/2)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g3a7c546b70d_0_76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g3a7c546b70d_0_76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g3a7c546b70d_0_76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g3a7c546b70d_0_76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g3a7c546b70d_0_76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31" name="Google Shape;431;g3a7c546b70d_0_768"/>
          <p:cNvGraphicFramePr/>
          <p:nvPr/>
        </p:nvGraphicFramePr>
        <p:xfrm>
          <a:off x="404500" y="137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{6E5305DD-2C2E-4EF4-BEE8-93DA2D482E71}</a:tableStyleId>
              </a:tblPr>
              <a:tblGrid>
                <a:gridCol w="1334125"/>
                <a:gridCol w="1077600"/>
                <a:gridCol w="4145275"/>
                <a:gridCol w="4806950"/>
              </a:tblGrid>
              <a:tr h="15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global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Principaux constats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Points d’attention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970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Logistique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44 %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Disponibilité globale des vaccins .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Maintenance partielle de la chaîne du froid.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Retards majeurs sur les équipements lourds, systèmes de monitoring, risque de qualité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43 %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Mise en œuvre partielle des séances de vaccination et des stratégies d’atteinte des populations manquées.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 intégration de la vaccination dans les ESS publics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Livrables microplan faiblement disponibles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34 %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Certaines fonctions minimales assurées (MAPI, kits de prélèvement, sites environnementaux).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Char char="•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Nombreuses activités clés non réalisées (revues, supervisions, extension des sites, investigations),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7c546b70d_0_778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activités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 à vis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la dépendance aux financements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g3a7c546b70d_0_77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g3a7c546b70d_0_77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g3a7c546b70d_0_77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g3a7c546b70d_0_77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g3a7c546b70d_0_77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2" name="Google Shape;442;g3a7c546b70d_0_778"/>
          <p:cNvGraphicFramePr/>
          <p:nvPr/>
        </p:nvGraphicFramePr>
        <p:xfrm>
          <a:off x="458610" y="1649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{6E5305DD-2C2E-4EF4-BEE8-93DA2D482E71}</a:tableStyleId>
              </a:tblPr>
              <a:tblGrid>
                <a:gridCol w="3758300"/>
                <a:gridCol w="3758300"/>
                <a:gridCol w="3758300"/>
              </a:tblGrid>
              <a:tr h="93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Niveau de réalisation 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 ne dépendant pas totalement de financement 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  dépendant totalement de financement 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34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(9)36%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(27)29%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(4)4%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Moyennement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(9)36%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(25)27%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(12)13%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 28%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(25)27%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25(100%)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92(100%)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3" name="Google Shape;443;g3a7c546b70d_0_778"/>
          <p:cNvSpPr txBox="1"/>
          <p:nvPr/>
        </p:nvSpPr>
        <p:spPr>
          <a:xfrm>
            <a:off x="458600" y="5663800"/>
            <a:ext cx="11274900" cy="4002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La performance dépend autant de la disponibilité financière que de la capacité de pilotage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7c546b70d_0_790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des activités vis à vis de la priorisation lors de la planification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g3a7c546b70d_0_7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g3a7c546b70d_0_7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g3a7c546b70d_0_7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g3a7c546b70d_0_7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g3a7c546b70d_0_7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g3a7c546b70d_0_790"/>
          <p:cNvSpPr txBox="1"/>
          <p:nvPr/>
        </p:nvSpPr>
        <p:spPr>
          <a:xfrm>
            <a:off x="458600" y="5663800"/>
            <a:ext cx="11274900" cy="7080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Les activités à haute priorité bénéficient d’un meilleur mise en oeuvre, mais restent partiellement réalisées, alors que leur impact est accès fort sur la performance du programme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55" name="Google Shape;455;g3a7c546b70d_0_790"/>
          <p:cNvGraphicFramePr/>
          <p:nvPr/>
        </p:nvGraphicFramePr>
        <p:xfrm>
          <a:off x="458605" y="1526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{6E5305DD-2C2E-4EF4-BEE8-93DA2D482E71}</a:tableStyleId>
              </a:tblPr>
              <a:tblGrid>
                <a:gridCol w="4458725"/>
                <a:gridCol w="3179650"/>
                <a:gridCol w="3636525"/>
              </a:tblGrid>
              <a:tr h="46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Niveau de réalisation 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 de priorité Élevée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Activité de priorité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Moyenne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30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(21)23%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(15)</a:t>
                      </a: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(4)4%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Moyennement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(31)33%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(11)12%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(1)</a:t>
                      </a: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Totalement réalisée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(26)28%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(6)</a:t>
                      </a: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24%</a:t>
                      </a:r>
                      <a:endParaRPr i="0"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(93)100%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(25)100%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925" marL="7925" anchor="ctr">
                    <a:lnL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7c50a7b14_2_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mise en oeuvre des activités du PAO 2025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a7c50a7b14_2_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a7c50a7b14_2_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g3a7c50a7b14_2_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g3a7c50a7b14_2_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g3a7c50a7b14_2_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g3a7c50a7b14_2_0"/>
          <p:cNvSpPr txBox="1"/>
          <p:nvPr/>
        </p:nvSpPr>
        <p:spPr>
          <a:xfrm>
            <a:off x="458600" y="1095800"/>
            <a:ext cx="11328900" cy="4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responsables des groupes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thématiques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vont renseigner les bonnes pratiques ou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leçons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apprises lors de la mise en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oeuvre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des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activités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réalisées ainsi que les contraintes de mise en oeuvre pour les activités non réalisées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 diagnostic approfondie des causes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réels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et contraintes est attendues pour orienter la planification 2026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7c50a7b14_2_99"/>
          <p:cNvSpPr txBox="1"/>
          <p:nvPr>
            <p:ph type="title"/>
          </p:nvPr>
        </p:nvSpPr>
        <p:spPr>
          <a:xfrm>
            <a:off x="241100" y="2655367"/>
            <a:ext cx="113607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Principaux résultats par groupes thématiques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7c50a7b14_2_72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Statut de fonctionnalité des antennes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Niveau de réalisation des réunions d’analyse et validation des données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g3a7c50a7b14_2_7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g3a7c50a7b14_2_7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g3a7c50a7b14_2_7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g3a7c50a7b14_2_7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g3a7c50a7b14_2_7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g3a7c50a7b14_2_72"/>
          <p:cNvSpPr/>
          <p:nvPr/>
        </p:nvSpPr>
        <p:spPr>
          <a:xfrm rot="-5400000">
            <a:off x="7740028" y="1238485"/>
            <a:ext cx="4127700" cy="4776300"/>
          </a:xfrm>
          <a:prstGeom prst="round2SameRect">
            <a:avLst>
              <a:gd fmla="val 8141" name="adj1"/>
              <a:gd fmla="val 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ctr" bIns="59625" lIns="119300" spcFirstLastPara="1" rIns="119300" wrap="square" tIns="59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8"/>
              <a:buFont typeface="Arial"/>
              <a:buNone/>
            </a:pPr>
            <a:r>
              <a:t/>
            </a:r>
            <a:endParaRPr b="0" i="0" sz="208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a7c50a7b14_2_72"/>
          <p:cNvSpPr txBox="1"/>
          <p:nvPr/>
        </p:nvSpPr>
        <p:spPr>
          <a:xfrm>
            <a:off x="458600" y="1278500"/>
            <a:ext cx="65427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6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Réunions d</a:t>
            </a:r>
            <a:r>
              <a:rPr b="1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’analyse et validation des données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(%), </a:t>
            </a:r>
            <a:r>
              <a:rPr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Juillet - 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Novembre</a:t>
            </a:r>
            <a:endParaRPr i="1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4" name="Google Shape;484;g3a7c50a7b14_2_72"/>
          <p:cNvCxnSpPr/>
          <p:nvPr/>
        </p:nvCxnSpPr>
        <p:spPr>
          <a:xfrm>
            <a:off x="513935" y="1562313"/>
            <a:ext cx="6374400" cy="0"/>
          </a:xfrm>
          <a:prstGeom prst="straightConnector1">
            <a:avLst/>
          </a:prstGeom>
          <a:noFill/>
          <a:ln cap="flat" cmpd="sng" w="12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g3a7c50a7b14_2_72"/>
          <p:cNvSpPr txBox="1"/>
          <p:nvPr/>
        </p:nvSpPr>
        <p:spPr>
          <a:xfrm>
            <a:off x="7708055" y="1900311"/>
            <a:ext cx="41853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300" lIns="119300" spcFirstLastPara="1" rIns="119300" wrap="square" tIns="119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5"/>
              <a:buFont typeface="Arial"/>
              <a:buNone/>
            </a:pPr>
            <a: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réunions de revue de performance au niveau </a:t>
            </a:r>
            <a:r>
              <a:rPr lang="en-US" sz="14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antenne</a:t>
            </a:r>
            <a: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correspondent à </a:t>
            </a:r>
            <a:r>
              <a:rPr b="1" lang="en-US" sz="14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</a:t>
            </a: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réunion d</a:t>
            </a:r>
            <a:r>
              <a:rPr b="1" lang="en-US" sz="14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’analyse et de validation des données par mois</a:t>
            </a:r>
            <a:b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*Une réunion est considérée comme fonctionnelle lorsqu’elle satisfait simultanément aux trois critères suivants :</a:t>
            </a:r>
            <a:endParaRPr i="0" sz="143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5"/>
              <a:buFont typeface="Arial"/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Tenue : </a:t>
            </a:r>
            <a: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réunion a effectivement eu lieu pendant la période prévue.</a:t>
            </a:r>
            <a:endParaRPr i="0" sz="143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5"/>
              <a:buFont typeface="Arial"/>
              <a:buNone/>
            </a:pP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Participation : </a:t>
            </a:r>
            <a: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participants clés concernés étaient présents </a:t>
            </a:r>
            <a:b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Suivi : </a:t>
            </a:r>
            <a:r>
              <a:rPr i="0" lang="en-US" sz="143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données de performance ont été présentées, un compte rendu incluant les points d’action a été partagé, et les points d’action de la réunion précédente ont été revus et suivis.</a:t>
            </a:r>
            <a:endParaRPr i="0" sz="143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6" name="Google Shape;486;g3a7c50a7b14_2_72" title="Chart"/>
          <p:cNvPicPr preferRelativeResize="0"/>
          <p:nvPr/>
        </p:nvPicPr>
        <p:blipFill rotWithShape="1">
          <a:blip r:embed="rId3">
            <a:alphaModFix/>
          </a:blip>
          <a:srcRect b="0" l="5749" r="2842" t="0"/>
          <a:stretch/>
        </p:blipFill>
        <p:spPr>
          <a:xfrm>
            <a:off x="458600" y="1729675"/>
            <a:ext cx="6542811" cy="442622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a7c50a7b14_2_72"/>
          <p:cNvSpPr txBox="1"/>
          <p:nvPr/>
        </p:nvSpPr>
        <p:spPr>
          <a:xfrm>
            <a:off x="6440206" y="4074819"/>
            <a:ext cx="9756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635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2">
                <a:solidFill>
                  <a:srgbClr val="329B55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(+47 pts)</a:t>
            </a:r>
            <a:endParaRPr sz="1382">
              <a:solidFill>
                <a:srgbClr val="329B55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7c50a7b14_2_63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Statut de fonctionnalité des antennes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Benchmarking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pour analyse de la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fonctionnalité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antennes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g3a7c50a7b14_2_6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g3a7c50a7b14_2_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g3a7c50a7b14_2_6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g3a7c50a7b14_2_6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g3a7c50a7b14_2_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8" name="Google Shape;498;g3a7c50a7b14_2_63"/>
          <p:cNvGraphicFramePr/>
          <p:nvPr/>
        </p:nvGraphicFramePr>
        <p:xfrm>
          <a:off x="7842945" y="20349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{82BC3781-0679-4D28-80CC-F76C388936A8}</a:tableStyleId>
              </a:tblPr>
              <a:tblGrid>
                <a:gridCol w="1671875"/>
                <a:gridCol w="835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Plage 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90 à 100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80 à 89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70 à 79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60 à 69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 à 59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 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9" name="Google Shape;499;g3a7c50a7b14_2_63"/>
          <p:cNvGraphicFramePr/>
          <p:nvPr/>
        </p:nvGraphicFramePr>
        <p:xfrm>
          <a:off x="458600" y="1400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{82BC3781-0679-4D28-80CC-F76C388936A8}</a:tableStyleId>
              </a:tblPr>
              <a:tblGrid>
                <a:gridCol w="4450175"/>
                <a:gridCol w="14903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b="1" sz="15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49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Pondération</a:t>
                      </a:r>
                      <a:endParaRPr b="1" sz="15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499:0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des ECF fonctionnelle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1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Taux de satisfaction des vaccins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2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Mashako pour le mois de Novembre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3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Tenue des sessions d'analyse et validation des données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4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Tenue des sessions de CCPeV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5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Envoie des rapports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6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Proportion des zones avec couverture penta 1 &gt;= 90%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7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Proportion des zones avec couverture VAR 1 &gt;= 90%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8:1"/>
                      </a:ext>
                    </a:extLs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AS avec score de qualité des données &gt;= 80%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99:9:1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500" name="Google Shape;500;g3a7c50a7b14_2_63"/>
          <p:cNvSpPr/>
          <p:nvPr/>
        </p:nvSpPr>
        <p:spPr>
          <a:xfrm>
            <a:off x="6780550" y="2034929"/>
            <a:ext cx="681000" cy="13989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a7c50a7b14_2_63"/>
          <p:cNvSpPr/>
          <p:nvPr/>
        </p:nvSpPr>
        <p:spPr>
          <a:xfrm rot="5400000">
            <a:off x="8756363" y="3511879"/>
            <a:ext cx="681000" cy="13989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02" name="Google Shape;502;g3a7c50a7b14_2_63"/>
          <p:cNvGraphicFramePr/>
          <p:nvPr/>
        </p:nvGraphicFramePr>
        <p:xfrm>
          <a:off x="7325985" y="47520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{82BC3781-0679-4D28-80CC-F76C388936A8}</a:tableStyleId>
              </a:tblPr>
              <a:tblGrid>
                <a:gridCol w="1565900"/>
                <a:gridCol w="885825"/>
                <a:gridCol w="1623050"/>
              </a:tblGrid>
              <a:tr h="38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Score global (%)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Classe de performance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Couleur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≥90%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Très bon 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</a:tr>
              <a:tr h="19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80–89%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Verst claire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19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50–79%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Moyen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Jaune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&lt;50%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Faible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Rouge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7c546b70d_0_806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Statut de fonctionnalité des antennes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des antennes par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fonctionnalité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g3a7c546b70d_0_80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g3a7c546b70d_0_80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g3a7c546b70d_0_80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g3a7c546b70d_0_80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g3a7c546b70d_0_80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3" name="Google Shape;513;g3a7c546b70d_0_806" title="Chart"/>
          <p:cNvPicPr preferRelativeResize="0"/>
          <p:nvPr/>
        </p:nvPicPr>
        <p:blipFill rotWithShape="1">
          <a:blip r:embed="rId3">
            <a:alphaModFix/>
          </a:blip>
          <a:srcRect b="3649" l="3975" r="1808" t="10269"/>
          <a:stretch/>
        </p:blipFill>
        <p:spPr>
          <a:xfrm>
            <a:off x="235500" y="1090970"/>
            <a:ext cx="11640301" cy="467606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a7c546b70d_0_806"/>
          <p:cNvSpPr/>
          <p:nvPr/>
        </p:nvSpPr>
        <p:spPr>
          <a:xfrm>
            <a:off x="246825" y="1307875"/>
            <a:ext cx="524700" cy="5024100"/>
          </a:xfrm>
          <a:prstGeom prst="rect">
            <a:avLst/>
          </a:prstGeom>
          <a:solidFill>
            <a:srgbClr val="EAE7F2">
              <a:alpha val="38040"/>
            </a:srgbClr>
          </a:solidFill>
          <a:ln cap="flat" cmpd="sng" w="12700">
            <a:solidFill>
              <a:srgbClr val="B4A7D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50800" endA="0" endPos="30000" fadeDir="5400012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a7c546b70d_0_806"/>
          <p:cNvSpPr/>
          <p:nvPr/>
        </p:nvSpPr>
        <p:spPr>
          <a:xfrm>
            <a:off x="11119300" y="1307875"/>
            <a:ext cx="687300" cy="5024100"/>
          </a:xfrm>
          <a:prstGeom prst="rect">
            <a:avLst/>
          </a:prstGeom>
          <a:solidFill>
            <a:srgbClr val="EAE7F2">
              <a:alpha val="38040"/>
            </a:srgbClr>
          </a:solidFill>
          <a:ln cap="flat" cmpd="sng" w="12700">
            <a:solidFill>
              <a:srgbClr val="B4A7D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50800" endA="0" endPos="30000" fadeDir="5400012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a7c546b70d_0_806"/>
          <p:cNvSpPr/>
          <p:nvPr/>
        </p:nvSpPr>
        <p:spPr>
          <a:xfrm>
            <a:off x="5706425" y="1307875"/>
            <a:ext cx="458700" cy="5024100"/>
          </a:xfrm>
          <a:prstGeom prst="rect">
            <a:avLst/>
          </a:prstGeom>
          <a:solidFill>
            <a:srgbClr val="EAE7F2">
              <a:alpha val="38040"/>
            </a:srgbClr>
          </a:solidFill>
          <a:ln cap="flat" cmpd="sng" w="12700">
            <a:solidFill>
              <a:srgbClr val="B4A7D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50800" endA="0" endPos="30000" fadeDir="5400012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a7c546b70d_0_806"/>
          <p:cNvSpPr/>
          <p:nvPr/>
        </p:nvSpPr>
        <p:spPr>
          <a:xfrm>
            <a:off x="1065825" y="1214975"/>
            <a:ext cx="2575200" cy="547200"/>
          </a:xfrm>
          <a:prstGeom prst="wedgeRectCallout">
            <a:avLst>
              <a:gd fmla="val -65104" name="adj1"/>
              <a:gd fmla="val -2526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Deux meilleurs antennes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g3a7c546b70d_0_806"/>
          <p:cNvSpPr/>
          <p:nvPr/>
        </p:nvSpPr>
        <p:spPr>
          <a:xfrm>
            <a:off x="6604900" y="1214975"/>
            <a:ext cx="2575200" cy="547200"/>
          </a:xfrm>
          <a:prstGeom prst="wedgeRectCallout">
            <a:avLst>
              <a:gd fmla="val -65104" name="adj1"/>
              <a:gd fmla="val -25260" name="adj2"/>
            </a:avLst>
          </a:prstGeom>
          <a:solidFill>
            <a:srgbClr val="EFE3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Antennes 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borderlines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7c546b70d_0_288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Lancement du plan Mashako 3.0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g3a7c546b70d_0_28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g3a7c546b70d_0_28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g3a7c546b70d_0_28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a7c546b70d_0_288"/>
          <p:cNvSpPr txBox="1"/>
          <p:nvPr/>
        </p:nvSpPr>
        <p:spPr>
          <a:xfrm>
            <a:off x="8653535" y="1071625"/>
            <a:ext cx="3233100" cy="50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975" lIns="125975" spcFirstLastPara="1" rIns="125975" wrap="square" tIns="125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b="1" i="0" lang="en-US" sz="275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2755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en-US" sz="275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/26</a:t>
            </a:r>
            <a:endParaRPr b="1" i="0" sz="275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b="0" i="1" lang="en-US" sz="137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Provinces ont organisé les ateliers d’orientation Mashako 3.0</a:t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1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b="1" i="0" lang="en-US" sz="275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19/26</a:t>
            </a:r>
            <a:endParaRPr b="1" i="0" sz="275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b="0" i="1" lang="en-US" sz="137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Provinces ont finis à la microplanification</a:t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b="0" i="1" lang="en-US" sz="137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provinces en cours de réalisation</a:t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b="0" i="1" lang="en-US" sz="137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province de Lomami en retard et les Nord et Sud non programmées</a:t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0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rPr b="1" i="0" lang="en-US" sz="165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suivi de la remontée des données et validation progressive des </a:t>
            </a:r>
            <a:r>
              <a:rPr b="1" lang="en-US" sz="1653">
                <a:latin typeface="Times New Roman"/>
                <a:ea typeface="Times New Roman"/>
                <a:cs typeface="Times New Roman"/>
                <a:sym typeface="Times New Roman"/>
              </a:rPr>
              <a:t>micro plans</a:t>
            </a:r>
            <a:r>
              <a:rPr b="1" i="0" lang="en-US" sz="165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653">
                <a:latin typeface="Times New Roman"/>
                <a:ea typeface="Times New Roman"/>
                <a:cs typeface="Times New Roman"/>
                <a:sym typeface="Times New Roman"/>
              </a:rPr>
              <a:t>est réalisé au cours</a:t>
            </a:r>
            <a:r>
              <a:rPr b="1" i="0" lang="en-US" sz="165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TC bi-hebdomadaire</a:t>
            </a:r>
            <a:r>
              <a:rPr i="1" lang="en-US" sz="1653">
                <a:latin typeface="Times New Roman"/>
                <a:ea typeface="Times New Roman"/>
                <a:cs typeface="Times New Roman"/>
                <a:sym typeface="Times New Roman"/>
              </a:rPr>
              <a:t>: 45% des microplans consolides</a:t>
            </a:r>
            <a:endParaRPr b="1" i="1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8"/>
              <a:buFont typeface="Arial"/>
              <a:buNone/>
            </a:pPr>
            <a:r>
              <a:t/>
            </a:r>
            <a:endParaRPr b="0" i="0" sz="1377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8" name="Google Shape;528;g3a7c546b70d_0_288" title="Screenshot 2025-12-15 at 03.27.09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16" r="426" t="0"/>
          <a:stretch/>
        </p:blipFill>
        <p:spPr>
          <a:xfrm>
            <a:off x="235500" y="1071625"/>
            <a:ext cx="8354804" cy="5104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7c546b70d_0_31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Aperçu score Mashako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g3a7c546b70d_0_3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g3a7c546b70d_0_3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g3a7c546b70d_0_3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7" name="Google Shape;537;g3a7c546b70d_0_310"/>
          <p:cNvGraphicFramePr/>
          <p:nvPr/>
        </p:nvGraphicFramePr>
        <p:xfrm>
          <a:off x="458575" y="152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{ED6EFA46-F15F-495A-88E2-6BB3AD5D29DE}</a:tableStyleId>
              </a:tblPr>
              <a:tblGrid>
                <a:gridCol w="4113475"/>
                <a:gridCol w="898325"/>
                <a:gridCol w="1204300"/>
                <a:gridCol w="1127400"/>
                <a:gridCol w="1132875"/>
                <a:gridCol w="1197475"/>
                <a:gridCol w="1601000"/>
              </a:tblGrid>
              <a:tr h="40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 Mashako National</a:t>
                      </a:r>
                      <a:endParaRPr b="1"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Jui (%)</a:t>
                      </a:r>
                      <a:endParaRPr b="1"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Août </a:t>
                      </a: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(%)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Sept (%)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Oct (%)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 (%)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Ecart cible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Supervision des zones de santé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- 4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Supervision des aires de santé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- 9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Supervision formative de qualité des ZS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- 46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Supervision formative de qualité des AS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- 68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Réunions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 coordination de routine NAT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C4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r>
                        <a:rPr b="1" lang="en-US" sz="1600" u="none" cap="none" strike="noStrike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Réunions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 validation des données ANT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- 29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Fonctionnalité de la chaîne de froid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HUB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274E1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solidFill>
                          <a:srgbClr val="274E1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Fonctionnalité de la chaîne de froid 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des antennes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74E1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solidFill>
                          <a:srgbClr val="274E1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Disponibilité des vaccins des antennes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Satisfaction des commandes des antennes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- 100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Récupération des enfants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- 48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Infirmier titulaire formés au PEV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- 14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6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2F0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- 43</a:t>
                      </a:r>
                      <a:endParaRPr b="1" sz="1600" u="none" cap="none" strike="noStrike">
                        <a:solidFill>
                          <a:srgbClr val="FF2F0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38100" marL="381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8" name="Google Shape;538;g3a7c546b70d_0_3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9" name="Google Shape;539;g3a7c546b70d_0_31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7c546b70d_0_405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Score Mashako par antenne au mois de Novembre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g3a7c546b70d_0_40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g3a7c546b70d_0_40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7" name="Google Shape;547;g3a7c546b70d_0_405"/>
          <p:cNvGrpSpPr/>
          <p:nvPr/>
        </p:nvGrpSpPr>
        <p:grpSpPr>
          <a:xfrm>
            <a:off x="7721323" y="6587841"/>
            <a:ext cx="2928064" cy="165996"/>
            <a:chOff x="200775" y="4647825"/>
            <a:chExt cx="2196103" cy="124500"/>
          </a:xfrm>
        </p:grpSpPr>
        <p:sp>
          <p:nvSpPr>
            <p:cNvPr id="548" name="Google Shape;548;g3a7c546b70d_0_405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&gt;80%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a7c546b70d_0_405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50% -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79%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a7c546b70d_0_405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E0666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&lt;49%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51" name="Google Shape;551;g3a7c546b70d_0_405" title="Chart"/>
          <p:cNvPicPr preferRelativeResize="0"/>
          <p:nvPr/>
        </p:nvPicPr>
        <p:blipFill rotWithShape="1">
          <a:blip r:embed="rId3">
            <a:alphaModFix/>
          </a:blip>
          <a:srcRect b="2409" l="2845" r="1670" t="5990"/>
          <a:stretch/>
        </p:blipFill>
        <p:spPr>
          <a:xfrm>
            <a:off x="458600" y="1578728"/>
            <a:ext cx="11274798" cy="4753141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a7c546b70d_0_405"/>
          <p:cNvSpPr/>
          <p:nvPr/>
        </p:nvSpPr>
        <p:spPr>
          <a:xfrm>
            <a:off x="772733" y="1307867"/>
            <a:ext cx="11114400" cy="5024100"/>
          </a:xfrm>
          <a:prstGeom prst="rect">
            <a:avLst/>
          </a:prstGeom>
          <a:solidFill>
            <a:srgbClr val="EAE7F2">
              <a:alpha val="38040"/>
            </a:srgbClr>
          </a:solidFill>
          <a:ln cap="flat" cmpd="sng" w="12700">
            <a:solidFill>
              <a:srgbClr val="B4A7D7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50800" endA="0" endPos="30000" fadeDir="5400012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a7c546b70d_0_405"/>
          <p:cNvSpPr txBox="1"/>
          <p:nvPr/>
        </p:nvSpPr>
        <p:spPr>
          <a:xfrm>
            <a:off x="5706992" y="1307867"/>
            <a:ext cx="618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Seule antenne de Kabinda a atteint l’objectif du score Mashako en cours du mois de Novembre 2025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4" name="Google Shape;554;g3a7c546b70d_0_405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g3a7c546b70d_0_40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7c546b70d_0_476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au niveau national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g3a7c546b70d_0_47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g3a7c546b70d_0_47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g3a7c546b70d_0_47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g3a7c546b70d_0_47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5" name="Google Shape;565;g3a7c546b70d_0_476" title="Chart"/>
          <p:cNvPicPr preferRelativeResize="0"/>
          <p:nvPr/>
        </p:nvPicPr>
        <p:blipFill rotWithShape="1">
          <a:blip r:embed="rId3">
            <a:alphaModFix/>
          </a:blip>
          <a:srcRect b="0" l="5297" r="2892" t="16317"/>
          <a:stretch/>
        </p:blipFill>
        <p:spPr>
          <a:xfrm>
            <a:off x="449025" y="1719368"/>
            <a:ext cx="11274902" cy="43128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g3a7c546b70d_0_476"/>
          <p:cNvGrpSpPr/>
          <p:nvPr/>
        </p:nvGrpSpPr>
        <p:grpSpPr>
          <a:xfrm>
            <a:off x="449024" y="1174084"/>
            <a:ext cx="5003164" cy="471268"/>
            <a:chOff x="259207" y="695478"/>
            <a:chExt cx="5758043" cy="144961"/>
          </a:xfrm>
        </p:grpSpPr>
        <p:sp>
          <p:nvSpPr>
            <p:cNvPr id="567" name="Google Shape;567;g3a7c546b70d_0_476"/>
            <p:cNvSpPr/>
            <p:nvPr/>
          </p:nvSpPr>
          <p:spPr>
            <a:xfrm>
              <a:off x="469319" y="695478"/>
              <a:ext cx="1343400" cy="12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6300" lIns="57600" spcFirstLastPara="1" rIns="146300" wrap="square" tIns="14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0"/>
                <a:buFont typeface="Arial"/>
                <a:buNone/>
              </a:pPr>
              <a:r>
                <a:rPr b="0" i="0" lang="en-US" sz="128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Objectif de couverture</a:t>
              </a:r>
              <a:endParaRPr b="0" i="0" sz="12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8" name="Google Shape;568;g3a7c546b70d_0_476"/>
            <p:cNvSpPr/>
            <p:nvPr/>
          </p:nvSpPr>
          <p:spPr>
            <a:xfrm>
              <a:off x="1775002" y="706125"/>
              <a:ext cx="1765500" cy="12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6300" lIns="57600" spcFirstLastPara="1" rIns="57600" wrap="square" tIns="14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0"/>
                <a:buFont typeface="Arial"/>
                <a:buNone/>
              </a:pPr>
              <a:r>
                <a:rPr b="0" i="0" lang="en-US" sz="128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Couverture avec cible administrative </a:t>
              </a:r>
              <a:endParaRPr b="0" i="0" sz="128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9" name="Google Shape;569;g3a7c546b70d_0_476"/>
            <p:cNvSpPr/>
            <p:nvPr/>
          </p:nvSpPr>
          <p:spPr>
            <a:xfrm>
              <a:off x="3776850" y="713350"/>
              <a:ext cx="2240400" cy="12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6300" lIns="57600" spcFirstLastPara="1" rIns="0" wrap="square" tIns="146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0"/>
                <a:buFont typeface="Arial"/>
                <a:buNone/>
              </a:pPr>
              <a:r>
                <a:rPr b="0" i="0" lang="en-US" sz="128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Couverture avec cible administrative ajustée</a:t>
              </a:r>
              <a:endParaRPr b="0" i="0" sz="128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0" name="Google Shape;570;g3a7c546b70d_0_476"/>
            <p:cNvSpPr/>
            <p:nvPr/>
          </p:nvSpPr>
          <p:spPr>
            <a:xfrm>
              <a:off x="259207" y="696239"/>
              <a:ext cx="183900" cy="123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146300" lIns="146300" spcFirstLastPara="1" rIns="146300" wrap="square" tIns="146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80"/>
                <a:buFont typeface="Arial"/>
                <a:buNone/>
              </a:pPr>
              <a:r>
                <a:t/>
              </a:r>
              <a:endParaRPr b="0" i="0" sz="20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g3a7c546b70d_0_476"/>
            <p:cNvSpPr/>
            <p:nvPr/>
          </p:nvSpPr>
          <p:spPr>
            <a:xfrm>
              <a:off x="1564881" y="709711"/>
              <a:ext cx="183900" cy="123000"/>
            </a:xfrm>
            <a:prstGeom prst="rect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146300" lIns="146300" spcFirstLastPara="1" rIns="146300" wrap="square" tIns="146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80"/>
                <a:buFont typeface="Arial"/>
                <a:buNone/>
              </a:pPr>
              <a:r>
                <a:t/>
              </a:r>
              <a:endParaRPr b="0" i="0" sz="20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2" name="Google Shape;572;g3a7c546b70d_0_476"/>
            <p:cNvSpPr/>
            <p:nvPr/>
          </p:nvSpPr>
          <p:spPr>
            <a:xfrm>
              <a:off x="3566733" y="717439"/>
              <a:ext cx="183900" cy="123000"/>
            </a:xfrm>
            <a:prstGeom prst="rect">
              <a:avLst/>
            </a:prstGeom>
            <a:solidFill>
              <a:srgbClr val="1C4588"/>
            </a:solidFill>
            <a:ln>
              <a:noFill/>
            </a:ln>
          </p:spPr>
          <p:txBody>
            <a:bodyPr anchorCtr="0" anchor="ctr" bIns="146300" lIns="146300" spcFirstLastPara="1" rIns="146300" wrap="square" tIns="146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80"/>
                <a:buFont typeface="Arial"/>
                <a:buNone/>
              </a:pPr>
              <a:r>
                <a:t/>
              </a:r>
              <a:endParaRPr b="0" i="0" sz="208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73" name="Google Shape;573;g3a7c546b70d_0_476"/>
          <p:cNvSpPr/>
          <p:nvPr/>
        </p:nvSpPr>
        <p:spPr>
          <a:xfrm>
            <a:off x="7942125" y="702850"/>
            <a:ext cx="3781800" cy="1000800"/>
          </a:xfrm>
          <a:prstGeom prst="wedgeRoundRectCallout">
            <a:avLst>
              <a:gd fmla="val -23502" name="adj1"/>
              <a:gd fmla="val 63261" name="adj2"/>
              <a:gd fmla="val 0" name="adj3"/>
            </a:avLst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résultats montrent un écart important entre les CV adm et celles ajustées.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couvertures avec les cibles ajustées indiquent les écarts importants pour atteindre les objectifs pour la plupart des antigènes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7c546b70d_0_521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Couverture vaccinale DTC-HepB-Hib1 avec cible administrative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g3a7c546b70d_0_52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g3a7c546b70d_0_52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g3a7c546b70d_0_52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g3a7c546b70d_0_52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3" name="Google Shape;583;g3a7c546b70d_0_521" title="Chart"/>
          <p:cNvPicPr preferRelativeResize="0"/>
          <p:nvPr/>
        </p:nvPicPr>
        <p:blipFill rotWithShape="1">
          <a:blip r:embed="rId3">
            <a:alphaModFix/>
          </a:blip>
          <a:srcRect b="4000" l="3120" r="3717" t="14011"/>
          <a:stretch/>
        </p:blipFill>
        <p:spPr>
          <a:xfrm>
            <a:off x="458600" y="1279191"/>
            <a:ext cx="11274902" cy="4299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" name="Google Shape;584;g3a7c546b70d_0_521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585" name="Google Shape;585;g3a7c546b70d_0_521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a7c546b70d_0_521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a7c546b70d_0_521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g3a7c546b70d_0_521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589" name="Google Shape;589;g3a7c546b70d_0_521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a7c546b70d_0_521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7c546b70d_0_580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DTC-HepB-Hib1 avec cible administrative ajustee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g3a7c546b70d_0_58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g3a7c546b70d_0_58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8" name="Google Shape;598;g3a7c546b70d_0_58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g3a7c546b70d_0_58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00" name="Google Shape;600;g3a7c546b70d_0_580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601" name="Google Shape;601;g3a7c546b70d_0_580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3a7c546b70d_0_580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a7c546b70d_0_580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g3a7c546b70d_0_580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605" name="Google Shape;605;g3a7c546b70d_0_580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3a7c546b70d_0_580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7" name="Google Shape;607;g3a7c546b70d_0_580" title="Chart"/>
          <p:cNvPicPr preferRelativeResize="0"/>
          <p:nvPr/>
        </p:nvPicPr>
        <p:blipFill rotWithShape="1">
          <a:blip r:embed="rId3">
            <a:alphaModFix/>
          </a:blip>
          <a:srcRect b="2737" l="3847" r="1607" t="1531"/>
          <a:stretch/>
        </p:blipFill>
        <p:spPr>
          <a:xfrm>
            <a:off x="458600" y="1295700"/>
            <a:ext cx="11249150" cy="4935474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a7c546b70d_0_580"/>
          <p:cNvSpPr/>
          <p:nvPr/>
        </p:nvSpPr>
        <p:spPr>
          <a:xfrm>
            <a:off x="6405500" y="1554808"/>
            <a:ext cx="5327700" cy="4676100"/>
          </a:xfrm>
          <a:prstGeom prst="rect">
            <a:avLst/>
          </a:prstGeom>
          <a:noFill/>
          <a:ln cap="flat" cmpd="sng" w="261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5525" lIns="125525" spcFirstLastPara="1" rIns="125525" wrap="square" tIns="125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2"/>
              <a:buFont typeface="Arial"/>
              <a:buNone/>
            </a:pPr>
            <a:r>
              <a:t/>
            </a:r>
            <a:endParaRPr b="0" i="0" sz="19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a7c546b70d_0_580"/>
          <p:cNvSpPr/>
          <p:nvPr/>
        </p:nvSpPr>
        <p:spPr>
          <a:xfrm>
            <a:off x="8637873" y="1295550"/>
            <a:ext cx="30957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525" lIns="125525" spcFirstLastPara="1" rIns="125525" wrap="square" tIns="125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r>
              <a:rPr b="1" i="0" lang="en-US" sz="137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Antennes avec faible couverture</a:t>
            </a:r>
            <a:endParaRPr b="1" i="0" sz="1372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7c546b70d_0_546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DTC-HepB-Hib 3 avec cible administrative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g3a7c546b70d_0_54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g3a7c546b70d_0_54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g3a7c546b70d_0_54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g3a7c546b70d_0_54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19" name="Google Shape;619;g3a7c546b70d_0_546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620" name="Google Shape;620;g3a7c546b70d_0_546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a7c546b70d_0_546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a7c546b70d_0_546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g3a7c546b70d_0_546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624" name="Google Shape;624;g3a7c546b70d_0_546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3a7c546b70d_0_546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6" name="Google Shape;626;g3a7c546b70d_0_546" title="Chart"/>
          <p:cNvPicPr preferRelativeResize="0"/>
          <p:nvPr/>
        </p:nvPicPr>
        <p:blipFill rotWithShape="1">
          <a:blip r:embed="rId3">
            <a:alphaModFix/>
          </a:blip>
          <a:srcRect b="2442" l="3579" r="1723" t="9053"/>
          <a:stretch/>
        </p:blipFill>
        <p:spPr>
          <a:xfrm>
            <a:off x="458600" y="1146063"/>
            <a:ext cx="11274902" cy="45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7c546b70d_0_599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DTC-HepB-Hib 3 avec cible administrative ajustee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g3a7c546b70d_0_5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g3a7c546b70d_0_5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g3a7c546b70d_0_59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g3a7c546b70d_0_5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36" name="Google Shape;636;g3a7c546b70d_0_599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637" name="Google Shape;637;g3a7c546b70d_0_599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a7c546b70d_0_599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a7c546b70d_0_599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g3a7c546b70d_0_599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641" name="Google Shape;641;g3a7c546b70d_0_599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a7c546b70d_0_599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3" name="Google Shape;643;g3a7c546b70d_0_599" title="Chart"/>
          <p:cNvPicPr preferRelativeResize="0"/>
          <p:nvPr/>
        </p:nvPicPr>
        <p:blipFill rotWithShape="1">
          <a:blip r:embed="rId3">
            <a:alphaModFix/>
          </a:blip>
          <a:srcRect b="2137" l="3975" r="1605" t="5747"/>
          <a:stretch/>
        </p:blipFill>
        <p:spPr>
          <a:xfrm>
            <a:off x="458600" y="1422575"/>
            <a:ext cx="11274902" cy="4766716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g3a7c546b70d_0_599"/>
          <p:cNvSpPr/>
          <p:nvPr/>
        </p:nvSpPr>
        <p:spPr>
          <a:xfrm>
            <a:off x="5328525" y="1554808"/>
            <a:ext cx="6404700" cy="4676100"/>
          </a:xfrm>
          <a:prstGeom prst="rect">
            <a:avLst/>
          </a:prstGeom>
          <a:noFill/>
          <a:ln cap="flat" cmpd="sng" w="261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5525" lIns="125525" spcFirstLastPara="1" rIns="125525" wrap="square" tIns="125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2"/>
              <a:buFont typeface="Arial"/>
              <a:buNone/>
            </a:pPr>
            <a:r>
              <a:t/>
            </a:r>
            <a:endParaRPr b="0" i="0" sz="19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a7c546b70d_0_599"/>
          <p:cNvSpPr/>
          <p:nvPr/>
        </p:nvSpPr>
        <p:spPr>
          <a:xfrm>
            <a:off x="8012134" y="1295550"/>
            <a:ext cx="37215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525" lIns="125525" spcFirstLastPara="1" rIns="125525" wrap="square" tIns="125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r>
              <a:rPr b="1" i="0" lang="en-US" sz="137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Antennes avec faible couverture</a:t>
            </a:r>
            <a:endParaRPr b="1" i="0" sz="1372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a7c546b70d_0_563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VAR 1 avec cible administrative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g3a7c546b70d_0_56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2" name="Google Shape;652;g3a7c546b70d_0_56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g3a7c546b70d_0_56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g3a7c546b70d_0_5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5" name="Google Shape;655;g3a7c546b70d_0_563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656" name="Google Shape;656;g3a7c546b70d_0_563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a7c546b70d_0_563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a7c546b70d_0_563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g3a7c546b70d_0_563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660" name="Google Shape;660;g3a7c546b70d_0_563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a7c546b70d_0_563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62" name="Google Shape;662;g3a7c546b70d_0_563" title="Chart"/>
          <p:cNvPicPr preferRelativeResize="0"/>
          <p:nvPr/>
        </p:nvPicPr>
        <p:blipFill rotWithShape="1">
          <a:blip r:embed="rId3">
            <a:alphaModFix/>
          </a:blip>
          <a:srcRect b="3345" l="3582" r="1387" t="5745"/>
          <a:stretch/>
        </p:blipFill>
        <p:spPr>
          <a:xfrm>
            <a:off x="458600" y="1397800"/>
            <a:ext cx="11274902" cy="467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7c546b70d_0_618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VAR 1 avec cible administrative ajustee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g3a7c546b70d_0_61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9" name="Google Shape;669;g3a7c546b70d_0_61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0" name="Google Shape;670;g3a7c546b70d_0_61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1" name="Google Shape;671;g3a7c546b70d_0_61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72" name="Google Shape;672;g3a7c546b70d_0_618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673" name="Google Shape;673;g3a7c546b70d_0_618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a7c546b70d_0_618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a7c546b70d_0_618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g3a7c546b70d_0_618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677" name="Google Shape;677;g3a7c546b70d_0_618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a7c546b70d_0_618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9" name="Google Shape;679;g3a7c546b70d_0_618" title="Chart"/>
          <p:cNvPicPr preferRelativeResize="0"/>
          <p:nvPr/>
        </p:nvPicPr>
        <p:blipFill rotWithShape="1">
          <a:blip r:embed="rId3">
            <a:alphaModFix/>
          </a:blip>
          <a:srcRect b="2444" l="3974" r="1391" t="10257"/>
          <a:stretch/>
        </p:blipFill>
        <p:spPr>
          <a:xfrm>
            <a:off x="458600" y="1459675"/>
            <a:ext cx="11274902" cy="450684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a7c546b70d_0_618"/>
          <p:cNvSpPr/>
          <p:nvPr/>
        </p:nvSpPr>
        <p:spPr>
          <a:xfrm>
            <a:off x="3805898" y="1554808"/>
            <a:ext cx="7927200" cy="4676100"/>
          </a:xfrm>
          <a:prstGeom prst="rect">
            <a:avLst/>
          </a:prstGeom>
          <a:noFill/>
          <a:ln cap="flat" cmpd="sng" w="261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5525" lIns="125525" spcFirstLastPara="1" rIns="125525" wrap="square" tIns="125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2"/>
              <a:buFont typeface="Arial"/>
              <a:buNone/>
            </a:pPr>
            <a:r>
              <a:t/>
            </a:r>
            <a:endParaRPr b="0" i="0" sz="19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a7c546b70d_0_618"/>
          <p:cNvSpPr/>
          <p:nvPr/>
        </p:nvSpPr>
        <p:spPr>
          <a:xfrm>
            <a:off x="7127451" y="1295550"/>
            <a:ext cx="4606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525" lIns="125525" spcFirstLastPara="1" rIns="125525" wrap="square" tIns="125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r>
              <a:rPr b="1" i="0" lang="en-US" sz="137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Antennes avec faible couverture</a:t>
            </a:r>
            <a:endParaRPr b="1" i="0" sz="1372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a7c546b70d_0_747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Couverture vaccinale VAR 1 avec cible administrative ajustee Jan. - Nov. 2025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g3a7c546b70d_0_74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g3a7c546b70d_0_74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g3a7c546b70d_0_74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g3a7c546b70d_0_74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Gestion PEV 2025, DHIS2 Tracker 2025</a:t>
            </a:r>
            <a:endParaRPr b="1" sz="12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91" name="Google Shape;691;g3a7c546b70d_0_747"/>
          <p:cNvGrpSpPr/>
          <p:nvPr/>
        </p:nvGrpSpPr>
        <p:grpSpPr>
          <a:xfrm>
            <a:off x="8271553" y="6516377"/>
            <a:ext cx="3259895" cy="184795"/>
            <a:chOff x="200775" y="4647825"/>
            <a:chExt cx="2196103" cy="124500"/>
          </a:xfrm>
        </p:grpSpPr>
        <p:sp>
          <p:nvSpPr>
            <p:cNvPr id="692" name="Google Shape;692;g3a7c546b70d_0_747"/>
            <p:cNvSpPr/>
            <p:nvPr/>
          </p:nvSpPr>
          <p:spPr>
            <a:xfrm>
              <a:off x="200775" y="4647825"/>
              <a:ext cx="697500" cy="124500"/>
            </a:xfrm>
            <a:prstGeom prst="rect">
              <a:avLst/>
            </a:prstGeom>
            <a:solidFill>
              <a:srgbClr val="34CC3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80 -89 %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3a7c546b70d_0_747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50% -79%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a7c546b70d_0_747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 50%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5" name="Google Shape;695;g3a7c546b70d_0_747"/>
          <p:cNvGrpSpPr/>
          <p:nvPr/>
        </p:nvGrpSpPr>
        <p:grpSpPr>
          <a:xfrm>
            <a:off x="6124017" y="6516377"/>
            <a:ext cx="2147630" cy="184795"/>
            <a:chOff x="950078" y="4647825"/>
            <a:chExt cx="1446800" cy="124500"/>
          </a:xfrm>
        </p:grpSpPr>
        <p:sp>
          <p:nvSpPr>
            <p:cNvPr id="696" name="Google Shape;696;g3a7c546b70d_0_747"/>
            <p:cNvSpPr/>
            <p:nvPr/>
          </p:nvSpPr>
          <p:spPr>
            <a:xfrm>
              <a:off x="950078" y="4647825"/>
              <a:ext cx="697500" cy="124500"/>
            </a:xfrm>
            <a:prstGeom prst="rect">
              <a:avLst/>
            </a:prstGeom>
            <a:solidFill>
              <a:srgbClr val="06B0F0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&gt; 100%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a7c546b70d_0_747"/>
            <p:cNvSpPr/>
            <p:nvPr/>
          </p:nvSpPr>
          <p:spPr>
            <a:xfrm>
              <a:off x="1699378" y="4647825"/>
              <a:ext cx="697500" cy="124500"/>
            </a:xfrm>
            <a:prstGeom prst="rect">
              <a:avLst/>
            </a:prstGeom>
            <a:solidFill>
              <a:srgbClr val="00800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7"/>
                <a:buFont typeface="Arial"/>
                <a:buNone/>
              </a:pPr>
              <a:r>
                <a:rPr b="0" i="0" lang="en-US" sz="118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90 - 100 %</a:t>
              </a:r>
              <a:endParaRPr b="0" i="0" sz="11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8" name="Google Shape;698;g3a7c546b70d_0_747" title="Chart"/>
          <p:cNvPicPr preferRelativeResize="0"/>
          <p:nvPr/>
        </p:nvPicPr>
        <p:blipFill rotWithShape="1">
          <a:blip r:embed="rId3">
            <a:alphaModFix/>
          </a:blip>
          <a:srcRect b="3650" l="4113" r="0" t="1526"/>
          <a:stretch/>
        </p:blipFill>
        <p:spPr>
          <a:xfrm>
            <a:off x="458600" y="1311150"/>
            <a:ext cx="11274902" cy="48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g3a7c546b70d_0_747"/>
          <p:cNvSpPr/>
          <p:nvPr/>
        </p:nvSpPr>
        <p:spPr>
          <a:xfrm>
            <a:off x="6814000" y="1360675"/>
            <a:ext cx="3437400" cy="1029900"/>
          </a:xfrm>
          <a:prstGeom prst="wedgeRoundRectCallout">
            <a:avLst>
              <a:gd fmla="val 85131" name="adj1"/>
              <a:gd fmla="val -13934" name="adj2"/>
              <a:gd fmla="val 0" name="adj3"/>
            </a:avLst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05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suivi des enfants est impacté par les mouvements de la population suite à la ruée vers les mines artisanales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Nécessité de pilote des approches innovantes : vaccination aux points de passage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a7c546b70d_0_94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 - Faiblesses - Opportunités - Menaces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g3a7c546b70d_0_94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g3a7c546b70d_0_94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g3a7c546b70d_0_94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g3a7c546b70d_0_94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g3a7c546b70d_0_94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g3a7c546b70d_0_949"/>
          <p:cNvSpPr txBox="1"/>
          <p:nvPr/>
        </p:nvSpPr>
        <p:spPr>
          <a:xfrm>
            <a:off x="458600" y="1095800"/>
            <a:ext cx="11328900" cy="4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Forte volonté du management du PEV de renforcer le suivi-évaluation au sein du programme de vaccination.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Développement d’outils de suivi du PAO et de tableaux de bord pour l’analyse des données de vaccination.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Suivi régulier de la mise en œuvre du PAO lors des réunions de sta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Appui des PTF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Amélioration progressive de l’environnement et de l’espace de travail.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7c546b70d_0_81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 - </a:t>
            </a: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Faiblesses - Opportunités - Menaces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Faiblesses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g3a7c546b70d_0_8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g3a7c546b70d_0_8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g3a7c546b70d_0_8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g3a7c546b70d_0_8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0" name="Google Shape;720;g3a7c546b70d_0_8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1" name="Google Shape;721;g3a7c546b70d_0_819"/>
          <p:cNvSpPr txBox="1"/>
          <p:nvPr/>
        </p:nvSpPr>
        <p:spPr>
          <a:xfrm>
            <a:off x="458600" y="1095800"/>
            <a:ext cx="11328900" cy="4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Arrivée tardive des fonds pour la mise en oeuvre des activités - Juin 2025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Inscription de plusieurs activités dans le PAO sans sécurisation préalable, ni mobilisation en aval de financement nécessaires à leur mise en œuvre.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Non tenue de la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revue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 mi-parcours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Retards dans l’élaboration des termes de référence de certaines activités, entraînant des retards dans le décaissement des fonds.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Faible intégration de certaines activités pouvant être réalisées de manière concomitante.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Faible délégation des activités pouvant être mises en œuvre par le niveau intermédiaire (Activité communication sur la sensibilisation des femmes des gouverneurs)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7c546b70d_0_82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 - Faiblesses - Opportunités - Menaces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Opportunités - Menaces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g3a7c546b70d_0_82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g3a7c546b70d_0_82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g3a7c546b70d_0_82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g3a7c546b70d_0_82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g3a7c546b70d_0_82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g3a7c546b70d_0_829"/>
          <p:cNvSpPr txBox="1"/>
          <p:nvPr/>
        </p:nvSpPr>
        <p:spPr>
          <a:xfrm>
            <a:off x="458600" y="1095800"/>
            <a:ext cx="11328900" cy="4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Opportunités</a:t>
            </a:r>
            <a:endParaRPr b="1"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Existence d’outils d’intelligence artificielle pouvant être exploités pour renforcer le suivi-évaluation, l’analyse des données et la prise de décision.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Menaces</a:t>
            </a:r>
            <a:endParaRPr b="1"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Faible intégration de certaines activités pouvant être réalisées de manière concomitante.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Insuffisance ou imprévisibilité des financements affectés au suivi-évaluation.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Forte dépendance aux partenaires techniques et financiers pour le financement des activités clés.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Faible appropriation institutionnelle des outils numériques et analytiques.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a7c546b70d_0_83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Recommandations</a:t>
            </a:r>
            <a:endParaRPr sz="25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g3a7c546b70d_0_83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g3a7c546b70d_0_83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0" name="Google Shape;740;g3a7c546b70d_0_83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g3a7c546b70d_0_83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2" name="Google Shape;742;g3a7c546b70d_0_83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g3a7c546b70d_0_839"/>
          <p:cNvSpPr txBox="1"/>
          <p:nvPr/>
        </p:nvSpPr>
        <p:spPr>
          <a:xfrm>
            <a:off x="458600" y="1095800"/>
            <a:ext cx="11328900" cy="4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Renforcer l’intégration et la planification conjointe des activités connexes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Accroître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la redevabilité du niveau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intermédiaire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dans la mise en oeuvre des activités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Standardiser les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échéances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de traitement des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requêtes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et fiches techniques afin de faciliter le </a:t>
            </a: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décaissement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a7c546b70d_0_85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b="1" i="0" sz="53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g3a7c546b70d_0_85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g3a7c546b70d_0_85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F07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3084-12.2.0.23131</vt:lpwstr>
  </property>
  <property fmtid="{D5CDD505-2E9C-101B-9397-08002B2CF9AE}" pid="3" name="ICV">
    <vt:lpwstr>864046617A2A49699922BB4C2C890CB9_13</vt:lpwstr>
  </property>
</Properties>
</file>