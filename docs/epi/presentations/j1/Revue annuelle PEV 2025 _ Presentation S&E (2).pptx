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33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34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35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32.xml"/>
  <Override ContentType="application/vnd.openxmlformats-officedocument.presentationml.slideMaster+xml" PartName="/ppt/slideMasters/slideMaster3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slide+xml" PartName="/ppt/slides/slide40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theme+xml" PartName="/ppt/theme/theme4.xml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40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custom-properties+xml" PartName="/docProps/custom.xml"/>
  <Override ContentType="application/binary" PartName="/ppt/metadata"/>
  <Override ContentType="application/vnd.openxmlformats-officedocument.presentationml.notesMaster+xml" PartName="/ppt/notesMasters/notesMaster1.xml"/>
  <Override ContentType="application/vnd.openxmlformats-officedocument.presentationml.presProps+xml" PartName="/ppt/presProps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custom-properties" Target="docProps/custom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5"/>
    <p:sldMasterId id="2147483659" r:id="rId6"/>
    <p:sldMasterId id="2147483673" r:id="rId7"/>
  </p:sldMasterIdLst>
  <p:notesMasterIdLst>
    <p:notesMasterId r:id="rId8"/>
  </p:notesMasterIdLst>
  <p:sldIdLst>
    <p:sldId id="256" r:id="rId9"/>
    <p:sldId id="257" r:id="rId10"/>
    <p:sldId id="258" r:id="rId11"/>
    <p:sldId id="259" r:id="rId12"/>
    <p:sldId id="260" r:id="rId13"/>
    <p:sldId id="261" r:id="rId14"/>
    <p:sldId id="262" r:id="rId15"/>
    <p:sldId id="263" r:id="rId16"/>
    <p:sldId id="264" r:id="rId17"/>
    <p:sldId id="265" r:id="rId18"/>
    <p:sldId id="266" r:id="rId19"/>
    <p:sldId id="267" r:id="rId20"/>
    <p:sldId id="268" r:id="rId21"/>
    <p:sldId id="269" r:id="rId22"/>
    <p:sldId id="270" r:id="rId23"/>
    <p:sldId id="271" r:id="rId24"/>
    <p:sldId id="272" r:id="rId25"/>
    <p:sldId id="273" r:id="rId26"/>
    <p:sldId id="274" r:id="rId27"/>
    <p:sldId id="275" r:id="rId28"/>
    <p:sldId id="276" r:id="rId29"/>
    <p:sldId id="277" r:id="rId30"/>
    <p:sldId id="278" r:id="rId31"/>
    <p:sldId id="279" r:id="rId32"/>
    <p:sldId id="280" r:id="rId33"/>
    <p:sldId id="281" r:id="rId34"/>
    <p:sldId id="282" r:id="rId35"/>
    <p:sldId id="283" r:id="rId36"/>
    <p:sldId id="284" r:id="rId37"/>
    <p:sldId id="285" r:id="rId38"/>
    <p:sldId id="286" r:id="rId39"/>
    <p:sldId id="287" r:id="rId40"/>
    <p:sldId id="288" r:id="rId41"/>
    <p:sldId id="289" r:id="rId42"/>
    <p:sldId id="290" r:id="rId43"/>
    <p:sldId id="291" r:id="rId44"/>
    <p:sldId id="292" r:id="rId45"/>
    <p:sldId id="293" r:id="rId46"/>
    <p:sldId id="294" r:id="rId47"/>
    <p:sldId id="295" r:id="rId48"/>
  </p:sldIdLst>
  <p:sldSz cy="6858000" cx="12192000"/>
  <p:notesSz cx="7103725" cy="10234275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A4A3A4"/>
          </p15:clr>
        </p15:guide>
        <p15:guide id="2" pos="3834">
          <p15:clr>
            <a:srgbClr val="A4A3A4"/>
          </p15:clr>
        </p15:guide>
      </p15:sldGuideLst>
    </p:ext>
    <p:ext uri="GoogleSlidesCustomDataVersion2">
      <go:slidesCustomData xmlns:go="http://customooxmlschemas.google.com/" r:id="rId49" roundtripDataSignature="AMtx7mhNI/aU1cRjrhW1Eh8PUTZOxefvH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CD789E3B-FF50-42BA-A358-828BAFD84ED0}">
  <a:tblStyle styleId="{CD789E3B-FF50-42BA-A358-828BAFD84ED0}" styleName="Table_0">
    <a:wholeTbl>
      <a:tcTxStyle b="off" i="off">
        <a:font>
          <a:latin typeface="Arial"/>
          <a:ea typeface="Arial"/>
          <a:cs typeface="Arial"/>
        </a:font>
        <a:schemeClr val="dk1"/>
      </a:tcTxStyle>
      <a:tcStyle>
        <a:tcBdr>
          <a:left>
            <a:ln cap="flat" cmpd="sng" w="12700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FFFFF">
              <a:alpha val="0"/>
            </a:srgbClr>
          </a:solidFill>
        </a:fill>
      </a:tcStyle>
    </a:wholeTbl>
    <a:band1H>
      <a:tcTxStyle/>
      <a:tcStyle>
        <a:fill>
          <a:solidFill>
            <a:schemeClr val="dk1">
              <a:alpha val="20000"/>
            </a:schemeClr>
          </a:solidFill>
        </a:fill>
      </a:tcStyle>
    </a:band1H>
    <a:band2H>
      <a:tcTxStyle/>
    </a:band2H>
    <a:band1V>
      <a:tcTxStyle/>
      <a:tcStyle>
        <a:fill>
          <a:solidFill>
            <a:schemeClr val="dk1">
              <a:alpha val="20000"/>
            </a:schemeClr>
          </a:solidFill>
        </a:fill>
      </a:tcStyle>
    </a:band1V>
    <a:band2V>
      <a:tcTxStyle/>
    </a:band2V>
    <a:lastCol>
      <a:tcTxStyle b="on" i="off"/>
    </a:lastCol>
    <a:firstCol>
      <a:tcTxStyle b="on" i="off"/>
    </a:firstCol>
    <a:lastRow>
      <a:tcTxStyle b="on" i="off"/>
      <a:tcStyle>
        <a:tcBdr>
          <a:top>
            <a:ln cap="flat" cmpd="sng" w="50800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rgbClr val="FFFFFF">
              <a:alpha val="0"/>
            </a:srgbClr>
          </a:solidFill>
        </a:fill>
      </a:tcStyle>
    </a:lastRow>
    <a:seCell>
      <a:tcTxStyle/>
    </a:seCell>
    <a:swCell>
      <a:tcTxStyle/>
    </a:swCell>
    <a:firstRow>
      <a:tcTxStyle b="on" i="off"/>
      <a:tcStyle>
        <a:tcBdr>
          <a:bottom>
            <a:ln cap="flat" cmpd="sng" w="25400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rgbClr val="FFFFFF">
              <a:alpha val="0"/>
            </a:srgbClr>
          </a:solidFill>
        </a:fill>
      </a:tcStyle>
    </a:firstRow>
    <a:neCell>
      <a:tcTxStyle/>
    </a:neCell>
    <a:nwCell>
      <a:tcTxStyle/>
    </a:nwCell>
  </a:tblStyle>
  <a:tblStyle styleId="{EB624210-9165-4350-9EDD-DD9B9CECAD3B}" styleName="Table_1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  <a:tblStyle styleId="{277F3BD0-A6D7-4A16-8387-E2A6C840DE50}" styleName="Table_2">
    <a:wholeTbl>
      <a:tcTxStyle b="off" i="off">
        <a:font>
          <a:latin typeface="Calibri"/>
          <a:ea typeface="Calibri"/>
          <a:cs typeface="Calibri"/>
        </a:font>
        <a:srgbClr val="000000"/>
      </a:tcTxStyle>
      <a:tcStyle>
        <a:tcBdr>
          <a:left>
            <a:ln cap="flat" cmpd="sng" w="12700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FFFFF">
              <a:alpha val="0"/>
            </a:srgbClr>
          </a:solidFill>
        </a:fill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  <a:tblStyle styleId="{B250B49A-1DDC-4389-8C2D-6F04E9F09937}" styleName="Table_3">
    <a:wholeTbl>
      <a:tcTxStyle b="off" i="off">
        <a:font>
          <a:latin typeface="Arial"/>
          <a:ea typeface="Arial"/>
          <a:cs typeface="Arial"/>
        </a:font>
        <a:schemeClr val="dk1"/>
      </a:tcTxStyle>
      <a:tcStyle>
        <a:tcBdr>
          <a:left>
            <a:ln cap="flat" cmpd="sng" w="12700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FFFFF">
              <a:alpha val="0"/>
            </a:srgbClr>
          </a:solidFill>
        </a:fill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  <a:tblStyle styleId="{5F268994-D80F-4D26-B88D-35B49DC9060B}" styleName="Table_4">
    <a:wholeTbl>
      <a:tcTxStyle b="off" i="off">
        <a:font>
          <a:latin typeface="Arial"/>
          <a:ea typeface="Arial"/>
          <a:cs typeface="Arial"/>
        </a:font>
        <a:srgbClr val="000000"/>
      </a:tcTx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3834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2.xml"/><Relationship Id="rId42" Type="http://schemas.openxmlformats.org/officeDocument/2006/relationships/slide" Target="slides/slide34.xml"/><Relationship Id="rId41" Type="http://schemas.openxmlformats.org/officeDocument/2006/relationships/slide" Target="slides/slide33.xml"/><Relationship Id="rId44" Type="http://schemas.openxmlformats.org/officeDocument/2006/relationships/slide" Target="slides/slide36.xml"/><Relationship Id="rId43" Type="http://schemas.openxmlformats.org/officeDocument/2006/relationships/slide" Target="slides/slide35.xml"/><Relationship Id="rId46" Type="http://schemas.openxmlformats.org/officeDocument/2006/relationships/slide" Target="slides/slide38.xml"/><Relationship Id="rId45" Type="http://schemas.openxmlformats.org/officeDocument/2006/relationships/slide" Target="slides/slide37.xml"/><Relationship Id="rId1" Type="http://schemas.openxmlformats.org/officeDocument/2006/relationships/theme" Target="theme/theme4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9" Type="http://schemas.openxmlformats.org/officeDocument/2006/relationships/slide" Target="slides/slide1.xml"/><Relationship Id="rId48" Type="http://schemas.openxmlformats.org/officeDocument/2006/relationships/slide" Target="slides/slide40.xml"/><Relationship Id="rId47" Type="http://schemas.openxmlformats.org/officeDocument/2006/relationships/slide" Target="slides/slide39.xml"/><Relationship Id="rId49" Type="http://customschemas.google.com/relationships/presentationmetadata" Target="metadata"/><Relationship Id="rId5" Type="http://schemas.openxmlformats.org/officeDocument/2006/relationships/slideMaster" Target="slideMasters/slideMaster1.xml"/><Relationship Id="rId6" Type="http://schemas.openxmlformats.org/officeDocument/2006/relationships/slideMaster" Target="slideMasters/slideMaster2.xml"/><Relationship Id="rId7" Type="http://schemas.openxmlformats.org/officeDocument/2006/relationships/slideMaster" Target="slideMasters/slideMaster3.xml"/><Relationship Id="rId8" Type="http://schemas.openxmlformats.org/officeDocument/2006/relationships/notesMaster" Target="notesMasters/notesMaster1.xml"/><Relationship Id="rId31" Type="http://schemas.openxmlformats.org/officeDocument/2006/relationships/slide" Target="slides/slide23.xml"/><Relationship Id="rId30" Type="http://schemas.openxmlformats.org/officeDocument/2006/relationships/slide" Target="slides/slide22.xml"/><Relationship Id="rId33" Type="http://schemas.openxmlformats.org/officeDocument/2006/relationships/slide" Target="slides/slide25.xml"/><Relationship Id="rId32" Type="http://schemas.openxmlformats.org/officeDocument/2006/relationships/slide" Target="slides/slide24.xml"/><Relationship Id="rId35" Type="http://schemas.openxmlformats.org/officeDocument/2006/relationships/slide" Target="slides/slide27.xml"/><Relationship Id="rId34" Type="http://schemas.openxmlformats.org/officeDocument/2006/relationships/slide" Target="slides/slide26.xml"/><Relationship Id="rId37" Type="http://schemas.openxmlformats.org/officeDocument/2006/relationships/slide" Target="slides/slide29.xml"/><Relationship Id="rId36" Type="http://schemas.openxmlformats.org/officeDocument/2006/relationships/slide" Target="slides/slide28.xml"/><Relationship Id="rId39" Type="http://schemas.openxmlformats.org/officeDocument/2006/relationships/slide" Target="slides/slide31.xml"/><Relationship Id="rId38" Type="http://schemas.openxmlformats.org/officeDocument/2006/relationships/slide" Target="slides/slide30.xml"/><Relationship Id="rId20" Type="http://schemas.openxmlformats.org/officeDocument/2006/relationships/slide" Target="slides/slide12.xml"/><Relationship Id="rId22" Type="http://schemas.openxmlformats.org/officeDocument/2006/relationships/slide" Target="slides/slide14.xml"/><Relationship Id="rId21" Type="http://schemas.openxmlformats.org/officeDocument/2006/relationships/slide" Target="slides/slide13.xml"/><Relationship Id="rId24" Type="http://schemas.openxmlformats.org/officeDocument/2006/relationships/slide" Target="slides/slide16.xml"/><Relationship Id="rId23" Type="http://schemas.openxmlformats.org/officeDocument/2006/relationships/slide" Target="slides/slide15.xml"/><Relationship Id="rId26" Type="http://schemas.openxmlformats.org/officeDocument/2006/relationships/slide" Target="slides/slide18.xml"/><Relationship Id="rId25" Type="http://schemas.openxmlformats.org/officeDocument/2006/relationships/slide" Target="slides/slide17.xml"/><Relationship Id="rId28" Type="http://schemas.openxmlformats.org/officeDocument/2006/relationships/slide" Target="slides/slide20.xml"/><Relationship Id="rId27" Type="http://schemas.openxmlformats.org/officeDocument/2006/relationships/slide" Target="slides/slide19.xml"/><Relationship Id="rId29" Type="http://schemas.openxmlformats.org/officeDocument/2006/relationships/slide" Target="slides/slide21.xml"/><Relationship Id="rId11" Type="http://schemas.openxmlformats.org/officeDocument/2006/relationships/slide" Target="slides/slide3.xml"/><Relationship Id="rId10" Type="http://schemas.openxmlformats.org/officeDocument/2006/relationships/slide" Target="slides/slide2.xml"/><Relationship Id="rId13" Type="http://schemas.openxmlformats.org/officeDocument/2006/relationships/slide" Target="slides/slide5.xml"/><Relationship Id="rId12" Type="http://schemas.openxmlformats.org/officeDocument/2006/relationships/slide" Target="slides/slide4.xml"/><Relationship Id="rId15" Type="http://schemas.openxmlformats.org/officeDocument/2006/relationships/slide" Target="slides/slide7.xml"/><Relationship Id="rId14" Type="http://schemas.openxmlformats.org/officeDocument/2006/relationships/slide" Target="slides/slide6.xml"/><Relationship Id="rId17" Type="http://schemas.openxmlformats.org/officeDocument/2006/relationships/slide" Target="slides/slide9.xml"/><Relationship Id="rId16" Type="http://schemas.openxmlformats.org/officeDocument/2006/relationships/slide" Target="slides/slide8.xml"/><Relationship Id="rId19" Type="http://schemas.openxmlformats.org/officeDocument/2006/relationships/slide" Target="slides/slide11.xml"/><Relationship Id="rId18" Type="http://schemas.openxmlformats.org/officeDocument/2006/relationships/slide" Target="slides/slide10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3078163" cy="5127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4024313" y="0"/>
            <a:ext cx="3078162" cy="5127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482600" y="1279525"/>
            <a:ext cx="6140450" cy="34544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711200" y="4926013"/>
            <a:ext cx="5683250" cy="4029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9721850"/>
            <a:ext cx="3078163" cy="512763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4024313" y="9721850"/>
            <a:ext cx="3078162" cy="512763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Microsoft Yahei"/>
              <a:ea typeface="Microsoft Yahei"/>
              <a:cs typeface="Microsoft Yahei"/>
              <a:sym typeface="Microsoft Yahe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4" name="Google Shape;184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Microsoft Yahei"/>
              <a:buNone/>
            </a:pPr>
            <a:r>
              <a:t/>
            </a:r>
            <a:endParaRPr sz="1200">
              <a:solidFill>
                <a:schemeClr val="dk1"/>
              </a:solidFill>
              <a:latin typeface="Microsoft Yahei"/>
              <a:ea typeface="Microsoft Yahei"/>
              <a:cs typeface="Microsoft Yahei"/>
              <a:sym typeface="Microsoft Yahei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3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g3a7c511620c_0_0:notes"/>
          <p:cNvSpPr/>
          <p:nvPr>
            <p:ph idx="2" type="sldImg"/>
          </p:nvPr>
        </p:nvSpPr>
        <p:spPr>
          <a:xfrm>
            <a:off x="396296" y="767571"/>
            <a:ext cx="6312900" cy="38379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35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95" name="Google Shape;195;g3a7c511620c_0_0:notes"/>
          <p:cNvSpPr txBox="1"/>
          <p:nvPr>
            <p:ph idx="1" type="body"/>
          </p:nvPr>
        </p:nvSpPr>
        <p:spPr>
          <a:xfrm>
            <a:off x="710372" y="4861281"/>
            <a:ext cx="5682900" cy="4605300"/>
          </a:xfrm>
          <a:prstGeom prst="rect">
            <a:avLst/>
          </a:prstGeom>
          <a:noFill/>
          <a:ln>
            <a:noFill/>
          </a:ln>
        </p:spPr>
        <p:txBody>
          <a:bodyPr anchorCtr="0" anchor="t" bIns="97250" lIns="97250" spcFirstLastPara="1" rIns="97250" wrap="square" tIns="9725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Calibri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g3a7c543e2b9_0_32:notes"/>
          <p:cNvSpPr/>
          <p:nvPr>
            <p:ph idx="2" type="sldImg"/>
          </p:nvPr>
        </p:nvSpPr>
        <p:spPr>
          <a:xfrm>
            <a:off x="394962" y="767571"/>
            <a:ext cx="6314400" cy="38379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01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04" name="Google Shape;204;g3a7c543e2b9_0_32:notes"/>
          <p:cNvSpPr txBox="1"/>
          <p:nvPr>
            <p:ph idx="1" type="body"/>
          </p:nvPr>
        </p:nvSpPr>
        <p:spPr>
          <a:xfrm>
            <a:off x="710372" y="4861281"/>
            <a:ext cx="5682900" cy="4605300"/>
          </a:xfrm>
          <a:prstGeom prst="rect">
            <a:avLst/>
          </a:prstGeom>
          <a:noFill/>
          <a:ln>
            <a:noFill/>
          </a:ln>
        </p:spPr>
        <p:txBody>
          <a:bodyPr anchorCtr="0" anchor="t" bIns="97375" lIns="97375" spcFirstLastPara="1" rIns="97375" wrap="square" tIns="9737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g3a7c546b70d_0_959:notes"/>
          <p:cNvSpPr/>
          <p:nvPr>
            <p:ph idx="2" type="sldImg"/>
          </p:nvPr>
        </p:nvSpPr>
        <p:spPr>
          <a:xfrm>
            <a:off x="396296" y="767571"/>
            <a:ext cx="6312900" cy="38379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35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09" name="Google Shape;209;g3a7c546b70d_0_959:notes"/>
          <p:cNvSpPr txBox="1"/>
          <p:nvPr>
            <p:ph idx="1" type="body"/>
          </p:nvPr>
        </p:nvSpPr>
        <p:spPr>
          <a:xfrm>
            <a:off x="710372" y="4861281"/>
            <a:ext cx="5682900" cy="4605300"/>
          </a:xfrm>
          <a:prstGeom prst="rect">
            <a:avLst/>
          </a:prstGeom>
          <a:noFill/>
          <a:ln>
            <a:noFill/>
          </a:ln>
        </p:spPr>
        <p:txBody>
          <a:bodyPr anchorCtr="0" anchor="t" bIns="97250" lIns="97250" spcFirstLastPara="1" rIns="97250" wrap="square" tIns="9725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Calibri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5" name="Shape 2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g3a7c50a7b14_0_304:notes"/>
          <p:cNvSpPr/>
          <p:nvPr>
            <p:ph idx="2" type="sldImg"/>
          </p:nvPr>
        </p:nvSpPr>
        <p:spPr>
          <a:xfrm>
            <a:off x="396296" y="767571"/>
            <a:ext cx="6312900" cy="38379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35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47" name="Google Shape;247;g3a7c50a7b14_0_304:notes"/>
          <p:cNvSpPr txBox="1"/>
          <p:nvPr>
            <p:ph idx="1" type="body"/>
          </p:nvPr>
        </p:nvSpPr>
        <p:spPr>
          <a:xfrm>
            <a:off x="710372" y="4861281"/>
            <a:ext cx="5682900" cy="4605300"/>
          </a:xfrm>
          <a:prstGeom prst="rect">
            <a:avLst/>
          </a:prstGeom>
          <a:noFill/>
          <a:ln>
            <a:noFill/>
          </a:ln>
        </p:spPr>
        <p:txBody>
          <a:bodyPr anchorCtr="0" anchor="t" bIns="97250" lIns="97250" spcFirstLastPara="1" rIns="97250" wrap="square" tIns="9725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Calibri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2" name="Shape 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Google Shape;263;g3a7c50a7b14_0_489:notes"/>
          <p:cNvSpPr/>
          <p:nvPr>
            <p:ph idx="2" type="sldImg"/>
          </p:nvPr>
        </p:nvSpPr>
        <p:spPr>
          <a:xfrm>
            <a:off x="396296" y="767571"/>
            <a:ext cx="6312900" cy="38379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35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64" name="Google Shape;264;g3a7c50a7b14_0_489:notes"/>
          <p:cNvSpPr txBox="1"/>
          <p:nvPr>
            <p:ph idx="1" type="body"/>
          </p:nvPr>
        </p:nvSpPr>
        <p:spPr>
          <a:xfrm>
            <a:off x="710372" y="4861281"/>
            <a:ext cx="5682900" cy="4605300"/>
          </a:xfrm>
          <a:prstGeom prst="rect">
            <a:avLst/>
          </a:prstGeom>
          <a:noFill/>
          <a:ln>
            <a:noFill/>
          </a:ln>
        </p:spPr>
        <p:txBody>
          <a:bodyPr anchorCtr="0" anchor="t" bIns="97250" lIns="97250" spcFirstLastPara="1" rIns="97250" wrap="square" tIns="9725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Calibri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g3a7c50a7b14_0_457:notes"/>
          <p:cNvSpPr/>
          <p:nvPr>
            <p:ph idx="2" type="sldImg"/>
          </p:nvPr>
        </p:nvSpPr>
        <p:spPr>
          <a:xfrm>
            <a:off x="396296" y="767571"/>
            <a:ext cx="6312900" cy="38379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35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83" name="Google Shape;283;g3a7c50a7b14_0_457:notes"/>
          <p:cNvSpPr txBox="1"/>
          <p:nvPr>
            <p:ph idx="1" type="body"/>
          </p:nvPr>
        </p:nvSpPr>
        <p:spPr>
          <a:xfrm>
            <a:off x="710372" y="4861281"/>
            <a:ext cx="5682900" cy="4605300"/>
          </a:xfrm>
          <a:prstGeom prst="rect">
            <a:avLst/>
          </a:prstGeom>
          <a:noFill/>
          <a:ln>
            <a:noFill/>
          </a:ln>
        </p:spPr>
        <p:txBody>
          <a:bodyPr anchorCtr="0" anchor="t" bIns="97250" lIns="97250" spcFirstLastPara="1" rIns="97250" wrap="square" tIns="9725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Calibri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g3a7c546b70d_0_215:notes"/>
          <p:cNvSpPr/>
          <p:nvPr>
            <p:ph idx="2" type="sldImg"/>
          </p:nvPr>
        </p:nvSpPr>
        <p:spPr>
          <a:xfrm>
            <a:off x="396296" y="767571"/>
            <a:ext cx="6312900" cy="38379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35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94" name="Google Shape;294;g3a7c546b70d_0_215:notes"/>
          <p:cNvSpPr txBox="1"/>
          <p:nvPr>
            <p:ph idx="1" type="body"/>
          </p:nvPr>
        </p:nvSpPr>
        <p:spPr>
          <a:xfrm>
            <a:off x="710372" y="4861281"/>
            <a:ext cx="5682900" cy="4605300"/>
          </a:xfrm>
          <a:prstGeom prst="rect">
            <a:avLst/>
          </a:prstGeom>
          <a:noFill/>
          <a:ln>
            <a:noFill/>
          </a:ln>
        </p:spPr>
        <p:txBody>
          <a:bodyPr anchorCtr="0" anchor="t" bIns="97250" lIns="97250" spcFirstLastPara="1" rIns="97250" wrap="square" tIns="9725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Calibri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2" name="Shape 3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3" name="Google Shape;333;g3a7c546b70d_0_259:notes"/>
          <p:cNvSpPr/>
          <p:nvPr>
            <p:ph idx="2" type="sldImg"/>
          </p:nvPr>
        </p:nvSpPr>
        <p:spPr>
          <a:xfrm>
            <a:off x="396296" y="767571"/>
            <a:ext cx="6312900" cy="38379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35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34" name="Google Shape;334;g3a7c546b70d_0_259:notes"/>
          <p:cNvSpPr txBox="1"/>
          <p:nvPr>
            <p:ph idx="1" type="body"/>
          </p:nvPr>
        </p:nvSpPr>
        <p:spPr>
          <a:xfrm>
            <a:off x="710372" y="4861281"/>
            <a:ext cx="5682900" cy="4605300"/>
          </a:xfrm>
          <a:prstGeom prst="rect">
            <a:avLst/>
          </a:prstGeom>
          <a:noFill/>
          <a:ln>
            <a:noFill/>
          </a:ln>
        </p:spPr>
        <p:txBody>
          <a:bodyPr anchorCtr="0" anchor="t" bIns="97250" lIns="97250" spcFirstLastPara="1" rIns="97250" wrap="square" tIns="9725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Calibri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3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g3a7c546b70d_0_270:notes"/>
          <p:cNvSpPr/>
          <p:nvPr>
            <p:ph idx="2" type="sldImg"/>
          </p:nvPr>
        </p:nvSpPr>
        <p:spPr>
          <a:xfrm>
            <a:off x="396296" y="767571"/>
            <a:ext cx="6312900" cy="38379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35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45" name="Google Shape;345;g3a7c546b70d_0_270:notes"/>
          <p:cNvSpPr txBox="1"/>
          <p:nvPr>
            <p:ph idx="1" type="body"/>
          </p:nvPr>
        </p:nvSpPr>
        <p:spPr>
          <a:xfrm>
            <a:off x="710372" y="4861281"/>
            <a:ext cx="5682900" cy="4605300"/>
          </a:xfrm>
          <a:prstGeom prst="rect">
            <a:avLst/>
          </a:prstGeom>
          <a:noFill/>
          <a:ln>
            <a:noFill/>
          </a:ln>
        </p:spPr>
        <p:txBody>
          <a:bodyPr anchorCtr="0" anchor="t" bIns="97250" lIns="97250" spcFirstLastPara="1" rIns="97250" wrap="square" tIns="9725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Calibri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4" name="Shape 3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5" name="Google Shape;355;g3a7c50a7b14_0_585:notes"/>
          <p:cNvSpPr/>
          <p:nvPr>
            <p:ph idx="2" type="sldImg"/>
          </p:nvPr>
        </p:nvSpPr>
        <p:spPr>
          <a:xfrm>
            <a:off x="394962" y="767571"/>
            <a:ext cx="6314400" cy="38379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01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56" name="Google Shape;356;g3a7c50a7b14_0_585:notes"/>
          <p:cNvSpPr txBox="1"/>
          <p:nvPr>
            <p:ph idx="1" type="body"/>
          </p:nvPr>
        </p:nvSpPr>
        <p:spPr>
          <a:xfrm>
            <a:off x="710372" y="4861281"/>
            <a:ext cx="5682900" cy="4605300"/>
          </a:xfrm>
          <a:prstGeom prst="rect">
            <a:avLst/>
          </a:prstGeom>
          <a:noFill/>
          <a:ln>
            <a:noFill/>
          </a:ln>
        </p:spPr>
        <p:txBody>
          <a:bodyPr anchorCtr="0" anchor="t" bIns="97375" lIns="97375" spcFirstLastPara="1" rIns="97375" wrap="square" tIns="9737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9" name="Shape 3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" name="Google Shape;360;g3a7c50a7b14_2_32:notes"/>
          <p:cNvSpPr/>
          <p:nvPr>
            <p:ph idx="2" type="sldImg"/>
          </p:nvPr>
        </p:nvSpPr>
        <p:spPr>
          <a:xfrm>
            <a:off x="396296" y="767571"/>
            <a:ext cx="6312900" cy="38379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35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61" name="Google Shape;361;g3a7c50a7b14_2_32:notes"/>
          <p:cNvSpPr txBox="1"/>
          <p:nvPr>
            <p:ph idx="1" type="body"/>
          </p:nvPr>
        </p:nvSpPr>
        <p:spPr>
          <a:xfrm>
            <a:off x="710372" y="4861281"/>
            <a:ext cx="5682900" cy="4605300"/>
          </a:xfrm>
          <a:prstGeom prst="rect">
            <a:avLst/>
          </a:prstGeom>
          <a:noFill/>
          <a:ln>
            <a:noFill/>
          </a:ln>
        </p:spPr>
        <p:txBody>
          <a:bodyPr anchorCtr="0" anchor="t" bIns="97250" lIns="97250" spcFirstLastPara="1" rIns="97250" wrap="square" tIns="9725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Calibri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1" name="Shape 3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Google Shape;372;g3a7c546b70d_0_913:notes"/>
          <p:cNvSpPr/>
          <p:nvPr>
            <p:ph idx="2" type="sldImg"/>
          </p:nvPr>
        </p:nvSpPr>
        <p:spPr>
          <a:xfrm>
            <a:off x="396296" y="767571"/>
            <a:ext cx="6312900" cy="38379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35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73" name="Google Shape;373;g3a7c546b70d_0_913:notes"/>
          <p:cNvSpPr txBox="1"/>
          <p:nvPr>
            <p:ph idx="1" type="body"/>
          </p:nvPr>
        </p:nvSpPr>
        <p:spPr>
          <a:xfrm>
            <a:off x="710372" y="4861281"/>
            <a:ext cx="5682900" cy="4605300"/>
          </a:xfrm>
          <a:prstGeom prst="rect">
            <a:avLst/>
          </a:prstGeom>
          <a:noFill/>
          <a:ln>
            <a:noFill/>
          </a:ln>
        </p:spPr>
        <p:txBody>
          <a:bodyPr anchorCtr="0" anchor="t" bIns="97250" lIns="97250" spcFirstLastPara="1" rIns="97250" wrap="square" tIns="9725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Calibri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8" name="Shape 3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" name="Google Shape;389;g3a7c546b70d_0_933:notes"/>
          <p:cNvSpPr/>
          <p:nvPr>
            <p:ph idx="2" type="sldImg"/>
          </p:nvPr>
        </p:nvSpPr>
        <p:spPr>
          <a:xfrm>
            <a:off x="396296" y="767571"/>
            <a:ext cx="6312900" cy="38379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35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90" name="Google Shape;390;g3a7c546b70d_0_933:notes"/>
          <p:cNvSpPr txBox="1"/>
          <p:nvPr>
            <p:ph idx="1" type="body"/>
          </p:nvPr>
        </p:nvSpPr>
        <p:spPr>
          <a:xfrm>
            <a:off x="710372" y="4861281"/>
            <a:ext cx="5682900" cy="4605300"/>
          </a:xfrm>
          <a:prstGeom prst="rect">
            <a:avLst/>
          </a:prstGeom>
          <a:noFill/>
          <a:ln>
            <a:noFill/>
          </a:ln>
        </p:spPr>
        <p:txBody>
          <a:bodyPr anchorCtr="0" anchor="t" bIns="97250" lIns="97250" spcFirstLastPara="1" rIns="97250" wrap="square" tIns="9725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Calibri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9" name="Shape 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Google Shape;400;g3a7c50a7b14_2_41:notes"/>
          <p:cNvSpPr/>
          <p:nvPr>
            <p:ph idx="2" type="sldImg"/>
          </p:nvPr>
        </p:nvSpPr>
        <p:spPr>
          <a:xfrm>
            <a:off x="396296" y="767571"/>
            <a:ext cx="6312900" cy="38379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35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01" name="Google Shape;401;g3a7c50a7b14_2_41:notes"/>
          <p:cNvSpPr txBox="1"/>
          <p:nvPr>
            <p:ph idx="1" type="body"/>
          </p:nvPr>
        </p:nvSpPr>
        <p:spPr>
          <a:xfrm>
            <a:off x="710372" y="4861281"/>
            <a:ext cx="5682900" cy="4605300"/>
          </a:xfrm>
          <a:prstGeom prst="rect">
            <a:avLst/>
          </a:prstGeom>
          <a:noFill/>
          <a:ln>
            <a:noFill/>
          </a:ln>
        </p:spPr>
        <p:txBody>
          <a:bodyPr anchorCtr="0" anchor="t" bIns="97250" lIns="97250" spcFirstLastPara="1" rIns="97250" wrap="square" tIns="9725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Calibri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0" name="Shape 4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1" name="Google Shape;411;g3a7c546b70d_0_737:notes"/>
          <p:cNvSpPr/>
          <p:nvPr>
            <p:ph idx="2" type="sldImg"/>
          </p:nvPr>
        </p:nvSpPr>
        <p:spPr>
          <a:xfrm>
            <a:off x="396296" y="767571"/>
            <a:ext cx="6312900" cy="38379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35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12" name="Google Shape;412;g3a7c546b70d_0_737:notes"/>
          <p:cNvSpPr txBox="1"/>
          <p:nvPr>
            <p:ph idx="1" type="body"/>
          </p:nvPr>
        </p:nvSpPr>
        <p:spPr>
          <a:xfrm>
            <a:off x="710372" y="4861281"/>
            <a:ext cx="5682900" cy="4605300"/>
          </a:xfrm>
          <a:prstGeom prst="rect">
            <a:avLst/>
          </a:prstGeom>
          <a:noFill/>
          <a:ln>
            <a:noFill/>
          </a:ln>
        </p:spPr>
        <p:txBody>
          <a:bodyPr anchorCtr="0" anchor="t" bIns="97250" lIns="97250" spcFirstLastPara="1" rIns="97250" wrap="square" tIns="9725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Calibri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1" name="Shape 4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2" name="Google Shape;422;g3a7c546b70d_0_768:notes"/>
          <p:cNvSpPr/>
          <p:nvPr>
            <p:ph idx="2" type="sldImg"/>
          </p:nvPr>
        </p:nvSpPr>
        <p:spPr>
          <a:xfrm>
            <a:off x="396296" y="767571"/>
            <a:ext cx="6312900" cy="38379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35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23" name="Google Shape;423;g3a7c546b70d_0_768:notes"/>
          <p:cNvSpPr txBox="1"/>
          <p:nvPr>
            <p:ph idx="1" type="body"/>
          </p:nvPr>
        </p:nvSpPr>
        <p:spPr>
          <a:xfrm>
            <a:off x="710372" y="4861281"/>
            <a:ext cx="5682900" cy="4605300"/>
          </a:xfrm>
          <a:prstGeom prst="rect">
            <a:avLst/>
          </a:prstGeom>
          <a:noFill/>
          <a:ln>
            <a:noFill/>
          </a:ln>
        </p:spPr>
        <p:txBody>
          <a:bodyPr anchorCtr="0" anchor="t" bIns="97250" lIns="97250" spcFirstLastPara="1" rIns="97250" wrap="square" tIns="9725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Calibri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32" name="Shape 4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3" name="Google Shape;433;g3a7c546b70d_0_778:notes"/>
          <p:cNvSpPr/>
          <p:nvPr>
            <p:ph idx="2" type="sldImg"/>
          </p:nvPr>
        </p:nvSpPr>
        <p:spPr>
          <a:xfrm>
            <a:off x="396296" y="767571"/>
            <a:ext cx="6312900" cy="38379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35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34" name="Google Shape;434;g3a7c546b70d_0_778:notes"/>
          <p:cNvSpPr txBox="1"/>
          <p:nvPr>
            <p:ph idx="1" type="body"/>
          </p:nvPr>
        </p:nvSpPr>
        <p:spPr>
          <a:xfrm>
            <a:off x="710372" y="4861281"/>
            <a:ext cx="5682900" cy="4605300"/>
          </a:xfrm>
          <a:prstGeom prst="rect">
            <a:avLst/>
          </a:prstGeom>
          <a:noFill/>
          <a:ln>
            <a:noFill/>
          </a:ln>
        </p:spPr>
        <p:txBody>
          <a:bodyPr anchorCtr="0" anchor="t" bIns="97250" lIns="97250" spcFirstLastPara="1" rIns="97250" wrap="square" tIns="9725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Calibri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44" name="Shape 4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5" name="Google Shape;445;g3a7c546b70d_0_790:notes"/>
          <p:cNvSpPr/>
          <p:nvPr>
            <p:ph idx="2" type="sldImg"/>
          </p:nvPr>
        </p:nvSpPr>
        <p:spPr>
          <a:xfrm>
            <a:off x="396296" y="767571"/>
            <a:ext cx="6312900" cy="38379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35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46" name="Google Shape;446;g3a7c546b70d_0_790:notes"/>
          <p:cNvSpPr txBox="1"/>
          <p:nvPr>
            <p:ph idx="1" type="body"/>
          </p:nvPr>
        </p:nvSpPr>
        <p:spPr>
          <a:xfrm>
            <a:off x="710372" y="4861281"/>
            <a:ext cx="5682900" cy="4605300"/>
          </a:xfrm>
          <a:prstGeom prst="rect">
            <a:avLst/>
          </a:prstGeom>
          <a:noFill/>
          <a:ln>
            <a:noFill/>
          </a:ln>
        </p:spPr>
        <p:txBody>
          <a:bodyPr anchorCtr="0" anchor="t" bIns="97250" lIns="97250" spcFirstLastPara="1" rIns="97250" wrap="square" tIns="9725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Calibri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56" name="Shape 4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7" name="Google Shape;457;g3a7c50a7b14_2_0:notes"/>
          <p:cNvSpPr/>
          <p:nvPr>
            <p:ph idx="2" type="sldImg"/>
          </p:nvPr>
        </p:nvSpPr>
        <p:spPr>
          <a:xfrm>
            <a:off x="396296" y="767571"/>
            <a:ext cx="6312900" cy="38379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35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58" name="Google Shape;458;g3a7c50a7b14_2_0:notes"/>
          <p:cNvSpPr txBox="1"/>
          <p:nvPr>
            <p:ph idx="1" type="body"/>
          </p:nvPr>
        </p:nvSpPr>
        <p:spPr>
          <a:xfrm>
            <a:off x="710372" y="4861281"/>
            <a:ext cx="5682900" cy="4605300"/>
          </a:xfrm>
          <a:prstGeom prst="rect">
            <a:avLst/>
          </a:prstGeom>
          <a:noFill/>
          <a:ln>
            <a:noFill/>
          </a:ln>
        </p:spPr>
        <p:txBody>
          <a:bodyPr anchorCtr="0" anchor="t" bIns="97250" lIns="97250" spcFirstLastPara="1" rIns="97250" wrap="square" tIns="9725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Calibri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67" name="Shape 4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Google Shape;468;g3a7c50a7b14_2_99:notes"/>
          <p:cNvSpPr/>
          <p:nvPr>
            <p:ph idx="2" type="sldImg"/>
          </p:nvPr>
        </p:nvSpPr>
        <p:spPr>
          <a:xfrm>
            <a:off x="394962" y="767571"/>
            <a:ext cx="6314400" cy="38379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01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69" name="Google Shape;469;g3a7c50a7b14_2_99:notes"/>
          <p:cNvSpPr txBox="1"/>
          <p:nvPr>
            <p:ph idx="1" type="body"/>
          </p:nvPr>
        </p:nvSpPr>
        <p:spPr>
          <a:xfrm>
            <a:off x="710372" y="4861281"/>
            <a:ext cx="5682900" cy="4605300"/>
          </a:xfrm>
          <a:prstGeom prst="rect">
            <a:avLst/>
          </a:prstGeom>
          <a:noFill/>
          <a:ln>
            <a:noFill/>
          </a:ln>
        </p:spPr>
        <p:txBody>
          <a:bodyPr anchorCtr="0" anchor="t" bIns="97375" lIns="97375" spcFirstLastPara="1" rIns="97375" wrap="square" tIns="9737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2" name="Shape 4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3" name="Google Shape;473;g3a7c50a7b14_2_72:notes"/>
          <p:cNvSpPr/>
          <p:nvPr>
            <p:ph idx="2" type="sldImg"/>
          </p:nvPr>
        </p:nvSpPr>
        <p:spPr>
          <a:xfrm>
            <a:off x="396296" y="767571"/>
            <a:ext cx="6312900" cy="38379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35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74" name="Google Shape;474;g3a7c50a7b14_2_72:notes"/>
          <p:cNvSpPr txBox="1"/>
          <p:nvPr>
            <p:ph idx="1" type="body"/>
          </p:nvPr>
        </p:nvSpPr>
        <p:spPr>
          <a:xfrm>
            <a:off x="710372" y="4861281"/>
            <a:ext cx="5682900" cy="4605300"/>
          </a:xfrm>
          <a:prstGeom prst="rect">
            <a:avLst/>
          </a:prstGeom>
          <a:noFill/>
          <a:ln>
            <a:noFill/>
          </a:ln>
        </p:spPr>
        <p:txBody>
          <a:bodyPr anchorCtr="0" anchor="t" bIns="97250" lIns="97250" spcFirstLastPara="1" rIns="97250" wrap="square" tIns="9725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Calibri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88" name="Shape 4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9" name="Google Shape;489;g3a7c50a7b14_2_63:notes"/>
          <p:cNvSpPr/>
          <p:nvPr>
            <p:ph idx="2" type="sldImg"/>
          </p:nvPr>
        </p:nvSpPr>
        <p:spPr>
          <a:xfrm>
            <a:off x="396296" y="767571"/>
            <a:ext cx="6312900" cy="38379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35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90" name="Google Shape;490;g3a7c50a7b14_2_63:notes"/>
          <p:cNvSpPr txBox="1"/>
          <p:nvPr>
            <p:ph idx="1" type="body"/>
          </p:nvPr>
        </p:nvSpPr>
        <p:spPr>
          <a:xfrm>
            <a:off x="710372" y="4861281"/>
            <a:ext cx="5682900" cy="4605300"/>
          </a:xfrm>
          <a:prstGeom prst="rect">
            <a:avLst/>
          </a:prstGeom>
          <a:noFill/>
          <a:ln>
            <a:noFill/>
          </a:ln>
        </p:spPr>
        <p:txBody>
          <a:bodyPr anchorCtr="0" anchor="t" bIns="97250" lIns="97250" spcFirstLastPara="1" rIns="97250" wrap="square" tIns="9725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Calibri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3" name="Shape 5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4" name="Google Shape;504;g3a7c546b70d_0_806:notes"/>
          <p:cNvSpPr/>
          <p:nvPr>
            <p:ph idx="2" type="sldImg"/>
          </p:nvPr>
        </p:nvSpPr>
        <p:spPr>
          <a:xfrm>
            <a:off x="396296" y="767571"/>
            <a:ext cx="6312900" cy="38379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35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05" name="Google Shape;505;g3a7c546b70d_0_806:notes"/>
          <p:cNvSpPr txBox="1"/>
          <p:nvPr>
            <p:ph idx="1" type="body"/>
          </p:nvPr>
        </p:nvSpPr>
        <p:spPr>
          <a:xfrm>
            <a:off x="710372" y="4861281"/>
            <a:ext cx="5682900" cy="4605300"/>
          </a:xfrm>
          <a:prstGeom prst="rect">
            <a:avLst/>
          </a:prstGeom>
          <a:noFill/>
          <a:ln>
            <a:noFill/>
          </a:ln>
        </p:spPr>
        <p:txBody>
          <a:bodyPr anchorCtr="0" anchor="t" bIns="97250" lIns="97250" spcFirstLastPara="1" rIns="97250" wrap="square" tIns="9725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Calibri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19" name="Shape 5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0" name="Google Shape;520;g3a7c546b70d_0_288:notes"/>
          <p:cNvSpPr/>
          <p:nvPr>
            <p:ph idx="2" type="sldImg"/>
          </p:nvPr>
        </p:nvSpPr>
        <p:spPr>
          <a:xfrm>
            <a:off x="396296" y="767571"/>
            <a:ext cx="6312900" cy="38379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35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1" name="Google Shape;521;g3a7c546b70d_0_288:notes"/>
          <p:cNvSpPr txBox="1"/>
          <p:nvPr>
            <p:ph idx="1" type="body"/>
          </p:nvPr>
        </p:nvSpPr>
        <p:spPr>
          <a:xfrm>
            <a:off x="710372" y="4861281"/>
            <a:ext cx="5682900" cy="4605300"/>
          </a:xfrm>
          <a:prstGeom prst="rect">
            <a:avLst/>
          </a:prstGeom>
          <a:noFill/>
          <a:ln>
            <a:noFill/>
          </a:ln>
        </p:spPr>
        <p:txBody>
          <a:bodyPr anchorCtr="0" anchor="t" bIns="97250" lIns="97250" spcFirstLastPara="1" rIns="97250" wrap="square" tIns="9725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Calibri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29" name="Shape 5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0" name="Google Shape;530;g3a7c546b70d_0_310:notes"/>
          <p:cNvSpPr/>
          <p:nvPr>
            <p:ph idx="2" type="sldImg"/>
          </p:nvPr>
        </p:nvSpPr>
        <p:spPr>
          <a:xfrm>
            <a:off x="396296" y="767571"/>
            <a:ext cx="6312900" cy="38379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35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31" name="Google Shape;531;g3a7c546b70d_0_310:notes"/>
          <p:cNvSpPr txBox="1"/>
          <p:nvPr>
            <p:ph idx="1" type="body"/>
          </p:nvPr>
        </p:nvSpPr>
        <p:spPr>
          <a:xfrm>
            <a:off x="710372" y="4861281"/>
            <a:ext cx="5682900" cy="4605300"/>
          </a:xfrm>
          <a:prstGeom prst="rect">
            <a:avLst/>
          </a:prstGeom>
          <a:noFill/>
          <a:ln>
            <a:noFill/>
          </a:ln>
        </p:spPr>
        <p:txBody>
          <a:bodyPr anchorCtr="0" anchor="t" bIns="97250" lIns="97250" spcFirstLastPara="1" rIns="97250" wrap="square" tIns="9725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Calibri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40" name="Shape 5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1" name="Google Shape;541;g3a7c546b70d_0_405:notes"/>
          <p:cNvSpPr/>
          <p:nvPr>
            <p:ph idx="2" type="sldImg"/>
          </p:nvPr>
        </p:nvSpPr>
        <p:spPr>
          <a:xfrm>
            <a:off x="396296" y="767571"/>
            <a:ext cx="6312900" cy="38379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35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42" name="Google Shape;542;g3a7c546b70d_0_405:notes"/>
          <p:cNvSpPr txBox="1"/>
          <p:nvPr>
            <p:ph idx="1" type="body"/>
          </p:nvPr>
        </p:nvSpPr>
        <p:spPr>
          <a:xfrm>
            <a:off x="710372" y="4861281"/>
            <a:ext cx="5682900" cy="4605300"/>
          </a:xfrm>
          <a:prstGeom prst="rect">
            <a:avLst/>
          </a:prstGeom>
          <a:noFill/>
          <a:ln>
            <a:noFill/>
          </a:ln>
        </p:spPr>
        <p:txBody>
          <a:bodyPr anchorCtr="0" anchor="t" bIns="97250" lIns="97250" spcFirstLastPara="1" rIns="97250" wrap="square" tIns="9725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Calibri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6" name="Shape 5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7" name="Google Shape;557;g3a7c546b70d_0_476:notes"/>
          <p:cNvSpPr/>
          <p:nvPr>
            <p:ph idx="2" type="sldImg"/>
          </p:nvPr>
        </p:nvSpPr>
        <p:spPr>
          <a:xfrm>
            <a:off x="396296" y="767571"/>
            <a:ext cx="6312900" cy="38379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35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58" name="Google Shape;558;g3a7c546b70d_0_476:notes"/>
          <p:cNvSpPr txBox="1"/>
          <p:nvPr>
            <p:ph idx="1" type="body"/>
          </p:nvPr>
        </p:nvSpPr>
        <p:spPr>
          <a:xfrm>
            <a:off x="710372" y="4861281"/>
            <a:ext cx="5682900" cy="4605300"/>
          </a:xfrm>
          <a:prstGeom prst="rect">
            <a:avLst/>
          </a:prstGeom>
          <a:noFill/>
          <a:ln>
            <a:noFill/>
          </a:ln>
        </p:spPr>
        <p:txBody>
          <a:bodyPr anchorCtr="0" anchor="t" bIns="97250" lIns="97250" spcFirstLastPara="1" rIns="97250" wrap="square" tIns="9725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Calibri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4" name="Shape 5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5" name="Google Shape;575;g3a7c546b70d_0_521:notes"/>
          <p:cNvSpPr/>
          <p:nvPr>
            <p:ph idx="2" type="sldImg"/>
          </p:nvPr>
        </p:nvSpPr>
        <p:spPr>
          <a:xfrm>
            <a:off x="396296" y="767571"/>
            <a:ext cx="6312900" cy="38379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35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6" name="Google Shape;576;g3a7c546b70d_0_521:notes"/>
          <p:cNvSpPr txBox="1"/>
          <p:nvPr>
            <p:ph idx="1" type="body"/>
          </p:nvPr>
        </p:nvSpPr>
        <p:spPr>
          <a:xfrm>
            <a:off x="710372" y="4861281"/>
            <a:ext cx="5682900" cy="4605300"/>
          </a:xfrm>
          <a:prstGeom prst="rect">
            <a:avLst/>
          </a:prstGeom>
          <a:noFill/>
          <a:ln>
            <a:noFill/>
          </a:ln>
        </p:spPr>
        <p:txBody>
          <a:bodyPr anchorCtr="0" anchor="t" bIns="97250" lIns="97250" spcFirstLastPara="1" rIns="97250" wrap="square" tIns="9725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Calibri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1" name="Shape 5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2" name="Google Shape;592;g3a7c546b70d_0_580:notes"/>
          <p:cNvSpPr/>
          <p:nvPr>
            <p:ph idx="2" type="sldImg"/>
          </p:nvPr>
        </p:nvSpPr>
        <p:spPr>
          <a:xfrm>
            <a:off x="396296" y="767571"/>
            <a:ext cx="6312900" cy="38379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35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93" name="Google Shape;593;g3a7c546b70d_0_580:notes"/>
          <p:cNvSpPr txBox="1"/>
          <p:nvPr>
            <p:ph idx="1" type="body"/>
          </p:nvPr>
        </p:nvSpPr>
        <p:spPr>
          <a:xfrm>
            <a:off x="710372" y="4861281"/>
            <a:ext cx="5682900" cy="4605300"/>
          </a:xfrm>
          <a:prstGeom prst="rect">
            <a:avLst/>
          </a:prstGeom>
          <a:noFill/>
          <a:ln>
            <a:noFill/>
          </a:ln>
        </p:spPr>
        <p:txBody>
          <a:bodyPr anchorCtr="0" anchor="t" bIns="97250" lIns="97250" spcFirstLastPara="1" rIns="97250" wrap="square" tIns="9725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Calibri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0" name="Shape 6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1" name="Google Shape;611;g3a7c546b70d_0_546:notes"/>
          <p:cNvSpPr/>
          <p:nvPr>
            <p:ph idx="2" type="sldImg"/>
          </p:nvPr>
        </p:nvSpPr>
        <p:spPr>
          <a:xfrm>
            <a:off x="396296" y="767571"/>
            <a:ext cx="6312900" cy="38379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35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12" name="Google Shape;612;g3a7c546b70d_0_546:notes"/>
          <p:cNvSpPr txBox="1"/>
          <p:nvPr>
            <p:ph idx="1" type="body"/>
          </p:nvPr>
        </p:nvSpPr>
        <p:spPr>
          <a:xfrm>
            <a:off x="710372" y="4861281"/>
            <a:ext cx="5682900" cy="4605300"/>
          </a:xfrm>
          <a:prstGeom prst="rect">
            <a:avLst/>
          </a:prstGeom>
          <a:noFill/>
          <a:ln>
            <a:noFill/>
          </a:ln>
        </p:spPr>
        <p:txBody>
          <a:bodyPr anchorCtr="0" anchor="t" bIns="97250" lIns="97250" spcFirstLastPara="1" rIns="97250" wrap="square" tIns="9725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Calibri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7" name="Shape 6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8" name="Google Shape;628;g3a7c546b70d_0_599:notes"/>
          <p:cNvSpPr/>
          <p:nvPr>
            <p:ph idx="2" type="sldImg"/>
          </p:nvPr>
        </p:nvSpPr>
        <p:spPr>
          <a:xfrm>
            <a:off x="396296" y="767571"/>
            <a:ext cx="6312900" cy="38379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35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29" name="Google Shape;629;g3a7c546b70d_0_599:notes"/>
          <p:cNvSpPr txBox="1"/>
          <p:nvPr>
            <p:ph idx="1" type="body"/>
          </p:nvPr>
        </p:nvSpPr>
        <p:spPr>
          <a:xfrm>
            <a:off x="710372" y="4861281"/>
            <a:ext cx="5682900" cy="4605300"/>
          </a:xfrm>
          <a:prstGeom prst="rect">
            <a:avLst/>
          </a:prstGeom>
          <a:noFill/>
          <a:ln>
            <a:noFill/>
          </a:ln>
        </p:spPr>
        <p:txBody>
          <a:bodyPr anchorCtr="0" anchor="t" bIns="97250" lIns="97250" spcFirstLastPara="1" rIns="97250" wrap="square" tIns="9725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Calibri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46" name="Shape 6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7" name="Google Shape;647;g3a7c546b70d_0_563:notes"/>
          <p:cNvSpPr/>
          <p:nvPr>
            <p:ph idx="2" type="sldImg"/>
          </p:nvPr>
        </p:nvSpPr>
        <p:spPr>
          <a:xfrm>
            <a:off x="396296" y="767571"/>
            <a:ext cx="6312900" cy="38379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35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8" name="Google Shape;648;g3a7c546b70d_0_563:notes"/>
          <p:cNvSpPr txBox="1"/>
          <p:nvPr>
            <p:ph idx="1" type="body"/>
          </p:nvPr>
        </p:nvSpPr>
        <p:spPr>
          <a:xfrm>
            <a:off x="710372" y="4861281"/>
            <a:ext cx="5682900" cy="4605300"/>
          </a:xfrm>
          <a:prstGeom prst="rect">
            <a:avLst/>
          </a:prstGeom>
          <a:noFill/>
          <a:ln>
            <a:noFill/>
          </a:ln>
        </p:spPr>
        <p:txBody>
          <a:bodyPr anchorCtr="0" anchor="t" bIns="97250" lIns="97250" spcFirstLastPara="1" rIns="97250" wrap="square" tIns="9725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Calibri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63" name="Shape 6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4" name="Google Shape;664;g3a7c546b70d_0_618:notes"/>
          <p:cNvSpPr/>
          <p:nvPr>
            <p:ph idx="2" type="sldImg"/>
          </p:nvPr>
        </p:nvSpPr>
        <p:spPr>
          <a:xfrm>
            <a:off x="396296" y="767571"/>
            <a:ext cx="6312900" cy="38379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35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65" name="Google Shape;665;g3a7c546b70d_0_618:notes"/>
          <p:cNvSpPr txBox="1"/>
          <p:nvPr>
            <p:ph idx="1" type="body"/>
          </p:nvPr>
        </p:nvSpPr>
        <p:spPr>
          <a:xfrm>
            <a:off x="710372" y="4861281"/>
            <a:ext cx="5682900" cy="4605300"/>
          </a:xfrm>
          <a:prstGeom prst="rect">
            <a:avLst/>
          </a:prstGeom>
          <a:noFill/>
          <a:ln>
            <a:noFill/>
          </a:ln>
        </p:spPr>
        <p:txBody>
          <a:bodyPr anchorCtr="0" anchor="t" bIns="97250" lIns="97250" spcFirstLastPara="1" rIns="97250" wrap="square" tIns="9725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Calibri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82" name="Shape 6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3" name="Google Shape;683;g3a7c546b70d_0_747:notes"/>
          <p:cNvSpPr/>
          <p:nvPr>
            <p:ph idx="2" type="sldImg"/>
          </p:nvPr>
        </p:nvSpPr>
        <p:spPr>
          <a:xfrm>
            <a:off x="396296" y="767571"/>
            <a:ext cx="6312900" cy="38379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35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84" name="Google Shape;684;g3a7c546b70d_0_747:notes"/>
          <p:cNvSpPr txBox="1"/>
          <p:nvPr>
            <p:ph idx="1" type="body"/>
          </p:nvPr>
        </p:nvSpPr>
        <p:spPr>
          <a:xfrm>
            <a:off x="710372" y="4861281"/>
            <a:ext cx="5682900" cy="4605300"/>
          </a:xfrm>
          <a:prstGeom prst="rect">
            <a:avLst/>
          </a:prstGeom>
          <a:noFill/>
          <a:ln>
            <a:noFill/>
          </a:ln>
        </p:spPr>
        <p:txBody>
          <a:bodyPr anchorCtr="0" anchor="t" bIns="97250" lIns="97250" spcFirstLastPara="1" rIns="97250" wrap="square" tIns="9725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Calibri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00" name="Shape 7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1" name="Google Shape;701;g3a7c546b70d_0_949:notes"/>
          <p:cNvSpPr/>
          <p:nvPr>
            <p:ph idx="2" type="sldImg"/>
          </p:nvPr>
        </p:nvSpPr>
        <p:spPr>
          <a:xfrm>
            <a:off x="396296" y="767571"/>
            <a:ext cx="6312900" cy="38379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35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02" name="Google Shape;702;g3a7c546b70d_0_949:notes"/>
          <p:cNvSpPr txBox="1"/>
          <p:nvPr>
            <p:ph idx="1" type="body"/>
          </p:nvPr>
        </p:nvSpPr>
        <p:spPr>
          <a:xfrm>
            <a:off x="710372" y="4861281"/>
            <a:ext cx="5682900" cy="4605300"/>
          </a:xfrm>
          <a:prstGeom prst="rect">
            <a:avLst/>
          </a:prstGeom>
          <a:noFill/>
          <a:ln>
            <a:noFill/>
          </a:ln>
        </p:spPr>
        <p:txBody>
          <a:bodyPr anchorCtr="0" anchor="t" bIns="97250" lIns="97250" spcFirstLastPara="1" rIns="97250" wrap="square" tIns="9725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Calibri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1" name="Shape 7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2" name="Google Shape;712;g3a7c546b70d_0_819:notes"/>
          <p:cNvSpPr/>
          <p:nvPr>
            <p:ph idx="2" type="sldImg"/>
          </p:nvPr>
        </p:nvSpPr>
        <p:spPr>
          <a:xfrm>
            <a:off x="396296" y="767571"/>
            <a:ext cx="6312900" cy="38379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35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13" name="Google Shape;713;g3a7c546b70d_0_819:notes"/>
          <p:cNvSpPr txBox="1"/>
          <p:nvPr>
            <p:ph idx="1" type="body"/>
          </p:nvPr>
        </p:nvSpPr>
        <p:spPr>
          <a:xfrm>
            <a:off x="710372" y="4861281"/>
            <a:ext cx="5682900" cy="4605300"/>
          </a:xfrm>
          <a:prstGeom prst="rect">
            <a:avLst/>
          </a:prstGeom>
          <a:noFill/>
          <a:ln>
            <a:noFill/>
          </a:ln>
        </p:spPr>
        <p:txBody>
          <a:bodyPr anchorCtr="0" anchor="t" bIns="97250" lIns="97250" spcFirstLastPara="1" rIns="97250" wrap="square" tIns="9725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Calibri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2" name="Shape 7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3" name="Google Shape;723;g3a7c546b70d_0_829:notes"/>
          <p:cNvSpPr/>
          <p:nvPr>
            <p:ph idx="2" type="sldImg"/>
          </p:nvPr>
        </p:nvSpPr>
        <p:spPr>
          <a:xfrm>
            <a:off x="396296" y="767571"/>
            <a:ext cx="6312900" cy="38379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35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24" name="Google Shape;724;g3a7c546b70d_0_829:notes"/>
          <p:cNvSpPr txBox="1"/>
          <p:nvPr>
            <p:ph idx="1" type="body"/>
          </p:nvPr>
        </p:nvSpPr>
        <p:spPr>
          <a:xfrm>
            <a:off x="710372" y="4861281"/>
            <a:ext cx="5682900" cy="4605300"/>
          </a:xfrm>
          <a:prstGeom prst="rect">
            <a:avLst/>
          </a:prstGeom>
          <a:noFill/>
          <a:ln>
            <a:noFill/>
          </a:ln>
        </p:spPr>
        <p:txBody>
          <a:bodyPr anchorCtr="0" anchor="t" bIns="97250" lIns="97250" spcFirstLastPara="1" rIns="97250" wrap="square" tIns="9725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Calibri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3" name="Shape 7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4" name="Google Shape;734;g3a7c546b70d_0_839:notes"/>
          <p:cNvSpPr/>
          <p:nvPr>
            <p:ph idx="2" type="sldImg"/>
          </p:nvPr>
        </p:nvSpPr>
        <p:spPr>
          <a:xfrm>
            <a:off x="396296" y="767571"/>
            <a:ext cx="6312900" cy="38379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35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5" name="Google Shape;735;g3a7c546b70d_0_839:notes"/>
          <p:cNvSpPr txBox="1"/>
          <p:nvPr>
            <p:ph idx="1" type="body"/>
          </p:nvPr>
        </p:nvSpPr>
        <p:spPr>
          <a:xfrm>
            <a:off x="710372" y="4861281"/>
            <a:ext cx="5682900" cy="4605300"/>
          </a:xfrm>
          <a:prstGeom prst="rect">
            <a:avLst/>
          </a:prstGeom>
          <a:noFill/>
          <a:ln>
            <a:noFill/>
          </a:ln>
        </p:spPr>
        <p:txBody>
          <a:bodyPr anchorCtr="0" anchor="t" bIns="97250" lIns="97250" spcFirstLastPara="1" rIns="97250" wrap="square" tIns="9725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Calibri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4" name="Shape 7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5" name="Google Shape;745;g3a7c546b70d_0_852:notes"/>
          <p:cNvSpPr/>
          <p:nvPr>
            <p:ph idx="2" type="sldImg"/>
          </p:nvPr>
        </p:nvSpPr>
        <p:spPr>
          <a:xfrm>
            <a:off x="396296" y="767571"/>
            <a:ext cx="6314400" cy="38379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01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46" name="Google Shape;746;g3a7c546b70d_0_852:notes"/>
          <p:cNvSpPr txBox="1"/>
          <p:nvPr>
            <p:ph idx="1" type="body"/>
          </p:nvPr>
        </p:nvSpPr>
        <p:spPr>
          <a:xfrm>
            <a:off x="710372" y="4861281"/>
            <a:ext cx="5682900" cy="4605300"/>
          </a:xfrm>
          <a:prstGeom prst="rect">
            <a:avLst/>
          </a:prstGeom>
          <a:noFill/>
          <a:ln>
            <a:noFill/>
          </a:ln>
        </p:spPr>
        <p:txBody>
          <a:bodyPr anchorCtr="0" anchor="t" bIns="97250" lIns="97250" spcFirstLastPara="1" rIns="97250" wrap="square" tIns="9725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3"/>
          <p:cNvSpPr txBox="1"/>
          <p:nvPr>
            <p:ph type="ctrTitle"/>
          </p:nvPr>
        </p:nvSpPr>
        <p:spPr>
          <a:xfrm>
            <a:off x="1524000" y="1322962"/>
            <a:ext cx="9144000" cy="2187001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>
                <a:latin typeface="Calibri"/>
                <a:ea typeface="Calibri"/>
                <a:cs typeface="Calibri"/>
                <a:sym typeface="Calibri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23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3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23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0" name="Google Shape;20;p23"/>
          <p:cNvSpPr txBox="1"/>
          <p:nvPr>
            <p:ph idx="1" type="subTitle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3F3F3F"/>
              </a:buClr>
              <a:buSzPts val="2400"/>
              <a:buNone/>
              <a:defRPr sz="240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28"/>
          <p:cNvSpPr txBox="1"/>
          <p:nvPr>
            <p:ph type="title"/>
          </p:nvPr>
        </p:nvSpPr>
        <p:spPr>
          <a:xfrm>
            <a:off x="647700" y="25844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1" sz="4400">
                <a:latin typeface="Calibri"/>
                <a:ea typeface="Calibri"/>
                <a:cs typeface="Calibri"/>
                <a:sym typeface="Calibri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28"/>
          <p:cNvSpPr txBox="1"/>
          <p:nvPr>
            <p:ph idx="1" type="body"/>
          </p:nvPr>
        </p:nvSpPr>
        <p:spPr>
          <a:xfrm>
            <a:off x="6477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3F3F3F"/>
              </a:buClr>
              <a:buSzPts val="2800"/>
              <a:buNone/>
              <a:defRPr sz="280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810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3F3F3F"/>
              </a:buClr>
              <a:buSzPts val="2400"/>
              <a:buChar char="•"/>
              <a:defRPr sz="240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55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3F3F3F"/>
              </a:buClr>
              <a:buSzPts val="2000"/>
              <a:buChar char="•"/>
              <a:defRPr sz="200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3F3F3F"/>
              </a:buClr>
              <a:buSzPts val="1800"/>
              <a:buChar char="•"/>
              <a:defRPr sz="180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3F3F3F"/>
              </a:buClr>
              <a:buSzPts val="1800"/>
              <a:buChar char="•"/>
              <a:defRPr sz="180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28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28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28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29"/>
          <p:cNvSpPr txBox="1"/>
          <p:nvPr>
            <p:ph type="title"/>
          </p:nvPr>
        </p:nvSpPr>
        <p:spPr>
          <a:xfrm>
            <a:off x="831850" y="3750945"/>
            <a:ext cx="9843135" cy="81153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29"/>
          <p:cNvSpPr txBox="1"/>
          <p:nvPr>
            <p:ph idx="1" type="body"/>
          </p:nvPr>
        </p:nvSpPr>
        <p:spPr>
          <a:xfrm>
            <a:off x="831850" y="4610028"/>
            <a:ext cx="7321550" cy="64755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7F7F7F"/>
              </a:buClr>
              <a:buSzPts val="2400"/>
              <a:buNone/>
              <a:defRPr sz="2400">
                <a:solidFill>
                  <a:srgbClr val="7F7F7F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29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29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29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30"/>
          <p:cNvSpPr txBox="1"/>
          <p:nvPr>
            <p:ph type="title"/>
          </p:nvPr>
        </p:nvSpPr>
        <p:spPr>
          <a:xfrm>
            <a:off x="647700" y="25844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30"/>
          <p:cNvSpPr txBox="1"/>
          <p:nvPr>
            <p:ph idx="1" type="body"/>
          </p:nvPr>
        </p:nvSpPr>
        <p:spPr>
          <a:xfrm>
            <a:off x="6477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3F3F3F"/>
              </a:buClr>
              <a:buSzPts val="2800"/>
              <a:buNone/>
              <a:defRPr sz="280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81000" lvl="1" marL="914400" algn="l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>
                <a:srgbClr val="3F3F3F"/>
              </a:buClr>
              <a:buSzPts val="2400"/>
              <a:buChar char="•"/>
              <a:defRPr sz="240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55600" lvl="2" marL="1371600" algn="l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>
                <a:srgbClr val="3F3F3F"/>
              </a:buClr>
              <a:buSzPts val="2000"/>
              <a:buChar char="•"/>
              <a:defRPr sz="200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42900" lvl="3" marL="1828800" algn="l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>
                <a:srgbClr val="3F3F3F"/>
              </a:buClr>
              <a:buSzPts val="1800"/>
              <a:buChar char="•"/>
              <a:defRPr sz="180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42900" lvl="4" marL="2286000" algn="l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>
                <a:srgbClr val="3F3F3F"/>
              </a:buClr>
              <a:buSzPts val="1800"/>
              <a:buChar char="•"/>
              <a:defRPr sz="180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" name="Google Shape;36;p30"/>
          <p:cNvSpPr txBox="1"/>
          <p:nvPr>
            <p:ph idx="2" type="body"/>
          </p:nvPr>
        </p:nvSpPr>
        <p:spPr>
          <a:xfrm>
            <a:off x="59817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3F3F3F"/>
              </a:buClr>
              <a:buSzPts val="2800"/>
              <a:buNone/>
              <a:defRPr b="0" i="0" sz="2800" u="none" cap="none" strike="noStrik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81000" lvl="1" marL="914400" algn="l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>
                <a:srgbClr val="3F3F3F"/>
              </a:buClr>
              <a:buSzPts val="2400"/>
              <a:buChar char="•"/>
              <a:defRPr sz="2400">
                <a:solidFill>
                  <a:srgbClr val="3F3F3F"/>
                </a:solidFill>
              </a:defRPr>
            </a:lvl2pPr>
            <a:lvl3pPr indent="-355600" lvl="2" marL="1371600" algn="l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>
                <a:srgbClr val="3F3F3F"/>
              </a:buClr>
              <a:buSzPts val="2000"/>
              <a:buChar char="•"/>
              <a:defRPr sz="2000">
                <a:solidFill>
                  <a:srgbClr val="3F3F3F"/>
                </a:solidFill>
              </a:defRPr>
            </a:lvl3pPr>
            <a:lvl4pPr indent="-355600" lvl="3" marL="1828800" algn="l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>
                <a:srgbClr val="3F3F3F"/>
              </a:buClr>
              <a:buSzPts val="2000"/>
              <a:buChar char="•"/>
              <a:defRPr sz="2000">
                <a:solidFill>
                  <a:srgbClr val="3F3F3F"/>
                </a:solidFill>
              </a:defRPr>
            </a:lvl4pPr>
            <a:lvl5pPr indent="-355600" lvl="4" marL="2286000" algn="l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>
                <a:srgbClr val="3F3F3F"/>
              </a:buClr>
              <a:buSzPts val="2000"/>
              <a:buChar char="•"/>
              <a:defRPr sz="2000">
                <a:solidFill>
                  <a:srgbClr val="3F3F3F"/>
                </a:solidFill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" name="Google Shape;37;p3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3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3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31"/>
          <p:cNvSpPr txBox="1"/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31"/>
          <p:cNvSpPr txBox="1"/>
          <p:nvPr>
            <p:ph idx="1" type="body"/>
          </p:nvPr>
        </p:nvSpPr>
        <p:spPr>
          <a:xfrm>
            <a:off x="839788" y="1744961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31"/>
          <p:cNvSpPr txBox="1"/>
          <p:nvPr>
            <p:ph idx="2" type="body"/>
          </p:nvPr>
        </p:nvSpPr>
        <p:spPr>
          <a:xfrm>
            <a:off x="839788" y="2615609"/>
            <a:ext cx="5157787" cy="357405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4" name="Google Shape;44;p31"/>
          <p:cNvSpPr txBox="1"/>
          <p:nvPr>
            <p:ph idx="3" type="body"/>
          </p:nvPr>
        </p:nvSpPr>
        <p:spPr>
          <a:xfrm>
            <a:off x="6172200" y="1744961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31"/>
          <p:cNvSpPr txBox="1"/>
          <p:nvPr>
            <p:ph idx="4" type="body"/>
          </p:nvPr>
        </p:nvSpPr>
        <p:spPr>
          <a:xfrm>
            <a:off x="6172200" y="2615609"/>
            <a:ext cx="5183188" cy="357405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6" name="Google Shape;46;p31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31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31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32"/>
          <p:cNvSpPr txBox="1"/>
          <p:nvPr>
            <p:ph type="title"/>
          </p:nvPr>
        </p:nvSpPr>
        <p:spPr>
          <a:xfrm>
            <a:off x="838200" y="2766219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sz="4400">
                <a:latin typeface="Calibri"/>
                <a:ea typeface="Calibri"/>
                <a:cs typeface="Calibri"/>
                <a:sym typeface="Calibri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32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32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32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33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33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33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34"/>
          <p:cNvSpPr txBox="1"/>
          <p:nvPr>
            <p:ph type="title"/>
          </p:nvPr>
        </p:nvSpPr>
        <p:spPr>
          <a:xfrm>
            <a:off x="646747" y="127000"/>
            <a:ext cx="4165200" cy="1600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b="0" sz="3200">
                <a:latin typeface="Calibri"/>
                <a:ea typeface="Calibri"/>
                <a:cs typeface="Calibri"/>
                <a:sym typeface="Calibri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34"/>
          <p:cNvSpPr/>
          <p:nvPr>
            <p:ph idx="2" type="pic"/>
          </p:nvPr>
        </p:nvSpPr>
        <p:spPr>
          <a:xfrm>
            <a:off x="5184000" y="766354"/>
            <a:ext cx="5817375" cy="5094446"/>
          </a:xfrm>
          <a:prstGeom prst="rect">
            <a:avLst/>
          </a:prstGeom>
          <a:noFill/>
          <a:ln>
            <a:noFill/>
          </a:ln>
        </p:spPr>
      </p:sp>
      <p:sp>
        <p:nvSpPr>
          <p:cNvPr id="61" name="Google Shape;61;p34"/>
          <p:cNvSpPr txBox="1"/>
          <p:nvPr>
            <p:ph idx="1" type="body"/>
          </p:nvPr>
        </p:nvSpPr>
        <p:spPr>
          <a:xfrm>
            <a:off x="651827" y="2057400"/>
            <a:ext cx="4165200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62" name="Google Shape;62;p34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34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34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35"/>
          <p:cNvSpPr txBox="1"/>
          <p:nvPr>
            <p:ph type="title"/>
          </p:nvPr>
        </p:nvSpPr>
        <p:spPr>
          <a:xfrm rot="5400000">
            <a:off x="7683223" y="2506386"/>
            <a:ext cx="5811838" cy="15293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35"/>
          <p:cNvSpPr txBox="1"/>
          <p:nvPr>
            <p:ph idx="1" type="body"/>
          </p:nvPr>
        </p:nvSpPr>
        <p:spPr>
          <a:xfrm rot="5400000">
            <a:off x="2372260" y="-1168935"/>
            <a:ext cx="5811838" cy="887995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68" name="Google Shape;68;p35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35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35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">
  <p:cSld name="Content"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36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36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4" name="Google Shape;74;p36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75" name="Google Shape;75;p36"/>
          <p:cNvSpPr txBox="1"/>
          <p:nvPr>
            <p:ph idx="1" type="body"/>
          </p:nvPr>
        </p:nvSpPr>
        <p:spPr>
          <a:xfrm>
            <a:off x="838200" y="551543"/>
            <a:ext cx="10515600" cy="55589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a7c50a7b14_0_321"/>
          <p:cNvSpPr txBox="1"/>
          <p:nvPr>
            <p:ph type="title"/>
          </p:nvPr>
        </p:nvSpPr>
        <p:spPr>
          <a:xfrm>
            <a:off x="415600" y="593367"/>
            <a:ext cx="11360700" cy="763500"/>
          </a:xfrm>
          <a:prstGeom prst="rect">
            <a:avLst/>
          </a:prstGeom>
          <a:noFill/>
          <a:ln>
            <a:noFill/>
          </a:ln>
        </p:spPr>
        <p:txBody>
          <a:bodyPr anchorCtr="0" anchor="t" bIns="121900" lIns="121900" spcFirstLastPara="1" rIns="121900" wrap="square" tIns="1219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9pPr>
          </a:lstStyle>
          <a:p/>
        </p:txBody>
      </p:sp>
      <p:sp>
        <p:nvSpPr>
          <p:cNvPr id="82" name="Google Shape;82;g3a7c50a7b14_0_321"/>
          <p:cNvSpPr txBox="1"/>
          <p:nvPr>
            <p:ph idx="1" type="body"/>
          </p:nvPr>
        </p:nvSpPr>
        <p:spPr>
          <a:xfrm>
            <a:off x="415600" y="1536633"/>
            <a:ext cx="11360700" cy="4555200"/>
          </a:xfrm>
          <a:prstGeom prst="rect">
            <a:avLst/>
          </a:prstGeom>
          <a:noFill/>
          <a:ln>
            <a:noFill/>
          </a:ln>
        </p:spPr>
        <p:txBody>
          <a:bodyPr anchorCtr="0" anchor="t" bIns="121900" lIns="121900" spcFirstLastPara="1" rIns="121900" wrap="square" tIns="121900">
            <a:normAutofit/>
          </a:bodyPr>
          <a:lstStyle>
            <a:lvl1pPr indent="-3810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●"/>
              <a:defRPr/>
            </a:lvl1pPr>
            <a:lvl2pPr indent="-34925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○"/>
              <a:defRPr/>
            </a:lvl2pPr>
            <a:lvl3pPr indent="-34925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■"/>
              <a:defRPr/>
            </a:lvl3pPr>
            <a:lvl4pPr indent="-34925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●"/>
              <a:defRPr/>
            </a:lvl4pPr>
            <a:lvl5pPr indent="-34925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○"/>
              <a:defRPr/>
            </a:lvl5pPr>
            <a:lvl6pPr indent="-34925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■"/>
              <a:defRPr/>
            </a:lvl6pPr>
            <a:lvl7pPr indent="-34925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●"/>
              <a:defRPr/>
            </a:lvl7pPr>
            <a:lvl8pPr indent="-34925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○"/>
              <a:defRPr/>
            </a:lvl8pPr>
            <a:lvl9pPr indent="-34925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■"/>
              <a:defRPr/>
            </a:lvl9pPr>
          </a:lstStyle>
          <a:p/>
        </p:txBody>
      </p:sp>
      <p:sp>
        <p:nvSpPr>
          <p:cNvPr id="83" name="Google Shape;83;g3a7c50a7b14_0_321"/>
          <p:cNvSpPr txBox="1"/>
          <p:nvPr>
            <p:ph idx="12" type="sldNum"/>
          </p:nvPr>
        </p:nvSpPr>
        <p:spPr>
          <a:xfrm>
            <a:off x="11296611" y="6217623"/>
            <a:ext cx="731700" cy="52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21900" lIns="121900" spcFirstLastPara="1" rIns="121900" wrap="square" tIns="121900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g3a7c50a7b14_0_317"/>
          <p:cNvSpPr txBox="1"/>
          <p:nvPr>
            <p:ph type="ctrTitle"/>
          </p:nvPr>
        </p:nvSpPr>
        <p:spPr>
          <a:xfrm>
            <a:off x="415611" y="992767"/>
            <a:ext cx="11360700" cy="2736900"/>
          </a:xfrm>
          <a:prstGeom prst="rect">
            <a:avLst/>
          </a:prstGeom>
          <a:noFill/>
          <a:ln>
            <a:noFill/>
          </a:ln>
        </p:spPr>
        <p:txBody>
          <a:bodyPr anchorCtr="0" anchor="b" bIns="121900" lIns="121900" spcFirstLastPara="1" rIns="121900" wrap="square" tIns="1219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9pPr>
          </a:lstStyle>
          <a:p/>
        </p:txBody>
      </p:sp>
      <p:sp>
        <p:nvSpPr>
          <p:cNvPr id="86" name="Google Shape;86;g3a7c50a7b14_0_317"/>
          <p:cNvSpPr txBox="1"/>
          <p:nvPr>
            <p:ph idx="1" type="subTitle"/>
          </p:nvPr>
        </p:nvSpPr>
        <p:spPr>
          <a:xfrm>
            <a:off x="415600" y="3778833"/>
            <a:ext cx="11360700" cy="1056900"/>
          </a:xfrm>
          <a:prstGeom prst="rect">
            <a:avLst/>
          </a:prstGeom>
          <a:noFill/>
          <a:ln>
            <a:noFill/>
          </a:ln>
        </p:spPr>
        <p:txBody>
          <a:bodyPr anchorCtr="0" anchor="t" bIns="121900" lIns="121900" spcFirstLastPara="1" rIns="121900" wrap="square" tIns="1219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9pPr>
          </a:lstStyle>
          <a:p/>
        </p:txBody>
      </p:sp>
      <p:sp>
        <p:nvSpPr>
          <p:cNvPr id="87" name="Google Shape;87;g3a7c50a7b14_0_317"/>
          <p:cNvSpPr txBox="1"/>
          <p:nvPr>
            <p:ph idx="12" type="sldNum"/>
          </p:nvPr>
        </p:nvSpPr>
        <p:spPr>
          <a:xfrm>
            <a:off x="11296611" y="6217623"/>
            <a:ext cx="731700" cy="52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21900" lIns="121900" spcFirstLastPara="1" rIns="121900" wrap="square" tIns="121900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a7c50a7b14_0_325"/>
          <p:cNvSpPr txBox="1"/>
          <p:nvPr>
            <p:ph type="title"/>
          </p:nvPr>
        </p:nvSpPr>
        <p:spPr>
          <a:xfrm>
            <a:off x="415600" y="2867800"/>
            <a:ext cx="11360700" cy="1122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21900" lIns="121900" spcFirstLastPara="1" rIns="121900" wrap="square" tIns="1219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90" name="Google Shape;90;g3a7c50a7b14_0_325"/>
          <p:cNvSpPr txBox="1"/>
          <p:nvPr>
            <p:ph idx="12" type="sldNum"/>
          </p:nvPr>
        </p:nvSpPr>
        <p:spPr>
          <a:xfrm>
            <a:off x="11296611" y="6217623"/>
            <a:ext cx="731700" cy="52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21900" lIns="121900" spcFirstLastPara="1" rIns="121900" wrap="square" tIns="121900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g3a7c50a7b14_0_328"/>
          <p:cNvSpPr txBox="1"/>
          <p:nvPr>
            <p:ph type="title"/>
          </p:nvPr>
        </p:nvSpPr>
        <p:spPr>
          <a:xfrm>
            <a:off x="415600" y="593367"/>
            <a:ext cx="11360700" cy="763500"/>
          </a:xfrm>
          <a:prstGeom prst="rect">
            <a:avLst/>
          </a:prstGeom>
          <a:noFill/>
          <a:ln>
            <a:noFill/>
          </a:ln>
        </p:spPr>
        <p:txBody>
          <a:bodyPr anchorCtr="0" anchor="t" bIns="121900" lIns="121900" spcFirstLastPara="1" rIns="121900" wrap="square" tIns="1219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9pPr>
          </a:lstStyle>
          <a:p/>
        </p:txBody>
      </p:sp>
      <p:sp>
        <p:nvSpPr>
          <p:cNvPr id="93" name="Google Shape;93;g3a7c50a7b14_0_328"/>
          <p:cNvSpPr txBox="1"/>
          <p:nvPr>
            <p:ph idx="1" type="body"/>
          </p:nvPr>
        </p:nvSpPr>
        <p:spPr>
          <a:xfrm>
            <a:off x="415600" y="1536633"/>
            <a:ext cx="5333100" cy="4555200"/>
          </a:xfrm>
          <a:prstGeom prst="rect">
            <a:avLst/>
          </a:prstGeom>
          <a:noFill/>
          <a:ln>
            <a:noFill/>
          </a:ln>
        </p:spPr>
        <p:txBody>
          <a:bodyPr anchorCtr="0" anchor="t" bIns="121900" lIns="121900" spcFirstLastPara="1" rIns="121900" wrap="square" tIns="121900">
            <a:normAutofit/>
          </a:bodyPr>
          <a:lstStyle>
            <a:lvl1pPr indent="-34925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●"/>
              <a:defRPr sz="1900"/>
            </a:lvl1pPr>
            <a:lvl2pPr indent="-3302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2pPr>
            <a:lvl3pPr indent="-3302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3pPr>
            <a:lvl4pPr indent="-3302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4pPr>
            <a:lvl5pPr indent="-3302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5pPr>
            <a:lvl6pPr indent="-3302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6pPr>
            <a:lvl7pPr indent="-3302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7pPr>
            <a:lvl8pPr indent="-3302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8pPr>
            <a:lvl9pPr indent="-3302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9pPr>
          </a:lstStyle>
          <a:p/>
        </p:txBody>
      </p:sp>
      <p:sp>
        <p:nvSpPr>
          <p:cNvPr id="94" name="Google Shape;94;g3a7c50a7b14_0_328"/>
          <p:cNvSpPr txBox="1"/>
          <p:nvPr>
            <p:ph idx="2" type="body"/>
          </p:nvPr>
        </p:nvSpPr>
        <p:spPr>
          <a:xfrm>
            <a:off x="6443200" y="1536633"/>
            <a:ext cx="5333100" cy="4555200"/>
          </a:xfrm>
          <a:prstGeom prst="rect">
            <a:avLst/>
          </a:prstGeom>
          <a:noFill/>
          <a:ln>
            <a:noFill/>
          </a:ln>
        </p:spPr>
        <p:txBody>
          <a:bodyPr anchorCtr="0" anchor="t" bIns="121900" lIns="121900" spcFirstLastPara="1" rIns="121900" wrap="square" tIns="121900">
            <a:normAutofit/>
          </a:bodyPr>
          <a:lstStyle>
            <a:lvl1pPr indent="-34925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●"/>
              <a:defRPr sz="1900"/>
            </a:lvl1pPr>
            <a:lvl2pPr indent="-3302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2pPr>
            <a:lvl3pPr indent="-3302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3pPr>
            <a:lvl4pPr indent="-3302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4pPr>
            <a:lvl5pPr indent="-3302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5pPr>
            <a:lvl6pPr indent="-3302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6pPr>
            <a:lvl7pPr indent="-3302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7pPr>
            <a:lvl8pPr indent="-3302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8pPr>
            <a:lvl9pPr indent="-3302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9pPr>
          </a:lstStyle>
          <a:p/>
        </p:txBody>
      </p:sp>
      <p:sp>
        <p:nvSpPr>
          <p:cNvPr id="95" name="Google Shape;95;g3a7c50a7b14_0_328"/>
          <p:cNvSpPr txBox="1"/>
          <p:nvPr>
            <p:ph idx="12" type="sldNum"/>
          </p:nvPr>
        </p:nvSpPr>
        <p:spPr>
          <a:xfrm>
            <a:off x="11296611" y="6217623"/>
            <a:ext cx="731700" cy="52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21900" lIns="121900" spcFirstLastPara="1" rIns="121900" wrap="square" tIns="121900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g3a7c50a7b14_0_333"/>
          <p:cNvSpPr txBox="1"/>
          <p:nvPr>
            <p:ph type="title"/>
          </p:nvPr>
        </p:nvSpPr>
        <p:spPr>
          <a:xfrm>
            <a:off x="415600" y="593367"/>
            <a:ext cx="11360700" cy="763500"/>
          </a:xfrm>
          <a:prstGeom prst="rect">
            <a:avLst/>
          </a:prstGeom>
          <a:noFill/>
          <a:ln>
            <a:noFill/>
          </a:ln>
        </p:spPr>
        <p:txBody>
          <a:bodyPr anchorCtr="0" anchor="t" bIns="121900" lIns="121900" spcFirstLastPara="1" rIns="121900" wrap="square" tIns="1219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9pPr>
          </a:lstStyle>
          <a:p/>
        </p:txBody>
      </p:sp>
      <p:sp>
        <p:nvSpPr>
          <p:cNvPr id="98" name="Google Shape;98;g3a7c50a7b14_0_333"/>
          <p:cNvSpPr txBox="1"/>
          <p:nvPr>
            <p:ph idx="12" type="sldNum"/>
          </p:nvPr>
        </p:nvSpPr>
        <p:spPr>
          <a:xfrm>
            <a:off x="11296611" y="6217623"/>
            <a:ext cx="731700" cy="52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21900" lIns="121900" spcFirstLastPara="1" rIns="121900" wrap="square" tIns="121900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g3a7c50a7b14_0_336"/>
          <p:cNvSpPr txBox="1"/>
          <p:nvPr>
            <p:ph type="title"/>
          </p:nvPr>
        </p:nvSpPr>
        <p:spPr>
          <a:xfrm>
            <a:off x="415600" y="740800"/>
            <a:ext cx="3744000" cy="1007700"/>
          </a:xfrm>
          <a:prstGeom prst="rect">
            <a:avLst/>
          </a:prstGeom>
          <a:noFill/>
          <a:ln>
            <a:noFill/>
          </a:ln>
        </p:spPr>
        <p:txBody>
          <a:bodyPr anchorCtr="0" anchor="b" bIns="121900" lIns="121900" spcFirstLastPara="1" rIns="121900" wrap="square" tIns="1219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9pPr>
          </a:lstStyle>
          <a:p/>
        </p:txBody>
      </p:sp>
      <p:sp>
        <p:nvSpPr>
          <p:cNvPr id="101" name="Google Shape;101;g3a7c50a7b14_0_336"/>
          <p:cNvSpPr txBox="1"/>
          <p:nvPr>
            <p:ph idx="1" type="body"/>
          </p:nvPr>
        </p:nvSpPr>
        <p:spPr>
          <a:xfrm>
            <a:off x="415600" y="1852800"/>
            <a:ext cx="3744000" cy="4239300"/>
          </a:xfrm>
          <a:prstGeom prst="rect">
            <a:avLst/>
          </a:prstGeom>
          <a:noFill/>
          <a:ln>
            <a:noFill/>
          </a:ln>
        </p:spPr>
        <p:txBody>
          <a:bodyPr anchorCtr="0" anchor="t" bIns="121900" lIns="121900" spcFirstLastPara="1" rIns="121900" wrap="square" tIns="121900">
            <a:normAutofit/>
          </a:bodyPr>
          <a:lstStyle>
            <a:lvl1pPr indent="-3302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1pPr>
            <a:lvl2pPr indent="-3302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2pPr>
            <a:lvl3pPr indent="-3302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3pPr>
            <a:lvl4pPr indent="-3302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4pPr>
            <a:lvl5pPr indent="-3302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5pPr>
            <a:lvl6pPr indent="-3302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6pPr>
            <a:lvl7pPr indent="-3302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7pPr>
            <a:lvl8pPr indent="-3302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8pPr>
            <a:lvl9pPr indent="-3302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9pPr>
          </a:lstStyle>
          <a:p/>
        </p:txBody>
      </p:sp>
      <p:sp>
        <p:nvSpPr>
          <p:cNvPr id="102" name="Google Shape;102;g3a7c50a7b14_0_336"/>
          <p:cNvSpPr txBox="1"/>
          <p:nvPr>
            <p:ph idx="12" type="sldNum"/>
          </p:nvPr>
        </p:nvSpPr>
        <p:spPr>
          <a:xfrm>
            <a:off x="11296611" y="6217623"/>
            <a:ext cx="731700" cy="52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21900" lIns="121900" spcFirstLastPara="1" rIns="121900" wrap="square" tIns="121900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g3a7c50a7b14_0_340"/>
          <p:cNvSpPr txBox="1"/>
          <p:nvPr>
            <p:ph type="title"/>
          </p:nvPr>
        </p:nvSpPr>
        <p:spPr>
          <a:xfrm>
            <a:off x="653667" y="600200"/>
            <a:ext cx="8490300" cy="545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21900" lIns="121900" spcFirstLastPara="1" rIns="121900" wrap="square" tIns="1219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9pPr>
          </a:lstStyle>
          <a:p/>
        </p:txBody>
      </p:sp>
      <p:sp>
        <p:nvSpPr>
          <p:cNvPr id="105" name="Google Shape;105;g3a7c50a7b14_0_340"/>
          <p:cNvSpPr txBox="1"/>
          <p:nvPr>
            <p:ph idx="12" type="sldNum"/>
          </p:nvPr>
        </p:nvSpPr>
        <p:spPr>
          <a:xfrm>
            <a:off x="11296611" y="6217623"/>
            <a:ext cx="731700" cy="52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21900" lIns="121900" spcFirstLastPara="1" rIns="121900" wrap="square" tIns="121900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g3a7c50a7b14_0_343"/>
          <p:cNvSpPr/>
          <p:nvPr/>
        </p:nvSpPr>
        <p:spPr>
          <a:xfrm>
            <a:off x="6096000" y="-167"/>
            <a:ext cx="6096000" cy="6858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121900" lIns="121900" spcFirstLastPara="1" rIns="121900" wrap="square" tIns="1219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r>
              <a:t/>
            </a:r>
            <a:endParaRPr b="0" i="0" sz="19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8" name="Google Shape;108;g3a7c50a7b14_0_343"/>
          <p:cNvSpPr txBox="1"/>
          <p:nvPr>
            <p:ph type="title"/>
          </p:nvPr>
        </p:nvSpPr>
        <p:spPr>
          <a:xfrm>
            <a:off x="354000" y="1644233"/>
            <a:ext cx="5393700" cy="1976400"/>
          </a:xfrm>
          <a:prstGeom prst="rect">
            <a:avLst/>
          </a:prstGeom>
          <a:noFill/>
          <a:ln>
            <a:noFill/>
          </a:ln>
        </p:spPr>
        <p:txBody>
          <a:bodyPr anchorCtr="0" anchor="b" bIns="121900" lIns="121900" spcFirstLastPara="1" rIns="121900" wrap="square" tIns="1219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9pPr>
          </a:lstStyle>
          <a:p/>
        </p:txBody>
      </p:sp>
      <p:sp>
        <p:nvSpPr>
          <p:cNvPr id="109" name="Google Shape;109;g3a7c50a7b14_0_343"/>
          <p:cNvSpPr txBox="1"/>
          <p:nvPr>
            <p:ph idx="1" type="subTitle"/>
          </p:nvPr>
        </p:nvSpPr>
        <p:spPr>
          <a:xfrm>
            <a:off x="354000" y="3737433"/>
            <a:ext cx="5393700" cy="1646700"/>
          </a:xfrm>
          <a:prstGeom prst="rect">
            <a:avLst/>
          </a:prstGeom>
          <a:noFill/>
          <a:ln>
            <a:noFill/>
          </a:ln>
        </p:spPr>
        <p:txBody>
          <a:bodyPr anchorCtr="0" anchor="t" bIns="121900" lIns="121900" spcFirstLastPara="1" rIns="121900" wrap="square" tIns="1219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10" name="Google Shape;110;g3a7c50a7b14_0_343"/>
          <p:cNvSpPr txBox="1"/>
          <p:nvPr>
            <p:ph idx="2" type="body"/>
          </p:nvPr>
        </p:nvSpPr>
        <p:spPr>
          <a:xfrm>
            <a:off x="6586000" y="965433"/>
            <a:ext cx="5115900" cy="4926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21900" lIns="121900" spcFirstLastPara="1" rIns="121900" wrap="square" tIns="121900">
            <a:normAutofit/>
          </a:bodyPr>
          <a:lstStyle>
            <a:lvl1pPr indent="-3810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●"/>
              <a:defRPr/>
            </a:lvl1pPr>
            <a:lvl2pPr indent="-34925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○"/>
              <a:defRPr/>
            </a:lvl2pPr>
            <a:lvl3pPr indent="-34925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■"/>
              <a:defRPr/>
            </a:lvl3pPr>
            <a:lvl4pPr indent="-34925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●"/>
              <a:defRPr/>
            </a:lvl4pPr>
            <a:lvl5pPr indent="-34925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○"/>
              <a:defRPr/>
            </a:lvl5pPr>
            <a:lvl6pPr indent="-34925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■"/>
              <a:defRPr/>
            </a:lvl6pPr>
            <a:lvl7pPr indent="-34925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●"/>
              <a:defRPr/>
            </a:lvl7pPr>
            <a:lvl8pPr indent="-34925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○"/>
              <a:defRPr/>
            </a:lvl8pPr>
            <a:lvl9pPr indent="-34925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■"/>
              <a:defRPr/>
            </a:lvl9pPr>
          </a:lstStyle>
          <a:p/>
        </p:txBody>
      </p:sp>
      <p:sp>
        <p:nvSpPr>
          <p:cNvPr id="111" name="Google Shape;111;g3a7c50a7b14_0_343"/>
          <p:cNvSpPr txBox="1"/>
          <p:nvPr>
            <p:ph idx="12" type="sldNum"/>
          </p:nvPr>
        </p:nvSpPr>
        <p:spPr>
          <a:xfrm>
            <a:off x="11296611" y="6217623"/>
            <a:ext cx="731700" cy="52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21900" lIns="121900" spcFirstLastPara="1" rIns="121900" wrap="square" tIns="121900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a7c50a7b14_0_349"/>
          <p:cNvSpPr txBox="1"/>
          <p:nvPr>
            <p:ph idx="1" type="body"/>
          </p:nvPr>
        </p:nvSpPr>
        <p:spPr>
          <a:xfrm>
            <a:off x="415600" y="5640767"/>
            <a:ext cx="7998300" cy="80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21900" lIns="121900" spcFirstLastPara="1" rIns="121900" wrap="square" tIns="1219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</a:lstStyle>
          <a:p/>
        </p:txBody>
      </p:sp>
      <p:sp>
        <p:nvSpPr>
          <p:cNvPr id="114" name="Google Shape;114;g3a7c50a7b14_0_349"/>
          <p:cNvSpPr txBox="1"/>
          <p:nvPr>
            <p:ph idx="12" type="sldNum"/>
          </p:nvPr>
        </p:nvSpPr>
        <p:spPr>
          <a:xfrm>
            <a:off x="11296611" y="6217623"/>
            <a:ext cx="731700" cy="52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21900" lIns="121900" spcFirstLastPara="1" rIns="121900" wrap="square" tIns="121900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g3a7c50a7b14_0_352"/>
          <p:cNvSpPr txBox="1"/>
          <p:nvPr>
            <p:ph hasCustomPrompt="1" type="title"/>
          </p:nvPr>
        </p:nvSpPr>
        <p:spPr>
          <a:xfrm>
            <a:off x="415600" y="1474833"/>
            <a:ext cx="11360700" cy="2618100"/>
          </a:xfrm>
          <a:prstGeom prst="rect">
            <a:avLst/>
          </a:prstGeom>
          <a:noFill/>
          <a:ln>
            <a:noFill/>
          </a:ln>
        </p:spPr>
        <p:txBody>
          <a:bodyPr anchorCtr="0" anchor="b" bIns="121900" lIns="121900" spcFirstLastPara="1" rIns="121900" wrap="square" tIns="1219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9pPr>
          </a:lstStyle>
          <a:p>
            <a:r>
              <a:t>xx%</a:t>
            </a:r>
          </a:p>
        </p:txBody>
      </p:sp>
      <p:sp>
        <p:nvSpPr>
          <p:cNvPr id="117" name="Google Shape;117;g3a7c50a7b14_0_352"/>
          <p:cNvSpPr txBox="1"/>
          <p:nvPr>
            <p:ph idx="1" type="body"/>
          </p:nvPr>
        </p:nvSpPr>
        <p:spPr>
          <a:xfrm>
            <a:off x="415600" y="4202967"/>
            <a:ext cx="11360700" cy="1734300"/>
          </a:xfrm>
          <a:prstGeom prst="rect">
            <a:avLst/>
          </a:prstGeom>
          <a:noFill/>
          <a:ln>
            <a:noFill/>
          </a:ln>
        </p:spPr>
        <p:txBody>
          <a:bodyPr anchorCtr="0" anchor="t" bIns="121900" lIns="121900" spcFirstLastPara="1" rIns="121900" wrap="square" tIns="121900">
            <a:normAutofit/>
          </a:bodyPr>
          <a:lstStyle>
            <a:lvl1pPr indent="-3810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●"/>
              <a:defRPr/>
            </a:lvl1pPr>
            <a:lvl2pPr indent="-349250" lvl="1" marL="914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○"/>
              <a:defRPr/>
            </a:lvl2pPr>
            <a:lvl3pPr indent="-349250" lvl="2" marL="1371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■"/>
              <a:defRPr/>
            </a:lvl3pPr>
            <a:lvl4pPr indent="-349250" lvl="3" marL="1828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●"/>
              <a:defRPr/>
            </a:lvl4pPr>
            <a:lvl5pPr indent="-349250" lvl="4" marL="22860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○"/>
              <a:defRPr/>
            </a:lvl5pPr>
            <a:lvl6pPr indent="-349250" lvl="5" marL="2743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■"/>
              <a:defRPr/>
            </a:lvl6pPr>
            <a:lvl7pPr indent="-349250" lvl="6" marL="3200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●"/>
              <a:defRPr/>
            </a:lvl7pPr>
            <a:lvl8pPr indent="-349250" lvl="7" marL="3657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○"/>
              <a:defRPr/>
            </a:lvl8pPr>
            <a:lvl9pPr indent="-349250" lvl="8" marL="4114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■"/>
              <a:defRPr/>
            </a:lvl9pPr>
          </a:lstStyle>
          <a:p/>
        </p:txBody>
      </p:sp>
      <p:sp>
        <p:nvSpPr>
          <p:cNvPr id="118" name="Google Shape;118;g3a7c50a7b14_0_352"/>
          <p:cNvSpPr txBox="1"/>
          <p:nvPr>
            <p:ph idx="12" type="sldNum"/>
          </p:nvPr>
        </p:nvSpPr>
        <p:spPr>
          <a:xfrm>
            <a:off x="11296611" y="6217623"/>
            <a:ext cx="731700" cy="52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21900" lIns="121900" spcFirstLastPara="1" rIns="121900" wrap="square" tIns="121900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g3a7c50a7b14_0_356"/>
          <p:cNvSpPr txBox="1"/>
          <p:nvPr>
            <p:ph idx="12" type="sldNum"/>
          </p:nvPr>
        </p:nvSpPr>
        <p:spPr>
          <a:xfrm>
            <a:off x="11296611" y="6217623"/>
            <a:ext cx="731700" cy="52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21900" lIns="121900" spcFirstLastPara="1" rIns="121900" wrap="square" tIns="121900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re et contenu" type="obj">
  <p:cSld name="OBJECT"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g3a7c50a7b14_0_358"/>
          <p:cNvSpPr txBox="1"/>
          <p:nvPr>
            <p:ph idx="1" type="body"/>
          </p:nvPr>
        </p:nvSpPr>
        <p:spPr>
          <a:xfrm>
            <a:off x="609600" y="457200"/>
            <a:ext cx="4876800" cy="571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0925" lIns="121900" spcFirstLastPara="1" rIns="121900" wrap="square" tIns="60925">
            <a:normAutofit/>
          </a:bodyPr>
          <a:lstStyle>
            <a:lvl1pPr indent="-381000" lvl="0" marL="457200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SzPts val="2400"/>
              <a:buChar char="●"/>
              <a:defRPr/>
            </a:lvl1pPr>
            <a:lvl2pPr indent="-381000" lvl="1" marL="914400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SzPts val="2400"/>
              <a:buChar char="○"/>
              <a:defRPr/>
            </a:lvl2pPr>
            <a:lvl3pPr indent="-381000" lvl="2" marL="1371600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SzPts val="2400"/>
              <a:buChar char="■"/>
              <a:defRPr/>
            </a:lvl3pPr>
            <a:lvl4pPr indent="-381000" lvl="3" marL="1828800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SzPts val="2400"/>
              <a:buChar char="●"/>
              <a:defRPr/>
            </a:lvl4pPr>
            <a:lvl5pPr indent="-349250" lvl="4" marL="228600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900"/>
              <a:buChar char="○"/>
              <a:defRPr/>
            </a:lvl5pPr>
            <a:lvl6pPr indent="-349250" lvl="5" marL="274320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900"/>
              <a:buChar char="■"/>
              <a:defRPr/>
            </a:lvl6pPr>
            <a:lvl7pPr indent="-349250" lvl="6" marL="320040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900"/>
              <a:buChar char="●"/>
              <a:defRPr/>
            </a:lvl7pPr>
            <a:lvl8pPr indent="-349250" lvl="7" marL="365760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900"/>
              <a:buChar char="○"/>
              <a:defRPr/>
            </a:lvl8pPr>
            <a:lvl9pPr indent="-349250" lvl="8" marL="411480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900"/>
              <a:buChar char="■"/>
              <a:defRPr/>
            </a:lvl9pPr>
          </a:lstStyle>
          <a:p/>
        </p:txBody>
      </p:sp>
      <p:sp>
        <p:nvSpPr>
          <p:cNvPr id="123" name="Google Shape;123;g3a7c50a7b14_0_358"/>
          <p:cNvSpPr txBox="1"/>
          <p:nvPr>
            <p:ph type="title"/>
          </p:nvPr>
        </p:nvSpPr>
        <p:spPr>
          <a:xfrm>
            <a:off x="6502400" y="457200"/>
            <a:ext cx="3759300" cy="571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0925" lIns="121900" spcFirstLastPara="1" rIns="121900" wrap="square" tIns="60925">
            <a:norm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9pPr>
          </a:lstStyle>
          <a:p/>
        </p:txBody>
      </p:sp>
      <p:sp>
        <p:nvSpPr>
          <p:cNvPr id="124" name="Google Shape;124;g3a7c50a7b14_0_358"/>
          <p:cNvSpPr txBox="1"/>
          <p:nvPr>
            <p:ph idx="10" type="dt"/>
          </p:nvPr>
        </p:nvSpPr>
        <p:spPr>
          <a:xfrm>
            <a:off x="6502401" y="6426201"/>
            <a:ext cx="3759300" cy="126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0925" lIns="121900" spcFirstLastPara="1" rIns="121900" wrap="square" tIns="60925">
            <a:noAutofit/>
          </a:bodyPr>
          <a:lstStyle>
            <a:lvl1pPr lv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25" name="Google Shape;125;g3a7c50a7b14_0_358"/>
          <p:cNvSpPr txBox="1"/>
          <p:nvPr>
            <p:ph idx="12" type="sldNum"/>
          </p:nvPr>
        </p:nvSpPr>
        <p:spPr>
          <a:xfrm>
            <a:off x="10363200" y="6400800"/>
            <a:ext cx="711300" cy="152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0925" lIns="121900" spcFirstLastPara="1" rIns="121900" wrap="square" tIns="60925">
            <a:norm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5200"/>
              <a:buFont typeface="Arial"/>
              <a:buNone/>
              <a:defRPr b="0" i="0" sz="13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5200"/>
              <a:buFont typeface="Arial"/>
              <a:buNone/>
              <a:defRPr b="0" i="0" sz="13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5200"/>
              <a:buFont typeface="Arial"/>
              <a:buNone/>
              <a:defRPr b="0" i="0" sz="13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5200"/>
              <a:buFont typeface="Arial"/>
              <a:buNone/>
              <a:defRPr b="0" i="0" sz="13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5200"/>
              <a:buFont typeface="Arial"/>
              <a:buNone/>
              <a:defRPr b="0" i="0" sz="13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5200"/>
              <a:buFont typeface="Arial"/>
              <a:buNone/>
              <a:defRPr b="0" i="0" sz="13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5200"/>
              <a:buFont typeface="Arial"/>
              <a:buNone/>
              <a:defRPr b="0" i="0" sz="13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5200"/>
              <a:buFont typeface="Arial"/>
              <a:buNone/>
              <a:defRPr b="0" i="0" sz="13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5200"/>
              <a:buFont typeface="Arial"/>
              <a:buNone/>
              <a:defRPr b="0" i="0" sz="13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26" name="Google Shape;126;g3a7c50a7b14_0_358"/>
          <p:cNvSpPr txBox="1"/>
          <p:nvPr>
            <p:ph idx="11" type="ftr"/>
          </p:nvPr>
        </p:nvSpPr>
        <p:spPr>
          <a:xfrm>
            <a:off x="6500284" y="6296248"/>
            <a:ext cx="3761100" cy="152400"/>
          </a:xfrm>
          <a:prstGeom prst="rect">
            <a:avLst/>
          </a:prstGeom>
          <a:noFill/>
          <a:ln>
            <a:noFill/>
          </a:ln>
        </p:spPr>
        <p:txBody>
          <a:bodyPr anchorCtr="0" anchor="b" bIns="60925" lIns="121900" spcFirstLastPara="1" rIns="121900" wrap="square" tIns="60925">
            <a:noAutofit/>
          </a:bodyPr>
          <a:lstStyle>
            <a:lvl1pPr lv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b="0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 Layout 2 1 1">
  <p:cSld name="CUSTOM_1_1_1_3_2"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g3a7c50a7b14_0_364"/>
          <p:cNvSpPr txBox="1"/>
          <p:nvPr/>
        </p:nvSpPr>
        <p:spPr>
          <a:xfrm>
            <a:off x="0" y="0"/>
            <a:ext cx="3495900" cy="6858000"/>
          </a:xfrm>
          <a:prstGeom prst="rect">
            <a:avLst/>
          </a:prstGeom>
          <a:solidFill>
            <a:srgbClr val="D9D2E9"/>
          </a:solidFill>
          <a:ln>
            <a:noFill/>
          </a:ln>
        </p:spPr>
        <p:txBody>
          <a:bodyPr anchorCtr="0" anchor="t" bIns="121900" lIns="121900" spcFirstLastPara="1" rIns="121900" wrap="square" tIns="1219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r>
              <a:t/>
            </a:r>
            <a:endParaRPr b="0" i="0" sz="19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9" name="Google Shape;129;g3a7c50a7b14_0_364"/>
          <p:cNvSpPr txBox="1"/>
          <p:nvPr>
            <p:ph idx="12" type="sldNum"/>
          </p:nvPr>
        </p:nvSpPr>
        <p:spPr>
          <a:xfrm>
            <a:off x="11409045" y="6333135"/>
            <a:ext cx="731700" cy="524700"/>
          </a:xfrm>
          <a:prstGeom prst="rect">
            <a:avLst/>
          </a:prstGeom>
          <a:noFill/>
          <a:ln>
            <a:noFill/>
          </a:ln>
        </p:spPr>
        <p:txBody>
          <a:bodyPr anchorCtr="0" anchor="t" bIns="121900" lIns="121900" spcFirstLastPara="1" rIns="121900" wrap="square" tIns="121900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7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7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7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7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7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7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7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7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7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30" name="Google Shape;130;g3a7c50a7b14_0_364"/>
          <p:cNvSpPr txBox="1"/>
          <p:nvPr>
            <p:ph type="title"/>
          </p:nvPr>
        </p:nvSpPr>
        <p:spPr>
          <a:xfrm>
            <a:off x="325667" y="2918467"/>
            <a:ext cx="2844900" cy="763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12190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Font typeface="Arial"/>
              <a:buNone/>
              <a:defRPr sz="27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Font typeface="Arial"/>
              <a:buNone/>
              <a:defRPr sz="2700">
                <a:latin typeface="Arial"/>
                <a:ea typeface="Arial"/>
                <a:cs typeface="Arial"/>
                <a:sym typeface="Arial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Font typeface="Arial"/>
              <a:buNone/>
              <a:defRPr sz="2700">
                <a:latin typeface="Arial"/>
                <a:ea typeface="Arial"/>
                <a:cs typeface="Arial"/>
                <a:sym typeface="Arial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Font typeface="Arial"/>
              <a:buNone/>
              <a:defRPr sz="2700">
                <a:latin typeface="Arial"/>
                <a:ea typeface="Arial"/>
                <a:cs typeface="Arial"/>
                <a:sym typeface="Arial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Font typeface="Arial"/>
              <a:buNone/>
              <a:defRPr sz="2700">
                <a:latin typeface="Arial"/>
                <a:ea typeface="Arial"/>
                <a:cs typeface="Arial"/>
                <a:sym typeface="Arial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Font typeface="Arial"/>
              <a:buNone/>
              <a:defRPr sz="2700">
                <a:latin typeface="Arial"/>
                <a:ea typeface="Arial"/>
                <a:cs typeface="Arial"/>
                <a:sym typeface="Arial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Font typeface="Arial"/>
              <a:buNone/>
              <a:defRPr sz="2700">
                <a:latin typeface="Arial"/>
                <a:ea typeface="Arial"/>
                <a:cs typeface="Arial"/>
                <a:sym typeface="Arial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Font typeface="Arial"/>
              <a:buNone/>
              <a:defRPr sz="2700">
                <a:latin typeface="Arial"/>
                <a:ea typeface="Arial"/>
                <a:cs typeface="Arial"/>
                <a:sym typeface="Arial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Font typeface="Arial"/>
              <a:buNone/>
              <a:defRPr sz="2700"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g3a7c50a7b14_0_193"/>
          <p:cNvSpPr txBox="1"/>
          <p:nvPr>
            <p:ph type="title"/>
          </p:nvPr>
        </p:nvSpPr>
        <p:spPr>
          <a:xfrm>
            <a:off x="415600" y="593367"/>
            <a:ext cx="11360700" cy="763500"/>
          </a:xfrm>
          <a:prstGeom prst="rect">
            <a:avLst/>
          </a:prstGeom>
          <a:noFill/>
          <a:ln>
            <a:noFill/>
          </a:ln>
        </p:spPr>
        <p:txBody>
          <a:bodyPr anchorCtr="0" anchor="t" bIns="121900" lIns="121900" spcFirstLastPara="1" rIns="121900" wrap="square" tIns="1219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9pPr>
          </a:lstStyle>
          <a:p/>
        </p:txBody>
      </p:sp>
      <p:sp>
        <p:nvSpPr>
          <p:cNvPr id="137" name="Google Shape;137;g3a7c50a7b14_0_193"/>
          <p:cNvSpPr txBox="1"/>
          <p:nvPr>
            <p:ph idx="1" type="body"/>
          </p:nvPr>
        </p:nvSpPr>
        <p:spPr>
          <a:xfrm>
            <a:off x="415600" y="1536633"/>
            <a:ext cx="11360700" cy="4555200"/>
          </a:xfrm>
          <a:prstGeom prst="rect">
            <a:avLst/>
          </a:prstGeom>
          <a:noFill/>
          <a:ln>
            <a:noFill/>
          </a:ln>
        </p:spPr>
        <p:txBody>
          <a:bodyPr anchorCtr="0" anchor="t" bIns="121900" lIns="121900" spcFirstLastPara="1" rIns="121900" wrap="square" tIns="121900">
            <a:normAutofit/>
          </a:bodyPr>
          <a:lstStyle>
            <a:lvl1pPr indent="-3810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●"/>
              <a:defRPr/>
            </a:lvl1pPr>
            <a:lvl2pPr indent="-34925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○"/>
              <a:defRPr/>
            </a:lvl2pPr>
            <a:lvl3pPr indent="-34925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■"/>
              <a:defRPr/>
            </a:lvl3pPr>
            <a:lvl4pPr indent="-34925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●"/>
              <a:defRPr/>
            </a:lvl4pPr>
            <a:lvl5pPr indent="-34925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○"/>
              <a:defRPr/>
            </a:lvl5pPr>
            <a:lvl6pPr indent="-34925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■"/>
              <a:defRPr/>
            </a:lvl6pPr>
            <a:lvl7pPr indent="-34925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●"/>
              <a:defRPr/>
            </a:lvl7pPr>
            <a:lvl8pPr indent="-34925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○"/>
              <a:defRPr/>
            </a:lvl8pPr>
            <a:lvl9pPr indent="-34925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■"/>
              <a:defRPr/>
            </a:lvl9pPr>
          </a:lstStyle>
          <a:p/>
        </p:txBody>
      </p:sp>
      <p:sp>
        <p:nvSpPr>
          <p:cNvPr id="138" name="Google Shape;138;g3a7c50a7b14_0_193"/>
          <p:cNvSpPr txBox="1"/>
          <p:nvPr>
            <p:ph idx="12" type="sldNum"/>
          </p:nvPr>
        </p:nvSpPr>
        <p:spPr>
          <a:xfrm>
            <a:off x="11296611" y="6217623"/>
            <a:ext cx="731700" cy="52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21900" lIns="121900" spcFirstLastPara="1" rIns="121900" wrap="square" tIns="121900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g3a7c50a7b14_0_197"/>
          <p:cNvSpPr txBox="1"/>
          <p:nvPr>
            <p:ph type="ctrTitle"/>
          </p:nvPr>
        </p:nvSpPr>
        <p:spPr>
          <a:xfrm>
            <a:off x="415611" y="992767"/>
            <a:ext cx="11360700" cy="2736900"/>
          </a:xfrm>
          <a:prstGeom prst="rect">
            <a:avLst/>
          </a:prstGeom>
          <a:noFill/>
          <a:ln>
            <a:noFill/>
          </a:ln>
        </p:spPr>
        <p:txBody>
          <a:bodyPr anchorCtr="0" anchor="b" bIns="121900" lIns="121900" spcFirstLastPara="1" rIns="121900" wrap="square" tIns="1219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9pPr>
          </a:lstStyle>
          <a:p/>
        </p:txBody>
      </p:sp>
      <p:sp>
        <p:nvSpPr>
          <p:cNvPr id="141" name="Google Shape;141;g3a7c50a7b14_0_197"/>
          <p:cNvSpPr txBox="1"/>
          <p:nvPr>
            <p:ph idx="1" type="subTitle"/>
          </p:nvPr>
        </p:nvSpPr>
        <p:spPr>
          <a:xfrm>
            <a:off x="415600" y="3778833"/>
            <a:ext cx="11360700" cy="1056900"/>
          </a:xfrm>
          <a:prstGeom prst="rect">
            <a:avLst/>
          </a:prstGeom>
          <a:noFill/>
          <a:ln>
            <a:noFill/>
          </a:ln>
        </p:spPr>
        <p:txBody>
          <a:bodyPr anchorCtr="0" anchor="t" bIns="121900" lIns="121900" spcFirstLastPara="1" rIns="121900" wrap="square" tIns="1219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9pPr>
          </a:lstStyle>
          <a:p/>
        </p:txBody>
      </p:sp>
      <p:sp>
        <p:nvSpPr>
          <p:cNvPr id="142" name="Google Shape;142;g3a7c50a7b14_0_197"/>
          <p:cNvSpPr txBox="1"/>
          <p:nvPr>
            <p:ph idx="12" type="sldNum"/>
          </p:nvPr>
        </p:nvSpPr>
        <p:spPr>
          <a:xfrm>
            <a:off x="11296611" y="6217623"/>
            <a:ext cx="731700" cy="52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21900" lIns="121900" spcFirstLastPara="1" rIns="121900" wrap="square" tIns="121900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3a7c50a7b14_0_201"/>
          <p:cNvSpPr txBox="1"/>
          <p:nvPr>
            <p:ph type="title"/>
          </p:nvPr>
        </p:nvSpPr>
        <p:spPr>
          <a:xfrm>
            <a:off x="415627" y="593367"/>
            <a:ext cx="11361600" cy="763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45" name="Google Shape;145;g3a7c50a7b14_0_201"/>
          <p:cNvSpPr txBox="1"/>
          <p:nvPr>
            <p:ph idx="1" type="body"/>
          </p:nvPr>
        </p:nvSpPr>
        <p:spPr>
          <a:xfrm>
            <a:off x="415627" y="1536633"/>
            <a:ext cx="11361600" cy="4555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925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●"/>
              <a:defRPr/>
            </a:lvl1pPr>
            <a:lvl2pPr indent="-32385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500"/>
              <a:buChar char="○"/>
              <a:defRPr/>
            </a:lvl2pPr>
            <a:lvl3pPr indent="-32385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500"/>
              <a:buChar char="■"/>
              <a:defRPr/>
            </a:lvl3pPr>
            <a:lvl4pPr indent="-32385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500"/>
              <a:buChar char="●"/>
              <a:defRPr/>
            </a:lvl4pPr>
            <a:lvl5pPr indent="-32385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500"/>
              <a:buChar char="○"/>
              <a:defRPr/>
            </a:lvl5pPr>
            <a:lvl6pPr indent="-32385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500"/>
              <a:buChar char="■"/>
              <a:defRPr/>
            </a:lvl6pPr>
            <a:lvl7pPr indent="-32385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500"/>
              <a:buChar char="●"/>
              <a:defRPr/>
            </a:lvl7pPr>
            <a:lvl8pPr indent="-32385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500"/>
              <a:buChar char="○"/>
              <a:defRPr/>
            </a:lvl8pPr>
            <a:lvl9pPr indent="-32385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500"/>
              <a:buChar char="■"/>
              <a:defRPr/>
            </a:lvl9pPr>
          </a:lstStyle>
          <a:p/>
        </p:txBody>
      </p:sp>
      <p:sp>
        <p:nvSpPr>
          <p:cNvPr id="146" name="Google Shape;146;g3a7c50a7b14_0_201"/>
          <p:cNvSpPr txBox="1"/>
          <p:nvPr>
            <p:ph idx="10" type="dt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  <a:defRPr b="0" i="0" sz="19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  <a:defRPr b="0" i="0" sz="19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  <a:defRPr b="0" i="0" sz="19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  <a:defRPr b="0" i="0" sz="19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  <a:defRPr b="0" i="0" sz="19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  <a:defRPr b="0" i="0" sz="19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  <a:defRPr b="0" i="0" sz="19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  <a:defRPr b="0" i="0" sz="19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  <a:defRPr b="0" i="0" sz="19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7" name="Google Shape;147;g3a7c50a7b14_0_201"/>
          <p:cNvSpPr txBox="1"/>
          <p:nvPr>
            <p:ph idx="11" type="ftr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  <a:defRPr b="0" i="0" sz="19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  <a:defRPr b="0" i="0" sz="19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  <a:defRPr b="0" i="0" sz="19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  <a:defRPr b="0" i="0" sz="19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  <a:defRPr b="0" i="0" sz="19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  <a:defRPr b="0" i="0" sz="19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  <a:defRPr b="0" i="0" sz="19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  <a:defRPr b="0" i="0" sz="19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  <a:defRPr b="0" i="0" sz="19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8" name="Google Shape;148;g3a7c50a7b14_0_201"/>
          <p:cNvSpPr txBox="1"/>
          <p:nvPr>
            <p:ph idx="12" type="sldNum"/>
          </p:nvPr>
        </p:nvSpPr>
        <p:spPr>
          <a:xfrm>
            <a:off x="11297331" y="6217623"/>
            <a:ext cx="731700" cy="52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3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3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3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3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3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3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3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3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3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g3a7c50a7b14_0_207"/>
          <p:cNvSpPr txBox="1"/>
          <p:nvPr>
            <p:ph type="title"/>
          </p:nvPr>
        </p:nvSpPr>
        <p:spPr>
          <a:xfrm>
            <a:off x="415600" y="2867800"/>
            <a:ext cx="11360700" cy="1122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21900" lIns="121900" spcFirstLastPara="1" rIns="121900" wrap="square" tIns="1219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151" name="Google Shape;151;g3a7c50a7b14_0_207"/>
          <p:cNvSpPr txBox="1"/>
          <p:nvPr>
            <p:ph idx="12" type="sldNum"/>
          </p:nvPr>
        </p:nvSpPr>
        <p:spPr>
          <a:xfrm>
            <a:off x="11296611" y="6217623"/>
            <a:ext cx="731700" cy="52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21900" lIns="121900" spcFirstLastPara="1" rIns="121900" wrap="square" tIns="121900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g3a7c50a7b14_0_210"/>
          <p:cNvSpPr txBox="1"/>
          <p:nvPr>
            <p:ph type="title"/>
          </p:nvPr>
        </p:nvSpPr>
        <p:spPr>
          <a:xfrm>
            <a:off x="415600" y="593367"/>
            <a:ext cx="11360700" cy="763500"/>
          </a:xfrm>
          <a:prstGeom prst="rect">
            <a:avLst/>
          </a:prstGeom>
          <a:noFill/>
          <a:ln>
            <a:noFill/>
          </a:ln>
        </p:spPr>
        <p:txBody>
          <a:bodyPr anchorCtr="0" anchor="t" bIns="121900" lIns="121900" spcFirstLastPara="1" rIns="121900" wrap="square" tIns="1219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9pPr>
          </a:lstStyle>
          <a:p/>
        </p:txBody>
      </p:sp>
      <p:sp>
        <p:nvSpPr>
          <p:cNvPr id="154" name="Google Shape;154;g3a7c50a7b14_0_210"/>
          <p:cNvSpPr txBox="1"/>
          <p:nvPr>
            <p:ph idx="1" type="body"/>
          </p:nvPr>
        </p:nvSpPr>
        <p:spPr>
          <a:xfrm>
            <a:off x="415600" y="1536633"/>
            <a:ext cx="5333100" cy="4555200"/>
          </a:xfrm>
          <a:prstGeom prst="rect">
            <a:avLst/>
          </a:prstGeom>
          <a:noFill/>
          <a:ln>
            <a:noFill/>
          </a:ln>
        </p:spPr>
        <p:txBody>
          <a:bodyPr anchorCtr="0" anchor="t" bIns="121900" lIns="121900" spcFirstLastPara="1" rIns="121900" wrap="square" tIns="121900">
            <a:normAutofit/>
          </a:bodyPr>
          <a:lstStyle>
            <a:lvl1pPr indent="-34925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●"/>
              <a:defRPr sz="1900"/>
            </a:lvl1pPr>
            <a:lvl2pPr indent="-3302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2pPr>
            <a:lvl3pPr indent="-3302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3pPr>
            <a:lvl4pPr indent="-3302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4pPr>
            <a:lvl5pPr indent="-3302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5pPr>
            <a:lvl6pPr indent="-3302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6pPr>
            <a:lvl7pPr indent="-3302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7pPr>
            <a:lvl8pPr indent="-3302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8pPr>
            <a:lvl9pPr indent="-3302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9pPr>
          </a:lstStyle>
          <a:p/>
        </p:txBody>
      </p:sp>
      <p:sp>
        <p:nvSpPr>
          <p:cNvPr id="155" name="Google Shape;155;g3a7c50a7b14_0_210"/>
          <p:cNvSpPr txBox="1"/>
          <p:nvPr>
            <p:ph idx="2" type="body"/>
          </p:nvPr>
        </p:nvSpPr>
        <p:spPr>
          <a:xfrm>
            <a:off x="6443200" y="1536633"/>
            <a:ext cx="5333100" cy="4555200"/>
          </a:xfrm>
          <a:prstGeom prst="rect">
            <a:avLst/>
          </a:prstGeom>
          <a:noFill/>
          <a:ln>
            <a:noFill/>
          </a:ln>
        </p:spPr>
        <p:txBody>
          <a:bodyPr anchorCtr="0" anchor="t" bIns="121900" lIns="121900" spcFirstLastPara="1" rIns="121900" wrap="square" tIns="121900">
            <a:normAutofit/>
          </a:bodyPr>
          <a:lstStyle>
            <a:lvl1pPr indent="-34925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●"/>
              <a:defRPr sz="1900"/>
            </a:lvl1pPr>
            <a:lvl2pPr indent="-3302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2pPr>
            <a:lvl3pPr indent="-3302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3pPr>
            <a:lvl4pPr indent="-3302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4pPr>
            <a:lvl5pPr indent="-3302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5pPr>
            <a:lvl6pPr indent="-3302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6pPr>
            <a:lvl7pPr indent="-3302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7pPr>
            <a:lvl8pPr indent="-3302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8pPr>
            <a:lvl9pPr indent="-3302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9pPr>
          </a:lstStyle>
          <a:p/>
        </p:txBody>
      </p:sp>
      <p:sp>
        <p:nvSpPr>
          <p:cNvPr id="156" name="Google Shape;156;g3a7c50a7b14_0_210"/>
          <p:cNvSpPr txBox="1"/>
          <p:nvPr>
            <p:ph idx="12" type="sldNum"/>
          </p:nvPr>
        </p:nvSpPr>
        <p:spPr>
          <a:xfrm>
            <a:off x="11296611" y="6217623"/>
            <a:ext cx="731700" cy="52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21900" lIns="121900" spcFirstLastPara="1" rIns="121900" wrap="square" tIns="121900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g3a7c50a7b14_0_215"/>
          <p:cNvSpPr txBox="1"/>
          <p:nvPr>
            <p:ph type="title"/>
          </p:nvPr>
        </p:nvSpPr>
        <p:spPr>
          <a:xfrm>
            <a:off x="415600" y="593367"/>
            <a:ext cx="11360700" cy="763500"/>
          </a:xfrm>
          <a:prstGeom prst="rect">
            <a:avLst/>
          </a:prstGeom>
          <a:noFill/>
          <a:ln>
            <a:noFill/>
          </a:ln>
        </p:spPr>
        <p:txBody>
          <a:bodyPr anchorCtr="0" anchor="t" bIns="121900" lIns="121900" spcFirstLastPara="1" rIns="121900" wrap="square" tIns="1219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9pPr>
          </a:lstStyle>
          <a:p/>
        </p:txBody>
      </p:sp>
      <p:sp>
        <p:nvSpPr>
          <p:cNvPr id="159" name="Google Shape;159;g3a7c50a7b14_0_215"/>
          <p:cNvSpPr txBox="1"/>
          <p:nvPr>
            <p:ph idx="12" type="sldNum"/>
          </p:nvPr>
        </p:nvSpPr>
        <p:spPr>
          <a:xfrm>
            <a:off x="11296611" y="6217623"/>
            <a:ext cx="731700" cy="52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21900" lIns="121900" spcFirstLastPara="1" rIns="121900" wrap="square" tIns="121900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g3a7c50a7b14_0_218"/>
          <p:cNvSpPr txBox="1"/>
          <p:nvPr>
            <p:ph type="title"/>
          </p:nvPr>
        </p:nvSpPr>
        <p:spPr>
          <a:xfrm>
            <a:off x="415600" y="740800"/>
            <a:ext cx="3744000" cy="1007700"/>
          </a:xfrm>
          <a:prstGeom prst="rect">
            <a:avLst/>
          </a:prstGeom>
          <a:noFill/>
          <a:ln>
            <a:noFill/>
          </a:ln>
        </p:spPr>
        <p:txBody>
          <a:bodyPr anchorCtr="0" anchor="b" bIns="121900" lIns="121900" spcFirstLastPara="1" rIns="121900" wrap="square" tIns="1219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9pPr>
          </a:lstStyle>
          <a:p/>
        </p:txBody>
      </p:sp>
      <p:sp>
        <p:nvSpPr>
          <p:cNvPr id="162" name="Google Shape;162;g3a7c50a7b14_0_218"/>
          <p:cNvSpPr txBox="1"/>
          <p:nvPr>
            <p:ph idx="1" type="body"/>
          </p:nvPr>
        </p:nvSpPr>
        <p:spPr>
          <a:xfrm>
            <a:off x="415600" y="1852800"/>
            <a:ext cx="3744000" cy="4239300"/>
          </a:xfrm>
          <a:prstGeom prst="rect">
            <a:avLst/>
          </a:prstGeom>
          <a:noFill/>
          <a:ln>
            <a:noFill/>
          </a:ln>
        </p:spPr>
        <p:txBody>
          <a:bodyPr anchorCtr="0" anchor="t" bIns="121900" lIns="121900" spcFirstLastPara="1" rIns="121900" wrap="square" tIns="121900">
            <a:normAutofit/>
          </a:bodyPr>
          <a:lstStyle>
            <a:lvl1pPr indent="-3302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1pPr>
            <a:lvl2pPr indent="-3302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2pPr>
            <a:lvl3pPr indent="-3302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3pPr>
            <a:lvl4pPr indent="-3302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4pPr>
            <a:lvl5pPr indent="-3302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5pPr>
            <a:lvl6pPr indent="-3302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6pPr>
            <a:lvl7pPr indent="-3302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7pPr>
            <a:lvl8pPr indent="-3302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8pPr>
            <a:lvl9pPr indent="-3302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9pPr>
          </a:lstStyle>
          <a:p/>
        </p:txBody>
      </p:sp>
      <p:sp>
        <p:nvSpPr>
          <p:cNvPr id="163" name="Google Shape;163;g3a7c50a7b14_0_218"/>
          <p:cNvSpPr txBox="1"/>
          <p:nvPr>
            <p:ph idx="12" type="sldNum"/>
          </p:nvPr>
        </p:nvSpPr>
        <p:spPr>
          <a:xfrm>
            <a:off x="11296611" y="6217623"/>
            <a:ext cx="731700" cy="52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21900" lIns="121900" spcFirstLastPara="1" rIns="121900" wrap="square" tIns="121900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a7c50a7b14_0_222"/>
          <p:cNvSpPr txBox="1"/>
          <p:nvPr>
            <p:ph type="title"/>
          </p:nvPr>
        </p:nvSpPr>
        <p:spPr>
          <a:xfrm>
            <a:off x="653667" y="600200"/>
            <a:ext cx="8490300" cy="545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21900" lIns="121900" spcFirstLastPara="1" rIns="121900" wrap="square" tIns="1219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9pPr>
          </a:lstStyle>
          <a:p/>
        </p:txBody>
      </p:sp>
      <p:sp>
        <p:nvSpPr>
          <p:cNvPr id="166" name="Google Shape;166;g3a7c50a7b14_0_222"/>
          <p:cNvSpPr txBox="1"/>
          <p:nvPr>
            <p:ph idx="12" type="sldNum"/>
          </p:nvPr>
        </p:nvSpPr>
        <p:spPr>
          <a:xfrm>
            <a:off x="11296611" y="6217623"/>
            <a:ext cx="731700" cy="52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21900" lIns="121900" spcFirstLastPara="1" rIns="121900" wrap="square" tIns="121900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g3a7c50a7b14_0_225"/>
          <p:cNvSpPr/>
          <p:nvPr/>
        </p:nvSpPr>
        <p:spPr>
          <a:xfrm>
            <a:off x="6096000" y="-167"/>
            <a:ext cx="6096000" cy="6858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121900" lIns="121900" spcFirstLastPara="1" rIns="121900" wrap="square" tIns="1219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r>
              <a:t/>
            </a:r>
            <a:endParaRPr b="0" i="0" sz="19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9" name="Google Shape;169;g3a7c50a7b14_0_225"/>
          <p:cNvSpPr txBox="1"/>
          <p:nvPr>
            <p:ph type="title"/>
          </p:nvPr>
        </p:nvSpPr>
        <p:spPr>
          <a:xfrm>
            <a:off x="354000" y="1644233"/>
            <a:ext cx="5393700" cy="1976400"/>
          </a:xfrm>
          <a:prstGeom prst="rect">
            <a:avLst/>
          </a:prstGeom>
          <a:noFill/>
          <a:ln>
            <a:noFill/>
          </a:ln>
        </p:spPr>
        <p:txBody>
          <a:bodyPr anchorCtr="0" anchor="b" bIns="121900" lIns="121900" spcFirstLastPara="1" rIns="121900" wrap="square" tIns="1219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9pPr>
          </a:lstStyle>
          <a:p/>
        </p:txBody>
      </p:sp>
      <p:sp>
        <p:nvSpPr>
          <p:cNvPr id="170" name="Google Shape;170;g3a7c50a7b14_0_225"/>
          <p:cNvSpPr txBox="1"/>
          <p:nvPr>
            <p:ph idx="1" type="subTitle"/>
          </p:nvPr>
        </p:nvSpPr>
        <p:spPr>
          <a:xfrm>
            <a:off x="354000" y="3737433"/>
            <a:ext cx="5393700" cy="1646700"/>
          </a:xfrm>
          <a:prstGeom prst="rect">
            <a:avLst/>
          </a:prstGeom>
          <a:noFill/>
          <a:ln>
            <a:noFill/>
          </a:ln>
        </p:spPr>
        <p:txBody>
          <a:bodyPr anchorCtr="0" anchor="t" bIns="121900" lIns="121900" spcFirstLastPara="1" rIns="121900" wrap="square" tIns="1219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71" name="Google Shape;171;g3a7c50a7b14_0_225"/>
          <p:cNvSpPr txBox="1"/>
          <p:nvPr>
            <p:ph idx="2" type="body"/>
          </p:nvPr>
        </p:nvSpPr>
        <p:spPr>
          <a:xfrm>
            <a:off x="6586000" y="965433"/>
            <a:ext cx="5115900" cy="4926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21900" lIns="121900" spcFirstLastPara="1" rIns="121900" wrap="square" tIns="121900">
            <a:normAutofit/>
          </a:bodyPr>
          <a:lstStyle>
            <a:lvl1pPr indent="-3810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●"/>
              <a:defRPr/>
            </a:lvl1pPr>
            <a:lvl2pPr indent="-34925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○"/>
              <a:defRPr/>
            </a:lvl2pPr>
            <a:lvl3pPr indent="-34925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■"/>
              <a:defRPr/>
            </a:lvl3pPr>
            <a:lvl4pPr indent="-34925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●"/>
              <a:defRPr/>
            </a:lvl4pPr>
            <a:lvl5pPr indent="-34925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○"/>
              <a:defRPr/>
            </a:lvl5pPr>
            <a:lvl6pPr indent="-34925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■"/>
              <a:defRPr/>
            </a:lvl6pPr>
            <a:lvl7pPr indent="-34925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●"/>
              <a:defRPr/>
            </a:lvl7pPr>
            <a:lvl8pPr indent="-34925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○"/>
              <a:defRPr/>
            </a:lvl8pPr>
            <a:lvl9pPr indent="-34925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■"/>
              <a:defRPr/>
            </a:lvl9pPr>
          </a:lstStyle>
          <a:p/>
        </p:txBody>
      </p:sp>
      <p:sp>
        <p:nvSpPr>
          <p:cNvPr id="172" name="Google Shape;172;g3a7c50a7b14_0_225"/>
          <p:cNvSpPr txBox="1"/>
          <p:nvPr>
            <p:ph idx="12" type="sldNum"/>
          </p:nvPr>
        </p:nvSpPr>
        <p:spPr>
          <a:xfrm>
            <a:off x="11296611" y="6217623"/>
            <a:ext cx="731700" cy="52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21900" lIns="121900" spcFirstLastPara="1" rIns="121900" wrap="square" tIns="121900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g3a7c50a7b14_0_231"/>
          <p:cNvSpPr txBox="1"/>
          <p:nvPr>
            <p:ph idx="1" type="body"/>
          </p:nvPr>
        </p:nvSpPr>
        <p:spPr>
          <a:xfrm>
            <a:off x="415600" y="5640767"/>
            <a:ext cx="7998300" cy="80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21900" lIns="121900" spcFirstLastPara="1" rIns="121900" wrap="square" tIns="1219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</a:lstStyle>
          <a:p/>
        </p:txBody>
      </p:sp>
      <p:sp>
        <p:nvSpPr>
          <p:cNvPr id="175" name="Google Shape;175;g3a7c50a7b14_0_231"/>
          <p:cNvSpPr txBox="1"/>
          <p:nvPr>
            <p:ph idx="12" type="sldNum"/>
          </p:nvPr>
        </p:nvSpPr>
        <p:spPr>
          <a:xfrm>
            <a:off x="11296611" y="6217623"/>
            <a:ext cx="731700" cy="52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21900" lIns="121900" spcFirstLastPara="1" rIns="121900" wrap="square" tIns="121900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g3a7c50a7b14_0_234"/>
          <p:cNvSpPr txBox="1"/>
          <p:nvPr>
            <p:ph hasCustomPrompt="1" type="title"/>
          </p:nvPr>
        </p:nvSpPr>
        <p:spPr>
          <a:xfrm>
            <a:off x="415600" y="1474833"/>
            <a:ext cx="11360700" cy="2618100"/>
          </a:xfrm>
          <a:prstGeom prst="rect">
            <a:avLst/>
          </a:prstGeom>
          <a:noFill/>
          <a:ln>
            <a:noFill/>
          </a:ln>
        </p:spPr>
        <p:txBody>
          <a:bodyPr anchorCtr="0" anchor="b" bIns="121900" lIns="121900" spcFirstLastPara="1" rIns="121900" wrap="square" tIns="1219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9pPr>
          </a:lstStyle>
          <a:p>
            <a:r>
              <a:t>xx%</a:t>
            </a:r>
          </a:p>
        </p:txBody>
      </p:sp>
      <p:sp>
        <p:nvSpPr>
          <p:cNvPr id="178" name="Google Shape;178;g3a7c50a7b14_0_234"/>
          <p:cNvSpPr txBox="1"/>
          <p:nvPr>
            <p:ph idx="1" type="body"/>
          </p:nvPr>
        </p:nvSpPr>
        <p:spPr>
          <a:xfrm>
            <a:off x="415600" y="4202967"/>
            <a:ext cx="11360700" cy="1734300"/>
          </a:xfrm>
          <a:prstGeom prst="rect">
            <a:avLst/>
          </a:prstGeom>
          <a:noFill/>
          <a:ln>
            <a:noFill/>
          </a:ln>
        </p:spPr>
        <p:txBody>
          <a:bodyPr anchorCtr="0" anchor="t" bIns="121900" lIns="121900" spcFirstLastPara="1" rIns="121900" wrap="square" tIns="121900">
            <a:normAutofit/>
          </a:bodyPr>
          <a:lstStyle>
            <a:lvl1pPr indent="-3810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●"/>
              <a:defRPr/>
            </a:lvl1pPr>
            <a:lvl2pPr indent="-349250" lvl="1" marL="914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○"/>
              <a:defRPr/>
            </a:lvl2pPr>
            <a:lvl3pPr indent="-349250" lvl="2" marL="1371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■"/>
              <a:defRPr/>
            </a:lvl3pPr>
            <a:lvl4pPr indent="-349250" lvl="3" marL="1828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●"/>
              <a:defRPr/>
            </a:lvl4pPr>
            <a:lvl5pPr indent="-349250" lvl="4" marL="22860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○"/>
              <a:defRPr/>
            </a:lvl5pPr>
            <a:lvl6pPr indent="-349250" lvl="5" marL="2743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■"/>
              <a:defRPr/>
            </a:lvl6pPr>
            <a:lvl7pPr indent="-349250" lvl="6" marL="3200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●"/>
              <a:defRPr/>
            </a:lvl7pPr>
            <a:lvl8pPr indent="-349250" lvl="7" marL="3657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○"/>
              <a:defRPr/>
            </a:lvl8pPr>
            <a:lvl9pPr indent="-349250" lvl="8" marL="4114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■"/>
              <a:defRPr/>
            </a:lvl9pPr>
          </a:lstStyle>
          <a:p/>
        </p:txBody>
      </p:sp>
      <p:sp>
        <p:nvSpPr>
          <p:cNvPr id="179" name="Google Shape;179;g3a7c50a7b14_0_234"/>
          <p:cNvSpPr txBox="1"/>
          <p:nvPr>
            <p:ph idx="12" type="sldNum"/>
          </p:nvPr>
        </p:nvSpPr>
        <p:spPr>
          <a:xfrm>
            <a:off x="11296611" y="6217623"/>
            <a:ext cx="731700" cy="52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21900" lIns="121900" spcFirstLastPara="1" rIns="121900" wrap="square" tIns="121900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g3a7c50a7b14_0_238"/>
          <p:cNvSpPr txBox="1"/>
          <p:nvPr>
            <p:ph idx="12" type="sldNum"/>
          </p:nvPr>
        </p:nvSpPr>
        <p:spPr>
          <a:xfrm>
            <a:off x="11296611" y="6217623"/>
            <a:ext cx="731700" cy="52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21900" lIns="121900" spcFirstLastPara="1" rIns="121900" wrap="square" tIns="121900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theme" Target="../theme/theme4.xml"/><Relationship Id="rId10" Type="http://schemas.openxmlformats.org/officeDocument/2006/relationships/slideLayout" Target="../slideLayouts/slideLayout10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_rels/slideMaster2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21.xml"/><Relationship Id="rId10" Type="http://schemas.openxmlformats.org/officeDocument/2006/relationships/slideLayout" Target="../slideLayouts/slideLayout20.xml"/><Relationship Id="rId13" Type="http://schemas.openxmlformats.org/officeDocument/2006/relationships/slideLayout" Target="../slideLayouts/slideLayout23.xml"/><Relationship Id="rId12" Type="http://schemas.openxmlformats.org/officeDocument/2006/relationships/slideLayout" Target="../slideLayouts/slideLayout22.xml"/><Relationship Id="rId1" Type="http://schemas.openxmlformats.org/officeDocument/2006/relationships/slideLayout" Target="../slideLayouts/slideLayout11.xml"/><Relationship Id="rId2" Type="http://schemas.openxmlformats.org/officeDocument/2006/relationships/slideLayout" Target="../slideLayouts/slideLayout12.xml"/><Relationship Id="rId3" Type="http://schemas.openxmlformats.org/officeDocument/2006/relationships/slideLayout" Target="../slideLayouts/slideLayout13.xml"/><Relationship Id="rId4" Type="http://schemas.openxmlformats.org/officeDocument/2006/relationships/slideLayout" Target="../slideLayouts/slideLayout14.xml"/><Relationship Id="rId9" Type="http://schemas.openxmlformats.org/officeDocument/2006/relationships/slideLayout" Target="../slideLayouts/slideLayout19.xml"/><Relationship Id="rId14" Type="http://schemas.openxmlformats.org/officeDocument/2006/relationships/theme" Target="../theme/theme2.xml"/><Relationship Id="rId5" Type="http://schemas.openxmlformats.org/officeDocument/2006/relationships/slideLayout" Target="../slideLayouts/slideLayout15.xml"/><Relationship Id="rId6" Type="http://schemas.openxmlformats.org/officeDocument/2006/relationships/slideLayout" Target="../slideLayouts/slideLayout16.xml"/><Relationship Id="rId7" Type="http://schemas.openxmlformats.org/officeDocument/2006/relationships/slideLayout" Target="../slideLayouts/slideLayout17.xml"/><Relationship Id="rId8" Type="http://schemas.openxmlformats.org/officeDocument/2006/relationships/slideLayout" Target="../slideLayouts/slideLayout18.xml"/></Relationships>
</file>

<file path=ppt/slideMasters/_rels/slideMaster3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34.xml"/><Relationship Id="rId10" Type="http://schemas.openxmlformats.org/officeDocument/2006/relationships/slideLayout" Target="../slideLayouts/slideLayout33.xml"/><Relationship Id="rId13" Type="http://schemas.openxmlformats.org/officeDocument/2006/relationships/theme" Target="../theme/theme3.xml"/><Relationship Id="rId12" Type="http://schemas.openxmlformats.org/officeDocument/2006/relationships/slideLayout" Target="../slideLayouts/slideLayout35.xml"/><Relationship Id="rId1" Type="http://schemas.openxmlformats.org/officeDocument/2006/relationships/slideLayout" Target="../slideLayouts/slideLayout24.xml"/><Relationship Id="rId2" Type="http://schemas.openxmlformats.org/officeDocument/2006/relationships/slideLayout" Target="../slideLayouts/slideLayout25.xml"/><Relationship Id="rId3" Type="http://schemas.openxmlformats.org/officeDocument/2006/relationships/slideLayout" Target="../slideLayouts/slideLayout26.xml"/><Relationship Id="rId4" Type="http://schemas.openxmlformats.org/officeDocument/2006/relationships/slideLayout" Target="../slideLayouts/slideLayout27.xml"/><Relationship Id="rId9" Type="http://schemas.openxmlformats.org/officeDocument/2006/relationships/slideLayout" Target="../slideLayouts/slideLayout32.xml"/><Relationship Id="rId5" Type="http://schemas.openxmlformats.org/officeDocument/2006/relationships/slideLayout" Target="../slideLayouts/slideLayout28.xml"/><Relationship Id="rId6" Type="http://schemas.openxmlformats.org/officeDocument/2006/relationships/slideLayout" Target="../slideLayouts/slideLayout29.xml"/><Relationship Id="rId7" Type="http://schemas.openxmlformats.org/officeDocument/2006/relationships/slideLayout" Target="../slideLayouts/slideLayout30.xml"/><Relationship Id="rId8" Type="http://schemas.openxmlformats.org/officeDocument/2006/relationships/slideLayout" Target="../slideLayouts/slideLayout3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2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0" i="0" sz="4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1" name="Google Shape;11;p22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" name="Google Shape;12;p22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" name="Google Shape;13;p22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" name="Google Shape;14;p22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g3a7c50a7b14_0_313"/>
          <p:cNvSpPr txBox="1"/>
          <p:nvPr>
            <p:ph type="title"/>
          </p:nvPr>
        </p:nvSpPr>
        <p:spPr>
          <a:xfrm>
            <a:off x="415600" y="593367"/>
            <a:ext cx="11360700" cy="763500"/>
          </a:xfrm>
          <a:prstGeom prst="rect">
            <a:avLst/>
          </a:prstGeom>
          <a:noFill/>
          <a:ln>
            <a:noFill/>
          </a:ln>
        </p:spPr>
        <p:txBody>
          <a:bodyPr anchorCtr="0" anchor="t" bIns="121900" lIns="121900" spcFirstLastPara="1" rIns="121900" wrap="square" tIns="121900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Font typeface="Arial"/>
              <a:buNone/>
              <a:defRPr b="0" i="0" sz="3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Font typeface="Arial"/>
              <a:buNone/>
              <a:defRPr b="0" i="0" sz="3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Font typeface="Arial"/>
              <a:buNone/>
              <a:defRPr b="0" i="0" sz="3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Font typeface="Arial"/>
              <a:buNone/>
              <a:defRPr b="0" i="0" sz="3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Font typeface="Arial"/>
              <a:buNone/>
              <a:defRPr b="0" i="0" sz="3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Font typeface="Arial"/>
              <a:buNone/>
              <a:defRPr b="0" i="0" sz="3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Font typeface="Arial"/>
              <a:buNone/>
              <a:defRPr b="0" i="0" sz="3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Font typeface="Arial"/>
              <a:buNone/>
              <a:defRPr b="0" i="0" sz="3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Font typeface="Arial"/>
              <a:buNone/>
              <a:defRPr b="0" i="0" sz="3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8" name="Google Shape;78;g3a7c50a7b14_0_313"/>
          <p:cNvSpPr txBox="1"/>
          <p:nvPr>
            <p:ph idx="1" type="body"/>
          </p:nvPr>
        </p:nvSpPr>
        <p:spPr>
          <a:xfrm>
            <a:off x="415600" y="1536633"/>
            <a:ext cx="11360700" cy="4555200"/>
          </a:xfrm>
          <a:prstGeom prst="rect">
            <a:avLst/>
          </a:prstGeom>
          <a:noFill/>
          <a:ln>
            <a:noFill/>
          </a:ln>
        </p:spPr>
        <p:txBody>
          <a:bodyPr anchorCtr="0" anchor="t" bIns="121900" lIns="121900" spcFirstLastPara="1" rIns="121900" wrap="square" tIns="121900">
            <a:normAutofit/>
          </a:bodyPr>
          <a:lstStyle>
            <a:lvl1pPr indent="-3810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Arial"/>
              <a:buChar char="●"/>
              <a:defRPr b="0" i="0" sz="2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925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900"/>
              <a:buFont typeface="Arial"/>
              <a:buChar char="○"/>
              <a:defRPr b="0" i="0" sz="19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4925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900"/>
              <a:buFont typeface="Arial"/>
              <a:buChar char="■"/>
              <a:defRPr b="0" i="0" sz="19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4925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900"/>
              <a:buFont typeface="Arial"/>
              <a:buChar char="●"/>
              <a:defRPr b="0" i="0" sz="19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4925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900"/>
              <a:buFont typeface="Arial"/>
              <a:buChar char="○"/>
              <a:defRPr b="0" i="0" sz="19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925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900"/>
              <a:buFont typeface="Arial"/>
              <a:buChar char="■"/>
              <a:defRPr b="0" i="0" sz="19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4925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900"/>
              <a:buFont typeface="Arial"/>
              <a:buChar char="●"/>
              <a:defRPr b="0" i="0" sz="19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4925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900"/>
              <a:buFont typeface="Arial"/>
              <a:buChar char="○"/>
              <a:defRPr b="0" i="0" sz="19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4925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900"/>
              <a:buFont typeface="Arial"/>
              <a:buChar char="■"/>
              <a:defRPr b="0" i="0" sz="19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9" name="Google Shape;79;g3a7c50a7b14_0_313"/>
          <p:cNvSpPr txBox="1"/>
          <p:nvPr>
            <p:ph idx="12" type="sldNum"/>
          </p:nvPr>
        </p:nvSpPr>
        <p:spPr>
          <a:xfrm>
            <a:off x="11296611" y="6217623"/>
            <a:ext cx="731700" cy="52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21900" lIns="121900" spcFirstLastPara="1" rIns="121900" wrap="square" tIns="121900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60" r:id="rId1"/>
    <p:sldLayoutId id="2147483661" r:id="rId2"/>
    <p:sldLayoutId id="2147483662" r:id="rId3"/>
    <p:sldLayoutId id="2147483663" r:id="rId4"/>
    <p:sldLayoutId id="2147483664" r:id="rId5"/>
    <p:sldLayoutId id="2147483665" r:id="rId6"/>
    <p:sldLayoutId id="2147483666" r:id="rId7"/>
    <p:sldLayoutId id="2147483667" r:id="rId8"/>
    <p:sldLayoutId id="2147483668" r:id="rId9"/>
    <p:sldLayoutId id="2147483669" r:id="rId10"/>
    <p:sldLayoutId id="2147483670" r:id="rId11"/>
    <p:sldLayoutId id="2147483671" r:id="rId12"/>
    <p:sldLayoutId id="2147483672" r:id="rId13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g3a7c50a7b14_0_189"/>
          <p:cNvSpPr txBox="1"/>
          <p:nvPr>
            <p:ph type="title"/>
          </p:nvPr>
        </p:nvSpPr>
        <p:spPr>
          <a:xfrm>
            <a:off x="415600" y="593367"/>
            <a:ext cx="11360700" cy="763500"/>
          </a:xfrm>
          <a:prstGeom prst="rect">
            <a:avLst/>
          </a:prstGeom>
          <a:noFill/>
          <a:ln>
            <a:noFill/>
          </a:ln>
        </p:spPr>
        <p:txBody>
          <a:bodyPr anchorCtr="0" anchor="t" bIns="121900" lIns="121900" spcFirstLastPara="1" rIns="121900" wrap="square" tIns="121900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Font typeface="Arial"/>
              <a:buNone/>
              <a:defRPr b="0" i="0" sz="3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Font typeface="Arial"/>
              <a:buNone/>
              <a:defRPr b="0" i="0" sz="3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Font typeface="Arial"/>
              <a:buNone/>
              <a:defRPr b="0" i="0" sz="3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Font typeface="Arial"/>
              <a:buNone/>
              <a:defRPr b="0" i="0" sz="3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Font typeface="Arial"/>
              <a:buNone/>
              <a:defRPr b="0" i="0" sz="3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Font typeface="Arial"/>
              <a:buNone/>
              <a:defRPr b="0" i="0" sz="3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Font typeface="Arial"/>
              <a:buNone/>
              <a:defRPr b="0" i="0" sz="3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Font typeface="Arial"/>
              <a:buNone/>
              <a:defRPr b="0" i="0" sz="3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Font typeface="Arial"/>
              <a:buNone/>
              <a:defRPr b="0" i="0" sz="3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33" name="Google Shape;133;g3a7c50a7b14_0_189"/>
          <p:cNvSpPr txBox="1"/>
          <p:nvPr>
            <p:ph idx="1" type="body"/>
          </p:nvPr>
        </p:nvSpPr>
        <p:spPr>
          <a:xfrm>
            <a:off x="415600" y="1536633"/>
            <a:ext cx="11360700" cy="4555200"/>
          </a:xfrm>
          <a:prstGeom prst="rect">
            <a:avLst/>
          </a:prstGeom>
          <a:noFill/>
          <a:ln>
            <a:noFill/>
          </a:ln>
        </p:spPr>
        <p:txBody>
          <a:bodyPr anchorCtr="0" anchor="t" bIns="121900" lIns="121900" spcFirstLastPara="1" rIns="121900" wrap="square" tIns="121900">
            <a:normAutofit/>
          </a:bodyPr>
          <a:lstStyle>
            <a:lvl1pPr indent="-3810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Arial"/>
              <a:buChar char="●"/>
              <a:defRPr b="0" i="0" sz="2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925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900"/>
              <a:buFont typeface="Arial"/>
              <a:buChar char="○"/>
              <a:defRPr b="0" i="0" sz="19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4925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900"/>
              <a:buFont typeface="Arial"/>
              <a:buChar char="■"/>
              <a:defRPr b="0" i="0" sz="19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4925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900"/>
              <a:buFont typeface="Arial"/>
              <a:buChar char="●"/>
              <a:defRPr b="0" i="0" sz="19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4925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900"/>
              <a:buFont typeface="Arial"/>
              <a:buChar char="○"/>
              <a:defRPr b="0" i="0" sz="19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925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900"/>
              <a:buFont typeface="Arial"/>
              <a:buChar char="■"/>
              <a:defRPr b="0" i="0" sz="19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4925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900"/>
              <a:buFont typeface="Arial"/>
              <a:buChar char="●"/>
              <a:defRPr b="0" i="0" sz="19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4925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900"/>
              <a:buFont typeface="Arial"/>
              <a:buChar char="○"/>
              <a:defRPr b="0" i="0" sz="19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4925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900"/>
              <a:buFont typeface="Arial"/>
              <a:buChar char="■"/>
              <a:defRPr b="0" i="0" sz="19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34" name="Google Shape;134;g3a7c50a7b14_0_189"/>
          <p:cNvSpPr txBox="1"/>
          <p:nvPr>
            <p:ph idx="12" type="sldNum"/>
          </p:nvPr>
        </p:nvSpPr>
        <p:spPr>
          <a:xfrm>
            <a:off x="11296611" y="6217623"/>
            <a:ext cx="731700" cy="52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21900" lIns="121900" spcFirstLastPara="1" rIns="121900" wrap="square" tIns="121900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74" r:id="rId1"/>
    <p:sldLayoutId id="2147483675" r:id="rId2"/>
    <p:sldLayoutId id="2147483676" r:id="rId3"/>
    <p:sldLayoutId id="2147483677" r:id="rId4"/>
    <p:sldLayoutId id="2147483678" r:id="rId5"/>
    <p:sldLayoutId id="2147483679" r:id="rId6"/>
    <p:sldLayoutId id="2147483680" r:id="rId7"/>
    <p:sldLayoutId id="2147483681" r:id="rId8"/>
    <p:sldLayoutId id="2147483682" r:id="rId9"/>
    <p:sldLayoutId id="2147483683" r:id="rId10"/>
    <p:sldLayoutId id="2147483684" r:id="rId11"/>
    <p:sldLayoutId id="2147483685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6.png"/><Relationship Id="rId4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9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0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25.xml"/><Relationship Id="rId3" Type="http://schemas.openxmlformats.org/officeDocument/2006/relationships/hyperlink" Target="https://docs.google.com/spreadsheets/d/1voybQO9lZqP8PrXt1hlk6M3lFgE1B6pk9pd0tu7Jw04/edit?usp=sharing" TargetMode="External"/><Relationship Id="rId4" Type="http://schemas.openxmlformats.org/officeDocument/2006/relationships/image" Target="../media/image21.png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2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2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13.png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16.png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image17.png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32.xml"/><Relationship Id="rId3" Type="http://schemas.openxmlformats.org/officeDocument/2006/relationships/image" Target="../media/image18.png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33.xml"/><Relationship Id="rId3" Type="http://schemas.openxmlformats.org/officeDocument/2006/relationships/image" Target="../media/image15.png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34.xml"/><Relationship Id="rId3" Type="http://schemas.openxmlformats.org/officeDocument/2006/relationships/image" Target="../media/image19.png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35.xml"/><Relationship Id="rId3" Type="http://schemas.openxmlformats.org/officeDocument/2006/relationships/image" Target="../media/image14.png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40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1"/>
          <p:cNvSpPr txBox="1"/>
          <p:nvPr>
            <p:ph idx="12" type="sldNum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21900" lIns="121900" spcFirstLastPara="1" rIns="121900" wrap="square" tIns="121900">
            <a:norm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000"/>
              <a:buFont typeface="Calibri"/>
              <a:buNone/>
            </a:pPr>
            <a:fld id="{00000000-1234-1234-1234-123412341234}" type="slidenum">
              <a:rPr lang="en-US" sz="1600"/>
              <a:t>‹#›</a:t>
            </a:fld>
            <a:endParaRPr sz="1600"/>
          </a:p>
        </p:txBody>
      </p:sp>
      <p:sp>
        <p:nvSpPr>
          <p:cNvPr id="187" name="Google Shape;187;p1"/>
          <p:cNvSpPr txBox="1"/>
          <p:nvPr/>
        </p:nvSpPr>
        <p:spPr>
          <a:xfrm>
            <a:off x="295033" y="5920417"/>
            <a:ext cx="3302000" cy="34861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r>
              <a:rPr b="0" i="0" lang="en-US" sz="2265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October 2024</a:t>
            </a:r>
            <a:endParaRPr b="0" i="0" sz="2265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88" name="Google Shape;188;p1"/>
          <p:cNvPicPr preferRelativeResize="0"/>
          <p:nvPr/>
        </p:nvPicPr>
        <p:blipFill rotWithShape="1">
          <a:blip r:embed="rId3">
            <a:alphaModFix/>
          </a:blip>
          <a:srcRect b="0" l="-17785" r="0" t="0"/>
          <a:stretch/>
        </p:blipFill>
        <p:spPr>
          <a:xfrm>
            <a:off x="-683503" y="1646443"/>
            <a:ext cx="4526453" cy="3703151"/>
          </a:xfrm>
          <a:prstGeom prst="rect">
            <a:avLst/>
          </a:prstGeom>
          <a:noFill/>
          <a:ln>
            <a:noFill/>
          </a:ln>
        </p:spPr>
      </p:pic>
      <p:sp>
        <p:nvSpPr>
          <p:cNvPr id="189" name="Google Shape;189;p1"/>
          <p:cNvSpPr txBox="1"/>
          <p:nvPr/>
        </p:nvSpPr>
        <p:spPr>
          <a:xfrm>
            <a:off x="4719950" y="1537978"/>
            <a:ext cx="7215600" cy="1890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z="4000" u="none" cap="none" strike="noStrike">
                <a:solidFill>
                  <a:srgbClr val="145ABE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REVUE ANNUELLE 2025 DU PEV</a:t>
            </a:r>
            <a:endParaRPr b="1" i="0" sz="4000" u="none" cap="none" strike="noStrike">
              <a:solidFill>
                <a:srgbClr val="145ABE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t/>
            </a:r>
            <a:endParaRPr b="0" i="0" sz="4000" u="none" cap="none" strike="noStrike">
              <a:solidFill>
                <a:srgbClr val="145ABE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90" name="Google Shape;190;p1"/>
          <p:cNvSpPr/>
          <p:nvPr/>
        </p:nvSpPr>
        <p:spPr>
          <a:xfrm>
            <a:off x="3660828" y="1516400"/>
            <a:ext cx="373600" cy="1867200"/>
          </a:xfrm>
          <a:prstGeom prst="rect">
            <a:avLst/>
          </a:prstGeom>
          <a:solidFill>
            <a:srgbClr val="145AB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465" u="none" cap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91" name="Google Shape;191;p1"/>
          <p:cNvSpPr txBox="1"/>
          <p:nvPr/>
        </p:nvSpPr>
        <p:spPr>
          <a:xfrm>
            <a:off x="4719955" y="3383915"/>
            <a:ext cx="7215505" cy="10642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1" lang="en-US" sz="3600" u="none" cap="none" strike="noStrike">
                <a:solidFill>
                  <a:srgbClr val="1155C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Suivi &amp; Evaluation: </a:t>
            </a:r>
            <a:endParaRPr b="1" i="1" sz="3600" u="none" cap="none" strike="noStrike">
              <a:solidFill>
                <a:srgbClr val="1155CC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1" lang="en-US" sz="3600" u="none" cap="none" strike="noStrike">
                <a:solidFill>
                  <a:srgbClr val="1155C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Où en sommes nous?</a:t>
            </a:r>
            <a:endParaRPr b="0" i="1" sz="1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t/>
            </a:r>
            <a:endParaRPr b="0" i="0" sz="1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1"/>
          <p:cNvSpPr txBox="1"/>
          <p:nvPr/>
        </p:nvSpPr>
        <p:spPr>
          <a:xfrm>
            <a:off x="4719950" y="4765050"/>
            <a:ext cx="2994600" cy="637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1" lang="en-US" sz="2800" u="none" cap="none" strike="noStrike">
                <a:solidFill>
                  <a:srgbClr val="145ABE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Decembre 2025</a:t>
            </a:r>
            <a:r>
              <a:rPr b="1" i="0" lang="en-US" sz="3200" u="none" cap="none" strike="noStrike">
                <a:solidFill>
                  <a:srgbClr val="145ABE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endParaRPr b="1" i="0" sz="2000" u="none" cap="none" strike="noStrike">
              <a:solidFill>
                <a:srgbClr val="145ABE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t/>
            </a:r>
            <a:endParaRPr b="1" i="0" sz="2000" u="none" cap="none" strike="noStrike">
              <a:solidFill>
                <a:srgbClr val="145ABE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z="2000" u="none" cap="none" strike="noStrike">
                <a:solidFill>
                  <a:srgbClr val="145ABE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endParaRPr b="0" i="0" sz="1465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t/>
            </a:r>
            <a:endParaRPr b="1" i="1" sz="2000" u="none" cap="none" strike="noStrike">
              <a:solidFill>
                <a:srgbClr val="145ABE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g3a7c511620c_0_0"/>
          <p:cNvSpPr txBox="1"/>
          <p:nvPr/>
        </p:nvSpPr>
        <p:spPr>
          <a:xfrm>
            <a:off x="458592" y="317941"/>
            <a:ext cx="11274900" cy="384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500"/>
              <a:buFont typeface="Arial"/>
              <a:buNone/>
            </a:pPr>
            <a:r>
              <a:rPr b="0" i="0" lang="en-US" sz="2500" u="none" cap="none" strike="noStrike">
                <a:solidFill>
                  <a:srgbClr val="1155C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Plan de presentation</a:t>
            </a:r>
            <a:endParaRPr b="0" i="0" sz="2500" u="none" cap="none" strike="noStrike">
              <a:solidFill>
                <a:srgbClr val="1155CC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98" name="Google Shape;198;g3a7c511620c_0_0"/>
          <p:cNvSpPr/>
          <p:nvPr/>
        </p:nvSpPr>
        <p:spPr>
          <a:xfrm>
            <a:off x="0" y="272241"/>
            <a:ext cx="235500" cy="655200"/>
          </a:xfrm>
          <a:prstGeom prst="rect">
            <a:avLst/>
          </a:prstGeom>
          <a:solidFill>
            <a:srgbClr val="1155CC"/>
          </a:solidFill>
          <a:ln>
            <a:noFill/>
          </a:ln>
        </p:spPr>
        <p:txBody>
          <a:bodyPr anchorCtr="0" anchor="ctr" bIns="91400" lIns="91400" spcFirstLastPara="1" rIns="91400" wrap="square" tIns="914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r>
              <a:t/>
            </a:r>
            <a:endParaRPr b="0" i="0" sz="1900" u="none" cap="none" strike="noStrike">
              <a:solidFill>
                <a:srgbClr val="0070C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99" name="Google Shape;199;g3a7c511620c_0_0"/>
          <p:cNvSpPr txBox="1"/>
          <p:nvPr/>
        </p:nvSpPr>
        <p:spPr>
          <a:xfrm>
            <a:off x="267700" y="6492843"/>
            <a:ext cx="114147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12190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t/>
            </a:r>
            <a:endParaRPr b="1" i="0" sz="1200" u="none" cap="none" strike="noStrike">
              <a:solidFill>
                <a:srgbClr val="1155CC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00" name="Google Shape;200;g3a7c511620c_0_0"/>
          <p:cNvSpPr txBox="1"/>
          <p:nvPr/>
        </p:nvSpPr>
        <p:spPr>
          <a:xfrm>
            <a:off x="11658600" y="6496067"/>
            <a:ext cx="228300" cy="16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-US" sz="1200" u="none" cap="none" strike="noStrike">
                <a:solidFill>
                  <a:srgbClr val="1155CC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rgbClr val="1155C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" name="Google Shape;201;g3a7c511620c_0_0"/>
          <p:cNvSpPr txBox="1"/>
          <p:nvPr/>
        </p:nvSpPr>
        <p:spPr>
          <a:xfrm>
            <a:off x="458600" y="1095800"/>
            <a:ext cx="11328900" cy="4666500"/>
          </a:xfrm>
          <a:prstGeom prst="rect">
            <a:avLst/>
          </a:prstGeom>
          <a:noFill/>
          <a:ln>
            <a:noFill/>
          </a:ln>
        </p:spPr>
        <p:txBody>
          <a:bodyPr anchorCtr="0" anchor="t" bIns="121900" lIns="121900" spcFirstLastPara="1" rIns="121900" wrap="square" tIns="12190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1300"/>
              </a:spcBef>
              <a:spcAft>
                <a:spcPts val="0"/>
              </a:spcAft>
              <a:buNone/>
            </a:pPr>
            <a:r>
              <a:t/>
            </a:r>
            <a:endParaRPr sz="2500">
              <a:solidFill>
                <a:srgbClr val="222222"/>
              </a:solidFill>
              <a:highlight>
                <a:srgbClr val="FFFFFF"/>
              </a:highlight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463550" lvl="0" marL="800100" marR="0" rtl="0" algn="l">
              <a:lnSpc>
                <a:spcPct val="115000"/>
              </a:lnSpc>
              <a:spcBef>
                <a:spcPts val="1300"/>
              </a:spcBef>
              <a:spcAft>
                <a:spcPts val="0"/>
              </a:spcAft>
              <a:buClr>
                <a:srgbClr val="222222"/>
              </a:buClr>
              <a:buSzPts val="2500"/>
              <a:buFont typeface="Times New Roman"/>
              <a:buAutoNum type="arabicPeriod"/>
            </a:pPr>
            <a:r>
              <a:rPr b="0" i="0" lang="en-US" sz="2500" u="none" cap="none" strike="noStrike">
                <a:solidFill>
                  <a:srgbClr val="222222"/>
                </a:solidFill>
                <a:highlight>
                  <a:srgbClr val="FFFFFF"/>
                </a:highlight>
                <a:latin typeface="Times New Roman"/>
                <a:ea typeface="Times New Roman"/>
                <a:cs typeface="Times New Roman"/>
                <a:sym typeface="Times New Roman"/>
              </a:rPr>
              <a:t>Niveau de réalisation des objectifs du PAO 2025</a:t>
            </a:r>
            <a:endParaRPr b="0" i="0" sz="2500" u="none" cap="none" strike="noStrike">
              <a:solidFill>
                <a:srgbClr val="222222"/>
              </a:solidFill>
              <a:highlight>
                <a:srgbClr val="FFFFFF"/>
              </a:highlight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463550" lvl="0" marL="800100" marR="0" rtl="0" algn="l">
              <a:lnSpc>
                <a:spcPct val="115000"/>
              </a:lnSpc>
              <a:spcBef>
                <a:spcPts val="1300"/>
              </a:spcBef>
              <a:spcAft>
                <a:spcPts val="0"/>
              </a:spcAft>
              <a:buClr>
                <a:srgbClr val="222222"/>
              </a:buClr>
              <a:buSzPts val="2500"/>
              <a:buFont typeface="Times New Roman"/>
              <a:buAutoNum type="arabicPeriod"/>
            </a:pPr>
            <a:r>
              <a:rPr b="0" i="0" lang="en-US" sz="2500" u="none" cap="none" strike="noStrike">
                <a:solidFill>
                  <a:srgbClr val="222222"/>
                </a:solidFill>
                <a:highlight>
                  <a:srgbClr val="FFFFFF"/>
                </a:highlight>
                <a:latin typeface="Times New Roman"/>
                <a:ea typeface="Times New Roman"/>
                <a:cs typeface="Times New Roman"/>
                <a:sym typeface="Times New Roman"/>
              </a:rPr>
              <a:t>Niveau de mise en oeuvre des activités du PAO 2025</a:t>
            </a:r>
            <a:endParaRPr b="0" i="0" sz="2500" u="none" cap="none" strike="noStrike">
              <a:solidFill>
                <a:srgbClr val="222222"/>
              </a:solidFill>
              <a:highlight>
                <a:srgbClr val="FFFFFF"/>
              </a:highlight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431800" lvl="1" marL="1219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222222"/>
              </a:buClr>
              <a:buSzPts val="2000"/>
              <a:buFont typeface="Times New Roman"/>
              <a:buChar char="○"/>
            </a:pPr>
            <a:r>
              <a:rPr b="0" i="0" lang="en-US" sz="2000" u="none" cap="none" strike="noStrike">
                <a:solidFill>
                  <a:srgbClr val="222222"/>
                </a:solidFill>
                <a:highlight>
                  <a:srgbClr val="FFFFFF"/>
                </a:highlight>
                <a:latin typeface="Times New Roman"/>
                <a:ea typeface="Times New Roman"/>
                <a:cs typeface="Times New Roman"/>
                <a:sym typeface="Times New Roman"/>
              </a:rPr>
              <a:t>Financement du PAO 2025</a:t>
            </a:r>
            <a:endParaRPr b="0" i="0" sz="2000" u="none" cap="none" strike="noStrike">
              <a:solidFill>
                <a:srgbClr val="222222"/>
              </a:solidFill>
              <a:highlight>
                <a:srgbClr val="FFFFFF"/>
              </a:highlight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431800" lvl="1" marL="1219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222222"/>
              </a:buClr>
              <a:buSzPts val="2000"/>
              <a:buFont typeface="Times New Roman"/>
              <a:buChar char="○"/>
            </a:pPr>
            <a:r>
              <a:rPr b="0" i="0" lang="en-US" sz="2000" u="none" cap="none" strike="noStrike">
                <a:solidFill>
                  <a:srgbClr val="222222"/>
                </a:solidFill>
                <a:highlight>
                  <a:srgbClr val="FFFFFF"/>
                </a:highlight>
                <a:latin typeface="Times New Roman"/>
                <a:ea typeface="Times New Roman"/>
                <a:cs typeface="Times New Roman"/>
                <a:sym typeface="Times New Roman"/>
              </a:rPr>
              <a:t>Niveau de mise en oeuvre des activités</a:t>
            </a:r>
            <a:endParaRPr b="0" i="0" sz="2000" u="none" cap="none" strike="noStrike">
              <a:solidFill>
                <a:srgbClr val="222222"/>
              </a:solidFill>
              <a:highlight>
                <a:srgbClr val="FFFFFF"/>
              </a:highlight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431800" lvl="1" marL="1219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222222"/>
              </a:buClr>
              <a:buSzPts val="2000"/>
              <a:buFont typeface="Times New Roman"/>
              <a:buChar char="○"/>
            </a:pPr>
            <a:r>
              <a:rPr b="0" i="0" lang="en-US" sz="2000" u="none" cap="none" strike="noStrike">
                <a:solidFill>
                  <a:srgbClr val="222222"/>
                </a:solidFill>
                <a:highlight>
                  <a:srgbClr val="FFFFFF"/>
                </a:highlight>
                <a:latin typeface="Times New Roman"/>
                <a:ea typeface="Times New Roman"/>
                <a:cs typeface="Times New Roman"/>
                <a:sym typeface="Times New Roman"/>
              </a:rPr>
              <a:t>Zoom sur les activités critiques non réalisés: activités et causes détaillés</a:t>
            </a:r>
            <a:endParaRPr b="0" i="0" sz="2000" u="none" cap="none" strike="noStrike">
              <a:solidFill>
                <a:srgbClr val="222222"/>
              </a:solidFill>
              <a:highlight>
                <a:srgbClr val="FFFFFF"/>
              </a:highlight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431800" lvl="1" marL="1219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222222"/>
              </a:buClr>
              <a:buSzPts val="2000"/>
              <a:buFont typeface="Times New Roman"/>
              <a:buChar char="○"/>
            </a:pPr>
            <a:r>
              <a:rPr b="0" i="0" lang="en-US" sz="2000" u="none" cap="none" strike="noStrike">
                <a:solidFill>
                  <a:srgbClr val="222222"/>
                </a:solidFill>
                <a:highlight>
                  <a:srgbClr val="FFFFFF"/>
                </a:highlight>
                <a:latin typeface="Times New Roman"/>
                <a:ea typeface="Times New Roman"/>
                <a:cs typeface="Times New Roman"/>
                <a:sym typeface="Times New Roman"/>
              </a:rPr>
              <a:t>Niveau de mise en oeuvre par agence de gestion des fonds</a:t>
            </a:r>
            <a:endParaRPr b="0" i="0" sz="2000" u="none" cap="none" strike="noStrike">
              <a:solidFill>
                <a:srgbClr val="222222"/>
              </a:solidFill>
              <a:highlight>
                <a:srgbClr val="FFFFFF"/>
              </a:highlight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463550" lvl="0" marL="800100" marR="0" rtl="0" algn="l">
              <a:lnSpc>
                <a:spcPct val="115000"/>
              </a:lnSpc>
              <a:spcBef>
                <a:spcPts val="1300"/>
              </a:spcBef>
              <a:spcAft>
                <a:spcPts val="0"/>
              </a:spcAft>
              <a:buClr>
                <a:srgbClr val="222222"/>
              </a:buClr>
              <a:buSzPts val="2500"/>
              <a:buFont typeface="Times New Roman"/>
              <a:buAutoNum type="arabicPeriod"/>
            </a:pPr>
            <a:r>
              <a:rPr b="0" i="0" lang="en-US" sz="2500" u="none" cap="none" strike="noStrike">
                <a:solidFill>
                  <a:srgbClr val="222222"/>
                </a:solidFill>
                <a:highlight>
                  <a:srgbClr val="FFFFFF"/>
                </a:highlight>
                <a:latin typeface="Times New Roman"/>
                <a:ea typeface="Times New Roman"/>
                <a:cs typeface="Times New Roman"/>
                <a:sym typeface="Times New Roman"/>
              </a:rPr>
              <a:t>Statut de fonctionnalité des antennes</a:t>
            </a:r>
            <a:endParaRPr b="0" i="0" sz="2500" u="none" cap="none" strike="noStrike">
              <a:solidFill>
                <a:srgbClr val="222222"/>
              </a:solidFill>
              <a:highlight>
                <a:srgbClr val="FFFFFF"/>
              </a:highlight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463550" lvl="0" marL="800100" marR="0" rtl="0" algn="l">
              <a:lnSpc>
                <a:spcPct val="115000"/>
              </a:lnSpc>
              <a:spcBef>
                <a:spcPts val="1300"/>
              </a:spcBef>
              <a:spcAft>
                <a:spcPts val="0"/>
              </a:spcAft>
              <a:buClr>
                <a:srgbClr val="222222"/>
              </a:buClr>
              <a:buSzPts val="2500"/>
              <a:buFont typeface="Times New Roman"/>
              <a:buAutoNum type="arabicPeriod"/>
            </a:pPr>
            <a:r>
              <a:rPr b="0" i="0" lang="en-US" sz="2500" u="none" cap="none" strike="noStrike">
                <a:solidFill>
                  <a:srgbClr val="222222"/>
                </a:solidFill>
                <a:highlight>
                  <a:srgbClr val="FFFFFF"/>
                </a:highlight>
                <a:latin typeface="Times New Roman"/>
                <a:ea typeface="Times New Roman"/>
                <a:cs typeface="Times New Roman"/>
                <a:sym typeface="Times New Roman"/>
              </a:rPr>
              <a:t>Principaux résultats par groupes thématiques</a:t>
            </a:r>
            <a:endParaRPr b="0" i="0" sz="2500" u="none" cap="none" strike="noStrike">
              <a:solidFill>
                <a:srgbClr val="222222"/>
              </a:solidFill>
              <a:highlight>
                <a:srgbClr val="FFFFFF"/>
              </a:highlight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13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t/>
            </a:r>
            <a:endParaRPr b="0" i="0" sz="27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accent1"/>
        </a:solidFill>
      </p:bgPr>
    </p:bg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g3a7c543e2b9_0_32"/>
          <p:cNvSpPr txBox="1"/>
          <p:nvPr>
            <p:ph type="title"/>
          </p:nvPr>
        </p:nvSpPr>
        <p:spPr>
          <a:xfrm>
            <a:off x="241100" y="2655367"/>
            <a:ext cx="11360700" cy="1219500"/>
          </a:xfrm>
          <a:prstGeom prst="rect">
            <a:avLst/>
          </a:prstGeom>
          <a:noFill/>
          <a:ln>
            <a:noFill/>
          </a:ln>
        </p:spPr>
        <p:txBody>
          <a:bodyPr anchorCtr="0" anchor="t" bIns="121900" lIns="121900" spcFirstLastPara="1" rIns="121900" wrap="square" tIns="1219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</a:pPr>
            <a:r>
              <a:rPr b="1" lang="en-US" sz="80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Niveau de réalisation des objectifs du PAO 2025</a:t>
            </a:r>
            <a:endParaRPr b="1" sz="800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g3a7c546b70d_0_959"/>
          <p:cNvSpPr txBox="1"/>
          <p:nvPr/>
        </p:nvSpPr>
        <p:spPr>
          <a:xfrm>
            <a:off x="458592" y="317941"/>
            <a:ext cx="11274900" cy="384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500"/>
              <a:buFont typeface="Arial"/>
              <a:buNone/>
            </a:pPr>
            <a:r>
              <a:rPr b="1" i="0" lang="en-US" sz="2500" u="none" cap="none" strike="noStrike">
                <a:solidFill>
                  <a:srgbClr val="1155C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Niveau d’atteinte des objectifs du PAO 2025</a:t>
            </a:r>
            <a:r>
              <a:rPr b="0" i="0" lang="en-US" sz="2500" u="none" cap="none" strike="noStrike">
                <a:solidFill>
                  <a:srgbClr val="1155C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| Prestation de services</a:t>
            </a:r>
            <a:endParaRPr b="0" i="0" sz="2500" u="none" cap="none" strike="noStrike">
              <a:solidFill>
                <a:srgbClr val="1155CC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12" name="Google Shape;212;g3a7c546b70d_0_959"/>
          <p:cNvSpPr/>
          <p:nvPr/>
        </p:nvSpPr>
        <p:spPr>
          <a:xfrm>
            <a:off x="0" y="272241"/>
            <a:ext cx="235500" cy="655200"/>
          </a:xfrm>
          <a:prstGeom prst="rect">
            <a:avLst/>
          </a:prstGeom>
          <a:solidFill>
            <a:srgbClr val="1155CC"/>
          </a:solidFill>
          <a:ln>
            <a:noFill/>
          </a:ln>
        </p:spPr>
        <p:txBody>
          <a:bodyPr anchorCtr="0" anchor="ctr" bIns="91400" lIns="91400" spcFirstLastPara="1" rIns="91400" wrap="square" tIns="914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r>
              <a:t/>
            </a:r>
            <a:endParaRPr b="0" i="0" sz="1900" u="none" cap="none" strike="noStrike">
              <a:solidFill>
                <a:srgbClr val="0070C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13" name="Google Shape;213;g3a7c546b70d_0_959"/>
          <p:cNvSpPr txBox="1"/>
          <p:nvPr/>
        </p:nvSpPr>
        <p:spPr>
          <a:xfrm>
            <a:off x="267700" y="6492843"/>
            <a:ext cx="114147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12190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t/>
            </a:r>
            <a:endParaRPr b="1" i="0" sz="1200" u="none" cap="none" strike="noStrike">
              <a:solidFill>
                <a:srgbClr val="1155CC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14" name="Google Shape;214;g3a7c546b70d_0_959"/>
          <p:cNvSpPr txBox="1"/>
          <p:nvPr/>
        </p:nvSpPr>
        <p:spPr>
          <a:xfrm>
            <a:off x="11658600" y="6496067"/>
            <a:ext cx="228300" cy="16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-US" sz="1200" u="none" cap="none" strike="noStrike">
                <a:solidFill>
                  <a:srgbClr val="1155CC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rgbClr val="1155C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215" name="Google Shape;215;g3a7c546b70d_0_959"/>
          <p:cNvCxnSpPr/>
          <p:nvPr/>
        </p:nvCxnSpPr>
        <p:spPr>
          <a:xfrm>
            <a:off x="267700" y="6427967"/>
            <a:ext cx="11640300" cy="0"/>
          </a:xfrm>
          <a:prstGeom prst="straightConnector1">
            <a:avLst/>
          </a:prstGeom>
          <a:noFill/>
          <a:ln cap="flat" cmpd="sng" w="9525">
            <a:solidFill>
              <a:srgbClr val="9E9E9E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16" name="Google Shape;216;g3a7c546b70d_0_959"/>
          <p:cNvSpPr txBox="1"/>
          <p:nvPr/>
        </p:nvSpPr>
        <p:spPr>
          <a:xfrm>
            <a:off x="267700" y="6492843"/>
            <a:ext cx="114147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12190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155CC"/>
              </a:buClr>
              <a:buSzPts val="1200"/>
              <a:buFont typeface="Times New Roman"/>
              <a:buNone/>
            </a:pPr>
            <a:r>
              <a:rPr b="1" lang="en-US" sz="1200">
                <a:solidFill>
                  <a:srgbClr val="1155C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DHIS2 , calculus avec les cibles ajustées</a:t>
            </a:r>
            <a:endParaRPr b="1" i="0" sz="1200" u="none" cap="none" strike="noStrike">
              <a:solidFill>
                <a:srgbClr val="1155CC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17" name="Google Shape;217;g3a7c546b70d_0_959"/>
          <p:cNvSpPr txBox="1"/>
          <p:nvPr/>
        </p:nvSpPr>
        <p:spPr>
          <a:xfrm>
            <a:off x="458600" y="1060350"/>
            <a:ext cx="11274900" cy="841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lang="en-US" sz="1600">
                <a:latin typeface="Times New Roman"/>
                <a:ea typeface="Times New Roman"/>
                <a:cs typeface="Times New Roman"/>
                <a:sym typeface="Times New Roman"/>
              </a:rPr>
              <a:t>Objectifs:</a:t>
            </a:r>
            <a:endParaRPr b="1" sz="16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z="16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Réduire de 20% à 10% le nombre d’enfants 0 dose et de 42% à 25% le nombre d’enfants sous-vaccinés</a:t>
            </a:r>
            <a:endParaRPr b="1" sz="160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grpSp>
        <p:nvGrpSpPr>
          <p:cNvPr id="218" name="Google Shape;218;g3a7c546b70d_0_959"/>
          <p:cNvGrpSpPr/>
          <p:nvPr/>
        </p:nvGrpSpPr>
        <p:grpSpPr>
          <a:xfrm>
            <a:off x="661598" y="2377270"/>
            <a:ext cx="3028443" cy="3889565"/>
            <a:chOff x="661600" y="2129048"/>
            <a:chExt cx="3221748" cy="4137835"/>
          </a:xfrm>
        </p:grpSpPr>
        <p:cxnSp>
          <p:nvCxnSpPr>
            <p:cNvPr id="219" name="Google Shape;219;g3a7c546b70d_0_959"/>
            <p:cNvCxnSpPr/>
            <p:nvPr/>
          </p:nvCxnSpPr>
          <p:spPr>
            <a:xfrm rot="10800000">
              <a:off x="1533050" y="2263000"/>
              <a:ext cx="662400" cy="0"/>
            </a:xfrm>
            <a:prstGeom prst="straightConnector1">
              <a:avLst/>
            </a:prstGeom>
            <a:noFill/>
            <a:ln cap="flat" cmpd="sng" w="10250">
              <a:solidFill>
                <a:srgbClr val="595959"/>
              </a:solidFill>
              <a:prstDash val="solid"/>
              <a:round/>
              <a:headEnd len="sm" w="sm" type="none"/>
              <a:tailEnd len="sm" w="sm" type="none"/>
            </a:ln>
          </p:spPr>
        </p:cxnSp>
        <p:pic>
          <p:nvPicPr>
            <p:cNvPr id="220" name="Google Shape;220;g3a7c546b70d_0_959" title="Chart"/>
            <p:cNvPicPr preferRelativeResize="0"/>
            <p:nvPr/>
          </p:nvPicPr>
          <p:blipFill rotWithShape="1">
            <a:blip r:embed="rId3">
              <a:alphaModFix/>
            </a:blip>
            <a:srcRect b="5077" l="28238" r="24085" t="23611"/>
            <a:stretch/>
          </p:blipFill>
          <p:spPr>
            <a:xfrm>
              <a:off x="661600" y="2725950"/>
              <a:ext cx="3221748" cy="2979800"/>
            </a:xfrm>
            <a:prstGeom prst="rect">
              <a:avLst/>
            </a:prstGeom>
            <a:noFill/>
            <a:ln>
              <a:noFill/>
            </a:ln>
          </p:spPr>
        </p:pic>
        <p:grpSp>
          <p:nvGrpSpPr>
            <p:cNvPr id="221" name="Google Shape;221;g3a7c546b70d_0_959"/>
            <p:cNvGrpSpPr/>
            <p:nvPr/>
          </p:nvGrpSpPr>
          <p:grpSpPr>
            <a:xfrm>
              <a:off x="774802" y="2129048"/>
              <a:ext cx="2969284" cy="4137835"/>
              <a:chOff x="5773352" y="1129320"/>
              <a:chExt cx="2594620" cy="3615724"/>
            </a:xfrm>
          </p:grpSpPr>
          <p:grpSp>
            <p:nvGrpSpPr>
              <p:cNvPr id="222" name="Google Shape;222;g3a7c546b70d_0_959"/>
              <p:cNvGrpSpPr/>
              <p:nvPr/>
            </p:nvGrpSpPr>
            <p:grpSpPr>
              <a:xfrm>
                <a:off x="6432364" y="1129320"/>
                <a:ext cx="1264877" cy="1492006"/>
                <a:chOff x="6432364" y="900720"/>
                <a:chExt cx="1264877" cy="1492006"/>
              </a:xfrm>
            </p:grpSpPr>
            <p:cxnSp>
              <p:nvCxnSpPr>
                <p:cNvPr id="223" name="Google Shape;223;g3a7c546b70d_0_959"/>
                <p:cNvCxnSpPr/>
                <p:nvPr/>
              </p:nvCxnSpPr>
              <p:spPr>
                <a:xfrm rot="10800000">
                  <a:off x="7118540" y="1026093"/>
                  <a:ext cx="578700" cy="0"/>
                </a:xfrm>
                <a:prstGeom prst="straightConnector1">
                  <a:avLst/>
                </a:prstGeom>
                <a:noFill/>
                <a:ln cap="flat" cmpd="sng" w="10250">
                  <a:solidFill>
                    <a:srgbClr val="595959"/>
                  </a:solidFill>
                  <a:prstDash val="solid"/>
                  <a:round/>
                  <a:headEnd len="sm" w="sm" type="none"/>
                  <a:tailEnd len="sm" w="sm" type="none"/>
                </a:ln>
              </p:spPr>
            </p:cxnSp>
            <p:grpSp>
              <p:nvGrpSpPr>
                <p:cNvPr id="224" name="Google Shape;224;g3a7c546b70d_0_959"/>
                <p:cNvGrpSpPr/>
                <p:nvPr/>
              </p:nvGrpSpPr>
              <p:grpSpPr>
                <a:xfrm>
                  <a:off x="6432364" y="900720"/>
                  <a:ext cx="1252534" cy="1492006"/>
                  <a:chOff x="6432364" y="900720"/>
                  <a:chExt cx="1252534" cy="1492006"/>
                </a:xfrm>
              </p:grpSpPr>
              <p:cxnSp>
                <p:nvCxnSpPr>
                  <p:cNvPr id="225" name="Google Shape;225;g3a7c546b70d_0_959"/>
                  <p:cNvCxnSpPr/>
                  <p:nvPr/>
                </p:nvCxnSpPr>
                <p:spPr>
                  <a:xfrm rot="10800000">
                    <a:off x="6432364" y="1017046"/>
                    <a:ext cx="0" cy="499500"/>
                  </a:xfrm>
                  <a:prstGeom prst="straightConnector1">
                    <a:avLst/>
                  </a:prstGeom>
                  <a:noFill/>
                  <a:ln cap="flat" cmpd="sng" w="10250">
                    <a:solidFill>
                      <a:srgbClr val="595959"/>
                    </a:solidFill>
                    <a:prstDash val="solid"/>
                    <a:round/>
                    <a:headEnd len="sm" w="sm" type="none"/>
                    <a:tailEnd len="sm" w="sm" type="none"/>
                  </a:ln>
                </p:spPr>
              </p:cxnSp>
              <p:cxnSp>
                <p:nvCxnSpPr>
                  <p:cNvPr id="226" name="Google Shape;226;g3a7c546b70d_0_959"/>
                  <p:cNvCxnSpPr/>
                  <p:nvPr/>
                </p:nvCxnSpPr>
                <p:spPr>
                  <a:xfrm rot="10800000">
                    <a:off x="7684898" y="1016926"/>
                    <a:ext cx="0" cy="1375800"/>
                  </a:xfrm>
                  <a:prstGeom prst="straightConnector1">
                    <a:avLst/>
                  </a:prstGeom>
                  <a:noFill/>
                  <a:ln cap="flat" cmpd="sng" w="10250">
                    <a:solidFill>
                      <a:srgbClr val="595959"/>
                    </a:solidFill>
                    <a:prstDash val="solid"/>
                    <a:round/>
                    <a:headEnd len="sm" w="sm" type="none"/>
                    <a:tailEnd len="sm" w="sm" type="none"/>
                  </a:ln>
                </p:spPr>
              </p:cxnSp>
              <p:sp>
                <p:nvSpPr>
                  <p:cNvPr id="227" name="Google Shape;227;g3a7c546b70d_0_959"/>
                  <p:cNvSpPr/>
                  <p:nvPr/>
                </p:nvSpPr>
                <p:spPr>
                  <a:xfrm>
                    <a:off x="6737022" y="900720"/>
                    <a:ext cx="643200" cy="322800"/>
                  </a:xfrm>
                  <a:prstGeom prst="ellipse">
                    <a:avLst/>
                  </a:prstGeom>
                  <a:solidFill>
                    <a:srgbClr val="D9EAD3"/>
                  </a:solidFill>
                  <a:ln cap="flat" cmpd="sng" w="10250">
                    <a:solidFill>
                      <a:srgbClr val="595959"/>
                    </a:solidFill>
                    <a:prstDash val="solid"/>
                    <a:round/>
                    <a:headEnd len="sm" w="sm" type="none"/>
                    <a:tailEnd len="sm" w="sm" type="none"/>
                  </a:ln>
                </p:spPr>
                <p:txBody>
                  <a:bodyPr anchorCtr="0" anchor="ctr" bIns="98350" lIns="98350" spcFirstLastPara="1" rIns="98350" wrap="square" tIns="98350">
                    <a:noAutofit/>
                  </a:bodyPr>
                  <a:lstStyle/>
                  <a:p>
                    <a:pPr indent="0" lvl="0" marL="0" marR="0" rtl="0" algn="ctr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291"/>
                      <a:buFont typeface="Arial"/>
                      <a:buNone/>
                    </a:pPr>
                    <a:r>
                      <a:rPr b="1" lang="en-US" sz="1410">
                        <a:solidFill>
                          <a:srgbClr val="38761D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rPr>
                      <a:t>-11</a:t>
                    </a:r>
                    <a:endParaRPr b="1" i="0" sz="1410" u="none" cap="none" strike="noStrike">
                      <a:solidFill>
                        <a:srgbClr val="38761D"/>
                      </a:solidFill>
                      <a:latin typeface="Times New Roman"/>
                      <a:ea typeface="Times New Roman"/>
                      <a:cs typeface="Times New Roman"/>
                      <a:sym typeface="Times New Roman"/>
                    </a:endParaRPr>
                  </a:p>
                </p:txBody>
              </p:sp>
            </p:grpSp>
          </p:grpSp>
          <p:sp>
            <p:nvSpPr>
              <p:cNvPr id="228" name="Google Shape;228;g3a7c546b70d_0_959"/>
              <p:cNvSpPr txBox="1"/>
              <p:nvPr/>
            </p:nvSpPr>
            <p:spPr>
              <a:xfrm>
                <a:off x="5773352" y="4253644"/>
                <a:ext cx="1287300" cy="491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98350" lIns="98350" spcFirstLastPara="1" rIns="98350" wrap="square" tIns="9835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91"/>
                  <a:buFont typeface="Arial"/>
                  <a:buNone/>
                </a:pPr>
                <a:r>
                  <a:rPr b="1" lang="en-US" sz="1410">
                    <a:latin typeface="Times New Roman"/>
                    <a:ea typeface="Times New Roman"/>
                    <a:cs typeface="Times New Roman"/>
                    <a:sym typeface="Times New Roman"/>
                  </a:rPr>
                  <a:t>Proportion ZD 2024</a:t>
                </a:r>
                <a:endParaRPr b="0" i="0" sz="1410" u="none" cap="none" strike="noStrike">
                  <a:solidFill>
                    <a:srgbClr val="000000"/>
                  </a:solidFill>
                  <a:latin typeface="Times New Roman"/>
                  <a:ea typeface="Times New Roman"/>
                  <a:cs typeface="Times New Roman"/>
                  <a:sym typeface="Times New Roman"/>
                </a:endParaRPr>
              </a:p>
            </p:txBody>
          </p:sp>
          <p:sp>
            <p:nvSpPr>
              <p:cNvPr id="229" name="Google Shape;229;g3a7c546b70d_0_959"/>
              <p:cNvSpPr txBox="1"/>
              <p:nvPr/>
            </p:nvSpPr>
            <p:spPr>
              <a:xfrm>
                <a:off x="7080673" y="4253644"/>
                <a:ext cx="1287300" cy="491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98350" lIns="98350" spcFirstLastPara="1" rIns="98350" wrap="square" tIns="9835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91"/>
                  <a:buFont typeface="Arial"/>
                  <a:buNone/>
                </a:pPr>
                <a:r>
                  <a:rPr b="1" lang="en-US" sz="1410">
                    <a:latin typeface="Times New Roman"/>
                    <a:ea typeface="Times New Roman"/>
                    <a:cs typeface="Times New Roman"/>
                    <a:sym typeface="Times New Roman"/>
                  </a:rPr>
                  <a:t>Proportion ZD 2025</a:t>
                </a:r>
                <a:endParaRPr b="1" sz="1410">
                  <a:latin typeface="Times New Roman"/>
                  <a:ea typeface="Times New Roman"/>
                  <a:cs typeface="Times New Roman"/>
                  <a:sym typeface="Times New Roman"/>
                </a:endParaRPr>
              </a:p>
            </p:txBody>
          </p:sp>
        </p:grpSp>
      </p:grpSp>
      <p:grpSp>
        <p:nvGrpSpPr>
          <p:cNvPr id="230" name="Google Shape;230;g3a7c546b70d_0_959"/>
          <p:cNvGrpSpPr/>
          <p:nvPr/>
        </p:nvGrpSpPr>
        <p:grpSpPr>
          <a:xfrm>
            <a:off x="4134171" y="2377281"/>
            <a:ext cx="2791234" cy="3889553"/>
            <a:chOff x="4355827" y="2129061"/>
            <a:chExt cx="2969398" cy="4137822"/>
          </a:xfrm>
        </p:grpSpPr>
        <p:pic>
          <p:nvPicPr>
            <p:cNvPr id="231" name="Google Shape;231;g3a7c546b70d_0_959" title="Chart"/>
            <p:cNvPicPr preferRelativeResize="0"/>
            <p:nvPr/>
          </p:nvPicPr>
          <p:blipFill rotWithShape="1">
            <a:blip r:embed="rId4">
              <a:alphaModFix/>
            </a:blip>
            <a:srcRect b="5234" l="27625" r="24529" t="2121"/>
            <a:stretch/>
          </p:blipFill>
          <p:spPr>
            <a:xfrm>
              <a:off x="4355827" y="2259048"/>
              <a:ext cx="2866251" cy="3431824"/>
            </a:xfrm>
            <a:prstGeom prst="rect">
              <a:avLst/>
            </a:prstGeom>
            <a:noFill/>
            <a:ln>
              <a:noFill/>
            </a:ln>
          </p:spPr>
        </p:pic>
        <p:cxnSp>
          <p:nvCxnSpPr>
            <p:cNvPr id="232" name="Google Shape;232;g3a7c546b70d_0_959"/>
            <p:cNvCxnSpPr/>
            <p:nvPr/>
          </p:nvCxnSpPr>
          <p:spPr>
            <a:xfrm rot="10800000">
              <a:off x="5069263" y="2263013"/>
              <a:ext cx="662400" cy="0"/>
            </a:xfrm>
            <a:prstGeom prst="straightConnector1">
              <a:avLst/>
            </a:prstGeom>
            <a:noFill/>
            <a:ln cap="flat" cmpd="sng" w="10250">
              <a:solidFill>
                <a:srgbClr val="595959"/>
              </a:solidFill>
              <a:prstDash val="solid"/>
              <a:round/>
              <a:headEnd len="sm" w="sm" type="none"/>
              <a:tailEnd len="sm" w="sm" type="none"/>
            </a:ln>
          </p:spPr>
        </p:cxnSp>
        <p:grpSp>
          <p:nvGrpSpPr>
            <p:cNvPr id="233" name="Google Shape;233;g3a7c546b70d_0_959"/>
            <p:cNvGrpSpPr/>
            <p:nvPr/>
          </p:nvGrpSpPr>
          <p:grpSpPr>
            <a:xfrm>
              <a:off x="5065200" y="2129061"/>
              <a:ext cx="1447512" cy="1917889"/>
              <a:chOff x="6432375" y="900720"/>
              <a:chExt cx="1264866" cy="1675891"/>
            </a:xfrm>
          </p:grpSpPr>
          <p:cxnSp>
            <p:nvCxnSpPr>
              <p:cNvPr id="234" name="Google Shape;234;g3a7c546b70d_0_959"/>
              <p:cNvCxnSpPr/>
              <p:nvPr/>
            </p:nvCxnSpPr>
            <p:spPr>
              <a:xfrm rot="10800000">
                <a:off x="7118540" y="1026093"/>
                <a:ext cx="578700" cy="0"/>
              </a:xfrm>
              <a:prstGeom prst="straightConnector1">
                <a:avLst/>
              </a:prstGeom>
              <a:noFill/>
              <a:ln cap="flat" cmpd="sng" w="10250">
                <a:solidFill>
                  <a:srgbClr val="595959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grpSp>
            <p:nvGrpSpPr>
              <p:cNvPr id="235" name="Google Shape;235;g3a7c546b70d_0_959"/>
              <p:cNvGrpSpPr/>
              <p:nvPr/>
            </p:nvGrpSpPr>
            <p:grpSpPr>
              <a:xfrm>
                <a:off x="6432375" y="900720"/>
                <a:ext cx="1252512" cy="1675891"/>
                <a:chOff x="6432375" y="900720"/>
                <a:chExt cx="1252512" cy="1675891"/>
              </a:xfrm>
            </p:grpSpPr>
            <p:cxnSp>
              <p:nvCxnSpPr>
                <p:cNvPr id="236" name="Google Shape;236;g3a7c546b70d_0_959"/>
                <p:cNvCxnSpPr/>
                <p:nvPr/>
              </p:nvCxnSpPr>
              <p:spPr>
                <a:xfrm rot="10800000">
                  <a:off x="6432375" y="1016862"/>
                  <a:ext cx="0" cy="1538100"/>
                </a:xfrm>
                <a:prstGeom prst="straightConnector1">
                  <a:avLst/>
                </a:prstGeom>
                <a:noFill/>
                <a:ln cap="flat" cmpd="sng" w="10250">
                  <a:solidFill>
                    <a:srgbClr val="595959"/>
                  </a:solidFill>
                  <a:prstDash val="solid"/>
                  <a:round/>
                  <a:headEnd len="sm" w="sm" type="none"/>
                  <a:tailEnd len="sm" w="sm" type="none"/>
                </a:ln>
              </p:spPr>
            </p:cxnSp>
            <p:cxnSp>
              <p:nvCxnSpPr>
                <p:cNvPr id="237" name="Google Shape;237;g3a7c546b70d_0_959"/>
                <p:cNvCxnSpPr/>
                <p:nvPr/>
              </p:nvCxnSpPr>
              <p:spPr>
                <a:xfrm rot="10800000">
                  <a:off x="7684887" y="1016911"/>
                  <a:ext cx="0" cy="1559700"/>
                </a:xfrm>
                <a:prstGeom prst="straightConnector1">
                  <a:avLst/>
                </a:prstGeom>
                <a:noFill/>
                <a:ln cap="flat" cmpd="sng" w="10250">
                  <a:solidFill>
                    <a:srgbClr val="595959"/>
                  </a:solidFill>
                  <a:prstDash val="solid"/>
                  <a:round/>
                  <a:headEnd len="sm" w="sm" type="none"/>
                  <a:tailEnd len="sm" w="sm" type="none"/>
                </a:ln>
              </p:spPr>
            </p:cxnSp>
            <p:sp>
              <p:nvSpPr>
                <p:cNvPr id="238" name="Google Shape;238;g3a7c546b70d_0_959"/>
                <p:cNvSpPr/>
                <p:nvPr/>
              </p:nvSpPr>
              <p:spPr>
                <a:xfrm>
                  <a:off x="6737022" y="900720"/>
                  <a:ext cx="643200" cy="322800"/>
                </a:xfrm>
                <a:prstGeom prst="ellipse">
                  <a:avLst/>
                </a:prstGeom>
                <a:solidFill>
                  <a:srgbClr val="FFF2CC"/>
                </a:solidFill>
                <a:ln cap="flat" cmpd="sng" w="10250">
                  <a:solidFill>
                    <a:srgbClr val="595959"/>
                  </a:solidFill>
                  <a:prstDash val="solid"/>
                  <a:round/>
                  <a:headEnd len="sm" w="sm" type="none"/>
                  <a:tailEnd len="sm" w="sm" type="none"/>
                </a:ln>
              </p:spPr>
              <p:txBody>
                <a:bodyPr anchorCtr="0" anchor="ctr" bIns="98350" lIns="98350" spcFirstLastPara="1" rIns="98350" wrap="square" tIns="98350">
                  <a:noAutofit/>
                </a:bodyPr>
                <a:lstStyle/>
                <a:p>
                  <a:pPr indent="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291"/>
                    <a:buFont typeface="Arial"/>
                    <a:buNone/>
                  </a:pPr>
                  <a:r>
                    <a:rPr b="1" lang="en-US" sz="1410">
                      <a:solidFill>
                        <a:schemeClr val="dk1"/>
                      </a:solidFill>
                      <a:latin typeface="Times New Roman"/>
                      <a:ea typeface="Times New Roman"/>
                      <a:cs typeface="Times New Roman"/>
                      <a:sym typeface="Times New Roman"/>
                    </a:rPr>
                    <a:t>0</a:t>
                  </a:r>
                  <a:endParaRPr b="1" i="0" sz="1410" u="none" cap="none" strike="noStrike">
                    <a:solidFill>
                      <a:schemeClr val="dk1"/>
                    </a:solidFill>
                    <a:latin typeface="Times New Roman"/>
                    <a:ea typeface="Times New Roman"/>
                    <a:cs typeface="Times New Roman"/>
                    <a:sym typeface="Times New Roman"/>
                  </a:endParaRPr>
                </a:p>
              </p:txBody>
            </p:sp>
          </p:grpSp>
        </p:grpSp>
        <p:sp>
          <p:nvSpPr>
            <p:cNvPr id="239" name="Google Shape;239;g3a7c546b70d_0_959"/>
            <p:cNvSpPr txBox="1"/>
            <p:nvPr/>
          </p:nvSpPr>
          <p:spPr>
            <a:xfrm>
              <a:off x="4355827" y="5704383"/>
              <a:ext cx="1473300" cy="562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8350" lIns="98350" spcFirstLastPara="1" rIns="98350" wrap="square" tIns="9835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91"/>
                <a:buFont typeface="Arial"/>
                <a:buNone/>
              </a:pPr>
              <a:r>
                <a:rPr b="1" lang="en-US" sz="1410">
                  <a:latin typeface="Times New Roman"/>
                  <a:ea typeface="Times New Roman"/>
                  <a:cs typeface="Times New Roman"/>
                  <a:sym typeface="Times New Roman"/>
                </a:rPr>
                <a:t>Proportion SV 2024</a:t>
              </a:r>
              <a:endParaRPr b="0" i="0" sz="141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endParaRPr>
            </a:p>
          </p:txBody>
        </p:sp>
        <p:sp>
          <p:nvSpPr>
            <p:cNvPr id="240" name="Google Shape;240;g3a7c546b70d_0_959"/>
            <p:cNvSpPr txBox="1"/>
            <p:nvPr/>
          </p:nvSpPr>
          <p:spPr>
            <a:xfrm>
              <a:off x="5851925" y="5704383"/>
              <a:ext cx="1473300" cy="562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8350" lIns="98350" spcFirstLastPara="1" rIns="98350" wrap="square" tIns="9835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91"/>
                <a:buFont typeface="Arial"/>
                <a:buNone/>
              </a:pPr>
              <a:r>
                <a:rPr b="1" lang="en-US" sz="1410">
                  <a:latin typeface="Times New Roman"/>
                  <a:ea typeface="Times New Roman"/>
                  <a:cs typeface="Times New Roman"/>
                  <a:sym typeface="Times New Roman"/>
                </a:rPr>
                <a:t>Proportion SV 2025</a:t>
              </a:r>
              <a:endParaRPr b="1" sz="1410">
                <a:latin typeface="Times New Roman"/>
                <a:ea typeface="Times New Roman"/>
                <a:cs typeface="Times New Roman"/>
                <a:sym typeface="Times New Roman"/>
              </a:endParaRPr>
            </a:p>
          </p:txBody>
        </p:sp>
      </p:grpSp>
      <p:sp>
        <p:nvSpPr>
          <p:cNvPr id="241" name="Google Shape;241;g3a7c546b70d_0_959"/>
          <p:cNvSpPr txBox="1"/>
          <p:nvPr/>
        </p:nvSpPr>
        <p:spPr>
          <a:xfrm>
            <a:off x="235500" y="1998625"/>
            <a:ext cx="6690000" cy="217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lang="en-US" sz="1500">
                <a:latin typeface="Times New Roman"/>
                <a:ea typeface="Times New Roman"/>
                <a:cs typeface="Times New Roman"/>
                <a:sym typeface="Times New Roman"/>
              </a:rPr>
              <a:t>% des enfants de 0 à 11 mois, zeros doses et sous-vaccinés avec cibles ajustées</a:t>
            </a:r>
            <a:endParaRPr i="1" sz="1500" u="none" cap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cxnSp>
        <p:nvCxnSpPr>
          <p:cNvPr id="242" name="Google Shape;242;g3a7c546b70d_0_959"/>
          <p:cNvCxnSpPr/>
          <p:nvPr/>
        </p:nvCxnSpPr>
        <p:spPr>
          <a:xfrm>
            <a:off x="235500" y="2216125"/>
            <a:ext cx="6690000" cy="0"/>
          </a:xfrm>
          <a:prstGeom prst="straightConnector1">
            <a:avLst/>
          </a:pr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43" name="Google Shape;243;g3a7c546b70d_0_959"/>
          <p:cNvSpPr/>
          <p:nvPr/>
        </p:nvSpPr>
        <p:spPr>
          <a:xfrm rot="-5400000">
            <a:off x="7701450" y="1608425"/>
            <a:ext cx="3721800" cy="5259300"/>
          </a:xfrm>
          <a:prstGeom prst="round2SameRect">
            <a:avLst>
              <a:gd fmla="val 8141" name="adj1"/>
              <a:gd fmla="val 0" name="adj2"/>
            </a:avLst>
          </a:prstGeom>
          <a:solidFill>
            <a:srgbClr val="EFE3D3"/>
          </a:solidFill>
          <a:ln>
            <a:noFill/>
          </a:ln>
        </p:spPr>
        <p:txBody>
          <a:bodyPr anchorCtr="0" anchor="ctr" bIns="65650" lIns="131375" spcFirstLastPara="1" rIns="131375" wrap="square" tIns="656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99"/>
              <a:buFont typeface="Arial"/>
              <a:buNone/>
            </a:pPr>
            <a:r>
              <a:t/>
            </a:r>
            <a:endParaRPr b="0" i="0" sz="2298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4" name="Google Shape;244;g3a7c546b70d_0_959"/>
          <p:cNvSpPr txBox="1"/>
          <p:nvPr/>
        </p:nvSpPr>
        <p:spPr>
          <a:xfrm>
            <a:off x="7254589" y="2681627"/>
            <a:ext cx="4608600" cy="1931100"/>
          </a:xfrm>
          <a:prstGeom prst="rect">
            <a:avLst/>
          </a:prstGeom>
          <a:noFill/>
          <a:ln>
            <a:noFill/>
          </a:ln>
        </p:spPr>
        <p:txBody>
          <a:bodyPr anchorCtr="0" anchor="t" bIns="131375" lIns="131375" spcFirstLastPara="1" rIns="131375" wrap="square" tIns="1313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81"/>
              <a:buFont typeface="Arial"/>
              <a:buNone/>
            </a:pPr>
            <a:r>
              <a:rPr b="1" lang="en-US" sz="1500">
                <a:latin typeface="Times New Roman"/>
                <a:ea typeface="Times New Roman"/>
                <a:cs typeface="Times New Roman"/>
                <a:sym typeface="Times New Roman"/>
              </a:rPr>
              <a:t>Fin 2024, 31% des enfants cibles de 0 - 11 mois n’ont pas été atteints au mois d’Octobre 2025 les nons atteints sont </a:t>
            </a:r>
            <a:r>
              <a:rPr b="1" lang="en-US" sz="1500">
                <a:latin typeface="Times New Roman"/>
                <a:ea typeface="Times New Roman"/>
                <a:cs typeface="Times New Roman"/>
                <a:sym typeface="Times New Roman"/>
              </a:rPr>
              <a:t>évalués</a:t>
            </a:r>
            <a:r>
              <a:rPr b="1" lang="en-US" sz="1500">
                <a:latin typeface="Times New Roman"/>
                <a:ea typeface="Times New Roman"/>
                <a:cs typeface="Times New Roman"/>
                <a:sym typeface="Times New Roman"/>
              </a:rPr>
              <a:t> à 20% de la cible</a:t>
            </a:r>
            <a:br>
              <a:rPr b="1" i="0" lang="en-US" sz="158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</a:br>
            <a:br>
              <a:rPr i="0" lang="en-US" sz="158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</a:br>
            <a:r>
              <a:rPr lang="en-US" sz="1580">
                <a:latin typeface="Times New Roman"/>
                <a:ea typeface="Times New Roman"/>
                <a:cs typeface="Times New Roman"/>
                <a:sym typeface="Times New Roman"/>
              </a:rPr>
              <a:t>1. Une legere amelioration de l’atteinte des cibles</a:t>
            </a:r>
            <a:endParaRPr sz="158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81"/>
              <a:buFont typeface="Arial"/>
              <a:buNone/>
            </a:pPr>
            <a:r>
              <a:rPr lang="en-US" sz="1580">
                <a:latin typeface="Times New Roman"/>
                <a:ea typeface="Times New Roman"/>
                <a:cs typeface="Times New Roman"/>
                <a:sym typeface="Times New Roman"/>
              </a:rPr>
              <a:t>2. La stabilisation de la </a:t>
            </a:r>
            <a:r>
              <a:rPr lang="en-US" sz="1580">
                <a:latin typeface="Times New Roman"/>
                <a:ea typeface="Times New Roman"/>
                <a:cs typeface="Times New Roman"/>
                <a:sym typeface="Times New Roman"/>
              </a:rPr>
              <a:t>fidélisation</a:t>
            </a:r>
            <a:r>
              <a:rPr lang="en-US" sz="1580">
                <a:latin typeface="Times New Roman"/>
                <a:ea typeface="Times New Roman"/>
                <a:cs typeface="Times New Roman"/>
                <a:sym typeface="Times New Roman"/>
              </a:rPr>
              <a:t> pour contenir la </a:t>
            </a:r>
            <a:r>
              <a:rPr lang="en-US" sz="1580">
                <a:latin typeface="Times New Roman"/>
                <a:ea typeface="Times New Roman"/>
                <a:cs typeface="Times New Roman"/>
                <a:sym typeface="Times New Roman"/>
              </a:rPr>
              <a:t>déperdition</a:t>
            </a:r>
            <a:endParaRPr sz="158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g3a7c50a7b14_0_304"/>
          <p:cNvSpPr txBox="1"/>
          <p:nvPr/>
        </p:nvSpPr>
        <p:spPr>
          <a:xfrm>
            <a:off x="458592" y="317941"/>
            <a:ext cx="11274900" cy="384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500"/>
              <a:buFont typeface="Arial"/>
              <a:buNone/>
            </a:pPr>
            <a:r>
              <a:rPr b="1" i="0" lang="en-US" sz="2500" u="none" cap="none" strike="noStrike">
                <a:solidFill>
                  <a:srgbClr val="1155C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Niveau d’atteinte des objectifs du PAO 2025</a:t>
            </a:r>
            <a:r>
              <a:rPr b="0" i="0" lang="en-US" sz="2500" u="none" cap="none" strike="noStrike">
                <a:solidFill>
                  <a:srgbClr val="1155C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| </a:t>
            </a:r>
            <a:r>
              <a:rPr lang="en-US" sz="2500">
                <a:solidFill>
                  <a:srgbClr val="1155C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Generation de la demande</a:t>
            </a:r>
            <a:endParaRPr b="0" i="0" sz="2500" u="none" cap="none" strike="noStrike">
              <a:solidFill>
                <a:srgbClr val="1155CC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50" name="Google Shape;250;g3a7c50a7b14_0_304"/>
          <p:cNvSpPr/>
          <p:nvPr/>
        </p:nvSpPr>
        <p:spPr>
          <a:xfrm>
            <a:off x="0" y="272241"/>
            <a:ext cx="235500" cy="655200"/>
          </a:xfrm>
          <a:prstGeom prst="rect">
            <a:avLst/>
          </a:prstGeom>
          <a:solidFill>
            <a:srgbClr val="1155CC"/>
          </a:solidFill>
          <a:ln>
            <a:noFill/>
          </a:ln>
        </p:spPr>
        <p:txBody>
          <a:bodyPr anchorCtr="0" anchor="ctr" bIns="91400" lIns="91400" spcFirstLastPara="1" rIns="91400" wrap="square" tIns="914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r>
              <a:t/>
            </a:r>
            <a:endParaRPr b="0" i="0" sz="1900" u="none" cap="none" strike="noStrike">
              <a:solidFill>
                <a:srgbClr val="0070C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51" name="Google Shape;251;g3a7c50a7b14_0_304"/>
          <p:cNvSpPr txBox="1"/>
          <p:nvPr/>
        </p:nvSpPr>
        <p:spPr>
          <a:xfrm>
            <a:off x="267700" y="6492843"/>
            <a:ext cx="114147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12190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t/>
            </a:r>
            <a:endParaRPr b="1" i="0" sz="1200" u="none" cap="none" strike="noStrike">
              <a:solidFill>
                <a:srgbClr val="1155CC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52" name="Google Shape;252;g3a7c50a7b14_0_304"/>
          <p:cNvSpPr txBox="1"/>
          <p:nvPr/>
        </p:nvSpPr>
        <p:spPr>
          <a:xfrm>
            <a:off x="11658600" y="6496067"/>
            <a:ext cx="228300" cy="16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-US" sz="1200" u="none" cap="none" strike="noStrike">
                <a:solidFill>
                  <a:srgbClr val="1155CC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rgbClr val="1155C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253" name="Google Shape;253;g3a7c50a7b14_0_304"/>
          <p:cNvCxnSpPr/>
          <p:nvPr/>
        </p:nvCxnSpPr>
        <p:spPr>
          <a:xfrm>
            <a:off x="267700" y="6427967"/>
            <a:ext cx="11640300" cy="0"/>
          </a:xfrm>
          <a:prstGeom prst="straightConnector1">
            <a:avLst/>
          </a:prstGeom>
          <a:noFill/>
          <a:ln cap="flat" cmpd="sng" w="9525">
            <a:solidFill>
              <a:srgbClr val="9E9E9E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54" name="Google Shape;254;g3a7c50a7b14_0_304"/>
          <p:cNvSpPr txBox="1"/>
          <p:nvPr/>
        </p:nvSpPr>
        <p:spPr>
          <a:xfrm>
            <a:off x="267700" y="6492843"/>
            <a:ext cx="114147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12190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155CC"/>
              </a:buClr>
              <a:buSzPts val="1200"/>
              <a:buFont typeface="Times New Roman"/>
              <a:buNone/>
            </a:pPr>
            <a:r>
              <a:rPr b="1" lang="en-US" sz="1200">
                <a:solidFill>
                  <a:srgbClr val="1155C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DHIS2 , </a:t>
            </a:r>
            <a:r>
              <a:rPr b="1" lang="en-US" sz="1200">
                <a:solidFill>
                  <a:srgbClr val="1155C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calculus</a:t>
            </a:r>
            <a:r>
              <a:rPr b="1" lang="en-US" sz="1200">
                <a:solidFill>
                  <a:srgbClr val="1155C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avec les cibles ajustées</a:t>
            </a:r>
            <a:endParaRPr b="1" i="0" sz="1200" u="none" cap="none" strike="noStrike">
              <a:solidFill>
                <a:srgbClr val="1155CC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55" name="Google Shape;255;g3a7c50a7b14_0_304"/>
          <p:cNvSpPr txBox="1"/>
          <p:nvPr/>
        </p:nvSpPr>
        <p:spPr>
          <a:xfrm>
            <a:off x="458600" y="1060350"/>
            <a:ext cx="11274900" cy="841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lang="en-US" sz="1600">
                <a:latin typeface="Times New Roman"/>
                <a:ea typeface="Times New Roman"/>
                <a:cs typeface="Times New Roman"/>
                <a:sym typeface="Times New Roman"/>
              </a:rPr>
              <a:t>Objectifs:</a:t>
            </a:r>
            <a:endParaRPr b="1" i="0" sz="1600" u="none" cap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lang="en-US" sz="1600">
                <a:latin typeface="Times New Roman"/>
                <a:ea typeface="Times New Roman"/>
                <a:cs typeface="Times New Roman"/>
                <a:sym typeface="Times New Roman"/>
              </a:rPr>
              <a:t>Contribuer à l’augmentation de la couverture </a:t>
            </a:r>
            <a:r>
              <a:rPr b="1" lang="en-US" sz="1600">
                <a:latin typeface="Times New Roman"/>
                <a:ea typeface="Times New Roman"/>
                <a:cs typeface="Times New Roman"/>
                <a:sym typeface="Times New Roman"/>
              </a:rPr>
              <a:t>Penta 3</a:t>
            </a:r>
            <a:r>
              <a:rPr b="1" lang="en-US" sz="1600">
                <a:latin typeface="Times New Roman"/>
                <a:ea typeface="Times New Roman"/>
                <a:cs typeface="Times New Roman"/>
                <a:sym typeface="Times New Roman"/>
              </a:rPr>
              <a:t> de 58% à 80% </a:t>
            </a:r>
            <a:r>
              <a:rPr b="1" lang="en-US" sz="1600">
                <a:latin typeface="Times New Roman"/>
                <a:ea typeface="Times New Roman"/>
                <a:cs typeface="Times New Roman"/>
                <a:sym typeface="Times New Roman"/>
              </a:rPr>
              <a:t>et réduire le taux d’abandon de 20% à &lt;10%</a:t>
            </a:r>
            <a:endParaRPr b="1" sz="160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56" name="Google Shape;256;g3a7c50a7b14_0_304"/>
          <p:cNvSpPr txBox="1"/>
          <p:nvPr/>
        </p:nvSpPr>
        <p:spPr>
          <a:xfrm>
            <a:off x="458600" y="1901550"/>
            <a:ext cx="6474000" cy="217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lang="en-US" sz="1500">
                <a:latin typeface="Times New Roman"/>
                <a:ea typeface="Times New Roman"/>
                <a:cs typeface="Times New Roman"/>
                <a:sym typeface="Times New Roman"/>
              </a:rPr>
              <a:t>Couverture Penta 3 et taux d’abandon Penta 1 - penta 3 avec cibles ajustées</a:t>
            </a:r>
            <a:endParaRPr i="1" sz="1500" u="none" cap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cxnSp>
        <p:nvCxnSpPr>
          <p:cNvPr id="257" name="Google Shape;257;g3a7c50a7b14_0_304"/>
          <p:cNvCxnSpPr/>
          <p:nvPr/>
        </p:nvCxnSpPr>
        <p:spPr>
          <a:xfrm>
            <a:off x="458600" y="2119050"/>
            <a:ext cx="6165600" cy="0"/>
          </a:xfrm>
          <a:prstGeom prst="straightConnector1">
            <a:avLst/>
          </a:pr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id="258" name="Google Shape;258;g3a7c50a7b14_0_304" title="Chart"/>
          <p:cNvPicPr preferRelativeResize="0"/>
          <p:nvPr/>
        </p:nvPicPr>
        <p:blipFill rotWithShape="1">
          <a:blip r:embed="rId3">
            <a:alphaModFix/>
          </a:blip>
          <a:srcRect b="4104" l="28093" r="22739" t="0"/>
          <a:stretch/>
        </p:blipFill>
        <p:spPr>
          <a:xfrm>
            <a:off x="1340913" y="2280188"/>
            <a:ext cx="2636724" cy="3179900"/>
          </a:xfrm>
          <a:prstGeom prst="rect">
            <a:avLst/>
          </a:prstGeom>
          <a:noFill/>
          <a:ln>
            <a:noFill/>
          </a:ln>
        </p:spPr>
      </p:pic>
      <p:sp>
        <p:nvSpPr>
          <p:cNvPr id="259" name="Google Shape;259;g3a7c50a7b14_0_304"/>
          <p:cNvSpPr txBox="1"/>
          <p:nvPr/>
        </p:nvSpPr>
        <p:spPr>
          <a:xfrm>
            <a:off x="1340925" y="5532000"/>
            <a:ext cx="2636700" cy="5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8350" lIns="98350" spcFirstLastPara="1" rIns="98350" wrap="square" tIns="983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91"/>
              <a:buFont typeface="Arial"/>
              <a:buNone/>
            </a:pPr>
            <a:r>
              <a:rPr b="1" lang="en-US" sz="1410">
                <a:latin typeface="Times New Roman"/>
                <a:ea typeface="Times New Roman"/>
                <a:cs typeface="Times New Roman"/>
                <a:sym typeface="Times New Roman"/>
              </a:rPr>
              <a:t>Niveau objectif de 80% pour le penta 3</a:t>
            </a:r>
            <a:endParaRPr b="1" sz="141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60" name="Google Shape;260;g3a7c50a7b14_0_304"/>
          <p:cNvSpPr/>
          <p:nvPr/>
        </p:nvSpPr>
        <p:spPr>
          <a:xfrm rot="-5400000">
            <a:off x="7701450" y="1608425"/>
            <a:ext cx="3721800" cy="5259300"/>
          </a:xfrm>
          <a:prstGeom prst="round2SameRect">
            <a:avLst>
              <a:gd fmla="val 8141" name="adj1"/>
              <a:gd fmla="val 0" name="adj2"/>
            </a:avLst>
          </a:prstGeom>
          <a:solidFill>
            <a:srgbClr val="EFE3D3"/>
          </a:solidFill>
          <a:ln>
            <a:noFill/>
          </a:ln>
        </p:spPr>
        <p:txBody>
          <a:bodyPr anchorCtr="0" anchor="ctr" bIns="65650" lIns="131375" spcFirstLastPara="1" rIns="131375" wrap="square" tIns="656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99"/>
              <a:buFont typeface="Arial"/>
              <a:buNone/>
            </a:pPr>
            <a:r>
              <a:t/>
            </a:r>
            <a:endParaRPr b="0" i="0" sz="2298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1" name="Google Shape;261;g3a7c50a7b14_0_304"/>
          <p:cNvSpPr txBox="1"/>
          <p:nvPr/>
        </p:nvSpPr>
        <p:spPr>
          <a:xfrm>
            <a:off x="7254589" y="2681627"/>
            <a:ext cx="4608600" cy="1457100"/>
          </a:xfrm>
          <a:prstGeom prst="rect">
            <a:avLst/>
          </a:prstGeom>
          <a:noFill/>
          <a:ln>
            <a:noFill/>
          </a:ln>
        </p:spPr>
        <p:txBody>
          <a:bodyPr anchorCtr="0" anchor="t" bIns="131375" lIns="131375" spcFirstLastPara="1" rIns="131375" wrap="square" tIns="1313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81"/>
              <a:buFont typeface="Arial"/>
              <a:buNone/>
            </a:pPr>
            <a:r>
              <a:rPr b="1" lang="en-US" sz="1500">
                <a:latin typeface="Times New Roman"/>
                <a:ea typeface="Times New Roman"/>
                <a:cs typeface="Times New Roman"/>
                <a:sym typeface="Times New Roman"/>
              </a:rPr>
              <a:t>Gap de 8 pts pour atteindre l’objectif</a:t>
            </a:r>
            <a:endParaRPr b="1" sz="15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81"/>
              <a:buFont typeface="Arial"/>
              <a:buNone/>
            </a:pPr>
            <a:r>
              <a:rPr b="1" lang="en-US" sz="1500">
                <a:latin typeface="Times New Roman"/>
                <a:ea typeface="Times New Roman"/>
                <a:cs typeface="Times New Roman"/>
                <a:sym typeface="Times New Roman"/>
              </a:rPr>
              <a:t>Taux d'abandon de 5%</a:t>
            </a:r>
            <a:endParaRPr b="1" sz="15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81"/>
              <a:buFont typeface="Arial"/>
              <a:buNone/>
            </a:pPr>
            <a:br>
              <a:rPr b="1" i="0" lang="en-US" sz="158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</a:br>
            <a:br>
              <a:rPr i="0" lang="en-US" sz="158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</a:br>
            <a:endParaRPr sz="158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5" name="Shape 2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" name="Google Shape;266;g3a7c50a7b14_0_489"/>
          <p:cNvSpPr txBox="1"/>
          <p:nvPr/>
        </p:nvSpPr>
        <p:spPr>
          <a:xfrm>
            <a:off x="458592" y="317941"/>
            <a:ext cx="11274900" cy="384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500"/>
              <a:buFont typeface="Arial"/>
              <a:buNone/>
            </a:pPr>
            <a:r>
              <a:rPr b="1" i="0" lang="en-US" sz="2500" u="none" cap="none" strike="noStrike">
                <a:solidFill>
                  <a:srgbClr val="1155C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Niveau d’atteinte des objectifs du PAO 2025</a:t>
            </a:r>
            <a:r>
              <a:rPr b="0" i="0" lang="en-US" sz="2500" u="none" cap="none" strike="noStrike">
                <a:solidFill>
                  <a:srgbClr val="1155C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| Logistique</a:t>
            </a:r>
            <a:endParaRPr b="0" i="0" sz="2500" u="none" cap="none" strike="noStrike">
              <a:solidFill>
                <a:srgbClr val="1155CC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67" name="Google Shape;267;g3a7c50a7b14_0_489"/>
          <p:cNvSpPr/>
          <p:nvPr/>
        </p:nvSpPr>
        <p:spPr>
          <a:xfrm>
            <a:off x="0" y="272241"/>
            <a:ext cx="235500" cy="655200"/>
          </a:xfrm>
          <a:prstGeom prst="rect">
            <a:avLst/>
          </a:prstGeom>
          <a:solidFill>
            <a:srgbClr val="1155CC"/>
          </a:solidFill>
          <a:ln>
            <a:noFill/>
          </a:ln>
        </p:spPr>
        <p:txBody>
          <a:bodyPr anchorCtr="0" anchor="ctr" bIns="91400" lIns="91400" spcFirstLastPara="1" rIns="91400" wrap="square" tIns="914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r>
              <a:t/>
            </a:r>
            <a:endParaRPr b="0" i="0" sz="1900" u="none" cap="none" strike="noStrike">
              <a:solidFill>
                <a:srgbClr val="0070C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68" name="Google Shape;268;g3a7c50a7b14_0_489"/>
          <p:cNvSpPr txBox="1"/>
          <p:nvPr/>
        </p:nvSpPr>
        <p:spPr>
          <a:xfrm>
            <a:off x="267700" y="6492843"/>
            <a:ext cx="114147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12190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t/>
            </a:r>
            <a:endParaRPr b="1" i="0" sz="1200" u="none" cap="none" strike="noStrike">
              <a:solidFill>
                <a:srgbClr val="1155CC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69" name="Google Shape;269;g3a7c50a7b14_0_489"/>
          <p:cNvSpPr txBox="1"/>
          <p:nvPr/>
        </p:nvSpPr>
        <p:spPr>
          <a:xfrm>
            <a:off x="11658600" y="6496067"/>
            <a:ext cx="228300" cy="16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-US" sz="1200" u="none" cap="none" strike="noStrike">
                <a:solidFill>
                  <a:srgbClr val="1155CC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rgbClr val="1155C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270" name="Google Shape;270;g3a7c50a7b14_0_489"/>
          <p:cNvCxnSpPr/>
          <p:nvPr/>
        </p:nvCxnSpPr>
        <p:spPr>
          <a:xfrm>
            <a:off x="267700" y="6427967"/>
            <a:ext cx="11640300" cy="0"/>
          </a:xfrm>
          <a:prstGeom prst="straightConnector1">
            <a:avLst/>
          </a:prstGeom>
          <a:noFill/>
          <a:ln cap="flat" cmpd="sng" w="9525">
            <a:solidFill>
              <a:srgbClr val="9E9E9E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71" name="Google Shape;271;g3a7c50a7b14_0_489"/>
          <p:cNvSpPr txBox="1"/>
          <p:nvPr/>
        </p:nvSpPr>
        <p:spPr>
          <a:xfrm>
            <a:off x="267700" y="6492843"/>
            <a:ext cx="114147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12190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155CC"/>
              </a:buClr>
              <a:buSzPts val="1200"/>
              <a:buFont typeface="Times New Roman"/>
              <a:buNone/>
            </a:pPr>
            <a:r>
              <a:rPr b="1" lang="en-US" sz="1200">
                <a:solidFill>
                  <a:srgbClr val="1155C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DHIS2, eSMT, Parsyl</a:t>
            </a:r>
            <a:endParaRPr b="1" i="0" sz="1200" u="none" cap="none" strike="noStrike">
              <a:solidFill>
                <a:srgbClr val="1155CC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72" name="Google Shape;272;g3a7c50a7b14_0_489"/>
          <p:cNvSpPr txBox="1"/>
          <p:nvPr/>
        </p:nvSpPr>
        <p:spPr>
          <a:xfrm>
            <a:off x="458600" y="1060350"/>
            <a:ext cx="11274900" cy="841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lang="en-US" sz="1600">
                <a:latin typeface="Times New Roman"/>
                <a:ea typeface="Times New Roman"/>
                <a:cs typeface="Times New Roman"/>
                <a:sym typeface="Times New Roman"/>
              </a:rPr>
              <a:t>Objectifs:</a:t>
            </a:r>
            <a:endParaRPr b="1" sz="16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z="16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1. </a:t>
            </a:r>
            <a:r>
              <a:rPr b="1" lang="en-US" sz="1600">
                <a:latin typeface="Times New Roman"/>
                <a:ea typeface="Times New Roman"/>
                <a:cs typeface="Times New Roman"/>
                <a:sym typeface="Times New Roman"/>
              </a:rPr>
              <a:t>Porter de 80% à 100% la disponibilité des stocks de vaccins et intrants à tous les niveaux</a:t>
            </a:r>
            <a:endParaRPr b="1" i="0" sz="1600" u="none" cap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lang="en-US" sz="1600">
                <a:latin typeface="Times New Roman"/>
                <a:ea typeface="Times New Roman"/>
                <a:cs typeface="Times New Roman"/>
                <a:sym typeface="Times New Roman"/>
              </a:rPr>
              <a:t>2. </a:t>
            </a:r>
            <a:r>
              <a:rPr b="1" lang="en-US" sz="1600">
                <a:latin typeface="Times New Roman"/>
                <a:ea typeface="Times New Roman"/>
                <a:cs typeface="Times New Roman"/>
                <a:sym typeface="Times New Roman"/>
              </a:rPr>
              <a:t>Porter de 84% à 100% la fonctionnalité des ECF à tous les niveaux</a:t>
            </a:r>
            <a:endParaRPr b="1" sz="160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73" name="Google Shape;273;g3a7c50a7b14_0_489"/>
          <p:cNvSpPr txBox="1"/>
          <p:nvPr/>
        </p:nvSpPr>
        <p:spPr>
          <a:xfrm>
            <a:off x="458592" y="2087413"/>
            <a:ext cx="5536800" cy="217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lang="en-US" sz="1500">
                <a:latin typeface="Times New Roman"/>
                <a:ea typeface="Times New Roman"/>
                <a:cs typeface="Times New Roman"/>
                <a:sym typeface="Times New Roman"/>
              </a:rPr>
              <a:t>Disponibilités des vaccins dans les ESS , Jan . - Nov. 2025</a:t>
            </a:r>
            <a:endParaRPr i="1" sz="1500" u="none" cap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cxnSp>
        <p:nvCxnSpPr>
          <p:cNvPr id="274" name="Google Shape;274;g3a7c50a7b14_0_489"/>
          <p:cNvCxnSpPr/>
          <p:nvPr/>
        </p:nvCxnSpPr>
        <p:spPr>
          <a:xfrm>
            <a:off x="458592" y="2304913"/>
            <a:ext cx="5536800" cy="0"/>
          </a:xfrm>
          <a:prstGeom prst="straightConnector1">
            <a:avLst/>
          </a:pr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75" name="Google Shape;275;g3a7c50a7b14_0_489"/>
          <p:cNvSpPr txBox="1"/>
          <p:nvPr/>
        </p:nvSpPr>
        <p:spPr>
          <a:xfrm>
            <a:off x="6491042" y="2087413"/>
            <a:ext cx="5536800" cy="217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lang="en-US" sz="1500">
                <a:latin typeface="Times New Roman"/>
                <a:ea typeface="Times New Roman"/>
                <a:cs typeface="Times New Roman"/>
                <a:sym typeface="Times New Roman"/>
              </a:rPr>
              <a:t>Fonctionnalités</a:t>
            </a:r>
            <a:r>
              <a:rPr b="1" lang="en-US" sz="1500">
                <a:latin typeface="Times New Roman"/>
                <a:ea typeface="Times New Roman"/>
                <a:cs typeface="Times New Roman"/>
                <a:sym typeface="Times New Roman"/>
              </a:rPr>
              <a:t> de la </a:t>
            </a:r>
            <a:r>
              <a:rPr b="1" lang="en-US" sz="1500">
                <a:latin typeface="Times New Roman"/>
                <a:ea typeface="Times New Roman"/>
                <a:cs typeface="Times New Roman"/>
                <a:sym typeface="Times New Roman"/>
              </a:rPr>
              <a:t>chaîne</a:t>
            </a:r>
            <a:r>
              <a:rPr b="1" lang="en-US" sz="1500">
                <a:latin typeface="Times New Roman"/>
                <a:ea typeface="Times New Roman"/>
                <a:cs typeface="Times New Roman"/>
                <a:sym typeface="Times New Roman"/>
              </a:rPr>
              <a:t> de froid, Jan . - Nov. 2025</a:t>
            </a:r>
            <a:endParaRPr i="1" sz="1500" u="none" cap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cxnSp>
        <p:nvCxnSpPr>
          <p:cNvPr id="276" name="Google Shape;276;g3a7c50a7b14_0_489"/>
          <p:cNvCxnSpPr/>
          <p:nvPr/>
        </p:nvCxnSpPr>
        <p:spPr>
          <a:xfrm>
            <a:off x="6491042" y="2304913"/>
            <a:ext cx="5536800" cy="0"/>
          </a:xfrm>
          <a:prstGeom prst="straightConnector1">
            <a:avLst/>
          </a:pr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id="277" name="Google Shape;277;g3a7c50a7b14_0_489" title="Chart"/>
          <p:cNvPicPr preferRelativeResize="0"/>
          <p:nvPr/>
        </p:nvPicPr>
        <p:blipFill rotWithShape="1">
          <a:blip r:embed="rId3">
            <a:alphaModFix/>
          </a:blip>
          <a:srcRect b="3716" l="13282" r="8261" t="0"/>
          <a:stretch/>
        </p:blipFill>
        <p:spPr>
          <a:xfrm>
            <a:off x="763567" y="2497012"/>
            <a:ext cx="4926849" cy="37388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78" name="Google Shape;278;g3a7c50a7b14_0_489" title="Chart"/>
          <p:cNvPicPr preferRelativeResize="0"/>
          <p:nvPr/>
        </p:nvPicPr>
        <p:blipFill rotWithShape="1">
          <a:blip r:embed="rId4">
            <a:alphaModFix/>
          </a:blip>
          <a:srcRect b="3906" l="29058" r="22998" t="1036"/>
          <a:stretch/>
        </p:blipFill>
        <p:spPr>
          <a:xfrm>
            <a:off x="7493399" y="2497013"/>
            <a:ext cx="2715978" cy="3329363"/>
          </a:xfrm>
          <a:prstGeom prst="rect">
            <a:avLst/>
          </a:prstGeom>
          <a:noFill/>
          <a:ln>
            <a:noFill/>
          </a:ln>
        </p:spPr>
      </p:pic>
      <p:sp>
        <p:nvSpPr>
          <p:cNvPr id="279" name="Google Shape;279;g3a7c50a7b14_0_489"/>
          <p:cNvSpPr txBox="1"/>
          <p:nvPr/>
        </p:nvSpPr>
        <p:spPr>
          <a:xfrm>
            <a:off x="7533038" y="5706975"/>
            <a:ext cx="2636700" cy="5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8350" lIns="98350" spcFirstLastPara="1" rIns="98350" wrap="square" tIns="983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91"/>
              <a:buFont typeface="Arial"/>
              <a:buNone/>
            </a:pPr>
            <a:r>
              <a:rPr b="1" lang="en-US" sz="1410">
                <a:latin typeface="Times New Roman"/>
                <a:ea typeface="Times New Roman"/>
                <a:cs typeface="Times New Roman"/>
                <a:sym typeface="Times New Roman"/>
              </a:rPr>
              <a:t>Niveau </a:t>
            </a:r>
            <a:r>
              <a:rPr b="1" lang="en-US" sz="1410">
                <a:latin typeface="Times New Roman"/>
                <a:ea typeface="Times New Roman"/>
                <a:cs typeface="Times New Roman"/>
                <a:sym typeface="Times New Roman"/>
              </a:rPr>
              <a:t>global</a:t>
            </a:r>
            <a:r>
              <a:rPr b="1" lang="en-US" sz="1410">
                <a:latin typeface="Times New Roman"/>
                <a:ea typeface="Times New Roman"/>
                <a:cs typeface="Times New Roman"/>
                <a:sym typeface="Times New Roman"/>
              </a:rPr>
              <a:t> de </a:t>
            </a:r>
            <a:r>
              <a:rPr b="1" lang="en-US" sz="1410">
                <a:latin typeface="Times New Roman"/>
                <a:ea typeface="Times New Roman"/>
                <a:cs typeface="Times New Roman"/>
                <a:sym typeface="Times New Roman"/>
              </a:rPr>
              <a:t>fonctionnalité</a:t>
            </a:r>
            <a:r>
              <a:rPr b="1" lang="en-US" sz="1410">
                <a:latin typeface="Times New Roman"/>
                <a:ea typeface="Times New Roman"/>
                <a:cs typeface="Times New Roman"/>
                <a:sym typeface="Times New Roman"/>
              </a:rPr>
              <a:t> de la chaîne de froid</a:t>
            </a:r>
            <a:endParaRPr b="1" sz="141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80" name="Google Shape;280;g3a7c50a7b14_0_489"/>
          <p:cNvSpPr/>
          <p:nvPr/>
        </p:nvSpPr>
        <p:spPr>
          <a:xfrm>
            <a:off x="10319250" y="2598575"/>
            <a:ext cx="1708500" cy="1782600"/>
          </a:xfrm>
          <a:prstGeom prst="wedgeRectCallout">
            <a:avLst>
              <a:gd fmla="val -65104" name="adj1"/>
              <a:gd fmla="val -25260" name="adj2"/>
            </a:avLst>
          </a:prstGeom>
          <a:solidFill>
            <a:srgbClr val="EFE3D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>
                <a:latin typeface="Times New Roman"/>
                <a:ea typeface="Times New Roman"/>
                <a:cs typeface="Times New Roman"/>
                <a:sym typeface="Times New Roman"/>
              </a:rPr>
              <a:t>Gap de 13 pts pour atteindre l’objectif</a:t>
            </a:r>
            <a:endParaRPr sz="15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g3a7c50a7b14_0_457"/>
          <p:cNvSpPr txBox="1"/>
          <p:nvPr/>
        </p:nvSpPr>
        <p:spPr>
          <a:xfrm>
            <a:off x="458592" y="317941"/>
            <a:ext cx="11274900" cy="384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500"/>
              <a:buFont typeface="Arial"/>
              <a:buNone/>
            </a:pPr>
            <a:r>
              <a:rPr b="1" i="0" lang="en-US" sz="2500" u="none" cap="none" strike="noStrike">
                <a:solidFill>
                  <a:srgbClr val="1155C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Niveau d’atteinte des objectifs du PAO 2025</a:t>
            </a:r>
            <a:r>
              <a:rPr b="0" i="0" lang="en-US" sz="2500" u="none" cap="none" strike="noStrike">
                <a:solidFill>
                  <a:srgbClr val="1155C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| AVS</a:t>
            </a:r>
            <a:endParaRPr b="0" i="0" sz="2500" u="none" cap="none" strike="noStrike">
              <a:solidFill>
                <a:srgbClr val="1155CC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86" name="Google Shape;286;g3a7c50a7b14_0_457"/>
          <p:cNvSpPr/>
          <p:nvPr/>
        </p:nvSpPr>
        <p:spPr>
          <a:xfrm>
            <a:off x="0" y="272241"/>
            <a:ext cx="235500" cy="655200"/>
          </a:xfrm>
          <a:prstGeom prst="rect">
            <a:avLst/>
          </a:prstGeom>
          <a:solidFill>
            <a:srgbClr val="1155CC"/>
          </a:solidFill>
          <a:ln>
            <a:noFill/>
          </a:ln>
        </p:spPr>
        <p:txBody>
          <a:bodyPr anchorCtr="0" anchor="ctr" bIns="91400" lIns="91400" spcFirstLastPara="1" rIns="91400" wrap="square" tIns="914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r>
              <a:t/>
            </a:r>
            <a:endParaRPr b="0" i="0" sz="1900" u="none" cap="none" strike="noStrike">
              <a:solidFill>
                <a:srgbClr val="0070C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87" name="Google Shape;287;g3a7c50a7b14_0_457"/>
          <p:cNvSpPr txBox="1"/>
          <p:nvPr/>
        </p:nvSpPr>
        <p:spPr>
          <a:xfrm>
            <a:off x="267700" y="6492843"/>
            <a:ext cx="114147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12190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t/>
            </a:r>
            <a:endParaRPr b="1" i="0" sz="1200" u="none" cap="none" strike="noStrike">
              <a:solidFill>
                <a:srgbClr val="1155CC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88" name="Google Shape;288;g3a7c50a7b14_0_457"/>
          <p:cNvSpPr txBox="1"/>
          <p:nvPr/>
        </p:nvSpPr>
        <p:spPr>
          <a:xfrm>
            <a:off x="11658600" y="6496067"/>
            <a:ext cx="228300" cy="16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-US" sz="1200" u="none" cap="none" strike="noStrike">
                <a:solidFill>
                  <a:srgbClr val="1155CC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rgbClr val="1155C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289" name="Google Shape;289;g3a7c50a7b14_0_457"/>
          <p:cNvCxnSpPr/>
          <p:nvPr/>
        </p:nvCxnSpPr>
        <p:spPr>
          <a:xfrm>
            <a:off x="267700" y="6427967"/>
            <a:ext cx="11640300" cy="0"/>
          </a:xfrm>
          <a:prstGeom prst="straightConnector1">
            <a:avLst/>
          </a:prstGeom>
          <a:noFill/>
          <a:ln cap="flat" cmpd="sng" w="9525">
            <a:solidFill>
              <a:srgbClr val="9E9E9E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90" name="Google Shape;290;g3a7c50a7b14_0_457"/>
          <p:cNvSpPr txBox="1"/>
          <p:nvPr/>
        </p:nvSpPr>
        <p:spPr>
          <a:xfrm>
            <a:off x="267700" y="6492843"/>
            <a:ext cx="114147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12190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155CC"/>
              </a:buClr>
              <a:buSzPts val="1200"/>
              <a:buFont typeface="Times New Roman"/>
              <a:buNone/>
            </a:pPr>
            <a:r>
              <a:rPr b="1" i="0" lang="en-US" sz="1200" u="none" cap="none" strike="noStrike">
                <a:solidFill>
                  <a:srgbClr val="1155C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Revue annuelle PEV 2025</a:t>
            </a:r>
            <a:endParaRPr b="1" i="0" sz="1200" u="none" cap="none" strike="noStrike">
              <a:solidFill>
                <a:srgbClr val="1155CC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graphicFrame>
        <p:nvGraphicFramePr>
          <p:cNvPr id="291" name="Google Shape;291;g3a7c50a7b14_0_457"/>
          <p:cNvGraphicFramePr/>
          <p:nvPr/>
        </p:nvGraphicFramePr>
        <p:xfrm>
          <a:off x="458580" y="112331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{CD789E3B-FF50-42BA-A358-828BAFD84ED0}</a:tableStyleId>
              </a:tblPr>
              <a:tblGrid>
                <a:gridCol w="3641500"/>
                <a:gridCol w="1986400"/>
                <a:gridCol w="1233825"/>
                <a:gridCol w="4413175"/>
              </a:tblGrid>
              <a:tr h="2978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800" u="none" cap="none" strike="noStrike">
                          <a:solidFill>
                            <a:schemeClr val="lt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Objectif / Résultat attendu</a:t>
                      </a:r>
                      <a:endParaRPr b="1" sz="1800" u="none" cap="none" strike="noStrike">
                        <a:solidFill>
                          <a:schemeClr val="lt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91425" marB="91425" marR="91425" marL="91425" anchor="ctr">
                    <a:lnL cap="flat" cmpd="sng" w="1270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155C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chemeClr val="lt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91425" marB="91425" marR="91425" marL="91425" anchor="ctr">
                    <a:lnL cap="flat" cmpd="sng" w="1270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155C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800" u="none" cap="none" strike="noStrike">
                          <a:solidFill>
                            <a:schemeClr val="lt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Résultats 2024</a:t>
                      </a:r>
                      <a:endParaRPr b="1" sz="1800" u="none" cap="none" strike="noStrike">
                        <a:solidFill>
                          <a:schemeClr val="lt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91425" marB="91425" marR="91425" marL="91425" anchor="ctr">
                    <a:lnL cap="flat" cmpd="sng" w="1270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155C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800" u="none" cap="none" strike="noStrike">
                          <a:solidFill>
                            <a:schemeClr val="lt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Résultats 2025</a:t>
                      </a:r>
                      <a:endParaRPr b="1" sz="1800" u="none" cap="none" strike="noStrike">
                        <a:solidFill>
                          <a:schemeClr val="lt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91425" marB="91425" marR="91425" marL="91425" anchor="ctr">
                    <a:lnL cap="flat" cmpd="sng" w="1270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155CC"/>
                    </a:solidFill>
                  </a:tcPr>
                </a:tc>
              </a:tr>
              <a:tr h="5950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Réduire à moins de 5% la proportion de cibles manquées lors des AVS</a:t>
                      </a:r>
                      <a:endParaRPr sz="18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91425" marB="91425" marR="91425" marL="91425" anchor="ctr">
                    <a:lnL cap="flat" cmpd="sng" w="1270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% de cibles manquées</a:t>
                      </a:r>
                      <a:endParaRPr sz="18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0" marB="0" marR="0" marL="0" anchor="ctr">
                    <a:lnL cap="flat" cmpd="sng" w="1270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 </a:t>
                      </a:r>
                      <a:endParaRPr sz="18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91425" marB="91425" marR="91425" marL="91425" anchor="ctr">
                    <a:lnL cap="flat" cmpd="sng" w="1270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342900" lvl="0" marL="457200" marR="0" rtl="0" algn="l">
                        <a:lnSpc>
                          <a:spcPct val="11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SzPts val="1800"/>
                        <a:buFont typeface="Times New Roman"/>
                        <a:buChar char="●"/>
                      </a:pPr>
                      <a:r>
                        <a:rPr lang="en-US" sz="18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 &lt; 5% pour toutes les campagnes polios</a:t>
                      </a:r>
                      <a:endParaRPr sz="18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  <a:p>
                      <a:pPr indent="-342900" lvl="0" marL="457200" marR="0" rtl="0" algn="l">
                        <a:lnSpc>
                          <a:spcPct val="11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SzPts val="1800"/>
                        <a:buFont typeface="Times New Roman"/>
                        <a:buChar char="●"/>
                      </a:pPr>
                      <a:r>
                        <a:rPr lang="en-US" sz="18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% personnes vaccinée 95% LQAS FJ</a:t>
                      </a:r>
                      <a:endParaRPr sz="18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91425" marB="91425" marR="91425" marL="91425" anchor="ctr">
                    <a:lnL cap="flat" cmpd="sng" w="1270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38761D"/>
                    </a:solidFill>
                  </a:tcPr>
                </a:tc>
              </a:tr>
              <a:tr h="342900">
                <a:tc rowSpan="3"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Réduire la morbidité et la mortalité des maladies évitables par la vaccination</a:t>
                      </a:r>
                      <a:endParaRPr sz="18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91425" marB="91425" marR="91425" marL="91425" anchor="ctr">
                    <a:lnL cap="flat" cmpd="sng" w="1270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Nbr cas cVDPV</a:t>
                      </a:r>
                      <a:endParaRPr sz="18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0" marB="0" marR="0" marL="0" anchor="ctr">
                    <a:lnL cap="flat" cmpd="sng" w="1270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 30 cas </a:t>
                      </a:r>
                      <a:endParaRPr sz="18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91425" marB="91425" marR="91425" marL="91425" anchor="ctr">
                    <a:lnL cap="flat" cmpd="sng" w="1270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 8 cas </a:t>
                      </a:r>
                      <a:endParaRPr sz="18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91425" marB="91425" marR="91425" marL="91425" anchor="ctr">
                    <a:lnL cap="flat" cmpd="sng" w="1270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00"/>
                    </a:solidFill>
                  </a:tcPr>
                </a:tc>
              </a:tr>
              <a:tr h="595000">
                <a:tc vMerge="1"/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Incidence rougeole </a:t>
                      </a:r>
                      <a:endParaRPr sz="18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0" marB="0" marR="0" marL="0" anchor="ctr">
                    <a:lnL cap="flat" cmpd="sng" w="1270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 102 539</a:t>
                      </a:r>
                      <a:endParaRPr sz="18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91425" marB="91425" marR="91425" marL="91425" anchor="ctr">
                    <a:lnL cap="flat" cmpd="sng" w="1270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 74 984 (2.2létalité )</a:t>
                      </a:r>
                      <a:endParaRPr sz="18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91425" marB="91425" marR="91425" marL="91425" anchor="ctr">
                    <a:lnL cap="flat" cmpd="sng" w="1270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00"/>
                    </a:solidFill>
                  </a:tcPr>
                </a:tc>
              </a:tr>
              <a:tr h="386725">
                <a:tc vMerge="1"/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Taux mortalité Rougeole </a:t>
                      </a:r>
                      <a:endParaRPr sz="18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0" marB="0" marR="0" marL="0" anchor="ctr">
                    <a:lnL cap="flat" cmpd="sng" w="1270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 2 231</a:t>
                      </a:r>
                      <a:endParaRPr sz="18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91425" marB="91425" marR="91425" marL="91425" anchor="ctr">
                    <a:lnL cap="flat" cmpd="sng" w="1270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 1117 (1.5létalité)</a:t>
                      </a:r>
                      <a:endParaRPr sz="18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91425" marB="91425" marR="91425" marL="91425" anchor="ctr">
                    <a:lnL cap="flat" cmpd="sng" w="1270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00"/>
                    </a:solidFill>
                  </a:tcPr>
                </a:tc>
              </a:tr>
              <a:tr h="5950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Organiser riposte autour de 80% des cas de Mpox confirmés</a:t>
                      </a:r>
                      <a:endParaRPr sz="18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91425" marB="91425" marR="91425" marL="91425" anchor="ctr">
                    <a:lnL cap="flat" cmpd="sng" w="1270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% cas Mpox confirmés avec riposte</a:t>
                      </a:r>
                      <a:endParaRPr sz="18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0" marB="0" marR="0" marL="0" anchor="ctr">
                    <a:lnL cap="flat" cmpd="sng" w="1270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8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91425" marB="91425" marR="91425" marL="91425" anchor="ctr">
                    <a:lnL cap="flat" cmpd="sng" w="1270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8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1.493.908 dont 697.178 avec le LC16 (46%)</a:t>
                      </a:r>
                      <a:endParaRPr sz="18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  <a:p>
                      <a:pPr indent="0" lvl="0" marL="0" rtl="0" algn="l">
                        <a:lnSpc>
                          <a:spcPct val="11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t/>
                      </a:r>
                      <a:endParaRPr sz="18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  <a:p>
                      <a:pPr indent="0" lvl="0" marL="0" marR="0" rtl="0" algn="l">
                        <a:lnSpc>
                          <a:spcPct val="11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8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91425" marB="91425" marR="91425" marL="91425" anchor="ctr">
                    <a:lnL cap="flat" cmpd="sng" w="1270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5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g3a7c546b70d_0_215"/>
          <p:cNvSpPr txBox="1"/>
          <p:nvPr/>
        </p:nvSpPr>
        <p:spPr>
          <a:xfrm>
            <a:off x="458592" y="317941"/>
            <a:ext cx="11274900" cy="384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500"/>
              <a:buFont typeface="Arial"/>
              <a:buNone/>
            </a:pPr>
            <a:r>
              <a:rPr b="1" lang="en-US" sz="2500">
                <a:solidFill>
                  <a:srgbClr val="1155C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Niveau d’atteinte des objectifs du PAO 2025</a:t>
            </a:r>
            <a:r>
              <a:rPr lang="en-US" sz="2500">
                <a:solidFill>
                  <a:srgbClr val="1155C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| Qualités des données</a:t>
            </a:r>
            <a:endParaRPr b="1" sz="2500">
              <a:solidFill>
                <a:srgbClr val="1155CC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97" name="Google Shape;297;g3a7c546b70d_0_215"/>
          <p:cNvSpPr/>
          <p:nvPr/>
        </p:nvSpPr>
        <p:spPr>
          <a:xfrm>
            <a:off x="0" y="272241"/>
            <a:ext cx="235500" cy="655200"/>
          </a:xfrm>
          <a:prstGeom prst="rect">
            <a:avLst/>
          </a:prstGeom>
          <a:solidFill>
            <a:srgbClr val="1155CC"/>
          </a:solidFill>
          <a:ln>
            <a:noFill/>
          </a:ln>
        </p:spPr>
        <p:txBody>
          <a:bodyPr anchorCtr="0" anchor="ctr" bIns="91400" lIns="91400" spcFirstLastPara="1" rIns="91400" wrap="square" tIns="914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r>
              <a:t/>
            </a:r>
            <a:endParaRPr b="0" i="0" sz="1900" u="none" cap="none" strike="noStrike">
              <a:solidFill>
                <a:srgbClr val="0070C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98" name="Google Shape;298;g3a7c546b70d_0_215"/>
          <p:cNvSpPr txBox="1"/>
          <p:nvPr/>
        </p:nvSpPr>
        <p:spPr>
          <a:xfrm>
            <a:off x="267700" y="6492843"/>
            <a:ext cx="114147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12190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t/>
            </a:r>
            <a:endParaRPr b="1" i="0" sz="1200" u="none" cap="none" strike="noStrike">
              <a:solidFill>
                <a:srgbClr val="1155CC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99" name="Google Shape;299;g3a7c546b70d_0_215"/>
          <p:cNvSpPr txBox="1"/>
          <p:nvPr/>
        </p:nvSpPr>
        <p:spPr>
          <a:xfrm>
            <a:off x="11658600" y="6496067"/>
            <a:ext cx="228300" cy="16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-US" sz="1200" u="none" cap="none" strike="noStrike">
                <a:solidFill>
                  <a:srgbClr val="1155CC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rgbClr val="1155C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300" name="Google Shape;300;g3a7c546b70d_0_215"/>
          <p:cNvCxnSpPr/>
          <p:nvPr/>
        </p:nvCxnSpPr>
        <p:spPr>
          <a:xfrm>
            <a:off x="267700" y="6427967"/>
            <a:ext cx="11640300" cy="0"/>
          </a:xfrm>
          <a:prstGeom prst="straightConnector1">
            <a:avLst/>
          </a:prstGeom>
          <a:noFill/>
          <a:ln cap="flat" cmpd="sng" w="9525">
            <a:solidFill>
              <a:srgbClr val="9E9E9E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01" name="Google Shape;301;g3a7c546b70d_0_215"/>
          <p:cNvSpPr txBox="1"/>
          <p:nvPr/>
        </p:nvSpPr>
        <p:spPr>
          <a:xfrm>
            <a:off x="267700" y="6492843"/>
            <a:ext cx="114147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12190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155CC"/>
              </a:buClr>
              <a:buSzPts val="1200"/>
              <a:buFont typeface="Times New Roman"/>
              <a:buNone/>
            </a:pPr>
            <a:r>
              <a:rPr b="1" lang="en-US" sz="1200">
                <a:solidFill>
                  <a:srgbClr val="1155C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DHIS2 , calculus avec les cibles ajustées</a:t>
            </a:r>
            <a:endParaRPr b="1" i="0" sz="1200" u="none" cap="none" strike="noStrike">
              <a:solidFill>
                <a:srgbClr val="1155CC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302" name="Google Shape;302;g3a7c546b70d_0_215"/>
          <p:cNvSpPr txBox="1"/>
          <p:nvPr/>
        </p:nvSpPr>
        <p:spPr>
          <a:xfrm>
            <a:off x="458600" y="1060350"/>
            <a:ext cx="11274900" cy="841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lang="en-US" sz="1600">
                <a:latin typeface="Times New Roman"/>
                <a:ea typeface="Times New Roman"/>
                <a:cs typeface="Times New Roman"/>
                <a:sym typeface="Times New Roman"/>
              </a:rPr>
              <a:t>Objectifs:</a:t>
            </a:r>
            <a:endParaRPr b="1" sz="16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lang="en-US" sz="1600">
                <a:latin typeface="Times New Roman"/>
                <a:ea typeface="Times New Roman"/>
                <a:cs typeface="Times New Roman"/>
                <a:sym typeface="Times New Roman"/>
              </a:rPr>
              <a:t>Réduire d’au moins 5 points les écarts entre données administratives et estimations WUENIC</a:t>
            </a:r>
            <a:endParaRPr b="1" sz="160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grpSp>
        <p:nvGrpSpPr>
          <p:cNvPr id="303" name="Google Shape;303;g3a7c546b70d_0_215"/>
          <p:cNvGrpSpPr/>
          <p:nvPr/>
        </p:nvGrpSpPr>
        <p:grpSpPr>
          <a:xfrm>
            <a:off x="235500" y="2352289"/>
            <a:ext cx="3119526" cy="3965322"/>
            <a:chOff x="235500" y="2352289"/>
            <a:chExt cx="3119526" cy="3965322"/>
          </a:xfrm>
        </p:grpSpPr>
        <p:pic>
          <p:nvPicPr>
            <p:cNvPr id="304" name="Google Shape;304;g3a7c546b70d_0_215" title="Chart"/>
            <p:cNvPicPr preferRelativeResize="0"/>
            <p:nvPr/>
          </p:nvPicPr>
          <p:blipFill rotWithShape="1">
            <a:blip r:embed="rId3">
              <a:alphaModFix/>
            </a:blip>
            <a:srcRect b="4962" l="28340" r="24924" t="18332"/>
            <a:stretch/>
          </p:blipFill>
          <p:spPr>
            <a:xfrm>
              <a:off x="235500" y="2623320"/>
              <a:ext cx="3119526" cy="3165674"/>
            </a:xfrm>
            <a:prstGeom prst="rect">
              <a:avLst/>
            </a:prstGeom>
            <a:noFill/>
            <a:ln>
              <a:noFill/>
            </a:ln>
          </p:spPr>
        </p:pic>
        <p:grpSp>
          <p:nvGrpSpPr>
            <p:cNvPr id="305" name="Google Shape;305;g3a7c546b70d_0_215"/>
            <p:cNvGrpSpPr/>
            <p:nvPr/>
          </p:nvGrpSpPr>
          <p:grpSpPr>
            <a:xfrm>
              <a:off x="334500" y="2352289"/>
              <a:ext cx="2951631" cy="3965322"/>
              <a:chOff x="-1898558" y="2090431"/>
              <a:chExt cx="3140033" cy="4218428"/>
            </a:xfrm>
          </p:grpSpPr>
          <p:cxnSp>
            <p:nvCxnSpPr>
              <p:cNvPr id="306" name="Google Shape;306;g3a7c546b70d_0_215"/>
              <p:cNvCxnSpPr/>
              <p:nvPr/>
            </p:nvCxnSpPr>
            <p:spPr>
              <a:xfrm rot="10800000">
                <a:off x="-1064237" y="2224383"/>
                <a:ext cx="662400" cy="0"/>
              </a:xfrm>
              <a:prstGeom prst="straightConnector1">
                <a:avLst/>
              </a:prstGeom>
              <a:noFill/>
              <a:ln cap="flat" cmpd="sng" w="10250">
                <a:solidFill>
                  <a:srgbClr val="595959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grpSp>
            <p:nvGrpSpPr>
              <p:cNvPr id="307" name="Google Shape;307;g3a7c546b70d_0_215"/>
              <p:cNvGrpSpPr/>
              <p:nvPr/>
            </p:nvGrpSpPr>
            <p:grpSpPr>
              <a:xfrm>
                <a:off x="-1898558" y="2090431"/>
                <a:ext cx="3140033" cy="4218428"/>
                <a:chOff x="3437315" y="1095576"/>
                <a:chExt cx="2743825" cy="3686148"/>
              </a:xfrm>
            </p:grpSpPr>
            <p:grpSp>
              <p:nvGrpSpPr>
                <p:cNvPr id="308" name="Google Shape;308;g3a7c546b70d_0_215"/>
                <p:cNvGrpSpPr/>
                <p:nvPr/>
              </p:nvGrpSpPr>
              <p:grpSpPr>
                <a:xfrm>
                  <a:off x="4162796" y="1095576"/>
                  <a:ext cx="1264882" cy="1207085"/>
                  <a:chOff x="4162796" y="866976"/>
                  <a:chExt cx="1264882" cy="1207085"/>
                </a:xfrm>
              </p:grpSpPr>
              <p:cxnSp>
                <p:nvCxnSpPr>
                  <p:cNvPr id="309" name="Google Shape;309;g3a7c546b70d_0_215"/>
                  <p:cNvCxnSpPr/>
                  <p:nvPr/>
                </p:nvCxnSpPr>
                <p:spPr>
                  <a:xfrm rot="10800000">
                    <a:off x="4848978" y="992348"/>
                    <a:ext cx="578700" cy="0"/>
                  </a:xfrm>
                  <a:prstGeom prst="straightConnector1">
                    <a:avLst/>
                  </a:prstGeom>
                  <a:noFill/>
                  <a:ln cap="flat" cmpd="sng" w="10250">
                    <a:solidFill>
                      <a:srgbClr val="595959"/>
                    </a:solidFill>
                    <a:prstDash val="solid"/>
                    <a:round/>
                    <a:headEnd len="sm" w="sm" type="none"/>
                    <a:tailEnd len="sm" w="sm" type="none"/>
                  </a:ln>
                </p:spPr>
              </p:cxnSp>
              <p:grpSp>
                <p:nvGrpSpPr>
                  <p:cNvPr id="310" name="Google Shape;310;g3a7c546b70d_0_215"/>
                  <p:cNvGrpSpPr/>
                  <p:nvPr/>
                </p:nvGrpSpPr>
                <p:grpSpPr>
                  <a:xfrm>
                    <a:off x="4162796" y="866976"/>
                    <a:ext cx="1252538" cy="1207085"/>
                    <a:chOff x="4162796" y="866976"/>
                    <a:chExt cx="1252538" cy="1207085"/>
                  </a:xfrm>
                </p:grpSpPr>
                <p:cxnSp>
                  <p:nvCxnSpPr>
                    <p:cNvPr id="311" name="Google Shape;311;g3a7c546b70d_0_215"/>
                    <p:cNvCxnSpPr/>
                    <p:nvPr/>
                  </p:nvCxnSpPr>
                  <p:spPr>
                    <a:xfrm rot="10800000">
                      <a:off x="4162796" y="983254"/>
                      <a:ext cx="0" cy="319800"/>
                    </a:xfrm>
                    <a:prstGeom prst="straightConnector1">
                      <a:avLst/>
                    </a:prstGeom>
                    <a:noFill/>
                    <a:ln cap="flat" cmpd="sng" w="10250">
                      <a:solidFill>
                        <a:srgbClr val="595959"/>
                      </a:solidFill>
                      <a:prstDash val="solid"/>
                      <a:round/>
                      <a:headEnd len="sm" w="sm" type="none"/>
                      <a:tailEnd len="sm" w="sm" type="none"/>
                    </a:ln>
                  </p:spPr>
                </p:cxnSp>
                <p:cxnSp>
                  <p:nvCxnSpPr>
                    <p:cNvPr id="312" name="Google Shape;312;g3a7c546b70d_0_215"/>
                    <p:cNvCxnSpPr/>
                    <p:nvPr/>
                  </p:nvCxnSpPr>
                  <p:spPr>
                    <a:xfrm rot="10800000">
                      <a:off x="5415334" y="982961"/>
                      <a:ext cx="0" cy="1091100"/>
                    </a:xfrm>
                    <a:prstGeom prst="straightConnector1">
                      <a:avLst/>
                    </a:prstGeom>
                    <a:noFill/>
                    <a:ln cap="flat" cmpd="sng" w="10250">
                      <a:solidFill>
                        <a:srgbClr val="595959"/>
                      </a:solidFill>
                      <a:prstDash val="solid"/>
                      <a:round/>
                      <a:headEnd len="sm" w="sm" type="none"/>
                      <a:tailEnd len="sm" w="sm" type="none"/>
                    </a:ln>
                  </p:spPr>
                </p:cxnSp>
                <p:sp>
                  <p:nvSpPr>
                    <p:cNvPr id="313" name="Google Shape;313;g3a7c546b70d_0_215"/>
                    <p:cNvSpPr/>
                    <p:nvPr/>
                  </p:nvSpPr>
                  <p:spPr>
                    <a:xfrm>
                      <a:off x="4467460" y="866976"/>
                      <a:ext cx="643200" cy="322800"/>
                    </a:xfrm>
                    <a:prstGeom prst="ellipse">
                      <a:avLst/>
                    </a:prstGeom>
                    <a:solidFill>
                      <a:srgbClr val="F4CCCC"/>
                    </a:solidFill>
                    <a:ln cap="flat" cmpd="sng" w="10250">
                      <a:solidFill>
                        <a:srgbClr val="595959"/>
                      </a:solidFill>
                      <a:prstDash val="solid"/>
                      <a:round/>
                      <a:headEnd len="sm" w="sm" type="none"/>
                      <a:tailEnd len="sm" w="sm" type="none"/>
                    </a:ln>
                  </p:spPr>
                  <p:txBody>
                    <a:bodyPr anchorCtr="0" anchor="ctr" bIns="98350" lIns="98350" spcFirstLastPara="1" rIns="98350" wrap="square" tIns="98350">
                      <a:noAutofit/>
                    </a:bodyPr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91"/>
                        <a:buFont typeface="Arial"/>
                        <a:buNone/>
                      </a:pPr>
                      <a:r>
                        <a:rPr b="1" lang="en-US" sz="1410">
                          <a:solidFill>
                            <a:srgbClr val="FF0000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-28</a:t>
                      </a:r>
                      <a:endParaRPr b="1" i="0" sz="1410" u="none" cap="none" strike="noStrike">
                        <a:solidFill>
                          <a:srgbClr val="FF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p:txBody>
                </p:sp>
              </p:grpSp>
            </p:grpSp>
            <p:sp>
              <p:nvSpPr>
                <p:cNvPr id="314" name="Google Shape;314;g3a7c546b70d_0_215"/>
                <p:cNvSpPr txBox="1"/>
                <p:nvPr/>
              </p:nvSpPr>
              <p:spPr>
                <a:xfrm>
                  <a:off x="3437315" y="4290323"/>
                  <a:ext cx="1361400" cy="4914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ctr" bIns="98350" lIns="98350" spcFirstLastPara="1" rIns="98350" wrap="square" tIns="98350">
                  <a:noAutofit/>
                </a:bodyPr>
                <a:lstStyle/>
                <a:p>
                  <a:pPr indent="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291"/>
                    <a:buFont typeface="Arial"/>
                    <a:buNone/>
                  </a:pPr>
                  <a:r>
                    <a:rPr b="1" lang="en-US" sz="1410">
                      <a:latin typeface="Times New Roman"/>
                      <a:ea typeface="Times New Roman"/>
                      <a:cs typeface="Times New Roman"/>
                      <a:sym typeface="Times New Roman"/>
                    </a:rPr>
                    <a:t>Penta 3 couverture admin</a:t>
                  </a:r>
                  <a:endParaRPr b="0" i="0" sz="1410" u="none" cap="none" strike="noStrike">
                    <a:solidFill>
                      <a:srgbClr val="000000"/>
                    </a:solidFill>
                    <a:latin typeface="Times New Roman"/>
                    <a:ea typeface="Times New Roman"/>
                    <a:cs typeface="Times New Roman"/>
                    <a:sym typeface="Times New Roman"/>
                  </a:endParaRPr>
                </a:p>
              </p:txBody>
            </p:sp>
            <p:sp>
              <p:nvSpPr>
                <p:cNvPr id="315" name="Google Shape;315;g3a7c546b70d_0_215"/>
                <p:cNvSpPr txBox="1"/>
                <p:nvPr/>
              </p:nvSpPr>
              <p:spPr>
                <a:xfrm>
                  <a:off x="4819741" y="4290324"/>
                  <a:ext cx="1361400" cy="4914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ctr" bIns="98350" lIns="98350" spcFirstLastPara="1" rIns="98350" wrap="square" tIns="98350">
                  <a:noAutofit/>
                </a:bodyPr>
                <a:lstStyle/>
                <a:p>
                  <a:pPr indent="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291"/>
                    <a:buFont typeface="Arial"/>
                    <a:buNone/>
                  </a:pPr>
                  <a:r>
                    <a:rPr b="1" lang="en-US" sz="1410">
                      <a:latin typeface="Times New Roman"/>
                      <a:ea typeface="Times New Roman"/>
                      <a:cs typeface="Times New Roman"/>
                      <a:sym typeface="Times New Roman"/>
                    </a:rPr>
                    <a:t>Penta 3 couverture ciblée ajustée</a:t>
                  </a:r>
                  <a:endParaRPr b="1" sz="1410">
                    <a:latin typeface="Times New Roman"/>
                    <a:ea typeface="Times New Roman"/>
                    <a:cs typeface="Times New Roman"/>
                    <a:sym typeface="Times New Roman"/>
                  </a:endParaRPr>
                </a:p>
              </p:txBody>
            </p:sp>
          </p:grpSp>
        </p:grpSp>
      </p:grpSp>
      <p:sp>
        <p:nvSpPr>
          <p:cNvPr id="316" name="Google Shape;316;g3a7c546b70d_0_215"/>
          <p:cNvSpPr txBox="1"/>
          <p:nvPr/>
        </p:nvSpPr>
        <p:spPr>
          <a:xfrm>
            <a:off x="235500" y="1998625"/>
            <a:ext cx="11274900" cy="217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lang="en-US" sz="1500">
                <a:latin typeface="Times New Roman"/>
                <a:ea typeface="Times New Roman"/>
                <a:cs typeface="Times New Roman"/>
                <a:sym typeface="Times New Roman"/>
              </a:rPr>
              <a:t>Ecart couverture administratives  et couverture administrative avec cible ajustée pour Penta 3 et VAR 1</a:t>
            </a:r>
            <a:endParaRPr i="1" sz="1500" u="none" cap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cxnSp>
        <p:nvCxnSpPr>
          <p:cNvPr id="317" name="Google Shape;317;g3a7c546b70d_0_215"/>
          <p:cNvCxnSpPr/>
          <p:nvPr/>
        </p:nvCxnSpPr>
        <p:spPr>
          <a:xfrm>
            <a:off x="235500" y="2216125"/>
            <a:ext cx="11274900" cy="0"/>
          </a:xfrm>
          <a:prstGeom prst="straightConnector1">
            <a:avLst/>
          </a:pr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cxnSp>
      <p:grpSp>
        <p:nvGrpSpPr>
          <p:cNvPr id="318" name="Google Shape;318;g3a7c546b70d_0_215"/>
          <p:cNvGrpSpPr/>
          <p:nvPr/>
        </p:nvGrpSpPr>
        <p:grpSpPr>
          <a:xfrm>
            <a:off x="3748247" y="2377284"/>
            <a:ext cx="2791234" cy="3889553"/>
            <a:chOff x="6398010" y="2219981"/>
            <a:chExt cx="2791234" cy="3889553"/>
          </a:xfrm>
        </p:grpSpPr>
        <p:pic>
          <p:nvPicPr>
            <p:cNvPr id="319" name="Google Shape;319;g3a7c546b70d_0_215" title="Chart"/>
            <p:cNvPicPr preferRelativeResize="0"/>
            <p:nvPr/>
          </p:nvPicPr>
          <p:blipFill rotWithShape="1">
            <a:blip r:embed="rId4">
              <a:alphaModFix/>
            </a:blip>
            <a:srcRect b="5226" l="27674" r="24053" t="8095"/>
            <a:stretch/>
          </p:blipFill>
          <p:spPr>
            <a:xfrm>
              <a:off x="6430250" y="2550825"/>
              <a:ext cx="2726751" cy="3027725"/>
            </a:xfrm>
            <a:prstGeom prst="rect">
              <a:avLst/>
            </a:prstGeom>
            <a:noFill/>
            <a:ln>
              <a:noFill/>
            </a:ln>
          </p:spPr>
        </p:pic>
        <p:grpSp>
          <p:nvGrpSpPr>
            <p:cNvPr id="320" name="Google Shape;320;g3a7c546b70d_0_215"/>
            <p:cNvGrpSpPr/>
            <p:nvPr/>
          </p:nvGrpSpPr>
          <p:grpSpPr>
            <a:xfrm>
              <a:off x="6398010" y="2219981"/>
              <a:ext cx="2791234" cy="3889553"/>
              <a:chOff x="4355827" y="2129061"/>
              <a:chExt cx="2969397" cy="4137822"/>
            </a:xfrm>
          </p:grpSpPr>
          <p:cxnSp>
            <p:nvCxnSpPr>
              <p:cNvPr id="321" name="Google Shape;321;g3a7c546b70d_0_215"/>
              <p:cNvCxnSpPr/>
              <p:nvPr/>
            </p:nvCxnSpPr>
            <p:spPr>
              <a:xfrm rot="10800000">
                <a:off x="5069263" y="2263013"/>
                <a:ext cx="662400" cy="0"/>
              </a:xfrm>
              <a:prstGeom prst="straightConnector1">
                <a:avLst/>
              </a:prstGeom>
              <a:noFill/>
              <a:ln cap="flat" cmpd="sng" w="10250">
                <a:solidFill>
                  <a:srgbClr val="595959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grpSp>
            <p:nvGrpSpPr>
              <p:cNvPr id="322" name="Google Shape;322;g3a7c546b70d_0_215"/>
              <p:cNvGrpSpPr/>
              <p:nvPr/>
            </p:nvGrpSpPr>
            <p:grpSpPr>
              <a:xfrm>
                <a:off x="5065206" y="2129061"/>
                <a:ext cx="1447507" cy="1350951"/>
                <a:chOff x="6432379" y="900720"/>
                <a:chExt cx="1264861" cy="1180488"/>
              </a:xfrm>
            </p:grpSpPr>
            <p:cxnSp>
              <p:nvCxnSpPr>
                <p:cNvPr id="323" name="Google Shape;323;g3a7c546b70d_0_215"/>
                <p:cNvCxnSpPr/>
                <p:nvPr/>
              </p:nvCxnSpPr>
              <p:spPr>
                <a:xfrm rot="10800000">
                  <a:off x="7118540" y="1026093"/>
                  <a:ext cx="578700" cy="0"/>
                </a:xfrm>
                <a:prstGeom prst="straightConnector1">
                  <a:avLst/>
                </a:prstGeom>
                <a:noFill/>
                <a:ln cap="flat" cmpd="sng" w="10250">
                  <a:solidFill>
                    <a:srgbClr val="595959"/>
                  </a:solidFill>
                  <a:prstDash val="solid"/>
                  <a:round/>
                  <a:headEnd len="sm" w="sm" type="none"/>
                  <a:tailEnd len="sm" w="sm" type="none"/>
                </a:ln>
              </p:spPr>
            </p:cxnSp>
            <p:grpSp>
              <p:nvGrpSpPr>
                <p:cNvPr id="324" name="Google Shape;324;g3a7c546b70d_0_215"/>
                <p:cNvGrpSpPr/>
                <p:nvPr/>
              </p:nvGrpSpPr>
              <p:grpSpPr>
                <a:xfrm>
                  <a:off x="6432379" y="900720"/>
                  <a:ext cx="1252515" cy="1180488"/>
                  <a:chOff x="6432379" y="900720"/>
                  <a:chExt cx="1252515" cy="1180488"/>
                </a:xfrm>
              </p:grpSpPr>
              <p:cxnSp>
                <p:nvCxnSpPr>
                  <p:cNvPr id="325" name="Google Shape;325;g3a7c546b70d_0_215"/>
                  <p:cNvCxnSpPr/>
                  <p:nvPr/>
                </p:nvCxnSpPr>
                <p:spPr>
                  <a:xfrm rot="10800000">
                    <a:off x="6432379" y="1016812"/>
                    <a:ext cx="0" cy="327900"/>
                  </a:xfrm>
                  <a:prstGeom prst="straightConnector1">
                    <a:avLst/>
                  </a:prstGeom>
                  <a:noFill/>
                  <a:ln cap="flat" cmpd="sng" w="10250">
                    <a:solidFill>
                      <a:srgbClr val="595959"/>
                    </a:solidFill>
                    <a:prstDash val="solid"/>
                    <a:round/>
                    <a:headEnd len="sm" w="sm" type="none"/>
                    <a:tailEnd len="sm" w="sm" type="none"/>
                  </a:ln>
                </p:spPr>
              </p:cxnSp>
              <p:cxnSp>
                <p:nvCxnSpPr>
                  <p:cNvPr id="326" name="Google Shape;326;g3a7c546b70d_0_215"/>
                  <p:cNvCxnSpPr/>
                  <p:nvPr/>
                </p:nvCxnSpPr>
                <p:spPr>
                  <a:xfrm rot="10800000">
                    <a:off x="7684894" y="1017108"/>
                    <a:ext cx="0" cy="1064100"/>
                  </a:xfrm>
                  <a:prstGeom prst="straightConnector1">
                    <a:avLst/>
                  </a:prstGeom>
                  <a:noFill/>
                  <a:ln cap="flat" cmpd="sng" w="10250">
                    <a:solidFill>
                      <a:srgbClr val="595959"/>
                    </a:solidFill>
                    <a:prstDash val="solid"/>
                    <a:round/>
                    <a:headEnd len="sm" w="sm" type="none"/>
                    <a:tailEnd len="sm" w="sm" type="none"/>
                  </a:ln>
                </p:spPr>
              </p:cxnSp>
              <p:sp>
                <p:nvSpPr>
                  <p:cNvPr id="327" name="Google Shape;327;g3a7c546b70d_0_215"/>
                  <p:cNvSpPr/>
                  <p:nvPr/>
                </p:nvSpPr>
                <p:spPr>
                  <a:xfrm>
                    <a:off x="6737022" y="900720"/>
                    <a:ext cx="643200" cy="322800"/>
                  </a:xfrm>
                  <a:prstGeom prst="ellipse">
                    <a:avLst/>
                  </a:prstGeom>
                  <a:solidFill>
                    <a:srgbClr val="F4CCCC"/>
                  </a:solidFill>
                  <a:ln cap="flat" cmpd="sng" w="10250">
                    <a:solidFill>
                      <a:srgbClr val="595959"/>
                    </a:solidFill>
                    <a:prstDash val="solid"/>
                    <a:round/>
                    <a:headEnd len="sm" w="sm" type="none"/>
                    <a:tailEnd len="sm" w="sm" type="none"/>
                  </a:ln>
                </p:spPr>
                <p:txBody>
                  <a:bodyPr anchorCtr="0" anchor="ctr" bIns="98350" lIns="98350" spcFirstLastPara="1" rIns="98350" wrap="square" tIns="98350">
                    <a:noAutofit/>
                  </a:bodyPr>
                  <a:lstStyle/>
                  <a:p>
                    <a:pPr indent="0" lvl="0" marL="0" marR="0" rtl="0" algn="ctr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291"/>
                      <a:buFont typeface="Arial"/>
                      <a:buNone/>
                    </a:pPr>
                    <a:r>
                      <a:rPr b="1" lang="en-US" sz="1410">
                        <a:solidFill>
                          <a:srgbClr val="FF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rPr>
                      <a:t>-27</a:t>
                    </a:r>
                    <a:endParaRPr b="1" i="0" sz="1410" u="none" cap="none" strike="noStrike">
                      <a:solidFill>
                        <a:srgbClr val="FF0000"/>
                      </a:solidFill>
                      <a:latin typeface="Times New Roman"/>
                      <a:ea typeface="Times New Roman"/>
                      <a:cs typeface="Times New Roman"/>
                      <a:sym typeface="Times New Roman"/>
                    </a:endParaRPr>
                  </a:p>
                </p:txBody>
              </p:sp>
            </p:grpSp>
          </p:grpSp>
          <p:sp>
            <p:nvSpPr>
              <p:cNvPr id="328" name="Google Shape;328;g3a7c546b70d_0_215"/>
              <p:cNvSpPr txBox="1"/>
              <p:nvPr/>
            </p:nvSpPr>
            <p:spPr>
              <a:xfrm>
                <a:off x="4355827" y="5704383"/>
                <a:ext cx="1473300" cy="5625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98350" lIns="98350" spcFirstLastPara="1" rIns="98350" wrap="square" tIns="9835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91"/>
                  <a:buFont typeface="Arial"/>
                  <a:buNone/>
                </a:pPr>
                <a:r>
                  <a:rPr b="1" lang="en-US" sz="1410">
                    <a:latin typeface="Times New Roman"/>
                    <a:ea typeface="Times New Roman"/>
                    <a:cs typeface="Times New Roman"/>
                    <a:sym typeface="Times New Roman"/>
                  </a:rPr>
                  <a:t>VAR 1 couverture admin</a:t>
                </a:r>
                <a:endParaRPr b="0" i="0" sz="1410" u="none" cap="none" strike="noStrike">
                  <a:solidFill>
                    <a:srgbClr val="000000"/>
                  </a:solidFill>
                  <a:latin typeface="Times New Roman"/>
                  <a:ea typeface="Times New Roman"/>
                  <a:cs typeface="Times New Roman"/>
                  <a:sym typeface="Times New Roman"/>
                </a:endParaRPr>
              </a:p>
            </p:txBody>
          </p:sp>
          <p:sp>
            <p:nvSpPr>
              <p:cNvPr id="329" name="Google Shape;329;g3a7c546b70d_0_215"/>
              <p:cNvSpPr txBox="1"/>
              <p:nvPr/>
            </p:nvSpPr>
            <p:spPr>
              <a:xfrm>
                <a:off x="5851925" y="5704383"/>
                <a:ext cx="1473300" cy="5625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98350" lIns="98350" spcFirstLastPara="1" rIns="98350" wrap="square" tIns="9835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91"/>
                  <a:buFont typeface="Arial"/>
                  <a:buNone/>
                </a:pPr>
                <a:r>
                  <a:rPr b="1" lang="en-US" sz="1410">
                    <a:latin typeface="Times New Roman"/>
                    <a:ea typeface="Times New Roman"/>
                    <a:cs typeface="Times New Roman"/>
                    <a:sym typeface="Times New Roman"/>
                  </a:rPr>
                  <a:t>VAR 1 couverture ciblée ajustée</a:t>
                </a:r>
                <a:endParaRPr b="1" sz="1410">
                  <a:latin typeface="Times New Roman"/>
                  <a:ea typeface="Times New Roman"/>
                  <a:cs typeface="Times New Roman"/>
                  <a:sym typeface="Times New Roman"/>
                </a:endParaRPr>
              </a:p>
            </p:txBody>
          </p:sp>
        </p:grpSp>
      </p:grpSp>
      <p:sp>
        <p:nvSpPr>
          <p:cNvPr id="330" name="Google Shape;330;g3a7c546b70d_0_215"/>
          <p:cNvSpPr/>
          <p:nvPr/>
        </p:nvSpPr>
        <p:spPr>
          <a:xfrm rot="-5400000">
            <a:off x="7701450" y="1608425"/>
            <a:ext cx="3721800" cy="5259300"/>
          </a:xfrm>
          <a:prstGeom prst="round2SameRect">
            <a:avLst>
              <a:gd fmla="val 8141" name="adj1"/>
              <a:gd fmla="val 0" name="adj2"/>
            </a:avLst>
          </a:prstGeom>
          <a:solidFill>
            <a:srgbClr val="EFE3D3"/>
          </a:solidFill>
          <a:ln>
            <a:noFill/>
          </a:ln>
        </p:spPr>
        <p:txBody>
          <a:bodyPr anchorCtr="0" anchor="ctr" bIns="65650" lIns="131375" spcFirstLastPara="1" rIns="131375" wrap="square" tIns="656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99"/>
              <a:buFont typeface="Arial"/>
              <a:buNone/>
            </a:pPr>
            <a:r>
              <a:t/>
            </a:r>
            <a:endParaRPr b="0" i="0" sz="2298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1" name="Google Shape;331;g3a7c546b70d_0_215"/>
          <p:cNvSpPr txBox="1"/>
          <p:nvPr/>
        </p:nvSpPr>
        <p:spPr>
          <a:xfrm>
            <a:off x="7254589" y="2681627"/>
            <a:ext cx="4608600" cy="1931100"/>
          </a:xfrm>
          <a:prstGeom prst="rect">
            <a:avLst/>
          </a:prstGeom>
          <a:noFill/>
          <a:ln>
            <a:noFill/>
          </a:ln>
        </p:spPr>
        <p:txBody>
          <a:bodyPr anchorCtr="0" anchor="t" bIns="131375" lIns="131375" spcFirstLastPara="1" rIns="131375" wrap="square" tIns="1313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81"/>
              <a:buFont typeface="Arial"/>
              <a:buNone/>
            </a:pPr>
            <a:r>
              <a:rPr b="1" lang="en-US" sz="1500">
                <a:latin typeface="Times New Roman"/>
                <a:ea typeface="Times New Roman"/>
                <a:cs typeface="Times New Roman"/>
                <a:sym typeface="Times New Roman"/>
              </a:rPr>
              <a:t>Ecart encore </a:t>
            </a:r>
            <a:r>
              <a:rPr b="1" lang="en-US" sz="1500">
                <a:latin typeface="Times New Roman"/>
                <a:ea typeface="Times New Roman"/>
                <a:cs typeface="Times New Roman"/>
                <a:sym typeface="Times New Roman"/>
              </a:rPr>
              <a:t>élevé</a:t>
            </a:r>
            <a:r>
              <a:rPr b="1" lang="en-US" sz="1500">
                <a:latin typeface="Times New Roman"/>
                <a:ea typeface="Times New Roman"/>
                <a:cs typeface="Times New Roman"/>
                <a:sym typeface="Times New Roman"/>
              </a:rPr>
              <a:t> entre les cibles administratives et les cibles administratives </a:t>
            </a:r>
            <a:r>
              <a:rPr b="1" lang="en-US" sz="1500">
                <a:latin typeface="Times New Roman"/>
                <a:ea typeface="Times New Roman"/>
                <a:cs typeface="Times New Roman"/>
                <a:sym typeface="Times New Roman"/>
              </a:rPr>
              <a:t>ajustes. Ceci sous attends un écart important avec les estimations WUENIC</a:t>
            </a:r>
            <a:br>
              <a:rPr b="1" i="0" lang="en-US" sz="158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</a:br>
            <a:br>
              <a:rPr i="0" lang="en-US" sz="158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</a:br>
            <a:r>
              <a:rPr lang="en-US" sz="1580">
                <a:latin typeface="Times New Roman"/>
                <a:ea typeface="Times New Roman"/>
                <a:cs typeface="Times New Roman"/>
                <a:sym typeface="Times New Roman"/>
              </a:rPr>
              <a:t>1. </a:t>
            </a:r>
            <a:r>
              <a:rPr lang="en-US" sz="1580">
                <a:latin typeface="Times New Roman"/>
                <a:ea typeface="Times New Roman"/>
                <a:cs typeface="Times New Roman"/>
                <a:sym typeface="Times New Roman"/>
              </a:rPr>
              <a:t>Implémenter</a:t>
            </a:r>
            <a:r>
              <a:rPr lang="en-US" sz="1580">
                <a:latin typeface="Times New Roman"/>
                <a:ea typeface="Times New Roman"/>
                <a:cs typeface="Times New Roman"/>
                <a:sym typeface="Times New Roman"/>
              </a:rPr>
              <a:t> le plan </a:t>
            </a:r>
            <a:r>
              <a:rPr lang="en-US" sz="1580">
                <a:latin typeface="Times New Roman"/>
                <a:ea typeface="Times New Roman"/>
                <a:cs typeface="Times New Roman"/>
                <a:sym typeface="Times New Roman"/>
              </a:rPr>
              <a:t>d'amélioration</a:t>
            </a:r>
            <a:r>
              <a:rPr lang="en-US" sz="1580">
                <a:latin typeface="Times New Roman"/>
                <a:ea typeface="Times New Roman"/>
                <a:cs typeface="Times New Roman"/>
                <a:sym typeface="Times New Roman"/>
              </a:rPr>
              <a:t> de la </a:t>
            </a:r>
            <a:r>
              <a:rPr lang="en-US" sz="1580">
                <a:latin typeface="Times New Roman"/>
                <a:ea typeface="Times New Roman"/>
                <a:cs typeface="Times New Roman"/>
                <a:sym typeface="Times New Roman"/>
              </a:rPr>
              <a:t>qualité</a:t>
            </a:r>
            <a:r>
              <a:rPr lang="en-US" sz="1580">
                <a:latin typeface="Times New Roman"/>
                <a:ea typeface="Times New Roman"/>
                <a:cs typeface="Times New Roman"/>
                <a:sym typeface="Times New Roman"/>
              </a:rPr>
              <a:t> des </a:t>
            </a:r>
            <a:r>
              <a:rPr lang="en-US" sz="1580">
                <a:latin typeface="Times New Roman"/>
                <a:ea typeface="Times New Roman"/>
                <a:cs typeface="Times New Roman"/>
                <a:sym typeface="Times New Roman"/>
              </a:rPr>
              <a:t>données</a:t>
            </a:r>
            <a:endParaRPr sz="158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81"/>
              <a:buFont typeface="Arial"/>
              <a:buNone/>
            </a:pPr>
            <a:r>
              <a:rPr lang="en-US" sz="1580">
                <a:latin typeface="Times New Roman"/>
                <a:ea typeface="Times New Roman"/>
                <a:cs typeface="Times New Roman"/>
                <a:sym typeface="Times New Roman"/>
              </a:rPr>
              <a:t>2. Finaliser les travaux d’ajustement du </a:t>
            </a:r>
            <a:r>
              <a:rPr lang="en-US" sz="1580">
                <a:latin typeface="Times New Roman"/>
                <a:ea typeface="Times New Roman"/>
                <a:cs typeface="Times New Roman"/>
                <a:sym typeface="Times New Roman"/>
              </a:rPr>
              <a:t>dénominateur</a:t>
            </a:r>
            <a:endParaRPr sz="158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5" name="Shape 3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Google Shape;336;g3a7c546b70d_0_259"/>
          <p:cNvSpPr txBox="1"/>
          <p:nvPr/>
        </p:nvSpPr>
        <p:spPr>
          <a:xfrm>
            <a:off x="458592" y="317941"/>
            <a:ext cx="11274900" cy="827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500"/>
              <a:buFont typeface="Arial"/>
              <a:buNone/>
            </a:pPr>
            <a:r>
              <a:rPr b="1" i="0" lang="en-US" sz="2500" u="none" cap="none" strike="noStrike">
                <a:solidFill>
                  <a:srgbClr val="1155C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Niveau d’atteinte des objectifs du PAO 2025</a:t>
            </a:r>
            <a:r>
              <a:rPr b="0" i="0" lang="en-US" sz="2500" u="none" cap="none" strike="noStrike">
                <a:solidFill>
                  <a:srgbClr val="1155C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| </a:t>
            </a:r>
            <a:r>
              <a:rPr lang="en-US" sz="2500">
                <a:solidFill>
                  <a:srgbClr val="1155C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Gouvernance, Planification,  financement et RH</a:t>
            </a:r>
            <a:endParaRPr b="0" i="0" sz="2500" u="none" cap="none" strike="noStrike">
              <a:solidFill>
                <a:srgbClr val="1155CC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337" name="Google Shape;337;g3a7c546b70d_0_259"/>
          <p:cNvSpPr/>
          <p:nvPr/>
        </p:nvSpPr>
        <p:spPr>
          <a:xfrm>
            <a:off x="0" y="272241"/>
            <a:ext cx="235500" cy="655200"/>
          </a:xfrm>
          <a:prstGeom prst="rect">
            <a:avLst/>
          </a:prstGeom>
          <a:solidFill>
            <a:srgbClr val="1155CC"/>
          </a:solidFill>
          <a:ln>
            <a:noFill/>
          </a:ln>
        </p:spPr>
        <p:txBody>
          <a:bodyPr anchorCtr="0" anchor="ctr" bIns="91400" lIns="91400" spcFirstLastPara="1" rIns="91400" wrap="square" tIns="914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r>
              <a:t/>
            </a:r>
            <a:endParaRPr b="0" i="0" sz="1900" u="none" cap="none" strike="noStrike">
              <a:solidFill>
                <a:srgbClr val="0070C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338" name="Google Shape;338;g3a7c546b70d_0_259"/>
          <p:cNvSpPr txBox="1"/>
          <p:nvPr/>
        </p:nvSpPr>
        <p:spPr>
          <a:xfrm>
            <a:off x="267700" y="6492843"/>
            <a:ext cx="114147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12190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t/>
            </a:r>
            <a:endParaRPr b="1" i="0" sz="1200" u="none" cap="none" strike="noStrike">
              <a:solidFill>
                <a:srgbClr val="1155CC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339" name="Google Shape;339;g3a7c546b70d_0_259"/>
          <p:cNvSpPr txBox="1"/>
          <p:nvPr/>
        </p:nvSpPr>
        <p:spPr>
          <a:xfrm>
            <a:off x="11658600" y="6496067"/>
            <a:ext cx="228300" cy="16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-US" sz="1200" u="none" cap="none" strike="noStrike">
                <a:solidFill>
                  <a:srgbClr val="1155CC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rgbClr val="1155C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340" name="Google Shape;340;g3a7c546b70d_0_259"/>
          <p:cNvCxnSpPr/>
          <p:nvPr/>
        </p:nvCxnSpPr>
        <p:spPr>
          <a:xfrm>
            <a:off x="267700" y="6427967"/>
            <a:ext cx="11640300" cy="0"/>
          </a:xfrm>
          <a:prstGeom prst="straightConnector1">
            <a:avLst/>
          </a:prstGeom>
          <a:noFill/>
          <a:ln cap="flat" cmpd="sng" w="9525">
            <a:solidFill>
              <a:srgbClr val="9E9E9E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41" name="Google Shape;341;g3a7c546b70d_0_259"/>
          <p:cNvSpPr txBox="1"/>
          <p:nvPr/>
        </p:nvSpPr>
        <p:spPr>
          <a:xfrm>
            <a:off x="267700" y="6492843"/>
            <a:ext cx="114147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12190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155CC"/>
              </a:buClr>
              <a:buSzPts val="1200"/>
              <a:buFont typeface="Times New Roman"/>
              <a:buNone/>
            </a:pPr>
            <a:r>
              <a:rPr b="1" i="0" lang="en-US" sz="1200" u="none" cap="none" strike="noStrike">
                <a:solidFill>
                  <a:srgbClr val="1155C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Revue annuelle PEV 2025</a:t>
            </a:r>
            <a:endParaRPr b="1" i="0" sz="1200" u="none" cap="none" strike="noStrike">
              <a:solidFill>
                <a:srgbClr val="1155CC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graphicFrame>
        <p:nvGraphicFramePr>
          <p:cNvPr id="342" name="Google Shape;342;g3a7c546b70d_0_259"/>
          <p:cNvGraphicFramePr/>
          <p:nvPr/>
        </p:nvGraphicFramePr>
        <p:xfrm>
          <a:off x="458580" y="112331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{CD789E3B-FF50-42BA-A358-828BAFD84ED0}</a:tableStyleId>
              </a:tblPr>
              <a:tblGrid>
                <a:gridCol w="3641500"/>
                <a:gridCol w="2283500"/>
                <a:gridCol w="1097650"/>
                <a:gridCol w="4252250"/>
              </a:tblGrid>
              <a:tr h="2978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800" u="none" cap="none" strike="noStrike">
                          <a:solidFill>
                            <a:schemeClr val="lt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Objectif / Résultat attendu</a:t>
                      </a:r>
                      <a:endParaRPr b="1" sz="1800" u="none" cap="none" strike="noStrike">
                        <a:solidFill>
                          <a:schemeClr val="lt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91425" marB="91425" marR="91425" marL="91425" anchor="ctr">
                    <a:lnL cap="flat" cmpd="sng" w="1270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155C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chemeClr val="lt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91425" marB="91425" marR="91425" marL="91425" anchor="ctr">
                    <a:lnL cap="flat" cmpd="sng" w="1270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155C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800" u="none" cap="none" strike="noStrike">
                          <a:solidFill>
                            <a:schemeClr val="lt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Résultats 2024</a:t>
                      </a:r>
                      <a:endParaRPr b="1" sz="1800" u="none" cap="none" strike="noStrike">
                        <a:solidFill>
                          <a:schemeClr val="lt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91425" marB="91425" marR="91425" marL="91425" anchor="ctr">
                    <a:lnL cap="flat" cmpd="sng" w="1270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155C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800" u="none" cap="none" strike="noStrike">
                          <a:solidFill>
                            <a:schemeClr val="lt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Résultats 2025</a:t>
                      </a:r>
                      <a:endParaRPr b="1" sz="1800" u="none" cap="none" strike="noStrike">
                        <a:solidFill>
                          <a:schemeClr val="lt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91425" marB="91425" marR="91425" marL="91425" anchor="ctr">
                    <a:lnL cap="flat" cmpd="sng" w="1270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155CC"/>
                    </a:solidFill>
                  </a:tcPr>
                </a:tc>
              </a:tr>
              <a:tr h="847400">
                <a:tc rowSpan="2">
                  <a:txBody>
                    <a:bodyPr/>
                    <a:lstStyle/>
                    <a:p>
                      <a:pPr indent="0" lvl="0" marL="0" rtl="0" algn="l">
                        <a:lnSpc>
                          <a:spcPct val="11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Renforcer le leadership du Ministère de la Santé dans la gouvernance vaccinale</a:t>
                      </a:r>
                      <a:endParaRPr sz="1800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91425" marB="91425" marR="91425" marL="91425" anchor="ctr">
                    <a:lnL cap="flat" cmpd="sng" w="1270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% réunion CCPeV stratégique tenues</a:t>
                      </a:r>
                      <a:endParaRPr sz="18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0" marB="0" marR="0" marL="0" anchor="ctr">
                    <a:lnL cap="flat" cmpd="sng" w="1270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 </a:t>
                      </a:r>
                      <a:endParaRPr sz="18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91425" marB="91425" marR="91425" marL="91425" anchor="ctr">
                    <a:lnL cap="flat" cmpd="sng" w="1270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2 sur 3 (66.6%)</a:t>
                      </a:r>
                      <a:endParaRPr sz="18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91425" marB="91425" marR="91425" marL="91425" anchor="ctr">
                    <a:lnL cap="flat" cmpd="sng" w="1270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00"/>
                    </a:solidFill>
                  </a:tcPr>
                </a:tc>
              </a:tr>
              <a:tr h="847400">
                <a:tc vMerge="1"/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% réunion CCPeV technique tenues</a:t>
                      </a:r>
                      <a:endParaRPr sz="18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0" marB="0" marR="0" marL="0" anchor="ctr">
                    <a:lnL cap="flat" cmpd="sng" w="1270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91425" marB="91425" marR="91425" marL="91425" anchor="ctr">
                    <a:lnL cap="flat" cmpd="sng" w="1270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Font typeface="Arial"/>
                        <a:buNone/>
                      </a:pPr>
                      <a:r>
                        <a:rPr lang="en-US" sz="1600"/>
                        <a:t>3 sur 7 (42.8%)</a:t>
                      </a:r>
                      <a:endParaRPr sz="18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91425" marB="91425" marR="91425" marL="91425" anchor="ctr">
                    <a:lnL cap="flat" cmpd="sng" w="1270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0000"/>
                    </a:solidFill>
                  </a:tcPr>
                </a:tc>
              </a:tr>
              <a:tr h="5950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Accroître le financement domestique de 2 à 3% du budget santé alloué à la vaccination</a:t>
                      </a:r>
                      <a:endParaRPr sz="18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91425" marB="91425" marR="91425" marL="91425" anchor="ctr">
                    <a:lnL cap="flat" cmpd="sng" w="1270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% budget santé alloué au PEV</a:t>
                      </a:r>
                      <a:endParaRPr sz="18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0" marB="0" marR="0" marL="0" anchor="ctr">
                    <a:lnL cap="flat" cmpd="sng" w="1270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 102 539</a:t>
                      </a:r>
                      <a:endParaRPr sz="18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91425" marB="91425" marR="91425" marL="91425" anchor="ctr">
                    <a:lnL cap="flat" cmpd="sng" w="1270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342900" lvl="0" marL="457200" marR="0" rtl="0" algn="l">
                        <a:lnSpc>
                          <a:spcPct val="11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SzPts val="1800"/>
                        <a:buFont typeface="Times New Roman"/>
                        <a:buChar char="●"/>
                      </a:pPr>
                      <a:r>
                        <a:rPr lang="en-US" sz="18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Reçus 9.021.589,00$</a:t>
                      </a:r>
                      <a:endParaRPr sz="18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  <a:p>
                      <a:pPr indent="-342900" lvl="0" marL="457200" marR="0" rtl="0" algn="l">
                        <a:lnSpc>
                          <a:spcPct val="11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SzPts val="1800"/>
                        <a:buFont typeface="Times New Roman"/>
                        <a:buChar char="●"/>
                      </a:pPr>
                      <a:r>
                        <a:rPr lang="en-US" sz="18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Taux décaissement (50%)   </a:t>
                      </a:r>
                      <a:endParaRPr sz="18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91425" marB="91425" marR="91425" marL="91425" anchor="ctr">
                    <a:lnL cap="flat" cmpd="sng" w="1270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00"/>
                    </a:solidFill>
                  </a:tcPr>
                </a:tc>
              </a:tr>
              <a:tr h="5950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Renforcer les capacités managériales des RH dédiées à la vaccination</a:t>
                      </a:r>
                      <a:endParaRPr sz="18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91425" marB="91425" marR="91425" marL="91425" anchor="ctr">
                    <a:lnL cap="flat" cmpd="sng" w="1270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% gestionnaires ayant reçu formation managériale</a:t>
                      </a:r>
                      <a:endParaRPr sz="18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0" marB="0" marR="0" marL="0" anchor="ctr">
                    <a:lnL cap="flat" cmpd="sng" w="1270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8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91425" marB="91425" marR="91425" marL="91425" anchor="ctr">
                    <a:lnL cap="flat" cmpd="sng" w="1270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8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91425" marB="91425" marR="91425" marL="91425" anchor="ctr">
                    <a:lnL cap="flat" cmpd="sng" w="1270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000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6" name="Shape 3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7" name="Google Shape;347;g3a7c546b70d_0_270"/>
          <p:cNvSpPr txBox="1"/>
          <p:nvPr/>
        </p:nvSpPr>
        <p:spPr>
          <a:xfrm>
            <a:off x="458592" y="317941"/>
            <a:ext cx="11274900" cy="384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500"/>
              <a:buFont typeface="Arial"/>
              <a:buNone/>
            </a:pPr>
            <a:r>
              <a:rPr b="1" lang="en-US" sz="2500">
                <a:solidFill>
                  <a:srgbClr val="1155C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Niveau d’atteinte des objectifs du PAO 2025</a:t>
            </a:r>
            <a:r>
              <a:rPr lang="en-US" sz="2500">
                <a:solidFill>
                  <a:srgbClr val="1155C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| Surveillance</a:t>
            </a:r>
            <a:endParaRPr b="0" i="0" sz="2500" u="none" cap="none" strike="noStrike">
              <a:solidFill>
                <a:srgbClr val="1155CC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348" name="Google Shape;348;g3a7c546b70d_0_270"/>
          <p:cNvSpPr/>
          <p:nvPr/>
        </p:nvSpPr>
        <p:spPr>
          <a:xfrm>
            <a:off x="0" y="272241"/>
            <a:ext cx="235500" cy="655200"/>
          </a:xfrm>
          <a:prstGeom prst="rect">
            <a:avLst/>
          </a:prstGeom>
          <a:solidFill>
            <a:srgbClr val="1155CC"/>
          </a:solidFill>
          <a:ln>
            <a:noFill/>
          </a:ln>
        </p:spPr>
        <p:txBody>
          <a:bodyPr anchorCtr="0" anchor="ctr" bIns="91400" lIns="91400" spcFirstLastPara="1" rIns="91400" wrap="square" tIns="914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r>
              <a:t/>
            </a:r>
            <a:endParaRPr b="0" i="0" sz="1900" u="none" cap="none" strike="noStrike">
              <a:solidFill>
                <a:srgbClr val="0070C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349" name="Google Shape;349;g3a7c546b70d_0_270"/>
          <p:cNvSpPr txBox="1"/>
          <p:nvPr/>
        </p:nvSpPr>
        <p:spPr>
          <a:xfrm>
            <a:off x="267700" y="6492843"/>
            <a:ext cx="114147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12190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t/>
            </a:r>
            <a:endParaRPr b="1" i="0" sz="1200" u="none" cap="none" strike="noStrike">
              <a:solidFill>
                <a:srgbClr val="1155CC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350" name="Google Shape;350;g3a7c546b70d_0_270"/>
          <p:cNvSpPr txBox="1"/>
          <p:nvPr/>
        </p:nvSpPr>
        <p:spPr>
          <a:xfrm>
            <a:off x="11658600" y="6496067"/>
            <a:ext cx="228300" cy="16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-US" sz="1200" u="none" cap="none" strike="noStrike">
                <a:solidFill>
                  <a:srgbClr val="1155CC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rgbClr val="1155C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351" name="Google Shape;351;g3a7c546b70d_0_270"/>
          <p:cNvCxnSpPr/>
          <p:nvPr/>
        </p:nvCxnSpPr>
        <p:spPr>
          <a:xfrm>
            <a:off x="267700" y="6427967"/>
            <a:ext cx="11640300" cy="0"/>
          </a:xfrm>
          <a:prstGeom prst="straightConnector1">
            <a:avLst/>
          </a:prstGeom>
          <a:noFill/>
          <a:ln cap="flat" cmpd="sng" w="9525">
            <a:solidFill>
              <a:srgbClr val="9E9E9E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52" name="Google Shape;352;g3a7c546b70d_0_270"/>
          <p:cNvSpPr txBox="1"/>
          <p:nvPr/>
        </p:nvSpPr>
        <p:spPr>
          <a:xfrm>
            <a:off x="267700" y="6492843"/>
            <a:ext cx="114147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12190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155CC"/>
              </a:buClr>
              <a:buSzPts val="1200"/>
              <a:buFont typeface="Times New Roman"/>
              <a:buNone/>
            </a:pPr>
            <a:r>
              <a:rPr b="1" i="0" lang="en-US" sz="1200" u="none" cap="none" strike="noStrike">
                <a:solidFill>
                  <a:srgbClr val="1155C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Revue annuelle PEV 2025</a:t>
            </a:r>
            <a:endParaRPr b="1" i="0" sz="1200" u="none" cap="none" strike="noStrike">
              <a:solidFill>
                <a:srgbClr val="1155CC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graphicFrame>
        <p:nvGraphicFramePr>
          <p:cNvPr id="353" name="Google Shape;353;g3a7c546b70d_0_270"/>
          <p:cNvGraphicFramePr/>
          <p:nvPr/>
        </p:nvGraphicFramePr>
        <p:xfrm>
          <a:off x="458580" y="112331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{CD789E3B-FF50-42BA-A358-828BAFD84ED0}</a:tableStyleId>
              </a:tblPr>
              <a:tblGrid>
                <a:gridCol w="3641500"/>
                <a:gridCol w="2283500"/>
                <a:gridCol w="1097650"/>
                <a:gridCol w="4252250"/>
              </a:tblGrid>
              <a:tr h="2978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800" u="none" cap="none" strike="noStrike">
                          <a:solidFill>
                            <a:schemeClr val="lt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Objectif / Résultat attendu</a:t>
                      </a:r>
                      <a:endParaRPr b="1" sz="1800" u="none" cap="none" strike="noStrike">
                        <a:solidFill>
                          <a:schemeClr val="lt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91425" marB="91425" marR="91425" marL="91425" anchor="ctr">
                    <a:lnL cap="flat" cmpd="sng" w="1270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155C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chemeClr val="lt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91425" marB="91425" marR="91425" marL="91425" anchor="ctr">
                    <a:lnL cap="flat" cmpd="sng" w="1270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155C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800" u="none" cap="none" strike="noStrike">
                          <a:solidFill>
                            <a:schemeClr val="lt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Résultats 2024</a:t>
                      </a:r>
                      <a:endParaRPr b="1" sz="1800" u="none" cap="none" strike="noStrike">
                        <a:solidFill>
                          <a:schemeClr val="lt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91425" marB="91425" marR="91425" marL="91425" anchor="ctr">
                    <a:lnL cap="flat" cmpd="sng" w="1270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155C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800" u="none" cap="none" strike="noStrike">
                          <a:solidFill>
                            <a:schemeClr val="lt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Résultats 2025</a:t>
                      </a:r>
                      <a:endParaRPr b="1" sz="1800" u="none" cap="none" strike="noStrike">
                        <a:solidFill>
                          <a:schemeClr val="lt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91425" marB="91425" marR="91425" marL="91425" anchor="ctr">
                    <a:lnL cap="flat" cmpd="sng" w="1270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155CC"/>
                    </a:solidFill>
                  </a:tcPr>
                </a:tc>
              </a:tr>
              <a:tr h="847400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Réduire les provinces en retard sur ≥2 indicateurs &lt; 20% PFA</a:t>
                      </a:r>
                      <a:endParaRPr sz="1800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91425" marB="91425" marR="91425" marL="91425" anchor="ctr">
                    <a:lnL cap="flat" cmpd="sng" w="1270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% provinces sous-performantes</a:t>
                      </a:r>
                      <a:endParaRPr sz="18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0" marB="0" marR="0" marL="0" anchor="ctr">
                    <a:lnL cap="flat" cmpd="sng" w="1270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 19%</a:t>
                      </a:r>
                      <a:endParaRPr sz="18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91425" marB="91425" marR="91425" marL="91425" anchor="ctr">
                    <a:lnL cap="flat" cmpd="sng" w="1270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26.9%</a:t>
                      </a:r>
                      <a:endParaRPr sz="18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91425" marB="91425" marR="91425" marL="91425" anchor="ctr">
                    <a:lnL cap="flat" cmpd="sng" w="1270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00"/>
                    </a:solidFill>
                  </a:tcPr>
                </a:tc>
              </a:tr>
              <a:tr h="5950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Investiguer 100% des cas TNN notifiés</a:t>
                      </a:r>
                      <a:endParaRPr sz="18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91425" marB="91425" marR="91425" marL="91425" anchor="ctr">
                    <a:lnL cap="flat" cmpd="sng" w="1270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% cas TNN investigués</a:t>
                      </a:r>
                      <a:endParaRPr sz="18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0" marB="0" marR="0" marL="0" anchor="ctr">
                    <a:lnL cap="flat" cmpd="sng" w="1270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 102 539</a:t>
                      </a:r>
                      <a:endParaRPr sz="18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91425" marB="91425" marR="91425" marL="91425" anchor="ctr">
                    <a:lnL cap="flat" cmpd="sng" w="1270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22%</a:t>
                      </a:r>
                      <a:endParaRPr sz="18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91425" marB="91425" marR="91425" marL="91425" anchor="ctr">
                    <a:lnL cap="flat" cmpd="sng" w="1270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00"/>
                    </a:solidFill>
                  </a:tcPr>
                </a:tc>
              </a:tr>
              <a:tr h="5950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Investiguer 100% des MAPI graves notifiés</a:t>
                      </a:r>
                      <a:endParaRPr sz="18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91425" marB="91425" marR="91425" marL="91425" anchor="ctr">
                    <a:lnL cap="flat" cmpd="sng" w="1270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% de MAPI graves investigués</a:t>
                      </a:r>
                      <a:endParaRPr sz="18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0" marB="0" marR="0" marL="0" anchor="ctr">
                    <a:lnL cap="flat" cmpd="sng" w="1270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-US" sz="18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22%</a:t>
                      </a:r>
                      <a:endParaRPr sz="18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91425" marB="91425" marR="91425" marL="91425" anchor="ctr">
                    <a:lnL cap="flat" cmpd="sng" w="1270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-US" sz="18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22 cas sur 47cas ( 47%)</a:t>
                      </a:r>
                      <a:endParaRPr sz="18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91425" marB="91425" marR="91425" marL="91425" anchor="ctr">
                    <a:lnL cap="flat" cmpd="sng" w="1270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000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accent1"/>
        </a:solidFill>
      </p:bgPr>
    </p:bg>
    <p:spTree>
      <p:nvGrpSpPr>
        <p:cNvPr id="357" name="Shape 3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Google Shape;358;g3a7c50a7b14_0_585"/>
          <p:cNvSpPr txBox="1"/>
          <p:nvPr>
            <p:ph type="title"/>
          </p:nvPr>
        </p:nvSpPr>
        <p:spPr>
          <a:xfrm>
            <a:off x="241100" y="2655367"/>
            <a:ext cx="11360700" cy="1219500"/>
          </a:xfrm>
          <a:prstGeom prst="rect">
            <a:avLst/>
          </a:prstGeom>
          <a:noFill/>
          <a:ln>
            <a:noFill/>
          </a:ln>
        </p:spPr>
        <p:txBody>
          <a:bodyPr anchorCtr="0" anchor="t" bIns="121900" lIns="121900" spcFirstLastPara="1" rIns="121900" wrap="square" tIns="1219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</a:pPr>
            <a:r>
              <a:rPr b="1" lang="en-US" sz="80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Niveau de mise en oeuvre des activités du PAO 2025</a:t>
            </a:r>
            <a:endParaRPr b="1" sz="800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</a:pPr>
            <a:r>
              <a:t/>
            </a:r>
            <a:endParaRPr b="1" sz="800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62" name="Shape 3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3" name="Google Shape;363;g3a7c50a7b14_2_32"/>
          <p:cNvSpPr txBox="1"/>
          <p:nvPr/>
        </p:nvSpPr>
        <p:spPr>
          <a:xfrm>
            <a:off x="458592" y="317941"/>
            <a:ext cx="11274900" cy="827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500"/>
              <a:buFont typeface="Arial"/>
              <a:buNone/>
            </a:pPr>
            <a:r>
              <a:rPr b="1" i="0" lang="en-US" sz="2500" u="none" cap="none" strike="noStrike">
                <a:solidFill>
                  <a:srgbClr val="1155C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Niveau de mise en oeuvre des activités du PAO 2025</a:t>
            </a:r>
            <a:r>
              <a:rPr b="0" i="0" lang="en-US" sz="2500" u="none" cap="none" strike="noStrike">
                <a:solidFill>
                  <a:srgbClr val="1155C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| Aperçu </a:t>
            </a:r>
            <a:r>
              <a:rPr lang="en-US" sz="2500">
                <a:solidFill>
                  <a:srgbClr val="1155C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du budget pour la mise en oeuvre du PAO 2025</a:t>
            </a:r>
            <a:endParaRPr b="0" i="0" sz="2500" u="none" cap="none" strike="noStrike">
              <a:solidFill>
                <a:srgbClr val="1155CC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364" name="Google Shape;364;g3a7c50a7b14_2_32"/>
          <p:cNvSpPr/>
          <p:nvPr/>
        </p:nvSpPr>
        <p:spPr>
          <a:xfrm>
            <a:off x="0" y="272241"/>
            <a:ext cx="235500" cy="655200"/>
          </a:xfrm>
          <a:prstGeom prst="rect">
            <a:avLst/>
          </a:prstGeom>
          <a:solidFill>
            <a:srgbClr val="1155CC"/>
          </a:solidFill>
          <a:ln>
            <a:noFill/>
          </a:ln>
        </p:spPr>
        <p:txBody>
          <a:bodyPr anchorCtr="0" anchor="ctr" bIns="91400" lIns="91400" spcFirstLastPara="1" rIns="91400" wrap="square" tIns="914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r>
              <a:t/>
            </a:r>
            <a:endParaRPr b="0" i="0" sz="1900" u="none" cap="none" strike="noStrike">
              <a:solidFill>
                <a:srgbClr val="0070C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365" name="Google Shape;365;g3a7c50a7b14_2_32"/>
          <p:cNvSpPr txBox="1"/>
          <p:nvPr/>
        </p:nvSpPr>
        <p:spPr>
          <a:xfrm>
            <a:off x="267700" y="6492843"/>
            <a:ext cx="114147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12190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t/>
            </a:r>
            <a:endParaRPr b="1" i="0" sz="1200" u="none" cap="none" strike="noStrike">
              <a:solidFill>
                <a:srgbClr val="1155CC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366" name="Google Shape;366;g3a7c50a7b14_2_32"/>
          <p:cNvSpPr txBox="1"/>
          <p:nvPr/>
        </p:nvSpPr>
        <p:spPr>
          <a:xfrm>
            <a:off x="11658600" y="6496067"/>
            <a:ext cx="228300" cy="16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-US" sz="1200" u="none" cap="none" strike="noStrike">
                <a:solidFill>
                  <a:srgbClr val="1155CC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rgbClr val="1155C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367" name="Google Shape;367;g3a7c50a7b14_2_32"/>
          <p:cNvCxnSpPr/>
          <p:nvPr/>
        </p:nvCxnSpPr>
        <p:spPr>
          <a:xfrm>
            <a:off x="267700" y="6427967"/>
            <a:ext cx="11640300" cy="0"/>
          </a:xfrm>
          <a:prstGeom prst="straightConnector1">
            <a:avLst/>
          </a:prstGeom>
          <a:noFill/>
          <a:ln cap="flat" cmpd="sng" w="9525">
            <a:solidFill>
              <a:srgbClr val="9E9E9E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68" name="Google Shape;368;g3a7c50a7b14_2_32"/>
          <p:cNvSpPr txBox="1"/>
          <p:nvPr/>
        </p:nvSpPr>
        <p:spPr>
          <a:xfrm>
            <a:off x="267700" y="6492843"/>
            <a:ext cx="114147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12190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155CC"/>
              </a:buClr>
              <a:buSzPts val="1200"/>
              <a:buFont typeface="Times New Roman"/>
              <a:buNone/>
            </a:pPr>
            <a:r>
              <a:rPr b="1" i="0" lang="en-US" sz="1200" u="none" cap="none" strike="noStrike">
                <a:solidFill>
                  <a:srgbClr val="1155C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Revue annuelle PEV 2025</a:t>
            </a:r>
            <a:endParaRPr b="1" i="0" sz="1200" u="none" cap="none" strike="noStrike">
              <a:solidFill>
                <a:srgbClr val="1155CC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graphicFrame>
        <p:nvGraphicFramePr>
          <p:cNvPr id="369" name="Google Shape;369;g3a7c50a7b14_2_32"/>
          <p:cNvGraphicFramePr/>
          <p:nvPr/>
        </p:nvGraphicFramePr>
        <p:xfrm>
          <a:off x="508120" y="1423088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{EB624210-9165-4350-9EDD-DD9B9CECAD3B}</a:tableStyleId>
              </a:tblPr>
              <a:tblGrid>
                <a:gridCol w="1800150"/>
                <a:gridCol w="1615425"/>
                <a:gridCol w="1576875"/>
                <a:gridCol w="1309850"/>
                <a:gridCol w="1442950"/>
                <a:gridCol w="1282650"/>
                <a:gridCol w="2247000"/>
              </a:tblGrid>
              <a:tr h="3746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b="1" lang="en-US" sz="15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Source de financement</a:t>
                      </a:r>
                      <a:endParaRPr b="1" sz="15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19050" marB="19050" marR="91425" marL="91425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b="1" lang="en-US" sz="15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Fonds</a:t>
                      </a:r>
                      <a:r>
                        <a:rPr b="1" lang="en-US" sz="15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 reçus </a:t>
                      </a:r>
                      <a:endParaRPr b="1" sz="15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19050" marB="19050" marR="91425" marL="91425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b="1" lang="en-US" sz="15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Décaissement</a:t>
                      </a:r>
                      <a:endParaRPr b="1" sz="15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19050" marB="19050" marR="91425" marL="91425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b="1" lang="en-US" sz="15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Taux décaissement</a:t>
                      </a:r>
                      <a:endParaRPr b="1" sz="15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19050" marB="19050" marR="91425" marL="91425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b="1" lang="en-US" sz="15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Dépenses</a:t>
                      </a:r>
                      <a:endParaRPr b="1" sz="15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19050" marB="19050" marR="91425" marL="91425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b="1" lang="en-US" sz="15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Tx d’absorption</a:t>
                      </a:r>
                      <a:endParaRPr b="1" sz="15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19050" marB="19050" marR="91425" marL="91425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b="1" lang="en-US" sz="15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Observation</a:t>
                      </a:r>
                      <a:endParaRPr sz="15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t/>
                      </a:r>
                      <a:endParaRPr b="1" sz="15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19050" marB="19050" marR="91425" marL="91425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746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i="0" lang="en-US" sz="1500" u="none" cap="none" strike="noStrik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Gouvernement</a:t>
                      </a:r>
                      <a:endParaRPr sz="15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91425" marL="91425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FEFE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US" sz="1500" u="none" cap="none" strike="noStrik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18.043.178,00</a:t>
                      </a:r>
                      <a:endParaRPr sz="1500" u="none" cap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19050" marB="19050" marR="91425" marL="91425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FEFE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i="0" lang="en-US" sz="1500" u="none" cap="none" strike="noStrik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     9.021.589,00    </a:t>
                      </a:r>
                      <a:endParaRPr sz="15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91425" marL="91425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FEFE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b="1" lang="en-US" sz="15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50%</a:t>
                      </a:r>
                      <a:endParaRPr b="1" sz="15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19050" marB="19050" marR="91425" marL="91425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FEFE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i="0" lang="en-US" sz="1500" u="none" cap="none" strike="noStrik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9 021 589,00 </a:t>
                      </a:r>
                      <a:endParaRPr sz="15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19050" marB="19050" marR="91425" marL="91425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FEFE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b="1" lang="en-US" sz="1500" u="none" cap="none" strike="noStrik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100%</a:t>
                      </a:r>
                      <a:endParaRPr b="1" sz="1500" u="none" cap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19050" marB="19050" marR="91425" marL="91425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FEFE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38761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i="0" lang="en-US" sz="1500" u="none" cap="none" strike="noStrik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Données Au 30/11/2025</a:t>
                      </a:r>
                      <a:endParaRPr i="0" sz="1500" u="none" cap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19050" marB="19050" marR="91425" marL="91425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FEFE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63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i="0" lang="en-US" sz="1500" u="none" cap="none" strike="noStrik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CAGF</a:t>
                      </a:r>
                      <a:endParaRPr i="0" sz="1500" u="none" cap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91425" marL="91425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FEFE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FEFE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i="0" lang="en-US" sz="1500" u="none" cap="none" strike="noStrik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76.917.674,00</a:t>
                      </a:r>
                      <a:endParaRPr sz="15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19050" marB="19050" marR="91425" marL="91425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FEFE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FEFE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i="0" lang="en-US" sz="1500" u="none" cap="none" strike="noStrik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61.176.929,00        </a:t>
                      </a:r>
                      <a:endParaRPr i="0" sz="1500" u="none" cap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91425" marL="91425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FEFE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FEFE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b="1" lang="en-US" sz="15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80%</a:t>
                      </a:r>
                      <a:endParaRPr b="1" sz="15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19050" marB="19050" marR="91425" marL="91425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FEFE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FEFE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38761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i="0" lang="en-US" sz="1500" u="none" cap="none" strike="noStrik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44.060.693,00</a:t>
                      </a:r>
                      <a:endParaRPr i="0" sz="1500" u="none" cap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19050" marB="19050" marR="91425" marL="91425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FEFE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FEFE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b="1" lang="en-US" sz="1500" u="none" cap="none" strike="noStrik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72%</a:t>
                      </a:r>
                      <a:endParaRPr b="1" sz="1500" u="none" cap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19050" marB="19050" marR="91425" marL="91425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FEFE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FEFE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i="0" lang="en-US" sz="1500" u="none" cap="none" strike="noStrik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Données Au 30/11/2025</a:t>
                      </a:r>
                      <a:endParaRPr i="0" sz="1500" u="none" cap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19050" marB="19050" marR="91425" marL="91425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FEFE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FEFE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091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i="0" lang="en-US" sz="1500" u="none" cap="none" strike="noStrik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OMS</a:t>
                      </a:r>
                      <a:endParaRPr sz="15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91425" marL="91425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FEFE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FEFE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US" sz="15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139.188.542,00</a:t>
                      </a:r>
                      <a:endParaRPr sz="15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19050" marB="19050" marR="91425" marL="91425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FEFE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FEFE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i="0" lang="en-US" sz="1500" u="none" cap="none" strike="noStrik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107.899.341,84    </a:t>
                      </a:r>
                      <a:endParaRPr sz="15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91425" marL="91425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FEFE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FEFE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b="1" lang="en-US" sz="15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78%</a:t>
                      </a:r>
                      <a:endParaRPr b="1" sz="15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19050" marB="19050" marR="91425" marL="91425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FEFE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FEFE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04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i="0" lang="en-US" sz="1500" u="none" cap="none" strike="noStrik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96.260.561,11</a:t>
                      </a:r>
                      <a:endParaRPr sz="15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19050" marB="19050" marR="91425" marL="91425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FEFE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FEFE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b="1" i="0" lang="en-US" sz="1500" u="none" cap="none" strike="noStrik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89%</a:t>
                      </a:r>
                      <a:endParaRPr b="1" i="0" sz="1500" u="none" cap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19050" marB="19050" marR="91425" marL="91425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FEFE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FEFE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38761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i="0" lang="en-US" sz="1500" u="none" cap="none" strike="noStrik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Données Au 31/10/2025</a:t>
                      </a:r>
                      <a:endParaRPr i="0" sz="1500" u="none" cap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19050" marB="19050" marR="91425" marL="91425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FEFE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FEFE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452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i="0" lang="en-US" sz="1500" u="none" cap="none" strike="noStrik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UNICEF</a:t>
                      </a:r>
                      <a:endParaRPr sz="15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91425" marL="91425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FEFE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FEFE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US" sz="15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21.055.716,00</a:t>
                      </a:r>
                      <a:endParaRPr sz="15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19050" marB="19050" marR="91425" marL="91425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FEFE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FEFE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US" sz="15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16.410.849,78</a:t>
                      </a:r>
                      <a:endParaRPr sz="15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19050" marB="19050" marR="91425" marL="91425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FEFE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FEFE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b="1" lang="en-US" sz="15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78%</a:t>
                      </a:r>
                      <a:endParaRPr b="1" sz="15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19050" marB="19050" marR="91425" marL="91425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FEFE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FEFE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04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US" sz="15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16.410.849,78</a:t>
                      </a:r>
                      <a:endParaRPr sz="15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19050" marB="19050" marR="91425" marL="91425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FEFE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FEFE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b="1" i="0" lang="en-US" sz="1500" u="none" cap="none" strike="noStrik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100%</a:t>
                      </a:r>
                      <a:endParaRPr b="1" i="0" sz="1500" u="none" cap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19050" marB="19050" marR="91425" marL="91425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FEFE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FEFE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38761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i="0" lang="en-US" sz="1500" u="none" cap="none" strike="noStrik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Données Au 31/10/2025</a:t>
                      </a:r>
                      <a:endParaRPr i="0" sz="1500" u="none" cap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FEFE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FEFE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909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i="0" lang="en-US" sz="1500" u="none" cap="none" strike="noStrik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SANRU</a:t>
                      </a:r>
                      <a:endParaRPr i="0" sz="1500" u="none" cap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91425" marL="91425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FEFE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FEFE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US" sz="15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32.270.615,24</a:t>
                      </a:r>
                      <a:endParaRPr sz="15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19050" marB="19050" marR="91425" marL="91425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FEFE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FEFE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US" sz="15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30.167.155,88</a:t>
                      </a:r>
                      <a:endParaRPr sz="15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19050" marB="19050" marR="91425" marL="91425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FEFE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FEFE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b="1" lang="en-US" sz="15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99%</a:t>
                      </a:r>
                      <a:endParaRPr b="1" sz="15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19050" marB="19050" marR="91425" marL="91425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FEFE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FEFE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38761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i="0" lang="en-US" sz="1500" u="none" cap="none" strike="noStrik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27.145.494,256</a:t>
                      </a:r>
                      <a:endParaRPr i="0" sz="1500" u="none" cap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19050" marB="19050" marR="91425" marL="91425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FEFE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FEFE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b="1" lang="en-US" sz="15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84%</a:t>
                      </a:r>
                      <a:endParaRPr b="1" sz="15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19050" marB="19050" marR="91425" marL="91425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FEFE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FEFE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38761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i="0" lang="en-US" sz="1500" u="none" cap="none" strike="noStrik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Données Au 31/10/2025</a:t>
                      </a:r>
                      <a:endParaRPr i="0" sz="1500" u="none" cap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19050" marB="19050" marR="91425" marL="91425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FEFE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FEFE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455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i="0" lang="en-US" sz="1500" u="none" cap="none" strike="noStrik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PATH</a:t>
                      </a:r>
                      <a:endParaRPr sz="15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91425" marL="91425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FEFE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FEFE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i="0" lang="en-US" sz="1500" u="none" cap="none" strike="noStrik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11.089.810,00</a:t>
                      </a:r>
                      <a:endParaRPr i="0" sz="1500" u="none" cap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19050" marB="19050" marR="91425" marL="91425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FEFE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FEFE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US" sz="15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9.395.569,00</a:t>
                      </a:r>
                      <a:endParaRPr sz="15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19050" marB="19050" marR="91425" marL="91425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FEFE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FEFE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b="1" lang="en-US" sz="15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85%</a:t>
                      </a:r>
                      <a:endParaRPr b="1" sz="15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19050" marB="19050" marR="91425" marL="91425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FEFE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FEFE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38761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US" sz="15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9.395.569,00</a:t>
                      </a:r>
                      <a:endParaRPr sz="15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19050" marB="19050" marR="91425" marL="91425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FEFE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FEFE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b="1" lang="en-US" sz="15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100%</a:t>
                      </a:r>
                      <a:endParaRPr b="1" sz="15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19050" marB="19050" marR="91425" marL="91425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FEFE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FEFE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38761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i="0" lang="en-US" sz="1500" u="none" cap="none" strike="noStrik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Données Au 31/10/2025</a:t>
                      </a:r>
                      <a:endParaRPr i="0" sz="1500" u="none" cap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19050" marB="19050" marR="91425" marL="91425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FEFE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FEFE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734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5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Villagereach</a:t>
                      </a:r>
                      <a:endParaRPr sz="15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91425" marL="91425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FEFE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FEFE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i="0" lang="en-US" sz="1500" u="none" cap="none" strike="noStrik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12.876.119,05</a:t>
                      </a:r>
                      <a:endParaRPr sz="15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19050" marB="19050" marR="91425" marL="91425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FEFE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FEFE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US" sz="15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7.906.284,54</a:t>
                      </a:r>
                      <a:endParaRPr sz="15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19050" marB="19050" marR="91425" marL="91425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FEFE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FEFE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b="1" lang="en-US" sz="15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61%</a:t>
                      </a:r>
                      <a:endParaRPr b="1" sz="15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19050" marB="19050" marR="91425" marL="91425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FEFE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FEFE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US" sz="15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7.906.284,54</a:t>
                      </a:r>
                      <a:endParaRPr sz="15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19050" marB="19050" marR="91425" marL="91425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FEFE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FEFE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b="1" lang="en-US" sz="15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100%</a:t>
                      </a:r>
                      <a:endParaRPr b="1" sz="15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19050" marB="19050" marR="91425" marL="91425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FEFE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FEFE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38761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i="0" lang="en-US" sz="1500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Données Au 30/09/2025</a:t>
                      </a:r>
                      <a:endParaRPr i="0" sz="15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19050" marB="19050" marR="91425" marL="91425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FEFE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FEFE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211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i="0" lang="en-US" sz="1500" u="none" cap="none" strike="noStrik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UNOPS</a:t>
                      </a:r>
                      <a:endParaRPr i="0" sz="1500" u="none" cap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91425" marL="91425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FEFE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FEFE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i="0" lang="en-US" sz="1500" u="none" cap="none" strike="noStrik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14.069.727,63</a:t>
                      </a:r>
                      <a:endParaRPr i="0" sz="1500" u="none" cap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19050" marB="19050" marR="91425" marL="91425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FEFE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FEFE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i="0" lang="en-US" sz="1500" u="none" cap="none" strike="noStrik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14.069.637,64</a:t>
                      </a:r>
                      <a:endParaRPr i="0" sz="1500" u="none" cap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19050" marB="19050" marR="91425" marL="91425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FEFE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FEFE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b="1" i="0" lang="en-US" sz="1500" u="none" cap="none" strike="noStrik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100%</a:t>
                      </a:r>
                      <a:endParaRPr b="1" i="0" sz="1500" u="none" cap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19050" marB="19050" marR="91425" marL="91425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FEFE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FEFE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38761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i="0" lang="en-US" sz="1500" u="none" cap="none" strike="noStrik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13.487.289,00</a:t>
                      </a:r>
                      <a:endParaRPr i="0" sz="1500" u="none" cap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19050" marB="19050" marR="91425" marL="91425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FEFE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FEFE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b="1" i="0" lang="en-US" sz="1500" u="none" cap="none" strike="noStrik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96%</a:t>
                      </a:r>
                      <a:endParaRPr b="1" i="0" sz="1500" u="none" cap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19050" marB="19050" marR="91425" marL="91425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FEFE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FEFE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38761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i="0" lang="en-US" sz="1500" u="none" cap="none" strike="noStrik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Données Au 31/10/2025</a:t>
                      </a:r>
                      <a:endParaRPr i="0" sz="1500" u="none" cap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19050" marB="19050" marR="91425" marL="91425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FEFE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FEFE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54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i="0" lang="en-US" sz="1500" u="none" cap="none" strike="noStrik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CHAI</a:t>
                      </a:r>
                      <a:endParaRPr i="0" sz="1500" u="none" cap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91425" marL="91425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FEFE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i="0" lang="en-US" sz="1500" u="none" cap="none" strike="noStrik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1.612.438,19</a:t>
                      </a:r>
                      <a:endParaRPr i="0" sz="1500" u="none" cap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19050" marB="19050" marR="91425" marL="91425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FEFE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i="0" lang="en-US" sz="1500" u="none" cap="none" strike="noStrik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1.612.438,19</a:t>
                      </a:r>
                      <a:endParaRPr i="0" sz="1500" u="none" cap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19050" marB="19050" marR="91425" marL="91425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FEFE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b="1" i="0" lang="en-US" sz="1500" u="none" cap="none" strike="noStrik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100%</a:t>
                      </a:r>
                      <a:endParaRPr b="1" i="0" sz="1500" u="none" cap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19050" marB="19050" marR="91425" marL="91425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FEFE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38761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i="0" lang="en-US" sz="1500" u="none" cap="none" strike="noStrik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1.608.788,19</a:t>
                      </a:r>
                      <a:endParaRPr i="0" sz="1500" u="none" cap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19050" marB="19050" marR="91425" marL="91425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FEFE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b="1" i="0" lang="en-US" sz="1500" u="none" cap="none" strike="noStrik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99,8%</a:t>
                      </a:r>
                      <a:endParaRPr b="1" i="0" sz="1500" u="none" cap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19050" marB="19050" marR="91425" marL="91425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FEFE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38761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i="0" lang="en-US" sz="1500" u="none" cap="none" strike="noStrik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Données Au 31/10/2025</a:t>
                      </a:r>
                      <a:endParaRPr i="0" sz="1500" u="none" cap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19050" marB="19050" marR="91425" marL="91425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FEFE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50"/>
                        <a:buFont typeface="Arial"/>
                        <a:buNone/>
                      </a:pPr>
                      <a:r>
                        <a:rPr b="1" lang="en-US" sz="15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Total Général</a:t>
                      </a:r>
                      <a:endParaRPr b="1" sz="15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19050" marB="19050" marR="91425" marL="91425" anchor="ctr"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50"/>
                        <a:buFont typeface="Arial"/>
                        <a:buNone/>
                      </a:pPr>
                      <a:r>
                        <a:rPr b="1" lang="en-US" sz="15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327.604.801,41</a:t>
                      </a:r>
                      <a:endParaRPr b="1" sz="15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19050" marB="19050" marR="91425" marL="91425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50"/>
                        <a:buFont typeface="Arial"/>
                        <a:buNone/>
                      </a:pPr>
                      <a:r>
                        <a:rPr b="1" lang="en-US" sz="15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259.763.254,23</a:t>
                      </a:r>
                      <a:endParaRPr b="1" sz="15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19050" marB="19050" marR="91425" marL="91425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50"/>
                        <a:buFont typeface="Arial"/>
                        <a:buNone/>
                      </a:pPr>
                      <a:r>
                        <a:rPr b="1" lang="en-US" sz="15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79%</a:t>
                      </a:r>
                      <a:endParaRPr b="1" sz="15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19050" marB="19050" marR="91425" marL="91425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50"/>
                        <a:buFont typeface="Arial"/>
                        <a:buNone/>
                      </a:pPr>
                      <a:r>
                        <a:rPr b="1" lang="en-US" sz="15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225.297.117,87</a:t>
                      </a:r>
                      <a:endParaRPr b="1" sz="15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19050" marB="19050" marR="91425" marL="91425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50"/>
                        <a:buFont typeface="Arial"/>
                        <a:buNone/>
                      </a:pPr>
                      <a:r>
                        <a:rPr b="1" lang="en-US" sz="15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87%</a:t>
                      </a:r>
                      <a:endParaRPr b="1" sz="15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19050" marB="19050" marR="91425" marL="91425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38761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50"/>
                        <a:buFont typeface="Arial"/>
                        <a:buNone/>
                      </a:pPr>
                      <a:r>
                        <a:t/>
                      </a:r>
                      <a:endParaRPr b="1" sz="15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19050" marB="19050" marR="91425" marL="91425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  <p:sp>
        <p:nvSpPr>
          <p:cNvPr id="370" name="Google Shape;370;g3a7c50a7b14_2_32"/>
          <p:cNvSpPr txBox="1"/>
          <p:nvPr/>
        </p:nvSpPr>
        <p:spPr>
          <a:xfrm>
            <a:off x="458600" y="5663800"/>
            <a:ext cx="11274900" cy="646500"/>
          </a:xfrm>
          <a:prstGeom prst="rect">
            <a:avLst/>
          </a:prstGeom>
          <a:solidFill>
            <a:srgbClr val="B1CDFB"/>
          </a:solidFill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lang="en-US" sz="1800">
                <a:latin typeface="Times New Roman"/>
                <a:ea typeface="Times New Roman"/>
                <a:cs typeface="Times New Roman"/>
                <a:sym typeface="Times New Roman"/>
              </a:rPr>
              <a:t>Le PEV a mobilisé les ressources </a:t>
            </a:r>
            <a:r>
              <a:rPr b="1" lang="en-US" sz="1800">
                <a:latin typeface="Times New Roman"/>
                <a:ea typeface="Times New Roman"/>
                <a:cs typeface="Times New Roman"/>
                <a:sym typeface="Times New Roman"/>
              </a:rPr>
              <a:t>nécessaires</a:t>
            </a:r>
            <a:r>
              <a:rPr b="1" lang="en-US" sz="1800">
                <a:latin typeface="Times New Roman"/>
                <a:ea typeface="Times New Roman"/>
                <a:cs typeface="Times New Roman"/>
                <a:sym typeface="Times New Roman"/>
              </a:rPr>
              <a:t> pour financer le PAO 2026, cependant le </a:t>
            </a:r>
            <a:r>
              <a:rPr b="1" lang="en-US" sz="1800">
                <a:latin typeface="Times New Roman"/>
                <a:ea typeface="Times New Roman"/>
                <a:cs typeface="Times New Roman"/>
                <a:sym typeface="Times New Roman"/>
              </a:rPr>
              <a:t>décaissement</a:t>
            </a:r>
            <a:r>
              <a:rPr b="1" lang="en-US" sz="1800">
                <a:latin typeface="Times New Roman"/>
                <a:ea typeface="Times New Roman"/>
                <a:cs typeface="Times New Roman"/>
                <a:sym typeface="Times New Roman"/>
              </a:rPr>
              <a:t> n’a pas ete fait a 100%</a:t>
            </a:r>
            <a:endParaRPr b="1" sz="180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4" name="Shape 3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5" name="Google Shape;375;g3a7c546b70d_0_913"/>
          <p:cNvSpPr txBox="1"/>
          <p:nvPr/>
        </p:nvSpPr>
        <p:spPr>
          <a:xfrm>
            <a:off x="458592" y="317941"/>
            <a:ext cx="11274900" cy="827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500"/>
              <a:buFont typeface="Arial"/>
              <a:buNone/>
            </a:pPr>
            <a:r>
              <a:rPr b="1" i="0" lang="en-US" sz="2500" u="none" cap="none" strike="noStrike">
                <a:solidFill>
                  <a:srgbClr val="1155C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Niveau de mise en oeuvre des activités du PAO 2025</a:t>
            </a:r>
            <a:r>
              <a:rPr b="0" i="0" lang="en-US" sz="2500" u="none" cap="none" strike="noStrike">
                <a:solidFill>
                  <a:srgbClr val="1155C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| Aperçu global de la mise en oeuvre des activités</a:t>
            </a:r>
            <a:endParaRPr b="0" i="0" sz="2500" u="none" cap="none" strike="noStrike">
              <a:solidFill>
                <a:srgbClr val="1155CC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376" name="Google Shape;376;g3a7c546b70d_0_913"/>
          <p:cNvSpPr/>
          <p:nvPr/>
        </p:nvSpPr>
        <p:spPr>
          <a:xfrm>
            <a:off x="0" y="272241"/>
            <a:ext cx="235500" cy="655200"/>
          </a:xfrm>
          <a:prstGeom prst="rect">
            <a:avLst/>
          </a:prstGeom>
          <a:solidFill>
            <a:srgbClr val="1155CC"/>
          </a:solidFill>
          <a:ln>
            <a:noFill/>
          </a:ln>
        </p:spPr>
        <p:txBody>
          <a:bodyPr anchorCtr="0" anchor="ctr" bIns="91400" lIns="91400" spcFirstLastPara="1" rIns="91400" wrap="square" tIns="914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r>
              <a:t/>
            </a:r>
            <a:endParaRPr b="0" i="0" sz="1900" u="none" cap="none" strike="noStrike">
              <a:solidFill>
                <a:srgbClr val="0070C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377" name="Google Shape;377;g3a7c546b70d_0_913"/>
          <p:cNvSpPr txBox="1"/>
          <p:nvPr/>
        </p:nvSpPr>
        <p:spPr>
          <a:xfrm>
            <a:off x="267700" y="6492843"/>
            <a:ext cx="114147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12190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t/>
            </a:r>
            <a:endParaRPr b="1" i="0" sz="1200" u="none" cap="none" strike="noStrike">
              <a:solidFill>
                <a:srgbClr val="1155CC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378" name="Google Shape;378;g3a7c546b70d_0_913"/>
          <p:cNvSpPr txBox="1"/>
          <p:nvPr/>
        </p:nvSpPr>
        <p:spPr>
          <a:xfrm>
            <a:off x="11658600" y="6496067"/>
            <a:ext cx="228300" cy="16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-US" sz="1200" u="none" cap="none" strike="noStrike">
                <a:solidFill>
                  <a:srgbClr val="1155CC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rgbClr val="1155C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379" name="Google Shape;379;g3a7c546b70d_0_913"/>
          <p:cNvCxnSpPr/>
          <p:nvPr/>
        </p:nvCxnSpPr>
        <p:spPr>
          <a:xfrm>
            <a:off x="267700" y="6427967"/>
            <a:ext cx="11640300" cy="0"/>
          </a:xfrm>
          <a:prstGeom prst="straightConnector1">
            <a:avLst/>
          </a:prstGeom>
          <a:noFill/>
          <a:ln cap="flat" cmpd="sng" w="9525">
            <a:solidFill>
              <a:srgbClr val="9E9E9E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80" name="Google Shape;380;g3a7c546b70d_0_913"/>
          <p:cNvSpPr txBox="1"/>
          <p:nvPr/>
        </p:nvSpPr>
        <p:spPr>
          <a:xfrm>
            <a:off x="267700" y="6492843"/>
            <a:ext cx="114147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12190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155CC"/>
              </a:buClr>
              <a:buSzPts val="1200"/>
              <a:buFont typeface="Times New Roman"/>
              <a:buNone/>
            </a:pPr>
            <a:r>
              <a:rPr b="1" i="0" lang="en-US" sz="1200" u="none" cap="none" strike="noStrike">
                <a:solidFill>
                  <a:srgbClr val="1155C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Revue annuelle PEV 2025</a:t>
            </a:r>
            <a:endParaRPr b="1" i="0" sz="1200" u="none" cap="none" strike="noStrike">
              <a:solidFill>
                <a:srgbClr val="1155CC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381" name="Google Shape;381;g3a7c546b70d_0_9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58600" y="1592475"/>
            <a:ext cx="5259300" cy="4599000"/>
          </a:xfrm>
          <a:prstGeom prst="rect">
            <a:avLst/>
          </a:prstGeom>
          <a:noFill/>
          <a:ln>
            <a:noFill/>
          </a:ln>
        </p:spPr>
      </p:pic>
      <p:sp>
        <p:nvSpPr>
          <p:cNvPr id="382" name="Google Shape;382;g3a7c546b70d_0_913"/>
          <p:cNvSpPr/>
          <p:nvPr/>
        </p:nvSpPr>
        <p:spPr>
          <a:xfrm>
            <a:off x="1611985" y="4956779"/>
            <a:ext cx="1233300" cy="343500"/>
          </a:xfrm>
          <a:prstGeom prst="ellipse">
            <a:avLst/>
          </a:prstGeom>
          <a:solidFill>
            <a:srgbClr val="FF0000">
              <a:alpha val="9800"/>
            </a:srgbClr>
          </a:solidFill>
          <a:ln cap="flat" cmpd="sng" w="181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32550" lIns="65100" spcFirstLastPara="1" rIns="65100" wrap="square" tIns="325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783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3" name="Google Shape;383;g3a7c546b70d_0_913"/>
          <p:cNvSpPr/>
          <p:nvPr/>
        </p:nvSpPr>
        <p:spPr>
          <a:xfrm>
            <a:off x="3310640" y="5004253"/>
            <a:ext cx="1233300" cy="343500"/>
          </a:xfrm>
          <a:prstGeom prst="ellipse">
            <a:avLst/>
          </a:prstGeom>
          <a:solidFill>
            <a:srgbClr val="FF0000">
              <a:alpha val="9800"/>
            </a:srgbClr>
          </a:solidFill>
          <a:ln cap="flat" cmpd="sng" w="181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32550" lIns="65100" spcFirstLastPara="1" rIns="65100" wrap="square" tIns="325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783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4" name="Google Shape;384;g3a7c546b70d_0_913"/>
          <p:cNvSpPr/>
          <p:nvPr/>
        </p:nvSpPr>
        <p:spPr>
          <a:xfrm>
            <a:off x="1148099" y="2845781"/>
            <a:ext cx="1233300" cy="343500"/>
          </a:xfrm>
          <a:prstGeom prst="ellipse">
            <a:avLst/>
          </a:prstGeom>
          <a:solidFill>
            <a:srgbClr val="FF0000">
              <a:alpha val="9800"/>
            </a:srgbClr>
          </a:solidFill>
          <a:ln cap="flat" cmpd="sng" w="181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32550" lIns="65100" spcFirstLastPara="1" rIns="65100" wrap="square" tIns="325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783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5" name="Google Shape;385;g3a7c546b70d_0_913"/>
          <p:cNvSpPr/>
          <p:nvPr/>
        </p:nvSpPr>
        <p:spPr>
          <a:xfrm>
            <a:off x="4270965" y="3977012"/>
            <a:ext cx="1349400" cy="484200"/>
          </a:xfrm>
          <a:prstGeom prst="ellipse">
            <a:avLst/>
          </a:prstGeom>
          <a:solidFill>
            <a:srgbClr val="FF0000">
              <a:alpha val="9800"/>
            </a:srgbClr>
          </a:solidFill>
          <a:ln cap="flat" cmpd="sng" w="181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32550" lIns="65100" spcFirstLastPara="1" rIns="65100" wrap="square" tIns="325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783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6" name="Google Shape;386;g3a7c546b70d_0_913"/>
          <p:cNvSpPr/>
          <p:nvPr/>
        </p:nvSpPr>
        <p:spPr>
          <a:xfrm rot="-5400000">
            <a:off x="7289858" y="1196833"/>
            <a:ext cx="4545000" cy="5259300"/>
          </a:xfrm>
          <a:prstGeom prst="round2SameRect">
            <a:avLst>
              <a:gd fmla="val 8141" name="adj1"/>
              <a:gd fmla="val 0" name="adj2"/>
            </a:avLst>
          </a:prstGeom>
          <a:solidFill>
            <a:srgbClr val="EFE3D3"/>
          </a:solidFill>
          <a:ln>
            <a:noFill/>
          </a:ln>
        </p:spPr>
        <p:txBody>
          <a:bodyPr anchorCtr="0" anchor="ctr" bIns="65650" lIns="131375" spcFirstLastPara="1" rIns="131375" wrap="square" tIns="656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99"/>
              <a:buFont typeface="Arial"/>
              <a:buNone/>
            </a:pPr>
            <a:r>
              <a:t/>
            </a:r>
            <a:endParaRPr b="0" i="0" sz="2298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7" name="Google Shape;387;g3a7c546b70d_0_913"/>
          <p:cNvSpPr txBox="1"/>
          <p:nvPr/>
        </p:nvSpPr>
        <p:spPr>
          <a:xfrm>
            <a:off x="7254598" y="1925518"/>
            <a:ext cx="4608600" cy="2916600"/>
          </a:xfrm>
          <a:prstGeom prst="rect">
            <a:avLst/>
          </a:prstGeom>
          <a:noFill/>
          <a:ln>
            <a:noFill/>
          </a:ln>
        </p:spPr>
        <p:txBody>
          <a:bodyPr anchorCtr="0" anchor="t" bIns="131375" lIns="131375" spcFirstLastPara="1" rIns="131375" wrap="square" tIns="1313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81"/>
              <a:buFont typeface="Arial"/>
              <a:buNone/>
            </a:pPr>
            <a:r>
              <a:rPr b="1" lang="en-US" sz="3000">
                <a:latin typeface="Times New Roman"/>
                <a:ea typeface="Times New Roman"/>
                <a:cs typeface="Times New Roman"/>
                <a:sym typeface="Times New Roman"/>
              </a:rPr>
              <a:t>53 %</a:t>
            </a:r>
            <a:endParaRPr b="1" sz="30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81"/>
              <a:buFont typeface="Arial"/>
              <a:buNone/>
            </a:pPr>
            <a:r>
              <a:rPr b="1" lang="en-US" sz="1580">
                <a:latin typeface="Times New Roman"/>
                <a:ea typeface="Times New Roman"/>
                <a:cs typeface="Times New Roman"/>
                <a:sym typeface="Times New Roman"/>
              </a:rPr>
              <a:t>Score globale de mise en oeuvre des activités pour le PAO 2025</a:t>
            </a:r>
            <a:br>
              <a:rPr b="1" i="0" lang="en-US" sz="158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</a:br>
            <a:br>
              <a:rPr i="0" lang="en-US" sz="158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</a:br>
            <a:r>
              <a:rPr lang="en-US" sz="1580">
                <a:latin typeface="Times New Roman"/>
                <a:ea typeface="Times New Roman"/>
                <a:cs typeface="Times New Roman"/>
                <a:sym typeface="Times New Roman"/>
              </a:rPr>
              <a:t>Les domaines avec un faible taux d'exécution sont par ordre la logistique, la prestation de services, gestion du programme et surveillance</a:t>
            </a:r>
            <a:endParaRPr sz="158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81"/>
              <a:buFont typeface="Arial"/>
              <a:buNone/>
            </a:pPr>
            <a:r>
              <a:t/>
            </a:r>
            <a:endParaRPr sz="158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80">
                <a:latin typeface="Times New Roman"/>
                <a:ea typeface="Times New Roman"/>
                <a:cs typeface="Times New Roman"/>
                <a:sym typeface="Times New Roman"/>
              </a:rPr>
              <a:t>*Logistique: plusieurs activites liees aux acquisitions prévue sur CCEOP en souffrance</a:t>
            </a:r>
            <a:endParaRPr sz="158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1" name="Shape 3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2" name="Google Shape;392;g3a7c546b70d_0_933"/>
          <p:cNvSpPr txBox="1"/>
          <p:nvPr/>
        </p:nvSpPr>
        <p:spPr>
          <a:xfrm>
            <a:off x="458592" y="317941"/>
            <a:ext cx="11274900" cy="827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500"/>
              <a:buFont typeface="Arial"/>
              <a:buNone/>
            </a:pPr>
            <a:r>
              <a:rPr b="1" i="0" lang="en-US" sz="2500" u="none" cap="none" strike="noStrike">
                <a:solidFill>
                  <a:srgbClr val="1155C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Niveau de mise en oeuvre des activités du PAO 2025</a:t>
            </a:r>
            <a:r>
              <a:rPr b="0" i="0" lang="en-US" sz="2500" u="none" cap="none" strike="noStrike">
                <a:solidFill>
                  <a:srgbClr val="1155C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| Aperçu global de la mise en oeuvre des activités par domaine</a:t>
            </a:r>
            <a:endParaRPr b="0" i="0" sz="2500" u="none" cap="none" strike="noStrike">
              <a:solidFill>
                <a:srgbClr val="1155CC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393" name="Google Shape;393;g3a7c546b70d_0_933"/>
          <p:cNvSpPr/>
          <p:nvPr/>
        </p:nvSpPr>
        <p:spPr>
          <a:xfrm>
            <a:off x="0" y="272241"/>
            <a:ext cx="235500" cy="655200"/>
          </a:xfrm>
          <a:prstGeom prst="rect">
            <a:avLst/>
          </a:prstGeom>
          <a:solidFill>
            <a:srgbClr val="1155CC"/>
          </a:solidFill>
          <a:ln>
            <a:noFill/>
          </a:ln>
        </p:spPr>
        <p:txBody>
          <a:bodyPr anchorCtr="0" anchor="ctr" bIns="91400" lIns="91400" spcFirstLastPara="1" rIns="91400" wrap="square" tIns="914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r>
              <a:t/>
            </a:r>
            <a:endParaRPr b="0" i="0" sz="1900" u="none" cap="none" strike="noStrike">
              <a:solidFill>
                <a:srgbClr val="0070C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394" name="Google Shape;394;g3a7c546b70d_0_933"/>
          <p:cNvSpPr txBox="1"/>
          <p:nvPr/>
        </p:nvSpPr>
        <p:spPr>
          <a:xfrm>
            <a:off x="267700" y="6492843"/>
            <a:ext cx="114147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12190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t/>
            </a:r>
            <a:endParaRPr b="1" i="0" sz="1200" u="none" cap="none" strike="noStrike">
              <a:solidFill>
                <a:srgbClr val="1155CC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395" name="Google Shape;395;g3a7c546b70d_0_933"/>
          <p:cNvSpPr txBox="1"/>
          <p:nvPr/>
        </p:nvSpPr>
        <p:spPr>
          <a:xfrm>
            <a:off x="11658600" y="6496067"/>
            <a:ext cx="228300" cy="16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-US" sz="1200" u="none" cap="none" strike="noStrike">
                <a:solidFill>
                  <a:srgbClr val="1155CC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rgbClr val="1155C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396" name="Google Shape;396;g3a7c546b70d_0_933"/>
          <p:cNvCxnSpPr/>
          <p:nvPr/>
        </p:nvCxnSpPr>
        <p:spPr>
          <a:xfrm>
            <a:off x="267700" y="6427967"/>
            <a:ext cx="11640300" cy="0"/>
          </a:xfrm>
          <a:prstGeom prst="straightConnector1">
            <a:avLst/>
          </a:prstGeom>
          <a:noFill/>
          <a:ln cap="flat" cmpd="sng" w="9525">
            <a:solidFill>
              <a:srgbClr val="9E9E9E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97" name="Google Shape;397;g3a7c546b70d_0_933"/>
          <p:cNvSpPr txBox="1"/>
          <p:nvPr/>
        </p:nvSpPr>
        <p:spPr>
          <a:xfrm>
            <a:off x="267700" y="6492843"/>
            <a:ext cx="114147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12190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155CC"/>
              </a:buClr>
              <a:buSzPts val="1200"/>
              <a:buFont typeface="Times New Roman"/>
              <a:buNone/>
            </a:pPr>
            <a:r>
              <a:rPr b="1" i="0" lang="en-US" sz="1200" u="none" cap="none" strike="noStrike">
                <a:solidFill>
                  <a:srgbClr val="1155C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Revue annuelle PEV 2025</a:t>
            </a:r>
            <a:endParaRPr b="1" i="0" sz="1200" u="none" cap="none" strike="noStrike">
              <a:solidFill>
                <a:srgbClr val="1155CC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graphicFrame>
        <p:nvGraphicFramePr>
          <p:cNvPr id="398" name="Google Shape;398;g3a7c546b70d_0_933"/>
          <p:cNvGraphicFramePr/>
          <p:nvPr/>
        </p:nvGraphicFramePr>
        <p:xfrm>
          <a:off x="458605" y="1523388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{277F3BD0-A6D7-4A16-8387-E2A6C840DE50}</a:tableStyleId>
              </a:tblPr>
              <a:tblGrid>
                <a:gridCol w="2049675"/>
                <a:gridCol w="1167525"/>
                <a:gridCol w="1168200"/>
                <a:gridCol w="1693475"/>
                <a:gridCol w="1166825"/>
                <a:gridCol w="1693475"/>
                <a:gridCol w="1167525"/>
                <a:gridCol w="1168200"/>
              </a:tblGrid>
              <a:tr h="555000">
                <a:tc rowSpan="2"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Domaine</a:t>
                      </a:r>
                      <a:endParaRPr sz="15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7925" marB="0" marR="7925" marL="7925" anchor="ctr">
                    <a:lnL cap="flat" cmpd="sng" w="12700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FEFEF"/>
                    </a:solidFill>
                  </a:tcPr>
                </a:tc>
                <a:tc rowSpan="2"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Total activités</a:t>
                      </a:r>
                      <a:endParaRPr sz="15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7925" marB="0" marR="7925" marL="7925" anchor="ctr">
                    <a:lnL cap="flat" cmpd="sng" w="12700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Activités réalisées</a:t>
                      </a:r>
                      <a:endParaRPr sz="15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7925" marB="0" marR="7925" marL="7925" anchor="ctr">
                    <a:lnL cap="flat" cmpd="sng" w="12700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  <a:tc gridSpan="2"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Activités en cours</a:t>
                      </a:r>
                      <a:endParaRPr sz="15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7925" marB="0" marR="7925" marL="7925" anchor="ctr">
                    <a:lnL cap="flat" cmpd="sng" w="12700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  <a:tc gridSpan="2"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Activités non réalisées</a:t>
                      </a:r>
                      <a:endParaRPr sz="15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7925" marB="0" marR="7925" marL="7925" anchor="ctr">
                    <a:lnL cap="flat" cmpd="sng" w="12700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96550">
                <a:tc vMerge="1"/>
                <a:tc vMerge="1"/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Nbr</a:t>
                      </a:r>
                      <a:endParaRPr sz="15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7925" marB="0" marR="7925" marL="7925" anchor="ctr">
                    <a:lnL cap="flat" cmpd="sng" w="12700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%</a:t>
                      </a:r>
                      <a:endParaRPr sz="15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7925" marB="0" marR="7925" marL="7925" anchor="ctr">
                    <a:lnL cap="flat" cmpd="sng" w="12700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Nbr</a:t>
                      </a:r>
                      <a:endParaRPr sz="15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7925" marB="0" marR="7925" marL="7925" anchor="ctr">
                    <a:lnL cap="flat" cmpd="sng" w="12700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%</a:t>
                      </a:r>
                      <a:endParaRPr sz="15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7925" marB="0" marR="7925" marL="7925" anchor="ctr">
                    <a:lnL cap="flat" cmpd="sng" w="12700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Nbr</a:t>
                      </a:r>
                      <a:endParaRPr sz="15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7925" marB="0" marR="7925" marL="7925" anchor="ctr">
                    <a:lnL cap="flat" cmpd="sng" w="12700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%</a:t>
                      </a:r>
                      <a:endParaRPr sz="15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7925" marB="0" marR="7925" marL="7925" anchor="ctr">
                    <a:lnL cap="flat" cmpd="sng" w="12700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52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Logistique</a:t>
                      </a:r>
                      <a:endParaRPr sz="15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7925" marB="0" marR="7925" marL="7925" anchor="ctr">
                    <a:lnL cap="flat" cmpd="sng" w="12700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30</a:t>
                      </a:r>
                      <a:endParaRPr sz="15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7925" marB="0" marR="7925" marL="7925" anchor="ctr">
                    <a:lnL cap="flat" cmpd="sng" w="12700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10</a:t>
                      </a:r>
                      <a:endParaRPr sz="15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7925" marB="0" marR="7925" marL="7925" anchor="ctr">
                    <a:lnL cap="flat" cmpd="sng" w="12700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u="none" cap="none" strike="noStrike">
                          <a:solidFill>
                            <a:srgbClr val="FFFFFF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33%</a:t>
                      </a:r>
                      <a:endParaRPr sz="1500" u="none" cap="none" strike="noStrike">
                        <a:solidFill>
                          <a:srgbClr val="FFFFFF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7925" marB="0" marR="7925" marL="7925" anchor="ctr">
                    <a:lnL cap="flat" cmpd="sng" w="12700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7</a:t>
                      </a:r>
                      <a:endParaRPr sz="15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7925" marB="0" marR="7925" marL="7925" anchor="ctr">
                    <a:lnL cap="flat" cmpd="sng" w="12700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23%</a:t>
                      </a:r>
                      <a:endParaRPr sz="15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7925" marB="0" marR="7925" marL="7925" anchor="ctr">
                    <a:lnL cap="flat" cmpd="sng" w="12700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13</a:t>
                      </a:r>
                      <a:endParaRPr sz="15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7925" marB="0" marR="7925" marL="7925" anchor="ctr">
                    <a:lnL cap="flat" cmpd="sng" w="12700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u="none" cap="none" strike="noStrike">
                          <a:solidFill>
                            <a:srgbClr val="FFFFFF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43%</a:t>
                      </a:r>
                      <a:endParaRPr sz="1500" u="none" cap="none" strike="noStrike">
                        <a:solidFill>
                          <a:srgbClr val="FFFFFF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7925" marB="0" marR="7925" marL="7925" anchor="ctr">
                    <a:lnL cap="flat" cmpd="sng" w="12700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0000"/>
                    </a:solidFill>
                  </a:tcPr>
                </a:tc>
              </a:tr>
              <a:tr h="5924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Génération de la demande</a:t>
                      </a:r>
                      <a:endParaRPr sz="15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7925" marB="0" marR="7925" marL="7925" anchor="ctr">
                    <a:lnL cap="flat" cmpd="sng" w="12700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16</a:t>
                      </a:r>
                      <a:endParaRPr sz="15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7925" marB="0" marR="7925" marL="7925" anchor="ctr">
                    <a:lnL cap="flat" cmpd="sng" w="12700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12</a:t>
                      </a:r>
                      <a:endParaRPr sz="15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7925" marB="0" marR="7925" marL="7925" anchor="ctr">
                    <a:lnL cap="flat" cmpd="sng" w="12700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u="none" cap="none" strike="noStrike">
                          <a:solidFill>
                            <a:srgbClr val="FFFFFF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75%</a:t>
                      </a:r>
                      <a:endParaRPr sz="1500" u="none" cap="none" strike="noStrike">
                        <a:solidFill>
                          <a:srgbClr val="FFFFFF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7925" marB="0" marR="7925" marL="7925" anchor="ctr">
                    <a:lnL cap="flat" cmpd="sng" w="12700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3</a:t>
                      </a:r>
                      <a:endParaRPr sz="15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7925" marB="0" marR="7925" marL="7925" anchor="ctr">
                    <a:lnL cap="flat" cmpd="sng" w="12700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19%</a:t>
                      </a:r>
                      <a:endParaRPr sz="15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7925" marB="0" marR="7925" marL="7925" anchor="ctr">
                    <a:lnL cap="flat" cmpd="sng" w="12700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1</a:t>
                      </a:r>
                      <a:endParaRPr sz="15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7925" marB="0" marR="7925" marL="7925" anchor="ctr">
                    <a:lnL cap="flat" cmpd="sng" w="12700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u="none" cap="none" strike="noStrike">
                          <a:solidFill>
                            <a:srgbClr val="FFFFFF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6%</a:t>
                      </a:r>
                      <a:endParaRPr sz="1500" u="none" cap="none" strike="noStrike">
                        <a:solidFill>
                          <a:srgbClr val="FFFFFF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7925" marB="0" marR="7925" marL="7925" anchor="ctr">
                    <a:lnL cap="flat" cmpd="sng" w="12700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0000"/>
                    </a:solidFill>
                  </a:tcPr>
                </a:tc>
              </a:tr>
              <a:tr h="2959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Surveillance</a:t>
                      </a:r>
                      <a:endParaRPr sz="15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7925" marB="0" marR="7925" marL="7925" anchor="ctr">
                    <a:lnL cap="flat" cmpd="sng" w="12700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17</a:t>
                      </a:r>
                      <a:endParaRPr sz="15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7925" marB="0" marR="7925" marL="7925" anchor="ctr">
                    <a:lnL cap="flat" cmpd="sng" w="12700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3</a:t>
                      </a:r>
                      <a:endParaRPr sz="15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7925" marB="0" marR="7925" marL="7925" anchor="ctr">
                    <a:lnL cap="flat" cmpd="sng" w="12700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u="none" cap="none" strike="noStrike">
                          <a:solidFill>
                            <a:srgbClr val="FFFFFF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18%</a:t>
                      </a:r>
                      <a:endParaRPr sz="1500" u="none" cap="none" strike="noStrike">
                        <a:solidFill>
                          <a:srgbClr val="FFFFFF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7925" marB="0" marR="7925" marL="7925" anchor="ctr">
                    <a:lnL cap="flat" cmpd="sng" w="12700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7</a:t>
                      </a:r>
                      <a:endParaRPr sz="15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7925" marB="0" marR="7925" marL="7925" anchor="ctr">
                    <a:lnL cap="flat" cmpd="sng" w="12700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41%</a:t>
                      </a:r>
                      <a:endParaRPr sz="15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7925" marB="0" marR="7925" marL="7925" anchor="ctr">
                    <a:lnL cap="flat" cmpd="sng" w="12700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7</a:t>
                      </a:r>
                      <a:endParaRPr sz="15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7925" marB="0" marR="7925" marL="7925" anchor="ctr">
                    <a:lnL cap="flat" cmpd="sng" w="12700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u="none" cap="none" strike="noStrike">
                          <a:solidFill>
                            <a:srgbClr val="FFFFFF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41%</a:t>
                      </a:r>
                      <a:endParaRPr sz="1500" u="none" cap="none" strike="noStrike">
                        <a:solidFill>
                          <a:srgbClr val="FFFFFF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7925" marB="0" marR="7925" marL="7925" anchor="ctr">
                    <a:lnL cap="flat" cmpd="sng" w="12700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0000"/>
                    </a:solidFill>
                  </a:tcPr>
                </a:tc>
              </a:tr>
              <a:tr h="2959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AVS</a:t>
                      </a:r>
                      <a:endParaRPr sz="15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7925" marB="0" marR="7925" marL="7925" anchor="ctr">
                    <a:lnL cap="flat" cmpd="sng" w="12700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9</a:t>
                      </a:r>
                      <a:endParaRPr sz="15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7925" marB="0" marR="7925" marL="7925" anchor="ctr">
                    <a:lnL cap="flat" cmpd="sng" w="12700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6</a:t>
                      </a:r>
                      <a:endParaRPr sz="15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7925" marB="0" marR="7925" marL="7925" anchor="ctr">
                    <a:lnL cap="flat" cmpd="sng" w="12700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u="none" cap="none" strike="noStrike">
                          <a:solidFill>
                            <a:srgbClr val="FFFFFF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67%</a:t>
                      </a:r>
                      <a:endParaRPr sz="1500" u="none" cap="none" strike="noStrike">
                        <a:solidFill>
                          <a:srgbClr val="FFFFFF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7925" marB="0" marR="7925" marL="7925" anchor="ctr">
                    <a:lnL cap="flat" cmpd="sng" w="12700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0</a:t>
                      </a:r>
                      <a:endParaRPr sz="15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7925" marB="0" marR="7925" marL="7925" anchor="ctr">
                    <a:lnL cap="flat" cmpd="sng" w="12700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0%</a:t>
                      </a:r>
                      <a:endParaRPr sz="15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7925" marB="0" marR="7925" marL="7925" anchor="ctr">
                    <a:lnL cap="flat" cmpd="sng" w="12700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3</a:t>
                      </a:r>
                      <a:endParaRPr sz="15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7925" marB="0" marR="7925" marL="7925" anchor="ctr">
                    <a:lnL cap="flat" cmpd="sng" w="12700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u="none" cap="none" strike="noStrike">
                          <a:solidFill>
                            <a:srgbClr val="FFFFFF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33%</a:t>
                      </a:r>
                      <a:endParaRPr sz="1500" u="none" cap="none" strike="noStrike">
                        <a:solidFill>
                          <a:srgbClr val="FFFFFF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7925" marB="0" marR="7925" marL="7925" anchor="ctr">
                    <a:lnL cap="flat" cmpd="sng" w="12700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0000"/>
                    </a:solidFill>
                  </a:tcPr>
                </a:tc>
              </a:tr>
              <a:tr h="2959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Prestation</a:t>
                      </a:r>
                      <a:endParaRPr sz="15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7925" marB="0" marR="7925" marL="7925" anchor="ctr">
                    <a:lnL cap="flat" cmpd="sng" w="12700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7</a:t>
                      </a:r>
                      <a:endParaRPr sz="15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7925" marB="0" marR="7925" marL="7925" anchor="ctr">
                    <a:lnL cap="flat" cmpd="sng" w="12700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1</a:t>
                      </a:r>
                      <a:endParaRPr sz="15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7925" marB="0" marR="7925" marL="7925" anchor="ctr">
                    <a:lnL cap="flat" cmpd="sng" w="12700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u="none" cap="none" strike="noStrike">
                          <a:solidFill>
                            <a:srgbClr val="FFFFFF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14%</a:t>
                      </a:r>
                      <a:endParaRPr sz="1500" u="none" cap="none" strike="noStrike">
                        <a:solidFill>
                          <a:srgbClr val="FFFFFF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7925" marB="0" marR="7925" marL="7925" anchor="ctr">
                    <a:lnL cap="flat" cmpd="sng" w="12700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5</a:t>
                      </a:r>
                      <a:endParaRPr sz="15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7925" marB="0" marR="7925" marL="7925" anchor="ctr">
                    <a:lnL cap="flat" cmpd="sng" w="12700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71%</a:t>
                      </a:r>
                      <a:endParaRPr sz="15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7925" marB="0" marR="7925" marL="7925" anchor="ctr">
                    <a:lnL cap="flat" cmpd="sng" w="12700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1</a:t>
                      </a:r>
                      <a:endParaRPr sz="15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7925" marB="0" marR="7925" marL="7925" anchor="ctr">
                    <a:lnL cap="flat" cmpd="sng" w="12700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u="none" cap="none" strike="noStrike">
                          <a:solidFill>
                            <a:srgbClr val="FFFFFF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14%</a:t>
                      </a:r>
                      <a:endParaRPr sz="1500" u="none" cap="none" strike="noStrike">
                        <a:solidFill>
                          <a:srgbClr val="FFFFFF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7925" marB="0" marR="7925" marL="7925" anchor="ctr">
                    <a:lnL cap="flat" cmpd="sng" w="12700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0000"/>
                    </a:solidFill>
                  </a:tcPr>
                </a:tc>
              </a:tr>
              <a:tr h="5924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Qualité des données</a:t>
                      </a:r>
                      <a:endParaRPr sz="15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7925" marB="0" marR="7925" marL="7925" anchor="ctr">
                    <a:lnL cap="flat" cmpd="sng" w="12700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17</a:t>
                      </a:r>
                      <a:endParaRPr sz="15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7925" marB="0" marR="7925" marL="7925" anchor="ctr">
                    <a:lnL cap="flat" cmpd="sng" w="12700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8</a:t>
                      </a:r>
                      <a:endParaRPr sz="15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7925" marB="0" marR="7925" marL="7925" anchor="ctr">
                    <a:lnL cap="flat" cmpd="sng" w="12700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u="none" cap="none" strike="noStrike">
                          <a:solidFill>
                            <a:srgbClr val="FFFFFF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47%</a:t>
                      </a:r>
                      <a:endParaRPr sz="1500" u="none" cap="none" strike="noStrike">
                        <a:solidFill>
                          <a:srgbClr val="FFFFFF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7925" marB="0" marR="7925" marL="7925" anchor="ctr">
                    <a:lnL cap="flat" cmpd="sng" w="12700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4</a:t>
                      </a:r>
                      <a:endParaRPr sz="15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7925" marB="0" marR="7925" marL="7925" anchor="ctr">
                    <a:lnL cap="flat" cmpd="sng" w="12700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24%</a:t>
                      </a:r>
                      <a:endParaRPr sz="15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7925" marB="0" marR="7925" marL="7925" anchor="ctr">
                    <a:lnL cap="flat" cmpd="sng" w="12700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5</a:t>
                      </a:r>
                      <a:endParaRPr sz="15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7925" marB="0" marR="7925" marL="7925" anchor="ctr">
                    <a:lnL cap="flat" cmpd="sng" w="12700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u="none" cap="none" strike="noStrike">
                          <a:solidFill>
                            <a:srgbClr val="FFFFFF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29%</a:t>
                      </a:r>
                      <a:endParaRPr sz="1500" u="none" cap="none" strike="noStrike">
                        <a:solidFill>
                          <a:srgbClr val="FFFFFF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7925" marB="0" marR="7925" marL="7925" anchor="ctr">
                    <a:lnL cap="flat" cmpd="sng" w="12700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0000"/>
                    </a:solidFill>
                  </a:tcPr>
                </a:tc>
              </a:tr>
              <a:tr h="2959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Gouvernance</a:t>
                      </a:r>
                      <a:endParaRPr sz="15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7925" marB="0" marR="7925" marL="7925" anchor="ctr">
                    <a:lnL cap="flat" cmpd="sng" w="12700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24</a:t>
                      </a:r>
                      <a:endParaRPr sz="15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7925" marB="0" marR="7925" marL="7925" anchor="ctr">
                    <a:lnL cap="flat" cmpd="sng" w="12700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7</a:t>
                      </a:r>
                      <a:endParaRPr sz="15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7925" marB="0" marR="7925" marL="7925" anchor="ctr">
                    <a:lnL cap="flat" cmpd="sng" w="12700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u="none" cap="none" strike="noStrike">
                          <a:solidFill>
                            <a:srgbClr val="FFFFFF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29%</a:t>
                      </a:r>
                      <a:endParaRPr sz="1500" u="none" cap="none" strike="noStrike">
                        <a:solidFill>
                          <a:srgbClr val="FFFFFF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7925" marB="0" marR="7925" marL="7925" anchor="ctr">
                    <a:lnL cap="flat" cmpd="sng" w="12700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8</a:t>
                      </a:r>
                      <a:endParaRPr sz="15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7925" marB="0" marR="7925" marL="7925" anchor="ctr">
                    <a:lnL cap="flat" cmpd="sng" w="12700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33%</a:t>
                      </a:r>
                      <a:endParaRPr sz="15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7925" marB="0" marR="7925" marL="7925" anchor="ctr">
                    <a:lnL cap="flat" cmpd="sng" w="12700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9</a:t>
                      </a:r>
                      <a:endParaRPr sz="15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7925" marB="0" marR="7925" marL="7925" anchor="ctr">
                    <a:lnL cap="flat" cmpd="sng" w="12700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u="none" cap="none" strike="noStrike">
                          <a:solidFill>
                            <a:srgbClr val="FFFFFF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38%</a:t>
                      </a:r>
                      <a:endParaRPr sz="1500" u="none" cap="none" strike="noStrike">
                        <a:solidFill>
                          <a:srgbClr val="FFFFFF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7925" marB="0" marR="7925" marL="7925" anchor="ctr">
                    <a:lnL cap="flat" cmpd="sng" w="12700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0000"/>
                    </a:solidFill>
                  </a:tcPr>
                </a:tc>
              </a:tr>
              <a:tr h="2959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5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Total </a:t>
                      </a:r>
                      <a:endParaRPr b="1" sz="15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7925" marB="0" marR="7925" marL="7925" anchor="ctr">
                    <a:lnL cap="flat" cmpd="sng" w="12700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5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118</a:t>
                      </a:r>
                      <a:endParaRPr b="1" sz="15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7925" marB="0" marR="7925" marL="7925" anchor="ctr">
                    <a:lnL cap="flat" cmpd="sng" w="12700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5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47</a:t>
                      </a:r>
                      <a:endParaRPr b="1" sz="15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7925" marB="0" marR="7925" marL="7925" anchor="ctr">
                    <a:lnL cap="flat" cmpd="sng" w="12700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500" u="none" cap="none" strike="noStrike">
                          <a:solidFill>
                            <a:srgbClr val="FFFFFF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39%</a:t>
                      </a:r>
                      <a:endParaRPr b="1" sz="1500" u="none" cap="none" strike="noStrike">
                        <a:solidFill>
                          <a:srgbClr val="FFFFFF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7925" marB="0" marR="7925" marL="7925" anchor="ctr">
                    <a:lnL cap="flat" cmpd="sng" w="12700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5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34</a:t>
                      </a:r>
                      <a:endParaRPr b="1" sz="15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7925" marB="0" marR="7925" marL="7925" anchor="ctr">
                    <a:lnL cap="flat" cmpd="sng" w="12700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5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28%</a:t>
                      </a:r>
                      <a:endParaRPr b="1" sz="15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7925" marB="0" marR="7925" marL="7925" anchor="ctr">
                    <a:lnL cap="flat" cmpd="sng" w="12700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5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39</a:t>
                      </a:r>
                      <a:endParaRPr b="1" sz="15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7925" marB="0" marR="7925" marL="7925" anchor="ctr">
                    <a:lnL cap="flat" cmpd="sng" w="12700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500" u="none" cap="none" strike="noStrike">
                          <a:solidFill>
                            <a:srgbClr val="FFFFFF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33%</a:t>
                      </a:r>
                      <a:endParaRPr b="1" sz="1500" u="none" cap="none" strike="noStrike">
                        <a:solidFill>
                          <a:srgbClr val="FFFFFF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7925" marB="0" marR="7925" marL="7925" anchor="ctr">
                    <a:lnL cap="flat" cmpd="sng" w="12700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000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2" name="Shape 4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3" name="Google Shape;403;g3a7c50a7b14_2_41"/>
          <p:cNvSpPr txBox="1"/>
          <p:nvPr/>
        </p:nvSpPr>
        <p:spPr>
          <a:xfrm>
            <a:off x="458592" y="317941"/>
            <a:ext cx="11274900" cy="384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500"/>
              <a:buFont typeface="Arial"/>
              <a:buNone/>
            </a:pPr>
            <a:r>
              <a:rPr b="1" i="0" lang="en-US" sz="2500" u="none" cap="none" strike="noStrike">
                <a:solidFill>
                  <a:srgbClr val="1155C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Niveau de mise en oeuvre des activités du PAO 2025</a:t>
            </a:r>
            <a:r>
              <a:rPr b="0" i="0" lang="en-US" sz="2500" u="none" cap="none" strike="noStrike">
                <a:solidFill>
                  <a:srgbClr val="1155C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| </a:t>
            </a:r>
            <a:r>
              <a:rPr lang="en-US" sz="2500">
                <a:solidFill>
                  <a:srgbClr val="1155C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Mise en oeuvre par domaine</a:t>
            </a:r>
            <a:endParaRPr b="0" i="0" sz="2500" u="none" cap="none" strike="noStrike">
              <a:solidFill>
                <a:srgbClr val="1155CC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404" name="Google Shape;404;g3a7c50a7b14_2_41"/>
          <p:cNvSpPr/>
          <p:nvPr/>
        </p:nvSpPr>
        <p:spPr>
          <a:xfrm>
            <a:off x="0" y="272241"/>
            <a:ext cx="235500" cy="655200"/>
          </a:xfrm>
          <a:prstGeom prst="rect">
            <a:avLst/>
          </a:prstGeom>
          <a:solidFill>
            <a:srgbClr val="1155CC"/>
          </a:solidFill>
          <a:ln>
            <a:noFill/>
          </a:ln>
        </p:spPr>
        <p:txBody>
          <a:bodyPr anchorCtr="0" anchor="ctr" bIns="91400" lIns="91400" spcFirstLastPara="1" rIns="91400" wrap="square" tIns="914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r>
              <a:t/>
            </a:r>
            <a:endParaRPr b="0" i="0" sz="1900" u="none" cap="none" strike="noStrike">
              <a:solidFill>
                <a:srgbClr val="0070C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405" name="Google Shape;405;g3a7c50a7b14_2_41"/>
          <p:cNvSpPr txBox="1"/>
          <p:nvPr/>
        </p:nvSpPr>
        <p:spPr>
          <a:xfrm>
            <a:off x="267700" y="6492843"/>
            <a:ext cx="114147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12190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t/>
            </a:r>
            <a:endParaRPr b="1" i="0" sz="1200" u="none" cap="none" strike="noStrike">
              <a:solidFill>
                <a:srgbClr val="1155CC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406" name="Google Shape;406;g3a7c50a7b14_2_41"/>
          <p:cNvSpPr txBox="1"/>
          <p:nvPr/>
        </p:nvSpPr>
        <p:spPr>
          <a:xfrm>
            <a:off x="11658600" y="6496067"/>
            <a:ext cx="228300" cy="16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-US" sz="1200" u="none" cap="none" strike="noStrike">
                <a:solidFill>
                  <a:srgbClr val="1155CC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rgbClr val="1155C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407" name="Google Shape;407;g3a7c50a7b14_2_41"/>
          <p:cNvCxnSpPr/>
          <p:nvPr/>
        </p:nvCxnSpPr>
        <p:spPr>
          <a:xfrm>
            <a:off x="267700" y="6427967"/>
            <a:ext cx="11640300" cy="0"/>
          </a:xfrm>
          <a:prstGeom prst="straightConnector1">
            <a:avLst/>
          </a:prstGeom>
          <a:noFill/>
          <a:ln cap="flat" cmpd="sng" w="9525">
            <a:solidFill>
              <a:srgbClr val="9E9E9E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08" name="Google Shape;408;g3a7c50a7b14_2_41"/>
          <p:cNvSpPr txBox="1"/>
          <p:nvPr/>
        </p:nvSpPr>
        <p:spPr>
          <a:xfrm>
            <a:off x="267700" y="6492843"/>
            <a:ext cx="114147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12190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155CC"/>
              </a:buClr>
              <a:buSzPts val="1200"/>
              <a:buFont typeface="Times New Roman"/>
              <a:buNone/>
            </a:pPr>
            <a:r>
              <a:rPr b="1" i="0" lang="en-US" sz="1200" u="none" cap="none" strike="noStrike">
                <a:solidFill>
                  <a:srgbClr val="1155C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Revue annuelle PEV 2025</a:t>
            </a:r>
            <a:endParaRPr b="1" i="0" sz="1200" u="none" cap="none" strike="noStrike">
              <a:solidFill>
                <a:srgbClr val="1155CC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graphicFrame>
        <p:nvGraphicFramePr>
          <p:cNvPr id="409" name="Google Shape;409;g3a7c50a7b14_2_41"/>
          <p:cNvGraphicFramePr/>
          <p:nvPr/>
        </p:nvGraphicFramePr>
        <p:xfrm>
          <a:off x="505460" y="10572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{EB624210-9165-4350-9EDD-DD9B9CECAD3B}</a:tableStyleId>
              </a:tblPr>
              <a:tblGrid>
                <a:gridCol w="2642225"/>
                <a:gridCol w="657175"/>
                <a:gridCol w="880150"/>
                <a:gridCol w="801025"/>
                <a:gridCol w="991575"/>
                <a:gridCol w="795625"/>
                <a:gridCol w="929675"/>
                <a:gridCol w="858150"/>
                <a:gridCol w="867775"/>
                <a:gridCol w="808950"/>
                <a:gridCol w="930325"/>
              </a:tblGrid>
              <a:tr h="869325">
                <a:tc row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800" u="none" cap="none" strike="noStrike">
                          <a:solidFill>
                            <a:srgbClr val="FFFFFF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Domaines</a:t>
                      </a:r>
                      <a:endParaRPr b="1" i="0" sz="1800" u="none" cap="none" strike="noStrike">
                        <a:solidFill>
                          <a:srgbClr val="FFFFFF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7925" marB="0" marR="7925" marL="7925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155CC"/>
                    </a:solidFill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800" u="none" cap="none" strike="noStrike">
                          <a:solidFill>
                            <a:srgbClr val="FFFFFF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Totalement réalisée</a:t>
                      </a:r>
                      <a:endParaRPr b="1" i="0" sz="1800" u="none" cap="none" strike="noStrike">
                        <a:solidFill>
                          <a:srgbClr val="FFFFFF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7925" marB="0" marR="7925" marL="7925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155CC"/>
                    </a:solidFill>
                  </a:tcPr>
                </a:tc>
                <a:tc hMerge="1"/>
                <a:tc gridSpan="2"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800" u="none" cap="none" strike="noStrike">
                          <a:solidFill>
                            <a:srgbClr val="FFFFFF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Largement réalisée</a:t>
                      </a:r>
                      <a:endParaRPr b="1" i="0" sz="1800" u="none" cap="none" strike="noStrike">
                        <a:solidFill>
                          <a:srgbClr val="FFFFFF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7925" marB="0" marR="7925" marL="7925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155CC"/>
                    </a:solidFill>
                  </a:tcPr>
                </a:tc>
                <a:tc hMerge="1"/>
                <a:tc gridSpan="2"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800" u="none" cap="none" strike="noStrike">
                          <a:solidFill>
                            <a:srgbClr val="FFFFFF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Moyennement réalisée</a:t>
                      </a:r>
                      <a:endParaRPr b="1" i="0" sz="1800" u="none" cap="none" strike="noStrike">
                        <a:solidFill>
                          <a:srgbClr val="FFFFFF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7925" marB="0" marR="7925" marL="7925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155CC"/>
                    </a:solidFill>
                  </a:tcPr>
                </a:tc>
                <a:tc hMerge="1"/>
                <a:tc gridSpan="2"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800" u="none" cap="none" strike="noStrike">
                          <a:solidFill>
                            <a:srgbClr val="FFFFFF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Faiblement réalisée</a:t>
                      </a:r>
                      <a:endParaRPr b="1" i="0" sz="1800" u="none" cap="none" strike="noStrike">
                        <a:solidFill>
                          <a:srgbClr val="FFFFFF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7925" marB="0" marR="7925" marL="7925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155CC"/>
                    </a:solidFill>
                  </a:tcPr>
                </a:tc>
                <a:tc hMerge="1"/>
                <a:tc gridSpan="2"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800" u="none" cap="none" strike="noStrike">
                          <a:solidFill>
                            <a:srgbClr val="FFFFFF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Non réalisée</a:t>
                      </a:r>
                      <a:endParaRPr b="1" i="0" sz="1800" u="none" cap="none" strike="noStrike">
                        <a:solidFill>
                          <a:srgbClr val="FFFFFF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7925" marB="0" marR="7925" marL="7925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155CC"/>
                    </a:solidFill>
                  </a:tcPr>
                </a:tc>
                <a:tc hMerge="1"/>
              </a:tr>
              <a:tr h="428000">
                <a:tc vMerge="1"/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800">
                          <a:solidFill>
                            <a:srgbClr val="FFFFFF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#</a:t>
                      </a:r>
                      <a:endParaRPr b="1" i="0" sz="1800" u="none" cap="none" strike="noStrike">
                        <a:solidFill>
                          <a:srgbClr val="FFFFFF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7925" marB="0" marR="7925" marL="7925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155C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800" u="none" cap="none" strike="noStrike">
                          <a:solidFill>
                            <a:srgbClr val="FFFFFF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%</a:t>
                      </a:r>
                      <a:endParaRPr b="1" i="0" sz="1800" u="none" cap="none" strike="noStrike">
                        <a:solidFill>
                          <a:srgbClr val="FFFFFF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7925" marB="0" marR="7925" marL="7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155C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800">
                          <a:solidFill>
                            <a:srgbClr val="FFFFFF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#</a:t>
                      </a:r>
                      <a:endParaRPr b="1" i="0" sz="1800" u="none" cap="none" strike="noStrike">
                        <a:solidFill>
                          <a:srgbClr val="FFFFFF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7925" marB="0" marR="7925" marL="7925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155C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800" u="none" cap="none" strike="noStrike">
                          <a:solidFill>
                            <a:srgbClr val="FFFFFF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%</a:t>
                      </a:r>
                      <a:endParaRPr b="1" i="0" sz="1800" u="none" cap="none" strike="noStrike">
                        <a:solidFill>
                          <a:srgbClr val="FFFFFF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7925" marB="0" marR="7925" marL="7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155C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800">
                          <a:solidFill>
                            <a:srgbClr val="FFFFFF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#</a:t>
                      </a:r>
                      <a:endParaRPr b="1" i="0" sz="1800" u="none" cap="none" strike="noStrike">
                        <a:solidFill>
                          <a:srgbClr val="FFFFFF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7925" marB="0" marR="7925" marL="7925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155C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800" u="none" cap="none" strike="noStrike">
                          <a:solidFill>
                            <a:srgbClr val="FFFFFF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%</a:t>
                      </a:r>
                      <a:endParaRPr b="1" i="0" sz="1800" u="none" cap="none" strike="noStrike">
                        <a:solidFill>
                          <a:srgbClr val="FFFFFF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7925" marB="0" marR="7925" marL="7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155C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800">
                          <a:solidFill>
                            <a:srgbClr val="FFFFFF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#</a:t>
                      </a:r>
                      <a:endParaRPr b="1" i="0" sz="1800" u="none" cap="none" strike="noStrike">
                        <a:solidFill>
                          <a:srgbClr val="FFFFFF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7925" marB="0" marR="7925" marL="7925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155C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800" u="none" cap="none" strike="noStrike">
                          <a:solidFill>
                            <a:srgbClr val="FFFFFF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%</a:t>
                      </a:r>
                      <a:endParaRPr b="1" i="0" sz="1800" u="none" cap="none" strike="noStrike">
                        <a:solidFill>
                          <a:srgbClr val="FFFFFF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7925" marB="0" marR="7925" marL="7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155C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800">
                          <a:solidFill>
                            <a:srgbClr val="FFFFFF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#</a:t>
                      </a:r>
                      <a:endParaRPr b="1" i="0" sz="1800" u="none" cap="none" strike="noStrike">
                        <a:solidFill>
                          <a:srgbClr val="FFFFFF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7925" marB="0" marR="7925" marL="7925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155C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800" u="none" cap="none" strike="noStrike">
                          <a:solidFill>
                            <a:srgbClr val="FFFFFF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%</a:t>
                      </a:r>
                      <a:endParaRPr b="1" i="0" sz="1800" u="none" cap="none" strike="noStrike">
                        <a:solidFill>
                          <a:srgbClr val="FFFFFF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7925" marB="0" marR="7925" marL="7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155CC"/>
                    </a:solidFill>
                  </a:tcPr>
                </a:tc>
              </a:tr>
              <a:tr h="4292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800" u="none" cap="none" strike="noStrik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AVS</a:t>
                      </a:r>
                      <a:endParaRPr b="1" i="0" sz="1800" u="none" cap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7925" marB="0" marR="7925" marL="7925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i="0" lang="en-US" sz="1800" u="none" cap="none" strike="noStrik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3</a:t>
                      </a:r>
                      <a:endParaRPr i="0" sz="1800" u="none" cap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7925" marB="0" marR="7925" marL="7925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i="0" lang="en-US" sz="1800" u="none" cap="none" strike="noStrik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33.3%</a:t>
                      </a:r>
                      <a:endParaRPr i="0" sz="1800" u="none" cap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7925" marB="0" marR="7925" marL="7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i="0" lang="en-US" sz="1800" u="none" cap="none" strike="noStrik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1</a:t>
                      </a:r>
                      <a:endParaRPr i="0" sz="1800" u="none" cap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7925" marB="0" marR="7925" marL="7925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i="0" lang="en-US" sz="1800" u="none" cap="none" strike="noStrik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11.1%</a:t>
                      </a:r>
                      <a:endParaRPr i="0" sz="1800" u="none" cap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7925" marB="0" marR="7925" marL="7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i="0" lang="en-US" sz="1800" u="none" cap="none" strike="noStrik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2</a:t>
                      </a:r>
                      <a:endParaRPr i="0" sz="1800" u="none" cap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7925" marB="0" marR="7925" marL="7925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i="0" lang="en-US" sz="1800" u="none" cap="none" strike="noStrik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22.2%</a:t>
                      </a:r>
                      <a:endParaRPr i="0" sz="1800" u="none" cap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7925" marB="0" marR="7925" marL="7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i="0" lang="en-US" sz="1800" u="none" cap="none" strike="noStrik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0</a:t>
                      </a:r>
                      <a:endParaRPr i="0" sz="1800" u="none" cap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7925" marB="0" marR="7925" marL="7925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i="0" lang="en-US" sz="1800" u="none" cap="none" strike="noStrik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0.0%</a:t>
                      </a:r>
                      <a:endParaRPr i="0" sz="1800" u="none" cap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7925" marB="0" marR="7925" marL="7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i="0" lang="en-US" sz="1800" u="none" cap="none" strike="noStrik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3</a:t>
                      </a:r>
                      <a:endParaRPr i="0" sz="1800" u="none" cap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7925" marB="0" marR="7925" marL="7925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i="0" lang="en-US" sz="1800" u="none" cap="none" strike="noStrik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33.3%</a:t>
                      </a:r>
                      <a:endParaRPr i="0" sz="1800" u="none" cap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7925" marB="0" marR="7925" marL="7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0000"/>
                    </a:solidFill>
                  </a:tcPr>
                </a:tc>
              </a:tr>
              <a:tr h="4476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800" u="none" cap="none" strike="noStrik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Génération de la demande</a:t>
                      </a:r>
                      <a:endParaRPr b="1" i="0" sz="1800" u="none" cap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7925" marB="0" marR="7925" marL="7925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i="0" lang="en-US" sz="1800" u="none" cap="none" strike="noStrik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10</a:t>
                      </a:r>
                      <a:endParaRPr i="0" sz="1800" u="none" cap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7925" marB="0" marR="7925" marL="7925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i="0" lang="en-US" sz="1800" u="none" cap="none" strike="noStrik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62.5%</a:t>
                      </a:r>
                      <a:endParaRPr i="0" sz="1800" u="none" cap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7925" marB="0" marR="7925" marL="7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i="0" lang="en-US" sz="1800" u="none" cap="none" strike="noStrik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2</a:t>
                      </a:r>
                      <a:endParaRPr i="0" sz="1800" u="none" cap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7925" marB="0" marR="7925" marL="7925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i="0" lang="en-US" sz="1800" u="none" cap="none" strike="noStrik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12.5%</a:t>
                      </a:r>
                      <a:endParaRPr i="0" sz="1800" u="none" cap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7925" marB="0" marR="7925" marL="7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i="0" lang="en-US" sz="1800" u="none" cap="none" strike="noStrik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3</a:t>
                      </a:r>
                      <a:endParaRPr i="0" sz="1800" u="none" cap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7925" marB="0" marR="7925" marL="7925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i="0" lang="en-US" sz="1800" u="none" cap="none" strike="noStrik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18.8%</a:t>
                      </a:r>
                      <a:endParaRPr i="0" sz="1800" u="none" cap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7925" marB="0" marR="7925" marL="7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i="0" lang="en-US" sz="1800" u="none" cap="none" strike="noStrik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0</a:t>
                      </a:r>
                      <a:endParaRPr i="0" sz="1800" u="none" cap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7925" marB="0" marR="7925" marL="7925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i="0" lang="en-US" sz="1800" u="none" cap="none" strike="noStrik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0.0%</a:t>
                      </a:r>
                      <a:endParaRPr i="0" sz="1800" u="none" cap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7925" marB="0" marR="7925" marL="7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i="0" lang="en-US" sz="1800" u="none" cap="none" strike="noStrik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1</a:t>
                      </a:r>
                      <a:endParaRPr i="0" sz="1800" u="none" cap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7925" marB="0" marR="7925" marL="7925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i="0" lang="en-US" sz="1800" u="none" cap="none" strike="noStrik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6.2%</a:t>
                      </a:r>
                      <a:endParaRPr i="0" sz="1800" u="none" cap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7925" marB="0" marR="7925" marL="7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0000"/>
                    </a:solidFill>
                  </a:tcPr>
                </a:tc>
              </a:tr>
              <a:tr h="4292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800" u="none" cap="none" strike="noStrik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Gestion du Programme</a:t>
                      </a:r>
                      <a:endParaRPr b="1" i="0" sz="1800" u="none" cap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7925" marB="0" marR="7925" marL="7925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i="0" lang="en-US" sz="1800" u="none" cap="none" strike="noStrik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7</a:t>
                      </a:r>
                      <a:endParaRPr i="0" sz="1800" u="none" cap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7925" marB="0" marR="7925" marL="7925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i="0" lang="en-US" sz="1800" u="none" cap="none" strike="noStrik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29.2%</a:t>
                      </a:r>
                      <a:endParaRPr i="0" sz="1800" u="none" cap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7925" marB="0" marR="7925" marL="7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i="0" lang="en-US" sz="1800" u="none" cap="none" strike="noStrik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0</a:t>
                      </a:r>
                      <a:endParaRPr i="0" sz="1800" u="none" cap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7925" marB="0" marR="7925" marL="7925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i="0" lang="en-US" sz="1800" u="none" cap="none" strike="noStrik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0.0%</a:t>
                      </a:r>
                      <a:endParaRPr i="0" sz="1800" u="none" cap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7925" marB="0" marR="7925" marL="7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i="0" lang="en-US" sz="1800" u="none" cap="none" strike="noStrik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8</a:t>
                      </a:r>
                      <a:endParaRPr i="0" sz="1800" u="none" cap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7925" marB="0" marR="7925" marL="7925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i="0" lang="en-US" sz="1800" u="none" cap="none" strike="noStrik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33.3%</a:t>
                      </a:r>
                      <a:endParaRPr i="0" sz="1800" u="none" cap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7925" marB="0" marR="7925" marL="7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i="0" lang="en-US" sz="1800" u="none" cap="none" strike="noStrik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0</a:t>
                      </a:r>
                      <a:endParaRPr i="0" sz="1800" u="none" cap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7925" marB="0" marR="7925" marL="7925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i="0" lang="en-US" sz="1800" u="none" cap="none" strike="noStrik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0.0%</a:t>
                      </a:r>
                      <a:endParaRPr i="0" sz="1800" u="none" cap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7925" marB="0" marR="7925" marL="7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i="0" lang="en-US" sz="1800" u="none" cap="none" strike="noStrik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9</a:t>
                      </a:r>
                      <a:endParaRPr i="0" sz="1800" u="none" cap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7925" marB="0" marR="7925" marL="7925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i="0" lang="en-US" sz="1800" u="none" cap="none" strike="noStrik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37.5%</a:t>
                      </a:r>
                      <a:endParaRPr i="0" sz="1800" u="none" cap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7925" marB="0" marR="7925" marL="7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0000"/>
                    </a:solidFill>
                  </a:tcPr>
                </a:tc>
              </a:tr>
              <a:tr h="4280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800" u="none" cap="none" strike="noStrik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Logistique</a:t>
                      </a:r>
                      <a:endParaRPr b="1" i="0" sz="1800" u="none" cap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7925" marB="0" marR="7925" marL="7925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i="0" lang="en-US" sz="1800" u="none" cap="none" strike="noStrik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7</a:t>
                      </a:r>
                      <a:endParaRPr i="0" sz="1800" u="none" cap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7925" marB="0" marR="7925" marL="7925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i="0" lang="en-US" sz="1800" u="none" cap="none" strike="noStrik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25.0%</a:t>
                      </a:r>
                      <a:endParaRPr i="0" sz="1800" u="none" cap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7925" marB="0" marR="7925" marL="7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i="0" lang="en-US" sz="1800" u="none" cap="none" strike="noStrik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2</a:t>
                      </a:r>
                      <a:endParaRPr i="0" sz="1800" u="none" cap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7925" marB="0" marR="7925" marL="7925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i="0" lang="en-US" sz="1800" u="none" cap="none" strike="noStrik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7.1%</a:t>
                      </a:r>
                      <a:endParaRPr i="0" sz="1800" u="none" cap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7925" marB="0" marR="7925" marL="7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i="0" lang="en-US" sz="1800" u="none" cap="none" strike="noStrik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7</a:t>
                      </a:r>
                      <a:endParaRPr i="0" sz="1800" u="none" cap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7925" marB="0" marR="7925" marL="7925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i="0" lang="en-US" sz="1800" u="none" cap="none" strike="noStrik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25.0%</a:t>
                      </a:r>
                      <a:endParaRPr i="0" sz="1800" u="none" cap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7925" marB="0" marR="7925" marL="7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i="0" lang="en-US" sz="1800" u="none" cap="none" strike="noStrik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1</a:t>
                      </a:r>
                      <a:endParaRPr i="0" sz="1800" u="none" cap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7925" marB="0" marR="7925" marL="7925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i="0" lang="en-US" sz="1800" u="none" cap="none" strike="noStrik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3.6%</a:t>
                      </a:r>
                      <a:endParaRPr i="0" sz="1800" u="none" cap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7925" marB="0" marR="7925" marL="7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i="0" lang="en-US" sz="1800" u="none" cap="none" strike="noStrik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11</a:t>
                      </a:r>
                      <a:endParaRPr i="0" sz="1800" u="none" cap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7925" marB="0" marR="7925" marL="7925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i="0" lang="en-US" sz="1800" u="none" cap="none" strike="noStrik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39.3%</a:t>
                      </a:r>
                      <a:endParaRPr i="0" sz="1800" u="none" cap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7925" marB="0" marR="7925" marL="7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0000"/>
                    </a:solidFill>
                  </a:tcPr>
                </a:tc>
              </a:tr>
              <a:tr h="4280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800" u="none" cap="none" strike="noStrik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Prestation</a:t>
                      </a:r>
                      <a:endParaRPr b="1" i="0" sz="1800" u="none" cap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7925" marB="0" marR="7925" marL="7925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i="0" lang="en-US" sz="1800" u="none" cap="none" strike="noStrik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0</a:t>
                      </a:r>
                      <a:endParaRPr i="0" sz="1800" u="none" cap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7925" marB="0" marR="7925" marL="7925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i="0" lang="en-US" sz="1800" u="none" cap="none" strike="noStrik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0.0%</a:t>
                      </a:r>
                      <a:endParaRPr i="0" sz="1800" u="none" cap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7925" marB="0" marR="7925" marL="7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i="0" lang="en-US" sz="1800" u="none" cap="none" strike="noStrik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1</a:t>
                      </a:r>
                      <a:endParaRPr i="0" sz="1800" u="none" cap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7925" marB="0" marR="7925" marL="7925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i="0" lang="en-US" sz="1800" u="none" cap="none" strike="noStrik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14.3%</a:t>
                      </a:r>
                      <a:endParaRPr i="0" sz="1800" u="none" cap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7925" marB="0" marR="7925" marL="7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i="0" lang="en-US" sz="1800" u="none" cap="none" strike="noStrik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4</a:t>
                      </a:r>
                      <a:endParaRPr i="0" sz="1800" u="none" cap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7925" marB="0" marR="7925" marL="7925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i="0" lang="en-US" sz="1800" u="none" cap="none" strike="noStrik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57.1%</a:t>
                      </a:r>
                      <a:endParaRPr i="0" sz="1800" u="none" cap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7925" marB="0" marR="7925" marL="7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i="0" lang="en-US" sz="1800" u="none" cap="none" strike="noStrik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1</a:t>
                      </a:r>
                      <a:endParaRPr i="0" sz="1800" u="none" cap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7925" marB="0" marR="7925" marL="7925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i="0" lang="en-US" sz="1800" u="none" cap="none" strike="noStrik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14.3%</a:t>
                      </a:r>
                      <a:endParaRPr i="0" sz="1800" u="none" cap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7925" marB="0" marR="7925" marL="7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i="0" lang="en-US" sz="1800" u="none" cap="none" strike="noStrik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1</a:t>
                      </a:r>
                      <a:endParaRPr i="0" sz="1800" u="none" cap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7925" marB="0" marR="7925" marL="7925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i="0" lang="en-US" sz="1800" u="none" cap="none" strike="noStrik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14.3%</a:t>
                      </a:r>
                      <a:endParaRPr i="0" sz="1800" u="none" cap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7925" marB="0" marR="7925" marL="7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0000"/>
                    </a:solidFill>
                  </a:tcPr>
                </a:tc>
              </a:tr>
              <a:tr h="4273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800" u="none" cap="none" strike="noStrik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Qualité des données</a:t>
                      </a:r>
                      <a:endParaRPr b="1" i="0" sz="1800" u="none" cap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7925" marB="0" marR="7925" marL="7925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i="0" lang="en-US" sz="1800" u="none" cap="none" strike="noStrik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3</a:t>
                      </a:r>
                      <a:endParaRPr i="0" sz="1800" u="none" cap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7925" marB="0" marR="7925" marL="7925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i="0" lang="en-US" sz="1800" u="none" cap="none" strike="noStrik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17.6%</a:t>
                      </a:r>
                      <a:endParaRPr i="0" sz="1800" u="none" cap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7925" marB="0" marR="7925" marL="7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i="0" lang="en-US" sz="1800" u="none" cap="none" strike="noStrik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5</a:t>
                      </a:r>
                      <a:endParaRPr i="0" sz="1800" u="none" cap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7925" marB="0" marR="7925" marL="7925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i="0" lang="en-US" sz="1800" u="none" cap="none" strike="noStrik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29.4%</a:t>
                      </a:r>
                      <a:endParaRPr i="0" sz="1800" u="none" cap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7925" marB="0" marR="7925" marL="7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i="0" lang="en-US" sz="1800" u="none" cap="none" strike="noStrik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5</a:t>
                      </a:r>
                      <a:endParaRPr i="0" sz="1800" u="none" cap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7925" marB="0" marR="7925" marL="7925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i="0" lang="en-US" sz="1800" u="none" cap="none" strike="noStrik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29.4%</a:t>
                      </a:r>
                      <a:endParaRPr i="0" sz="1800" u="none" cap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7925" marB="0" marR="7925" marL="7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i="0" lang="en-US" sz="1800" u="none" cap="none" strike="noStrik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0</a:t>
                      </a:r>
                      <a:endParaRPr i="0" sz="1800" u="none" cap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7925" marB="0" marR="7925" marL="7925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i="0" lang="en-US" sz="1800" u="none" cap="none" strike="noStrik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0.0%</a:t>
                      </a:r>
                      <a:endParaRPr i="0" sz="1800" u="none" cap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7925" marB="0" marR="7925" marL="7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i="0" lang="en-US" sz="1800" u="none" cap="none" strike="noStrik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4</a:t>
                      </a:r>
                      <a:endParaRPr i="0" sz="1800" u="none" cap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7925" marB="0" marR="7925" marL="7925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i="0" lang="en-US" sz="1800" u="none" cap="none" strike="noStrik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23.5%</a:t>
                      </a:r>
                      <a:endParaRPr i="0" sz="1800" u="none" cap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7925" marB="0" marR="7925" marL="7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0000"/>
                    </a:solidFill>
                  </a:tcPr>
                </a:tc>
              </a:tr>
              <a:tr h="4286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800" u="none" cap="none" strike="noStrik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Surveillance</a:t>
                      </a:r>
                      <a:endParaRPr b="1" i="0" sz="1800" u="none" cap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7925" marB="0" marR="7925" marL="7925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i="0" lang="en-US" sz="1800" u="none" cap="none" strike="noStrik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2</a:t>
                      </a:r>
                      <a:endParaRPr i="0" sz="1800" u="none" cap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7925" marB="0" marR="7925" marL="7925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i="0" lang="en-US" sz="1800" u="none" cap="none" strike="noStrik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11.8%</a:t>
                      </a:r>
                      <a:endParaRPr i="0" sz="1800" u="none" cap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7925" marB="0" marR="7925" marL="7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i="0" lang="en-US" sz="1800" u="none" cap="none" strike="noStrik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1</a:t>
                      </a:r>
                      <a:endParaRPr i="0" sz="1800" u="none" cap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7925" marB="0" marR="7925" marL="7925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i="0" lang="en-US" sz="1800" u="none" cap="none" strike="noStrik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5.9%</a:t>
                      </a:r>
                      <a:endParaRPr i="0" sz="1800" u="none" cap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7925" marB="0" marR="7925" marL="7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i="0" lang="en-US" sz="1800" u="none" cap="none" strike="noStrik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5</a:t>
                      </a:r>
                      <a:endParaRPr i="0" sz="1800" u="none" cap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7925" marB="0" marR="7925" marL="7925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i="0" lang="en-US" sz="1800" u="none" cap="none" strike="noStrik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29.4%</a:t>
                      </a:r>
                      <a:endParaRPr i="0" sz="1800" u="none" cap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7925" marB="0" marR="7925" marL="7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i="0" lang="en-US" sz="1800" u="none" cap="none" strike="noStrik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2</a:t>
                      </a:r>
                      <a:endParaRPr i="0" sz="1800" u="none" cap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7925" marB="0" marR="7925" marL="7925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i="0" lang="en-US" sz="1800" u="none" cap="none" strike="noStrik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11.8%</a:t>
                      </a:r>
                      <a:endParaRPr i="0" sz="1800" u="none" cap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7925" marB="0" marR="7925" marL="7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i="0" lang="en-US" sz="1800" u="none" cap="none" strike="noStrik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7</a:t>
                      </a:r>
                      <a:endParaRPr i="0" sz="1800" u="none" cap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7925" marB="0" marR="7925" marL="7925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i="0" lang="en-US" sz="1800" u="none" cap="none" strike="noStrik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41.2%</a:t>
                      </a:r>
                      <a:endParaRPr i="0" sz="1800" u="none" cap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7925" marB="0" marR="7925" marL="7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0000"/>
                    </a:solidFill>
                  </a:tcPr>
                </a:tc>
              </a:tr>
              <a:tr h="4280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800" u="none" cap="none" strike="noStrik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Total général</a:t>
                      </a:r>
                      <a:endParaRPr b="1" i="0" sz="1800" u="none" cap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7925" marB="0" marR="7925" marL="79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800" u="none" cap="none" strike="noStrik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32</a:t>
                      </a:r>
                      <a:endParaRPr b="1" i="0" sz="1800" u="none" cap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7925" marB="0" marR="7925" marL="79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800" u="none" cap="none" strike="noStrik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27.1%</a:t>
                      </a:r>
                      <a:endParaRPr b="1" i="0" sz="1800" u="none" cap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7925" marB="0" marR="7925" marL="7925" anchor="ctr">
                    <a:lnL cap="flat" cmpd="sng" w="9525">
                      <a:solidFill>
                        <a:srgbClr val="D9D9D9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800" u="none" cap="none" strike="noStrik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12</a:t>
                      </a:r>
                      <a:endParaRPr b="1" i="0" sz="1800" u="none" cap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7925" marB="0" marR="7925" marL="79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800" u="none" cap="none" strike="noStrik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10.2%</a:t>
                      </a:r>
                      <a:endParaRPr b="1" i="0" sz="1800" u="none" cap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7925" marB="0" marR="7925" marL="7925" anchor="ctr">
                    <a:lnL cap="flat" cmpd="sng" w="9525">
                      <a:solidFill>
                        <a:srgbClr val="D9D9D9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800" u="none" cap="none" strike="noStrik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34</a:t>
                      </a:r>
                      <a:endParaRPr b="1" i="0" sz="1800" u="none" cap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7925" marB="0" marR="7925" marL="79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800" u="none" cap="none" strike="noStrik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28.8%</a:t>
                      </a:r>
                      <a:endParaRPr b="1" i="0" sz="1800" u="none" cap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7925" marB="0" marR="7925" marL="7925" anchor="ctr">
                    <a:lnL cap="flat" cmpd="sng" w="9525">
                      <a:solidFill>
                        <a:srgbClr val="D9D9D9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800" u="none" cap="none" strike="noStrik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4</a:t>
                      </a:r>
                      <a:endParaRPr b="1" i="0" sz="1800" u="none" cap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7925" marB="0" marR="7925" marL="79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800" u="none" cap="none" strike="noStrik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3.4%</a:t>
                      </a:r>
                      <a:endParaRPr b="1" i="0" sz="1800" u="none" cap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7925" marB="0" marR="7925" marL="7925" anchor="ctr">
                    <a:lnL cap="flat" cmpd="sng" w="9525">
                      <a:solidFill>
                        <a:srgbClr val="D9D9D9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800" u="none" cap="none" strike="noStrik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36</a:t>
                      </a:r>
                      <a:endParaRPr b="1" i="0" sz="1800" u="none" cap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7925" marB="0" marR="7925" marL="79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800" u="none" cap="none" strike="noStrik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30.5%</a:t>
                      </a:r>
                      <a:endParaRPr b="1" i="0" sz="1800" u="none" cap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7925" marB="0" marR="7925" marL="7925" anchor="ctr">
                    <a:lnL cap="flat" cmpd="sng" w="9525">
                      <a:solidFill>
                        <a:srgbClr val="D9D9D9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000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3" name="Shape 4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Google Shape;414;g3a7c546b70d_0_737"/>
          <p:cNvSpPr txBox="1"/>
          <p:nvPr/>
        </p:nvSpPr>
        <p:spPr>
          <a:xfrm>
            <a:off x="458592" y="317941"/>
            <a:ext cx="11274900" cy="827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500"/>
              <a:buFont typeface="Arial"/>
              <a:buNone/>
            </a:pPr>
            <a:r>
              <a:rPr b="1" i="0" lang="en-US" sz="2500" u="none" cap="none" strike="noStrike">
                <a:solidFill>
                  <a:srgbClr val="1155C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Niveau de mise en oeuvre des activités du PAO 2025</a:t>
            </a:r>
            <a:r>
              <a:rPr b="0" i="0" lang="en-US" sz="2500" u="none" cap="none" strike="noStrike">
                <a:solidFill>
                  <a:srgbClr val="1155C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| </a:t>
            </a:r>
            <a:r>
              <a:rPr lang="en-US" sz="2500">
                <a:solidFill>
                  <a:srgbClr val="1155C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Mise en oeuvre par domaine zoom sur les réalisations majeures et points d’attention (</a:t>
            </a:r>
            <a:r>
              <a:rPr lang="en-US" sz="2500">
                <a:solidFill>
                  <a:srgbClr val="1155C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1/2</a:t>
            </a:r>
            <a:r>
              <a:rPr lang="en-US" sz="2500">
                <a:solidFill>
                  <a:srgbClr val="1155C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)</a:t>
            </a:r>
            <a:endParaRPr b="0" i="0" sz="2500" u="none" cap="none" strike="noStrike">
              <a:solidFill>
                <a:srgbClr val="1155CC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415" name="Google Shape;415;g3a7c546b70d_0_737"/>
          <p:cNvSpPr/>
          <p:nvPr/>
        </p:nvSpPr>
        <p:spPr>
          <a:xfrm>
            <a:off x="0" y="272241"/>
            <a:ext cx="235500" cy="655200"/>
          </a:xfrm>
          <a:prstGeom prst="rect">
            <a:avLst/>
          </a:prstGeom>
          <a:solidFill>
            <a:srgbClr val="1155CC"/>
          </a:solidFill>
          <a:ln>
            <a:noFill/>
          </a:ln>
        </p:spPr>
        <p:txBody>
          <a:bodyPr anchorCtr="0" anchor="ctr" bIns="91400" lIns="91400" spcFirstLastPara="1" rIns="91400" wrap="square" tIns="914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r>
              <a:t/>
            </a:r>
            <a:endParaRPr b="0" i="0" sz="1900" u="none" cap="none" strike="noStrike">
              <a:solidFill>
                <a:srgbClr val="0070C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416" name="Google Shape;416;g3a7c546b70d_0_737"/>
          <p:cNvSpPr txBox="1"/>
          <p:nvPr/>
        </p:nvSpPr>
        <p:spPr>
          <a:xfrm>
            <a:off x="267700" y="6492843"/>
            <a:ext cx="114147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12190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t/>
            </a:r>
            <a:endParaRPr b="1" i="0" sz="1200" u="none" cap="none" strike="noStrike">
              <a:solidFill>
                <a:srgbClr val="1155CC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417" name="Google Shape;417;g3a7c546b70d_0_737"/>
          <p:cNvSpPr txBox="1"/>
          <p:nvPr/>
        </p:nvSpPr>
        <p:spPr>
          <a:xfrm>
            <a:off x="11658600" y="6496067"/>
            <a:ext cx="228300" cy="16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-US" sz="1200" u="none" cap="none" strike="noStrike">
                <a:solidFill>
                  <a:srgbClr val="1155CC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rgbClr val="1155C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418" name="Google Shape;418;g3a7c546b70d_0_737"/>
          <p:cNvCxnSpPr/>
          <p:nvPr/>
        </p:nvCxnSpPr>
        <p:spPr>
          <a:xfrm>
            <a:off x="267700" y="6427967"/>
            <a:ext cx="11640300" cy="0"/>
          </a:xfrm>
          <a:prstGeom prst="straightConnector1">
            <a:avLst/>
          </a:prstGeom>
          <a:noFill/>
          <a:ln cap="flat" cmpd="sng" w="9525">
            <a:solidFill>
              <a:srgbClr val="9E9E9E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9" name="Google Shape;419;g3a7c546b70d_0_737"/>
          <p:cNvSpPr txBox="1"/>
          <p:nvPr/>
        </p:nvSpPr>
        <p:spPr>
          <a:xfrm>
            <a:off x="267700" y="6492843"/>
            <a:ext cx="114147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12190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155CC"/>
              </a:buClr>
              <a:buSzPts val="1200"/>
              <a:buFont typeface="Times New Roman"/>
              <a:buNone/>
            </a:pPr>
            <a:r>
              <a:rPr b="1" i="0" lang="en-US" sz="1200" u="none" cap="none" strike="noStrike">
                <a:solidFill>
                  <a:srgbClr val="1155C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Revue annuelle PEV 2025</a:t>
            </a:r>
            <a:endParaRPr b="1" i="0" sz="1200" u="none" cap="none" strike="noStrike">
              <a:solidFill>
                <a:srgbClr val="1155CC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graphicFrame>
        <p:nvGraphicFramePr>
          <p:cNvPr id="420" name="Google Shape;420;g3a7c546b70d_0_737"/>
          <p:cNvGraphicFramePr/>
          <p:nvPr/>
        </p:nvGraphicFramePr>
        <p:xfrm>
          <a:off x="404500" y="13717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{B250B49A-1DDC-4389-8C2D-6F04E9F09937}</a:tableStyleId>
              </a:tblPr>
              <a:tblGrid>
                <a:gridCol w="1334125"/>
                <a:gridCol w="1077600"/>
                <a:gridCol w="4145275"/>
                <a:gridCol w="4806950"/>
              </a:tblGrid>
              <a:tr h="1562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800" u="none" cap="none" strike="noStrike">
                          <a:solidFill>
                            <a:srgbClr val="FFFFFF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Domaine</a:t>
                      </a:r>
                      <a:endParaRPr b="1" sz="1800" u="none" cap="none" strike="noStrike">
                        <a:solidFill>
                          <a:srgbClr val="FFFFFF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0" marB="0" marR="0" marL="0" anchor="ctr">
                    <a:lnL cap="flat" cmpd="sng" w="1270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155C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800" u="none" cap="none" strike="noStrike">
                          <a:solidFill>
                            <a:srgbClr val="FFFFFF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Score global</a:t>
                      </a:r>
                      <a:endParaRPr b="1" sz="1800" u="none" cap="none" strike="noStrike">
                        <a:solidFill>
                          <a:srgbClr val="FFFFFF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0" marB="0" marR="0" marL="0" anchor="ctr">
                    <a:lnL cap="flat" cmpd="sng" w="1270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155C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800" u="none" cap="none" strike="noStrike">
                          <a:solidFill>
                            <a:srgbClr val="FFFFFF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Principaux constats</a:t>
                      </a:r>
                      <a:endParaRPr b="1" sz="1800" u="none" cap="none" strike="noStrike">
                        <a:solidFill>
                          <a:srgbClr val="FFFFFF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0" marB="0" marR="0" marL="0" anchor="ctr">
                    <a:lnL cap="flat" cmpd="sng" w="1270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155C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800" u="none" cap="none" strike="noStrike">
                          <a:solidFill>
                            <a:srgbClr val="FFFFFF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Points d’attention</a:t>
                      </a:r>
                      <a:endParaRPr b="1" sz="1800" u="none" cap="none" strike="noStrike">
                        <a:solidFill>
                          <a:srgbClr val="FFFFFF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0" marB="0" marR="0" marL="0" anchor="ctr">
                    <a:lnL cap="flat" cmpd="sng" w="1270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155CC"/>
                    </a:solidFill>
                  </a:tcPr>
                </a:tc>
              </a:tr>
              <a:tr h="970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Génération de la demande</a:t>
                      </a:r>
                      <a:endParaRPr sz="18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0" marB="0" marR="0" marL="0" anchor="ctr">
                    <a:lnL cap="flat" cmpd="sng" w="1270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cap="none" strike="noStrike">
                          <a:solidFill>
                            <a:schemeClr val="lt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81 %</a:t>
                      </a:r>
                      <a:endParaRPr sz="1800" u="none" cap="none" strike="noStrike">
                        <a:solidFill>
                          <a:schemeClr val="lt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0" marB="0" marR="0" marL="0" anchor="ctr">
                    <a:lnL cap="flat" cmpd="sng" w="1270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indent="-330200" lvl="0" marL="3429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Times New Roman"/>
                        <a:buChar char="•"/>
                      </a:pPr>
                      <a:r>
                        <a:rPr lang="en-US" sz="18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Forte réalisation des activités de communication, plaidoyer et mobilisation communautaire (SMS, médias, leaders communautaires, initiatives confessionnelles). </a:t>
                      </a:r>
                      <a:endParaRPr sz="18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0" marB="0" marR="0" marL="0" anchor="ctr">
                    <a:lnL cap="flat" cmpd="sng" w="1270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330200" lvl="0" marL="3429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Times New Roman"/>
                        <a:buChar char="•"/>
                      </a:pPr>
                      <a:r>
                        <a:rPr lang="en-US" sz="18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La demande progresse plus rapidement que la capacité du système à fournir des services de qualité (prestation, logistique, surveillance).</a:t>
                      </a:r>
                      <a:endParaRPr sz="18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  <a:p>
                      <a:pPr indent="-330200" lvl="0" marL="3429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Times New Roman"/>
                        <a:buChar char="•"/>
                      </a:pPr>
                      <a:r>
                        <a:rPr lang="en-US" sz="18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Faible impacte sur la demande </a:t>
                      </a:r>
                      <a:endParaRPr sz="18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0" marB="0" marR="0" marL="0" anchor="ctr">
                    <a:lnL cap="flat" cmpd="sng" w="1270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89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AVS</a:t>
                      </a:r>
                      <a:endParaRPr sz="18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0" marB="0" marR="0" marL="0" anchor="ctr">
                    <a:lnL cap="flat" cmpd="sng" w="1270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53 %</a:t>
                      </a:r>
                      <a:endParaRPr sz="18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0" marB="0" marR="0" marL="0" anchor="ctr">
                    <a:lnL cap="flat" cmpd="sng" w="1270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indent="-330200" lvl="0" marL="3429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Times New Roman"/>
                        <a:buChar char="•"/>
                      </a:pPr>
                      <a:r>
                        <a:rPr lang="en-US" sz="18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Mise en œuvre des ripostes et campagnes réactives (Polio, Mpox).</a:t>
                      </a:r>
                      <a:endParaRPr sz="18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0" marB="0" marR="0" marL="0" anchor="ctr">
                    <a:lnL cap="flat" cmpd="sng" w="1270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330200" lvl="0" marL="3429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Times New Roman"/>
                        <a:buChar char="•"/>
                      </a:pPr>
                      <a:r>
                        <a:rPr lang="en-US" sz="18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 Retards notables dans les campagnes préventives (Fièvre Jaune, Choléra).</a:t>
                      </a:r>
                      <a:endParaRPr sz="18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0" marB="0" marR="0" marL="0" anchor="ctr">
                    <a:lnL cap="flat" cmpd="sng" w="1270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5391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Qualité des données</a:t>
                      </a:r>
                      <a:endParaRPr sz="18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0" marB="0" marR="0" marL="0" anchor="ctr">
                    <a:lnL cap="flat" cmpd="sng" w="1270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54 %</a:t>
                      </a:r>
                      <a:endParaRPr sz="18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0" marB="0" marR="0" marL="0" anchor="ctr">
                    <a:lnL cap="flat" cmpd="sng" w="1270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indent="-330200" lvl="0" marL="3429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Times New Roman"/>
                        <a:buChar char="•"/>
                      </a:pPr>
                      <a:r>
                        <a:rPr lang="en-US" sz="18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Progrès dans la digitalisation (</a:t>
                      </a:r>
                      <a:r>
                        <a:rPr lang="en-US" sz="18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Registre</a:t>
                      </a:r>
                      <a:r>
                        <a:rPr lang="en-US" sz="18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 électronique, décentralisation DHIS2, tracking </a:t>
                      </a:r>
                      <a:r>
                        <a:rPr lang="en-US" sz="18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vaccinations</a:t>
                      </a:r>
                      <a:r>
                        <a:rPr lang="en-US" sz="18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...).</a:t>
                      </a:r>
                      <a:endParaRPr sz="18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0" marB="0" marR="0" marL="0" anchor="ctr">
                    <a:lnL cap="flat" cmpd="sng" w="1270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330200" lvl="0" marL="3429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Times New Roman"/>
                        <a:buChar char="•"/>
                      </a:pPr>
                      <a:r>
                        <a:rPr lang="en-US" sz="18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Utilisation limitée des données du DHIS2 pour la prise de décision,</a:t>
                      </a:r>
                      <a:endParaRPr sz="18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  <a:p>
                      <a:pPr indent="-330200" lvl="0" marL="3429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Times New Roman"/>
                        <a:buChar char="•"/>
                      </a:pPr>
                      <a:r>
                        <a:rPr lang="en-US" sz="18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Faible réalisation des activités d’audit qualité de données</a:t>
                      </a:r>
                      <a:endParaRPr sz="18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0" marB="0" marR="0" marL="0" anchor="ctr">
                    <a:lnL cap="flat" cmpd="sng" w="1270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5397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Gestion du programme</a:t>
                      </a:r>
                      <a:endParaRPr sz="18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0" marB="0" marR="0" marL="0" anchor="ctr">
                    <a:lnL cap="flat" cmpd="sng" w="1270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cap="none" strike="noStrike">
                          <a:solidFill>
                            <a:schemeClr val="lt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46 %</a:t>
                      </a:r>
                      <a:endParaRPr sz="1800" u="none" cap="none" strike="noStrike">
                        <a:solidFill>
                          <a:schemeClr val="lt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0" marB="0" marR="0" marL="0" anchor="ctr">
                    <a:lnL cap="flat" cmpd="sng" w="1270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indent="-330200" lvl="0" marL="3429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Times New Roman"/>
                        <a:buChar char="•"/>
                      </a:pPr>
                      <a:r>
                        <a:rPr lang="en-US" sz="18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Organisation Forum</a:t>
                      </a:r>
                      <a:endParaRPr sz="18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  <a:p>
                      <a:pPr indent="-330200" lvl="0" marL="3429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Times New Roman"/>
                        <a:buChar char="•"/>
                      </a:pPr>
                      <a:r>
                        <a:rPr lang="en-US" sz="18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CCPeV, GTCV fonctionnel ... </a:t>
                      </a:r>
                      <a:endParaRPr sz="18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0" marB="0" marR="0" marL="0" anchor="ctr">
                    <a:lnL cap="flat" cmpd="sng" w="1270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330200" lvl="0" marL="3429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Times New Roman"/>
                        <a:buChar char="•"/>
                      </a:pPr>
                      <a:r>
                        <a:rPr lang="en-US" sz="18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Suivi et évaluation des assistances techniques, </a:t>
                      </a:r>
                      <a:endParaRPr sz="18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  <a:p>
                      <a:pPr indent="-330200" lvl="0" marL="3429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Times New Roman"/>
                        <a:buChar char="•"/>
                      </a:pPr>
                      <a:r>
                        <a:rPr lang="en-US" sz="18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Mise en œuvre partielle du renforcement des capacités.</a:t>
                      </a:r>
                      <a:endParaRPr sz="18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0" marB="0" marR="0" marL="0" anchor="ctr">
                    <a:lnL cap="flat" cmpd="sng" w="1270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4" name="Shape 4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5" name="Google Shape;425;g3a7c546b70d_0_768"/>
          <p:cNvSpPr txBox="1"/>
          <p:nvPr/>
        </p:nvSpPr>
        <p:spPr>
          <a:xfrm>
            <a:off x="458592" y="317941"/>
            <a:ext cx="11274900" cy="827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500"/>
              <a:buFont typeface="Arial"/>
              <a:buNone/>
            </a:pPr>
            <a:r>
              <a:rPr b="1" i="0" lang="en-US" sz="2500" u="none" cap="none" strike="noStrike">
                <a:solidFill>
                  <a:srgbClr val="1155C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Niveau de mise en oeuvre des activités du PAO 2025</a:t>
            </a:r>
            <a:r>
              <a:rPr b="0" i="0" lang="en-US" sz="2500" u="none" cap="none" strike="noStrike">
                <a:solidFill>
                  <a:srgbClr val="1155C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| </a:t>
            </a:r>
            <a:r>
              <a:rPr lang="en-US" sz="2500">
                <a:solidFill>
                  <a:srgbClr val="1155C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Mise en oeuvre par domaine zoom sur les réalisations majeures et points d’attention (2/2)</a:t>
            </a:r>
            <a:endParaRPr b="0" i="0" sz="2500" u="none" cap="none" strike="noStrike">
              <a:solidFill>
                <a:srgbClr val="1155CC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426" name="Google Shape;426;g3a7c546b70d_0_768"/>
          <p:cNvSpPr/>
          <p:nvPr/>
        </p:nvSpPr>
        <p:spPr>
          <a:xfrm>
            <a:off x="0" y="272241"/>
            <a:ext cx="235500" cy="655200"/>
          </a:xfrm>
          <a:prstGeom prst="rect">
            <a:avLst/>
          </a:prstGeom>
          <a:solidFill>
            <a:srgbClr val="1155CC"/>
          </a:solidFill>
          <a:ln>
            <a:noFill/>
          </a:ln>
        </p:spPr>
        <p:txBody>
          <a:bodyPr anchorCtr="0" anchor="ctr" bIns="91400" lIns="91400" spcFirstLastPara="1" rIns="91400" wrap="square" tIns="914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r>
              <a:t/>
            </a:r>
            <a:endParaRPr b="0" i="0" sz="1900" u="none" cap="none" strike="noStrike">
              <a:solidFill>
                <a:srgbClr val="0070C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427" name="Google Shape;427;g3a7c546b70d_0_768"/>
          <p:cNvSpPr txBox="1"/>
          <p:nvPr/>
        </p:nvSpPr>
        <p:spPr>
          <a:xfrm>
            <a:off x="267700" y="6492843"/>
            <a:ext cx="114147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12190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t/>
            </a:r>
            <a:endParaRPr b="1" i="0" sz="1200" u="none" cap="none" strike="noStrike">
              <a:solidFill>
                <a:srgbClr val="1155CC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428" name="Google Shape;428;g3a7c546b70d_0_768"/>
          <p:cNvSpPr txBox="1"/>
          <p:nvPr/>
        </p:nvSpPr>
        <p:spPr>
          <a:xfrm>
            <a:off x="11658600" y="6496067"/>
            <a:ext cx="228300" cy="16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-US" sz="1200" u="none" cap="none" strike="noStrike">
                <a:solidFill>
                  <a:srgbClr val="1155CC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rgbClr val="1155C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429" name="Google Shape;429;g3a7c546b70d_0_768"/>
          <p:cNvCxnSpPr/>
          <p:nvPr/>
        </p:nvCxnSpPr>
        <p:spPr>
          <a:xfrm>
            <a:off x="267700" y="6427967"/>
            <a:ext cx="11640300" cy="0"/>
          </a:xfrm>
          <a:prstGeom prst="straightConnector1">
            <a:avLst/>
          </a:prstGeom>
          <a:noFill/>
          <a:ln cap="flat" cmpd="sng" w="9525">
            <a:solidFill>
              <a:srgbClr val="9E9E9E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30" name="Google Shape;430;g3a7c546b70d_0_768"/>
          <p:cNvSpPr txBox="1"/>
          <p:nvPr/>
        </p:nvSpPr>
        <p:spPr>
          <a:xfrm>
            <a:off x="267700" y="6492843"/>
            <a:ext cx="114147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12190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155CC"/>
              </a:buClr>
              <a:buSzPts val="1200"/>
              <a:buFont typeface="Times New Roman"/>
              <a:buNone/>
            </a:pPr>
            <a:r>
              <a:rPr b="1" i="0" lang="en-US" sz="1200" u="none" cap="none" strike="noStrike">
                <a:solidFill>
                  <a:srgbClr val="1155C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Revue annuelle PEV 2025</a:t>
            </a:r>
            <a:endParaRPr b="1" i="0" sz="1200" u="none" cap="none" strike="noStrike">
              <a:solidFill>
                <a:srgbClr val="1155CC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graphicFrame>
        <p:nvGraphicFramePr>
          <p:cNvPr id="431" name="Google Shape;431;g3a7c546b70d_0_768"/>
          <p:cNvGraphicFramePr/>
          <p:nvPr/>
        </p:nvGraphicFramePr>
        <p:xfrm>
          <a:off x="404500" y="13717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{B250B49A-1DDC-4389-8C2D-6F04E9F09937}</a:tableStyleId>
              </a:tblPr>
              <a:tblGrid>
                <a:gridCol w="1334125"/>
                <a:gridCol w="1077600"/>
                <a:gridCol w="4145275"/>
                <a:gridCol w="4806950"/>
              </a:tblGrid>
              <a:tr h="1562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800" u="none" cap="none" strike="noStrike">
                          <a:solidFill>
                            <a:srgbClr val="FFFFFF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Domaine</a:t>
                      </a:r>
                      <a:endParaRPr b="1" sz="1800" u="none" cap="none" strike="noStrike">
                        <a:solidFill>
                          <a:srgbClr val="FFFFFF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0" marB="0" marR="0" marL="0" anchor="ctr">
                    <a:lnL cap="flat" cmpd="sng" w="1270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155C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800" u="none" cap="none" strike="noStrike">
                          <a:solidFill>
                            <a:srgbClr val="FFFFFF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Score global</a:t>
                      </a:r>
                      <a:endParaRPr b="1" sz="1800" u="none" cap="none" strike="noStrike">
                        <a:solidFill>
                          <a:srgbClr val="FFFFFF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0" marB="0" marR="0" marL="0" anchor="ctr">
                    <a:lnL cap="flat" cmpd="sng" w="1270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155C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800" u="none" cap="none" strike="noStrike">
                          <a:solidFill>
                            <a:srgbClr val="FFFFFF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Principaux constats</a:t>
                      </a:r>
                      <a:endParaRPr b="1" sz="1800" u="none" cap="none" strike="noStrike">
                        <a:solidFill>
                          <a:srgbClr val="FFFFFF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0" marB="0" marR="0" marL="0" anchor="ctr">
                    <a:lnL cap="flat" cmpd="sng" w="1270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155C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800" u="none" cap="none" strike="noStrike">
                          <a:solidFill>
                            <a:srgbClr val="FFFFFF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Points d’attention</a:t>
                      </a:r>
                      <a:endParaRPr b="1" sz="1800" u="none" cap="none" strike="noStrike">
                        <a:solidFill>
                          <a:srgbClr val="FFFFFF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0" marB="0" marR="0" marL="0" anchor="ctr">
                    <a:lnL cap="flat" cmpd="sng" w="1270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155CC"/>
                    </a:solidFill>
                  </a:tcPr>
                </a:tc>
              </a:tr>
              <a:tr h="970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Logistique</a:t>
                      </a:r>
                      <a:endParaRPr sz="18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0" marB="0" marR="0" marL="0" anchor="ctr">
                    <a:lnL cap="flat" cmpd="sng" w="1270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>
                          <a:solidFill>
                            <a:schemeClr val="lt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44 %</a:t>
                      </a:r>
                      <a:endParaRPr sz="1800" u="none" cap="none" strike="noStrike">
                        <a:solidFill>
                          <a:schemeClr val="lt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0" marB="0" marR="0" marL="0" anchor="ctr">
                    <a:lnL cap="flat" cmpd="sng" w="1270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indent="-330200" lvl="0" marL="3429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Times New Roman"/>
                        <a:buChar char="•"/>
                      </a:pPr>
                      <a:r>
                        <a:rPr lang="en-US" sz="18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Disponibilité globale des vaccins . </a:t>
                      </a:r>
                      <a:endParaRPr sz="18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  <a:p>
                      <a:pPr indent="-330200" lvl="0" marL="3429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Times New Roman"/>
                        <a:buChar char="•"/>
                      </a:pPr>
                      <a:r>
                        <a:rPr lang="en-US" sz="18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Maintenance partielle de la chaîne du froid.</a:t>
                      </a:r>
                      <a:endParaRPr sz="18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0" marB="0" marR="0" marL="0" anchor="ctr">
                    <a:lnL cap="flat" cmpd="sng" w="1270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330200" lvl="0" marL="3429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Times New Roman"/>
                        <a:buChar char="•"/>
                      </a:pPr>
                      <a:r>
                        <a:rPr lang="en-US" sz="18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Retards majeurs sur les équipements lourds, systèmes de monitoring, risque de qualité</a:t>
                      </a:r>
                      <a:endParaRPr sz="18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0" marB="0" marR="0" marL="0" anchor="ctr">
                    <a:lnL cap="flat" cmpd="sng" w="1270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89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Prestation</a:t>
                      </a:r>
                      <a:endParaRPr sz="18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0" marB="0" marR="0" marL="0" anchor="ctr">
                    <a:lnL cap="flat" cmpd="sng" w="1270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>
                          <a:solidFill>
                            <a:srgbClr val="FFFFFF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43 %</a:t>
                      </a:r>
                      <a:endParaRPr sz="1800" u="none" cap="none" strike="noStrike">
                        <a:solidFill>
                          <a:srgbClr val="FFFFFF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0" marB="0" marR="0" marL="0" anchor="ctr">
                    <a:lnL cap="flat" cmpd="sng" w="1270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indent="-330200" lvl="0" marL="3429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Times New Roman"/>
                        <a:buChar char="•"/>
                      </a:pPr>
                      <a:r>
                        <a:rPr lang="en-US" sz="18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Mise en œuvre partielle des séances de vaccination et des stratégies d’atteinte des populations manquées.</a:t>
                      </a:r>
                      <a:endParaRPr sz="18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0" marB="0" marR="0" marL="0" anchor="ctr">
                    <a:lnL cap="flat" cmpd="sng" w="1270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330200" lvl="0" marL="3429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Times New Roman"/>
                        <a:buChar char="•"/>
                      </a:pPr>
                      <a:r>
                        <a:rPr lang="en-US" sz="18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Faible intégration de la vaccination dans les ESS publics </a:t>
                      </a:r>
                      <a:endParaRPr sz="18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  <a:p>
                      <a:pPr indent="-330200" lvl="0" marL="3429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Times New Roman"/>
                        <a:buChar char="•"/>
                      </a:pPr>
                      <a:r>
                        <a:rPr lang="en-US" sz="18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Livrables microplan faiblement disponibles </a:t>
                      </a:r>
                      <a:endParaRPr sz="18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0" marB="0" marR="0" marL="0" anchor="ctr">
                    <a:lnL cap="flat" cmpd="sng" w="1270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5397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Surveillance</a:t>
                      </a:r>
                      <a:endParaRPr sz="18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0" marB="0" marR="0" marL="0" anchor="ctr">
                    <a:lnL cap="flat" cmpd="sng" w="1270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>
                          <a:solidFill>
                            <a:schemeClr val="lt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34 %</a:t>
                      </a:r>
                      <a:endParaRPr sz="1800" u="none" cap="none" strike="noStrike">
                        <a:solidFill>
                          <a:schemeClr val="lt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0" marB="0" marR="0" marL="0" anchor="ctr">
                    <a:lnL cap="flat" cmpd="sng" w="1270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indent="-330200" lvl="0" marL="3429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Times New Roman"/>
                        <a:buChar char="•"/>
                      </a:pPr>
                      <a:r>
                        <a:rPr lang="en-US" sz="18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Certaines fonctions minimales assurées (MAPI, kits de prélèvement, sites environnementaux).</a:t>
                      </a:r>
                      <a:endParaRPr sz="18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0" marB="0" marR="0" marL="0" anchor="ctr">
                    <a:lnL cap="flat" cmpd="sng" w="1270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330200" lvl="0" marL="3429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Times New Roman"/>
                        <a:buChar char="•"/>
                      </a:pPr>
                      <a:r>
                        <a:rPr lang="en-US" sz="18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Nombreuses activités clés non réalisées (revues, supervisions, extension des sites, investigations),</a:t>
                      </a:r>
                      <a:endParaRPr sz="18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0" marB="0" marR="0" marL="0" anchor="ctr">
                    <a:lnL cap="flat" cmpd="sng" w="1270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35" name="Shape 4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g3a7c546b70d_0_778"/>
          <p:cNvSpPr txBox="1"/>
          <p:nvPr/>
        </p:nvSpPr>
        <p:spPr>
          <a:xfrm>
            <a:off x="458592" y="317941"/>
            <a:ext cx="11274900" cy="827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500"/>
              <a:buFont typeface="Arial"/>
              <a:buNone/>
            </a:pPr>
            <a:r>
              <a:rPr b="1" i="0" lang="en-US" sz="2500" u="none" cap="none" strike="noStrike">
                <a:solidFill>
                  <a:srgbClr val="1155C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Niveau de mise en oeuvre des activités du PAO 2025</a:t>
            </a:r>
            <a:r>
              <a:rPr b="0" i="0" lang="en-US" sz="2500" u="none" cap="none" strike="noStrike">
                <a:solidFill>
                  <a:srgbClr val="1155C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| </a:t>
            </a:r>
            <a:r>
              <a:rPr lang="en-US" sz="2500">
                <a:solidFill>
                  <a:srgbClr val="1155C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Analyse</a:t>
            </a:r>
            <a:r>
              <a:rPr lang="en-US" sz="2500">
                <a:solidFill>
                  <a:srgbClr val="1155C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des </a:t>
            </a:r>
            <a:r>
              <a:rPr lang="en-US" sz="2500">
                <a:solidFill>
                  <a:srgbClr val="1155C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activités</a:t>
            </a:r>
            <a:r>
              <a:rPr lang="en-US" sz="2500">
                <a:solidFill>
                  <a:srgbClr val="1155C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vis à vis </a:t>
            </a:r>
            <a:r>
              <a:rPr lang="en-US" sz="2500">
                <a:solidFill>
                  <a:srgbClr val="1155C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de la dépendance aux financements</a:t>
            </a:r>
            <a:endParaRPr b="0" i="0" sz="2500" u="none" cap="none" strike="noStrike">
              <a:solidFill>
                <a:srgbClr val="1155CC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437" name="Google Shape;437;g3a7c546b70d_0_778"/>
          <p:cNvSpPr/>
          <p:nvPr/>
        </p:nvSpPr>
        <p:spPr>
          <a:xfrm>
            <a:off x="0" y="272241"/>
            <a:ext cx="235500" cy="655200"/>
          </a:xfrm>
          <a:prstGeom prst="rect">
            <a:avLst/>
          </a:prstGeom>
          <a:solidFill>
            <a:srgbClr val="1155CC"/>
          </a:solidFill>
          <a:ln>
            <a:noFill/>
          </a:ln>
        </p:spPr>
        <p:txBody>
          <a:bodyPr anchorCtr="0" anchor="ctr" bIns="91400" lIns="91400" spcFirstLastPara="1" rIns="91400" wrap="square" tIns="914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r>
              <a:t/>
            </a:r>
            <a:endParaRPr b="0" i="0" sz="1900" u="none" cap="none" strike="noStrike">
              <a:solidFill>
                <a:srgbClr val="0070C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438" name="Google Shape;438;g3a7c546b70d_0_778"/>
          <p:cNvSpPr txBox="1"/>
          <p:nvPr/>
        </p:nvSpPr>
        <p:spPr>
          <a:xfrm>
            <a:off x="267700" y="6492843"/>
            <a:ext cx="114147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12190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t/>
            </a:r>
            <a:endParaRPr b="1" i="0" sz="1200" u="none" cap="none" strike="noStrike">
              <a:solidFill>
                <a:srgbClr val="1155CC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439" name="Google Shape;439;g3a7c546b70d_0_778"/>
          <p:cNvSpPr txBox="1"/>
          <p:nvPr/>
        </p:nvSpPr>
        <p:spPr>
          <a:xfrm>
            <a:off x="11658600" y="6496067"/>
            <a:ext cx="228300" cy="16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-US" sz="1200" u="none" cap="none" strike="noStrike">
                <a:solidFill>
                  <a:srgbClr val="1155CC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rgbClr val="1155C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440" name="Google Shape;440;g3a7c546b70d_0_778"/>
          <p:cNvCxnSpPr/>
          <p:nvPr/>
        </p:nvCxnSpPr>
        <p:spPr>
          <a:xfrm>
            <a:off x="267700" y="6427967"/>
            <a:ext cx="11640300" cy="0"/>
          </a:xfrm>
          <a:prstGeom prst="straightConnector1">
            <a:avLst/>
          </a:prstGeom>
          <a:noFill/>
          <a:ln cap="flat" cmpd="sng" w="9525">
            <a:solidFill>
              <a:srgbClr val="9E9E9E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1" name="Google Shape;441;g3a7c546b70d_0_778"/>
          <p:cNvSpPr txBox="1"/>
          <p:nvPr/>
        </p:nvSpPr>
        <p:spPr>
          <a:xfrm>
            <a:off x="267700" y="6492843"/>
            <a:ext cx="114147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12190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155CC"/>
              </a:buClr>
              <a:buSzPts val="1200"/>
              <a:buFont typeface="Times New Roman"/>
              <a:buNone/>
            </a:pPr>
            <a:r>
              <a:rPr b="1" i="0" lang="en-US" sz="1200" u="none" cap="none" strike="noStrike">
                <a:solidFill>
                  <a:srgbClr val="1155C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Revue annuelle PEV 2025</a:t>
            </a:r>
            <a:endParaRPr b="1" i="0" sz="1200" u="none" cap="none" strike="noStrike">
              <a:solidFill>
                <a:srgbClr val="1155CC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graphicFrame>
        <p:nvGraphicFramePr>
          <p:cNvPr id="442" name="Google Shape;442;g3a7c546b70d_0_778"/>
          <p:cNvGraphicFramePr/>
          <p:nvPr/>
        </p:nvGraphicFramePr>
        <p:xfrm>
          <a:off x="458610" y="164973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{B250B49A-1DDC-4389-8C2D-6F04E9F09937}</a:tableStyleId>
              </a:tblPr>
              <a:tblGrid>
                <a:gridCol w="3758300"/>
                <a:gridCol w="3758300"/>
                <a:gridCol w="3758300"/>
              </a:tblGrid>
              <a:tr h="9332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800" u="none" cap="none" strike="noStrike">
                          <a:solidFill>
                            <a:srgbClr val="FFFFFF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Niveau de réalisation </a:t>
                      </a:r>
                      <a:endParaRPr b="1" sz="1800" u="none" cap="none" strike="noStrike">
                        <a:solidFill>
                          <a:srgbClr val="FFFFFF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7925" marB="0" marR="7925" marL="7925" anchor="ctr">
                    <a:lnL cap="flat" cmpd="sng" w="1270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155C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800" u="none" cap="none" strike="noStrike">
                          <a:solidFill>
                            <a:srgbClr val="FFFFFF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Activité ne dépendant pas totalement de financement </a:t>
                      </a:r>
                      <a:endParaRPr b="1" sz="1800" u="none" cap="none" strike="noStrike">
                        <a:solidFill>
                          <a:srgbClr val="FFFFFF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7925" marB="0" marR="7925" marL="7925" anchor="ctr">
                    <a:lnL cap="flat" cmpd="sng" w="1270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155C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800" u="none" cap="none" strike="noStrike">
                          <a:solidFill>
                            <a:srgbClr val="FFFFFF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Activité  dépendant totalement de financement </a:t>
                      </a:r>
                      <a:endParaRPr b="1" sz="1800" u="none" cap="none" strike="noStrike">
                        <a:solidFill>
                          <a:srgbClr val="FFFFFF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7925" marB="0" marR="7925" marL="7925" anchor="ctr">
                    <a:lnL cap="flat" cmpd="sng" w="1270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155CC"/>
                    </a:solidFill>
                  </a:tcPr>
                </a:tc>
              </a:tr>
              <a:tr h="3479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Non réalisée</a:t>
                      </a:r>
                      <a:endParaRPr sz="18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7925" marB="0" marR="7925" marL="7925" anchor="ctr">
                    <a:lnL cap="flat" cmpd="sng" w="1270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(9)36%</a:t>
                      </a:r>
                      <a:endParaRPr sz="18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7925" marB="0" marR="7925" marL="7925" anchor="ctr">
                    <a:lnL cap="flat" cmpd="sng" w="1270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(27)29%</a:t>
                      </a:r>
                      <a:endParaRPr sz="18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7925" marB="0" marR="7925" marL="7925" anchor="ctr">
                    <a:lnL cap="flat" cmpd="sng" w="1270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473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Faiblement réalisée</a:t>
                      </a:r>
                      <a:endParaRPr sz="18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7925" marB="0" marR="7925" marL="7925" anchor="ctr">
                    <a:lnL cap="flat" cmpd="sng" w="1270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0%</a:t>
                      </a:r>
                      <a:endParaRPr sz="18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7925" marB="0" marR="7925" marL="7925" anchor="ctr">
                    <a:lnL cap="flat" cmpd="sng" w="1270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(4)4%</a:t>
                      </a:r>
                      <a:endParaRPr sz="18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7925" marB="0" marR="7925" marL="7925" anchor="ctr">
                    <a:lnL cap="flat" cmpd="sng" w="1270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5175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Moyennement réalisée</a:t>
                      </a:r>
                      <a:endParaRPr sz="18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7925" marB="0" marR="7925" marL="7925" anchor="ctr">
                    <a:lnL cap="flat" cmpd="sng" w="1270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(9)36%</a:t>
                      </a:r>
                      <a:endParaRPr sz="18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7925" marB="0" marR="7925" marL="7925" anchor="ctr">
                    <a:lnL cap="flat" cmpd="sng" w="1270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(25)27%</a:t>
                      </a:r>
                      <a:endParaRPr sz="18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7925" marB="0" marR="7925" marL="7925" anchor="ctr">
                    <a:lnL cap="flat" cmpd="sng" w="1270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473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Largement réalisée</a:t>
                      </a:r>
                      <a:endParaRPr sz="18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7925" marB="0" marR="7925" marL="7925" anchor="ctr">
                    <a:lnL cap="flat" cmpd="sng" w="1270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0%</a:t>
                      </a:r>
                      <a:endParaRPr sz="18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7925" marB="0" marR="7925" marL="7925" anchor="ctr">
                    <a:lnL cap="flat" cmpd="sng" w="1270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(12)13%</a:t>
                      </a:r>
                      <a:endParaRPr sz="18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7925" marB="0" marR="7925" marL="7925" anchor="ctr">
                    <a:lnL cap="flat" cmpd="sng" w="1270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473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Totalement réalisée</a:t>
                      </a:r>
                      <a:endParaRPr sz="18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7925" marB="0" marR="7925" marL="7925" anchor="ctr">
                    <a:lnL cap="flat" cmpd="sng" w="1270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(7) 28%</a:t>
                      </a:r>
                      <a:endParaRPr sz="18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7925" marB="0" marR="7925" marL="7925" anchor="ctr">
                    <a:lnL cap="flat" cmpd="sng" w="1270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(25)27%</a:t>
                      </a:r>
                      <a:endParaRPr sz="18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7925" marB="0" marR="7925" marL="7925" anchor="ctr">
                    <a:lnL cap="flat" cmpd="sng" w="1270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473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Total </a:t>
                      </a:r>
                      <a:endParaRPr sz="18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7925" marB="0" marR="7925" marL="7925" anchor="ctr">
                    <a:lnL cap="flat" cmpd="sng" w="1270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25(100%)</a:t>
                      </a:r>
                      <a:endParaRPr sz="18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7925" marB="0" marR="7925" marL="7925" anchor="ctr">
                    <a:lnL cap="flat" cmpd="sng" w="1270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92(100%)</a:t>
                      </a:r>
                      <a:endParaRPr sz="18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7925" marB="0" marR="7925" marL="7925" anchor="ctr">
                    <a:lnL cap="flat" cmpd="sng" w="1270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  <p:sp>
        <p:nvSpPr>
          <p:cNvPr id="443" name="Google Shape;443;g3a7c546b70d_0_778"/>
          <p:cNvSpPr txBox="1"/>
          <p:nvPr/>
        </p:nvSpPr>
        <p:spPr>
          <a:xfrm>
            <a:off x="458600" y="5663800"/>
            <a:ext cx="11274900" cy="400200"/>
          </a:xfrm>
          <a:prstGeom prst="rect">
            <a:avLst/>
          </a:prstGeom>
          <a:solidFill>
            <a:srgbClr val="B1CDFB"/>
          </a:solidFill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lang="en-US" sz="2000">
                <a:latin typeface="Times New Roman"/>
                <a:ea typeface="Times New Roman"/>
                <a:cs typeface="Times New Roman"/>
                <a:sym typeface="Times New Roman"/>
              </a:rPr>
              <a:t>La performance dépend autant de la disponibilité financière que de la capacité de pilotage</a:t>
            </a:r>
            <a:endParaRPr b="1" i="0" sz="2000" u="none" cap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7" name="Shape 4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8" name="Google Shape;448;g3a7c546b70d_0_790"/>
          <p:cNvSpPr txBox="1"/>
          <p:nvPr/>
        </p:nvSpPr>
        <p:spPr>
          <a:xfrm>
            <a:off x="458592" y="317941"/>
            <a:ext cx="11274900" cy="827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500"/>
              <a:buFont typeface="Arial"/>
              <a:buNone/>
            </a:pPr>
            <a:r>
              <a:rPr b="1" i="0" lang="en-US" sz="2500" u="none" cap="none" strike="noStrike">
                <a:solidFill>
                  <a:srgbClr val="1155C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Niveau de mise en oeuvre des activités du PAO 2025</a:t>
            </a:r>
            <a:r>
              <a:rPr b="0" i="0" lang="en-US" sz="2500" u="none" cap="none" strike="noStrike">
                <a:solidFill>
                  <a:srgbClr val="1155C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| </a:t>
            </a:r>
            <a:r>
              <a:rPr lang="en-US" sz="2500">
                <a:solidFill>
                  <a:srgbClr val="1155C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Analyse des activités vis à vis de la priorisation lors de la planification</a:t>
            </a:r>
            <a:endParaRPr b="0" i="0" sz="2500" u="none" cap="none" strike="noStrike">
              <a:solidFill>
                <a:srgbClr val="1155CC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449" name="Google Shape;449;g3a7c546b70d_0_790"/>
          <p:cNvSpPr/>
          <p:nvPr/>
        </p:nvSpPr>
        <p:spPr>
          <a:xfrm>
            <a:off x="0" y="272241"/>
            <a:ext cx="235500" cy="655200"/>
          </a:xfrm>
          <a:prstGeom prst="rect">
            <a:avLst/>
          </a:prstGeom>
          <a:solidFill>
            <a:srgbClr val="1155CC"/>
          </a:solidFill>
          <a:ln>
            <a:noFill/>
          </a:ln>
        </p:spPr>
        <p:txBody>
          <a:bodyPr anchorCtr="0" anchor="ctr" bIns="91400" lIns="91400" spcFirstLastPara="1" rIns="91400" wrap="square" tIns="914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r>
              <a:t/>
            </a:r>
            <a:endParaRPr b="0" i="0" sz="1900" u="none" cap="none" strike="noStrike">
              <a:solidFill>
                <a:srgbClr val="0070C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450" name="Google Shape;450;g3a7c546b70d_0_790"/>
          <p:cNvSpPr txBox="1"/>
          <p:nvPr/>
        </p:nvSpPr>
        <p:spPr>
          <a:xfrm>
            <a:off x="267700" y="6492843"/>
            <a:ext cx="114147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12190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t/>
            </a:r>
            <a:endParaRPr b="1" i="0" sz="1200" u="none" cap="none" strike="noStrike">
              <a:solidFill>
                <a:srgbClr val="1155CC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451" name="Google Shape;451;g3a7c546b70d_0_790"/>
          <p:cNvSpPr txBox="1"/>
          <p:nvPr/>
        </p:nvSpPr>
        <p:spPr>
          <a:xfrm>
            <a:off x="11658600" y="6496067"/>
            <a:ext cx="228300" cy="16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-US" sz="1200" u="none" cap="none" strike="noStrike">
                <a:solidFill>
                  <a:srgbClr val="1155CC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rgbClr val="1155C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452" name="Google Shape;452;g3a7c546b70d_0_790"/>
          <p:cNvCxnSpPr/>
          <p:nvPr/>
        </p:nvCxnSpPr>
        <p:spPr>
          <a:xfrm>
            <a:off x="267700" y="6427967"/>
            <a:ext cx="11640300" cy="0"/>
          </a:xfrm>
          <a:prstGeom prst="straightConnector1">
            <a:avLst/>
          </a:prstGeom>
          <a:noFill/>
          <a:ln cap="flat" cmpd="sng" w="9525">
            <a:solidFill>
              <a:srgbClr val="9E9E9E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53" name="Google Shape;453;g3a7c546b70d_0_790"/>
          <p:cNvSpPr txBox="1"/>
          <p:nvPr/>
        </p:nvSpPr>
        <p:spPr>
          <a:xfrm>
            <a:off x="267700" y="6492843"/>
            <a:ext cx="114147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12190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155CC"/>
              </a:buClr>
              <a:buSzPts val="1200"/>
              <a:buFont typeface="Times New Roman"/>
              <a:buNone/>
            </a:pPr>
            <a:r>
              <a:rPr b="1" i="0" lang="en-US" sz="1200" u="none" cap="none" strike="noStrike">
                <a:solidFill>
                  <a:srgbClr val="1155C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Revue annuelle PEV 2025</a:t>
            </a:r>
            <a:endParaRPr b="1" i="0" sz="1200" u="none" cap="none" strike="noStrike">
              <a:solidFill>
                <a:srgbClr val="1155CC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454" name="Google Shape;454;g3a7c546b70d_0_790"/>
          <p:cNvSpPr txBox="1"/>
          <p:nvPr/>
        </p:nvSpPr>
        <p:spPr>
          <a:xfrm>
            <a:off x="458600" y="5663800"/>
            <a:ext cx="11274900" cy="708000"/>
          </a:xfrm>
          <a:prstGeom prst="rect">
            <a:avLst/>
          </a:prstGeom>
          <a:solidFill>
            <a:srgbClr val="B1CDFB"/>
          </a:solidFill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lang="en-US" sz="2000">
                <a:latin typeface="Times New Roman"/>
                <a:ea typeface="Times New Roman"/>
                <a:cs typeface="Times New Roman"/>
                <a:sym typeface="Times New Roman"/>
              </a:rPr>
              <a:t>Les activités à haute priorité bénéficient d’un meilleur mise en oeuvre, mais restent partiellement réalisées, alors que leur impact est accès fort sur la performance du programme </a:t>
            </a:r>
            <a:endParaRPr b="1" sz="200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graphicFrame>
        <p:nvGraphicFramePr>
          <p:cNvPr id="455" name="Google Shape;455;g3a7c546b70d_0_790"/>
          <p:cNvGraphicFramePr/>
          <p:nvPr/>
        </p:nvGraphicFramePr>
        <p:xfrm>
          <a:off x="458605" y="15266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{B250B49A-1DDC-4389-8C2D-6F04E9F09937}</a:tableStyleId>
              </a:tblPr>
              <a:tblGrid>
                <a:gridCol w="4458725"/>
                <a:gridCol w="3179650"/>
                <a:gridCol w="3636525"/>
              </a:tblGrid>
              <a:tr h="4687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800" u="none" cap="none" strike="noStrike">
                          <a:solidFill>
                            <a:srgbClr val="FFFFFF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Niveau de réalisation </a:t>
                      </a:r>
                      <a:endParaRPr b="1" sz="1800" u="none" cap="none" strike="noStrike">
                        <a:solidFill>
                          <a:srgbClr val="FFFFFF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FFFFFF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0" marB="0" marR="7925" marL="7925" anchor="ctr">
                    <a:lnL cap="flat" cmpd="sng" w="1270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155C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800" u="none" cap="none" strike="noStrike">
                          <a:solidFill>
                            <a:srgbClr val="FFFFFF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Activité de priorité Élevée</a:t>
                      </a:r>
                      <a:endParaRPr b="1" sz="1800" u="none" cap="none" strike="noStrike">
                        <a:solidFill>
                          <a:srgbClr val="FFFFFF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0" marB="0" marR="7925" marL="7925" anchor="ctr">
                    <a:lnL cap="flat" cmpd="sng" w="1270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155C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800" u="none" cap="none" strike="noStrike">
                          <a:solidFill>
                            <a:srgbClr val="FFFFFF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Activité de priorité</a:t>
                      </a:r>
                      <a:endParaRPr b="1" sz="1800" u="none" cap="none" strike="noStrike">
                        <a:solidFill>
                          <a:srgbClr val="FFFFFF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800" u="none" cap="none" strike="noStrike">
                          <a:solidFill>
                            <a:srgbClr val="FFFFFF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Moyenne</a:t>
                      </a:r>
                      <a:endParaRPr b="1" sz="1800" u="none" cap="none" strike="noStrike">
                        <a:solidFill>
                          <a:srgbClr val="FFFFFF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0" marB="0" marR="7925" marL="7925" anchor="ctr">
                    <a:lnL cap="flat" cmpd="sng" w="1270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155CC"/>
                    </a:solidFill>
                  </a:tcPr>
                </a:tc>
              </a:tr>
              <a:tr h="3059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Non réalisée</a:t>
                      </a:r>
                      <a:endParaRPr sz="18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0" marB="0" marR="7925" marL="7925" anchor="ctr">
                    <a:lnL cap="flat" cmpd="sng" w="1270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i="0" lang="en-US" sz="1800" u="none" cap="none" strike="noStrik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(21)23%</a:t>
                      </a:r>
                      <a:endParaRPr i="0" sz="1800" u="none" cap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0" marB="0" marR="7925" marL="7925" anchor="ctr">
                    <a:lnL cap="flat" cmpd="sng" w="1270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cap="none" strike="noStrik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(15)</a:t>
                      </a:r>
                      <a:r>
                        <a:rPr i="0" lang="en-US" sz="1800" u="none" cap="none" strike="noStrik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60%</a:t>
                      </a:r>
                      <a:endParaRPr i="0" sz="1800" u="none" cap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0" marB="0" marR="7925" marL="7925" anchor="ctr">
                    <a:lnL cap="flat" cmpd="sng" w="1270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5131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Faiblement réalisée</a:t>
                      </a:r>
                      <a:endParaRPr sz="18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0" marB="0" marR="7925" marL="7925" anchor="ctr">
                    <a:lnL cap="flat" cmpd="sng" w="1270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i="0" lang="en-US" sz="1800" u="none" cap="none" strike="noStrik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(4)4%</a:t>
                      </a:r>
                      <a:endParaRPr i="0" sz="1800" u="none" cap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0" marB="0" marR="7925" marL="7925" anchor="ctr">
                    <a:lnL cap="flat" cmpd="sng" w="1270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cap="none" strike="noStrik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(0)</a:t>
                      </a:r>
                      <a:r>
                        <a:rPr i="0" lang="en-US" sz="1800" u="none" cap="none" strike="noStrik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0%</a:t>
                      </a:r>
                      <a:endParaRPr i="0" sz="1800" u="none" cap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0" marB="0" marR="7925" marL="7925" anchor="ctr">
                    <a:lnL cap="flat" cmpd="sng" w="1270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51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Moyennement réalisée</a:t>
                      </a:r>
                      <a:endParaRPr sz="18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0" marB="0" marR="7925" marL="7925" anchor="ctr">
                    <a:lnL cap="flat" cmpd="sng" w="1270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i="0" lang="en-US" sz="1800" u="none" cap="none" strike="noStrik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(31)33%</a:t>
                      </a:r>
                      <a:endParaRPr i="0" sz="1800" u="none" cap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0" marB="0" marR="7925" marL="7925" anchor="ctr">
                    <a:lnL cap="flat" cmpd="sng" w="1270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cap="none" strike="noStrik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(3)</a:t>
                      </a:r>
                      <a:r>
                        <a:rPr i="0" lang="en-US" sz="1800" u="none" cap="none" strike="noStrik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12%</a:t>
                      </a:r>
                      <a:endParaRPr i="0" sz="1800" u="none" cap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0" marB="0" marR="7925" marL="7925" anchor="ctr">
                    <a:lnL cap="flat" cmpd="sng" w="1270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5131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Largement réalisée</a:t>
                      </a:r>
                      <a:endParaRPr sz="18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0" marB="0" marR="7925" marL="7925" anchor="ctr">
                    <a:lnL cap="flat" cmpd="sng" w="1270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i="0" lang="en-US" sz="1800" u="none" cap="none" strike="noStrik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(11)12%</a:t>
                      </a:r>
                      <a:endParaRPr i="0" sz="1800" u="none" cap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0" marB="0" marR="7925" marL="7925" anchor="ctr">
                    <a:lnL cap="flat" cmpd="sng" w="1270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cap="none" strike="noStrik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(1)</a:t>
                      </a:r>
                      <a:r>
                        <a:rPr i="0" lang="en-US" sz="1800" u="none" cap="none" strike="noStrik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4%</a:t>
                      </a:r>
                      <a:endParaRPr i="0" sz="1800" u="none" cap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0" marB="0" marR="7925" marL="7925" anchor="ctr">
                    <a:lnL cap="flat" cmpd="sng" w="1270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5131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Totalement réalisée</a:t>
                      </a:r>
                      <a:endParaRPr sz="18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0" marB="0" marR="7925" marL="7925" anchor="ctr">
                    <a:lnL cap="flat" cmpd="sng" w="1270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i="0" lang="en-US" sz="1800" u="none" cap="none" strike="noStrik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(26)28%</a:t>
                      </a:r>
                      <a:endParaRPr i="0" sz="1800" u="none" cap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0" marB="0" marR="7925" marL="7925" anchor="ctr">
                    <a:lnL cap="flat" cmpd="sng" w="1270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cap="none" strike="noStrik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(6)</a:t>
                      </a:r>
                      <a:r>
                        <a:rPr i="0" lang="en-US" sz="1800" u="none" cap="none" strike="noStrik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24%</a:t>
                      </a:r>
                      <a:endParaRPr i="0" sz="1800" u="none" cap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0" marB="0" marR="7925" marL="7925" anchor="ctr">
                    <a:lnL cap="flat" cmpd="sng" w="1270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5131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000"/>
                        <a:buFont typeface="Arial"/>
                        <a:buNone/>
                      </a:pPr>
                      <a:r>
                        <a:rPr lang="en-US" sz="18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Total </a:t>
                      </a:r>
                      <a:endParaRPr sz="18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0" marB="0" marR="7925" marL="7925" anchor="ctr">
                    <a:lnL cap="flat" cmpd="sng" w="1270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000"/>
                        <a:buFont typeface="Arial"/>
                        <a:buNone/>
                      </a:pPr>
                      <a:r>
                        <a:rPr lang="en-US" sz="18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(93)100%</a:t>
                      </a:r>
                      <a:endParaRPr sz="18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0" marB="0" marR="7925" marL="7925" anchor="ctr">
                    <a:lnL cap="flat" cmpd="sng" w="1270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000"/>
                        <a:buFont typeface="Arial"/>
                        <a:buNone/>
                      </a:pPr>
                      <a:r>
                        <a:rPr lang="en-US" sz="18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(25)100%</a:t>
                      </a:r>
                      <a:endParaRPr sz="18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0" marB="0" marR="7925" marL="7925" anchor="ctr">
                    <a:lnL cap="flat" cmpd="sng" w="1270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59" name="Shape 4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" name="Google Shape;460;g3a7c50a7b14_2_0"/>
          <p:cNvSpPr txBox="1"/>
          <p:nvPr/>
        </p:nvSpPr>
        <p:spPr>
          <a:xfrm>
            <a:off x="458592" y="317941"/>
            <a:ext cx="11274900" cy="384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500"/>
              <a:buFont typeface="Arial"/>
              <a:buNone/>
            </a:pPr>
            <a:r>
              <a:rPr b="1" lang="en-US" sz="2500">
                <a:solidFill>
                  <a:srgbClr val="1155C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Niveau de mise en oeuvre des activités du PAO 2025 | </a:t>
            </a:r>
            <a:r>
              <a:rPr lang="en-US" sz="2500">
                <a:solidFill>
                  <a:srgbClr val="1155C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Conclusion</a:t>
            </a:r>
            <a:endParaRPr sz="2500">
              <a:solidFill>
                <a:srgbClr val="1155CC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461" name="Google Shape;461;g3a7c50a7b14_2_0"/>
          <p:cNvSpPr/>
          <p:nvPr/>
        </p:nvSpPr>
        <p:spPr>
          <a:xfrm>
            <a:off x="0" y="272241"/>
            <a:ext cx="235500" cy="655200"/>
          </a:xfrm>
          <a:prstGeom prst="rect">
            <a:avLst/>
          </a:prstGeom>
          <a:solidFill>
            <a:srgbClr val="1155CC"/>
          </a:solidFill>
          <a:ln>
            <a:noFill/>
          </a:ln>
        </p:spPr>
        <p:txBody>
          <a:bodyPr anchorCtr="0" anchor="ctr" bIns="91400" lIns="91400" spcFirstLastPara="1" rIns="91400" wrap="square" tIns="914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r>
              <a:t/>
            </a:r>
            <a:endParaRPr b="0" i="0" sz="1900" u="none" cap="none" strike="noStrike">
              <a:solidFill>
                <a:srgbClr val="0070C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462" name="Google Shape;462;g3a7c50a7b14_2_0"/>
          <p:cNvSpPr txBox="1"/>
          <p:nvPr/>
        </p:nvSpPr>
        <p:spPr>
          <a:xfrm>
            <a:off x="267700" y="6492843"/>
            <a:ext cx="114147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12190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t/>
            </a:r>
            <a:endParaRPr b="1" i="0" sz="1200" u="none" cap="none" strike="noStrike">
              <a:solidFill>
                <a:srgbClr val="1155CC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463" name="Google Shape;463;g3a7c50a7b14_2_0"/>
          <p:cNvSpPr txBox="1"/>
          <p:nvPr/>
        </p:nvSpPr>
        <p:spPr>
          <a:xfrm>
            <a:off x="11658600" y="6496067"/>
            <a:ext cx="228300" cy="16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-US" sz="1200" u="none" cap="none" strike="noStrike">
                <a:solidFill>
                  <a:srgbClr val="1155CC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rgbClr val="1155C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464" name="Google Shape;464;g3a7c50a7b14_2_0"/>
          <p:cNvCxnSpPr/>
          <p:nvPr/>
        </p:nvCxnSpPr>
        <p:spPr>
          <a:xfrm>
            <a:off x="267700" y="6427967"/>
            <a:ext cx="11640300" cy="0"/>
          </a:xfrm>
          <a:prstGeom prst="straightConnector1">
            <a:avLst/>
          </a:prstGeom>
          <a:noFill/>
          <a:ln cap="flat" cmpd="sng" w="9525">
            <a:solidFill>
              <a:srgbClr val="9E9E9E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65" name="Google Shape;465;g3a7c50a7b14_2_0"/>
          <p:cNvSpPr txBox="1"/>
          <p:nvPr/>
        </p:nvSpPr>
        <p:spPr>
          <a:xfrm>
            <a:off x="267700" y="6492843"/>
            <a:ext cx="114147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12190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155CC"/>
              </a:buClr>
              <a:buSzPts val="1200"/>
              <a:buFont typeface="Times New Roman"/>
              <a:buNone/>
            </a:pPr>
            <a:r>
              <a:rPr b="1" i="0" lang="en-US" sz="1200" u="none" cap="none" strike="noStrike">
                <a:solidFill>
                  <a:srgbClr val="1155C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Revue annuelle PEV 2025</a:t>
            </a:r>
            <a:endParaRPr b="1" i="0" sz="1200" u="none" cap="none" strike="noStrike">
              <a:solidFill>
                <a:srgbClr val="1155CC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466" name="Google Shape;466;g3a7c50a7b14_2_0"/>
          <p:cNvSpPr txBox="1"/>
          <p:nvPr/>
        </p:nvSpPr>
        <p:spPr>
          <a:xfrm>
            <a:off x="458600" y="1095800"/>
            <a:ext cx="11328900" cy="4666500"/>
          </a:xfrm>
          <a:prstGeom prst="rect">
            <a:avLst/>
          </a:prstGeom>
          <a:noFill/>
          <a:ln>
            <a:noFill/>
          </a:ln>
        </p:spPr>
        <p:txBody>
          <a:bodyPr anchorCtr="0" anchor="t" bIns="121900" lIns="121900" spcFirstLastPara="1" rIns="121900" wrap="square" tIns="121900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1300"/>
              </a:spcBef>
              <a:spcAft>
                <a:spcPts val="0"/>
              </a:spcAft>
              <a:buClr>
                <a:srgbClr val="222222"/>
              </a:buClr>
              <a:buSzPts val="1800"/>
              <a:buFont typeface="Times New Roman"/>
              <a:buChar char="●"/>
            </a:pPr>
            <a:r>
              <a:rPr lang="en-US" sz="1800">
                <a:solidFill>
                  <a:srgbClr val="222222"/>
                </a:solidFill>
                <a:highlight>
                  <a:srgbClr val="FFFFFF"/>
                </a:highlight>
                <a:latin typeface="Times New Roman"/>
                <a:ea typeface="Times New Roman"/>
                <a:cs typeface="Times New Roman"/>
                <a:sym typeface="Times New Roman"/>
              </a:rPr>
              <a:t>Les responsables des groupes </a:t>
            </a:r>
            <a:r>
              <a:rPr lang="en-US" sz="1800">
                <a:solidFill>
                  <a:srgbClr val="222222"/>
                </a:solidFill>
                <a:highlight>
                  <a:srgbClr val="FFFFFF"/>
                </a:highlight>
                <a:latin typeface="Times New Roman"/>
                <a:ea typeface="Times New Roman"/>
                <a:cs typeface="Times New Roman"/>
                <a:sym typeface="Times New Roman"/>
              </a:rPr>
              <a:t>thématiques</a:t>
            </a:r>
            <a:r>
              <a:rPr lang="en-US" sz="1800">
                <a:solidFill>
                  <a:srgbClr val="222222"/>
                </a:solidFill>
                <a:highlight>
                  <a:srgbClr val="FFFFFF"/>
                </a:highlight>
                <a:latin typeface="Times New Roman"/>
                <a:ea typeface="Times New Roman"/>
                <a:cs typeface="Times New Roman"/>
                <a:sym typeface="Times New Roman"/>
              </a:rPr>
              <a:t> vont renseigner les bonnes pratiques ou </a:t>
            </a:r>
            <a:r>
              <a:rPr lang="en-US" sz="1800">
                <a:solidFill>
                  <a:srgbClr val="222222"/>
                </a:solidFill>
                <a:highlight>
                  <a:srgbClr val="FFFFFF"/>
                </a:highlight>
                <a:latin typeface="Times New Roman"/>
                <a:ea typeface="Times New Roman"/>
                <a:cs typeface="Times New Roman"/>
                <a:sym typeface="Times New Roman"/>
              </a:rPr>
              <a:t>leçons</a:t>
            </a:r>
            <a:r>
              <a:rPr lang="en-US" sz="1800">
                <a:solidFill>
                  <a:srgbClr val="222222"/>
                </a:solidFill>
                <a:highlight>
                  <a:srgbClr val="FFFFFF"/>
                </a:highlight>
                <a:latin typeface="Times New Roman"/>
                <a:ea typeface="Times New Roman"/>
                <a:cs typeface="Times New Roman"/>
                <a:sym typeface="Times New Roman"/>
              </a:rPr>
              <a:t> apprises lors de la mise en </a:t>
            </a:r>
            <a:r>
              <a:rPr lang="en-US" sz="1800">
                <a:solidFill>
                  <a:srgbClr val="222222"/>
                </a:solidFill>
                <a:highlight>
                  <a:srgbClr val="FFFFFF"/>
                </a:highlight>
                <a:latin typeface="Times New Roman"/>
                <a:ea typeface="Times New Roman"/>
                <a:cs typeface="Times New Roman"/>
                <a:sym typeface="Times New Roman"/>
              </a:rPr>
              <a:t>oeuvre</a:t>
            </a:r>
            <a:r>
              <a:rPr lang="en-US" sz="1800">
                <a:solidFill>
                  <a:srgbClr val="222222"/>
                </a:solidFill>
                <a:highlight>
                  <a:srgbClr val="FFFFFF"/>
                </a:highlight>
                <a:latin typeface="Times New Roman"/>
                <a:ea typeface="Times New Roman"/>
                <a:cs typeface="Times New Roman"/>
                <a:sym typeface="Times New Roman"/>
              </a:rPr>
              <a:t> des </a:t>
            </a:r>
            <a:r>
              <a:rPr lang="en-US" sz="1800">
                <a:solidFill>
                  <a:srgbClr val="222222"/>
                </a:solidFill>
                <a:highlight>
                  <a:srgbClr val="FFFFFF"/>
                </a:highlight>
                <a:latin typeface="Times New Roman"/>
                <a:ea typeface="Times New Roman"/>
                <a:cs typeface="Times New Roman"/>
                <a:sym typeface="Times New Roman"/>
              </a:rPr>
              <a:t>activités</a:t>
            </a:r>
            <a:r>
              <a:rPr lang="en-US" sz="1800">
                <a:solidFill>
                  <a:srgbClr val="222222"/>
                </a:solidFill>
                <a:highlight>
                  <a:srgbClr val="FFFFFF"/>
                </a:highlight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1800">
                <a:solidFill>
                  <a:srgbClr val="222222"/>
                </a:solidFill>
                <a:highlight>
                  <a:srgbClr val="FFFFFF"/>
                </a:highlight>
                <a:latin typeface="Times New Roman"/>
                <a:ea typeface="Times New Roman"/>
                <a:cs typeface="Times New Roman"/>
                <a:sym typeface="Times New Roman"/>
              </a:rPr>
              <a:t>réalisées ainsi que les contraintes de mise en oeuvre pour les activités non réalisées</a:t>
            </a:r>
            <a:endParaRPr sz="1800">
              <a:solidFill>
                <a:srgbClr val="222222"/>
              </a:solidFill>
              <a:highlight>
                <a:srgbClr val="FFFFFF"/>
              </a:highlight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1300"/>
              </a:spcBef>
              <a:spcAft>
                <a:spcPts val="0"/>
              </a:spcAft>
              <a:buClr>
                <a:srgbClr val="222222"/>
              </a:buClr>
              <a:buSzPts val="1800"/>
              <a:buFont typeface="Times New Roman"/>
              <a:buChar char="●"/>
            </a:pPr>
            <a:r>
              <a:rPr lang="en-US" sz="1800">
                <a:solidFill>
                  <a:srgbClr val="222222"/>
                </a:solidFill>
                <a:highlight>
                  <a:srgbClr val="FFFFFF"/>
                </a:highlight>
                <a:latin typeface="Times New Roman"/>
                <a:ea typeface="Times New Roman"/>
                <a:cs typeface="Times New Roman"/>
                <a:sym typeface="Times New Roman"/>
              </a:rPr>
              <a:t>Un diagnostic approfondie des causes </a:t>
            </a:r>
            <a:r>
              <a:rPr lang="en-US" sz="1800">
                <a:solidFill>
                  <a:srgbClr val="222222"/>
                </a:solidFill>
                <a:highlight>
                  <a:srgbClr val="FFFFFF"/>
                </a:highlight>
                <a:latin typeface="Times New Roman"/>
                <a:ea typeface="Times New Roman"/>
                <a:cs typeface="Times New Roman"/>
                <a:sym typeface="Times New Roman"/>
              </a:rPr>
              <a:t>réels</a:t>
            </a:r>
            <a:r>
              <a:rPr lang="en-US" sz="1800">
                <a:solidFill>
                  <a:srgbClr val="222222"/>
                </a:solidFill>
                <a:highlight>
                  <a:srgbClr val="FFFFFF"/>
                </a:highlight>
                <a:latin typeface="Times New Roman"/>
                <a:ea typeface="Times New Roman"/>
                <a:cs typeface="Times New Roman"/>
                <a:sym typeface="Times New Roman"/>
              </a:rPr>
              <a:t> et contraintes est attendues pour orienter la planification 2026</a:t>
            </a:r>
            <a:endParaRPr sz="1800">
              <a:solidFill>
                <a:srgbClr val="222222"/>
              </a:solidFill>
              <a:highlight>
                <a:srgbClr val="FFFFFF"/>
              </a:highlight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457200" marR="0" rtl="0" algn="l">
              <a:lnSpc>
                <a:spcPct val="100000"/>
              </a:lnSpc>
              <a:spcBef>
                <a:spcPts val="130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rgbClr val="222222"/>
              </a:solidFill>
              <a:highlight>
                <a:srgbClr val="FFFFFF"/>
              </a:highlight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130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rgbClr val="222222"/>
              </a:solidFill>
              <a:highlight>
                <a:srgbClr val="FFFFFF"/>
              </a:highlight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130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222222"/>
              </a:solidFill>
              <a:highlight>
                <a:srgbClr val="FFFFFF"/>
              </a:highlight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13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accent1"/>
        </a:solidFill>
      </p:bgPr>
    </p:bg>
    <p:spTree>
      <p:nvGrpSpPr>
        <p:cNvPr id="470" name="Shape 4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Google Shape;471;g3a7c50a7b14_2_99"/>
          <p:cNvSpPr txBox="1"/>
          <p:nvPr>
            <p:ph type="title"/>
          </p:nvPr>
        </p:nvSpPr>
        <p:spPr>
          <a:xfrm>
            <a:off x="241100" y="2655367"/>
            <a:ext cx="11360700" cy="1219500"/>
          </a:xfrm>
          <a:prstGeom prst="rect">
            <a:avLst/>
          </a:prstGeom>
          <a:noFill/>
          <a:ln>
            <a:noFill/>
          </a:ln>
        </p:spPr>
        <p:txBody>
          <a:bodyPr anchorCtr="0" anchor="t" bIns="121900" lIns="121900" spcFirstLastPara="1" rIns="121900" wrap="square" tIns="1219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</a:pPr>
            <a:r>
              <a:rPr b="1" lang="en-US" sz="80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Principaux résultats par groupes thématiques</a:t>
            </a:r>
            <a:endParaRPr b="1" sz="800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75" name="Shape 4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6" name="Google Shape;476;g3a7c50a7b14_2_72"/>
          <p:cNvSpPr txBox="1"/>
          <p:nvPr/>
        </p:nvSpPr>
        <p:spPr>
          <a:xfrm>
            <a:off x="458592" y="317941"/>
            <a:ext cx="11274900" cy="827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500"/>
              <a:buFont typeface="Arial"/>
              <a:buNone/>
            </a:pPr>
            <a:r>
              <a:rPr b="1" i="0" lang="en-US" sz="2500" u="none" cap="none" strike="noStrike">
                <a:solidFill>
                  <a:srgbClr val="1155C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Statut de fonctionnalité des antennes</a:t>
            </a:r>
            <a:r>
              <a:rPr b="0" i="0" lang="en-US" sz="2500" u="none" cap="none" strike="noStrike">
                <a:solidFill>
                  <a:srgbClr val="1155C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| Niveau de réalisation des réunions d’analyse et validation des données</a:t>
            </a:r>
            <a:endParaRPr b="0" i="0" sz="2500" u="none" cap="none" strike="noStrike">
              <a:solidFill>
                <a:srgbClr val="1155CC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477" name="Google Shape;477;g3a7c50a7b14_2_72"/>
          <p:cNvSpPr/>
          <p:nvPr/>
        </p:nvSpPr>
        <p:spPr>
          <a:xfrm>
            <a:off x="0" y="272241"/>
            <a:ext cx="235500" cy="655200"/>
          </a:xfrm>
          <a:prstGeom prst="rect">
            <a:avLst/>
          </a:prstGeom>
          <a:solidFill>
            <a:srgbClr val="1155CC"/>
          </a:solidFill>
          <a:ln>
            <a:noFill/>
          </a:ln>
        </p:spPr>
        <p:txBody>
          <a:bodyPr anchorCtr="0" anchor="ctr" bIns="91400" lIns="91400" spcFirstLastPara="1" rIns="91400" wrap="square" tIns="914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r>
              <a:t/>
            </a:r>
            <a:endParaRPr b="0" i="0" sz="1900" u="none" cap="none" strike="noStrike">
              <a:solidFill>
                <a:srgbClr val="0070C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478" name="Google Shape;478;g3a7c50a7b14_2_72"/>
          <p:cNvSpPr txBox="1"/>
          <p:nvPr/>
        </p:nvSpPr>
        <p:spPr>
          <a:xfrm>
            <a:off x="267700" y="6492843"/>
            <a:ext cx="114147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12190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t/>
            </a:r>
            <a:endParaRPr b="1" i="0" sz="1200" u="none" cap="none" strike="noStrike">
              <a:solidFill>
                <a:srgbClr val="1155CC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479" name="Google Shape;479;g3a7c50a7b14_2_72"/>
          <p:cNvSpPr txBox="1"/>
          <p:nvPr/>
        </p:nvSpPr>
        <p:spPr>
          <a:xfrm>
            <a:off x="11658600" y="6496067"/>
            <a:ext cx="228300" cy="16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-US" sz="1200" u="none" cap="none" strike="noStrike">
                <a:solidFill>
                  <a:srgbClr val="1155CC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rgbClr val="1155C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480" name="Google Shape;480;g3a7c50a7b14_2_72"/>
          <p:cNvCxnSpPr/>
          <p:nvPr/>
        </p:nvCxnSpPr>
        <p:spPr>
          <a:xfrm>
            <a:off x="267700" y="6427967"/>
            <a:ext cx="11640300" cy="0"/>
          </a:xfrm>
          <a:prstGeom prst="straightConnector1">
            <a:avLst/>
          </a:prstGeom>
          <a:noFill/>
          <a:ln cap="flat" cmpd="sng" w="9525">
            <a:solidFill>
              <a:srgbClr val="9E9E9E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81" name="Google Shape;481;g3a7c50a7b14_2_72"/>
          <p:cNvSpPr txBox="1"/>
          <p:nvPr/>
        </p:nvSpPr>
        <p:spPr>
          <a:xfrm>
            <a:off x="267700" y="6492843"/>
            <a:ext cx="114147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12190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155CC"/>
              </a:buClr>
              <a:buSzPts val="1200"/>
              <a:buFont typeface="Times New Roman"/>
              <a:buNone/>
            </a:pPr>
            <a:r>
              <a:rPr b="1" lang="en-US" sz="1200">
                <a:solidFill>
                  <a:srgbClr val="1155C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Source: Gestion PEV 2025, DHIS2 Tracker 2025</a:t>
            </a:r>
            <a:endParaRPr b="1" sz="1200">
              <a:solidFill>
                <a:srgbClr val="1155CC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482" name="Google Shape;482;g3a7c50a7b14_2_72"/>
          <p:cNvSpPr/>
          <p:nvPr/>
        </p:nvSpPr>
        <p:spPr>
          <a:xfrm rot="-5400000">
            <a:off x="7740028" y="1238485"/>
            <a:ext cx="4127700" cy="4776300"/>
          </a:xfrm>
          <a:prstGeom prst="round2SameRect">
            <a:avLst>
              <a:gd fmla="val 8141" name="adj1"/>
              <a:gd fmla="val 0" name="adj2"/>
            </a:avLst>
          </a:prstGeom>
          <a:solidFill>
            <a:srgbClr val="EFE3D3"/>
          </a:solidFill>
          <a:ln>
            <a:noFill/>
          </a:ln>
        </p:spPr>
        <p:txBody>
          <a:bodyPr anchorCtr="0" anchor="ctr" bIns="59625" lIns="119300" spcFirstLastPara="1" rIns="119300" wrap="square" tIns="596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88"/>
              <a:buFont typeface="Arial"/>
              <a:buNone/>
            </a:pPr>
            <a:r>
              <a:t/>
            </a:r>
            <a:endParaRPr b="0" i="0" sz="2087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3" name="Google Shape;483;g3a7c50a7b14_2_72"/>
          <p:cNvSpPr txBox="1"/>
          <p:nvPr/>
        </p:nvSpPr>
        <p:spPr>
          <a:xfrm>
            <a:off x="458600" y="1278500"/>
            <a:ext cx="6542700" cy="28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66"/>
              <a:buFont typeface="Arial"/>
              <a:buNone/>
            </a:pPr>
            <a:r>
              <a:rPr b="1" i="0" lang="en-US" sz="15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Réunions d</a:t>
            </a:r>
            <a:r>
              <a:rPr b="1" lang="en-US" sz="15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’analyse et validation des données </a:t>
            </a:r>
            <a:r>
              <a:rPr b="1" i="0" lang="en-US" sz="15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(%), </a:t>
            </a:r>
            <a:r>
              <a:rPr i="0" lang="en-US" sz="15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Juillet - </a:t>
            </a:r>
            <a:r>
              <a:rPr lang="en-US" sz="15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Novembre</a:t>
            </a:r>
            <a:endParaRPr i="1" sz="1500" u="none" cap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cxnSp>
        <p:nvCxnSpPr>
          <p:cNvPr id="484" name="Google Shape;484;g3a7c50a7b14_2_72"/>
          <p:cNvCxnSpPr/>
          <p:nvPr/>
        </p:nvCxnSpPr>
        <p:spPr>
          <a:xfrm>
            <a:off x="513935" y="1562313"/>
            <a:ext cx="6374400" cy="0"/>
          </a:xfrm>
          <a:prstGeom prst="straightConnector1">
            <a:avLst/>
          </a:prstGeom>
          <a:noFill/>
          <a:ln cap="flat" cmpd="sng" w="124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85" name="Google Shape;485;g3a7c50a7b14_2_72"/>
          <p:cNvSpPr txBox="1"/>
          <p:nvPr/>
        </p:nvSpPr>
        <p:spPr>
          <a:xfrm>
            <a:off x="7708055" y="1900311"/>
            <a:ext cx="4185300" cy="3555000"/>
          </a:xfrm>
          <a:prstGeom prst="rect">
            <a:avLst/>
          </a:prstGeom>
          <a:noFill/>
          <a:ln>
            <a:noFill/>
          </a:ln>
        </p:spPr>
        <p:txBody>
          <a:bodyPr anchorCtr="0" anchor="t" bIns="119300" lIns="119300" spcFirstLastPara="1" rIns="119300" wrap="square" tIns="1193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35"/>
              <a:buFont typeface="Arial"/>
              <a:buNone/>
            </a:pPr>
            <a:r>
              <a:rPr i="0" lang="en-US" sz="1435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Les réunions de revue de performance au niveau </a:t>
            </a:r>
            <a:r>
              <a:rPr lang="en-US" sz="1435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antenne</a:t>
            </a:r>
            <a:r>
              <a:rPr i="0" lang="en-US" sz="1435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correspondent à </a:t>
            </a:r>
            <a:r>
              <a:rPr b="1" lang="en-US" sz="1435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UNE</a:t>
            </a:r>
            <a:r>
              <a:rPr b="1" i="0" lang="en-US" sz="1435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réunion d</a:t>
            </a:r>
            <a:r>
              <a:rPr b="1" lang="en-US" sz="1435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’analyse et de validation des données par mois</a:t>
            </a:r>
            <a:br>
              <a:rPr b="1" i="0" lang="en-US" sz="1435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</a:br>
            <a:br>
              <a:rPr i="0" lang="en-US" sz="1435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</a:br>
            <a:r>
              <a:rPr i="0" lang="en-US" sz="1435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*Une réunion est considérée comme fonctionnelle lorsqu’elle satisfait simultanément aux trois critères suivants :</a:t>
            </a:r>
            <a:endParaRPr i="0" sz="1435" u="none" cap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35"/>
              <a:buFont typeface="Arial"/>
              <a:buNone/>
            </a:pPr>
            <a:r>
              <a:rPr b="1" i="0" lang="en-US" sz="1435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- Tenue : </a:t>
            </a:r>
            <a:r>
              <a:rPr i="0" lang="en-US" sz="1435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La réunion a effectivement eu lieu pendant la période prévue.</a:t>
            </a:r>
            <a:endParaRPr i="0" sz="1435" u="none" cap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35"/>
              <a:buFont typeface="Arial"/>
              <a:buNone/>
            </a:pPr>
            <a:r>
              <a:rPr b="1" i="0" lang="en-US" sz="1435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- Participation : </a:t>
            </a:r>
            <a:r>
              <a:rPr i="0" lang="en-US" sz="1435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Les participants clés concernés étaient présents </a:t>
            </a:r>
            <a:br>
              <a:rPr i="0" lang="en-US" sz="1435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</a:br>
            <a:r>
              <a:rPr b="1" i="0" lang="en-US" sz="1435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- Suivi : </a:t>
            </a:r>
            <a:r>
              <a:rPr i="0" lang="en-US" sz="1435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Des données de performance ont été présentées, un compte rendu incluant les points d’action a été partagé, et les points d’action de la réunion précédente ont été revus et suivis.</a:t>
            </a:r>
            <a:endParaRPr i="0" sz="1435" u="none" cap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486" name="Google Shape;486;g3a7c50a7b14_2_72" title="Chart"/>
          <p:cNvPicPr preferRelativeResize="0"/>
          <p:nvPr/>
        </p:nvPicPr>
        <p:blipFill rotWithShape="1">
          <a:blip r:embed="rId3">
            <a:alphaModFix/>
          </a:blip>
          <a:srcRect b="0" l="5749" r="2842" t="0"/>
          <a:stretch/>
        </p:blipFill>
        <p:spPr>
          <a:xfrm>
            <a:off x="458600" y="1729675"/>
            <a:ext cx="6542811" cy="4426227"/>
          </a:xfrm>
          <a:prstGeom prst="rect">
            <a:avLst/>
          </a:prstGeom>
          <a:noFill/>
          <a:ln>
            <a:noFill/>
          </a:ln>
        </p:spPr>
      </p:pic>
      <p:sp>
        <p:nvSpPr>
          <p:cNvPr id="487" name="Google Shape;487;g3a7c50a7b14_2_72"/>
          <p:cNvSpPr txBox="1"/>
          <p:nvPr/>
        </p:nvSpPr>
        <p:spPr>
          <a:xfrm>
            <a:off x="6440206" y="4074819"/>
            <a:ext cx="975600" cy="212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12635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82">
                <a:solidFill>
                  <a:srgbClr val="329B55"/>
                </a:solidFill>
                <a:latin typeface="Source Serif Pro"/>
                <a:ea typeface="Source Serif Pro"/>
                <a:cs typeface="Source Serif Pro"/>
                <a:sym typeface="Source Serif Pro"/>
              </a:rPr>
              <a:t>(+47 pts)</a:t>
            </a:r>
            <a:endParaRPr sz="1382">
              <a:solidFill>
                <a:srgbClr val="329B55"/>
              </a:solidFill>
              <a:latin typeface="Source Serif Pro"/>
              <a:ea typeface="Source Serif Pro"/>
              <a:cs typeface="Source Serif Pro"/>
              <a:sym typeface="Source Serif Pro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91" name="Shape 4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2" name="Google Shape;492;g3a7c50a7b14_2_63"/>
          <p:cNvSpPr txBox="1"/>
          <p:nvPr/>
        </p:nvSpPr>
        <p:spPr>
          <a:xfrm>
            <a:off x="458592" y="317941"/>
            <a:ext cx="11274900" cy="827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500"/>
              <a:buFont typeface="Arial"/>
              <a:buNone/>
            </a:pPr>
            <a:r>
              <a:rPr b="1" i="0" lang="en-US" sz="2500" u="none" cap="none" strike="noStrike">
                <a:solidFill>
                  <a:srgbClr val="1155C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Statut de fonctionnalité des antennes</a:t>
            </a:r>
            <a:r>
              <a:rPr b="0" i="0" lang="en-US" sz="2500" u="none" cap="none" strike="noStrike">
                <a:solidFill>
                  <a:srgbClr val="1155C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| </a:t>
            </a:r>
            <a:r>
              <a:rPr lang="en-US" sz="2500">
                <a:solidFill>
                  <a:srgbClr val="1155C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Benchmarking</a:t>
            </a:r>
            <a:r>
              <a:rPr lang="en-US" sz="2500">
                <a:solidFill>
                  <a:srgbClr val="1155C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pour analyse de la </a:t>
            </a:r>
            <a:r>
              <a:rPr lang="en-US" sz="2500">
                <a:solidFill>
                  <a:srgbClr val="1155C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fonctionnalité</a:t>
            </a:r>
            <a:r>
              <a:rPr lang="en-US" sz="2500">
                <a:solidFill>
                  <a:srgbClr val="1155C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des antennes</a:t>
            </a:r>
            <a:endParaRPr b="0" i="0" sz="2500" u="none" cap="none" strike="noStrike">
              <a:solidFill>
                <a:srgbClr val="1155CC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493" name="Google Shape;493;g3a7c50a7b14_2_63"/>
          <p:cNvSpPr/>
          <p:nvPr/>
        </p:nvSpPr>
        <p:spPr>
          <a:xfrm>
            <a:off x="0" y="272241"/>
            <a:ext cx="235500" cy="655200"/>
          </a:xfrm>
          <a:prstGeom prst="rect">
            <a:avLst/>
          </a:prstGeom>
          <a:solidFill>
            <a:srgbClr val="1155CC"/>
          </a:solidFill>
          <a:ln>
            <a:noFill/>
          </a:ln>
        </p:spPr>
        <p:txBody>
          <a:bodyPr anchorCtr="0" anchor="ctr" bIns="91400" lIns="91400" spcFirstLastPara="1" rIns="91400" wrap="square" tIns="914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r>
              <a:t/>
            </a:r>
            <a:endParaRPr b="0" i="0" sz="1900" u="none" cap="none" strike="noStrike">
              <a:solidFill>
                <a:srgbClr val="0070C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494" name="Google Shape;494;g3a7c50a7b14_2_63"/>
          <p:cNvSpPr txBox="1"/>
          <p:nvPr/>
        </p:nvSpPr>
        <p:spPr>
          <a:xfrm>
            <a:off x="267700" y="6492843"/>
            <a:ext cx="114147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12190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t/>
            </a:r>
            <a:endParaRPr b="1" i="0" sz="1200" u="none" cap="none" strike="noStrike">
              <a:solidFill>
                <a:srgbClr val="1155CC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495" name="Google Shape;495;g3a7c50a7b14_2_63"/>
          <p:cNvSpPr txBox="1"/>
          <p:nvPr/>
        </p:nvSpPr>
        <p:spPr>
          <a:xfrm>
            <a:off x="11658600" y="6496067"/>
            <a:ext cx="228300" cy="16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-US" sz="1200" u="none" cap="none" strike="noStrike">
                <a:solidFill>
                  <a:srgbClr val="1155CC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rgbClr val="1155C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496" name="Google Shape;496;g3a7c50a7b14_2_63"/>
          <p:cNvCxnSpPr/>
          <p:nvPr/>
        </p:nvCxnSpPr>
        <p:spPr>
          <a:xfrm>
            <a:off x="267700" y="6427967"/>
            <a:ext cx="11640300" cy="0"/>
          </a:xfrm>
          <a:prstGeom prst="straightConnector1">
            <a:avLst/>
          </a:prstGeom>
          <a:noFill/>
          <a:ln cap="flat" cmpd="sng" w="9525">
            <a:solidFill>
              <a:srgbClr val="9E9E9E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97" name="Google Shape;497;g3a7c50a7b14_2_63"/>
          <p:cNvSpPr txBox="1"/>
          <p:nvPr/>
        </p:nvSpPr>
        <p:spPr>
          <a:xfrm>
            <a:off x="267700" y="6492843"/>
            <a:ext cx="114147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12190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155CC"/>
              </a:buClr>
              <a:buSzPts val="1200"/>
              <a:buFont typeface="Times New Roman"/>
              <a:buNone/>
            </a:pPr>
            <a:r>
              <a:rPr b="1" i="0" lang="en-US" sz="1200" u="none" cap="none" strike="noStrike">
                <a:solidFill>
                  <a:srgbClr val="1155C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Revue annuelle PEV 2025</a:t>
            </a:r>
            <a:endParaRPr b="1" i="0" sz="1200" u="none" cap="none" strike="noStrike">
              <a:solidFill>
                <a:srgbClr val="1155CC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graphicFrame>
        <p:nvGraphicFramePr>
          <p:cNvPr id="498" name="Google Shape;498;g3a7c50a7b14_2_63"/>
          <p:cNvGraphicFramePr/>
          <p:nvPr/>
        </p:nvGraphicFramePr>
        <p:xfrm>
          <a:off x="7842945" y="2034919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{EB624210-9165-4350-9EDD-DD9B9CECAD3B}</a:tableStyleId>
              </a:tblPr>
              <a:tblGrid>
                <a:gridCol w="1671875"/>
                <a:gridCol w="835950"/>
              </a:tblGrid>
              <a:tr h="1524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200" u="none" cap="none" strike="noStrike">
                          <a:latin typeface="Arial"/>
                          <a:ea typeface="Arial"/>
                          <a:cs typeface="Arial"/>
                          <a:sym typeface="Arial"/>
                        </a:rPr>
                        <a:t>Plage </a:t>
                      </a:r>
                      <a:endParaRPr b="1" sz="12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0" marB="0" marR="0" marL="0">
                    <a:lnL cap="flat" cmpd="sng" w="12700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200" u="none" cap="none" strike="noStrike">
                          <a:latin typeface="Arial"/>
                          <a:ea typeface="Arial"/>
                          <a:cs typeface="Arial"/>
                          <a:sym typeface="Arial"/>
                        </a:rPr>
                        <a:t>Score</a:t>
                      </a:r>
                      <a:endParaRPr b="1" sz="12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0" marB="0" marR="0" marL="0">
                    <a:lnL cap="flat" cmpd="sng" w="12700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8D8D8"/>
                    </a:solidFill>
                  </a:tcPr>
                </a:tc>
              </a:tr>
              <a:tr h="1524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cap="none" strike="noStrike">
                          <a:latin typeface="Arial"/>
                          <a:ea typeface="Arial"/>
                          <a:cs typeface="Arial"/>
                          <a:sym typeface="Arial"/>
                        </a:rPr>
                        <a:t>90 à 100</a:t>
                      </a:r>
                      <a:endParaRPr sz="12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0" marB="0" marR="0" marL="0">
                    <a:lnL cap="flat" cmpd="sng" w="12700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cap="none" strike="noStrike">
                          <a:latin typeface="Arial"/>
                          <a:ea typeface="Arial"/>
                          <a:cs typeface="Arial"/>
                          <a:sym typeface="Arial"/>
                        </a:rPr>
                        <a:t>5</a:t>
                      </a:r>
                      <a:endParaRPr sz="12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0" marB="0" marR="0" marL="0">
                    <a:lnL cap="flat" cmpd="sng" w="12700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524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cap="none" strike="noStrike">
                          <a:latin typeface="Arial"/>
                          <a:ea typeface="Arial"/>
                          <a:cs typeface="Arial"/>
                          <a:sym typeface="Arial"/>
                        </a:rPr>
                        <a:t>80 à 89</a:t>
                      </a:r>
                      <a:endParaRPr sz="12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0" marB="0" marR="0" marL="0">
                    <a:lnL cap="flat" cmpd="sng" w="12700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cap="none" strike="noStrike"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  <a:endParaRPr sz="12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0" marB="0" marR="0" marL="0">
                    <a:lnL cap="flat" cmpd="sng" w="12700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524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cap="none" strike="noStrike">
                          <a:latin typeface="Arial"/>
                          <a:ea typeface="Arial"/>
                          <a:cs typeface="Arial"/>
                          <a:sym typeface="Arial"/>
                        </a:rPr>
                        <a:t>70 à 79</a:t>
                      </a:r>
                      <a:endParaRPr sz="12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0" marB="0" marR="0" marL="0">
                    <a:lnL cap="flat" cmpd="sng" w="12700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cap="none" strike="noStrike"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  <a:endParaRPr sz="12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0" marB="0" marR="0" marL="0">
                    <a:lnL cap="flat" cmpd="sng" w="12700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524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cap="none" strike="noStrike">
                          <a:latin typeface="Arial"/>
                          <a:ea typeface="Arial"/>
                          <a:cs typeface="Arial"/>
                          <a:sym typeface="Arial"/>
                        </a:rPr>
                        <a:t>60 à 69</a:t>
                      </a:r>
                      <a:endParaRPr sz="12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0" marB="0" marR="0" marL="0">
                    <a:lnL cap="flat" cmpd="sng" w="12700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cap="none" strike="noStrike"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  <a:endParaRPr sz="12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0" marB="0" marR="0" marL="0">
                    <a:lnL cap="flat" cmpd="sng" w="12700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524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cap="none" strike="noStrike">
                          <a:latin typeface="Arial"/>
                          <a:ea typeface="Arial"/>
                          <a:cs typeface="Arial"/>
                          <a:sym typeface="Arial"/>
                        </a:rPr>
                        <a:t>50 à 59</a:t>
                      </a:r>
                      <a:endParaRPr sz="12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0" marB="0" marR="0" marL="0">
                    <a:lnL cap="flat" cmpd="sng" w="12700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cap="none" strike="noStrike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2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0" marB="0" marR="0" marL="0">
                    <a:lnL cap="flat" cmpd="sng" w="12700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524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cap="none" strike="noStrike">
                          <a:latin typeface="Arial"/>
                          <a:ea typeface="Arial"/>
                          <a:cs typeface="Arial"/>
                          <a:sym typeface="Arial"/>
                        </a:rPr>
                        <a:t>&lt;50</a:t>
                      </a:r>
                      <a:endParaRPr sz="12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0" marB="0" marR="0" marL="0">
                    <a:lnL cap="flat" cmpd="sng" w="12700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cap="none" strike="noStrike">
                          <a:latin typeface="Arial"/>
                          <a:ea typeface="Arial"/>
                          <a:cs typeface="Arial"/>
                          <a:sym typeface="Arial"/>
                        </a:rPr>
                        <a:t>0.5</a:t>
                      </a:r>
                      <a:endParaRPr sz="12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0" marB="0" marR="0" marL="0">
                    <a:lnL cap="flat" cmpd="sng" w="12700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524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cap="none" strike="noStrike">
                          <a:latin typeface="Arial"/>
                          <a:ea typeface="Arial"/>
                          <a:cs typeface="Arial"/>
                          <a:sym typeface="Arial"/>
                        </a:rPr>
                        <a:t>Si 0</a:t>
                      </a:r>
                      <a:endParaRPr sz="12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0" marB="0" marR="0" marL="0">
                    <a:lnL cap="flat" cmpd="sng" w="12700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cap="none" strike="noStrike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2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0" marB="0" marR="0" marL="0">
                    <a:lnL cap="flat" cmpd="sng" w="12700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  <p:graphicFrame>
        <p:nvGraphicFramePr>
          <p:cNvPr id="499" name="Google Shape;499;g3a7c50a7b14_2_63"/>
          <p:cNvGraphicFramePr/>
          <p:nvPr/>
        </p:nvGraphicFramePr>
        <p:xfrm>
          <a:off x="458600" y="1400879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{EB624210-9165-4350-9EDD-DD9B9CECAD3B}</a:tableStyleId>
              </a:tblPr>
              <a:tblGrid>
                <a:gridCol w="4450175"/>
                <a:gridCol w="1490375"/>
              </a:tblGrid>
              <a:tr h="228600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500">
                          <a:solidFill>
                            <a:srgbClr val="FFFFFF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Indicateurs</a:t>
                      </a:r>
                      <a:endParaRPr b="1" sz="1500">
                        <a:solidFill>
                          <a:srgbClr val="FFFFFF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0" marB="0" marR="28575" marL="28575" anchor="b">
                    <a:lnL cap="flat" cmpd="sng" w="5300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5300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5300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5300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155CC"/>
                    </a:solidFill>
                    <a:extLst>
                      <a:ext uri="http://customooxmlschemas.google.com/">
                        <go:slidesCustomData xmlns:go="http://customooxmlschemas.google.com/" cellId="499:0:0"/>
                      </a:ext>
                    </a:extLst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500">
                          <a:solidFill>
                            <a:srgbClr val="FFFFFF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Pondération</a:t>
                      </a:r>
                      <a:endParaRPr b="1" sz="1500">
                        <a:solidFill>
                          <a:srgbClr val="FFFFFF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0" marB="0" marR="91425" marL="91425" anchor="b">
                    <a:lnL cap="flat" cmpd="sng" w="5300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53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5300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5300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155CC"/>
                    </a:solidFill>
                    <a:extLst>
                      <a:ext uri="http://customooxmlschemas.google.com/">
                        <go:slidesCustomData xmlns:go="http://customooxmlschemas.google.com/" cellId="499:0:1"/>
                      </a:ext>
                    </a:extLst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% des ECF fonctionnelle</a:t>
                      </a:r>
                      <a:endParaRPr sz="15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0" marB="0" marR="28575" marL="28575" anchor="b">
                    <a:lnL cap="flat" cmpd="sng" w="5300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5300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5300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53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extLst>
                      <a:ext uri="http://customooxmlschemas.google.com/">
                        <go:slidesCustomData xmlns:go="http://customooxmlschemas.google.com/" cellId="499:1:0"/>
                      </a:ext>
                    </a:extLst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9</a:t>
                      </a:r>
                      <a:endParaRPr sz="15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0" marB="0" marR="28575" marL="28575" anchor="b">
                    <a:lnL cap="flat" cmpd="sng" w="5300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5300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5300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53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extLst>
                      <a:ext uri="http://customooxmlschemas.google.com/">
                        <go:slidesCustomData xmlns:go="http://customooxmlschemas.google.com/" cellId="499:1:1"/>
                      </a:ext>
                    </a:extLst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Taux de satisfaction des vaccins</a:t>
                      </a:r>
                      <a:endParaRPr sz="15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0" marB="0" marR="28575" marL="28575" anchor="b">
                    <a:lnL cap="flat" cmpd="sng" w="5300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5300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53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53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extLst>
                      <a:ext uri="http://customooxmlschemas.google.com/">
                        <go:slidesCustomData xmlns:go="http://customooxmlschemas.google.com/" cellId="499:2:0"/>
                      </a:ext>
                    </a:extLst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6</a:t>
                      </a:r>
                      <a:endParaRPr sz="15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0" marB="0" marR="28575" marL="28575" anchor="b">
                    <a:lnL cap="flat" cmpd="sng" w="5300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5300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53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53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extLst>
                      <a:ext uri="http://customooxmlschemas.google.com/">
                        <go:slidesCustomData xmlns:go="http://customooxmlschemas.google.com/" cellId="499:2:1"/>
                      </a:ext>
                    </a:extLst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Score Mashako pour le mois de Novembre</a:t>
                      </a:r>
                      <a:endParaRPr sz="15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0" marB="0" marR="28575" marL="28575" anchor="b">
                    <a:lnL cap="flat" cmpd="sng" w="5300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5300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53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53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extLst>
                      <a:ext uri="http://customooxmlschemas.google.com/">
                        <go:slidesCustomData xmlns:go="http://customooxmlschemas.google.com/" cellId="499:3:0"/>
                      </a:ext>
                    </a:extLst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40</a:t>
                      </a:r>
                      <a:endParaRPr sz="15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0" marB="0" marR="28575" marL="28575" anchor="b">
                    <a:lnL cap="flat" cmpd="sng" w="5300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5300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53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53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extLst>
                      <a:ext uri="http://customooxmlschemas.google.com/">
                        <go:slidesCustomData xmlns:go="http://customooxmlschemas.google.com/" cellId="499:3:1"/>
                      </a:ext>
                    </a:extLst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Tenue des sessions d'analyse et validation des données</a:t>
                      </a:r>
                      <a:endParaRPr sz="15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0" marB="0" marR="28575" marL="28575" anchor="b">
                    <a:lnL cap="flat" cmpd="sng" w="5300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5300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53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53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extLst>
                      <a:ext uri="http://customooxmlschemas.google.com/">
                        <go:slidesCustomData xmlns:go="http://customooxmlschemas.google.com/" cellId="499:4:0"/>
                      </a:ext>
                    </a:extLst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6</a:t>
                      </a:r>
                      <a:endParaRPr sz="15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0" marB="0" marR="28575" marL="28575" anchor="b">
                    <a:lnL cap="flat" cmpd="sng" w="5300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5300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53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53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extLst>
                      <a:ext uri="http://customooxmlschemas.google.com/">
                        <go:slidesCustomData xmlns:go="http://customooxmlschemas.google.com/" cellId="499:4:1"/>
                      </a:ext>
                    </a:extLst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Tenue des sessions de CCPeV</a:t>
                      </a:r>
                      <a:endParaRPr sz="15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0" marB="0" marR="28575" marL="28575" anchor="b">
                    <a:lnL cap="flat" cmpd="sng" w="5300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5300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53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53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extLst>
                      <a:ext uri="http://customooxmlschemas.google.com/">
                        <go:slidesCustomData xmlns:go="http://customooxmlschemas.google.com/" cellId="499:5:0"/>
                      </a:ext>
                    </a:extLst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6</a:t>
                      </a:r>
                      <a:endParaRPr sz="15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0" marB="0" marR="28575" marL="28575" anchor="b">
                    <a:lnL cap="flat" cmpd="sng" w="5300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5300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53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53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extLst>
                      <a:ext uri="http://customooxmlschemas.google.com/">
                        <go:slidesCustomData xmlns:go="http://customooxmlschemas.google.com/" cellId="499:5:1"/>
                      </a:ext>
                    </a:extLst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Envoie des rapports</a:t>
                      </a:r>
                      <a:endParaRPr sz="15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0" marB="0" marR="28575" marL="28575" anchor="b">
                    <a:lnL cap="flat" cmpd="sng" w="5300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5300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53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53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extLst>
                      <a:ext uri="http://customooxmlschemas.google.com/">
                        <go:slidesCustomData xmlns:go="http://customooxmlschemas.google.com/" cellId="499:6:0"/>
                      </a:ext>
                    </a:extLst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6</a:t>
                      </a:r>
                      <a:endParaRPr sz="15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0" marB="0" marR="28575" marL="28575" anchor="b">
                    <a:lnL cap="flat" cmpd="sng" w="5300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5300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53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53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extLst>
                      <a:ext uri="http://customooxmlschemas.google.com/">
                        <go:slidesCustomData xmlns:go="http://customooxmlschemas.google.com/" cellId="499:6:1"/>
                      </a:ext>
                    </a:extLst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Proportion des zones avec couverture penta 1 &gt;= 90%</a:t>
                      </a:r>
                      <a:endParaRPr sz="15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0" marB="0" marR="28575" marL="28575" anchor="b">
                    <a:lnL cap="flat" cmpd="sng" w="5300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5300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53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53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extLst>
                      <a:ext uri="http://customooxmlschemas.google.com/">
                        <go:slidesCustomData xmlns:go="http://customooxmlschemas.google.com/" cellId="499:7:0"/>
                      </a:ext>
                    </a:extLst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6</a:t>
                      </a:r>
                      <a:endParaRPr sz="15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0" marB="0" marR="28575" marL="28575" anchor="b">
                    <a:lnL cap="flat" cmpd="sng" w="5300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5300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53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53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extLst>
                      <a:ext uri="http://customooxmlschemas.google.com/">
                        <go:slidesCustomData xmlns:go="http://customooxmlschemas.google.com/" cellId="499:7:1"/>
                      </a:ext>
                    </a:extLst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Proportion des zones avec couverture VAR 1 &gt;= 90%</a:t>
                      </a:r>
                      <a:endParaRPr sz="15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0" marB="0" marR="28575" marL="28575" anchor="b">
                    <a:lnL cap="flat" cmpd="sng" w="5300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5300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53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53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extLst>
                      <a:ext uri="http://customooxmlschemas.google.com/">
                        <go:slidesCustomData xmlns:go="http://customooxmlschemas.google.com/" cellId="499:8:0"/>
                      </a:ext>
                    </a:extLst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6</a:t>
                      </a:r>
                      <a:endParaRPr sz="15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0" marB="0" marR="28575" marL="28575" anchor="b">
                    <a:lnL cap="flat" cmpd="sng" w="5300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5300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53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53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extLst>
                      <a:ext uri="http://customooxmlschemas.google.com/">
                        <go:slidesCustomData xmlns:go="http://customooxmlschemas.google.com/" cellId="499:8:1"/>
                      </a:ext>
                    </a:extLst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% AS avec score de qualité des données &gt;= 80%</a:t>
                      </a:r>
                      <a:endParaRPr sz="15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0" marB="0" marR="28575" marL="28575" anchor="b">
                    <a:lnL cap="flat" cmpd="sng" w="5300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5300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53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53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extLst>
                      <a:ext uri="http://customooxmlschemas.google.com/">
                        <go:slidesCustomData xmlns:go="http://customooxmlschemas.google.com/" cellId="499:9:0"/>
                      </a:ext>
                    </a:extLst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9</a:t>
                      </a:r>
                      <a:endParaRPr sz="15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0" marB="0" marR="28575" marL="28575" anchor="b">
                    <a:lnL cap="flat" cmpd="sng" w="5300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5300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53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53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extLst>
                      <a:ext uri="http://customooxmlschemas.google.com/">
                        <go:slidesCustomData xmlns:go="http://customooxmlschemas.google.com/" cellId="499:9:1"/>
                      </a:ext>
                    </a:extLst>
                  </a:tcPr>
                </a:tc>
              </a:tr>
            </a:tbl>
          </a:graphicData>
        </a:graphic>
      </p:graphicFrame>
      <p:sp>
        <p:nvSpPr>
          <p:cNvPr id="500" name="Google Shape;500;g3a7c50a7b14_2_63"/>
          <p:cNvSpPr/>
          <p:nvPr/>
        </p:nvSpPr>
        <p:spPr>
          <a:xfrm>
            <a:off x="6780550" y="2034929"/>
            <a:ext cx="681000" cy="1398900"/>
          </a:xfrm>
          <a:prstGeom prst="homePlate">
            <a:avLst>
              <a:gd fmla="val 50000" name="adj"/>
            </a:avLst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01" name="Google Shape;501;g3a7c50a7b14_2_63"/>
          <p:cNvSpPr/>
          <p:nvPr/>
        </p:nvSpPr>
        <p:spPr>
          <a:xfrm rot="5400000">
            <a:off x="8756363" y="3511879"/>
            <a:ext cx="681000" cy="1398900"/>
          </a:xfrm>
          <a:prstGeom prst="homePlate">
            <a:avLst>
              <a:gd fmla="val 50000" name="adj"/>
            </a:avLst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aphicFrame>
        <p:nvGraphicFramePr>
          <p:cNvPr id="502" name="Google Shape;502;g3a7c50a7b14_2_63"/>
          <p:cNvGraphicFramePr/>
          <p:nvPr/>
        </p:nvGraphicFramePr>
        <p:xfrm>
          <a:off x="7325985" y="4752058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{EB624210-9165-4350-9EDD-DD9B9CECAD3B}</a:tableStyleId>
              </a:tblPr>
              <a:tblGrid>
                <a:gridCol w="1565900"/>
                <a:gridCol w="885825"/>
                <a:gridCol w="1623050"/>
              </a:tblGrid>
              <a:tr h="3848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100" u="none" cap="none" strike="noStrike">
                          <a:latin typeface="Arial"/>
                          <a:ea typeface="Arial"/>
                          <a:cs typeface="Arial"/>
                          <a:sym typeface="Arial"/>
                        </a:rPr>
                        <a:t>Score global (%)</a:t>
                      </a:r>
                      <a:endParaRPr b="1"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0" marB="0" marR="0" marL="0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100" u="none" cap="none" strike="noStrike">
                          <a:latin typeface="Arial"/>
                          <a:ea typeface="Arial"/>
                          <a:cs typeface="Arial"/>
                          <a:sym typeface="Arial"/>
                        </a:rPr>
                        <a:t>Classe de performance</a:t>
                      </a:r>
                      <a:endParaRPr b="1"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0" marB="0" marR="0" marL="0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100" u="none" cap="none" strike="noStrike">
                          <a:latin typeface="Arial"/>
                          <a:ea typeface="Arial"/>
                          <a:cs typeface="Arial"/>
                          <a:sym typeface="Arial"/>
                        </a:rPr>
                        <a:t>Couleur</a:t>
                      </a:r>
                      <a:endParaRPr b="1"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0" marB="0" marR="0" marL="0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924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cap="none" strike="noStrike">
                          <a:latin typeface="Arial"/>
                          <a:ea typeface="Arial"/>
                          <a:cs typeface="Arial"/>
                          <a:sym typeface="Arial"/>
                        </a:rPr>
                        <a:t>≥90%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0" marB="0" marR="0" marL="0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cap="none" strike="noStrike">
                          <a:latin typeface="Arial"/>
                          <a:ea typeface="Arial"/>
                          <a:cs typeface="Arial"/>
                          <a:sym typeface="Arial"/>
                        </a:rPr>
                        <a:t>Très bon 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0" marB="0" marR="0" marL="0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cap="none" strike="noStrike">
                          <a:latin typeface="Arial"/>
                          <a:ea typeface="Arial"/>
                          <a:cs typeface="Arial"/>
                          <a:sym typeface="Arial"/>
                        </a:rPr>
                        <a:t>Vert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0" marB="0" marR="0" marL="0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0B050"/>
                    </a:solidFill>
                  </a:tcPr>
                </a:tc>
              </a:tr>
              <a:tr h="1924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cap="none" strike="noStrike">
                          <a:latin typeface="Arial"/>
                          <a:ea typeface="Arial"/>
                          <a:cs typeface="Arial"/>
                          <a:sym typeface="Arial"/>
                        </a:rPr>
                        <a:t>80–89%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0" marB="0" marR="0" marL="0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cap="none" strike="noStrike">
                          <a:latin typeface="Arial"/>
                          <a:ea typeface="Arial"/>
                          <a:cs typeface="Arial"/>
                          <a:sym typeface="Arial"/>
                        </a:rPr>
                        <a:t>Bon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0" marB="0" marR="0" marL="0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cap="none" strike="noStrike">
                          <a:latin typeface="Arial"/>
                          <a:ea typeface="Arial"/>
                          <a:cs typeface="Arial"/>
                          <a:sym typeface="Arial"/>
                        </a:rPr>
                        <a:t>Verst claire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0" marB="0" marR="0" marL="0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92D050"/>
                    </a:solidFill>
                  </a:tcPr>
                </a:tc>
              </a:tr>
              <a:tr h="1924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cap="none" strike="noStrike">
                          <a:latin typeface="Arial"/>
                          <a:ea typeface="Arial"/>
                          <a:cs typeface="Arial"/>
                          <a:sym typeface="Arial"/>
                        </a:rPr>
                        <a:t>50–79%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0" marB="0" marR="0" marL="0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cap="none" strike="noStrike">
                          <a:latin typeface="Arial"/>
                          <a:ea typeface="Arial"/>
                          <a:cs typeface="Arial"/>
                          <a:sym typeface="Arial"/>
                        </a:rPr>
                        <a:t>Moyen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0" marB="0" marR="0" marL="0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cap="none" strike="noStrike">
                          <a:latin typeface="Arial"/>
                          <a:ea typeface="Arial"/>
                          <a:cs typeface="Arial"/>
                          <a:sym typeface="Arial"/>
                        </a:rPr>
                        <a:t>Jaune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0" marB="0" marR="0" marL="0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00"/>
                    </a:solidFill>
                  </a:tcPr>
                </a:tc>
              </a:tr>
              <a:tr h="2660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cap="none" strike="noStrike">
                          <a:latin typeface="Arial"/>
                          <a:ea typeface="Arial"/>
                          <a:cs typeface="Arial"/>
                          <a:sym typeface="Arial"/>
                        </a:rPr>
                        <a:t>&lt;50%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0" marB="0" marR="0" marL="0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cap="none" strike="noStrike">
                          <a:latin typeface="Arial"/>
                          <a:ea typeface="Arial"/>
                          <a:cs typeface="Arial"/>
                          <a:sym typeface="Arial"/>
                        </a:rPr>
                        <a:t>Faible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0" marB="0" marR="0" marL="0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cap="none" strike="noStrike">
                          <a:latin typeface="Arial"/>
                          <a:ea typeface="Arial"/>
                          <a:cs typeface="Arial"/>
                          <a:sym typeface="Arial"/>
                        </a:rPr>
                        <a:t>Rouge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0" marB="0" marR="0" marL="0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000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06" name="Shape 5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7" name="Google Shape;507;g3a7c546b70d_0_806"/>
          <p:cNvSpPr txBox="1"/>
          <p:nvPr/>
        </p:nvSpPr>
        <p:spPr>
          <a:xfrm>
            <a:off x="458592" y="317941"/>
            <a:ext cx="11274900" cy="384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500"/>
              <a:buFont typeface="Arial"/>
              <a:buNone/>
            </a:pPr>
            <a:r>
              <a:rPr b="1" i="0" lang="en-US" sz="2500" u="none" cap="none" strike="noStrike">
                <a:solidFill>
                  <a:srgbClr val="1155C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Statut de fonctionnalité des antennes</a:t>
            </a:r>
            <a:r>
              <a:rPr b="0" i="0" lang="en-US" sz="2500" u="none" cap="none" strike="noStrike">
                <a:solidFill>
                  <a:srgbClr val="1155C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| </a:t>
            </a:r>
            <a:r>
              <a:rPr lang="en-US" sz="2500">
                <a:solidFill>
                  <a:srgbClr val="1155C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Classification des antennes par </a:t>
            </a:r>
            <a:r>
              <a:rPr lang="en-US" sz="2500">
                <a:solidFill>
                  <a:srgbClr val="1155C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fonctionnalité</a:t>
            </a:r>
            <a:endParaRPr b="0" i="0" sz="2500" u="none" cap="none" strike="noStrike">
              <a:solidFill>
                <a:srgbClr val="1155CC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508" name="Google Shape;508;g3a7c546b70d_0_806"/>
          <p:cNvSpPr/>
          <p:nvPr/>
        </p:nvSpPr>
        <p:spPr>
          <a:xfrm>
            <a:off x="0" y="272241"/>
            <a:ext cx="235500" cy="655200"/>
          </a:xfrm>
          <a:prstGeom prst="rect">
            <a:avLst/>
          </a:prstGeom>
          <a:solidFill>
            <a:srgbClr val="1155CC"/>
          </a:solidFill>
          <a:ln>
            <a:noFill/>
          </a:ln>
        </p:spPr>
        <p:txBody>
          <a:bodyPr anchorCtr="0" anchor="ctr" bIns="91400" lIns="91400" spcFirstLastPara="1" rIns="91400" wrap="square" tIns="914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r>
              <a:t/>
            </a:r>
            <a:endParaRPr b="0" i="0" sz="1900" u="none" cap="none" strike="noStrike">
              <a:solidFill>
                <a:srgbClr val="0070C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509" name="Google Shape;509;g3a7c546b70d_0_806"/>
          <p:cNvSpPr txBox="1"/>
          <p:nvPr/>
        </p:nvSpPr>
        <p:spPr>
          <a:xfrm>
            <a:off x="267700" y="6492843"/>
            <a:ext cx="114147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12190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t/>
            </a:r>
            <a:endParaRPr b="1" i="0" sz="1200" u="none" cap="none" strike="noStrike">
              <a:solidFill>
                <a:srgbClr val="1155CC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510" name="Google Shape;510;g3a7c546b70d_0_806"/>
          <p:cNvSpPr txBox="1"/>
          <p:nvPr/>
        </p:nvSpPr>
        <p:spPr>
          <a:xfrm>
            <a:off x="11658600" y="6496067"/>
            <a:ext cx="228300" cy="16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-US" sz="1200" u="none" cap="none" strike="noStrike">
                <a:solidFill>
                  <a:srgbClr val="1155CC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rgbClr val="1155C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11" name="Google Shape;511;g3a7c546b70d_0_806"/>
          <p:cNvCxnSpPr/>
          <p:nvPr/>
        </p:nvCxnSpPr>
        <p:spPr>
          <a:xfrm>
            <a:off x="267700" y="6427967"/>
            <a:ext cx="11640300" cy="0"/>
          </a:xfrm>
          <a:prstGeom prst="straightConnector1">
            <a:avLst/>
          </a:prstGeom>
          <a:noFill/>
          <a:ln cap="flat" cmpd="sng" w="9525">
            <a:solidFill>
              <a:srgbClr val="9E9E9E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12" name="Google Shape;512;g3a7c546b70d_0_806"/>
          <p:cNvSpPr txBox="1"/>
          <p:nvPr/>
        </p:nvSpPr>
        <p:spPr>
          <a:xfrm>
            <a:off x="267700" y="6492843"/>
            <a:ext cx="114147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12190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155CC"/>
              </a:buClr>
              <a:buSzPts val="1200"/>
              <a:buFont typeface="Times New Roman"/>
              <a:buNone/>
            </a:pPr>
            <a:r>
              <a:rPr b="1" i="0" lang="en-US" sz="1200" u="none" cap="none" strike="noStrike">
                <a:solidFill>
                  <a:srgbClr val="1155C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Revue annuelle PEV 2025</a:t>
            </a:r>
            <a:endParaRPr b="1" i="0" sz="1200" u="none" cap="none" strike="noStrike">
              <a:solidFill>
                <a:srgbClr val="1155CC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513" name="Google Shape;513;g3a7c546b70d_0_806" title="Chart"/>
          <p:cNvPicPr preferRelativeResize="0"/>
          <p:nvPr/>
        </p:nvPicPr>
        <p:blipFill rotWithShape="1">
          <a:blip r:embed="rId3">
            <a:alphaModFix/>
          </a:blip>
          <a:srcRect b="3649" l="3975" r="1808" t="10269"/>
          <a:stretch/>
        </p:blipFill>
        <p:spPr>
          <a:xfrm>
            <a:off x="235500" y="1090970"/>
            <a:ext cx="11640301" cy="4676060"/>
          </a:xfrm>
          <a:prstGeom prst="rect">
            <a:avLst/>
          </a:prstGeom>
          <a:noFill/>
          <a:ln>
            <a:noFill/>
          </a:ln>
        </p:spPr>
      </p:pic>
      <p:sp>
        <p:nvSpPr>
          <p:cNvPr id="514" name="Google Shape;514;g3a7c546b70d_0_806"/>
          <p:cNvSpPr/>
          <p:nvPr/>
        </p:nvSpPr>
        <p:spPr>
          <a:xfrm>
            <a:off x="246825" y="1307875"/>
            <a:ext cx="524700" cy="5024100"/>
          </a:xfrm>
          <a:prstGeom prst="rect">
            <a:avLst/>
          </a:prstGeom>
          <a:solidFill>
            <a:srgbClr val="EAE7F2">
              <a:alpha val="38040"/>
            </a:srgbClr>
          </a:solidFill>
          <a:ln cap="flat" cmpd="sng" w="12700">
            <a:solidFill>
              <a:srgbClr val="B4A7D7"/>
            </a:solidFill>
            <a:prstDash val="solid"/>
            <a:round/>
            <a:headEnd len="sm" w="sm" type="none"/>
            <a:tailEnd len="sm" w="sm" type="none"/>
          </a:ln>
          <a:effectLst>
            <a:reflection blurRad="0" dir="5400000" dist="50800" endA="0" endPos="30000" fadeDir="5400012" kx="0" rotWithShape="0" algn="bl" stA="0" stPos="0" sy="-100000" ky="0"/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t/>
            </a:r>
            <a:endParaRPr b="0" i="0" sz="15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5" name="Google Shape;515;g3a7c546b70d_0_806"/>
          <p:cNvSpPr/>
          <p:nvPr/>
        </p:nvSpPr>
        <p:spPr>
          <a:xfrm>
            <a:off x="11119300" y="1307875"/>
            <a:ext cx="687300" cy="5024100"/>
          </a:xfrm>
          <a:prstGeom prst="rect">
            <a:avLst/>
          </a:prstGeom>
          <a:solidFill>
            <a:srgbClr val="EAE7F2">
              <a:alpha val="38040"/>
            </a:srgbClr>
          </a:solidFill>
          <a:ln cap="flat" cmpd="sng" w="12700">
            <a:solidFill>
              <a:srgbClr val="B4A7D7"/>
            </a:solidFill>
            <a:prstDash val="solid"/>
            <a:round/>
            <a:headEnd len="sm" w="sm" type="none"/>
            <a:tailEnd len="sm" w="sm" type="none"/>
          </a:ln>
          <a:effectLst>
            <a:reflection blurRad="0" dir="5400000" dist="50800" endA="0" endPos="30000" fadeDir="5400012" kx="0" rotWithShape="0" algn="bl" stA="0" stPos="0" sy="-100000" ky="0"/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t/>
            </a:r>
            <a:endParaRPr b="0" i="0" sz="15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6" name="Google Shape;516;g3a7c546b70d_0_806"/>
          <p:cNvSpPr/>
          <p:nvPr/>
        </p:nvSpPr>
        <p:spPr>
          <a:xfrm>
            <a:off x="5706425" y="1307875"/>
            <a:ext cx="458700" cy="5024100"/>
          </a:xfrm>
          <a:prstGeom prst="rect">
            <a:avLst/>
          </a:prstGeom>
          <a:solidFill>
            <a:srgbClr val="EAE7F2">
              <a:alpha val="38040"/>
            </a:srgbClr>
          </a:solidFill>
          <a:ln cap="flat" cmpd="sng" w="12700">
            <a:solidFill>
              <a:srgbClr val="B4A7D7"/>
            </a:solidFill>
            <a:prstDash val="solid"/>
            <a:round/>
            <a:headEnd len="sm" w="sm" type="none"/>
            <a:tailEnd len="sm" w="sm" type="none"/>
          </a:ln>
          <a:effectLst>
            <a:reflection blurRad="0" dir="5400000" dist="50800" endA="0" endPos="30000" fadeDir="5400012" kx="0" rotWithShape="0" algn="bl" stA="0" stPos="0" sy="-100000" ky="0"/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t/>
            </a:r>
            <a:endParaRPr b="0" i="0" sz="15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7" name="Google Shape;517;g3a7c546b70d_0_806"/>
          <p:cNvSpPr/>
          <p:nvPr/>
        </p:nvSpPr>
        <p:spPr>
          <a:xfrm>
            <a:off x="1065825" y="1214975"/>
            <a:ext cx="2575200" cy="547200"/>
          </a:xfrm>
          <a:prstGeom prst="wedgeRectCallout">
            <a:avLst>
              <a:gd fmla="val -65104" name="adj1"/>
              <a:gd fmla="val -25260" name="adj2"/>
            </a:avLst>
          </a:prstGeom>
          <a:solidFill>
            <a:srgbClr val="EFE3D3"/>
          </a:solidFill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>
                <a:latin typeface="Times New Roman"/>
                <a:ea typeface="Times New Roman"/>
                <a:cs typeface="Times New Roman"/>
                <a:sym typeface="Times New Roman"/>
              </a:rPr>
              <a:t>Deux meilleurs antennes</a:t>
            </a:r>
            <a:endParaRPr sz="15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518" name="Google Shape;518;g3a7c546b70d_0_806"/>
          <p:cNvSpPr/>
          <p:nvPr/>
        </p:nvSpPr>
        <p:spPr>
          <a:xfrm>
            <a:off x="6604900" y="1214975"/>
            <a:ext cx="2575200" cy="547200"/>
          </a:xfrm>
          <a:prstGeom prst="wedgeRectCallout">
            <a:avLst>
              <a:gd fmla="val -65104" name="adj1"/>
              <a:gd fmla="val -25260" name="adj2"/>
            </a:avLst>
          </a:prstGeom>
          <a:solidFill>
            <a:srgbClr val="EFE3D3"/>
          </a:solidFill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>
                <a:latin typeface="Times New Roman"/>
                <a:ea typeface="Times New Roman"/>
                <a:cs typeface="Times New Roman"/>
                <a:sym typeface="Times New Roman"/>
              </a:rPr>
              <a:t>Antennes </a:t>
            </a:r>
            <a:r>
              <a:rPr lang="en-US" sz="1500">
                <a:latin typeface="Times New Roman"/>
                <a:ea typeface="Times New Roman"/>
                <a:cs typeface="Times New Roman"/>
                <a:sym typeface="Times New Roman"/>
              </a:rPr>
              <a:t>borderlines</a:t>
            </a:r>
            <a:endParaRPr sz="15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22" name="Shape 5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3" name="Google Shape;523;g3a7c546b70d_0_288"/>
          <p:cNvSpPr txBox="1"/>
          <p:nvPr/>
        </p:nvSpPr>
        <p:spPr>
          <a:xfrm>
            <a:off x="458592" y="317941"/>
            <a:ext cx="11274900" cy="384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500"/>
              <a:buFont typeface="Arial"/>
              <a:buNone/>
            </a:pPr>
            <a:r>
              <a:rPr b="1" lang="en-US" sz="2500">
                <a:solidFill>
                  <a:srgbClr val="1155C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Prestation de services</a:t>
            </a:r>
            <a:r>
              <a:rPr b="0" i="0" lang="en-US" sz="2500" u="none" cap="none" strike="noStrike">
                <a:solidFill>
                  <a:srgbClr val="1155C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| </a:t>
            </a:r>
            <a:r>
              <a:rPr lang="en-US" sz="2500">
                <a:solidFill>
                  <a:srgbClr val="1155C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Lancement du plan Mashako 3.0</a:t>
            </a:r>
            <a:endParaRPr b="0" i="0" sz="2500" u="none" cap="none" strike="noStrike">
              <a:solidFill>
                <a:srgbClr val="1155CC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524" name="Google Shape;524;g3a7c546b70d_0_288"/>
          <p:cNvSpPr/>
          <p:nvPr/>
        </p:nvSpPr>
        <p:spPr>
          <a:xfrm>
            <a:off x="0" y="272241"/>
            <a:ext cx="235500" cy="655200"/>
          </a:xfrm>
          <a:prstGeom prst="rect">
            <a:avLst/>
          </a:prstGeom>
          <a:solidFill>
            <a:srgbClr val="1155CC"/>
          </a:solidFill>
          <a:ln>
            <a:noFill/>
          </a:ln>
        </p:spPr>
        <p:txBody>
          <a:bodyPr anchorCtr="0" anchor="ctr" bIns="91400" lIns="91400" spcFirstLastPara="1" rIns="91400" wrap="square" tIns="914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r>
              <a:t/>
            </a:r>
            <a:endParaRPr b="0" i="0" sz="1900" u="none" cap="none" strike="noStrike">
              <a:solidFill>
                <a:srgbClr val="0070C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525" name="Google Shape;525;g3a7c546b70d_0_288"/>
          <p:cNvSpPr txBox="1"/>
          <p:nvPr/>
        </p:nvSpPr>
        <p:spPr>
          <a:xfrm>
            <a:off x="267700" y="6492843"/>
            <a:ext cx="114147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12190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t/>
            </a:r>
            <a:endParaRPr b="1" i="0" sz="1200" u="none" cap="none" strike="noStrike">
              <a:solidFill>
                <a:srgbClr val="1155CC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526" name="Google Shape;526;g3a7c546b70d_0_288"/>
          <p:cNvSpPr txBox="1"/>
          <p:nvPr/>
        </p:nvSpPr>
        <p:spPr>
          <a:xfrm>
            <a:off x="11658600" y="6496067"/>
            <a:ext cx="228300" cy="16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-US" sz="1200" u="none" cap="none" strike="noStrike">
                <a:solidFill>
                  <a:srgbClr val="1155CC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rgbClr val="1155C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7" name="Google Shape;527;g3a7c546b70d_0_288"/>
          <p:cNvSpPr txBox="1"/>
          <p:nvPr/>
        </p:nvSpPr>
        <p:spPr>
          <a:xfrm>
            <a:off x="8653535" y="1071625"/>
            <a:ext cx="3233100" cy="503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25975" lIns="125975" spcFirstLastPara="1" rIns="125975" wrap="square" tIns="1259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78"/>
              <a:buFont typeface="Arial"/>
              <a:buNone/>
            </a:pPr>
            <a:r>
              <a:t/>
            </a:r>
            <a:endParaRPr b="0" i="1" sz="1377" u="none" cap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445"/>
              <a:buFont typeface="Arial"/>
              <a:buNone/>
            </a:pPr>
            <a:r>
              <a:rPr b="1" i="0" lang="en-US" sz="2755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2</a:t>
            </a:r>
            <a:r>
              <a:rPr b="1" lang="en-US" sz="2755">
                <a:latin typeface="Times New Roman"/>
                <a:ea typeface="Times New Roman"/>
                <a:cs typeface="Times New Roman"/>
                <a:sym typeface="Times New Roman"/>
              </a:rPr>
              <a:t>3</a:t>
            </a:r>
            <a:r>
              <a:rPr b="1" i="0" lang="en-US" sz="2755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/26</a:t>
            </a:r>
            <a:endParaRPr b="1" i="0" sz="2755" u="none" cap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78"/>
              <a:buFont typeface="Arial"/>
              <a:buNone/>
            </a:pPr>
            <a:r>
              <a:rPr b="0" i="1" lang="en-US" sz="1377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Provinces ont organisé les ateliers d’orientation Mashako 3.0</a:t>
            </a:r>
            <a:endParaRPr b="0" i="1" sz="1377" u="none" cap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78"/>
              <a:buFont typeface="Arial"/>
              <a:buNone/>
            </a:pPr>
            <a:r>
              <a:t/>
            </a:r>
            <a:endParaRPr b="1" i="1" sz="1377" u="none" cap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445"/>
              <a:buFont typeface="Arial"/>
              <a:buNone/>
            </a:pPr>
            <a:r>
              <a:rPr b="1" i="0" lang="en-US" sz="2755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19/26</a:t>
            </a:r>
            <a:endParaRPr b="1" i="0" sz="2755" u="none" cap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78"/>
              <a:buFont typeface="Arial"/>
              <a:buNone/>
            </a:pPr>
            <a:r>
              <a:rPr b="0" i="1" lang="en-US" sz="1377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Provinces ont finis à la microplanification</a:t>
            </a:r>
            <a:endParaRPr b="0" i="1" sz="1377" u="none" cap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78"/>
              <a:buFont typeface="Arial"/>
              <a:buNone/>
            </a:pPr>
            <a:r>
              <a:rPr b="0" i="1" lang="en-US" sz="1377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4 provinces en cours de réalisation</a:t>
            </a:r>
            <a:endParaRPr b="0" i="1" sz="1377" u="none" cap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78"/>
              <a:buFont typeface="Arial"/>
              <a:buNone/>
            </a:pPr>
            <a:r>
              <a:rPr b="0" i="1" lang="en-US" sz="1377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La province de Lomami en retard et les Nord et Sud non programmées</a:t>
            </a:r>
            <a:endParaRPr b="0" i="1" sz="1377" u="none" cap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78"/>
              <a:buFont typeface="Arial"/>
              <a:buNone/>
            </a:pPr>
            <a:r>
              <a:t/>
            </a:r>
            <a:endParaRPr b="0" i="1" sz="1377" u="none" cap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78"/>
              <a:buFont typeface="Arial"/>
              <a:buNone/>
            </a:pPr>
            <a:r>
              <a:t/>
            </a:r>
            <a:endParaRPr b="0" i="1" sz="1377" u="none" cap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78"/>
              <a:buFont typeface="Arial"/>
              <a:buNone/>
            </a:pPr>
            <a:r>
              <a:t/>
            </a:r>
            <a:endParaRPr b="0" i="1" sz="1377" u="none" cap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78"/>
              <a:buFont typeface="Arial"/>
              <a:buNone/>
            </a:pPr>
            <a:r>
              <a:t/>
            </a:r>
            <a:endParaRPr b="0" i="1" sz="1377" u="none" cap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78"/>
              <a:buFont typeface="Arial"/>
              <a:buNone/>
            </a:pPr>
            <a:r>
              <a:rPr b="1" i="0" lang="en-US" sz="1653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Le suivi de la remontée des données et validation progressive des </a:t>
            </a:r>
            <a:r>
              <a:rPr b="1" lang="en-US" sz="1653">
                <a:latin typeface="Times New Roman"/>
                <a:ea typeface="Times New Roman"/>
                <a:cs typeface="Times New Roman"/>
                <a:sym typeface="Times New Roman"/>
              </a:rPr>
              <a:t>micro plans</a:t>
            </a:r>
            <a:r>
              <a:rPr b="1" i="0" lang="en-US" sz="1653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b="1" lang="en-US" sz="1653">
                <a:latin typeface="Times New Roman"/>
                <a:ea typeface="Times New Roman"/>
                <a:cs typeface="Times New Roman"/>
                <a:sym typeface="Times New Roman"/>
              </a:rPr>
              <a:t>est réalisé au cours</a:t>
            </a:r>
            <a:r>
              <a:rPr b="1" i="0" lang="en-US" sz="1653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des TC bi-hebdomadaire</a:t>
            </a:r>
            <a:r>
              <a:rPr i="1" lang="en-US" sz="1653">
                <a:latin typeface="Times New Roman"/>
                <a:ea typeface="Times New Roman"/>
                <a:cs typeface="Times New Roman"/>
                <a:sym typeface="Times New Roman"/>
              </a:rPr>
              <a:t>: 45% des microplans consolides</a:t>
            </a:r>
            <a:endParaRPr b="1" i="1" sz="1377" u="none" cap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78"/>
              <a:buFont typeface="Arial"/>
              <a:buNone/>
            </a:pPr>
            <a:r>
              <a:t/>
            </a:r>
            <a:endParaRPr b="0" i="0" sz="1377" u="none" cap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528" name="Google Shape;528;g3a7c546b70d_0_288" title="Screenshot 2025-12-15 at 03.27.09.png">
            <a:hlinkClick r:id="rId3"/>
          </p:cNvPr>
          <p:cNvPicPr preferRelativeResize="0"/>
          <p:nvPr/>
        </p:nvPicPr>
        <p:blipFill rotWithShape="1">
          <a:blip r:embed="rId4">
            <a:alphaModFix/>
          </a:blip>
          <a:srcRect b="0" l="416" r="426" t="0"/>
          <a:stretch/>
        </p:blipFill>
        <p:spPr>
          <a:xfrm>
            <a:off x="235500" y="1071625"/>
            <a:ext cx="8354804" cy="510467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2" name="Shape 5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3" name="Google Shape;533;g3a7c546b70d_0_310"/>
          <p:cNvSpPr txBox="1"/>
          <p:nvPr/>
        </p:nvSpPr>
        <p:spPr>
          <a:xfrm>
            <a:off x="458592" y="317941"/>
            <a:ext cx="11274900" cy="384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500"/>
              <a:buFont typeface="Arial"/>
              <a:buNone/>
            </a:pPr>
            <a:r>
              <a:rPr b="1" lang="en-US" sz="2500">
                <a:solidFill>
                  <a:srgbClr val="1155C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Prestation de services</a:t>
            </a:r>
            <a:r>
              <a:rPr lang="en-US" sz="2500">
                <a:solidFill>
                  <a:srgbClr val="1155C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| Aperçu score Mashako</a:t>
            </a:r>
            <a:endParaRPr b="0" i="0" sz="2700" u="none" cap="none" strike="noStrike">
              <a:solidFill>
                <a:srgbClr val="1155CC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534" name="Google Shape;534;g3a7c546b70d_0_310"/>
          <p:cNvSpPr/>
          <p:nvPr/>
        </p:nvSpPr>
        <p:spPr>
          <a:xfrm>
            <a:off x="0" y="272241"/>
            <a:ext cx="235500" cy="655200"/>
          </a:xfrm>
          <a:prstGeom prst="rect">
            <a:avLst/>
          </a:prstGeom>
          <a:solidFill>
            <a:srgbClr val="1155CC"/>
          </a:solidFill>
          <a:ln>
            <a:noFill/>
          </a:ln>
        </p:spPr>
        <p:txBody>
          <a:bodyPr anchorCtr="0" anchor="ctr" bIns="91400" lIns="91400" spcFirstLastPara="1" rIns="91400" wrap="square" tIns="914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r>
              <a:t/>
            </a:r>
            <a:endParaRPr b="0" i="0" sz="1900" u="none" cap="none" strike="noStrike">
              <a:solidFill>
                <a:srgbClr val="0070C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535" name="Google Shape;535;g3a7c546b70d_0_310"/>
          <p:cNvSpPr txBox="1"/>
          <p:nvPr/>
        </p:nvSpPr>
        <p:spPr>
          <a:xfrm>
            <a:off x="267700" y="6492843"/>
            <a:ext cx="114147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12190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t/>
            </a:r>
            <a:endParaRPr b="1" i="0" sz="1200" u="none" cap="none" strike="noStrike">
              <a:solidFill>
                <a:srgbClr val="1155CC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536" name="Google Shape;536;g3a7c546b70d_0_310"/>
          <p:cNvSpPr txBox="1"/>
          <p:nvPr/>
        </p:nvSpPr>
        <p:spPr>
          <a:xfrm>
            <a:off x="11658600" y="6496067"/>
            <a:ext cx="228300" cy="16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-US" sz="1200" u="none" cap="none" strike="noStrike">
                <a:solidFill>
                  <a:srgbClr val="1155CC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rgbClr val="1155C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537" name="Google Shape;537;g3a7c546b70d_0_310"/>
          <p:cNvGraphicFramePr/>
          <p:nvPr/>
        </p:nvGraphicFramePr>
        <p:xfrm>
          <a:off x="458575" y="15256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{5F268994-D80F-4D26-B88D-35B49DC9060B}</a:tableStyleId>
              </a:tblPr>
              <a:tblGrid>
                <a:gridCol w="4113475"/>
                <a:gridCol w="898325"/>
                <a:gridCol w="1204300"/>
                <a:gridCol w="1127400"/>
                <a:gridCol w="1132875"/>
                <a:gridCol w="1197475"/>
                <a:gridCol w="1601000"/>
              </a:tblGrid>
              <a:tr h="4001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b="1" lang="en-US" sz="16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Indicateurs Mashako National</a:t>
                      </a:r>
                      <a:endParaRPr b="1" sz="1600" u="none" cap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25400" marB="25400" marR="38100" marL="38100" anchor="ctr">
                    <a:lnB cap="flat" cmpd="sng" w="25400">
                      <a:solidFill>
                        <a:srgbClr val="351C7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6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Jui (%)</a:t>
                      </a:r>
                      <a:endParaRPr b="1" sz="1600" u="none" cap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25400" marB="25400" marR="38100" marL="38100" anchor="ctr">
                    <a:lnB cap="flat" cmpd="sng" w="25400">
                      <a:solidFill>
                        <a:srgbClr val="351C7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b="1" lang="en-US" sz="1600" u="none" cap="none" strike="noStrik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Août </a:t>
                      </a:r>
                      <a:r>
                        <a:rPr lang="en-US" sz="1600" u="none" cap="none" strike="noStrik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 (%)</a:t>
                      </a:r>
                      <a:endParaRPr sz="1600" u="none" cap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25400" marB="25400" marR="38100" marL="38100" anchor="ctr">
                    <a:lnB cap="flat" cmpd="sng" w="25400">
                      <a:solidFill>
                        <a:srgbClr val="351C7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1" lang="en-US" sz="16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Sept (%)</a:t>
                      </a:r>
                      <a:endParaRPr b="1" sz="16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25400" marB="25400" marR="38100" marL="38100" anchor="ctr">
                    <a:lnB cap="flat" cmpd="sng" w="25400">
                      <a:solidFill>
                        <a:srgbClr val="351C7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1" lang="en-US" sz="16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Oct (%)</a:t>
                      </a:r>
                      <a:endParaRPr b="1" sz="16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25400" marB="25400" marR="38100" marL="38100" anchor="ctr">
                    <a:lnB cap="flat" cmpd="sng" w="25400">
                      <a:solidFill>
                        <a:srgbClr val="351C7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6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Nov (%)</a:t>
                      </a:r>
                      <a:endParaRPr b="1" sz="16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25400" marB="25400" marR="38100" marL="38100" anchor="ctr">
                    <a:lnB cap="flat" cmpd="sng" w="25400">
                      <a:solidFill>
                        <a:srgbClr val="351C7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b="1" lang="en-US" sz="16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Ecart cible</a:t>
                      </a:r>
                      <a:endParaRPr sz="1600" u="none" cap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25400" marB="25400" marR="38100" marL="38100" anchor="ctr">
                    <a:lnB cap="flat" cmpd="sng" w="25400">
                      <a:solidFill>
                        <a:srgbClr val="351C7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3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lang="en-US" sz="16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Supervision des zones de santé</a:t>
                      </a:r>
                      <a:endParaRPr sz="16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25400" marB="25400" marR="38100" marL="38100" anchor="ctr">
                    <a:lnR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5400">
                      <a:solidFill>
                        <a:srgbClr val="351C7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6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66</a:t>
                      </a:r>
                      <a:endParaRPr b="1" sz="16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25400" marB="25400" marR="38100" marL="38100" anchor="ctr">
                    <a:lnL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5400">
                      <a:solidFill>
                        <a:srgbClr val="351C7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1" lang="en-US" sz="16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77</a:t>
                      </a:r>
                      <a:endParaRPr b="1" sz="16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25400" marB="25400" marR="38100" marL="38100" anchor="ctr">
                    <a:lnL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5400">
                      <a:solidFill>
                        <a:srgbClr val="351C7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1" lang="en-US" sz="16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79</a:t>
                      </a:r>
                      <a:endParaRPr b="1" sz="16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25400" marB="25400" marR="38100" marL="38100" anchor="ctr">
                    <a:lnL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5400">
                      <a:solidFill>
                        <a:srgbClr val="351C7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1" lang="en-US" sz="16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75</a:t>
                      </a:r>
                      <a:endParaRPr b="1" sz="16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25400" marB="25400" marR="38100" marL="38100" anchor="ctr">
                    <a:lnL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5400">
                      <a:solidFill>
                        <a:srgbClr val="351C7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6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76</a:t>
                      </a:r>
                      <a:endParaRPr b="1" sz="16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25400" marB="25400" marR="38100" marL="38100" anchor="ctr">
                    <a:lnL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5400">
                      <a:solidFill>
                        <a:srgbClr val="351C7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600">
                          <a:solidFill>
                            <a:srgbClr val="FF2F04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- 4</a:t>
                      </a:r>
                      <a:endParaRPr b="1" sz="1600" u="none" cap="none" strike="noStrike">
                        <a:solidFill>
                          <a:srgbClr val="FF2F04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25400" marB="25400" marR="38100" marL="38100" anchor="ctr">
                    <a:lnL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361C7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5400">
                      <a:solidFill>
                        <a:srgbClr val="351C7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905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lang="en-US" sz="16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Supervision des aires de santé</a:t>
                      </a:r>
                      <a:endParaRPr sz="16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25400" marB="25400" marR="38100" marL="38100" anchor="ctr">
                    <a:lnR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6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61</a:t>
                      </a:r>
                      <a:endParaRPr b="1" sz="16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25400" marB="25400" marR="38100" marL="38100" anchor="ctr">
                    <a:lnL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1" lang="en-US" sz="16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67</a:t>
                      </a:r>
                      <a:endParaRPr b="1" sz="16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25400" marB="25400" marR="38100" marL="38100" anchor="ctr">
                    <a:lnL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1" lang="en-US" sz="16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67</a:t>
                      </a:r>
                      <a:endParaRPr b="1" sz="16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25400" marB="25400" marR="38100" marL="38100" anchor="ctr">
                    <a:lnL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1" lang="en-US" sz="16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74</a:t>
                      </a:r>
                      <a:endParaRPr b="1" sz="16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25400" marB="25400" marR="38100" marL="38100" anchor="ctr">
                    <a:lnL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6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71</a:t>
                      </a:r>
                      <a:endParaRPr b="1" sz="16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25400" marB="25400" marR="38100" marL="38100" anchor="ctr">
                    <a:lnL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1" lang="en-US" sz="1600">
                          <a:solidFill>
                            <a:srgbClr val="FF2F04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- 9</a:t>
                      </a:r>
                      <a:endParaRPr b="1" sz="1600" u="none" cap="none" strike="noStrike">
                        <a:solidFill>
                          <a:srgbClr val="FF2F04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25400" marB="25400" marR="38100" marL="38100" anchor="ctr">
                    <a:lnL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361C7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3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600" u="none" cap="none" strike="noStrik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Supervision formative de qualité des ZS</a:t>
                      </a:r>
                      <a:endParaRPr sz="16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25400" marB="25400" marR="38100" marL="38100" anchor="ctr">
                    <a:lnR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6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16</a:t>
                      </a:r>
                      <a:endParaRPr b="1" sz="16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25400" marB="25400" marR="38100" marL="38100" anchor="ctr">
                    <a:lnL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6666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1" lang="en-US" sz="16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2</a:t>
                      </a:r>
                      <a:r>
                        <a:rPr b="1" lang="en-US" sz="16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5</a:t>
                      </a:r>
                      <a:endParaRPr b="1" sz="16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25400" marB="25400" marR="38100" marL="38100" anchor="ctr">
                    <a:lnL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6666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1" lang="en-US" sz="16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28</a:t>
                      </a:r>
                      <a:endParaRPr b="1" sz="16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25400" marB="25400" marR="38100" marL="38100" anchor="ctr">
                    <a:lnL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6666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1" lang="en-US" sz="16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3</a:t>
                      </a:r>
                      <a:r>
                        <a:rPr b="1" lang="en-US" sz="16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6</a:t>
                      </a:r>
                      <a:endParaRPr b="1" sz="16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25400" marB="25400" marR="38100" marL="38100" anchor="ctr">
                    <a:lnL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6666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6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34</a:t>
                      </a:r>
                      <a:endParaRPr b="1" sz="16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25400" marB="25400" marR="38100" marL="38100" anchor="ctr">
                    <a:lnL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6666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1" lang="en-US" sz="1600">
                          <a:solidFill>
                            <a:srgbClr val="FF2F04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- 46</a:t>
                      </a:r>
                      <a:endParaRPr b="1" sz="1600" u="none" cap="none" strike="noStrike">
                        <a:solidFill>
                          <a:srgbClr val="FF2F04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25400" marB="25400" marR="38100" marL="38100" anchor="ctr">
                    <a:lnL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361C7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247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500"/>
                        <a:buFont typeface="Arial"/>
                        <a:buNone/>
                      </a:pPr>
                      <a:r>
                        <a:rPr lang="en-US" sz="1600" u="none" cap="none" strike="noStrik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Supervision formative de qualité des AS</a:t>
                      </a:r>
                      <a:endParaRPr sz="16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25400" marB="25400" marR="38100" marL="38100" anchor="ctr">
                    <a:lnR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6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7</a:t>
                      </a:r>
                      <a:endParaRPr b="1" sz="16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25400" marB="25400" marR="38100" marL="38100" anchor="ctr">
                    <a:lnL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6666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1" lang="en-US" sz="16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9</a:t>
                      </a:r>
                      <a:endParaRPr b="1" sz="16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25400" marB="25400" marR="38100" marL="38100" anchor="ctr">
                    <a:lnL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6666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1" lang="en-US" sz="16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10</a:t>
                      </a:r>
                      <a:endParaRPr b="1" sz="16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25400" marB="25400" marR="38100" marL="38100" anchor="ctr">
                    <a:lnL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6666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1" lang="en-US" sz="16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12</a:t>
                      </a:r>
                      <a:endParaRPr b="1" sz="16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25400" marB="25400" marR="38100" marL="38100" anchor="ctr">
                    <a:lnL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6666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6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12</a:t>
                      </a:r>
                      <a:endParaRPr b="1" sz="16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25400" marB="25400" marR="38100" marL="38100" anchor="ctr">
                    <a:lnL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6666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1" lang="en-US" sz="1600">
                          <a:solidFill>
                            <a:srgbClr val="FF2F04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- 68</a:t>
                      </a:r>
                      <a:endParaRPr b="1" sz="1600" u="none" cap="none" strike="noStrike">
                        <a:solidFill>
                          <a:srgbClr val="FF2F04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25400" marB="25400" marR="38100" marL="38100" anchor="ctr">
                    <a:lnL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361C7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197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lang="en-US" sz="1600" u="none" cap="none" strike="noStrik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Réunions </a:t>
                      </a:r>
                      <a:r>
                        <a:rPr lang="en-US" sz="16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de coordination de routine NAT</a:t>
                      </a:r>
                      <a:endParaRPr sz="1600" u="none" cap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25400" marB="25400" marR="38100" marL="38100" anchor="ctr">
                    <a:lnR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6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100</a:t>
                      </a:r>
                      <a:endParaRPr b="1" sz="16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25400" marB="25400" marR="38100" marL="38100" anchor="ctr">
                    <a:lnL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92C47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1" lang="en-US" sz="16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75</a:t>
                      </a:r>
                      <a:endParaRPr b="1" sz="16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25400" marB="25400" marR="38100" marL="38100" anchor="ctr">
                    <a:lnL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1" lang="en-US" sz="16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25</a:t>
                      </a:r>
                      <a:endParaRPr b="1" sz="16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25400" marB="25400" marR="38100" marL="38100" anchor="ctr">
                    <a:lnL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6666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1" lang="en-US" sz="16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75</a:t>
                      </a:r>
                      <a:endParaRPr b="1" sz="16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25400" marB="25400" marR="38100" marL="38100" anchor="ctr">
                    <a:lnL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6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75</a:t>
                      </a:r>
                      <a:endParaRPr b="1" sz="16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25400" marB="25400" marR="38100" marL="38100" anchor="ctr">
                    <a:lnL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1" lang="en-US" sz="1600">
                          <a:solidFill>
                            <a:srgbClr val="FF2F04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- </a:t>
                      </a:r>
                      <a:r>
                        <a:rPr b="1" lang="en-US" sz="1600" u="none" cap="none" strike="noStrike">
                          <a:solidFill>
                            <a:srgbClr val="FF2F04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5</a:t>
                      </a:r>
                      <a:endParaRPr b="1" sz="1600" u="none" cap="none" strike="noStrike">
                        <a:solidFill>
                          <a:srgbClr val="FF2F04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25400" marB="25400" marR="38100" marL="38100" anchor="ctr">
                    <a:lnL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361C7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451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lang="en-US" sz="16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Réunions </a:t>
                      </a:r>
                      <a:r>
                        <a:rPr lang="en-US" sz="16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de validation des données ANT</a:t>
                      </a:r>
                      <a:endParaRPr sz="16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25400" marB="25400" marR="38100" marL="38100" anchor="ctr">
                    <a:lnR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6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4</a:t>
                      </a:r>
                      <a:endParaRPr b="1" sz="16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25400" marB="25400" marR="38100" marL="38100" anchor="ctr">
                    <a:lnL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6666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1" lang="en-US" sz="16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16</a:t>
                      </a:r>
                      <a:endParaRPr b="1" sz="16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25400" marB="25400" marR="38100" marL="38100" anchor="ctr">
                    <a:lnL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6666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1" lang="en-US" sz="16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33</a:t>
                      </a:r>
                      <a:endParaRPr b="1" sz="16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25400" marB="25400" marR="38100" marL="38100" anchor="ctr">
                    <a:lnL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6666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1" lang="en-US" sz="16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63</a:t>
                      </a:r>
                      <a:endParaRPr b="1" sz="16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25400" marB="25400" marR="38100" marL="38100" anchor="ctr">
                    <a:lnL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6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51</a:t>
                      </a:r>
                      <a:endParaRPr b="1" sz="16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25400" marB="25400" marR="38100" marL="38100" anchor="ctr">
                    <a:lnL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1" lang="en-US" sz="1600">
                          <a:solidFill>
                            <a:srgbClr val="FF2F04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- 29</a:t>
                      </a:r>
                      <a:endParaRPr b="1" sz="1600" u="none" cap="none" strike="noStrike">
                        <a:solidFill>
                          <a:srgbClr val="FF2F04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25400" marB="25400" marR="38100" marL="38100" anchor="ctr">
                    <a:lnL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361C7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16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lang="en-US" sz="16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Fonctionnalité de la chaîne de froid </a:t>
                      </a:r>
                      <a:r>
                        <a:rPr lang="en-US" sz="16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HUB</a:t>
                      </a:r>
                      <a:endParaRPr sz="16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25400" marB="25400" marR="38100" marL="38100" anchor="ctr">
                    <a:lnR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6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94</a:t>
                      </a:r>
                      <a:endParaRPr b="1" sz="16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25400" marB="25400" marR="38100" marL="38100" anchor="ctr">
                    <a:lnL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93C47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1" lang="en-US" sz="16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94</a:t>
                      </a:r>
                      <a:endParaRPr b="1" sz="16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25400" marB="25400" marR="38100" marL="38100" anchor="ctr">
                    <a:lnL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93C47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1" lang="en-US" sz="16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94</a:t>
                      </a:r>
                      <a:endParaRPr b="1" sz="16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25400" marB="25400" marR="38100" marL="38100" anchor="ctr">
                    <a:lnL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93C47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1" lang="en-US" sz="16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94</a:t>
                      </a:r>
                      <a:endParaRPr b="1" sz="16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25400" marB="25400" marR="38100" marL="38100" anchor="ctr">
                    <a:lnL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93C47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6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94</a:t>
                      </a:r>
                      <a:endParaRPr b="1" sz="16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25400" marB="25400" marR="38100" marL="38100" anchor="ctr">
                    <a:lnL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93C47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1" lang="en-US" sz="1600">
                          <a:solidFill>
                            <a:srgbClr val="274E13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0</a:t>
                      </a:r>
                      <a:endParaRPr b="1" sz="1600" u="none" cap="none" strike="noStrike">
                        <a:solidFill>
                          <a:srgbClr val="274E13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25400" marB="25400" marR="38100" marL="38100" anchor="ctr">
                    <a:lnL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361C7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3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lang="en-US" sz="1600" u="none" cap="none" strike="noStrik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Fonctionnalité de la chaîne de froid </a:t>
                      </a:r>
                      <a:r>
                        <a:rPr lang="en-US" sz="16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 des antennes</a:t>
                      </a:r>
                      <a:endParaRPr sz="16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25400" marB="25400" marR="38100" marL="38100" anchor="ctr">
                    <a:lnR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6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73</a:t>
                      </a:r>
                      <a:endParaRPr b="1" sz="16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25400" marB="25400" marR="38100" marL="38100" anchor="ctr">
                    <a:lnL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1" lang="en-US" sz="16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78</a:t>
                      </a:r>
                      <a:endParaRPr b="1" sz="16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25400" marB="25400" marR="38100" marL="38100" anchor="ctr">
                    <a:lnL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1" lang="en-US" sz="16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82</a:t>
                      </a:r>
                      <a:endParaRPr b="1" sz="16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25400" marB="25400" marR="38100" marL="38100" anchor="ctr">
                    <a:lnL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93C47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1" lang="en-US" sz="16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82</a:t>
                      </a:r>
                      <a:endParaRPr b="1" sz="16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25400" marB="25400" marR="38100" marL="38100" anchor="ctr">
                    <a:lnL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93C47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6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80</a:t>
                      </a:r>
                      <a:endParaRPr b="1" sz="16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25400" marB="25400" marR="38100" marL="38100" anchor="ctr">
                    <a:lnL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93C47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1" lang="en-US" sz="1600" u="none" cap="none" strike="noStrike">
                          <a:solidFill>
                            <a:srgbClr val="274E13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0</a:t>
                      </a:r>
                      <a:endParaRPr b="1" sz="1600" u="none" cap="none" strike="noStrike">
                        <a:solidFill>
                          <a:srgbClr val="274E13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25400" marB="25400" marR="38100" marL="38100" anchor="ctr">
                    <a:lnL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361C7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3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lang="en-US" sz="1600" u="none" cap="none" strike="noStrik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Disponibilité des vaccins des antennes</a:t>
                      </a:r>
                      <a:endParaRPr sz="16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25400" marB="25400" marR="38100" marL="38100" anchor="ctr">
                    <a:lnR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6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31</a:t>
                      </a:r>
                      <a:endParaRPr b="1" sz="16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25400" marB="25400" marR="38100" marL="38100" anchor="ctr">
                    <a:lnL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6666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1" lang="en-US" sz="16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24</a:t>
                      </a:r>
                      <a:endParaRPr b="1" sz="16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25400" marB="25400" marR="38100" marL="38100" anchor="ctr">
                    <a:lnL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6666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1" lang="en-US" sz="16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16</a:t>
                      </a:r>
                      <a:endParaRPr b="1" sz="16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25400" marB="25400" marR="38100" marL="38100" anchor="ctr">
                    <a:lnL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6666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1" lang="en-US" sz="16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8</a:t>
                      </a:r>
                      <a:endParaRPr b="1" sz="16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25400" marB="25400" marR="38100" marL="38100" anchor="ctr">
                    <a:lnL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6666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6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16</a:t>
                      </a:r>
                      <a:endParaRPr b="1" sz="16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25400" marB="25400" marR="38100" marL="38100" anchor="ctr">
                    <a:lnL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6666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1" lang="en-US" sz="1600" u="none" cap="none" strike="noStrike">
                          <a:solidFill>
                            <a:srgbClr val="FF2F04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- </a:t>
                      </a:r>
                      <a:r>
                        <a:rPr b="1" lang="en-US" sz="1600">
                          <a:solidFill>
                            <a:srgbClr val="FF2F04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64</a:t>
                      </a:r>
                      <a:endParaRPr b="1" sz="1600" u="none" cap="none" strike="noStrike">
                        <a:solidFill>
                          <a:srgbClr val="FF2F04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25400" marB="25400" marR="38100" marL="38100" anchor="ctr">
                    <a:lnL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361C7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3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lang="en-US" sz="16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Satisfaction des commandes des antennes</a:t>
                      </a:r>
                      <a:endParaRPr sz="16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25400" marB="25400" marR="38100" marL="38100" anchor="ctr">
                    <a:lnR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6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0</a:t>
                      </a:r>
                      <a:endParaRPr b="1" sz="16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25400" marB="25400" marR="38100" marL="38100" anchor="ctr">
                    <a:lnL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6666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1" lang="en-US" sz="16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0</a:t>
                      </a:r>
                      <a:endParaRPr b="1" sz="16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25400" marB="25400" marR="38100" marL="38100" anchor="ctr">
                    <a:lnL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6666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1" lang="en-US" sz="16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0</a:t>
                      </a:r>
                      <a:endParaRPr b="1" sz="16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25400" marB="25400" marR="38100" marL="38100" anchor="ctr">
                    <a:lnL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6666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1" lang="en-US" sz="16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0</a:t>
                      </a:r>
                      <a:endParaRPr b="1" sz="16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25400" marB="25400" marR="38100" marL="38100" anchor="ctr">
                    <a:lnL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6666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6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0</a:t>
                      </a:r>
                      <a:endParaRPr b="1" sz="16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25400" marB="25400" marR="38100" marL="38100" anchor="ctr">
                    <a:lnL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6666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600">
                          <a:solidFill>
                            <a:srgbClr val="FF2F04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- 100</a:t>
                      </a:r>
                      <a:endParaRPr b="1" sz="1600" u="none" cap="none" strike="noStrike">
                        <a:solidFill>
                          <a:srgbClr val="FF2F04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25400" marB="25400" marR="38100" marL="38100" anchor="ctr">
                    <a:lnL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361C7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3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6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Récupération des enfants</a:t>
                      </a:r>
                      <a:endParaRPr sz="16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25400" marB="25400" marR="38100" marL="38100" anchor="ctr">
                    <a:lnR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6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23</a:t>
                      </a:r>
                      <a:endParaRPr b="1" sz="16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25400" marB="25400" marR="38100" marL="38100" anchor="ctr">
                    <a:lnL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6666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1" lang="en-US" sz="16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27</a:t>
                      </a:r>
                      <a:endParaRPr b="1" sz="16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25400" marB="25400" marR="38100" marL="38100" anchor="ctr">
                    <a:lnL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6666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1" lang="en-US" sz="16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29</a:t>
                      </a:r>
                      <a:endParaRPr b="1" sz="16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25400" marB="25400" marR="38100" marL="38100" anchor="ctr">
                    <a:lnL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6666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1" lang="en-US" sz="16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32</a:t>
                      </a:r>
                      <a:endParaRPr b="1" sz="16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25400" marB="25400" marR="38100" marL="38100" anchor="ctr">
                    <a:lnL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6666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6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32</a:t>
                      </a:r>
                      <a:endParaRPr b="1" sz="16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25400" marB="25400" marR="38100" marL="38100" anchor="ctr">
                    <a:lnL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6666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1" lang="en-US" sz="1600">
                          <a:solidFill>
                            <a:srgbClr val="FF2F04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- 48</a:t>
                      </a:r>
                      <a:endParaRPr b="1" sz="1600" u="none" cap="none" strike="noStrike">
                        <a:solidFill>
                          <a:srgbClr val="FF2F04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25400" marB="25400" marR="38100" marL="38100" anchor="ctr">
                    <a:lnL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361C7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3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500"/>
                        <a:buFont typeface="Arial"/>
                        <a:buNone/>
                      </a:pPr>
                      <a:r>
                        <a:rPr lang="en-US" sz="1600" u="none" cap="none" strike="noStrik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Infirmier titulaire formés au PEV</a:t>
                      </a:r>
                      <a:endParaRPr sz="16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25400" marB="25400" marR="38100" marL="38100" anchor="ctr">
                    <a:lnR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5400">
                      <a:solidFill>
                        <a:srgbClr val="351C7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6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49</a:t>
                      </a:r>
                      <a:endParaRPr b="1" sz="16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25400" marB="25400" marR="38100" marL="38100" anchor="ctr">
                    <a:lnL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5400">
                      <a:solidFill>
                        <a:srgbClr val="351C7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6666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1" lang="en-US" sz="16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57</a:t>
                      </a:r>
                      <a:endParaRPr b="1" sz="16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25400" marB="25400" marR="38100" marL="38100" anchor="ctr">
                    <a:lnL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5400">
                      <a:solidFill>
                        <a:srgbClr val="351C7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1" lang="en-US" sz="16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60</a:t>
                      </a:r>
                      <a:endParaRPr b="1" sz="16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25400" marB="25400" marR="38100" marL="38100" anchor="ctr">
                    <a:lnL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5400">
                      <a:solidFill>
                        <a:srgbClr val="351C7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1" lang="en-US" sz="16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6</a:t>
                      </a:r>
                      <a:r>
                        <a:rPr b="1" lang="en-US" sz="16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7</a:t>
                      </a:r>
                      <a:endParaRPr b="1" sz="16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25400" marB="25400" marR="38100" marL="38100" anchor="ctr">
                    <a:lnL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5400">
                      <a:solidFill>
                        <a:srgbClr val="351C7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6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66</a:t>
                      </a:r>
                      <a:endParaRPr b="1" sz="16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25400" marB="25400" marR="38100" marL="38100" anchor="ctr">
                    <a:lnL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5400">
                      <a:solidFill>
                        <a:srgbClr val="351C7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600">
                          <a:solidFill>
                            <a:srgbClr val="FF2F04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- 14</a:t>
                      </a:r>
                      <a:endParaRPr b="1" sz="1600" u="none" cap="none" strike="noStrike">
                        <a:solidFill>
                          <a:srgbClr val="FF2F04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25400" marB="25400" marR="38100" marL="38100" anchor="ctr">
                    <a:lnL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361C7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5400">
                      <a:solidFill>
                        <a:srgbClr val="351C7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08375">
                <a:tc>
                  <a:txBody>
                    <a:bodyPr/>
                    <a:lstStyle/>
                    <a:p>
                      <a:pPr indent="0" lvl="0" marL="0" marR="0" rtl="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lang="en-US" sz="16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Total</a:t>
                      </a:r>
                      <a:endParaRPr sz="16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25400" marB="25400" marR="38100" marL="38100" anchor="ctr">
                    <a:lnR cap="flat" cmpd="sng" w="12700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5400">
                      <a:solidFill>
                        <a:srgbClr val="351C7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6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33</a:t>
                      </a:r>
                      <a:endParaRPr b="1" sz="16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25400" marB="25400" marR="38100" marL="38100" anchor="ctr">
                    <a:lnL cap="flat" cmpd="sng" w="12700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5400">
                      <a:solidFill>
                        <a:srgbClr val="351C7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6666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1" lang="en-US" sz="16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3</a:t>
                      </a:r>
                      <a:r>
                        <a:rPr b="1" lang="en-US" sz="16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4</a:t>
                      </a:r>
                      <a:endParaRPr b="1" sz="16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25400" marB="25400" marR="38100" marL="38100" anchor="ctr">
                    <a:lnL cap="flat" cmpd="sng" w="12700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5400">
                      <a:solidFill>
                        <a:srgbClr val="351C7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6666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1" lang="en-US" sz="16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3</a:t>
                      </a:r>
                      <a:r>
                        <a:rPr b="1" lang="en-US" sz="16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2</a:t>
                      </a:r>
                      <a:endParaRPr b="1" sz="16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25400" marB="25400" marR="38100" marL="38100" anchor="ctr">
                    <a:lnL cap="flat" cmpd="sng" w="12700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5400">
                      <a:solidFill>
                        <a:srgbClr val="351C7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6666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1" lang="en-US" sz="16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37</a:t>
                      </a:r>
                      <a:endParaRPr b="1" sz="16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25400" marB="25400" marR="38100" marL="38100" anchor="ctr">
                    <a:lnL cap="flat" cmpd="sng" w="12700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5400">
                      <a:solidFill>
                        <a:srgbClr val="351C7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6666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6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37</a:t>
                      </a:r>
                      <a:endParaRPr b="1" sz="16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25400" marB="25400" marR="38100" marL="38100" anchor="ctr">
                    <a:lnL cap="flat" cmpd="sng" w="12700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5400">
                      <a:solidFill>
                        <a:srgbClr val="351C7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6666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600">
                          <a:solidFill>
                            <a:srgbClr val="FF2F04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- 43</a:t>
                      </a:r>
                      <a:endParaRPr b="1" sz="1600" u="none" cap="none" strike="noStrike">
                        <a:solidFill>
                          <a:srgbClr val="FF2F04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25400" marB="25400" marR="38100" marL="38100" anchor="ctr">
                    <a:lnL cap="flat" cmpd="sng" w="12700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5400">
                      <a:solidFill>
                        <a:srgbClr val="351C7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  <p:sp>
        <p:nvSpPr>
          <p:cNvPr id="538" name="Google Shape;538;g3a7c546b70d_0_310"/>
          <p:cNvSpPr txBox="1"/>
          <p:nvPr/>
        </p:nvSpPr>
        <p:spPr>
          <a:xfrm>
            <a:off x="267700" y="6492843"/>
            <a:ext cx="114147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12190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155CC"/>
              </a:buClr>
              <a:buSzPts val="1200"/>
              <a:buFont typeface="Times New Roman"/>
              <a:buNone/>
            </a:pPr>
            <a:r>
              <a:rPr b="1" lang="en-US" sz="1200">
                <a:solidFill>
                  <a:srgbClr val="1155C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Source: Gestion PEV 2025, DHIS2 Tracker 2025</a:t>
            </a:r>
            <a:endParaRPr b="1" sz="1200">
              <a:solidFill>
                <a:srgbClr val="1155CC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cxnSp>
        <p:nvCxnSpPr>
          <p:cNvPr id="539" name="Google Shape;539;g3a7c546b70d_0_310"/>
          <p:cNvCxnSpPr/>
          <p:nvPr/>
        </p:nvCxnSpPr>
        <p:spPr>
          <a:xfrm>
            <a:off x="267700" y="6427967"/>
            <a:ext cx="11640300" cy="0"/>
          </a:xfrm>
          <a:prstGeom prst="straightConnector1">
            <a:avLst/>
          </a:prstGeom>
          <a:noFill/>
          <a:ln cap="flat" cmpd="sng" w="9525">
            <a:solidFill>
              <a:srgbClr val="9E9E9E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43" name="Shape 5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4" name="Google Shape;544;g3a7c546b70d_0_405"/>
          <p:cNvSpPr txBox="1"/>
          <p:nvPr/>
        </p:nvSpPr>
        <p:spPr>
          <a:xfrm>
            <a:off x="458592" y="317941"/>
            <a:ext cx="11274900" cy="384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500"/>
              <a:buFont typeface="Arial"/>
              <a:buNone/>
            </a:pPr>
            <a:r>
              <a:rPr b="1" lang="en-US" sz="2500">
                <a:solidFill>
                  <a:srgbClr val="1155C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Prestation de services</a:t>
            </a:r>
            <a:r>
              <a:rPr lang="en-US" sz="2500">
                <a:solidFill>
                  <a:srgbClr val="1155C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| Score Mashako par antenne au mois de Novembre 2025</a:t>
            </a:r>
            <a:endParaRPr b="0" i="0" sz="2700" u="none" cap="none" strike="noStrike">
              <a:solidFill>
                <a:srgbClr val="1155CC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545" name="Google Shape;545;g3a7c546b70d_0_405"/>
          <p:cNvSpPr/>
          <p:nvPr/>
        </p:nvSpPr>
        <p:spPr>
          <a:xfrm>
            <a:off x="0" y="272241"/>
            <a:ext cx="235500" cy="655200"/>
          </a:xfrm>
          <a:prstGeom prst="rect">
            <a:avLst/>
          </a:prstGeom>
          <a:solidFill>
            <a:srgbClr val="1155CC"/>
          </a:solidFill>
          <a:ln>
            <a:noFill/>
          </a:ln>
        </p:spPr>
        <p:txBody>
          <a:bodyPr anchorCtr="0" anchor="ctr" bIns="91400" lIns="91400" spcFirstLastPara="1" rIns="91400" wrap="square" tIns="914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r>
              <a:t/>
            </a:r>
            <a:endParaRPr b="0" i="0" sz="1900" u="none" cap="none" strike="noStrike">
              <a:solidFill>
                <a:srgbClr val="0070C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546" name="Google Shape;546;g3a7c546b70d_0_405"/>
          <p:cNvSpPr txBox="1"/>
          <p:nvPr/>
        </p:nvSpPr>
        <p:spPr>
          <a:xfrm>
            <a:off x="11658600" y="6496067"/>
            <a:ext cx="228300" cy="16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-US" sz="1200" u="none" cap="none" strike="noStrike">
                <a:solidFill>
                  <a:srgbClr val="1155CC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rgbClr val="1155C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47" name="Google Shape;547;g3a7c546b70d_0_405"/>
          <p:cNvGrpSpPr/>
          <p:nvPr/>
        </p:nvGrpSpPr>
        <p:grpSpPr>
          <a:xfrm>
            <a:off x="7721323" y="6587841"/>
            <a:ext cx="2928064" cy="165996"/>
            <a:chOff x="200775" y="4647825"/>
            <a:chExt cx="2196103" cy="124500"/>
          </a:xfrm>
        </p:grpSpPr>
        <p:sp>
          <p:nvSpPr>
            <p:cNvPr id="548" name="Google Shape;548;g3a7c546b70d_0_405"/>
            <p:cNvSpPr/>
            <p:nvPr/>
          </p:nvSpPr>
          <p:spPr>
            <a:xfrm>
              <a:off x="200775" y="4647825"/>
              <a:ext cx="697500" cy="124500"/>
            </a:xfrm>
            <a:prstGeom prst="rect">
              <a:avLst/>
            </a:prstGeom>
            <a:solidFill>
              <a:srgbClr val="93C47D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Arial"/>
                <a:buNone/>
              </a:pPr>
              <a:r>
                <a:rPr b="0" i="0" lang="en-US" sz="11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  <a:t>&gt;80%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49" name="Google Shape;549;g3a7c546b70d_0_405"/>
            <p:cNvSpPr/>
            <p:nvPr/>
          </p:nvSpPr>
          <p:spPr>
            <a:xfrm>
              <a:off x="950078" y="4647825"/>
              <a:ext cx="697500" cy="124500"/>
            </a:xfrm>
            <a:prstGeom prst="rect">
              <a:avLst/>
            </a:prstGeom>
            <a:solidFill>
              <a:srgbClr val="FFD966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Arial"/>
                <a:buNone/>
              </a:pPr>
              <a:r>
                <a:rPr b="0" i="0" lang="en-US" sz="11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 50% -</a:t>
              </a:r>
              <a:r>
                <a:rPr b="0" i="0" lang="en-US" sz="11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  <a:t>79%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50" name="Google Shape;550;g3a7c546b70d_0_405"/>
            <p:cNvSpPr/>
            <p:nvPr/>
          </p:nvSpPr>
          <p:spPr>
            <a:xfrm>
              <a:off x="1699378" y="4647825"/>
              <a:ext cx="697500" cy="124500"/>
            </a:xfrm>
            <a:prstGeom prst="rect">
              <a:avLst/>
            </a:prstGeom>
            <a:solidFill>
              <a:srgbClr val="E06666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Arial"/>
                <a:buNone/>
              </a:pPr>
              <a:r>
                <a:rPr b="0" i="0" lang="en-US" sz="11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  <a:t>&lt;49%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551" name="Google Shape;551;g3a7c546b70d_0_405" title="Chart"/>
          <p:cNvPicPr preferRelativeResize="0"/>
          <p:nvPr/>
        </p:nvPicPr>
        <p:blipFill rotWithShape="1">
          <a:blip r:embed="rId3">
            <a:alphaModFix/>
          </a:blip>
          <a:srcRect b="2409" l="2845" r="1670" t="5990"/>
          <a:stretch/>
        </p:blipFill>
        <p:spPr>
          <a:xfrm>
            <a:off x="458600" y="1578728"/>
            <a:ext cx="11274798" cy="4753141"/>
          </a:xfrm>
          <a:prstGeom prst="rect">
            <a:avLst/>
          </a:prstGeom>
          <a:noFill/>
          <a:ln>
            <a:noFill/>
          </a:ln>
        </p:spPr>
      </p:pic>
      <p:sp>
        <p:nvSpPr>
          <p:cNvPr id="552" name="Google Shape;552;g3a7c546b70d_0_405"/>
          <p:cNvSpPr/>
          <p:nvPr/>
        </p:nvSpPr>
        <p:spPr>
          <a:xfrm>
            <a:off x="772733" y="1307867"/>
            <a:ext cx="11114400" cy="5024100"/>
          </a:xfrm>
          <a:prstGeom prst="rect">
            <a:avLst/>
          </a:prstGeom>
          <a:solidFill>
            <a:srgbClr val="EAE7F2">
              <a:alpha val="38040"/>
            </a:srgbClr>
          </a:solidFill>
          <a:ln cap="flat" cmpd="sng" w="12700">
            <a:solidFill>
              <a:srgbClr val="B4A7D7"/>
            </a:solidFill>
            <a:prstDash val="solid"/>
            <a:round/>
            <a:headEnd len="sm" w="sm" type="none"/>
            <a:tailEnd len="sm" w="sm" type="none"/>
          </a:ln>
          <a:effectLst>
            <a:reflection blurRad="0" dir="5400000" dist="50800" endA="0" endPos="30000" fadeDir="5400012" kx="0" rotWithShape="0" algn="bl" stA="0" stPos="0" sy="-100000" ky="0"/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t/>
            </a:r>
            <a:endParaRPr b="0" i="0" sz="15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3" name="Google Shape;553;g3a7c546b70d_0_405"/>
          <p:cNvSpPr txBox="1"/>
          <p:nvPr/>
        </p:nvSpPr>
        <p:spPr>
          <a:xfrm>
            <a:off x="5706992" y="1307867"/>
            <a:ext cx="6180000" cy="5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ial"/>
              <a:buNone/>
            </a:pPr>
            <a:r>
              <a:rPr b="1" lang="en-US" sz="1300">
                <a:solidFill>
                  <a:srgbClr val="FF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Seule antenne de Kabinda a atteint l’objectif du score Mashako en cours du mois de Novembre 2025</a:t>
            </a:r>
            <a:endParaRPr sz="13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cxnSp>
        <p:nvCxnSpPr>
          <p:cNvPr id="554" name="Google Shape;554;g3a7c546b70d_0_405"/>
          <p:cNvCxnSpPr/>
          <p:nvPr/>
        </p:nvCxnSpPr>
        <p:spPr>
          <a:xfrm>
            <a:off x="267700" y="6427967"/>
            <a:ext cx="11640300" cy="0"/>
          </a:xfrm>
          <a:prstGeom prst="straightConnector1">
            <a:avLst/>
          </a:prstGeom>
          <a:noFill/>
          <a:ln cap="flat" cmpd="sng" w="9525">
            <a:solidFill>
              <a:srgbClr val="9E9E9E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55" name="Google Shape;555;g3a7c546b70d_0_405"/>
          <p:cNvSpPr txBox="1"/>
          <p:nvPr/>
        </p:nvSpPr>
        <p:spPr>
          <a:xfrm>
            <a:off x="267700" y="6492843"/>
            <a:ext cx="114147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12190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155CC"/>
              </a:buClr>
              <a:buSzPts val="1200"/>
              <a:buFont typeface="Times New Roman"/>
              <a:buNone/>
            </a:pPr>
            <a:r>
              <a:rPr b="1" lang="en-US" sz="1200">
                <a:solidFill>
                  <a:srgbClr val="1155C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Source: Gestion PEV 2025, DHIS2 Tracker 2025</a:t>
            </a:r>
            <a:endParaRPr b="1" sz="1200">
              <a:solidFill>
                <a:srgbClr val="1155CC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59" name="Shape 5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0" name="Google Shape;560;g3a7c546b70d_0_476"/>
          <p:cNvSpPr txBox="1"/>
          <p:nvPr/>
        </p:nvSpPr>
        <p:spPr>
          <a:xfrm>
            <a:off x="458592" y="317941"/>
            <a:ext cx="11274900" cy="384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500"/>
              <a:buFont typeface="Arial"/>
              <a:buNone/>
            </a:pPr>
            <a:r>
              <a:rPr b="1" lang="en-US" sz="2500">
                <a:solidFill>
                  <a:srgbClr val="1155C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Prestation de services</a:t>
            </a:r>
            <a:r>
              <a:rPr lang="en-US" sz="2500">
                <a:solidFill>
                  <a:srgbClr val="1155C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| Couverture vaccinale au niveau national Jan. - Nov. 2025</a:t>
            </a:r>
            <a:endParaRPr b="0" i="0" sz="2700" u="none" cap="none" strike="noStrike">
              <a:solidFill>
                <a:srgbClr val="1155CC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561" name="Google Shape;561;g3a7c546b70d_0_476"/>
          <p:cNvSpPr/>
          <p:nvPr/>
        </p:nvSpPr>
        <p:spPr>
          <a:xfrm>
            <a:off x="0" y="272241"/>
            <a:ext cx="235500" cy="655200"/>
          </a:xfrm>
          <a:prstGeom prst="rect">
            <a:avLst/>
          </a:prstGeom>
          <a:solidFill>
            <a:srgbClr val="1155CC"/>
          </a:solidFill>
          <a:ln>
            <a:noFill/>
          </a:ln>
        </p:spPr>
        <p:txBody>
          <a:bodyPr anchorCtr="0" anchor="ctr" bIns="91400" lIns="91400" spcFirstLastPara="1" rIns="91400" wrap="square" tIns="914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r>
              <a:t/>
            </a:r>
            <a:endParaRPr b="0" i="0" sz="1900" u="none" cap="none" strike="noStrike">
              <a:solidFill>
                <a:srgbClr val="0070C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562" name="Google Shape;562;g3a7c546b70d_0_476"/>
          <p:cNvSpPr txBox="1"/>
          <p:nvPr/>
        </p:nvSpPr>
        <p:spPr>
          <a:xfrm>
            <a:off x="11658600" y="6496067"/>
            <a:ext cx="228300" cy="16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-US" sz="1200" u="none" cap="none" strike="noStrike">
                <a:solidFill>
                  <a:srgbClr val="1155CC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rgbClr val="1155C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63" name="Google Shape;563;g3a7c546b70d_0_476"/>
          <p:cNvCxnSpPr/>
          <p:nvPr/>
        </p:nvCxnSpPr>
        <p:spPr>
          <a:xfrm>
            <a:off x="267700" y="6427967"/>
            <a:ext cx="11640300" cy="0"/>
          </a:xfrm>
          <a:prstGeom prst="straightConnector1">
            <a:avLst/>
          </a:prstGeom>
          <a:noFill/>
          <a:ln cap="flat" cmpd="sng" w="9525">
            <a:solidFill>
              <a:srgbClr val="9E9E9E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64" name="Google Shape;564;g3a7c546b70d_0_476"/>
          <p:cNvSpPr txBox="1"/>
          <p:nvPr/>
        </p:nvSpPr>
        <p:spPr>
          <a:xfrm>
            <a:off x="267700" y="6492843"/>
            <a:ext cx="114147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12190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155CC"/>
              </a:buClr>
              <a:buSzPts val="1200"/>
              <a:buFont typeface="Times New Roman"/>
              <a:buNone/>
            </a:pPr>
            <a:r>
              <a:rPr b="1" lang="en-US" sz="1200">
                <a:solidFill>
                  <a:srgbClr val="1155C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Source: Gestion PEV 2025, DHIS2 Tracker 2025</a:t>
            </a:r>
            <a:endParaRPr b="1" sz="1200">
              <a:solidFill>
                <a:srgbClr val="1155CC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565" name="Google Shape;565;g3a7c546b70d_0_476" title="Chart"/>
          <p:cNvPicPr preferRelativeResize="0"/>
          <p:nvPr/>
        </p:nvPicPr>
        <p:blipFill rotWithShape="1">
          <a:blip r:embed="rId3">
            <a:alphaModFix/>
          </a:blip>
          <a:srcRect b="0" l="5297" r="2892" t="16317"/>
          <a:stretch/>
        </p:blipFill>
        <p:spPr>
          <a:xfrm>
            <a:off x="449025" y="1719368"/>
            <a:ext cx="11274902" cy="4312844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566" name="Google Shape;566;g3a7c546b70d_0_476"/>
          <p:cNvGrpSpPr/>
          <p:nvPr/>
        </p:nvGrpSpPr>
        <p:grpSpPr>
          <a:xfrm>
            <a:off x="449024" y="1174084"/>
            <a:ext cx="5003164" cy="471268"/>
            <a:chOff x="259207" y="695478"/>
            <a:chExt cx="5758043" cy="144961"/>
          </a:xfrm>
        </p:grpSpPr>
        <p:sp>
          <p:nvSpPr>
            <p:cNvPr id="567" name="Google Shape;567;g3a7c546b70d_0_476"/>
            <p:cNvSpPr/>
            <p:nvPr/>
          </p:nvSpPr>
          <p:spPr>
            <a:xfrm>
              <a:off x="469319" y="695478"/>
              <a:ext cx="1343400" cy="1245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anchorCtr="0" anchor="ctr" bIns="146300" lIns="57600" spcFirstLastPara="1" rIns="146300" wrap="square" tIns="1463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80"/>
                <a:buFont typeface="Arial"/>
                <a:buNone/>
              </a:pPr>
              <a:r>
                <a:rPr b="0" i="0" lang="en-US" sz="1280" u="none" cap="none" strike="noStrike">
                  <a:solidFill>
                    <a:srgbClr val="000000"/>
                  </a:solidFill>
                  <a:latin typeface="Times New Roman"/>
                  <a:ea typeface="Times New Roman"/>
                  <a:cs typeface="Times New Roman"/>
                  <a:sym typeface="Times New Roman"/>
                </a:rPr>
                <a:t>Objectif de couverture</a:t>
              </a:r>
              <a:endParaRPr b="0" i="0" sz="128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endParaRPr>
            </a:p>
          </p:txBody>
        </p:sp>
        <p:sp>
          <p:nvSpPr>
            <p:cNvPr id="568" name="Google Shape;568;g3a7c546b70d_0_476"/>
            <p:cNvSpPr/>
            <p:nvPr/>
          </p:nvSpPr>
          <p:spPr>
            <a:xfrm>
              <a:off x="1775002" y="706125"/>
              <a:ext cx="1765500" cy="1245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anchorCtr="0" anchor="ctr" bIns="146300" lIns="57600" spcFirstLastPara="1" rIns="57600" wrap="square" tIns="1463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80"/>
                <a:buFont typeface="Arial"/>
                <a:buNone/>
              </a:pPr>
              <a:r>
                <a:rPr b="0" i="0" lang="en-US" sz="1280" u="none" cap="none" strike="noStrike">
                  <a:solidFill>
                    <a:srgbClr val="000000"/>
                  </a:solidFill>
                  <a:latin typeface="Times New Roman"/>
                  <a:ea typeface="Times New Roman"/>
                  <a:cs typeface="Times New Roman"/>
                  <a:sym typeface="Times New Roman"/>
                </a:rPr>
                <a:t>Couverture avec cible administrative </a:t>
              </a:r>
              <a:endParaRPr b="0" i="0" sz="1280" u="sng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endParaRPr>
            </a:p>
          </p:txBody>
        </p:sp>
        <p:sp>
          <p:nvSpPr>
            <p:cNvPr id="569" name="Google Shape;569;g3a7c546b70d_0_476"/>
            <p:cNvSpPr/>
            <p:nvPr/>
          </p:nvSpPr>
          <p:spPr>
            <a:xfrm>
              <a:off x="3776850" y="713350"/>
              <a:ext cx="2240400" cy="1245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anchorCtr="0" anchor="ctr" bIns="146300" lIns="57600" spcFirstLastPara="1" rIns="0" wrap="square" tIns="1463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80"/>
                <a:buFont typeface="Arial"/>
                <a:buNone/>
              </a:pPr>
              <a:r>
                <a:rPr b="0" i="0" lang="en-US" sz="1280" u="none" cap="none" strike="noStrike">
                  <a:solidFill>
                    <a:srgbClr val="000000"/>
                  </a:solidFill>
                  <a:latin typeface="Times New Roman"/>
                  <a:ea typeface="Times New Roman"/>
                  <a:cs typeface="Times New Roman"/>
                  <a:sym typeface="Times New Roman"/>
                </a:rPr>
                <a:t>Couverture avec cible administrative ajustée</a:t>
              </a:r>
              <a:endParaRPr b="0" i="0" sz="1280" u="sng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endParaRPr>
            </a:p>
          </p:txBody>
        </p:sp>
        <p:sp>
          <p:nvSpPr>
            <p:cNvPr id="570" name="Google Shape;570;g3a7c546b70d_0_476"/>
            <p:cNvSpPr/>
            <p:nvPr/>
          </p:nvSpPr>
          <p:spPr>
            <a:xfrm>
              <a:off x="259207" y="696239"/>
              <a:ext cx="183900" cy="123000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anchorCtr="0" anchor="ctr" bIns="146300" lIns="146300" spcFirstLastPara="1" rIns="146300" wrap="square" tIns="1463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80"/>
                <a:buFont typeface="Arial"/>
                <a:buNone/>
              </a:pPr>
              <a:r>
                <a:t/>
              </a:r>
              <a:endParaRPr b="0" i="0" sz="208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endParaRPr>
            </a:p>
          </p:txBody>
        </p:sp>
        <p:sp>
          <p:nvSpPr>
            <p:cNvPr id="571" name="Google Shape;571;g3a7c546b70d_0_476"/>
            <p:cNvSpPr/>
            <p:nvPr/>
          </p:nvSpPr>
          <p:spPr>
            <a:xfrm>
              <a:off x="1564881" y="709711"/>
              <a:ext cx="183900" cy="123000"/>
            </a:xfrm>
            <a:prstGeom prst="rect">
              <a:avLst/>
            </a:prstGeom>
            <a:solidFill>
              <a:srgbClr val="3C78D8"/>
            </a:solidFill>
            <a:ln>
              <a:noFill/>
            </a:ln>
          </p:spPr>
          <p:txBody>
            <a:bodyPr anchorCtr="0" anchor="ctr" bIns="146300" lIns="146300" spcFirstLastPara="1" rIns="146300" wrap="square" tIns="1463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80"/>
                <a:buFont typeface="Arial"/>
                <a:buNone/>
              </a:pPr>
              <a:r>
                <a:t/>
              </a:r>
              <a:endParaRPr b="0" i="0" sz="208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endParaRPr>
            </a:p>
          </p:txBody>
        </p:sp>
        <p:sp>
          <p:nvSpPr>
            <p:cNvPr id="572" name="Google Shape;572;g3a7c546b70d_0_476"/>
            <p:cNvSpPr/>
            <p:nvPr/>
          </p:nvSpPr>
          <p:spPr>
            <a:xfrm>
              <a:off x="3566733" y="717439"/>
              <a:ext cx="183900" cy="123000"/>
            </a:xfrm>
            <a:prstGeom prst="rect">
              <a:avLst/>
            </a:prstGeom>
            <a:solidFill>
              <a:srgbClr val="1C4588"/>
            </a:solidFill>
            <a:ln>
              <a:noFill/>
            </a:ln>
          </p:spPr>
          <p:txBody>
            <a:bodyPr anchorCtr="0" anchor="ctr" bIns="146300" lIns="146300" spcFirstLastPara="1" rIns="146300" wrap="square" tIns="1463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80"/>
                <a:buFont typeface="Arial"/>
                <a:buNone/>
              </a:pPr>
              <a:r>
                <a:t/>
              </a:r>
              <a:endParaRPr b="0" i="0" sz="208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endParaRPr>
            </a:p>
          </p:txBody>
        </p:sp>
      </p:grpSp>
      <p:sp>
        <p:nvSpPr>
          <p:cNvPr id="573" name="Google Shape;573;g3a7c546b70d_0_476"/>
          <p:cNvSpPr/>
          <p:nvPr/>
        </p:nvSpPr>
        <p:spPr>
          <a:xfrm>
            <a:off x="7942125" y="702850"/>
            <a:ext cx="3781800" cy="1000800"/>
          </a:xfrm>
          <a:prstGeom prst="wedgeRoundRectCallout">
            <a:avLst>
              <a:gd fmla="val -23502" name="adj1"/>
              <a:gd fmla="val 63261" name="adj2"/>
              <a:gd fmla="val 0" name="adj3"/>
            </a:avLst>
          </a:prstGeom>
          <a:solidFill>
            <a:srgbClr val="E6B8A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-190500" lvl="0" marL="17145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Times New Roman"/>
              <a:buChar char="•"/>
            </a:pPr>
            <a:r>
              <a:rPr i="0" lang="en-US" sz="12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Les résultats montrent un écart important entre les CV adm et celles ajustées.</a:t>
            </a:r>
            <a:endParaRPr i="0" sz="1200" u="none" cap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190500" lvl="0" marL="17145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Times New Roman"/>
              <a:buChar char="•"/>
            </a:pPr>
            <a:r>
              <a:rPr i="0" lang="en-US" sz="12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Les couvertures avec les cibles ajustées indiquent les écarts importants pour atteindre les objectifs pour la plupart des antigènes</a:t>
            </a:r>
            <a:endParaRPr i="0" sz="1200" u="none" cap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77" name="Shape 5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8" name="Google Shape;578;g3a7c546b70d_0_521"/>
          <p:cNvSpPr txBox="1"/>
          <p:nvPr/>
        </p:nvSpPr>
        <p:spPr>
          <a:xfrm>
            <a:off x="458592" y="317941"/>
            <a:ext cx="11274900" cy="827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500"/>
              <a:buFont typeface="Arial"/>
              <a:buNone/>
            </a:pPr>
            <a:r>
              <a:rPr b="1" lang="en-US" sz="2500">
                <a:solidFill>
                  <a:srgbClr val="1155C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Prestation de services</a:t>
            </a:r>
            <a:r>
              <a:rPr lang="en-US" sz="2500">
                <a:solidFill>
                  <a:srgbClr val="1155C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| </a:t>
            </a:r>
            <a:r>
              <a:rPr lang="en-US" sz="2500">
                <a:solidFill>
                  <a:srgbClr val="1155C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Couverture vaccinale DTC-HepB-Hib1 avec cible administrative</a:t>
            </a:r>
            <a:r>
              <a:rPr lang="en-US" sz="2500">
                <a:solidFill>
                  <a:srgbClr val="1155C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Jan. - Nov. 2025</a:t>
            </a:r>
            <a:endParaRPr b="0" i="0" sz="2700" u="none" cap="none" strike="noStrike">
              <a:solidFill>
                <a:srgbClr val="1155CC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579" name="Google Shape;579;g3a7c546b70d_0_521"/>
          <p:cNvSpPr/>
          <p:nvPr/>
        </p:nvSpPr>
        <p:spPr>
          <a:xfrm>
            <a:off x="0" y="272241"/>
            <a:ext cx="235500" cy="655200"/>
          </a:xfrm>
          <a:prstGeom prst="rect">
            <a:avLst/>
          </a:prstGeom>
          <a:solidFill>
            <a:srgbClr val="1155CC"/>
          </a:solidFill>
          <a:ln>
            <a:noFill/>
          </a:ln>
        </p:spPr>
        <p:txBody>
          <a:bodyPr anchorCtr="0" anchor="ctr" bIns="91400" lIns="91400" spcFirstLastPara="1" rIns="91400" wrap="square" tIns="914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r>
              <a:t/>
            </a:r>
            <a:endParaRPr b="0" i="0" sz="1900" u="none" cap="none" strike="noStrike">
              <a:solidFill>
                <a:srgbClr val="0070C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580" name="Google Shape;580;g3a7c546b70d_0_521"/>
          <p:cNvSpPr txBox="1"/>
          <p:nvPr/>
        </p:nvSpPr>
        <p:spPr>
          <a:xfrm>
            <a:off x="11658600" y="6496067"/>
            <a:ext cx="228300" cy="16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-US" sz="1200" u="none" cap="none" strike="noStrike">
                <a:solidFill>
                  <a:srgbClr val="1155CC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rgbClr val="1155C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81" name="Google Shape;581;g3a7c546b70d_0_521"/>
          <p:cNvCxnSpPr/>
          <p:nvPr/>
        </p:nvCxnSpPr>
        <p:spPr>
          <a:xfrm>
            <a:off x="267700" y="6427967"/>
            <a:ext cx="11640300" cy="0"/>
          </a:xfrm>
          <a:prstGeom prst="straightConnector1">
            <a:avLst/>
          </a:prstGeom>
          <a:noFill/>
          <a:ln cap="flat" cmpd="sng" w="9525">
            <a:solidFill>
              <a:srgbClr val="9E9E9E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82" name="Google Shape;582;g3a7c546b70d_0_521"/>
          <p:cNvSpPr txBox="1"/>
          <p:nvPr/>
        </p:nvSpPr>
        <p:spPr>
          <a:xfrm>
            <a:off x="267700" y="6492843"/>
            <a:ext cx="114147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12190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155CC"/>
              </a:buClr>
              <a:buSzPts val="1200"/>
              <a:buFont typeface="Times New Roman"/>
              <a:buNone/>
            </a:pPr>
            <a:r>
              <a:rPr b="1" lang="en-US" sz="1200">
                <a:solidFill>
                  <a:srgbClr val="1155C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Source: Gestion PEV 2025, DHIS2 Tracker 2025</a:t>
            </a:r>
            <a:endParaRPr b="1" sz="1200">
              <a:solidFill>
                <a:srgbClr val="1155CC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583" name="Google Shape;583;g3a7c546b70d_0_521" title="Chart"/>
          <p:cNvPicPr preferRelativeResize="0"/>
          <p:nvPr/>
        </p:nvPicPr>
        <p:blipFill rotWithShape="1">
          <a:blip r:embed="rId3">
            <a:alphaModFix/>
          </a:blip>
          <a:srcRect b="4000" l="3120" r="3717" t="14011"/>
          <a:stretch/>
        </p:blipFill>
        <p:spPr>
          <a:xfrm>
            <a:off x="458600" y="1279191"/>
            <a:ext cx="11274902" cy="4299617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584" name="Google Shape;584;g3a7c546b70d_0_521"/>
          <p:cNvGrpSpPr/>
          <p:nvPr/>
        </p:nvGrpSpPr>
        <p:grpSpPr>
          <a:xfrm>
            <a:off x="8271553" y="6516377"/>
            <a:ext cx="3259895" cy="184795"/>
            <a:chOff x="200775" y="4647825"/>
            <a:chExt cx="2196103" cy="124500"/>
          </a:xfrm>
        </p:grpSpPr>
        <p:sp>
          <p:nvSpPr>
            <p:cNvPr id="585" name="Google Shape;585;g3a7c546b70d_0_521"/>
            <p:cNvSpPr/>
            <p:nvPr/>
          </p:nvSpPr>
          <p:spPr>
            <a:xfrm>
              <a:off x="200775" y="4647825"/>
              <a:ext cx="697500" cy="124500"/>
            </a:xfrm>
            <a:prstGeom prst="rect">
              <a:avLst/>
            </a:prstGeom>
            <a:solidFill>
              <a:srgbClr val="34CC33"/>
            </a:solidFill>
            <a:ln>
              <a:noFill/>
            </a:ln>
          </p:spPr>
          <p:txBody>
            <a:bodyPr anchorCtr="0" anchor="ctr" bIns="135700" lIns="135700" spcFirstLastPara="1" rIns="135700" wrap="square" tIns="13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87"/>
                <a:buFont typeface="Arial"/>
                <a:buNone/>
              </a:pPr>
              <a:r>
                <a:rPr b="0" i="0" lang="en-US" sz="1187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  <a:t>80 -89 %</a:t>
              </a:r>
              <a:endParaRPr b="0" i="0" sz="1187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86" name="Google Shape;586;g3a7c546b70d_0_521"/>
            <p:cNvSpPr/>
            <p:nvPr/>
          </p:nvSpPr>
          <p:spPr>
            <a:xfrm>
              <a:off x="950078" y="4647825"/>
              <a:ext cx="697500" cy="124500"/>
            </a:xfrm>
            <a:prstGeom prst="rect">
              <a:avLst/>
            </a:prstGeom>
            <a:solidFill>
              <a:srgbClr val="FFFF00"/>
            </a:solidFill>
            <a:ln>
              <a:noFill/>
            </a:ln>
          </p:spPr>
          <p:txBody>
            <a:bodyPr anchorCtr="0" anchor="ctr" bIns="135700" lIns="135700" spcFirstLastPara="1" rIns="135700" wrap="square" tIns="13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87"/>
                <a:buFont typeface="Arial"/>
                <a:buNone/>
              </a:pPr>
              <a:r>
                <a:rPr b="0" i="0" lang="en-US" sz="1187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  <a:t> 50% -79%</a:t>
              </a:r>
              <a:endParaRPr b="0" i="0" sz="1187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87" name="Google Shape;587;g3a7c546b70d_0_521"/>
            <p:cNvSpPr/>
            <p:nvPr/>
          </p:nvSpPr>
          <p:spPr>
            <a:xfrm>
              <a:off x="1699378" y="4647825"/>
              <a:ext cx="697500" cy="124500"/>
            </a:xfrm>
            <a:prstGeom prst="rect">
              <a:avLst/>
            </a:prstGeom>
            <a:solidFill>
              <a:srgbClr val="C00000"/>
            </a:solidFill>
            <a:ln>
              <a:noFill/>
            </a:ln>
          </p:spPr>
          <p:txBody>
            <a:bodyPr anchorCtr="0" anchor="ctr" bIns="135700" lIns="135700" spcFirstLastPara="1" rIns="135700" wrap="square" tIns="13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87"/>
                <a:buFont typeface="Arial"/>
                <a:buNone/>
              </a:pPr>
              <a:r>
                <a:rPr b="0" i="0" lang="en-US" sz="1187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  <a:t>&lt; 50%</a:t>
              </a:r>
              <a:endParaRPr b="0" i="0" sz="1187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88" name="Google Shape;588;g3a7c546b70d_0_521"/>
          <p:cNvGrpSpPr/>
          <p:nvPr/>
        </p:nvGrpSpPr>
        <p:grpSpPr>
          <a:xfrm>
            <a:off x="6124017" y="6516377"/>
            <a:ext cx="2147630" cy="184795"/>
            <a:chOff x="950078" y="4647825"/>
            <a:chExt cx="1446800" cy="124500"/>
          </a:xfrm>
        </p:grpSpPr>
        <p:sp>
          <p:nvSpPr>
            <p:cNvPr id="589" name="Google Shape;589;g3a7c546b70d_0_521"/>
            <p:cNvSpPr/>
            <p:nvPr/>
          </p:nvSpPr>
          <p:spPr>
            <a:xfrm>
              <a:off x="950078" y="4647825"/>
              <a:ext cx="697500" cy="124500"/>
            </a:xfrm>
            <a:prstGeom prst="rect">
              <a:avLst/>
            </a:prstGeom>
            <a:solidFill>
              <a:srgbClr val="06B0F0"/>
            </a:solidFill>
            <a:ln>
              <a:noFill/>
            </a:ln>
          </p:spPr>
          <p:txBody>
            <a:bodyPr anchorCtr="0" anchor="ctr" bIns="135700" lIns="135700" spcFirstLastPara="1" rIns="135700" wrap="square" tIns="13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87"/>
                <a:buFont typeface="Arial"/>
                <a:buNone/>
              </a:pPr>
              <a:r>
                <a:rPr b="0" i="0" lang="en-US" sz="1187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  <a:t>&gt; 100%</a:t>
              </a:r>
              <a:endParaRPr b="0" i="0" sz="1187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0" name="Google Shape;590;g3a7c546b70d_0_521"/>
            <p:cNvSpPr/>
            <p:nvPr/>
          </p:nvSpPr>
          <p:spPr>
            <a:xfrm>
              <a:off x="1699378" y="4647825"/>
              <a:ext cx="697500" cy="124500"/>
            </a:xfrm>
            <a:prstGeom prst="rect">
              <a:avLst/>
            </a:prstGeom>
            <a:solidFill>
              <a:srgbClr val="008001"/>
            </a:solidFill>
            <a:ln>
              <a:noFill/>
            </a:ln>
          </p:spPr>
          <p:txBody>
            <a:bodyPr anchorCtr="0" anchor="ctr" bIns="135700" lIns="135700" spcFirstLastPara="1" rIns="135700" wrap="square" tIns="13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87"/>
                <a:buFont typeface="Arial"/>
                <a:buNone/>
              </a:pPr>
              <a:r>
                <a:rPr b="0" i="0" lang="en-US" sz="1187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  <a:t>90 - 100 %</a:t>
              </a:r>
              <a:endParaRPr b="0" i="0" sz="1187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94" name="Shape 5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5" name="Google Shape;595;g3a7c546b70d_0_580"/>
          <p:cNvSpPr txBox="1"/>
          <p:nvPr/>
        </p:nvSpPr>
        <p:spPr>
          <a:xfrm>
            <a:off x="458592" y="317941"/>
            <a:ext cx="11274900" cy="827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500"/>
              <a:buFont typeface="Arial"/>
              <a:buNone/>
            </a:pPr>
            <a:r>
              <a:rPr b="1" lang="en-US" sz="2500">
                <a:solidFill>
                  <a:srgbClr val="1155C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Prestation de services</a:t>
            </a:r>
            <a:r>
              <a:rPr lang="en-US" sz="2500">
                <a:solidFill>
                  <a:srgbClr val="1155C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| Couverture vaccinale DTC-HepB-Hib1 avec cible administrative ajustee Jan. - Nov. 2025</a:t>
            </a:r>
            <a:endParaRPr b="0" i="0" sz="2700" u="none" cap="none" strike="noStrike">
              <a:solidFill>
                <a:srgbClr val="1155CC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596" name="Google Shape;596;g3a7c546b70d_0_580"/>
          <p:cNvSpPr/>
          <p:nvPr/>
        </p:nvSpPr>
        <p:spPr>
          <a:xfrm>
            <a:off x="0" y="272241"/>
            <a:ext cx="235500" cy="655200"/>
          </a:xfrm>
          <a:prstGeom prst="rect">
            <a:avLst/>
          </a:prstGeom>
          <a:solidFill>
            <a:srgbClr val="1155CC"/>
          </a:solidFill>
          <a:ln>
            <a:noFill/>
          </a:ln>
        </p:spPr>
        <p:txBody>
          <a:bodyPr anchorCtr="0" anchor="ctr" bIns="91400" lIns="91400" spcFirstLastPara="1" rIns="91400" wrap="square" tIns="914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r>
              <a:t/>
            </a:r>
            <a:endParaRPr b="0" i="0" sz="1900" u="none" cap="none" strike="noStrike">
              <a:solidFill>
                <a:srgbClr val="0070C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597" name="Google Shape;597;g3a7c546b70d_0_580"/>
          <p:cNvSpPr txBox="1"/>
          <p:nvPr/>
        </p:nvSpPr>
        <p:spPr>
          <a:xfrm>
            <a:off x="11658600" y="6496067"/>
            <a:ext cx="228300" cy="16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-US" sz="1200" u="none" cap="none" strike="noStrike">
                <a:solidFill>
                  <a:srgbClr val="1155CC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rgbClr val="1155C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98" name="Google Shape;598;g3a7c546b70d_0_580"/>
          <p:cNvCxnSpPr/>
          <p:nvPr/>
        </p:nvCxnSpPr>
        <p:spPr>
          <a:xfrm>
            <a:off x="267700" y="6427967"/>
            <a:ext cx="11640300" cy="0"/>
          </a:xfrm>
          <a:prstGeom prst="straightConnector1">
            <a:avLst/>
          </a:prstGeom>
          <a:noFill/>
          <a:ln cap="flat" cmpd="sng" w="9525">
            <a:solidFill>
              <a:srgbClr val="9E9E9E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99" name="Google Shape;599;g3a7c546b70d_0_580"/>
          <p:cNvSpPr txBox="1"/>
          <p:nvPr/>
        </p:nvSpPr>
        <p:spPr>
          <a:xfrm>
            <a:off x="267700" y="6492843"/>
            <a:ext cx="114147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12190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155CC"/>
              </a:buClr>
              <a:buSzPts val="1200"/>
              <a:buFont typeface="Times New Roman"/>
              <a:buNone/>
            </a:pPr>
            <a:r>
              <a:rPr b="1" lang="en-US" sz="1200">
                <a:solidFill>
                  <a:srgbClr val="1155C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Source: Gestion PEV 2025, DHIS2 Tracker 2025</a:t>
            </a:r>
            <a:endParaRPr b="1" sz="1200">
              <a:solidFill>
                <a:srgbClr val="1155CC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grpSp>
        <p:nvGrpSpPr>
          <p:cNvPr id="600" name="Google Shape;600;g3a7c546b70d_0_580"/>
          <p:cNvGrpSpPr/>
          <p:nvPr/>
        </p:nvGrpSpPr>
        <p:grpSpPr>
          <a:xfrm>
            <a:off x="8271553" y="6516377"/>
            <a:ext cx="3259895" cy="184795"/>
            <a:chOff x="200775" y="4647825"/>
            <a:chExt cx="2196103" cy="124500"/>
          </a:xfrm>
        </p:grpSpPr>
        <p:sp>
          <p:nvSpPr>
            <p:cNvPr id="601" name="Google Shape;601;g3a7c546b70d_0_580"/>
            <p:cNvSpPr/>
            <p:nvPr/>
          </p:nvSpPr>
          <p:spPr>
            <a:xfrm>
              <a:off x="200775" y="4647825"/>
              <a:ext cx="697500" cy="124500"/>
            </a:xfrm>
            <a:prstGeom prst="rect">
              <a:avLst/>
            </a:prstGeom>
            <a:solidFill>
              <a:srgbClr val="34CC33"/>
            </a:solidFill>
            <a:ln>
              <a:noFill/>
            </a:ln>
          </p:spPr>
          <p:txBody>
            <a:bodyPr anchorCtr="0" anchor="ctr" bIns="135700" lIns="135700" spcFirstLastPara="1" rIns="135700" wrap="square" tIns="13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87"/>
                <a:buFont typeface="Arial"/>
                <a:buNone/>
              </a:pPr>
              <a:r>
                <a:rPr b="0" i="0" lang="en-US" sz="1187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  <a:t>80 -89 %</a:t>
              </a:r>
              <a:endParaRPr b="0" i="0" sz="1187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02" name="Google Shape;602;g3a7c546b70d_0_580"/>
            <p:cNvSpPr/>
            <p:nvPr/>
          </p:nvSpPr>
          <p:spPr>
            <a:xfrm>
              <a:off x="950078" y="4647825"/>
              <a:ext cx="697500" cy="124500"/>
            </a:xfrm>
            <a:prstGeom prst="rect">
              <a:avLst/>
            </a:prstGeom>
            <a:solidFill>
              <a:srgbClr val="FFFF00"/>
            </a:solidFill>
            <a:ln>
              <a:noFill/>
            </a:ln>
          </p:spPr>
          <p:txBody>
            <a:bodyPr anchorCtr="0" anchor="ctr" bIns="135700" lIns="135700" spcFirstLastPara="1" rIns="135700" wrap="square" tIns="13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87"/>
                <a:buFont typeface="Arial"/>
                <a:buNone/>
              </a:pPr>
              <a:r>
                <a:rPr b="0" i="0" lang="en-US" sz="1187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  <a:t> 50% -79%</a:t>
              </a:r>
              <a:endParaRPr b="0" i="0" sz="1187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03" name="Google Shape;603;g3a7c546b70d_0_580"/>
            <p:cNvSpPr/>
            <p:nvPr/>
          </p:nvSpPr>
          <p:spPr>
            <a:xfrm>
              <a:off x="1699378" y="4647825"/>
              <a:ext cx="697500" cy="124500"/>
            </a:xfrm>
            <a:prstGeom prst="rect">
              <a:avLst/>
            </a:prstGeom>
            <a:solidFill>
              <a:srgbClr val="C00000"/>
            </a:solidFill>
            <a:ln>
              <a:noFill/>
            </a:ln>
          </p:spPr>
          <p:txBody>
            <a:bodyPr anchorCtr="0" anchor="ctr" bIns="135700" lIns="135700" spcFirstLastPara="1" rIns="135700" wrap="square" tIns="13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87"/>
                <a:buFont typeface="Arial"/>
                <a:buNone/>
              </a:pPr>
              <a:r>
                <a:rPr b="0" i="0" lang="en-US" sz="1187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  <a:t>&lt; 50%</a:t>
              </a:r>
              <a:endParaRPr b="0" i="0" sz="1187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604" name="Google Shape;604;g3a7c546b70d_0_580"/>
          <p:cNvGrpSpPr/>
          <p:nvPr/>
        </p:nvGrpSpPr>
        <p:grpSpPr>
          <a:xfrm>
            <a:off x="6124017" y="6516377"/>
            <a:ext cx="2147630" cy="184795"/>
            <a:chOff x="950078" y="4647825"/>
            <a:chExt cx="1446800" cy="124500"/>
          </a:xfrm>
        </p:grpSpPr>
        <p:sp>
          <p:nvSpPr>
            <p:cNvPr id="605" name="Google Shape;605;g3a7c546b70d_0_580"/>
            <p:cNvSpPr/>
            <p:nvPr/>
          </p:nvSpPr>
          <p:spPr>
            <a:xfrm>
              <a:off x="950078" y="4647825"/>
              <a:ext cx="697500" cy="124500"/>
            </a:xfrm>
            <a:prstGeom prst="rect">
              <a:avLst/>
            </a:prstGeom>
            <a:solidFill>
              <a:srgbClr val="06B0F0"/>
            </a:solidFill>
            <a:ln>
              <a:noFill/>
            </a:ln>
          </p:spPr>
          <p:txBody>
            <a:bodyPr anchorCtr="0" anchor="ctr" bIns="135700" lIns="135700" spcFirstLastPara="1" rIns="135700" wrap="square" tIns="13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87"/>
                <a:buFont typeface="Arial"/>
                <a:buNone/>
              </a:pPr>
              <a:r>
                <a:rPr b="0" i="0" lang="en-US" sz="1187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  <a:t>&gt; 100%</a:t>
              </a:r>
              <a:endParaRPr b="0" i="0" sz="1187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06" name="Google Shape;606;g3a7c546b70d_0_580"/>
            <p:cNvSpPr/>
            <p:nvPr/>
          </p:nvSpPr>
          <p:spPr>
            <a:xfrm>
              <a:off x="1699378" y="4647825"/>
              <a:ext cx="697500" cy="124500"/>
            </a:xfrm>
            <a:prstGeom prst="rect">
              <a:avLst/>
            </a:prstGeom>
            <a:solidFill>
              <a:srgbClr val="008001"/>
            </a:solidFill>
            <a:ln>
              <a:noFill/>
            </a:ln>
          </p:spPr>
          <p:txBody>
            <a:bodyPr anchorCtr="0" anchor="ctr" bIns="135700" lIns="135700" spcFirstLastPara="1" rIns="135700" wrap="square" tIns="13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87"/>
                <a:buFont typeface="Arial"/>
                <a:buNone/>
              </a:pPr>
              <a:r>
                <a:rPr b="0" i="0" lang="en-US" sz="1187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  <a:t>90 - 100 %</a:t>
              </a:r>
              <a:endParaRPr b="0" i="0" sz="1187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607" name="Google Shape;607;g3a7c546b70d_0_580" title="Chart"/>
          <p:cNvPicPr preferRelativeResize="0"/>
          <p:nvPr/>
        </p:nvPicPr>
        <p:blipFill rotWithShape="1">
          <a:blip r:embed="rId3">
            <a:alphaModFix/>
          </a:blip>
          <a:srcRect b="2737" l="3847" r="1607" t="1531"/>
          <a:stretch/>
        </p:blipFill>
        <p:spPr>
          <a:xfrm>
            <a:off x="458600" y="1295700"/>
            <a:ext cx="11249150" cy="4935474"/>
          </a:xfrm>
          <a:prstGeom prst="rect">
            <a:avLst/>
          </a:prstGeom>
          <a:noFill/>
          <a:ln>
            <a:noFill/>
          </a:ln>
        </p:spPr>
      </p:pic>
      <p:sp>
        <p:nvSpPr>
          <p:cNvPr id="608" name="Google Shape;608;g3a7c546b70d_0_580"/>
          <p:cNvSpPr/>
          <p:nvPr/>
        </p:nvSpPr>
        <p:spPr>
          <a:xfrm>
            <a:off x="6405500" y="1554808"/>
            <a:ext cx="5327700" cy="4676100"/>
          </a:xfrm>
          <a:prstGeom prst="rect">
            <a:avLst/>
          </a:prstGeom>
          <a:noFill/>
          <a:ln cap="flat" cmpd="sng" w="26150">
            <a:solidFill>
              <a:srgbClr val="FF0000"/>
            </a:solidFill>
            <a:prstDash val="dash"/>
            <a:round/>
            <a:headEnd len="sm" w="sm" type="none"/>
            <a:tailEnd len="sm" w="sm" type="none"/>
          </a:ln>
        </p:spPr>
        <p:txBody>
          <a:bodyPr anchorCtr="0" anchor="ctr" bIns="125525" lIns="125525" spcFirstLastPara="1" rIns="125525" wrap="square" tIns="1255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22"/>
              <a:buFont typeface="Arial"/>
              <a:buNone/>
            </a:pPr>
            <a:r>
              <a:t/>
            </a:r>
            <a:endParaRPr b="0" i="0" sz="1922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9" name="Google Shape;609;g3a7c546b70d_0_580"/>
          <p:cNvSpPr/>
          <p:nvPr/>
        </p:nvSpPr>
        <p:spPr>
          <a:xfrm>
            <a:off x="8637873" y="1295550"/>
            <a:ext cx="3095700" cy="236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25525" lIns="125525" spcFirstLastPara="1" rIns="125525" wrap="square" tIns="1255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73"/>
              <a:buFont typeface="Arial"/>
              <a:buNone/>
            </a:pPr>
            <a:r>
              <a:rPr b="1" i="0" lang="en-US" sz="1372" u="none" cap="none" strike="noStrike">
                <a:solidFill>
                  <a:srgbClr val="FF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Antennes avec faible couverture</a:t>
            </a:r>
            <a:endParaRPr b="1" i="0" sz="1372" u="none" cap="none" strike="noStrike">
              <a:solidFill>
                <a:srgbClr val="FF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13" name="Shape 6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" name="Google Shape;614;g3a7c546b70d_0_546"/>
          <p:cNvSpPr txBox="1"/>
          <p:nvPr/>
        </p:nvSpPr>
        <p:spPr>
          <a:xfrm>
            <a:off x="458592" y="317941"/>
            <a:ext cx="11274900" cy="827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500"/>
              <a:buFont typeface="Arial"/>
              <a:buNone/>
            </a:pPr>
            <a:r>
              <a:rPr b="1" lang="en-US" sz="2500">
                <a:solidFill>
                  <a:srgbClr val="1155C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Prestation de services</a:t>
            </a:r>
            <a:r>
              <a:rPr lang="en-US" sz="2500">
                <a:solidFill>
                  <a:srgbClr val="1155C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| Couverture vaccinale DTC-HepB-Hib 3 avec cible administrative Jan. - Nov. 2025</a:t>
            </a:r>
            <a:endParaRPr b="0" i="0" sz="2700" u="none" cap="none" strike="noStrike">
              <a:solidFill>
                <a:srgbClr val="1155CC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615" name="Google Shape;615;g3a7c546b70d_0_546"/>
          <p:cNvSpPr/>
          <p:nvPr/>
        </p:nvSpPr>
        <p:spPr>
          <a:xfrm>
            <a:off x="0" y="272241"/>
            <a:ext cx="235500" cy="655200"/>
          </a:xfrm>
          <a:prstGeom prst="rect">
            <a:avLst/>
          </a:prstGeom>
          <a:solidFill>
            <a:srgbClr val="1155CC"/>
          </a:solidFill>
          <a:ln>
            <a:noFill/>
          </a:ln>
        </p:spPr>
        <p:txBody>
          <a:bodyPr anchorCtr="0" anchor="ctr" bIns="91400" lIns="91400" spcFirstLastPara="1" rIns="91400" wrap="square" tIns="914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r>
              <a:t/>
            </a:r>
            <a:endParaRPr b="0" i="0" sz="1900" u="none" cap="none" strike="noStrike">
              <a:solidFill>
                <a:srgbClr val="0070C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616" name="Google Shape;616;g3a7c546b70d_0_546"/>
          <p:cNvSpPr txBox="1"/>
          <p:nvPr/>
        </p:nvSpPr>
        <p:spPr>
          <a:xfrm>
            <a:off x="11658600" y="6496067"/>
            <a:ext cx="228300" cy="16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-US" sz="1200" u="none" cap="none" strike="noStrike">
                <a:solidFill>
                  <a:srgbClr val="1155CC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rgbClr val="1155C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617" name="Google Shape;617;g3a7c546b70d_0_546"/>
          <p:cNvCxnSpPr/>
          <p:nvPr/>
        </p:nvCxnSpPr>
        <p:spPr>
          <a:xfrm>
            <a:off x="267700" y="6427967"/>
            <a:ext cx="11640300" cy="0"/>
          </a:xfrm>
          <a:prstGeom prst="straightConnector1">
            <a:avLst/>
          </a:prstGeom>
          <a:noFill/>
          <a:ln cap="flat" cmpd="sng" w="9525">
            <a:solidFill>
              <a:srgbClr val="9E9E9E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18" name="Google Shape;618;g3a7c546b70d_0_546"/>
          <p:cNvSpPr txBox="1"/>
          <p:nvPr/>
        </p:nvSpPr>
        <p:spPr>
          <a:xfrm>
            <a:off x="267700" y="6492843"/>
            <a:ext cx="114147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12190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155CC"/>
              </a:buClr>
              <a:buSzPts val="1200"/>
              <a:buFont typeface="Times New Roman"/>
              <a:buNone/>
            </a:pPr>
            <a:r>
              <a:rPr b="1" lang="en-US" sz="1200">
                <a:solidFill>
                  <a:srgbClr val="1155C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Source: Gestion PEV 2025, DHIS2 Tracker 2025</a:t>
            </a:r>
            <a:endParaRPr b="1" sz="1200">
              <a:solidFill>
                <a:srgbClr val="1155CC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grpSp>
        <p:nvGrpSpPr>
          <p:cNvPr id="619" name="Google Shape;619;g3a7c546b70d_0_546"/>
          <p:cNvGrpSpPr/>
          <p:nvPr/>
        </p:nvGrpSpPr>
        <p:grpSpPr>
          <a:xfrm>
            <a:off x="8271553" y="6516377"/>
            <a:ext cx="3259895" cy="184795"/>
            <a:chOff x="200775" y="4647825"/>
            <a:chExt cx="2196103" cy="124500"/>
          </a:xfrm>
        </p:grpSpPr>
        <p:sp>
          <p:nvSpPr>
            <p:cNvPr id="620" name="Google Shape;620;g3a7c546b70d_0_546"/>
            <p:cNvSpPr/>
            <p:nvPr/>
          </p:nvSpPr>
          <p:spPr>
            <a:xfrm>
              <a:off x="200775" y="4647825"/>
              <a:ext cx="697500" cy="124500"/>
            </a:xfrm>
            <a:prstGeom prst="rect">
              <a:avLst/>
            </a:prstGeom>
            <a:solidFill>
              <a:srgbClr val="34CC33"/>
            </a:solidFill>
            <a:ln>
              <a:noFill/>
            </a:ln>
          </p:spPr>
          <p:txBody>
            <a:bodyPr anchorCtr="0" anchor="ctr" bIns="135700" lIns="135700" spcFirstLastPara="1" rIns="135700" wrap="square" tIns="13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87"/>
                <a:buFont typeface="Arial"/>
                <a:buNone/>
              </a:pPr>
              <a:r>
                <a:rPr b="0" i="0" lang="en-US" sz="1187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  <a:t>80 -89 %</a:t>
              </a:r>
              <a:endParaRPr b="0" i="0" sz="1187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21" name="Google Shape;621;g3a7c546b70d_0_546"/>
            <p:cNvSpPr/>
            <p:nvPr/>
          </p:nvSpPr>
          <p:spPr>
            <a:xfrm>
              <a:off x="950078" y="4647825"/>
              <a:ext cx="697500" cy="124500"/>
            </a:xfrm>
            <a:prstGeom prst="rect">
              <a:avLst/>
            </a:prstGeom>
            <a:solidFill>
              <a:srgbClr val="FFFF00"/>
            </a:solidFill>
            <a:ln>
              <a:noFill/>
            </a:ln>
          </p:spPr>
          <p:txBody>
            <a:bodyPr anchorCtr="0" anchor="ctr" bIns="135700" lIns="135700" spcFirstLastPara="1" rIns="135700" wrap="square" tIns="13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87"/>
                <a:buFont typeface="Arial"/>
                <a:buNone/>
              </a:pPr>
              <a:r>
                <a:rPr b="0" i="0" lang="en-US" sz="1187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  <a:t> 50% -79%</a:t>
              </a:r>
              <a:endParaRPr b="0" i="0" sz="1187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22" name="Google Shape;622;g3a7c546b70d_0_546"/>
            <p:cNvSpPr/>
            <p:nvPr/>
          </p:nvSpPr>
          <p:spPr>
            <a:xfrm>
              <a:off x="1699378" y="4647825"/>
              <a:ext cx="697500" cy="124500"/>
            </a:xfrm>
            <a:prstGeom prst="rect">
              <a:avLst/>
            </a:prstGeom>
            <a:solidFill>
              <a:srgbClr val="C00000"/>
            </a:solidFill>
            <a:ln>
              <a:noFill/>
            </a:ln>
          </p:spPr>
          <p:txBody>
            <a:bodyPr anchorCtr="0" anchor="ctr" bIns="135700" lIns="135700" spcFirstLastPara="1" rIns="135700" wrap="square" tIns="13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87"/>
                <a:buFont typeface="Arial"/>
                <a:buNone/>
              </a:pPr>
              <a:r>
                <a:rPr b="0" i="0" lang="en-US" sz="1187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  <a:t>&lt; 50%</a:t>
              </a:r>
              <a:endParaRPr b="0" i="0" sz="1187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623" name="Google Shape;623;g3a7c546b70d_0_546"/>
          <p:cNvGrpSpPr/>
          <p:nvPr/>
        </p:nvGrpSpPr>
        <p:grpSpPr>
          <a:xfrm>
            <a:off x="6124017" y="6516377"/>
            <a:ext cx="2147630" cy="184795"/>
            <a:chOff x="950078" y="4647825"/>
            <a:chExt cx="1446800" cy="124500"/>
          </a:xfrm>
        </p:grpSpPr>
        <p:sp>
          <p:nvSpPr>
            <p:cNvPr id="624" name="Google Shape;624;g3a7c546b70d_0_546"/>
            <p:cNvSpPr/>
            <p:nvPr/>
          </p:nvSpPr>
          <p:spPr>
            <a:xfrm>
              <a:off x="950078" y="4647825"/>
              <a:ext cx="697500" cy="124500"/>
            </a:xfrm>
            <a:prstGeom prst="rect">
              <a:avLst/>
            </a:prstGeom>
            <a:solidFill>
              <a:srgbClr val="06B0F0"/>
            </a:solidFill>
            <a:ln>
              <a:noFill/>
            </a:ln>
          </p:spPr>
          <p:txBody>
            <a:bodyPr anchorCtr="0" anchor="ctr" bIns="135700" lIns="135700" spcFirstLastPara="1" rIns="135700" wrap="square" tIns="13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87"/>
                <a:buFont typeface="Arial"/>
                <a:buNone/>
              </a:pPr>
              <a:r>
                <a:rPr b="0" i="0" lang="en-US" sz="1187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  <a:t>&gt; 100%</a:t>
              </a:r>
              <a:endParaRPr b="0" i="0" sz="1187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25" name="Google Shape;625;g3a7c546b70d_0_546"/>
            <p:cNvSpPr/>
            <p:nvPr/>
          </p:nvSpPr>
          <p:spPr>
            <a:xfrm>
              <a:off x="1699378" y="4647825"/>
              <a:ext cx="697500" cy="124500"/>
            </a:xfrm>
            <a:prstGeom prst="rect">
              <a:avLst/>
            </a:prstGeom>
            <a:solidFill>
              <a:srgbClr val="008001"/>
            </a:solidFill>
            <a:ln>
              <a:noFill/>
            </a:ln>
          </p:spPr>
          <p:txBody>
            <a:bodyPr anchorCtr="0" anchor="ctr" bIns="135700" lIns="135700" spcFirstLastPara="1" rIns="135700" wrap="square" tIns="13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87"/>
                <a:buFont typeface="Arial"/>
                <a:buNone/>
              </a:pPr>
              <a:r>
                <a:rPr b="0" i="0" lang="en-US" sz="1187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  <a:t>90 - 100 %</a:t>
              </a:r>
              <a:endParaRPr b="0" i="0" sz="1187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626" name="Google Shape;626;g3a7c546b70d_0_546" title="Chart"/>
          <p:cNvPicPr preferRelativeResize="0"/>
          <p:nvPr/>
        </p:nvPicPr>
        <p:blipFill rotWithShape="1">
          <a:blip r:embed="rId3">
            <a:alphaModFix/>
          </a:blip>
          <a:srcRect b="2442" l="3579" r="1723" t="9053"/>
          <a:stretch/>
        </p:blipFill>
        <p:spPr>
          <a:xfrm>
            <a:off x="458600" y="1146063"/>
            <a:ext cx="11274902" cy="4565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30" name="Shape 6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1" name="Google Shape;631;g3a7c546b70d_0_599"/>
          <p:cNvSpPr txBox="1"/>
          <p:nvPr/>
        </p:nvSpPr>
        <p:spPr>
          <a:xfrm>
            <a:off x="458592" y="317941"/>
            <a:ext cx="11274900" cy="827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500"/>
              <a:buFont typeface="Arial"/>
              <a:buNone/>
            </a:pPr>
            <a:r>
              <a:rPr b="1" lang="en-US" sz="2500">
                <a:solidFill>
                  <a:srgbClr val="1155C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Prestation de services</a:t>
            </a:r>
            <a:r>
              <a:rPr lang="en-US" sz="2500">
                <a:solidFill>
                  <a:srgbClr val="1155C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| Couverture vaccinale DTC-HepB-Hib 3 avec cible administrative ajustee Jan. - Nov. 2025</a:t>
            </a:r>
            <a:endParaRPr b="0" i="0" sz="2700" u="none" cap="none" strike="noStrike">
              <a:solidFill>
                <a:srgbClr val="1155CC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632" name="Google Shape;632;g3a7c546b70d_0_599"/>
          <p:cNvSpPr/>
          <p:nvPr/>
        </p:nvSpPr>
        <p:spPr>
          <a:xfrm>
            <a:off x="0" y="272241"/>
            <a:ext cx="235500" cy="655200"/>
          </a:xfrm>
          <a:prstGeom prst="rect">
            <a:avLst/>
          </a:prstGeom>
          <a:solidFill>
            <a:srgbClr val="1155CC"/>
          </a:solidFill>
          <a:ln>
            <a:noFill/>
          </a:ln>
        </p:spPr>
        <p:txBody>
          <a:bodyPr anchorCtr="0" anchor="ctr" bIns="91400" lIns="91400" spcFirstLastPara="1" rIns="91400" wrap="square" tIns="914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r>
              <a:t/>
            </a:r>
            <a:endParaRPr b="0" i="0" sz="1900" u="none" cap="none" strike="noStrike">
              <a:solidFill>
                <a:srgbClr val="0070C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633" name="Google Shape;633;g3a7c546b70d_0_599"/>
          <p:cNvSpPr txBox="1"/>
          <p:nvPr/>
        </p:nvSpPr>
        <p:spPr>
          <a:xfrm>
            <a:off x="11658600" y="6496067"/>
            <a:ext cx="228300" cy="16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-US" sz="1200" u="none" cap="none" strike="noStrike">
                <a:solidFill>
                  <a:srgbClr val="1155CC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rgbClr val="1155C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634" name="Google Shape;634;g3a7c546b70d_0_599"/>
          <p:cNvCxnSpPr/>
          <p:nvPr/>
        </p:nvCxnSpPr>
        <p:spPr>
          <a:xfrm>
            <a:off x="267700" y="6427967"/>
            <a:ext cx="11640300" cy="0"/>
          </a:xfrm>
          <a:prstGeom prst="straightConnector1">
            <a:avLst/>
          </a:prstGeom>
          <a:noFill/>
          <a:ln cap="flat" cmpd="sng" w="9525">
            <a:solidFill>
              <a:srgbClr val="9E9E9E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35" name="Google Shape;635;g3a7c546b70d_0_599"/>
          <p:cNvSpPr txBox="1"/>
          <p:nvPr/>
        </p:nvSpPr>
        <p:spPr>
          <a:xfrm>
            <a:off x="267700" y="6492843"/>
            <a:ext cx="114147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12190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155CC"/>
              </a:buClr>
              <a:buSzPts val="1200"/>
              <a:buFont typeface="Times New Roman"/>
              <a:buNone/>
            </a:pPr>
            <a:r>
              <a:rPr b="1" lang="en-US" sz="1200">
                <a:solidFill>
                  <a:srgbClr val="1155C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Source: Gestion PEV 2025, DHIS2 Tracker 2025</a:t>
            </a:r>
            <a:endParaRPr b="1" sz="1200">
              <a:solidFill>
                <a:srgbClr val="1155CC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grpSp>
        <p:nvGrpSpPr>
          <p:cNvPr id="636" name="Google Shape;636;g3a7c546b70d_0_599"/>
          <p:cNvGrpSpPr/>
          <p:nvPr/>
        </p:nvGrpSpPr>
        <p:grpSpPr>
          <a:xfrm>
            <a:off x="8271553" y="6516377"/>
            <a:ext cx="3259895" cy="184795"/>
            <a:chOff x="200775" y="4647825"/>
            <a:chExt cx="2196103" cy="124500"/>
          </a:xfrm>
        </p:grpSpPr>
        <p:sp>
          <p:nvSpPr>
            <p:cNvPr id="637" name="Google Shape;637;g3a7c546b70d_0_599"/>
            <p:cNvSpPr/>
            <p:nvPr/>
          </p:nvSpPr>
          <p:spPr>
            <a:xfrm>
              <a:off x="200775" y="4647825"/>
              <a:ext cx="697500" cy="124500"/>
            </a:xfrm>
            <a:prstGeom prst="rect">
              <a:avLst/>
            </a:prstGeom>
            <a:solidFill>
              <a:srgbClr val="34CC33"/>
            </a:solidFill>
            <a:ln>
              <a:noFill/>
            </a:ln>
          </p:spPr>
          <p:txBody>
            <a:bodyPr anchorCtr="0" anchor="ctr" bIns="135700" lIns="135700" spcFirstLastPara="1" rIns="135700" wrap="square" tIns="13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87"/>
                <a:buFont typeface="Arial"/>
                <a:buNone/>
              </a:pPr>
              <a:r>
                <a:rPr b="0" i="0" lang="en-US" sz="1187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  <a:t>80 -89 %</a:t>
              </a:r>
              <a:endParaRPr b="0" i="0" sz="1187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38" name="Google Shape;638;g3a7c546b70d_0_599"/>
            <p:cNvSpPr/>
            <p:nvPr/>
          </p:nvSpPr>
          <p:spPr>
            <a:xfrm>
              <a:off x="950078" y="4647825"/>
              <a:ext cx="697500" cy="124500"/>
            </a:xfrm>
            <a:prstGeom prst="rect">
              <a:avLst/>
            </a:prstGeom>
            <a:solidFill>
              <a:srgbClr val="FFFF00"/>
            </a:solidFill>
            <a:ln>
              <a:noFill/>
            </a:ln>
          </p:spPr>
          <p:txBody>
            <a:bodyPr anchorCtr="0" anchor="ctr" bIns="135700" lIns="135700" spcFirstLastPara="1" rIns="135700" wrap="square" tIns="13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87"/>
                <a:buFont typeface="Arial"/>
                <a:buNone/>
              </a:pPr>
              <a:r>
                <a:rPr b="0" i="0" lang="en-US" sz="1187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  <a:t> 50% -79%</a:t>
              </a:r>
              <a:endParaRPr b="0" i="0" sz="1187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39" name="Google Shape;639;g3a7c546b70d_0_599"/>
            <p:cNvSpPr/>
            <p:nvPr/>
          </p:nvSpPr>
          <p:spPr>
            <a:xfrm>
              <a:off x="1699378" y="4647825"/>
              <a:ext cx="697500" cy="124500"/>
            </a:xfrm>
            <a:prstGeom prst="rect">
              <a:avLst/>
            </a:prstGeom>
            <a:solidFill>
              <a:srgbClr val="C00000"/>
            </a:solidFill>
            <a:ln>
              <a:noFill/>
            </a:ln>
          </p:spPr>
          <p:txBody>
            <a:bodyPr anchorCtr="0" anchor="ctr" bIns="135700" lIns="135700" spcFirstLastPara="1" rIns="135700" wrap="square" tIns="13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87"/>
                <a:buFont typeface="Arial"/>
                <a:buNone/>
              </a:pPr>
              <a:r>
                <a:rPr b="0" i="0" lang="en-US" sz="1187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  <a:t>&lt; 50%</a:t>
              </a:r>
              <a:endParaRPr b="0" i="0" sz="1187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640" name="Google Shape;640;g3a7c546b70d_0_599"/>
          <p:cNvGrpSpPr/>
          <p:nvPr/>
        </p:nvGrpSpPr>
        <p:grpSpPr>
          <a:xfrm>
            <a:off x="6124017" y="6516377"/>
            <a:ext cx="2147630" cy="184795"/>
            <a:chOff x="950078" y="4647825"/>
            <a:chExt cx="1446800" cy="124500"/>
          </a:xfrm>
        </p:grpSpPr>
        <p:sp>
          <p:nvSpPr>
            <p:cNvPr id="641" name="Google Shape;641;g3a7c546b70d_0_599"/>
            <p:cNvSpPr/>
            <p:nvPr/>
          </p:nvSpPr>
          <p:spPr>
            <a:xfrm>
              <a:off x="950078" y="4647825"/>
              <a:ext cx="697500" cy="124500"/>
            </a:xfrm>
            <a:prstGeom prst="rect">
              <a:avLst/>
            </a:prstGeom>
            <a:solidFill>
              <a:srgbClr val="06B0F0"/>
            </a:solidFill>
            <a:ln>
              <a:noFill/>
            </a:ln>
          </p:spPr>
          <p:txBody>
            <a:bodyPr anchorCtr="0" anchor="ctr" bIns="135700" lIns="135700" spcFirstLastPara="1" rIns="135700" wrap="square" tIns="13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87"/>
                <a:buFont typeface="Arial"/>
                <a:buNone/>
              </a:pPr>
              <a:r>
                <a:rPr b="0" i="0" lang="en-US" sz="1187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  <a:t>&gt; 100%</a:t>
              </a:r>
              <a:endParaRPr b="0" i="0" sz="1187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42" name="Google Shape;642;g3a7c546b70d_0_599"/>
            <p:cNvSpPr/>
            <p:nvPr/>
          </p:nvSpPr>
          <p:spPr>
            <a:xfrm>
              <a:off x="1699378" y="4647825"/>
              <a:ext cx="697500" cy="124500"/>
            </a:xfrm>
            <a:prstGeom prst="rect">
              <a:avLst/>
            </a:prstGeom>
            <a:solidFill>
              <a:srgbClr val="008001"/>
            </a:solidFill>
            <a:ln>
              <a:noFill/>
            </a:ln>
          </p:spPr>
          <p:txBody>
            <a:bodyPr anchorCtr="0" anchor="ctr" bIns="135700" lIns="135700" spcFirstLastPara="1" rIns="135700" wrap="square" tIns="13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87"/>
                <a:buFont typeface="Arial"/>
                <a:buNone/>
              </a:pPr>
              <a:r>
                <a:rPr b="0" i="0" lang="en-US" sz="1187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  <a:t>90 - 100 %</a:t>
              </a:r>
              <a:endParaRPr b="0" i="0" sz="1187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643" name="Google Shape;643;g3a7c546b70d_0_599" title="Chart"/>
          <p:cNvPicPr preferRelativeResize="0"/>
          <p:nvPr/>
        </p:nvPicPr>
        <p:blipFill rotWithShape="1">
          <a:blip r:embed="rId3">
            <a:alphaModFix/>
          </a:blip>
          <a:srcRect b="2137" l="3975" r="1605" t="5747"/>
          <a:stretch/>
        </p:blipFill>
        <p:spPr>
          <a:xfrm>
            <a:off x="458600" y="1422575"/>
            <a:ext cx="11274902" cy="4766716"/>
          </a:xfrm>
          <a:prstGeom prst="rect">
            <a:avLst/>
          </a:prstGeom>
          <a:noFill/>
          <a:ln>
            <a:noFill/>
          </a:ln>
        </p:spPr>
      </p:pic>
      <p:sp>
        <p:nvSpPr>
          <p:cNvPr id="644" name="Google Shape;644;g3a7c546b70d_0_599"/>
          <p:cNvSpPr/>
          <p:nvPr/>
        </p:nvSpPr>
        <p:spPr>
          <a:xfrm>
            <a:off x="5328525" y="1554808"/>
            <a:ext cx="6404700" cy="4676100"/>
          </a:xfrm>
          <a:prstGeom prst="rect">
            <a:avLst/>
          </a:prstGeom>
          <a:noFill/>
          <a:ln cap="flat" cmpd="sng" w="26150">
            <a:solidFill>
              <a:srgbClr val="FF0000"/>
            </a:solidFill>
            <a:prstDash val="dash"/>
            <a:round/>
            <a:headEnd len="sm" w="sm" type="none"/>
            <a:tailEnd len="sm" w="sm" type="none"/>
          </a:ln>
        </p:spPr>
        <p:txBody>
          <a:bodyPr anchorCtr="0" anchor="ctr" bIns="125525" lIns="125525" spcFirstLastPara="1" rIns="125525" wrap="square" tIns="1255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22"/>
              <a:buFont typeface="Arial"/>
              <a:buNone/>
            </a:pPr>
            <a:r>
              <a:t/>
            </a:r>
            <a:endParaRPr b="0" i="0" sz="1922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5" name="Google Shape;645;g3a7c546b70d_0_599"/>
          <p:cNvSpPr/>
          <p:nvPr/>
        </p:nvSpPr>
        <p:spPr>
          <a:xfrm>
            <a:off x="8012134" y="1295550"/>
            <a:ext cx="3721500" cy="236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25525" lIns="125525" spcFirstLastPara="1" rIns="125525" wrap="square" tIns="1255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73"/>
              <a:buFont typeface="Arial"/>
              <a:buNone/>
            </a:pPr>
            <a:r>
              <a:rPr b="1" i="0" lang="en-US" sz="1372" u="none" cap="none" strike="noStrike">
                <a:solidFill>
                  <a:srgbClr val="FF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Antennes avec faible couverture</a:t>
            </a:r>
            <a:endParaRPr b="1" i="0" sz="1372" u="none" cap="none" strike="noStrike">
              <a:solidFill>
                <a:srgbClr val="FF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49" name="Shape 6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0" name="Google Shape;650;g3a7c546b70d_0_563"/>
          <p:cNvSpPr txBox="1"/>
          <p:nvPr/>
        </p:nvSpPr>
        <p:spPr>
          <a:xfrm>
            <a:off x="458592" y="317941"/>
            <a:ext cx="11274900" cy="827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500"/>
              <a:buFont typeface="Arial"/>
              <a:buNone/>
            </a:pPr>
            <a:r>
              <a:rPr b="1" lang="en-US" sz="2500">
                <a:solidFill>
                  <a:srgbClr val="1155C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Prestation de services</a:t>
            </a:r>
            <a:r>
              <a:rPr lang="en-US" sz="2500">
                <a:solidFill>
                  <a:srgbClr val="1155C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| Couverture vaccinale VAR 1 avec cible administrative Jan. - Nov. 2025</a:t>
            </a:r>
            <a:endParaRPr b="0" i="0" sz="2700" u="none" cap="none" strike="noStrike">
              <a:solidFill>
                <a:srgbClr val="1155CC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651" name="Google Shape;651;g3a7c546b70d_0_563"/>
          <p:cNvSpPr/>
          <p:nvPr/>
        </p:nvSpPr>
        <p:spPr>
          <a:xfrm>
            <a:off x="0" y="272241"/>
            <a:ext cx="235500" cy="655200"/>
          </a:xfrm>
          <a:prstGeom prst="rect">
            <a:avLst/>
          </a:prstGeom>
          <a:solidFill>
            <a:srgbClr val="1155CC"/>
          </a:solidFill>
          <a:ln>
            <a:noFill/>
          </a:ln>
        </p:spPr>
        <p:txBody>
          <a:bodyPr anchorCtr="0" anchor="ctr" bIns="91400" lIns="91400" spcFirstLastPara="1" rIns="91400" wrap="square" tIns="914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r>
              <a:t/>
            </a:r>
            <a:endParaRPr b="0" i="0" sz="1900" u="none" cap="none" strike="noStrike">
              <a:solidFill>
                <a:srgbClr val="0070C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652" name="Google Shape;652;g3a7c546b70d_0_563"/>
          <p:cNvSpPr txBox="1"/>
          <p:nvPr/>
        </p:nvSpPr>
        <p:spPr>
          <a:xfrm>
            <a:off x="11658600" y="6496067"/>
            <a:ext cx="228300" cy="16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-US" sz="1200" u="none" cap="none" strike="noStrike">
                <a:solidFill>
                  <a:srgbClr val="1155CC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rgbClr val="1155C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653" name="Google Shape;653;g3a7c546b70d_0_563"/>
          <p:cNvCxnSpPr/>
          <p:nvPr/>
        </p:nvCxnSpPr>
        <p:spPr>
          <a:xfrm>
            <a:off x="267700" y="6427967"/>
            <a:ext cx="11640300" cy="0"/>
          </a:xfrm>
          <a:prstGeom prst="straightConnector1">
            <a:avLst/>
          </a:prstGeom>
          <a:noFill/>
          <a:ln cap="flat" cmpd="sng" w="9525">
            <a:solidFill>
              <a:srgbClr val="9E9E9E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54" name="Google Shape;654;g3a7c546b70d_0_563"/>
          <p:cNvSpPr txBox="1"/>
          <p:nvPr/>
        </p:nvSpPr>
        <p:spPr>
          <a:xfrm>
            <a:off x="267700" y="6492843"/>
            <a:ext cx="114147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12190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155CC"/>
              </a:buClr>
              <a:buSzPts val="1200"/>
              <a:buFont typeface="Times New Roman"/>
              <a:buNone/>
            </a:pPr>
            <a:r>
              <a:rPr b="1" lang="en-US" sz="1200">
                <a:solidFill>
                  <a:srgbClr val="1155C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Source: Gestion PEV 2025, DHIS2 Tracker 2025</a:t>
            </a:r>
            <a:endParaRPr b="1" sz="1200">
              <a:solidFill>
                <a:srgbClr val="1155CC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grpSp>
        <p:nvGrpSpPr>
          <p:cNvPr id="655" name="Google Shape;655;g3a7c546b70d_0_563"/>
          <p:cNvGrpSpPr/>
          <p:nvPr/>
        </p:nvGrpSpPr>
        <p:grpSpPr>
          <a:xfrm>
            <a:off x="8271553" y="6516377"/>
            <a:ext cx="3259895" cy="184795"/>
            <a:chOff x="200775" y="4647825"/>
            <a:chExt cx="2196103" cy="124500"/>
          </a:xfrm>
        </p:grpSpPr>
        <p:sp>
          <p:nvSpPr>
            <p:cNvPr id="656" name="Google Shape;656;g3a7c546b70d_0_563"/>
            <p:cNvSpPr/>
            <p:nvPr/>
          </p:nvSpPr>
          <p:spPr>
            <a:xfrm>
              <a:off x="200775" y="4647825"/>
              <a:ext cx="697500" cy="124500"/>
            </a:xfrm>
            <a:prstGeom prst="rect">
              <a:avLst/>
            </a:prstGeom>
            <a:solidFill>
              <a:srgbClr val="34CC33"/>
            </a:solidFill>
            <a:ln>
              <a:noFill/>
            </a:ln>
          </p:spPr>
          <p:txBody>
            <a:bodyPr anchorCtr="0" anchor="ctr" bIns="135700" lIns="135700" spcFirstLastPara="1" rIns="135700" wrap="square" tIns="13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87"/>
                <a:buFont typeface="Arial"/>
                <a:buNone/>
              </a:pPr>
              <a:r>
                <a:rPr b="0" i="0" lang="en-US" sz="1187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  <a:t>80 -89 %</a:t>
              </a:r>
              <a:endParaRPr b="0" i="0" sz="1187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57" name="Google Shape;657;g3a7c546b70d_0_563"/>
            <p:cNvSpPr/>
            <p:nvPr/>
          </p:nvSpPr>
          <p:spPr>
            <a:xfrm>
              <a:off x="950078" y="4647825"/>
              <a:ext cx="697500" cy="124500"/>
            </a:xfrm>
            <a:prstGeom prst="rect">
              <a:avLst/>
            </a:prstGeom>
            <a:solidFill>
              <a:srgbClr val="FFFF00"/>
            </a:solidFill>
            <a:ln>
              <a:noFill/>
            </a:ln>
          </p:spPr>
          <p:txBody>
            <a:bodyPr anchorCtr="0" anchor="ctr" bIns="135700" lIns="135700" spcFirstLastPara="1" rIns="135700" wrap="square" tIns="13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87"/>
                <a:buFont typeface="Arial"/>
                <a:buNone/>
              </a:pPr>
              <a:r>
                <a:rPr b="0" i="0" lang="en-US" sz="1187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  <a:t> 50% -79%</a:t>
              </a:r>
              <a:endParaRPr b="0" i="0" sz="1187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58" name="Google Shape;658;g3a7c546b70d_0_563"/>
            <p:cNvSpPr/>
            <p:nvPr/>
          </p:nvSpPr>
          <p:spPr>
            <a:xfrm>
              <a:off x="1699378" y="4647825"/>
              <a:ext cx="697500" cy="124500"/>
            </a:xfrm>
            <a:prstGeom prst="rect">
              <a:avLst/>
            </a:prstGeom>
            <a:solidFill>
              <a:srgbClr val="C00000"/>
            </a:solidFill>
            <a:ln>
              <a:noFill/>
            </a:ln>
          </p:spPr>
          <p:txBody>
            <a:bodyPr anchorCtr="0" anchor="ctr" bIns="135700" lIns="135700" spcFirstLastPara="1" rIns="135700" wrap="square" tIns="13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87"/>
                <a:buFont typeface="Arial"/>
                <a:buNone/>
              </a:pPr>
              <a:r>
                <a:rPr b="0" i="0" lang="en-US" sz="1187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  <a:t>&lt; 50%</a:t>
              </a:r>
              <a:endParaRPr b="0" i="0" sz="1187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659" name="Google Shape;659;g3a7c546b70d_0_563"/>
          <p:cNvGrpSpPr/>
          <p:nvPr/>
        </p:nvGrpSpPr>
        <p:grpSpPr>
          <a:xfrm>
            <a:off x="6124017" y="6516377"/>
            <a:ext cx="2147630" cy="184795"/>
            <a:chOff x="950078" y="4647825"/>
            <a:chExt cx="1446800" cy="124500"/>
          </a:xfrm>
        </p:grpSpPr>
        <p:sp>
          <p:nvSpPr>
            <p:cNvPr id="660" name="Google Shape;660;g3a7c546b70d_0_563"/>
            <p:cNvSpPr/>
            <p:nvPr/>
          </p:nvSpPr>
          <p:spPr>
            <a:xfrm>
              <a:off x="950078" y="4647825"/>
              <a:ext cx="697500" cy="124500"/>
            </a:xfrm>
            <a:prstGeom prst="rect">
              <a:avLst/>
            </a:prstGeom>
            <a:solidFill>
              <a:srgbClr val="06B0F0"/>
            </a:solidFill>
            <a:ln>
              <a:noFill/>
            </a:ln>
          </p:spPr>
          <p:txBody>
            <a:bodyPr anchorCtr="0" anchor="ctr" bIns="135700" lIns="135700" spcFirstLastPara="1" rIns="135700" wrap="square" tIns="13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87"/>
                <a:buFont typeface="Arial"/>
                <a:buNone/>
              </a:pPr>
              <a:r>
                <a:rPr b="0" i="0" lang="en-US" sz="1187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  <a:t>&gt; 100%</a:t>
              </a:r>
              <a:endParaRPr b="0" i="0" sz="1187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61" name="Google Shape;661;g3a7c546b70d_0_563"/>
            <p:cNvSpPr/>
            <p:nvPr/>
          </p:nvSpPr>
          <p:spPr>
            <a:xfrm>
              <a:off x="1699378" y="4647825"/>
              <a:ext cx="697500" cy="124500"/>
            </a:xfrm>
            <a:prstGeom prst="rect">
              <a:avLst/>
            </a:prstGeom>
            <a:solidFill>
              <a:srgbClr val="008001"/>
            </a:solidFill>
            <a:ln>
              <a:noFill/>
            </a:ln>
          </p:spPr>
          <p:txBody>
            <a:bodyPr anchorCtr="0" anchor="ctr" bIns="135700" lIns="135700" spcFirstLastPara="1" rIns="135700" wrap="square" tIns="13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87"/>
                <a:buFont typeface="Arial"/>
                <a:buNone/>
              </a:pPr>
              <a:r>
                <a:rPr b="0" i="0" lang="en-US" sz="1187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  <a:t>90 - 100 %</a:t>
              </a:r>
              <a:endParaRPr b="0" i="0" sz="1187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662" name="Google Shape;662;g3a7c546b70d_0_563" title="Chart"/>
          <p:cNvPicPr preferRelativeResize="0"/>
          <p:nvPr/>
        </p:nvPicPr>
        <p:blipFill rotWithShape="1">
          <a:blip r:embed="rId3">
            <a:alphaModFix/>
          </a:blip>
          <a:srcRect b="3345" l="3582" r="1387" t="5745"/>
          <a:stretch/>
        </p:blipFill>
        <p:spPr>
          <a:xfrm>
            <a:off x="458600" y="1397800"/>
            <a:ext cx="11274902" cy="46740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6" name="Shape 6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7" name="Google Shape;667;g3a7c546b70d_0_618"/>
          <p:cNvSpPr txBox="1"/>
          <p:nvPr/>
        </p:nvSpPr>
        <p:spPr>
          <a:xfrm>
            <a:off x="458592" y="317941"/>
            <a:ext cx="11274900" cy="827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500"/>
              <a:buFont typeface="Arial"/>
              <a:buNone/>
            </a:pPr>
            <a:r>
              <a:rPr b="1" lang="en-US" sz="2500">
                <a:solidFill>
                  <a:srgbClr val="1155C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Prestation de services</a:t>
            </a:r>
            <a:r>
              <a:rPr lang="en-US" sz="2500">
                <a:solidFill>
                  <a:srgbClr val="1155C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| Couverture vaccinale VAR 1 avec cible administrative ajustee Jan. - Nov. 2025</a:t>
            </a:r>
            <a:endParaRPr b="0" i="0" sz="2700" u="none" cap="none" strike="noStrike">
              <a:solidFill>
                <a:srgbClr val="1155CC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668" name="Google Shape;668;g3a7c546b70d_0_618"/>
          <p:cNvSpPr/>
          <p:nvPr/>
        </p:nvSpPr>
        <p:spPr>
          <a:xfrm>
            <a:off x="0" y="272241"/>
            <a:ext cx="235500" cy="655200"/>
          </a:xfrm>
          <a:prstGeom prst="rect">
            <a:avLst/>
          </a:prstGeom>
          <a:solidFill>
            <a:srgbClr val="1155CC"/>
          </a:solidFill>
          <a:ln>
            <a:noFill/>
          </a:ln>
        </p:spPr>
        <p:txBody>
          <a:bodyPr anchorCtr="0" anchor="ctr" bIns="91400" lIns="91400" spcFirstLastPara="1" rIns="91400" wrap="square" tIns="914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r>
              <a:t/>
            </a:r>
            <a:endParaRPr b="0" i="0" sz="1900" u="none" cap="none" strike="noStrike">
              <a:solidFill>
                <a:srgbClr val="0070C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669" name="Google Shape;669;g3a7c546b70d_0_618"/>
          <p:cNvSpPr txBox="1"/>
          <p:nvPr/>
        </p:nvSpPr>
        <p:spPr>
          <a:xfrm>
            <a:off x="11658600" y="6496067"/>
            <a:ext cx="228300" cy="16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-US" sz="1200" u="none" cap="none" strike="noStrike">
                <a:solidFill>
                  <a:srgbClr val="1155CC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rgbClr val="1155C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670" name="Google Shape;670;g3a7c546b70d_0_618"/>
          <p:cNvCxnSpPr/>
          <p:nvPr/>
        </p:nvCxnSpPr>
        <p:spPr>
          <a:xfrm>
            <a:off x="267700" y="6427967"/>
            <a:ext cx="11640300" cy="0"/>
          </a:xfrm>
          <a:prstGeom prst="straightConnector1">
            <a:avLst/>
          </a:prstGeom>
          <a:noFill/>
          <a:ln cap="flat" cmpd="sng" w="9525">
            <a:solidFill>
              <a:srgbClr val="9E9E9E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71" name="Google Shape;671;g3a7c546b70d_0_618"/>
          <p:cNvSpPr txBox="1"/>
          <p:nvPr/>
        </p:nvSpPr>
        <p:spPr>
          <a:xfrm>
            <a:off x="267700" y="6492843"/>
            <a:ext cx="114147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12190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155CC"/>
              </a:buClr>
              <a:buSzPts val="1200"/>
              <a:buFont typeface="Times New Roman"/>
              <a:buNone/>
            </a:pPr>
            <a:r>
              <a:rPr b="1" lang="en-US" sz="1200">
                <a:solidFill>
                  <a:srgbClr val="1155C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Source: Gestion PEV 2025, DHIS2 Tracker 2025</a:t>
            </a:r>
            <a:endParaRPr b="1" sz="1200">
              <a:solidFill>
                <a:srgbClr val="1155CC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grpSp>
        <p:nvGrpSpPr>
          <p:cNvPr id="672" name="Google Shape;672;g3a7c546b70d_0_618"/>
          <p:cNvGrpSpPr/>
          <p:nvPr/>
        </p:nvGrpSpPr>
        <p:grpSpPr>
          <a:xfrm>
            <a:off x="8271553" y="6516377"/>
            <a:ext cx="3259895" cy="184795"/>
            <a:chOff x="200775" y="4647825"/>
            <a:chExt cx="2196103" cy="124500"/>
          </a:xfrm>
        </p:grpSpPr>
        <p:sp>
          <p:nvSpPr>
            <p:cNvPr id="673" name="Google Shape;673;g3a7c546b70d_0_618"/>
            <p:cNvSpPr/>
            <p:nvPr/>
          </p:nvSpPr>
          <p:spPr>
            <a:xfrm>
              <a:off x="200775" y="4647825"/>
              <a:ext cx="697500" cy="124500"/>
            </a:xfrm>
            <a:prstGeom prst="rect">
              <a:avLst/>
            </a:prstGeom>
            <a:solidFill>
              <a:srgbClr val="34CC33"/>
            </a:solidFill>
            <a:ln>
              <a:noFill/>
            </a:ln>
          </p:spPr>
          <p:txBody>
            <a:bodyPr anchorCtr="0" anchor="ctr" bIns="135700" lIns="135700" spcFirstLastPara="1" rIns="135700" wrap="square" tIns="13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87"/>
                <a:buFont typeface="Arial"/>
                <a:buNone/>
              </a:pPr>
              <a:r>
                <a:rPr b="0" i="0" lang="en-US" sz="1187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  <a:t>80 -89 %</a:t>
              </a:r>
              <a:endParaRPr b="0" i="0" sz="1187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74" name="Google Shape;674;g3a7c546b70d_0_618"/>
            <p:cNvSpPr/>
            <p:nvPr/>
          </p:nvSpPr>
          <p:spPr>
            <a:xfrm>
              <a:off x="950078" y="4647825"/>
              <a:ext cx="697500" cy="124500"/>
            </a:xfrm>
            <a:prstGeom prst="rect">
              <a:avLst/>
            </a:prstGeom>
            <a:solidFill>
              <a:srgbClr val="FFFF00"/>
            </a:solidFill>
            <a:ln>
              <a:noFill/>
            </a:ln>
          </p:spPr>
          <p:txBody>
            <a:bodyPr anchorCtr="0" anchor="ctr" bIns="135700" lIns="135700" spcFirstLastPara="1" rIns="135700" wrap="square" tIns="13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87"/>
                <a:buFont typeface="Arial"/>
                <a:buNone/>
              </a:pPr>
              <a:r>
                <a:rPr b="0" i="0" lang="en-US" sz="1187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  <a:t> 50% -79%</a:t>
              </a:r>
              <a:endParaRPr b="0" i="0" sz="1187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75" name="Google Shape;675;g3a7c546b70d_0_618"/>
            <p:cNvSpPr/>
            <p:nvPr/>
          </p:nvSpPr>
          <p:spPr>
            <a:xfrm>
              <a:off x="1699378" y="4647825"/>
              <a:ext cx="697500" cy="124500"/>
            </a:xfrm>
            <a:prstGeom prst="rect">
              <a:avLst/>
            </a:prstGeom>
            <a:solidFill>
              <a:srgbClr val="C00000"/>
            </a:solidFill>
            <a:ln>
              <a:noFill/>
            </a:ln>
          </p:spPr>
          <p:txBody>
            <a:bodyPr anchorCtr="0" anchor="ctr" bIns="135700" lIns="135700" spcFirstLastPara="1" rIns="135700" wrap="square" tIns="13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87"/>
                <a:buFont typeface="Arial"/>
                <a:buNone/>
              </a:pPr>
              <a:r>
                <a:rPr b="0" i="0" lang="en-US" sz="1187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  <a:t>&lt; 50%</a:t>
              </a:r>
              <a:endParaRPr b="0" i="0" sz="1187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676" name="Google Shape;676;g3a7c546b70d_0_618"/>
          <p:cNvGrpSpPr/>
          <p:nvPr/>
        </p:nvGrpSpPr>
        <p:grpSpPr>
          <a:xfrm>
            <a:off x="6124017" y="6516377"/>
            <a:ext cx="2147630" cy="184795"/>
            <a:chOff x="950078" y="4647825"/>
            <a:chExt cx="1446800" cy="124500"/>
          </a:xfrm>
        </p:grpSpPr>
        <p:sp>
          <p:nvSpPr>
            <p:cNvPr id="677" name="Google Shape;677;g3a7c546b70d_0_618"/>
            <p:cNvSpPr/>
            <p:nvPr/>
          </p:nvSpPr>
          <p:spPr>
            <a:xfrm>
              <a:off x="950078" y="4647825"/>
              <a:ext cx="697500" cy="124500"/>
            </a:xfrm>
            <a:prstGeom prst="rect">
              <a:avLst/>
            </a:prstGeom>
            <a:solidFill>
              <a:srgbClr val="06B0F0"/>
            </a:solidFill>
            <a:ln>
              <a:noFill/>
            </a:ln>
          </p:spPr>
          <p:txBody>
            <a:bodyPr anchorCtr="0" anchor="ctr" bIns="135700" lIns="135700" spcFirstLastPara="1" rIns="135700" wrap="square" tIns="13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87"/>
                <a:buFont typeface="Arial"/>
                <a:buNone/>
              </a:pPr>
              <a:r>
                <a:rPr b="0" i="0" lang="en-US" sz="1187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  <a:t>&gt; 100%</a:t>
              </a:r>
              <a:endParaRPr b="0" i="0" sz="1187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78" name="Google Shape;678;g3a7c546b70d_0_618"/>
            <p:cNvSpPr/>
            <p:nvPr/>
          </p:nvSpPr>
          <p:spPr>
            <a:xfrm>
              <a:off x="1699378" y="4647825"/>
              <a:ext cx="697500" cy="124500"/>
            </a:xfrm>
            <a:prstGeom prst="rect">
              <a:avLst/>
            </a:prstGeom>
            <a:solidFill>
              <a:srgbClr val="008001"/>
            </a:solidFill>
            <a:ln>
              <a:noFill/>
            </a:ln>
          </p:spPr>
          <p:txBody>
            <a:bodyPr anchorCtr="0" anchor="ctr" bIns="135700" lIns="135700" spcFirstLastPara="1" rIns="135700" wrap="square" tIns="13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87"/>
                <a:buFont typeface="Arial"/>
                <a:buNone/>
              </a:pPr>
              <a:r>
                <a:rPr b="0" i="0" lang="en-US" sz="1187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  <a:t>90 - 100 %</a:t>
              </a:r>
              <a:endParaRPr b="0" i="0" sz="1187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679" name="Google Shape;679;g3a7c546b70d_0_618" title="Chart"/>
          <p:cNvPicPr preferRelativeResize="0"/>
          <p:nvPr/>
        </p:nvPicPr>
        <p:blipFill rotWithShape="1">
          <a:blip r:embed="rId3">
            <a:alphaModFix/>
          </a:blip>
          <a:srcRect b="2444" l="3974" r="1391" t="10257"/>
          <a:stretch/>
        </p:blipFill>
        <p:spPr>
          <a:xfrm>
            <a:off x="458600" y="1459675"/>
            <a:ext cx="11274902" cy="4506840"/>
          </a:xfrm>
          <a:prstGeom prst="rect">
            <a:avLst/>
          </a:prstGeom>
          <a:noFill/>
          <a:ln>
            <a:noFill/>
          </a:ln>
        </p:spPr>
      </p:pic>
      <p:sp>
        <p:nvSpPr>
          <p:cNvPr id="680" name="Google Shape;680;g3a7c546b70d_0_618"/>
          <p:cNvSpPr/>
          <p:nvPr/>
        </p:nvSpPr>
        <p:spPr>
          <a:xfrm>
            <a:off x="3805898" y="1554808"/>
            <a:ext cx="7927200" cy="4676100"/>
          </a:xfrm>
          <a:prstGeom prst="rect">
            <a:avLst/>
          </a:prstGeom>
          <a:noFill/>
          <a:ln cap="flat" cmpd="sng" w="26150">
            <a:solidFill>
              <a:srgbClr val="FF0000"/>
            </a:solidFill>
            <a:prstDash val="dash"/>
            <a:round/>
            <a:headEnd len="sm" w="sm" type="none"/>
            <a:tailEnd len="sm" w="sm" type="none"/>
          </a:ln>
        </p:spPr>
        <p:txBody>
          <a:bodyPr anchorCtr="0" anchor="ctr" bIns="125525" lIns="125525" spcFirstLastPara="1" rIns="125525" wrap="square" tIns="1255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22"/>
              <a:buFont typeface="Arial"/>
              <a:buNone/>
            </a:pPr>
            <a:r>
              <a:t/>
            </a:r>
            <a:endParaRPr b="0" i="0" sz="1922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1" name="Google Shape;681;g3a7c546b70d_0_618"/>
          <p:cNvSpPr/>
          <p:nvPr/>
        </p:nvSpPr>
        <p:spPr>
          <a:xfrm>
            <a:off x="7127451" y="1295550"/>
            <a:ext cx="4606200" cy="236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25525" lIns="125525" spcFirstLastPara="1" rIns="125525" wrap="square" tIns="1255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73"/>
              <a:buFont typeface="Arial"/>
              <a:buNone/>
            </a:pPr>
            <a:r>
              <a:rPr b="1" i="0" lang="en-US" sz="1372" u="none" cap="none" strike="noStrike">
                <a:solidFill>
                  <a:srgbClr val="FF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Antennes avec faible couverture</a:t>
            </a:r>
            <a:endParaRPr b="1" i="0" sz="1372" u="none" cap="none" strike="noStrike">
              <a:solidFill>
                <a:srgbClr val="FF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5" name="Shape 6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6" name="Google Shape;686;g3a7c546b70d_0_747"/>
          <p:cNvSpPr txBox="1"/>
          <p:nvPr/>
        </p:nvSpPr>
        <p:spPr>
          <a:xfrm>
            <a:off x="458592" y="317941"/>
            <a:ext cx="11274900" cy="384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500"/>
              <a:buFont typeface="Arial"/>
              <a:buNone/>
            </a:pPr>
            <a:r>
              <a:rPr b="1" lang="en-US" sz="2500">
                <a:solidFill>
                  <a:srgbClr val="1155C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Prestation de services</a:t>
            </a:r>
            <a:r>
              <a:rPr lang="en-US" sz="2500">
                <a:solidFill>
                  <a:srgbClr val="1155C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| Taux d’abandon Penta 1 - Penta 3</a:t>
            </a:r>
            <a:endParaRPr b="0" i="0" sz="2700" u="none" cap="none" strike="noStrike">
              <a:solidFill>
                <a:srgbClr val="1155CC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687" name="Google Shape;687;g3a7c546b70d_0_747"/>
          <p:cNvSpPr/>
          <p:nvPr/>
        </p:nvSpPr>
        <p:spPr>
          <a:xfrm>
            <a:off x="0" y="272241"/>
            <a:ext cx="235500" cy="655200"/>
          </a:xfrm>
          <a:prstGeom prst="rect">
            <a:avLst/>
          </a:prstGeom>
          <a:solidFill>
            <a:srgbClr val="1155CC"/>
          </a:solidFill>
          <a:ln>
            <a:noFill/>
          </a:ln>
        </p:spPr>
        <p:txBody>
          <a:bodyPr anchorCtr="0" anchor="ctr" bIns="91400" lIns="91400" spcFirstLastPara="1" rIns="91400" wrap="square" tIns="914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r>
              <a:t/>
            </a:r>
            <a:endParaRPr b="0" i="0" sz="1900" u="none" cap="none" strike="noStrike">
              <a:solidFill>
                <a:srgbClr val="0070C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688" name="Google Shape;688;g3a7c546b70d_0_747"/>
          <p:cNvSpPr txBox="1"/>
          <p:nvPr/>
        </p:nvSpPr>
        <p:spPr>
          <a:xfrm>
            <a:off x="11658600" y="6496067"/>
            <a:ext cx="228300" cy="16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-US" sz="1200" u="none" cap="none" strike="noStrike">
                <a:solidFill>
                  <a:srgbClr val="1155CC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rgbClr val="1155C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689" name="Google Shape;689;g3a7c546b70d_0_747"/>
          <p:cNvCxnSpPr/>
          <p:nvPr/>
        </p:nvCxnSpPr>
        <p:spPr>
          <a:xfrm>
            <a:off x="267700" y="6427967"/>
            <a:ext cx="11640300" cy="0"/>
          </a:xfrm>
          <a:prstGeom prst="straightConnector1">
            <a:avLst/>
          </a:prstGeom>
          <a:noFill/>
          <a:ln cap="flat" cmpd="sng" w="9525">
            <a:solidFill>
              <a:srgbClr val="9E9E9E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90" name="Google Shape;690;g3a7c546b70d_0_747"/>
          <p:cNvSpPr txBox="1"/>
          <p:nvPr/>
        </p:nvSpPr>
        <p:spPr>
          <a:xfrm>
            <a:off x="267700" y="6492843"/>
            <a:ext cx="114147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12190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155CC"/>
              </a:buClr>
              <a:buSzPts val="1200"/>
              <a:buFont typeface="Times New Roman"/>
              <a:buNone/>
            </a:pPr>
            <a:r>
              <a:rPr b="1" lang="en-US" sz="1200">
                <a:solidFill>
                  <a:srgbClr val="1155C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Source: Gestion PEV 2025, DHIS2 Tracker 2025</a:t>
            </a:r>
            <a:endParaRPr b="1" sz="1200">
              <a:solidFill>
                <a:srgbClr val="1155CC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grpSp>
        <p:nvGrpSpPr>
          <p:cNvPr id="691" name="Google Shape;691;g3a7c546b70d_0_747"/>
          <p:cNvGrpSpPr/>
          <p:nvPr/>
        </p:nvGrpSpPr>
        <p:grpSpPr>
          <a:xfrm>
            <a:off x="8271553" y="6516377"/>
            <a:ext cx="3259895" cy="184795"/>
            <a:chOff x="200775" y="4647825"/>
            <a:chExt cx="2196103" cy="124500"/>
          </a:xfrm>
        </p:grpSpPr>
        <p:sp>
          <p:nvSpPr>
            <p:cNvPr id="692" name="Google Shape;692;g3a7c546b70d_0_747"/>
            <p:cNvSpPr/>
            <p:nvPr/>
          </p:nvSpPr>
          <p:spPr>
            <a:xfrm>
              <a:off x="200775" y="4647825"/>
              <a:ext cx="697500" cy="124500"/>
            </a:xfrm>
            <a:prstGeom prst="rect">
              <a:avLst/>
            </a:prstGeom>
            <a:solidFill>
              <a:srgbClr val="34CC33"/>
            </a:solidFill>
            <a:ln>
              <a:noFill/>
            </a:ln>
          </p:spPr>
          <p:txBody>
            <a:bodyPr anchorCtr="0" anchor="ctr" bIns="135700" lIns="135700" spcFirstLastPara="1" rIns="135700" wrap="square" tIns="13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87"/>
                <a:buFont typeface="Arial"/>
                <a:buNone/>
              </a:pPr>
              <a:r>
                <a:rPr b="0" i="0" lang="en-US" sz="1187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  <a:t>80 -89 %</a:t>
              </a:r>
              <a:endParaRPr b="0" i="0" sz="1187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93" name="Google Shape;693;g3a7c546b70d_0_747"/>
            <p:cNvSpPr/>
            <p:nvPr/>
          </p:nvSpPr>
          <p:spPr>
            <a:xfrm>
              <a:off x="950078" y="4647825"/>
              <a:ext cx="697500" cy="124500"/>
            </a:xfrm>
            <a:prstGeom prst="rect">
              <a:avLst/>
            </a:prstGeom>
            <a:solidFill>
              <a:srgbClr val="FFFF00"/>
            </a:solidFill>
            <a:ln>
              <a:noFill/>
            </a:ln>
          </p:spPr>
          <p:txBody>
            <a:bodyPr anchorCtr="0" anchor="ctr" bIns="135700" lIns="135700" spcFirstLastPara="1" rIns="135700" wrap="square" tIns="13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87"/>
                <a:buFont typeface="Arial"/>
                <a:buNone/>
              </a:pPr>
              <a:r>
                <a:rPr b="0" i="0" lang="en-US" sz="1187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  <a:t> 50% -79%</a:t>
              </a:r>
              <a:endParaRPr b="0" i="0" sz="1187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94" name="Google Shape;694;g3a7c546b70d_0_747"/>
            <p:cNvSpPr/>
            <p:nvPr/>
          </p:nvSpPr>
          <p:spPr>
            <a:xfrm>
              <a:off x="1699378" y="4647825"/>
              <a:ext cx="697500" cy="124500"/>
            </a:xfrm>
            <a:prstGeom prst="rect">
              <a:avLst/>
            </a:prstGeom>
            <a:solidFill>
              <a:srgbClr val="C00000"/>
            </a:solidFill>
            <a:ln>
              <a:noFill/>
            </a:ln>
          </p:spPr>
          <p:txBody>
            <a:bodyPr anchorCtr="0" anchor="ctr" bIns="135700" lIns="135700" spcFirstLastPara="1" rIns="135700" wrap="square" tIns="13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87"/>
                <a:buFont typeface="Arial"/>
                <a:buNone/>
              </a:pPr>
              <a:r>
                <a:rPr b="0" i="0" lang="en-US" sz="1187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  <a:t>&lt; 50%</a:t>
              </a:r>
              <a:endParaRPr b="0" i="0" sz="1187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695" name="Google Shape;695;g3a7c546b70d_0_747"/>
          <p:cNvGrpSpPr/>
          <p:nvPr/>
        </p:nvGrpSpPr>
        <p:grpSpPr>
          <a:xfrm>
            <a:off x="6124017" y="6516377"/>
            <a:ext cx="2147630" cy="184795"/>
            <a:chOff x="950078" y="4647825"/>
            <a:chExt cx="1446800" cy="124500"/>
          </a:xfrm>
        </p:grpSpPr>
        <p:sp>
          <p:nvSpPr>
            <p:cNvPr id="696" name="Google Shape;696;g3a7c546b70d_0_747"/>
            <p:cNvSpPr/>
            <p:nvPr/>
          </p:nvSpPr>
          <p:spPr>
            <a:xfrm>
              <a:off x="950078" y="4647825"/>
              <a:ext cx="697500" cy="124500"/>
            </a:xfrm>
            <a:prstGeom prst="rect">
              <a:avLst/>
            </a:prstGeom>
            <a:solidFill>
              <a:srgbClr val="06B0F0"/>
            </a:solidFill>
            <a:ln>
              <a:noFill/>
            </a:ln>
          </p:spPr>
          <p:txBody>
            <a:bodyPr anchorCtr="0" anchor="ctr" bIns="135700" lIns="135700" spcFirstLastPara="1" rIns="135700" wrap="square" tIns="13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87"/>
                <a:buFont typeface="Arial"/>
                <a:buNone/>
              </a:pPr>
              <a:r>
                <a:rPr b="0" i="0" lang="en-US" sz="1187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  <a:t>&gt; 100%</a:t>
              </a:r>
              <a:endParaRPr b="0" i="0" sz="1187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97" name="Google Shape;697;g3a7c546b70d_0_747"/>
            <p:cNvSpPr/>
            <p:nvPr/>
          </p:nvSpPr>
          <p:spPr>
            <a:xfrm>
              <a:off x="1699378" y="4647825"/>
              <a:ext cx="697500" cy="124500"/>
            </a:xfrm>
            <a:prstGeom prst="rect">
              <a:avLst/>
            </a:prstGeom>
            <a:solidFill>
              <a:srgbClr val="008001"/>
            </a:solidFill>
            <a:ln>
              <a:noFill/>
            </a:ln>
          </p:spPr>
          <p:txBody>
            <a:bodyPr anchorCtr="0" anchor="ctr" bIns="135700" lIns="135700" spcFirstLastPara="1" rIns="135700" wrap="square" tIns="13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87"/>
                <a:buFont typeface="Arial"/>
                <a:buNone/>
              </a:pPr>
              <a:r>
                <a:rPr b="0" i="0" lang="en-US" sz="1187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  <a:t>90 - 100 %</a:t>
              </a:r>
              <a:endParaRPr b="0" i="0" sz="1187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698" name="Google Shape;698;g3a7c546b70d_0_747" title="Chart"/>
          <p:cNvPicPr preferRelativeResize="0"/>
          <p:nvPr/>
        </p:nvPicPr>
        <p:blipFill rotWithShape="1">
          <a:blip r:embed="rId3">
            <a:alphaModFix/>
          </a:blip>
          <a:srcRect b="3650" l="4113" r="0" t="1526"/>
          <a:stretch/>
        </p:blipFill>
        <p:spPr>
          <a:xfrm>
            <a:off x="458600" y="1311150"/>
            <a:ext cx="11274902" cy="4831223"/>
          </a:xfrm>
          <a:prstGeom prst="rect">
            <a:avLst/>
          </a:prstGeom>
          <a:noFill/>
          <a:ln>
            <a:noFill/>
          </a:ln>
        </p:spPr>
      </p:pic>
      <p:sp>
        <p:nvSpPr>
          <p:cNvPr id="699" name="Google Shape;699;g3a7c546b70d_0_747"/>
          <p:cNvSpPr/>
          <p:nvPr/>
        </p:nvSpPr>
        <p:spPr>
          <a:xfrm>
            <a:off x="6814000" y="1360675"/>
            <a:ext cx="3437400" cy="1029900"/>
          </a:xfrm>
          <a:prstGeom prst="wedgeRoundRectCallout">
            <a:avLst>
              <a:gd fmla="val 85131" name="adj1"/>
              <a:gd fmla="val -13934" name="adj2"/>
              <a:gd fmla="val 0" name="adj3"/>
            </a:avLst>
          </a:prstGeom>
          <a:solidFill>
            <a:srgbClr val="E6B8A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-190500" lvl="0" marL="17145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Times New Roman"/>
              <a:buChar char="•"/>
            </a:pPr>
            <a:r>
              <a:rPr i="0" lang="en-US" sz="12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Le suivi des enfants est impacté par les mouvements de la population suite à la ruée vers les mines artisanales</a:t>
            </a:r>
            <a:endParaRPr i="0" sz="1200" u="none" cap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190500" lvl="0" marL="17145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Times New Roman"/>
              <a:buChar char="•"/>
            </a:pPr>
            <a:r>
              <a:rPr i="0" lang="en-US" sz="12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Nécessité de pilote des approches innovantes : vaccination aux points de passage</a:t>
            </a:r>
            <a:endParaRPr i="0" sz="1200" u="none" cap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03" name="Shape 7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4" name="Google Shape;704;g3a7c546b70d_0_949"/>
          <p:cNvSpPr txBox="1"/>
          <p:nvPr/>
        </p:nvSpPr>
        <p:spPr>
          <a:xfrm>
            <a:off x="458592" y="317941"/>
            <a:ext cx="11274900" cy="384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500"/>
              <a:buFont typeface="Arial"/>
              <a:buNone/>
            </a:pPr>
            <a:r>
              <a:rPr b="1" lang="en-US" sz="2500">
                <a:solidFill>
                  <a:srgbClr val="1155C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Forces - Faiblesses - Opportunités - Menaces | </a:t>
            </a:r>
            <a:r>
              <a:rPr lang="en-US" sz="2500">
                <a:solidFill>
                  <a:srgbClr val="1155C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Forces</a:t>
            </a:r>
            <a:endParaRPr sz="2500">
              <a:solidFill>
                <a:srgbClr val="1155CC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705" name="Google Shape;705;g3a7c546b70d_0_949"/>
          <p:cNvSpPr/>
          <p:nvPr/>
        </p:nvSpPr>
        <p:spPr>
          <a:xfrm>
            <a:off x="0" y="272241"/>
            <a:ext cx="235500" cy="655200"/>
          </a:xfrm>
          <a:prstGeom prst="rect">
            <a:avLst/>
          </a:prstGeom>
          <a:solidFill>
            <a:srgbClr val="1155CC"/>
          </a:solidFill>
          <a:ln>
            <a:noFill/>
          </a:ln>
        </p:spPr>
        <p:txBody>
          <a:bodyPr anchorCtr="0" anchor="ctr" bIns="91400" lIns="91400" spcFirstLastPara="1" rIns="91400" wrap="square" tIns="914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r>
              <a:t/>
            </a:r>
            <a:endParaRPr b="0" i="0" sz="1900" u="none" cap="none" strike="noStrike">
              <a:solidFill>
                <a:srgbClr val="0070C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706" name="Google Shape;706;g3a7c546b70d_0_949"/>
          <p:cNvSpPr txBox="1"/>
          <p:nvPr/>
        </p:nvSpPr>
        <p:spPr>
          <a:xfrm>
            <a:off x="267700" y="6492843"/>
            <a:ext cx="114147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12190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t/>
            </a:r>
            <a:endParaRPr b="1" i="0" sz="1200" u="none" cap="none" strike="noStrike">
              <a:solidFill>
                <a:srgbClr val="1155CC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707" name="Google Shape;707;g3a7c546b70d_0_949"/>
          <p:cNvSpPr txBox="1"/>
          <p:nvPr/>
        </p:nvSpPr>
        <p:spPr>
          <a:xfrm>
            <a:off x="11658600" y="6496067"/>
            <a:ext cx="228300" cy="16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-US" sz="1200" u="none" cap="none" strike="noStrike">
                <a:solidFill>
                  <a:srgbClr val="1155CC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rgbClr val="1155C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708" name="Google Shape;708;g3a7c546b70d_0_949"/>
          <p:cNvCxnSpPr/>
          <p:nvPr/>
        </p:nvCxnSpPr>
        <p:spPr>
          <a:xfrm>
            <a:off x="267700" y="6427967"/>
            <a:ext cx="11640300" cy="0"/>
          </a:xfrm>
          <a:prstGeom prst="straightConnector1">
            <a:avLst/>
          </a:prstGeom>
          <a:noFill/>
          <a:ln cap="flat" cmpd="sng" w="9525">
            <a:solidFill>
              <a:srgbClr val="9E9E9E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709" name="Google Shape;709;g3a7c546b70d_0_949"/>
          <p:cNvSpPr txBox="1"/>
          <p:nvPr/>
        </p:nvSpPr>
        <p:spPr>
          <a:xfrm>
            <a:off x="267700" y="6492843"/>
            <a:ext cx="114147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12190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155CC"/>
              </a:buClr>
              <a:buSzPts val="1200"/>
              <a:buFont typeface="Times New Roman"/>
              <a:buNone/>
            </a:pPr>
            <a:r>
              <a:rPr b="1" i="0" lang="en-US" sz="1200" u="none" cap="none" strike="noStrike">
                <a:solidFill>
                  <a:srgbClr val="1155C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Revue annuelle PEV 2025</a:t>
            </a:r>
            <a:endParaRPr b="1" i="0" sz="1200" u="none" cap="none" strike="noStrike">
              <a:solidFill>
                <a:srgbClr val="1155CC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710" name="Google Shape;710;g3a7c546b70d_0_949"/>
          <p:cNvSpPr txBox="1"/>
          <p:nvPr/>
        </p:nvSpPr>
        <p:spPr>
          <a:xfrm>
            <a:off x="458600" y="1095800"/>
            <a:ext cx="11328900" cy="4666500"/>
          </a:xfrm>
          <a:prstGeom prst="rect">
            <a:avLst/>
          </a:prstGeom>
          <a:noFill/>
          <a:ln>
            <a:noFill/>
          </a:ln>
        </p:spPr>
        <p:txBody>
          <a:bodyPr anchorCtr="0" anchor="t" bIns="121900" lIns="121900" spcFirstLastPara="1" rIns="121900" wrap="square" tIns="121900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1300"/>
              </a:spcBef>
              <a:spcAft>
                <a:spcPts val="0"/>
              </a:spcAft>
              <a:buClr>
                <a:srgbClr val="222222"/>
              </a:buClr>
              <a:buSzPts val="1800"/>
              <a:buFont typeface="Times New Roman"/>
              <a:buChar char="●"/>
            </a:pPr>
            <a:r>
              <a:rPr lang="en-US" sz="1800">
                <a:solidFill>
                  <a:srgbClr val="222222"/>
                </a:solidFill>
                <a:highlight>
                  <a:srgbClr val="FFFFFF"/>
                </a:highlight>
                <a:latin typeface="Times New Roman"/>
                <a:ea typeface="Times New Roman"/>
                <a:cs typeface="Times New Roman"/>
                <a:sym typeface="Times New Roman"/>
              </a:rPr>
              <a:t>Forte volonté du management du PEV de renforcer le suivi-évaluation au sein du programme de vaccination.</a:t>
            </a:r>
            <a:endParaRPr sz="1800">
              <a:solidFill>
                <a:srgbClr val="222222"/>
              </a:solidFill>
              <a:highlight>
                <a:srgbClr val="FFFFFF"/>
              </a:highlight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222222"/>
              </a:buClr>
              <a:buSzPts val="1800"/>
              <a:buFont typeface="Times New Roman"/>
              <a:buChar char="●"/>
            </a:pPr>
            <a:r>
              <a:rPr lang="en-US" sz="1800">
                <a:solidFill>
                  <a:srgbClr val="222222"/>
                </a:solidFill>
                <a:highlight>
                  <a:srgbClr val="FFFFFF"/>
                </a:highlight>
                <a:latin typeface="Times New Roman"/>
                <a:ea typeface="Times New Roman"/>
                <a:cs typeface="Times New Roman"/>
                <a:sym typeface="Times New Roman"/>
              </a:rPr>
              <a:t>Développement d’outils de suivi du PAO et de tableaux de bord pour l’analyse des données de vaccination.</a:t>
            </a:r>
            <a:endParaRPr sz="1800">
              <a:solidFill>
                <a:srgbClr val="222222"/>
              </a:solidFill>
              <a:highlight>
                <a:srgbClr val="FFFFFF"/>
              </a:highlight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222222"/>
              </a:buClr>
              <a:buSzPts val="1800"/>
              <a:buFont typeface="Times New Roman"/>
              <a:buChar char="●"/>
            </a:pPr>
            <a:r>
              <a:rPr lang="en-US" sz="1800">
                <a:solidFill>
                  <a:srgbClr val="222222"/>
                </a:solidFill>
                <a:highlight>
                  <a:srgbClr val="FFFFFF"/>
                </a:highlight>
                <a:latin typeface="Times New Roman"/>
                <a:ea typeface="Times New Roman"/>
                <a:cs typeface="Times New Roman"/>
                <a:sym typeface="Times New Roman"/>
              </a:rPr>
              <a:t>Suivi régulier de la mise en œuvre du PAO lors des réunions de sta</a:t>
            </a:r>
            <a:endParaRPr sz="1800">
              <a:solidFill>
                <a:srgbClr val="222222"/>
              </a:solidFill>
              <a:highlight>
                <a:srgbClr val="FFFFFF"/>
              </a:highlight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222222"/>
              </a:buClr>
              <a:buSzPts val="1800"/>
              <a:buFont typeface="Times New Roman"/>
              <a:buChar char="●"/>
            </a:pPr>
            <a:r>
              <a:rPr lang="en-US" sz="1800">
                <a:solidFill>
                  <a:srgbClr val="222222"/>
                </a:solidFill>
                <a:highlight>
                  <a:srgbClr val="FFFFFF"/>
                </a:highlight>
                <a:latin typeface="Times New Roman"/>
                <a:ea typeface="Times New Roman"/>
                <a:cs typeface="Times New Roman"/>
                <a:sym typeface="Times New Roman"/>
              </a:rPr>
              <a:t>Appui des PTF</a:t>
            </a:r>
            <a:endParaRPr sz="1800">
              <a:solidFill>
                <a:srgbClr val="222222"/>
              </a:solidFill>
              <a:highlight>
                <a:srgbClr val="FFFFFF"/>
              </a:highlight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1300"/>
              </a:spcBef>
              <a:spcAft>
                <a:spcPts val="0"/>
              </a:spcAft>
              <a:buClr>
                <a:srgbClr val="222222"/>
              </a:buClr>
              <a:buSzPts val="1800"/>
              <a:buFont typeface="Times New Roman"/>
              <a:buChar char="●"/>
            </a:pPr>
            <a:r>
              <a:rPr lang="en-US" sz="1800">
                <a:solidFill>
                  <a:srgbClr val="222222"/>
                </a:solidFill>
                <a:highlight>
                  <a:srgbClr val="FFFFFF"/>
                </a:highlight>
                <a:latin typeface="Times New Roman"/>
                <a:ea typeface="Times New Roman"/>
                <a:cs typeface="Times New Roman"/>
                <a:sym typeface="Times New Roman"/>
              </a:rPr>
              <a:t>Amélioration progressive de l’environnement et de l’espace de travail.</a:t>
            </a:r>
            <a:endParaRPr sz="1800">
              <a:solidFill>
                <a:srgbClr val="222222"/>
              </a:solidFill>
              <a:highlight>
                <a:srgbClr val="FFFFFF"/>
              </a:highlight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130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rgbClr val="222222"/>
              </a:solidFill>
              <a:highlight>
                <a:srgbClr val="FFFFFF"/>
              </a:highlight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130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222222"/>
              </a:solidFill>
              <a:highlight>
                <a:srgbClr val="FFFFFF"/>
              </a:highlight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13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4" name="Shape 7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5" name="Google Shape;715;g3a7c546b70d_0_819"/>
          <p:cNvSpPr txBox="1"/>
          <p:nvPr/>
        </p:nvSpPr>
        <p:spPr>
          <a:xfrm>
            <a:off x="458592" y="317941"/>
            <a:ext cx="11274900" cy="384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500"/>
              <a:buFont typeface="Arial"/>
              <a:buNone/>
            </a:pPr>
            <a:r>
              <a:rPr b="1" lang="en-US" sz="2500">
                <a:solidFill>
                  <a:srgbClr val="1155C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Forces - </a:t>
            </a:r>
            <a:r>
              <a:rPr b="1" lang="en-US" sz="2500">
                <a:solidFill>
                  <a:srgbClr val="1155C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Faiblesses - Opportunités - Menaces | </a:t>
            </a:r>
            <a:r>
              <a:rPr lang="en-US" sz="2500">
                <a:solidFill>
                  <a:srgbClr val="1155C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Faiblesses</a:t>
            </a:r>
            <a:endParaRPr sz="2500">
              <a:solidFill>
                <a:srgbClr val="1155CC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716" name="Google Shape;716;g3a7c546b70d_0_819"/>
          <p:cNvSpPr/>
          <p:nvPr/>
        </p:nvSpPr>
        <p:spPr>
          <a:xfrm>
            <a:off x="0" y="272241"/>
            <a:ext cx="235500" cy="655200"/>
          </a:xfrm>
          <a:prstGeom prst="rect">
            <a:avLst/>
          </a:prstGeom>
          <a:solidFill>
            <a:srgbClr val="1155CC"/>
          </a:solidFill>
          <a:ln>
            <a:noFill/>
          </a:ln>
        </p:spPr>
        <p:txBody>
          <a:bodyPr anchorCtr="0" anchor="ctr" bIns="91400" lIns="91400" spcFirstLastPara="1" rIns="91400" wrap="square" tIns="914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r>
              <a:t/>
            </a:r>
            <a:endParaRPr b="0" i="0" sz="1900" u="none" cap="none" strike="noStrike">
              <a:solidFill>
                <a:srgbClr val="0070C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717" name="Google Shape;717;g3a7c546b70d_0_819"/>
          <p:cNvSpPr txBox="1"/>
          <p:nvPr/>
        </p:nvSpPr>
        <p:spPr>
          <a:xfrm>
            <a:off x="267700" y="6492843"/>
            <a:ext cx="114147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12190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t/>
            </a:r>
            <a:endParaRPr b="1" i="0" sz="1200" u="none" cap="none" strike="noStrike">
              <a:solidFill>
                <a:srgbClr val="1155CC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718" name="Google Shape;718;g3a7c546b70d_0_819"/>
          <p:cNvSpPr txBox="1"/>
          <p:nvPr/>
        </p:nvSpPr>
        <p:spPr>
          <a:xfrm>
            <a:off x="11658600" y="6496067"/>
            <a:ext cx="228300" cy="16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-US" sz="1200" u="none" cap="none" strike="noStrike">
                <a:solidFill>
                  <a:srgbClr val="1155CC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rgbClr val="1155C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719" name="Google Shape;719;g3a7c546b70d_0_819"/>
          <p:cNvCxnSpPr/>
          <p:nvPr/>
        </p:nvCxnSpPr>
        <p:spPr>
          <a:xfrm>
            <a:off x="267700" y="6427967"/>
            <a:ext cx="11640300" cy="0"/>
          </a:xfrm>
          <a:prstGeom prst="straightConnector1">
            <a:avLst/>
          </a:prstGeom>
          <a:noFill/>
          <a:ln cap="flat" cmpd="sng" w="9525">
            <a:solidFill>
              <a:srgbClr val="9E9E9E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720" name="Google Shape;720;g3a7c546b70d_0_819"/>
          <p:cNvSpPr txBox="1"/>
          <p:nvPr/>
        </p:nvSpPr>
        <p:spPr>
          <a:xfrm>
            <a:off x="267700" y="6492843"/>
            <a:ext cx="114147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12190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155CC"/>
              </a:buClr>
              <a:buSzPts val="1200"/>
              <a:buFont typeface="Times New Roman"/>
              <a:buNone/>
            </a:pPr>
            <a:r>
              <a:rPr b="1" i="0" lang="en-US" sz="1200" u="none" cap="none" strike="noStrike">
                <a:solidFill>
                  <a:srgbClr val="1155C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Revue annuelle PEV 2025</a:t>
            </a:r>
            <a:endParaRPr b="1" i="0" sz="1200" u="none" cap="none" strike="noStrike">
              <a:solidFill>
                <a:srgbClr val="1155CC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721" name="Google Shape;721;g3a7c546b70d_0_819"/>
          <p:cNvSpPr txBox="1"/>
          <p:nvPr/>
        </p:nvSpPr>
        <p:spPr>
          <a:xfrm>
            <a:off x="458600" y="1095800"/>
            <a:ext cx="11328900" cy="4826400"/>
          </a:xfrm>
          <a:prstGeom prst="rect">
            <a:avLst/>
          </a:prstGeom>
          <a:noFill/>
          <a:ln>
            <a:noFill/>
          </a:ln>
        </p:spPr>
        <p:txBody>
          <a:bodyPr anchorCtr="0" anchor="t" bIns="121900" lIns="121900" spcFirstLastPara="1" rIns="121900" wrap="square" tIns="121900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1300"/>
              </a:spcBef>
              <a:spcAft>
                <a:spcPts val="0"/>
              </a:spcAft>
              <a:buClr>
                <a:srgbClr val="222222"/>
              </a:buClr>
              <a:buSzPts val="1800"/>
              <a:buFont typeface="Times New Roman"/>
              <a:buChar char="●"/>
            </a:pPr>
            <a:r>
              <a:rPr lang="en-US" sz="1800">
                <a:solidFill>
                  <a:srgbClr val="222222"/>
                </a:solidFill>
                <a:highlight>
                  <a:srgbClr val="FFFFFF"/>
                </a:highlight>
                <a:latin typeface="Times New Roman"/>
                <a:ea typeface="Times New Roman"/>
                <a:cs typeface="Times New Roman"/>
                <a:sym typeface="Times New Roman"/>
              </a:rPr>
              <a:t>Arrivée tardive des fonds pour la mise en oeuvre des activités - Juin 2025</a:t>
            </a:r>
            <a:endParaRPr sz="1800">
              <a:solidFill>
                <a:srgbClr val="222222"/>
              </a:solidFill>
              <a:highlight>
                <a:srgbClr val="FFFFFF"/>
              </a:highlight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1300"/>
              </a:spcBef>
              <a:spcAft>
                <a:spcPts val="0"/>
              </a:spcAft>
              <a:buClr>
                <a:srgbClr val="222222"/>
              </a:buClr>
              <a:buSzPts val="1800"/>
              <a:buFont typeface="Times New Roman"/>
              <a:buChar char="●"/>
            </a:pPr>
            <a:r>
              <a:rPr lang="en-US" sz="1800">
                <a:solidFill>
                  <a:srgbClr val="222222"/>
                </a:solidFill>
                <a:highlight>
                  <a:srgbClr val="FFFFFF"/>
                </a:highlight>
                <a:latin typeface="Times New Roman"/>
                <a:ea typeface="Times New Roman"/>
                <a:cs typeface="Times New Roman"/>
                <a:sym typeface="Times New Roman"/>
              </a:rPr>
              <a:t>Inscription de plusieurs activités dans le PAO sans sécurisation préalable, ni mobilisation en aval de financement nécessaires à leur mise en œuvre.</a:t>
            </a:r>
            <a:endParaRPr sz="1800">
              <a:solidFill>
                <a:srgbClr val="222222"/>
              </a:solidFill>
              <a:highlight>
                <a:srgbClr val="FFFFFF"/>
              </a:highlight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1300"/>
              </a:spcBef>
              <a:spcAft>
                <a:spcPts val="0"/>
              </a:spcAft>
              <a:buClr>
                <a:srgbClr val="222222"/>
              </a:buClr>
              <a:buSzPts val="1800"/>
              <a:buFont typeface="Times New Roman"/>
              <a:buChar char="●"/>
            </a:pPr>
            <a:r>
              <a:rPr lang="en-US" sz="1800">
                <a:solidFill>
                  <a:srgbClr val="222222"/>
                </a:solidFill>
                <a:highlight>
                  <a:srgbClr val="FFFFFF"/>
                </a:highlight>
                <a:latin typeface="Times New Roman"/>
                <a:ea typeface="Times New Roman"/>
                <a:cs typeface="Times New Roman"/>
                <a:sym typeface="Times New Roman"/>
              </a:rPr>
              <a:t>Non tenue de la </a:t>
            </a:r>
            <a:r>
              <a:rPr lang="en-US" sz="1800">
                <a:solidFill>
                  <a:srgbClr val="222222"/>
                </a:solidFill>
                <a:highlight>
                  <a:srgbClr val="FFFFFF"/>
                </a:highlight>
                <a:latin typeface="Times New Roman"/>
                <a:ea typeface="Times New Roman"/>
                <a:cs typeface="Times New Roman"/>
                <a:sym typeface="Times New Roman"/>
              </a:rPr>
              <a:t>revue</a:t>
            </a:r>
            <a:r>
              <a:rPr lang="en-US" sz="1800">
                <a:solidFill>
                  <a:srgbClr val="222222"/>
                </a:solidFill>
                <a:highlight>
                  <a:srgbClr val="FFFFFF"/>
                </a:highlight>
                <a:latin typeface="Times New Roman"/>
                <a:ea typeface="Times New Roman"/>
                <a:cs typeface="Times New Roman"/>
                <a:sym typeface="Times New Roman"/>
              </a:rPr>
              <a:t> a mi-parcours</a:t>
            </a:r>
            <a:endParaRPr sz="1800">
              <a:solidFill>
                <a:srgbClr val="222222"/>
              </a:solidFill>
              <a:highlight>
                <a:srgbClr val="FFFFFF"/>
              </a:highlight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1300"/>
              </a:spcBef>
              <a:spcAft>
                <a:spcPts val="0"/>
              </a:spcAft>
              <a:buClr>
                <a:srgbClr val="222222"/>
              </a:buClr>
              <a:buSzPts val="1800"/>
              <a:buFont typeface="Times New Roman"/>
              <a:buChar char="●"/>
            </a:pPr>
            <a:r>
              <a:rPr lang="en-US" sz="1800">
                <a:solidFill>
                  <a:srgbClr val="222222"/>
                </a:solidFill>
                <a:highlight>
                  <a:srgbClr val="FFFFFF"/>
                </a:highlight>
                <a:latin typeface="Times New Roman"/>
                <a:ea typeface="Times New Roman"/>
                <a:cs typeface="Times New Roman"/>
                <a:sym typeface="Times New Roman"/>
              </a:rPr>
              <a:t>Retards dans l’élaboration des termes de référence de certaines activités, entraînant des retards dans le décaissement des fonds.</a:t>
            </a:r>
            <a:endParaRPr sz="1800">
              <a:solidFill>
                <a:srgbClr val="222222"/>
              </a:solidFill>
              <a:highlight>
                <a:srgbClr val="FFFFFF"/>
              </a:highlight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1300"/>
              </a:spcBef>
              <a:spcAft>
                <a:spcPts val="0"/>
              </a:spcAft>
              <a:buClr>
                <a:srgbClr val="222222"/>
              </a:buClr>
              <a:buSzPts val="1800"/>
              <a:buFont typeface="Times New Roman"/>
              <a:buChar char="●"/>
            </a:pPr>
            <a:r>
              <a:rPr lang="en-US" sz="1800">
                <a:solidFill>
                  <a:srgbClr val="222222"/>
                </a:solidFill>
                <a:highlight>
                  <a:srgbClr val="FFFFFF"/>
                </a:highlight>
                <a:latin typeface="Times New Roman"/>
                <a:ea typeface="Times New Roman"/>
                <a:cs typeface="Times New Roman"/>
                <a:sym typeface="Times New Roman"/>
              </a:rPr>
              <a:t>Faible intégration de certaines activités pouvant être réalisées de manière concomitante.</a:t>
            </a:r>
            <a:endParaRPr sz="1800">
              <a:solidFill>
                <a:srgbClr val="222222"/>
              </a:solidFill>
              <a:highlight>
                <a:srgbClr val="FFFFFF"/>
              </a:highlight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1300"/>
              </a:spcBef>
              <a:spcAft>
                <a:spcPts val="0"/>
              </a:spcAft>
              <a:buClr>
                <a:srgbClr val="222222"/>
              </a:buClr>
              <a:buSzPts val="1800"/>
              <a:buFont typeface="Times New Roman"/>
              <a:buChar char="●"/>
            </a:pPr>
            <a:r>
              <a:rPr lang="en-US" sz="1800">
                <a:solidFill>
                  <a:srgbClr val="222222"/>
                </a:solidFill>
                <a:highlight>
                  <a:srgbClr val="FFFFFF"/>
                </a:highlight>
                <a:latin typeface="Times New Roman"/>
                <a:ea typeface="Times New Roman"/>
                <a:cs typeface="Times New Roman"/>
                <a:sym typeface="Times New Roman"/>
              </a:rPr>
              <a:t>Faible délégation des activités pouvant être mises en œuvre par le niveau intermédiaire (Activité communication sur la sensibilisation des femmes des gouverneurs)</a:t>
            </a:r>
            <a:endParaRPr sz="1800">
              <a:solidFill>
                <a:srgbClr val="222222"/>
              </a:solidFill>
              <a:highlight>
                <a:srgbClr val="FFFFFF"/>
              </a:highlight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130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rgbClr val="222222"/>
              </a:solidFill>
              <a:highlight>
                <a:srgbClr val="FFFFFF"/>
              </a:highlight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130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222222"/>
              </a:solidFill>
              <a:highlight>
                <a:srgbClr val="FFFFFF"/>
              </a:highlight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13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25" name="Shape 7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6" name="Google Shape;726;g3a7c546b70d_0_829"/>
          <p:cNvSpPr txBox="1"/>
          <p:nvPr/>
        </p:nvSpPr>
        <p:spPr>
          <a:xfrm>
            <a:off x="458592" y="317941"/>
            <a:ext cx="11274900" cy="384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500"/>
              <a:buFont typeface="Arial"/>
              <a:buNone/>
            </a:pPr>
            <a:r>
              <a:rPr b="1" lang="en-US" sz="2500">
                <a:solidFill>
                  <a:srgbClr val="1155C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Forces - Faiblesses - Opportunités - Menaces | </a:t>
            </a:r>
            <a:r>
              <a:rPr lang="en-US" sz="2500">
                <a:solidFill>
                  <a:srgbClr val="1155C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Opportunités - Menaces</a:t>
            </a:r>
            <a:endParaRPr sz="2500">
              <a:solidFill>
                <a:srgbClr val="1155CC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727" name="Google Shape;727;g3a7c546b70d_0_829"/>
          <p:cNvSpPr/>
          <p:nvPr/>
        </p:nvSpPr>
        <p:spPr>
          <a:xfrm>
            <a:off x="0" y="272241"/>
            <a:ext cx="235500" cy="655200"/>
          </a:xfrm>
          <a:prstGeom prst="rect">
            <a:avLst/>
          </a:prstGeom>
          <a:solidFill>
            <a:srgbClr val="1155CC"/>
          </a:solidFill>
          <a:ln>
            <a:noFill/>
          </a:ln>
        </p:spPr>
        <p:txBody>
          <a:bodyPr anchorCtr="0" anchor="ctr" bIns="91400" lIns="91400" spcFirstLastPara="1" rIns="91400" wrap="square" tIns="914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r>
              <a:t/>
            </a:r>
            <a:endParaRPr b="0" i="0" sz="1900" u="none" cap="none" strike="noStrike">
              <a:solidFill>
                <a:srgbClr val="0070C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728" name="Google Shape;728;g3a7c546b70d_0_829"/>
          <p:cNvSpPr txBox="1"/>
          <p:nvPr/>
        </p:nvSpPr>
        <p:spPr>
          <a:xfrm>
            <a:off x="267700" y="6492843"/>
            <a:ext cx="114147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12190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t/>
            </a:r>
            <a:endParaRPr b="1" i="0" sz="1200" u="none" cap="none" strike="noStrike">
              <a:solidFill>
                <a:srgbClr val="1155CC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729" name="Google Shape;729;g3a7c546b70d_0_829"/>
          <p:cNvSpPr txBox="1"/>
          <p:nvPr/>
        </p:nvSpPr>
        <p:spPr>
          <a:xfrm>
            <a:off x="11658600" y="6496067"/>
            <a:ext cx="228300" cy="16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-US" sz="1200" u="none" cap="none" strike="noStrike">
                <a:solidFill>
                  <a:srgbClr val="1155CC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rgbClr val="1155C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730" name="Google Shape;730;g3a7c546b70d_0_829"/>
          <p:cNvCxnSpPr/>
          <p:nvPr/>
        </p:nvCxnSpPr>
        <p:spPr>
          <a:xfrm>
            <a:off x="267700" y="6427967"/>
            <a:ext cx="11640300" cy="0"/>
          </a:xfrm>
          <a:prstGeom prst="straightConnector1">
            <a:avLst/>
          </a:prstGeom>
          <a:noFill/>
          <a:ln cap="flat" cmpd="sng" w="9525">
            <a:solidFill>
              <a:srgbClr val="9E9E9E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731" name="Google Shape;731;g3a7c546b70d_0_829"/>
          <p:cNvSpPr txBox="1"/>
          <p:nvPr/>
        </p:nvSpPr>
        <p:spPr>
          <a:xfrm>
            <a:off x="267700" y="6492843"/>
            <a:ext cx="114147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12190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155CC"/>
              </a:buClr>
              <a:buSzPts val="1200"/>
              <a:buFont typeface="Times New Roman"/>
              <a:buNone/>
            </a:pPr>
            <a:r>
              <a:rPr b="1" i="0" lang="en-US" sz="1200" u="none" cap="none" strike="noStrike">
                <a:solidFill>
                  <a:srgbClr val="1155C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Revue annuelle PEV 2025</a:t>
            </a:r>
            <a:endParaRPr b="1" i="0" sz="1200" u="none" cap="none" strike="noStrike">
              <a:solidFill>
                <a:srgbClr val="1155CC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732" name="Google Shape;732;g3a7c546b70d_0_829"/>
          <p:cNvSpPr txBox="1"/>
          <p:nvPr/>
        </p:nvSpPr>
        <p:spPr>
          <a:xfrm>
            <a:off x="458600" y="1095800"/>
            <a:ext cx="11328900" cy="4666500"/>
          </a:xfrm>
          <a:prstGeom prst="rect">
            <a:avLst/>
          </a:prstGeom>
          <a:noFill/>
          <a:ln>
            <a:noFill/>
          </a:ln>
        </p:spPr>
        <p:txBody>
          <a:bodyPr anchorCtr="0" anchor="t" bIns="121900" lIns="121900" spcFirstLastPara="1" rIns="121900" wrap="square" tIns="1219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130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222222"/>
                </a:solidFill>
                <a:highlight>
                  <a:srgbClr val="FFFFFF"/>
                </a:highlight>
                <a:latin typeface="Times New Roman"/>
                <a:ea typeface="Times New Roman"/>
                <a:cs typeface="Times New Roman"/>
                <a:sym typeface="Times New Roman"/>
              </a:rPr>
              <a:t>Opportunités</a:t>
            </a:r>
            <a:endParaRPr b="1" sz="1800">
              <a:solidFill>
                <a:srgbClr val="222222"/>
              </a:solidFill>
              <a:highlight>
                <a:srgbClr val="FFFFFF"/>
              </a:highlight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1300"/>
              </a:spcBef>
              <a:spcAft>
                <a:spcPts val="0"/>
              </a:spcAft>
              <a:buClr>
                <a:srgbClr val="222222"/>
              </a:buClr>
              <a:buSzPts val="1800"/>
              <a:buFont typeface="Times New Roman"/>
              <a:buChar char="●"/>
            </a:pPr>
            <a:r>
              <a:rPr lang="en-US" sz="1800">
                <a:solidFill>
                  <a:srgbClr val="222222"/>
                </a:solidFill>
                <a:highlight>
                  <a:srgbClr val="FFFFFF"/>
                </a:highlight>
                <a:latin typeface="Times New Roman"/>
                <a:ea typeface="Times New Roman"/>
                <a:cs typeface="Times New Roman"/>
                <a:sym typeface="Times New Roman"/>
              </a:rPr>
              <a:t>Existence d’outils d’intelligence artificielle pouvant être exploités pour renforcer le suivi-évaluation, l’analyse des données et la prise de décision.</a:t>
            </a:r>
            <a:endParaRPr sz="1800">
              <a:solidFill>
                <a:srgbClr val="222222"/>
              </a:solidFill>
              <a:highlight>
                <a:srgbClr val="FFFFFF"/>
              </a:highlight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130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222222"/>
                </a:solidFill>
                <a:highlight>
                  <a:srgbClr val="FFFFFF"/>
                </a:highlight>
                <a:latin typeface="Times New Roman"/>
                <a:ea typeface="Times New Roman"/>
                <a:cs typeface="Times New Roman"/>
                <a:sym typeface="Times New Roman"/>
              </a:rPr>
              <a:t>Menaces</a:t>
            </a:r>
            <a:endParaRPr b="1" sz="1800">
              <a:solidFill>
                <a:srgbClr val="222222"/>
              </a:solidFill>
              <a:highlight>
                <a:srgbClr val="FFFFFF"/>
              </a:highlight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1300"/>
              </a:spcBef>
              <a:spcAft>
                <a:spcPts val="0"/>
              </a:spcAft>
              <a:buClr>
                <a:srgbClr val="222222"/>
              </a:buClr>
              <a:buSzPts val="1800"/>
              <a:buFont typeface="Times New Roman"/>
              <a:buChar char="●"/>
            </a:pPr>
            <a:r>
              <a:rPr lang="en-US" sz="1800">
                <a:solidFill>
                  <a:srgbClr val="222222"/>
                </a:solidFill>
                <a:highlight>
                  <a:srgbClr val="FFFFFF"/>
                </a:highlight>
                <a:latin typeface="Times New Roman"/>
                <a:ea typeface="Times New Roman"/>
                <a:cs typeface="Times New Roman"/>
                <a:sym typeface="Times New Roman"/>
              </a:rPr>
              <a:t>Faible intégration de certaines activités pouvant être réalisées de manière concomitante.</a:t>
            </a:r>
            <a:endParaRPr sz="1800">
              <a:solidFill>
                <a:srgbClr val="222222"/>
              </a:solidFill>
              <a:highlight>
                <a:srgbClr val="FFFFFF"/>
              </a:highlight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1300"/>
              </a:spcBef>
              <a:spcAft>
                <a:spcPts val="0"/>
              </a:spcAft>
              <a:buClr>
                <a:srgbClr val="222222"/>
              </a:buClr>
              <a:buSzPts val="1800"/>
              <a:buFont typeface="Times New Roman"/>
              <a:buChar char="●"/>
            </a:pPr>
            <a:r>
              <a:rPr lang="en-US" sz="1800">
                <a:solidFill>
                  <a:srgbClr val="222222"/>
                </a:solidFill>
                <a:highlight>
                  <a:srgbClr val="FFFFFF"/>
                </a:highlight>
                <a:latin typeface="Times New Roman"/>
                <a:ea typeface="Times New Roman"/>
                <a:cs typeface="Times New Roman"/>
                <a:sym typeface="Times New Roman"/>
              </a:rPr>
              <a:t>Insuffisance ou imprévisibilité des financements affectés au suivi-évaluation.</a:t>
            </a:r>
            <a:endParaRPr sz="1800">
              <a:solidFill>
                <a:srgbClr val="222222"/>
              </a:solidFill>
              <a:highlight>
                <a:srgbClr val="FFFFFF"/>
              </a:highlight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1300"/>
              </a:spcBef>
              <a:spcAft>
                <a:spcPts val="0"/>
              </a:spcAft>
              <a:buClr>
                <a:srgbClr val="222222"/>
              </a:buClr>
              <a:buSzPts val="1800"/>
              <a:buFont typeface="Times New Roman"/>
              <a:buChar char="●"/>
            </a:pPr>
            <a:r>
              <a:rPr lang="en-US" sz="1800">
                <a:solidFill>
                  <a:srgbClr val="222222"/>
                </a:solidFill>
                <a:highlight>
                  <a:srgbClr val="FFFFFF"/>
                </a:highlight>
                <a:latin typeface="Times New Roman"/>
                <a:ea typeface="Times New Roman"/>
                <a:cs typeface="Times New Roman"/>
                <a:sym typeface="Times New Roman"/>
              </a:rPr>
              <a:t>Forte dépendance aux partenaires techniques et financiers pour le financement des activités clés.</a:t>
            </a:r>
            <a:endParaRPr sz="1800">
              <a:solidFill>
                <a:srgbClr val="222222"/>
              </a:solidFill>
              <a:highlight>
                <a:srgbClr val="FFFFFF"/>
              </a:highlight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1300"/>
              </a:spcBef>
              <a:spcAft>
                <a:spcPts val="0"/>
              </a:spcAft>
              <a:buClr>
                <a:srgbClr val="222222"/>
              </a:buClr>
              <a:buSzPts val="1800"/>
              <a:buFont typeface="Times New Roman"/>
              <a:buChar char="●"/>
            </a:pPr>
            <a:r>
              <a:rPr lang="en-US" sz="1800">
                <a:solidFill>
                  <a:srgbClr val="222222"/>
                </a:solidFill>
                <a:highlight>
                  <a:srgbClr val="FFFFFF"/>
                </a:highlight>
                <a:latin typeface="Times New Roman"/>
                <a:ea typeface="Times New Roman"/>
                <a:cs typeface="Times New Roman"/>
                <a:sym typeface="Times New Roman"/>
              </a:rPr>
              <a:t>Faible appropriation institutionnelle des outils numériques et analytiques.</a:t>
            </a:r>
            <a:endParaRPr sz="1800">
              <a:solidFill>
                <a:srgbClr val="222222"/>
              </a:solidFill>
              <a:highlight>
                <a:srgbClr val="FFFFFF"/>
              </a:highlight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130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rgbClr val="222222"/>
              </a:solidFill>
              <a:highlight>
                <a:srgbClr val="FFFFFF"/>
              </a:highlight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130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222222"/>
              </a:solidFill>
              <a:highlight>
                <a:srgbClr val="FFFFFF"/>
              </a:highlight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13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6" name="Shape 7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7" name="Google Shape;737;g3a7c546b70d_0_839"/>
          <p:cNvSpPr txBox="1"/>
          <p:nvPr/>
        </p:nvSpPr>
        <p:spPr>
          <a:xfrm>
            <a:off x="458592" y="317941"/>
            <a:ext cx="11274900" cy="384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500"/>
              <a:buFont typeface="Arial"/>
              <a:buNone/>
            </a:pPr>
            <a:r>
              <a:rPr lang="en-US" sz="2500">
                <a:solidFill>
                  <a:srgbClr val="1155C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Recommandations</a:t>
            </a:r>
            <a:endParaRPr sz="2500">
              <a:solidFill>
                <a:srgbClr val="1155CC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738" name="Google Shape;738;g3a7c546b70d_0_839"/>
          <p:cNvSpPr/>
          <p:nvPr/>
        </p:nvSpPr>
        <p:spPr>
          <a:xfrm>
            <a:off x="0" y="272241"/>
            <a:ext cx="235500" cy="655200"/>
          </a:xfrm>
          <a:prstGeom prst="rect">
            <a:avLst/>
          </a:prstGeom>
          <a:solidFill>
            <a:srgbClr val="1155CC"/>
          </a:solidFill>
          <a:ln>
            <a:noFill/>
          </a:ln>
        </p:spPr>
        <p:txBody>
          <a:bodyPr anchorCtr="0" anchor="ctr" bIns="91400" lIns="91400" spcFirstLastPara="1" rIns="91400" wrap="square" tIns="914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r>
              <a:t/>
            </a:r>
            <a:endParaRPr b="0" i="0" sz="1900" u="none" cap="none" strike="noStrike">
              <a:solidFill>
                <a:srgbClr val="0070C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739" name="Google Shape;739;g3a7c546b70d_0_839"/>
          <p:cNvSpPr txBox="1"/>
          <p:nvPr/>
        </p:nvSpPr>
        <p:spPr>
          <a:xfrm>
            <a:off x="267700" y="6492843"/>
            <a:ext cx="114147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12190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t/>
            </a:r>
            <a:endParaRPr b="1" i="0" sz="1200" u="none" cap="none" strike="noStrike">
              <a:solidFill>
                <a:srgbClr val="1155CC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740" name="Google Shape;740;g3a7c546b70d_0_839"/>
          <p:cNvSpPr txBox="1"/>
          <p:nvPr/>
        </p:nvSpPr>
        <p:spPr>
          <a:xfrm>
            <a:off x="11658600" y="6496067"/>
            <a:ext cx="228300" cy="16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-US" sz="1200" u="none" cap="none" strike="noStrike">
                <a:solidFill>
                  <a:srgbClr val="1155CC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rgbClr val="1155C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741" name="Google Shape;741;g3a7c546b70d_0_839"/>
          <p:cNvCxnSpPr/>
          <p:nvPr/>
        </p:nvCxnSpPr>
        <p:spPr>
          <a:xfrm>
            <a:off x="267700" y="6427967"/>
            <a:ext cx="11640300" cy="0"/>
          </a:xfrm>
          <a:prstGeom prst="straightConnector1">
            <a:avLst/>
          </a:prstGeom>
          <a:noFill/>
          <a:ln cap="flat" cmpd="sng" w="9525">
            <a:solidFill>
              <a:srgbClr val="9E9E9E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742" name="Google Shape;742;g3a7c546b70d_0_839"/>
          <p:cNvSpPr txBox="1"/>
          <p:nvPr/>
        </p:nvSpPr>
        <p:spPr>
          <a:xfrm>
            <a:off x="267700" y="6492843"/>
            <a:ext cx="114147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12190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155CC"/>
              </a:buClr>
              <a:buSzPts val="1200"/>
              <a:buFont typeface="Times New Roman"/>
              <a:buNone/>
            </a:pPr>
            <a:r>
              <a:rPr b="1" i="0" lang="en-US" sz="1200" u="none" cap="none" strike="noStrike">
                <a:solidFill>
                  <a:srgbClr val="1155C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Revue annuelle PEV 2025</a:t>
            </a:r>
            <a:endParaRPr b="1" i="0" sz="1200" u="none" cap="none" strike="noStrike">
              <a:solidFill>
                <a:srgbClr val="1155CC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743" name="Google Shape;743;g3a7c546b70d_0_839"/>
          <p:cNvSpPr txBox="1"/>
          <p:nvPr/>
        </p:nvSpPr>
        <p:spPr>
          <a:xfrm>
            <a:off x="458600" y="1095800"/>
            <a:ext cx="11328900" cy="4568700"/>
          </a:xfrm>
          <a:prstGeom prst="rect">
            <a:avLst/>
          </a:prstGeom>
          <a:noFill/>
          <a:ln>
            <a:noFill/>
          </a:ln>
        </p:spPr>
        <p:txBody>
          <a:bodyPr anchorCtr="0" anchor="t" bIns="121900" lIns="121900" spcFirstLastPara="1" rIns="121900" wrap="square" tIns="121900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1300"/>
              </a:spcBef>
              <a:spcAft>
                <a:spcPts val="0"/>
              </a:spcAft>
              <a:buClr>
                <a:srgbClr val="222222"/>
              </a:buClr>
              <a:buSzPts val="1800"/>
              <a:buFont typeface="Times New Roman"/>
              <a:buChar char="●"/>
            </a:pPr>
            <a:r>
              <a:rPr lang="en-US" sz="1800">
                <a:solidFill>
                  <a:srgbClr val="222222"/>
                </a:solidFill>
                <a:highlight>
                  <a:srgbClr val="FFFFFF"/>
                </a:highlight>
                <a:latin typeface="Times New Roman"/>
                <a:ea typeface="Times New Roman"/>
                <a:cs typeface="Times New Roman"/>
                <a:sym typeface="Times New Roman"/>
              </a:rPr>
              <a:t>Renforcer l’intégration et la planification conjointe des activités connexes</a:t>
            </a:r>
            <a:endParaRPr sz="1800">
              <a:solidFill>
                <a:srgbClr val="222222"/>
              </a:solidFill>
              <a:highlight>
                <a:srgbClr val="FFFFFF"/>
              </a:highlight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1300"/>
              </a:spcBef>
              <a:spcAft>
                <a:spcPts val="0"/>
              </a:spcAft>
              <a:buClr>
                <a:srgbClr val="222222"/>
              </a:buClr>
              <a:buSzPts val="1800"/>
              <a:buFont typeface="Times New Roman"/>
              <a:buChar char="●"/>
            </a:pPr>
            <a:r>
              <a:rPr lang="en-US" sz="1800">
                <a:solidFill>
                  <a:srgbClr val="222222"/>
                </a:solidFill>
                <a:highlight>
                  <a:srgbClr val="FFFFFF"/>
                </a:highlight>
                <a:latin typeface="Times New Roman"/>
                <a:ea typeface="Times New Roman"/>
                <a:cs typeface="Times New Roman"/>
                <a:sym typeface="Times New Roman"/>
              </a:rPr>
              <a:t>Accroître</a:t>
            </a:r>
            <a:r>
              <a:rPr lang="en-US" sz="1800">
                <a:solidFill>
                  <a:srgbClr val="222222"/>
                </a:solidFill>
                <a:highlight>
                  <a:srgbClr val="FFFFFF"/>
                </a:highlight>
                <a:latin typeface="Times New Roman"/>
                <a:ea typeface="Times New Roman"/>
                <a:cs typeface="Times New Roman"/>
                <a:sym typeface="Times New Roman"/>
              </a:rPr>
              <a:t> la redevabilité du niveau </a:t>
            </a:r>
            <a:r>
              <a:rPr lang="en-US" sz="1800">
                <a:solidFill>
                  <a:srgbClr val="222222"/>
                </a:solidFill>
                <a:highlight>
                  <a:srgbClr val="FFFFFF"/>
                </a:highlight>
                <a:latin typeface="Times New Roman"/>
                <a:ea typeface="Times New Roman"/>
                <a:cs typeface="Times New Roman"/>
                <a:sym typeface="Times New Roman"/>
              </a:rPr>
              <a:t>intermédiaire</a:t>
            </a:r>
            <a:r>
              <a:rPr lang="en-US" sz="1800">
                <a:solidFill>
                  <a:srgbClr val="222222"/>
                </a:solidFill>
                <a:highlight>
                  <a:srgbClr val="FFFFFF"/>
                </a:highlight>
                <a:latin typeface="Times New Roman"/>
                <a:ea typeface="Times New Roman"/>
                <a:cs typeface="Times New Roman"/>
                <a:sym typeface="Times New Roman"/>
              </a:rPr>
              <a:t> dans la mise en oeuvre des activités</a:t>
            </a:r>
            <a:endParaRPr sz="1800">
              <a:solidFill>
                <a:srgbClr val="222222"/>
              </a:solidFill>
              <a:highlight>
                <a:srgbClr val="FFFFFF"/>
              </a:highlight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1300"/>
              </a:spcBef>
              <a:spcAft>
                <a:spcPts val="0"/>
              </a:spcAft>
              <a:buClr>
                <a:srgbClr val="222222"/>
              </a:buClr>
              <a:buSzPts val="1800"/>
              <a:buFont typeface="Times New Roman"/>
              <a:buChar char="●"/>
            </a:pPr>
            <a:r>
              <a:rPr lang="en-US" sz="1800">
                <a:solidFill>
                  <a:srgbClr val="222222"/>
                </a:solidFill>
                <a:highlight>
                  <a:srgbClr val="FFFFFF"/>
                </a:highlight>
                <a:latin typeface="Times New Roman"/>
                <a:ea typeface="Times New Roman"/>
                <a:cs typeface="Times New Roman"/>
                <a:sym typeface="Times New Roman"/>
              </a:rPr>
              <a:t>Standardiser les </a:t>
            </a:r>
            <a:r>
              <a:rPr lang="en-US" sz="1800">
                <a:solidFill>
                  <a:srgbClr val="222222"/>
                </a:solidFill>
                <a:highlight>
                  <a:srgbClr val="FFFFFF"/>
                </a:highlight>
                <a:latin typeface="Times New Roman"/>
                <a:ea typeface="Times New Roman"/>
                <a:cs typeface="Times New Roman"/>
                <a:sym typeface="Times New Roman"/>
              </a:rPr>
              <a:t>échéances</a:t>
            </a:r>
            <a:r>
              <a:rPr lang="en-US" sz="1800">
                <a:solidFill>
                  <a:srgbClr val="222222"/>
                </a:solidFill>
                <a:highlight>
                  <a:srgbClr val="FFFFFF"/>
                </a:highlight>
                <a:latin typeface="Times New Roman"/>
                <a:ea typeface="Times New Roman"/>
                <a:cs typeface="Times New Roman"/>
                <a:sym typeface="Times New Roman"/>
              </a:rPr>
              <a:t> de traitement des </a:t>
            </a:r>
            <a:r>
              <a:rPr lang="en-US" sz="1800">
                <a:solidFill>
                  <a:srgbClr val="222222"/>
                </a:solidFill>
                <a:highlight>
                  <a:srgbClr val="FFFFFF"/>
                </a:highlight>
                <a:latin typeface="Times New Roman"/>
                <a:ea typeface="Times New Roman"/>
                <a:cs typeface="Times New Roman"/>
                <a:sym typeface="Times New Roman"/>
              </a:rPr>
              <a:t>requêtes</a:t>
            </a:r>
            <a:r>
              <a:rPr lang="en-US" sz="1800">
                <a:solidFill>
                  <a:srgbClr val="222222"/>
                </a:solidFill>
                <a:highlight>
                  <a:srgbClr val="FFFFFF"/>
                </a:highlight>
                <a:latin typeface="Times New Roman"/>
                <a:ea typeface="Times New Roman"/>
                <a:cs typeface="Times New Roman"/>
                <a:sym typeface="Times New Roman"/>
              </a:rPr>
              <a:t> et fiches techniques afin de faciliter le </a:t>
            </a:r>
            <a:r>
              <a:rPr lang="en-US" sz="1800">
                <a:solidFill>
                  <a:srgbClr val="222222"/>
                </a:solidFill>
                <a:highlight>
                  <a:srgbClr val="FFFFFF"/>
                </a:highlight>
                <a:latin typeface="Times New Roman"/>
                <a:ea typeface="Times New Roman"/>
                <a:cs typeface="Times New Roman"/>
                <a:sym typeface="Times New Roman"/>
              </a:rPr>
              <a:t>décaissement</a:t>
            </a:r>
            <a:endParaRPr sz="1800">
              <a:solidFill>
                <a:srgbClr val="222222"/>
              </a:solidFill>
              <a:highlight>
                <a:srgbClr val="FFFFFF"/>
              </a:highlight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130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rgbClr val="222222"/>
              </a:solidFill>
              <a:highlight>
                <a:srgbClr val="FFFFFF"/>
              </a:highlight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130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rgbClr val="222222"/>
              </a:solidFill>
              <a:highlight>
                <a:srgbClr val="FFFFFF"/>
              </a:highlight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130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222222"/>
              </a:solidFill>
              <a:highlight>
                <a:srgbClr val="FFFFFF"/>
              </a:highlight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13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7" name="Shape 7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8" name="Google Shape;748;g3a7c546b70d_0_852"/>
          <p:cNvSpPr txBox="1"/>
          <p:nvPr/>
        </p:nvSpPr>
        <p:spPr>
          <a:xfrm>
            <a:off x="733100" y="1202135"/>
            <a:ext cx="10707600" cy="357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300"/>
              <a:buFont typeface="Arial"/>
              <a:buNone/>
            </a:pPr>
            <a:r>
              <a:rPr b="1" i="0" lang="en-US" sz="5300" u="none" cap="none" strike="noStrike">
                <a:solidFill>
                  <a:srgbClr val="0070C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Merci</a:t>
            </a:r>
            <a:endParaRPr b="1" i="0" sz="5300" u="none" cap="none" strike="noStrike">
              <a:solidFill>
                <a:srgbClr val="0070C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749" name="Google Shape;749;g3a7c546b70d_0_852"/>
          <p:cNvSpPr/>
          <p:nvPr/>
        </p:nvSpPr>
        <p:spPr>
          <a:xfrm>
            <a:off x="1588" y="2654952"/>
            <a:ext cx="4500900" cy="6549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txBody>
          <a:bodyPr anchorCtr="0" anchor="ctr" bIns="91400" lIns="91400" spcFirstLastPara="1" rIns="91400" wrap="square" tIns="914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t/>
            </a:r>
            <a:endParaRPr b="0" i="0" sz="1500" u="none" cap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750" name="Google Shape;750;g3a7c546b70d_0_852"/>
          <p:cNvSpPr/>
          <p:nvPr/>
        </p:nvSpPr>
        <p:spPr>
          <a:xfrm>
            <a:off x="7689667" y="2654952"/>
            <a:ext cx="4501500" cy="6549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txBody>
          <a:bodyPr anchorCtr="0" anchor="ctr" bIns="91400" lIns="91400" spcFirstLastPara="1" rIns="91400" wrap="square" tIns="914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t/>
            </a:r>
            <a:endParaRPr b="0" i="0" sz="1500" u="none" cap="none" strike="noStrike">
              <a:solidFill>
                <a:srgbClr val="2F07D7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主题​​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2025-07-23T00:59:00Z</dcterms:created>
  <dc:creator>lenovo</dc:creator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3084-12.2.0.23131</vt:lpwstr>
  </property>
  <property fmtid="{D5CDD505-2E9C-101B-9397-08002B2CF9AE}" pid="3" name="ICV">
    <vt:lpwstr>864046617A2A49699922BB4C2C890CB9_13</vt:lpwstr>
  </property>
</Properties>
</file>