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8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32"/>
  </p:notesMasterIdLst>
  <p:handoutMasterIdLst>
    <p:handoutMasterId r:id="rId33"/>
  </p:handoutMasterIdLst>
  <p:sldIdLst>
    <p:sldId id="258" r:id="rId3"/>
    <p:sldId id="273" r:id="rId4"/>
    <p:sldId id="264" r:id="rId5"/>
    <p:sldId id="265" r:id="rId6"/>
    <p:sldId id="287" r:id="rId7"/>
    <p:sldId id="288" r:id="rId8"/>
    <p:sldId id="289" r:id="rId9"/>
    <p:sldId id="290" r:id="rId10"/>
    <p:sldId id="291" r:id="rId11"/>
    <p:sldId id="292" r:id="rId12"/>
    <p:sldId id="280" r:id="rId13"/>
    <p:sldId id="285" r:id="rId14"/>
    <p:sldId id="266" r:id="rId15"/>
    <p:sldId id="281" r:id="rId16"/>
    <p:sldId id="282" r:id="rId17"/>
    <p:sldId id="294" r:id="rId18"/>
    <p:sldId id="293" r:id="rId19"/>
    <p:sldId id="275" r:id="rId20"/>
    <p:sldId id="295" r:id="rId21"/>
    <p:sldId id="274" r:id="rId22"/>
    <p:sldId id="283" r:id="rId23"/>
    <p:sldId id="286" r:id="rId24"/>
    <p:sldId id="276" r:id="rId25"/>
    <p:sldId id="277" r:id="rId26"/>
    <p:sldId id="278" r:id="rId27"/>
    <p:sldId id="279" r:id="rId28"/>
    <p:sldId id="298" r:id="rId29"/>
    <p:sldId id="296" r:id="rId30"/>
    <p:sldId id="297" r:id="rId3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na Seminara" initials="NS" lastIdx="0" clrIdx="0"/>
  <p:cmAuthor id="2" name="Ashley Hartz" initials="AH" lastIdx="0" clrIdx="1"/>
  <p:cmAuthor id="3" name="Samera Zaidi" initials="SZ" lastIdx="0" clrIdx="2"/>
  <p:cmAuthor id="4" name="Kaitlin Love" initials="KL" lastIdx="0" clrIdx="3"/>
  <p:cmAuthor id="5" name="Jordan Freeman" initials="JF" lastIdx="0" clrIdx="4"/>
  <p:cmAuthor id="6" name="Leila Scott" initials="LS" lastIdx="0" clrIdx="5"/>
  <p:cmAuthor id="7" name="Mona Korsgard" initials="MK" lastIdx="0" clrIdx="6"/>
  <p:cmAuthor id="8" name="Emma Vincent" initials="EV" lastIdx="0" clrIdx="7"/>
  <p:cmAuthor id="9" name="Juan Andres Gil" initials="JAG" lastIdx="0" clrIdx="8"/>
  <p:cmAuthor id="10" name="Catherine Muller" initials="CM" lastIdx="0" clrIdx="9"/>
  <p:cmAuthor id="11" name="Cairn Verhulst" initials="CV" lastIdx="0" clrIdx="10"/>
  <p:cmAuthor id="12" name="Daniel Murphy" initials="DM" lastIdx="0" clrIdx="11"/>
  <p:cmAuthor id="13" name="Megan Bellinger" initials="MB" lastIdx="0" clrIdx="12"/>
  <p:cmAuthor id="14" name="Massimiliano Sani" initials="MS" lastIdx="0" clrIdx="13"/>
  <p:cmAuthor id="15" name="Jeremiah Chinodya" initials="JC" lastIdx="0" clrIdx="14"/>
  <p:cmAuthor id="16" name="Loveness Chimombe" initials="LC" lastIdx="0" clrIdx="15"/>
  <p:cmAuthor id="17" name="Hollis Henry" initials="HH" lastIdx="0" clrIdx="16"/>
  <p:cmAuthor id="18" name="UNICEF ESARO" initials="UNICEF" lastIdx="0" clrIdx="17"/>
  <p:cmAuthor id="19" name="Sanya Batra" initials="SB" lastIdx="0" clrIdx="18"/>
  <p:cmAuthor id="20" name="Marika Klein" initials="MK" lastIdx="0" clrIdx="19"/>
  <p:cmAuthor id="21" name="Seth Messinger" initials="SM" lastIdx="0" clrIdx="20"/>
  <p:cmAuthor id="22" name="Sandra Sonia Dupuy" initials="SSD" lastIdx="0" clrIdx="21"/>
  <p:cmAuthor id="23" name="User" initials="U" lastIdx="1" clrIdx="22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202020"/>
    <a:srgbClr val="FF3300"/>
    <a:srgbClr val="FF8D41"/>
    <a:srgbClr val="B2B2B2"/>
    <a:srgbClr val="323232"/>
    <a:srgbClr val="CC3300"/>
    <a:srgbClr val="CC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68" y="44"/>
      </p:cViewPr>
      <p:guideLst>
        <p:guide orient="horz" pos="2148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338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500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864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730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724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489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200" lvl="1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6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2400">
                <a:solidFill>
                  <a:schemeClr val="dk2"/>
                </a:solidFill>
              </a:defRPr>
            </a:lvl1pPr>
            <a:lvl2pPr marL="1219200" lvl="1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828800" lvl="2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2438400" lvl="3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3048000" lvl="4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3657600" lvl="5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4267200" lvl="6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4876800" lvl="7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5486400" lvl="8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5">
                <a:solidFill>
                  <a:schemeClr val="dk2"/>
                </a:solidFill>
              </a:defRPr>
            </a:lvl1pPr>
            <a:lvl2pPr lvl="1" algn="r">
              <a:buNone/>
              <a:defRPr sz="1335">
                <a:solidFill>
                  <a:schemeClr val="dk2"/>
                </a:solidFill>
              </a:defRPr>
            </a:lvl2pPr>
            <a:lvl3pPr lvl="2" algn="r">
              <a:buNone/>
              <a:defRPr sz="1335">
                <a:solidFill>
                  <a:schemeClr val="dk2"/>
                </a:solidFill>
              </a:defRPr>
            </a:lvl3pPr>
            <a:lvl4pPr lvl="3" algn="r">
              <a:buNone/>
              <a:defRPr sz="1335">
                <a:solidFill>
                  <a:schemeClr val="dk2"/>
                </a:solidFill>
              </a:defRPr>
            </a:lvl4pPr>
            <a:lvl5pPr lvl="4" algn="r">
              <a:buNone/>
              <a:defRPr sz="1335">
                <a:solidFill>
                  <a:schemeClr val="dk2"/>
                </a:solidFill>
              </a:defRPr>
            </a:lvl5pPr>
            <a:lvl6pPr lvl="5" algn="r">
              <a:buNone/>
              <a:defRPr sz="1335">
                <a:solidFill>
                  <a:schemeClr val="dk2"/>
                </a:solidFill>
              </a:defRPr>
            </a:lvl6pPr>
            <a:lvl7pPr lvl="6" algn="r">
              <a:buNone/>
              <a:defRPr sz="1335">
                <a:solidFill>
                  <a:schemeClr val="dk2"/>
                </a:solidFill>
              </a:defRPr>
            </a:lvl7pPr>
            <a:lvl8pPr lvl="7" algn="r">
              <a:buNone/>
              <a:defRPr sz="1335">
                <a:solidFill>
                  <a:schemeClr val="dk2"/>
                </a:solidFill>
              </a:defRPr>
            </a:lvl8pPr>
            <a:lvl9pPr lvl="8" algn="r">
              <a:buNone/>
              <a:defRPr sz="13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1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4719955" y="153797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2025 DU PEV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4000" i="0" u="none" strike="noStrike" cap="none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169;p1"/>
          <p:cNvSpPr txBox="1"/>
          <p:nvPr/>
        </p:nvSpPr>
        <p:spPr>
          <a:xfrm>
            <a:off x="4719955" y="3383915"/>
            <a:ext cx="7215505" cy="63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8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Groupe surveillance</a:t>
            </a:r>
            <a:r>
              <a:rPr lang="fr-FR" sz="32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endParaRPr sz="2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465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2000" b="1" i="1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169;p1"/>
          <p:cNvSpPr txBox="1"/>
          <p:nvPr/>
        </p:nvSpPr>
        <p:spPr>
          <a:xfrm>
            <a:off x="4812666" y="4561840"/>
            <a:ext cx="6603480" cy="63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2800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r>
              <a:rPr lang="fr-FR" sz="32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465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2000" b="1" i="1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" name="Google Shape;168;p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360198" y="1295465"/>
            <a:ext cx="4156382" cy="337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2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0" y="1652270"/>
            <a:ext cx="22167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48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PLAN</a:t>
            </a:r>
          </a:p>
        </p:txBody>
      </p:sp>
      <p:grpSp>
        <p:nvGrpSpPr>
          <p:cNvPr id="17" name="Grouper 16"/>
          <p:cNvGrpSpPr/>
          <p:nvPr>
            <p:custDataLst>
              <p:tags r:id="rId1"/>
            </p:custDataLst>
          </p:nvPr>
        </p:nvGrpSpPr>
        <p:grpSpPr>
          <a:xfrm>
            <a:off x="4811395" y="704215"/>
            <a:ext cx="6224905" cy="5847080"/>
            <a:chOff x="7577" y="1109"/>
            <a:chExt cx="9803" cy="9208"/>
          </a:xfrm>
        </p:grpSpPr>
        <p:sp>
          <p:nvSpPr>
            <p:cNvPr id="5" name="序号"/>
            <p:cNvSpPr txBox="1"/>
            <p:nvPr>
              <p:custDataLst>
                <p:tags r:id="rId2"/>
              </p:custDataLst>
            </p:nvPr>
          </p:nvSpPr>
          <p:spPr>
            <a:xfrm>
              <a:off x="7577" y="1357"/>
              <a:ext cx="1787" cy="138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01</a:t>
              </a:r>
            </a:p>
          </p:txBody>
        </p:sp>
        <p:sp>
          <p:nvSpPr>
            <p:cNvPr id="6" name="项标题"/>
            <p:cNvSpPr txBox="1"/>
            <p:nvPr>
              <p:custDataLst>
                <p:tags r:id="rId3"/>
              </p:custDataLst>
            </p:nvPr>
          </p:nvSpPr>
          <p:spPr>
            <a:xfrm>
              <a:off x="10752" y="1109"/>
              <a:ext cx="6628" cy="16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Rappel des objectifs</a:t>
              </a:r>
            </a:p>
          </p:txBody>
        </p:sp>
        <p:sp>
          <p:nvSpPr>
            <p:cNvPr id="7" name="序号"/>
            <p:cNvSpPr txBox="1"/>
            <p:nvPr>
              <p:custDataLst>
                <p:tags r:id="rId4"/>
              </p:custDataLst>
            </p:nvPr>
          </p:nvSpPr>
          <p:spPr>
            <a:xfrm>
              <a:off x="7577" y="2715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02</a:t>
              </a:r>
            </a:p>
          </p:txBody>
        </p:sp>
        <p:sp>
          <p:nvSpPr>
            <p:cNvPr id="8" name="项标题"/>
            <p:cNvSpPr txBox="1"/>
            <p:nvPr>
              <p:custDataLst>
                <p:tags r:id="rId5"/>
              </p:custDataLst>
            </p:nvPr>
          </p:nvSpPr>
          <p:spPr>
            <a:xfrm>
              <a:off x="10752" y="2467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Surveillance rougeole/PFA/FJ/TNN</a:t>
              </a:r>
            </a:p>
          </p:txBody>
        </p:sp>
        <p:sp>
          <p:nvSpPr>
            <p:cNvPr id="9" name="序号"/>
            <p:cNvSpPr txBox="1"/>
            <p:nvPr>
              <p:custDataLst>
                <p:tags r:id="rId6"/>
              </p:custDataLst>
            </p:nvPr>
          </p:nvSpPr>
          <p:spPr>
            <a:xfrm>
              <a:off x="7577" y="3909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</a:t>
              </a:r>
              <a:r>
                <a:rPr lang="fr-FR" alt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3</a:t>
              </a:r>
            </a:p>
          </p:txBody>
        </p:sp>
        <p:sp>
          <p:nvSpPr>
            <p:cNvPr id="10" name="项标题"/>
            <p:cNvSpPr txBox="1"/>
            <p:nvPr>
              <p:custDataLst>
                <p:tags r:id="rId7"/>
              </p:custDataLst>
            </p:nvPr>
          </p:nvSpPr>
          <p:spPr>
            <a:xfrm>
              <a:off x="10752" y="3661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Surveillance Sentinelle </a:t>
              </a:r>
            </a:p>
          </p:txBody>
        </p:sp>
        <p:sp>
          <p:nvSpPr>
            <p:cNvPr id="11" name="序号"/>
            <p:cNvSpPr txBox="1"/>
            <p:nvPr>
              <p:custDataLst>
                <p:tags r:id="rId8"/>
              </p:custDataLst>
            </p:nvPr>
          </p:nvSpPr>
          <p:spPr>
            <a:xfrm>
              <a:off x="7577" y="5218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</a:t>
              </a:r>
              <a:r>
                <a:rPr lang="fr-FR" alt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4</a:t>
              </a:r>
            </a:p>
          </p:txBody>
        </p:sp>
        <p:sp>
          <p:nvSpPr>
            <p:cNvPr id="12" name="项标题"/>
            <p:cNvSpPr txBox="1"/>
            <p:nvPr>
              <p:custDataLst>
                <p:tags r:id="rId9"/>
              </p:custDataLst>
            </p:nvPr>
          </p:nvSpPr>
          <p:spPr>
            <a:xfrm>
              <a:off x="10752" y="4970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Analyse FFOM</a:t>
              </a:r>
            </a:p>
          </p:txBody>
        </p:sp>
        <p:sp>
          <p:nvSpPr>
            <p:cNvPr id="13" name="序号"/>
            <p:cNvSpPr txBox="1"/>
            <p:nvPr>
              <p:custDataLst>
                <p:tags r:id="rId10"/>
              </p:custDataLst>
            </p:nvPr>
          </p:nvSpPr>
          <p:spPr>
            <a:xfrm>
              <a:off x="7577" y="6324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</a:t>
              </a:r>
              <a:r>
                <a:rPr lang="fr-FR" alt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5</a:t>
              </a:r>
            </a:p>
          </p:txBody>
        </p:sp>
        <p:sp>
          <p:nvSpPr>
            <p:cNvPr id="14" name="项标题"/>
            <p:cNvSpPr txBox="1"/>
            <p:nvPr>
              <p:custDataLst>
                <p:tags r:id="rId11"/>
              </p:custDataLst>
            </p:nvPr>
          </p:nvSpPr>
          <p:spPr>
            <a:xfrm>
              <a:off x="10752" y="6166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Problèmes /Défis</a:t>
              </a:r>
            </a:p>
          </p:txBody>
        </p:sp>
        <p:sp>
          <p:nvSpPr>
            <p:cNvPr id="15" name="序号"/>
            <p:cNvSpPr txBox="1"/>
            <p:nvPr>
              <p:custDataLst>
                <p:tags r:id="rId12"/>
              </p:custDataLst>
            </p:nvPr>
          </p:nvSpPr>
          <p:spPr>
            <a:xfrm>
              <a:off x="7577" y="7623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</a:t>
              </a:r>
              <a:r>
                <a:rPr lang="fr-FR" alt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6</a:t>
              </a:r>
            </a:p>
          </p:txBody>
        </p:sp>
        <p:sp>
          <p:nvSpPr>
            <p:cNvPr id="16" name="项标题"/>
            <p:cNvSpPr txBox="1"/>
            <p:nvPr>
              <p:custDataLst>
                <p:tags r:id="rId13"/>
              </p:custDataLst>
            </p:nvPr>
          </p:nvSpPr>
          <p:spPr>
            <a:xfrm>
              <a:off x="10752" y="7495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 fontScale="97500"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Piste de solution/Recommandations</a:t>
              </a:r>
            </a:p>
          </p:txBody>
        </p:sp>
        <p:sp>
          <p:nvSpPr>
            <p:cNvPr id="18" name="序号"/>
            <p:cNvSpPr txBox="1"/>
            <p:nvPr>
              <p:custDataLst>
                <p:tags r:id="rId14"/>
              </p:custDataLst>
            </p:nvPr>
          </p:nvSpPr>
          <p:spPr>
            <a:xfrm>
              <a:off x="7577" y="8977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0</a:t>
              </a:r>
              <a:r>
                <a:rPr lang="fr-FR" altLang="en-US" sz="4400" b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7</a:t>
              </a:r>
            </a:p>
          </p:txBody>
        </p:sp>
        <p:sp>
          <p:nvSpPr>
            <p:cNvPr id="19" name="项标题"/>
            <p:cNvSpPr txBox="1"/>
            <p:nvPr>
              <p:custDataLst>
                <p:tags r:id="rId15"/>
              </p:custDataLst>
            </p:nvPr>
          </p:nvSpPr>
          <p:spPr>
            <a:xfrm>
              <a:off x="10752" y="8909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cs typeface="+mj-lt"/>
                </a:rPr>
                <a:t>Actions prioritaires 2025</a:t>
              </a:r>
            </a:p>
          </p:txBody>
        </p:sp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700" y="1058423"/>
            <a:ext cx="4355584" cy="35689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230255" y="114747"/>
            <a:ext cx="3620666" cy="73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OBJECTIFS </a:t>
            </a:r>
            <a:endParaRPr lang="fr-FR" altLang="en-GB" sz="32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grpSp>
        <p:nvGrpSpPr>
          <p:cNvPr id="6" name="Grouper 5"/>
          <p:cNvGrpSpPr/>
          <p:nvPr/>
        </p:nvGrpSpPr>
        <p:grpSpPr>
          <a:xfrm>
            <a:off x="526077" y="1377545"/>
            <a:ext cx="3601461" cy="4944190"/>
            <a:chOff x="727" y="2887"/>
            <a:chExt cx="4426" cy="4335"/>
          </a:xfrm>
        </p:grpSpPr>
        <p:sp>
          <p:nvSpPr>
            <p:cNvPr id="239" name="Google Shape;239;p17"/>
            <p:cNvSpPr/>
            <p:nvPr/>
          </p:nvSpPr>
          <p:spPr>
            <a:xfrm>
              <a:off x="881" y="2887"/>
              <a:ext cx="4122" cy="3003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514350" indent="-514350">
                <a:buFont typeface="+mj-lt"/>
                <a:buAutoNum type="arabicPeriod"/>
              </a:pPr>
              <a:r>
                <a:rPr lang="fr-CH" sz="1600" dirty="0"/>
                <a:t>Maintenir le statut de pays libre de circulation de polio virus;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fr-CH" sz="1600" dirty="0"/>
                <a:t>Maintenir le statut de pays ayant éliminé le TNN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fr-CH" sz="1600" dirty="0"/>
                <a:t>Eliminer la </a:t>
              </a:r>
              <a:r>
                <a:rPr lang="fr-CH" sz="1600" dirty="0" smtClean="0"/>
                <a:t>rougeole, la rubéole </a:t>
              </a:r>
              <a:r>
                <a:rPr lang="fr-CH" sz="1600" dirty="0"/>
                <a:t>et les </a:t>
              </a:r>
              <a:r>
                <a:rPr lang="fr-CH" sz="1600" dirty="0" smtClean="0"/>
                <a:t>épidémies </a:t>
              </a:r>
              <a:r>
                <a:rPr lang="fr-CH" sz="1600" dirty="0"/>
                <a:t>de fièvre </a:t>
              </a:r>
              <a:r>
                <a:rPr lang="fr-CH" sz="1600" dirty="0" smtClean="0"/>
                <a:t>jaune à l’horizon 2030</a:t>
              </a:r>
              <a:endParaRPr lang="fr-CH" sz="1600" dirty="0"/>
            </a:p>
            <a:p>
              <a:pPr marL="514350" indent="-514350">
                <a:buFont typeface="+mj-lt"/>
                <a:buAutoNum type="arabicPeriod"/>
              </a:pPr>
              <a:r>
                <a:rPr lang="fr-CH" sz="1600" dirty="0"/>
                <a:t>Renforcer la surveillance  de MAPI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fr-CH" sz="1600" dirty="0"/>
                <a:t>Renforcer la surveillance en site sentinelle de MBP , ROTA, IIA, SRC</a:t>
              </a: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727" y="2894"/>
              <a:ext cx="4426" cy="4328"/>
            </a:xfrm>
            <a:prstGeom prst="rect">
              <a:avLst/>
            </a:prstGeom>
            <a:noFill/>
            <a:ln w="19050" cap="flat" cmpd="sng">
              <a:noFill/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7"/>
          <p:cNvSpPr/>
          <p:nvPr/>
        </p:nvSpPr>
        <p:spPr>
          <a:xfrm>
            <a:off x="4330472" y="1385141"/>
            <a:ext cx="3200259" cy="3209368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sz="1600" dirty="0"/>
              <a:t>Maintenir le statut de pays libre de circulation de polio virus;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1600" dirty="0"/>
              <a:t>Maintenir le statut de pays ayant éliminé le TNN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1600" dirty="0"/>
              <a:t>Eliminer la </a:t>
            </a:r>
            <a:r>
              <a:rPr lang="fr-CH" sz="1600" dirty="0" smtClean="0"/>
              <a:t>rougeole, la </a:t>
            </a:r>
            <a:r>
              <a:rPr lang="fr-CH" sz="1600" dirty="0" err="1" smtClean="0"/>
              <a:t>rubeole</a:t>
            </a:r>
            <a:r>
              <a:rPr lang="fr-CH" sz="1600" dirty="0" smtClean="0"/>
              <a:t> </a:t>
            </a:r>
            <a:r>
              <a:rPr lang="fr-CH" sz="1600" dirty="0"/>
              <a:t>et les </a:t>
            </a:r>
            <a:r>
              <a:rPr lang="fr-CH" sz="1600" dirty="0" smtClean="0"/>
              <a:t>épidémies </a:t>
            </a:r>
            <a:r>
              <a:rPr lang="fr-CH" sz="1600" dirty="0"/>
              <a:t>de fièvre jaune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1600" dirty="0"/>
              <a:t>Renforcer la surveillance  de MAPI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1600" dirty="0"/>
              <a:t>Renforcer la surveillance en site sentinelle de MBP , ROTA, IIA, SRC</a:t>
            </a:r>
          </a:p>
        </p:txBody>
      </p:sp>
      <p:grpSp>
        <p:nvGrpSpPr>
          <p:cNvPr id="5" name="Grouper 4"/>
          <p:cNvGrpSpPr/>
          <p:nvPr/>
        </p:nvGrpSpPr>
        <p:grpSpPr>
          <a:xfrm>
            <a:off x="7733665" y="1414804"/>
            <a:ext cx="4245610" cy="5443327"/>
            <a:chOff x="12179" y="3059"/>
            <a:chExt cx="6686" cy="7710"/>
          </a:xfrm>
        </p:grpSpPr>
        <p:sp>
          <p:nvSpPr>
            <p:cNvPr id="225" name="Google Shape;225;p16"/>
            <p:cNvSpPr txBox="1"/>
            <p:nvPr/>
          </p:nvSpPr>
          <p:spPr>
            <a:xfrm>
              <a:off x="18360" y="10230"/>
              <a:ext cx="360" cy="2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-GB" sz="1200">
                  <a:solidFill>
                    <a:srgbClr val="1155CC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3</a:t>
              </a:fld>
              <a:endParaRPr sz="1200">
                <a:solidFill>
                  <a:srgbClr val="1155CC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  <p:sp>
          <p:nvSpPr>
            <p:cNvPr id="3" name="Google Shape;236;p17"/>
            <p:cNvSpPr/>
            <p:nvPr/>
          </p:nvSpPr>
          <p:spPr>
            <a:xfrm>
              <a:off x="12179" y="3059"/>
              <a:ext cx="6686" cy="771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endParaRPr lang="fr-FR" sz="1400" dirty="0" smtClean="0"/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endParaRPr lang="fr-FR" sz="1400" dirty="0"/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FR" sz="1600" dirty="0" smtClean="0"/>
                <a:t>Taux </a:t>
              </a:r>
              <a:r>
                <a:rPr lang="fr-FR" sz="1600" dirty="0"/>
                <a:t>de PFA NP ≥ 3 pour 100 000 enfants de moins de 15 ans </a:t>
              </a:r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FR" sz="1600" dirty="0"/>
                <a:t>Taux d’adéquation des échantillons des selles ≥ 80%</a:t>
              </a:r>
              <a:r>
                <a:rPr lang="fr-FR" sz="1600" dirty="0">
                  <a:solidFill>
                    <a:schemeClr val="dk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 dans toutes les provinces</a:t>
              </a:r>
            </a:p>
            <a:p>
              <a:pPr marL="51435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CH" sz="1600" dirty="0"/>
                <a:t>les investigations dans les 72H et ripostes </a:t>
              </a:r>
              <a:r>
                <a:rPr lang="fr-CH" sz="1600" dirty="0" smtClean="0"/>
                <a:t>aux flambées épidémiques </a:t>
              </a:r>
              <a:r>
                <a:rPr lang="fr-CH" sz="1600" dirty="0"/>
                <a:t>de </a:t>
              </a:r>
              <a:r>
                <a:rPr lang="fr-CH" sz="1600" dirty="0" smtClean="0"/>
                <a:t>rougeole-rubéole et de FJ</a:t>
              </a:r>
              <a:r>
                <a:rPr lang="fr-CH" sz="1600" dirty="0"/>
                <a:t> ( 80%),</a:t>
              </a:r>
              <a:endParaRPr lang="fr-FR" sz="16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CH" sz="1600" dirty="0"/>
                <a:t>les investigation et riposte autour des cas de TNN ( 80%),</a:t>
              </a:r>
            </a:p>
            <a:p>
              <a:pPr marL="51435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CH" sz="1600" dirty="0"/>
                <a:t>les indicateurs de la surveillance sentinelle du </a:t>
              </a:r>
              <a:r>
                <a:rPr lang="fr-CH" sz="1600" dirty="0" err="1"/>
                <a:t>Rotavirus</a:t>
              </a:r>
              <a:r>
                <a:rPr lang="fr-CH" sz="1600" dirty="0"/>
                <a:t>, des MBP et de la SRC (80% pour tous les indicateurs);</a:t>
              </a:r>
            </a:p>
            <a:p>
              <a:pPr marL="51435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CH" sz="1600" dirty="0" smtClean="0"/>
                <a:t>Investigation </a:t>
              </a:r>
              <a:r>
                <a:rPr lang="fr-CH" sz="1600" dirty="0"/>
                <a:t>autour des MAPI Graves notifiés(100</a:t>
              </a:r>
              <a:r>
                <a:rPr lang="fr-CH" sz="1600" dirty="0" smtClean="0"/>
                <a:t>%)</a:t>
              </a:r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fr-CH" sz="1600" dirty="0" smtClean="0"/>
                <a:t>Classification des cas de MAPI graves</a:t>
              </a:r>
              <a:r>
                <a:rPr lang="fr-CH" sz="1600" dirty="0"/>
                <a:t> (</a:t>
              </a:r>
              <a:r>
                <a:rPr lang="fr-CH" sz="1600" dirty="0" smtClean="0"/>
                <a:t>100%)</a:t>
              </a:r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endParaRPr lang="fr-CH" sz="1400" dirty="0"/>
            </a:p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endParaRPr lang="fr-CH" sz="1400" dirty="0"/>
            </a:p>
            <a:p>
              <a:pPr marL="514350" lvl="0" indent="-514350" algn="just"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endParaRPr sz="1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7" name="Google Shape;235;p17"/>
          <p:cNvSpPr/>
          <p:nvPr/>
        </p:nvSpPr>
        <p:spPr>
          <a:xfrm>
            <a:off x="8464550" y="582081"/>
            <a:ext cx="3089910" cy="51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 2025</a:t>
            </a:r>
          </a:p>
        </p:txBody>
      </p:sp>
      <p:sp>
        <p:nvSpPr>
          <p:cNvPr id="18" name="Google Shape;237;p17"/>
          <p:cNvSpPr/>
          <p:nvPr/>
        </p:nvSpPr>
        <p:spPr>
          <a:xfrm>
            <a:off x="623164" y="701757"/>
            <a:ext cx="3311529" cy="49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SNV</a:t>
            </a:r>
            <a:endParaRPr lang="fr-FR"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" name="Google Shape;235;p17"/>
          <p:cNvSpPr/>
          <p:nvPr/>
        </p:nvSpPr>
        <p:spPr>
          <a:xfrm>
            <a:off x="4495862" y="503280"/>
            <a:ext cx="3170328" cy="68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4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PAO</a:t>
            </a:r>
            <a:endParaRPr lang="fr-FR" altLang="en-GB"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4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RESULTATS </a:t>
            </a:r>
            <a:endParaRPr lang="fr-FR" altLang="en-GB" sz="4000" b="1" i="0" u="none" strike="noStrike" cap="none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9204" y="1095366"/>
            <a:ext cx="4523624" cy="3706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5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smtClean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RESULTATS PROCESSUS </a:t>
            </a:r>
            <a:endParaRPr lang="fr-FR" altLang="en-GB" sz="4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6911" y="374927"/>
            <a:ext cx="4523624" cy="3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1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 bwMode="auto">
          <a:xfrm>
            <a:off x="0" y="145334"/>
            <a:ext cx="1206269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fr-FR" sz="32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Mise  en œuvre des activités de PAO(1/4)</a:t>
            </a:r>
            <a:endParaRPr lang="fr-FR" sz="32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3" name="Espace réservé du contenu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446361"/>
              </p:ext>
            </p:extLst>
          </p:nvPr>
        </p:nvGraphicFramePr>
        <p:xfrm>
          <a:off x="62145" y="671875"/>
          <a:ext cx="11871237" cy="6135244"/>
        </p:xfrm>
        <a:graphic>
          <a:graphicData uri="http://schemas.openxmlformats.org/drawingml/2006/table">
            <a:tbl>
              <a:tblPr/>
              <a:tblGrid>
                <a:gridCol w="384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1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019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8505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Activités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NIVEAU DE REALISATION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RESULTATS</a:t>
                      </a:r>
                      <a:r>
                        <a:rPr lang="fr-FR" sz="14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OBTENUS</a:t>
                      </a:r>
                      <a:endParaRPr lang="fr-FR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51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Organiser les réunions de la commission surveillance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 de réunions tenues / planifiées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6/12</a:t>
                      </a:r>
                      <a:endParaRPr lang="fr-FR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réunions</a:t>
                      </a:r>
                      <a:r>
                        <a:rPr lang="fr-FR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ont été tenues avec comptes rendus disponibles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Relance tardif des activités 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Chevauchement des activités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Intégrer </a:t>
                      </a: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 réunions de la commission surveillance à d’autres réunions de surveillance impliquant  toutes les parties prenantes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5420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Organiser les réunions mensuelles de coordination des activités de  laboratoire entre INRB, PEV et partenaires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 de réunions tenues / planifiées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8/12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réunions de coordination, ont été tenues avec comptes rendus pour analyser les données de la surveillance au cas par cas des MPV et autres MPE (</a:t>
                      </a:r>
                      <a:r>
                        <a:rPr lang="fr-FR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Mpox</a:t>
                      </a: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soit un taux de réalisation de </a:t>
                      </a: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58,3% </a:t>
                      </a: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(comptes rendus disponibles et partagés)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 </a:t>
                      </a: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autres réunions n’ont pas été tenues du fait de conflit </a:t>
                      </a: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d’agenda</a:t>
                      </a:r>
                    </a:p>
                    <a:p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58007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Organiser l’atelier de rédaction de la documentation sur l'avancement vers l'élimination de la rougeole et de la rubéole, 2024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Disponibilité du document de mise à jour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Fonds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n’ont pas été rendu disponibles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documentation sera faite pour 2 années </a:t>
                      </a:r>
                      <a:r>
                        <a:rPr lang="fr-FR" sz="14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successisves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8007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Organiser l’atelier de rédaction de la documentation des mises à jour annuelle polio, 2024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Disponibilité du document de mise à jour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Réalisée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 manuel  de mise à jour annuelle de 2024 a été rédigé par les comités nationaux de certification de la poliomyélite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 manuel a été transmis à la  commission régionale de certification pour l’Afrique avec tous les annexes le 30 avril 2024 </a:t>
                      </a:r>
                      <a:endParaRPr lang="fr-FR" sz="1400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22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 bwMode="auto">
          <a:xfrm>
            <a:off x="0" y="330056"/>
            <a:ext cx="1158240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fr-FR" sz="32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Mise  en œuvre des activités de </a:t>
            </a:r>
            <a:r>
              <a:rPr lang="fr-FR" sz="32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PAO(2/4)</a:t>
            </a:r>
            <a:endParaRPr lang="fr-FR" sz="32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3" name="Espace réservé du contenu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072573"/>
              </p:ext>
            </p:extLst>
          </p:nvPr>
        </p:nvGraphicFramePr>
        <p:xfrm>
          <a:off x="159799" y="1043711"/>
          <a:ext cx="11838237" cy="5789194"/>
        </p:xfrm>
        <a:graphic>
          <a:graphicData uri="http://schemas.openxmlformats.org/drawingml/2006/table">
            <a:tbl>
              <a:tblPr/>
              <a:tblGrid>
                <a:gridCol w="526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6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2050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Activités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NIVEAU DE REALISATION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RESULTATS</a:t>
                      </a:r>
                      <a:r>
                        <a:rPr lang="fr-FR" sz="14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OBTENUS</a:t>
                      </a:r>
                      <a:endParaRPr lang="fr-FR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18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Assurer l'appui technique et financier au fonctionnement </a:t>
                      </a:r>
                      <a:r>
                        <a:rPr lang="fr-CA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</a:t>
                      </a:r>
                      <a:r>
                        <a:rPr lang="fr-CA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CA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comités nationaux</a:t>
                      </a:r>
                      <a:r>
                        <a:rPr lang="fr-CA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Polio et le comité </a:t>
                      </a:r>
                      <a:r>
                        <a:rPr lang="fr-CA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l'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elimination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la rougeole et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rubeole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CNV)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Proportions des  fonds mobilisés pour le fonctionnement du comité national de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/Attendus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Tenue des réunions par le CNEP  pour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classification des cas PFA avec les échantillons inadéquats et les réunions de CNC</a:t>
                      </a:r>
                    </a:p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Mission de monitorage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flacons de</a:t>
                      </a: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nVPO2 dans 6 provinces  en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cours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 fonds pour le CNV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Rougeole-</a:t>
                      </a:r>
                      <a:r>
                        <a:rPr lang="fr-FR" sz="14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Rubeole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n’ont pas été disponible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77526"/>
                  </a:ext>
                </a:extLst>
              </a:tr>
              <a:tr h="928592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Assurer les supervisions  et suivi du fonctionnement des sites de surveillance sentinelle Rota,MBP,IIA et SRC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 de visites des sites effectuées / planifiées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 supervisons ont été réalisées dans 5 provinces au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premier semestre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ce jour les fonds disponibles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ont été utilisés pour la gestion de MAPI de la campagne de rattrapage RR</a:t>
                      </a:r>
                      <a:endParaRPr lang="fr-F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7178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Organiser l'investigation et les réunions  de classification des MAPI graves par le CNIE-MAPI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Proportion des cas de MAPI graves classifiés/investiguées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14 cas </a:t>
                      </a: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MAPI graves ont été </a:t>
                      </a:r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classifiés et</a:t>
                      </a:r>
                      <a:r>
                        <a:rPr lang="fr-FR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 cas contrôle qualité ont été revue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Actualisation </a:t>
                      </a: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 projets d’arrêté du CNIE MAPI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074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Organiser les revues des activités de surveillance des MPV dans les provinces(Haut-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Lomami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Tanganyika, Sud-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Kivu,Tshopo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Lualaba, Maniema, Nord-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Ubangi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Sud-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Ubangi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 des revues organisées/prévues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Fonds non disponibles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Fonds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non disponible</a:t>
                      </a:r>
                      <a:endParaRPr lang="fr-F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3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98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 bwMode="auto">
          <a:xfrm>
            <a:off x="0" y="274638"/>
            <a:ext cx="1219200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fr-FR" sz="3200" dirty="0">
                <a:ea typeface="ＭＳ Ｐゴシック" pitchFamily="34" charset="-128"/>
              </a:rPr>
              <a:t>Mise  en œuvre des activités de </a:t>
            </a:r>
            <a:r>
              <a:rPr lang="fr-FR" sz="3200" dirty="0" smtClean="0">
                <a:ea typeface="ＭＳ Ｐゴシック" pitchFamily="34" charset="-128"/>
              </a:rPr>
              <a:t>PA(3/4)</a:t>
            </a:r>
            <a:endParaRPr lang="fr-FR" sz="3200" dirty="0">
              <a:ea typeface="ＭＳ Ｐゴシック" pitchFamily="34" charset="-128"/>
            </a:endParaRPr>
          </a:p>
        </p:txBody>
      </p:sp>
      <p:graphicFrame>
        <p:nvGraphicFramePr>
          <p:cNvPr id="3" name="Espace réservé du contenu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09757"/>
              </p:ext>
            </p:extLst>
          </p:nvPr>
        </p:nvGraphicFramePr>
        <p:xfrm>
          <a:off x="88777" y="923639"/>
          <a:ext cx="11779950" cy="5855851"/>
        </p:xfrm>
        <a:graphic>
          <a:graphicData uri="http://schemas.openxmlformats.org/drawingml/2006/table">
            <a:tbl>
              <a:tblPr/>
              <a:tblGrid>
                <a:gridCol w="563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5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26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6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335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Activités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NIVEAU DE REALISATION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RESULTATS</a:t>
                      </a:r>
                      <a:r>
                        <a:rPr lang="fr-FR" sz="1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OBTENUS</a:t>
                      </a:r>
                      <a:endParaRPr lang="fr-F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76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Organiser les supervisions formatives dans les provinces (Nord Kivu,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Kwilu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Tanganyika, Haut-Lomami, Kinshasa, Haut-Katanga et Sankuru)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Proportion des provinces supervisées/planifiés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Fonds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non disponible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supervisions des activités de la vaccination de routine et des AVS ont été  mise en contribution pour renforcer la surveillance</a:t>
                      </a:r>
                      <a:endParaRPr lang="fr-F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69743"/>
                  </a:ext>
                </a:extLst>
              </a:tr>
              <a:tr h="151006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Appuyer financièrement le fonctionnement des 26 sites de surveillance environnementale dans les Provinces (Kinshasa, Kongo Central,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Tshopo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Haut-Katanga,Maniema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Equateur,kwilu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et Lualaba)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Fonds rendus disponibles/attendus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Fonds T1, T2, T3 déjà rendus disponibles pour tous les sites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T4 en cours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20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Étendre 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les sites de surveillance à 4 nouvelles provinces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Nbre des nouveaux sites SE fonctionels mise en place/prévus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Fonds non disponible</a:t>
                      </a:r>
                      <a:endParaRPr lang="fr-F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42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Organiser les ripostes dans le délai autour des cas confirmés de MPV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 proportion des ripostes organisés autour des cas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Seule la riposte au cas de </a:t>
                      </a:r>
                      <a:r>
                        <a:rPr lang="fr-FR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cVDPV</a:t>
                      </a:r>
                      <a:r>
                        <a:rPr lang="fr-FR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la Province du Kongo Central a été réalisée dans le temps</a:t>
                      </a:r>
                      <a:endParaRPr lang="fr-F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503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Acquérir les Kits des prélèvements et les portes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echantillons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(PFA,Rougeole et Fièvre jaune)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Nbre</a:t>
                      </a: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des kits reçus/prévus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Acquisition de 20 000 kits rougeole, </a:t>
                      </a:r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</a:t>
                      </a:r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 kits PFA et 2000 portes échantillons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9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 bwMode="auto">
          <a:xfrm>
            <a:off x="0" y="274638"/>
            <a:ext cx="1219200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fr-FR" sz="3200" dirty="0">
                <a:ea typeface="ＭＳ Ｐゴシック" pitchFamily="34" charset="-128"/>
              </a:rPr>
              <a:t>Mise  en œuvre des activités de </a:t>
            </a:r>
            <a:r>
              <a:rPr lang="fr-FR" sz="3200" dirty="0" smtClean="0">
                <a:ea typeface="ＭＳ Ｐゴシック" pitchFamily="34" charset="-128"/>
              </a:rPr>
              <a:t>PAO(4/4)</a:t>
            </a:r>
            <a:endParaRPr lang="fr-FR" sz="3200" dirty="0">
              <a:ea typeface="ＭＳ Ｐゴシック" pitchFamily="34" charset="-128"/>
            </a:endParaRPr>
          </a:p>
        </p:txBody>
      </p:sp>
      <p:graphicFrame>
        <p:nvGraphicFramePr>
          <p:cNvPr id="3" name="Espace réservé du contenu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067443"/>
              </p:ext>
            </p:extLst>
          </p:nvPr>
        </p:nvGraphicFramePr>
        <p:xfrm>
          <a:off x="195309" y="837391"/>
          <a:ext cx="11784018" cy="5350972"/>
        </p:xfrm>
        <a:graphic>
          <a:graphicData uri="http://schemas.openxmlformats.org/drawingml/2006/table">
            <a:tbl>
              <a:tblPr/>
              <a:tblGrid>
                <a:gridCol w="490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8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5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569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Activités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NIVEAU DE REALISATION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RESULTATS</a:t>
                      </a:r>
                      <a:r>
                        <a:rPr lang="fr-FR" sz="1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OBTENUS</a:t>
                      </a:r>
                      <a:endParaRPr lang="fr-F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98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Agrandissement de l'espace de travail du laboratoire de la surveillance environnementale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PM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Aménagement de l’espace pour la conservation des échantillons et des boîtes isothermes au laboratoire par l’OMS et la FBG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Dotation en </a:t>
                      </a:r>
                      <a:r>
                        <a:rPr lang="fr-FR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containers </a:t>
                      </a:r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pour le stockage des matériels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788655"/>
                  </a:ext>
                </a:extLst>
              </a:tr>
              <a:tr h="1039232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Organiser les missions conjointes de supervision et d’investigation des cas compatibles Polio par le comité Polio et le Secrétariat technique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% des missions conjointes réalisées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Fonds </a:t>
                      </a:r>
                      <a:r>
                        <a:rPr lang="fr-FR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non disponibles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Les investigations sont réalisées par les ECZ avec l’appui des AT</a:t>
                      </a:r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7830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Organiser la revue des sites de surveillance environnementale dans les 8 provinces ciblées (Kinshasa, Haut Katanga, Kongo Central,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Tshopo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 Maniema, </a:t>
                      </a:r>
                      <a:r>
                        <a:rPr lang="fr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Equateur</a:t>
                      </a:r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 Kwilu et Lualaba)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% des sites  de surveillance environnementale revus 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Les revues ont été réalisées pour 3 provinces sur </a:t>
                      </a:r>
                      <a:r>
                        <a:rPr lang="fr-FR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8  en 2025 </a:t>
                      </a:r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Les</a:t>
                      </a:r>
                      <a:r>
                        <a:rPr lang="fr-FR" sz="14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provinces concernées n’avaient pas reçu les missions d’évaluation en 2024</a:t>
                      </a:r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9232">
                <a:tc>
                  <a:txBody>
                    <a:bodyPr/>
                    <a:lstStyle/>
                    <a:p>
                      <a:pPr algn="ctr" fontAlgn="ctr"/>
                      <a:r>
                        <a:rPr lang="fr-CD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Appuyer les investigations approfondies des flambées épidémiques de rougeole dans les provinces pour faciliter la riposte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% des flambées de rougeole investiguées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Retard</a:t>
                      </a:r>
                      <a:r>
                        <a:rPr lang="fr-FR" sz="14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de validation de la requête global n’a pas </a:t>
                      </a:r>
                      <a:r>
                        <a:rPr lang="fr-FR" sz="1400" b="0" i="0" u="none" strike="noStrike" kern="1200" baseline="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permi</a:t>
                      </a:r>
                      <a:r>
                        <a:rPr lang="fr-FR" sz="14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de réaliser les missions d’investigation</a:t>
                      </a:r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96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10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altLang="en-GB" sz="4000" b="1" dirty="0" smtClean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PERFORMANCES DES INDICATEURS</a:t>
            </a:r>
            <a:endParaRPr lang="fr-FR" altLang="en-GB" sz="4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730" y="1039948"/>
            <a:ext cx="4523624" cy="3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386760" y="319896"/>
            <a:ext cx="5574073" cy="85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SzPts val="1100"/>
            </a:pPr>
            <a:r>
              <a:rPr lang="fr-FR" altLang="en-GB" sz="2665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des indicateurs de la surveillance 	PFA </a:t>
            </a:r>
            <a:r>
              <a:rPr lang="fr-FR" altLang="en-GB" sz="2400" b="1" dirty="0">
                <a:solidFill>
                  <a:srgbClr val="1155CC"/>
                </a:solidFill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S1-48_2025</a:t>
            </a:r>
            <a:endParaRPr lang="fr-FR" altLang="en-GB" sz="2400" b="1" dirty="0">
              <a:solidFill>
                <a:srgbClr val="0070C0"/>
              </a:solidFill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altLang="en-GB" sz="1100" b="1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altLang="en-GB" sz="10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sp>
        <p:nvSpPr>
          <p:cNvPr id="4" name="Rectangle avec flèche vers la gauche 3"/>
          <p:cNvSpPr/>
          <p:nvPr/>
        </p:nvSpPr>
        <p:spPr>
          <a:xfrm>
            <a:off x="3517730" y="4150328"/>
            <a:ext cx="2421251" cy="1520805"/>
          </a:xfrm>
          <a:prstGeom prst="lef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dirty="0" smtClean="0"/>
              <a:t>Distribution de Cas </a:t>
            </a:r>
            <a:r>
              <a:rPr lang="fr-FR" altLang="en-US" sz="1600" dirty="0" err="1" smtClean="0"/>
              <a:t>poliovariants</a:t>
            </a:r>
            <a:r>
              <a:rPr lang="fr-FR" altLang="en-US" sz="1600" dirty="0" smtClean="0"/>
              <a:t>(PFA</a:t>
            </a:r>
            <a:r>
              <a:rPr lang="fr-FR" altLang="en-US" dirty="0" smtClean="0"/>
              <a:t> &amp;contact) en </a:t>
            </a:r>
            <a:r>
              <a:rPr lang="fr-FR" altLang="en-US" dirty="0"/>
              <a:t>2025</a:t>
            </a:r>
          </a:p>
        </p:txBody>
      </p:sp>
      <p:sp>
        <p:nvSpPr>
          <p:cNvPr id="2" name="Rectangle 1"/>
          <p:cNvSpPr/>
          <p:nvPr/>
        </p:nvSpPr>
        <p:spPr>
          <a:xfrm>
            <a:off x="3398982" y="5909167"/>
            <a:ext cx="2530763" cy="767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Provinces ayant atteints les deux </a:t>
            </a:r>
            <a:r>
              <a:rPr lang="fr-FR" sz="1600" dirty="0" smtClean="0"/>
              <a:t>indicateurs: 19</a:t>
            </a:r>
            <a:endParaRPr lang="en-US" sz="1600" dirty="0"/>
          </a:p>
        </p:txBody>
      </p:sp>
      <p:graphicFrame>
        <p:nvGraphicFramePr>
          <p:cNvPr id="10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491627"/>
              </p:ext>
            </p:extLst>
          </p:nvPr>
        </p:nvGraphicFramePr>
        <p:xfrm>
          <a:off x="168604" y="1111771"/>
          <a:ext cx="5641071" cy="2495416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57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5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Indicateurs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2023</a:t>
                      </a:r>
                      <a:endParaRPr lang="fr-F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616">
                <a:tc>
                  <a:txBody>
                    <a:bodyPr/>
                    <a:lstStyle/>
                    <a:p>
                      <a:r>
                        <a:rPr lang="fr-FR" sz="1100" b="1" dirty="0"/>
                        <a:t>Total cas PFA notifiés en </a:t>
                      </a:r>
                      <a:endParaRPr lang="fr-FR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4 707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5476 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3797</a:t>
                      </a:r>
                      <a:r>
                        <a:rPr lang="fr-FR" sz="1200" b="1" dirty="0" smtClean="0"/>
                        <a:t>8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4">
                <a:tc>
                  <a:txBody>
                    <a:bodyPr/>
                    <a:lstStyle/>
                    <a:p>
                      <a:r>
                        <a:rPr lang="fr-BE" sz="1100" b="1" dirty="0"/>
                        <a:t>Nombre Zones de santé notifiant</a:t>
                      </a:r>
                      <a:endParaRPr lang="fr-FR" sz="11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 smtClean="0"/>
                        <a:t>517 (99,6%)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200" dirty="0" smtClean="0"/>
                        <a:t>518 (99,8%)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200" dirty="0" smtClean="0"/>
                        <a:t>511 (98,5%)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4">
                <a:tc>
                  <a:txBody>
                    <a:bodyPr/>
                    <a:lstStyle/>
                    <a:p>
                      <a:r>
                        <a:rPr lang="fr-BE" sz="1100" b="1" dirty="0"/>
                        <a:t>Taux de PFA Non Polio annualisé</a:t>
                      </a:r>
                      <a:endParaRPr lang="fr-FR" sz="11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7,4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9,1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6.2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055">
                <a:tc>
                  <a:txBody>
                    <a:bodyPr/>
                    <a:lstStyle/>
                    <a:p>
                      <a:r>
                        <a:rPr lang="fr-BE" sz="1100" b="1" dirty="0"/>
                        <a:t>% de cas de PFA adéquats</a:t>
                      </a:r>
                      <a:endParaRPr lang="fr-FR" sz="11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83%</a:t>
                      </a:r>
                      <a:endParaRPr lang="fr-FR" sz="11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85%</a:t>
                      </a:r>
                      <a:endParaRPr lang="fr-FR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89%</a:t>
                      </a:r>
                      <a:endParaRPr lang="fr-FR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89">
                <a:tc>
                  <a:txBody>
                    <a:bodyPr/>
                    <a:lstStyle/>
                    <a:p>
                      <a:r>
                        <a:rPr lang="fr-BE" sz="1100" b="1" dirty="0"/>
                        <a:t>% provinces ayant atteint 2 indicateurs </a:t>
                      </a:r>
                      <a:endParaRPr lang="fr-FR" sz="11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77%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200" dirty="0" smtClean="0"/>
                        <a:t>81%</a:t>
                      </a:r>
                      <a:endParaRPr lang="fr-FR" sz="12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73,1%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789">
                <a:tc>
                  <a:txBody>
                    <a:bodyPr/>
                    <a:lstStyle/>
                    <a:p>
                      <a:r>
                        <a:rPr lang="fr-FR" sz="1100" b="1" kern="1200" dirty="0"/>
                        <a:t>Taux Entérovirus Non Polio</a:t>
                      </a:r>
                      <a:endParaRPr lang="fr-F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ndalus" pitchFamily="18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12,3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200" dirty="0" smtClean="0"/>
                        <a:t>8,6 </a:t>
                      </a:r>
                      <a:endParaRPr lang="fr-FR" sz="1200" b="1" dirty="0" smtClean="0"/>
                    </a:p>
                    <a:p>
                      <a:pPr algn="ctr"/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200" dirty="0" smtClean="0"/>
                        <a:t> 15,3</a:t>
                      </a:r>
                      <a:endParaRPr lang="fr-FR" sz="1200" b="1" dirty="0" smtClean="0"/>
                    </a:p>
                    <a:p>
                      <a:pPr algn="ctr"/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57E55D72-05B5-4185-9D34-A4B4078BA1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99" r="17035"/>
          <a:stretch/>
        </p:blipFill>
        <p:spPr>
          <a:xfrm>
            <a:off x="488595" y="3745343"/>
            <a:ext cx="2854969" cy="284336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ADE7D30-6547-4F31-A8E8-0F56F67FF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66" y="5689598"/>
            <a:ext cx="1610214" cy="107126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148" y="639882"/>
            <a:ext cx="5921833" cy="60371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235600" y="110841"/>
            <a:ext cx="6229855" cy="1009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SzPts val="1100"/>
            </a:pPr>
            <a:r>
              <a:rPr lang="fr-FR" altLang="en-GB" sz="28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des indicateurs de la </a:t>
            </a:r>
            <a:r>
              <a:rPr lang="fr-FR" altLang="en-GB" sz="28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surveillance environnementale</a:t>
            </a:r>
            <a:r>
              <a:rPr lang="fr-FR" altLang="en-GB" sz="2800" b="1" dirty="0">
                <a:solidFill>
                  <a:srgbClr val="1155CC"/>
                </a:solidFill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S1-48_2025</a:t>
            </a:r>
            <a:endParaRPr lang="fr-FR" altLang="en-GB" sz="2800" b="1" dirty="0">
              <a:solidFill>
                <a:srgbClr val="0070C0"/>
              </a:solidFill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SzPts val="1100"/>
            </a:pPr>
            <a:r>
              <a:rPr lang="fr-FR" altLang="en-GB" sz="28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fr-FR" altLang="en-GB" sz="28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graphicFrame>
        <p:nvGraphicFramePr>
          <p:cNvPr id="5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945036"/>
              </p:ext>
            </p:extLst>
          </p:nvPr>
        </p:nvGraphicFramePr>
        <p:xfrm>
          <a:off x="168603" y="1361154"/>
          <a:ext cx="5913789" cy="2353301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70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3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9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Indicateurs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2023</a:t>
                      </a:r>
                      <a:endParaRPr lang="fr-F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56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100" b="1" i="0" u="none" strike="noStrike" kern="1200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% d'échantillons reçus par rapport aux attendu</a:t>
                      </a:r>
                      <a:endParaRPr lang="fr-FR" sz="1100" b="1" i="0" u="none" strike="noStrike" kern="1200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/>
                        <a:t>89%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/>
                        <a:t>90%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/>
                        <a:t>87%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14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100" b="1" i="0" u="none" strike="noStrike" kern="1200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% échantillons </a:t>
                      </a:r>
                      <a:r>
                        <a:rPr lang="en-US" sz="1100" b="1" i="0" u="none" strike="noStrike" kern="1200" cap="none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reçus</a:t>
                      </a:r>
                      <a:r>
                        <a:rPr lang="en-US" sz="1100" b="1" i="0" u="none" strike="noStrike" kern="1200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</a:t>
                      </a:r>
                      <a:r>
                        <a:rPr lang="en-US" sz="1100" b="1" i="0" u="none" strike="noStrike" kern="1200" cap="none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dans</a:t>
                      </a:r>
                      <a:r>
                        <a:rPr lang="en-US" sz="1100" b="1" i="0" u="none" strike="noStrike" kern="1200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les </a:t>
                      </a:r>
                      <a:r>
                        <a:rPr lang="en-US" sz="1100" b="1" i="0" u="none" strike="noStrike" kern="1200" cap="none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delai</a:t>
                      </a:r>
                      <a:r>
                        <a:rPr lang="en-US" sz="1100" b="1" i="0" u="none" strike="noStrike" kern="1200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de 3 jours</a:t>
                      </a:r>
                      <a:endParaRPr lang="fr-FR" sz="1100" b="1" i="0" u="none" strike="noStrike" kern="1200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dirty="0" smtClean="0"/>
                        <a:t>55, 3%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fr-FR" sz="1200" b="1" dirty="0" smtClean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>
                          <a:solidFill>
                            <a:schemeClr val="tx1"/>
                          </a:solidFill>
                        </a:rPr>
                        <a:t>67%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646">
                <a:tc>
                  <a:txBody>
                    <a:bodyPr/>
                    <a:lstStyle/>
                    <a:p>
                      <a:r>
                        <a:rPr lang="fr-FR" sz="1100" b="1" kern="1200" dirty="0"/>
                        <a:t>Taux </a:t>
                      </a:r>
                      <a:r>
                        <a:rPr lang="fr-FR" sz="1100" b="1" kern="1200" dirty="0" smtClean="0"/>
                        <a:t>d’isolement d’Entérovirus</a:t>
                      </a:r>
                      <a:endParaRPr lang="fr-F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ndalus" pitchFamily="18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/>
                        <a:t>32,</a:t>
                      </a:r>
                      <a:r>
                        <a:rPr lang="fr-FR" sz="1200" b="1" baseline="0" dirty="0" smtClean="0"/>
                        <a:t>64%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22%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/>
                        <a:t>22%</a:t>
                      </a:r>
                      <a:endParaRPr lang="fr-F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avec flèche vers la gauche 3"/>
          <p:cNvSpPr/>
          <p:nvPr/>
        </p:nvSpPr>
        <p:spPr>
          <a:xfrm>
            <a:off x="3777674" y="4479628"/>
            <a:ext cx="2304718" cy="1126839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826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dirty="0" smtClean="0"/>
              <a:t> </a:t>
            </a:r>
            <a:r>
              <a:rPr lang="fr-FR" altLang="en-US" dirty="0" err="1"/>
              <a:t>cVDPV</a:t>
            </a:r>
            <a:r>
              <a:rPr lang="fr-FR" altLang="en-US" dirty="0"/>
              <a:t> </a:t>
            </a:r>
            <a:r>
              <a:rPr lang="fr-FR" altLang="en-US" dirty="0" err="1" smtClean="0"/>
              <a:t>env</a:t>
            </a:r>
            <a:r>
              <a:rPr lang="fr-FR" altLang="en-US" dirty="0" smtClean="0"/>
              <a:t> en </a:t>
            </a:r>
            <a:r>
              <a:rPr lang="fr-FR" altLang="en-US" dirty="0"/>
              <a:t>2025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B1AE4D0-CEBE-4403-AF88-5CD88695C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92" y="3657087"/>
            <a:ext cx="3226011" cy="278989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455" y="67697"/>
            <a:ext cx="5457268" cy="6684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101600" y="157021"/>
            <a:ext cx="5480216" cy="64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SzPts val="1100"/>
            </a:pPr>
            <a:r>
              <a:rPr lang="fr-FR" altLang="en-GB" sz="2000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des indicateurs de la Surveillance </a:t>
            </a:r>
            <a:r>
              <a:rPr lang="fr-FR" altLang="en-GB" sz="2000" b="1" dirty="0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rougeole_S1-S48_2025 </a:t>
            </a:r>
            <a:endParaRPr lang="fr-FR" altLang="en-GB" sz="20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graphicFrame>
        <p:nvGraphicFramePr>
          <p:cNvPr id="4" name="Table 0"/>
          <p:cNvGraphicFramePr/>
          <p:nvPr>
            <p:extLst>
              <p:ext uri="{D42A27DB-BD31-4B8C-83A1-F6EECF244321}">
                <p14:modId xmlns:p14="http://schemas.microsoft.com/office/powerpoint/2010/main" val="3331513626"/>
              </p:ext>
            </p:extLst>
          </p:nvPr>
        </p:nvGraphicFramePr>
        <p:xfrm>
          <a:off x="379729" y="914373"/>
          <a:ext cx="5248305" cy="3510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872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9142"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Indicateurs 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/>
                        <a:t>2023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/>
                        <a:t>2024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dirty="0"/>
                        <a:t>2025</a:t>
                      </a:r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/>
                        <a:t>Proportion de </a:t>
                      </a:r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notifiés</a:t>
                      </a:r>
                      <a:r>
                        <a:rPr lang="en-US" altLang="zh-CN" sz="1200" dirty="0"/>
                        <a:t> et </a:t>
                      </a:r>
                      <a:r>
                        <a:rPr lang="en-US" altLang="zh-CN" sz="1200" dirty="0" err="1"/>
                        <a:t>prélevés</a:t>
                      </a:r>
                      <a:r>
                        <a:rPr lang="en-US" altLang="zh-CN" sz="1200" dirty="0"/>
                        <a:t>( ≥ 80%)</a:t>
                      </a:r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/>
                    </a:p>
                    <a:p>
                      <a:pPr algn="ctr" fontAlgn="t"/>
                      <a:r>
                        <a:rPr lang="fr-FR" sz="1200" dirty="0"/>
                        <a:t>8%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/>
                        <a:t>6,</a:t>
                      </a:r>
                      <a:r>
                        <a:rPr lang="fr-FR" sz="1200" baseline="0" dirty="0"/>
                        <a:t>0%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dirty="0" smtClean="0"/>
                        <a:t>8,9%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858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 err="1"/>
                        <a:t>Tx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annualisé</a:t>
                      </a:r>
                      <a:r>
                        <a:rPr lang="en-US" altLang="zh-CN" sz="1200" dirty="0"/>
                        <a:t> de </a:t>
                      </a:r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investigues</a:t>
                      </a:r>
                      <a:r>
                        <a:rPr lang="en-US" altLang="zh-CN" sz="1200" dirty="0"/>
                        <a:t> (≥ 1/100,000)</a:t>
                      </a:r>
                    </a:p>
                    <a:p>
                      <a:pPr algn="l" fontAlgn="t"/>
                      <a:endParaRPr lang="en-US" altLang="zh-CN"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/>
                    </a:p>
                    <a:p>
                      <a:pPr algn="ctr" fontAlgn="t"/>
                      <a:r>
                        <a:rPr lang="fr-FR" sz="1200" dirty="0" smtClean="0"/>
                        <a:t>5,6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5,2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5,8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142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 err="1"/>
                        <a:t>Rougeole</a:t>
                      </a:r>
                      <a:r>
                        <a:rPr lang="en-US" altLang="zh-CN" sz="1200" dirty="0"/>
                        <a:t> IgM+(&lt; 10%)</a:t>
                      </a:r>
                    </a:p>
                  </a:txBody>
                  <a:tcPr marL="7937" marR="7937" marT="7937" marB="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dirty="0" smtClean="0">
                          <a:solidFill>
                            <a:schemeClr val="bg1"/>
                          </a:solidFill>
                        </a:rPr>
                        <a:t>58%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</a:txBody>
                  <a:tcPr marL="7937" marR="7937" marT="7937" marB="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>
                          <a:solidFill>
                            <a:schemeClr val="bg1"/>
                          </a:solidFill>
                        </a:rPr>
                        <a:t>48%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</a:txBody>
                  <a:tcPr marL="7937" marR="7937" marT="7937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47%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7937" marR="7937" marT="7937" marB="0" anchor="b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 err="1"/>
                        <a:t>Flambées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rougeole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confirmées</a:t>
                      </a:r>
                      <a:r>
                        <a:rPr lang="en-US" altLang="zh-CN" sz="1200" dirty="0"/>
                        <a:t> au </a:t>
                      </a:r>
                      <a:r>
                        <a:rPr lang="en-US" altLang="zh-CN" sz="1200" dirty="0" err="1"/>
                        <a:t>labo</a:t>
                      </a:r>
                      <a:endParaRPr lang="en-US" altLang="zh-CN"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/>
                    </a:p>
                    <a:p>
                      <a:pPr algn="ctr" fontAlgn="t"/>
                      <a:r>
                        <a:rPr lang="fr-FR" sz="1200" dirty="0"/>
                        <a:t>113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/>
                        <a:t>191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 smtClean="0"/>
                        <a:t>142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 err="1"/>
                        <a:t>Nbre</a:t>
                      </a:r>
                      <a:r>
                        <a:rPr lang="en-US" altLang="zh-CN" sz="1200" dirty="0"/>
                        <a:t> ZS </a:t>
                      </a:r>
                      <a:r>
                        <a:rPr lang="en-US" altLang="zh-CN" sz="1200" dirty="0" err="1"/>
                        <a:t>ayant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enregistré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une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 smtClean="0"/>
                        <a:t>Epidemie</a:t>
                      </a:r>
                      <a:endParaRPr lang="en-US" altLang="zh-CN"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 smtClean="0"/>
                    </a:p>
                    <a:p>
                      <a:pPr algn="ctr" fontAlgn="t"/>
                      <a:r>
                        <a:rPr lang="fr-FR" sz="1200" dirty="0" smtClean="0"/>
                        <a:t>316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/>
                        <a:t>191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 smtClean="0"/>
                        <a:t>181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85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200" dirty="0" err="1"/>
                        <a:t>Taux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annualisé</a:t>
                      </a:r>
                      <a:r>
                        <a:rPr lang="en-US" altLang="zh-CN" sz="1200" dirty="0"/>
                        <a:t> des </a:t>
                      </a:r>
                      <a:r>
                        <a:rPr lang="en-US" altLang="zh-CN" sz="1200" dirty="0" err="1"/>
                        <a:t>éruptions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febriles</a:t>
                      </a:r>
                      <a:r>
                        <a:rPr lang="en-US" altLang="zh-CN" sz="1200" dirty="0"/>
                        <a:t> non </a:t>
                      </a:r>
                      <a:r>
                        <a:rPr lang="en-US" altLang="zh-CN" sz="1200" dirty="0" err="1" smtClean="0"/>
                        <a:t>rougeoleuses</a:t>
                      </a:r>
                      <a:r>
                        <a:rPr lang="en-US" altLang="zh-CN" sz="1200" dirty="0" smtClean="0"/>
                        <a:t>(≥2/100000 </a:t>
                      </a:r>
                      <a:r>
                        <a:rPr lang="en-US" altLang="zh-CN" sz="1200" dirty="0" err="1" smtClean="0"/>
                        <a:t>hab</a:t>
                      </a:r>
                      <a:r>
                        <a:rPr lang="en-US" altLang="zh-CN" sz="1200" dirty="0" smtClean="0"/>
                        <a:t>)</a:t>
                      </a:r>
                    </a:p>
                    <a:p>
                      <a:pPr algn="l" fontAlgn="t"/>
                      <a:endParaRPr lang="en-US" altLang="zh-CN"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/>
                    </a:p>
                    <a:p>
                      <a:pPr algn="ctr" fontAlgn="t"/>
                      <a:endParaRPr lang="fr-FR" sz="1200" dirty="0" smtClean="0"/>
                    </a:p>
                    <a:p>
                      <a:pPr algn="ctr" fontAlgn="t"/>
                      <a:r>
                        <a:rPr lang="fr-FR" sz="1200" dirty="0" smtClean="0"/>
                        <a:t>5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3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3,1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/>
                        <a:t>ZS ayant notifié au moins 1 cas suspect avec prélèvement</a:t>
                      </a:r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 smtClean="0"/>
                    </a:p>
                    <a:p>
                      <a:pPr algn="ctr" fontAlgn="t"/>
                      <a:r>
                        <a:rPr lang="fr-FR" sz="1200" dirty="0" smtClean="0"/>
                        <a:t>67</a:t>
                      </a:r>
                      <a:r>
                        <a:rPr lang="fr-FR" sz="1200" dirty="0"/>
                        <a:t>%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/>
                        <a:t>78%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dirty="0" smtClean="0"/>
                        <a:t>72%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200" dirty="0" err="1"/>
                        <a:t>Taux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annualisé</a:t>
                      </a:r>
                      <a:r>
                        <a:rPr lang="en-US" altLang="zh-CN" sz="1200" dirty="0"/>
                        <a:t> des </a:t>
                      </a:r>
                      <a:r>
                        <a:rPr lang="en-US" altLang="zh-CN" sz="1200" dirty="0" err="1"/>
                        <a:t>éruptions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febriles</a:t>
                      </a:r>
                      <a:r>
                        <a:rPr lang="en-US" altLang="zh-CN" sz="1200" dirty="0"/>
                        <a:t> non </a:t>
                      </a:r>
                      <a:r>
                        <a:rPr lang="en-US" altLang="zh-CN" sz="1200" dirty="0" err="1"/>
                        <a:t>rubéoleuses</a:t>
                      </a:r>
                      <a:endParaRPr lang="en-US" altLang="zh-CN"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t"/>
                      <a:endParaRPr lang="fr-FR" sz="1200" dirty="0" smtClean="0"/>
                    </a:p>
                    <a:p>
                      <a:pPr algn="ctr" fontAlgn="t"/>
                      <a:r>
                        <a:rPr lang="fr-FR" sz="1200" dirty="0" smtClean="0"/>
                        <a:t>3,6</a:t>
                      </a:r>
                      <a:endParaRPr sz="1200" dirty="0"/>
                    </a:p>
                  </a:txBody>
                  <a:tcPr marL="7937" marR="7937" marT="793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dirty="0"/>
                        <a:t>4,4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dirty="0" smtClean="0"/>
                        <a:t>2,7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9906584"/>
              </p:ext>
            </p:extLst>
          </p:nvPr>
        </p:nvGraphicFramePr>
        <p:xfrm>
          <a:off x="5660135" y="43876"/>
          <a:ext cx="6239370" cy="699511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247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4525">
                <a:tc>
                  <a:txBody>
                    <a:bodyPr/>
                    <a:lstStyle/>
                    <a:p>
                      <a:pPr fontAlgn="b"/>
                      <a:r>
                        <a:rPr lang="fr-FR" sz="1200" b="1" i="0" dirty="0"/>
                        <a:t>Provinces 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marL="0" indent="0" algn="ctr" fontAlgn="b"/>
                      <a:r>
                        <a:rPr lang="en-US" altLang="zh-CN" sz="1200" b="1" i="0" dirty="0"/>
                        <a:t>Proportion de </a:t>
                      </a:r>
                      <a:r>
                        <a:rPr lang="en-US" altLang="zh-CN" sz="1200" b="1" i="0" dirty="0" err="1"/>
                        <a:t>cas</a:t>
                      </a:r>
                      <a:r>
                        <a:rPr lang="en-US" altLang="zh-CN" sz="1200" b="1" i="0" dirty="0"/>
                        <a:t> </a:t>
                      </a:r>
                      <a:r>
                        <a:rPr lang="en-US" altLang="zh-CN" sz="1200" b="1" i="0" dirty="0" err="1"/>
                        <a:t>notifiés</a:t>
                      </a:r>
                      <a:r>
                        <a:rPr lang="en-US" altLang="zh-CN" sz="1200" b="1" i="0" dirty="0"/>
                        <a:t> et </a:t>
                      </a:r>
                      <a:r>
                        <a:rPr lang="en-US" altLang="zh-CN" sz="1200" b="1" i="0" dirty="0" err="1"/>
                        <a:t>prélevés</a:t>
                      </a:r>
                      <a:endParaRPr lang="en-US" altLang="zh-CN" sz="1200" b="1" i="0" dirty="0"/>
                    </a:p>
                  </a:txBody>
                  <a:tcPr marL="0" marR="0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/>
                        <a:t>% </a:t>
                      </a:r>
                      <a:r>
                        <a:rPr lang="en-US" altLang="zh-CN" sz="1200" b="1" i="0" smtClean="0"/>
                        <a:t>ZS </a:t>
                      </a:r>
                      <a:r>
                        <a:rPr lang="en-US" altLang="zh-CN" sz="1200" b="1" i="0" dirty="0"/>
                        <a:t>en </a:t>
                      </a:r>
                      <a:r>
                        <a:rPr lang="en-US" altLang="zh-CN" sz="1200" b="1" i="0" dirty="0" err="1"/>
                        <a:t>Epidemie</a:t>
                      </a:r>
                      <a:endParaRPr lang="en-US" altLang="zh-CN" sz="12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200" b="1" i="0"/>
                        <a:t>Taux annualisé des éruptions febriles non rougeoleuses</a:t>
                      </a:r>
                    </a:p>
                  </a:txBody>
                  <a:tcPr marL="23177" marR="23177" marT="15557" marB="15557"/>
                </a:tc>
                <a:tc>
                  <a:txBody>
                    <a:bodyPr/>
                    <a:lstStyle/>
                    <a:p>
                      <a:pPr marL="0" indent="0" algn="ctr" fontAlgn="b"/>
                      <a:r>
                        <a:rPr lang="en-US" altLang="zh-CN" sz="1200" b="1" i="0" dirty="0"/>
                        <a:t>% ZS </a:t>
                      </a:r>
                      <a:r>
                        <a:rPr lang="en-US" altLang="zh-CN" sz="1200" b="1" i="0" dirty="0" err="1"/>
                        <a:t>ayant</a:t>
                      </a:r>
                      <a:r>
                        <a:rPr lang="en-US" altLang="zh-CN" sz="1200" b="1" i="0" dirty="0"/>
                        <a:t> </a:t>
                      </a:r>
                      <a:r>
                        <a:rPr lang="en-US" altLang="zh-CN" sz="1200" b="1" i="0" dirty="0" err="1"/>
                        <a:t>notifié</a:t>
                      </a:r>
                      <a:r>
                        <a:rPr lang="en-US" altLang="zh-CN" sz="1200" b="1" i="0" dirty="0"/>
                        <a:t> au </a:t>
                      </a:r>
                      <a:r>
                        <a:rPr lang="en-US" altLang="zh-CN" sz="1200" b="1" i="0" dirty="0" err="1"/>
                        <a:t>moins</a:t>
                      </a:r>
                      <a:r>
                        <a:rPr lang="en-US" altLang="zh-CN" sz="1200" b="1" i="0" dirty="0"/>
                        <a:t> 1 </a:t>
                      </a:r>
                      <a:r>
                        <a:rPr lang="en-US" altLang="zh-CN" sz="1200" b="1" i="0" dirty="0" err="1"/>
                        <a:t>cas</a:t>
                      </a:r>
                      <a:r>
                        <a:rPr lang="en-US" altLang="zh-CN" sz="1200" b="1" i="0" dirty="0"/>
                        <a:t> suspect avec </a:t>
                      </a:r>
                      <a:r>
                        <a:rPr lang="en-US" altLang="zh-CN" sz="1200" b="1" i="0" dirty="0" err="1"/>
                        <a:t>prélèvement</a:t>
                      </a:r>
                      <a:endParaRPr lang="en-US" altLang="zh-CN" sz="1200" b="1" i="0" dirty="0"/>
                    </a:p>
                  </a:txBody>
                  <a:tcPr marL="0" marR="0" marT="15557" marB="1555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Bas-</a:t>
                      </a:r>
                      <a:r>
                        <a:rPr lang="en-US" altLang="zh-CN" sz="1000" b="1" i="0" dirty="0" err="1"/>
                        <a:t>Uélé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/>
                        <a:t>15%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2,1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64%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Equateur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34%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44%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8,4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94%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626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Haut-Katanga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86%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7,8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96%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557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Haut-Lomami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/>
                        <a:t>2%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88%</a:t>
                      </a:r>
                    </a:p>
                  </a:txBody>
                  <a:tcPr marL="6350" marR="6350" marT="635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4,4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100%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Haut-</a:t>
                      </a:r>
                      <a:r>
                        <a:rPr lang="en-US" altLang="zh-CN" sz="1000" b="1" i="0" dirty="0" err="1"/>
                        <a:t>Uélé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/>
                        <a:t>14%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1,1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46%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Ituri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7%</a:t>
                      </a:r>
                      <a:endParaRPr lang="fr-FR"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1,9</a:t>
                      </a:r>
                      <a:endParaRPr lang="fr-FR"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53%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Kasai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53%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0,5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67%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269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Kasai-Central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20%</a:t>
                      </a:r>
                      <a:endParaRPr lang="fr-FR"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1,7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38%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365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Kasai-Oriental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8%</a:t>
                      </a:r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2,2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95%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Kinshasa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182%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2,0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106%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22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Kongo</a:t>
                      </a:r>
                      <a:r>
                        <a:rPr lang="en-US" altLang="zh-CN" sz="1000" b="1" i="0" dirty="0"/>
                        <a:t> Central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6</a:t>
                      </a:r>
                      <a:r>
                        <a:rPr lang="fr-FR" sz="1000" b="1" i="0" dirty="0" smtClean="0"/>
                        <a:t>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1,5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77%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Kwango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43%</a:t>
                      </a:r>
                      <a:endParaRPr lang="fr-FR"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0,6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50%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Kwilu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16%</a:t>
                      </a:r>
                      <a:endParaRPr lang="fr-FR"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1,7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58%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Lomami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5</a:t>
                      </a:r>
                      <a:r>
                        <a:rPr lang="fr-FR" sz="1000" b="1" i="0" dirty="0" smtClean="0"/>
                        <a:t>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2,5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81%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Lualaba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37%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2,0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86%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4557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Maindombe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1%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2,1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50%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Maniema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10¨%</a:t>
                      </a:r>
                      <a:endParaRPr lang="fr-FR"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6,5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67%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Mongala</a:t>
                      </a:r>
                      <a:endParaRPr lang="en-US" altLang="zh-CN" sz="1000" b="1" i="0" dirty="0"/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1%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1,7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92%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Nord-Kivu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107%</a:t>
                      </a:r>
                      <a:endParaRPr sz="1000" b="1" i="0" dirty="0">
                        <a:solidFill>
                          <a:srgbClr val="00B050"/>
                        </a:solidFill>
                      </a:endParaRPr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1,2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82%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4557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Nord-Ubangi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3%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1,7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64%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893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Sankuru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1%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1,2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56%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Sud-Kivu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2</a:t>
                      </a:r>
                      <a:r>
                        <a:rPr lang="fr-FR" sz="1000" b="1" i="0" dirty="0" smtClean="0"/>
                        <a:t>4</a:t>
                      </a:r>
                      <a:r>
                        <a:rPr lang="fr-FR" sz="1000" b="1" i="0" dirty="0"/>
                        <a:t>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1,7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35%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2772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 err="1"/>
                        <a:t>Sud</a:t>
                      </a:r>
                      <a:r>
                        <a:rPr lang="en-US" altLang="zh-CN" sz="1000" b="1" i="0" dirty="0"/>
                        <a:t>-Ubangi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4</a:t>
                      </a:r>
                      <a:r>
                        <a:rPr lang="fr-FR" sz="1000" b="1" i="0" dirty="0" smtClean="0"/>
                        <a:t>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4,0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35%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44557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Tanganyika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54%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82%</a:t>
                      </a:r>
                    </a:p>
                  </a:txBody>
                  <a:tcPr marL="6350" marR="6350" marT="635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7,0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100%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Tshopo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2%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1,7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61%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3524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000" b="1" i="0" dirty="0"/>
                        <a:t>Tshuapa</a:t>
                      </a:r>
                    </a:p>
                  </a:txBody>
                  <a:tcPr marL="23177" marR="23177" marT="15557" marB="15557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/>
                        <a:t>1%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6350" marR="6350" marT="6350" marB="0" anchor="b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dirty="0" smtClean="0"/>
                        <a:t>11,6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dirty="0" smtClean="0"/>
                        <a:t>92%</a:t>
                      </a:r>
                      <a:endParaRPr sz="1000" b="1" i="0" dirty="0"/>
                    </a:p>
                  </a:txBody>
                  <a:tcPr marL="23177" marR="23177" marT="15557" marB="15557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10" name="Rectangle avec flèche vers la gauche 9"/>
          <p:cNvSpPr/>
          <p:nvPr/>
        </p:nvSpPr>
        <p:spPr>
          <a:xfrm>
            <a:off x="2881746" y="4775352"/>
            <a:ext cx="2681598" cy="1622063"/>
          </a:xfrm>
          <a:prstGeom prst="lef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dirty="0" smtClean="0"/>
              <a:t>ZS en épidémie de rougeole en 2025</a:t>
            </a:r>
            <a:endParaRPr lang="fr-FR" alt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477078" y="3999506"/>
            <a:ext cx="2206136" cy="2168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67" y="4349229"/>
            <a:ext cx="2284964" cy="2217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235600" y="170163"/>
            <a:ext cx="4384108" cy="108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SzPts val="1100"/>
            </a:pPr>
            <a:r>
              <a:rPr lang="fr-FR" altLang="en-GB" sz="2400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des indicateurs </a:t>
            </a:r>
            <a:r>
              <a:rPr lang="fr-FR" altLang="en-GB" sz="2400" b="1" dirty="0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surveillance </a:t>
            </a:r>
            <a:r>
              <a:rPr lang="fr-FR" altLang="en-GB" sz="2400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la </a:t>
            </a:r>
            <a:r>
              <a:rPr lang="fr-FR" altLang="en-GB" sz="2400" b="1" dirty="0" err="1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Fievre</a:t>
            </a:r>
            <a:r>
              <a:rPr lang="fr-FR" altLang="en-GB" sz="2400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GB" sz="2400" b="1" dirty="0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jaune</a:t>
            </a:r>
            <a:r>
              <a:rPr lang="fr-FR" altLang="en-GB" sz="2400" b="1" dirty="0">
                <a:solidFill>
                  <a:srgbClr val="1155CC"/>
                </a:solidFill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S1-48_2025</a:t>
            </a:r>
            <a:endParaRPr lang="fr-FR" altLang="en-GB" sz="2400" b="1" dirty="0">
              <a:solidFill>
                <a:srgbClr val="0070C0"/>
              </a:solidFill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SzPts val="1100"/>
            </a:pPr>
            <a:r>
              <a:rPr lang="fr-FR" altLang="en-GB" sz="2400" b="1" dirty="0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fr-FR" altLang="en-GB" sz="24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graphicFrame>
        <p:nvGraphicFramePr>
          <p:cNvPr id="2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2599525"/>
              </p:ext>
            </p:extLst>
          </p:nvPr>
        </p:nvGraphicFramePr>
        <p:xfrm>
          <a:off x="267967" y="1256145"/>
          <a:ext cx="4285559" cy="495992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49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862"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Indicateurs 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/>
                        <a:t>2023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/>
                        <a:t>2024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/>
                        <a:t>2025</a:t>
                      </a:r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90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 suspects </a:t>
                      </a:r>
                      <a:r>
                        <a:rPr lang="en-US" altLang="zh-CN" sz="1200" dirty="0" err="1"/>
                        <a:t>notifés</a:t>
                      </a:r>
                      <a:r>
                        <a:rPr lang="en-US" altLang="zh-CN" sz="1200" dirty="0"/>
                        <a:t> et </a:t>
                      </a:r>
                      <a:r>
                        <a:rPr lang="en-US" altLang="zh-CN" sz="1200" dirty="0" err="1"/>
                        <a:t>investigués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/</a:t>
                      </a:r>
                      <a:r>
                        <a:rPr lang="en-US" altLang="zh-CN" sz="1200" dirty="0" err="1"/>
                        <a:t>cas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244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667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99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% cas investigués avec prélèvement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43%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47%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57%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3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% cas reçus au labo avec résultats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46%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31%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20%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70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% de ZS ayant prélevé au moins 1 cas suspect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50%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47%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40%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07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confirmé</a:t>
                      </a:r>
                      <a:r>
                        <a:rPr lang="en-US" altLang="zh-CN" sz="1200" dirty="0"/>
                        <a:t> par</a:t>
                      </a:r>
                      <a:r>
                        <a:rPr lang="en-US" altLang="zh-CN" sz="1200" baseline="0" dirty="0"/>
                        <a:t> le </a:t>
                      </a:r>
                      <a:r>
                        <a:rPr lang="en-US" altLang="zh-CN" sz="1200" baseline="0" dirty="0" err="1"/>
                        <a:t>laboratoire</a:t>
                      </a:r>
                      <a:r>
                        <a:rPr lang="en-US" altLang="zh-CN" sz="1200" baseline="0" dirty="0"/>
                        <a:t> regional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4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3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9581301"/>
              </p:ext>
            </p:extLst>
          </p:nvPr>
        </p:nvGraphicFramePr>
        <p:xfrm>
          <a:off x="4708073" y="152650"/>
          <a:ext cx="6725054" cy="647266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6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7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7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dirty="0" smtClean="0"/>
                        <a:t>Provinces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 suspects </a:t>
                      </a:r>
                      <a:r>
                        <a:rPr lang="en-US" altLang="zh-CN" sz="1200" dirty="0" err="1"/>
                        <a:t>notifés</a:t>
                      </a:r>
                      <a:r>
                        <a:rPr lang="en-US" altLang="zh-CN" sz="1200" dirty="0"/>
                        <a:t> et </a:t>
                      </a:r>
                      <a:r>
                        <a:rPr lang="en-US" altLang="zh-CN" sz="1200" dirty="0" err="1"/>
                        <a:t>investigués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dirty="0" err="1"/>
                        <a:t>cas</a:t>
                      </a:r>
                      <a:r>
                        <a:rPr lang="en-US" altLang="zh-CN" sz="1200" dirty="0"/>
                        <a:t>/</a:t>
                      </a:r>
                      <a:r>
                        <a:rPr lang="en-US" altLang="zh-CN" sz="1200" dirty="0" err="1"/>
                        <a:t>cas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/>
                        <a:t>% cas investigués avec prélèvement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/>
                        <a:t>% cas reçus au labo avec résultats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/>
                        <a:t>% de ZS ayant prélevé au moins 1 cas suspect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dirty="0"/>
                        <a:t>Cas IgM+</a:t>
                      </a:r>
                    </a:p>
                    <a:p>
                      <a:pPr algn="l" fontAlgn="ctr"/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cas confirmé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Bas Uele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79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82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Equateur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55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72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Haut Katanga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39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74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41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5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Haut Lomami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107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56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Haut Uele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26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42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18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Ituri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8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78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Kasai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53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22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24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Kasai Central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7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71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19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Kasai Oriental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11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64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57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26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 smtClean="0"/>
                        <a:t>1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Kinshasa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102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15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Kongo Central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81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81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65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Kwango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58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33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 smtClean="0"/>
                        <a:t>1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Kwilu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115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26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42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Lomami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38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Lualaba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5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60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Maindombe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34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38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Maniema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58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Mongala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21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43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22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42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Nord Kivu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Nord Ubangi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36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17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82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Sankuru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67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44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Sud Kivu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2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Sud Ubangi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63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43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22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75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Tanganyika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13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62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55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Tshopo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34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88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61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0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/>
                        <a:t>Tshuapa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318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54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28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dirty="0"/>
                        <a:t>100</a:t>
                      </a:r>
                      <a:endParaRPr lang="en-US" altLang="zh-CN"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/>
                        <a:t>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 smtClean="0"/>
                        <a:t>3</a:t>
                      </a:r>
                      <a:endParaRPr sz="1200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90331">
                <a:tc>
                  <a:txBody>
                    <a:bodyPr/>
                    <a:lstStyle/>
                    <a:p>
                      <a:pPr algn="l" fontAlgn="ctr"/>
                      <a:r>
                        <a:rPr lang="fr-FR" altLang="zh-CN" sz="1400" b="1" dirty="0" smtClean="0"/>
                        <a:t>RDC</a:t>
                      </a:r>
                      <a:endParaRPr lang="en-US" altLang="zh-CN" sz="1400" b="1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dirty="0" smtClean="0"/>
                        <a:t>1 161</a:t>
                      </a:r>
                      <a:endParaRPr sz="1400" b="1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400" b="1" dirty="0" smtClean="0"/>
                        <a:t>1</a:t>
                      </a:r>
                      <a:r>
                        <a:rPr lang="fr-FR" altLang="zh-CN" sz="1400" b="1" baseline="0" dirty="0" smtClean="0"/>
                        <a:t> </a:t>
                      </a:r>
                      <a:r>
                        <a:rPr lang="fr-FR" altLang="zh-CN" sz="1400" b="1" dirty="0" smtClean="0"/>
                        <a:t>448</a:t>
                      </a:r>
                      <a:endParaRPr lang="en-US" altLang="zh-CN" sz="1400" b="1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dirty="0" smtClean="0"/>
                        <a:t>440</a:t>
                      </a:r>
                      <a:endParaRPr sz="1400" b="1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400" b="1" dirty="0" smtClean="0"/>
                        <a:t>1 185</a:t>
                      </a:r>
                      <a:endParaRPr lang="en-US" altLang="zh-CN" sz="1400" b="1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dirty="0" smtClean="0"/>
                        <a:t>5</a:t>
                      </a:r>
                      <a:endParaRPr sz="1400" b="1" dirty="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dirty="0" smtClean="0"/>
                        <a:t>5</a:t>
                      </a:r>
                      <a:endParaRPr sz="1400" b="1" dirty="0"/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41880906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86301" y="340360"/>
            <a:ext cx="4630644" cy="119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SzPts val="1100"/>
            </a:pPr>
            <a:r>
              <a:rPr lang="fr-FR" altLang="en-GB" sz="2400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des </a:t>
            </a:r>
            <a:r>
              <a:rPr lang="fr-FR" altLang="en-GB" sz="2400" b="1" dirty="0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indicateurs de TNN de S1-48_2025</a:t>
            </a:r>
            <a:endParaRPr lang="fr-FR" altLang="en-GB" sz="24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graphicFrame>
        <p:nvGraphicFramePr>
          <p:cNvPr id="3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2641466"/>
              </p:ext>
            </p:extLst>
          </p:nvPr>
        </p:nvGraphicFramePr>
        <p:xfrm>
          <a:off x="267970" y="2132417"/>
          <a:ext cx="4432300" cy="30791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705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Indicateurs 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2023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2024</a:t>
                      </a:r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/>
                        <a:t>2025</a:t>
                      </a:r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  <a:sym typeface="+mn-ea"/>
                        </a:rPr>
                        <a:t>% de ZS ayant notifié au moins un cas</a:t>
                      </a:r>
                      <a:endParaRPr lang="en-US" altLang="zh-CN" sz="120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154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182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178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  <a:sym typeface="+mn-ea"/>
                        </a:rPr>
                        <a:t>% de cas investigués</a:t>
                      </a:r>
                      <a:endParaRPr lang="en-US" altLang="zh-CN" sz="120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13%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22%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20%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  <a:sym typeface="+mn-ea"/>
                        </a:rPr>
                        <a:t>% Riposte au tour de cas </a:t>
                      </a:r>
                      <a:endParaRPr lang="en-US" altLang="zh-CN" sz="1200"/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15%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22£</a:t>
                      </a:r>
                      <a:endParaRPr sz="1200" dirty="0"/>
                    </a:p>
                  </a:txBody>
                  <a:tcPr marL="7937" marR="7937" marT="79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dirty="0"/>
                        <a:t>21%</a:t>
                      </a:r>
                      <a:endParaRPr sz="1200" dirty="0"/>
                    </a:p>
                  </a:txBody>
                  <a:tcPr marL="7937" marR="7937" marT="7937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27732783"/>
              </p:ext>
            </p:extLst>
          </p:nvPr>
        </p:nvGraphicFramePr>
        <p:xfrm>
          <a:off x="5222240" y="340360"/>
          <a:ext cx="6609544" cy="6461279"/>
        </p:xfrm>
        <a:graphic>
          <a:graphicData uri="http://schemas.openxmlformats.org/drawingml/2006/table">
            <a:tbl>
              <a:tblPr/>
              <a:tblGrid>
                <a:gridCol w="1652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49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Provinces 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% de ZS ayant notifié au moins un cas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% de cas investigués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% Riposte au tour de cas 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Bas-Uélé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b="1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81%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zh-CN" sz="1400" b="0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47%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zh-CN" sz="1400" b="0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67%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3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Equateur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b="1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83%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zh-CN" sz="1400" b="0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12%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zh-CN" sz="1400" b="0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10%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Haut-Katanga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200" b="1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19%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zh-CN" sz="1400" b="0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0%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dirty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0%</a:t>
                      </a:r>
                      <a:endParaRPr sz="1400" b="0" i="0" dirty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Haut-Lomami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6%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Haut-Uélé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18%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Ituri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50%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Kasai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Kasai-Central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Kasai-Oriental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Kinshasa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Kongo Central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Kwango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Kwilu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Lomami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Lualaba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Maindombe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8%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Maniema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Mongala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24%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17%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Nord-Kivu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Nord-Ubangi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Sankuru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Sud-Kivu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Sud-Ubangi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Tanganyika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Tshopo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21%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46%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683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Tshuapa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altLang="zh-C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/>
                          <a:ea typeface="Aptos Narrow"/>
                          <a:cs typeface="+mn-cs"/>
                          <a:sym typeface="Arial" panose="020B0604020202020204"/>
                        </a:rPr>
                        <a:t>0%</a:t>
                      </a:r>
                      <a:endPara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/>
                        <a:ea typeface="Aptos Narrow"/>
                        <a:cs typeface="+mn-cs"/>
                        <a:sym typeface="Arial" panose="020B0604020202020204"/>
                      </a:endParaRPr>
                    </a:p>
                  </a:txBody>
                  <a:tcPr marL="7937" marR="7937" marT="7937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1" y="87032"/>
            <a:ext cx="5896027" cy="68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SzPts val="1100"/>
            </a:pPr>
            <a:r>
              <a:rPr lang="fr-FR" altLang="en-GB" sz="2800" b="1" dirty="0">
                <a:solidFill>
                  <a:srgbClr val="1155CC"/>
                </a:solidFill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des indicateurs de TNN de S1-48_2025</a:t>
            </a:r>
            <a:endParaRPr lang="fr-FR" altLang="en-GB" sz="2800" b="1" dirty="0">
              <a:solidFill>
                <a:srgbClr val="0070C0"/>
              </a:solidFill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6527DA0-9BA7-495E-98C5-8B387D1FA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27" y="1637881"/>
            <a:ext cx="5343849" cy="4815730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3E03344E-EB6F-41D9-80BE-6D9904235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489885"/>
              </p:ext>
            </p:extLst>
          </p:nvPr>
        </p:nvGraphicFramePr>
        <p:xfrm>
          <a:off x="6629400" y="272232"/>
          <a:ext cx="4878457" cy="6302316"/>
        </p:xfrm>
        <a:graphic>
          <a:graphicData uri="http://schemas.openxmlformats.org/drawingml/2006/table">
            <a:tbl>
              <a:tblPr/>
              <a:tblGrid>
                <a:gridCol w="2121794">
                  <a:extLst>
                    <a:ext uri="{9D8B030D-6E8A-4147-A177-3AD203B41FA5}">
                      <a16:colId xmlns:a16="http://schemas.microsoft.com/office/drawing/2014/main" val="2276494790"/>
                    </a:ext>
                  </a:extLst>
                </a:gridCol>
                <a:gridCol w="2756663">
                  <a:extLst>
                    <a:ext uri="{9D8B030D-6E8A-4147-A177-3AD203B41FA5}">
                      <a16:colId xmlns:a16="http://schemas.microsoft.com/office/drawing/2014/main" val="1770765263"/>
                    </a:ext>
                  </a:extLst>
                </a:gridCol>
              </a:tblGrid>
              <a:tr h="427678">
                <a:tc>
                  <a:txBody>
                    <a:bodyPr/>
                    <a:lstStyle/>
                    <a:p>
                      <a:pPr algn="l" fontAlgn="b"/>
                      <a:r>
                        <a:rPr lang="fr-FR" dirty="0"/>
                        <a:t>Province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dirty="0" smtClean="0"/>
                        <a:t>ZS</a:t>
                      </a:r>
                      <a:endParaRPr lang="fr-FR" dirty="0"/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15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BAS-UELE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AKETI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256701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BASANKUSU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551212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BIKORO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557964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BOLOMBA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156930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BOMONGO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21189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BAS-UELE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GANGA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060175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BAS-UELE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LIKATI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81950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MAKANZA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83506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MONIEKA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52490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WANGATA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767487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HAUT-LOMAMI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KANIAMA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43771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HAUT-LOMAMI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MULONGO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819722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HAUT-UELE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ISIRO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723233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ILEBO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613958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KALONDA OUEST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262494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KWILU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VANGA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926678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MAINDOMBE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INONGO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84682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ALUNGULI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280715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KAMPENE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760104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KIBOMBO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937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KINDU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162030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KUNDA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50611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SAMBA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207711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SARAMABILA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105703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TUNDA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54325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MONGALA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LISALA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46921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NORD-KIVU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BIRABIDJO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148246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NORD-UBANGI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ABUZI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59204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SANKURU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LUSAMBO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79593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SANKURU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VANGAKETE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814402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ANKORO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281138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KABALO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54293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MBULALA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515065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NYEMBA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084862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NYUNZU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528381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TSHOPO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YAHUMA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136997"/>
                  </a:ext>
                </a:extLst>
              </a:tr>
              <a:tr h="158774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TSHOPO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YALIMBONGO</a:t>
                      </a:r>
                    </a:p>
                  </a:txBody>
                  <a:tcPr marL="3949" marR="3949" marT="39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30588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15664" y="968746"/>
            <a:ext cx="4233672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chemeClr val="tx1"/>
                </a:solidFill>
              </a:rPr>
              <a:t>ZS AYANT DEPASSÉ LE SEUIL D’ELIMINATION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11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Surveillance de MAPI</a:t>
            </a:r>
            <a:endParaRPr lang="fr-FR" altLang="en-GB" sz="16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graphicFrame>
        <p:nvGraphicFramePr>
          <p:cNvPr id="16" name="Tableau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006785"/>
              </p:ext>
            </p:extLst>
          </p:nvPr>
        </p:nvGraphicFramePr>
        <p:xfrm>
          <a:off x="5546280" y="22807"/>
          <a:ext cx="6599538" cy="6891926"/>
        </p:xfrm>
        <a:graphic>
          <a:graphicData uri="http://schemas.openxmlformats.org/drawingml/2006/table">
            <a:tbl>
              <a:tblPr/>
              <a:tblGrid>
                <a:gridCol w="52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043">
                  <a:extLst>
                    <a:ext uri="{9D8B030D-6E8A-4147-A177-3AD203B41FA5}">
                      <a16:colId xmlns:a16="http://schemas.microsoft.com/office/drawing/2014/main" val="290092750"/>
                    </a:ext>
                  </a:extLst>
                </a:gridCol>
                <a:gridCol w="790043">
                  <a:extLst>
                    <a:ext uri="{9D8B030D-6E8A-4147-A177-3AD203B41FA5}">
                      <a16:colId xmlns:a16="http://schemas.microsoft.com/office/drawing/2014/main" val="1609174416"/>
                    </a:ext>
                  </a:extLst>
                </a:gridCol>
                <a:gridCol w="85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164">
                  <a:extLst>
                    <a:ext uri="{9D8B030D-6E8A-4147-A177-3AD203B41FA5}">
                      <a16:colId xmlns:a16="http://schemas.microsoft.com/office/drawing/2014/main" val="990026836"/>
                    </a:ext>
                  </a:extLst>
                </a:gridCol>
                <a:gridCol w="853164">
                  <a:extLst>
                    <a:ext uri="{9D8B030D-6E8A-4147-A177-3AD203B41FA5}">
                      <a16:colId xmlns:a16="http://schemas.microsoft.com/office/drawing/2014/main" val="2169310623"/>
                    </a:ext>
                  </a:extLst>
                </a:gridCol>
              </a:tblGrid>
              <a:tr h="38128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N°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Province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MAPI</a:t>
                      </a:r>
                      <a:r>
                        <a:rPr lang="fr-F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non graves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MAPI Graves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80"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DHIS2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ODK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Vigibase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DHIS2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Vigibase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ODK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8608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Bas-</a:t>
                      </a:r>
                      <a:r>
                        <a:rPr lang="fr-F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uele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Equateur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Haut-katanga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Haut-lomami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Haut-</a:t>
                      </a:r>
                      <a:r>
                        <a:rPr lang="fr-F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uele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fr-FR" sz="14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 smtClean="0">
                          <a:effectLst/>
                          <a:latin typeface="+mn-lt"/>
                        </a:rPr>
                        <a:t>5</a:t>
                      </a:r>
                      <a:endParaRPr lang="en-US" sz="1400" b="0" i="0" u="none" strike="noStrike" dirty="0"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Ituri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Kasai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994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Kasai-central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Kasai-oriental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Kinshasa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3 717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23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1019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56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Kongo-central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Kwango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953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Kwilu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485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Lomami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Lualaba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644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Maindombe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Maniema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2 317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Mongala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Nord-kivu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66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Nord-ubangi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Sankuru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Sud-kivu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1 231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Sud-ubangi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1 214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Tanganyika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Tshopo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3 894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Tshuapa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3 523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3437"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5161" marR="5161" marT="51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22 634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206</a:t>
                      </a: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1254</a:t>
                      </a: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+mn-lt"/>
                        </a:rPr>
                        <a:t>554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</a:t>
                      </a:r>
                      <a:endParaRPr lang="fr-FR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5044"/>
                  </a:ext>
                </a:extLst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313154"/>
              </p:ext>
            </p:extLst>
          </p:nvPr>
        </p:nvGraphicFramePr>
        <p:xfrm>
          <a:off x="493325" y="828632"/>
          <a:ext cx="4780640" cy="2291713"/>
        </p:xfrm>
        <a:graphic>
          <a:graphicData uri="http://schemas.openxmlformats.org/drawingml/2006/table">
            <a:tbl>
              <a:tblPr/>
              <a:tblGrid>
                <a:gridCol w="2101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0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MAPI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1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MAPI non grave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2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MAPI grave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554</a:t>
                      </a:r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3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MAPI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au 6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17034889"/>
              </p:ext>
            </p:extLst>
          </p:nvPr>
        </p:nvGraphicFramePr>
        <p:xfrm>
          <a:off x="375344" y="3260443"/>
          <a:ext cx="4944802" cy="3597558"/>
        </p:xfrm>
        <a:graphic>
          <a:graphicData uri="http://schemas.openxmlformats.org/drawingml/2006/table">
            <a:tbl>
              <a:tblPr/>
              <a:tblGrid>
                <a:gridCol w="9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163">
                  <a:extLst>
                    <a:ext uri="{9D8B030D-6E8A-4147-A177-3AD203B41FA5}">
                      <a16:colId xmlns:a16="http://schemas.microsoft.com/office/drawing/2014/main" val="524054330"/>
                    </a:ext>
                  </a:extLst>
                </a:gridCol>
                <a:gridCol w="294762">
                  <a:extLst>
                    <a:ext uri="{9D8B030D-6E8A-4147-A177-3AD203B41FA5}">
                      <a16:colId xmlns:a16="http://schemas.microsoft.com/office/drawing/2014/main" val="3681951456"/>
                    </a:ext>
                  </a:extLst>
                </a:gridCol>
                <a:gridCol w="363908">
                  <a:extLst>
                    <a:ext uri="{9D8B030D-6E8A-4147-A177-3AD203B41FA5}">
                      <a16:colId xmlns:a16="http://schemas.microsoft.com/office/drawing/2014/main" val="2000833216"/>
                    </a:ext>
                  </a:extLst>
                </a:gridCol>
                <a:gridCol w="388719">
                  <a:extLst>
                    <a:ext uri="{9D8B030D-6E8A-4147-A177-3AD203B41FA5}">
                      <a16:colId xmlns:a16="http://schemas.microsoft.com/office/drawing/2014/main" val="3583131834"/>
                    </a:ext>
                  </a:extLst>
                </a:gridCol>
                <a:gridCol w="438344">
                  <a:extLst>
                    <a:ext uri="{9D8B030D-6E8A-4147-A177-3AD203B41FA5}">
                      <a16:colId xmlns:a16="http://schemas.microsoft.com/office/drawing/2014/main" val="2003762678"/>
                    </a:ext>
                  </a:extLst>
                </a:gridCol>
                <a:gridCol w="372178">
                  <a:extLst>
                    <a:ext uri="{9D8B030D-6E8A-4147-A177-3AD203B41FA5}">
                      <a16:colId xmlns:a16="http://schemas.microsoft.com/office/drawing/2014/main" val="2894453343"/>
                    </a:ext>
                  </a:extLst>
                </a:gridCol>
                <a:gridCol w="438344">
                  <a:extLst>
                    <a:ext uri="{9D8B030D-6E8A-4147-A177-3AD203B41FA5}">
                      <a16:colId xmlns:a16="http://schemas.microsoft.com/office/drawing/2014/main" val="2837205330"/>
                    </a:ext>
                  </a:extLst>
                </a:gridCol>
                <a:gridCol w="438344">
                  <a:extLst>
                    <a:ext uri="{9D8B030D-6E8A-4147-A177-3AD203B41FA5}">
                      <a16:colId xmlns:a16="http://schemas.microsoft.com/office/drawing/2014/main" val="1839198067"/>
                    </a:ext>
                  </a:extLst>
                </a:gridCol>
                <a:gridCol w="438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410">
                  <a:extLst>
                    <a:ext uri="{9D8B030D-6E8A-4147-A177-3AD203B41FA5}">
                      <a16:colId xmlns:a16="http://schemas.microsoft.com/office/drawing/2014/main" val="2903269865"/>
                    </a:ext>
                  </a:extLst>
                </a:gridCol>
              </a:tblGrid>
              <a:tr h="95898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Antigène/Produit de santé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PCV13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VPI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VPOb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R21 M.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nVPO2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MVA-BN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615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+mn-ea"/>
                        </a:rPr>
                        <a:t>MAPI grave notifiées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981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MAPI grave </a:t>
                      </a:r>
                      <a:r>
                        <a:rPr lang="fr-F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invistiguée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8981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MAPI grave classifiées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9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600" y="272241"/>
            <a:ext cx="11274800" cy="49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Surveillance Sentinelle </a:t>
            </a:r>
            <a:endParaRPr lang="fr-FR" altLang="en-GB" sz="32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7" name="Grouper 16"/>
          <p:cNvGrpSpPr/>
          <p:nvPr/>
        </p:nvGrpSpPr>
        <p:grpSpPr>
          <a:xfrm>
            <a:off x="267970" y="694055"/>
            <a:ext cx="11414760" cy="5982970"/>
            <a:chOff x="422" y="1093"/>
            <a:chExt cx="17976" cy="9422"/>
          </a:xfrm>
        </p:grpSpPr>
        <p:sp>
          <p:nvSpPr>
            <p:cNvPr id="224" name="Google Shape;224;p16"/>
            <p:cNvSpPr txBox="1"/>
            <p:nvPr/>
          </p:nvSpPr>
          <p:spPr>
            <a:xfrm>
              <a:off x="422" y="10225"/>
              <a:ext cx="17976" cy="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12190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1155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Revue annuelle PEV 2025</a:t>
              </a:r>
            </a:p>
          </p:txBody>
        </p:sp>
        <p:sp>
          <p:nvSpPr>
            <p:cNvPr id="4" name="Zone de texte 3"/>
            <p:cNvSpPr txBox="1"/>
            <p:nvPr>
              <p:custDataLst>
                <p:tags r:id="rId1"/>
              </p:custDataLst>
            </p:nvPr>
          </p:nvSpPr>
          <p:spPr>
            <a:xfrm>
              <a:off x="689" y="1204"/>
              <a:ext cx="6964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fr-FR" altLang="en-US" b="1" dirty="0" smtClean="0">
                  <a:sym typeface="+mn-ea"/>
                </a:rPr>
                <a:t>Notification SRC par site et par sexe 20225</a:t>
              </a:r>
              <a:endParaRPr lang="fr-FR" altLang="en-US" b="1" dirty="0">
                <a:sym typeface="+mn-ea"/>
              </a:endParaRPr>
            </a:p>
          </p:txBody>
        </p:sp>
        <p:sp>
          <p:nvSpPr>
            <p:cNvPr id="8" name="Zone de texte 7"/>
            <p:cNvSpPr txBox="1"/>
            <p:nvPr>
              <p:custDataLst>
                <p:tags r:id="rId2"/>
              </p:custDataLst>
            </p:nvPr>
          </p:nvSpPr>
          <p:spPr>
            <a:xfrm>
              <a:off x="9905" y="1093"/>
              <a:ext cx="8233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fr-FR" altLang="en-US" b="1" dirty="0">
                  <a:sym typeface="+mn-ea"/>
                </a:rPr>
                <a:t>Notification </a:t>
              </a:r>
              <a:r>
                <a:rPr lang="fr-FR" altLang="en-US" b="1" dirty="0" smtClean="0">
                  <a:sym typeface="+mn-ea"/>
                </a:rPr>
                <a:t>Méningite en milieu pédiatrique par site 2025 </a:t>
              </a:r>
              <a:endParaRPr lang="fr-FR" altLang="en-US" b="1" dirty="0">
                <a:sym typeface="+mn-ea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81" y="6489"/>
              <a:ext cx="7691" cy="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05" y="6489"/>
              <a:ext cx="7691" cy="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</p:grp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473537"/>
              </p:ext>
            </p:extLst>
          </p:nvPr>
        </p:nvGraphicFramePr>
        <p:xfrm>
          <a:off x="5957458" y="1523989"/>
          <a:ext cx="6040580" cy="3491989"/>
        </p:xfrm>
        <a:graphic>
          <a:graphicData uri="http://schemas.openxmlformats.org/drawingml/2006/table">
            <a:tbl>
              <a:tblPr/>
              <a:tblGrid>
                <a:gridCol w="884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60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76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194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09206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 du Site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Nombre de cas suspects de méningites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Nombre de cas suspects de méningites avec PL effectuée (&gt;90%)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Nombre de cas avec resultats de laboratoire reçus (&gt;90%)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Nombre de cas avec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resultats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culture laboratoire reçus (&gt;90%)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Nombre de cas probable de méningite bactérienne (20%)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Nombre de cas probable de méningite bactérienne décédés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Cas probables de méningite avec Nm identifiés avec latex, culture ou PCR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Cas suspects de méningite avec Pneumocoque identifiés avec latex, culture ou PCR (20%)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7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Centre Hospitalier de Kingasani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+mn-lt"/>
                        </a:rPr>
                        <a:t>94%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+mn-lt"/>
                        </a:rPr>
                        <a:t>22%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9C0006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9C0006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390"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Hopital provincial de Sendwe/Watoto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80%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390"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Hopital pédiatrique de Kalembelembe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314"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3835" marR="3835" marT="3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41,8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3835" marR="3835" marT="3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" name="Imag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70" y="1542458"/>
            <a:ext cx="5318769" cy="35269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600" y="272241"/>
            <a:ext cx="11274800" cy="49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Surveillance Sentinelle </a:t>
            </a:r>
            <a:endParaRPr lang="fr-FR" altLang="en-GB" sz="32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7" name="Grouper 16"/>
          <p:cNvGrpSpPr/>
          <p:nvPr/>
        </p:nvGrpSpPr>
        <p:grpSpPr>
          <a:xfrm>
            <a:off x="136237" y="1354731"/>
            <a:ext cx="11579225" cy="5376545"/>
            <a:chOff x="163" y="2048"/>
            <a:chExt cx="18235" cy="8467"/>
          </a:xfrm>
        </p:grpSpPr>
        <p:sp>
          <p:nvSpPr>
            <p:cNvPr id="224" name="Google Shape;224;p16"/>
            <p:cNvSpPr txBox="1"/>
            <p:nvPr/>
          </p:nvSpPr>
          <p:spPr>
            <a:xfrm>
              <a:off x="422" y="10225"/>
              <a:ext cx="17976" cy="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12190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1155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Revue annuelle PEV 2025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600" y="2114"/>
              <a:ext cx="0" cy="8397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  <p:sp>
          <p:nvSpPr>
            <p:cNvPr id="5" name="Zone de texte 4"/>
            <p:cNvSpPr txBox="1"/>
            <p:nvPr>
              <p:custDataLst>
                <p:tags r:id="rId1"/>
              </p:custDataLst>
            </p:nvPr>
          </p:nvSpPr>
          <p:spPr>
            <a:xfrm>
              <a:off x="163" y="2105"/>
              <a:ext cx="8775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fr-FR" altLang="en-US" b="1" dirty="0" smtClean="0">
                  <a:sym typeface="+mn-ea"/>
                </a:rPr>
                <a:t>Notification diarrhée à </a:t>
              </a:r>
              <a:r>
                <a:rPr lang="fr-FR" altLang="en-US" b="1" dirty="0" err="1" smtClean="0">
                  <a:sym typeface="+mn-ea"/>
                </a:rPr>
                <a:t>Rotavirus</a:t>
              </a:r>
              <a:r>
                <a:rPr lang="fr-FR" altLang="en-US" b="1" dirty="0" smtClean="0">
                  <a:sym typeface="+mn-ea"/>
                </a:rPr>
                <a:t> par site 2025 </a:t>
              </a:r>
              <a:endParaRPr lang="fr-FR" altLang="en-US" b="1" dirty="0">
                <a:sym typeface="+mn-ea"/>
              </a:endParaRPr>
            </a:p>
          </p:txBody>
        </p:sp>
        <p:sp>
          <p:nvSpPr>
            <p:cNvPr id="6" name="Zone de texte 5"/>
            <p:cNvSpPr txBox="1"/>
            <p:nvPr>
              <p:custDataLst>
                <p:tags r:id="rId2"/>
              </p:custDataLst>
            </p:nvPr>
          </p:nvSpPr>
          <p:spPr>
            <a:xfrm>
              <a:off x="9905" y="2048"/>
              <a:ext cx="7932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fr-FR" altLang="en-US" b="1" dirty="0">
                  <a:sym typeface="+mn-ea"/>
                </a:rPr>
                <a:t>Notification Invagination Intestinale </a:t>
              </a:r>
              <a:r>
                <a:rPr lang="fr-FR" altLang="en-US" b="1" dirty="0" smtClean="0">
                  <a:sym typeface="+mn-ea"/>
                </a:rPr>
                <a:t>Aigue par site 2025 </a:t>
              </a:r>
              <a:endParaRPr lang="fr-FR" altLang="en-US" b="1" dirty="0">
                <a:sym typeface="+mn-ea"/>
              </a:endParaRPr>
            </a:p>
          </p:txBody>
        </p:sp>
      </p:grpSp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2539312064"/>
              </p:ext>
            </p:extLst>
          </p:nvPr>
        </p:nvGraphicFramePr>
        <p:xfrm>
          <a:off x="6313606" y="2181946"/>
          <a:ext cx="5518176" cy="411725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37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7417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Sites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 err="1">
                          <a:latin typeface="+mn-lt"/>
                        </a:rPr>
                        <a:t>Nombre</a:t>
                      </a:r>
                      <a:r>
                        <a:rPr lang="en-US" altLang="zh-CN" sz="1400" dirty="0">
                          <a:latin typeface="+mn-lt"/>
                        </a:rPr>
                        <a:t> de </a:t>
                      </a:r>
                      <a:r>
                        <a:rPr lang="en-US" altLang="zh-CN" sz="1400" dirty="0" err="1">
                          <a:latin typeface="+mn-lt"/>
                        </a:rPr>
                        <a:t>cas</a:t>
                      </a:r>
                      <a:r>
                        <a:rPr lang="en-US" altLang="zh-CN" sz="1400" dirty="0">
                          <a:latin typeface="+mn-lt"/>
                        </a:rPr>
                        <a:t> des IIA &lt;12 </a:t>
                      </a:r>
                      <a:r>
                        <a:rPr lang="en-US" altLang="zh-CN" sz="1400" dirty="0" err="1">
                          <a:latin typeface="+mn-lt"/>
                        </a:rPr>
                        <a:t>mois</a:t>
                      </a:r>
                      <a:r>
                        <a:rPr lang="en-US" altLang="zh-CN" sz="1400" dirty="0">
                          <a:latin typeface="+mn-lt"/>
                        </a:rPr>
                        <a:t> </a:t>
                      </a:r>
                      <a:r>
                        <a:rPr lang="en-US" altLang="zh-CN" sz="1400" dirty="0" err="1">
                          <a:latin typeface="+mn-lt"/>
                        </a:rPr>
                        <a:t>d’âge</a:t>
                      </a:r>
                      <a:r>
                        <a:rPr lang="en-US" altLang="zh-CN" sz="1400" dirty="0">
                          <a:latin typeface="+mn-lt"/>
                        </a:rPr>
                        <a:t> </a:t>
                      </a:r>
                      <a:r>
                        <a:rPr lang="en-US" altLang="zh-CN" sz="1400" dirty="0" err="1">
                          <a:latin typeface="+mn-lt"/>
                        </a:rPr>
                        <a:t>dans</a:t>
                      </a:r>
                      <a:r>
                        <a:rPr lang="en-US" altLang="zh-CN" sz="1400" dirty="0">
                          <a:latin typeface="+mn-lt"/>
                        </a:rPr>
                        <a:t> la base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% des </a:t>
                      </a:r>
                      <a:r>
                        <a:rPr lang="en-US" altLang="zh-CN" sz="1400" dirty="0" err="1">
                          <a:latin typeface="+mn-lt"/>
                        </a:rPr>
                        <a:t>cas</a:t>
                      </a:r>
                      <a:r>
                        <a:rPr lang="en-US" altLang="zh-CN" sz="1400" dirty="0">
                          <a:latin typeface="+mn-lt"/>
                        </a:rPr>
                        <a:t> avec confirmation de vaccination 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N (%) des </a:t>
                      </a:r>
                      <a:r>
                        <a:rPr lang="en-US" altLang="zh-CN" sz="1400" dirty="0" err="1">
                          <a:latin typeface="+mn-lt"/>
                        </a:rPr>
                        <a:t>cas</a:t>
                      </a:r>
                      <a:r>
                        <a:rPr lang="en-US" altLang="zh-CN" sz="1400" dirty="0">
                          <a:latin typeface="+mn-lt"/>
                        </a:rPr>
                        <a:t> des IIA qui </a:t>
                      </a:r>
                      <a:r>
                        <a:rPr lang="en-US" altLang="zh-CN" sz="1400" dirty="0" err="1" smtClean="0">
                          <a:latin typeface="+mn-lt"/>
                        </a:rPr>
                        <a:t>sont</a:t>
                      </a:r>
                      <a:r>
                        <a:rPr lang="en-US" altLang="zh-CN" sz="1400" dirty="0" smtClean="0">
                          <a:latin typeface="+mn-lt"/>
                        </a:rPr>
                        <a:t> </a:t>
                      </a:r>
                      <a:r>
                        <a:rPr lang="en-US" altLang="zh-CN" sz="1400" dirty="0" err="1" smtClean="0">
                          <a:latin typeface="+mn-lt"/>
                        </a:rPr>
                        <a:t>décédés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45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CUK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10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9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0%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5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HGK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3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2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0" lang="en-US" altLang="zh-CN" sz="1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 panose="02010600030101010101" pitchFamily="2" charset="-122"/>
                          <a:cs typeface="+mn-cs"/>
                          <a:sym typeface="Arial" panose="020B0604020202020204"/>
                        </a:rPr>
                        <a:t>0%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5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HPK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11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11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0" lang="en-US" altLang="zh-CN" sz="1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 panose="02010600030101010101" pitchFamily="2" charset="-122"/>
                          <a:cs typeface="+mn-cs"/>
                          <a:sym typeface="Arial" panose="020B0604020202020204"/>
                        </a:rPr>
                        <a:t>0%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45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Total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24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+mn-lt"/>
                        </a:rPr>
                        <a:t> </a:t>
                      </a:r>
                      <a:r>
                        <a:rPr lang="en-US" altLang="zh-CN" sz="1400" dirty="0" smtClean="0">
                          <a:latin typeface="+mn-lt"/>
                        </a:rPr>
                        <a:t>22</a:t>
                      </a:r>
                      <a:endParaRPr lang="en-US" altLang="zh-CN" sz="14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0" lang="en-US" altLang="zh-CN" sz="1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 panose="02010600030101010101" pitchFamily="2" charset="-122"/>
                          <a:cs typeface="+mn-cs"/>
                          <a:sym typeface="Arial" panose="020B0604020202020204"/>
                        </a:rPr>
                        <a:t>0%</a:t>
                      </a:r>
                      <a:endParaRPr sz="1400" dirty="0">
                        <a:latin typeface="+mn-l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Imag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37" y="2115127"/>
            <a:ext cx="5798821" cy="41840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328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20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FFOM/LE</a:t>
            </a:r>
            <a:r>
              <a:rPr lang="en-US" altLang="en-US" sz="4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Ç</a:t>
            </a:r>
            <a:r>
              <a:rPr lang="fr-FR" sz="4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ONS APPRISES -BONNE PRATIQUE</a:t>
            </a:r>
            <a:endParaRPr lang="fr-FR" altLang="en-GB" sz="4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7672" y="568892"/>
            <a:ext cx="4523624" cy="3706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60217"/>
            <a:ext cx="11336244" cy="689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Forces - Faiblesses - Opportunités - </a:t>
            </a:r>
            <a:r>
              <a:rPr lang="fr-FR" altLang="en-GB" sz="2665" b="1" dirty="0" err="1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Ménaces</a:t>
            </a:r>
            <a:endParaRPr lang="fr-FR" altLang="en-GB" sz="32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7" name="Grouper 16"/>
          <p:cNvGrpSpPr/>
          <p:nvPr/>
        </p:nvGrpSpPr>
        <p:grpSpPr>
          <a:xfrm>
            <a:off x="117800" y="841033"/>
            <a:ext cx="11772900" cy="6264275"/>
            <a:chOff x="163" y="1519"/>
            <a:chExt cx="18540" cy="9865"/>
          </a:xfrm>
        </p:grpSpPr>
        <p:sp>
          <p:nvSpPr>
            <p:cNvPr id="224" name="Google Shape;224;p16"/>
            <p:cNvSpPr txBox="1"/>
            <p:nvPr/>
          </p:nvSpPr>
          <p:spPr>
            <a:xfrm>
              <a:off x="422" y="10225"/>
              <a:ext cx="17976" cy="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12190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 dirty="0">
                  <a:solidFill>
                    <a:srgbClr val="1155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Revue annuelle PEV 2025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600" y="2114"/>
              <a:ext cx="0" cy="8397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  <p:sp>
          <p:nvSpPr>
            <p:cNvPr id="4" name="Zone de texte 3"/>
            <p:cNvSpPr txBox="1"/>
            <p:nvPr>
              <p:custDataLst>
                <p:tags r:id="rId1"/>
              </p:custDataLst>
            </p:nvPr>
          </p:nvSpPr>
          <p:spPr>
            <a:xfrm>
              <a:off x="163" y="1799"/>
              <a:ext cx="80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fr-FR" altLang="en-US" b="1" dirty="0">
                  <a:sym typeface="+mn-ea"/>
                </a:rPr>
                <a:t>Forces</a:t>
              </a:r>
              <a:r>
                <a:rPr lang="fr-FR" altLang="en-US" dirty="0">
                  <a:sym typeface="+mn-ea"/>
                </a:rPr>
                <a:t> </a:t>
              </a:r>
            </a:p>
          </p:txBody>
        </p:sp>
        <p:sp>
          <p:nvSpPr>
            <p:cNvPr id="6" name="Zone de texte 5"/>
            <p:cNvSpPr txBox="1"/>
            <p:nvPr>
              <p:custDataLst>
                <p:tags r:id="rId2"/>
              </p:custDataLst>
            </p:nvPr>
          </p:nvSpPr>
          <p:spPr>
            <a:xfrm>
              <a:off x="9905" y="7875"/>
              <a:ext cx="45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fr-FR" altLang="en-US" b="1" dirty="0">
                  <a:sym typeface="+mn-ea"/>
                </a:rPr>
                <a:t>Menaces</a:t>
              </a:r>
              <a:r>
                <a:rPr lang="fr-FR" altLang="en-US" dirty="0">
                  <a:sym typeface="+mn-ea"/>
                </a:rPr>
                <a:t>  </a:t>
              </a:r>
            </a:p>
          </p:txBody>
        </p:sp>
        <p:sp>
          <p:nvSpPr>
            <p:cNvPr id="8" name="Zone de texte 7"/>
            <p:cNvSpPr txBox="1"/>
            <p:nvPr>
              <p:custDataLst>
                <p:tags r:id="rId3"/>
              </p:custDataLst>
            </p:nvPr>
          </p:nvSpPr>
          <p:spPr>
            <a:xfrm>
              <a:off x="9905" y="1519"/>
              <a:ext cx="45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fr-FR" altLang="en-US" b="1" dirty="0">
                  <a:sym typeface="+mn-ea"/>
                </a:rPr>
                <a:t>Faiblesses 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81" y="11384"/>
              <a:ext cx="7691" cy="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  <p:sp>
          <p:nvSpPr>
            <p:cNvPr id="12" name="Zone de texte 11"/>
            <p:cNvSpPr txBox="1"/>
            <p:nvPr/>
          </p:nvSpPr>
          <p:spPr>
            <a:xfrm>
              <a:off x="341" y="2443"/>
              <a:ext cx="8954" cy="33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Les appuis pendant les AVS pour le renforcement de la surveillance active,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Maintient de taux de PFA non polio à plus de 3 pour 100 000 enfants NB: il s’agit d’</a:t>
              </a:r>
              <a:r>
                <a:rPr lang="en-US" altLang="fr-FR" sz="2000" dirty="0"/>
                <a:t>un </a:t>
              </a:r>
              <a:r>
                <a:rPr lang="en-US" altLang="fr-FR" sz="2000" dirty="0" err="1"/>
                <a:t>atout</a:t>
              </a:r>
              <a:r>
                <a:rPr lang="en-US" altLang="fr-FR" sz="2000" dirty="0"/>
                <a:t> interne (leadership, innovation, mobilisation</a:t>
              </a:r>
              <a:r>
                <a:rPr lang="fr-FR" altLang="en-US" sz="2000" dirty="0"/>
                <a:t>, stratégie, approche) ayant contribué à l’atteinte des bons résultats;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Introduction de la surveillance </a:t>
              </a:r>
              <a:r>
                <a:rPr lang="fr-FR" altLang="en-US" sz="2000" dirty="0" err="1"/>
                <a:t>eSurv</a:t>
              </a:r>
              <a:r>
                <a:rPr lang="fr-FR" altLang="en-US" sz="2000" dirty="0"/>
                <a:t> Companion avec validation des sites dans 19 provinces </a:t>
              </a:r>
              <a:endParaRPr lang="fr-FR" altLang="en-US" sz="20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 smtClean="0"/>
                <a:t>Appui </a:t>
              </a:r>
              <a:r>
                <a:rPr lang="fr-FR" altLang="en-US" sz="2000" dirty="0"/>
                <a:t>des différents comités indépendants(CNC polio, CNV rougeole, CNIE-MAPI)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alt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altLang="en-US" dirty="0"/>
            </a:p>
          </p:txBody>
        </p:sp>
        <p:sp>
          <p:nvSpPr>
            <p:cNvPr id="14" name="Zone de texte 13"/>
            <p:cNvSpPr txBox="1"/>
            <p:nvPr/>
          </p:nvSpPr>
          <p:spPr>
            <a:xfrm>
              <a:off x="9900" y="2036"/>
              <a:ext cx="8733" cy="5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Rupture des kits de collectes des échantillons pour la surveillance sentinelle;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fr-FR" sz="2000" dirty="0"/>
                <a:t>Faible rapportage des ripostes autour des cas de TNN, Rougeole</a:t>
              </a:r>
              <a:endParaRPr lang="fr-FR" altLang="en-US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Faible notification des cas de MAPI en routine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Réduction du nombre des MPV notifiées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Faible proportion des échantillons qui arrivent dans le délai au laboratoire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Faible taux d’isolation d’entérovirus dans les sites de surveillance environnementale de la Polio (18,5%)</a:t>
              </a:r>
            </a:p>
          </p:txBody>
        </p:sp>
        <p:sp>
          <p:nvSpPr>
            <p:cNvPr id="15" name="Zone de texte 14"/>
            <p:cNvSpPr txBox="1"/>
            <p:nvPr/>
          </p:nvSpPr>
          <p:spPr>
            <a:xfrm>
              <a:off x="371" y="7867"/>
              <a:ext cx="8733" cy="29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altLang="en-US" dirty="0"/>
            </a:p>
          </p:txBody>
        </p:sp>
        <p:sp>
          <p:nvSpPr>
            <p:cNvPr id="16" name="Zone de texte 15"/>
            <p:cNvSpPr txBox="1"/>
            <p:nvPr/>
          </p:nvSpPr>
          <p:spPr>
            <a:xfrm>
              <a:off x="9900" y="8664"/>
              <a:ext cx="8803" cy="15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dirty="0"/>
                <a:t>La réduction de financement de partenaires à la vaccination;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altLang="en-US" dirty="0"/>
            </a:p>
            <a:p>
              <a:r>
                <a:rPr lang="fr-FR" altLang="en-US" dirty="0"/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527343" y="309803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Problèmes prioritaires-</a:t>
            </a:r>
            <a:r>
              <a:rPr lang="fr-FR" altLang="en-GB" sz="2665" b="1" dirty="0" err="1" smtClean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Defis</a:t>
            </a:r>
            <a:endParaRPr lang="fr-FR" altLang="en-GB" sz="3200" b="1" dirty="0">
              <a:solidFill>
                <a:srgbClr val="0070C0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7" name="Grouper 16"/>
          <p:cNvGrpSpPr/>
          <p:nvPr/>
        </p:nvGrpSpPr>
        <p:grpSpPr>
          <a:xfrm>
            <a:off x="185729" y="849342"/>
            <a:ext cx="11858489" cy="5957857"/>
            <a:chOff x="163" y="1519"/>
            <a:chExt cx="18615" cy="8996"/>
          </a:xfrm>
        </p:grpSpPr>
        <p:sp>
          <p:nvSpPr>
            <p:cNvPr id="224" name="Google Shape;224;p16"/>
            <p:cNvSpPr txBox="1"/>
            <p:nvPr/>
          </p:nvSpPr>
          <p:spPr>
            <a:xfrm>
              <a:off x="422" y="10225"/>
              <a:ext cx="17976" cy="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12190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1155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Revue annuelle PEV 2025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600" y="2114"/>
              <a:ext cx="0" cy="8397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  <p:sp>
          <p:nvSpPr>
            <p:cNvPr id="4" name="Zone de texte 3"/>
            <p:cNvSpPr txBox="1"/>
            <p:nvPr>
              <p:custDataLst>
                <p:tags r:id="rId1"/>
              </p:custDataLst>
            </p:nvPr>
          </p:nvSpPr>
          <p:spPr>
            <a:xfrm>
              <a:off x="163" y="1670"/>
              <a:ext cx="7997" cy="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fr-FR" altLang="en-US" b="1" dirty="0" smtClean="0">
                  <a:sym typeface="+mn-ea"/>
                </a:rPr>
                <a:t>Problèmes </a:t>
              </a:r>
              <a:r>
                <a:rPr lang="fr-FR" altLang="en-US" b="1" dirty="0" smtClean="0">
                  <a:latin typeface="+mj-lt"/>
                  <a:sym typeface="+mn-ea"/>
                </a:rPr>
                <a:t>prioritaires</a:t>
              </a:r>
              <a:endParaRPr lang="fr-FR" altLang="en-US" b="1" dirty="0">
                <a:latin typeface="+mj-lt"/>
                <a:sym typeface="+mn-ea"/>
              </a:endParaRPr>
            </a:p>
          </p:txBody>
        </p:sp>
        <p:sp>
          <p:nvSpPr>
            <p:cNvPr id="8" name="Zone de texte 7"/>
            <p:cNvSpPr txBox="1"/>
            <p:nvPr>
              <p:custDataLst>
                <p:tags r:id="rId2"/>
              </p:custDataLst>
            </p:nvPr>
          </p:nvSpPr>
          <p:spPr>
            <a:xfrm>
              <a:off x="9905" y="1519"/>
              <a:ext cx="4533" cy="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fr-FR" altLang="en-US" b="1" dirty="0" err="1" smtClean="0">
                  <a:latin typeface="+mj-lt"/>
                  <a:sym typeface="+mn-ea"/>
                </a:rPr>
                <a:t>Defis</a:t>
              </a:r>
              <a:r>
                <a:rPr lang="fr-FR" altLang="en-US" b="1" dirty="0" smtClean="0">
                  <a:latin typeface="+mj-lt"/>
                  <a:sym typeface="+mn-ea"/>
                </a:rPr>
                <a:t> </a:t>
              </a:r>
              <a:endParaRPr lang="fr-FR" altLang="en-US" b="1" dirty="0">
                <a:latin typeface="+mj-lt"/>
                <a:sym typeface="+mn-ea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81" y="6489"/>
              <a:ext cx="7691" cy="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altLang="en-US"/>
            </a:p>
          </p:txBody>
        </p:sp>
        <p:sp>
          <p:nvSpPr>
            <p:cNvPr id="14" name="Zone de texte 13"/>
            <p:cNvSpPr txBox="1"/>
            <p:nvPr/>
          </p:nvSpPr>
          <p:spPr>
            <a:xfrm>
              <a:off x="10182" y="2288"/>
              <a:ext cx="8596" cy="7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L’accessibilité géographique difficile dans certaines parties du pays;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/>
                <a:t>Les contraintes sécuritaires dans les provinces de Nord Kivu, Sud Kivu, </a:t>
              </a:r>
              <a:r>
                <a:rPr lang="fr-FR" altLang="en-US" sz="2000" dirty="0" err="1"/>
                <a:t>Ituri</a:t>
              </a:r>
              <a:r>
                <a:rPr lang="fr-FR" altLang="en-US" sz="2000" dirty="0"/>
                <a:t> et partiellement Mai </a:t>
              </a:r>
              <a:r>
                <a:rPr lang="fr-FR" altLang="en-US" sz="2000" dirty="0" smtClean="0"/>
                <a:t>Ndombe;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 smtClean="0"/>
                <a:t>Elimination des épidémies de </a:t>
              </a:r>
              <a:r>
                <a:rPr lang="fr-FR" altLang="en-US" sz="2000" dirty="0" err="1" smtClean="0"/>
                <a:t>poliovarient</a:t>
              </a:r>
              <a:r>
                <a:rPr lang="fr-FR" altLang="en-US" sz="2000" dirty="0" smtClean="0"/>
                <a:t> d’ici fin 2026;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 smtClean="0"/>
                <a:t>Mettre fin aux épidémies </a:t>
              </a:r>
              <a:r>
                <a:rPr lang="fr-FR" altLang="en-US" sz="2000" dirty="0" err="1" smtClean="0"/>
                <a:t>recurrentes</a:t>
              </a:r>
              <a:r>
                <a:rPr lang="fr-FR" altLang="en-US" sz="2000" dirty="0" smtClean="0"/>
                <a:t> de rougeole et </a:t>
              </a:r>
              <a:r>
                <a:rPr lang="fr-FR" altLang="en-US" sz="2000" dirty="0" err="1" smtClean="0"/>
                <a:t>rubeole</a:t>
              </a:r>
              <a:r>
                <a:rPr lang="fr-FR" altLang="en-US" sz="2000" dirty="0" smtClean="0"/>
                <a:t>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altLang="en-US" sz="2000" dirty="0" smtClean="0"/>
                <a:t>Organisation des ripostes dans le </a:t>
              </a:r>
              <a:r>
                <a:rPr lang="fr-FR" altLang="en-US" sz="2000" dirty="0" err="1" smtClean="0"/>
                <a:t>delai</a:t>
              </a:r>
              <a:r>
                <a:rPr lang="fr-FR" altLang="en-US" sz="2000" dirty="0" smtClean="0"/>
                <a:t> au tour de cas de polio, de rougeole-</a:t>
              </a:r>
              <a:r>
                <a:rPr lang="fr-FR" altLang="en-US" sz="2000" dirty="0" err="1" smtClean="0"/>
                <a:t>rubeole</a:t>
              </a:r>
              <a:r>
                <a:rPr lang="fr-FR" altLang="en-US" sz="2000" dirty="0" smtClean="0"/>
                <a:t> et Fièvre jaune</a:t>
              </a:r>
            </a:p>
            <a:p>
              <a:endParaRPr lang="fr-FR" altLang="en-US" sz="20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altLang="en-US" sz="2000" dirty="0"/>
            </a:p>
          </p:txBody>
        </p:sp>
      </p:grpSp>
      <p:sp>
        <p:nvSpPr>
          <p:cNvPr id="13" name="Zone de texte 13"/>
          <p:cNvSpPr txBox="1"/>
          <p:nvPr/>
        </p:nvSpPr>
        <p:spPr>
          <a:xfrm>
            <a:off x="130444" y="1497211"/>
            <a:ext cx="5614573" cy="2643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000" dirty="0"/>
              <a:t>Faible proportion des échantillons </a:t>
            </a:r>
            <a:r>
              <a:rPr lang="fr-FR" altLang="en-US" sz="2000" dirty="0" smtClean="0"/>
              <a:t>reçu </a:t>
            </a:r>
            <a:r>
              <a:rPr lang="fr-FR" altLang="en-US" sz="2000" dirty="0"/>
              <a:t>au laboratoire dans le 3 jours après </a:t>
            </a:r>
            <a:r>
              <a:rPr lang="fr-FR" altLang="en-US" sz="2000" dirty="0" smtClean="0"/>
              <a:t>prélèvement soit 15%;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000" dirty="0" smtClean="0"/>
              <a:t>Retard de notification,  investigation des MPV;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000" dirty="0" smtClean="0"/>
              <a:t>Discordance des données entre les différentes bases;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274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Leçons apprises - Bonne pratique</a:t>
            </a:r>
            <a:endParaRPr lang="fr-FR" altLang="en-GB" sz="3200" b="1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1342390"/>
            <a:ext cx="0" cy="533209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>
            <p:custDataLst>
              <p:tags r:id="rId1"/>
            </p:custDataLst>
          </p:nvPr>
        </p:nvSpPr>
        <p:spPr>
          <a:xfrm>
            <a:off x="103505" y="1142048"/>
            <a:ext cx="5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fr-FR" altLang="en-US" sz="2000" b="1">
                <a:sym typeface="+mn-ea"/>
              </a:rPr>
              <a:t>Leçons apprises  </a:t>
            </a:r>
          </a:p>
        </p:txBody>
      </p:sp>
      <p:sp>
        <p:nvSpPr>
          <p:cNvPr id="8" name="Zone de texte 7"/>
          <p:cNvSpPr txBox="1"/>
          <p:nvPr>
            <p:custDataLst>
              <p:tags r:id="rId2"/>
            </p:custDataLst>
          </p:nvPr>
        </p:nvSpPr>
        <p:spPr>
          <a:xfrm>
            <a:off x="6289675" y="1142365"/>
            <a:ext cx="2878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fr-FR" altLang="en-US" sz="2000" b="1" dirty="0">
                <a:sym typeface="+mn-ea"/>
              </a:rPr>
              <a:t>Bonne pratique  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67700" y="1627506"/>
            <a:ext cx="5545455" cy="32215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000" dirty="0" smtClean="0"/>
              <a:t>L’utilisation </a:t>
            </a:r>
            <a:r>
              <a:rPr lang="fr-FR" altLang="en-US" sz="2000" dirty="0"/>
              <a:t>de la </a:t>
            </a:r>
            <a:r>
              <a:rPr lang="fr-FR" altLang="en-US" sz="2000" dirty="0" err="1" smtClean="0"/>
              <a:t>eSurv</a:t>
            </a:r>
            <a:r>
              <a:rPr lang="fr-FR" altLang="en-US" sz="2000" dirty="0" smtClean="0"/>
              <a:t> </a:t>
            </a:r>
            <a:r>
              <a:rPr lang="fr-FR" altLang="en-US" sz="2000" dirty="0"/>
              <a:t>permet de récupérer les cas de PFA ayant échappé à la surveillance </a:t>
            </a:r>
            <a:r>
              <a:rPr lang="fr-FR" altLang="en-US" sz="2000" dirty="0" smtClean="0"/>
              <a:t>passive;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 sz="2000" dirty="0"/>
          </a:p>
        </p:txBody>
      </p:sp>
      <p:sp>
        <p:nvSpPr>
          <p:cNvPr id="14" name="Zone de texte 13"/>
          <p:cNvSpPr txBox="1"/>
          <p:nvPr/>
        </p:nvSpPr>
        <p:spPr>
          <a:xfrm>
            <a:off x="6284595" y="1603375"/>
            <a:ext cx="5545455" cy="4806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000" dirty="0">
                <a:sym typeface="+mn-ea"/>
              </a:rPr>
              <a:t>Le </a:t>
            </a:r>
            <a:r>
              <a:rPr lang="fr-FR" altLang="en-US" sz="2000" dirty="0" smtClean="0">
                <a:sym typeface="+mn-ea"/>
              </a:rPr>
              <a:t>prélèvement </a:t>
            </a:r>
            <a:r>
              <a:rPr lang="fr-FR" altLang="en-US" sz="2000" dirty="0">
                <a:sym typeface="+mn-ea"/>
              </a:rPr>
              <a:t>composite des eaux usées pour la surveillance environnementale a permis de sortir les sites non productives </a:t>
            </a:r>
            <a:endParaRPr lang="fr-FR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  <a:t>24</a:t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ACTION PRIORITAIRE POUR 2025</a:t>
            </a: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728" y="984530"/>
            <a:ext cx="4523624" cy="3706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3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</a:t>
            </a: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16535" y="960596"/>
            <a:ext cx="11365865" cy="57163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ym typeface="Times New Roman" panose="02020603050405020304"/>
              </a:rPr>
              <a:t>Renforcer le mécanisme d’analyse des données et de suivi des antennes afin d’assurer les notifications et rapportage prompte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Mettre en temps à la disposition des acteurs les fonds destinés aux activités planifiées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Organiser les supervisions formatives avec focus sur les ZS et antennes moins performantes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Etendre la surveillance sentinelle et la surveillance environnementale dans d’autres </a:t>
            </a:r>
            <a:r>
              <a:rPr lang="fr-FR" sz="2400" dirty="0" smtClean="0"/>
              <a:t>provinces;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/>
              <a:t>Rédynamisation</a:t>
            </a:r>
            <a:r>
              <a:rPr lang="fr-FR" sz="2400" dirty="0"/>
              <a:t> de la commission surveillance du PEV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smtClean="0"/>
              <a:t>Investiguer et organiser la riposte à toute </a:t>
            </a:r>
            <a:r>
              <a:rPr lang="fr-FR" sz="2400" dirty="0"/>
              <a:t>épidémies de MPV et des compatibles polio;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Appui au fonctionnement de la surveillance sentinelle;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Mise en </a:t>
            </a:r>
            <a:r>
              <a:rPr lang="fr-FR" sz="2400" dirty="0" err="1"/>
              <a:t>Oeuvre</a:t>
            </a:r>
            <a:r>
              <a:rPr lang="fr-FR" sz="2400" dirty="0"/>
              <a:t> de e </a:t>
            </a:r>
            <a:r>
              <a:rPr lang="fr-FR" sz="2400" dirty="0" err="1"/>
              <a:t>surv</a:t>
            </a:r>
            <a:r>
              <a:rPr lang="fr-FR" sz="2400" dirty="0"/>
              <a:t> compagnon dans les 26 </a:t>
            </a:r>
            <a:r>
              <a:rPr lang="fr-FR" sz="2400" dirty="0" smtClean="0"/>
              <a:t>provinces</a:t>
            </a:r>
            <a:endParaRPr lang="fr-F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Organisation de revues trimestrielles dans les provinces </a:t>
            </a:r>
            <a:r>
              <a:rPr lang="fr-FR" sz="2400" dirty="0" smtClean="0"/>
              <a:t>prioritaires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3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Actions prioritaires pour 2026 </a:t>
            </a: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35600" y="1336463"/>
            <a:ext cx="11388725" cy="5034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 smtClean="0"/>
              <a:t>Investigations des épidémies de MPV et des compatibles polio;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 smtClean="0"/>
              <a:t>Appui au fonctionnement de la surveillance sentinelle;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 smtClean="0"/>
              <a:t>Poursuivre la recherche active de MPV dans le 519 ZS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152400" indent="0" algn="ctr">
              <a:buNone/>
            </a:pPr>
            <a:r>
              <a:rPr lang="fr-FR" sz="4000" smtClean="0"/>
              <a:t>EXTRA </a:t>
            </a:r>
            <a:r>
              <a:rPr lang="fr-FR" sz="4000" dirty="0" smtClean="0"/>
              <a:t>SLIDES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56248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ZS SILENCIEUSES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00" y="2278782"/>
            <a:ext cx="10335923" cy="359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81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92366"/>
            <a:ext cx="11379236" cy="9975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 smtClean="0"/>
              <a:t>Delai</a:t>
            </a:r>
            <a:r>
              <a:rPr lang="fr-FR" dirty="0" smtClean="0"/>
              <a:t> en jour entre le 2eme </a:t>
            </a:r>
            <a:r>
              <a:rPr lang="fr-FR" dirty="0" err="1" smtClean="0"/>
              <a:t>prélevement</a:t>
            </a:r>
            <a:r>
              <a:rPr lang="fr-FR" dirty="0" smtClean="0"/>
              <a:t> et l’arrivé au laboratoire</a:t>
            </a: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7" y="1329259"/>
            <a:ext cx="11090273" cy="53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062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4,&quot;left&quot;:378.85,&quot;top&quot;:55.45,&quot;width&quot;:490.1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1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1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1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1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58,&quot;left&quot;:378.85,&quot;top&quot;:52.1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77*452"/>
  <p:tag name="TABLE_ENDDRAG_RECT" val="456*73*478*45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8*338"/>
  <p:tag name="TABLE_ENDDRAG_RECT" val="21*82*318*33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29*420"/>
  <p:tag name="TABLE_ENDDRAG_RECT" val="390*83*529*4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9*242"/>
  <p:tag name="TABLE_ENDDRAG_RECT" val="21*82*349*24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41*488"/>
  <p:tag name="TABLE_ENDDRAG_RECT" val="411*51*541*48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5*164"/>
  <p:tag name="TABLE_ENDDRAG_RECT" val="27*168*355*16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7*198"/>
  <p:tag name="TABLE_ENDDRAG_RECT" val="36*301*347*19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3381</Words>
  <Application>Microsoft Office PowerPoint</Application>
  <PresentationFormat>Grand écran</PresentationFormat>
  <Paragraphs>1250</Paragraphs>
  <Slides>29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29</vt:i4>
      </vt:variant>
    </vt:vector>
  </HeadingPairs>
  <TitlesOfParts>
    <vt:vector size="43" baseType="lpstr">
      <vt:lpstr>微软雅黑</vt:lpstr>
      <vt:lpstr>ＭＳ Ｐゴシック</vt:lpstr>
      <vt:lpstr>宋体</vt:lpstr>
      <vt:lpstr>Andalus</vt:lpstr>
      <vt:lpstr>Aptos Narrow</vt:lpstr>
      <vt:lpstr>Arial</vt:lpstr>
      <vt:lpstr>Arial Black</vt:lpstr>
      <vt:lpstr>Calibri</vt:lpstr>
      <vt:lpstr>Calibri Light</vt:lpstr>
      <vt:lpstr>Source Serif Pro</vt:lpstr>
      <vt:lpstr>Times New Roman</vt:lpstr>
      <vt:lpstr>Wingdings</vt:lpstr>
      <vt:lpstr>Office Theme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Mise  en œuvre des activités de PAO(1/4)</vt:lpstr>
      <vt:lpstr>Mise  en œuvre des activités de PAO(2/4)</vt:lpstr>
      <vt:lpstr>Mise  en œuvre des activités de PA(3/4)</vt:lpstr>
      <vt:lpstr>Mise  en œuvre des activités de PAO(4/4)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ZS SILENCIEUSES</vt:lpstr>
      <vt:lpstr>Delai en jour entre le 2eme prélevement et l’arrivé au laboratoire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User</cp:lastModifiedBy>
  <cp:revision>225</cp:revision>
  <dcterms:created xsi:type="dcterms:W3CDTF">2025-07-23T00:59:00Z</dcterms:created>
  <dcterms:modified xsi:type="dcterms:W3CDTF">2025-12-15T07:47:56Z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1036-12.2.0.23155</vt:lpwstr>
  </property>
  <property fmtid="{D5CDD505-2E9C-101B-9397-08002B2CF9AE}" pid="3" name="ICV">
    <vt:lpwstr>78F1A3BB35674F029F1919145F03354A_13</vt:lpwstr>
  </property>
</Properties>
</file>