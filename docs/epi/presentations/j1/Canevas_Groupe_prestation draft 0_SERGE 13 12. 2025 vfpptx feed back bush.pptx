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drawings/drawing1.xml" ContentType="application/vnd.openxmlformats-officedocument.drawingml.chartshapes+xml"/>
  <Override PartName="/ppt/notesSlides/notesSlide11.xml" ContentType="application/vnd.openxmlformats-officedocument.presentationml.notesSlide+xml"/>
  <Override PartName="/ppt/charts/chart2.xml" ContentType="application/vnd.openxmlformats-officedocument.drawingml.chart+xml"/>
  <Override PartName="/ppt/notesSlides/notesSlide12.xml" ContentType="application/vnd.openxmlformats-officedocument.presentationml.notesSlide+xml"/>
  <Override PartName="/ppt/charts/chart3.xml" ContentType="application/vnd.openxmlformats-officedocument.drawingml.chart+xml"/>
  <Override PartName="/ppt/notesSlides/notesSlide13.xml" ContentType="application/vnd.openxmlformats-officedocument.presentationml.notesSlide+xml"/>
  <Override PartName="/ppt/charts/chart4.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4.xml" ContentType="application/vnd.openxmlformats-officedocument.presentationml.notesSlide+xml"/>
  <Override PartName="/ppt/charts/chart5.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5.xml" ContentType="application/vnd.openxmlformats-officedocument.presentationml.notesSlide+xml"/>
  <Override PartName="/ppt/charts/chart6.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6.xml" ContentType="application/vnd.openxmlformats-officedocument.presentationml.notesSlide+xml"/>
  <Override PartName="/ppt/charts/chart7.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7.xml" ContentType="application/vnd.openxmlformats-officedocument.presentationml.notesSlide+xml"/>
  <Override PartName="/ppt/charts/chart8.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8.xml" ContentType="application/vnd.openxmlformats-officedocument.presentationml.notesSlide+xml"/>
  <Override PartName="/ppt/charts/chart9.xml" ContentType="application/vnd.openxmlformats-officedocument.drawingml.chart+xml"/>
  <Override PartName="/ppt/charts/style6.xml" ContentType="application/vnd.ms-office.chartstyle+xml"/>
  <Override PartName="/ppt/charts/colors6.xml" ContentType="application/vnd.ms-office.chartcolorstyle+xml"/>
  <Override PartName="/ppt/drawings/drawing2.xml" ContentType="application/vnd.openxmlformats-officedocument.drawingml.chartshapes+xml"/>
  <Override PartName="/ppt/notesSlides/notesSlide19.xml" ContentType="application/vnd.openxmlformats-officedocument.presentationml.notesSlide+xml"/>
  <Override PartName="/ppt/charts/chart10.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20.xml" ContentType="application/vnd.openxmlformats-officedocument.presentationml.notesSlide+xml"/>
  <Override PartName="/ppt/charts/chart11.xml" ContentType="application/vnd.openxmlformats-officedocument.drawingml.chart+xml"/>
  <Override PartName="/ppt/charts/style8.xml" ContentType="application/vnd.ms-office.chartstyle+xml"/>
  <Override PartName="/ppt/charts/colors8.xml" ContentType="application/vnd.ms-office.chartcolorstyle+xml"/>
  <Override PartName="/ppt/theme/themeOverride2.xml" ContentType="application/vnd.openxmlformats-officedocument.themeOverride+xml"/>
  <Override PartName="/ppt/notesSlides/notesSlide21.xml" ContentType="application/vnd.openxmlformats-officedocument.presentationml.notesSlide+xml"/>
  <Override PartName="/ppt/charts/chart12.xml" ContentType="application/vnd.openxmlformats-officedocument.drawingml.chart+xml"/>
  <Override PartName="/ppt/charts/style9.xml" ContentType="application/vnd.ms-office.chartstyle+xml"/>
  <Override PartName="/ppt/charts/colors9.xml" ContentType="application/vnd.ms-office.chartcolorstyle+xml"/>
  <Override PartName="/ppt/theme/themeOverride3.xml" ContentType="application/vnd.openxmlformats-officedocument.themeOverride+xml"/>
  <Override PartName="/ppt/notesSlides/notesSlide22.xml" ContentType="application/vnd.openxmlformats-officedocument.presentationml.notesSlide+xml"/>
  <Override PartName="/ppt/charts/chart13.xml" ContentType="application/vnd.openxmlformats-officedocument.drawingml.chart+xml"/>
  <Override PartName="/ppt/charts/style10.xml" ContentType="application/vnd.ms-office.chartstyle+xml"/>
  <Override PartName="/ppt/charts/colors10.xml" ContentType="application/vnd.ms-office.chartcolorstyle+xml"/>
  <Override PartName="/ppt/theme/themeOverride4.xml" ContentType="application/vnd.openxmlformats-officedocument.themeOverride+xml"/>
  <Override PartName="/ppt/notesSlides/notesSlide23.xml" ContentType="application/vnd.openxmlformats-officedocument.presentationml.notesSlide+xml"/>
  <Override PartName="/ppt/charts/chart14.xml" ContentType="application/vnd.openxmlformats-officedocument.drawingml.chart+xml"/>
  <Override PartName="/ppt/charts/style11.xml" ContentType="application/vnd.ms-office.chartstyle+xml"/>
  <Override PartName="/ppt/charts/colors11.xml" ContentType="application/vnd.ms-office.chartcolorstyle+xml"/>
  <Override PartName="/ppt/theme/themeOverride5.xml" ContentType="application/vnd.openxmlformats-officedocument.themeOverride+xml"/>
  <Override PartName="/ppt/notesSlides/notesSlide24.xml" ContentType="application/vnd.openxmlformats-officedocument.presentationml.notesSlide+xml"/>
  <Override PartName="/ppt/charts/chart15.xml" ContentType="application/vnd.openxmlformats-officedocument.drawingml.chart+xml"/>
  <Override PartName="/ppt/charts/style12.xml" ContentType="application/vnd.ms-office.chartstyle+xml"/>
  <Override PartName="/ppt/charts/colors12.xml" ContentType="application/vnd.ms-office.chartcolorstyle+xml"/>
  <Override PartName="/ppt/theme/themeOverride6.xml" ContentType="application/vnd.openxmlformats-officedocument.themeOverride+xml"/>
  <Override PartName="/ppt/notesSlides/notesSlide25.xml" ContentType="application/vnd.openxmlformats-officedocument.presentationml.notesSlide+xml"/>
  <Override PartName="/ppt/charts/chart16.xml" ContentType="application/vnd.openxmlformats-officedocument.drawingml.chart+xml"/>
  <Override PartName="/ppt/charts/style13.xml" ContentType="application/vnd.ms-office.chartstyle+xml"/>
  <Override PartName="/ppt/charts/colors13.xml" ContentType="application/vnd.ms-office.chartcolorstyle+xml"/>
  <Override PartName="/ppt/theme/themeOverride7.xml" ContentType="application/vnd.openxmlformats-officedocument.themeOverride+xml"/>
  <Override PartName="/ppt/notesSlides/notesSlide26.xml" ContentType="application/vnd.openxmlformats-officedocument.presentationml.notesSlide+xml"/>
  <Override PartName="/ppt/charts/chart17.xml" ContentType="application/vnd.openxmlformats-officedocument.drawingml.chart+xml"/>
  <Override PartName="/ppt/charts/style14.xml" ContentType="application/vnd.ms-office.chartstyle+xml"/>
  <Override PartName="/ppt/charts/colors14.xml" ContentType="application/vnd.ms-office.chartcolorstyle+xml"/>
  <Override PartName="/ppt/theme/themeOverride8.xml" ContentType="application/vnd.openxmlformats-officedocument.themeOverride+xml"/>
  <Override PartName="/ppt/notesSlides/notesSlide27.xml" ContentType="application/vnd.openxmlformats-officedocument.presentationml.notesSlide+xml"/>
  <Override PartName="/ppt/charts/chart18.xml" ContentType="application/vnd.openxmlformats-officedocument.drawingml.chart+xml"/>
  <Override PartName="/ppt/charts/style15.xml" ContentType="application/vnd.ms-office.chartstyle+xml"/>
  <Override PartName="/ppt/charts/colors15.xml" ContentType="application/vnd.ms-office.chartcolorstyle+xml"/>
  <Override PartName="/ppt/theme/themeOverride9.xml" ContentType="application/vnd.openxmlformats-officedocument.themeOverride+xml"/>
  <Override PartName="/ppt/notesSlides/notesSlide28.xml" ContentType="application/vnd.openxmlformats-officedocument.presentationml.notesSlide+xml"/>
  <Override PartName="/ppt/charts/chart19.xml" ContentType="application/vnd.openxmlformats-officedocument.drawingml.chart+xml"/>
  <Override PartName="/ppt/charts/style16.xml" ContentType="application/vnd.ms-office.chartstyle+xml"/>
  <Override PartName="/ppt/charts/colors16.xml" ContentType="application/vnd.ms-office.chartcolorstyle+xml"/>
  <Override PartName="/ppt/theme/themeOverride10.xml" ContentType="application/vnd.openxmlformats-officedocument.themeOverride+xml"/>
  <Override PartName="/ppt/notesSlides/notesSlide29.xml" ContentType="application/vnd.openxmlformats-officedocument.presentationml.notesSlide+xml"/>
  <Override PartName="/ppt/charts/chart20.xml" ContentType="application/vnd.openxmlformats-officedocument.drawingml.chart+xml"/>
  <Override PartName="/ppt/charts/style17.xml" ContentType="application/vnd.ms-office.chartstyle+xml"/>
  <Override PartName="/ppt/charts/colors17.xml" ContentType="application/vnd.ms-office.chartcolorstyle+xml"/>
  <Override PartName="/ppt/theme/themeOverride11.xml" ContentType="application/vnd.openxmlformats-officedocument.themeOverr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rts/chart21.xml" ContentType="application/vnd.openxmlformats-officedocument.drawingml.chart+xml"/>
  <Override PartName="/ppt/notesSlides/notesSlide4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22.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23.xml" ContentType="application/vnd.openxmlformats-officedocument.drawingml.chart+xml"/>
  <Override PartName="/ppt/charts/style19.xml" ContentType="application/vnd.ms-office.chartstyle+xml"/>
  <Override PartName="/ppt/charts/colors19.xml" ContentType="application/vnd.ms-office.chartcolorstyle+xml"/>
  <Override PartName="/ppt/notesSlides/notesSlide43.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44.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charts/chart24.xml" ContentType="application/vnd.openxmlformats-officedocument.drawingml.chart+xml"/>
  <Override PartName="/ppt/notesSlides/notesSlide54.xml" ContentType="application/vnd.openxmlformats-officedocument.presentationml.notesSlide+xml"/>
  <Override PartName="/ppt/charts/chart25.xml" ContentType="application/vnd.openxmlformats-officedocument.drawingml.chart+xml"/>
  <Override PartName="/ppt/notesSlides/notesSlide55.xml" ContentType="application/vnd.openxmlformats-officedocument.presentationml.notesSlide+xml"/>
  <Override PartName="/ppt/charts/chart26.xml" ContentType="application/vnd.openxmlformats-officedocument.drawingml.chart+xml"/>
  <Override PartName="/ppt/charts/style20.xml" ContentType="application/vnd.ms-office.chartstyle+xml"/>
  <Override PartName="/ppt/charts/colors20.xml" ContentType="application/vnd.ms-office.chartcolorstyle+xml"/>
  <Override PartName="/ppt/notesSlides/notesSlide56.xml" ContentType="application/vnd.openxmlformats-officedocument.presentationml.notesSlide+xml"/>
  <Override PartName="/ppt/charts/chart27.xml" ContentType="application/vnd.openxmlformats-officedocument.drawingml.chart+xml"/>
  <Override PartName="/ppt/theme/themeOverride12.xml" ContentType="application/vnd.openxmlformats-officedocument.themeOverride+xml"/>
  <Override PartName="/ppt/notesSlides/notesSlide57.xml" ContentType="application/vnd.openxmlformats-officedocument.presentationml.notesSlide+xml"/>
  <Override PartName="/ppt/charts/chart28.xml" ContentType="application/vnd.openxmlformats-officedocument.drawingml.chart+xml"/>
  <Override PartName="/ppt/theme/themeOverride13.xml" ContentType="application/vnd.openxmlformats-officedocument.themeOverride+xml"/>
  <Override PartName="/ppt/notesSlides/notesSlide58.xml" ContentType="application/vnd.openxmlformats-officedocument.presentationml.notesSlide+xml"/>
  <Override PartName="/ppt/charts/chart29.xml" ContentType="application/vnd.openxmlformats-officedocument.drawingml.chart+xml"/>
  <Override PartName="/ppt/theme/themeOverride14.xml" ContentType="application/vnd.openxmlformats-officedocument.themeOverride+xml"/>
  <Override PartName="/ppt/notesSlides/notesSlide59.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notesSlides/notesSlide60.xml" ContentType="application/vnd.openxmlformats-officedocument.presentationml.notesSlide+xml"/>
  <Override PartName="/ppt/tags/tag41.xml" ContentType="application/vnd.openxmlformats-officedocument.presentationml.tags+xml"/>
  <Override PartName="/ppt/tags/tag42.xml" ContentType="application/vnd.openxmlformats-officedocument.presentationml.tags+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2"/>
  </p:sldMasterIdLst>
  <p:notesMasterIdLst>
    <p:notesMasterId r:id="rId80"/>
  </p:notesMasterIdLst>
  <p:handoutMasterIdLst>
    <p:handoutMasterId r:id="rId81"/>
  </p:handoutMasterIdLst>
  <p:sldIdLst>
    <p:sldId id="258" r:id="rId3"/>
    <p:sldId id="290" r:id="rId4"/>
    <p:sldId id="273" r:id="rId5"/>
    <p:sldId id="264" r:id="rId6"/>
    <p:sldId id="265" r:id="rId7"/>
    <p:sldId id="376" r:id="rId8"/>
    <p:sldId id="287" r:id="rId9"/>
    <p:sldId id="288" r:id="rId10"/>
    <p:sldId id="366" r:id="rId11"/>
    <p:sldId id="308" r:id="rId12"/>
    <p:sldId id="323" r:id="rId13"/>
    <p:sldId id="268" r:id="rId14"/>
    <p:sldId id="281" r:id="rId15"/>
    <p:sldId id="283" r:id="rId16"/>
    <p:sldId id="378" r:id="rId17"/>
    <p:sldId id="379" r:id="rId18"/>
    <p:sldId id="380" r:id="rId19"/>
    <p:sldId id="318" r:id="rId20"/>
    <p:sldId id="381" r:id="rId21"/>
    <p:sldId id="382" r:id="rId22"/>
    <p:sldId id="383" r:id="rId23"/>
    <p:sldId id="384" r:id="rId24"/>
    <p:sldId id="385" r:id="rId25"/>
    <p:sldId id="386" r:id="rId26"/>
    <p:sldId id="387" r:id="rId27"/>
    <p:sldId id="388" r:id="rId28"/>
    <p:sldId id="389" r:id="rId29"/>
    <p:sldId id="390" r:id="rId30"/>
    <p:sldId id="391" r:id="rId31"/>
    <p:sldId id="345" r:id="rId32"/>
    <p:sldId id="346" r:id="rId33"/>
    <p:sldId id="347" r:id="rId34"/>
    <p:sldId id="348" r:id="rId35"/>
    <p:sldId id="349" r:id="rId36"/>
    <p:sldId id="350" r:id="rId37"/>
    <p:sldId id="351" r:id="rId38"/>
    <p:sldId id="352" r:id="rId39"/>
    <p:sldId id="353" r:id="rId40"/>
    <p:sldId id="377" r:id="rId41"/>
    <p:sldId id="320" r:id="rId42"/>
    <p:sldId id="309" r:id="rId43"/>
    <p:sldId id="392" r:id="rId44"/>
    <p:sldId id="393" r:id="rId45"/>
    <p:sldId id="371" r:id="rId46"/>
    <p:sldId id="375" r:id="rId47"/>
    <p:sldId id="274" r:id="rId48"/>
    <p:sldId id="311" r:id="rId49"/>
    <p:sldId id="276" r:id="rId50"/>
    <p:sldId id="277" r:id="rId51"/>
    <p:sldId id="278" r:id="rId52"/>
    <p:sldId id="279" r:id="rId53"/>
    <p:sldId id="292" r:id="rId54"/>
    <p:sldId id="293" r:id="rId55"/>
    <p:sldId id="294" r:id="rId56"/>
    <p:sldId id="295" r:id="rId57"/>
    <p:sldId id="291" r:id="rId58"/>
    <p:sldId id="297" r:id="rId59"/>
    <p:sldId id="298" r:id="rId60"/>
    <p:sldId id="299" r:id="rId61"/>
    <p:sldId id="335" r:id="rId62"/>
    <p:sldId id="336" r:id="rId63"/>
    <p:sldId id="337" r:id="rId64"/>
    <p:sldId id="338" r:id="rId65"/>
    <p:sldId id="339" r:id="rId66"/>
    <p:sldId id="340" r:id="rId67"/>
    <p:sldId id="341" r:id="rId68"/>
    <p:sldId id="343" r:id="rId69"/>
    <p:sldId id="342" r:id="rId70"/>
    <p:sldId id="344" r:id="rId71"/>
    <p:sldId id="301" r:id="rId72"/>
    <p:sldId id="302" r:id="rId73"/>
    <p:sldId id="303" r:id="rId74"/>
    <p:sldId id="305" r:id="rId75"/>
    <p:sldId id="306" r:id="rId76"/>
    <p:sldId id="289" r:id="rId77"/>
    <p:sldId id="307" r:id="rId78"/>
    <p:sldId id="322" r:id="rId79"/>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ina Seminara" initials="NS" lastIdx="0" clrIdx="0"/>
  <p:cmAuthor id="2" name="Ashley Hartz" initials="AH" lastIdx="0" clrIdx="1"/>
  <p:cmAuthor id="3" name="Samera Zaidi" initials="SZ" lastIdx="0" clrIdx="2"/>
  <p:cmAuthor id="4" name="Kaitlin Love" initials="KL" lastIdx="0" clrIdx="3"/>
  <p:cmAuthor id="5" name="Jordan Freeman" initials="JF" lastIdx="0" clrIdx="4"/>
  <p:cmAuthor id="6" name="Leila Scott" initials="LS" lastIdx="0" clrIdx="5"/>
  <p:cmAuthor id="7" name="Mona Korsgard" initials="MK" lastIdx="0" clrIdx="6"/>
  <p:cmAuthor id="8" name="Emma Vincent" initials="EV" lastIdx="0" clrIdx="7"/>
  <p:cmAuthor id="9" name="Juan Andres Gil" initials="JAG" lastIdx="0" clrIdx="8"/>
  <p:cmAuthor id="10" name="Catherine Muller" initials="CM" lastIdx="0" clrIdx="9"/>
  <p:cmAuthor id="11" name="Cairn Verhulst" initials="CV" lastIdx="0" clrIdx="10"/>
  <p:cmAuthor id="12" name="Daniel Murphy" initials="DM" lastIdx="0" clrIdx="11"/>
  <p:cmAuthor id="13" name="Megan Bellinger" initials="MB" lastIdx="0" clrIdx="12"/>
  <p:cmAuthor id="14" name="Massimiliano Sani" initials="MS" lastIdx="0" clrIdx="13"/>
  <p:cmAuthor id="15" name="Jeremiah Chinodya" initials="JC" lastIdx="0" clrIdx="14"/>
  <p:cmAuthor id="16" name="Loveness Chimombe" initials="LC" lastIdx="0" clrIdx="15"/>
  <p:cmAuthor id="17" name="Hollis Henry" initials="HH" lastIdx="0" clrIdx="16"/>
  <p:cmAuthor id="18" name="UNICEF ESARO" initials="UNICEF" lastIdx="0" clrIdx="17"/>
  <p:cmAuthor id="19" name="Sanya Batra" initials="SB" lastIdx="0" clrIdx="18"/>
  <p:cmAuthor id="20" name="Marika Klein" initials="MK" lastIdx="0" clrIdx="19"/>
  <p:cmAuthor id="21" name="Seth Messinger" initials="SM" lastIdx="0" clrIdx="20"/>
  <p:cmAuthor id="22" name="Sandra Sonia Dupuy" initials="SSD" lastIdx="0" clrIdx="2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3300"/>
    <a:srgbClr val="CC0000"/>
    <a:srgbClr val="FF3300"/>
    <a:srgbClr val="FF6600"/>
    <a:srgbClr val="B2B2B2"/>
    <a:srgbClr val="202020"/>
    <a:srgbClr val="323232"/>
    <a:srgbClr val="990000"/>
    <a:srgbClr val="FF8D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471" autoAdjust="0"/>
    <p:restoredTop sz="94660"/>
  </p:normalViewPr>
  <p:slideViewPr>
    <p:cSldViewPr snapToGrid="0" showGuides="1">
      <p:cViewPr varScale="1">
        <p:scale>
          <a:sx n="71" d="100"/>
          <a:sy n="71" d="100"/>
        </p:scale>
        <p:origin x="840" y="66"/>
      </p:cViewPr>
      <p:guideLst>
        <p:guide orient="horz" pos="2159"/>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viewProps" Target="viewProp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notesMaster" Target="notesMasters/notesMaster1.xml"/><Relationship Id="rId85"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handoutMaster" Target="handoutMasters/handoutMaster1.xml"/><Relationship Id="rId86"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61" Type="http://schemas.openxmlformats.org/officeDocument/2006/relationships/slide" Target="slides/slide59.xml"/><Relationship Id="rId82" Type="http://schemas.openxmlformats.org/officeDocument/2006/relationships/commentAuthors" Target="commentAuthors.xml"/></Relationships>
</file>

<file path=ppt/charts/_rels/chart1.xml.rels><?xml version="1.0" encoding="UTF-8" standalone="yes"?>
<Relationships xmlns="http://schemas.openxmlformats.org/package/2006/relationships"><Relationship Id="rId3" Type="http://schemas.openxmlformats.org/officeDocument/2006/relationships/chartUserShapes" Target="../drawings/drawing1.xml"/><Relationship Id="rId2" Type="http://schemas.openxmlformats.org/officeDocument/2006/relationships/oleObject" Target="file:///C:\Users\najma\OneDrive\Documents\PEV%20DE%20ROUTINE\Routine_RDC_%202025%20DPS\RDC_CV%20Cumul&#233;e%20par%20Province_2025%20DPS.xls" TargetMode="External"/><Relationship Id="rId1" Type="http://schemas.openxmlformats.org/officeDocument/2006/relationships/themeOverride" Target="../theme/themeOverride1.xml"/></Relationships>
</file>

<file path=ppt/charts/_rels/chart2.xml.rels><?xml version="1.0" encoding="UTF-8" standalone="yes"?>
<Relationships xmlns="http://schemas.openxmlformats.org/package/2006/relationships"><Relationship Id="rId1" Type="http://schemas.openxmlformats.org/officeDocument/2006/relationships/oleObject" Target="file:///C:\Users\najma\OneDrive\Documents\PEV%20DE%20ROUTINE\Routine_RDC_%202025%20DPS\RDC_CV%20Cumul&#233;e%20par%20Province_2025%20DPS.xls"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C:\Users\najma\OneDrive\Documents\PEV%20DE%20ROUTINE\Routine_RDC_%202025%20DPS\RDC_CV%20Cumul&#233;e%20par%20Province_2025%20DPS.xls" TargetMode="External"/></Relationships>
</file>

<file path=ppt/charts/_rels/chart4.xml.rels><?xml version="1.0" encoding="UTF-8" standalone="yes"?>
<Relationships xmlns="http://schemas.openxmlformats.org/package/2006/relationships"><Relationship Id="rId3" Type="http://schemas.openxmlformats.org/officeDocument/2006/relationships/oleObject" Target="file:///C:\Users\najma\OneDrive\Documents\PEV%20DE%20ROUTINE\Routine_RDC_%202025%20DPS\RDC_CV%20Cumul&#233;e%20par%20Province_2025%20DPS.xls" TargetMode="External"/><Relationship Id="rId2" Type="http://schemas.microsoft.com/office/2011/relationships/chartColorStyle" Target="colors1.xml"/><Relationship Id="rId1" Type="http://schemas.microsoft.com/office/2011/relationships/chartStyle" Target="style1.xml"/></Relationships>
</file>

<file path=ppt/charts/_rels/chart5.xml.rels><?xml version="1.0" encoding="UTF-8" standalone="yes"?>
<Relationships xmlns="http://schemas.openxmlformats.org/package/2006/relationships"><Relationship Id="rId3" Type="http://schemas.openxmlformats.org/officeDocument/2006/relationships/oleObject" Target="file:///C:\Users\najma\OneDrive\Documents\PEV%20DE%20ROUTINE\Routine_RDC_%202025%20DPS\RDC_CV%20Cumul&#233;e%20par%20Province_2025%20DPS.xls" TargetMode="External"/><Relationship Id="rId2" Type="http://schemas.microsoft.com/office/2011/relationships/chartColorStyle" Target="colors2.xml"/><Relationship Id="rId1" Type="http://schemas.microsoft.com/office/2011/relationships/chartStyle" Target="style2.xml"/></Relationships>
</file>

<file path=ppt/charts/_rels/chart6.xml.rels><?xml version="1.0" encoding="UTF-8" standalone="yes"?>
<Relationships xmlns="http://schemas.openxmlformats.org/package/2006/relationships"><Relationship Id="rId3" Type="http://schemas.openxmlformats.org/officeDocument/2006/relationships/oleObject" Target="file:///C:\Users\najma\OneDrive\Documents\PEV%20DE%20ROUTINE\Routine_RDC_%202025%20DPS\RDC_CV%20Cumul&#233;e%20par%20Province_2025%20DPS.xls" TargetMode="External"/><Relationship Id="rId2" Type="http://schemas.microsoft.com/office/2011/relationships/chartColorStyle" Target="colors3.xml"/><Relationship Id="rId1" Type="http://schemas.microsoft.com/office/2011/relationships/chartStyle" Target="style3.xml"/></Relationships>
</file>

<file path=ppt/charts/_rels/chart7.xml.rels><?xml version="1.0" encoding="UTF-8" standalone="yes"?>
<Relationships xmlns="http://schemas.openxmlformats.org/package/2006/relationships"><Relationship Id="rId3" Type="http://schemas.openxmlformats.org/officeDocument/2006/relationships/oleObject" Target="file:///C:\Users\najma\OneDrive\Documents\PEV%20DE%20ROUTINE\Routine_RDC_%202025%20DPS\RDC_CV%20Cumul&#233;e%20par%20Province_2025%20DPS.xls" TargetMode="External"/><Relationship Id="rId2" Type="http://schemas.microsoft.com/office/2011/relationships/chartColorStyle" Target="colors4.xml"/><Relationship Id="rId1" Type="http://schemas.microsoft.com/office/2011/relationships/chartStyle" Target="style4.xml"/></Relationships>
</file>

<file path=ppt/charts/_rels/chart8.xml.rels><?xml version="1.0" encoding="UTF-8" standalone="yes"?>
<Relationships xmlns="http://schemas.openxmlformats.org/package/2006/relationships"><Relationship Id="rId3" Type="http://schemas.openxmlformats.org/officeDocument/2006/relationships/oleObject" Target="file:///C:\Users\najma\OneDrive\Documents\ANALYSE.xlsx" TargetMode="External"/><Relationship Id="rId2" Type="http://schemas.microsoft.com/office/2011/relationships/chartColorStyle" Target="colors5.xml"/><Relationship Id="rId1" Type="http://schemas.microsoft.com/office/2011/relationships/chartStyle" Target="style5.xml"/></Relationships>
</file>

<file path=ppt/charts/_rels/chart9.xml.rels><?xml version="1.0" encoding="UTF-8" standalone="yes"?>
<Relationships xmlns="http://schemas.openxmlformats.org/package/2006/relationships"><Relationship Id="rId3" Type="http://schemas.openxmlformats.org/officeDocument/2006/relationships/oleObject" Target="Classeur6" TargetMode="External"/><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chartUserShapes" Target="../drawings/drawing2.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najma\OneDrive\Documents\ANALYSE.xlsx" TargetMode="External"/><Relationship Id="rId2" Type="http://schemas.microsoft.com/office/2011/relationships/chartColorStyle" Target="colors7.xml"/><Relationship Id="rId1" Type="http://schemas.microsoft.com/office/2011/relationships/chartStyle" Target="style7.xml"/></Relationships>
</file>

<file path=ppt/charts/_rels/chart11.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8.xml"/><Relationship Id="rId1" Type="http://schemas.microsoft.com/office/2011/relationships/chartStyle" Target="style8.xml"/><Relationship Id="rId4" Type="http://schemas.openxmlformats.org/officeDocument/2006/relationships/package" Target="../embeddings/Microsoft_Excel_Worksheet.xlsx"/></Relationships>
</file>

<file path=ppt/charts/_rels/chart12.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9.xml"/><Relationship Id="rId1" Type="http://schemas.microsoft.com/office/2011/relationships/chartStyle" Target="style9.xml"/><Relationship Id="rId4" Type="http://schemas.openxmlformats.org/officeDocument/2006/relationships/package" Target="../embeddings/Microsoft_Excel_Worksheet1.xlsx"/></Relationships>
</file>

<file path=ppt/charts/_rels/chart13.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package" Target="../embeddings/Microsoft_Excel_Worksheet2.xlsx"/></Relationships>
</file>

<file path=ppt/charts/_rels/chart14.xml.rels><?xml version="1.0" encoding="UTF-8" standalone="yes"?>
<Relationships xmlns="http://schemas.openxmlformats.org/package/2006/relationships"><Relationship Id="rId3" Type="http://schemas.openxmlformats.org/officeDocument/2006/relationships/themeOverride" Target="../theme/themeOverride5.xml"/><Relationship Id="rId2" Type="http://schemas.microsoft.com/office/2011/relationships/chartColorStyle" Target="colors11.xml"/><Relationship Id="rId1" Type="http://schemas.microsoft.com/office/2011/relationships/chartStyle" Target="style11.xml"/><Relationship Id="rId4" Type="http://schemas.openxmlformats.org/officeDocument/2006/relationships/package" Target="../embeddings/Microsoft_Excel_Worksheet3.xlsx"/></Relationships>
</file>

<file path=ppt/charts/_rels/chart15.xml.rels><?xml version="1.0" encoding="UTF-8" standalone="yes"?>
<Relationships xmlns="http://schemas.openxmlformats.org/package/2006/relationships"><Relationship Id="rId3" Type="http://schemas.openxmlformats.org/officeDocument/2006/relationships/themeOverride" Target="../theme/themeOverride6.xml"/><Relationship Id="rId2" Type="http://schemas.microsoft.com/office/2011/relationships/chartColorStyle" Target="colors12.xml"/><Relationship Id="rId1" Type="http://schemas.microsoft.com/office/2011/relationships/chartStyle" Target="style12.xml"/><Relationship Id="rId4" Type="http://schemas.openxmlformats.org/officeDocument/2006/relationships/package" Target="../embeddings/Microsoft_Excel_Worksheet4.xlsx"/></Relationships>
</file>

<file path=ppt/charts/_rels/chart16.xml.rels><?xml version="1.0" encoding="UTF-8" standalone="yes"?>
<Relationships xmlns="http://schemas.openxmlformats.org/package/2006/relationships"><Relationship Id="rId3" Type="http://schemas.openxmlformats.org/officeDocument/2006/relationships/themeOverride" Target="../theme/themeOverride7.xml"/><Relationship Id="rId2" Type="http://schemas.microsoft.com/office/2011/relationships/chartColorStyle" Target="colors13.xml"/><Relationship Id="rId1" Type="http://schemas.microsoft.com/office/2011/relationships/chartStyle" Target="style13.xml"/><Relationship Id="rId4" Type="http://schemas.openxmlformats.org/officeDocument/2006/relationships/package" Target="../embeddings/Microsoft_Excel_Worksheet5.xlsx"/></Relationships>
</file>

<file path=ppt/charts/_rels/chart17.xml.rels><?xml version="1.0" encoding="UTF-8" standalone="yes"?>
<Relationships xmlns="http://schemas.openxmlformats.org/package/2006/relationships"><Relationship Id="rId3" Type="http://schemas.openxmlformats.org/officeDocument/2006/relationships/themeOverride" Target="../theme/themeOverride8.xml"/><Relationship Id="rId2" Type="http://schemas.microsoft.com/office/2011/relationships/chartColorStyle" Target="colors14.xml"/><Relationship Id="rId1" Type="http://schemas.microsoft.com/office/2011/relationships/chartStyle" Target="style14.xml"/><Relationship Id="rId4" Type="http://schemas.openxmlformats.org/officeDocument/2006/relationships/package" Target="../embeddings/Microsoft_Excel_Worksheet6.xlsx"/></Relationships>
</file>

<file path=ppt/charts/_rels/chart18.xml.rels><?xml version="1.0" encoding="UTF-8" standalone="yes"?>
<Relationships xmlns="http://schemas.openxmlformats.org/package/2006/relationships"><Relationship Id="rId3" Type="http://schemas.openxmlformats.org/officeDocument/2006/relationships/themeOverride" Target="../theme/themeOverride9.xml"/><Relationship Id="rId2" Type="http://schemas.microsoft.com/office/2011/relationships/chartColorStyle" Target="colors15.xml"/><Relationship Id="rId1" Type="http://schemas.microsoft.com/office/2011/relationships/chartStyle" Target="style15.xml"/><Relationship Id="rId4" Type="http://schemas.openxmlformats.org/officeDocument/2006/relationships/package" Target="../embeddings/Microsoft_Excel_Worksheet7.xlsx"/></Relationships>
</file>

<file path=ppt/charts/_rels/chart19.xml.rels><?xml version="1.0" encoding="UTF-8" standalone="yes"?>
<Relationships xmlns="http://schemas.openxmlformats.org/package/2006/relationships"><Relationship Id="rId3" Type="http://schemas.openxmlformats.org/officeDocument/2006/relationships/themeOverride" Target="../theme/themeOverride10.xml"/><Relationship Id="rId2" Type="http://schemas.microsoft.com/office/2011/relationships/chartColorStyle" Target="colors16.xml"/><Relationship Id="rId1" Type="http://schemas.microsoft.com/office/2011/relationships/chartStyle" Target="style16.xml"/><Relationship Id="rId4" Type="http://schemas.openxmlformats.org/officeDocument/2006/relationships/package" Target="../embeddings/Microsoft_Excel_Worksheet8.xlsx"/></Relationships>
</file>

<file path=ppt/charts/_rels/chart20.xml.rels><?xml version="1.0" encoding="UTF-8" standalone="yes"?>
<Relationships xmlns="http://schemas.openxmlformats.org/package/2006/relationships"><Relationship Id="rId3" Type="http://schemas.openxmlformats.org/officeDocument/2006/relationships/themeOverride" Target="../theme/themeOverride11.xml"/><Relationship Id="rId2" Type="http://schemas.microsoft.com/office/2011/relationships/chartColorStyle" Target="colors17.xml"/><Relationship Id="rId1" Type="http://schemas.microsoft.com/office/2011/relationships/chartStyle" Target="style17.xml"/><Relationship Id="rId4" Type="http://schemas.openxmlformats.org/officeDocument/2006/relationships/package" Target="../embeddings/Microsoft_Excel_Worksheet9.xlsx"/></Relationships>
</file>

<file path=ppt/charts/_rels/chart21.xml.rels><?xml version="1.0" encoding="UTF-8" standalone="yes"?>
<Relationships xmlns="http://schemas.openxmlformats.org/package/2006/relationships"><Relationship Id="rId1" Type="http://schemas.openxmlformats.org/officeDocument/2006/relationships/oleObject" Target="file:///C:\Users\najma\Downloads\DONNEES%20VAP%20RDC%20Jusqu'en%20Octobre%202025.xlsx" TargetMode="External"/></Relationships>
</file>

<file path=ppt/charts/_rels/chart22.xml.rels><?xml version="1.0" encoding="UTF-8" standalone="yes"?>
<Relationships xmlns="http://schemas.openxmlformats.org/package/2006/relationships"><Relationship Id="rId3" Type="http://schemas.openxmlformats.org/officeDocument/2006/relationships/oleObject" Target="file:///C:\Users\ckingongo\Downloads\data%20-%202025-12-08T221814.207.xls" TargetMode="External"/><Relationship Id="rId2" Type="http://schemas.microsoft.com/office/2011/relationships/chartColorStyle" Target="colors18.xml"/><Relationship Id="rId1" Type="http://schemas.microsoft.com/office/2011/relationships/chartStyle" Target="style18.xml"/></Relationships>
</file>

<file path=ppt/charts/_rels/chart23.xml.rels><?xml version="1.0" encoding="UTF-8" standalone="yes"?>
<Relationships xmlns="http://schemas.openxmlformats.org/package/2006/relationships"><Relationship Id="rId3" Type="http://schemas.openxmlformats.org/officeDocument/2006/relationships/oleObject" Target="file:///C:\Users\najma\Downloads\DONNEES%20VAP%20RDC%20Jusqu'en%20Octobre%202025.xlsx" TargetMode="External"/><Relationship Id="rId2" Type="http://schemas.microsoft.com/office/2011/relationships/chartColorStyle" Target="colors19.xml"/><Relationship Id="rId1" Type="http://schemas.microsoft.com/office/2011/relationships/chartStyle" Target="style19.xml"/></Relationships>
</file>

<file path=ppt/charts/_rels/chart24.xml.rels><?xml version="1.0" encoding="UTF-8" standalone="yes"?>
<Relationships xmlns="http://schemas.openxmlformats.org/package/2006/relationships"><Relationship Id="rId1" Type="http://schemas.openxmlformats.org/officeDocument/2006/relationships/oleObject" Target="file:///C:\Users\najma\OneDrive\Documents\PEV%20DE%20ROUTINE\Routine_RDC_%202025%20DPS\RDC_CV%20Cumul&#233;e%20par%20Province_2025%20DPS.xls" TargetMode="External"/></Relationships>
</file>

<file path=ppt/charts/_rels/chart25.xml.rels><?xml version="1.0" encoding="UTF-8" standalone="yes"?>
<Relationships xmlns="http://schemas.openxmlformats.org/package/2006/relationships"><Relationship Id="rId1" Type="http://schemas.openxmlformats.org/officeDocument/2006/relationships/oleObject" Target="file:///C:\Users\najma\OneDrive\Documents\PEV%20DE%20ROUTINE\Routine_RDC_%202025%20DPS\RDC_CV%20Cumul&#233;e%20par%20Province_2025%20DPS.xls" TargetMode="External"/></Relationships>
</file>

<file path=ppt/charts/_rels/chart26.xml.rels><?xml version="1.0" encoding="UTF-8" standalone="yes"?>
<Relationships xmlns="http://schemas.openxmlformats.org/package/2006/relationships"><Relationship Id="rId3" Type="http://schemas.openxmlformats.org/officeDocument/2006/relationships/oleObject" Target="file:///C:\Users\najma\OneDrive\Documents\PEV%20DE%20ROUTINE\Routine_RDC_%202025%20DPS\RDC_CV%20Cumul&#233;e%20par%20Province_2025%20DPS.xls" TargetMode="External"/><Relationship Id="rId2" Type="http://schemas.microsoft.com/office/2011/relationships/chartColorStyle" Target="colors20.xml"/><Relationship Id="rId1" Type="http://schemas.microsoft.com/office/2011/relationships/chartStyle" Target="style20.xml"/></Relationships>
</file>

<file path=ppt/charts/_rels/chart27.xml.rels><?xml version="1.0" encoding="UTF-8" standalone="yes"?>
<Relationships xmlns="http://schemas.openxmlformats.org/package/2006/relationships"><Relationship Id="rId2" Type="http://schemas.openxmlformats.org/officeDocument/2006/relationships/package" Target="../embeddings/Microsoft_Excel_Worksheet10.xlsx"/><Relationship Id="rId1" Type="http://schemas.openxmlformats.org/officeDocument/2006/relationships/themeOverride" Target="../theme/themeOverride12.xml"/></Relationships>
</file>

<file path=ppt/charts/_rels/chart28.xml.rels><?xml version="1.0" encoding="UTF-8" standalone="yes"?>
<Relationships xmlns="http://schemas.openxmlformats.org/package/2006/relationships"><Relationship Id="rId2" Type="http://schemas.openxmlformats.org/officeDocument/2006/relationships/package" Target="../embeddings/Microsoft_Excel_Worksheet11.xlsx"/><Relationship Id="rId1" Type="http://schemas.openxmlformats.org/officeDocument/2006/relationships/themeOverride" Target="../theme/themeOverride13.xml"/></Relationships>
</file>

<file path=ppt/charts/_rels/chart29.xml.rels><?xml version="1.0" encoding="UTF-8" standalone="yes"?>
<Relationships xmlns="http://schemas.openxmlformats.org/package/2006/relationships"><Relationship Id="rId2" Type="http://schemas.openxmlformats.org/officeDocument/2006/relationships/package" Target="../embeddings/Microsoft_Excel_Worksheet12.xlsx"/><Relationship Id="rId1" Type="http://schemas.openxmlformats.org/officeDocument/2006/relationships/themeOverride" Target="../theme/themeOverride1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10"/>
    </mc:Choice>
    <mc:Fallback>
      <c:style val="10"/>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5.5917634562541854E-2"/>
          <c:y val="8.90959993637159E-2"/>
          <c:w val="0.93635509271018547"/>
          <c:h val="0.76433382246552195"/>
        </c:manualLayout>
      </c:layout>
      <c:barChart>
        <c:barDir val="col"/>
        <c:grouping val="clustered"/>
        <c:varyColors val="0"/>
        <c:ser>
          <c:idx val="0"/>
          <c:order val="0"/>
          <c:tx>
            <c:strRef>
              <c:f>'completude et promp'!$B$1</c:f>
              <c:strCache>
                <c:ptCount val="1"/>
                <c:pt idx="0">
                  <c:v>Complétude</c:v>
                </c:pt>
              </c:strCache>
            </c:strRef>
          </c:tx>
          <c:invertIfNegative val="0"/>
          <c:dPt>
            <c:idx val="26"/>
            <c:invertIfNegative val="0"/>
            <c:bubble3D val="0"/>
            <c:spPr>
              <a:solidFill>
                <a:schemeClr val="accent1"/>
              </a:solidFill>
            </c:spPr>
            <c:extLst>
              <c:ext xmlns:c16="http://schemas.microsoft.com/office/drawing/2014/chart" uri="{C3380CC4-5D6E-409C-BE32-E72D297353CC}">
                <c16:uniqueId val="{00000001-C441-4E2B-924F-5DD328F2E0EC}"/>
              </c:ext>
            </c:extLst>
          </c:dPt>
          <c:dLbls>
            <c:dLbl>
              <c:idx val="26"/>
              <c:spPr>
                <a:noFill/>
                <a:ln w="25400">
                  <a:noFill/>
                </a:ln>
              </c:spPr>
              <c:txPr>
                <a:bodyPr rot="-5400000" vert="horz"/>
                <a:lstStyle/>
                <a:p>
                  <a:pPr algn="ctr">
                    <a:defRPr sz="1050" b="0" i="0" u="none" strike="noStrike" baseline="0">
                      <a:solidFill>
                        <a:srgbClr val="000000"/>
                      </a:solidFill>
                      <a:latin typeface="Calibri"/>
                      <a:ea typeface="Calibri"/>
                      <a:cs typeface="Calibri"/>
                    </a:defRPr>
                  </a:pPr>
                  <a:endParaRPr lang="fr-F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441-4E2B-924F-5DD328F2E0E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'completude et promp'!$A$2:$A$28</c:f>
              <c:strCache>
                <c:ptCount val="27"/>
                <c:pt idx="0">
                  <c:v>BAS UELE</c:v>
                </c:pt>
                <c:pt idx="1">
                  <c:v>EQUATEUR</c:v>
                </c:pt>
                <c:pt idx="2">
                  <c:v>HAUT KATANGA</c:v>
                </c:pt>
                <c:pt idx="3">
                  <c:v>HAUT LOMAMI</c:v>
                </c:pt>
                <c:pt idx="4">
                  <c:v>HAUT UELE</c:v>
                </c:pt>
                <c:pt idx="5">
                  <c:v>ITURI</c:v>
                </c:pt>
                <c:pt idx="6">
                  <c:v>KASAI </c:v>
                </c:pt>
                <c:pt idx="7">
                  <c:v>KASAI CENTRAL</c:v>
                </c:pt>
                <c:pt idx="8">
                  <c:v>KASAI-ORIENTAL  </c:v>
                </c:pt>
                <c:pt idx="9">
                  <c:v>KINSHASA</c:v>
                </c:pt>
                <c:pt idx="10">
                  <c:v>KONGO CENTRAL</c:v>
                </c:pt>
                <c:pt idx="11">
                  <c:v>KWANGO</c:v>
                </c:pt>
                <c:pt idx="12">
                  <c:v>KWILU</c:v>
                </c:pt>
                <c:pt idx="13">
                  <c:v>LOMAMI</c:v>
                </c:pt>
                <c:pt idx="14">
                  <c:v>LUALABA</c:v>
                </c:pt>
                <c:pt idx="15">
                  <c:v>MAINDOMBE</c:v>
                </c:pt>
                <c:pt idx="16">
                  <c:v>MANIEMA</c:v>
                </c:pt>
                <c:pt idx="17">
                  <c:v>MONGALA</c:v>
                </c:pt>
                <c:pt idx="18">
                  <c:v>NORD-KIVU</c:v>
                </c:pt>
                <c:pt idx="19">
                  <c:v>NORD-UBANGI</c:v>
                </c:pt>
                <c:pt idx="20">
                  <c:v>SANKURU</c:v>
                </c:pt>
                <c:pt idx="21">
                  <c:v>SUD-KIVU</c:v>
                </c:pt>
                <c:pt idx="22">
                  <c:v>SUD-UBANGI</c:v>
                </c:pt>
                <c:pt idx="23">
                  <c:v>TANGANYIKA</c:v>
                </c:pt>
                <c:pt idx="24">
                  <c:v>TSHOPO</c:v>
                </c:pt>
                <c:pt idx="25">
                  <c:v>TSHUAPA</c:v>
                </c:pt>
                <c:pt idx="26">
                  <c:v>National</c:v>
                </c:pt>
              </c:strCache>
            </c:strRef>
          </c:cat>
          <c:val>
            <c:numRef>
              <c:f>'completude et promp'!$B$2:$B$28</c:f>
              <c:numCache>
                <c:formatCode>0.0%</c:formatCode>
                <c:ptCount val="27"/>
                <c:pt idx="0">
                  <c:v>1</c:v>
                </c:pt>
                <c:pt idx="1">
                  <c:v>1</c:v>
                </c:pt>
                <c:pt idx="2">
                  <c:v>1</c:v>
                </c:pt>
                <c:pt idx="3">
                  <c:v>0.96409999999999996</c:v>
                </c:pt>
                <c:pt idx="4">
                  <c:v>0.97840000000000005</c:v>
                </c:pt>
                <c:pt idx="5">
                  <c:v>0.99950000000000006</c:v>
                </c:pt>
                <c:pt idx="6">
                  <c:v>1</c:v>
                </c:pt>
                <c:pt idx="7">
                  <c:v>0.97530000000000006</c:v>
                </c:pt>
                <c:pt idx="8">
                  <c:v>0.99290000000000012</c:v>
                </c:pt>
                <c:pt idx="9">
                  <c:v>0.98760000000000003</c:v>
                </c:pt>
                <c:pt idx="10">
                  <c:v>0.99909999999999999</c:v>
                </c:pt>
                <c:pt idx="11">
                  <c:v>0.95239999999999991</c:v>
                </c:pt>
                <c:pt idx="12">
                  <c:v>0.99719999999999998</c:v>
                </c:pt>
                <c:pt idx="13">
                  <c:v>0.99040000000000006</c:v>
                </c:pt>
                <c:pt idx="14">
                  <c:v>0.98209999999999997</c:v>
                </c:pt>
                <c:pt idx="15">
                  <c:v>0.97089999999999999</c:v>
                </c:pt>
                <c:pt idx="16">
                  <c:v>0.99370000000000003</c:v>
                </c:pt>
                <c:pt idx="17">
                  <c:v>0.99639999999999995</c:v>
                </c:pt>
                <c:pt idx="18">
                  <c:v>1</c:v>
                </c:pt>
                <c:pt idx="19">
                  <c:v>0.99939999999999996</c:v>
                </c:pt>
                <c:pt idx="20">
                  <c:v>0.97160000000000002</c:v>
                </c:pt>
                <c:pt idx="21">
                  <c:v>0.92459999999999998</c:v>
                </c:pt>
                <c:pt idx="22">
                  <c:v>0.99809999999999999</c:v>
                </c:pt>
                <c:pt idx="23">
                  <c:v>0.99769999999999992</c:v>
                </c:pt>
                <c:pt idx="24">
                  <c:v>1</c:v>
                </c:pt>
                <c:pt idx="25">
                  <c:v>0.98620000000000008</c:v>
                </c:pt>
                <c:pt idx="26">
                  <c:v>0.9890000000000001</c:v>
                </c:pt>
              </c:numCache>
            </c:numRef>
          </c:val>
          <c:extLst>
            <c:ext xmlns:c16="http://schemas.microsoft.com/office/drawing/2014/chart" uri="{C3380CC4-5D6E-409C-BE32-E72D297353CC}">
              <c16:uniqueId val="{00000002-C441-4E2B-924F-5DD328F2E0EC}"/>
            </c:ext>
          </c:extLst>
        </c:ser>
        <c:ser>
          <c:idx val="1"/>
          <c:order val="1"/>
          <c:tx>
            <c:strRef>
              <c:f>'completude et promp'!$C$1</c:f>
              <c:strCache>
                <c:ptCount val="1"/>
                <c:pt idx="0">
                  <c:v>Promptitude</c:v>
                </c:pt>
              </c:strCache>
            </c:strRef>
          </c:tx>
          <c:invertIfNegative val="0"/>
          <c:dLbls>
            <c:dLbl>
              <c:idx val="26"/>
              <c:spPr>
                <a:noFill/>
                <a:ln w="25400">
                  <a:noFill/>
                </a:ln>
              </c:spPr>
              <c:txPr>
                <a:bodyPr rot="-5400000" vert="horz"/>
                <a:lstStyle/>
                <a:p>
                  <a:pPr algn="ctr">
                    <a:defRPr sz="1050" b="0" i="0" u="none" strike="noStrike" baseline="0">
                      <a:solidFill>
                        <a:srgbClr val="000000"/>
                      </a:solidFill>
                      <a:latin typeface="Calibri"/>
                      <a:ea typeface="Calibri"/>
                      <a:cs typeface="Calibri"/>
                    </a:defRPr>
                  </a:pPr>
                  <a:endParaRPr lang="fr-F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441-4E2B-924F-5DD328F2E0E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'completude et promp'!$A$2:$A$28</c:f>
              <c:strCache>
                <c:ptCount val="27"/>
                <c:pt idx="0">
                  <c:v>BAS UELE</c:v>
                </c:pt>
                <c:pt idx="1">
                  <c:v>EQUATEUR</c:v>
                </c:pt>
                <c:pt idx="2">
                  <c:v>HAUT KATANGA</c:v>
                </c:pt>
                <c:pt idx="3">
                  <c:v>HAUT LOMAMI</c:v>
                </c:pt>
                <c:pt idx="4">
                  <c:v>HAUT UELE</c:v>
                </c:pt>
                <c:pt idx="5">
                  <c:v>ITURI</c:v>
                </c:pt>
                <c:pt idx="6">
                  <c:v>KASAI </c:v>
                </c:pt>
                <c:pt idx="7">
                  <c:v>KASAI CENTRAL</c:v>
                </c:pt>
                <c:pt idx="8">
                  <c:v>KASAI-ORIENTAL  </c:v>
                </c:pt>
                <c:pt idx="9">
                  <c:v>KINSHASA</c:v>
                </c:pt>
                <c:pt idx="10">
                  <c:v>KONGO CENTRAL</c:v>
                </c:pt>
                <c:pt idx="11">
                  <c:v>KWANGO</c:v>
                </c:pt>
                <c:pt idx="12">
                  <c:v>KWILU</c:v>
                </c:pt>
                <c:pt idx="13">
                  <c:v>LOMAMI</c:v>
                </c:pt>
                <c:pt idx="14">
                  <c:v>LUALABA</c:v>
                </c:pt>
                <c:pt idx="15">
                  <c:v>MAINDOMBE</c:v>
                </c:pt>
                <c:pt idx="16">
                  <c:v>MANIEMA</c:v>
                </c:pt>
                <c:pt idx="17">
                  <c:v>MONGALA</c:v>
                </c:pt>
                <c:pt idx="18">
                  <c:v>NORD-KIVU</c:v>
                </c:pt>
                <c:pt idx="19">
                  <c:v>NORD-UBANGI</c:v>
                </c:pt>
                <c:pt idx="20">
                  <c:v>SANKURU</c:v>
                </c:pt>
                <c:pt idx="21">
                  <c:v>SUD-KIVU</c:v>
                </c:pt>
                <c:pt idx="22">
                  <c:v>SUD-UBANGI</c:v>
                </c:pt>
                <c:pt idx="23">
                  <c:v>TANGANYIKA</c:v>
                </c:pt>
                <c:pt idx="24">
                  <c:v>TSHOPO</c:v>
                </c:pt>
                <c:pt idx="25">
                  <c:v>TSHUAPA</c:v>
                </c:pt>
                <c:pt idx="26">
                  <c:v>National</c:v>
                </c:pt>
              </c:strCache>
            </c:strRef>
          </c:cat>
          <c:val>
            <c:numRef>
              <c:f>'completude et promp'!$C$2:$C$28</c:f>
              <c:numCache>
                <c:formatCode>0.0%</c:formatCode>
                <c:ptCount val="27"/>
                <c:pt idx="0">
                  <c:v>0.97199999999999998</c:v>
                </c:pt>
                <c:pt idx="1">
                  <c:v>0.97270000000000001</c:v>
                </c:pt>
                <c:pt idx="2">
                  <c:v>0.83950000000000002</c:v>
                </c:pt>
                <c:pt idx="3">
                  <c:v>0.87269999999999992</c:v>
                </c:pt>
                <c:pt idx="4">
                  <c:v>0.92510000000000003</c:v>
                </c:pt>
                <c:pt idx="5">
                  <c:v>0.98290000000000011</c:v>
                </c:pt>
                <c:pt idx="6">
                  <c:v>0.93299999999999994</c:v>
                </c:pt>
                <c:pt idx="7">
                  <c:v>0.94389999999999996</c:v>
                </c:pt>
                <c:pt idx="8">
                  <c:v>0.97530000000000006</c:v>
                </c:pt>
                <c:pt idx="9">
                  <c:v>0.95430000000000004</c:v>
                </c:pt>
                <c:pt idx="10">
                  <c:v>0.99439999999999995</c:v>
                </c:pt>
                <c:pt idx="11">
                  <c:v>0.68099999999999994</c:v>
                </c:pt>
                <c:pt idx="12">
                  <c:v>0.9423999999999999</c:v>
                </c:pt>
                <c:pt idx="13">
                  <c:v>0.96550000000000002</c:v>
                </c:pt>
                <c:pt idx="14">
                  <c:v>0.8395999999999999</c:v>
                </c:pt>
                <c:pt idx="15">
                  <c:v>0.90930000000000011</c:v>
                </c:pt>
                <c:pt idx="16">
                  <c:v>0.88859999999999995</c:v>
                </c:pt>
                <c:pt idx="17">
                  <c:v>0.9264</c:v>
                </c:pt>
                <c:pt idx="18">
                  <c:v>0.94400000000000006</c:v>
                </c:pt>
                <c:pt idx="19">
                  <c:v>0.97409999999999997</c:v>
                </c:pt>
                <c:pt idx="20">
                  <c:v>0.93</c:v>
                </c:pt>
                <c:pt idx="21">
                  <c:v>0.77890000000000004</c:v>
                </c:pt>
                <c:pt idx="22">
                  <c:v>0.90639999999999998</c:v>
                </c:pt>
                <c:pt idx="23">
                  <c:v>0.95510000000000006</c:v>
                </c:pt>
                <c:pt idx="24">
                  <c:v>0.93540000000000001</c:v>
                </c:pt>
                <c:pt idx="25">
                  <c:v>0.91390000000000005</c:v>
                </c:pt>
                <c:pt idx="26">
                  <c:v>0.92209999999999992</c:v>
                </c:pt>
              </c:numCache>
            </c:numRef>
          </c:val>
          <c:extLst>
            <c:ext xmlns:c16="http://schemas.microsoft.com/office/drawing/2014/chart" uri="{C3380CC4-5D6E-409C-BE32-E72D297353CC}">
              <c16:uniqueId val="{00000004-C441-4E2B-924F-5DD328F2E0EC}"/>
            </c:ext>
          </c:extLst>
        </c:ser>
        <c:dLbls>
          <c:showLegendKey val="0"/>
          <c:showVal val="0"/>
          <c:showCatName val="0"/>
          <c:showSerName val="0"/>
          <c:showPercent val="0"/>
          <c:showBubbleSize val="0"/>
        </c:dLbls>
        <c:gapWidth val="150"/>
        <c:axId val="270381712"/>
        <c:axId val="270382104"/>
      </c:barChart>
      <c:catAx>
        <c:axId val="270381712"/>
        <c:scaling>
          <c:orientation val="minMax"/>
        </c:scaling>
        <c:delete val="0"/>
        <c:axPos val="b"/>
        <c:numFmt formatCode="General" sourceLinked="1"/>
        <c:majorTickMark val="out"/>
        <c:minorTickMark val="none"/>
        <c:tickLblPos val="nextTo"/>
        <c:txPr>
          <a:bodyPr rot="-2700000" vert="horz"/>
          <a:lstStyle/>
          <a:p>
            <a:pPr>
              <a:defRPr sz="800" b="0" i="0" u="none" strike="noStrike" baseline="0">
                <a:solidFill>
                  <a:srgbClr val="000000"/>
                </a:solidFill>
                <a:latin typeface="Calibri"/>
                <a:ea typeface="Calibri"/>
                <a:cs typeface="Calibri"/>
              </a:defRPr>
            </a:pPr>
            <a:endParaRPr lang="fr-FR"/>
          </a:p>
        </c:txPr>
        <c:crossAx val="270382104"/>
        <c:crosses val="autoZero"/>
        <c:auto val="1"/>
        <c:lblAlgn val="ctr"/>
        <c:lblOffset val="100"/>
        <c:noMultiLvlLbl val="0"/>
      </c:catAx>
      <c:valAx>
        <c:axId val="270382104"/>
        <c:scaling>
          <c:orientation val="minMax"/>
          <c:max val="1"/>
          <c:min val="0"/>
        </c:scaling>
        <c:delete val="0"/>
        <c:axPos val="l"/>
        <c:majorGridlines/>
        <c:numFmt formatCode="0.0%" sourceLinked="1"/>
        <c:majorTickMark val="out"/>
        <c:minorTickMark val="none"/>
        <c:tickLblPos val="nextTo"/>
        <c:txPr>
          <a:bodyPr rot="0" vert="horz"/>
          <a:lstStyle/>
          <a:p>
            <a:pPr>
              <a:defRPr sz="1050" b="0" i="0" u="none" strike="noStrike" baseline="0">
                <a:solidFill>
                  <a:srgbClr val="000000"/>
                </a:solidFill>
                <a:latin typeface="Calibri"/>
                <a:ea typeface="Calibri"/>
                <a:cs typeface="Calibri"/>
              </a:defRPr>
            </a:pPr>
            <a:endParaRPr lang="fr-FR"/>
          </a:p>
        </c:txPr>
        <c:crossAx val="270381712"/>
        <c:crosses val="autoZero"/>
        <c:crossBetween val="between"/>
      </c:valAx>
    </c:plotArea>
    <c:legend>
      <c:legendPos val="r"/>
      <c:layout>
        <c:manualLayout>
          <c:xMode val="edge"/>
          <c:yMode val="edge"/>
          <c:x val="0.38241764333913703"/>
          <c:y val="0"/>
          <c:w val="0.24945055135434796"/>
          <c:h val="3.7936212518889678E-2"/>
        </c:manualLayout>
      </c:layout>
      <c:overlay val="0"/>
      <c:txPr>
        <a:bodyPr/>
        <a:lstStyle/>
        <a:p>
          <a:pPr>
            <a:defRPr sz="1100" b="0" i="0" u="none" strike="noStrike" baseline="0">
              <a:solidFill>
                <a:srgbClr val="000000"/>
              </a:solidFill>
              <a:latin typeface="Calibri"/>
              <a:ea typeface="Calibri"/>
              <a:cs typeface="Calibri"/>
            </a:defRPr>
          </a:pPr>
          <a:endParaRPr lang="fr-FR"/>
        </a:p>
      </c:txPr>
    </c:legend>
    <c:plotVisOnly val="1"/>
    <c:dispBlanksAs val="gap"/>
    <c:showDLblsOverMax val="0"/>
  </c:chart>
  <c:txPr>
    <a:bodyPr/>
    <a:lstStyle/>
    <a:p>
      <a:pPr>
        <a:defRPr sz="1050" b="0" i="0" u="none" strike="noStrike" baseline="0">
          <a:solidFill>
            <a:srgbClr val="000000"/>
          </a:solidFill>
          <a:latin typeface="Calibri"/>
          <a:ea typeface="Calibri"/>
          <a:cs typeface="Calibri"/>
        </a:defRPr>
      </a:pPr>
      <a:endParaRPr lang="fr-FR"/>
    </a:p>
  </c:txPr>
  <c:externalData r:id="rId2">
    <c:autoUpdate val="0"/>
  </c:externalData>
  <c:userShapes r:id="rId3"/>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view3D>
      <c:rotX val="15"/>
      <c:rotY val="20"/>
      <c:depthPercent val="100"/>
      <c:rAngAx val="1"/>
    </c:view3D>
    <c:floor>
      <c:thickness val="0"/>
      <c:spPr>
        <a:noFill/>
        <a:ln w="9525">
          <a:noFill/>
        </a:ln>
      </c:spPr>
    </c:floor>
    <c:sideWall>
      <c:thickness val="0"/>
      <c:spPr>
        <a:noFill/>
        <a:ln w="25400">
          <a:noFill/>
        </a:ln>
      </c:spPr>
    </c:sideWall>
    <c:backWall>
      <c:thickness val="0"/>
      <c:spPr>
        <a:noFill/>
        <a:ln w="25400">
          <a:noFill/>
        </a:ln>
      </c:spPr>
    </c:backWall>
    <c:plotArea>
      <c:layout>
        <c:manualLayout>
          <c:layoutTarget val="inner"/>
          <c:xMode val="edge"/>
          <c:yMode val="edge"/>
          <c:x val="6.1269959668034855E-2"/>
          <c:y val="9.1004184600117416E-2"/>
          <c:w val="0.92898321613204693"/>
          <c:h val="0.75099678642965983"/>
        </c:manualLayout>
      </c:layout>
      <c:bar3DChart>
        <c:barDir val="col"/>
        <c:grouping val="clustered"/>
        <c:varyColors val="0"/>
        <c:ser>
          <c:idx val="0"/>
          <c:order val="0"/>
          <c:tx>
            <c:strRef>
              <c:f>'Données Object'!$B$17</c:f>
              <c:strCache>
                <c:ptCount val="1"/>
                <c:pt idx="0">
                  <c:v>Objectifs</c:v>
                </c:pt>
              </c:strCache>
            </c:strRef>
          </c:tx>
          <c:spPr>
            <a:solidFill>
              <a:srgbClr val="4F81BD"/>
            </a:solidFill>
            <a:ln w="25400">
              <a:noFill/>
            </a:ln>
          </c:spPr>
          <c:invertIfNegative val="0"/>
          <c:dLbls>
            <c:spPr>
              <a:solidFill>
                <a:schemeClr val="accent2">
                  <a:lumMod val="20000"/>
                  <a:lumOff val="80000"/>
                </a:schemeClr>
              </a:solidFill>
              <a:ln w="25400">
                <a:noFill/>
              </a:ln>
            </c:spPr>
            <c:txPr>
              <a:bodyPr rot="-5400000" vert="horz" wrap="square" lIns="38100" tIns="19050" rIns="38100" bIns="19050" anchor="ctr">
                <a:spAutoFit/>
              </a:bodyPr>
              <a:lstStyle/>
              <a:p>
                <a:pPr algn="ctr">
                  <a:defRPr sz="1050" b="1" i="0" u="none" strike="noStrike" baseline="0">
                    <a:solidFill>
                      <a:srgbClr val="333333"/>
                    </a:solidFill>
                    <a:latin typeface="Calibri"/>
                    <a:ea typeface="Calibri"/>
                    <a:cs typeface="Calibri"/>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'Données Object'!$A$18:$A$29</c:f>
              <c:strCache>
                <c:ptCount val="12"/>
                <c:pt idx="0">
                  <c:v>BCG</c:v>
                </c:pt>
                <c:pt idx="1">
                  <c:v>DTC-HepB-Hib1</c:v>
                </c:pt>
                <c:pt idx="2">
                  <c:v>DTC-HepB-Hib3</c:v>
                </c:pt>
                <c:pt idx="3">
                  <c:v>VPO3</c:v>
                </c:pt>
                <c:pt idx="4">
                  <c:v>Pneumo3</c:v>
                </c:pt>
                <c:pt idx="5">
                  <c:v>VAR1</c:v>
                </c:pt>
                <c:pt idx="6">
                  <c:v>VAR2</c:v>
                </c:pt>
                <c:pt idx="7">
                  <c:v>VAA</c:v>
                </c:pt>
                <c:pt idx="8">
                  <c:v>Td2+</c:v>
                </c:pt>
                <c:pt idx="9">
                  <c:v>VPI1</c:v>
                </c:pt>
                <c:pt idx="10">
                  <c:v>VPI2</c:v>
                </c:pt>
                <c:pt idx="11">
                  <c:v>Rota3</c:v>
                </c:pt>
              </c:strCache>
            </c:strRef>
          </c:cat>
          <c:val>
            <c:numRef>
              <c:f>'Données Object'!$B$18:$B$29</c:f>
              <c:numCache>
                <c:formatCode>0.0%</c:formatCode>
                <c:ptCount val="12"/>
                <c:pt idx="0">
                  <c:v>0.95</c:v>
                </c:pt>
                <c:pt idx="1">
                  <c:v>0.95</c:v>
                </c:pt>
                <c:pt idx="2">
                  <c:v>0.94</c:v>
                </c:pt>
                <c:pt idx="3">
                  <c:v>0.94</c:v>
                </c:pt>
                <c:pt idx="4">
                  <c:v>0.94</c:v>
                </c:pt>
                <c:pt idx="5">
                  <c:v>0.93</c:v>
                </c:pt>
                <c:pt idx="6">
                  <c:v>0.93</c:v>
                </c:pt>
                <c:pt idx="7">
                  <c:v>0.93</c:v>
                </c:pt>
                <c:pt idx="8">
                  <c:v>0.93</c:v>
                </c:pt>
                <c:pt idx="9">
                  <c:v>0.9</c:v>
                </c:pt>
                <c:pt idx="10">
                  <c:v>0.93</c:v>
                </c:pt>
                <c:pt idx="11">
                  <c:v>0.94</c:v>
                </c:pt>
              </c:numCache>
            </c:numRef>
          </c:val>
          <c:shape val="cylinder"/>
          <c:extLst>
            <c:ext xmlns:c16="http://schemas.microsoft.com/office/drawing/2014/chart" uri="{C3380CC4-5D6E-409C-BE32-E72D297353CC}">
              <c16:uniqueId val="{00000000-3DE1-4BFF-9178-607B1DCA2C6E}"/>
            </c:ext>
          </c:extLst>
        </c:ser>
        <c:ser>
          <c:idx val="1"/>
          <c:order val="1"/>
          <c:tx>
            <c:strRef>
              <c:f>'Données Object'!$C$17</c:f>
              <c:strCache>
                <c:ptCount val="1"/>
                <c:pt idx="0">
                  <c:v>CV avec cible administrative</c:v>
                </c:pt>
              </c:strCache>
            </c:strRef>
          </c:tx>
          <c:spPr>
            <a:solidFill>
              <a:srgbClr val="C0504D"/>
            </a:solidFill>
            <a:ln w="25400">
              <a:noFill/>
            </a:ln>
          </c:spPr>
          <c:invertIfNegative val="0"/>
          <c:dLbls>
            <c:spPr>
              <a:solidFill>
                <a:schemeClr val="bg1"/>
              </a:solidFill>
              <a:ln w="25400">
                <a:noFill/>
              </a:ln>
            </c:spPr>
            <c:txPr>
              <a:bodyPr rot="-5400000" vert="horz" wrap="square" lIns="38100" tIns="19050" rIns="38100" bIns="19050" anchor="ctr">
                <a:spAutoFit/>
              </a:bodyPr>
              <a:lstStyle/>
              <a:p>
                <a:pPr algn="ctr">
                  <a:defRPr sz="1000" b="1" i="0" u="none" strike="noStrike" baseline="0">
                    <a:solidFill>
                      <a:srgbClr val="333333"/>
                    </a:solidFill>
                    <a:latin typeface="Calibri"/>
                    <a:ea typeface="Calibri"/>
                    <a:cs typeface="Calibri"/>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'Données Object'!$A$18:$A$29</c:f>
              <c:strCache>
                <c:ptCount val="12"/>
                <c:pt idx="0">
                  <c:v>BCG</c:v>
                </c:pt>
                <c:pt idx="1">
                  <c:v>DTC-HepB-Hib1</c:v>
                </c:pt>
                <c:pt idx="2">
                  <c:v>DTC-HepB-Hib3</c:v>
                </c:pt>
                <c:pt idx="3">
                  <c:v>VPO3</c:v>
                </c:pt>
                <c:pt idx="4">
                  <c:v>Pneumo3</c:v>
                </c:pt>
                <c:pt idx="5">
                  <c:v>VAR1</c:v>
                </c:pt>
                <c:pt idx="6">
                  <c:v>VAR2</c:v>
                </c:pt>
                <c:pt idx="7">
                  <c:v>VAA</c:v>
                </c:pt>
                <c:pt idx="8">
                  <c:v>Td2+</c:v>
                </c:pt>
                <c:pt idx="9">
                  <c:v>VPI1</c:v>
                </c:pt>
                <c:pt idx="10">
                  <c:v>VPI2</c:v>
                </c:pt>
                <c:pt idx="11">
                  <c:v>Rota3</c:v>
                </c:pt>
              </c:strCache>
            </c:strRef>
          </c:cat>
          <c:val>
            <c:numRef>
              <c:f>'Données Object'!$C$18:$C$29</c:f>
              <c:numCache>
                <c:formatCode>0.0%</c:formatCode>
                <c:ptCount val="12"/>
                <c:pt idx="0">
                  <c:v>0.96360106136005619</c:v>
                </c:pt>
                <c:pt idx="1">
                  <c:v>1.0004729446405016</c:v>
                </c:pt>
                <c:pt idx="2">
                  <c:v>0.95037999014443619</c:v>
                </c:pt>
                <c:pt idx="3">
                  <c:v>0.94637165270461787</c:v>
                </c:pt>
                <c:pt idx="4">
                  <c:v>0.94160964008827164</c:v>
                </c:pt>
                <c:pt idx="5">
                  <c:v>0.8028677854670222</c:v>
                </c:pt>
                <c:pt idx="6">
                  <c:v>0.62122055956341693</c:v>
                </c:pt>
                <c:pt idx="7">
                  <c:v>0.81210067366758598</c:v>
                </c:pt>
                <c:pt idx="8">
                  <c:v>0.92385539182872389</c:v>
                </c:pt>
                <c:pt idx="9">
                  <c:v>0.94962655982664013</c:v>
                </c:pt>
                <c:pt idx="10">
                  <c:v>0.73784530437470741</c:v>
                </c:pt>
                <c:pt idx="11">
                  <c:v>0.90108233680930716</c:v>
                </c:pt>
              </c:numCache>
            </c:numRef>
          </c:val>
          <c:shape val="cylinder"/>
          <c:extLst>
            <c:ext xmlns:c16="http://schemas.microsoft.com/office/drawing/2014/chart" uri="{C3380CC4-5D6E-409C-BE32-E72D297353CC}">
              <c16:uniqueId val="{00000001-3DE1-4BFF-9178-607B1DCA2C6E}"/>
            </c:ext>
          </c:extLst>
        </c:ser>
        <c:dLbls>
          <c:showLegendKey val="0"/>
          <c:showVal val="0"/>
          <c:showCatName val="0"/>
          <c:showSerName val="0"/>
          <c:showPercent val="0"/>
          <c:showBubbleSize val="0"/>
        </c:dLbls>
        <c:gapWidth val="150"/>
        <c:shape val="box"/>
        <c:axId val="209994336"/>
        <c:axId val="273136992"/>
        <c:axId val="0"/>
      </c:bar3DChart>
      <c:catAx>
        <c:axId val="209994336"/>
        <c:scaling>
          <c:orientation val="minMax"/>
        </c:scaling>
        <c:delete val="0"/>
        <c:axPos val="b"/>
        <c:numFmt formatCode="General" sourceLinked="1"/>
        <c:majorTickMark val="none"/>
        <c:minorTickMark val="none"/>
        <c:tickLblPos val="nextTo"/>
        <c:spPr>
          <a:ln w="9525">
            <a:noFill/>
          </a:ln>
        </c:spPr>
        <c:txPr>
          <a:bodyPr rot="-2700000" vert="horz"/>
          <a:lstStyle/>
          <a:p>
            <a:pPr>
              <a:defRPr sz="1200" b="0" i="0" u="none" strike="noStrike" baseline="0">
                <a:solidFill>
                  <a:srgbClr val="333333"/>
                </a:solidFill>
                <a:latin typeface="Calibri"/>
                <a:ea typeface="Calibri"/>
                <a:cs typeface="Calibri"/>
              </a:defRPr>
            </a:pPr>
            <a:endParaRPr lang="fr-FR"/>
          </a:p>
        </c:txPr>
        <c:crossAx val="273136992"/>
        <c:crosses val="autoZero"/>
        <c:auto val="1"/>
        <c:lblAlgn val="ctr"/>
        <c:lblOffset val="100"/>
        <c:noMultiLvlLbl val="0"/>
      </c:catAx>
      <c:valAx>
        <c:axId val="273136992"/>
        <c:scaling>
          <c:orientation val="minMax"/>
          <c:max val="1"/>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ln w="9525">
            <a:noFill/>
          </a:ln>
        </c:spPr>
        <c:txPr>
          <a:bodyPr rot="0" vert="horz"/>
          <a:lstStyle/>
          <a:p>
            <a:pPr>
              <a:defRPr sz="900" b="0" i="0" u="none" strike="noStrike" baseline="0">
                <a:solidFill>
                  <a:srgbClr val="333333"/>
                </a:solidFill>
                <a:latin typeface="Calibri"/>
                <a:ea typeface="Calibri"/>
                <a:cs typeface="Calibri"/>
              </a:defRPr>
            </a:pPr>
            <a:endParaRPr lang="fr-FR"/>
          </a:p>
        </c:txPr>
        <c:crossAx val="209994336"/>
        <c:crosses val="autoZero"/>
        <c:crossBetween val="between"/>
      </c:valAx>
      <c:spPr>
        <a:noFill/>
        <a:ln w="25400">
          <a:noFill/>
        </a:ln>
      </c:spPr>
    </c:plotArea>
    <c:legend>
      <c:legendPos val="r"/>
      <c:layout>
        <c:manualLayout>
          <c:xMode val="edge"/>
          <c:yMode val="edge"/>
          <c:x val="0.38681313685092872"/>
          <c:y val="1.2121282414551958E-2"/>
          <c:w val="0.2208790749747111"/>
          <c:h val="4.2424250127622132E-2"/>
        </c:manualLayout>
      </c:layout>
      <c:overlay val="0"/>
      <c:spPr>
        <a:noFill/>
        <a:ln w="25400">
          <a:noFill/>
        </a:ln>
      </c:spPr>
      <c:txPr>
        <a:bodyPr/>
        <a:lstStyle/>
        <a:p>
          <a:pPr>
            <a:defRPr sz="800" b="0" i="0" u="none" strike="noStrike" baseline="0">
              <a:solidFill>
                <a:srgbClr val="333333"/>
              </a:solidFill>
              <a:latin typeface="Calibri"/>
              <a:ea typeface="Calibri"/>
              <a:cs typeface="Calibri"/>
            </a:defRPr>
          </a:pPr>
          <a:endParaRPr lang="fr-FR"/>
        </a:p>
      </c:txPr>
    </c:legend>
    <c:plotVisOnly val="1"/>
    <c:dispBlanksAs val="gap"/>
    <c:showDLblsOverMax val="0"/>
  </c:chart>
  <c:spPr>
    <a:solidFill>
      <a:schemeClr val="bg1"/>
    </a:solidFill>
    <a:ln w="9525" cap="flat" cmpd="sng" algn="ctr">
      <a:solidFill>
        <a:schemeClr val="tx1">
          <a:lumMod val="15000"/>
          <a:lumOff val="85000"/>
        </a:schemeClr>
      </a:solidFill>
      <a:bevel/>
    </a:ln>
    <a:effectLst/>
  </c:spPr>
  <c:txPr>
    <a:bodyPr/>
    <a:lstStyle/>
    <a:p>
      <a:pPr>
        <a:defRPr sz="1000" b="0" i="0" u="none" strike="noStrike" baseline="0">
          <a:solidFill>
            <a:srgbClr val="000000"/>
          </a:solidFill>
          <a:latin typeface="Calibri"/>
          <a:ea typeface="Calibri"/>
          <a:cs typeface="Calibri"/>
        </a:defRPr>
      </a:pPr>
      <a:endParaRPr lang="fr-F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7.140916096031566E-2"/>
          <c:y val="7.8283985060344508E-2"/>
          <c:w val="0.92273393406577697"/>
          <c:h val="0.81052720874053885"/>
        </c:manualLayout>
      </c:layout>
      <c:barChart>
        <c:barDir val="col"/>
        <c:grouping val="clustered"/>
        <c:varyColors val="0"/>
        <c:ser>
          <c:idx val="1"/>
          <c:order val="1"/>
          <c:tx>
            <c:strRef>
              <c:f>'Données Object'!$C$17</c:f>
              <c:strCache>
                <c:ptCount val="1"/>
                <c:pt idx="0">
                  <c:v>CV avec cible administrative</c:v>
                </c:pt>
              </c:strCache>
            </c:strRef>
          </c:tx>
          <c:spPr>
            <a:solidFill>
              <a:srgbClr val="4F81BD"/>
            </a:solidFill>
            <a:ln w="25400">
              <a:noFill/>
            </a:ln>
          </c:spPr>
          <c:invertIfNegative val="0"/>
          <c:dLbls>
            <c:spPr>
              <a:noFill/>
              <a:ln w="25400">
                <a:noFill/>
              </a:ln>
            </c:spPr>
            <c:txPr>
              <a:bodyPr rot="-5400000" vert="horz" wrap="square" lIns="38100" tIns="19050" rIns="38100" bIns="19050" anchor="ctr">
                <a:spAutoFit/>
              </a:bodyPr>
              <a:lstStyle/>
              <a:p>
                <a:pPr algn="ctr">
                  <a:defRPr sz="900" b="0" i="0" u="none" strike="noStrike" baseline="0">
                    <a:solidFill>
                      <a:srgbClr val="FFFFFF"/>
                    </a:solidFill>
                    <a:latin typeface="Calibri"/>
                    <a:ea typeface="Calibri"/>
                    <a:cs typeface="Calibri"/>
                  </a:defRPr>
                </a:pPr>
                <a:endParaRPr lang="fr-F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'Données Object'!$A$18:$A$29</c:f>
              <c:strCache>
                <c:ptCount val="12"/>
                <c:pt idx="0">
                  <c:v>BCG</c:v>
                </c:pt>
                <c:pt idx="1">
                  <c:v>DTC-HepB-Hib1</c:v>
                </c:pt>
                <c:pt idx="2">
                  <c:v>DTC-HepB-Hib3</c:v>
                </c:pt>
                <c:pt idx="3">
                  <c:v>VPO3</c:v>
                </c:pt>
                <c:pt idx="4">
                  <c:v>Pneumo3</c:v>
                </c:pt>
                <c:pt idx="5">
                  <c:v>VAR1</c:v>
                </c:pt>
                <c:pt idx="6">
                  <c:v>VAR2</c:v>
                </c:pt>
                <c:pt idx="7">
                  <c:v>VAA</c:v>
                </c:pt>
                <c:pt idx="8">
                  <c:v>Td2+</c:v>
                </c:pt>
                <c:pt idx="9">
                  <c:v>VPI1</c:v>
                </c:pt>
                <c:pt idx="10">
                  <c:v>VPI2</c:v>
                </c:pt>
                <c:pt idx="11">
                  <c:v>Rota3</c:v>
                </c:pt>
              </c:strCache>
            </c:strRef>
          </c:cat>
          <c:val>
            <c:numRef>
              <c:f>'Données Object'!$C$18:$C$29</c:f>
              <c:numCache>
                <c:formatCode>0.0%</c:formatCode>
                <c:ptCount val="12"/>
                <c:pt idx="0">
                  <c:v>0.96360106136005619</c:v>
                </c:pt>
                <c:pt idx="1">
                  <c:v>1.0004729446405016</c:v>
                </c:pt>
                <c:pt idx="2">
                  <c:v>0.95037999014443619</c:v>
                </c:pt>
                <c:pt idx="3">
                  <c:v>0.94637165270461787</c:v>
                </c:pt>
                <c:pt idx="4">
                  <c:v>0.94160964008827164</c:v>
                </c:pt>
                <c:pt idx="5">
                  <c:v>0.8028677854670222</c:v>
                </c:pt>
                <c:pt idx="6">
                  <c:v>0.62122055956341693</c:v>
                </c:pt>
                <c:pt idx="7">
                  <c:v>0.81210067366758598</c:v>
                </c:pt>
                <c:pt idx="8">
                  <c:v>0.92385539182872389</c:v>
                </c:pt>
                <c:pt idx="9">
                  <c:v>0.94962655982664013</c:v>
                </c:pt>
                <c:pt idx="10">
                  <c:v>0.73784530437470741</c:v>
                </c:pt>
                <c:pt idx="11">
                  <c:v>0.90108233680930716</c:v>
                </c:pt>
              </c:numCache>
            </c:numRef>
          </c:val>
          <c:extLst>
            <c:ext xmlns:c16="http://schemas.microsoft.com/office/drawing/2014/chart" uri="{C3380CC4-5D6E-409C-BE32-E72D297353CC}">
              <c16:uniqueId val="{00000000-327A-4BA7-83C0-F70DA63F32C4}"/>
            </c:ext>
          </c:extLst>
        </c:ser>
        <c:ser>
          <c:idx val="2"/>
          <c:order val="2"/>
          <c:tx>
            <c:strRef>
              <c:f>'Données Object'!$D$17</c:f>
              <c:strCache>
                <c:ptCount val="1"/>
                <c:pt idx="0">
                  <c:v>Couverture avec cible administrative ajustée</c:v>
                </c:pt>
              </c:strCache>
            </c:strRef>
          </c:tx>
          <c:spPr>
            <a:solidFill>
              <a:srgbClr val="7030A0"/>
            </a:solidFill>
            <a:ln w="25400">
              <a:noFill/>
            </a:ln>
          </c:spPr>
          <c:invertIfNegative val="0"/>
          <c:dLbls>
            <c:spPr>
              <a:noFill/>
              <a:ln w="25400">
                <a:noFill/>
              </a:ln>
            </c:spPr>
            <c:txPr>
              <a:bodyPr rot="-5400000" vert="horz" wrap="square" lIns="38100" tIns="19050" rIns="38100" bIns="19050" anchor="ctr">
                <a:spAutoFit/>
              </a:bodyPr>
              <a:lstStyle/>
              <a:p>
                <a:pPr algn="ctr">
                  <a:defRPr sz="900" b="0" i="0" u="none" strike="noStrike" baseline="0">
                    <a:solidFill>
                      <a:srgbClr val="FFFFFF"/>
                    </a:solidFill>
                    <a:latin typeface="Calibri"/>
                    <a:ea typeface="Calibri"/>
                    <a:cs typeface="Calibri"/>
                  </a:defRPr>
                </a:pPr>
                <a:endParaRPr lang="fr-F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'Données Object'!$A$18:$A$29</c:f>
              <c:strCache>
                <c:ptCount val="12"/>
                <c:pt idx="0">
                  <c:v>BCG</c:v>
                </c:pt>
                <c:pt idx="1">
                  <c:v>DTC-HepB-Hib1</c:v>
                </c:pt>
                <c:pt idx="2">
                  <c:v>DTC-HepB-Hib3</c:v>
                </c:pt>
                <c:pt idx="3">
                  <c:v>VPO3</c:v>
                </c:pt>
                <c:pt idx="4">
                  <c:v>Pneumo3</c:v>
                </c:pt>
                <c:pt idx="5">
                  <c:v>VAR1</c:v>
                </c:pt>
                <c:pt idx="6">
                  <c:v>VAR2</c:v>
                </c:pt>
                <c:pt idx="7">
                  <c:v>VAA</c:v>
                </c:pt>
                <c:pt idx="8">
                  <c:v>Td2+</c:v>
                </c:pt>
                <c:pt idx="9">
                  <c:v>VPI1</c:v>
                </c:pt>
                <c:pt idx="10">
                  <c:v>VPI2</c:v>
                </c:pt>
                <c:pt idx="11">
                  <c:v>Rota3</c:v>
                </c:pt>
              </c:strCache>
            </c:strRef>
          </c:cat>
          <c:val>
            <c:numRef>
              <c:f>'Données Object'!$D$18:$D$29</c:f>
              <c:numCache>
                <c:formatCode>0.0%</c:formatCode>
                <c:ptCount val="12"/>
                <c:pt idx="0">
                  <c:v>0.7778680768576306</c:v>
                </c:pt>
                <c:pt idx="1">
                  <c:v>0.80763273527266544</c:v>
                </c:pt>
                <c:pt idx="2">
                  <c:v>0.76719515015427553</c:v>
                </c:pt>
                <c:pt idx="3">
                  <c:v>0.76395941594701067</c:v>
                </c:pt>
                <c:pt idx="4">
                  <c:v>0.76011527673730461</c:v>
                </c:pt>
                <c:pt idx="5">
                  <c:v>0.64811578275316106</c:v>
                </c:pt>
                <c:pt idx="6">
                  <c:v>0.50148088702998339</c:v>
                </c:pt>
                <c:pt idx="7">
                  <c:v>0.65556904052673093</c:v>
                </c:pt>
                <c:pt idx="8">
                  <c:v>0.74578333892872106</c:v>
                </c:pt>
                <c:pt idx="9">
                  <c:v>0.7665869428142783</c:v>
                </c:pt>
                <c:pt idx="10">
                  <c:v>0.59562632310298413</c:v>
                </c:pt>
                <c:pt idx="11">
                  <c:v>0.72739957265379618</c:v>
                </c:pt>
              </c:numCache>
            </c:numRef>
          </c:val>
          <c:extLst>
            <c:ext xmlns:c16="http://schemas.microsoft.com/office/drawing/2014/chart" uri="{C3380CC4-5D6E-409C-BE32-E72D297353CC}">
              <c16:uniqueId val="{00000001-327A-4BA7-83C0-F70DA63F32C4}"/>
            </c:ext>
          </c:extLst>
        </c:ser>
        <c:dLbls>
          <c:showLegendKey val="0"/>
          <c:showVal val="0"/>
          <c:showCatName val="0"/>
          <c:showSerName val="0"/>
          <c:showPercent val="0"/>
          <c:showBubbleSize val="0"/>
        </c:dLbls>
        <c:gapWidth val="219"/>
        <c:overlap val="-27"/>
        <c:axId val="273139344"/>
        <c:axId val="273141304"/>
      </c:barChart>
      <c:lineChart>
        <c:grouping val="stacked"/>
        <c:varyColors val="0"/>
        <c:ser>
          <c:idx val="0"/>
          <c:order val="0"/>
          <c:tx>
            <c:strRef>
              <c:f>'Données Object'!$B$17</c:f>
              <c:strCache>
                <c:ptCount val="1"/>
                <c:pt idx="0">
                  <c:v>Objectifs</c:v>
                </c:pt>
              </c:strCache>
            </c:strRef>
          </c:tx>
          <c:spPr>
            <a:ln w="25400">
              <a:solidFill>
                <a:srgbClr val="FF0000"/>
              </a:solidFill>
              <a:prstDash val="solid"/>
            </a:ln>
          </c:spPr>
          <c:marker>
            <c:symbol val="circle"/>
            <c:size val="5"/>
            <c:spPr>
              <a:solidFill>
                <a:srgbClr val="FF0000"/>
              </a:solidFill>
              <a:ln w="9525">
                <a:solidFill>
                  <a:schemeClr val="accent1"/>
                </a:solidFill>
              </a:ln>
              <a:effectLst/>
            </c:spPr>
          </c:marker>
          <c:dLbls>
            <c:spPr>
              <a:noFill/>
              <a:ln w="25400">
                <a:noFill/>
              </a:ln>
            </c:spPr>
            <c:txPr>
              <a:bodyPr wrap="square" lIns="38100" tIns="19050" rIns="38100" bIns="19050" anchor="ctr">
                <a:spAutoFit/>
              </a:bodyPr>
              <a:lstStyle/>
              <a:p>
                <a:pPr>
                  <a:defRPr sz="1000" b="0" i="0" u="none" strike="noStrike" baseline="0">
                    <a:solidFill>
                      <a:srgbClr val="333333"/>
                    </a:solidFill>
                    <a:latin typeface="Calibri"/>
                    <a:ea typeface="Calibri"/>
                    <a:cs typeface="Calibri"/>
                  </a:defRPr>
                </a:pPr>
                <a:endParaRPr lang="fr-F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'Données Object'!$A$18:$A$29</c:f>
              <c:strCache>
                <c:ptCount val="12"/>
                <c:pt idx="0">
                  <c:v>BCG</c:v>
                </c:pt>
                <c:pt idx="1">
                  <c:v>DTC-HepB-Hib1</c:v>
                </c:pt>
                <c:pt idx="2">
                  <c:v>DTC-HepB-Hib3</c:v>
                </c:pt>
                <c:pt idx="3">
                  <c:v>VPO3</c:v>
                </c:pt>
                <c:pt idx="4">
                  <c:v>Pneumo3</c:v>
                </c:pt>
                <c:pt idx="5">
                  <c:v>VAR1</c:v>
                </c:pt>
                <c:pt idx="6">
                  <c:v>VAR2</c:v>
                </c:pt>
                <c:pt idx="7">
                  <c:v>VAA</c:v>
                </c:pt>
                <c:pt idx="8">
                  <c:v>Td2+</c:v>
                </c:pt>
                <c:pt idx="9">
                  <c:v>VPI1</c:v>
                </c:pt>
                <c:pt idx="10">
                  <c:v>VPI2</c:v>
                </c:pt>
                <c:pt idx="11">
                  <c:v>Rota3</c:v>
                </c:pt>
              </c:strCache>
            </c:strRef>
          </c:cat>
          <c:val>
            <c:numRef>
              <c:f>'Données Object'!$B$18:$B$29</c:f>
              <c:numCache>
                <c:formatCode>0.0%</c:formatCode>
                <c:ptCount val="12"/>
                <c:pt idx="0">
                  <c:v>0.95</c:v>
                </c:pt>
                <c:pt idx="1">
                  <c:v>0.95</c:v>
                </c:pt>
                <c:pt idx="2">
                  <c:v>0.94</c:v>
                </c:pt>
                <c:pt idx="3">
                  <c:v>0.94</c:v>
                </c:pt>
                <c:pt idx="4">
                  <c:v>0.94</c:v>
                </c:pt>
                <c:pt idx="5">
                  <c:v>0.93</c:v>
                </c:pt>
                <c:pt idx="6">
                  <c:v>0.93</c:v>
                </c:pt>
                <c:pt idx="7">
                  <c:v>0.93</c:v>
                </c:pt>
                <c:pt idx="8">
                  <c:v>0.93</c:v>
                </c:pt>
                <c:pt idx="9">
                  <c:v>0.9</c:v>
                </c:pt>
                <c:pt idx="10">
                  <c:v>0.93</c:v>
                </c:pt>
                <c:pt idx="11">
                  <c:v>0.94</c:v>
                </c:pt>
              </c:numCache>
            </c:numRef>
          </c:val>
          <c:smooth val="0"/>
          <c:extLst>
            <c:ext xmlns:c16="http://schemas.microsoft.com/office/drawing/2014/chart" uri="{C3380CC4-5D6E-409C-BE32-E72D297353CC}">
              <c16:uniqueId val="{00000002-327A-4BA7-83C0-F70DA63F32C4}"/>
            </c:ext>
          </c:extLst>
        </c:ser>
        <c:dLbls>
          <c:showLegendKey val="0"/>
          <c:showVal val="0"/>
          <c:showCatName val="0"/>
          <c:showSerName val="0"/>
          <c:showPercent val="0"/>
          <c:showBubbleSize val="0"/>
        </c:dLbls>
        <c:marker val="1"/>
        <c:smooth val="0"/>
        <c:axId val="273139344"/>
        <c:axId val="273141304"/>
      </c:lineChart>
      <c:catAx>
        <c:axId val="2731393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2700000" vert="horz"/>
          <a:lstStyle/>
          <a:p>
            <a:pPr>
              <a:defRPr sz="900" b="0" i="0" u="none" strike="noStrike" baseline="0">
                <a:solidFill>
                  <a:srgbClr val="333333"/>
                </a:solidFill>
                <a:latin typeface="Calibri"/>
                <a:ea typeface="Calibri"/>
                <a:cs typeface="Calibri"/>
              </a:defRPr>
            </a:pPr>
            <a:endParaRPr lang="fr-FR"/>
          </a:p>
        </c:txPr>
        <c:crossAx val="273141304"/>
        <c:crosses val="autoZero"/>
        <c:auto val="1"/>
        <c:lblAlgn val="ctr"/>
        <c:lblOffset val="100"/>
        <c:noMultiLvlLbl val="0"/>
      </c:catAx>
      <c:valAx>
        <c:axId val="273141304"/>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ln w="9525">
            <a:noFill/>
          </a:ln>
        </c:spPr>
        <c:txPr>
          <a:bodyPr rot="0" vert="horz"/>
          <a:lstStyle/>
          <a:p>
            <a:pPr>
              <a:defRPr sz="900" b="0" i="0" u="none" strike="noStrike" baseline="0">
                <a:solidFill>
                  <a:srgbClr val="333333"/>
                </a:solidFill>
                <a:latin typeface="Calibri"/>
                <a:ea typeface="Calibri"/>
                <a:cs typeface="Calibri"/>
              </a:defRPr>
            </a:pPr>
            <a:endParaRPr lang="fr-FR"/>
          </a:p>
        </c:txPr>
        <c:crossAx val="273139344"/>
        <c:crosses val="autoZero"/>
        <c:crossBetween val="between"/>
      </c:valAx>
      <c:spPr>
        <a:noFill/>
        <a:ln w="25400">
          <a:noFill/>
        </a:ln>
      </c:spPr>
    </c:plotArea>
    <c:legend>
      <c:legendPos val="t"/>
      <c:overlay val="0"/>
      <c:spPr>
        <a:noFill/>
        <a:ln w="25400">
          <a:noFill/>
        </a:ln>
      </c:spPr>
      <c:txPr>
        <a:bodyPr/>
        <a:lstStyle/>
        <a:p>
          <a:pPr>
            <a:defRPr sz="1050" b="0" i="0" u="none" strike="noStrike" baseline="0">
              <a:solidFill>
                <a:srgbClr val="333333"/>
              </a:solidFill>
              <a:latin typeface="Calibri"/>
              <a:ea typeface="Calibri"/>
              <a:cs typeface="Calibri"/>
            </a:defRPr>
          </a:pPr>
          <a:endParaRPr lang="fr-FR"/>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sz="1000" b="0" i="0" u="none" strike="noStrike" baseline="0">
          <a:solidFill>
            <a:srgbClr val="000000"/>
          </a:solidFill>
          <a:latin typeface="Calibri"/>
          <a:ea typeface="Calibri"/>
          <a:cs typeface="Calibri"/>
        </a:defRPr>
      </a:pPr>
      <a:endParaRPr lang="fr-F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'Evolution mensuelle'!$AO$8</c:f>
              <c:strCache>
                <c:ptCount val="1"/>
                <c:pt idx="0">
                  <c:v>Penta1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'Evolution mensuelle'!$AN$9:$AN$18</c:f>
              <c:strCache>
                <c:ptCount val="10"/>
                <c:pt idx="0">
                  <c:v>Janvier</c:v>
                </c:pt>
                <c:pt idx="1">
                  <c:v>Février</c:v>
                </c:pt>
                <c:pt idx="2">
                  <c:v>Mars</c:v>
                </c:pt>
                <c:pt idx="3">
                  <c:v>Avril</c:v>
                </c:pt>
                <c:pt idx="4">
                  <c:v>Mai</c:v>
                </c:pt>
                <c:pt idx="5">
                  <c:v>Juin</c:v>
                </c:pt>
                <c:pt idx="6">
                  <c:v>Juillet</c:v>
                </c:pt>
                <c:pt idx="7">
                  <c:v>Aout</c:v>
                </c:pt>
                <c:pt idx="8">
                  <c:v>Septembre</c:v>
                </c:pt>
                <c:pt idx="9">
                  <c:v>Octobre</c:v>
                </c:pt>
              </c:strCache>
            </c:strRef>
          </c:cat>
          <c:val>
            <c:numRef>
              <c:f>'Evolution mensuelle'!$AO$9:$AO$18</c:f>
              <c:numCache>
                <c:formatCode>0%</c:formatCode>
                <c:ptCount val="10"/>
                <c:pt idx="0">
                  <c:v>0.96416063957100739</c:v>
                </c:pt>
                <c:pt idx="1">
                  <c:v>0.9570940165708145</c:v>
                </c:pt>
                <c:pt idx="2">
                  <c:v>1.0032768219785195</c:v>
                </c:pt>
                <c:pt idx="3">
                  <c:v>0.98113914403508806</c:v>
                </c:pt>
                <c:pt idx="4">
                  <c:v>1.0105026031543924</c:v>
                </c:pt>
                <c:pt idx="5">
                  <c:v>1.0364894603619623</c:v>
                </c:pt>
                <c:pt idx="6">
                  <c:v>1.0199614959644219</c:v>
                </c:pt>
                <c:pt idx="7">
                  <c:v>1.0378068003391292</c:v>
                </c:pt>
                <c:pt idx="8">
                  <c:v>1.0262445710228054</c:v>
                </c:pt>
                <c:pt idx="9">
                  <c:v>0.96805389340687242</c:v>
                </c:pt>
              </c:numCache>
            </c:numRef>
          </c:val>
          <c:smooth val="0"/>
          <c:extLst>
            <c:ext xmlns:c16="http://schemas.microsoft.com/office/drawing/2014/chart" uri="{C3380CC4-5D6E-409C-BE32-E72D297353CC}">
              <c16:uniqueId val="{00000000-1EE0-4A0E-AAA4-235496007041}"/>
            </c:ext>
          </c:extLst>
        </c:ser>
        <c:ser>
          <c:idx val="1"/>
          <c:order val="1"/>
          <c:tx>
            <c:strRef>
              <c:f>'Evolution mensuelle'!$AP$8</c:f>
              <c:strCache>
                <c:ptCount val="1"/>
                <c:pt idx="0">
                  <c:v>Penta3</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'Evolution mensuelle'!$AN$9:$AN$18</c:f>
              <c:strCache>
                <c:ptCount val="10"/>
                <c:pt idx="0">
                  <c:v>Janvier</c:v>
                </c:pt>
                <c:pt idx="1">
                  <c:v>Février</c:v>
                </c:pt>
                <c:pt idx="2">
                  <c:v>Mars</c:v>
                </c:pt>
                <c:pt idx="3">
                  <c:v>Avril</c:v>
                </c:pt>
                <c:pt idx="4">
                  <c:v>Mai</c:v>
                </c:pt>
                <c:pt idx="5">
                  <c:v>Juin</c:v>
                </c:pt>
                <c:pt idx="6">
                  <c:v>Juillet</c:v>
                </c:pt>
                <c:pt idx="7">
                  <c:v>Aout</c:v>
                </c:pt>
                <c:pt idx="8">
                  <c:v>Septembre</c:v>
                </c:pt>
                <c:pt idx="9">
                  <c:v>Octobre</c:v>
                </c:pt>
              </c:strCache>
            </c:strRef>
          </c:cat>
          <c:val>
            <c:numRef>
              <c:f>'Evolution mensuelle'!$AP$9:$AP$18</c:f>
              <c:numCache>
                <c:formatCode>0%</c:formatCode>
                <c:ptCount val="10"/>
                <c:pt idx="0">
                  <c:v>0.90938818985121761</c:v>
                </c:pt>
                <c:pt idx="1">
                  <c:v>0.91506891242933519</c:v>
                </c:pt>
                <c:pt idx="2">
                  <c:v>0.93884959246324806</c:v>
                </c:pt>
                <c:pt idx="3">
                  <c:v>0.93483390926147536</c:v>
                </c:pt>
                <c:pt idx="4">
                  <c:v>0.97281149856604587</c:v>
                </c:pt>
                <c:pt idx="5">
                  <c:v>0.9853972373813582</c:v>
                </c:pt>
                <c:pt idx="6">
                  <c:v>0.96133496980585753</c:v>
                </c:pt>
                <c:pt idx="7">
                  <c:v>0.9851817616973606</c:v>
                </c:pt>
                <c:pt idx="8">
                  <c:v>0.9828678466817049</c:v>
                </c:pt>
                <c:pt idx="9">
                  <c:v>0.91806598330675582</c:v>
                </c:pt>
              </c:numCache>
            </c:numRef>
          </c:val>
          <c:smooth val="0"/>
          <c:extLst>
            <c:ext xmlns:c16="http://schemas.microsoft.com/office/drawing/2014/chart" uri="{C3380CC4-5D6E-409C-BE32-E72D297353CC}">
              <c16:uniqueId val="{00000001-1EE0-4A0E-AAA4-235496007041}"/>
            </c:ext>
          </c:extLst>
        </c:ser>
        <c:ser>
          <c:idx val="2"/>
          <c:order val="2"/>
          <c:tx>
            <c:strRef>
              <c:f>'Evolution mensuelle'!$AQ$8</c:f>
              <c:strCache>
                <c:ptCount val="1"/>
                <c:pt idx="0">
                  <c:v>VAR1</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'Evolution mensuelle'!$AN$9:$AN$18</c:f>
              <c:strCache>
                <c:ptCount val="10"/>
                <c:pt idx="0">
                  <c:v>Janvier</c:v>
                </c:pt>
                <c:pt idx="1">
                  <c:v>Février</c:v>
                </c:pt>
                <c:pt idx="2">
                  <c:v>Mars</c:v>
                </c:pt>
                <c:pt idx="3">
                  <c:v>Avril</c:v>
                </c:pt>
                <c:pt idx="4">
                  <c:v>Mai</c:v>
                </c:pt>
                <c:pt idx="5">
                  <c:v>Juin</c:v>
                </c:pt>
                <c:pt idx="6">
                  <c:v>Juillet</c:v>
                </c:pt>
                <c:pt idx="7">
                  <c:v>Aout</c:v>
                </c:pt>
                <c:pt idx="8">
                  <c:v>Septembre</c:v>
                </c:pt>
                <c:pt idx="9">
                  <c:v>Octobre</c:v>
                </c:pt>
              </c:strCache>
            </c:strRef>
          </c:cat>
          <c:val>
            <c:numRef>
              <c:f>'Evolution mensuelle'!$AQ$9:$AQ$18</c:f>
              <c:numCache>
                <c:formatCode>0%</c:formatCode>
                <c:ptCount val="10"/>
                <c:pt idx="0">
                  <c:v>0.82643739727411003</c:v>
                </c:pt>
                <c:pt idx="1">
                  <c:v>0.83408923264334167</c:v>
                </c:pt>
                <c:pt idx="2">
                  <c:v>0.8796158166497815</c:v>
                </c:pt>
                <c:pt idx="3">
                  <c:v>0.86155748517839481</c:v>
                </c:pt>
                <c:pt idx="4">
                  <c:v>0.89604338896727753</c:v>
                </c:pt>
                <c:pt idx="5">
                  <c:v>0.92190781680893963</c:v>
                </c:pt>
                <c:pt idx="6">
                  <c:v>0.90578631790621289</c:v>
                </c:pt>
                <c:pt idx="7">
                  <c:v>0.92306844719774472</c:v>
                </c:pt>
                <c:pt idx="8">
                  <c:v>0.91122463033983314</c:v>
                </c:pt>
                <c:pt idx="9">
                  <c:v>0.85465736611583643</c:v>
                </c:pt>
              </c:numCache>
            </c:numRef>
          </c:val>
          <c:smooth val="0"/>
          <c:extLst>
            <c:ext xmlns:c16="http://schemas.microsoft.com/office/drawing/2014/chart" uri="{C3380CC4-5D6E-409C-BE32-E72D297353CC}">
              <c16:uniqueId val="{00000002-1EE0-4A0E-AAA4-235496007041}"/>
            </c:ext>
          </c:extLst>
        </c:ser>
        <c:ser>
          <c:idx val="3"/>
          <c:order val="3"/>
          <c:tx>
            <c:strRef>
              <c:f>'Evolution mensuelle'!$AR$8</c:f>
              <c:strCache>
                <c:ptCount val="1"/>
                <c:pt idx="0">
                  <c:v>VAR2</c:v>
                </c:pt>
              </c:strCache>
            </c:strRef>
          </c:tx>
          <c:spPr>
            <a:ln w="28575" cap="rnd">
              <a:solidFill>
                <a:schemeClr val="accent4"/>
              </a:solidFill>
              <a:round/>
            </a:ln>
            <a:effectLst/>
          </c:spPr>
          <c:marker>
            <c:symbol val="circle"/>
            <c:size val="5"/>
            <c:spPr>
              <a:solidFill>
                <a:schemeClr val="accent4"/>
              </a:solidFill>
              <a:ln w="9525">
                <a:solidFill>
                  <a:schemeClr val="accent4"/>
                </a:solidFill>
              </a:ln>
              <a:effectLst/>
            </c:spPr>
          </c:marker>
          <c:cat>
            <c:strRef>
              <c:f>'Evolution mensuelle'!$AN$9:$AN$18</c:f>
              <c:strCache>
                <c:ptCount val="10"/>
                <c:pt idx="0">
                  <c:v>Janvier</c:v>
                </c:pt>
                <c:pt idx="1">
                  <c:v>Février</c:v>
                </c:pt>
                <c:pt idx="2">
                  <c:v>Mars</c:v>
                </c:pt>
                <c:pt idx="3">
                  <c:v>Avril</c:v>
                </c:pt>
                <c:pt idx="4">
                  <c:v>Mai</c:v>
                </c:pt>
                <c:pt idx="5">
                  <c:v>Juin</c:v>
                </c:pt>
                <c:pt idx="6">
                  <c:v>Juillet</c:v>
                </c:pt>
                <c:pt idx="7">
                  <c:v>Aout</c:v>
                </c:pt>
                <c:pt idx="8">
                  <c:v>Septembre</c:v>
                </c:pt>
                <c:pt idx="9">
                  <c:v>Octobre</c:v>
                </c:pt>
              </c:strCache>
            </c:strRef>
          </c:cat>
          <c:val>
            <c:numRef>
              <c:f>'Evolution mensuelle'!$AR$9:$AR$18</c:f>
              <c:numCache>
                <c:formatCode>0%</c:formatCode>
                <c:ptCount val="10"/>
                <c:pt idx="0">
                  <c:v>0.55617946920748407</c:v>
                </c:pt>
                <c:pt idx="1">
                  <c:v>0.57309920757592903</c:v>
                </c:pt>
                <c:pt idx="2">
                  <c:v>0.62923307184461252</c:v>
                </c:pt>
                <c:pt idx="3">
                  <c:v>0.62604990833101215</c:v>
                </c:pt>
                <c:pt idx="4">
                  <c:v>0.68370434532426938</c:v>
                </c:pt>
                <c:pt idx="5">
                  <c:v>0.80470618482549217</c:v>
                </c:pt>
                <c:pt idx="6">
                  <c:v>0.81002941365515924</c:v>
                </c:pt>
                <c:pt idx="7">
                  <c:v>0.65956862012922413</c:v>
                </c:pt>
                <c:pt idx="8">
                  <c:v>0.79312681539794128</c:v>
                </c:pt>
                <c:pt idx="9">
                  <c:v>0.70482341094334877</c:v>
                </c:pt>
              </c:numCache>
            </c:numRef>
          </c:val>
          <c:smooth val="0"/>
          <c:extLst>
            <c:ext xmlns:c16="http://schemas.microsoft.com/office/drawing/2014/chart" uri="{C3380CC4-5D6E-409C-BE32-E72D297353CC}">
              <c16:uniqueId val="{00000003-1EE0-4A0E-AAA4-235496007041}"/>
            </c:ext>
          </c:extLst>
        </c:ser>
        <c:dLbls>
          <c:showLegendKey val="0"/>
          <c:showVal val="0"/>
          <c:showCatName val="0"/>
          <c:showSerName val="0"/>
          <c:showPercent val="0"/>
          <c:showBubbleSize val="0"/>
        </c:dLbls>
        <c:marker val="1"/>
        <c:smooth val="0"/>
        <c:axId val="273135032"/>
        <c:axId val="273135816"/>
      </c:lineChart>
      <c:catAx>
        <c:axId val="2731350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273135816"/>
        <c:crosses val="autoZero"/>
        <c:auto val="1"/>
        <c:lblAlgn val="ctr"/>
        <c:lblOffset val="100"/>
        <c:noMultiLvlLbl val="0"/>
      </c:catAx>
      <c:valAx>
        <c:axId val="273135816"/>
        <c:scaling>
          <c:orientation val="minMax"/>
          <c:max val="1.2"/>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27313503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'[RDC_CV Cumulée par Province_2025 DPS.xls]Données CV anti'!$G$2</c:f>
              <c:strCache>
                <c:ptCount val="1"/>
                <c:pt idx="0">
                  <c:v>CV 2024</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'[RDC_CV Cumulée par Province_2025 DPS.xls]Données CV anti'!$F$3:$F$5</c:f>
              <c:strCache>
                <c:ptCount val="3"/>
                <c:pt idx="0">
                  <c:v>BCG</c:v>
                </c:pt>
                <c:pt idx="1">
                  <c:v>VAR 1  </c:v>
                </c:pt>
                <c:pt idx="2">
                  <c:v>VAR 2</c:v>
                </c:pt>
              </c:strCache>
            </c:strRef>
          </c:cat>
          <c:val>
            <c:numRef>
              <c:f>'[RDC_CV Cumulée par Province_2025 DPS.xls]Données CV anti'!$G$3:$G$5</c:f>
              <c:numCache>
                <c:formatCode>0%</c:formatCode>
                <c:ptCount val="3"/>
                <c:pt idx="0">
                  <c:v>0.7897803988530645</c:v>
                </c:pt>
                <c:pt idx="1">
                  <c:v>0.97811672535752703</c:v>
                </c:pt>
                <c:pt idx="2">
                  <c:v>0.64384294174250578</c:v>
                </c:pt>
              </c:numCache>
            </c:numRef>
          </c:val>
          <c:extLst>
            <c:ext xmlns:c16="http://schemas.microsoft.com/office/drawing/2014/chart" uri="{C3380CC4-5D6E-409C-BE32-E72D297353CC}">
              <c16:uniqueId val="{00000000-E01E-495B-8679-6E656F582699}"/>
            </c:ext>
          </c:extLst>
        </c:ser>
        <c:ser>
          <c:idx val="1"/>
          <c:order val="1"/>
          <c:tx>
            <c:strRef>
              <c:f>'[RDC_CV Cumulée par Province_2025 DPS.xls]Données CV anti'!$H$2</c:f>
              <c:strCache>
                <c:ptCount val="1"/>
                <c:pt idx="0">
                  <c:v>CV 2025</c:v>
                </c:pt>
              </c:strCache>
            </c:strRef>
          </c:tx>
          <c:spPr>
            <a:solidFill>
              <a:schemeClr val="accent4">
                <a:lumMod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'[RDC_CV Cumulée par Province_2025 DPS.xls]Données CV anti'!$F$3:$F$5</c:f>
              <c:strCache>
                <c:ptCount val="3"/>
                <c:pt idx="0">
                  <c:v>BCG</c:v>
                </c:pt>
                <c:pt idx="1">
                  <c:v>VAR 1  </c:v>
                </c:pt>
                <c:pt idx="2">
                  <c:v>VAR 2</c:v>
                </c:pt>
              </c:strCache>
            </c:strRef>
          </c:cat>
          <c:val>
            <c:numRef>
              <c:f>'[RDC_CV Cumulée par Province_2025 DPS.xls]Données CV anti'!$H$3:$H$5</c:f>
              <c:numCache>
                <c:formatCode>0.0%</c:formatCode>
                <c:ptCount val="3"/>
                <c:pt idx="0">
                  <c:v>0.96360106136005619</c:v>
                </c:pt>
                <c:pt idx="1">
                  <c:v>0.8028677854670222</c:v>
                </c:pt>
                <c:pt idx="2">
                  <c:v>0.62122055956341693</c:v>
                </c:pt>
              </c:numCache>
            </c:numRef>
          </c:val>
          <c:extLst>
            <c:ext xmlns:c16="http://schemas.microsoft.com/office/drawing/2014/chart" uri="{C3380CC4-5D6E-409C-BE32-E72D297353CC}">
              <c16:uniqueId val="{00000001-E01E-495B-8679-6E656F582699}"/>
            </c:ext>
          </c:extLst>
        </c:ser>
        <c:dLbls>
          <c:showLegendKey val="0"/>
          <c:showVal val="0"/>
          <c:showCatName val="0"/>
          <c:showSerName val="0"/>
          <c:showPercent val="0"/>
          <c:showBubbleSize val="0"/>
        </c:dLbls>
        <c:gapWidth val="219"/>
        <c:overlap val="-27"/>
        <c:axId val="273137776"/>
        <c:axId val="273140912"/>
      </c:barChart>
      <c:catAx>
        <c:axId val="2731377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273140912"/>
        <c:crosses val="autoZero"/>
        <c:auto val="1"/>
        <c:lblAlgn val="ctr"/>
        <c:lblOffset val="100"/>
        <c:noMultiLvlLbl val="0"/>
      </c:catAx>
      <c:valAx>
        <c:axId val="273140912"/>
        <c:scaling>
          <c:orientation val="minMax"/>
          <c:max val="1"/>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273137776"/>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1"/>
          <c:order val="0"/>
          <c:tx>
            <c:strRef>
              <c:f>'Données TX d''AB'!$CZ$38</c:f>
              <c:strCache>
                <c:ptCount val="1"/>
                <c:pt idx="0">
                  <c:v>Taux d'abandon
BCG-VAR2</c:v>
                </c:pt>
              </c:strCache>
            </c:strRef>
          </c:tx>
          <c:spPr>
            <a:solidFill>
              <a:schemeClr val="accent2"/>
            </a:solidFill>
            <a:ln>
              <a:noFill/>
            </a:ln>
            <a:effectLst/>
          </c:spPr>
          <c:invertIfNegative val="0"/>
          <c:cat>
            <c:strRef>
              <c:f>'Données TX d''AB'!$CX$39:$CX$66</c:f>
              <c:strCache>
                <c:ptCount val="28"/>
                <c:pt idx="1">
                  <c:v>BAS UELE</c:v>
                </c:pt>
                <c:pt idx="2">
                  <c:v>EQUATEUR</c:v>
                </c:pt>
                <c:pt idx="3">
                  <c:v>HAUT KATANGA</c:v>
                </c:pt>
                <c:pt idx="4">
                  <c:v>HAUT LOMAMI</c:v>
                </c:pt>
                <c:pt idx="5">
                  <c:v>HAUT UELE</c:v>
                </c:pt>
                <c:pt idx="6">
                  <c:v>ITURI</c:v>
                </c:pt>
                <c:pt idx="7">
                  <c:v>KASAI </c:v>
                </c:pt>
                <c:pt idx="8">
                  <c:v>KASAI CENTRAL</c:v>
                </c:pt>
                <c:pt idx="9">
                  <c:v>KASAI-ORIENTAL  </c:v>
                </c:pt>
                <c:pt idx="10">
                  <c:v>KINSHASA</c:v>
                </c:pt>
                <c:pt idx="11">
                  <c:v>KONGO CENTRAL</c:v>
                </c:pt>
                <c:pt idx="12">
                  <c:v>KWANGO</c:v>
                </c:pt>
                <c:pt idx="13">
                  <c:v>KWILU</c:v>
                </c:pt>
                <c:pt idx="14">
                  <c:v>LOMAMI</c:v>
                </c:pt>
                <c:pt idx="15">
                  <c:v>LUALABA</c:v>
                </c:pt>
                <c:pt idx="16">
                  <c:v>MAI-NDOMBE</c:v>
                </c:pt>
                <c:pt idx="17">
                  <c:v>MANIEMA</c:v>
                </c:pt>
                <c:pt idx="18">
                  <c:v>MONGALA</c:v>
                </c:pt>
                <c:pt idx="19">
                  <c:v>NORD-KIVU</c:v>
                </c:pt>
                <c:pt idx="20">
                  <c:v>NORD-UBANGI</c:v>
                </c:pt>
                <c:pt idx="21">
                  <c:v>SANKURU</c:v>
                </c:pt>
                <c:pt idx="22">
                  <c:v>SUD-KIVU</c:v>
                </c:pt>
                <c:pt idx="23">
                  <c:v>SUD-UBANGI</c:v>
                </c:pt>
                <c:pt idx="24">
                  <c:v>TANGANYIKA</c:v>
                </c:pt>
                <c:pt idx="25">
                  <c:v>TSHOPO</c:v>
                </c:pt>
                <c:pt idx="26">
                  <c:v>TSHUAPA</c:v>
                </c:pt>
                <c:pt idx="27">
                  <c:v>National</c:v>
                </c:pt>
              </c:strCache>
            </c:strRef>
          </c:cat>
          <c:val>
            <c:numRef>
              <c:f>'Données TX d''AB'!$CZ$39:$CZ$66</c:f>
              <c:numCache>
                <c:formatCode>0%</c:formatCode>
                <c:ptCount val="28"/>
                <c:pt idx="1">
                  <c:v>0.30881246403753376</c:v>
                </c:pt>
                <c:pt idx="2">
                  <c:v>0.43577651666533451</c:v>
                </c:pt>
                <c:pt idx="3">
                  <c:v>0.46699240366234029</c:v>
                </c:pt>
                <c:pt idx="4">
                  <c:v>0.36099500689094238</c:v>
                </c:pt>
                <c:pt idx="5">
                  <c:v>0.46236920418546607</c:v>
                </c:pt>
                <c:pt idx="6">
                  <c:v>0.48629437996116442</c:v>
                </c:pt>
                <c:pt idx="7">
                  <c:v>0.4698807539428132</c:v>
                </c:pt>
                <c:pt idx="8">
                  <c:v>0.41691927504262</c:v>
                </c:pt>
                <c:pt idx="9">
                  <c:v>0.33723852352270878</c:v>
                </c:pt>
                <c:pt idx="10">
                  <c:v>0.56069143451304904</c:v>
                </c:pt>
                <c:pt idx="11">
                  <c:v>0.57145668271969341</c:v>
                </c:pt>
                <c:pt idx="12">
                  <c:v>0.38107579642507977</c:v>
                </c:pt>
                <c:pt idx="13">
                  <c:v>0.26819569560137196</c:v>
                </c:pt>
                <c:pt idx="14">
                  <c:v>0.41368157722318183</c:v>
                </c:pt>
                <c:pt idx="15">
                  <c:v>0.52934835204547259</c:v>
                </c:pt>
                <c:pt idx="16">
                  <c:v>0.35962793086143108</c:v>
                </c:pt>
                <c:pt idx="17">
                  <c:v>0.27207910919062656</c:v>
                </c:pt>
                <c:pt idx="18">
                  <c:v>0.22750066955421541</c:v>
                </c:pt>
                <c:pt idx="19">
                  <c:v>0.60421345366775103</c:v>
                </c:pt>
                <c:pt idx="20">
                  <c:v>0.44989797014284177</c:v>
                </c:pt>
                <c:pt idx="21">
                  <c:v>0.36900298598590003</c:v>
                </c:pt>
                <c:pt idx="22">
                  <c:v>0.4527861822990763</c:v>
                </c:pt>
                <c:pt idx="23">
                  <c:v>0.45355547678128322</c:v>
                </c:pt>
                <c:pt idx="24">
                  <c:v>0.42402805449356523</c:v>
                </c:pt>
                <c:pt idx="25">
                  <c:v>0.19862782209003649</c:v>
                </c:pt>
                <c:pt idx="26">
                  <c:v>0.245884982727088</c:v>
                </c:pt>
                <c:pt idx="27">
                  <c:v>0.4375109053254792</c:v>
                </c:pt>
              </c:numCache>
            </c:numRef>
          </c:val>
          <c:extLst>
            <c:ext xmlns:c16="http://schemas.microsoft.com/office/drawing/2014/chart" uri="{C3380CC4-5D6E-409C-BE32-E72D297353CC}">
              <c16:uniqueId val="{00000001-0FF9-412E-A72D-5B28D8A64CA6}"/>
            </c:ext>
          </c:extLst>
        </c:ser>
        <c:dLbls>
          <c:showLegendKey val="0"/>
          <c:showVal val="0"/>
          <c:showCatName val="0"/>
          <c:showSerName val="0"/>
          <c:showPercent val="0"/>
          <c:showBubbleSize val="0"/>
        </c:dLbls>
        <c:gapWidth val="219"/>
        <c:overlap val="-27"/>
        <c:axId val="185756776"/>
        <c:axId val="185754816"/>
      </c:barChart>
      <c:catAx>
        <c:axId val="1857567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fr-FR"/>
          </a:p>
        </c:txPr>
        <c:crossAx val="185754816"/>
        <c:crosses val="autoZero"/>
        <c:auto val="1"/>
        <c:lblAlgn val="ctr"/>
        <c:lblOffset val="100"/>
        <c:noMultiLvlLbl val="0"/>
      </c:catAx>
      <c:valAx>
        <c:axId val="185754816"/>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85756776"/>
        <c:crosses val="autoZero"/>
        <c:crossBetween val="between"/>
      </c:valAx>
      <c:spPr>
        <a:noFill/>
        <a:ln>
          <a:noFill/>
        </a:ln>
        <a:effectLst/>
      </c:spPr>
    </c:plotArea>
    <c:legend>
      <c:legendPos val="t"/>
      <c:layout>
        <c:manualLayout>
          <c:xMode val="edge"/>
          <c:yMode val="edge"/>
          <c:x val="0.11095215937396712"/>
          <c:y val="1.2126316111099971E-2"/>
          <c:w val="0.73412621475749162"/>
          <c:h val="5.6084689427857493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'Données TX d''AB'!$CY$38</c:f>
              <c:strCache>
                <c:ptCount val="1"/>
                <c:pt idx="0">
                  <c:v>Taux d'abandon
DTC-HepB-Hib1_3</c:v>
                </c:pt>
              </c:strCache>
            </c:strRef>
          </c:tx>
          <c:spPr>
            <a:solidFill>
              <a:schemeClr val="accent1"/>
            </a:solidFill>
            <a:ln>
              <a:noFill/>
            </a:ln>
            <a:effectLst/>
          </c:spPr>
          <c:invertIfNegative val="0"/>
          <c:cat>
            <c:strRef>
              <c:f>'Données TX d''AB'!$CX$39:$CX$66</c:f>
              <c:strCache>
                <c:ptCount val="28"/>
                <c:pt idx="1">
                  <c:v>BAS UELE</c:v>
                </c:pt>
                <c:pt idx="2">
                  <c:v>EQUATEUR</c:v>
                </c:pt>
                <c:pt idx="3">
                  <c:v>HAUT KATANGA</c:v>
                </c:pt>
                <c:pt idx="4">
                  <c:v>HAUT LOMAMI</c:v>
                </c:pt>
                <c:pt idx="5">
                  <c:v>HAUT UELE</c:v>
                </c:pt>
                <c:pt idx="6">
                  <c:v>ITURI</c:v>
                </c:pt>
                <c:pt idx="7">
                  <c:v>KASAI </c:v>
                </c:pt>
                <c:pt idx="8">
                  <c:v>KASAI CENTRAL</c:v>
                </c:pt>
                <c:pt idx="9">
                  <c:v>KASAI-ORIENTAL  </c:v>
                </c:pt>
                <c:pt idx="10">
                  <c:v>KINSHASA</c:v>
                </c:pt>
                <c:pt idx="11">
                  <c:v>KONGO CENTRAL</c:v>
                </c:pt>
                <c:pt idx="12">
                  <c:v>KWANGO</c:v>
                </c:pt>
                <c:pt idx="13">
                  <c:v>KWILU</c:v>
                </c:pt>
                <c:pt idx="14">
                  <c:v>LOMAMI</c:v>
                </c:pt>
                <c:pt idx="15">
                  <c:v>LUALABA</c:v>
                </c:pt>
                <c:pt idx="16">
                  <c:v>MAI-NDOMBE</c:v>
                </c:pt>
                <c:pt idx="17">
                  <c:v>MANIEMA</c:v>
                </c:pt>
                <c:pt idx="18">
                  <c:v>MONGALA</c:v>
                </c:pt>
                <c:pt idx="19">
                  <c:v>NORD-KIVU</c:v>
                </c:pt>
                <c:pt idx="20">
                  <c:v>NORD-UBANGI</c:v>
                </c:pt>
                <c:pt idx="21">
                  <c:v>SANKURU</c:v>
                </c:pt>
                <c:pt idx="22">
                  <c:v>SUD-KIVU</c:v>
                </c:pt>
                <c:pt idx="23">
                  <c:v>SUD-UBANGI</c:v>
                </c:pt>
                <c:pt idx="24">
                  <c:v>TANGANYIKA</c:v>
                </c:pt>
                <c:pt idx="25">
                  <c:v>TSHOPO</c:v>
                </c:pt>
                <c:pt idx="26">
                  <c:v>TSHUAPA</c:v>
                </c:pt>
                <c:pt idx="27">
                  <c:v>National</c:v>
                </c:pt>
              </c:strCache>
            </c:strRef>
          </c:cat>
          <c:val>
            <c:numRef>
              <c:f>'Données TX d''AB'!$CY$39:$CY$66</c:f>
              <c:numCache>
                <c:formatCode>0%</c:formatCode>
                <c:ptCount val="28"/>
                <c:pt idx="1">
                  <c:v>5.6651662667803533E-2</c:v>
                </c:pt>
                <c:pt idx="2">
                  <c:v>5.0917472052732372E-2</c:v>
                </c:pt>
                <c:pt idx="3">
                  <c:v>6.5879956152872801E-2</c:v>
                </c:pt>
                <c:pt idx="4">
                  <c:v>4.7883126558906419E-2</c:v>
                </c:pt>
                <c:pt idx="5">
                  <c:v>5.6234894350187851E-2</c:v>
                </c:pt>
                <c:pt idx="6">
                  <c:v>8.2923394839346784E-2</c:v>
                </c:pt>
                <c:pt idx="7">
                  <c:v>4.9429766748810819E-2</c:v>
                </c:pt>
                <c:pt idx="8">
                  <c:v>2.6507189708092668E-2</c:v>
                </c:pt>
                <c:pt idx="9">
                  <c:v>3.9620920034140743E-2</c:v>
                </c:pt>
                <c:pt idx="10">
                  <c:v>6.507671120568552E-2</c:v>
                </c:pt>
                <c:pt idx="11">
                  <c:v>6.3672765697124739E-2</c:v>
                </c:pt>
                <c:pt idx="12">
                  <c:v>4.9788146899046926E-2</c:v>
                </c:pt>
                <c:pt idx="13">
                  <c:v>3.3050820921227048E-2</c:v>
                </c:pt>
                <c:pt idx="14">
                  <c:v>2.9878710186372153E-2</c:v>
                </c:pt>
                <c:pt idx="15">
                  <c:v>8.9028550906805531E-2</c:v>
                </c:pt>
                <c:pt idx="16">
                  <c:v>7.2130145270404983E-2</c:v>
                </c:pt>
                <c:pt idx="17">
                  <c:v>-3.8770746887966806E-2</c:v>
                </c:pt>
                <c:pt idx="18">
                  <c:v>5.1742572028811523E-2</c:v>
                </c:pt>
                <c:pt idx="19">
                  <c:v>5.1051068520883203E-2</c:v>
                </c:pt>
                <c:pt idx="20">
                  <c:v>5.5883173982832018E-2</c:v>
                </c:pt>
                <c:pt idx="21">
                  <c:v>4.8135894523727227E-2</c:v>
                </c:pt>
                <c:pt idx="22">
                  <c:v>4.449049889455748E-2</c:v>
                </c:pt>
                <c:pt idx="23">
                  <c:v>7.1351197024024454E-2</c:v>
                </c:pt>
                <c:pt idx="24">
                  <c:v>5.6588801644460902E-2</c:v>
                </c:pt>
                <c:pt idx="25">
                  <c:v>7.0616793556217583E-2</c:v>
                </c:pt>
                <c:pt idx="26">
                  <c:v>4.997931319817956E-2</c:v>
                </c:pt>
                <c:pt idx="27">
                  <c:v>5.306346014201456E-2</c:v>
                </c:pt>
              </c:numCache>
            </c:numRef>
          </c:val>
          <c:extLst>
            <c:ext xmlns:c16="http://schemas.microsoft.com/office/drawing/2014/chart" uri="{C3380CC4-5D6E-409C-BE32-E72D297353CC}">
              <c16:uniqueId val="{00000000-0FF9-412E-A72D-5B28D8A64CA6}"/>
            </c:ext>
          </c:extLst>
        </c:ser>
        <c:dLbls>
          <c:showLegendKey val="0"/>
          <c:showVal val="0"/>
          <c:showCatName val="0"/>
          <c:showSerName val="0"/>
          <c:showPercent val="0"/>
          <c:showBubbleSize val="0"/>
        </c:dLbls>
        <c:gapWidth val="219"/>
        <c:overlap val="-27"/>
        <c:axId val="185756776"/>
        <c:axId val="185754816"/>
      </c:barChart>
      <c:catAx>
        <c:axId val="1857567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fr-FR"/>
          </a:p>
        </c:txPr>
        <c:crossAx val="185754816"/>
        <c:crosses val="autoZero"/>
        <c:auto val="1"/>
        <c:lblAlgn val="ctr"/>
        <c:lblOffset val="100"/>
        <c:noMultiLvlLbl val="0"/>
      </c:catAx>
      <c:valAx>
        <c:axId val="185754816"/>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fr-FR"/>
          </a:p>
        </c:txPr>
        <c:crossAx val="18575677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Feuil2!$C$5</c:f>
              <c:strCache>
                <c:ptCount val="1"/>
                <c:pt idx="0">
                  <c:v>Tx Ab DTC1-3</c:v>
                </c:pt>
              </c:strCache>
            </c:strRef>
          </c:tx>
          <c:spPr>
            <a:solidFill>
              <a:schemeClr val="accent1"/>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Feuil2!$B$6:$B$56</c:f>
              <c:strCache>
                <c:ptCount val="51"/>
                <c:pt idx="0">
                  <c:v> Buta</c:v>
                </c:pt>
                <c:pt idx="1">
                  <c:v> Mbandaka</c:v>
                </c:pt>
                <c:pt idx="2">
                  <c:v> Likasi</c:v>
                </c:pt>
                <c:pt idx="3">
                  <c:v> Lubumbashi</c:v>
                </c:pt>
                <c:pt idx="4">
                  <c:v> Kabondodianda</c:v>
                </c:pt>
                <c:pt idx="5">
                  <c:v> Kamina</c:v>
                </c:pt>
                <c:pt idx="6">
                  <c:v> Isiro</c:v>
                </c:pt>
                <c:pt idx="7">
                  <c:v> Watsa</c:v>
                </c:pt>
                <c:pt idx="8">
                  <c:v> Aru</c:v>
                </c:pt>
                <c:pt idx="9">
                  <c:v> Bunia</c:v>
                </c:pt>
                <c:pt idx="10">
                  <c:v> Boma</c:v>
                </c:pt>
                <c:pt idx="11">
                  <c:v> Matadi</c:v>
                </c:pt>
                <c:pt idx="12">
                  <c:v> Mbanzangungu</c:v>
                </c:pt>
                <c:pt idx="13">
                  <c:v> Mbujimayi</c:v>
                </c:pt>
                <c:pt idx="14">
                  <c:v> Kahemba</c:v>
                </c:pt>
                <c:pt idx="15">
                  <c:v> Kenge</c:v>
                </c:pt>
                <c:pt idx="16">
                  <c:v> bandundu</c:v>
                </c:pt>
                <c:pt idx="17">
                  <c:v> Kikwit</c:v>
                </c:pt>
                <c:pt idx="18">
                  <c:v> Kin Centre</c:v>
                </c:pt>
                <c:pt idx="19">
                  <c:v> Kin Est</c:v>
                </c:pt>
                <c:pt idx="20">
                  <c:v> Kin Ouest</c:v>
                </c:pt>
                <c:pt idx="21">
                  <c:v> Kananga</c:v>
                </c:pt>
                <c:pt idx="22">
                  <c:v> Lwiza</c:v>
                </c:pt>
                <c:pt idx="23">
                  <c:v> Mweka</c:v>
                </c:pt>
                <c:pt idx="24">
                  <c:v> Tshikapa</c:v>
                </c:pt>
                <c:pt idx="25">
                  <c:v> kisenge</c:v>
                </c:pt>
                <c:pt idx="26">
                  <c:v> Kolwezi</c:v>
                </c:pt>
                <c:pt idx="27">
                  <c:v> Kabinda</c:v>
                </c:pt>
                <c:pt idx="28">
                  <c:v> Mweneditu</c:v>
                </c:pt>
                <c:pt idx="29">
                  <c:v> Inongo</c:v>
                </c:pt>
                <c:pt idx="30">
                  <c:v> Nioki</c:v>
                </c:pt>
                <c:pt idx="31">
                  <c:v> Bumba</c:v>
                </c:pt>
                <c:pt idx="32">
                  <c:v> Lisala</c:v>
                </c:pt>
                <c:pt idx="33">
                  <c:v> Kasongo</c:v>
                </c:pt>
                <c:pt idx="34">
                  <c:v> Kindu</c:v>
                </c:pt>
                <c:pt idx="35">
                  <c:v> Kindu</c:v>
                </c:pt>
                <c:pt idx="36">
                  <c:v> Butembo</c:v>
                </c:pt>
                <c:pt idx="37">
                  <c:v> Goma</c:v>
                </c:pt>
                <c:pt idx="38">
                  <c:v> Gbadolite</c:v>
                </c:pt>
                <c:pt idx="39">
                  <c:v>Bukavu</c:v>
                </c:pt>
                <c:pt idx="40">
                  <c:v>Uvira</c:v>
                </c:pt>
                <c:pt idx="41">
                  <c:v> Lodja</c:v>
                </c:pt>
                <c:pt idx="42">
                  <c:v>  Lusambo</c:v>
                </c:pt>
                <c:pt idx="43">
                  <c:v>  Tshumbe</c:v>
                </c:pt>
                <c:pt idx="44">
                  <c:v>  Gemena</c:v>
                </c:pt>
                <c:pt idx="45">
                  <c:v>  Kabalo</c:v>
                </c:pt>
                <c:pt idx="46">
                  <c:v>  Kalemie</c:v>
                </c:pt>
                <c:pt idx="47">
                  <c:v>  Kisangani</c:v>
                </c:pt>
                <c:pt idx="48">
                  <c:v>  Isangi</c:v>
                </c:pt>
                <c:pt idx="49">
                  <c:v> Boende</c:v>
                </c:pt>
                <c:pt idx="50">
                  <c:v> Bokungu</c:v>
                </c:pt>
              </c:strCache>
            </c:strRef>
          </c:cat>
          <c:val>
            <c:numRef>
              <c:f>Feuil2!$C$6:$C$56</c:f>
              <c:numCache>
                <c:formatCode>0.0%</c:formatCode>
                <c:ptCount val="51"/>
                <c:pt idx="0">
                  <c:v>5.6732634846720996E-2</c:v>
                </c:pt>
                <c:pt idx="1">
                  <c:v>4.8723759541984733E-2</c:v>
                </c:pt>
                <c:pt idx="2">
                  <c:v>6.4514410526876564E-2</c:v>
                </c:pt>
                <c:pt idx="3">
                  <c:v>6.5813131775696435E-2</c:v>
                </c:pt>
                <c:pt idx="4">
                  <c:v>7.1089736869692846E-2</c:v>
                </c:pt>
                <c:pt idx="5">
                  <c:v>1.8698667775615987E-2</c:v>
                </c:pt>
                <c:pt idx="6">
                  <c:v>6.0276845637583891E-2</c:v>
                </c:pt>
                <c:pt idx="7">
                  <c:v>5.0344827586206897E-2</c:v>
                </c:pt>
                <c:pt idx="8">
                  <c:v>7.0425058218389333E-2</c:v>
                </c:pt>
                <c:pt idx="9">
                  <c:v>8.9652327888437716E-2</c:v>
                </c:pt>
                <c:pt idx="10">
                  <c:v>5.9188515116491272E-2</c:v>
                </c:pt>
                <c:pt idx="11">
                  <c:v>5.5766052129688493E-2</c:v>
                </c:pt>
                <c:pt idx="12">
                  <c:v>6.821947335403028E-2</c:v>
                </c:pt>
                <c:pt idx="13">
                  <c:v>4.04189294026377E-2</c:v>
                </c:pt>
                <c:pt idx="14">
                  <c:v>5.9192531811154712E-2</c:v>
                </c:pt>
                <c:pt idx="15">
                  <c:v>4.9242796252283394E-2</c:v>
                </c:pt>
                <c:pt idx="16">
                  <c:v>3.6603609233274631E-2</c:v>
                </c:pt>
                <c:pt idx="17">
                  <c:v>3.0617340314733704E-2</c:v>
                </c:pt>
                <c:pt idx="18">
                  <c:v>6.7643654483746291E-2</c:v>
                </c:pt>
                <c:pt idx="19">
                  <c:v>6.2583177163964263E-2</c:v>
                </c:pt>
                <c:pt idx="20">
                  <c:v>6.6681624690711691E-2</c:v>
                </c:pt>
                <c:pt idx="21">
                  <c:v>2.3561652721022248E-2</c:v>
                </c:pt>
                <c:pt idx="22">
                  <c:v>3.0021487772434258E-2</c:v>
                </c:pt>
                <c:pt idx="23">
                  <c:v>4.5610121321394741E-2</c:v>
                </c:pt>
                <c:pt idx="24">
                  <c:v>5.0322651109027859E-2</c:v>
                </c:pt>
                <c:pt idx="25">
                  <c:v>5.0496578280180712E-2</c:v>
                </c:pt>
                <c:pt idx="26">
                  <c:v>0.11653688501827311</c:v>
                </c:pt>
                <c:pt idx="27">
                  <c:v>2.2953614085066139E-2</c:v>
                </c:pt>
                <c:pt idx="28">
                  <c:v>2.8508083140877598E-2</c:v>
                </c:pt>
                <c:pt idx="29">
                  <c:v>7.0418477347482647E-2</c:v>
                </c:pt>
                <c:pt idx="30">
                  <c:v>6.5048268029528677E-2</c:v>
                </c:pt>
                <c:pt idx="31">
                  <c:v>5.261960552357986E-2</c:v>
                </c:pt>
                <c:pt idx="32">
                  <c:v>5.4682193110140706E-2</c:v>
                </c:pt>
                <c:pt idx="33">
                  <c:v>-6.0648468457135667E-2</c:v>
                </c:pt>
                <c:pt idx="34">
                  <c:v>-1.4696151837018979E-2</c:v>
                </c:pt>
                <c:pt idx="35">
                  <c:v>7.2533849129593807E-3</c:v>
                </c:pt>
                <c:pt idx="36">
                  <c:v>3.9592493843500838E-2</c:v>
                </c:pt>
                <c:pt idx="37">
                  <c:v>6.1448550041705935E-2</c:v>
                </c:pt>
                <c:pt idx="38">
                  <c:v>5.8066677835483332E-2</c:v>
                </c:pt>
                <c:pt idx="39">
                  <c:v>5.1418494570429726E-2</c:v>
                </c:pt>
                <c:pt idx="40">
                  <c:v>3.7394502737226276E-2</c:v>
                </c:pt>
                <c:pt idx="41">
                  <c:v>4.5328290290171977E-2</c:v>
                </c:pt>
                <c:pt idx="42">
                  <c:v>4.6061776061776062E-2</c:v>
                </c:pt>
                <c:pt idx="43">
                  <c:v>2.5633214378971189E-2</c:v>
                </c:pt>
                <c:pt idx="44">
                  <c:v>7.0063535774124511E-2</c:v>
                </c:pt>
                <c:pt idx="45">
                  <c:v>5.7983286598739553E-2</c:v>
                </c:pt>
                <c:pt idx="46">
                  <c:v>5.5673300594468858E-2</c:v>
                </c:pt>
                <c:pt idx="47">
                  <c:v>6.8179524119768395E-2</c:v>
                </c:pt>
                <c:pt idx="48">
                  <c:v>6.6166184836333117E-2</c:v>
                </c:pt>
                <c:pt idx="49">
                  <c:v>4.8035336339376095E-2</c:v>
                </c:pt>
                <c:pt idx="50">
                  <c:v>3.7035110123129801E-2</c:v>
                </c:pt>
              </c:numCache>
            </c:numRef>
          </c:val>
          <c:extLst>
            <c:ext xmlns:c16="http://schemas.microsoft.com/office/drawing/2014/chart" uri="{C3380CC4-5D6E-409C-BE32-E72D297353CC}">
              <c16:uniqueId val="{00000000-7C58-4749-B213-5224C0290BFD}"/>
            </c:ext>
          </c:extLst>
        </c:ser>
        <c:dLbls>
          <c:showLegendKey val="0"/>
          <c:showVal val="0"/>
          <c:showCatName val="0"/>
          <c:showSerName val="0"/>
          <c:showPercent val="0"/>
          <c:showBubbleSize val="0"/>
        </c:dLbls>
        <c:gapWidth val="150"/>
        <c:axId val="251950936"/>
        <c:axId val="251957208"/>
      </c:barChart>
      <c:catAx>
        <c:axId val="2519509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251957208"/>
        <c:crosses val="autoZero"/>
        <c:auto val="1"/>
        <c:lblAlgn val="ctr"/>
        <c:lblOffset val="100"/>
        <c:noMultiLvlLbl val="0"/>
      </c:catAx>
      <c:valAx>
        <c:axId val="251957208"/>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25195093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AF17-4EA5-8DD6-A63E7025BECC}"/>
              </c:ext>
            </c:extLst>
          </c:dPt>
          <c:dPt>
            <c:idx val="1"/>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03-AF17-4EA5-8DD6-A63E7025BECC}"/>
              </c:ext>
            </c:extLst>
          </c:dPt>
          <c:dPt>
            <c:idx val="2"/>
            <c:bubble3D val="0"/>
            <c:spPr>
              <a:solidFill>
                <a:schemeClr val="accent5"/>
              </a:solidFill>
              <a:ln w="25400">
                <a:solidFill>
                  <a:schemeClr val="lt1"/>
                </a:solidFill>
              </a:ln>
              <a:effectLst/>
              <a:sp3d contourW="25400">
                <a:contourClr>
                  <a:schemeClr val="lt1"/>
                </a:contourClr>
              </a:sp3d>
            </c:spPr>
            <c:extLst>
              <c:ext xmlns:c16="http://schemas.microsoft.com/office/drawing/2014/chart" uri="{C3380CC4-5D6E-409C-BE32-E72D297353CC}">
                <c16:uniqueId val="{00000005-AF17-4EA5-8DD6-A63E7025BECC}"/>
              </c:ext>
            </c:extLst>
          </c:dPt>
          <c:dPt>
            <c:idx val="3"/>
            <c:bubble3D val="0"/>
            <c:spPr>
              <a:solidFill>
                <a:schemeClr val="accent1">
                  <a:lumMod val="60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07-AF17-4EA5-8DD6-A63E7025BECC}"/>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Feuil1!$I$7:$I$10</c:f>
              <c:strCache>
                <c:ptCount val="4"/>
                <c:pt idx="0">
                  <c:v>Cat. 1</c:v>
                </c:pt>
                <c:pt idx="1">
                  <c:v>Cat. 2</c:v>
                </c:pt>
                <c:pt idx="2">
                  <c:v>Cat. 3</c:v>
                </c:pt>
                <c:pt idx="3">
                  <c:v>Cat. 4</c:v>
                </c:pt>
              </c:strCache>
            </c:strRef>
          </c:cat>
          <c:val>
            <c:numRef>
              <c:f>Feuil1!$K$7:$K$10</c:f>
              <c:numCache>
                <c:formatCode>0.0%</c:formatCode>
                <c:ptCount val="4"/>
                <c:pt idx="0">
                  <c:v>0.74509803921568629</c:v>
                </c:pt>
                <c:pt idx="1">
                  <c:v>5.8823529411764705E-2</c:v>
                </c:pt>
                <c:pt idx="2" formatCode="0%">
                  <c:v>0.19607843137254902</c:v>
                </c:pt>
                <c:pt idx="3" formatCode="0%">
                  <c:v>0</c:v>
                </c:pt>
              </c:numCache>
            </c:numRef>
          </c:val>
          <c:extLst>
            <c:ext xmlns:c16="http://schemas.microsoft.com/office/drawing/2014/chart" uri="{C3380CC4-5D6E-409C-BE32-E72D297353CC}">
              <c16:uniqueId val="{00000008-AF17-4EA5-8DD6-A63E7025BECC}"/>
            </c:ext>
          </c:extLst>
        </c:ser>
        <c:dLbls>
          <c:showLegendKey val="0"/>
          <c:showVal val="0"/>
          <c:showCatName val="0"/>
          <c:showSerName val="0"/>
          <c:showPercent val="0"/>
          <c:showBubbleSize val="0"/>
          <c:showLeaderLines val="1"/>
        </c:dLbls>
      </c:pie3DChart>
      <c:spPr>
        <a:noFill/>
        <a:ln>
          <a:noFill/>
        </a:ln>
        <a:effectLst/>
      </c:spPr>
    </c:plotArea>
    <c:legend>
      <c:legendPos val="t"/>
      <c:overlay val="0"/>
      <c:spPr>
        <a:noFill/>
        <a:ln>
          <a:noFill/>
        </a:ln>
        <a:effectLst/>
      </c:spPr>
      <c:txPr>
        <a:bodyPr rot="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3">
    <c:autoUpdate val="0"/>
  </c:externalData>
  <c:userShapes r:id="rId4"/>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Feuil2!$C$5</c:f>
              <c:strCache>
                <c:ptCount val="1"/>
                <c:pt idx="0">
                  <c:v>2025</c:v>
                </c:pt>
              </c:strCache>
            </c:strRef>
          </c:tx>
          <c:spPr>
            <a:solidFill>
              <a:schemeClr val="accent1"/>
            </a:solidFill>
            <a:ln>
              <a:noFill/>
            </a:ln>
            <a:effectLst/>
          </c:spPr>
          <c:invertIfNegative val="0"/>
          <c:cat>
            <c:strRef>
              <c:f>Feuil2!$B$6:$B$56</c:f>
              <c:strCache>
                <c:ptCount val="51"/>
                <c:pt idx="0">
                  <c:v> Buta</c:v>
                </c:pt>
                <c:pt idx="1">
                  <c:v> Mbandaka</c:v>
                </c:pt>
                <c:pt idx="2">
                  <c:v> Likasi</c:v>
                </c:pt>
                <c:pt idx="3">
                  <c:v> Lubumbashi</c:v>
                </c:pt>
                <c:pt idx="4">
                  <c:v> Kabondodianda</c:v>
                </c:pt>
                <c:pt idx="5">
                  <c:v> Kamina</c:v>
                </c:pt>
                <c:pt idx="6">
                  <c:v> Isiro</c:v>
                </c:pt>
                <c:pt idx="7">
                  <c:v> Watsa</c:v>
                </c:pt>
                <c:pt idx="8">
                  <c:v> Aru</c:v>
                </c:pt>
                <c:pt idx="9">
                  <c:v> Bunia</c:v>
                </c:pt>
                <c:pt idx="10">
                  <c:v> Boma</c:v>
                </c:pt>
                <c:pt idx="11">
                  <c:v> Matadi</c:v>
                </c:pt>
                <c:pt idx="12">
                  <c:v> Mbanzangungu</c:v>
                </c:pt>
                <c:pt idx="13">
                  <c:v> Mbujimayi</c:v>
                </c:pt>
                <c:pt idx="14">
                  <c:v> Kahemba</c:v>
                </c:pt>
                <c:pt idx="15">
                  <c:v> Kenge</c:v>
                </c:pt>
                <c:pt idx="16">
                  <c:v> bandundu</c:v>
                </c:pt>
                <c:pt idx="17">
                  <c:v> Kikwit</c:v>
                </c:pt>
                <c:pt idx="18">
                  <c:v> Kin Centre</c:v>
                </c:pt>
                <c:pt idx="19">
                  <c:v> Kin Est</c:v>
                </c:pt>
                <c:pt idx="20">
                  <c:v> Kin Ouest</c:v>
                </c:pt>
                <c:pt idx="21">
                  <c:v> Kananga</c:v>
                </c:pt>
                <c:pt idx="22">
                  <c:v> Lwiza</c:v>
                </c:pt>
                <c:pt idx="23">
                  <c:v> Mweka</c:v>
                </c:pt>
                <c:pt idx="24">
                  <c:v> Tshikapa</c:v>
                </c:pt>
                <c:pt idx="25">
                  <c:v> kisenge</c:v>
                </c:pt>
                <c:pt idx="26">
                  <c:v> Kolwezi</c:v>
                </c:pt>
                <c:pt idx="27">
                  <c:v> Kabinda</c:v>
                </c:pt>
                <c:pt idx="28">
                  <c:v> Mweneditu</c:v>
                </c:pt>
                <c:pt idx="29">
                  <c:v> Inongo</c:v>
                </c:pt>
                <c:pt idx="30">
                  <c:v> Nioki</c:v>
                </c:pt>
                <c:pt idx="31">
                  <c:v> Bumba</c:v>
                </c:pt>
                <c:pt idx="32">
                  <c:v> Lisala</c:v>
                </c:pt>
                <c:pt idx="33">
                  <c:v> Kasongo</c:v>
                </c:pt>
                <c:pt idx="34">
                  <c:v> Kindu</c:v>
                </c:pt>
                <c:pt idx="35">
                  <c:v> Kindu</c:v>
                </c:pt>
                <c:pt idx="36">
                  <c:v> Butembo</c:v>
                </c:pt>
                <c:pt idx="37">
                  <c:v> Goma</c:v>
                </c:pt>
                <c:pt idx="38">
                  <c:v> Gbadolite</c:v>
                </c:pt>
                <c:pt idx="39">
                  <c:v>Bukavu</c:v>
                </c:pt>
                <c:pt idx="40">
                  <c:v>Uvira</c:v>
                </c:pt>
                <c:pt idx="41">
                  <c:v> Lodja</c:v>
                </c:pt>
                <c:pt idx="42">
                  <c:v>  Lusambo</c:v>
                </c:pt>
                <c:pt idx="43">
                  <c:v>  Tshumbe</c:v>
                </c:pt>
                <c:pt idx="44">
                  <c:v>  Gemena</c:v>
                </c:pt>
                <c:pt idx="45">
                  <c:v>  Kabalo</c:v>
                </c:pt>
                <c:pt idx="46">
                  <c:v>  Kalemie</c:v>
                </c:pt>
                <c:pt idx="47">
                  <c:v>  Kisangani</c:v>
                </c:pt>
                <c:pt idx="48">
                  <c:v>  Isangi</c:v>
                </c:pt>
                <c:pt idx="49">
                  <c:v> Boende</c:v>
                </c:pt>
                <c:pt idx="50">
                  <c:v> Bokungu</c:v>
                </c:pt>
              </c:strCache>
            </c:strRef>
          </c:cat>
          <c:val>
            <c:numRef>
              <c:f>Feuil2!$C$6:$C$56</c:f>
              <c:numCache>
                <c:formatCode>0.0%</c:formatCode>
                <c:ptCount val="51"/>
                <c:pt idx="0">
                  <c:v>5.6732634846720996E-2</c:v>
                </c:pt>
                <c:pt idx="1">
                  <c:v>4.8723759541984733E-2</c:v>
                </c:pt>
                <c:pt idx="2">
                  <c:v>6.4514410526876564E-2</c:v>
                </c:pt>
                <c:pt idx="3">
                  <c:v>6.5813131775696435E-2</c:v>
                </c:pt>
                <c:pt idx="4">
                  <c:v>7.1089736869692846E-2</c:v>
                </c:pt>
                <c:pt idx="5">
                  <c:v>1.8698667775615987E-2</c:v>
                </c:pt>
                <c:pt idx="6">
                  <c:v>6.0276845637583891E-2</c:v>
                </c:pt>
                <c:pt idx="7">
                  <c:v>5.0344827586206897E-2</c:v>
                </c:pt>
                <c:pt idx="8">
                  <c:v>7.0425058218389333E-2</c:v>
                </c:pt>
                <c:pt idx="9">
                  <c:v>8.9652327888437716E-2</c:v>
                </c:pt>
                <c:pt idx="10">
                  <c:v>5.9188515116491272E-2</c:v>
                </c:pt>
                <c:pt idx="11">
                  <c:v>5.5766052129688493E-2</c:v>
                </c:pt>
                <c:pt idx="12">
                  <c:v>6.821947335403028E-2</c:v>
                </c:pt>
                <c:pt idx="13">
                  <c:v>4.04189294026377E-2</c:v>
                </c:pt>
                <c:pt idx="14">
                  <c:v>5.9192531811154712E-2</c:v>
                </c:pt>
                <c:pt idx="15">
                  <c:v>4.9242796252283394E-2</c:v>
                </c:pt>
                <c:pt idx="16">
                  <c:v>3.6603609233274631E-2</c:v>
                </c:pt>
                <c:pt idx="17">
                  <c:v>3.0617340314733704E-2</c:v>
                </c:pt>
                <c:pt idx="18">
                  <c:v>6.7643654483746291E-2</c:v>
                </c:pt>
                <c:pt idx="19">
                  <c:v>6.2583177163964263E-2</c:v>
                </c:pt>
                <c:pt idx="20">
                  <c:v>6.6681624690711691E-2</c:v>
                </c:pt>
                <c:pt idx="21">
                  <c:v>2.3561652721022248E-2</c:v>
                </c:pt>
                <c:pt idx="22">
                  <c:v>3.0021487772434258E-2</c:v>
                </c:pt>
                <c:pt idx="23">
                  <c:v>4.5610121321394741E-2</c:v>
                </c:pt>
                <c:pt idx="24">
                  <c:v>5.0322651109027859E-2</c:v>
                </c:pt>
                <c:pt idx="25">
                  <c:v>5.0496578280180712E-2</c:v>
                </c:pt>
                <c:pt idx="26">
                  <c:v>0.11653688501827311</c:v>
                </c:pt>
                <c:pt idx="27">
                  <c:v>2.2953614085066139E-2</c:v>
                </c:pt>
                <c:pt idx="28">
                  <c:v>2.8508083140877598E-2</c:v>
                </c:pt>
                <c:pt idx="29">
                  <c:v>7.0418477347482647E-2</c:v>
                </c:pt>
                <c:pt idx="30">
                  <c:v>6.5048268029528677E-2</c:v>
                </c:pt>
                <c:pt idx="31">
                  <c:v>5.261960552357986E-2</c:v>
                </c:pt>
                <c:pt idx="32">
                  <c:v>5.4682193110140706E-2</c:v>
                </c:pt>
                <c:pt idx="33">
                  <c:v>-6.0648468457135667E-2</c:v>
                </c:pt>
                <c:pt idx="34">
                  <c:v>-1.4696151837018979E-2</c:v>
                </c:pt>
                <c:pt idx="35">
                  <c:v>7.2533849129593807E-3</c:v>
                </c:pt>
                <c:pt idx="36">
                  <c:v>3.9592493843500838E-2</c:v>
                </c:pt>
                <c:pt idx="37">
                  <c:v>6.1448550041705935E-2</c:v>
                </c:pt>
                <c:pt idx="38">
                  <c:v>5.8066677835483332E-2</c:v>
                </c:pt>
                <c:pt idx="39">
                  <c:v>5.1418494570429726E-2</c:v>
                </c:pt>
                <c:pt idx="40">
                  <c:v>3.7394502737226276E-2</c:v>
                </c:pt>
                <c:pt idx="41">
                  <c:v>4.5328290290171977E-2</c:v>
                </c:pt>
                <c:pt idx="42">
                  <c:v>4.6061776061776062E-2</c:v>
                </c:pt>
                <c:pt idx="43">
                  <c:v>2.5633214378971189E-2</c:v>
                </c:pt>
                <c:pt idx="44">
                  <c:v>7.0063535774124511E-2</c:v>
                </c:pt>
                <c:pt idx="45">
                  <c:v>5.7983286598739553E-2</c:v>
                </c:pt>
                <c:pt idx="46">
                  <c:v>5.5673300594468858E-2</c:v>
                </c:pt>
                <c:pt idx="47">
                  <c:v>6.8179524119768395E-2</c:v>
                </c:pt>
                <c:pt idx="48">
                  <c:v>6.6166184836333117E-2</c:v>
                </c:pt>
                <c:pt idx="49">
                  <c:v>4.8035336339376095E-2</c:v>
                </c:pt>
                <c:pt idx="50">
                  <c:v>3.7035110123129801E-2</c:v>
                </c:pt>
              </c:numCache>
            </c:numRef>
          </c:val>
          <c:extLst>
            <c:ext xmlns:c16="http://schemas.microsoft.com/office/drawing/2014/chart" uri="{C3380CC4-5D6E-409C-BE32-E72D297353CC}">
              <c16:uniqueId val="{00000000-B46D-4D58-9798-032C31802AD4}"/>
            </c:ext>
          </c:extLst>
        </c:ser>
        <c:ser>
          <c:idx val="1"/>
          <c:order val="1"/>
          <c:tx>
            <c:strRef>
              <c:f>Feuil2!$D$5</c:f>
              <c:strCache>
                <c:ptCount val="1"/>
                <c:pt idx="0">
                  <c:v>2024</c:v>
                </c:pt>
              </c:strCache>
            </c:strRef>
          </c:tx>
          <c:spPr>
            <a:solidFill>
              <a:schemeClr val="accent2"/>
            </a:solidFill>
            <a:ln>
              <a:solidFill>
                <a:srgbClr val="FF3300"/>
              </a:solidFill>
            </a:ln>
            <a:effectLst/>
          </c:spPr>
          <c:invertIfNegative val="0"/>
          <c:cat>
            <c:strRef>
              <c:f>Feuil2!$B$6:$B$56</c:f>
              <c:strCache>
                <c:ptCount val="51"/>
                <c:pt idx="0">
                  <c:v> Buta</c:v>
                </c:pt>
                <c:pt idx="1">
                  <c:v> Mbandaka</c:v>
                </c:pt>
                <c:pt idx="2">
                  <c:v> Likasi</c:v>
                </c:pt>
                <c:pt idx="3">
                  <c:v> Lubumbashi</c:v>
                </c:pt>
                <c:pt idx="4">
                  <c:v> Kabondodianda</c:v>
                </c:pt>
                <c:pt idx="5">
                  <c:v> Kamina</c:v>
                </c:pt>
                <c:pt idx="6">
                  <c:v> Isiro</c:v>
                </c:pt>
                <c:pt idx="7">
                  <c:v> Watsa</c:v>
                </c:pt>
                <c:pt idx="8">
                  <c:v> Aru</c:v>
                </c:pt>
                <c:pt idx="9">
                  <c:v> Bunia</c:v>
                </c:pt>
                <c:pt idx="10">
                  <c:v> Boma</c:v>
                </c:pt>
                <c:pt idx="11">
                  <c:v> Matadi</c:v>
                </c:pt>
                <c:pt idx="12">
                  <c:v> Mbanzangungu</c:v>
                </c:pt>
                <c:pt idx="13">
                  <c:v> Mbujimayi</c:v>
                </c:pt>
                <c:pt idx="14">
                  <c:v> Kahemba</c:v>
                </c:pt>
                <c:pt idx="15">
                  <c:v> Kenge</c:v>
                </c:pt>
                <c:pt idx="16">
                  <c:v> bandundu</c:v>
                </c:pt>
                <c:pt idx="17">
                  <c:v> Kikwit</c:v>
                </c:pt>
                <c:pt idx="18">
                  <c:v> Kin Centre</c:v>
                </c:pt>
                <c:pt idx="19">
                  <c:v> Kin Est</c:v>
                </c:pt>
                <c:pt idx="20">
                  <c:v> Kin Ouest</c:v>
                </c:pt>
                <c:pt idx="21">
                  <c:v> Kananga</c:v>
                </c:pt>
                <c:pt idx="22">
                  <c:v> Lwiza</c:v>
                </c:pt>
                <c:pt idx="23">
                  <c:v> Mweka</c:v>
                </c:pt>
                <c:pt idx="24">
                  <c:v> Tshikapa</c:v>
                </c:pt>
                <c:pt idx="25">
                  <c:v> kisenge</c:v>
                </c:pt>
                <c:pt idx="26">
                  <c:v> Kolwezi</c:v>
                </c:pt>
                <c:pt idx="27">
                  <c:v> Kabinda</c:v>
                </c:pt>
                <c:pt idx="28">
                  <c:v> Mweneditu</c:v>
                </c:pt>
                <c:pt idx="29">
                  <c:v> Inongo</c:v>
                </c:pt>
                <c:pt idx="30">
                  <c:v> Nioki</c:v>
                </c:pt>
                <c:pt idx="31">
                  <c:v> Bumba</c:v>
                </c:pt>
                <c:pt idx="32">
                  <c:v> Lisala</c:v>
                </c:pt>
                <c:pt idx="33">
                  <c:v> Kasongo</c:v>
                </c:pt>
                <c:pt idx="34">
                  <c:v> Kindu</c:v>
                </c:pt>
                <c:pt idx="35">
                  <c:v> Kindu</c:v>
                </c:pt>
                <c:pt idx="36">
                  <c:v> Butembo</c:v>
                </c:pt>
                <c:pt idx="37">
                  <c:v> Goma</c:v>
                </c:pt>
                <c:pt idx="38">
                  <c:v> Gbadolite</c:v>
                </c:pt>
                <c:pt idx="39">
                  <c:v>Bukavu</c:v>
                </c:pt>
                <c:pt idx="40">
                  <c:v>Uvira</c:v>
                </c:pt>
                <c:pt idx="41">
                  <c:v> Lodja</c:v>
                </c:pt>
                <c:pt idx="42">
                  <c:v>  Lusambo</c:v>
                </c:pt>
                <c:pt idx="43">
                  <c:v>  Tshumbe</c:v>
                </c:pt>
                <c:pt idx="44">
                  <c:v>  Gemena</c:v>
                </c:pt>
                <c:pt idx="45">
                  <c:v>  Kabalo</c:v>
                </c:pt>
                <c:pt idx="46">
                  <c:v>  Kalemie</c:v>
                </c:pt>
                <c:pt idx="47">
                  <c:v>  Kisangani</c:v>
                </c:pt>
                <c:pt idx="48">
                  <c:v>  Isangi</c:v>
                </c:pt>
                <c:pt idx="49">
                  <c:v> Boende</c:v>
                </c:pt>
                <c:pt idx="50">
                  <c:v> Bokungu</c:v>
                </c:pt>
              </c:strCache>
            </c:strRef>
          </c:cat>
          <c:val>
            <c:numRef>
              <c:f>Feuil2!$D$6:$D$56</c:f>
              <c:numCache>
                <c:formatCode>0.0%</c:formatCode>
                <c:ptCount val="51"/>
                <c:pt idx="0">
                  <c:v>5.7345438476680194E-2</c:v>
                </c:pt>
                <c:pt idx="1">
                  <c:v>5.248409814931225E-2</c:v>
                </c:pt>
                <c:pt idx="2">
                  <c:v>7.0594619965384728E-2</c:v>
                </c:pt>
                <c:pt idx="3">
                  <c:v>6.7411119270810838E-2</c:v>
                </c:pt>
                <c:pt idx="4">
                  <c:v>6.5142519069452953E-2</c:v>
                </c:pt>
                <c:pt idx="5">
                  <c:v>5.4545298293257251E-2</c:v>
                </c:pt>
                <c:pt idx="6">
                  <c:v>6.2105690981812137E-2</c:v>
                </c:pt>
                <c:pt idx="7">
                  <c:v>6.1223014649190437E-2</c:v>
                </c:pt>
                <c:pt idx="8">
                  <c:v>4.9752608425028218E-2</c:v>
                </c:pt>
                <c:pt idx="9">
                  <c:v>7.3839029530996386E-2</c:v>
                </c:pt>
                <c:pt idx="10">
                  <c:v>5.7710561285831803E-2</c:v>
                </c:pt>
                <c:pt idx="11">
                  <c:v>7.0900958466453667E-2</c:v>
                </c:pt>
                <c:pt idx="12">
                  <c:v>6.8318673883626516E-2</c:v>
                </c:pt>
                <c:pt idx="13">
                  <c:v>4.1572990261336457E-2</c:v>
                </c:pt>
                <c:pt idx="14">
                  <c:v>6.2105690981812137E-2</c:v>
                </c:pt>
                <c:pt idx="15">
                  <c:v>5.4607508532423209E-2</c:v>
                </c:pt>
                <c:pt idx="16">
                  <c:v>6.2105690981812137E-2</c:v>
                </c:pt>
                <c:pt idx="17">
                  <c:v>3.6534338831866214E-2</c:v>
                </c:pt>
                <c:pt idx="18">
                  <c:v>5.2666307242924849E-2</c:v>
                </c:pt>
                <c:pt idx="19">
                  <c:v>0.10801041477906743</c:v>
                </c:pt>
                <c:pt idx="20">
                  <c:v>6.5120083615459776E-2</c:v>
                </c:pt>
                <c:pt idx="21">
                  <c:v>4.8477651641096284E-2</c:v>
                </c:pt>
                <c:pt idx="22">
                  <c:v>6.2105690981812137E-2</c:v>
                </c:pt>
                <c:pt idx="23">
                  <c:v>5.6333345646632928E-2</c:v>
                </c:pt>
                <c:pt idx="24">
                  <c:v>5.1922763330807378E-2</c:v>
                </c:pt>
                <c:pt idx="25">
                  <c:v>6.2105690981812137E-2</c:v>
                </c:pt>
                <c:pt idx="26">
                  <c:v>0.10343749609233346</c:v>
                </c:pt>
                <c:pt idx="27">
                  <c:v>2.2764393630053083E-2</c:v>
                </c:pt>
                <c:pt idx="28">
                  <c:v>6.2105690981812137E-2</c:v>
                </c:pt>
                <c:pt idx="29">
                  <c:v>7.1076839826839822E-2</c:v>
                </c:pt>
                <c:pt idx="30">
                  <c:v>6.2105690981812137E-2</c:v>
                </c:pt>
                <c:pt idx="31">
                  <c:v>5.397577672459189E-2</c:v>
                </c:pt>
                <c:pt idx="32">
                  <c:v>6.8311511138469727E-2</c:v>
                </c:pt>
                <c:pt idx="33">
                  <c:v>7.6213859798566916E-2</c:v>
                </c:pt>
                <c:pt idx="34">
                  <c:v>7.190804888860744E-2</c:v>
                </c:pt>
                <c:pt idx="35">
                  <c:v>7.2803935347856646E-2</c:v>
                </c:pt>
                <c:pt idx="36">
                  <c:v>0.15115690574754409</c:v>
                </c:pt>
                <c:pt idx="37">
                  <c:v>0.49368843255507067</c:v>
                </c:pt>
                <c:pt idx="38">
                  <c:v>6.5537376639367206E-2</c:v>
                </c:pt>
                <c:pt idx="39">
                  <c:v>4.9872322684871538E-2</c:v>
                </c:pt>
                <c:pt idx="40">
                  <c:v>4.1401159232458511E-2</c:v>
                </c:pt>
                <c:pt idx="41">
                  <c:v>6.2105690981812137E-2</c:v>
                </c:pt>
                <c:pt idx="42">
                  <c:v>4.7990321279741899E-2</c:v>
                </c:pt>
                <c:pt idx="43">
                  <c:v>4.0414746543778801E-2</c:v>
                </c:pt>
                <c:pt idx="44">
                  <c:v>7.2795810365859248E-2</c:v>
                </c:pt>
                <c:pt idx="45">
                  <c:v>6.2105690981812137E-2</c:v>
                </c:pt>
                <c:pt idx="46">
                  <c:v>5.800021532829875E-2</c:v>
                </c:pt>
                <c:pt idx="47">
                  <c:v>5.9538214349473352E-2</c:v>
                </c:pt>
                <c:pt idx="48">
                  <c:v>6.8598100756478347E-2</c:v>
                </c:pt>
                <c:pt idx="49">
                  <c:v>5.9902775599811824E-2</c:v>
                </c:pt>
                <c:pt idx="50">
                  <c:v>7.4477606132534346E-2</c:v>
                </c:pt>
              </c:numCache>
            </c:numRef>
          </c:val>
          <c:extLst>
            <c:ext xmlns:c16="http://schemas.microsoft.com/office/drawing/2014/chart" uri="{C3380CC4-5D6E-409C-BE32-E72D297353CC}">
              <c16:uniqueId val="{00000001-B46D-4D58-9798-032C31802AD4}"/>
            </c:ext>
          </c:extLst>
        </c:ser>
        <c:dLbls>
          <c:showLegendKey val="0"/>
          <c:showVal val="0"/>
          <c:showCatName val="0"/>
          <c:showSerName val="0"/>
          <c:showPercent val="0"/>
          <c:showBubbleSize val="0"/>
        </c:dLbls>
        <c:gapWidth val="150"/>
        <c:axId val="395254256"/>
        <c:axId val="395251512"/>
      </c:barChart>
      <c:catAx>
        <c:axId val="3952542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395251512"/>
        <c:crosses val="autoZero"/>
        <c:auto val="1"/>
        <c:lblAlgn val="ctr"/>
        <c:lblOffset val="100"/>
        <c:noMultiLvlLbl val="0"/>
      </c:catAx>
      <c:valAx>
        <c:axId val="395251512"/>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395254256"/>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fr-FR"/>
        </a:p>
      </c:txPr>
    </c:legend>
    <c:plotVisOnly val="1"/>
    <c:dispBlanksAs val="zero"/>
    <c:showDLblsOverMax val="0"/>
  </c:chart>
  <c:spPr>
    <a:noFill/>
    <a:ln>
      <a:noFill/>
    </a:ln>
    <a:effectLst/>
  </c:spPr>
  <c:txPr>
    <a:bodyPr/>
    <a:lstStyle/>
    <a:p>
      <a:pPr>
        <a:defRPr/>
      </a:pPr>
      <a:endParaRPr lang="fr-FR"/>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Feuil3!$J$2</c:f>
              <c:strCache>
                <c:ptCount val="1"/>
                <c:pt idx="0">
                  <c:v>2025</c:v>
                </c:pt>
              </c:strCache>
            </c:strRef>
          </c:tx>
          <c:spPr>
            <a:solidFill>
              <a:schemeClr val="accent1"/>
            </a:solidFill>
            <a:ln>
              <a:noFill/>
            </a:ln>
            <a:effectLst/>
          </c:spPr>
          <c:invertIfNegative val="0"/>
          <c:cat>
            <c:strRef>
              <c:f>Feuil3!$I$3:$I$27</c:f>
              <c:strCache>
                <c:ptCount val="25"/>
                <c:pt idx="0">
                  <c:v> Buta</c:v>
                </c:pt>
                <c:pt idx="1">
                  <c:v> Mbandaka</c:v>
                </c:pt>
                <c:pt idx="2">
                  <c:v> Likasi</c:v>
                </c:pt>
                <c:pt idx="3">
                  <c:v> Lubumbashi</c:v>
                </c:pt>
                <c:pt idx="4">
                  <c:v> Kabondodianda</c:v>
                </c:pt>
                <c:pt idx="5">
                  <c:v> Kamina</c:v>
                </c:pt>
                <c:pt idx="6">
                  <c:v> Isiro</c:v>
                </c:pt>
                <c:pt idx="7">
                  <c:v> Watsa</c:v>
                </c:pt>
                <c:pt idx="8">
                  <c:v> Aru</c:v>
                </c:pt>
                <c:pt idx="9">
                  <c:v> Bunia</c:v>
                </c:pt>
                <c:pt idx="10">
                  <c:v> Boma</c:v>
                </c:pt>
                <c:pt idx="11">
                  <c:v> Matadi</c:v>
                </c:pt>
                <c:pt idx="12">
                  <c:v> Mbanzangungu</c:v>
                </c:pt>
                <c:pt idx="13">
                  <c:v> Mbujimayi</c:v>
                </c:pt>
                <c:pt idx="14">
                  <c:v> Kahemba</c:v>
                </c:pt>
                <c:pt idx="15">
                  <c:v> Kenge</c:v>
                </c:pt>
                <c:pt idx="16">
                  <c:v> bandundu</c:v>
                </c:pt>
                <c:pt idx="17">
                  <c:v> Kikwit</c:v>
                </c:pt>
                <c:pt idx="18">
                  <c:v> Kin Centre</c:v>
                </c:pt>
                <c:pt idx="19">
                  <c:v> Kin Est</c:v>
                </c:pt>
                <c:pt idx="20">
                  <c:v> Kin Ouest</c:v>
                </c:pt>
                <c:pt idx="21">
                  <c:v> Kananga</c:v>
                </c:pt>
                <c:pt idx="22">
                  <c:v> Lwiza</c:v>
                </c:pt>
                <c:pt idx="23">
                  <c:v> Mweka</c:v>
                </c:pt>
                <c:pt idx="24">
                  <c:v> Tshikapa</c:v>
                </c:pt>
              </c:strCache>
            </c:strRef>
          </c:cat>
          <c:val>
            <c:numRef>
              <c:f>Feuil3!$J$3:$J$27</c:f>
              <c:numCache>
                <c:formatCode>0.0%</c:formatCode>
                <c:ptCount val="25"/>
                <c:pt idx="0">
                  <c:v>0.7730616161901267</c:v>
                </c:pt>
                <c:pt idx="1">
                  <c:v>0.89140214738528245</c:v>
                </c:pt>
                <c:pt idx="2">
                  <c:v>1.1249315993919948</c:v>
                </c:pt>
                <c:pt idx="3">
                  <c:v>0.8413941665075424</c:v>
                </c:pt>
                <c:pt idx="4">
                  <c:v>1.0746626251259199</c:v>
                </c:pt>
                <c:pt idx="5">
                  <c:v>1.0840055067819176</c:v>
                </c:pt>
                <c:pt idx="6">
                  <c:v>0.96839790440463103</c:v>
                </c:pt>
                <c:pt idx="7">
                  <c:v>0.72173796432881843</c:v>
                </c:pt>
                <c:pt idx="8">
                  <c:v>0.90371613375640714</c:v>
                </c:pt>
                <c:pt idx="9">
                  <c:v>1.0256672891343972</c:v>
                </c:pt>
                <c:pt idx="10">
                  <c:v>0.98571884838253421</c:v>
                </c:pt>
                <c:pt idx="11">
                  <c:v>0.97705224972207583</c:v>
                </c:pt>
                <c:pt idx="12">
                  <c:v>1.0122771980628089</c:v>
                </c:pt>
                <c:pt idx="13">
                  <c:v>1.0133208674620433</c:v>
                </c:pt>
                <c:pt idx="14">
                  <c:v>0.87198795180722888</c:v>
                </c:pt>
                <c:pt idx="15">
                  <c:v>0.95545714167459961</c:v>
                </c:pt>
                <c:pt idx="16">
                  <c:v>1.029176805745148</c:v>
                </c:pt>
                <c:pt idx="17">
                  <c:v>0.9374483443021977</c:v>
                </c:pt>
                <c:pt idx="18">
                  <c:v>0.83986937139302609</c:v>
                </c:pt>
                <c:pt idx="19">
                  <c:v>0.90224502648834881</c:v>
                </c:pt>
                <c:pt idx="20">
                  <c:v>0.90590883966728242</c:v>
                </c:pt>
                <c:pt idx="21">
                  <c:v>1.0217269810604754</c:v>
                </c:pt>
                <c:pt idx="22">
                  <c:v>0.95216677269969974</c:v>
                </c:pt>
                <c:pt idx="23">
                  <c:v>0.99775208734746312</c:v>
                </c:pt>
                <c:pt idx="24">
                  <c:v>0.84811057479249263</c:v>
                </c:pt>
              </c:numCache>
            </c:numRef>
          </c:val>
          <c:extLst>
            <c:ext xmlns:c16="http://schemas.microsoft.com/office/drawing/2014/chart" uri="{C3380CC4-5D6E-409C-BE32-E72D297353CC}">
              <c16:uniqueId val="{00000000-6A96-426E-9833-831FC1F53757}"/>
            </c:ext>
          </c:extLst>
        </c:ser>
        <c:ser>
          <c:idx val="1"/>
          <c:order val="1"/>
          <c:tx>
            <c:strRef>
              <c:f>Feuil3!$K$2</c:f>
              <c:strCache>
                <c:ptCount val="1"/>
                <c:pt idx="0">
                  <c:v>2024</c:v>
                </c:pt>
              </c:strCache>
            </c:strRef>
          </c:tx>
          <c:spPr>
            <a:solidFill>
              <a:schemeClr val="accent2"/>
            </a:solidFill>
            <a:ln>
              <a:noFill/>
            </a:ln>
            <a:effectLst/>
          </c:spPr>
          <c:invertIfNegative val="0"/>
          <c:cat>
            <c:strRef>
              <c:f>Feuil3!$I$3:$I$27</c:f>
              <c:strCache>
                <c:ptCount val="25"/>
                <c:pt idx="0">
                  <c:v> Buta</c:v>
                </c:pt>
                <c:pt idx="1">
                  <c:v> Mbandaka</c:v>
                </c:pt>
                <c:pt idx="2">
                  <c:v> Likasi</c:v>
                </c:pt>
                <c:pt idx="3">
                  <c:v> Lubumbashi</c:v>
                </c:pt>
                <c:pt idx="4">
                  <c:v> Kabondodianda</c:v>
                </c:pt>
                <c:pt idx="5">
                  <c:v> Kamina</c:v>
                </c:pt>
                <c:pt idx="6">
                  <c:v> Isiro</c:v>
                </c:pt>
                <c:pt idx="7">
                  <c:v> Watsa</c:v>
                </c:pt>
                <c:pt idx="8">
                  <c:v> Aru</c:v>
                </c:pt>
                <c:pt idx="9">
                  <c:v> Bunia</c:v>
                </c:pt>
                <c:pt idx="10">
                  <c:v> Boma</c:v>
                </c:pt>
                <c:pt idx="11">
                  <c:v> Matadi</c:v>
                </c:pt>
                <c:pt idx="12">
                  <c:v> Mbanzangungu</c:v>
                </c:pt>
                <c:pt idx="13">
                  <c:v> Mbujimayi</c:v>
                </c:pt>
                <c:pt idx="14">
                  <c:v> Kahemba</c:v>
                </c:pt>
                <c:pt idx="15">
                  <c:v> Kenge</c:v>
                </c:pt>
                <c:pt idx="16">
                  <c:v> bandundu</c:v>
                </c:pt>
                <c:pt idx="17">
                  <c:v> Kikwit</c:v>
                </c:pt>
                <c:pt idx="18">
                  <c:v> Kin Centre</c:v>
                </c:pt>
                <c:pt idx="19">
                  <c:v> Kin Est</c:v>
                </c:pt>
                <c:pt idx="20">
                  <c:v> Kin Ouest</c:v>
                </c:pt>
                <c:pt idx="21">
                  <c:v> Kananga</c:v>
                </c:pt>
                <c:pt idx="22">
                  <c:v> Lwiza</c:v>
                </c:pt>
                <c:pt idx="23">
                  <c:v> Mweka</c:v>
                </c:pt>
                <c:pt idx="24">
                  <c:v> Tshikapa</c:v>
                </c:pt>
              </c:strCache>
            </c:strRef>
          </c:cat>
          <c:val>
            <c:numRef>
              <c:f>Feuil3!$K$3:$K$27</c:f>
              <c:numCache>
                <c:formatCode>0.0%</c:formatCode>
                <c:ptCount val="25"/>
                <c:pt idx="0">
                  <c:v>0.42236744436520302</c:v>
                </c:pt>
                <c:pt idx="1">
                  <c:v>0.63860243116785409</c:v>
                </c:pt>
                <c:pt idx="2">
                  <c:v>1.1366344075918444</c:v>
                </c:pt>
                <c:pt idx="3">
                  <c:v>0.98630973657626864</c:v>
                </c:pt>
                <c:pt idx="4">
                  <c:v>0.71824784766819039</c:v>
                </c:pt>
                <c:pt idx="5">
                  <c:v>0.72990899705719181</c:v>
                </c:pt>
                <c:pt idx="6">
                  <c:v>0.39800658538755901</c:v>
                </c:pt>
                <c:pt idx="7">
                  <c:v>0.5833220636342038</c:v>
                </c:pt>
                <c:pt idx="8">
                  <c:v>0.76833801705862048</c:v>
                </c:pt>
                <c:pt idx="9">
                  <c:v>0.47391612535877381</c:v>
                </c:pt>
                <c:pt idx="10">
                  <c:v>0.68271714922048998</c:v>
                </c:pt>
                <c:pt idx="11">
                  <c:v>0.68630515810989534</c:v>
                </c:pt>
                <c:pt idx="12">
                  <c:v>0.49666543116780204</c:v>
                </c:pt>
                <c:pt idx="13">
                  <c:v>0.78895764238840504</c:v>
                </c:pt>
                <c:pt idx="14">
                  <c:v>0.79273224577512935</c:v>
                </c:pt>
                <c:pt idx="15">
                  <c:v>0.91402130449388286</c:v>
                </c:pt>
                <c:pt idx="16">
                  <c:v>0.88170435795399393</c:v>
                </c:pt>
                <c:pt idx="17">
                  <c:v>0.64404362675801996</c:v>
                </c:pt>
                <c:pt idx="18">
                  <c:v>0.79666543605378171</c:v>
                </c:pt>
                <c:pt idx="19">
                  <c:v>0.86764714372311869</c:v>
                </c:pt>
                <c:pt idx="20">
                  <c:v>0.85025595137795396</c:v>
                </c:pt>
                <c:pt idx="21">
                  <c:v>0.96484548503695977</c:v>
                </c:pt>
                <c:pt idx="22">
                  <c:v>0.90932983718519422</c:v>
                </c:pt>
                <c:pt idx="23">
                  <c:v>0.75387736592118759</c:v>
                </c:pt>
                <c:pt idx="24">
                  <c:v>0.52040685305706258</c:v>
                </c:pt>
              </c:numCache>
            </c:numRef>
          </c:val>
          <c:extLst>
            <c:ext xmlns:c16="http://schemas.microsoft.com/office/drawing/2014/chart" uri="{C3380CC4-5D6E-409C-BE32-E72D297353CC}">
              <c16:uniqueId val="{00000001-6A96-426E-9833-831FC1F53757}"/>
            </c:ext>
          </c:extLst>
        </c:ser>
        <c:dLbls>
          <c:showLegendKey val="0"/>
          <c:showVal val="0"/>
          <c:showCatName val="0"/>
          <c:showSerName val="0"/>
          <c:showPercent val="0"/>
          <c:showBubbleSize val="0"/>
        </c:dLbls>
        <c:gapWidth val="219"/>
        <c:overlap val="-27"/>
        <c:axId val="338945064"/>
        <c:axId val="338937224"/>
      </c:barChart>
      <c:catAx>
        <c:axId val="3389450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338937224"/>
        <c:crosses val="autoZero"/>
        <c:auto val="1"/>
        <c:lblAlgn val="ctr"/>
        <c:lblOffset val="100"/>
        <c:noMultiLvlLbl val="0"/>
      </c:catAx>
      <c:valAx>
        <c:axId val="338937224"/>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338945064"/>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4">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Feuil3!$N$2</c:f>
              <c:strCache>
                <c:ptCount val="1"/>
                <c:pt idx="0">
                  <c:v>2025</c:v>
                </c:pt>
              </c:strCache>
            </c:strRef>
          </c:tx>
          <c:spPr>
            <a:solidFill>
              <a:schemeClr val="accent1"/>
            </a:solidFill>
            <a:ln>
              <a:noFill/>
            </a:ln>
            <a:effectLst/>
          </c:spPr>
          <c:invertIfNegative val="0"/>
          <c:cat>
            <c:strRef>
              <c:f>Feuil3!$M$3:$M$28</c:f>
              <c:strCache>
                <c:ptCount val="26"/>
                <c:pt idx="0">
                  <c:v> kisenge</c:v>
                </c:pt>
                <c:pt idx="1">
                  <c:v> Kolwezi</c:v>
                </c:pt>
                <c:pt idx="2">
                  <c:v> Kabinda</c:v>
                </c:pt>
                <c:pt idx="3">
                  <c:v> Mweneditu</c:v>
                </c:pt>
                <c:pt idx="4">
                  <c:v> Inongo</c:v>
                </c:pt>
                <c:pt idx="5">
                  <c:v> Nioki</c:v>
                </c:pt>
                <c:pt idx="6">
                  <c:v> Bumba</c:v>
                </c:pt>
                <c:pt idx="7">
                  <c:v> Lisala</c:v>
                </c:pt>
                <c:pt idx="8">
                  <c:v> Kasongo</c:v>
                </c:pt>
                <c:pt idx="9">
                  <c:v> Kindu</c:v>
                </c:pt>
                <c:pt idx="10">
                  <c:v> Kindu</c:v>
                </c:pt>
                <c:pt idx="11">
                  <c:v> Butembo</c:v>
                </c:pt>
                <c:pt idx="12">
                  <c:v> Goma</c:v>
                </c:pt>
                <c:pt idx="13">
                  <c:v> Gbadolite</c:v>
                </c:pt>
                <c:pt idx="14">
                  <c:v>Bukavu</c:v>
                </c:pt>
                <c:pt idx="15">
                  <c:v>Uvira</c:v>
                </c:pt>
                <c:pt idx="16">
                  <c:v> Lodja</c:v>
                </c:pt>
                <c:pt idx="17">
                  <c:v>  Lusambo</c:v>
                </c:pt>
                <c:pt idx="18">
                  <c:v>  Tshumbe</c:v>
                </c:pt>
                <c:pt idx="19">
                  <c:v>  Gemena</c:v>
                </c:pt>
                <c:pt idx="20">
                  <c:v>  Kabalo</c:v>
                </c:pt>
                <c:pt idx="21">
                  <c:v>  Kalemie</c:v>
                </c:pt>
                <c:pt idx="22">
                  <c:v>  Kisangani</c:v>
                </c:pt>
                <c:pt idx="23">
                  <c:v>  Isangi</c:v>
                </c:pt>
                <c:pt idx="24">
                  <c:v> Boende</c:v>
                </c:pt>
                <c:pt idx="25">
                  <c:v> Bokungu</c:v>
                </c:pt>
              </c:strCache>
            </c:strRef>
          </c:cat>
          <c:val>
            <c:numRef>
              <c:f>Feuil3!$N$3:$N$28</c:f>
              <c:numCache>
                <c:formatCode>0.0%</c:formatCode>
                <c:ptCount val="26"/>
                <c:pt idx="0">
                  <c:v>1.3091288357029147</c:v>
                </c:pt>
                <c:pt idx="1">
                  <c:v>1.46610722195635</c:v>
                </c:pt>
                <c:pt idx="2">
                  <c:v>0.96342907044440129</c:v>
                </c:pt>
                <c:pt idx="3">
                  <c:v>0.99127984218366283</c:v>
                </c:pt>
                <c:pt idx="4">
                  <c:v>1.1326588681631362</c:v>
                </c:pt>
                <c:pt idx="5">
                  <c:v>0.95547142454388023</c:v>
                </c:pt>
                <c:pt idx="6">
                  <c:v>0.95013454579196421</c:v>
                </c:pt>
                <c:pt idx="7">
                  <c:v>0.83955475240854993</c:v>
                </c:pt>
                <c:pt idx="8">
                  <c:v>1.0832184503757449</c:v>
                </c:pt>
                <c:pt idx="9">
                  <c:v>1.0230186930325968</c:v>
                </c:pt>
                <c:pt idx="10">
                  <c:v>1.0608031361511787</c:v>
                </c:pt>
                <c:pt idx="11">
                  <c:v>0.84435330780027129</c:v>
                </c:pt>
                <c:pt idx="12">
                  <c:v>1.1583253590516107</c:v>
                </c:pt>
                <c:pt idx="13">
                  <c:v>1.0179189463520906</c:v>
                </c:pt>
                <c:pt idx="14">
                  <c:v>0.83723677240228866</c:v>
                </c:pt>
                <c:pt idx="15">
                  <c:v>0.84926022120407374</c:v>
                </c:pt>
                <c:pt idx="16">
                  <c:v>0.89362287811592001</c:v>
                </c:pt>
                <c:pt idx="17">
                  <c:v>0.99521281225520075</c:v>
                </c:pt>
                <c:pt idx="18">
                  <c:v>1.0328133405056483</c:v>
                </c:pt>
                <c:pt idx="19">
                  <c:v>1.0971373691455646</c:v>
                </c:pt>
                <c:pt idx="20">
                  <c:v>1.0677763075423079</c:v>
                </c:pt>
                <c:pt idx="21">
                  <c:v>1.0166251572016867</c:v>
                </c:pt>
                <c:pt idx="22">
                  <c:v>0.99419342602453931</c:v>
                </c:pt>
                <c:pt idx="23">
                  <c:v>0.80448520345252772</c:v>
                </c:pt>
                <c:pt idx="24">
                  <c:v>0.86610062587938497</c:v>
                </c:pt>
                <c:pt idx="25">
                  <c:v>0.87555111274793496</c:v>
                </c:pt>
              </c:numCache>
            </c:numRef>
          </c:val>
          <c:extLst>
            <c:ext xmlns:c16="http://schemas.microsoft.com/office/drawing/2014/chart" uri="{C3380CC4-5D6E-409C-BE32-E72D297353CC}">
              <c16:uniqueId val="{00000000-B40F-453D-8C5A-3032EB77AA74}"/>
            </c:ext>
          </c:extLst>
        </c:ser>
        <c:ser>
          <c:idx val="1"/>
          <c:order val="1"/>
          <c:tx>
            <c:strRef>
              <c:f>Feuil3!$O$2</c:f>
              <c:strCache>
                <c:ptCount val="1"/>
                <c:pt idx="0">
                  <c:v>2024</c:v>
                </c:pt>
              </c:strCache>
            </c:strRef>
          </c:tx>
          <c:spPr>
            <a:solidFill>
              <a:schemeClr val="accent2"/>
            </a:solidFill>
            <a:ln>
              <a:noFill/>
            </a:ln>
            <a:effectLst/>
          </c:spPr>
          <c:invertIfNegative val="0"/>
          <c:cat>
            <c:strRef>
              <c:f>Feuil3!$M$3:$M$28</c:f>
              <c:strCache>
                <c:ptCount val="26"/>
                <c:pt idx="0">
                  <c:v> kisenge</c:v>
                </c:pt>
                <c:pt idx="1">
                  <c:v> Kolwezi</c:v>
                </c:pt>
                <c:pt idx="2">
                  <c:v> Kabinda</c:v>
                </c:pt>
                <c:pt idx="3">
                  <c:v> Mweneditu</c:v>
                </c:pt>
                <c:pt idx="4">
                  <c:v> Inongo</c:v>
                </c:pt>
                <c:pt idx="5">
                  <c:v> Nioki</c:v>
                </c:pt>
                <c:pt idx="6">
                  <c:v> Bumba</c:v>
                </c:pt>
                <c:pt idx="7">
                  <c:v> Lisala</c:v>
                </c:pt>
                <c:pt idx="8">
                  <c:v> Kasongo</c:v>
                </c:pt>
                <c:pt idx="9">
                  <c:v> Kindu</c:v>
                </c:pt>
                <c:pt idx="10">
                  <c:v> Kindu</c:v>
                </c:pt>
                <c:pt idx="11">
                  <c:v> Butembo</c:v>
                </c:pt>
                <c:pt idx="12">
                  <c:v> Goma</c:v>
                </c:pt>
                <c:pt idx="13">
                  <c:v> Gbadolite</c:v>
                </c:pt>
                <c:pt idx="14">
                  <c:v>Bukavu</c:v>
                </c:pt>
                <c:pt idx="15">
                  <c:v>Uvira</c:v>
                </c:pt>
                <c:pt idx="16">
                  <c:v> Lodja</c:v>
                </c:pt>
                <c:pt idx="17">
                  <c:v>  Lusambo</c:v>
                </c:pt>
                <c:pt idx="18">
                  <c:v>  Tshumbe</c:v>
                </c:pt>
                <c:pt idx="19">
                  <c:v>  Gemena</c:v>
                </c:pt>
                <c:pt idx="20">
                  <c:v>  Kabalo</c:v>
                </c:pt>
                <c:pt idx="21">
                  <c:v>  Kalemie</c:v>
                </c:pt>
                <c:pt idx="22">
                  <c:v>  Kisangani</c:v>
                </c:pt>
                <c:pt idx="23">
                  <c:v>  Isangi</c:v>
                </c:pt>
                <c:pt idx="24">
                  <c:v> Boende</c:v>
                </c:pt>
                <c:pt idx="25">
                  <c:v> Bokungu</c:v>
                </c:pt>
              </c:strCache>
            </c:strRef>
          </c:cat>
          <c:val>
            <c:numRef>
              <c:f>Feuil3!$O$3:$O$28</c:f>
              <c:numCache>
                <c:formatCode>0.0%</c:formatCode>
                <c:ptCount val="26"/>
                <c:pt idx="0">
                  <c:v>0.91045016666056189</c:v>
                </c:pt>
                <c:pt idx="1">
                  <c:v>0.84200456142513702</c:v>
                </c:pt>
                <c:pt idx="2">
                  <c:v>0.83903958425291281</c:v>
                </c:pt>
                <c:pt idx="3">
                  <c:v>0.77266431681526015</c:v>
                </c:pt>
                <c:pt idx="4">
                  <c:v>1.0149018011600692</c:v>
                </c:pt>
                <c:pt idx="5">
                  <c:v>0.91076744955342381</c:v>
                </c:pt>
                <c:pt idx="6">
                  <c:v>0.8067519420594591</c:v>
                </c:pt>
                <c:pt idx="7">
                  <c:v>0.68101795964622691</c:v>
                </c:pt>
                <c:pt idx="8">
                  <c:v>0.90621396540679044</c:v>
                </c:pt>
                <c:pt idx="9">
                  <c:v>0.95487366501693149</c:v>
                </c:pt>
                <c:pt idx="10">
                  <c:v>1.0249223404797065</c:v>
                </c:pt>
                <c:pt idx="11">
                  <c:v>0.72151627705932331</c:v>
                </c:pt>
                <c:pt idx="12">
                  <c:v>1.0014724788727565</c:v>
                </c:pt>
                <c:pt idx="13">
                  <c:v>0.58268134335021238</c:v>
                </c:pt>
                <c:pt idx="14">
                  <c:v>0.80434653101487408</c:v>
                </c:pt>
                <c:pt idx="15">
                  <c:v>0.9285400823589528</c:v>
                </c:pt>
                <c:pt idx="16">
                  <c:v>0.66705520989210054</c:v>
                </c:pt>
                <c:pt idx="17">
                  <c:v>0.79458490227721013</c:v>
                </c:pt>
                <c:pt idx="18">
                  <c:v>0.79636611401317281</c:v>
                </c:pt>
                <c:pt idx="19">
                  <c:v>0.68123998351572868</c:v>
                </c:pt>
                <c:pt idx="20">
                  <c:v>1.0421031719753657</c:v>
                </c:pt>
                <c:pt idx="21">
                  <c:v>1.241273541845147</c:v>
                </c:pt>
                <c:pt idx="22">
                  <c:v>0.88247920579554606</c:v>
                </c:pt>
                <c:pt idx="23">
                  <c:v>0.90728397141275829</c:v>
                </c:pt>
                <c:pt idx="24">
                  <c:v>0.43909955097688808</c:v>
                </c:pt>
                <c:pt idx="25">
                  <c:v>0.49488013226784244</c:v>
                </c:pt>
              </c:numCache>
            </c:numRef>
          </c:val>
          <c:extLst>
            <c:ext xmlns:c16="http://schemas.microsoft.com/office/drawing/2014/chart" uri="{C3380CC4-5D6E-409C-BE32-E72D297353CC}">
              <c16:uniqueId val="{00000001-B40F-453D-8C5A-3032EB77AA74}"/>
            </c:ext>
          </c:extLst>
        </c:ser>
        <c:dLbls>
          <c:showLegendKey val="0"/>
          <c:showVal val="0"/>
          <c:showCatName val="0"/>
          <c:showSerName val="0"/>
          <c:showPercent val="0"/>
          <c:showBubbleSize val="0"/>
        </c:dLbls>
        <c:gapWidth val="219"/>
        <c:overlap val="-27"/>
        <c:axId val="342995128"/>
        <c:axId val="343001400"/>
      </c:barChart>
      <c:catAx>
        <c:axId val="3429951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343001400"/>
        <c:crosses val="autoZero"/>
        <c:auto val="1"/>
        <c:lblAlgn val="ctr"/>
        <c:lblOffset val="100"/>
        <c:noMultiLvlLbl val="0"/>
      </c:catAx>
      <c:valAx>
        <c:axId val="343001400"/>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342995128"/>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4">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Feuil5!$H$2</c:f>
              <c:strCache>
                <c:ptCount val="1"/>
                <c:pt idx="0">
                  <c:v>2025</c:v>
                </c:pt>
              </c:strCache>
            </c:strRef>
          </c:tx>
          <c:spPr>
            <a:solidFill>
              <a:schemeClr val="accent1"/>
            </a:solidFill>
            <a:ln>
              <a:noFill/>
            </a:ln>
            <a:effectLst/>
          </c:spPr>
          <c:invertIfNegative val="0"/>
          <c:cat>
            <c:strRef>
              <c:f>Feuil5!$G$3:$G$28</c:f>
              <c:strCache>
                <c:ptCount val="26"/>
                <c:pt idx="0">
                  <c:v> Buta</c:v>
                </c:pt>
                <c:pt idx="1">
                  <c:v> Mbandaka</c:v>
                </c:pt>
                <c:pt idx="2">
                  <c:v> Likasi</c:v>
                </c:pt>
                <c:pt idx="3">
                  <c:v> Lubumbashi</c:v>
                </c:pt>
                <c:pt idx="4">
                  <c:v> Kabondodianda</c:v>
                </c:pt>
                <c:pt idx="5">
                  <c:v> Kamina</c:v>
                </c:pt>
                <c:pt idx="6">
                  <c:v> Isiro</c:v>
                </c:pt>
                <c:pt idx="7">
                  <c:v> Watsa</c:v>
                </c:pt>
                <c:pt idx="8">
                  <c:v> Aru</c:v>
                </c:pt>
                <c:pt idx="9">
                  <c:v> Bunia</c:v>
                </c:pt>
                <c:pt idx="10">
                  <c:v> Boma</c:v>
                </c:pt>
                <c:pt idx="11">
                  <c:v> Matadi</c:v>
                </c:pt>
                <c:pt idx="12">
                  <c:v> Mbanzangungu</c:v>
                </c:pt>
                <c:pt idx="13">
                  <c:v> Mbujimayi</c:v>
                </c:pt>
                <c:pt idx="14">
                  <c:v> Kahemba</c:v>
                </c:pt>
                <c:pt idx="15">
                  <c:v> Kenge</c:v>
                </c:pt>
                <c:pt idx="16">
                  <c:v> bandundu</c:v>
                </c:pt>
                <c:pt idx="17">
                  <c:v> Kikwit</c:v>
                </c:pt>
                <c:pt idx="18">
                  <c:v> Kin Centre</c:v>
                </c:pt>
                <c:pt idx="19">
                  <c:v> Kin Est</c:v>
                </c:pt>
                <c:pt idx="20">
                  <c:v> Kin Ouest</c:v>
                </c:pt>
                <c:pt idx="21">
                  <c:v> Kananga</c:v>
                </c:pt>
                <c:pt idx="22">
                  <c:v> Lwiza</c:v>
                </c:pt>
                <c:pt idx="23">
                  <c:v> Mweka</c:v>
                </c:pt>
                <c:pt idx="24">
                  <c:v> Tshikapa</c:v>
                </c:pt>
                <c:pt idx="25">
                  <c:v> kisenge</c:v>
                </c:pt>
              </c:strCache>
            </c:strRef>
          </c:cat>
          <c:val>
            <c:numRef>
              <c:f>Feuil5!$H$3:$H$28</c:f>
              <c:numCache>
                <c:formatCode>0.0%</c:formatCode>
                <c:ptCount val="26"/>
                <c:pt idx="0">
                  <c:v>0.84531073080780283</c:v>
                </c:pt>
                <c:pt idx="1">
                  <c:v>0.48160868774518711</c:v>
                </c:pt>
                <c:pt idx="2">
                  <c:v>0.98053992670211121</c:v>
                </c:pt>
                <c:pt idx="3">
                  <c:v>0.71569048530940527</c:v>
                </c:pt>
                <c:pt idx="4">
                  <c:v>0.98696068233825685</c:v>
                </c:pt>
                <c:pt idx="5">
                  <c:v>0.94951757676090942</c:v>
                </c:pt>
                <c:pt idx="6">
                  <c:v>0.91642914064382208</c:v>
                </c:pt>
                <c:pt idx="7">
                  <c:v>0.88741820736902188</c:v>
                </c:pt>
                <c:pt idx="8">
                  <c:v>0.77050091791240483</c:v>
                </c:pt>
                <c:pt idx="9">
                  <c:v>0.96126878344173539</c:v>
                </c:pt>
                <c:pt idx="10">
                  <c:v>0.92429973331474091</c:v>
                </c:pt>
                <c:pt idx="11">
                  <c:v>0.93001005923773339</c:v>
                </c:pt>
                <c:pt idx="12">
                  <c:v>0.88721477518204317</c:v>
                </c:pt>
                <c:pt idx="13">
                  <c:v>0.96077263896459675</c:v>
                </c:pt>
                <c:pt idx="14">
                  <c:v>0.81831386169876841</c:v>
                </c:pt>
                <c:pt idx="15">
                  <c:v>0.90915990702528338</c:v>
                </c:pt>
                <c:pt idx="16">
                  <c:v>1.0379823472389926</c:v>
                </c:pt>
                <c:pt idx="17">
                  <c:v>0.91813397616541603</c:v>
                </c:pt>
                <c:pt idx="18">
                  <c:v>0.75450638677096737</c:v>
                </c:pt>
                <c:pt idx="19">
                  <c:v>0.82842933798982021</c:v>
                </c:pt>
                <c:pt idx="20">
                  <c:v>0.83719837864842739</c:v>
                </c:pt>
                <c:pt idx="21">
                  <c:v>0.9069708591989244</c:v>
                </c:pt>
                <c:pt idx="22">
                  <c:v>0.92510556036017688</c:v>
                </c:pt>
                <c:pt idx="23">
                  <c:v>0.75539743102158008</c:v>
                </c:pt>
                <c:pt idx="24">
                  <c:v>0.77375302862869189</c:v>
                </c:pt>
                <c:pt idx="25">
                  <c:v>1.1288033220083049</c:v>
                </c:pt>
              </c:numCache>
            </c:numRef>
          </c:val>
          <c:extLst>
            <c:ext xmlns:c16="http://schemas.microsoft.com/office/drawing/2014/chart" uri="{C3380CC4-5D6E-409C-BE32-E72D297353CC}">
              <c16:uniqueId val="{00000000-73D2-4312-82CF-9374C0A4B98A}"/>
            </c:ext>
          </c:extLst>
        </c:ser>
        <c:ser>
          <c:idx val="1"/>
          <c:order val="1"/>
          <c:tx>
            <c:strRef>
              <c:f>Feuil5!$I$2</c:f>
              <c:strCache>
                <c:ptCount val="1"/>
                <c:pt idx="0">
                  <c:v>2024</c:v>
                </c:pt>
              </c:strCache>
            </c:strRef>
          </c:tx>
          <c:spPr>
            <a:solidFill>
              <a:schemeClr val="accent2"/>
            </a:solidFill>
            <a:ln>
              <a:noFill/>
            </a:ln>
            <a:effectLst/>
          </c:spPr>
          <c:invertIfNegative val="0"/>
          <c:cat>
            <c:strRef>
              <c:f>Feuil5!$G$3:$G$28</c:f>
              <c:strCache>
                <c:ptCount val="26"/>
                <c:pt idx="0">
                  <c:v> Buta</c:v>
                </c:pt>
                <c:pt idx="1">
                  <c:v> Mbandaka</c:v>
                </c:pt>
                <c:pt idx="2">
                  <c:v> Likasi</c:v>
                </c:pt>
                <c:pt idx="3">
                  <c:v> Lubumbashi</c:v>
                </c:pt>
                <c:pt idx="4">
                  <c:v> Kabondodianda</c:v>
                </c:pt>
                <c:pt idx="5">
                  <c:v> Kamina</c:v>
                </c:pt>
                <c:pt idx="6">
                  <c:v> Isiro</c:v>
                </c:pt>
                <c:pt idx="7">
                  <c:v> Watsa</c:v>
                </c:pt>
                <c:pt idx="8">
                  <c:v> Aru</c:v>
                </c:pt>
                <c:pt idx="9">
                  <c:v> Bunia</c:v>
                </c:pt>
                <c:pt idx="10">
                  <c:v> Boma</c:v>
                </c:pt>
                <c:pt idx="11">
                  <c:v> Matadi</c:v>
                </c:pt>
                <c:pt idx="12">
                  <c:v> Mbanzangungu</c:v>
                </c:pt>
                <c:pt idx="13">
                  <c:v> Mbujimayi</c:v>
                </c:pt>
                <c:pt idx="14">
                  <c:v> Kahemba</c:v>
                </c:pt>
                <c:pt idx="15">
                  <c:v> Kenge</c:v>
                </c:pt>
                <c:pt idx="16">
                  <c:v> bandundu</c:v>
                </c:pt>
                <c:pt idx="17">
                  <c:v> Kikwit</c:v>
                </c:pt>
                <c:pt idx="18">
                  <c:v> Kin Centre</c:v>
                </c:pt>
                <c:pt idx="19">
                  <c:v> Kin Est</c:v>
                </c:pt>
                <c:pt idx="20">
                  <c:v> Kin Ouest</c:v>
                </c:pt>
                <c:pt idx="21">
                  <c:v> Kananga</c:v>
                </c:pt>
                <c:pt idx="22">
                  <c:v> Lwiza</c:v>
                </c:pt>
                <c:pt idx="23">
                  <c:v> Mweka</c:v>
                </c:pt>
                <c:pt idx="24">
                  <c:v> Tshikapa</c:v>
                </c:pt>
                <c:pt idx="25">
                  <c:v> kisenge</c:v>
                </c:pt>
              </c:strCache>
            </c:strRef>
          </c:cat>
          <c:val>
            <c:numRef>
              <c:f>Feuil5!$I$3:$I$28</c:f>
              <c:numCache>
                <c:formatCode>0.0%</c:formatCode>
                <c:ptCount val="26"/>
                <c:pt idx="0">
                  <c:v>0.87167545205845054</c:v>
                </c:pt>
                <c:pt idx="1">
                  <c:v>0.80996011641694499</c:v>
                </c:pt>
                <c:pt idx="2">
                  <c:v>1.0578011715765345</c:v>
                </c:pt>
                <c:pt idx="3">
                  <c:v>1.0769556872681607</c:v>
                </c:pt>
                <c:pt idx="4">
                  <c:v>1.0578011715765345</c:v>
                </c:pt>
                <c:pt idx="5">
                  <c:v>1.057540218620775</c:v>
                </c:pt>
                <c:pt idx="6">
                  <c:v>0.91870362342861522</c:v>
                </c:pt>
                <c:pt idx="7">
                  <c:v>0.90213015520599871</c:v>
                </c:pt>
                <c:pt idx="8">
                  <c:v>0.98243360331512519</c:v>
                </c:pt>
                <c:pt idx="9">
                  <c:v>0.93166232711145447</c:v>
                </c:pt>
                <c:pt idx="10">
                  <c:v>0.9513665287071309</c:v>
                </c:pt>
                <c:pt idx="11">
                  <c:v>1.0578011715765345</c:v>
                </c:pt>
                <c:pt idx="12">
                  <c:v>0.85649244111098077</c:v>
                </c:pt>
                <c:pt idx="13">
                  <c:v>0.98354191308329209</c:v>
                </c:pt>
                <c:pt idx="14">
                  <c:v>0.78337780597488371</c:v>
                </c:pt>
                <c:pt idx="15">
                  <c:v>0.9390001863006896</c:v>
                </c:pt>
                <c:pt idx="16">
                  <c:v>0.98252808780451639</c:v>
                </c:pt>
                <c:pt idx="17">
                  <c:v>0.97340121693778714</c:v>
                </c:pt>
                <c:pt idx="18">
                  <c:v>0.93138056467408725</c:v>
                </c:pt>
                <c:pt idx="19">
                  <c:v>0.88326606233044391</c:v>
                </c:pt>
                <c:pt idx="20">
                  <c:v>1.0171298423670909</c:v>
                </c:pt>
                <c:pt idx="21">
                  <c:v>0.97012338491165995</c:v>
                </c:pt>
                <c:pt idx="22">
                  <c:v>0.94064367334102106</c:v>
                </c:pt>
                <c:pt idx="23">
                  <c:v>1.0578011715765345</c:v>
                </c:pt>
                <c:pt idx="24">
                  <c:v>0.88386836144334935</c:v>
                </c:pt>
                <c:pt idx="25">
                  <c:v>0.96833266861185152</c:v>
                </c:pt>
              </c:numCache>
            </c:numRef>
          </c:val>
          <c:extLst>
            <c:ext xmlns:c16="http://schemas.microsoft.com/office/drawing/2014/chart" uri="{C3380CC4-5D6E-409C-BE32-E72D297353CC}">
              <c16:uniqueId val="{00000001-73D2-4312-82CF-9374C0A4B98A}"/>
            </c:ext>
          </c:extLst>
        </c:ser>
        <c:dLbls>
          <c:showLegendKey val="0"/>
          <c:showVal val="0"/>
          <c:showCatName val="0"/>
          <c:showSerName val="0"/>
          <c:showPercent val="0"/>
          <c:showBubbleSize val="0"/>
        </c:dLbls>
        <c:gapWidth val="219"/>
        <c:overlap val="-27"/>
        <c:axId val="337980416"/>
        <c:axId val="337981592"/>
      </c:barChart>
      <c:catAx>
        <c:axId val="3379804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337981592"/>
        <c:crosses val="autoZero"/>
        <c:auto val="1"/>
        <c:lblAlgn val="ctr"/>
        <c:lblOffset val="100"/>
        <c:noMultiLvlLbl val="0"/>
      </c:catAx>
      <c:valAx>
        <c:axId val="337981592"/>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337980416"/>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4">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Feuil7!$G$1</c:f>
              <c:strCache>
                <c:ptCount val="1"/>
                <c:pt idx="0">
                  <c:v>2025</c:v>
                </c:pt>
              </c:strCache>
            </c:strRef>
          </c:tx>
          <c:spPr>
            <a:solidFill>
              <a:schemeClr val="accent1"/>
            </a:solidFill>
            <a:ln>
              <a:noFill/>
            </a:ln>
            <a:effectLst/>
          </c:spPr>
          <c:invertIfNegative val="0"/>
          <c:cat>
            <c:strRef>
              <c:f>Feuil7!$F$2:$F$27</c:f>
              <c:strCache>
                <c:ptCount val="26"/>
                <c:pt idx="0">
                  <c:v> Buta</c:v>
                </c:pt>
                <c:pt idx="1">
                  <c:v> Mbandaka</c:v>
                </c:pt>
                <c:pt idx="2">
                  <c:v> Likasi</c:v>
                </c:pt>
                <c:pt idx="3">
                  <c:v> Lubumbashi</c:v>
                </c:pt>
                <c:pt idx="4">
                  <c:v> Kabondodianda</c:v>
                </c:pt>
                <c:pt idx="5">
                  <c:v> Kamina</c:v>
                </c:pt>
                <c:pt idx="6">
                  <c:v> Isiro</c:v>
                </c:pt>
                <c:pt idx="7">
                  <c:v> Watsa</c:v>
                </c:pt>
                <c:pt idx="8">
                  <c:v> Aru</c:v>
                </c:pt>
                <c:pt idx="9">
                  <c:v> Bunia</c:v>
                </c:pt>
                <c:pt idx="10">
                  <c:v> Boma</c:v>
                </c:pt>
                <c:pt idx="11">
                  <c:v> Matadi</c:v>
                </c:pt>
                <c:pt idx="12">
                  <c:v> Mbanzangungu</c:v>
                </c:pt>
                <c:pt idx="13">
                  <c:v> Mbujimayi</c:v>
                </c:pt>
                <c:pt idx="14">
                  <c:v> Kahemba</c:v>
                </c:pt>
                <c:pt idx="15">
                  <c:v> Kenge</c:v>
                </c:pt>
                <c:pt idx="16">
                  <c:v> bandundu</c:v>
                </c:pt>
                <c:pt idx="17">
                  <c:v> Kikwit</c:v>
                </c:pt>
                <c:pt idx="18">
                  <c:v> Kin Centre</c:v>
                </c:pt>
                <c:pt idx="19">
                  <c:v> Kin Est</c:v>
                </c:pt>
                <c:pt idx="20">
                  <c:v> Kin Ouest</c:v>
                </c:pt>
                <c:pt idx="21">
                  <c:v> Kananga</c:v>
                </c:pt>
                <c:pt idx="22">
                  <c:v> Lwiza</c:v>
                </c:pt>
                <c:pt idx="23">
                  <c:v> Mweka</c:v>
                </c:pt>
                <c:pt idx="24">
                  <c:v> Tshikapa</c:v>
                </c:pt>
                <c:pt idx="25">
                  <c:v> kisenge</c:v>
                </c:pt>
              </c:strCache>
            </c:strRef>
          </c:cat>
          <c:val>
            <c:numRef>
              <c:f>Feuil7!$G$2:$G$27</c:f>
              <c:numCache>
                <c:formatCode>0.0%</c:formatCode>
                <c:ptCount val="26"/>
                <c:pt idx="0">
                  <c:v>0.70605933162951684</c:v>
                </c:pt>
                <c:pt idx="1">
                  <c:v>0.35775635862928989</c:v>
                </c:pt>
                <c:pt idx="2">
                  <c:v>0.75120012388375579</c:v>
                </c:pt>
                <c:pt idx="3">
                  <c:v>0.54474612901460862</c:v>
                </c:pt>
                <c:pt idx="4">
                  <c:v>0.87464946952361156</c:v>
                </c:pt>
                <c:pt idx="5">
                  <c:v>0.8339843244781292</c:v>
                </c:pt>
                <c:pt idx="6">
                  <c:v>0.58648974221167915</c:v>
                </c:pt>
                <c:pt idx="7">
                  <c:v>0.64297571472486925</c:v>
                </c:pt>
                <c:pt idx="8">
                  <c:v>0.62066614214529237</c:v>
                </c:pt>
                <c:pt idx="9">
                  <c:v>0.67902982922687527</c:v>
                </c:pt>
                <c:pt idx="10">
                  <c:v>0.61402450715518297</c:v>
                </c:pt>
                <c:pt idx="11">
                  <c:v>0.58410640438135697</c:v>
                </c:pt>
                <c:pt idx="12">
                  <c:v>0.48327205619375974</c:v>
                </c:pt>
                <c:pt idx="13">
                  <c:v>0.85476679665115241</c:v>
                </c:pt>
                <c:pt idx="14">
                  <c:v>0.66548784338490674</c:v>
                </c:pt>
                <c:pt idx="15">
                  <c:v>0.79707793747924671</c:v>
                </c:pt>
                <c:pt idx="16">
                  <c:v>1.031390622608459</c:v>
                </c:pt>
                <c:pt idx="17">
                  <c:v>0.87764913591145211</c:v>
                </c:pt>
                <c:pt idx="18">
                  <c:v>0.43886919496979893</c:v>
                </c:pt>
                <c:pt idx="19">
                  <c:v>0.52117976126659271</c:v>
                </c:pt>
                <c:pt idx="20">
                  <c:v>0.47385905366220471</c:v>
                </c:pt>
                <c:pt idx="21">
                  <c:v>0.7080858803526946</c:v>
                </c:pt>
                <c:pt idx="22">
                  <c:v>0.81467161825303946</c:v>
                </c:pt>
                <c:pt idx="23">
                  <c:v>0.59294083007201503</c:v>
                </c:pt>
                <c:pt idx="24">
                  <c:v>0.64349282395173413</c:v>
                </c:pt>
                <c:pt idx="25">
                  <c:v>1.0116270290675726</c:v>
                </c:pt>
              </c:numCache>
            </c:numRef>
          </c:val>
          <c:extLst>
            <c:ext xmlns:c16="http://schemas.microsoft.com/office/drawing/2014/chart" uri="{C3380CC4-5D6E-409C-BE32-E72D297353CC}">
              <c16:uniqueId val="{00000000-B0EC-4EA5-B621-174D6FA96444}"/>
            </c:ext>
          </c:extLst>
        </c:ser>
        <c:ser>
          <c:idx val="1"/>
          <c:order val="1"/>
          <c:tx>
            <c:strRef>
              <c:f>Feuil7!$H$1</c:f>
              <c:strCache>
                <c:ptCount val="1"/>
                <c:pt idx="0">
                  <c:v>2024</c:v>
                </c:pt>
              </c:strCache>
            </c:strRef>
          </c:tx>
          <c:spPr>
            <a:solidFill>
              <a:schemeClr val="accent2"/>
            </a:solidFill>
            <a:ln>
              <a:noFill/>
            </a:ln>
            <a:effectLst/>
          </c:spPr>
          <c:invertIfNegative val="0"/>
          <c:cat>
            <c:strRef>
              <c:f>Feuil7!$F$2:$F$27</c:f>
              <c:strCache>
                <c:ptCount val="26"/>
                <c:pt idx="0">
                  <c:v> Buta</c:v>
                </c:pt>
                <c:pt idx="1">
                  <c:v> Mbandaka</c:v>
                </c:pt>
                <c:pt idx="2">
                  <c:v> Likasi</c:v>
                </c:pt>
                <c:pt idx="3">
                  <c:v> Lubumbashi</c:v>
                </c:pt>
                <c:pt idx="4">
                  <c:v> Kabondodianda</c:v>
                </c:pt>
                <c:pt idx="5">
                  <c:v> Kamina</c:v>
                </c:pt>
                <c:pt idx="6">
                  <c:v> Isiro</c:v>
                </c:pt>
                <c:pt idx="7">
                  <c:v> Watsa</c:v>
                </c:pt>
                <c:pt idx="8">
                  <c:v> Aru</c:v>
                </c:pt>
                <c:pt idx="9">
                  <c:v> Bunia</c:v>
                </c:pt>
                <c:pt idx="10">
                  <c:v> Boma</c:v>
                </c:pt>
                <c:pt idx="11">
                  <c:v> Matadi</c:v>
                </c:pt>
                <c:pt idx="12">
                  <c:v> Mbanzangungu</c:v>
                </c:pt>
                <c:pt idx="13">
                  <c:v> Mbujimayi</c:v>
                </c:pt>
                <c:pt idx="14">
                  <c:v> Kahemba</c:v>
                </c:pt>
                <c:pt idx="15">
                  <c:v> Kenge</c:v>
                </c:pt>
                <c:pt idx="16">
                  <c:v> bandundu</c:v>
                </c:pt>
                <c:pt idx="17">
                  <c:v> Kikwit</c:v>
                </c:pt>
                <c:pt idx="18">
                  <c:v> Kin Centre</c:v>
                </c:pt>
                <c:pt idx="19">
                  <c:v> Kin Est</c:v>
                </c:pt>
                <c:pt idx="20">
                  <c:v> Kin Ouest</c:v>
                </c:pt>
                <c:pt idx="21">
                  <c:v> Kananga</c:v>
                </c:pt>
                <c:pt idx="22">
                  <c:v> Lwiza</c:v>
                </c:pt>
                <c:pt idx="23">
                  <c:v> Mweka</c:v>
                </c:pt>
                <c:pt idx="24">
                  <c:v> Tshikapa</c:v>
                </c:pt>
                <c:pt idx="25">
                  <c:v> kisenge</c:v>
                </c:pt>
              </c:strCache>
            </c:strRef>
          </c:cat>
          <c:val>
            <c:numRef>
              <c:f>Feuil7!$H$2:$H$27</c:f>
              <c:numCache>
                <c:formatCode>0.0%</c:formatCode>
                <c:ptCount val="26"/>
                <c:pt idx="0">
                  <c:v>0.60804697404417152</c:v>
                </c:pt>
                <c:pt idx="1">
                  <c:v>0.49212029750997083</c:v>
                </c:pt>
                <c:pt idx="2">
                  <c:v>0.78430427031157146</c:v>
                </c:pt>
                <c:pt idx="3">
                  <c:v>0.66851974724242191</c:v>
                </c:pt>
                <c:pt idx="4">
                  <c:v>0.78430427031157146</c:v>
                </c:pt>
                <c:pt idx="5">
                  <c:v>0.80984571985950393</c:v>
                </c:pt>
                <c:pt idx="6">
                  <c:v>0.531718387434021</c:v>
                </c:pt>
                <c:pt idx="7">
                  <c:v>0.5048279328906855</c:v>
                </c:pt>
                <c:pt idx="8">
                  <c:v>0.72297231116971172</c:v>
                </c:pt>
                <c:pt idx="9">
                  <c:v>0.5697021355938976</c:v>
                </c:pt>
                <c:pt idx="10">
                  <c:v>0.48171094134592601</c:v>
                </c:pt>
                <c:pt idx="11">
                  <c:v>0.78430427031157146</c:v>
                </c:pt>
                <c:pt idx="12">
                  <c:v>0.31487167467479193</c:v>
                </c:pt>
                <c:pt idx="13">
                  <c:v>0.70244000152619335</c:v>
                </c:pt>
                <c:pt idx="14">
                  <c:v>0.72869698270231931</c:v>
                </c:pt>
                <c:pt idx="15">
                  <c:v>0.80669688877848866</c:v>
                </c:pt>
                <c:pt idx="16">
                  <c:v>0.85589380399718207</c:v>
                </c:pt>
                <c:pt idx="17">
                  <c:v>0.81114048003406003</c:v>
                </c:pt>
                <c:pt idx="18">
                  <c:v>0.45475304892613644</c:v>
                </c:pt>
                <c:pt idx="19">
                  <c:v>0.42829352213326272</c:v>
                </c:pt>
                <c:pt idx="20">
                  <c:v>0.43175034463468726</c:v>
                </c:pt>
                <c:pt idx="21">
                  <c:v>0.59473766710706044</c:v>
                </c:pt>
                <c:pt idx="22">
                  <c:v>0.66508019708564836</c:v>
                </c:pt>
                <c:pt idx="23">
                  <c:v>0.78430427031157146</c:v>
                </c:pt>
                <c:pt idx="24">
                  <c:v>0.633319386533162</c:v>
                </c:pt>
                <c:pt idx="25">
                  <c:v>0.71636264405214212</c:v>
                </c:pt>
              </c:numCache>
            </c:numRef>
          </c:val>
          <c:extLst>
            <c:ext xmlns:c16="http://schemas.microsoft.com/office/drawing/2014/chart" uri="{C3380CC4-5D6E-409C-BE32-E72D297353CC}">
              <c16:uniqueId val="{00000001-B0EC-4EA5-B621-174D6FA96444}"/>
            </c:ext>
          </c:extLst>
        </c:ser>
        <c:dLbls>
          <c:showLegendKey val="0"/>
          <c:showVal val="0"/>
          <c:showCatName val="0"/>
          <c:showSerName val="0"/>
          <c:showPercent val="0"/>
          <c:showBubbleSize val="0"/>
        </c:dLbls>
        <c:gapWidth val="219"/>
        <c:overlap val="-27"/>
        <c:axId val="395269936"/>
        <c:axId val="395272288"/>
      </c:barChart>
      <c:catAx>
        <c:axId val="3952699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395272288"/>
        <c:crosses val="autoZero"/>
        <c:auto val="1"/>
        <c:lblAlgn val="ctr"/>
        <c:lblOffset val="100"/>
        <c:noMultiLvlLbl val="0"/>
      </c:catAx>
      <c:valAx>
        <c:axId val="395272288"/>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395269936"/>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4">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Feuil7!$J$31</c:f>
              <c:strCache>
                <c:ptCount val="1"/>
                <c:pt idx="0">
                  <c:v>2025</c:v>
                </c:pt>
              </c:strCache>
            </c:strRef>
          </c:tx>
          <c:spPr>
            <a:solidFill>
              <a:schemeClr val="accent1"/>
            </a:solidFill>
            <a:ln>
              <a:noFill/>
            </a:ln>
            <a:effectLst/>
          </c:spPr>
          <c:invertIfNegative val="0"/>
          <c:cat>
            <c:strRef>
              <c:f>Feuil7!$I$32:$I$56</c:f>
              <c:strCache>
                <c:ptCount val="25"/>
                <c:pt idx="0">
                  <c:v> Kolwezi</c:v>
                </c:pt>
                <c:pt idx="1">
                  <c:v> Kabinda</c:v>
                </c:pt>
                <c:pt idx="2">
                  <c:v> Mweneditu</c:v>
                </c:pt>
                <c:pt idx="3">
                  <c:v> Inongo</c:v>
                </c:pt>
                <c:pt idx="4">
                  <c:v> Nioki</c:v>
                </c:pt>
                <c:pt idx="5">
                  <c:v> Bumba</c:v>
                </c:pt>
                <c:pt idx="6">
                  <c:v> Lisala</c:v>
                </c:pt>
                <c:pt idx="7">
                  <c:v> Kasongo</c:v>
                </c:pt>
                <c:pt idx="8">
                  <c:v> Kindu</c:v>
                </c:pt>
                <c:pt idx="9">
                  <c:v> Kindu</c:v>
                </c:pt>
                <c:pt idx="10">
                  <c:v> Butembo</c:v>
                </c:pt>
                <c:pt idx="11">
                  <c:v> Goma</c:v>
                </c:pt>
                <c:pt idx="12">
                  <c:v> Gbadolite</c:v>
                </c:pt>
                <c:pt idx="13">
                  <c:v>Bukavu</c:v>
                </c:pt>
                <c:pt idx="14">
                  <c:v>Uvira</c:v>
                </c:pt>
                <c:pt idx="15">
                  <c:v> Lodja</c:v>
                </c:pt>
                <c:pt idx="16">
                  <c:v>  Lusambo</c:v>
                </c:pt>
                <c:pt idx="17">
                  <c:v>  Tshumbe</c:v>
                </c:pt>
                <c:pt idx="18">
                  <c:v>  Gemena</c:v>
                </c:pt>
                <c:pt idx="19">
                  <c:v>  Kabalo</c:v>
                </c:pt>
                <c:pt idx="20">
                  <c:v>  Kalemie</c:v>
                </c:pt>
                <c:pt idx="21">
                  <c:v>  Kisangani</c:v>
                </c:pt>
                <c:pt idx="22">
                  <c:v>  Isangi</c:v>
                </c:pt>
                <c:pt idx="23">
                  <c:v> Boende</c:v>
                </c:pt>
                <c:pt idx="24">
                  <c:v> Bokungu</c:v>
                </c:pt>
              </c:strCache>
            </c:strRef>
          </c:cat>
          <c:val>
            <c:numRef>
              <c:f>Feuil7!$J$32:$J$56</c:f>
              <c:numCache>
                <c:formatCode>0.0%</c:formatCode>
                <c:ptCount val="25"/>
                <c:pt idx="0">
                  <c:v>0.66220725547221793</c:v>
                </c:pt>
                <c:pt idx="1">
                  <c:v>0.82609751350750216</c:v>
                </c:pt>
                <c:pt idx="2">
                  <c:v>0.71540413750672915</c:v>
                </c:pt>
                <c:pt idx="3">
                  <c:v>0.91002808225382736</c:v>
                </c:pt>
                <c:pt idx="4">
                  <c:v>0.70222960808752255</c:v>
                </c:pt>
                <c:pt idx="5">
                  <c:v>0.84939805164419124</c:v>
                </c:pt>
                <c:pt idx="6">
                  <c:v>0.80157358726423766</c:v>
                </c:pt>
                <c:pt idx="7">
                  <c:v>0.97315117315117305</c:v>
                </c:pt>
                <c:pt idx="8">
                  <c:v>0.87512246945641259</c:v>
                </c:pt>
                <c:pt idx="9">
                  <c:v>1.0549853119059962</c:v>
                </c:pt>
                <c:pt idx="10">
                  <c:v>0.43100328812838423</c:v>
                </c:pt>
                <c:pt idx="11">
                  <c:v>0.59302582866776188</c:v>
                </c:pt>
                <c:pt idx="12">
                  <c:v>0.70772504788252821</c:v>
                </c:pt>
                <c:pt idx="13">
                  <c:v>0.58638683035425931</c:v>
                </c:pt>
                <c:pt idx="14">
                  <c:v>0.63607639392148785</c:v>
                </c:pt>
                <c:pt idx="15">
                  <c:v>0.68890690388028308</c:v>
                </c:pt>
                <c:pt idx="16">
                  <c:v>0.87039106145251399</c:v>
                </c:pt>
                <c:pt idx="17">
                  <c:v>0.81814818844521831</c:v>
                </c:pt>
                <c:pt idx="18">
                  <c:v>0.7707259798489775</c:v>
                </c:pt>
                <c:pt idx="19">
                  <c:v>0.87500864706664894</c:v>
                </c:pt>
                <c:pt idx="20">
                  <c:v>0.66644810287571543</c:v>
                </c:pt>
                <c:pt idx="21">
                  <c:v>0.90181343901276667</c:v>
                </c:pt>
                <c:pt idx="22">
                  <c:v>0.66607781654374421</c:v>
                </c:pt>
                <c:pt idx="23">
                  <c:v>0.85556358783295339</c:v>
                </c:pt>
                <c:pt idx="24">
                  <c:v>0.76033406699430162</c:v>
                </c:pt>
              </c:numCache>
            </c:numRef>
          </c:val>
          <c:extLst>
            <c:ext xmlns:c16="http://schemas.microsoft.com/office/drawing/2014/chart" uri="{C3380CC4-5D6E-409C-BE32-E72D297353CC}">
              <c16:uniqueId val="{00000000-2071-4EFC-99FD-356FB4CA8563}"/>
            </c:ext>
          </c:extLst>
        </c:ser>
        <c:ser>
          <c:idx val="1"/>
          <c:order val="1"/>
          <c:tx>
            <c:strRef>
              <c:f>Feuil7!$K$31</c:f>
              <c:strCache>
                <c:ptCount val="1"/>
                <c:pt idx="0">
                  <c:v>2024</c:v>
                </c:pt>
              </c:strCache>
            </c:strRef>
          </c:tx>
          <c:spPr>
            <a:solidFill>
              <a:schemeClr val="accent2"/>
            </a:solidFill>
            <a:ln>
              <a:noFill/>
            </a:ln>
            <a:effectLst/>
          </c:spPr>
          <c:invertIfNegative val="0"/>
          <c:cat>
            <c:strRef>
              <c:f>Feuil7!$I$32:$I$56</c:f>
              <c:strCache>
                <c:ptCount val="25"/>
                <c:pt idx="0">
                  <c:v> Kolwezi</c:v>
                </c:pt>
                <c:pt idx="1">
                  <c:v> Kabinda</c:v>
                </c:pt>
                <c:pt idx="2">
                  <c:v> Mweneditu</c:v>
                </c:pt>
                <c:pt idx="3">
                  <c:v> Inongo</c:v>
                </c:pt>
                <c:pt idx="4">
                  <c:v> Nioki</c:v>
                </c:pt>
                <c:pt idx="5">
                  <c:v> Bumba</c:v>
                </c:pt>
                <c:pt idx="6">
                  <c:v> Lisala</c:v>
                </c:pt>
                <c:pt idx="7">
                  <c:v> Kasongo</c:v>
                </c:pt>
                <c:pt idx="8">
                  <c:v> Kindu</c:v>
                </c:pt>
                <c:pt idx="9">
                  <c:v> Kindu</c:v>
                </c:pt>
                <c:pt idx="10">
                  <c:v> Butembo</c:v>
                </c:pt>
                <c:pt idx="11">
                  <c:v> Goma</c:v>
                </c:pt>
                <c:pt idx="12">
                  <c:v> Gbadolite</c:v>
                </c:pt>
                <c:pt idx="13">
                  <c:v>Bukavu</c:v>
                </c:pt>
                <c:pt idx="14">
                  <c:v>Uvira</c:v>
                </c:pt>
                <c:pt idx="15">
                  <c:v> Lodja</c:v>
                </c:pt>
                <c:pt idx="16">
                  <c:v>  Lusambo</c:v>
                </c:pt>
                <c:pt idx="17">
                  <c:v>  Tshumbe</c:v>
                </c:pt>
                <c:pt idx="18">
                  <c:v>  Gemena</c:v>
                </c:pt>
                <c:pt idx="19">
                  <c:v>  Kabalo</c:v>
                </c:pt>
                <c:pt idx="20">
                  <c:v>  Kalemie</c:v>
                </c:pt>
                <c:pt idx="21">
                  <c:v>  Kisangani</c:v>
                </c:pt>
                <c:pt idx="22">
                  <c:v>  Isangi</c:v>
                </c:pt>
                <c:pt idx="23">
                  <c:v> Boende</c:v>
                </c:pt>
                <c:pt idx="24">
                  <c:v> Bokungu</c:v>
                </c:pt>
              </c:strCache>
            </c:strRef>
          </c:cat>
          <c:val>
            <c:numRef>
              <c:f>Feuil7!$K$32:$K$56</c:f>
              <c:numCache>
                <c:formatCode>0.0%</c:formatCode>
                <c:ptCount val="25"/>
                <c:pt idx="0">
                  <c:v>0.78430427031157146</c:v>
                </c:pt>
                <c:pt idx="1">
                  <c:v>0.86736982770963578</c:v>
                </c:pt>
                <c:pt idx="2">
                  <c:v>0.66219483214777963</c:v>
                </c:pt>
                <c:pt idx="3">
                  <c:v>0.78430427031157146</c:v>
                </c:pt>
                <c:pt idx="4">
                  <c:v>0.6144593730006398</c:v>
                </c:pt>
                <c:pt idx="5">
                  <c:v>0.72952202436738522</c:v>
                </c:pt>
                <c:pt idx="6">
                  <c:v>0.93272342227869554</c:v>
                </c:pt>
                <c:pt idx="7">
                  <c:v>0.97373348017621131</c:v>
                </c:pt>
                <c:pt idx="8">
                  <c:v>0.94625029854310949</c:v>
                </c:pt>
                <c:pt idx="9">
                  <c:v>0.94548850239290305</c:v>
                </c:pt>
                <c:pt idx="10">
                  <c:v>0.34012465868636022</c:v>
                </c:pt>
                <c:pt idx="11">
                  <c:v>0.68138470303935239</c:v>
                </c:pt>
                <c:pt idx="12">
                  <c:v>0.54576553659927196</c:v>
                </c:pt>
                <c:pt idx="13">
                  <c:v>0.59085419382298954</c:v>
                </c:pt>
                <c:pt idx="14">
                  <c:v>0.79384488183551127</c:v>
                </c:pt>
                <c:pt idx="15">
                  <c:v>0.21095865679725578</c:v>
                </c:pt>
                <c:pt idx="16">
                  <c:v>0.35067817509247839</c:v>
                </c:pt>
                <c:pt idx="17">
                  <c:v>0.14377510040160643</c:v>
                </c:pt>
                <c:pt idx="18">
                  <c:v>0.6578128982921233</c:v>
                </c:pt>
                <c:pt idx="19">
                  <c:v>0.95547527247335995</c:v>
                </c:pt>
                <c:pt idx="20">
                  <c:v>0.80042495653853596</c:v>
                </c:pt>
                <c:pt idx="21">
                  <c:v>0.7634155091999385</c:v>
                </c:pt>
                <c:pt idx="22">
                  <c:v>0.80572563296375976</c:v>
                </c:pt>
                <c:pt idx="23">
                  <c:v>0.78430427031157146</c:v>
                </c:pt>
                <c:pt idx="24">
                  <c:v>0.7666098161834376</c:v>
                </c:pt>
              </c:numCache>
            </c:numRef>
          </c:val>
          <c:extLst>
            <c:ext xmlns:c16="http://schemas.microsoft.com/office/drawing/2014/chart" uri="{C3380CC4-5D6E-409C-BE32-E72D297353CC}">
              <c16:uniqueId val="{00000001-2071-4EFC-99FD-356FB4CA8563}"/>
            </c:ext>
          </c:extLst>
        </c:ser>
        <c:dLbls>
          <c:showLegendKey val="0"/>
          <c:showVal val="0"/>
          <c:showCatName val="0"/>
          <c:showSerName val="0"/>
          <c:showPercent val="0"/>
          <c:showBubbleSize val="0"/>
        </c:dLbls>
        <c:gapWidth val="219"/>
        <c:overlap val="-27"/>
        <c:axId val="400739896"/>
        <c:axId val="400748912"/>
      </c:barChart>
      <c:catAx>
        <c:axId val="4007398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400748912"/>
        <c:crosses val="autoZero"/>
        <c:auto val="1"/>
        <c:lblAlgn val="ctr"/>
        <c:lblOffset val="100"/>
        <c:noMultiLvlLbl val="0"/>
      </c:catAx>
      <c:valAx>
        <c:axId val="400748912"/>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400739896"/>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4">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Feuil9!$G$2</c:f>
              <c:strCache>
                <c:ptCount val="1"/>
                <c:pt idx="0">
                  <c:v>2025</c:v>
                </c:pt>
              </c:strCache>
            </c:strRef>
          </c:tx>
          <c:spPr>
            <a:solidFill>
              <a:schemeClr val="accent1"/>
            </a:solidFill>
            <a:ln>
              <a:noFill/>
            </a:ln>
            <a:effectLst/>
          </c:spPr>
          <c:invertIfNegative val="0"/>
          <c:cat>
            <c:strRef>
              <c:f>Feuil9!$F$3:$F$28</c:f>
              <c:strCache>
                <c:ptCount val="26"/>
                <c:pt idx="0">
                  <c:v> Buta</c:v>
                </c:pt>
                <c:pt idx="1">
                  <c:v> Mbandaka</c:v>
                </c:pt>
                <c:pt idx="2">
                  <c:v> Likasi</c:v>
                </c:pt>
                <c:pt idx="3">
                  <c:v> Lubumbashi</c:v>
                </c:pt>
                <c:pt idx="4">
                  <c:v> Kabondodianda</c:v>
                </c:pt>
                <c:pt idx="5">
                  <c:v> Kamina</c:v>
                </c:pt>
                <c:pt idx="6">
                  <c:v> Isiro</c:v>
                </c:pt>
                <c:pt idx="7">
                  <c:v> Watsa</c:v>
                </c:pt>
                <c:pt idx="8">
                  <c:v> Aru</c:v>
                </c:pt>
                <c:pt idx="9">
                  <c:v> Bunia</c:v>
                </c:pt>
                <c:pt idx="10">
                  <c:v> Boma</c:v>
                </c:pt>
                <c:pt idx="11">
                  <c:v> Matadi</c:v>
                </c:pt>
                <c:pt idx="12">
                  <c:v> Mbanzangungu</c:v>
                </c:pt>
                <c:pt idx="13">
                  <c:v> Mbujimayi</c:v>
                </c:pt>
                <c:pt idx="14">
                  <c:v> Kahemba</c:v>
                </c:pt>
                <c:pt idx="15">
                  <c:v> Kenge</c:v>
                </c:pt>
                <c:pt idx="16">
                  <c:v> bandundu</c:v>
                </c:pt>
                <c:pt idx="17">
                  <c:v> Kikwit</c:v>
                </c:pt>
                <c:pt idx="18">
                  <c:v> Kin Centre</c:v>
                </c:pt>
                <c:pt idx="19">
                  <c:v> Kin Est</c:v>
                </c:pt>
                <c:pt idx="20">
                  <c:v> Kin Ouest</c:v>
                </c:pt>
                <c:pt idx="21">
                  <c:v> Kananga</c:v>
                </c:pt>
                <c:pt idx="22">
                  <c:v> Lwiza</c:v>
                </c:pt>
                <c:pt idx="23">
                  <c:v> Mweka</c:v>
                </c:pt>
                <c:pt idx="24">
                  <c:v> Tshikapa</c:v>
                </c:pt>
                <c:pt idx="25">
                  <c:v> kisenge</c:v>
                </c:pt>
              </c:strCache>
            </c:strRef>
          </c:cat>
          <c:val>
            <c:numRef>
              <c:f>Feuil9!$G$3:$G$28</c:f>
              <c:numCache>
                <c:formatCode>0.0%</c:formatCode>
                <c:ptCount val="26"/>
                <c:pt idx="0">
                  <c:v>0.90276600562906395</c:v>
                </c:pt>
                <c:pt idx="1">
                  <c:v>0.47368995349562226</c:v>
                </c:pt>
                <c:pt idx="2">
                  <c:v>1.0485675940742269</c:v>
                </c:pt>
                <c:pt idx="3">
                  <c:v>0.78030448104174654</c:v>
                </c:pt>
                <c:pt idx="4">
                  <c:v>0.98209278136051603</c:v>
                </c:pt>
                <c:pt idx="5">
                  <c:v>0.96634160221423204</c:v>
                </c:pt>
                <c:pt idx="6">
                  <c:v>0.95194499527418963</c:v>
                </c:pt>
                <c:pt idx="7">
                  <c:v>0.88017214878573613</c:v>
                </c:pt>
                <c:pt idx="8">
                  <c:v>0.75626540781536833</c:v>
                </c:pt>
                <c:pt idx="9">
                  <c:v>0.93886898849764522</c:v>
                </c:pt>
                <c:pt idx="10">
                  <c:v>0.94191141866099604</c:v>
                </c:pt>
                <c:pt idx="11">
                  <c:v>0.9744584777020231</c:v>
                </c:pt>
                <c:pt idx="12">
                  <c:v>0.96796898470694259</c:v>
                </c:pt>
                <c:pt idx="13">
                  <c:v>0.95949795239492919</c:v>
                </c:pt>
                <c:pt idx="14">
                  <c:v>0.78658667508683278</c:v>
                </c:pt>
                <c:pt idx="15">
                  <c:v>0.90193064845121196</c:v>
                </c:pt>
                <c:pt idx="16">
                  <c:v>1.0126766551589259</c:v>
                </c:pt>
                <c:pt idx="17">
                  <c:v>0.88856822734526197</c:v>
                </c:pt>
                <c:pt idx="18">
                  <c:v>0.82466580849589055</c:v>
                </c:pt>
                <c:pt idx="19">
                  <c:v>0.86147836378980003</c:v>
                </c:pt>
                <c:pt idx="20">
                  <c:v>0.89873763255888217</c:v>
                </c:pt>
                <c:pt idx="21">
                  <c:v>0.90185441461389415</c:v>
                </c:pt>
                <c:pt idx="22">
                  <c:v>0.92130030014753006</c:v>
                </c:pt>
                <c:pt idx="23">
                  <c:v>0.88932291347180159</c:v>
                </c:pt>
                <c:pt idx="24">
                  <c:v>0.85106079221376463</c:v>
                </c:pt>
                <c:pt idx="25">
                  <c:v>1.1860827985403297</c:v>
                </c:pt>
              </c:numCache>
            </c:numRef>
          </c:val>
          <c:extLst>
            <c:ext xmlns:c16="http://schemas.microsoft.com/office/drawing/2014/chart" uri="{C3380CC4-5D6E-409C-BE32-E72D297353CC}">
              <c16:uniqueId val="{00000000-2DA8-456A-AEFA-CED11EDA131F}"/>
            </c:ext>
          </c:extLst>
        </c:ser>
        <c:ser>
          <c:idx val="1"/>
          <c:order val="1"/>
          <c:tx>
            <c:strRef>
              <c:f>Feuil9!$H$2</c:f>
              <c:strCache>
                <c:ptCount val="1"/>
                <c:pt idx="0">
                  <c:v>2024</c:v>
                </c:pt>
              </c:strCache>
            </c:strRef>
          </c:tx>
          <c:spPr>
            <a:solidFill>
              <a:schemeClr val="accent2"/>
            </a:solidFill>
            <a:ln>
              <a:noFill/>
            </a:ln>
            <a:effectLst/>
          </c:spPr>
          <c:invertIfNegative val="0"/>
          <c:cat>
            <c:strRef>
              <c:f>Feuil9!$F$3:$F$28</c:f>
              <c:strCache>
                <c:ptCount val="26"/>
                <c:pt idx="0">
                  <c:v> Buta</c:v>
                </c:pt>
                <c:pt idx="1">
                  <c:v> Mbandaka</c:v>
                </c:pt>
                <c:pt idx="2">
                  <c:v> Likasi</c:v>
                </c:pt>
                <c:pt idx="3">
                  <c:v> Lubumbashi</c:v>
                </c:pt>
                <c:pt idx="4">
                  <c:v> Kabondodianda</c:v>
                </c:pt>
                <c:pt idx="5">
                  <c:v> Kamina</c:v>
                </c:pt>
                <c:pt idx="6">
                  <c:v> Isiro</c:v>
                </c:pt>
                <c:pt idx="7">
                  <c:v> Watsa</c:v>
                </c:pt>
                <c:pt idx="8">
                  <c:v> Aru</c:v>
                </c:pt>
                <c:pt idx="9">
                  <c:v> Bunia</c:v>
                </c:pt>
                <c:pt idx="10">
                  <c:v> Boma</c:v>
                </c:pt>
                <c:pt idx="11">
                  <c:v> Matadi</c:v>
                </c:pt>
                <c:pt idx="12">
                  <c:v> Mbanzangungu</c:v>
                </c:pt>
                <c:pt idx="13">
                  <c:v> Mbujimayi</c:v>
                </c:pt>
                <c:pt idx="14">
                  <c:v> Kahemba</c:v>
                </c:pt>
                <c:pt idx="15">
                  <c:v> Kenge</c:v>
                </c:pt>
                <c:pt idx="16">
                  <c:v> bandundu</c:v>
                </c:pt>
                <c:pt idx="17">
                  <c:v> Kikwit</c:v>
                </c:pt>
                <c:pt idx="18">
                  <c:v> Kin Centre</c:v>
                </c:pt>
                <c:pt idx="19">
                  <c:v> Kin Est</c:v>
                </c:pt>
                <c:pt idx="20">
                  <c:v> Kin Ouest</c:v>
                </c:pt>
                <c:pt idx="21">
                  <c:v> Kananga</c:v>
                </c:pt>
                <c:pt idx="22">
                  <c:v> Lwiza</c:v>
                </c:pt>
                <c:pt idx="23">
                  <c:v> Mweka</c:v>
                </c:pt>
                <c:pt idx="24">
                  <c:v> Tshikapa</c:v>
                </c:pt>
                <c:pt idx="25">
                  <c:v> kisenge</c:v>
                </c:pt>
              </c:strCache>
            </c:strRef>
          </c:cat>
          <c:val>
            <c:numRef>
              <c:f>Feuil9!$H$3:$H$28</c:f>
              <c:numCache>
                <c:formatCode>0.0%</c:formatCode>
                <c:ptCount val="26"/>
                <c:pt idx="0">
                  <c:v>0.9357710015346633</c:v>
                </c:pt>
                <c:pt idx="1">
                  <c:v>0.93373935539506292</c:v>
                </c:pt>
                <c:pt idx="2">
                  <c:v>1.1685604836848662</c:v>
                </c:pt>
                <c:pt idx="3">
                  <c:v>1.156181561521711</c:v>
                </c:pt>
                <c:pt idx="4">
                  <c:v>1.0556071011495978</c:v>
                </c:pt>
                <c:pt idx="5">
                  <c:v>1.0501029547378129</c:v>
                </c:pt>
                <c:pt idx="6">
                  <c:v>0.99146798582247497</c:v>
                </c:pt>
                <c:pt idx="7">
                  <c:v>0.97386423140565104</c:v>
                </c:pt>
                <c:pt idx="8">
                  <c:v>0.99426634017705773</c:v>
                </c:pt>
                <c:pt idx="9">
                  <c:v>0.93365208531720933</c:v>
                </c:pt>
                <c:pt idx="10">
                  <c:v>0.97786205261910419</c:v>
                </c:pt>
                <c:pt idx="11">
                  <c:v>1.0007119726235041</c:v>
                </c:pt>
                <c:pt idx="12">
                  <c:v>0.96586780733622402</c:v>
                </c:pt>
                <c:pt idx="13">
                  <c:v>0.87226525239421582</c:v>
                </c:pt>
                <c:pt idx="14">
                  <c:v>0.73021962642981086</c:v>
                </c:pt>
                <c:pt idx="15">
                  <c:v>0.94011799043656485</c:v>
                </c:pt>
                <c:pt idx="16">
                  <c:v>0.98470836886795965</c:v>
                </c:pt>
                <c:pt idx="17">
                  <c:v>1.0059782512284685</c:v>
                </c:pt>
                <c:pt idx="18">
                  <c:v>0.96455670286022366</c:v>
                </c:pt>
                <c:pt idx="19">
                  <c:v>0.92734400846952947</c:v>
                </c:pt>
                <c:pt idx="20">
                  <c:v>0.98529958244261096</c:v>
                </c:pt>
                <c:pt idx="21">
                  <c:v>0.97156548805338472</c:v>
                </c:pt>
                <c:pt idx="22">
                  <c:v>0.94915609602683715</c:v>
                </c:pt>
                <c:pt idx="23">
                  <c:v>0.60613869511694718</c:v>
                </c:pt>
                <c:pt idx="24">
                  <c:v>0.86446018669475244</c:v>
                </c:pt>
                <c:pt idx="25">
                  <c:v>0.9988118978148155</c:v>
                </c:pt>
              </c:numCache>
            </c:numRef>
          </c:val>
          <c:extLst>
            <c:ext xmlns:c16="http://schemas.microsoft.com/office/drawing/2014/chart" uri="{C3380CC4-5D6E-409C-BE32-E72D297353CC}">
              <c16:uniqueId val="{00000001-2DA8-456A-AEFA-CED11EDA131F}"/>
            </c:ext>
          </c:extLst>
        </c:ser>
        <c:dLbls>
          <c:showLegendKey val="0"/>
          <c:showVal val="0"/>
          <c:showCatName val="0"/>
          <c:showSerName val="0"/>
          <c:showPercent val="0"/>
          <c:showBubbleSize val="0"/>
        </c:dLbls>
        <c:gapWidth val="219"/>
        <c:overlap val="-27"/>
        <c:axId val="400721864"/>
        <c:axId val="400719120"/>
      </c:barChart>
      <c:catAx>
        <c:axId val="4007218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400719120"/>
        <c:crosses val="autoZero"/>
        <c:auto val="1"/>
        <c:lblAlgn val="ctr"/>
        <c:lblOffset val="100"/>
        <c:noMultiLvlLbl val="0"/>
      </c:catAx>
      <c:valAx>
        <c:axId val="400719120"/>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400721864"/>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4">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'VPO3'!$G$31</c:f>
              <c:strCache>
                <c:ptCount val="1"/>
                <c:pt idx="0">
                  <c:v>2025</c:v>
                </c:pt>
              </c:strCache>
            </c:strRef>
          </c:tx>
          <c:spPr>
            <a:solidFill>
              <a:schemeClr val="accent1"/>
            </a:solidFill>
            <a:ln>
              <a:noFill/>
            </a:ln>
            <a:effectLst/>
          </c:spPr>
          <c:invertIfNegative val="0"/>
          <c:cat>
            <c:strRef>
              <c:f>'VPO3'!$F$32:$F$56</c:f>
              <c:strCache>
                <c:ptCount val="25"/>
                <c:pt idx="0">
                  <c:v> Kolwezi</c:v>
                </c:pt>
                <c:pt idx="1">
                  <c:v> Kabinda</c:v>
                </c:pt>
                <c:pt idx="2">
                  <c:v> Mweneditu</c:v>
                </c:pt>
                <c:pt idx="3">
                  <c:v> Inongo</c:v>
                </c:pt>
                <c:pt idx="4">
                  <c:v> Nioki</c:v>
                </c:pt>
                <c:pt idx="5">
                  <c:v> Bumba</c:v>
                </c:pt>
                <c:pt idx="6">
                  <c:v> Lisala</c:v>
                </c:pt>
                <c:pt idx="7">
                  <c:v> Kasongo</c:v>
                </c:pt>
                <c:pt idx="8">
                  <c:v> Kindu</c:v>
                </c:pt>
                <c:pt idx="9">
                  <c:v> Kindu</c:v>
                </c:pt>
                <c:pt idx="10">
                  <c:v> Butembo</c:v>
                </c:pt>
                <c:pt idx="11">
                  <c:v> Goma</c:v>
                </c:pt>
                <c:pt idx="12">
                  <c:v> Gbadolite</c:v>
                </c:pt>
                <c:pt idx="13">
                  <c:v>Bukavu</c:v>
                </c:pt>
                <c:pt idx="14">
                  <c:v>Uvira</c:v>
                </c:pt>
                <c:pt idx="15">
                  <c:v> Lodja</c:v>
                </c:pt>
                <c:pt idx="16">
                  <c:v>  Lusambo</c:v>
                </c:pt>
                <c:pt idx="17">
                  <c:v>  Tshumbe</c:v>
                </c:pt>
                <c:pt idx="18">
                  <c:v>  Gemena</c:v>
                </c:pt>
                <c:pt idx="19">
                  <c:v>  Kabalo</c:v>
                </c:pt>
                <c:pt idx="20">
                  <c:v>  Kalemie</c:v>
                </c:pt>
                <c:pt idx="21">
                  <c:v>  Kisangani</c:v>
                </c:pt>
                <c:pt idx="22">
                  <c:v>  Isangi</c:v>
                </c:pt>
                <c:pt idx="23">
                  <c:v> Boende</c:v>
                </c:pt>
                <c:pt idx="24">
                  <c:v> Bokungu</c:v>
                </c:pt>
              </c:strCache>
            </c:strRef>
          </c:cat>
          <c:val>
            <c:numRef>
              <c:f>'VPO3'!$G$32:$G$56</c:f>
              <c:numCache>
                <c:formatCode>0.0%</c:formatCode>
                <c:ptCount val="25"/>
                <c:pt idx="0">
                  <c:v>1.1842032756773304</c:v>
                </c:pt>
                <c:pt idx="1">
                  <c:v>0.89936331705327943</c:v>
                </c:pt>
                <c:pt idx="2">
                  <c:v>0.9697269860801353</c:v>
                </c:pt>
                <c:pt idx="3">
                  <c:v>1.0355829332367064</c:v>
                </c:pt>
                <c:pt idx="4">
                  <c:v>0.90203572912339014</c:v>
                </c:pt>
                <c:pt idx="5">
                  <c:v>1.0469051771812652</c:v>
                </c:pt>
                <c:pt idx="6">
                  <c:v>0.85547262767013488</c:v>
                </c:pt>
                <c:pt idx="7">
                  <c:v>1.0790198990198989</c:v>
                </c:pt>
                <c:pt idx="8">
                  <c:v>1.0246709555568672</c:v>
                </c:pt>
                <c:pt idx="9">
                  <c:v>1.1025401762571281</c:v>
                </c:pt>
                <c:pt idx="10">
                  <c:v>0.92924144023294997</c:v>
                </c:pt>
                <c:pt idx="11">
                  <c:v>0.95866551085014784</c:v>
                </c:pt>
                <c:pt idx="12">
                  <c:v>0.92995105341562034</c:v>
                </c:pt>
                <c:pt idx="13">
                  <c:v>0.91551084911144498</c:v>
                </c:pt>
                <c:pt idx="14">
                  <c:v>0.87006120878998372</c:v>
                </c:pt>
                <c:pt idx="15">
                  <c:v>0.83385552463793522</c:v>
                </c:pt>
                <c:pt idx="16">
                  <c:v>0.95754189944134083</c:v>
                </c:pt>
                <c:pt idx="17">
                  <c:v>0.90479817212490499</c:v>
                </c:pt>
                <c:pt idx="18">
                  <c:v>0.94331442493267104</c:v>
                </c:pt>
                <c:pt idx="19">
                  <c:v>1.0379672741785286</c:v>
                </c:pt>
                <c:pt idx="20">
                  <c:v>0.90446407122164918</c:v>
                </c:pt>
                <c:pt idx="21">
                  <c:v>0.99602197195816289</c:v>
                </c:pt>
                <c:pt idx="22">
                  <c:v>0.88323102062447556</c:v>
                </c:pt>
                <c:pt idx="23">
                  <c:v>0.84588778290607791</c:v>
                </c:pt>
                <c:pt idx="24">
                  <c:v>0.83645792504597949</c:v>
                </c:pt>
              </c:numCache>
            </c:numRef>
          </c:val>
          <c:extLst>
            <c:ext xmlns:c16="http://schemas.microsoft.com/office/drawing/2014/chart" uri="{C3380CC4-5D6E-409C-BE32-E72D297353CC}">
              <c16:uniqueId val="{00000000-F4B3-4A45-B711-DF2E312418DD}"/>
            </c:ext>
          </c:extLst>
        </c:ser>
        <c:ser>
          <c:idx val="1"/>
          <c:order val="1"/>
          <c:tx>
            <c:strRef>
              <c:f>'VPO3'!$H$31</c:f>
              <c:strCache>
                <c:ptCount val="1"/>
                <c:pt idx="0">
                  <c:v>2024</c:v>
                </c:pt>
              </c:strCache>
            </c:strRef>
          </c:tx>
          <c:spPr>
            <a:solidFill>
              <a:schemeClr val="accent2"/>
            </a:solidFill>
            <a:ln>
              <a:noFill/>
            </a:ln>
            <a:effectLst/>
          </c:spPr>
          <c:invertIfNegative val="0"/>
          <c:cat>
            <c:strRef>
              <c:f>'VPO3'!$F$32:$F$56</c:f>
              <c:strCache>
                <c:ptCount val="25"/>
                <c:pt idx="0">
                  <c:v> Kolwezi</c:v>
                </c:pt>
                <c:pt idx="1">
                  <c:v> Kabinda</c:v>
                </c:pt>
                <c:pt idx="2">
                  <c:v> Mweneditu</c:v>
                </c:pt>
                <c:pt idx="3">
                  <c:v> Inongo</c:v>
                </c:pt>
                <c:pt idx="4">
                  <c:v> Nioki</c:v>
                </c:pt>
                <c:pt idx="5">
                  <c:v> Bumba</c:v>
                </c:pt>
                <c:pt idx="6">
                  <c:v> Lisala</c:v>
                </c:pt>
                <c:pt idx="7">
                  <c:v> Kasongo</c:v>
                </c:pt>
                <c:pt idx="8">
                  <c:v> Kindu</c:v>
                </c:pt>
                <c:pt idx="9">
                  <c:v> Kindu</c:v>
                </c:pt>
                <c:pt idx="10">
                  <c:v> Butembo</c:v>
                </c:pt>
                <c:pt idx="11">
                  <c:v> Goma</c:v>
                </c:pt>
                <c:pt idx="12">
                  <c:v> Gbadolite</c:v>
                </c:pt>
                <c:pt idx="13">
                  <c:v>Bukavu</c:v>
                </c:pt>
                <c:pt idx="14">
                  <c:v>Uvira</c:v>
                </c:pt>
                <c:pt idx="15">
                  <c:v> Lodja</c:v>
                </c:pt>
                <c:pt idx="16">
                  <c:v>  Lusambo</c:v>
                </c:pt>
                <c:pt idx="17">
                  <c:v>  Tshumbe</c:v>
                </c:pt>
                <c:pt idx="18">
                  <c:v>  Gemena</c:v>
                </c:pt>
                <c:pt idx="19">
                  <c:v>  Kabalo</c:v>
                </c:pt>
                <c:pt idx="20">
                  <c:v>  Kalemie</c:v>
                </c:pt>
                <c:pt idx="21">
                  <c:v>  Kisangani</c:v>
                </c:pt>
                <c:pt idx="22">
                  <c:v>  Isangi</c:v>
                </c:pt>
                <c:pt idx="23">
                  <c:v> Boende</c:v>
                </c:pt>
                <c:pt idx="24">
                  <c:v> Bokungu</c:v>
                </c:pt>
              </c:strCache>
            </c:strRef>
          </c:cat>
          <c:val>
            <c:numRef>
              <c:f>'VPO3'!$H$32:$H$56</c:f>
              <c:numCache>
                <c:formatCode>0.0%</c:formatCode>
                <c:ptCount val="25"/>
                <c:pt idx="0">
                  <c:v>1.1037782236414502</c:v>
                </c:pt>
                <c:pt idx="1">
                  <c:v>0.95265785329069819</c:v>
                </c:pt>
                <c:pt idx="2">
                  <c:v>0.94319798482280059</c:v>
                </c:pt>
                <c:pt idx="3">
                  <c:v>0.96218334499650104</c:v>
                </c:pt>
                <c:pt idx="4">
                  <c:v>0.91015852704912203</c:v>
                </c:pt>
                <c:pt idx="5">
                  <c:v>0.90084348641049672</c:v>
                </c:pt>
                <c:pt idx="6">
                  <c:v>0.94825921219822118</c:v>
                </c:pt>
                <c:pt idx="7">
                  <c:v>1.0117290748898677</c:v>
                </c:pt>
                <c:pt idx="8">
                  <c:v>1.1603057081442558</c:v>
                </c:pt>
                <c:pt idx="9">
                  <c:v>0.93043072253997905</c:v>
                </c:pt>
                <c:pt idx="10">
                  <c:v>0.94468011567220089</c:v>
                </c:pt>
                <c:pt idx="11">
                  <c:v>1.0048016660445194</c:v>
                </c:pt>
                <c:pt idx="12">
                  <c:v>0.93616946625148023</c:v>
                </c:pt>
                <c:pt idx="13">
                  <c:v>0.94693410656806154</c:v>
                </c:pt>
                <c:pt idx="14">
                  <c:v>1.0793413104889642</c:v>
                </c:pt>
                <c:pt idx="15">
                  <c:v>0.7764849250767285</c:v>
                </c:pt>
                <c:pt idx="16">
                  <c:v>0.66539251952322231</c:v>
                </c:pt>
                <c:pt idx="17">
                  <c:v>0.80879071842927264</c:v>
                </c:pt>
                <c:pt idx="18">
                  <c:v>0.93790766370274836</c:v>
                </c:pt>
                <c:pt idx="19">
                  <c:v>1.165773095722396</c:v>
                </c:pt>
                <c:pt idx="20">
                  <c:v>1.1851458373575432</c:v>
                </c:pt>
                <c:pt idx="21">
                  <c:v>0.9527958587463482</c:v>
                </c:pt>
                <c:pt idx="22">
                  <c:v>0.93397319212311769</c:v>
                </c:pt>
                <c:pt idx="23">
                  <c:v>0.82559124238355885</c:v>
                </c:pt>
                <c:pt idx="24">
                  <c:v>0.80689785863179841</c:v>
                </c:pt>
              </c:numCache>
            </c:numRef>
          </c:val>
          <c:extLst>
            <c:ext xmlns:c16="http://schemas.microsoft.com/office/drawing/2014/chart" uri="{C3380CC4-5D6E-409C-BE32-E72D297353CC}">
              <c16:uniqueId val="{00000001-F4B3-4A45-B711-DF2E312418DD}"/>
            </c:ext>
          </c:extLst>
        </c:ser>
        <c:dLbls>
          <c:showLegendKey val="0"/>
          <c:showVal val="0"/>
          <c:showCatName val="0"/>
          <c:showSerName val="0"/>
          <c:showPercent val="0"/>
          <c:showBubbleSize val="0"/>
        </c:dLbls>
        <c:gapWidth val="219"/>
        <c:overlap val="-27"/>
        <c:axId val="400718336"/>
        <c:axId val="400720296"/>
      </c:barChart>
      <c:catAx>
        <c:axId val="4007183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400720296"/>
        <c:crosses val="autoZero"/>
        <c:auto val="1"/>
        <c:lblAlgn val="ctr"/>
        <c:lblOffset val="100"/>
        <c:noMultiLvlLbl val="0"/>
      </c:catAx>
      <c:valAx>
        <c:axId val="400720296"/>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400718336"/>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4">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'VPO3'!$G$31</c:f>
              <c:strCache>
                <c:ptCount val="1"/>
                <c:pt idx="0">
                  <c:v>2025</c:v>
                </c:pt>
              </c:strCache>
            </c:strRef>
          </c:tx>
          <c:spPr>
            <a:solidFill>
              <a:schemeClr val="accent1"/>
            </a:solidFill>
            <a:ln>
              <a:noFill/>
            </a:ln>
            <a:effectLst/>
          </c:spPr>
          <c:invertIfNegative val="0"/>
          <c:cat>
            <c:strRef>
              <c:f>'VPO3'!$F$32:$F$56</c:f>
              <c:strCache>
                <c:ptCount val="25"/>
                <c:pt idx="0">
                  <c:v> Kolwezi</c:v>
                </c:pt>
                <c:pt idx="1">
                  <c:v> Kabinda</c:v>
                </c:pt>
                <c:pt idx="2">
                  <c:v> Mweneditu</c:v>
                </c:pt>
                <c:pt idx="3">
                  <c:v> Inongo</c:v>
                </c:pt>
                <c:pt idx="4">
                  <c:v> Nioki</c:v>
                </c:pt>
                <c:pt idx="5">
                  <c:v> Bumba</c:v>
                </c:pt>
                <c:pt idx="6">
                  <c:v> Lisala</c:v>
                </c:pt>
                <c:pt idx="7">
                  <c:v> Kasongo</c:v>
                </c:pt>
                <c:pt idx="8">
                  <c:v> Kindu</c:v>
                </c:pt>
                <c:pt idx="9">
                  <c:v> Kindu</c:v>
                </c:pt>
                <c:pt idx="10">
                  <c:v> Butembo</c:v>
                </c:pt>
                <c:pt idx="11">
                  <c:v> Goma</c:v>
                </c:pt>
                <c:pt idx="12">
                  <c:v> Gbadolite</c:v>
                </c:pt>
                <c:pt idx="13">
                  <c:v>Bukavu</c:v>
                </c:pt>
                <c:pt idx="14">
                  <c:v>Uvira</c:v>
                </c:pt>
                <c:pt idx="15">
                  <c:v> Lodja</c:v>
                </c:pt>
                <c:pt idx="16">
                  <c:v>  Lusambo</c:v>
                </c:pt>
                <c:pt idx="17">
                  <c:v>  Tshumbe</c:v>
                </c:pt>
                <c:pt idx="18">
                  <c:v>  Gemena</c:v>
                </c:pt>
                <c:pt idx="19">
                  <c:v>  Kabalo</c:v>
                </c:pt>
                <c:pt idx="20">
                  <c:v>  Kalemie</c:v>
                </c:pt>
                <c:pt idx="21">
                  <c:v>  Kisangani</c:v>
                </c:pt>
                <c:pt idx="22">
                  <c:v>  Isangi</c:v>
                </c:pt>
                <c:pt idx="23">
                  <c:v> Boende</c:v>
                </c:pt>
                <c:pt idx="24">
                  <c:v> Bokungu</c:v>
                </c:pt>
              </c:strCache>
            </c:strRef>
          </c:cat>
          <c:val>
            <c:numRef>
              <c:f>'VPO3'!$G$32:$G$56</c:f>
              <c:numCache>
                <c:formatCode>0.0%</c:formatCode>
                <c:ptCount val="25"/>
                <c:pt idx="0">
                  <c:v>1.1842032756773304</c:v>
                </c:pt>
                <c:pt idx="1">
                  <c:v>0.89936331705327943</c:v>
                </c:pt>
                <c:pt idx="2">
                  <c:v>0.9697269860801353</c:v>
                </c:pt>
                <c:pt idx="3">
                  <c:v>1.0355829332367064</c:v>
                </c:pt>
                <c:pt idx="4">
                  <c:v>0.90203572912339014</c:v>
                </c:pt>
                <c:pt idx="5">
                  <c:v>1.0469051771812652</c:v>
                </c:pt>
                <c:pt idx="6">
                  <c:v>0.85547262767013488</c:v>
                </c:pt>
                <c:pt idx="7">
                  <c:v>1.0790198990198989</c:v>
                </c:pt>
                <c:pt idx="8">
                  <c:v>1.0246709555568672</c:v>
                </c:pt>
                <c:pt idx="9">
                  <c:v>1.1025401762571281</c:v>
                </c:pt>
                <c:pt idx="10">
                  <c:v>0.92924144023294997</c:v>
                </c:pt>
                <c:pt idx="11">
                  <c:v>0.95866551085014784</c:v>
                </c:pt>
                <c:pt idx="12">
                  <c:v>0.92995105341562034</c:v>
                </c:pt>
                <c:pt idx="13">
                  <c:v>0.91551084911144498</c:v>
                </c:pt>
                <c:pt idx="14">
                  <c:v>0.87006120878998372</c:v>
                </c:pt>
                <c:pt idx="15">
                  <c:v>0.83385552463793522</c:v>
                </c:pt>
                <c:pt idx="16">
                  <c:v>0.95754189944134083</c:v>
                </c:pt>
                <c:pt idx="17">
                  <c:v>0.90479817212490499</c:v>
                </c:pt>
                <c:pt idx="18">
                  <c:v>0.94331442493267104</c:v>
                </c:pt>
                <c:pt idx="19">
                  <c:v>1.0379672741785286</c:v>
                </c:pt>
                <c:pt idx="20">
                  <c:v>0.90446407122164918</c:v>
                </c:pt>
                <c:pt idx="21">
                  <c:v>0.99602197195816289</c:v>
                </c:pt>
                <c:pt idx="22">
                  <c:v>0.88323102062447556</c:v>
                </c:pt>
                <c:pt idx="23">
                  <c:v>0.84588778290607791</c:v>
                </c:pt>
                <c:pt idx="24">
                  <c:v>0.83645792504597949</c:v>
                </c:pt>
              </c:numCache>
            </c:numRef>
          </c:val>
          <c:extLst>
            <c:ext xmlns:c16="http://schemas.microsoft.com/office/drawing/2014/chart" uri="{C3380CC4-5D6E-409C-BE32-E72D297353CC}">
              <c16:uniqueId val="{00000000-1662-44A0-98DB-BBE50B87C607}"/>
            </c:ext>
          </c:extLst>
        </c:ser>
        <c:ser>
          <c:idx val="1"/>
          <c:order val="1"/>
          <c:tx>
            <c:strRef>
              <c:f>'VPO3'!$H$31</c:f>
              <c:strCache>
                <c:ptCount val="1"/>
                <c:pt idx="0">
                  <c:v>2024</c:v>
                </c:pt>
              </c:strCache>
            </c:strRef>
          </c:tx>
          <c:spPr>
            <a:solidFill>
              <a:schemeClr val="accent2"/>
            </a:solidFill>
            <a:ln>
              <a:noFill/>
            </a:ln>
            <a:effectLst/>
          </c:spPr>
          <c:invertIfNegative val="0"/>
          <c:cat>
            <c:strRef>
              <c:f>'VPO3'!$F$32:$F$56</c:f>
              <c:strCache>
                <c:ptCount val="25"/>
                <c:pt idx="0">
                  <c:v> Kolwezi</c:v>
                </c:pt>
                <c:pt idx="1">
                  <c:v> Kabinda</c:v>
                </c:pt>
                <c:pt idx="2">
                  <c:v> Mweneditu</c:v>
                </c:pt>
                <c:pt idx="3">
                  <c:v> Inongo</c:v>
                </c:pt>
                <c:pt idx="4">
                  <c:v> Nioki</c:v>
                </c:pt>
                <c:pt idx="5">
                  <c:v> Bumba</c:v>
                </c:pt>
                <c:pt idx="6">
                  <c:v> Lisala</c:v>
                </c:pt>
                <c:pt idx="7">
                  <c:v> Kasongo</c:v>
                </c:pt>
                <c:pt idx="8">
                  <c:v> Kindu</c:v>
                </c:pt>
                <c:pt idx="9">
                  <c:v> Kindu</c:v>
                </c:pt>
                <c:pt idx="10">
                  <c:v> Butembo</c:v>
                </c:pt>
                <c:pt idx="11">
                  <c:v> Goma</c:v>
                </c:pt>
                <c:pt idx="12">
                  <c:v> Gbadolite</c:v>
                </c:pt>
                <c:pt idx="13">
                  <c:v>Bukavu</c:v>
                </c:pt>
                <c:pt idx="14">
                  <c:v>Uvira</c:v>
                </c:pt>
                <c:pt idx="15">
                  <c:v> Lodja</c:v>
                </c:pt>
                <c:pt idx="16">
                  <c:v>  Lusambo</c:v>
                </c:pt>
                <c:pt idx="17">
                  <c:v>  Tshumbe</c:v>
                </c:pt>
                <c:pt idx="18">
                  <c:v>  Gemena</c:v>
                </c:pt>
                <c:pt idx="19">
                  <c:v>  Kabalo</c:v>
                </c:pt>
                <c:pt idx="20">
                  <c:v>  Kalemie</c:v>
                </c:pt>
                <c:pt idx="21">
                  <c:v>  Kisangani</c:v>
                </c:pt>
                <c:pt idx="22">
                  <c:v>  Isangi</c:v>
                </c:pt>
                <c:pt idx="23">
                  <c:v> Boende</c:v>
                </c:pt>
                <c:pt idx="24">
                  <c:v> Bokungu</c:v>
                </c:pt>
              </c:strCache>
            </c:strRef>
          </c:cat>
          <c:val>
            <c:numRef>
              <c:f>'VPO3'!$H$32:$H$56</c:f>
              <c:numCache>
                <c:formatCode>0.0%</c:formatCode>
                <c:ptCount val="25"/>
                <c:pt idx="0">
                  <c:v>1.1037782236414502</c:v>
                </c:pt>
                <c:pt idx="1">
                  <c:v>0.95265785329069819</c:v>
                </c:pt>
                <c:pt idx="2">
                  <c:v>0.94319798482280059</c:v>
                </c:pt>
                <c:pt idx="3">
                  <c:v>0.96218334499650104</c:v>
                </c:pt>
                <c:pt idx="4">
                  <c:v>0.91015852704912203</c:v>
                </c:pt>
                <c:pt idx="5">
                  <c:v>0.90084348641049672</c:v>
                </c:pt>
                <c:pt idx="6">
                  <c:v>0.94825921219822118</c:v>
                </c:pt>
                <c:pt idx="7">
                  <c:v>1.0117290748898677</c:v>
                </c:pt>
                <c:pt idx="8">
                  <c:v>1.1603057081442558</c:v>
                </c:pt>
                <c:pt idx="9">
                  <c:v>0.93043072253997905</c:v>
                </c:pt>
                <c:pt idx="10">
                  <c:v>0.94468011567220089</c:v>
                </c:pt>
                <c:pt idx="11">
                  <c:v>1.0048016660445194</c:v>
                </c:pt>
                <c:pt idx="12">
                  <c:v>0.93616946625148023</c:v>
                </c:pt>
                <c:pt idx="13">
                  <c:v>0.94693410656806154</c:v>
                </c:pt>
                <c:pt idx="14">
                  <c:v>1.0793413104889642</c:v>
                </c:pt>
                <c:pt idx="15">
                  <c:v>0.7764849250767285</c:v>
                </c:pt>
                <c:pt idx="16">
                  <c:v>0.66539251952322231</c:v>
                </c:pt>
                <c:pt idx="17">
                  <c:v>0.80879071842927264</c:v>
                </c:pt>
                <c:pt idx="18">
                  <c:v>0.93790766370274836</c:v>
                </c:pt>
                <c:pt idx="19">
                  <c:v>1.165773095722396</c:v>
                </c:pt>
                <c:pt idx="20">
                  <c:v>1.1851458373575432</c:v>
                </c:pt>
                <c:pt idx="21">
                  <c:v>0.9527958587463482</c:v>
                </c:pt>
                <c:pt idx="22">
                  <c:v>0.93397319212311769</c:v>
                </c:pt>
                <c:pt idx="23">
                  <c:v>0.82559124238355885</c:v>
                </c:pt>
                <c:pt idx="24">
                  <c:v>0.80689785863179841</c:v>
                </c:pt>
              </c:numCache>
            </c:numRef>
          </c:val>
          <c:extLst>
            <c:ext xmlns:c16="http://schemas.microsoft.com/office/drawing/2014/chart" uri="{C3380CC4-5D6E-409C-BE32-E72D297353CC}">
              <c16:uniqueId val="{00000001-1662-44A0-98DB-BBE50B87C607}"/>
            </c:ext>
          </c:extLst>
        </c:ser>
        <c:dLbls>
          <c:showLegendKey val="0"/>
          <c:showVal val="0"/>
          <c:showCatName val="0"/>
          <c:showSerName val="0"/>
          <c:showPercent val="0"/>
          <c:showBubbleSize val="0"/>
        </c:dLbls>
        <c:gapWidth val="219"/>
        <c:overlap val="-27"/>
        <c:axId val="400724216"/>
        <c:axId val="400712064"/>
      </c:barChart>
      <c:catAx>
        <c:axId val="4007242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400712064"/>
        <c:crosses val="autoZero"/>
        <c:auto val="1"/>
        <c:lblAlgn val="ctr"/>
        <c:lblOffset val="100"/>
        <c:noMultiLvlLbl val="0"/>
      </c:catAx>
      <c:valAx>
        <c:axId val="400712064"/>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400724216"/>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4">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DTC!$B$2</c:f>
              <c:strCache>
                <c:ptCount val="1"/>
                <c:pt idx="0">
                  <c:v>2026</c:v>
                </c:pt>
              </c:strCache>
            </c:strRef>
          </c:tx>
          <c:spPr>
            <a:solidFill>
              <a:schemeClr val="accent1"/>
            </a:solidFill>
            <a:ln>
              <a:noFill/>
            </a:ln>
            <a:effectLst/>
          </c:spPr>
          <c:invertIfNegative val="0"/>
          <c:cat>
            <c:strRef>
              <c:f>DTC!$A$3:$A$28</c:f>
              <c:strCache>
                <c:ptCount val="26"/>
                <c:pt idx="0">
                  <c:v> Buta</c:v>
                </c:pt>
                <c:pt idx="1">
                  <c:v> Mbandaka</c:v>
                </c:pt>
                <c:pt idx="2">
                  <c:v> Likasi</c:v>
                </c:pt>
                <c:pt idx="3">
                  <c:v> Lubumbashi</c:v>
                </c:pt>
                <c:pt idx="4">
                  <c:v> Kabondodianda</c:v>
                </c:pt>
                <c:pt idx="5">
                  <c:v> Kamina</c:v>
                </c:pt>
                <c:pt idx="6">
                  <c:v> Isiro</c:v>
                </c:pt>
                <c:pt idx="7">
                  <c:v> Watsa</c:v>
                </c:pt>
                <c:pt idx="8">
                  <c:v> Aru</c:v>
                </c:pt>
                <c:pt idx="9">
                  <c:v> Bunia</c:v>
                </c:pt>
                <c:pt idx="10">
                  <c:v> Boma</c:v>
                </c:pt>
                <c:pt idx="11">
                  <c:v> Matadi</c:v>
                </c:pt>
                <c:pt idx="12">
                  <c:v> Mbanzangungu</c:v>
                </c:pt>
                <c:pt idx="13">
                  <c:v> Mbujimayi</c:v>
                </c:pt>
                <c:pt idx="14">
                  <c:v> Kahemba</c:v>
                </c:pt>
                <c:pt idx="15">
                  <c:v> Kenge</c:v>
                </c:pt>
                <c:pt idx="16">
                  <c:v> bandundu</c:v>
                </c:pt>
                <c:pt idx="17">
                  <c:v> Kikwit</c:v>
                </c:pt>
                <c:pt idx="18">
                  <c:v> Kin Centre</c:v>
                </c:pt>
                <c:pt idx="19">
                  <c:v> Kin Est</c:v>
                </c:pt>
                <c:pt idx="20">
                  <c:v> Kin Ouest</c:v>
                </c:pt>
                <c:pt idx="21">
                  <c:v> Kananga</c:v>
                </c:pt>
                <c:pt idx="22">
                  <c:v> Lwiza</c:v>
                </c:pt>
                <c:pt idx="23">
                  <c:v> Mweka</c:v>
                </c:pt>
                <c:pt idx="24">
                  <c:v> Tshikapa</c:v>
                </c:pt>
                <c:pt idx="25">
                  <c:v> kisenge</c:v>
                </c:pt>
              </c:strCache>
            </c:strRef>
          </c:cat>
          <c:val>
            <c:numRef>
              <c:f>DTC!$B$3:$B$28</c:f>
              <c:numCache>
                <c:formatCode>0.0%</c:formatCode>
                <c:ptCount val="26"/>
                <c:pt idx="0">
                  <c:v>0.94366406780757639</c:v>
                </c:pt>
                <c:pt idx="1">
                  <c:v>0.49729027564885292</c:v>
                </c:pt>
                <c:pt idx="2">
                  <c:v>1.0876993754193982</c:v>
                </c:pt>
                <c:pt idx="3">
                  <c:v>0.79525359741751933</c:v>
                </c:pt>
                <c:pt idx="4">
                  <c:v>1.0278385687539007</c:v>
                </c:pt>
                <c:pt idx="5">
                  <c:v>1.0254584960811195</c:v>
                </c:pt>
                <c:pt idx="6">
                  <c:v>0.99644544932263379</c:v>
                </c:pt>
                <c:pt idx="7">
                  <c:v>0.90707478810768072</c:v>
                </c:pt>
                <c:pt idx="8">
                  <c:v>0.76212955677943861</c:v>
                </c:pt>
                <c:pt idx="9">
                  <c:v>0.98437602127455082</c:v>
                </c:pt>
                <c:pt idx="10">
                  <c:v>0.97048334524411295</c:v>
                </c:pt>
                <c:pt idx="11">
                  <c:v>0.99605230803621336</c:v>
                </c:pt>
                <c:pt idx="12">
                  <c:v>0.99442354186635384</c:v>
                </c:pt>
                <c:pt idx="13">
                  <c:v>0.9681244496624597</c:v>
                </c:pt>
                <c:pt idx="14">
                  <c:v>0.79936848752762857</c:v>
                </c:pt>
                <c:pt idx="15">
                  <c:v>0.91843840425027279</c:v>
                </c:pt>
                <c:pt idx="16">
                  <c:v>1.038268056665703</c:v>
                </c:pt>
                <c:pt idx="17">
                  <c:v>0.92275829287339151</c:v>
                </c:pt>
                <c:pt idx="18">
                  <c:v>0.84706406574908399</c:v>
                </c:pt>
                <c:pt idx="19">
                  <c:v>0.87930534841384</c:v>
                </c:pt>
                <c:pt idx="20">
                  <c:v>0.92553010676816427</c:v>
                </c:pt>
                <c:pt idx="21">
                  <c:v>0.95235459254280164</c:v>
                </c:pt>
                <c:pt idx="22">
                  <c:v>0.96450119550287416</c:v>
                </c:pt>
                <c:pt idx="23">
                  <c:v>0.91954705499871214</c:v>
                </c:pt>
                <c:pt idx="24">
                  <c:v>0.85941260046810763</c:v>
                </c:pt>
                <c:pt idx="25">
                  <c:v>1.2535548005536681</c:v>
                </c:pt>
              </c:numCache>
            </c:numRef>
          </c:val>
          <c:extLst>
            <c:ext xmlns:c16="http://schemas.microsoft.com/office/drawing/2014/chart" uri="{C3380CC4-5D6E-409C-BE32-E72D297353CC}">
              <c16:uniqueId val="{00000000-7DFC-4FEF-B17D-F6A5DFFB38BD}"/>
            </c:ext>
          </c:extLst>
        </c:ser>
        <c:ser>
          <c:idx val="1"/>
          <c:order val="1"/>
          <c:tx>
            <c:strRef>
              <c:f>DTC!$C$2</c:f>
              <c:strCache>
                <c:ptCount val="1"/>
                <c:pt idx="0">
                  <c:v>2024</c:v>
                </c:pt>
              </c:strCache>
            </c:strRef>
          </c:tx>
          <c:spPr>
            <a:solidFill>
              <a:schemeClr val="accent2"/>
            </a:solidFill>
            <a:ln>
              <a:noFill/>
            </a:ln>
            <a:effectLst/>
          </c:spPr>
          <c:invertIfNegative val="0"/>
          <c:cat>
            <c:strRef>
              <c:f>DTC!$A$3:$A$28</c:f>
              <c:strCache>
                <c:ptCount val="26"/>
                <c:pt idx="0">
                  <c:v> Buta</c:v>
                </c:pt>
                <c:pt idx="1">
                  <c:v> Mbandaka</c:v>
                </c:pt>
                <c:pt idx="2">
                  <c:v> Likasi</c:v>
                </c:pt>
                <c:pt idx="3">
                  <c:v> Lubumbashi</c:v>
                </c:pt>
                <c:pt idx="4">
                  <c:v> Kabondodianda</c:v>
                </c:pt>
                <c:pt idx="5">
                  <c:v> Kamina</c:v>
                </c:pt>
                <c:pt idx="6">
                  <c:v> Isiro</c:v>
                </c:pt>
                <c:pt idx="7">
                  <c:v> Watsa</c:v>
                </c:pt>
                <c:pt idx="8">
                  <c:v> Aru</c:v>
                </c:pt>
                <c:pt idx="9">
                  <c:v> Bunia</c:v>
                </c:pt>
                <c:pt idx="10">
                  <c:v> Boma</c:v>
                </c:pt>
                <c:pt idx="11">
                  <c:v> Matadi</c:v>
                </c:pt>
                <c:pt idx="12">
                  <c:v> Mbanzangungu</c:v>
                </c:pt>
                <c:pt idx="13">
                  <c:v> Mbujimayi</c:v>
                </c:pt>
                <c:pt idx="14">
                  <c:v> Kahemba</c:v>
                </c:pt>
                <c:pt idx="15">
                  <c:v> Kenge</c:v>
                </c:pt>
                <c:pt idx="16">
                  <c:v> bandundu</c:v>
                </c:pt>
                <c:pt idx="17">
                  <c:v> Kikwit</c:v>
                </c:pt>
                <c:pt idx="18">
                  <c:v> Kin Centre</c:v>
                </c:pt>
                <c:pt idx="19">
                  <c:v> Kin Est</c:v>
                </c:pt>
                <c:pt idx="20">
                  <c:v> Kin Ouest</c:v>
                </c:pt>
                <c:pt idx="21">
                  <c:v> Kananga</c:v>
                </c:pt>
                <c:pt idx="22">
                  <c:v> Lwiza</c:v>
                </c:pt>
                <c:pt idx="23">
                  <c:v> Mweka</c:v>
                </c:pt>
                <c:pt idx="24">
                  <c:v> Tshikapa</c:v>
                </c:pt>
                <c:pt idx="25">
                  <c:v> kisenge</c:v>
                </c:pt>
              </c:strCache>
            </c:strRef>
          </c:cat>
          <c:val>
            <c:numRef>
              <c:f>DTC!$C$3:$C$28</c:f>
              <c:numCache>
                <c:formatCode>0.0%</c:formatCode>
                <c:ptCount val="26"/>
                <c:pt idx="0">
                  <c:v>0.93943417628611459</c:v>
                </c:pt>
                <c:pt idx="1">
                  <c:v>0.95861808774388257</c:v>
                </c:pt>
                <c:pt idx="2">
                  <c:v>1.1697973877324963</c:v>
                </c:pt>
                <c:pt idx="3">
                  <c:v>1.1536272671811474</c:v>
                </c:pt>
                <c:pt idx="4">
                  <c:v>1.1376581634292939</c:v>
                </c:pt>
                <c:pt idx="5">
                  <c:v>1.1118101085130303</c:v>
                </c:pt>
                <c:pt idx="6">
                  <c:v>1.0049315347935845</c:v>
                </c:pt>
                <c:pt idx="7">
                  <c:v>0.97931843411599595</c:v>
                </c:pt>
                <c:pt idx="8">
                  <c:v>1.0179657185910715</c:v>
                </c:pt>
                <c:pt idx="9">
                  <c:v>0.96211601595535701</c:v>
                </c:pt>
                <c:pt idx="10">
                  <c:v>0.97740259266687346</c:v>
                </c:pt>
                <c:pt idx="11">
                  <c:v>1.0018419420775819</c:v>
                </c:pt>
                <c:pt idx="12">
                  <c:v>0.968258525723661</c:v>
                </c:pt>
                <c:pt idx="13">
                  <c:v>0.99300812697928198</c:v>
                </c:pt>
                <c:pt idx="14">
                  <c:v>0.78185516224739215</c:v>
                </c:pt>
                <c:pt idx="15">
                  <c:v>0.93715208346270906</c:v>
                </c:pt>
                <c:pt idx="16">
                  <c:v>0.9810152397196783</c:v>
                </c:pt>
                <c:pt idx="17">
                  <c:v>0.9917794610704086</c:v>
                </c:pt>
                <c:pt idx="18">
                  <c:v>0.96414722201369019</c:v>
                </c:pt>
                <c:pt idx="19">
                  <c:v>0.9282670548534373</c:v>
                </c:pt>
                <c:pt idx="20">
                  <c:v>0.98643437955766899</c:v>
                </c:pt>
                <c:pt idx="21">
                  <c:v>0.89716729740018364</c:v>
                </c:pt>
                <c:pt idx="22">
                  <c:v>0.93886151588216793</c:v>
                </c:pt>
                <c:pt idx="23">
                  <c:v>0.83860484201887575</c:v>
                </c:pt>
                <c:pt idx="24">
                  <c:v>0.85560444951017856</c:v>
                </c:pt>
                <c:pt idx="25">
                  <c:v>1.0232456600684312</c:v>
                </c:pt>
              </c:numCache>
            </c:numRef>
          </c:val>
          <c:extLst>
            <c:ext xmlns:c16="http://schemas.microsoft.com/office/drawing/2014/chart" uri="{C3380CC4-5D6E-409C-BE32-E72D297353CC}">
              <c16:uniqueId val="{00000001-7DFC-4FEF-B17D-F6A5DFFB38BD}"/>
            </c:ext>
          </c:extLst>
        </c:ser>
        <c:dLbls>
          <c:showLegendKey val="0"/>
          <c:showVal val="0"/>
          <c:showCatName val="0"/>
          <c:showSerName val="0"/>
          <c:showPercent val="0"/>
          <c:showBubbleSize val="0"/>
        </c:dLbls>
        <c:gapWidth val="219"/>
        <c:overlap val="-27"/>
        <c:axId val="395280912"/>
        <c:axId val="395292672"/>
      </c:barChart>
      <c:catAx>
        <c:axId val="3952809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395292672"/>
        <c:crosses val="autoZero"/>
        <c:auto val="1"/>
        <c:lblAlgn val="ctr"/>
        <c:lblOffset val="100"/>
        <c:noMultiLvlLbl val="0"/>
      </c:catAx>
      <c:valAx>
        <c:axId val="395292672"/>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39528091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4">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DTC!$I$40</c:f>
              <c:strCache>
                <c:ptCount val="1"/>
                <c:pt idx="0">
                  <c:v>2026</c:v>
                </c:pt>
              </c:strCache>
            </c:strRef>
          </c:tx>
          <c:spPr>
            <a:solidFill>
              <a:schemeClr val="accent1"/>
            </a:solidFill>
            <a:ln>
              <a:noFill/>
            </a:ln>
            <a:effectLst/>
          </c:spPr>
          <c:invertIfNegative val="0"/>
          <c:cat>
            <c:strRef>
              <c:f>DTC!$H$41:$H$65</c:f>
              <c:strCache>
                <c:ptCount val="25"/>
                <c:pt idx="0">
                  <c:v> Kolwezi</c:v>
                </c:pt>
                <c:pt idx="1">
                  <c:v> Kabinda</c:v>
                </c:pt>
                <c:pt idx="2">
                  <c:v> Mweneditu</c:v>
                </c:pt>
                <c:pt idx="3">
                  <c:v> Inongo</c:v>
                </c:pt>
                <c:pt idx="4">
                  <c:v> Nioki</c:v>
                </c:pt>
                <c:pt idx="5">
                  <c:v> Bumba</c:v>
                </c:pt>
                <c:pt idx="6">
                  <c:v> Lisala</c:v>
                </c:pt>
                <c:pt idx="7">
                  <c:v> Kasongo</c:v>
                </c:pt>
                <c:pt idx="8">
                  <c:v> Kindu</c:v>
                </c:pt>
                <c:pt idx="9">
                  <c:v> Kindu</c:v>
                </c:pt>
                <c:pt idx="10">
                  <c:v> Butembo</c:v>
                </c:pt>
                <c:pt idx="11">
                  <c:v> Goma</c:v>
                </c:pt>
                <c:pt idx="12">
                  <c:v> Gbadolite</c:v>
                </c:pt>
                <c:pt idx="13">
                  <c:v>Bukavu</c:v>
                </c:pt>
                <c:pt idx="14">
                  <c:v>Uvira</c:v>
                </c:pt>
                <c:pt idx="15">
                  <c:v> Lodja</c:v>
                </c:pt>
                <c:pt idx="16">
                  <c:v>  Lusambo</c:v>
                </c:pt>
                <c:pt idx="17">
                  <c:v>  Tshumbe</c:v>
                </c:pt>
                <c:pt idx="18">
                  <c:v>  Gemena</c:v>
                </c:pt>
                <c:pt idx="19">
                  <c:v>  Kabalo</c:v>
                </c:pt>
                <c:pt idx="20">
                  <c:v>  Kalemie</c:v>
                </c:pt>
                <c:pt idx="21">
                  <c:v>  Kisangani</c:v>
                </c:pt>
                <c:pt idx="22">
                  <c:v>  Isangi</c:v>
                </c:pt>
                <c:pt idx="23">
                  <c:v> Boende</c:v>
                </c:pt>
                <c:pt idx="24">
                  <c:v> Bokungu</c:v>
                </c:pt>
              </c:strCache>
            </c:strRef>
          </c:cat>
          <c:val>
            <c:numRef>
              <c:f>DTC!$I$41:$I$65</c:f>
              <c:numCache>
                <c:formatCode>0.0%</c:formatCode>
                <c:ptCount val="25"/>
                <c:pt idx="0">
                  <c:v>1.2173886422776672</c:v>
                </c:pt>
                <c:pt idx="1">
                  <c:v>0.93066921216277587</c:v>
                </c:pt>
                <c:pt idx="2">
                  <c:v>0.97052064908098123</c:v>
                </c:pt>
                <c:pt idx="3">
                  <c:v>1.0522148745357369</c:v>
                </c:pt>
                <c:pt idx="4">
                  <c:v>0.91203434427364627</c:v>
                </c:pt>
                <c:pt idx="5">
                  <c:v>1.0629344450589187</c:v>
                </c:pt>
                <c:pt idx="6">
                  <c:v>0.859575719695577</c:v>
                </c:pt>
                <c:pt idx="7">
                  <c:v>1.2020136620136619</c:v>
                </c:pt>
                <c:pt idx="8">
                  <c:v>1.0318243522398629</c:v>
                </c:pt>
                <c:pt idx="9">
                  <c:v>1.1352341454985313</c:v>
                </c:pt>
                <c:pt idx="10">
                  <c:v>0.98760980876507054</c:v>
                </c:pt>
                <c:pt idx="11">
                  <c:v>0.99587258559667435</c:v>
                </c:pt>
                <c:pt idx="12">
                  <c:v>0.95720791657799531</c:v>
                </c:pt>
                <c:pt idx="13">
                  <c:v>0.95060177151198588</c:v>
                </c:pt>
                <c:pt idx="14">
                  <c:v>0.90336146633516567</c:v>
                </c:pt>
                <c:pt idx="15">
                  <c:v>0.84944676935211771</c:v>
                </c:pt>
                <c:pt idx="16">
                  <c:v>0.98591380686352759</c:v>
                </c:pt>
                <c:pt idx="17">
                  <c:v>0.97438798824937456</c:v>
                </c:pt>
                <c:pt idx="18">
                  <c:v>0.98728269404348701</c:v>
                </c:pt>
                <c:pt idx="19">
                  <c:v>1.0833204735931887</c:v>
                </c:pt>
                <c:pt idx="20">
                  <c:v>0.92934077580724939</c:v>
                </c:pt>
                <c:pt idx="21">
                  <c:v>1.0188065915874487</c:v>
                </c:pt>
                <c:pt idx="22">
                  <c:v>0.88446760588261275</c:v>
                </c:pt>
                <c:pt idx="23">
                  <c:v>0.92042484568759386</c:v>
                </c:pt>
                <c:pt idx="24">
                  <c:v>0.85603159767238524</c:v>
                </c:pt>
              </c:numCache>
            </c:numRef>
          </c:val>
          <c:extLst>
            <c:ext xmlns:c16="http://schemas.microsoft.com/office/drawing/2014/chart" uri="{C3380CC4-5D6E-409C-BE32-E72D297353CC}">
              <c16:uniqueId val="{00000000-0ED7-4468-B533-2C77E0889BF6}"/>
            </c:ext>
          </c:extLst>
        </c:ser>
        <c:ser>
          <c:idx val="1"/>
          <c:order val="1"/>
          <c:tx>
            <c:strRef>
              <c:f>DTC!$J$40</c:f>
              <c:strCache>
                <c:ptCount val="1"/>
                <c:pt idx="0">
                  <c:v>2024</c:v>
                </c:pt>
              </c:strCache>
            </c:strRef>
          </c:tx>
          <c:spPr>
            <a:solidFill>
              <a:schemeClr val="accent2"/>
            </a:solidFill>
            <a:ln>
              <a:noFill/>
            </a:ln>
            <a:effectLst/>
          </c:spPr>
          <c:invertIfNegative val="0"/>
          <c:cat>
            <c:strRef>
              <c:f>DTC!$H$41:$H$65</c:f>
              <c:strCache>
                <c:ptCount val="25"/>
                <c:pt idx="0">
                  <c:v> Kolwezi</c:v>
                </c:pt>
                <c:pt idx="1">
                  <c:v> Kabinda</c:v>
                </c:pt>
                <c:pt idx="2">
                  <c:v> Mweneditu</c:v>
                </c:pt>
                <c:pt idx="3">
                  <c:v> Inongo</c:v>
                </c:pt>
                <c:pt idx="4">
                  <c:v> Nioki</c:v>
                </c:pt>
                <c:pt idx="5">
                  <c:v> Bumba</c:v>
                </c:pt>
                <c:pt idx="6">
                  <c:v> Lisala</c:v>
                </c:pt>
                <c:pt idx="7">
                  <c:v> Kasongo</c:v>
                </c:pt>
                <c:pt idx="8">
                  <c:v> Kindu</c:v>
                </c:pt>
                <c:pt idx="9">
                  <c:v> Kindu</c:v>
                </c:pt>
                <c:pt idx="10">
                  <c:v> Butembo</c:v>
                </c:pt>
                <c:pt idx="11">
                  <c:v> Goma</c:v>
                </c:pt>
                <c:pt idx="12">
                  <c:v> Gbadolite</c:v>
                </c:pt>
                <c:pt idx="13">
                  <c:v>Bukavu</c:v>
                </c:pt>
                <c:pt idx="14">
                  <c:v>Uvira</c:v>
                </c:pt>
                <c:pt idx="15">
                  <c:v> Lodja</c:v>
                </c:pt>
                <c:pt idx="16">
                  <c:v>  Lusambo</c:v>
                </c:pt>
                <c:pt idx="17">
                  <c:v>  Tshumbe</c:v>
                </c:pt>
                <c:pt idx="18">
                  <c:v>  Gemena</c:v>
                </c:pt>
                <c:pt idx="19">
                  <c:v>  Kabalo</c:v>
                </c:pt>
                <c:pt idx="20">
                  <c:v>  Kalemie</c:v>
                </c:pt>
                <c:pt idx="21">
                  <c:v>  Kisangani</c:v>
                </c:pt>
                <c:pt idx="22">
                  <c:v>  Isangi</c:v>
                </c:pt>
                <c:pt idx="23">
                  <c:v> Boende</c:v>
                </c:pt>
                <c:pt idx="24">
                  <c:v> Bokungu</c:v>
                </c:pt>
              </c:strCache>
            </c:strRef>
          </c:cat>
          <c:val>
            <c:numRef>
              <c:f>DTC!$J$41:$J$65</c:f>
              <c:numCache>
                <c:formatCode>0.0%</c:formatCode>
                <c:ptCount val="25"/>
                <c:pt idx="0">
                  <c:v>1.2156837256619661</c:v>
                </c:pt>
                <c:pt idx="1">
                  <c:v>0.98686011549658759</c:v>
                </c:pt>
                <c:pt idx="2">
                  <c:v>0.9931591704820899</c:v>
                </c:pt>
                <c:pt idx="3">
                  <c:v>0.96103568929321204</c:v>
                </c:pt>
                <c:pt idx="4">
                  <c:v>0.908708324447288</c:v>
                </c:pt>
                <c:pt idx="5">
                  <c:v>0.96211005489356005</c:v>
                </c:pt>
                <c:pt idx="6">
                  <c:v>0.94876747141041939</c:v>
                </c:pt>
                <c:pt idx="7">
                  <c:v>1.0151982378854625</c:v>
                </c:pt>
                <c:pt idx="8">
                  <c:v>1.0500716503463099</c:v>
                </c:pt>
                <c:pt idx="9">
                  <c:v>0.92405742967199733</c:v>
                </c:pt>
                <c:pt idx="10">
                  <c:v>0.90433079484313994</c:v>
                </c:pt>
                <c:pt idx="11">
                  <c:v>1.0312127939645179</c:v>
                </c:pt>
                <c:pt idx="12">
                  <c:v>0.87873338888645236</c:v>
                </c:pt>
                <c:pt idx="13">
                  <c:v>1.0670213614961028</c:v>
                </c:pt>
                <c:pt idx="14">
                  <c:v>1.1007693897705608</c:v>
                </c:pt>
                <c:pt idx="15">
                  <c:v>0.85550640909911524</c:v>
                </c:pt>
                <c:pt idx="16">
                  <c:v>0.87324290998766951</c:v>
                </c:pt>
                <c:pt idx="17">
                  <c:v>0.9291834002677376</c:v>
                </c:pt>
                <c:pt idx="18">
                  <c:v>0.90951402738000608</c:v>
                </c:pt>
                <c:pt idx="19">
                  <c:v>1.1709280791766601</c:v>
                </c:pt>
                <c:pt idx="20">
                  <c:v>1.183040370871161</c:v>
                </c:pt>
                <c:pt idx="21">
                  <c:v>0.97199528471118857</c:v>
                </c:pt>
                <c:pt idx="22">
                  <c:v>0.95760383915273872</c:v>
                </c:pt>
                <c:pt idx="23">
                  <c:v>0.8667768253640401</c:v>
                </c:pt>
                <c:pt idx="24">
                  <c:v>0.90145916240288038</c:v>
                </c:pt>
              </c:numCache>
            </c:numRef>
          </c:val>
          <c:extLst>
            <c:ext xmlns:c16="http://schemas.microsoft.com/office/drawing/2014/chart" uri="{C3380CC4-5D6E-409C-BE32-E72D297353CC}">
              <c16:uniqueId val="{00000001-0ED7-4468-B533-2C77E0889BF6}"/>
            </c:ext>
          </c:extLst>
        </c:ser>
        <c:dLbls>
          <c:showLegendKey val="0"/>
          <c:showVal val="0"/>
          <c:showCatName val="0"/>
          <c:showSerName val="0"/>
          <c:showPercent val="0"/>
          <c:showBubbleSize val="0"/>
        </c:dLbls>
        <c:gapWidth val="219"/>
        <c:overlap val="-27"/>
        <c:axId val="395282088"/>
        <c:axId val="395292280"/>
      </c:barChart>
      <c:catAx>
        <c:axId val="3952820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395292280"/>
        <c:crosses val="autoZero"/>
        <c:auto val="1"/>
        <c:lblAlgn val="ctr"/>
        <c:lblOffset val="100"/>
        <c:noMultiLvlLbl val="0"/>
      </c:catAx>
      <c:valAx>
        <c:axId val="395292280"/>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395282088"/>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4">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vert="horz"/>
          <a:lstStyle/>
          <a:p>
            <a:pPr>
              <a:defRPr/>
            </a:pPr>
            <a:r>
              <a:rPr lang="en-US"/>
              <a:t>Enfants vaccinee par dose</a:t>
            </a:r>
          </a:p>
        </c:rich>
      </c:tx>
      <c:overlay val="0"/>
      <c:spPr>
        <a:noFill/>
        <a:ln>
          <a:noFill/>
        </a:ln>
        <a:effectLst/>
      </c:spPr>
    </c:title>
    <c:autoTitleDeleted val="0"/>
    <c:plotArea>
      <c:layout/>
      <c:barChart>
        <c:barDir val="col"/>
        <c:grouping val="clustered"/>
        <c:varyColors val="0"/>
        <c:ser>
          <c:idx val="0"/>
          <c:order val="0"/>
          <c:tx>
            <c:strRef>
              <c:f>'[DONNEES VAP RDC Jusqu''en Octobre 2025.xlsx]Doses Administrees'!$B$9</c:f>
              <c:strCache>
                <c:ptCount val="1"/>
                <c:pt idx="0">
                  <c:v>VAP1</c:v>
                </c:pt>
              </c:strCache>
            </c:strRef>
          </c:tx>
          <c:spPr>
            <a:solidFill>
              <a:schemeClr val="accent1"/>
            </a:solidFill>
            <a:ln>
              <a:noFill/>
            </a:ln>
            <a:effectLst/>
          </c:spPr>
          <c:invertIfNegative val="0"/>
          <c:dLbls>
            <c:spPr>
              <a:noFill/>
              <a:ln>
                <a:noFill/>
              </a:ln>
              <a:effectLst/>
            </c:spPr>
            <c:txPr>
              <a:bodyPr rot="0" vert="horz"/>
              <a:lstStyle/>
              <a:p>
                <a:pPr>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'[DONNEES VAP RDC Jusqu''en Octobre 2025.xlsx]Doses Administrees'!$C$8</c:f>
              <c:strCache>
                <c:ptCount val="1"/>
                <c:pt idx="0">
                  <c:v>Doses adm</c:v>
                </c:pt>
              </c:strCache>
            </c:strRef>
          </c:cat>
          <c:val>
            <c:numRef>
              <c:f>'[DONNEES VAP RDC Jusqu''en Octobre 2025.xlsx]Doses Administrees'!$C$9</c:f>
              <c:numCache>
                <c:formatCode>#,##0</c:formatCode>
                <c:ptCount val="1"/>
                <c:pt idx="0">
                  <c:v>799660</c:v>
                </c:pt>
              </c:numCache>
            </c:numRef>
          </c:val>
          <c:extLst>
            <c:ext xmlns:c16="http://schemas.microsoft.com/office/drawing/2014/chart" uri="{C3380CC4-5D6E-409C-BE32-E72D297353CC}">
              <c16:uniqueId val="{00000000-5E6D-4056-A8B2-B4AECB291F4F}"/>
            </c:ext>
          </c:extLst>
        </c:ser>
        <c:ser>
          <c:idx val="1"/>
          <c:order val="1"/>
          <c:tx>
            <c:strRef>
              <c:f>'[DONNEES VAP RDC Jusqu''en Octobre 2025.xlsx]Doses Administrees'!$B$10</c:f>
              <c:strCache>
                <c:ptCount val="1"/>
                <c:pt idx="0">
                  <c:v>VAP2</c:v>
                </c:pt>
              </c:strCache>
            </c:strRef>
          </c:tx>
          <c:spPr>
            <a:solidFill>
              <a:schemeClr val="accent2"/>
            </a:solidFill>
            <a:ln>
              <a:noFill/>
            </a:ln>
            <a:effectLst/>
          </c:spPr>
          <c:invertIfNegative val="0"/>
          <c:dLbls>
            <c:spPr>
              <a:noFill/>
              <a:ln>
                <a:noFill/>
              </a:ln>
              <a:effectLst/>
            </c:spPr>
            <c:txPr>
              <a:bodyPr rot="0" vert="horz"/>
              <a:lstStyle/>
              <a:p>
                <a:pPr>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'[DONNEES VAP RDC Jusqu''en Octobre 2025.xlsx]Doses Administrees'!$C$8</c:f>
              <c:strCache>
                <c:ptCount val="1"/>
                <c:pt idx="0">
                  <c:v>Doses adm</c:v>
                </c:pt>
              </c:strCache>
            </c:strRef>
          </c:cat>
          <c:val>
            <c:numRef>
              <c:f>'[DONNEES VAP RDC Jusqu''en Octobre 2025.xlsx]Doses Administrees'!$C$10</c:f>
              <c:numCache>
                <c:formatCode>#,##0</c:formatCode>
                <c:ptCount val="1"/>
                <c:pt idx="0">
                  <c:v>499596</c:v>
                </c:pt>
              </c:numCache>
            </c:numRef>
          </c:val>
          <c:extLst>
            <c:ext xmlns:c16="http://schemas.microsoft.com/office/drawing/2014/chart" uri="{C3380CC4-5D6E-409C-BE32-E72D297353CC}">
              <c16:uniqueId val="{00000001-5E6D-4056-A8B2-B4AECB291F4F}"/>
            </c:ext>
          </c:extLst>
        </c:ser>
        <c:ser>
          <c:idx val="2"/>
          <c:order val="2"/>
          <c:tx>
            <c:strRef>
              <c:f>'[DONNEES VAP RDC Jusqu''en Octobre 2025.xlsx]Doses Administrees'!$B$11</c:f>
              <c:strCache>
                <c:ptCount val="1"/>
                <c:pt idx="0">
                  <c:v>VAP3</c:v>
                </c:pt>
              </c:strCache>
            </c:strRef>
          </c:tx>
          <c:spPr>
            <a:solidFill>
              <a:schemeClr val="accent3"/>
            </a:solidFill>
            <a:ln>
              <a:noFill/>
            </a:ln>
            <a:effectLst/>
          </c:spPr>
          <c:invertIfNegative val="0"/>
          <c:dLbls>
            <c:spPr>
              <a:noFill/>
              <a:ln>
                <a:noFill/>
              </a:ln>
              <a:effectLst/>
            </c:spPr>
            <c:txPr>
              <a:bodyPr rot="0" vert="horz"/>
              <a:lstStyle/>
              <a:p>
                <a:pPr>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'[DONNEES VAP RDC Jusqu''en Octobre 2025.xlsx]Doses Administrees'!$C$8</c:f>
              <c:strCache>
                <c:ptCount val="1"/>
                <c:pt idx="0">
                  <c:v>Doses adm</c:v>
                </c:pt>
              </c:strCache>
            </c:strRef>
          </c:cat>
          <c:val>
            <c:numRef>
              <c:f>'[DONNEES VAP RDC Jusqu''en Octobre 2025.xlsx]Doses Administrees'!$C$11</c:f>
              <c:numCache>
                <c:formatCode>#,##0</c:formatCode>
                <c:ptCount val="1"/>
                <c:pt idx="0">
                  <c:v>311534</c:v>
                </c:pt>
              </c:numCache>
            </c:numRef>
          </c:val>
          <c:extLst>
            <c:ext xmlns:c16="http://schemas.microsoft.com/office/drawing/2014/chart" uri="{C3380CC4-5D6E-409C-BE32-E72D297353CC}">
              <c16:uniqueId val="{00000002-5E6D-4056-A8B2-B4AECB291F4F}"/>
            </c:ext>
          </c:extLst>
        </c:ser>
        <c:ser>
          <c:idx val="3"/>
          <c:order val="3"/>
          <c:tx>
            <c:strRef>
              <c:f>'[DONNEES VAP RDC Jusqu''en Octobre 2025.xlsx]Doses Administrees'!$B$12</c:f>
              <c:strCache>
                <c:ptCount val="1"/>
                <c:pt idx="0">
                  <c:v>VAP4</c:v>
                </c:pt>
              </c:strCache>
            </c:strRef>
          </c:tx>
          <c:spPr>
            <a:solidFill>
              <a:schemeClr val="accent4"/>
            </a:solidFill>
            <a:ln>
              <a:noFill/>
            </a:ln>
            <a:effectLst/>
          </c:spPr>
          <c:invertIfNegative val="0"/>
          <c:dLbls>
            <c:spPr>
              <a:noFill/>
              <a:ln>
                <a:noFill/>
              </a:ln>
              <a:effectLst/>
            </c:spPr>
            <c:txPr>
              <a:bodyPr rot="0" vert="horz"/>
              <a:lstStyle/>
              <a:p>
                <a:pPr>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'[DONNEES VAP RDC Jusqu''en Octobre 2025.xlsx]Doses Administrees'!$C$8</c:f>
              <c:strCache>
                <c:ptCount val="1"/>
                <c:pt idx="0">
                  <c:v>Doses adm</c:v>
                </c:pt>
              </c:strCache>
            </c:strRef>
          </c:cat>
          <c:val>
            <c:numRef>
              <c:f>'[DONNEES VAP RDC Jusqu''en Octobre 2025.xlsx]Doses Administrees'!$C$12</c:f>
              <c:numCache>
                <c:formatCode>#,##0</c:formatCode>
                <c:ptCount val="1"/>
                <c:pt idx="0">
                  <c:v>33789</c:v>
                </c:pt>
              </c:numCache>
            </c:numRef>
          </c:val>
          <c:extLst>
            <c:ext xmlns:c16="http://schemas.microsoft.com/office/drawing/2014/chart" uri="{C3380CC4-5D6E-409C-BE32-E72D297353CC}">
              <c16:uniqueId val="{00000003-5E6D-4056-A8B2-B4AECB291F4F}"/>
            </c:ext>
          </c:extLst>
        </c:ser>
        <c:ser>
          <c:idx val="4"/>
          <c:order val="4"/>
          <c:tx>
            <c:strRef>
              <c:f>'[DONNEES VAP RDC Jusqu''en Octobre 2025.xlsx]Doses Administrees'!$B$13</c:f>
              <c:strCache>
                <c:ptCount val="1"/>
                <c:pt idx="0">
                  <c:v>Total</c:v>
                </c:pt>
              </c:strCache>
            </c:strRef>
          </c:tx>
          <c:spPr>
            <a:solidFill>
              <a:schemeClr val="accent5"/>
            </a:solidFill>
            <a:ln>
              <a:noFill/>
            </a:ln>
            <a:effectLst/>
          </c:spPr>
          <c:invertIfNegative val="0"/>
          <c:dLbls>
            <c:spPr>
              <a:noFill/>
              <a:ln>
                <a:noFill/>
              </a:ln>
              <a:effectLst/>
            </c:spPr>
            <c:txPr>
              <a:bodyPr rot="0" vert="horz"/>
              <a:lstStyle/>
              <a:p>
                <a:pPr>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'[DONNEES VAP RDC Jusqu''en Octobre 2025.xlsx]Doses Administrees'!$C$8</c:f>
              <c:strCache>
                <c:ptCount val="1"/>
                <c:pt idx="0">
                  <c:v>Doses adm</c:v>
                </c:pt>
              </c:strCache>
            </c:strRef>
          </c:cat>
          <c:val>
            <c:numRef>
              <c:f>'[DONNEES VAP RDC Jusqu''en Octobre 2025.xlsx]Doses Administrees'!$C$13</c:f>
              <c:numCache>
                <c:formatCode>#,##0</c:formatCode>
                <c:ptCount val="1"/>
                <c:pt idx="0">
                  <c:v>1644579</c:v>
                </c:pt>
              </c:numCache>
            </c:numRef>
          </c:val>
          <c:extLst>
            <c:ext xmlns:c16="http://schemas.microsoft.com/office/drawing/2014/chart" uri="{C3380CC4-5D6E-409C-BE32-E72D297353CC}">
              <c16:uniqueId val="{00000004-5E6D-4056-A8B2-B4AECB291F4F}"/>
            </c:ext>
          </c:extLst>
        </c:ser>
        <c:dLbls>
          <c:showLegendKey val="0"/>
          <c:showVal val="0"/>
          <c:showCatName val="0"/>
          <c:showSerName val="0"/>
          <c:showPercent val="0"/>
          <c:showBubbleSize val="0"/>
        </c:dLbls>
        <c:gapWidth val="219"/>
        <c:overlap val="-27"/>
        <c:axId val="496009264"/>
        <c:axId val="496008872"/>
      </c:barChart>
      <c:catAx>
        <c:axId val="4960092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vert="horz"/>
          <a:lstStyle/>
          <a:p>
            <a:pPr>
              <a:defRPr/>
            </a:pPr>
            <a:endParaRPr lang="fr-FR"/>
          </a:p>
        </c:txPr>
        <c:crossAx val="496008872"/>
        <c:crosses val="autoZero"/>
        <c:auto val="1"/>
        <c:lblAlgn val="ctr"/>
        <c:lblOffset val="100"/>
        <c:noMultiLvlLbl val="0"/>
      </c:catAx>
      <c:valAx>
        <c:axId val="49600887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vert="horz"/>
          <a:lstStyle/>
          <a:p>
            <a:pPr>
              <a:defRPr/>
            </a:pPr>
            <a:endParaRPr lang="fr-FR"/>
          </a:p>
        </c:txPr>
        <c:crossAx val="496009264"/>
        <c:crosses val="autoZero"/>
        <c:crossBetween val="between"/>
      </c:valAx>
      <c:spPr>
        <a:noFill/>
        <a:ln w="25400">
          <a:noFill/>
        </a:ln>
      </c:spPr>
    </c:plotArea>
    <c:legend>
      <c:legendPos val="b"/>
      <c:overlay val="0"/>
      <c:spPr>
        <a:noFill/>
        <a:ln>
          <a:noFill/>
        </a:ln>
        <a:effectLst/>
      </c:spPr>
      <c:txPr>
        <a:bodyPr rot="0" vert="horz"/>
        <a:lstStyle/>
        <a:p>
          <a:pPr>
            <a:defRPr/>
          </a:pPr>
          <a:endParaRPr lang="fr-FR"/>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sz="800"/>
      </a:pPr>
      <a:endParaRPr lang="fr-FR"/>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r>
              <a:rPr lang="en-US"/>
              <a:t>Tendance de CV VAP Kongo Central</a:t>
            </a:r>
          </a:p>
          <a:p>
            <a:pPr>
              <a:defRPr sz="2128" b="1" i="0" u="none" strike="noStrike" kern="1200" baseline="0">
                <a:solidFill>
                  <a:schemeClr val="tx1">
                    <a:lumMod val="65000"/>
                    <a:lumOff val="35000"/>
                  </a:schemeClr>
                </a:solidFill>
                <a:latin typeface="+mn-lt"/>
                <a:ea typeface="+mn-ea"/>
                <a:cs typeface="+mn-cs"/>
              </a:defRPr>
            </a:pPr>
            <a:r>
              <a:rPr lang="en-US"/>
              <a:t>Octobre 2024-Octobre 2025</a:t>
            </a:r>
          </a:p>
        </c:rich>
      </c:tx>
      <c:overlay val="0"/>
      <c:spPr>
        <a:noFill/>
        <a:ln>
          <a:noFill/>
        </a:ln>
        <a:effectLst/>
      </c:spPr>
      <c:txPr>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endParaRPr lang="fr-FR"/>
        </a:p>
      </c:txPr>
    </c:title>
    <c:autoTitleDeleted val="0"/>
    <c:plotArea>
      <c:layout/>
      <c:barChart>
        <c:barDir val="col"/>
        <c:grouping val="clustered"/>
        <c:varyColors val="0"/>
        <c:ser>
          <c:idx val="0"/>
          <c:order val="0"/>
          <c:tx>
            <c:strRef>
              <c:f>'kc Kongo Central Province'!$C$19</c:f>
              <c:strCache>
                <c:ptCount val="1"/>
                <c:pt idx="0">
                  <c:v>CV VAP1</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'kc Kongo Central Province'!$A$20:$A$32</c:f>
              <c:numCache>
                <c:formatCode>[$-409]mmmm\-yy;@</c:formatCode>
                <c:ptCount val="13"/>
                <c:pt idx="0">
                  <c:v>45596</c:v>
                </c:pt>
                <c:pt idx="1">
                  <c:v>45626</c:v>
                </c:pt>
                <c:pt idx="2">
                  <c:v>45657</c:v>
                </c:pt>
                <c:pt idx="3">
                  <c:v>45688</c:v>
                </c:pt>
                <c:pt idx="4">
                  <c:v>45716</c:v>
                </c:pt>
                <c:pt idx="5">
                  <c:v>45747</c:v>
                </c:pt>
                <c:pt idx="6">
                  <c:v>45777</c:v>
                </c:pt>
                <c:pt idx="7">
                  <c:v>45808</c:v>
                </c:pt>
                <c:pt idx="8">
                  <c:v>45838</c:v>
                </c:pt>
                <c:pt idx="9">
                  <c:v>45869</c:v>
                </c:pt>
                <c:pt idx="10">
                  <c:v>45900</c:v>
                </c:pt>
                <c:pt idx="11">
                  <c:v>45930</c:v>
                </c:pt>
                <c:pt idx="12">
                  <c:v>45961</c:v>
                </c:pt>
              </c:numCache>
            </c:numRef>
          </c:cat>
          <c:val>
            <c:numRef>
              <c:f>'kc Kongo Central Province'!$C$20:$C$32</c:f>
              <c:numCache>
                <c:formatCode>0%</c:formatCode>
                <c:ptCount val="13"/>
                <c:pt idx="0">
                  <c:v>0.25796165626236528</c:v>
                </c:pt>
                <c:pt idx="1">
                  <c:v>1.1926042940777677</c:v>
                </c:pt>
                <c:pt idx="2">
                  <c:v>0.88369881352001334</c:v>
                </c:pt>
                <c:pt idx="3">
                  <c:v>0.81898101630573306</c:v>
                </c:pt>
                <c:pt idx="4">
                  <c:v>0.86035215036053325</c:v>
                </c:pt>
                <c:pt idx="5">
                  <c:v>0.84360835242941679</c:v>
                </c:pt>
                <c:pt idx="6">
                  <c:v>0.85463135273406843</c:v>
                </c:pt>
                <c:pt idx="7">
                  <c:v>0.87639829004451986</c:v>
                </c:pt>
                <c:pt idx="8">
                  <c:v>0.85232908051853995</c:v>
                </c:pt>
                <c:pt idx="9">
                  <c:v>0.82951565583739384</c:v>
                </c:pt>
                <c:pt idx="10">
                  <c:v>0.85023610577715036</c:v>
                </c:pt>
                <c:pt idx="11">
                  <c:v>0.86935194174850838</c:v>
                </c:pt>
                <c:pt idx="12">
                  <c:v>0.93465275367986245</c:v>
                </c:pt>
              </c:numCache>
            </c:numRef>
          </c:val>
          <c:extLst>
            <c:ext xmlns:c16="http://schemas.microsoft.com/office/drawing/2014/chart" uri="{C3380CC4-5D6E-409C-BE32-E72D297353CC}">
              <c16:uniqueId val="{00000000-5A92-40AF-B2D5-6314CD151CEE}"/>
            </c:ext>
          </c:extLst>
        </c:ser>
        <c:ser>
          <c:idx val="1"/>
          <c:order val="1"/>
          <c:tx>
            <c:strRef>
              <c:f>'kc Kongo Central Province'!$D$19</c:f>
              <c:strCache>
                <c:ptCount val="1"/>
                <c:pt idx="0">
                  <c:v>CV VAP2</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dLbl>
              <c:idx val="12"/>
              <c:layout>
                <c:manualLayout>
                  <c:x val="-1.1709977004713665E-3"/>
                  <c:y val="-3.284608887556882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A92-40AF-B2D5-6314CD151CEE}"/>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'kc Kongo Central Province'!$A$20:$A$32</c:f>
              <c:numCache>
                <c:formatCode>[$-409]mmmm\-yy;@</c:formatCode>
                <c:ptCount val="13"/>
                <c:pt idx="0">
                  <c:v>45596</c:v>
                </c:pt>
                <c:pt idx="1">
                  <c:v>45626</c:v>
                </c:pt>
                <c:pt idx="2">
                  <c:v>45657</c:v>
                </c:pt>
                <c:pt idx="3">
                  <c:v>45688</c:v>
                </c:pt>
                <c:pt idx="4">
                  <c:v>45716</c:v>
                </c:pt>
                <c:pt idx="5">
                  <c:v>45747</c:v>
                </c:pt>
                <c:pt idx="6">
                  <c:v>45777</c:v>
                </c:pt>
                <c:pt idx="7">
                  <c:v>45808</c:v>
                </c:pt>
                <c:pt idx="8">
                  <c:v>45838</c:v>
                </c:pt>
                <c:pt idx="9">
                  <c:v>45869</c:v>
                </c:pt>
                <c:pt idx="10">
                  <c:v>45900</c:v>
                </c:pt>
                <c:pt idx="11">
                  <c:v>45930</c:v>
                </c:pt>
                <c:pt idx="12">
                  <c:v>45961</c:v>
                </c:pt>
              </c:numCache>
            </c:numRef>
          </c:cat>
          <c:val>
            <c:numRef>
              <c:f>'kc Kongo Central Province'!$D$20:$D$32</c:f>
              <c:numCache>
                <c:formatCode>0%</c:formatCode>
                <c:ptCount val="13"/>
                <c:pt idx="1">
                  <c:v>0.19692994596788949</c:v>
                </c:pt>
                <c:pt idx="2">
                  <c:v>0.81286744254071031</c:v>
                </c:pt>
                <c:pt idx="3">
                  <c:v>0.72975052649782501</c:v>
                </c:pt>
                <c:pt idx="4">
                  <c:v>0.78088887601244317</c:v>
                </c:pt>
                <c:pt idx="5">
                  <c:v>0.7977024397682726</c:v>
                </c:pt>
                <c:pt idx="6">
                  <c:v>0.81207419965914751</c:v>
                </c:pt>
                <c:pt idx="7">
                  <c:v>0.82323673161322508</c:v>
                </c:pt>
                <c:pt idx="8">
                  <c:v>0.81953914290343688</c:v>
                </c:pt>
                <c:pt idx="9">
                  <c:v>0.7921211737912337</c:v>
                </c:pt>
                <c:pt idx="10">
                  <c:v>0.7970745473458557</c:v>
                </c:pt>
                <c:pt idx="11">
                  <c:v>0.80837661094935931</c:v>
                </c:pt>
                <c:pt idx="12">
                  <c:v>0.85658479582603209</c:v>
                </c:pt>
              </c:numCache>
            </c:numRef>
          </c:val>
          <c:extLst>
            <c:ext xmlns:c16="http://schemas.microsoft.com/office/drawing/2014/chart" uri="{C3380CC4-5D6E-409C-BE32-E72D297353CC}">
              <c16:uniqueId val="{00000002-5A92-40AF-B2D5-6314CD151CEE}"/>
            </c:ext>
          </c:extLst>
        </c:ser>
        <c:ser>
          <c:idx val="2"/>
          <c:order val="2"/>
          <c:tx>
            <c:strRef>
              <c:f>'kc Kongo Central Province'!$E$19</c:f>
              <c:strCache>
                <c:ptCount val="1"/>
                <c:pt idx="0">
                  <c:v>CV VAP3</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'kc Kongo Central Province'!$A$20:$A$32</c:f>
              <c:numCache>
                <c:formatCode>[$-409]mmmm\-yy;@</c:formatCode>
                <c:ptCount val="13"/>
                <c:pt idx="0">
                  <c:v>45596</c:v>
                </c:pt>
                <c:pt idx="1">
                  <c:v>45626</c:v>
                </c:pt>
                <c:pt idx="2">
                  <c:v>45657</c:v>
                </c:pt>
                <c:pt idx="3">
                  <c:v>45688</c:v>
                </c:pt>
                <c:pt idx="4">
                  <c:v>45716</c:v>
                </c:pt>
                <c:pt idx="5">
                  <c:v>45747</c:v>
                </c:pt>
                <c:pt idx="6">
                  <c:v>45777</c:v>
                </c:pt>
                <c:pt idx="7">
                  <c:v>45808</c:v>
                </c:pt>
                <c:pt idx="8">
                  <c:v>45838</c:v>
                </c:pt>
                <c:pt idx="9">
                  <c:v>45869</c:v>
                </c:pt>
                <c:pt idx="10">
                  <c:v>45900</c:v>
                </c:pt>
                <c:pt idx="11">
                  <c:v>45930</c:v>
                </c:pt>
                <c:pt idx="12">
                  <c:v>45961</c:v>
                </c:pt>
              </c:numCache>
            </c:numRef>
          </c:cat>
          <c:val>
            <c:numRef>
              <c:f>'kc Kongo Central Province'!$E$20:$E$32</c:f>
              <c:numCache>
                <c:formatCode>General</c:formatCode>
                <c:ptCount val="13"/>
                <c:pt idx="2" formatCode="0%">
                  <c:v>0.15023744505783007</c:v>
                </c:pt>
                <c:pt idx="3" formatCode="0%">
                  <c:v>0.62984586550883026</c:v>
                </c:pt>
                <c:pt idx="4" formatCode="0%">
                  <c:v>0.67993772765275362</c:v>
                </c:pt>
                <c:pt idx="5" formatCode="0%">
                  <c:v>0.70316974728217763</c:v>
                </c:pt>
                <c:pt idx="6" formatCode="0%">
                  <c:v>0.77314486946930172</c:v>
                </c:pt>
                <c:pt idx="7" formatCode="0%">
                  <c:v>0.78235395833141586</c:v>
                </c:pt>
                <c:pt idx="8" formatCode="0%">
                  <c:v>0.75716849561002819</c:v>
                </c:pt>
                <c:pt idx="9" formatCode="0%">
                  <c:v>0.75347090690023999</c:v>
                </c:pt>
                <c:pt idx="10" formatCode="0%">
                  <c:v>0.74182001417317145</c:v>
                </c:pt>
                <c:pt idx="11" formatCode="0%">
                  <c:v>0.74998261566459068</c:v>
                </c:pt>
                <c:pt idx="12" formatCode="0%">
                  <c:v>0.77677269235437696</c:v>
                </c:pt>
              </c:numCache>
            </c:numRef>
          </c:val>
          <c:extLst>
            <c:ext xmlns:c16="http://schemas.microsoft.com/office/drawing/2014/chart" uri="{C3380CC4-5D6E-409C-BE32-E72D297353CC}">
              <c16:uniqueId val="{00000003-5A92-40AF-B2D5-6314CD151CEE}"/>
            </c:ext>
          </c:extLst>
        </c:ser>
        <c:ser>
          <c:idx val="3"/>
          <c:order val="3"/>
          <c:tx>
            <c:strRef>
              <c:f>'kc Kongo Central Province'!$F$19</c:f>
              <c:strCache>
                <c:ptCount val="1"/>
                <c:pt idx="0">
                  <c:v>CV VAP4</c:v>
                </c:pt>
              </c:strCache>
            </c:strRef>
          </c:tx>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'kc Kongo Central Province'!$A$20:$A$32</c:f>
              <c:numCache>
                <c:formatCode>[$-409]mmmm\-yy;@</c:formatCode>
                <c:ptCount val="13"/>
                <c:pt idx="0">
                  <c:v>45596</c:v>
                </c:pt>
                <c:pt idx="1">
                  <c:v>45626</c:v>
                </c:pt>
                <c:pt idx="2">
                  <c:v>45657</c:v>
                </c:pt>
                <c:pt idx="3">
                  <c:v>45688</c:v>
                </c:pt>
                <c:pt idx="4">
                  <c:v>45716</c:v>
                </c:pt>
                <c:pt idx="5">
                  <c:v>45747</c:v>
                </c:pt>
                <c:pt idx="6">
                  <c:v>45777</c:v>
                </c:pt>
                <c:pt idx="7">
                  <c:v>45808</c:v>
                </c:pt>
                <c:pt idx="8">
                  <c:v>45838</c:v>
                </c:pt>
                <c:pt idx="9">
                  <c:v>45869</c:v>
                </c:pt>
                <c:pt idx="10">
                  <c:v>45900</c:v>
                </c:pt>
                <c:pt idx="11">
                  <c:v>45930</c:v>
                </c:pt>
                <c:pt idx="12">
                  <c:v>45961</c:v>
                </c:pt>
              </c:numCache>
            </c:numRef>
          </c:cat>
          <c:val>
            <c:numRef>
              <c:f>'kc Kongo Central Province'!$F$20:$F$32</c:f>
              <c:numCache>
                <c:formatCode>General</c:formatCode>
                <c:ptCount val="13"/>
                <c:pt idx="8" formatCode="0%">
                  <c:v>0.13618288983974708</c:v>
                </c:pt>
                <c:pt idx="9" formatCode="0%">
                  <c:v>0.46157069630110997</c:v>
                </c:pt>
                <c:pt idx="10" formatCode="0%">
                  <c:v>0.55645221791076982</c:v>
                </c:pt>
                <c:pt idx="11" formatCode="0%">
                  <c:v>0.59824194691384791</c:v>
                </c:pt>
                <c:pt idx="12" formatCode="0%">
                  <c:v>0.60486970026158149</c:v>
                </c:pt>
              </c:numCache>
            </c:numRef>
          </c:val>
          <c:extLst>
            <c:ext xmlns:c16="http://schemas.microsoft.com/office/drawing/2014/chart" uri="{C3380CC4-5D6E-409C-BE32-E72D297353CC}">
              <c16:uniqueId val="{00000004-5A92-40AF-B2D5-6314CD151CEE}"/>
            </c:ext>
          </c:extLst>
        </c:ser>
        <c:dLbls>
          <c:showLegendKey val="0"/>
          <c:showVal val="0"/>
          <c:showCatName val="0"/>
          <c:showSerName val="0"/>
          <c:showPercent val="0"/>
          <c:showBubbleSize val="0"/>
        </c:dLbls>
        <c:gapWidth val="150"/>
        <c:axId val="2121374479"/>
        <c:axId val="2121375919"/>
      </c:barChart>
      <c:dateAx>
        <c:axId val="2121374479"/>
        <c:scaling>
          <c:orientation val="minMax"/>
        </c:scaling>
        <c:delete val="0"/>
        <c:axPos val="b"/>
        <c:numFmt formatCode="[$-409]mmmm\-yy;@" sourceLinked="1"/>
        <c:majorTickMark val="out"/>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fr-FR"/>
          </a:p>
        </c:txPr>
        <c:crossAx val="2121375919"/>
        <c:crosses val="autoZero"/>
        <c:auto val="1"/>
        <c:lblOffset val="100"/>
        <c:baseTimeUnit val="months"/>
      </c:dateAx>
      <c:valAx>
        <c:axId val="2121375919"/>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fr-FR"/>
          </a:p>
        </c:txPr>
        <c:crossAx val="212137447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fr-F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fr-FR"/>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'[DONNEES VAP RDC Jusqu''en Octobre 2025.xlsx]Feuil1'!$B$1</c:f>
              <c:strCache>
                <c:ptCount val="1"/>
                <c:pt idx="0">
                  <c:v>CV VAP 1 Aout</c:v>
                </c:pt>
              </c:strCache>
            </c:strRef>
          </c:tx>
          <c:spPr>
            <a:solidFill>
              <a:schemeClr val="accent1"/>
            </a:solidFill>
            <a:ln>
              <a:noFill/>
            </a:ln>
            <a:effectLst/>
          </c:spPr>
          <c:invertIfNegative val="0"/>
          <c:cat>
            <c:strRef>
              <c:f>'[DONNEES VAP RDC Jusqu''en Octobre 2025.xlsx]Feuil1'!$A$2:$A$8</c:f>
              <c:strCache>
                <c:ptCount val="7"/>
                <c:pt idx="0">
                  <c:v>Bas Uele</c:v>
                </c:pt>
                <c:pt idx="1">
                  <c:v>Haut Lomami</c:v>
                </c:pt>
                <c:pt idx="2">
                  <c:v>Haut Uele</c:v>
                </c:pt>
                <c:pt idx="3">
                  <c:v>Kasai Central</c:v>
                </c:pt>
                <c:pt idx="4">
                  <c:v>Lomami</c:v>
                </c:pt>
                <c:pt idx="5">
                  <c:v>Tshopo</c:v>
                </c:pt>
                <c:pt idx="6">
                  <c:v>Maniema</c:v>
                </c:pt>
              </c:strCache>
            </c:strRef>
          </c:cat>
          <c:val>
            <c:numRef>
              <c:f>'[DONNEES VAP RDC Jusqu''en Octobre 2025.xlsx]Feuil1'!$B$2:$B$8</c:f>
              <c:numCache>
                <c:formatCode>0%</c:formatCode>
                <c:ptCount val="7"/>
                <c:pt idx="0">
                  <c:v>0.14000000000000001</c:v>
                </c:pt>
                <c:pt idx="1">
                  <c:v>0.65</c:v>
                </c:pt>
                <c:pt idx="2">
                  <c:v>0.02</c:v>
                </c:pt>
                <c:pt idx="3">
                  <c:v>0.28999999999999998</c:v>
                </c:pt>
                <c:pt idx="4">
                  <c:v>1.1499999999999999</c:v>
                </c:pt>
                <c:pt idx="5">
                  <c:v>1.26</c:v>
                </c:pt>
                <c:pt idx="6">
                  <c:v>0.63</c:v>
                </c:pt>
              </c:numCache>
            </c:numRef>
          </c:val>
          <c:extLst>
            <c:ext xmlns:c16="http://schemas.microsoft.com/office/drawing/2014/chart" uri="{C3380CC4-5D6E-409C-BE32-E72D297353CC}">
              <c16:uniqueId val="{00000000-4034-4E9D-BA88-CF0EEC160F94}"/>
            </c:ext>
          </c:extLst>
        </c:ser>
        <c:ser>
          <c:idx val="1"/>
          <c:order val="1"/>
          <c:tx>
            <c:strRef>
              <c:f>'[DONNEES VAP RDC Jusqu''en Octobre 2025.xlsx]Feuil1'!$C$1</c:f>
              <c:strCache>
                <c:ptCount val="1"/>
                <c:pt idx="0">
                  <c:v>VAP 1 Sept</c:v>
                </c:pt>
              </c:strCache>
            </c:strRef>
          </c:tx>
          <c:spPr>
            <a:solidFill>
              <a:schemeClr val="accent2"/>
            </a:solidFill>
            <a:ln>
              <a:noFill/>
            </a:ln>
            <a:effectLst/>
          </c:spPr>
          <c:invertIfNegative val="0"/>
          <c:cat>
            <c:strRef>
              <c:f>'[DONNEES VAP RDC Jusqu''en Octobre 2025.xlsx]Feuil1'!$A$2:$A$8</c:f>
              <c:strCache>
                <c:ptCount val="7"/>
                <c:pt idx="0">
                  <c:v>Bas Uele</c:v>
                </c:pt>
                <c:pt idx="1">
                  <c:v>Haut Lomami</c:v>
                </c:pt>
                <c:pt idx="2">
                  <c:v>Haut Uele</c:v>
                </c:pt>
                <c:pt idx="3">
                  <c:v>Kasai Central</c:v>
                </c:pt>
                <c:pt idx="4">
                  <c:v>Lomami</c:v>
                </c:pt>
                <c:pt idx="5">
                  <c:v>Tshopo</c:v>
                </c:pt>
                <c:pt idx="6">
                  <c:v>Maniema</c:v>
                </c:pt>
              </c:strCache>
            </c:strRef>
          </c:cat>
          <c:val>
            <c:numRef>
              <c:f>'[DONNEES VAP RDC Jusqu''en Octobre 2025.xlsx]Feuil1'!$C$2:$C$8</c:f>
              <c:numCache>
                <c:formatCode>0%</c:formatCode>
                <c:ptCount val="7"/>
                <c:pt idx="0">
                  <c:v>1.1499999999999999</c:v>
                </c:pt>
                <c:pt idx="1">
                  <c:v>1.41</c:v>
                </c:pt>
                <c:pt idx="2">
                  <c:v>0.79</c:v>
                </c:pt>
                <c:pt idx="3">
                  <c:v>0.59</c:v>
                </c:pt>
                <c:pt idx="4">
                  <c:v>1.08</c:v>
                </c:pt>
                <c:pt idx="5">
                  <c:v>0.47</c:v>
                </c:pt>
                <c:pt idx="6">
                  <c:v>0.87</c:v>
                </c:pt>
              </c:numCache>
            </c:numRef>
          </c:val>
          <c:extLst>
            <c:ext xmlns:c16="http://schemas.microsoft.com/office/drawing/2014/chart" uri="{C3380CC4-5D6E-409C-BE32-E72D297353CC}">
              <c16:uniqueId val="{00000001-4034-4E9D-BA88-CF0EEC160F94}"/>
            </c:ext>
          </c:extLst>
        </c:ser>
        <c:ser>
          <c:idx val="2"/>
          <c:order val="2"/>
          <c:tx>
            <c:strRef>
              <c:f>'[DONNEES VAP RDC Jusqu''en Octobre 2025.xlsx]Feuil1'!$D$1</c:f>
              <c:strCache>
                <c:ptCount val="1"/>
                <c:pt idx="0">
                  <c:v>VAP 2 Sept</c:v>
                </c:pt>
              </c:strCache>
            </c:strRef>
          </c:tx>
          <c:spPr>
            <a:solidFill>
              <a:schemeClr val="accent3"/>
            </a:solidFill>
            <a:ln>
              <a:noFill/>
            </a:ln>
            <a:effectLst/>
          </c:spPr>
          <c:invertIfNegative val="0"/>
          <c:cat>
            <c:strRef>
              <c:f>'[DONNEES VAP RDC Jusqu''en Octobre 2025.xlsx]Feuil1'!$A$2:$A$8</c:f>
              <c:strCache>
                <c:ptCount val="7"/>
                <c:pt idx="0">
                  <c:v>Bas Uele</c:v>
                </c:pt>
                <c:pt idx="1">
                  <c:v>Haut Lomami</c:v>
                </c:pt>
                <c:pt idx="2">
                  <c:v>Haut Uele</c:v>
                </c:pt>
                <c:pt idx="3">
                  <c:v>Kasai Central</c:v>
                </c:pt>
                <c:pt idx="4">
                  <c:v>Lomami</c:v>
                </c:pt>
                <c:pt idx="5">
                  <c:v>Tshopo</c:v>
                </c:pt>
                <c:pt idx="6">
                  <c:v>Maniema</c:v>
                </c:pt>
              </c:strCache>
            </c:strRef>
          </c:cat>
          <c:val>
            <c:numRef>
              <c:f>'[DONNEES VAP RDC Jusqu''en Octobre 2025.xlsx]Feuil1'!$D$2:$D$8</c:f>
              <c:numCache>
                <c:formatCode>0%</c:formatCode>
                <c:ptCount val="7"/>
                <c:pt idx="0">
                  <c:v>0.12</c:v>
                </c:pt>
                <c:pt idx="1">
                  <c:v>0.33</c:v>
                </c:pt>
                <c:pt idx="2">
                  <c:v>0.01</c:v>
                </c:pt>
                <c:pt idx="3">
                  <c:v>0.18</c:v>
                </c:pt>
                <c:pt idx="4">
                  <c:v>0.96</c:v>
                </c:pt>
                <c:pt idx="5">
                  <c:v>0.25</c:v>
                </c:pt>
                <c:pt idx="6">
                  <c:v>0.53</c:v>
                </c:pt>
              </c:numCache>
            </c:numRef>
          </c:val>
          <c:extLst>
            <c:ext xmlns:c16="http://schemas.microsoft.com/office/drawing/2014/chart" uri="{C3380CC4-5D6E-409C-BE32-E72D297353CC}">
              <c16:uniqueId val="{00000002-4034-4E9D-BA88-CF0EEC160F94}"/>
            </c:ext>
          </c:extLst>
        </c:ser>
        <c:ser>
          <c:idx val="3"/>
          <c:order val="3"/>
          <c:tx>
            <c:strRef>
              <c:f>'[DONNEES VAP RDC Jusqu''en Octobre 2025.xlsx]Feuil1'!$E$1</c:f>
              <c:strCache>
                <c:ptCount val="1"/>
                <c:pt idx="0">
                  <c:v>VAP 1 oct</c:v>
                </c:pt>
              </c:strCache>
            </c:strRef>
          </c:tx>
          <c:spPr>
            <a:solidFill>
              <a:schemeClr val="accent4"/>
            </a:solidFill>
            <a:ln>
              <a:noFill/>
            </a:ln>
            <a:effectLst/>
          </c:spPr>
          <c:invertIfNegative val="0"/>
          <c:cat>
            <c:strRef>
              <c:f>'[DONNEES VAP RDC Jusqu''en Octobre 2025.xlsx]Feuil1'!$A$2:$A$8</c:f>
              <c:strCache>
                <c:ptCount val="7"/>
                <c:pt idx="0">
                  <c:v>Bas Uele</c:v>
                </c:pt>
                <c:pt idx="1">
                  <c:v>Haut Lomami</c:v>
                </c:pt>
                <c:pt idx="2">
                  <c:v>Haut Uele</c:v>
                </c:pt>
                <c:pt idx="3">
                  <c:v>Kasai Central</c:v>
                </c:pt>
                <c:pt idx="4">
                  <c:v>Lomami</c:v>
                </c:pt>
                <c:pt idx="5">
                  <c:v>Tshopo</c:v>
                </c:pt>
                <c:pt idx="6">
                  <c:v>Maniema</c:v>
                </c:pt>
              </c:strCache>
            </c:strRef>
          </c:cat>
          <c:val>
            <c:numRef>
              <c:f>'[DONNEES VAP RDC Jusqu''en Octobre 2025.xlsx]Feuil1'!$E$2:$E$8</c:f>
              <c:numCache>
                <c:formatCode>0%</c:formatCode>
                <c:ptCount val="7"/>
                <c:pt idx="0">
                  <c:v>0.92</c:v>
                </c:pt>
                <c:pt idx="1">
                  <c:v>0.96</c:v>
                </c:pt>
                <c:pt idx="2">
                  <c:v>0.98</c:v>
                </c:pt>
                <c:pt idx="3">
                  <c:v>1.01</c:v>
                </c:pt>
                <c:pt idx="4">
                  <c:v>0.93</c:v>
                </c:pt>
                <c:pt idx="5">
                  <c:v>1.04</c:v>
                </c:pt>
                <c:pt idx="6">
                  <c:v>0.84</c:v>
                </c:pt>
              </c:numCache>
            </c:numRef>
          </c:val>
          <c:extLst>
            <c:ext xmlns:c16="http://schemas.microsoft.com/office/drawing/2014/chart" uri="{C3380CC4-5D6E-409C-BE32-E72D297353CC}">
              <c16:uniqueId val="{00000003-4034-4E9D-BA88-CF0EEC160F94}"/>
            </c:ext>
          </c:extLst>
        </c:ser>
        <c:ser>
          <c:idx val="4"/>
          <c:order val="4"/>
          <c:tx>
            <c:strRef>
              <c:f>'[DONNEES VAP RDC Jusqu''en Octobre 2025.xlsx]Feuil1'!$F$1</c:f>
              <c:strCache>
                <c:ptCount val="1"/>
                <c:pt idx="0">
                  <c:v>VAP 2 Oct</c:v>
                </c:pt>
              </c:strCache>
            </c:strRef>
          </c:tx>
          <c:spPr>
            <a:solidFill>
              <a:schemeClr val="accent5"/>
            </a:solidFill>
            <a:ln>
              <a:noFill/>
            </a:ln>
            <a:effectLst/>
          </c:spPr>
          <c:invertIfNegative val="0"/>
          <c:cat>
            <c:strRef>
              <c:f>'[DONNEES VAP RDC Jusqu''en Octobre 2025.xlsx]Feuil1'!$A$2:$A$8</c:f>
              <c:strCache>
                <c:ptCount val="7"/>
                <c:pt idx="0">
                  <c:v>Bas Uele</c:v>
                </c:pt>
                <c:pt idx="1">
                  <c:v>Haut Lomami</c:v>
                </c:pt>
                <c:pt idx="2">
                  <c:v>Haut Uele</c:v>
                </c:pt>
                <c:pt idx="3">
                  <c:v>Kasai Central</c:v>
                </c:pt>
                <c:pt idx="4">
                  <c:v>Lomami</c:v>
                </c:pt>
                <c:pt idx="5">
                  <c:v>Tshopo</c:v>
                </c:pt>
                <c:pt idx="6">
                  <c:v>Maniema</c:v>
                </c:pt>
              </c:strCache>
            </c:strRef>
          </c:cat>
          <c:val>
            <c:numRef>
              <c:f>'[DONNEES VAP RDC Jusqu''en Octobre 2025.xlsx]Feuil1'!$F$2:$F$8</c:f>
              <c:numCache>
                <c:formatCode>0%</c:formatCode>
                <c:ptCount val="7"/>
                <c:pt idx="0">
                  <c:v>0.7</c:v>
                </c:pt>
                <c:pt idx="1">
                  <c:v>0.71</c:v>
                </c:pt>
                <c:pt idx="2">
                  <c:v>0.5</c:v>
                </c:pt>
                <c:pt idx="3">
                  <c:v>0.46</c:v>
                </c:pt>
                <c:pt idx="4">
                  <c:v>0.89</c:v>
                </c:pt>
                <c:pt idx="5">
                  <c:v>0.74</c:v>
                </c:pt>
                <c:pt idx="6">
                  <c:v>0.7</c:v>
                </c:pt>
              </c:numCache>
            </c:numRef>
          </c:val>
          <c:extLst>
            <c:ext xmlns:c16="http://schemas.microsoft.com/office/drawing/2014/chart" uri="{C3380CC4-5D6E-409C-BE32-E72D297353CC}">
              <c16:uniqueId val="{00000004-4034-4E9D-BA88-CF0EEC160F94}"/>
            </c:ext>
          </c:extLst>
        </c:ser>
        <c:ser>
          <c:idx val="5"/>
          <c:order val="5"/>
          <c:tx>
            <c:strRef>
              <c:f>'[DONNEES VAP RDC Jusqu''en Octobre 2025.xlsx]Feuil1'!$G$1</c:f>
              <c:strCache>
                <c:ptCount val="1"/>
                <c:pt idx="0">
                  <c:v>VAP 3 Oct</c:v>
                </c:pt>
              </c:strCache>
            </c:strRef>
          </c:tx>
          <c:spPr>
            <a:solidFill>
              <a:schemeClr val="accent6"/>
            </a:solidFill>
            <a:ln>
              <a:noFill/>
            </a:ln>
            <a:effectLst/>
          </c:spPr>
          <c:invertIfNegative val="0"/>
          <c:cat>
            <c:strRef>
              <c:f>'[DONNEES VAP RDC Jusqu''en Octobre 2025.xlsx]Feuil1'!$A$2:$A$8</c:f>
              <c:strCache>
                <c:ptCount val="7"/>
                <c:pt idx="0">
                  <c:v>Bas Uele</c:v>
                </c:pt>
                <c:pt idx="1">
                  <c:v>Haut Lomami</c:v>
                </c:pt>
                <c:pt idx="2">
                  <c:v>Haut Uele</c:v>
                </c:pt>
                <c:pt idx="3">
                  <c:v>Kasai Central</c:v>
                </c:pt>
                <c:pt idx="4">
                  <c:v>Lomami</c:v>
                </c:pt>
                <c:pt idx="5">
                  <c:v>Tshopo</c:v>
                </c:pt>
                <c:pt idx="6">
                  <c:v>Maniema</c:v>
                </c:pt>
              </c:strCache>
            </c:strRef>
          </c:cat>
          <c:val>
            <c:numRef>
              <c:f>'[DONNEES VAP RDC Jusqu''en Octobre 2025.xlsx]Feuil1'!$G$2:$G$8</c:f>
              <c:numCache>
                <c:formatCode>0%</c:formatCode>
                <c:ptCount val="7"/>
                <c:pt idx="0">
                  <c:v>7.0000000000000007E-2</c:v>
                </c:pt>
                <c:pt idx="1">
                  <c:v>0.21</c:v>
                </c:pt>
                <c:pt idx="2">
                  <c:v>0.02</c:v>
                </c:pt>
                <c:pt idx="3">
                  <c:v>0.14000000000000001</c:v>
                </c:pt>
                <c:pt idx="4">
                  <c:v>0.78</c:v>
                </c:pt>
                <c:pt idx="5">
                  <c:v>0.18</c:v>
                </c:pt>
                <c:pt idx="6">
                  <c:v>0.43</c:v>
                </c:pt>
              </c:numCache>
            </c:numRef>
          </c:val>
          <c:extLst>
            <c:ext xmlns:c16="http://schemas.microsoft.com/office/drawing/2014/chart" uri="{C3380CC4-5D6E-409C-BE32-E72D297353CC}">
              <c16:uniqueId val="{00000005-4034-4E9D-BA88-CF0EEC160F94}"/>
            </c:ext>
          </c:extLst>
        </c:ser>
        <c:dLbls>
          <c:showLegendKey val="0"/>
          <c:showVal val="0"/>
          <c:showCatName val="0"/>
          <c:showSerName val="0"/>
          <c:showPercent val="0"/>
          <c:showBubbleSize val="0"/>
        </c:dLbls>
        <c:gapWidth val="219"/>
        <c:overlap val="-27"/>
        <c:axId val="488774880"/>
        <c:axId val="488777232"/>
      </c:barChart>
      <c:catAx>
        <c:axId val="4887748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488777232"/>
        <c:crosses val="autoZero"/>
        <c:auto val="1"/>
        <c:lblAlgn val="ctr"/>
        <c:lblOffset val="100"/>
        <c:noMultiLvlLbl val="0"/>
      </c:catAx>
      <c:valAx>
        <c:axId val="48877723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488774880"/>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1895931994271572E-2"/>
          <c:y val="1.8173076372711195E-2"/>
          <c:w val="0.94195022140714224"/>
          <c:h val="0.93094580766366419"/>
        </c:manualLayout>
      </c:layout>
      <c:lineChart>
        <c:grouping val="standard"/>
        <c:varyColors val="0"/>
        <c:ser>
          <c:idx val="0"/>
          <c:order val="0"/>
          <c:tx>
            <c:strRef>
              <c:f>'Données  DTC3 sup 100 '!$B$3</c:f>
              <c:strCache>
                <c:ptCount val="1"/>
                <c:pt idx="0">
                  <c:v>CV &gt;100%</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spPr>
              <a:noFill/>
              <a:ln w="25400">
                <a:noFill/>
              </a:ln>
            </c:spPr>
            <c:txPr>
              <a:bodyPr wrap="square" lIns="38100" tIns="19050" rIns="38100" bIns="19050" anchor="ctr">
                <a:spAutoFit/>
              </a:bodyPr>
              <a:lstStyle/>
              <a:p>
                <a:pPr>
                  <a:defRPr sz="1200" b="0" i="0" u="none" strike="noStrike" baseline="0">
                    <a:solidFill>
                      <a:srgbClr val="0066CC"/>
                    </a:solidFill>
                    <a:latin typeface="Calibri"/>
                    <a:ea typeface="Calibri"/>
                    <a:cs typeface="Calibri"/>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'Données  DTC3 sup 100 '!$A$4:$A$9</c:f>
              <c:numCache>
                <c:formatCode>General</c:formatCode>
                <c:ptCount val="6"/>
                <c:pt idx="0">
                  <c:v>2020</c:v>
                </c:pt>
                <c:pt idx="1">
                  <c:v>2021</c:v>
                </c:pt>
                <c:pt idx="2">
                  <c:v>2022</c:v>
                </c:pt>
                <c:pt idx="3">
                  <c:v>2023</c:v>
                </c:pt>
                <c:pt idx="4">
                  <c:v>2024</c:v>
                </c:pt>
                <c:pt idx="5">
                  <c:v>2025</c:v>
                </c:pt>
              </c:numCache>
            </c:numRef>
          </c:cat>
          <c:val>
            <c:numRef>
              <c:f>'Données  DTC3 sup 100 '!$B$4:$B$9</c:f>
              <c:numCache>
                <c:formatCode>General</c:formatCode>
                <c:ptCount val="6"/>
                <c:pt idx="0">
                  <c:v>124</c:v>
                </c:pt>
                <c:pt idx="1">
                  <c:v>81</c:v>
                </c:pt>
                <c:pt idx="2">
                  <c:v>137</c:v>
                </c:pt>
                <c:pt idx="3">
                  <c:v>146</c:v>
                </c:pt>
                <c:pt idx="4">
                  <c:v>161</c:v>
                </c:pt>
                <c:pt idx="5">
                  <c:v>205</c:v>
                </c:pt>
              </c:numCache>
            </c:numRef>
          </c:val>
          <c:smooth val="0"/>
          <c:extLst>
            <c:ext xmlns:c16="http://schemas.microsoft.com/office/drawing/2014/chart" uri="{C3380CC4-5D6E-409C-BE32-E72D297353CC}">
              <c16:uniqueId val="{00000000-FC94-44B2-850D-FB155473AA06}"/>
            </c:ext>
          </c:extLst>
        </c:ser>
        <c:dLbls>
          <c:showLegendKey val="0"/>
          <c:showVal val="0"/>
          <c:showCatName val="0"/>
          <c:showSerName val="0"/>
          <c:showPercent val="0"/>
          <c:showBubbleSize val="0"/>
        </c:dLbls>
        <c:marker val="1"/>
        <c:smooth val="0"/>
        <c:axId val="301814856"/>
        <c:axId val="301810936"/>
      </c:lineChart>
      <c:catAx>
        <c:axId val="3018148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vert="horz"/>
          <a:lstStyle/>
          <a:p>
            <a:pPr>
              <a:defRPr sz="900" b="0" i="0" u="none" strike="noStrike" baseline="0">
                <a:solidFill>
                  <a:srgbClr val="333333"/>
                </a:solidFill>
                <a:latin typeface="Calibri"/>
                <a:ea typeface="Calibri"/>
                <a:cs typeface="Calibri"/>
              </a:defRPr>
            </a:pPr>
            <a:endParaRPr lang="fr-FR"/>
          </a:p>
        </c:txPr>
        <c:crossAx val="301810936"/>
        <c:crosses val="autoZero"/>
        <c:auto val="1"/>
        <c:lblAlgn val="ctr"/>
        <c:lblOffset val="100"/>
        <c:noMultiLvlLbl val="0"/>
      </c:catAx>
      <c:valAx>
        <c:axId val="3018109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ln w="9525">
            <a:noFill/>
          </a:ln>
        </c:spPr>
        <c:txPr>
          <a:bodyPr rot="0" vert="horz"/>
          <a:lstStyle/>
          <a:p>
            <a:pPr>
              <a:defRPr sz="900" b="0" i="0" u="none" strike="noStrike" baseline="0">
                <a:solidFill>
                  <a:srgbClr val="333333"/>
                </a:solidFill>
                <a:latin typeface="Calibri"/>
                <a:ea typeface="Calibri"/>
                <a:cs typeface="Calibri"/>
              </a:defRPr>
            </a:pPr>
            <a:endParaRPr lang="fr-FR"/>
          </a:p>
        </c:txPr>
        <c:crossAx val="301814856"/>
        <c:crosses val="autoZero"/>
        <c:crossBetween val="between"/>
      </c:valAx>
      <c:spPr>
        <a:noFill/>
        <a:ln w="25400">
          <a:noFill/>
        </a:ln>
      </c:spPr>
    </c:plotArea>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sz="1000" b="0" i="0" u="none" strike="noStrike" baseline="0">
          <a:solidFill>
            <a:srgbClr val="000000"/>
          </a:solidFill>
          <a:latin typeface="Calibri"/>
          <a:ea typeface="Calibri"/>
          <a:cs typeface="Calibri"/>
        </a:defRPr>
      </a:pPr>
      <a:endParaRPr lang="fr-FR"/>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'EV Tx néga'!$B$2</c:f>
              <c:strCache>
                <c:ptCount val="1"/>
                <c:pt idx="0">
                  <c:v>Tx Ab négatif</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spPr>
              <a:noFill/>
              <a:ln w="25400">
                <a:noFill/>
              </a:ln>
            </c:spPr>
            <c:txPr>
              <a:bodyPr wrap="square" lIns="38100" tIns="19050" rIns="38100" bIns="19050" anchor="ctr">
                <a:spAutoFit/>
              </a:bodyPr>
              <a:lstStyle/>
              <a:p>
                <a:pPr>
                  <a:defRPr sz="1600" b="1" i="0" u="none" strike="noStrike" baseline="0">
                    <a:solidFill>
                      <a:srgbClr val="0066CC"/>
                    </a:solidFill>
                    <a:latin typeface="Calibri"/>
                    <a:ea typeface="Calibri"/>
                    <a:cs typeface="Calibri"/>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'EV Tx néga'!$A$3:$A$8</c:f>
              <c:numCache>
                <c:formatCode>General</c:formatCode>
                <c:ptCount val="6"/>
                <c:pt idx="0">
                  <c:v>2020</c:v>
                </c:pt>
                <c:pt idx="1">
                  <c:v>2021</c:v>
                </c:pt>
                <c:pt idx="2">
                  <c:v>2022</c:v>
                </c:pt>
                <c:pt idx="3">
                  <c:v>2023</c:v>
                </c:pt>
                <c:pt idx="4">
                  <c:v>2024</c:v>
                </c:pt>
                <c:pt idx="5">
                  <c:v>2025</c:v>
                </c:pt>
              </c:numCache>
            </c:numRef>
          </c:cat>
          <c:val>
            <c:numRef>
              <c:f>'EV Tx néga'!$B$3:$B$8</c:f>
              <c:numCache>
                <c:formatCode>General</c:formatCode>
                <c:ptCount val="6"/>
                <c:pt idx="0">
                  <c:v>9</c:v>
                </c:pt>
                <c:pt idx="1">
                  <c:v>29</c:v>
                </c:pt>
                <c:pt idx="2">
                  <c:v>7</c:v>
                </c:pt>
                <c:pt idx="3">
                  <c:v>6</c:v>
                </c:pt>
                <c:pt idx="4">
                  <c:v>11</c:v>
                </c:pt>
                <c:pt idx="5">
                  <c:v>18</c:v>
                </c:pt>
              </c:numCache>
            </c:numRef>
          </c:val>
          <c:smooth val="0"/>
          <c:extLst>
            <c:ext xmlns:c16="http://schemas.microsoft.com/office/drawing/2014/chart" uri="{C3380CC4-5D6E-409C-BE32-E72D297353CC}">
              <c16:uniqueId val="{00000000-917E-4327-88B8-4BAC13399DCD}"/>
            </c:ext>
          </c:extLst>
        </c:ser>
        <c:dLbls>
          <c:showLegendKey val="0"/>
          <c:showVal val="0"/>
          <c:showCatName val="0"/>
          <c:showSerName val="0"/>
          <c:showPercent val="0"/>
          <c:showBubbleSize val="0"/>
        </c:dLbls>
        <c:marker val="1"/>
        <c:smooth val="0"/>
        <c:axId val="301816816"/>
        <c:axId val="301817208"/>
      </c:lineChart>
      <c:catAx>
        <c:axId val="3018168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vert="horz"/>
          <a:lstStyle/>
          <a:p>
            <a:pPr>
              <a:defRPr sz="1400" b="0" i="0" u="none" strike="noStrike" baseline="0">
                <a:solidFill>
                  <a:srgbClr val="000000"/>
                </a:solidFill>
                <a:latin typeface="Calibri"/>
                <a:ea typeface="Calibri"/>
                <a:cs typeface="Calibri"/>
              </a:defRPr>
            </a:pPr>
            <a:endParaRPr lang="fr-FR"/>
          </a:p>
        </c:txPr>
        <c:crossAx val="301817208"/>
        <c:crosses val="autoZero"/>
        <c:auto val="1"/>
        <c:lblAlgn val="ctr"/>
        <c:lblOffset val="100"/>
        <c:noMultiLvlLbl val="0"/>
      </c:catAx>
      <c:valAx>
        <c:axId val="3018172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ln w="9525">
            <a:noFill/>
          </a:ln>
        </c:spPr>
        <c:txPr>
          <a:bodyPr rot="0" vert="horz"/>
          <a:lstStyle/>
          <a:p>
            <a:pPr>
              <a:defRPr sz="1200" b="0" i="0" u="none" strike="noStrike" baseline="0">
                <a:solidFill>
                  <a:srgbClr val="333333"/>
                </a:solidFill>
                <a:latin typeface="Calibri"/>
                <a:ea typeface="Calibri"/>
                <a:cs typeface="Calibri"/>
              </a:defRPr>
            </a:pPr>
            <a:endParaRPr lang="fr-FR"/>
          </a:p>
        </c:txPr>
        <c:crossAx val="301816816"/>
        <c:crosses val="autoZero"/>
        <c:crossBetween val="between"/>
      </c:valAx>
      <c:spPr>
        <a:noFill/>
        <a:ln w="25400">
          <a:noFill/>
        </a:ln>
      </c:spPr>
    </c:plotArea>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sz="1000" b="0" i="0" u="none" strike="noStrike" baseline="0">
          <a:solidFill>
            <a:srgbClr val="000000"/>
          </a:solidFill>
          <a:latin typeface="Calibri"/>
          <a:ea typeface="Calibri"/>
          <a:cs typeface="Calibri"/>
        </a:defRPr>
      </a:pPr>
      <a:endParaRPr lang="fr-FR"/>
    </a:p>
  </c:tx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'CV RDC 1995-2024 '!$A$17</c:f>
              <c:strCache>
                <c:ptCount val="1"/>
                <c:pt idx="0">
                  <c:v>Cible</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numRef>
              <c:f>'CV RDC 1995-2024 '!$B$16:$G$16</c:f>
              <c:numCache>
                <c:formatCode>_-* #,##0\ _F_-;\-* #,##0\ _F_-;_-* "-"??\ _F_-;_-@_-</c:formatCode>
                <c:ptCount val="6"/>
                <c:pt idx="0">
                  <c:v>2020</c:v>
                </c:pt>
                <c:pt idx="1">
                  <c:v>2021</c:v>
                </c:pt>
                <c:pt idx="2">
                  <c:v>2022</c:v>
                </c:pt>
                <c:pt idx="3" formatCode="General">
                  <c:v>2023</c:v>
                </c:pt>
                <c:pt idx="4" formatCode="General">
                  <c:v>2024</c:v>
                </c:pt>
                <c:pt idx="5" formatCode="General">
                  <c:v>2025</c:v>
                </c:pt>
              </c:numCache>
            </c:numRef>
          </c:cat>
          <c:val>
            <c:numRef>
              <c:f>'CV RDC 1995-2024 '!$B$17:$G$17</c:f>
              <c:numCache>
                <c:formatCode>_-* #,##0\ _F_-;\-* #,##0\ _F_-;_-* "-"??\ _F_-;_-@_-</c:formatCode>
                <c:ptCount val="6"/>
                <c:pt idx="0">
                  <c:v>3921467</c:v>
                </c:pt>
                <c:pt idx="1">
                  <c:v>4081418</c:v>
                </c:pt>
                <c:pt idx="2">
                  <c:v>4211597</c:v>
                </c:pt>
                <c:pt idx="3" formatCode="General">
                  <c:v>4324938</c:v>
                </c:pt>
                <c:pt idx="4" formatCode="General">
                  <c:v>4487354</c:v>
                </c:pt>
                <c:pt idx="5">
                  <c:v>4083987.4999999995</c:v>
                </c:pt>
              </c:numCache>
            </c:numRef>
          </c:val>
          <c:smooth val="0"/>
          <c:extLst>
            <c:ext xmlns:c16="http://schemas.microsoft.com/office/drawing/2014/chart" uri="{C3380CC4-5D6E-409C-BE32-E72D297353CC}">
              <c16:uniqueId val="{00000000-288E-42B8-831A-9AC518708F69}"/>
            </c:ext>
          </c:extLst>
        </c:ser>
        <c:ser>
          <c:idx val="1"/>
          <c:order val="1"/>
          <c:tx>
            <c:strRef>
              <c:f>'CV RDC 1995-2024 '!$A$18</c:f>
              <c:strCache>
                <c:ptCount val="1"/>
                <c:pt idx="0">
                  <c:v>DTC-HepB-Hib1</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numRef>
              <c:f>'CV RDC 1995-2024 '!$B$16:$G$16</c:f>
              <c:numCache>
                <c:formatCode>_-* #,##0\ _F_-;\-* #,##0\ _F_-;_-* "-"??\ _F_-;_-@_-</c:formatCode>
                <c:ptCount val="6"/>
                <c:pt idx="0">
                  <c:v>2020</c:v>
                </c:pt>
                <c:pt idx="1">
                  <c:v>2021</c:v>
                </c:pt>
                <c:pt idx="2">
                  <c:v>2022</c:v>
                </c:pt>
                <c:pt idx="3" formatCode="General">
                  <c:v>2023</c:v>
                </c:pt>
                <c:pt idx="4" formatCode="General">
                  <c:v>2024</c:v>
                </c:pt>
                <c:pt idx="5" formatCode="General">
                  <c:v>2025</c:v>
                </c:pt>
              </c:numCache>
            </c:numRef>
          </c:cat>
          <c:val>
            <c:numRef>
              <c:f>'CV RDC 1995-2024 '!$B$18:$G$18</c:f>
              <c:numCache>
                <c:formatCode>_-* #,##0\ _F_-;\-* #,##0\ _F_-;_-* "-"??\ _F_-;_-@_-</c:formatCode>
                <c:ptCount val="6"/>
                <c:pt idx="0">
                  <c:v>3930179</c:v>
                </c:pt>
                <c:pt idx="1">
                  <c:v>3739699</c:v>
                </c:pt>
                <c:pt idx="2">
                  <c:v>4263357</c:v>
                </c:pt>
                <c:pt idx="3" formatCode="General">
                  <c:v>4244011</c:v>
                </c:pt>
                <c:pt idx="4" formatCode="General">
                  <c:v>4692347</c:v>
                </c:pt>
                <c:pt idx="5">
                  <c:v>4085919</c:v>
                </c:pt>
              </c:numCache>
            </c:numRef>
          </c:val>
          <c:smooth val="0"/>
          <c:extLst>
            <c:ext xmlns:c16="http://schemas.microsoft.com/office/drawing/2014/chart" uri="{C3380CC4-5D6E-409C-BE32-E72D297353CC}">
              <c16:uniqueId val="{00000001-288E-42B8-831A-9AC518708F69}"/>
            </c:ext>
          </c:extLst>
        </c:ser>
        <c:ser>
          <c:idx val="2"/>
          <c:order val="2"/>
          <c:tx>
            <c:strRef>
              <c:f>'CV RDC 1995-2024 '!$A$19</c:f>
              <c:strCache>
                <c:ptCount val="1"/>
                <c:pt idx="0">
                  <c:v>DTC-HepB-Hib3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numRef>
              <c:f>'CV RDC 1995-2024 '!$B$16:$G$16</c:f>
              <c:numCache>
                <c:formatCode>_-* #,##0\ _F_-;\-* #,##0\ _F_-;_-* "-"??\ _F_-;_-@_-</c:formatCode>
                <c:ptCount val="6"/>
                <c:pt idx="0">
                  <c:v>2020</c:v>
                </c:pt>
                <c:pt idx="1">
                  <c:v>2021</c:v>
                </c:pt>
                <c:pt idx="2">
                  <c:v>2022</c:v>
                </c:pt>
                <c:pt idx="3" formatCode="General">
                  <c:v>2023</c:v>
                </c:pt>
                <c:pt idx="4" formatCode="General">
                  <c:v>2024</c:v>
                </c:pt>
                <c:pt idx="5" formatCode="General">
                  <c:v>2025</c:v>
                </c:pt>
              </c:numCache>
            </c:numRef>
          </c:cat>
          <c:val>
            <c:numRef>
              <c:f>'CV RDC 1995-2024 '!$B$19:$G$19</c:f>
              <c:numCache>
                <c:formatCode>_-* #,##0\ _F_-;\-* #,##0\ _F_-;_-* "-"??\ _F_-;_-@_-</c:formatCode>
                <c:ptCount val="6"/>
                <c:pt idx="0">
                  <c:v>3710713</c:v>
                </c:pt>
                <c:pt idx="1">
                  <c:v>3513627</c:v>
                </c:pt>
                <c:pt idx="2">
                  <c:v>3999784</c:v>
                </c:pt>
                <c:pt idx="3" formatCode="General">
                  <c:v>3985031</c:v>
                </c:pt>
                <c:pt idx="4" formatCode="General">
                  <c:v>4431254</c:v>
                </c:pt>
                <c:pt idx="5">
                  <c:v>3869106</c:v>
                </c:pt>
              </c:numCache>
            </c:numRef>
          </c:val>
          <c:smooth val="0"/>
          <c:extLst>
            <c:ext xmlns:c16="http://schemas.microsoft.com/office/drawing/2014/chart" uri="{C3380CC4-5D6E-409C-BE32-E72D297353CC}">
              <c16:uniqueId val="{00000002-288E-42B8-831A-9AC518708F69}"/>
            </c:ext>
          </c:extLst>
        </c:ser>
        <c:ser>
          <c:idx val="3"/>
          <c:order val="3"/>
          <c:tx>
            <c:strRef>
              <c:f>'CV RDC 1995-2024 '!$A$20</c:f>
              <c:strCache>
                <c:ptCount val="1"/>
                <c:pt idx="0">
                  <c:v>VAR1</c:v>
                </c:pt>
              </c:strCache>
            </c:strRef>
          </c:tx>
          <c:spPr>
            <a:ln w="28575" cap="rnd">
              <a:solidFill>
                <a:schemeClr val="accent4"/>
              </a:solidFill>
              <a:round/>
            </a:ln>
            <a:effectLst/>
          </c:spPr>
          <c:marker>
            <c:symbol val="circle"/>
            <c:size val="5"/>
            <c:spPr>
              <a:solidFill>
                <a:schemeClr val="accent4"/>
              </a:solidFill>
              <a:ln w="9525">
                <a:solidFill>
                  <a:schemeClr val="accent4"/>
                </a:solidFill>
              </a:ln>
              <a:effectLst/>
            </c:spPr>
          </c:marker>
          <c:cat>
            <c:numRef>
              <c:f>'CV RDC 1995-2024 '!$B$16:$G$16</c:f>
              <c:numCache>
                <c:formatCode>_-* #,##0\ _F_-;\-* #,##0\ _F_-;_-* "-"??\ _F_-;_-@_-</c:formatCode>
                <c:ptCount val="6"/>
                <c:pt idx="0">
                  <c:v>2020</c:v>
                </c:pt>
                <c:pt idx="1">
                  <c:v>2021</c:v>
                </c:pt>
                <c:pt idx="2">
                  <c:v>2022</c:v>
                </c:pt>
                <c:pt idx="3" formatCode="General">
                  <c:v>2023</c:v>
                </c:pt>
                <c:pt idx="4" formatCode="General">
                  <c:v>2024</c:v>
                </c:pt>
                <c:pt idx="5" formatCode="General">
                  <c:v>2025</c:v>
                </c:pt>
              </c:numCache>
            </c:numRef>
          </c:cat>
          <c:val>
            <c:numRef>
              <c:f>'CV RDC 1995-2024 '!$B$20:$G$20</c:f>
              <c:numCache>
                <c:formatCode>_-* #,##0\ _F_-;\-* #,##0\ _F_-;_-* "-"??\ _F_-;_-@_-</c:formatCode>
                <c:ptCount val="6"/>
                <c:pt idx="0">
                  <c:v>3573901</c:v>
                </c:pt>
                <c:pt idx="1">
                  <c:v>3447653</c:v>
                </c:pt>
                <c:pt idx="2">
                  <c:v>3996876</c:v>
                </c:pt>
                <c:pt idx="3" formatCode="General">
                  <c:v>4136412</c:v>
                </c:pt>
                <c:pt idx="4" formatCode="General">
                  <c:v>4278821</c:v>
                </c:pt>
                <c:pt idx="5">
                  <c:v>3287902</c:v>
                </c:pt>
              </c:numCache>
            </c:numRef>
          </c:val>
          <c:smooth val="0"/>
          <c:extLst>
            <c:ext xmlns:c16="http://schemas.microsoft.com/office/drawing/2014/chart" uri="{C3380CC4-5D6E-409C-BE32-E72D297353CC}">
              <c16:uniqueId val="{00000003-288E-42B8-831A-9AC518708F69}"/>
            </c:ext>
          </c:extLst>
        </c:ser>
        <c:dLbls>
          <c:showLegendKey val="0"/>
          <c:showVal val="0"/>
          <c:showCatName val="0"/>
          <c:showSerName val="0"/>
          <c:showPercent val="0"/>
          <c:showBubbleSize val="0"/>
        </c:dLbls>
        <c:marker val="1"/>
        <c:smooth val="0"/>
        <c:axId val="301812896"/>
        <c:axId val="301810152"/>
      </c:lineChart>
      <c:catAx>
        <c:axId val="301812896"/>
        <c:scaling>
          <c:orientation val="minMax"/>
        </c:scaling>
        <c:delete val="0"/>
        <c:axPos val="b"/>
        <c:numFmt formatCode="_-* #,##0\ _F_-;\-* #,##0\ _F_-;_-* &quot;-&quot;??\ _F_-;_-@_-"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fr-FR"/>
          </a:p>
        </c:txPr>
        <c:crossAx val="301810152"/>
        <c:crosses val="autoZero"/>
        <c:auto val="1"/>
        <c:lblAlgn val="ctr"/>
        <c:lblOffset val="100"/>
        <c:noMultiLvlLbl val="0"/>
      </c:catAx>
      <c:valAx>
        <c:axId val="301810152"/>
        <c:scaling>
          <c:orientation val="minMax"/>
        </c:scaling>
        <c:delete val="0"/>
        <c:axPos val="l"/>
        <c:majorGridlines>
          <c:spPr>
            <a:ln w="9525" cap="flat" cmpd="sng" algn="ctr">
              <a:solidFill>
                <a:schemeClr val="tx1">
                  <a:lumMod val="15000"/>
                  <a:lumOff val="85000"/>
                </a:schemeClr>
              </a:solidFill>
              <a:round/>
            </a:ln>
            <a:effectLst/>
          </c:spPr>
        </c:majorGridlines>
        <c:numFmt formatCode="_-* #,##0\ _F_-;\-* #,##0\ _F_-;_-* &quot;-&quot;??\ _F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301812896"/>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6.9865610640312187E-2"/>
          <c:y val="8.5619116246071783E-2"/>
          <c:w val="0.9224685385734408"/>
          <c:h val="0.77832138162595699"/>
        </c:manualLayout>
      </c:layout>
      <c:barChart>
        <c:barDir val="col"/>
        <c:grouping val="clustered"/>
        <c:varyColors val="0"/>
        <c:ser>
          <c:idx val="0"/>
          <c:order val="0"/>
          <c:tx>
            <c:strRef>
              <c:f>'Tableau synthese CV Antigènes'!$AM$1</c:f>
              <c:strCache>
                <c:ptCount val="1"/>
                <c:pt idx="0">
                  <c:v>PENTA3</c:v>
                </c:pt>
              </c:strCache>
            </c:strRef>
          </c:tx>
          <c:invertIfNegative val="0"/>
          <c:cat>
            <c:strRef>
              <c:f>'Tableau synthese CV Antigènes'!$AL$2:$AL$28</c:f>
              <c:strCache>
                <c:ptCount val="27"/>
                <c:pt idx="0">
                  <c:v>BAS UELE</c:v>
                </c:pt>
                <c:pt idx="1">
                  <c:v>EQUATEUR</c:v>
                </c:pt>
                <c:pt idx="2">
                  <c:v>HAUT KATANGA</c:v>
                </c:pt>
                <c:pt idx="3">
                  <c:v>HAUT LOMAMI</c:v>
                </c:pt>
                <c:pt idx="4">
                  <c:v>HAUT UELE</c:v>
                </c:pt>
                <c:pt idx="5">
                  <c:v>ITURI</c:v>
                </c:pt>
                <c:pt idx="6">
                  <c:v>KASAI </c:v>
                </c:pt>
                <c:pt idx="7">
                  <c:v>KASAI CENTRAL</c:v>
                </c:pt>
                <c:pt idx="8">
                  <c:v>KASAI-ORIENTAL  </c:v>
                </c:pt>
                <c:pt idx="9">
                  <c:v>KINSHASA</c:v>
                </c:pt>
                <c:pt idx="10">
                  <c:v>KONGO CENTRAL</c:v>
                </c:pt>
                <c:pt idx="11">
                  <c:v>KWANGO</c:v>
                </c:pt>
                <c:pt idx="12">
                  <c:v>KWILU</c:v>
                </c:pt>
                <c:pt idx="13">
                  <c:v>LOMAMI</c:v>
                </c:pt>
                <c:pt idx="14">
                  <c:v>LUALABA</c:v>
                </c:pt>
                <c:pt idx="15">
                  <c:v>Juinndombe</c:v>
                </c:pt>
                <c:pt idx="16">
                  <c:v>MANIEMA</c:v>
                </c:pt>
                <c:pt idx="17">
                  <c:v>MONGALA</c:v>
                </c:pt>
                <c:pt idx="18">
                  <c:v>NORD-KIVU</c:v>
                </c:pt>
                <c:pt idx="19">
                  <c:v>NORD-UBANGI</c:v>
                </c:pt>
                <c:pt idx="20">
                  <c:v>SANKURU</c:v>
                </c:pt>
                <c:pt idx="21">
                  <c:v>SUD-KIVU</c:v>
                </c:pt>
                <c:pt idx="22">
                  <c:v>SUD-UBANGI</c:v>
                </c:pt>
                <c:pt idx="23">
                  <c:v>TANGANYIKA</c:v>
                </c:pt>
                <c:pt idx="24">
                  <c:v>TSHOPO</c:v>
                </c:pt>
                <c:pt idx="25">
                  <c:v>TSHUAPA</c:v>
                </c:pt>
                <c:pt idx="26">
                  <c:v>National</c:v>
                </c:pt>
              </c:strCache>
            </c:strRef>
          </c:cat>
          <c:val>
            <c:numRef>
              <c:f>'Tableau synthese CV Antigènes'!$AM$2:$AM$28</c:f>
              <c:numCache>
                <c:formatCode>0.0%</c:formatCode>
                <c:ptCount val="27"/>
                <c:pt idx="0">
                  <c:v>0.90304422373912208</c:v>
                </c:pt>
                <c:pt idx="1">
                  <c:v>0.90404766440930417</c:v>
                </c:pt>
                <c:pt idx="2">
                  <c:v>0.89619965660362055</c:v>
                </c:pt>
                <c:pt idx="3">
                  <c:v>1.0135683489728633</c:v>
                </c:pt>
                <c:pt idx="4">
                  <c:v>0.93151896444292559</c:v>
                </c:pt>
                <c:pt idx="5">
                  <c:v>0.84841537773209141</c:v>
                </c:pt>
                <c:pt idx="6">
                  <c:v>0.8431495478948855</c:v>
                </c:pt>
                <c:pt idx="7">
                  <c:v>0.94321768058580935</c:v>
                </c:pt>
                <c:pt idx="8">
                  <c:v>0.89266679090570245</c:v>
                </c:pt>
                <c:pt idx="9">
                  <c:v>0.77388506156133297</c:v>
                </c:pt>
                <c:pt idx="10">
                  <c:v>1.2719820469291412</c:v>
                </c:pt>
                <c:pt idx="11">
                  <c:v>1.0278494350179848</c:v>
                </c:pt>
                <c:pt idx="12">
                  <c:v>0.92937784741063434</c:v>
                </c:pt>
                <c:pt idx="13">
                  <c:v>0.95305894667445457</c:v>
                </c:pt>
                <c:pt idx="14">
                  <c:v>1.1982106315138248</c:v>
                </c:pt>
                <c:pt idx="15">
                  <c:v>0.95184207217402239</c:v>
                </c:pt>
                <c:pt idx="16">
                  <c:v>1.2827544334539198</c:v>
                </c:pt>
                <c:pt idx="17">
                  <c:v>0.94524616676515416</c:v>
                </c:pt>
                <c:pt idx="18">
                  <c:v>0.97200197198143046</c:v>
                </c:pt>
                <c:pt idx="19">
                  <c:v>0.93409546559740653</c:v>
                </c:pt>
                <c:pt idx="20">
                  <c:v>1.2473012092518903</c:v>
                </c:pt>
                <c:pt idx="21">
                  <c:v>0.82075638735730372</c:v>
                </c:pt>
                <c:pt idx="22">
                  <c:v>0.98250057055354734</c:v>
                </c:pt>
                <c:pt idx="23">
                  <c:v>0.99363415219104401</c:v>
                </c:pt>
                <c:pt idx="24">
                  <c:v>0.97081278002921778</c:v>
                </c:pt>
                <c:pt idx="25">
                  <c:v>0.87514783269136875</c:v>
                </c:pt>
                <c:pt idx="26">
                  <c:v>0.93908261635635926</c:v>
                </c:pt>
              </c:numCache>
            </c:numRef>
          </c:val>
          <c:extLst>
            <c:ext xmlns:c16="http://schemas.microsoft.com/office/drawing/2014/chart" uri="{C3380CC4-5D6E-409C-BE32-E72D297353CC}">
              <c16:uniqueId val="{00000000-B09A-47D4-8175-EF148BE6E96F}"/>
            </c:ext>
          </c:extLst>
        </c:ser>
        <c:ser>
          <c:idx val="1"/>
          <c:order val="1"/>
          <c:tx>
            <c:strRef>
              <c:f>'Tableau synthese CV Antigènes'!$AN$1</c:f>
              <c:strCache>
                <c:ptCount val="1"/>
                <c:pt idx="0">
                  <c:v>VPO3</c:v>
                </c:pt>
              </c:strCache>
            </c:strRef>
          </c:tx>
          <c:invertIfNegative val="0"/>
          <c:cat>
            <c:strRef>
              <c:f>'Tableau synthese CV Antigènes'!$AL$2:$AL$28</c:f>
              <c:strCache>
                <c:ptCount val="27"/>
                <c:pt idx="0">
                  <c:v>BAS UELE</c:v>
                </c:pt>
                <c:pt idx="1">
                  <c:v>EQUATEUR</c:v>
                </c:pt>
                <c:pt idx="2">
                  <c:v>HAUT KATANGA</c:v>
                </c:pt>
                <c:pt idx="3">
                  <c:v>HAUT LOMAMI</c:v>
                </c:pt>
                <c:pt idx="4">
                  <c:v>HAUT UELE</c:v>
                </c:pt>
                <c:pt idx="5">
                  <c:v>ITURI</c:v>
                </c:pt>
                <c:pt idx="6">
                  <c:v>KASAI </c:v>
                </c:pt>
                <c:pt idx="7">
                  <c:v>KASAI CENTRAL</c:v>
                </c:pt>
                <c:pt idx="8">
                  <c:v>KASAI-ORIENTAL  </c:v>
                </c:pt>
                <c:pt idx="9">
                  <c:v>KINSHASA</c:v>
                </c:pt>
                <c:pt idx="10">
                  <c:v>KONGO CENTRAL</c:v>
                </c:pt>
                <c:pt idx="11">
                  <c:v>KWANGO</c:v>
                </c:pt>
                <c:pt idx="12">
                  <c:v>KWILU</c:v>
                </c:pt>
                <c:pt idx="13">
                  <c:v>LOMAMI</c:v>
                </c:pt>
                <c:pt idx="14">
                  <c:v>LUALABA</c:v>
                </c:pt>
                <c:pt idx="15">
                  <c:v>Juinndombe</c:v>
                </c:pt>
                <c:pt idx="16">
                  <c:v>MANIEMA</c:v>
                </c:pt>
                <c:pt idx="17">
                  <c:v>MONGALA</c:v>
                </c:pt>
                <c:pt idx="18">
                  <c:v>NORD-KIVU</c:v>
                </c:pt>
                <c:pt idx="19">
                  <c:v>NORD-UBANGI</c:v>
                </c:pt>
                <c:pt idx="20">
                  <c:v>SANKURU</c:v>
                </c:pt>
                <c:pt idx="21">
                  <c:v>SUD-KIVU</c:v>
                </c:pt>
                <c:pt idx="22">
                  <c:v>SUD-UBANGI</c:v>
                </c:pt>
                <c:pt idx="23">
                  <c:v>TANGANYIKA</c:v>
                </c:pt>
                <c:pt idx="24">
                  <c:v>TSHOPO</c:v>
                </c:pt>
                <c:pt idx="25">
                  <c:v>TSHUAPA</c:v>
                </c:pt>
                <c:pt idx="26">
                  <c:v>National</c:v>
                </c:pt>
              </c:strCache>
            </c:strRef>
          </c:cat>
          <c:val>
            <c:numRef>
              <c:f>'Tableau synthese CV Antigènes'!$AN$2:$AN$28</c:f>
              <c:numCache>
                <c:formatCode>0.0%</c:formatCode>
                <c:ptCount val="27"/>
                <c:pt idx="0">
                  <c:v>0.90016498980945303</c:v>
                </c:pt>
                <c:pt idx="1">
                  <c:v>0.90352806692415599</c:v>
                </c:pt>
                <c:pt idx="2">
                  <c:v>0.89178147011505127</c:v>
                </c:pt>
                <c:pt idx="3">
                  <c:v>0.99138865192631365</c:v>
                </c:pt>
                <c:pt idx="4">
                  <c:v>0.94183031496854319</c:v>
                </c:pt>
                <c:pt idx="5">
                  <c:v>0.86948451244809444</c:v>
                </c:pt>
                <c:pt idx="6">
                  <c:v>0.85293338513704431</c:v>
                </c:pt>
                <c:pt idx="7">
                  <c:v>0.9466820427397884</c:v>
                </c:pt>
                <c:pt idx="8">
                  <c:v>0.88806373462541921</c:v>
                </c:pt>
                <c:pt idx="9">
                  <c:v>0.77305705863937224</c:v>
                </c:pt>
                <c:pt idx="10">
                  <c:v>1.2713425269179786</c:v>
                </c:pt>
                <c:pt idx="11">
                  <c:v>1.0479053882207607</c:v>
                </c:pt>
                <c:pt idx="12">
                  <c:v>0.92552256486682716</c:v>
                </c:pt>
                <c:pt idx="13">
                  <c:v>0.9482243131177025</c:v>
                </c:pt>
                <c:pt idx="14">
                  <c:v>1.1948952235917447</c:v>
                </c:pt>
                <c:pt idx="15">
                  <c:v>0.95040179234822764</c:v>
                </c:pt>
                <c:pt idx="16">
                  <c:v>1.2135562920050258</c:v>
                </c:pt>
                <c:pt idx="17">
                  <c:v>0.94865175877834118</c:v>
                </c:pt>
                <c:pt idx="18">
                  <c:v>0.96658929378415015</c:v>
                </c:pt>
                <c:pt idx="19">
                  <c:v>0.94714840250821142</c:v>
                </c:pt>
                <c:pt idx="20">
                  <c:v>1.2364382739357325</c:v>
                </c:pt>
                <c:pt idx="21">
                  <c:v>0.81324532111516656</c:v>
                </c:pt>
                <c:pt idx="22">
                  <c:v>0.98008584070144955</c:v>
                </c:pt>
                <c:pt idx="23">
                  <c:v>0.98730256621098433</c:v>
                </c:pt>
                <c:pt idx="24">
                  <c:v>0.96730420112592375</c:v>
                </c:pt>
                <c:pt idx="25">
                  <c:v>0.83884337872294257</c:v>
                </c:pt>
                <c:pt idx="26">
                  <c:v>0.93594393551237198</c:v>
                </c:pt>
              </c:numCache>
            </c:numRef>
          </c:val>
          <c:extLst>
            <c:ext xmlns:c16="http://schemas.microsoft.com/office/drawing/2014/chart" uri="{C3380CC4-5D6E-409C-BE32-E72D297353CC}">
              <c16:uniqueId val="{00000001-B09A-47D4-8175-EF148BE6E96F}"/>
            </c:ext>
          </c:extLst>
        </c:ser>
        <c:ser>
          <c:idx val="2"/>
          <c:order val="2"/>
          <c:tx>
            <c:strRef>
              <c:f>'Tableau synthese CV Antigènes'!$AO$1</c:f>
              <c:strCache>
                <c:ptCount val="1"/>
                <c:pt idx="0">
                  <c:v>VPI1</c:v>
                </c:pt>
              </c:strCache>
            </c:strRef>
          </c:tx>
          <c:invertIfNegative val="0"/>
          <c:cat>
            <c:strRef>
              <c:f>'Tableau synthese CV Antigènes'!$AL$2:$AL$28</c:f>
              <c:strCache>
                <c:ptCount val="27"/>
                <c:pt idx="0">
                  <c:v>BAS UELE</c:v>
                </c:pt>
                <c:pt idx="1">
                  <c:v>EQUATEUR</c:v>
                </c:pt>
                <c:pt idx="2">
                  <c:v>HAUT KATANGA</c:v>
                </c:pt>
                <c:pt idx="3">
                  <c:v>HAUT LOMAMI</c:v>
                </c:pt>
                <c:pt idx="4">
                  <c:v>HAUT UELE</c:v>
                </c:pt>
                <c:pt idx="5">
                  <c:v>ITURI</c:v>
                </c:pt>
                <c:pt idx="6">
                  <c:v>KASAI </c:v>
                </c:pt>
                <c:pt idx="7">
                  <c:v>KASAI CENTRAL</c:v>
                </c:pt>
                <c:pt idx="8">
                  <c:v>KASAI-ORIENTAL  </c:v>
                </c:pt>
                <c:pt idx="9">
                  <c:v>KINSHASA</c:v>
                </c:pt>
                <c:pt idx="10">
                  <c:v>KONGO CENTRAL</c:v>
                </c:pt>
                <c:pt idx="11">
                  <c:v>KWANGO</c:v>
                </c:pt>
                <c:pt idx="12">
                  <c:v>KWILU</c:v>
                </c:pt>
                <c:pt idx="13">
                  <c:v>LOMAMI</c:v>
                </c:pt>
                <c:pt idx="14">
                  <c:v>LUALABA</c:v>
                </c:pt>
                <c:pt idx="15">
                  <c:v>Juinndombe</c:v>
                </c:pt>
                <c:pt idx="16">
                  <c:v>MANIEMA</c:v>
                </c:pt>
                <c:pt idx="17">
                  <c:v>MONGALA</c:v>
                </c:pt>
                <c:pt idx="18">
                  <c:v>NORD-KIVU</c:v>
                </c:pt>
                <c:pt idx="19">
                  <c:v>NORD-UBANGI</c:v>
                </c:pt>
                <c:pt idx="20">
                  <c:v>SANKURU</c:v>
                </c:pt>
                <c:pt idx="21">
                  <c:v>SUD-KIVU</c:v>
                </c:pt>
                <c:pt idx="22">
                  <c:v>SUD-UBANGI</c:v>
                </c:pt>
                <c:pt idx="23">
                  <c:v>TANGANYIKA</c:v>
                </c:pt>
                <c:pt idx="24">
                  <c:v>TSHOPO</c:v>
                </c:pt>
                <c:pt idx="25">
                  <c:v>TSHUAPA</c:v>
                </c:pt>
                <c:pt idx="26">
                  <c:v>National</c:v>
                </c:pt>
              </c:strCache>
            </c:strRef>
          </c:cat>
          <c:val>
            <c:numRef>
              <c:f>'Tableau synthese CV Antigènes'!$AO$2:$AO$28</c:f>
              <c:numCache>
                <c:formatCode>0.0%</c:formatCode>
                <c:ptCount val="27"/>
                <c:pt idx="0">
                  <c:v>0.89689754456342408</c:v>
                </c:pt>
                <c:pt idx="1">
                  <c:v>0.92557632021061009</c:v>
                </c:pt>
                <c:pt idx="2">
                  <c:v>0.89287384914894485</c:v>
                </c:pt>
                <c:pt idx="3">
                  <c:v>0.99462799437438032</c:v>
                </c:pt>
                <c:pt idx="4">
                  <c:v>0.93041345902594907</c:v>
                </c:pt>
                <c:pt idx="5">
                  <c:v>0.86029218726312018</c:v>
                </c:pt>
                <c:pt idx="6">
                  <c:v>0.84670810963549015</c:v>
                </c:pt>
                <c:pt idx="7">
                  <c:v>0.95151316694903587</c:v>
                </c:pt>
                <c:pt idx="8">
                  <c:v>0.67</c:v>
                </c:pt>
                <c:pt idx="9">
                  <c:v>0.76452725994330573</c:v>
                </c:pt>
                <c:pt idx="10">
                  <c:v>1.2680170228599335</c:v>
                </c:pt>
                <c:pt idx="11">
                  <c:v>1.0518293790647821</c:v>
                </c:pt>
                <c:pt idx="12">
                  <c:v>0.93354732698994991</c:v>
                </c:pt>
                <c:pt idx="13">
                  <c:v>0.94925369681758509</c:v>
                </c:pt>
                <c:pt idx="14">
                  <c:v>1.1909135614460888</c:v>
                </c:pt>
                <c:pt idx="15">
                  <c:v>0.9473840631894197</c:v>
                </c:pt>
                <c:pt idx="16">
                  <c:v>1.1528245085886311</c:v>
                </c:pt>
                <c:pt idx="17">
                  <c:v>0.95084440021148897</c:v>
                </c:pt>
                <c:pt idx="18">
                  <c:v>0.90638737110225542</c:v>
                </c:pt>
                <c:pt idx="19">
                  <c:v>0.93989677089109758</c:v>
                </c:pt>
                <c:pt idx="20">
                  <c:v>1.2510383688169857</c:v>
                </c:pt>
                <c:pt idx="21">
                  <c:v>0.82197406228158731</c:v>
                </c:pt>
                <c:pt idx="22">
                  <c:v>0.97792141821206924</c:v>
                </c:pt>
                <c:pt idx="23">
                  <c:v>0.99031760715386985</c:v>
                </c:pt>
                <c:pt idx="24">
                  <c:v>0.97210863147085247</c:v>
                </c:pt>
                <c:pt idx="25">
                  <c:v>0.86705365377312427</c:v>
                </c:pt>
                <c:pt idx="26">
                  <c:v>0.93037054267836683</c:v>
                </c:pt>
              </c:numCache>
            </c:numRef>
          </c:val>
          <c:extLst>
            <c:ext xmlns:c16="http://schemas.microsoft.com/office/drawing/2014/chart" uri="{C3380CC4-5D6E-409C-BE32-E72D297353CC}">
              <c16:uniqueId val="{00000002-B09A-47D4-8175-EF148BE6E96F}"/>
            </c:ext>
          </c:extLst>
        </c:ser>
        <c:ser>
          <c:idx val="3"/>
          <c:order val="3"/>
          <c:tx>
            <c:strRef>
              <c:f>'Tableau synthese CV Antigènes'!$AP$1</c:f>
              <c:strCache>
                <c:ptCount val="1"/>
                <c:pt idx="0">
                  <c:v>PCV13 (3)</c:v>
                </c:pt>
              </c:strCache>
            </c:strRef>
          </c:tx>
          <c:invertIfNegative val="0"/>
          <c:cat>
            <c:strRef>
              <c:f>'Tableau synthese CV Antigènes'!$AL$2:$AL$28</c:f>
              <c:strCache>
                <c:ptCount val="27"/>
                <c:pt idx="0">
                  <c:v>BAS UELE</c:v>
                </c:pt>
                <c:pt idx="1">
                  <c:v>EQUATEUR</c:v>
                </c:pt>
                <c:pt idx="2">
                  <c:v>HAUT KATANGA</c:v>
                </c:pt>
                <c:pt idx="3">
                  <c:v>HAUT LOMAMI</c:v>
                </c:pt>
                <c:pt idx="4">
                  <c:v>HAUT UELE</c:v>
                </c:pt>
                <c:pt idx="5">
                  <c:v>ITURI</c:v>
                </c:pt>
                <c:pt idx="6">
                  <c:v>KASAI </c:v>
                </c:pt>
                <c:pt idx="7">
                  <c:v>KASAI CENTRAL</c:v>
                </c:pt>
                <c:pt idx="8">
                  <c:v>KASAI-ORIENTAL  </c:v>
                </c:pt>
                <c:pt idx="9">
                  <c:v>KINSHASA</c:v>
                </c:pt>
                <c:pt idx="10">
                  <c:v>KONGO CENTRAL</c:v>
                </c:pt>
                <c:pt idx="11">
                  <c:v>KWANGO</c:v>
                </c:pt>
                <c:pt idx="12">
                  <c:v>KWILU</c:v>
                </c:pt>
                <c:pt idx="13">
                  <c:v>LOMAMI</c:v>
                </c:pt>
                <c:pt idx="14">
                  <c:v>LUALABA</c:v>
                </c:pt>
                <c:pt idx="15">
                  <c:v>Juinndombe</c:v>
                </c:pt>
                <c:pt idx="16">
                  <c:v>MANIEMA</c:v>
                </c:pt>
                <c:pt idx="17">
                  <c:v>MONGALA</c:v>
                </c:pt>
                <c:pt idx="18">
                  <c:v>NORD-KIVU</c:v>
                </c:pt>
                <c:pt idx="19">
                  <c:v>NORD-UBANGI</c:v>
                </c:pt>
                <c:pt idx="20">
                  <c:v>SANKURU</c:v>
                </c:pt>
                <c:pt idx="21">
                  <c:v>SUD-KIVU</c:v>
                </c:pt>
                <c:pt idx="22">
                  <c:v>SUD-UBANGI</c:v>
                </c:pt>
                <c:pt idx="23">
                  <c:v>TANGANYIKA</c:v>
                </c:pt>
                <c:pt idx="24">
                  <c:v>TSHOPO</c:v>
                </c:pt>
                <c:pt idx="25">
                  <c:v>TSHUAPA</c:v>
                </c:pt>
                <c:pt idx="26">
                  <c:v>National</c:v>
                </c:pt>
              </c:strCache>
            </c:strRef>
          </c:cat>
          <c:val>
            <c:numRef>
              <c:f>'Tableau synthese CV Antigènes'!$AP$2:$AP$28</c:f>
              <c:numCache>
                <c:formatCode>0.0%</c:formatCode>
                <c:ptCount val="27"/>
                <c:pt idx="0">
                  <c:v>0.88130439002296923</c:v>
                </c:pt>
                <c:pt idx="1">
                  <c:v>0.9418916812442627</c:v>
                </c:pt>
                <c:pt idx="2">
                  <c:v>0.89354441845687937</c:v>
                </c:pt>
                <c:pt idx="3">
                  <c:v>0.98795333502409333</c:v>
                </c:pt>
                <c:pt idx="4">
                  <c:v>0.93360937468593586</c:v>
                </c:pt>
                <c:pt idx="5">
                  <c:v>0.85379913697156151</c:v>
                </c:pt>
                <c:pt idx="6">
                  <c:v>0.82664594518225476</c:v>
                </c:pt>
                <c:pt idx="7">
                  <c:v>0.96086219906319847</c:v>
                </c:pt>
                <c:pt idx="8">
                  <c:v>0.79734439060752882</c:v>
                </c:pt>
                <c:pt idx="9">
                  <c:v>0.67891449501230883</c:v>
                </c:pt>
                <c:pt idx="10">
                  <c:v>1.6305783586428222</c:v>
                </c:pt>
                <c:pt idx="11">
                  <c:v>1.1503106492751516</c:v>
                </c:pt>
                <c:pt idx="12">
                  <c:v>0.94397527184412433</c:v>
                </c:pt>
                <c:pt idx="13">
                  <c:v>0.93624182420670954</c:v>
                </c:pt>
                <c:pt idx="14">
                  <c:v>1.2049524897285808</c:v>
                </c:pt>
                <c:pt idx="15">
                  <c:v>0.948321388155413</c:v>
                </c:pt>
                <c:pt idx="16">
                  <c:v>1.1320465143734135</c:v>
                </c:pt>
                <c:pt idx="17">
                  <c:v>0.89392902684041931</c:v>
                </c:pt>
                <c:pt idx="18">
                  <c:v>0.9738044862577544</c:v>
                </c:pt>
                <c:pt idx="19">
                  <c:v>0.89937294714840255</c:v>
                </c:pt>
                <c:pt idx="20">
                  <c:v>1.5970644902068991</c:v>
                </c:pt>
                <c:pt idx="21">
                  <c:v>0.69969092179855552</c:v>
                </c:pt>
                <c:pt idx="22">
                  <c:v>0.97201710924443985</c:v>
                </c:pt>
                <c:pt idx="23">
                  <c:v>0.99949977729811212</c:v>
                </c:pt>
                <c:pt idx="24">
                  <c:v>0.97190080623964692</c:v>
                </c:pt>
                <c:pt idx="25">
                  <c:v>0.86277871209244295</c:v>
                </c:pt>
                <c:pt idx="26">
                  <c:v>0.93273955090868099</c:v>
                </c:pt>
              </c:numCache>
            </c:numRef>
          </c:val>
          <c:extLst>
            <c:ext xmlns:c16="http://schemas.microsoft.com/office/drawing/2014/chart" uri="{C3380CC4-5D6E-409C-BE32-E72D297353CC}">
              <c16:uniqueId val="{00000003-B09A-47D4-8175-EF148BE6E96F}"/>
            </c:ext>
          </c:extLst>
        </c:ser>
        <c:ser>
          <c:idx val="4"/>
          <c:order val="4"/>
          <c:tx>
            <c:strRef>
              <c:f>'Tableau synthese CV Antigènes'!$AQ$1</c:f>
              <c:strCache>
                <c:ptCount val="1"/>
                <c:pt idx="0">
                  <c:v>Rota3</c:v>
                </c:pt>
              </c:strCache>
            </c:strRef>
          </c:tx>
          <c:invertIfNegative val="0"/>
          <c:cat>
            <c:strRef>
              <c:f>'Tableau synthese CV Antigènes'!$AL$2:$AL$28</c:f>
              <c:strCache>
                <c:ptCount val="27"/>
                <c:pt idx="0">
                  <c:v>BAS UELE</c:v>
                </c:pt>
                <c:pt idx="1">
                  <c:v>EQUATEUR</c:v>
                </c:pt>
                <c:pt idx="2">
                  <c:v>HAUT KATANGA</c:v>
                </c:pt>
                <c:pt idx="3">
                  <c:v>HAUT LOMAMI</c:v>
                </c:pt>
                <c:pt idx="4">
                  <c:v>HAUT UELE</c:v>
                </c:pt>
                <c:pt idx="5">
                  <c:v>ITURI</c:v>
                </c:pt>
                <c:pt idx="6">
                  <c:v>KASAI </c:v>
                </c:pt>
                <c:pt idx="7">
                  <c:v>KASAI CENTRAL</c:v>
                </c:pt>
                <c:pt idx="8">
                  <c:v>KASAI-ORIENTAL  </c:v>
                </c:pt>
                <c:pt idx="9">
                  <c:v>KINSHASA</c:v>
                </c:pt>
                <c:pt idx="10">
                  <c:v>KONGO CENTRAL</c:v>
                </c:pt>
                <c:pt idx="11">
                  <c:v>KWANGO</c:v>
                </c:pt>
                <c:pt idx="12">
                  <c:v>KWILU</c:v>
                </c:pt>
                <c:pt idx="13">
                  <c:v>LOMAMI</c:v>
                </c:pt>
                <c:pt idx="14">
                  <c:v>LUALABA</c:v>
                </c:pt>
                <c:pt idx="15">
                  <c:v>Juinndombe</c:v>
                </c:pt>
                <c:pt idx="16">
                  <c:v>MANIEMA</c:v>
                </c:pt>
                <c:pt idx="17">
                  <c:v>MONGALA</c:v>
                </c:pt>
                <c:pt idx="18">
                  <c:v>NORD-KIVU</c:v>
                </c:pt>
                <c:pt idx="19">
                  <c:v>NORD-UBANGI</c:v>
                </c:pt>
                <c:pt idx="20">
                  <c:v>SANKURU</c:v>
                </c:pt>
                <c:pt idx="21">
                  <c:v>SUD-KIVU</c:v>
                </c:pt>
                <c:pt idx="22">
                  <c:v>SUD-UBANGI</c:v>
                </c:pt>
                <c:pt idx="23">
                  <c:v>TANGANYIKA</c:v>
                </c:pt>
                <c:pt idx="24">
                  <c:v>TSHOPO</c:v>
                </c:pt>
                <c:pt idx="25">
                  <c:v>TSHUAPA</c:v>
                </c:pt>
                <c:pt idx="26">
                  <c:v>National</c:v>
                </c:pt>
              </c:strCache>
            </c:strRef>
          </c:cat>
          <c:val>
            <c:numRef>
              <c:f>'Tableau synthese CV Antigènes'!$AQ$2:$AQ$28</c:f>
              <c:numCache>
                <c:formatCode>0.0%</c:formatCode>
                <c:ptCount val="27"/>
                <c:pt idx="0">
                  <c:v>0.8602762770534762</c:v>
                </c:pt>
                <c:pt idx="1">
                  <c:v>0.8952664669103001</c:v>
                </c:pt>
                <c:pt idx="2">
                  <c:v>0.92278448497302856</c:v>
                </c:pt>
                <c:pt idx="3">
                  <c:v>0.99446660364743045</c:v>
                </c:pt>
                <c:pt idx="4">
                  <c:v>0.89505738578119021</c:v>
                </c:pt>
                <c:pt idx="5">
                  <c:v>0.84452546377610072</c:v>
                </c:pt>
                <c:pt idx="6">
                  <c:v>0.81172294433455772</c:v>
                </c:pt>
                <c:pt idx="7">
                  <c:v>0.89353018503490467</c:v>
                </c:pt>
                <c:pt idx="8">
                  <c:v>0.87838240775251575</c:v>
                </c:pt>
                <c:pt idx="9">
                  <c:v>0.75699311765339861</c:v>
                </c:pt>
                <c:pt idx="10">
                  <c:v>1.2582381805074301</c:v>
                </c:pt>
                <c:pt idx="11">
                  <c:v>0.95907059550194373</c:v>
                </c:pt>
                <c:pt idx="12">
                  <c:v>0.90538847915897092</c:v>
                </c:pt>
                <c:pt idx="13">
                  <c:v>1.0156894268414691</c:v>
                </c:pt>
                <c:pt idx="14">
                  <c:v>1.159583749742223</c:v>
                </c:pt>
                <c:pt idx="15">
                  <c:v>0.948481419247168</c:v>
                </c:pt>
                <c:pt idx="16">
                  <c:v>1.1709209272517223</c:v>
                </c:pt>
                <c:pt idx="17">
                  <c:v>0.93927471775573057</c:v>
                </c:pt>
                <c:pt idx="18">
                  <c:v>0.89431412020870138</c:v>
                </c:pt>
                <c:pt idx="19">
                  <c:v>0.87383582874774279</c:v>
                </c:pt>
                <c:pt idx="20">
                  <c:v>1.2190111049793295</c:v>
                </c:pt>
                <c:pt idx="21">
                  <c:v>0.79378737283528777</c:v>
                </c:pt>
                <c:pt idx="22">
                  <c:v>0.94033114191691269</c:v>
                </c:pt>
                <c:pt idx="23">
                  <c:v>0.97920306985986916</c:v>
                </c:pt>
                <c:pt idx="24">
                  <c:v>0.96811105202354542</c:v>
                </c:pt>
                <c:pt idx="25">
                  <c:v>0.84539684261921555</c:v>
                </c:pt>
                <c:pt idx="26">
                  <c:v>0.91594060951459821</c:v>
                </c:pt>
              </c:numCache>
            </c:numRef>
          </c:val>
          <c:extLst>
            <c:ext xmlns:c16="http://schemas.microsoft.com/office/drawing/2014/chart" uri="{C3380CC4-5D6E-409C-BE32-E72D297353CC}">
              <c16:uniqueId val="{00000004-B09A-47D4-8175-EF148BE6E96F}"/>
            </c:ext>
          </c:extLst>
        </c:ser>
        <c:dLbls>
          <c:showLegendKey val="0"/>
          <c:showVal val="0"/>
          <c:showCatName val="0"/>
          <c:showSerName val="0"/>
          <c:showPercent val="0"/>
          <c:showBubbleSize val="0"/>
        </c:dLbls>
        <c:gapWidth val="150"/>
        <c:axId val="301815248"/>
        <c:axId val="301811720"/>
      </c:barChart>
      <c:catAx>
        <c:axId val="301815248"/>
        <c:scaling>
          <c:orientation val="minMax"/>
        </c:scaling>
        <c:delete val="0"/>
        <c:axPos val="b"/>
        <c:numFmt formatCode="General" sourceLinked="1"/>
        <c:majorTickMark val="out"/>
        <c:minorTickMark val="none"/>
        <c:tickLblPos val="nextTo"/>
        <c:txPr>
          <a:bodyPr rot="-2700000" vert="horz"/>
          <a:lstStyle/>
          <a:p>
            <a:pPr>
              <a:defRPr sz="700" b="0" i="0" u="none" strike="noStrike" baseline="0">
                <a:solidFill>
                  <a:srgbClr val="000000"/>
                </a:solidFill>
                <a:latin typeface="Calibri"/>
                <a:ea typeface="Calibri"/>
                <a:cs typeface="Calibri"/>
              </a:defRPr>
            </a:pPr>
            <a:endParaRPr lang="fr-FR"/>
          </a:p>
        </c:txPr>
        <c:crossAx val="301811720"/>
        <c:crosses val="autoZero"/>
        <c:auto val="1"/>
        <c:lblAlgn val="ctr"/>
        <c:lblOffset val="100"/>
        <c:noMultiLvlLbl val="0"/>
      </c:catAx>
      <c:valAx>
        <c:axId val="301811720"/>
        <c:scaling>
          <c:orientation val="minMax"/>
          <c:max val="1.2"/>
        </c:scaling>
        <c:delete val="0"/>
        <c:axPos val="l"/>
        <c:majorGridlines/>
        <c:numFmt formatCode="0.0%" sourceLinked="1"/>
        <c:majorTickMark val="out"/>
        <c:minorTickMark val="none"/>
        <c:tickLblPos val="nextTo"/>
        <c:txPr>
          <a:bodyPr rot="0" vert="horz"/>
          <a:lstStyle/>
          <a:p>
            <a:pPr>
              <a:defRPr sz="1050" b="0" i="0" u="none" strike="noStrike" baseline="0">
                <a:solidFill>
                  <a:srgbClr val="000000"/>
                </a:solidFill>
                <a:latin typeface="Calibri"/>
                <a:ea typeface="Calibri"/>
                <a:cs typeface="Calibri"/>
              </a:defRPr>
            </a:pPr>
            <a:endParaRPr lang="fr-FR"/>
          </a:p>
        </c:txPr>
        <c:crossAx val="301815248"/>
        <c:crosses val="autoZero"/>
        <c:crossBetween val="between"/>
      </c:valAx>
    </c:plotArea>
    <c:legend>
      <c:legendPos val="r"/>
      <c:layout>
        <c:manualLayout>
          <c:xMode val="edge"/>
          <c:yMode val="edge"/>
          <c:x val="0.34911886014248217"/>
          <c:y val="1.5174495018682423E-2"/>
          <c:w val="0.35242283176141442"/>
          <c:h val="3.1866455422270401E-2"/>
        </c:manualLayout>
      </c:layout>
      <c:overlay val="0"/>
      <c:txPr>
        <a:bodyPr/>
        <a:lstStyle/>
        <a:p>
          <a:pPr>
            <a:defRPr sz="800" b="0" i="0" u="none" strike="noStrike" baseline="0">
              <a:solidFill>
                <a:srgbClr val="000000"/>
              </a:solidFill>
              <a:latin typeface="Calibri"/>
              <a:ea typeface="Calibri"/>
              <a:cs typeface="Calibri"/>
            </a:defRPr>
          </a:pPr>
          <a:endParaRPr lang="fr-FR"/>
        </a:p>
      </c:txPr>
    </c:legend>
    <c:plotVisOnly val="1"/>
    <c:dispBlanksAs val="gap"/>
    <c:showDLblsOverMax val="0"/>
  </c:chart>
  <c:txPr>
    <a:bodyPr/>
    <a:lstStyle/>
    <a:p>
      <a:pPr>
        <a:defRPr sz="1050" b="0" i="0" u="none" strike="noStrike" baseline="0">
          <a:solidFill>
            <a:srgbClr val="000000"/>
          </a:solidFill>
          <a:latin typeface="Calibri"/>
          <a:ea typeface="Calibri"/>
          <a:cs typeface="Calibri"/>
        </a:defRPr>
      </a:pPr>
      <a:endParaRPr lang="fr-FR"/>
    </a:p>
  </c:txPr>
  <c:externalData r:id="rId2">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5.1401289833264863E-2"/>
          <c:y val="6.8937553143042771E-2"/>
          <c:w val="0.93242746583405012"/>
          <c:h val="0.7600426418182803"/>
        </c:manualLayout>
      </c:layout>
      <c:barChart>
        <c:barDir val="col"/>
        <c:grouping val="clustered"/>
        <c:varyColors val="0"/>
        <c:ser>
          <c:idx val="0"/>
          <c:order val="0"/>
          <c:tx>
            <c:strRef>
              <c:f>'Tableau synthese CV Antigènes'!$BJ$2</c:f>
              <c:strCache>
                <c:ptCount val="1"/>
                <c:pt idx="0">
                  <c:v>VPI2</c:v>
                </c:pt>
              </c:strCache>
            </c:strRef>
          </c:tx>
          <c:spPr>
            <a:solidFill>
              <a:srgbClr val="4F81BD"/>
            </a:solidFill>
            <a:ln w="25400">
              <a:noFill/>
            </a:ln>
          </c:spPr>
          <c:invertIfNegative val="0"/>
          <c:cat>
            <c:strRef>
              <c:f>'Tableau synthese CV Antigènes'!$BI$3:$BI$29</c:f>
              <c:strCache>
                <c:ptCount val="27"/>
                <c:pt idx="0">
                  <c:v>BAS UELE</c:v>
                </c:pt>
                <c:pt idx="1">
                  <c:v>EQUATEUR</c:v>
                </c:pt>
                <c:pt idx="2">
                  <c:v>HAUT KATANGA</c:v>
                </c:pt>
                <c:pt idx="3">
                  <c:v>HAUT LOMAMI</c:v>
                </c:pt>
                <c:pt idx="4">
                  <c:v>HAUT UELE</c:v>
                </c:pt>
                <c:pt idx="5">
                  <c:v>ITURI</c:v>
                </c:pt>
                <c:pt idx="6">
                  <c:v>KASAI </c:v>
                </c:pt>
                <c:pt idx="7">
                  <c:v>KASAI CENTRAL</c:v>
                </c:pt>
                <c:pt idx="8">
                  <c:v>KASAI-ORIENTAL  </c:v>
                </c:pt>
                <c:pt idx="9">
                  <c:v>KINSHASA</c:v>
                </c:pt>
                <c:pt idx="10">
                  <c:v>KONGO CENTRAL</c:v>
                </c:pt>
                <c:pt idx="11">
                  <c:v>KWANGO</c:v>
                </c:pt>
                <c:pt idx="12">
                  <c:v>KWILU</c:v>
                </c:pt>
                <c:pt idx="13">
                  <c:v>LOMAMI</c:v>
                </c:pt>
                <c:pt idx="14">
                  <c:v>LUALABA</c:v>
                </c:pt>
                <c:pt idx="15">
                  <c:v>MAI-NDOMBE</c:v>
                </c:pt>
                <c:pt idx="16">
                  <c:v>MANIEMA</c:v>
                </c:pt>
                <c:pt idx="17">
                  <c:v>MONGALA</c:v>
                </c:pt>
                <c:pt idx="18">
                  <c:v>NORD-KIVU</c:v>
                </c:pt>
                <c:pt idx="19">
                  <c:v>NORD-UBANGI</c:v>
                </c:pt>
                <c:pt idx="20">
                  <c:v>SANKURU</c:v>
                </c:pt>
                <c:pt idx="21">
                  <c:v>SUD-KIVU</c:v>
                </c:pt>
                <c:pt idx="22">
                  <c:v>SUD-UBANGI</c:v>
                </c:pt>
                <c:pt idx="23">
                  <c:v>TANGANYIKA</c:v>
                </c:pt>
                <c:pt idx="24">
                  <c:v>TSHOPO</c:v>
                </c:pt>
                <c:pt idx="25">
                  <c:v>TSHUAPA</c:v>
                </c:pt>
                <c:pt idx="26">
                  <c:v>National</c:v>
                </c:pt>
              </c:strCache>
            </c:strRef>
          </c:cat>
          <c:val>
            <c:numRef>
              <c:f>'Tableau synthese CV Antigènes'!$BJ$3:$BJ$29</c:f>
              <c:numCache>
                <c:formatCode>0%</c:formatCode>
                <c:ptCount val="27"/>
                <c:pt idx="0">
                  <c:v>0.89689754456342408</c:v>
                </c:pt>
                <c:pt idx="1">
                  <c:v>0.92557632021061009</c:v>
                </c:pt>
                <c:pt idx="2">
                  <c:v>0.89287384914894485</c:v>
                </c:pt>
                <c:pt idx="3">
                  <c:v>0.99462799437438032</c:v>
                </c:pt>
                <c:pt idx="4">
                  <c:v>0.93041345902594907</c:v>
                </c:pt>
                <c:pt idx="5">
                  <c:v>0.86029218726312018</c:v>
                </c:pt>
                <c:pt idx="6">
                  <c:v>0.84670810963549015</c:v>
                </c:pt>
                <c:pt idx="7">
                  <c:v>0.95151316694903587</c:v>
                </c:pt>
                <c:pt idx="8">
                  <c:v>0.88918188594856495</c:v>
                </c:pt>
                <c:pt idx="9">
                  <c:v>0.76452725994330573</c:v>
                </c:pt>
                <c:pt idx="10">
                  <c:v>1.2680170228599335</c:v>
                </c:pt>
                <c:pt idx="11">
                  <c:v>1.0518293790647821</c:v>
                </c:pt>
                <c:pt idx="12">
                  <c:v>0.93354732698994991</c:v>
                </c:pt>
                <c:pt idx="13">
                  <c:v>0.94925369681758509</c:v>
                </c:pt>
                <c:pt idx="14">
                  <c:v>1.1909135614460888</c:v>
                </c:pt>
                <c:pt idx="15">
                  <c:v>0.9473840631894197</c:v>
                </c:pt>
                <c:pt idx="16">
                  <c:v>1.1528245085886311</c:v>
                </c:pt>
                <c:pt idx="17">
                  <c:v>0.95084440021148897</c:v>
                </c:pt>
                <c:pt idx="18">
                  <c:v>0.90638737110225542</c:v>
                </c:pt>
                <c:pt idx="19">
                  <c:v>0.93989677089109758</c:v>
                </c:pt>
                <c:pt idx="20">
                  <c:v>1.2510383688169857</c:v>
                </c:pt>
                <c:pt idx="21">
                  <c:v>0.82197406228158731</c:v>
                </c:pt>
                <c:pt idx="22">
                  <c:v>0.97792141821206924</c:v>
                </c:pt>
                <c:pt idx="23">
                  <c:v>0.99031760715386985</c:v>
                </c:pt>
                <c:pt idx="24">
                  <c:v>0.97210863147085247</c:v>
                </c:pt>
                <c:pt idx="25">
                  <c:v>0.86705365377312427</c:v>
                </c:pt>
                <c:pt idx="26">
                  <c:v>0.93037054267836683</c:v>
                </c:pt>
              </c:numCache>
            </c:numRef>
          </c:val>
          <c:extLst>
            <c:ext xmlns:c16="http://schemas.microsoft.com/office/drawing/2014/chart" uri="{C3380CC4-5D6E-409C-BE32-E72D297353CC}">
              <c16:uniqueId val="{00000000-CC45-4C4E-9B31-A2AD5C3397D1}"/>
            </c:ext>
          </c:extLst>
        </c:ser>
        <c:ser>
          <c:idx val="1"/>
          <c:order val="1"/>
          <c:tx>
            <c:strRef>
              <c:f>'Tableau synthese CV Antigènes'!$BK$2</c:f>
              <c:strCache>
                <c:ptCount val="1"/>
                <c:pt idx="0">
                  <c:v>VAR1</c:v>
                </c:pt>
              </c:strCache>
            </c:strRef>
          </c:tx>
          <c:spPr>
            <a:solidFill>
              <a:srgbClr val="C0504D"/>
            </a:solidFill>
            <a:ln w="25400">
              <a:noFill/>
            </a:ln>
          </c:spPr>
          <c:invertIfNegative val="0"/>
          <c:cat>
            <c:strRef>
              <c:f>'Tableau synthese CV Antigènes'!$BI$3:$BI$29</c:f>
              <c:strCache>
                <c:ptCount val="27"/>
                <c:pt idx="0">
                  <c:v>BAS UELE</c:v>
                </c:pt>
                <c:pt idx="1">
                  <c:v>EQUATEUR</c:v>
                </c:pt>
                <c:pt idx="2">
                  <c:v>HAUT KATANGA</c:v>
                </c:pt>
                <c:pt idx="3">
                  <c:v>HAUT LOMAMI</c:v>
                </c:pt>
                <c:pt idx="4">
                  <c:v>HAUT UELE</c:v>
                </c:pt>
                <c:pt idx="5">
                  <c:v>ITURI</c:v>
                </c:pt>
                <c:pt idx="6">
                  <c:v>KASAI </c:v>
                </c:pt>
                <c:pt idx="7">
                  <c:v>KASAI CENTRAL</c:v>
                </c:pt>
                <c:pt idx="8">
                  <c:v>KASAI-ORIENTAL  </c:v>
                </c:pt>
                <c:pt idx="9">
                  <c:v>KINSHASA</c:v>
                </c:pt>
                <c:pt idx="10">
                  <c:v>KONGO CENTRAL</c:v>
                </c:pt>
                <c:pt idx="11">
                  <c:v>KWANGO</c:v>
                </c:pt>
                <c:pt idx="12">
                  <c:v>KWILU</c:v>
                </c:pt>
                <c:pt idx="13">
                  <c:v>LOMAMI</c:v>
                </c:pt>
                <c:pt idx="14">
                  <c:v>LUALABA</c:v>
                </c:pt>
                <c:pt idx="15">
                  <c:v>MAI-NDOMBE</c:v>
                </c:pt>
                <c:pt idx="16">
                  <c:v>MANIEMA</c:v>
                </c:pt>
                <c:pt idx="17">
                  <c:v>MONGALA</c:v>
                </c:pt>
                <c:pt idx="18">
                  <c:v>NORD-KIVU</c:v>
                </c:pt>
                <c:pt idx="19">
                  <c:v>NORD-UBANGI</c:v>
                </c:pt>
                <c:pt idx="20">
                  <c:v>SANKURU</c:v>
                </c:pt>
                <c:pt idx="21">
                  <c:v>SUD-KIVU</c:v>
                </c:pt>
                <c:pt idx="22">
                  <c:v>SUD-UBANGI</c:v>
                </c:pt>
                <c:pt idx="23">
                  <c:v>TANGANYIKA</c:v>
                </c:pt>
                <c:pt idx="24">
                  <c:v>TSHOPO</c:v>
                </c:pt>
                <c:pt idx="25">
                  <c:v>TSHUAPA</c:v>
                </c:pt>
                <c:pt idx="26">
                  <c:v>National</c:v>
                </c:pt>
              </c:strCache>
            </c:strRef>
          </c:cat>
          <c:val>
            <c:numRef>
              <c:f>'Tableau synthese CV Antigènes'!$BK$3:$BK$29</c:f>
              <c:numCache>
                <c:formatCode>0%</c:formatCode>
                <c:ptCount val="27"/>
                <c:pt idx="0">
                  <c:v>0.76891721393678636</c:v>
                </c:pt>
                <c:pt idx="1">
                  <c:v>0.87616259937301888</c:v>
                </c:pt>
                <c:pt idx="2">
                  <c:v>0.80916084199710681</c:v>
                </c:pt>
                <c:pt idx="3">
                  <c:v>0.96127775344108091</c:v>
                </c:pt>
                <c:pt idx="4">
                  <c:v>0.88760024924122116</c:v>
                </c:pt>
                <c:pt idx="5">
                  <c:v>0.86444093579793158</c:v>
                </c:pt>
                <c:pt idx="6">
                  <c:v>0.66294327493642269</c:v>
                </c:pt>
                <c:pt idx="7">
                  <c:v>0.92004916546837701</c:v>
                </c:pt>
                <c:pt idx="8">
                  <c:v>0.8798080506895265</c:v>
                </c:pt>
                <c:pt idx="9">
                  <c:v>0.72581983409148065</c:v>
                </c:pt>
                <c:pt idx="10">
                  <c:v>1.1919955349875584</c:v>
                </c:pt>
                <c:pt idx="11">
                  <c:v>1.028103767757875</c:v>
                </c:pt>
                <c:pt idx="12">
                  <c:v>0.93431159004929498</c:v>
                </c:pt>
                <c:pt idx="13">
                  <c:v>0.8518901913612732</c:v>
                </c:pt>
                <c:pt idx="14">
                  <c:v>1.0684496898745222</c:v>
                </c:pt>
                <c:pt idx="15">
                  <c:v>0.89948904358561088</c:v>
                </c:pt>
                <c:pt idx="16">
                  <c:v>1.0288817492642532</c:v>
                </c:pt>
                <c:pt idx="17">
                  <c:v>0.90402139769228385</c:v>
                </c:pt>
                <c:pt idx="18">
                  <c:v>0.8714463251304384</c:v>
                </c:pt>
                <c:pt idx="19">
                  <c:v>0.90744927412589405</c:v>
                </c:pt>
                <c:pt idx="20">
                  <c:v>1.1180884332006933</c:v>
                </c:pt>
                <c:pt idx="21">
                  <c:v>0.70135590587869845</c:v>
                </c:pt>
                <c:pt idx="22">
                  <c:v>0.9630207681491243</c:v>
                </c:pt>
                <c:pt idx="23">
                  <c:v>0.94226881830952136</c:v>
                </c:pt>
                <c:pt idx="24">
                  <c:v>0.87289042109059345</c:v>
                </c:pt>
                <c:pt idx="25">
                  <c:v>0.83079260022785217</c:v>
                </c:pt>
                <c:pt idx="26">
                  <c:v>0.86994185625364095</c:v>
                </c:pt>
              </c:numCache>
            </c:numRef>
          </c:val>
          <c:extLst>
            <c:ext xmlns:c16="http://schemas.microsoft.com/office/drawing/2014/chart" uri="{C3380CC4-5D6E-409C-BE32-E72D297353CC}">
              <c16:uniqueId val="{00000001-CC45-4C4E-9B31-A2AD5C3397D1}"/>
            </c:ext>
          </c:extLst>
        </c:ser>
        <c:ser>
          <c:idx val="2"/>
          <c:order val="2"/>
          <c:tx>
            <c:strRef>
              <c:f>'Tableau synthese CV Antigènes'!$BL$2</c:f>
              <c:strCache>
                <c:ptCount val="1"/>
                <c:pt idx="0">
                  <c:v>VAA</c:v>
                </c:pt>
              </c:strCache>
            </c:strRef>
          </c:tx>
          <c:spPr>
            <a:solidFill>
              <a:srgbClr val="9BBB59"/>
            </a:solidFill>
            <a:ln w="25400">
              <a:noFill/>
            </a:ln>
          </c:spPr>
          <c:invertIfNegative val="0"/>
          <c:cat>
            <c:strRef>
              <c:f>'Tableau synthese CV Antigènes'!$BI$3:$BI$29</c:f>
              <c:strCache>
                <c:ptCount val="27"/>
                <c:pt idx="0">
                  <c:v>BAS UELE</c:v>
                </c:pt>
                <c:pt idx="1">
                  <c:v>EQUATEUR</c:v>
                </c:pt>
                <c:pt idx="2">
                  <c:v>HAUT KATANGA</c:v>
                </c:pt>
                <c:pt idx="3">
                  <c:v>HAUT LOMAMI</c:v>
                </c:pt>
                <c:pt idx="4">
                  <c:v>HAUT UELE</c:v>
                </c:pt>
                <c:pt idx="5">
                  <c:v>ITURI</c:v>
                </c:pt>
                <c:pt idx="6">
                  <c:v>KASAI </c:v>
                </c:pt>
                <c:pt idx="7">
                  <c:v>KASAI CENTRAL</c:v>
                </c:pt>
                <c:pt idx="8">
                  <c:v>KASAI-ORIENTAL  </c:v>
                </c:pt>
                <c:pt idx="9">
                  <c:v>KINSHASA</c:v>
                </c:pt>
                <c:pt idx="10">
                  <c:v>KONGO CENTRAL</c:v>
                </c:pt>
                <c:pt idx="11">
                  <c:v>KWANGO</c:v>
                </c:pt>
                <c:pt idx="12">
                  <c:v>KWILU</c:v>
                </c:pt>
                <c:pt idx="13">
                  <c:v>LOMAMI</c:v>
                </c:pt>
                <c:pt idx="14">
                  <c:v>LUALABA</c:v>
                </c:pt>
                <c:pt idx="15">
                  <c:v>MAI-NDOMBE</c:v>
                </c:pt>
                <c:pt idx="16">
                  <c:v>MANIEMA</c:v>
                </c:pt>
                <c:pt idx="17">
                  <c:v>MONGALA</c:v>
                </c:pt>
                <c:pt idx="18">
                  <c:v>NORD-KIVU</c:v>
                </c:pt>
                <c:pt idx="19">
                  <c:v>NORD-UBANGI</c:v>
                </c:pt>
                <c:pt idx="20">
                  <c:v>SANKURU</c:v>
                </c:pt>
                <c:pt idx="21">
                  <c:v>SUD-KIVU</c:v>
                </c:pt>
                <c:pt idx="22">
                  <c:v>SUD-UBANGI</c:v>
                </c:pt>
                <c:pt idx="23">
                  <c:v>TANGANYIKA</c:v>
                </c:pt>
                <c:pt idx="24">
                  <c:v>TSHOPO</c:v>
                </c:pt>
                <c:pt idx="25">
                  <c:v>TSHUAPA</c:v>
                </c:pt>
                <c:pt idx="26">
                  <c:v>National</c:v>
                </c:pt>
              </c:strCache>
            </c:strRef>
          </c:cat>
          <c:val>
            <c:numRef>
              <c:f>'Tableau synthese CV Antigènes'!$BL$3:$BL$29</c:f>
              <c:numCache>
                <c:formatCode>0%</c:formatCode>
                <c:ptCount val="27"/>
                <c:pt idx="0">
                  <c:v>0.73616913176018972</c:v>
                </c:pt>
                <c:pt idx="1">
                  <c:v>0.76423697950116731</c:v>
                </c:pt>
                <c:pt idx="2">
                  <c:v>0.70470582406771742</c:v>
                </c:pt>
                <c:pt idx="3">
                  <c:v>0.87893585456008438</c:v>
                </c:pt>
                <c:pt idx="4">
                  <c:v>0.74989915995861178</c:v>
                </c:pt>
                <c:pt idx="5">
                  <c:v>0.71444425804286948</c:v>
                </c:pt>
                <c:pt idx="6">
                  <c:v>0.72295199426797241</c:v>
                </c:pt>
                <c:pt idx="7">
                  <c:v>0.80678232785391923</c:v>
                </c:pt>
                <c:pt idx="8">
                  <c:v>0.77585099550417469</c:v>
                </c:pt>
                <c:pt idx="9">
                  <c:v>0.63490750926549233</c:v>
                </c:pt>
                <c:pt idx="10">
                  <c:v>1.0470378768280248</c:v>
                </c:pt>
                <c:pt idx="11">
                  <c:v>0.90313837375178319</c:v>
                </c:pt>
                <c:pt idx="12">
                  <c:v>0.81966970193155464</c:v>
                </c:pt>
                <c:pt idx="13">
                  <c:v>0.80285385593476888</c:v>
                </c:pt>
                <c:pt idx="14">
                  <c:v>0.936048885474841</c:v>
                </c:pt>
                <c:pt idx="15">
                  <c:v>0.78197213440114877</c:v>
                </c:pt>
                <c:pt idx="16">
                  <c:v>0.88728332205185556</c:v>
                </c:pt>
                <c:pt idx="17">
                  <c:v>0.79507757433500448</c:v>
                </c:pt>
                <c:pt idx="18">
                  <c:v>0.77689434926865109</c:v>
                </c:pt>
                <c:pt idx="19">
                  <c:v>0.81887204426469495</c:v>
                </c:pt>
                <c:pt idx="20">
                  <c:v>1.0625443487075519</c:v>
                </c:pt>
                <c:pt idx="21">
                  <c:v>0.65443615706511138</c:v>
                </c:pt>
                <c:pt idx="22">
                  <c:v>0.85440285708780017</c:v>
                </c:pt>
                <c:pt idx="23">
                  <c:v>0.83131154303752819</c:v>
                </c:pt>
                <c:pt idx="24">
                  <c:v>0.76090365108316538</c:v>
                </c:pt>
                <c:pt idx="25">
                  <c:v>0.71443582971230579</c:v>
                </c:pt>
                <c:pt idx="26">
                  <c:v>0.88862416939327071</c:v>
                </c:pt>
              </c:numCache>
            </c:numRef>
          </c:val>
          <c:extLst>
            <c:ext xmlns:c16="http://schemas.microsoft.com/office/drawing/2014/chart" uri="{C3380CC4-5D6E-409C-BE32-E72D297353CC}">
              <c16:uniqueId val="{00000002-CC45-4C4E-9B31-A2AD5C3397D1}"/>
            </c:ext>
          </c:extLst>
        </c:ser>
        <c:dLbls>
          <c:showLegendKey val="0"/>
          <c:showVal val="0"/>
          <c:showCatName val="0"/>
          <c:showSerName val="0"/>
          <c:showPercent val="0"/>
          <c:showBubbleSize val="0"/>
        </c:dLbls>
        <c:gapWidth val="219"/>
        <c:overlap val="-27"/>
        <c:axId val="301812112"/>
        <c:axId val="301812504"/>
      </c:barChart>
      <c:catAx>
        <c:axId val="3018121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2700000" vert="horz"/>
          <a:lstStyle/>
          <a:p>
            <a:pPr>
              <a:defRPr sz="900" b="0" i="0" u="none" strike="noStrike" baseline="0">
                <a:solidFill>
                  <a:srgbClr val="333333"/>
                </a:solidFill>
                <a:latin typeface="Calibri"/>
                <a:ea typeface="Calibri"/>
                <a:cs typeface="Calibri"/>
              </a:defRPr>
            </a:pPr>
            <a:endParaRPr lang="fr-FR"/>
          </a:p>
        </c:txPr>
        <c:crossAx val="301812504"/>
        <c:crosses val="autoZero"/>
        <c:auto val="1"/>
        <c:lblAlgn val="ctr"/>
        <c:lblOffset val="100"/>
        <c:noMultiLvlLbl val="0"/>
      </c:catAx>
      <c:valAx>
        <c:axId val="301812504"/>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ln w="9525">
            <a:noFill/>
          </a:ln>
        </c:spPr>
        <c:txPr>
          <a:bodyPr rot="0" vert="horz"/>
          <a:lstStyle/>
          <a:p>
            <a:pPr>
              <a:defRPr sz="900" b="0" i="0" u="none" strike="noStrike" baseline="0">
                <a:solidFill>
                  <a:srgbClr val="333333"/>
                </a:solidFill>
                <a:latin typeface="Calibri"/>
                <a:ea typeface="Calibri"/>
                <a:cs typeface="Calibri"/>
              </a:defRPr>
            </a:pPr>
            <a:endParaRPr lang="fr-FR"/>
          </a:p>
        </c:txPr>
        <c:crossAx val="301812112"/>
        <c:crosses val="autoZero"/>
        <c:crossBetween val="between"/>
      </c:valAx>
      <c:spPr>
        <a:noFill/>
        <a:ln w="25400">
          <a:noFill/>
        </a:ln>
      </c:spPr>
    </c:plotArea>
    <c:legend>
      <c:legendPos val="r"/>
      <c:layout>
        <c:manualLayout>
          <c:xMode val="edge"/>
          <c:yMode val="edge"/>
          <c:x val="0.42290744426177496"/>
          <c:y val="1.5174495018682423E-2"/>
          <c:w val="0.20704842663897782"/>
          <c:h val="3.7936158131519487E-2"/>
        </c:manualLayout>
      </c:layout>
      <c:overlay val="0"/>
      <c:spPr>
        <a:noFill/>
        <a:ln w="25400">
          <a:noFill/>
        </a:ln>
      </c:spPr>
      <c:txPr>
        <a:bodyPr/>
        <a:lstStyle/>
        <a:p>
          <a:pPr>
            <a:defRPr sz="1100" b="0" i="0" u="none" strike="noStrike" baseline="0">
              <a:solidFill>
                <a:srgbClr val="333333"/>
              </a:solidFill>
              <a:latin typeface="Calibri"/>
              <a:ea typeface="Calibri"/>
              <a:cs typeface="Calibri"/>
            </a:defRPr>
          </a:pPr>
          <a:endParaRPr lang="fr-FR"/>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sz="1000" b="0" i="0" u="none" strike="noStrike" baseline="0">
          <a:solidFill>
            <a:srgbClr val="000000"/>
          </a:solidFill>
          <a:latin typeface="Calibri"/>
          <a:ea typeface="Calibri"/>
          <a:cs typeface="Calibri"/>
        </a:defRPr>
      </a:pPr>
      <a:endParaRPr lang="fr-FR"/>
    </a:p>
  </c:txPr>
  <c:externalData r:id="rId2">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4.6966359305264944E-2"/>
          <c:y val="4.1904761119145838E-2"/>
          <c:w val="0.89769730371235967"/>
          <c:h val="0.79089874782717007"/>
        </c:manualLayout>
      </c:layout>
      <c:barChart>
        <c:barDir val="col"/>
        <c:grouping val="clustered"/>
        <c:varyColors val="0"/>
        <c:ser>
          <c:idx val="0"/>
          <c:order val="0"/>
          <c:tx>
            <c:strRef>
              <c:f>'Tableau synthese CV Antigènes'!$P$35</c:f>
              <c:strCache>
                <c:ptCount val="1"/>
                <c:pt idx="0">
                  <c:v>2025</c:v>
                </c:pt>
              </c:strCache>
            </c:strRef>
          </c:tx>
          <c:spPr>
            <a:solidFill>
              <a:srgbClr val="4F81BD"/>
            </a:solidFill>
            <a:ln w="25400">
              <a:noFill/>
            </a:ln>
          </c:spPr>
          <c:invertIfNegative val="0"/>
          <c:cat>
            <c:strRef>
              <c:f>'Tableau synthese CV Antigènes'!$K$36:$K$62</c:f>
              <c:strCache>
                <c:ptCount val="27"/>
                <c:pt idx="0">
                  <c:v> BAS UELE </c:v>
                </c:pt>
                <c:pt idx="1">
                  <c:v> EQUATEUR </c:v>
                </c:pt>
                <c:pt idx="2">
                  <c:v> HAUT KATANGA </c:v>
                </c:pt>
                <c:pt idx="3">
                  <c:v> HAUT LOMAMI </c:v>
                </c:pt>
                <c:pt idx="4">
                  <c:v> HAUT UELE </c:v>
                </c:pt>
                <c:pt idx="5">
                  <c:v> ITURI </c:v>
                </c:pt>
                <c:pt idx="6">
                  <c:v> KASAI  </c:v>
                </c:pt>
                <c:pt idx="7">
                  <c:v> KASAI CENTRAL </c:v>
                </c:pt>
                <c:pt idx="8">
                  <c:v> KASAI-ORIENTAL   </c:v>
                </c:pt>
                <c:pt idx="9">
                  <c:v> KINSHASA </c:v>
                </c:pt>
                <c:pt idx="10">
                  <c:v> KONGO CENTRAL </c:v>
                </c:pt>
                <c:pt idx="11">
                  <c:v> KWANGO </c:v>
                </c:pt>
                <c:pt idx="12">
                  <c:v> KWILU </c:v>
                </c:pt>
                <c:pt idx="13">
                  <c:v> LOMAMI </c:v>
                </c:pt>
                <c:pt idx="14">
                  <c:v> LUALABA </c:v>
                </c:pt>
                <c:pt idx="15">
                  <c:v> MAI-NDOMBE </c:v>
                </c:pt>
                <c:pt idx="16">
                  <c:v> MANIEMA </c:v>
                </c:pt>
                <c:pt idx="17">
                  <c:v> MONGALA </c:v>
                </c:pt>
                <c:pt idx="18">
                  <c:v> NORD-KIVU </c:v>
                </c:pt>
                <c:pt idx="19">
                  <c:v> NORD-UBANGI </c:v>
                </c:pt>
                <c:pt idx="20">
                  <c:v> SANKURU </c:v>
                </c:pt>
                <c:pt idx="21">
                  <c:v> SUD-KIVU </c:v>
                </c:pt>
                <c:pt idx="22">
                  <c:v> SUD-UBANGI </c:v>
                </c:pt>
                <c:pt idx="23">
                  <c:v> TANGANYIKA </c:v>
                </c:pt>
                <c:pt idx="24">
                  <c:v> TSHOPO </c:v>
                </c:pt>
                <c:pt idx="25">
                  <c:v> TSHUAPA </c:v>
                </c:pt>
                <c:pt idx="26">
                  <c:v> National </c:v>
                </c:pt>
              </c:strCache>
            </c:strRef>
          </c:cat>
          <c:val>
            <c:numRef>
              <c:f>'Tableau synthese CV Antigènes'!$P$36:$P$62</c:f>
              <c:numCache>
                <c:formatCode>0%</c:formatCode>
                <c:ptCount val="27"/>
                <c:pt idx="0">
                  <c:v>0.76891721393678636</c:v>
                </c:pt>
                <c:pt idx="1">
                  <c:v>0.87616259937301888</c:v>
                </c:pt>
                <c:pt idx="2">
                  <c:v>0.80916084199710681</c:v>
                </c:pt>
                <c:pt idx="3">
                  <c:v>0.96127775344108091</c:v>
                </c:pt>
                <c:pt idx="4">
                  <c:v>0.88760024924122116</c:v>
                </c:pt>
                <c:pt idx="5">
                  <c:v>0.86444093579793158</c:v>
                </c:pt>
                <c:pt idx="6">
                  <c:v>0.66294327493642269</c:v>
                </c:pt>
                <c:pt idx="7">
                  <c:v>0.92004916546837701</c:v>
                </c:pt>
                <c:pt idx="8">
                  <c:v>0.8798080506895265</c:v>
                </c:pt>
                <c:pt idx="9">
                  <c:v>0.72581983409148065</c:v>
                </c:pt>
                <c:pt idx="10">
                  <c:v>1.1919955349875584</c:v>
                </c:pt>
                <c:pt idx="11">
                  <c:v>1.028103767757875</c:v>
                </c:pt>
                <c:pt idx="12">
                  <c:v>0.93431159004929498</c:v>
                </c:pt>
                <c:pt idx="13">
                  <c:v>0.8518901913612732</c:v>
                </c:pt>
                <c:pt idx="14">
                  <c:v>1.0684496898745222</c:v>
                </c:pt>
                <c:pt idx="15">
                  <c:v>0.89948904358561088</c:v>
                </c:pt>
                <c:pt idx="16">
                  <c:v>1.0288817492642532</c:v>
                </c:pt>
                <c:pt idx="17">
                  <c:v>0.90402139769228385</c:v>
                </c:pt>
                <c:pt idx="18">
                  <c:v>0.8714463251304384</c:v>
                </c:pt>
                <c:pt idx="19">
                  <c:v>0.90744927412589405</c:v>
                </c:pt>
                <c:pt idx="20">
                  <c:v>1.1180884332006933</c:v>
                </c:pt>
                <c:pt idx="21">
                  <c:v>0.70135590587869845</c:v>
                </c:pt>
                <c:pt idx="22">
                  <c:v>0.9630207681491243</c:v>
                </c:pt>
                <c:pt idx="23">
                  <c:v>0.94226881830952136</c:v>
                </c:pt>
                <c:pt idx="24">
                  <c:v>0.87289042109059345</c:v>
                </c:pt>
                <c:pt idx="25">
                  <c:v>0.83079260022785217</c:v>
                </c:pt>
                <c:pt idx="26">
                  <c:v>0.86994185625364095</c:v>
                </c:pt>
              </c:numCache>
            </c:numRef>
          </c:val>
          <c:extLst>
            <c:ext xmlns:c16="http://schemas.microsoft.com/office/drawing/2014/chart" uri="{C3380CC4-5D6E-409C-BE32-E72D297353CC}">
              <c16:uniqueId val="{00000000-2113-4A28-A19A-0643D77EC2F5}"/>
            </c:ext>
          </c:extLst>
        </c:ser>
        <c:ser>
          <c:idx val="1"/>
          <c:order val="1"/>
          <c:tx>
            <c:strRef>
              <c:f>'Tableau synthese CV Antigènes'!$Q$35</c:f>
              <c:strCache>
                <c:ptCount val="1"/>
                <c:pt idx="0">
                  <c:v>2024</c:v>
                </c:pt>
              </c:strCache>
            </c:strRef>
          </c:tx>
          <c:spPr>
            <a:solidFill>
              <a:srgbClr val="C0504D"/>
            </a:solidFill>
            <a:ln w="25400">
              <a:noFill/>
            </a:ln>
          </c:spPr>
          <c:invertIfNegative val="0"/>
          <c:cat>
            <c:strRef>
              <c:f>'Tableau synthese CV Antigènes'!$K$36:$K$62</c:f>
              <c:strCache>
                <c:ptCount val="27"/>
                <c:pt idx="0">
                  <c:v> BAS UELE </c:v>
                </c:pt>
                <c:pt idx="1">
                  <c:v> EQUATEUR </c:v>
                </c:pt>
                <c:pt idx="2">
                  <c:v> HAUT KATANGA </c:v>
                </c:pt>
                <c:pt idx="3">
                  <c:v> HAUT LOMAMI </c:v>
                </c:pt>
                <c:pt idx="4">
                  <c:v> HAUT UELE </c:v>
                </c:pt>
                <c:pt idx="5">
                  <c:v> ITURI </c:v>
                </c:pt>
                <c:pt idx="6">
                  <c:v> KASAI  </c:v>
                </c:pt>
                <c:pt idx="7">
                  <c:v> KASAI CENTRAL </c:v>
                </c:pt>
                <c:pt idx="8">
                  <c:v> KASAI-ORIENTAL   </c:v>
                </c:pt>
                <c:pt idx="9">
                  <c:v> KINSHASA </c:v>
                </c:pt>
                <c:pt idx="10">
                  <c:v> KONGO CENTRAL </c:v>
                </c:pt>
                <c:pt idx="11">
                  <c:v> KWANGO </c:v>
                </c:pt>
                <c:pt idx="12">
                  <c:v> KWILU </c:v>
                </c:pt>
                <c:pt idx="13">
                  <c:v> LOMAMI </c:v>
                </c:pt>
                <c:pt idx="14">
                  <c:v> LUALABA </c:v>
                </c:pt>
                <c:pt idx="15">
                  <c:v> MAI-NDOMBE </c:v>
                </c:pt>
                <c:pt idx="16">
                  <c:v> MANIEMA </c:v>
                </c:pt>
                <c:pt idx="17">
                  <c:v> MONGALA </c:v>
                </c:pt>
                <c:pt idx="18">
                  <c:v> NORD-KIVU </c:v>
                </c:pt>
                <c:pt idx="19">
                  <c:v> NORD-UBANGI </c:v>
                </c:pt>
                <c:pt idx="20">
                  <c:v> SANKURU </c:v>
                </c:pt>
                <c:pt idx="21">
                  <c:v> SUD-KIVU </c:v>
                </c:pt>
                <c:pt idx="22">
                  <c:v> SUD-UBANGI </c:v>
                </c:pt>
                <c:pt idx="23">
                  <c:v> TANGANYIKA </c:v>
                </c:pt>
                <c:pt idx="24">
                  <c:v> TSHOPO </c:v>
                </c:pt>
                <c:pt idx="25">
                  <c:v> TSHUAPA </c:v>
                </c:pt>
                <c:pt idx="26">
                  <c:v> National </c:v>
                </c:pt>
              </c:strCache>
            </c:strRef>
          </c:cat>
          <c:val>
            <c:numRef>
              <c:f>'Tableau synthese CV Antigènes'!$Q$36:$Q$62</c:f>
              <c:numCache>
                <c:formatCode>0%</c:formatCode>
                <c:ptCount val="27"/>
                <c:pt idx="0">
                  <c:v>0.89654689220298267</c:v>
                </c:pt>
                <c:pt idx="1">
                  <c:v>0.94357242308556033</c:v>
                </c:pt>
                <c:pt idx="2">
                  <c:v>1.1461880620519123</c:v>
                </c:pt>
                <c:pt idx="3">
                  <c:v>1.0991395577920458</c:v>
                </c:pt>
                <c:pt idx="4">
                  <c:v>0.97804967801287956</c:v>
                </c:pt>
                <c:pt idx="5">
                  <c:v>0.96912814511410184</c:v>
                </c:pt>
                <c:pt idx="6">
                  <c:v>0.82735520679346164</c:v>
                </c:pt>
                <c:pt idx="7">
                  <c:v>0.90449881146859434</c:v>
                </c:pt>
                <c:pt idx="8">
                  <c:v>0.98619176618718762</c:v>
                </c:pt>
                <c:pt idx="9">
                  <c:v>0.92081425056218136</c:v>
                </c:pt>
                <c:pt idx="10">
                  <c:v>0.97310667202717072</c:v>
                </c:pt>
                <c:pt idx="11">
                  <c:v>0.92004615313610549</c:v>
                </c:pt>
                <c:pt idx="12">
                  <c:v>0.98565798853177067</c:v>
                </c:pt>
                <c:pt idx="13">
                  <c:v>0.9771845180658304</c:v>
                </c:pt>
                <c:pt idx="14">
                  <c:v>1.1492386815636797</c:v>
                </c:pt>
                <c:pt idx="15">
                  <c:v>0.94123095730675177</c:v>
                </c:pt>
                <c:pt idx="16">
                  <c:v>1.0291389015801315</c:v>
                </c:pt>
                <c:pt idx="17">
                  <c:v>0.95326559730208837</c:v>
                </c:pt>
                <c:pt idx="18">
                  <c:v>0.89684642528586322</c:v>
                </c:pt>
                <c:pt idx="19">
                  <c:v>0.84478035231342752</c:v>
                </c:pt>
                <c:pt idx="20">
                  <c:v>0.93437450199203187</c:v>
                </c:pt>
                <c:pt idx="21">
                  <c:v>1.074947061344866</c:v>
                </c:pt>
                <c:pt idx="22">
                  <c:v>0.91333763176440586</c:v>
                </c:pt>
                <c:pt idx="23">
                  <c:v>1.2194526690780685</c:v>
                </c:pt>
                <c:pt idx="24">
                  <c:v>0.97586778153167852</c:v>
                </c:pt>
                <c:pt idx="25">
                  <c:v>0.85576970210111181</c:v>
                </c:pt>
                <c:pt idx="26">
                  <c:v>0.97811672535752703</c:v>
                </c:pt>
              </c:numCache>
            </c:numRef>
          </c:val>
          <c:extLst>
            <c:ext xmlns:c16="http://schemas.microsoft.com/office/drawing/2014/chart" uri="{C3380CC4-5D6E-409C-BE32-E72D297353CC}">
              <c16:uniqueId val="{00000001-2113-4A28-A19A-0643D77EC2F5}"/>
            </c:ext>
          </c:extLst>
        </c:ser>
        <c:dLbls>
          <c:showLegendKey val="0"/>
          <c:showVal val="0"/>
          <c:showCatName val="0"/>
          <c:showSerName val="0"/>
          <c:showPercent val="0"/>
          <c:showBubbleSize val="0"/>
        </c:dLbls>
        <c:gapWidth val="219"/>
        <c:overlap val="-27"/>
        <c:axId val="301815640"/>
        <c:axId val="301809760"/>
      </c:barChart>
      <c:catAx>
        <c:axId val="3018156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2700000" vert="horz"/>
          <a:lstStyle/>
          <a:p>
            <a:pPr>
              <a:defRPr/>
            </a:pPr>
            <a:endParaRPr lang="fr-FR"/>
          </a:p>
        </c:txPr>
        <c:crossAx val="301809760"/>
        <c:crosses val="autoZero"/>
        <c:auto val="1"/>
        <c:lblAlgn val="ctr"/>
        <c:lblOffset val="100"/>
        <c:noMultiLvlLbl val="0"/>
      </c:catAx>
      <c:valAx>
        <c:axId val="301809760"/>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ln w="9525">
            <a:noFill/>
          </a:ln>
        </c:spPr>
        <c:txPr>
          <a:bodyPr rot="0" vert="horz"/>
          <a:lstStyle/>
          <a:p>
            <a:pPr>
              <a:defRPr/>
            </a:pPr>
            <a:endParaRPr lang="fr-FR"/>
          </a:p>
        </c:txPr>
        <c:crossAx val="301815640"/>
        <c:crosses val="autoZero"/>
        <c:crossBetween val="between"/>
      </c:valAx>
      <c:spPr>
        <a:noFill/>
        <a:ln w="25400">
          <a:noFill/>
        </a:ln>
      </c:spPr>
    </c:plotArea>
    <c:legend>
      <c:legendPos val="r"/>
      <c:layout>
        <c:manualLayout>
          <c:xMode val="edge"/>
          <c:yMode val="edge"/>
          <c:x val="0.38534054120029754"/>
          <c:y val="5.5129920226285711E-2"/>
          <c:w val="0.16855329855065973"/>
          <c:h val="6.2554198302320993E-2"/>
        </c:manualLayout>
      </c:layout>
      <c:overlay val="0"/>
      <c:spPr>
        <a:noFill/>
        <a:ln w="25400">
          <a:noFill/>
        </a:ln>
      </c:sp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sz="1200" b="0" i="0" u="none" strike="noStrike" baseline="0">
          <a:solidFill>
            <a:srgbClr val="000000"/>
          </a:solidFill>
          <a:latin typeface="Calibri"/>
          <a:ea typeface="Calibri"/>
          <a:cs typeface="Calibri"/>
        </a:defRPr>
      </a:pPr>
      <a:endParaRPr lang="fr-FR"/>
    </a:p>
  </c:txPr>
  <c:externalData r:id="rId2">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342">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1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 Id="rId4" Type="http://schemas.openxmlformats.org/officeDocument/2006/relationships/image" Target="../media/image18.png"/></Relationships>
</file>

<file path=ppt/diagrams/_rels/drawing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 Id="rId4" Type="http://schemas.openxmlformats.org/officeDocument/2006/relationships/image" Target="../media/image18.png"/></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A90E041-0720-4BEC-B2D0-F6DC4B742A5C}" type="doc">
      <dgm:prSet loTypeId="urn:microsoft.com/office/officeart/2018/2/layout/IconCircleList" loCatId="icon" qsTypeId="urn:microsoft.com/office/officeart/2005/8/quickstyle/simple1" qsCatId="simple" csTypeId="urn:microsoft.com/office/officeart/2005/8/colors/accent3_2" csCatId="accent3" phldr="1"/>
      <dgm:spPr/>
      <dgm:t>
        <a:bodyPr/>
        <a:lstStyle/>
        <a:p>
          <a:endParaRPr lang="en-US"/>
        </a:p>
      </dgm:t>
    </dgm:pt>
    <dgm:pt modelId="{496A38BF-0658-4367-BFF3-8A911049BFCD}">
      <dgm:prSet/>
      <dgm:spPr/>
      <dgm:t>
        <a:bodyPr/>
        <a:lstStyle/>
        <a:p>
          <a:pPr>
            <a:lnSpc>
              <a:spcPct val="100000"/>
            </a:lnSpc>
          </a:pPr>
          <a:r>
            <a:rPr lang="en-US" dirty="0"/>
            <a:t>VAP1: 70%</a:t>
          </a:r>
        </a:p>
      </dgm:t>
    </dgm:pt>
    <dgm:pt modelId="{2DB96FEA-BC34-4ADE-A8EE-A1B15680BB36}" type="parTrans" cxnId="{F05F2953-3E88-456B-8D39-E51BA0E6A2E6}">
      <dgm:prSet/>
      <dgm:spPr/>
      <dgm:t>
        <a:bodyPr/>
        <a:lstStyle/>
        <a:p>
          <a:endParaRPr lang="en-US"/>
        </a:p>
      </dgm:t>
    </dgm:pt>
    <dgm:pt modelId="{80FA136D-8CFF-44AD-BC0E-1F685139A50C}" type="sibTrans" cxnId="{F05F2953-3E88-456B-8D39-E51BA0E6A2E6}">
      <dgm:prSet/>
      <dgm:spPr/>
      <dgm:t>
        <a:bodyPr/>
        <a:lstStyle/>
        <a:p>
          <a:pPr>
            <a:lnSpc>
              <a:spcPct val="100000"/>
            </a:lnSpc>
          </a:pPr>
          <a:endParaRPr lang="en-US"/>
        </a:p>
      </dgm:t>
    </dgm:pt>
    <dgm:pt modelId="{CF55EA16-9080-4527-B7BC-1C15D4F16B89}">
      <dgm:prSet/>
      <dgm:spPr/>
      <dgm:t>
        <a:bodyPr/>
        <a:lstStyle/>
        <a:p>
          <a:pPr>
            <a:lnSpc>
              <a:spcPct val="100000"/>
            </a:lnSpc>
          </a:pPr>
          <a:r>
            <a:rPr lang="en-US" dirty="0"/>
            <a:t>VAP2: 62%</a:t>
          </a:r>
        </a:p>
      </dgm:t>
    </dgm:pt>
    <dgm:pt modelId="{350498F4-3BF1-474E-A6C9-4697CE319969}" type="parTrans" cxnId="{3A7EB659-9B70-4B4A-82F6-E1A4DAED36B6}">
      <dgm:prSet/>
      <dgm:spPr/>
      <dgm:t>
        <a:bodyPr/>
        <a:lstStyle/>
        <a:p>
          <a:endParaRPr lang="en-US"/>
        </a:p>
      </dgm:t>
    </dgm:pt>
    <dgm:pt modelId="{6EE05176-BB38-4CBA-8136-055263EFF6CE}" type="sibTrans" cxnId="{3A7EB659-9B70-4B4A-82F6-E1A4DAED36B6}">
      <dgm:prSet/>
      <dgm:spPr/>
      <dgm:t>
        <a:bodyPr/>
        <a:lstStyle/>
        <a:p>
          <a:pPr>
            <a:lnSpc>
              <a:spcPct val="100000"/>
            </a:lnSpc>
          </a:pPr>
          <a:endParaRPr lang="en-US"/>
        </a:p>
      </dgm:t>
    </dgm:pt>
    <dgm:pt modelId="{08EE7684-D23A-4522-8A66-07B48DBC1CE4}">
      <dgm:prSet/>
      <dgm:spPr/>
      <dgm:t>
        <a:bodyPr/>
        <a:lstStyle/>
        <a:p>
          <a:pPr>
            <a:lnSpc>
              <a:spcPct val="100000"/>
            </a:lnSpc>
          </a:pPr>
          <a:r>
            <a:rPr lang="en-US" dirty="0"/>
            <a:t>VAP3: 60%</a:t>
          </a:r>
        </a:p>
      </dgm:t>
    </dgm:pt>
    <dgm:pt modelId="{668F1DE7-A10C-491A-8B8D-1CCA9C1E767F}" type="parTrans" cxnId="{14D47932-94FF-48F3-84A0-C22D23521CA8}">
      <dgm:prSet/>
      <dgm:spPr/>
      <dgm:t>
        <a:bodyPr/>
        <a:lstStyle/>
        <a:p>
          <a:endParaRPr lang="en-US"/>
        </a:p>
      </dgm:t>
    </dgm:pt>
    <dgm:pt modelId="{7A061C51-7335-4542-9A5E-C11686F27930}" type="sibTrans" cxnId="{14D47932-94FF-48F3-84A0-C22D23521CA8}">
      <dgm:prSet/>
      <dgm:spPr/>
      <dgm:t>
        <a:bodyPr/>
        <a:lstStyle/>
        <a:p>
          <a:pPr>
            <a:lnSpc>
              <a:spcPct val="100000"/>
            </a:lnSpc>
          </a:pPr>
          <a:endParaRPr lang="en-US"/>
        </a:p>
      </dgm:t>
    </dgm:pt>
    <dgm:pt modelId="{059D4E7A-518F-4A1F-A678-DC63144936C0}">
      <dgm:prSet/>
      <dgm:spPr/>
      <dgm:t>
        <a:bodyPr/>
        <a:lstStyle/>
        <a:p>
          <a:pPr>
            <a:lnSpc>
              <a:spcPct val="100000"/>
            </a:lnSpc>
          </a:pPr>
          <a:r>
            <a:rPr lang="en-US" dirty="0"/>
            <a:t>VAP4: 46%</a:t>
          </a:r>
        </a:p>
      </dgm:t>
    </dgm:pt>
    <dgm:pt modelId="{7303D959-6F07-44AF-9ED4-2F5D89BB2AC9}" type="parTrans" cxnId="{C8160447-40E5-41DA-9FBA-ECBBACC4236C}">
      <dgm:prSet/>
      <dgm:spPr/>
      <dgm:t>
        <a:bodyPr/>
        <a:lstStyle/>
        <a:p>
          <a:endParaRPr lang="en-US"/>
        </a:p>
      </dgm:t>
    </dgm:pt>
    <dgm:pt modelId="{6BDDBCA5-99E3-45FB-9D59-AAB8A57279DD}" type="sibTrans" cxnId="{C8160447-40E5-41DA-9FBA-ECBBACC4236C}">
      <dgm:prSet/>
      <dgm:spPr/>
      <dgm:t>
        <a:bodyPr/>
        <a:lstStyle/>
        <a:p>
          <a:endParaRPr lang="en-US"/>
        </a:p>
      </dgm:t>
    </dgm:pt>
    <dgm:pt modelId="{42C96F77-34B9-4A56-81F6-3AA37E5FA51B}" type="pres">
      <dgm:prSet presAssocID="{6A90E041-0720-4BEC-B2D0-F6DC4B742A5C}" presName="root" presStyleCnt="0">
        <dgm:presLayoutVars>
          <dgm:dir/>
          <dgm:resizeHandles val="exact"/>
        </dgm:presLayoutVars>
      </dgm:prSet>
      <dgm:spPr/>
    </dgm:pt>
    <dgm:pt modelId="{FD1399D1-3E93-4659-87E1-13052E0F2D93}" type="pres">
      <dgm:prSet presAssocID="{6A90E041-0720-4BEC-B2D0-F6DC4B742A5C}" presName="container" presStyleCnt="0">
        <dgm:presLayoutVars>
          <dgm:dir/>
          <dgm:resizeHandles val="exact"/>
        </dgm:presLayoutVars>
      </dgm:prSet>
      <dgm:spPr/>
    </dgm:pt>
    <dgm:pt modelId="{8AB60DB7-A5C6-4882-852D-2602BFDA7BFD}" type="pres">
      <dgm:prSet presAssocID="{496A38BF-0658-4367-BFF3-8A911049BFCD}" presName="compNode" presStyleCnt="0"/>
      <dgm:spPr/>
    </dgm:pt>
    <dgm:pt modelId="{0FB34240-4E1F-4DB3-9C8F-DEBFF00D151B}" type="pres">
      <dgm:prSet presAssocID="{496A38BF-0658-4367-BFF3-8A911049BFCD}" presName="iconBgRect" presStyleLbl="bgShp" presStyleIdx="0" presStyleCnt="4"/>
      <dgm:spPr/>
    </dgm:pt>
    <dgm:pt modelId="{7E6A4A5F-B833-4484-BA6D-4D1A2941312C}" type="pres">
      <dgm:prSet presAssocID="{496A38BF-0658-4367-BFF3-8A911049BFCD}" presName="iconRect" presStyleLbl="node1" presStyleIdx="0" presStyleCnt="4"/>
      <dgm:spPr>
        <a:blipFill>
          <a:blip xmlns:r="http://schemas.openxmlformats.org/officeDocument/2006/relationships" r:embed="rId1" cstate="print">
            <a:extLst>
              <a:ext uri="{28A0092B-C50C-407E-A947-70E740481C1C}">
                <a14:useLocalDpi xmlns:a14="http://schemas.microsoft.com/office/drawing/2010/main" val="0"/>
              </a:ext>
            </a:extLst>
          </a:blip>
          <a:stretch>
            <a:fillRect/>
          </a:stretch>
        </a:blipFill>
        <a:ln>
          <a:noFill/>
        </a:ln>
      </dgm:spPr>
      <dgm:extLst>
        <a:ext uri="{E40237B7-FDA0-4F09-8148-C483321AD2D9}">
          <dgm14:cNvPr xmlns:dgm14="http://schemas.microsoft.com/office/drawing/2010/diagram" id="0" name="" descr="Snowflake"/>
        </a:ext>
      </dgm:extLst>
    </dgm:pt>
    <dgm:pt modelId="{4143A3C9-2D59-4DFD-A7A0-54F4DE5C296B}" type="pres">
      <dgm:prSet presAssocID="{496A38BF-0658-4367-BFF3-8A911049BFCD}" presName="spaceRect" presStyleCnt="0"/>
      <dgm:spPr/>
    </dgm:pt>
    <dgm:pt modelId="{693C8487-049A-4C3E-A3E9-A19675211D0D}" type="pres">
      <dgm:prSet presAssocID="{496A38BF-0658-4367-BFF3-8A911049BFCD}" presName="textRect" presStyleLbl="revTx" presStyleIdx="0" presStyleCnt="4">
        <dgm:presLayoutVars>
          <dgm:chMax val="1"/>
          <dgm:chPref val="1"/>
        </dgm:presLayoutVars>
      </dgm:prSet>
      <dgm:spPr/>
    </dgm:pt>
    <dgm:pt modelId="{930DB1CC-D339-45B0-A8CC-CFCED413A2F5}" type="pres">
      <dgm:prSet presAssocID="{80FA136D-8CFF-44AD-BC0E-1F685139A50C}" presName="sibTrans" presStyleLbl="sibTrans2D1" presStyleIdx="0" presStyleCnt="0"/>
      <dgm:spPr/>
    </dgm:pt>
    <dgm:pt modelId="{E3A27857-624F-4285-94E5-EFDE31B75D66}" type="pres">
      <dgm:prSet presAssocID="{CF55EA16-9080-4527-B7BC-1C15D4F16B89}" presName="compNode" presStyleCnt="0"/>
      <dgm:spPr/>
    </dgm:pt>
    <dgm:pt modelId="{EF1A2312-7FE9-4A1A-A2B2-4D778D848365}" type="pres">
      <dgm:prSet presAssocID="{CF55EA16-9080-4527-B7BC-1C15D4F16B89}" presName="iconBgRect" presStyleLbl="bgShp" presStyleIdx="1" presStyleCnt="4"/>
      <dgm:spPr/>
    </dgm:pt>
    <dgm:pt modelId="{02BED235-79B1-4905-8A31-F502CD0E6419}" type="pres">
      <dgm:prSet presAssocID="{CF55EA16-9080-4527-B7BC-1C15D4F16B89}" presName="iconRect" presStyleLbl="node1" presStyleIdx="1" presStyleCnt="4"/>
      <dgm:spPr>
        <a:blipFill>
          <a:blip xmlns:r="http://schemas.openxmlformats.org/officeDocument/2006/relationships" r:embed="rId2" cstate="print">
            <a:extLst>
              <a:ext uri="{28A0092B-C50C-407E-A947-70E740481C1C}">
                <a14:useLocalDpi xmlns:a14="http://schemas.microsoft.com/office/drawing/2010/main" val="0"/>
              </a:ext>
            </a:extLst>
          </a:blip>
          <a:stretch>
            <a:fillRect/>
          </a:stretch>
        </a:blipFill>
        <a:ln>
          <a:noFill/>
        </a:ln>
      </dgm:spPr>
      <dgm:extLst>
        <a:ext uri="{E40237B7-FDA0-4F09-8148-C483321AD2D9}">
          <dgm14:cNvPr xmlns:dgm14="http://schemas.microsoft.com/office/drawing/2010/diagram" id="0" name="" descr="Trophy"/>
        </a:ext>
      </dgm:extLst>
    </dgm:pt>
    <dgm:pt modelId="{5CB57EBD-708D-4705-960B-EFD1C9E31BF4}" type="pres">
      <dgm:prSet presAssocID="{CF55EA16-9080-4527-B7BC-1C15D4F16B89}" presName="spaceRect" presStyleCnt="0"/>
      <dgm:spPr/>
    </dgm:pt>
    <dgm:pt modelId="{56C8F4C2-C759-45EF-A631-0FECDB11A04C}" type="pres">
      <dgm:prSet presAssocID="{CF55EA16-9080-4527-B7BC-1C15D4F16B89}" presName="textRect" presStyleLbl="revTx" presStyleIdx="1" presStyleCnt="4">
        <dgm:presLayoutVars>
          <dgm:chMax val="1"/>
          <dgm:chPref val="1"/>
        </dgm:presLayoutVars>
      </dgm:prSet>
      <dgm:spPr/>
    </dgm:pt>
    <dgm:pt modelId="{B37AE1BD-68C2-4A0F-8390-F73F81613E23}" type="pres">
      <dgm:prSet presAssocID="{6EE05176-BB38-4CBA-8136-055263EFF6CE}" presName="sibTrans" presStyleLbl="sibTrans2D1" presStyleIdx="0" presStyleCnt="0"/>
      <dgm:spPr/>
    </dgm:pt>
    <dgm:pt modelId="{5327766A-5E12-4FEA-B6C2-A496B40D1115}" type="pres">
      <dgm:prSet presAssocID="{08EE7684-D23A-4522-8A66-07B48DBC1CE4}" presName="compNode" presStyleCnt="0"/>
      <dgm:spPr/>
    </dgm:pt>
    <dgm:pt modelId="{A00FE115-5D3C-4940-AE2E-BF50DCE62727}" type="pres">
      <dgm:prSet presAssocID="{08EE7684-D23A-4522-8A66-07B48DBC1CE4}" presName="iconBgRect" presStyleLbl="bgShp" presStyleIdx="2" presStyleCnt="4"/>
      <dgm:spPr/>
    </dgm:pt>
    <dgm:pt modelId="{DCFF929F-874B-4983-AFEB-37C563146EB8}" type="pres">
      <dgm:prSet presAssocID="{08EE7684-D23A-4522-8A66-07B48DBC1CE4}" presName="iconRect" presStyleLbl="node1" presStyleIdx="2" presStyleCnt="4"/>
      <dgm:spPr>
        <a:blipFill>
          <a:blip xmlns:r="http://schemas.openxmlformats.org/officeDocument/2006/relationships" r:embed="rId3" cstate="print">
            <a:extLst>
              <a:ext uri="{28A0092B-C50C-407E-A947-70E740481C1C}">
                <a14:useLocalDpi xmlns:a14="http://schemas.microsoft.com/office/drawing/2010/main" val="0"/>
              </a:ext>
            </a:extLst>
          </a:blip>
          <a:stretch>
            <a:fillRect/>
          </a:stretch>
        </a:blipFill>
        <a:ln>
          <a:noFill/>
        </a:ln>
      </dgm:spPr>
      <dgm:extLst>
        <a:ext uri="{E40237B7-FDA0-4F09-8148-C483321AD2D9}">
          <dgm14:cNvPr xmlns:dgm14="http://schemas.microsoft.com/office/drawing/2010/diagram" id="0" name="" descr="Balloons"/>
        </a:ext>
      </dgm:extLst>
    </dgm:pt>
    <dgm:pt modelId="{0D1230A7-9144-4300-AD0F-CDB91778C08E}" type="pres">
      <dgm:prSet presAssocID="{08EE7684-D23A-4522-8A66-07B48DBC1CE4}" presName="spaceRect" presStyleCnt="0"/>
      <dgm:spPr/>
    </dgm:pt>
    <dgm:pt modelId="{8B715A7B-8AFA-4200-8513-D0D8FF634FD3}" type="pres">
      <dgm:prSet presAssocID="{08EE7684-D23A-4522-8A66-07B48DBC1CE4}" presName="textRect" presStyleLbl="revTx" presStyleIdx="2" presStyleCnt="4">
        <dgm:presLayoutVars>
          <dgm:chMax val="1"/>
          <dgm:chPref val="1"/>
        </dgm:presLayoutVars>
      </dgm:prSet>
      <dgm:spPr/>
    </dgm:pt>
    <dgm:pt modelId="{C026629F-C71B-410E-A575-79283AEC3FC2}" type="pres">
      <dgm:prSet presAssocID="{7A061C51-7335-4542-9A5E-C11686F27930}" presName="sibTrans" presStyleLbl="sibTrans2D1" presStyleIdx="0" presStyleCnt="0"/>
      <dgm:spPr/>
    </dgm:pt>
    <dgm:pt modelId="{E31A264D-4C28-45D4-86C2-D9D3440170EC}" type="pres">
      <dgm:prSet presAssocID="{059D4E7A-518F-4A1F-A678-DC63144936C0}" presName="compNode" presStyleCnt="0"/>
      <dgm:spPr/>
    </dgm:pt>
    <dgm:pt modelId="{B168001D-335C-4326-8855-CEF3BBB7E1E4}" type="pres">
      <dgm:prSet presAssocID="{059D4E7A-518F-4A1F-A678-DC63144936C0}" presName="iconBgRect" presStyleLbl="bgShp" presStyleIdx="3" presStyleCnt="4"/>
      <dgm:spPr/>
    </dgm:pt>
    <dgm:pt modelId="{A38068CF-36C2-43FE-97CC-24F4DCF61AA5}" type="pres">
      <dgm:prSet presAssocID="{059D4E7A-518F-4A1F-A678-DC63144936C0}" presName="iconRect" presStyleLbl="node1" presStyleIdx="3" presStyleCnt="4"/>
      <dgm:spPr>
        <a:blipFill>
          <a:blip xmlns:r="http://schemas.openxmlformats.org/officeDocument/2006/relationships" r:embed="rId4" cstate="print">
            <a:extLst>
              <a:ext uri="{28A0092B-C50C-407E-A947-70E740481C1C}">
                <a14:useLocalDpi xmlns:a14="http://schemas.microsoft.com/office/drawing/2010/main" val="0"/>
              </a:ext>
            </a:extLst>
          </a:blip>
          <a:stretch>
            <a:fillRect/>
          </a:stretch>
        </a:blipFill>
        <a:ln>
          <a:noFill/>
        </a:ln>
      </dgm:spPr>
      <dgm:extLst>
        <a:ext uri="{E40237B7-FDA0-4F09-8148-C483321AD2D9}">
          <dgm14:cNvPr xmlns:dgm14="http://schemas.microsoft.com/office/drawing/2010/diagram" id="0" name="" descr="Present"/>
        </a:ext>
      </dgm:extLst>
    </dgm:pt>
    <dgm:pt modelId="{F0F9CE39-EB7C-4A71-B221-4FA7569B3383}" type="pres">
      <dgm:prSet presAssocID="{059D4E7A-518F-4A1F-A678-DC63144936C0}" presName="spaceRect" presStyleCnt="0"/>
      <dgm:spPr/>
    </dgm:pt>
    <dgm:pt modelId="{2B148CFB-3581-41A8-B045-B1A53459B155}" type="pres">
      <dgm:prSet presAssocID="{059D4E7A-518F-4A1F-A678-DC63144936C0}" presName="textRect" presStyleLbl="revTx" presStyleIdx="3" presStyleCnt="4">
        <dgm:presLayoutVars>
          <dgm:chMax val="1"/>
          <dgm:chPref val="1"/>
        </dgm:presLayoutVars>
      </dgm:prSet>
      <dgm:spPr/>
    </dgm:pt>
  </dgm:ptLst>
  <dgm:cxnLst>
    <dgm:cxn modelId="{14D47932-94FF-48F3-84A0-C22D23521CA8}" srcId="{6A90E041-0720-4BEC-B2D0-F6DC4B742A5C}" destId="{08EE7684-D23A-4522-8A66-07B48DBC1CE4}" srcOrd="2" destOrd="0" parTransId="{668F1DE7-A10C-491A-8B8D-1CCA9C1E767F}" sibTransId="{7A061C51-7335-4542-9A5E-C11686F27930}"/>
    <dgm:cxn modelId="{F1B1833A-8C04-42DA-923C-DF7701E96F65}" type="presOf" srcId="{08EE7684-D23A-4522-8A66-07B48DBC1CE4}" destId="{8B715A7B-8AFA-4200-8513-D0D8FF634FD3}" srcOrd="0" destOrd="0" presId="urn:microsoft.com/office/officeart/2018/2/layout/IconCircleList"/>
    <dgm:cxn modelId="{C8160447-40E5-41DA-9FBA-ECBBACC4236C}" srcId="{6A90E041-0720-4BEC-B2D0-F6DC4B742A5C}" destId="{059D4E7A-518F-4A1F-A678-DC63144936C0}" srcOrd="3" destOrd="0" parTransId="{7303D959-6F07-44AF-9ED4-2F5D89BB2AC9}" sibTransId="{6BDDBCA5-99E3-45FB-9D59-AAB8A57279DD}"/>
    <dgm:cxn modelId="{1496984E-2132-4548-A972-A26B125FDD39}" type="presOf" srcId="{80FA136D-8CFF-44AD-BC0E-1F685139A50C}" destId="{930DB1CC-D339-45B0-A8CC-CFCED413A2F5}" srcOrd="0" destOrd="0" presId="urn:microsoft.com/office/officeart/2018/2/layout/IconCircleList"/>
    <dgm:cxn modelId="{CD790A52-B64C-4F89-B04A-FE6FCFD80196}" type="presOf" srcId="{7A061C51-7335-4542-9A5E-C11686F27930}" destId="{C026629F-C71B-410E-A575-79283AEC3FC2}" srcOrd="0" destOrd="0" presId="urn:microsoft.com/office/officeart/2018/2/layout/IconCircleList"/>
    <dgm:cxn modelId="{F05F2953-3E88-456B-8D39-E51BA0E6A2E6}" srcId="{6A90E041-0720-4BEC-B2D0-F6DC4B742A5C}" destId="{496A38BF-0658-4367-BFF3-8A911049BFCD}" srcOrd="0" destOrd="0" parTransId="{2DB96FEA-BC34-4ADE-A8EE-A1B15680BB36}" sibTransId="{80FA136D-8CFF-44AD-BC0E-1F685139A50C}"/>
    <dgm:cxn modelId="{3A7EB659-9B70-4B4A-82F6-E1A4DAED36B6}" srcId="{6A90E041-0720-4BEC-B2D0-F6DC4B742A5C}" destId="{CF55EA16-9080-4527-B7BC-1C15D4F16B89}" srcOrd="1" destOrd="0" parTransId="{350498F4-3BF1-474E-A6C9-4697CE319969}" sibTransId="{6EE05176-BB38-4CBA-8136-055263EFF6CE}"/>
    <dgm:cxn modelId="{D59EC788-C185-4EB3-AE81-6D66F4F0C183}" type="presOf" srcId="{CF55EA16-9080-4527-B7BC-1C15D4F16B89}" destId="{56C8F4C2-C759-45EF-A631-0FECDB11A04C}" srcOrd="0" destOrd="0" presId="urn:microsoft.com/office/officeart/2018/2/layout/IconCircleList"/>
    <dgm:cxn modelId="{0B024092-6D00-46C2-9FF1-943F65004DB7}" type="presOf" srcId="{059D4E7A-518F-4A1F-A678-DC63144936C0}" destId="{2B148CFB-3581-41A8-B045-B1A53459B155}" srcOrd="0" destOrd="0" presId="urn:microsoft.com/office/officeart/2018/2/layout/IconCircleList"/>
    <dgm:cxn modelId="{225A8DB6-699D-44B9-B21D-A2B5A5939434}" type="presOf" srcId="{6EE05176-BB38-4CBA-8136-055263EFF6CE}" destId="{B37AE1BD-68C2-4A0F-8390-F73F81613E23}" srcOrd="0" destOrd="0" presId="urn:microsoft.com/office/officeart/2018/2/layout/IconCircleList"/>
    <dgm:cxn modelId="{F84B1FBE-3302-4CF1-BB05-26D9E977454F}" type="presOf" srcId="{496A38BF-0658-4367-BFF3-8A911049BFCD}" destId="{693C8487-049A-4C3E-A3E9-A19675211D0D}" srcOrd="0" destOrd="0" presId="urn:microsoft.com/office/officeart/2018/2/layout/IconCircleList"/>
    <dgm:cxn modelId="{3D27E6E1-1BF0-4017-BA4A-B1A3A2B07B46}" type="presOf" srcId="{6A90E041-0720-4BEC-B2D0-F6DC4B742A5C}" destId="{42C96F77-34B9-4A56-81F6-3AA37E5FA51B}" srcOrd="0" destOrd="0" presId="urn:microsoft.com/office/officeart/2018/2/layout/IconCircleList"/>
    <dgm:cxn modelId="{3BF153A6-FC85-4AFD-B376-6E9403644AAC}" type="presParOf" srcId="{42C96F77-34B9-4A56-81F6-3AA37E5FA51B}" destId="{FD1399D1-3E93-4659-87E1-13052E0F2D93}" srcOrd="0" destOrd="0" presId="urn:microsoft.com/office/officeart/2018/2/layout/IconCircleList"/>
    <dgm:cxn modelId="{46DB7EFC-A030-441B-9487-2D3691216C87}" type="presParOf" srcId="{FD1399D1-3E93-4659-87E1-13052E0F2D93}" destId="{8AB60DB7-A5C6-4882-852D-2602BFDA7BFD}" srcOrd="0" destOrd="0" presId="urn:microsoft.com/office/officeart/2018/2/layout/IconCircleList"/>
    <dgm:cxn modelId="{6D8E134B-827D-4512-A7EC-F2FCF6F4FEC1}" type="presParOf" srcId="{8AB60DB7-A5C6-4882-852D-2602BFDA7BFD}" destId="{0FB34240-4E1F-4DB3-9C8F-DEBFF00D151B}" srcOrd="0" destOrd="0" presId="urn:microsoft.com/office/officeart/2018/2/layout/IconCircleList"/>
    <dgm:cxn modelId="{40A86F4B-0DD1-409E-8FCD-1F04213E47F0}" type="presParOf" srcId="{8AB60DB7-A5C6-4882-852D-2602BFDA7BFD}" destId="{7E6A4A5F-B833-4484-BA6D-4D1A2941312C}" srcOrd="1" destOrd="0" presId="urn:microsoft.com/office/officeart/2018/2/layout/IconCircleList"/>
    <dgm:cxn modelId="{8D1375C3-6CF1-4A5F-A012-09920D7516B2}" type="presParOf" srcId="{8AB60DB7-A5C6-4882-852D-2602BFDA7BFD}" destId="{4143A3C9-2D59-4DFD-A7A0-54F4DE5C296B}" srcOrd="2" destOrd="0" presId="urn:microsoft.com/office/officeart/2018/2/layout/IconCircleList"/>
    <dgm:cxn modelId="{FE6A2A29-C787-47C6-AA45-81804E4061B8}" type="presParOf" srcId="{8AB60DB7-A5C6-4882-852D-2602BFDA7BFD}" destId="{693C8487-049A-4C3E-A3E9-A19675211D0D}" srcOrd="3" destOrd="0" presId="urn:microsoft.com/office/officeart/2018/2/layout/IconCircleList"/>
    <dgm:cxn modelId="{8A28A354-2F65-4BAD-B4AE-2797D57F3037}" type="presParOf" srcId="{FD1399D1-3E93-4659-87E1-13052E0F2D93}" destId="{930DB1CC-D339-45B0-A8CC-CFCED413A2F5}" srcOrd="1" destOrd="0" presId="urn:microsoft.com/office/officeart/2018/2/layout/IconCircleList"/>
    <dgm:cxn modelId="{0AFE7570-D298-4786-999D-4665A618975E}" type="presParOf" srcId="{FD1399D1-3E93-4659-87E1-13052E0F2D93}" destId="{E3A27857-624F-4285-94E5-EFDE31B75D66}" srcOrd="2" destOrd="0" presId="urn:microsoft.com/office/officeart/2018/2/layout/IconCircleList"/>
    <dgm:cxn modelId="{C0457D18-5681-49C3-81C5-FBE581A1B291}" type="presParOf" srcId="{E3A27857-624F-4285-94E5-EFDE31B75D66}" destId="{EF1A2312-7FE9-4A1A-A2B2-4D778D848365}" srcOrd="0" destOrd="0" presId="urn:microsoft.com/office/officeart/2018/2/layout/IconCircleList"/>
    <dgm:cxn modelId="{285A18F1-A1DD-45B5-86FC-AA8108E999B5}" type="presParOf" srcId="{E3A27857-624F-4285-94E5-EFDE31B75D66}" destId="{02BED235-79B1-4905-8A31-F502CD0E6419}" srcOrd="1" destOrd="0" presId="urn:microsoft.com/office/officeart/2018/2/layout/IconCircleList"/>
    <dgm:cxn modelId="{2C024F59-AA66-45A2-BDFA-A58EBC6F6894}" type="presParOf" srcId="{E3A27857-624F-4285-94E5-EFDE31B75D66}" destId="{5CB57EBD-708D-4705-960B-EFD1C9E31BF4}" srcOrd="2" destOrd="0" presId="urn:microsoft.com/office/officeart/2018/2/layout/IconCircleList"/>
    <dgm:cxn modelId="{CBFA74FC-5714-469D-B617-B6326879CC0B}" type="presParOf" srcId="{E3A27857-624F-4285-94E5-EFDE31B75D66}" destId="{56C8F4C2-C759-45EF-A631-0FECDB11A04C}" srcOrd="3" destOrd="0" presId="urn:microsoft.com/office/officeart/2018/2/layout/IconCircleList"/>
    <dgm:cxn modelId="{8DA4EC31-04A5-46BE-B1EC-4D4DE23354B6}" type="presParOf" srcId="{FD1399D1-3E93-4659-87E1-13052E0F2D93}" destId="{B37AE1BD-68C2-4A0F-8390-F73F81613E23}" srcOrd="3" destOrd="0" presId="urn:microsoft.com/office/officeart/2018/2/layout/IconCircleList"/>
    <dgm:cxn modelId="{61CB3F99-DFAE-4CB7-9AF1-BC285254AA24}" type="presParOf" srcId="{FD1399D1-3E93-4659-87E1-13052E0F2D93}" destId="{5327766A-5E12-4FEA-B6C2-A496B40D1115}" srcOrd="4" destOrd="0" presId="urn:microsoft.com/office/officeart/2018/2/layout/IconCircleList"/>
    <dgm:cxn modelId="{A52105FE-4F0F-422F-82B9-724761C4DD94}" type="presParOf" srcId="{5327766A-5E12-4FEA-B6C2-A496B40D1115}" destId="{A00FE115-5D3C-4940-AE2E-BF50DCE62727}" srcOrd="0" destOrd="0" presId="urn:microsoft.com/office/officeart/2018/2/layout/IconCircleList"/>
    <dgm:cxn modelId="{AEF454EE-4667-4AB9-A728-FF90E14E84D3}" type="presParOf" srcId="{5327766A-5E12-4FEA-B6C2-A496B40D1115}" destId="{DCFF929F-874B-4983-AFEB-37C563146EB8}" srcOrd="1" destOrd="0" presId="urn:microsoft.com/office/officeart/2018/2/layout/IconCircleList"/>
    <dgm:cxn modelId="{AF1416B3-B81B-456D-92AF-FFFA5D520B8F}" type="presParOf" srcId="{5327766A-5E12-4FEA-B6C2-A496B40D1115}" destId="{0D1230A7-9144-4300-AD0F-CDB91778C08E}" srcOrd="2" destOrd="0" presId="urn:microsoft.com/office/officeart/2018/2/layout/IconCircleList"/>
    <dgm:cxn modelId="{15AFE1E6-748D-44F8-AE49-EDDAC66FFE8C}" type="presParOf" srcId="{5327766A-5E12-4FEA-B6C2-A496B40D1115}" destId="{8B715A7B-8AFA-4200-8513-D0D8FF634FD3}" srcOrd="3" destOrd="0" presId="urn:microsoft.com/office/officeart/2018/2/layout/IconCircleList"/>
    <dgm:cxn modelId="{ACB06946-DFEB-46B2-A8FA-DD4779DEA5B5}" type="presParOf" srcId="{FD1399D1-3E93-4659-87E1-13052E0F2D93}" destId="{C026629F-C71B-410E-A575-79283AEC3FC2}" srcOrd="5" destOrd="0" presId="urn:microsoft.com/office/officeart/2018/2/layout/IconCircleList"/>
    <dgm:cxn modelId="{0A99CD42-B77C-4C77-9DC3-E7F2DC85699A}" type="presParOf" srcId="{FD1399D1-3E93-4659-87E1-13052E0F2D93}" destId="{E31A264D-4C28-45D4-86C2-D9D3440170EC}" srcOrd="6" destOrd="0" presId="urn:microsoft.com/office/officeart/2018/2/layout/IconCircleList"/>
    <dgm:cxn modelId="{F0AC15A3-AB50-4CEC-8E49-DD4A04DDA3C2}" type="presParOf" srcId="{E31A264D-4C28-45D4-86C2-D9D3440170EC}" destId="{B168001D-335C-4326-8855-CEF3BBB7E1E4}" srcOrd="0" destOrd="0" presId="urn:microsoft.com/office/officeart/2018/2/layout/IconCircleList"/>
    <dgm:cxn modelId="{59484462-84B3-4083-8A2B-DDA7F83515F3}" type="presParOf" srcId="{E31A264D-4C28-45D4-86C2-D9D3440170EC}" destId="{A38068CF-36C2-43FE-97CC-24F4DCF61AA5}" srcOrd="1" destOrd="0" presId="urn:microsoft.com/office/officeart/2018/2/layout/IconCircleList"/>
    <dgm:cxn modelId="{31B16F9D-48FB-4C53-926C-1816C6D8DC3B}" type="presParOf" srcId="{E31A264D-4C28-45D4-86C2-D9D3440170EC}" destId="{F0F9CE39-EB7C-4A71-B221-4FA7569B3383}" srcOrd="2" destOrd="0" presId="urn:microsoft.com/office/officeart/2018/2/layout/IconCircleList"/>
    <dgm:cxn modelId="{511E0066-0AF7-4122-9023-E7B8D432F4DA}" type="presParOf" srcId="{E31A264D-4C28-45D4-86C2-D9D3440170EC}" destId="{2B148CFB-3581-41A8-B045-B1A53459B155}" srcOrd="3" destOrd="0" presId="urn:microsoft.com/office/officeart/2018/2/layout/IconCircle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B34240-4E1F-4DB3-9C8F-DEBFF00D151B}">
      <dsp:nvSpPr>
        <dsp:cNvPr id="0" name=""/>
        <dsp:cNvSpPr/>
      </dsp:nvSpPr>
      <dsp:spPr>
        <a:xfrm>
          <a:off x="404" y="781635"/>
          <a:ext cx="582946" cy="582946"/>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E6A4A5F-B833-4484-BA6D-4D1A2941312C}">
      <dsp:nvSpPr>
        <dsp:cNvPr id="0" name=""/>
        <dsp:cNvSpPr/>
      </dsp:nvSpPr>
      <dsp:spPr>
        <a:xfrm>
          <a:off x="122822" y="904054"/>
          <a:ext cx="338109" cy="338109"/>
        </a:xfrm>
        <a:prstGeom prst="rect">
          <a:avLst/>
        </a:prstGeom>
        <a:blipFill>
          <a:blip xmlns:r="http://schemas.openxmlformats.org/officeDocument/2006/relationships" r:embed="rId1" cstate="print">
            <a:extLst>
              <a:ext uri="{28A0092B-C50C-407E-A947-70E740481C1C}">
                <a14:useLocalDpi xmlns:a14="http://schemas.microsoft.com/office/drawing/2010/main" val="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93C8487-049A-4C3E-A3E9-A19675211D0D}">
      <dsp:nvSpPr>
        <dsp:cNvPr id="0" name=""/>
        <dsp:cNvSpPr/>
      </dsp:nvSpPr>
      <dsp:spPr>
        <a:xfrm>
          <a:off x="708268" y="781635"/>
          <a:ext cx="1374089" cy="5829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dirty="0"/>
            <a:t>VAP1: 70%</a:t>
          </a:r>
        </a:p>
      </dsp:txBody>
      <dsp:txXfrm>
        <a:off x="708268" y="781635"/>
        <a:ext cx="1374089" cy="582946"/>
      </dsp:txXfrm>
    </dsp:sp>
    <dsp:sp modelId="{EF1A2312-7FE9-4A1A-A2B2-4D778D848365}">
      <dsp:nvSpPr>
        <dsp:cNvPr id="0" name=""/>
        <dsp:cNvSpPr/>
      </dsp:nvSpPr>
      <dsp:spPr>
        <a:xfrm>
          <a:off x="2321781" y="781635"/>
          <a:ext cx="582946" cy="582946"/>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2BED235-79B1-4905-8A31-F502CD0E6419}">
      <dsp:nvSpPr>
        <dsp:cNvPr id="0" name=""/>
        <dsp:cNvSpPr/>
      </dsp:nvSpPr>
      <dsp:spPr>
        <a:xfrm>
          <a:off x="2444200" y="904054"/>
          <a:ext cx="338109" cy="338109"/>
        </a:xfrm>
        <a:prstGeom prst="rect">
          <a:avLst/>
        </a:prstGeom>
        <a:blipFill>
          <a:blip xmlns:r="http://schemas.openxmlformats.org/officeDocument/2006/relationships" r:embed="rId2" cstate="print">
            <a:extLst>
              <a:ext uri="{28A0092B-C50C-407E-A947-70E740481C1C}">
                <a14:useLocalDpi xmlns:a14="http://schemas.microsoft.com/office/drawing/2010/main" val="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6C8F4C2-C759-45EF-A631-0FECDB11A04C}">
      <dsp:nvSpPr>
        <dsp:cNvPr id="0" name=""/>
        <dsp:cNvSpPr/>
      </dsp:nvSpPr>
      <dsp:spPr>
        <a:xfrm>
          <a:off x="3029645" y="781635"/>
          <a:ext cx="1374089" cy="5829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dirty="0"/>
            <a:t>VAP2: 62%</a:t>
          </a:r>
        </a:p>
      </dsp:txBody>
      <dsp:txXfrm>
        <a:off x="3029645" y="781635"/>
        <a:ext cx="1374089" cy="582946"/>
      </dsp:txXfrm>
    </dsp:sp>
    <dsp:sp modelId="{A00FE115-5D3C-4940-AE2E-BF50DCE62727}">
      <dsp:nvSpPr>
        <dsp:cNvPr id="0" name=""/>
        <dsp:cNvSpPr/>
      </dsp:nvSpPr>
      <dsp:spPr>
        <a:xfrm>
          <a:off x="404" y="1899411"/>
          <a:ext cx="582946" cy="582946"/>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CFF929F-874B-4983-AFEB-37C563146EB8}">
      <dsp:nvSpPr>
        <dsp:cNvPr id="0" name=""/>
        <dsp:cNvSpPr/>
      </dsp:nvSpPr>
      <dsp:spPr>
        <a:xfrm>
          <a:off x="122822" y="2021830"/>
          <a:ext cx="338109" cy="338109"/>
        </a:xfrm>
        <a:prstGeom prst="rect">
          <a:avLst/>
        </a:prstGeom>
        <a:blipFill>
          <a:blip xmlns:r="http://schemas.openxmlformats.org/officeDocument/2006/relationships" r:embed="rId3" cstate="print">
            <a:extLst>
              <a:ext uri="{28A0092B-C50C-407E-A947-70E740481C1C}">
                <a14:useLocalDpi xmlns:a14="http://schemas.microsoft.com/office/drawing/2010/main" val="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B715A7B-8AFA-4200-8513-D0D8FF634FD3}">
      <dsp:nvSpPr>
        <dsp:cNvPr id="0" name=""/>
        <dsp:cNvSpPr/>
      </dsp:nvSpPr>
      <dsp:spPr>
        <a:xfrm>
          <a:off x="708268" y="1899411"/>
          <a:ext cx="1374089" cy="5829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dirty="0"/>
            <a:t>VAP3: 60%</a:t>
          </a:r>
        </a:p>
      </dsp:txBody>
      <dsp:txXfrm>
        <a:off x="708268" y="1899411"/>
        <a:ext cx="1374089" cy="582946"/>
      </dsp:txXfrm>
    </dsp:sp>
    <dsp:sp modelId="{B168001D-335C-4326-8855-CEF3BBB7E1E4}">
      <dsp:nvSpPr>
        <dsp:cNvPr id="0" name=""/>
        <dsp:cNvSpPr/>
      </dsp:nvSpPr>
      <dsp:spPr>
        <a:xfrm>
          <a:off x="2321781" y="1899411"/>
          <a:ext cx="582946" cy="582946"/>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8068CF-36C2-43FE-97CC-24F4DCF61AA5}">
      <dsp:nvSpPr>
        <dsp:cNvPr id="0" name=""/>
        <dsp:cNvSpPr/>
      </dsp:nvSpPr>
      <dsp:spPr>
        <a:xfrm>
          <a:off x="2444200" y="2021830"/>
          <a:ext cx="338109" cy="338109"/>
        </a:xfrm>
        <a:prstGeom prst="rect">
          <a:avLst/>
        </a:prstGeom>
        <a:blipFill>
          <a:blip xmlns:r="http://schemas.openxmlformats.org/officeDocument/2006/relationships" r:embed="rId4" cstate="print">
            <a:extLst>
              <a:ext uri="{28A0092B-C50C-407E-A947-70E740481C1C}">
                <a14:useLocalDpi xmlns:a14="http://schemas.microsoft.com/office/drawing/2010/main" val="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B148CFB-3581-41A8-B045-B1A53459B155}">
      <dsp:nvSpPr>
        <dsp:cNvPr id="0" name=""/>
        <dsp:cNvSpPr/>
      </dsp:nvSpPr>
      <dsp:spPr>
        <a:xfrm>
          <a:off x="3029645" y="1899411"/>
          <a:ext cx="1374089" cy="5829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dirty="0"/>
            <a:t>VAP4: 46%</a:t>
          </a:r>
        </a:p>
      </dsp:txBody>
      <dsp:txXfrm>
        <a:off x="3029645" y="1899411"/>
        <a:ext cx="1374089" cy="582946"/>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0.05671</cdr:x>
      <cdr:y>0.16641</cdr:y>
    </cdr:from>
    <cdr:to>
      <cdr:x>1</cdr:x>
      <cdr:y>0.16955</cdr:y>
    </cdr:to>
    <cdr:cxnSp macro="">
      <cdr:nvCxnSpPr>
        <cdr:cNvPr id="3" name="Connecteur droit 2">
          <a:extLst xmlns:a="http://schemas.openxmlformats.org/drawingml/2006/main">
            <a:ext uri="{FF2B5EF4-FFF2-40B4-BE49-F238E27FC236}">
              <a16:creationId xmlns:a16="http://schemas.microsoft.com/office/drawing/2014/main" id="{0A8A0894-C4DE-D847-6219-F13227F27076}"/>
            </a:ext>
          </a:extLst>
        </cdr:cNvPr>
        <cdr:cNvCxnSpPr/>
      </cdr:nvCxnSpPr>
      <cdr:spPr>
        <a:xfrm xmlns:a="http://schemas.openxmlformats.org/drawingml/2006/main" flipV="1">
          <a:off x="633448" y="832678"/>
          <a:ext cx="10535886" cy="15673"/>
        </a:xfrm>
        <a:prstGeom xmlns:a="http://schemas.openxmlformats.org/drawingml/2006/main" prst="line">
          <a:avLst/>
        </a:prstGeom>
        <a:ln xmlns:a="http://schemas.openxmlformats.org/drawingml/2006/main">
          <a:solidFill>
            <a:srgbClr val="FF0000"/>
          </a:solidFill>
        </a:ln>
      </cdr:spPr>
      <cdr:style>
        <a:lnRef xmlns:a="http://schemas.openxmlformats.org/drawingml/2006/main" idx="2">
          <a:schemeClr val="dk1"/>
        </a:lnRef>
        <a:fillRef xmlns:a="http://schemas.openxmlformats.org/drawingml/2006/main" idx="0">
          <a:schemeClr val="dk1"/>
        </a:fillRef>
        <a:effectRef xmlns:a="http://schemas.openxmlformats.org/drawingml/2006/main" idx="1">
          <a:schemeClr val="dk1"/>
        </a:effectRef>
        <a:fontRef xmlns:a="http://schemas.openxmlformats.org/drawingml/2006/main" idx="minor">
          <a:schemeClr val="tx1"/>
        </a:fontRef>
      </cdr:style>
    </cdr:cxnSp>
  </cdr:relSizeAnchor>
  <cdr:relSizeAnchor xmlns:cdr="http://schemas.openxmlformats.org/drawingml/2006/chartDrawing">
    <cdr:from>
      <cdr:x>0.14677</cdr:x>
      <cdr:y>0.13668</cdr:y>
    </cdr:from>
    <cdr:to>
      <cdr:x>0.15087</cdr:x>
      <cdr:y>0.19424</cdr:y>
    </cdr:to>
    <cdr:sp macro="" textlink="">
      <cdr:nvSpPr>
        <cdr:cNvPr id="5" name="Flèche vers le bas 4"/>
        <cdr:cNvSpPr/>
      </cdr:nvSpPr>
      <cdr:spPr>
        <a:xfrm xmlns:a="http://schemas.openxmlformats.org/drawingml/2006/main">
          <a:off x="1639343" y="683877"/>
          <a:ext cx="45719" cy="288032"/>
        </a:xfrm>
        <a:prstGeom xmlns:a="http://schemas.openxmlformats.org/drawingml/2006/main" prst="downArrow">
          <a:avLst/>
        </a:prstGeom>
        <a:solidFill xmlns:a="http://schemas.openxmlformats.org/drawingml/2006/main">
          <a:srgbClr val="00B050"/>
        </a:solidFill>
        <a:ln xmlns:a="http://schemas.openxmlformats.org/drawingml/2006/main">
          <a:solidFill>
            <a:srgbClr val="66FF33"/>
          </a:solid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rtlCol="0" anchor="ctr"/>
        <a:lstStyle xmlns:a="http://schemas.openxmlformats.org/drawingml/2006/main">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xmlns:a="http://schemas.openxmlformats.org/drawingml/2006/main">
          <a:pPr algn="ctr"/>
          <a:endParaRPr lang="fr-FR"/>
        </a:p>
      </cdr:txBody>
    </cdr:sp>
  </cdr:relSizeAnchor>
</c:userShapes>
</file>

<file path=ppt/drawings/drawing2.xml><?xml version="1.0" encoding="utf-8"?>
<c:userShapes xmlns:c="http://schemas.openxmlformats.org/drawingml/2006/chart">
  <cdr:relSizeAnchor xmlns:cdr="http://schemas.openxmlformats.org/drawingml/2006/chartDrawing">
    <cdr:from>
      <cdr:x>0.39861</cdr:x>
      <cdr:y>0.30671</cdr:y>
    </cdr:from>
    <cdr:to>
      <cdr:x>0.48403</cdr:x>
      <cdr:y>0.3831</cdr:y>
    </cdr:to>
    <cdr:sp macro="" textlink="">
      <cdr:nvSpPr>
        <cdr:cNvPr id="2" name="ZoneTexte 4"/>
        <cdr:cNvSpPr txBox="1"/>
      </cdr:nvSpPr>
      <cdr:spPr>
        <a:xfrm xmlns:a="http://schemas.openxmlformats.org/drawingml/2006/main">
          <a:off x="1822450" y="841375"/>
          <a:ext cx="390525" cy="209549"/>
        </a:xfrm>
        <a:prstGeom xmlns:a="http://schemas.openxmlformats.org/drawingml/2006/main" prst="rect">
          <a:avLst/>
        </a:prstGeom>
        <a:solidFill xmlns:a="http://schemas.openxmlformats.org/drawingml/2006/main">
          <a:schemeClr val="accent5"/>
        </a:solidFill>
        <a:ln xmlns:a="http://schemas.openxmlformats.org/drawingml/2006/main">
          <a:solidFill>
            <a:schemeClr val="accent5"/>
          </a:solidFill>
        </a:ln>
      </cdr:spPr>
      <cdr:style>
        <a:lnRef xmlns:a="http://schemas.openxmlformats.org/drawingml/2006/main" idx="2">
          <a:schemeClr val="accent1"/>
        </a:lnRef>
        <a:fillRef xmlns:a="http://schemas.openxmlformats.org/drawingml/2006/main" idx="1">
          <a:schemeClr val="lt1"/>
        </a:fillRef>
        <a:effectRef xmlns:a="http://schemas.openxmlformats.org/drawingml/2006/main" idx="0">
          <a:schemeClr val="accent1"/>
        </a:effectRef>
        <a:fontRef xmlns:a="http://schemas.openxmlformats.org/drawingml/2006/main" idx="minor">
          <a:schemeClr val="dk1"/>
        </a:fontRef>
      </cdr:style>
      <cdr:txBody>
        <a:bodyPr xmlns:a="http://schemas.openxmlformats.org/drawingml/2006/main" wrap="square" rtlCol="0" anchor="t"/>
        <a:lstStyle xmlns:a="http://schemas.openxmlformats.org/drawingml/2006/main">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xmlns:a="http://schemas.openxmlformats.org/drawingml/2006/main">
          <a:r>
            <a:rPr lang="fr-FR" sz="900" b="0" cap="none" spc="0" dirty="0">
              <a:ln w="0"/>
              <a:solidFill>
                <a:schemeClr val="tx1"/>
              </a:solidFill>
              <a:effectLst>
                <a:outerShdw blurRad="38100" dist="19050" dir="2700000" algn="tl" rotWithShape="0">
                  <a:schemeClr val="dk1">
                    <a:alpha val="40000"/>
                  </a:schemeClr>
                </a:outerShdw>
              </a:effectLst>
            </a:rPr>
            <a:t>10</a:t>
          </a:r>
          <a:endParaRPr lang="fr-FR" sz="800" b="0" cap="none" spc="0" dirty="0">
            <a:ln w="0"/>
            <a:solidFill>
              <a:schemeClr val="tx1"/>
            </a:solidFill>
            <a:effectLst>
              <a:outerShdw blurRad="38100" dist="19050" dir="2700000" algn="tl" rotWithShape="0">
                <a:schemeClr val="dk1">
                  <a:alpha val="40000"/>
                </a:schemeClr>
              </a:outerShdw>
            </a:effectLst>
          </a:endParaRP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en-US"/>
          </a:p>
        </p:txBody>
      </p:sp>
      <p:sp>
        <p:nvSpPr>
          <p:cNvPr id="3" name="Date Placeholder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en-US" smtClean="0"/>
              <a:t>12/13/2025</a:t>
            </a:fld>
            <a:endParaRPr lang="en-US"/>
          </a:p>
        </p:txBody>
      </p:sp>
      <p:sp>
        <p:nvSpPr>
          <p:cNvPr id="4" name="Footer Placeholder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en-US"/>
          </a:p>
        </p:txBody>
      </p:sp>
      <p:sp>
        <p:nvSpPr>
          <p:cNvPr id="5" name="Slide Number Placeholder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en-US" smtClean="0"/>
              <a:t>‹N°›</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en-US"/>
          </a:p>
        </p:txBody>
      </p:sp>
      <p:sp>
        <p:nvSpPr>
          <p:cNvPr id="3" name="Slide Number Placeholder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en-US" smtClean="0"/>
              <a:t>12/13/2025</a:t>
            </a:fld>
            <a:endParaRPr lang="en-US"/>
          </a:p>
        </p:txBody>
      </p:sp>
      <p:sp>
        <p:nvSpPr>
          <p:cNvPr id="4" name="Slide Image Placehoder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en-US"/>
          </a:p>
        </p:txBody>
      </p:sp>
      <p:sp>
        <p:nvSpPr>
          <p:cNvPr id="5" name="Note Placeholder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en-US" smtClean="0"/>
              <a:t>‹N°›</a:t>
            </a:fld>
            <a:endParaRPr lang="en-US"/>
          </a:p>
        </p:txBody>
      </p:sp>
    </p:spTree>
    <p:extLst>
      <p:ext uri="{BB962C8B-B14F-4D97-AF65-F5344CB8AC3E}">
        <p14:creationId xmlns:p14="http://schemas.microsoft.com/office/powerpoint/2010/main" val="21774452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4" name="Google Shape;1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0137969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4" name="Google Shape;1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4569287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4" name="Google Shape;1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2285552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295a8824d0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3295a8824d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14493968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4" name="Google Shape;1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8913826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7"/>
        <p:cNvGrpSpPr/>
        <p:nvPr/>
      </p:nvGrpSpPr>
      <p:grpSpPr>
        <a:xfrm>
          <a:off x="0" y="0"/>
          <a:ext cx="0" cy="0"/>
          <a:chOff x="0" y="0"/>
          <a:chExt cx="0" cy="0"/>
        </a:xfrm>
      </p:grpSpPr>
      <p:sp>
        <p:nvSpPr>
          <p:cNvPr id="1288" name="Google Shape;1288;g2f1c646a89f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89" name="Google Shape;1289;g2f1c646a89f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24465651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295a8824d0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3295a8824d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11034072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295a8824d0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3295a8824d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32335339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295a8824d0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3295a8824d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25983101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295a8824d0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3295a8824d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14393305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295a8824d0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3295a8824d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28847711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295a8824d0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3295a8824d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11528103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295a8824d0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3295a8824d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3056883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295a8824d0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3295a8824d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4595271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295a8824d0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3295a8824d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21024549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295a8824d0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3295a8824d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31209535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295a8824d0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3295a8824d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11692458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295a8824d0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3295a8824d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37409393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295a8824d0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3295a8824d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6516715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295a8824d0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3295a8824d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21030064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295a8824d0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3295a8824d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35716890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295a8824d0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3295a8824d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33742849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295a8824d0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3295a8824d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17314723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295a8824d0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3295a8824d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27055178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295a8824d0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3295a8824d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9004238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295a8824d0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3295a8824d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5223831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295a8824d0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3295a8824d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5996946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295a8824d0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3295a8824d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35194690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295a8824d0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3295a8824d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200778763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3a7c27f5d69_1_1103: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8" name="Google Shape;258;g3a7c27f5d69_1_110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Tree>
    <p:extLst>
      <p:ext uri="{BB962C8B-B14F-4D97-AF65-F5344CB8AC3E}">
        <p14:creationId xmlns:p14="http://schemas.microsoft.com/office/powerpoint/2010/main" val="364562898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3a7c27f5d69_0_47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7" name="Google Shape;267;g3a7c27f5d69_0_47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Tree>
    <p:extLst>
      <p:ext uri="{BB962C8B-B14F-4D97-AF65-F5344CB8AC3E}">
        <p14:creationId xmlns:p14="http://schemas.microsoft.com/office/powerpoint/2010/main" val="38942939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3a7c27f5d69_1_361: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9" name="Google Shape;299;g3a7c27f5d69_1_3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Tree>
    <p:extLst>
      <p:ext uri="{BB962C8B-B14F-4D97-AF65-F5344CB8AC3E}">
        <p14:creationId xmlns:p14="http://schemas.microsoft.com/office/powerpoint/2010/main" val="3828338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3a7c27f5d69_1_399: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9" name="Google Shape;319;g3a7c27f5d69_1_39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Tree>
    <p:extLst>
      <p:ext uri="{BB962C8B-B14F-4D97-AF65-F5344CB8AC3E}">
        <p14:creationId xmlns:p14="http://schemas.microsoft.com/office/powerpoint/2010/main" val="38960325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a7c27f5d69_1_138: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a7c27f5d69_1_1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Tree>
    <p:extLst>
      <p:ext uri="{BB962C8B-B14F-4D97-AF65-F5344CB8AC3E}">
        <p14:creationId xmlns:p14="http://schemas.microsoft.com/office/powerpoint/2010/main" val="7747730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g3a7c27f5d69_1_151: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9" name="Google Shape;359;g3a7c27f5d69_1_1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Tree>
    <p:extLst>
      <p:ext uri="{BB962C8B-B14F-4D97-AF65-F5344CB8AC3E}">
        <p14:creationId xmlns:p14="http://schemas.microsoft.com/office/powerpoint/2010/main" val="157768658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3a7c27f5d69_1_1118: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8" name="Google Shape;378;g3a7c27f5d69_1_11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Tree>
    <p:extLst>
      <p:ext uri="{BB962C8B-B14F-4D97-AF65-F5344CB8AC3E}">
        <p14:creationId xmlns:p14="http://schemas.microsoft.com/office/powerpoint/2010/main" val="384383165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g3a7c27f5d69_1_66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7" name="Google Shape;397;g3a7c27f5d69_1_6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Tree>
    <p:extLst>
      <p:ext uri="{BB962C8B-B14F-4D97-AF65-F5344CB8AC3E}">
        <p14:creationId xmlns:p14="http://schemas.microsoft.com/office/powerpoint/2010/main" val="307328089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3a7c27f5d69_1_61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8" name="Google Shape;418;g3a7c27f5d69_1_6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Tree>
    <p:extLst>
      <p:ext uri="{BB962C8B-B14F-4D97-AF65-F5344CB8AC3E}">
        <p14:creationId xmlns:p14="http://schemas.microsoft.com/office/powerpoint/2010/main" val="284276633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3a7c27f5d69_1_1118: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8" name="Google Shape;378;g3a7c27f5d69_1_11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Tree>
    <p:extLst>
      <p:ext uri="{BB962C8B-B14F-4D97-AF65-F5344CB8AC3E}">
        <p14:creationId xmlns:p14="http://schemas.microsoft.com/office/powerpoint/2010/main" val="29194069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4" name="Google Shape;1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61556516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8" name="Google Shape;218;g3295a8824d0_0_0:notes"/>
          <p:cNvSpPr>
            <a:spLocks noGrp="1" noRot="1" noChangeAspect="1" noEditPoints="1"/>
          </p:cNvSpPr>
          <p:nvPr>
            <p:ph type="sldImg" idx="2"/>
          </p:nvPr>
        </p:nvSpPr>
        <p:spPr>
          <a:xfrm>
            <a:off x="382588" y="685800"/>
            <a:ext cx="6094412" cy="3429000"/>
          </a:xfrm>
          <a:custGeom>
            <a:avLst/>
            <a:gdLst/>
            <a:ahLst/>
            <a:cxnLst/>
            <a:rect l="l" t="t" r="r" b="b"/>
            <a:pathLst>
              <a:path w="120000" h="120000">
                <a:moveTo>
                  <a:pt x="0" y="0"/>
                </a:moveTo>
                <a:lnTo>
                  <a:pt x="120000" y="0"/>
                </a:lnTo>
                <a:lnTo>
                  <a:pt x="120000" y="120000"/>
                </a:lnTo>
                <a:lnTo>
                  <a:pt x="0" y="120000"/>
                </a:lnTo>
                <a:lnTo>
                  <a:pt x="0" y="0"/>
                </a:lnTo>
                <a:close/>
              </a:path>
            </a:pathLst>
          </a:custGeom>
          <a:noFill/>
          <a:ln w="12700" cap="flat" cmpd="sng">
            <a:solidFill>
              <a:srgbClr val="000000"/>
            </a:solidFill>
            <a:prstDash val="solid"/>
            <a:round/>
            <a:headEnd type="none" w="sm" len="sm"/>
            <a:tailEnd type="none" w="sm" len="sm"/>
          </a:ln>
        </p:spPr>
        <p:txBody>
          <a:bodyPr/>
          <a:lstStyle/>
          <a:p>
            <a:endParaRPr/>
          </a:p>
        </p:txBody>
      </p:sp>
      <p:sp>
        <p:nvSpPr>
          <p:cNvPr id="219" name="Google Shape;219;g3295a8824d0_0_0:notes"/>
          <p:cNvSpPr>
            <a:spLocks noGrp="1" noEditPoints="1"/>
          </p:cNvSpPr>
          <p:nvPr>
            <p:ph type="body" idx="1"/>
          </p:nvPr>
        </p:nvSpPr>
        <p:spPr>
          <a:xfrm>
            <a:off x="685800" y="4343400"/>
            <a:ext cx="5486400" cy="4114800"/>
          </a:xfrm>
          <a:prstGeom prst="rect">
            <a:avLst/>
          </a:prstGeom>
          <a:noFill/>
          <a:ln>
            <a:noFill/>
          </a:ln>
        </p:spPr>
        <p:txBody>
          <a:bodyPr spcFirstLastPara="1" wrap="square" lIns="91425" tIns="91425" rIns="91425" bIns="91425" anchor="t">
            <a:noAutofit/>
          </a:bodyPr>
          <a:lstStyle/>
          <a:p>
            <a:pPr marL="0" indent="0" algn="l" rtl="0">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137144473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8" name="Google Shape;218;g3295a8824d0_0_0:notes"/>
          <p:cNvSpPr>
            <a:spLocks noGrp="1" noRot="1" noChangeAspect="1" noEditPoints="1"/>
          </p:cNvSpPr>
          <p:nvPr>
            <p:ph type="sldImg" idx="2"/>
          </p:nvPr>
        </p:nvSpPr>
        <p:spPr>
          <a:xfrm>
            <a:off x="382588" y="685800"/>
            <a:ext cx="6094412" cy="3429000"/>
          </a:xfrm>
          <a:custGeom>
            <a:avLst/>
            <a:gdLst/>
            <a:ahLst/>
            <a:cxnLst/>
            <a:rect l="l" t="t" r="r" b="b"/>
            <a:pathLst>
              <a:path w="120000" h="120000">
                <a:moveTo>
                  <a:pt x="0" y="0"/>
                </a:moveTo>
                <a:lnTo>
                  <a:pt x="120000" y="0"/>
                </a:lnTo>
                <a:lnTo>
                  <a:pt x="120000" y="120000"/>
                </a:lnTo>
                <a:lnTo>
                  <a:pt x="0" y="120000"/>
                </a:lnTo>
                <a:lnTo>
                  <a:pt x="0" y="0"/>
                </a:lnTo>
                <a:close/>
              </a:path>
            </a:pathLst>
          </a:custGeom>
          <a:noFill/>
          <a:ln w="12700" cap="flat" cmpd="sng">
            <a:solidFill>
              <a:srgbClr val="000000"/>
            </a:solidFill>
            <a:prstDash val="solid"/>
            <a:round/>
            <a:headEnd type="none" w="sm" len="sm"/>
            <a:tailEnd type="none" w="sm" len="sm"/>
          </a:ln>
        </p:spPr>
        <p:txBody>
          <a:bodyPr/>
          <a:lstStyle/>
          <a:p>
            <a:endParaRPr/>
          </a:p>
        </p:txBody>
      </p:sp>
      <p:sp>
        <p:nvSpPr>
          <p:cNvPr id="219" name="Google Shape;219;g3295a8824d0_0_0:notes"/>
          <p:cNvSpPr>
            <a:spLocks noGrp="1" noEditPoints="1"/>
          </p:cNvSpPr>
          <p:nvPr>
            <p:ph type="body" idx="1"/>
          </p:nvPr>
        </p:nvSpPr>
        <p:spPr>
          <a:xfrm>
            <a:off x="685800" y="4343400"/>
            <a:ext cx="5486400" cy="4114800"/>
          </a:xfrm>
          <a:prstGeom prst="rect">
            <a:avLst/>
          </a:prstGeom>
          <a:noFill/>
          <a:ln>
            <a:noFill/>
          </a:ln>
        </p:spPr>
        <p:txBody>
          <a:bodyPr spcFirstLastPara="1" wrap="square" lIns="91425" tIns="91425" rIns="91425" bIns="91425" anchor="t">
            <a:noAutofit/>
          </a:bodyPr>
          <a:lstStyle/>
          <a:p>
            <a:pPr marL="0" indent="0" algn="l" rtl="0">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151152033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4" name="Google Shape;1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2567169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295a8824d0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3295a8824d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79644332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295a8824d0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3295a8824d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313791763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4" name="Google Shape;1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01509648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295a8824d0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3295a8824d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57704867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295a8824d0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3295a8824d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239821204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4" name="Google Shape;1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85678814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4" name="Google Shape;1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66700031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295a8824d0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3295a8824d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26714216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4" name="Google Shape;1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1436452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7"/>
        <p:cNvGrpSpPr/>
        <p:nvPr/>
      </p:nvGrpSpPr>
      <p:grpSpPr>
        <a:xfrm>
          <a:off x="0" y="0"/>
          <a:ext cx="0" cy="0"/>
          <a:chOff x="0" y="0"/>
          <a:chExt cx="0" cy="0"/>
        </a:xfrm>
      </p:grpSpPr>
      <p:sp>
        <p:nvSpPr>
          <p:cNvPr id="1288" name="Google Shape;1288;g2f1c646a89f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89" name="Google Shape;1289;g2f1c646a89f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171647402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95F79FB3-60D9-463F-87AE-5B5BE1B62AB7}" type="slidenum">
              <a:rPr lang="en-US" smtClean="0"/>
              <a:pPr/>
              <a:t>62</a:t>
            </a:fld>
            <a:endParaRPr lang="en-US"/>
          </a:p>
        </p:txBody>
      </p:sp>
    </p:spTree>
    <p:extLst>
      <p:ext uri="{BB962C8B-B14F-4D97-AF65-F5344CB8AC3E}">
        <p14:creationId xmlns:p14="http://schemas.microsoft.com/office/powerpoint/2010/main" val="272917701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fr-FR"/>
          </a:p>
        </p:txBody>
      </p:sp>
      <p:sp>
        <p:nvSpPr>
          <p:cNvPr id="696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96B9FF02-D613-4A39-BF80-4756F76E7438}" type="slidenum">
              <a:rPr lang="fr-FR" altLang="fr-FR"/>
              <a:pPr eaLnBrk="1" hangingPunct="1">
                <a:spcBef>
                  <a:spcPct val="0"/>
                </a:spcBef>
              </a:pPr>
              <a:t>65</a:t>
            </a:fld>
            <a:endParaRPr lang="fr-FR" altLang="fr-FR"/>
          </a:p>
        </p:txBody>
      </p:sp>
    </p:spTree>
    <p:extLst>
      <p:ext uri="{BB962C8B-B14F-4D97-AF65-F5344CB8AC3E}">
        <p14:creationId xmlns:p14="http://schemas.microsoft.com/office/powerpoint/2010/main" val="226257797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29EFB-9BB3-4143-0FC6-66262B22725E}"/>
            </a:ext>
          </a:extLst>
        </p:cNvPr>
        <p:cNvGrpSpPr/>
        <p:nvPr/>
      </p:nvGrpSpPr>
      <p:grpSpPr>
        <a:xfrm>
          <a:off x="0" y="0"/>
          <a:ext cx="0" cy="0"/>
          <a:chOff x="0" y="0"/>
          <a:chExt cx="0" cy="0"/>
        </a:xfrm>
      </p:grpSpPr>
      <p:sp>
        <p:nvSpPr>
          <p:cNvPr id="69634" name="Slide Image Placeholder 1">
            <a:extLst>
              <a:ext uri="{FF2B5EF4-FFF2-40B4-BE49-F238E27FC236}">
                <a16:creationId xmlns:a16="http://schemas.microsoft.com/office/drawing/2014/main" id="{CD91530D-42CF-C5A7-395E-992C1BF49DD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5" name="Notes Placeholder 2">
            <a:extLst>
              <a:ext uri="{FF2B5EF4-FFF2-40B4-BE49-F238E27FC236}">
                <a16:creationId xmlns:a16="http://schemas.microsoft.com/office/drawing/2014/main" id="{53BACE37-0FD9-82B9-59A8-EEE67705941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fr-FR"/>
          </a:p>
        </p:txBody>
      </p:sp>
      <p:sp>
        <p:nvSpPr>
          <p:cNvPr id="69636" name="Slide Number Placeholder 3">
            <a:extLst>
              <a:ext uri="{FF2B5EF4-FFF2-40B4-BE49-F238E27FC236}">
                <a16:creationId xmlns:a16="http://schemas.microsoft.com/office/drawing/2014/main" id="{F087841B-5DB7-F2D9-F364-A25EEFE22F3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96B9FF02-D613-4A39-BF80-4756F76E7438}" type="slidenum">
              <a:rPr lang="fr-FR" altLang="fr-FR"/>
              <a:pPr eaLnBrk="1" hangingPunct="1">
                <a:spcBef>
                  <a:spcPct val="0"/>
                </a:spcBef>
              </a:pPr>
              <a:t>66</a:t>
            </a:fld>
            <a:endParaRPr lang="fr-FR" altLang="fr-FR"/>
          </a:p>
        </p:txBody>
      </p:sp>
    </p:spTree>
    <p:extLst>
      <p:ext uri="{BB962C8B-B14F-4D97-AF65-F5344CB8AC3E}">
        <p14:creationId xmlns:p14="http://schemas.microsoft.com/office/powerpoint/2010/main" val="404179790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fr-FR"/>
          </a:p>
        </p:txBody>
      </p:sp>
      <p:sp>
        <p:nvSpPr>
          <p:cNvPr id="696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96B9FF02-D613-4A39-BF80-4756F76E7438}" type="slidenum">
              <a:rPr lang="fr-FR" altLang="fr-FR"/>
              <a:pPr eaLnBrk="1" hangingPunct="1">
                <a:spcBef>
                  <a:spcPct val="0"/>
                </a:spcBef>
              </a:pPr>
              <a:t>67</a:t>
            </a:fld>
            <a:endParaRPr lang="fr-FR" altLang="fr-FR"/>
          </a:p>
        </p:txBody>
      </p:sp>
    </p:spTree>
    <p:extLst>
      <p:ext uri="{BB962C8B-B14F-4D97-AF65-F5344CB8AC3E}">
        <p14:creationId xmlns:p14="http://schemas.microsoft.com/office/powerpoint/2010/main" val="374554000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fr-FR"/>
          </a:p>
        </p:txBody>
      </p:sp>
      <p:sp>
        <p:nvSpPr>
          <p:cNvPr id="696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96B9FF02-D613-4A39-BF80-4756F76E7438}" type="slidenum">
              <a:rPr lang="fr-FR" altLang="fr-FR"/>
              <a:pPr eaLnBrk="1" hangingPunct="1">
                <a:spcBef>
                  <a:spcPct val="0"/>
                </a:spcBef>
              </a:pPr>
              <a:t>68</a:t>
            </a:fld>
            <a:endParaRPr lang="fr-FR" altLang="fr-FR"/>
          </a:p>
        </p:txBody>
      </p:sp>
    </p:spTree>
    <p:extLst>
      <p:ext uri="{BB962C8B-B14F-4D97-AF65-F5344CB8AC3E}">
        <p14:creationId xmlns:p14="http://schemas.microsoft.com/office/powerpoint/2010/main" val="134965490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4" name="Google Shape;1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72018252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295a8824d0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3295a8824d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158159849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295a8824d0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3295a8824d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180898967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295a8824d0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3295a8824d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129311925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295a8824d0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3295a8824d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304998355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295a8824d0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3295a8824d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913208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322962"/>
            <a:ext cx="9144000" cy="2187001"/>
          </a:xfrm>
        </p:spPr>
        <p:txBody>
          <a:bodyPr anchor="b">
            <a:normAutofit/>
          </a:bodyPr>
          <a:lstStyle>
            <a:lvl1pPr algn="ctr">
              <a:lnSpc>
                <a:spcPct val="130000"/>
              </a:lnSpc>
              <a:defRPr sz="6000">
                <a:effectLst/>
                <a:latin typeface="Calibri Light" panose="020F0302020204030204" pitchFamily="34" charset="0"/>
              </a:defRPr>
            </a:lvl1pPr>
          </a:lstStyle>
          <a:p>
            <a:r>
              <a:rPr lang="en-US" dirty="0"/>
              <a:t>Click to edit Master title style</a:t>
            </a:r>
          </a:p>
        </p:txBody>
      </p:sp>
      <p:sp>
        <p:nvSpPr>
          <p:cNvPr id="4" name="Date Placeholder  3"/>
          <p:cNvSpPr>
            <a:spLocks noGrp="1"/>
          </p:cNvSpPr>
          <p:nvPr>
            <p:ph type="dt" sz="half" idx="10"/>
          </p:nvPr>
        </p:nvSpPr>
        <p:spPr/>
        <p:txBody>
          <a:bodyPr/>
          <a:lstStyle/>
          <a:p>
            <a:fld id="{760FBDFE-C587-4B4C-A407-44438C67B59E}"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t>‹N°›</a:t>
            </a:fld>
            <a:endParaRPr lang="en-US"/>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2400">
                <a:solidFill>
                  <a:schemeClr val="tx1">
                    <a:lumMod val="75000"/>
                    <a:lumOff val="25000"/>
                  </a:schemeClr>
                </a:solidFill>
                <a:effectLst/>
                <a:latin typeface="Calibri Light" panose="020F0302020204030204" pitchFamily="34" charset="0"/>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47700" y="258445"/>
            <a:ext cx="10515600" cy="1325563"/>
          </a:xfrm>
        </p:spPr>
        <p:txBody>
          <a:bodyPr anchor="ctr" anchorCtr="0">
            <a:normAutofit/>
          </a:bodyPr>
          <a:lstStyle>
            <a:lvl1pPr>
              <a:defRPr sz="4400" b="1">
                <a:effectLst/>
                <a:latin typeface="Calibri Light" panose="020F0302020204030204" pitchFamily="34" charset="0"/>
              </a:defRPr>
            </a:lvl1pPr>
          </a:lstStyle>
          <a:p>
            <a:r>
              <a:rPr lang="en-US" dirty="0"/>
              <a:t>Click to edit Master title style</a:t>
            </a:r>
          </a:p>
        </p:txBody>
      </p:sp>
      <p:sp>
        <p:nvSpPr>
          <p:cNvPr id="3" name="Content Placeholder 2"/>
          <p:cNvSpPr>
            <a:spLocks noGrp="1"/>
          </p:cNvSpPr>
          <p:nvPr>
            <p:ph idx="1"/>
          </p:nvPr>
        </p:nvSpPr>
        <p:spPr>
          <a:xfrm>
            <a:off x="647700" y="1825625"/>
            <a:ext cx="10515600" cy="4351338"/>
          </a:xfrm>
        </p:spPr>
        <p:txBody>
          <a:bodyPr>
            <a:normAutofit/>
          </a:bodyPr>
          <a:lstStyle>
            <a:lvl1pPr>
              <a:defRPr sz="2800">
                <a:solidFill>
                  <a:schemeClr val="tx1">
                    <a:lumMod val="75000"/>
                    <a:lumOff val="25000"/>
                  </a:schemeClr>
                </a:solidFill>
                <a:latin typeface="Calibri Light" panose="020F0302020204030204" pitchFamily="34" charset="0"/>
                <a:cs typeface="Calibri Light" panose="020F0302020204030204" pitchFamily="34" charset="0"/>
              </a:defRPr>
            </a:lvl1pPr>
            <a:lvl2pPr>
              <a:defRPr sz="2400">
                <a:solidFill>
                  <a:schemeClr val="tx1">
                    <a:lumMod val="75000"/>
                    <a:lumOff val="25000"/>
                  </a:schemeClr>
                </a:solidFill>
                <a:latin typeface="Calibri Light" panose="020F0302020204030204" pitchFamily="34" charset="0"/>
                <a:cs typeface="Calibri Light" panose="020F0302020204030204" pitchFamily="34" charset="0"/>
              </a:defRPr>
            </a:lvl2pPr>
            <a:lvl3pPr>
              <a:defRPr sz="2000">
                <a:solidFill>
                  <a:schemeClr val="tx1">
                    <a:lumMod val="75000"/>
                    <a:lumOff val="25000"/>
                  </a:schemeClr>
                </a:solidFill>
                <a:latin typeface="Calibri Light" panose="020F0302020204030204" pitchFamily="34" charset="0"/>
                <a:cs typeface="Calibri Light" panose="020F0302020204030204" pitchFamily="34" charset="0"/>
              </a:defRPr>
            </a:lvl3pPr>
            <a:lvl4pPr>
              <a:defRPr sz="1800">
                <a:solidFill>
                  <a:schemeClr val="tx1">
                    <a:lumMod val="75000"/>
                    <a:lumOff val="25000"/>
                  </a:schemeClr>
                </a:solidFill>
                <a:latin typeface="Calibri Light" panose="020F0302020204030204" pitchFamily="34" charset="0"/>
                <a:cs typeface="Calibri Light" panose="020F0302020204030204" pitchFamily="34" charset="0"/>
              </a:defRPr>
            </a:lvl4pPr>
            <a:lvl5pPr>
              <a:defRPr sz="1800">
                <a:solidFill>
                  <a:schemeClr val="tx1">
                    <a:lumMod val="75000"/>
                    <a:lumOff val="25000"/>
                  </a:schemeClr>
                </a:solidFill>
                <a:latin typeface="Calibri Light" panose="020F0302020204030204" pitchFamily="34" charset="0"/>
                <a:cs typeface="Calibri Light" panose="020F0302020204030204" pitchFamily="34" charset="0"/>
              </a:defRPr>
            </a:lvl5pPr>
          </a:lstStyle>
          <a:p>
            <a:pPr lvl="0"/>
            <a:r>
              <a:rPr lang="en-US" dirty="0"/>
              <a:t>Click to edit Master text styles</a:t>
            </a:r>
          </a:p>
          <a:p>
            <a:pPr lvl="1"/>
            <a:r>
              <a:rPr lang="en-US" dirty="0"/>
              <a:t>Second level </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760FBDFE-C587-4B4C-A407-44438C67B59E}"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3750945"/>
            <a:ext cx="9843135" cy="811530"/>
          </a:xfrm>
        </p:spPr>
        <p:txBody>
          <a:bodyPr anchor="b">
            <a:noAutofit/>
          </a:bodyPr>
          <a:lstStyle>
            <a:lvl1pPr>
              <a:defRPr sz="6000">
                <a:effectLst/>
              </a:defRPr>
            </a:lvl1pPr>
          </a:lstStyle>
          <a:p>
            <a:r>
              <a:rPr lang="en-US" dirty="0">
                <a:sym typeface="+mn-ea"/>
              </a:rPr>
              <a:t>Click to edit Master title style</a:t>
            </a:r>
          </a:p>
        </p:txBody>
      </p:sp>
      <p:sp>
        <p:nvSpPr>
          <p:cNvPr id="3" name="Text Placeholder 2"/>
          <p:cNvSpPr>
            <a:spLocks noGrp="1"/>
          </p:cNvSpPr>
          <p:nvPr>
            <p:ph type="body" idx="1"/>
          </p:nvPr>
        </p:nvSpPr>
        <p:spPr>
          <a:xfrm>
            <a:off x="831850" y="4610028"/>
            <a:ext cx="7321550" cy="647555"/>
          </a:xfrm>
        </p:spPr>
        <p:txBody>
          <a:bodyPr>
            <a:noAutofit/>
          </a:bodyPr>
          <a:lstStyle>
            <a:lvl1pPr marL="0" indent="0">
              <a:buNone/>
              <a:defRPr sz="24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Slide Number Placeholder 3"/>
          <p:cNvSpPr>
            <a:spLocks noGrp="1"/>
          </p:cNvSpPr>
          <p:nvPr>
            <p:ph type="dt" sz="half" idx="10"/>
          </p:nvPr>
        </p:nvSpPr>
        <p:spPr/>
        <p:txBody>
          <a:bodyPr/>
          <a:lstStyle/>
          <a:p>
            <a:fld id="{760FBDFE-C587-4B4C-A407-44438C67B59E}"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47700" y="258445"/>
            <a:ext cx="10515600" cy="1325563"/>
          </a:xfrm>
        </p:spPr>
        <p:txBody>
          <a:bodyPr>
            <a:normAutofit/>
          </a:bodyPr>
          <a:lstStyle>
            <a:lvl1pPr>
              <a:defRPr sz="4400" b="0" i="0">
                <a:effectLst/>
              </a:defRPr>
            </a:lvl1pPr>
          </a:lstStyle>
          <a:p>
            <a:r>
              <a:rPr lang="en-US" dirty="0">
                <a:sym typeface="+mn-ea"/>
              </a:rPr>
              <a:t>Click to edit Master title style</a:t>
            </a:r>
            <a:endParaRPr lang="en-US" dirty="0"/>
          </a:p>
        </p:txBody>
      </p:sp>
      <p:sp>
        <p:nvSpPr>
          <p:cNvPr id="3" name="Content Placeholder 2"/>
          <p:cNvSpPr>
            <a:spLocks noGrp="1"/>
          </p:cNvSpPr>
          <p:nvPr>
            <p:ph sz="half" idx="1"/>
          </p:nvPr>
        </p:nvSpPr>
        <p:spPr>
          <a:xfrm>
            <a:off x="647700" y="1825625"/>
            <a:ext cx="5181600" cy="4351338"/>
          </a:xfrm>
        </p:spPr>
        <p:txBody>
          <a:bodyPr>
            <a:normAutofit/>
          </a:bodyPr>
          <a:lstStyle>
            <a:lvl1pPr>
              <a:lnSpc>
                <a:spcPct val="150000"/>
              </a:lnSpc>
              <a:defRPr sz="2800">
                <a:solidFill>
                  <a:schemeClr val="tx1">
                    <a:lumMod val="75000"/>
                    <a:lumOff val="25000"/>
                  </a:schemeClr>
                </a:solidFill>
                <a:latin typeface="Calibri Light" panose="020F0302020204030204" pitchFamily="34" charset="0"/>
                <a:cs typeface="Calibri Light" panose="020F0302020204030204" pitchFamily="34" charset="0"/>
              </a:defRPr>
            </a:lvl1pPr>
            <a:lvl2pPr>
              <a:lnSpc>
                <a:spcPct val="150000"/>
              </a:lnSpc>
              <a:defRPr sz="2400">
                <a:solidFill>
                  <a:schemeClr val="tx1">
                    <a:lumMod val="75000"/>
                    <a:lumOff val="25000"/>
                  </a:schemeClr>
                </a:solidFill>
                <a:latin typeface="Calibri Light" panose="020F0302020204030204" pitchFamily="34" charset="0"/>
                <a:cs typeface="Calibri Light" panose="020F0302020204030204" pitchFamily="34" charset="0"/>
              </a:defRPr>
            </a:lvl2pPr>
            <a:lvl3pPr>
              <a:lnSpc>
                <a:spcPct val="150000"/>
              </a:lnSpc>
              <a:defRPr sz="2000">
                <a:solidFill>
                  <a:schemeClr val="tx1">
                    <a:lumMod val="75000"/>
                    <a:lumOff val="25000"/>
                  </a:schemeClr>
                </a:solidFill>
                <a:latin typeface="Calibri Light" panose="020F0302020204030204" pitchFamily="34" charset="0"/>
                <a:cs typeface="Calibri Light" panose="020F0302020204030204" pitchFamily="34" charset="0"/>
              </a:defRPr>
            </a:lvl3pPr>
            <a:lvl4pPr>
              <a:lnSpc>
                <a:spcPct val="150000"/>
              </a:lnSpc>
              <a:defRPr sz="1800">
                <a:solidFill>
                  <a:schemeClr val="tx1">
                    <a:lumMod val="75000"/>
                    <a:lumOff val="25000"/>
                  </a:schemeClr>
                </a:solidFill>
                <a:latin typeface="Calibri Light" panose="020F0302020204030204" pitchFamily="34" charset="0"/>
                <a:cs typeface="Calibri Light" panose="020F0302020204030204" pitchFamily="34" charset="0"/>
              </a:defRPr>
            </a:lvl4pPr>
            <a:lvl5pPr>
              <a:lnSpc>
                <a:spcPct val="150000"/>
              </a:lnSpc>
              <a:defRPr sz="1800">
                <a:solidFill>
                  <a:schemeClr val="tx1">
                    <a:lumMod val="75000"/>
                    <a:lumOff val="25000"/>
                  </a:schemeClr>
                </a:solidFill>
                <a:latin typeface="Calibri Light" panose="020F0302020204030204" pitchFamily="34" charset="0"/>
                <a:cs typeface="Calibri Light" panose="020F03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981700" y="1825625"/>
            <a:ext cx="5181600" cy="4351338"/>
          </a:xfrm>
        </p:spPr>
        <p:txBody>
          <a:bodyPr>
            <a:normAutofit/>
          </a:bodyPr>
          <a:lstStyle>
            <a:lvl1pPr>
              <a:lnSpc>
                <a:spcPct val="150000"/>
              </a:lnSpc>
              <a:defRPr kumimoji="0" lang="en-US" sz="2800" b="0" i="0" u="none" strike="noStrike" kern="1200" cap="none" spc="0" normalizeH="0" baseline="0" noProof="1" dirty="0">
                <a:solidFill>
                  <a:schemeClr val="tx1">
                    <a:lumMod val="75000"/>
                    <a:lumOff val="25000"/>
                  </a:schemeClr>
                </a:solidFill>
                <a:latin typeface="Calibri Light" panose="020F0302020204030204" pitchFamily="34" charset="0"/>
                <a:ea typeface="+mn-ea"/>
                <a:cs typeface="+mn-cs"/>
              </a:defRPr>
            </a:lvl1pPr>
            <a:lvl2pPr>
              <a:lnSpc>
                <a:spcPct val="150000"/>
              </a:lnSpc>
              <a:defRPr sz="2400">
                <a:solidFill>
                  <a:schemeClr val="tx1">
                    <a:lumMod val="75000"/>
                    <a:lumOff val="25000"/>
                  </a:schemeClr>
                </a:solidFill>
              </a:defRPr>
            </a:lvl2pPr>
            <a:lvl3pPr>
              <a:lnSpc>
                <a:spcPct val="150000"/>
              </a:lnSpc>
              <a:defRPr sz="2000">
                <a:solidFill>
                  <a:schemeClr val="tx1">
                    <a:lumMod val="75000"/>
                    <a:lumOff val="25000"/>
                  </a:schemeClr>
                </a:solidFill>
              </a:defRPr>
            </a:lvl3pPr>
            <a:lvl4pPr>
              <a:lnSpc>
                <a:spcPct val="150000"/>
              </a:lnSpc>
              <a:defRPr sz="2000">
                <a:solidFill>
                  <a:schemeClr val="tx1">
                    <a:lumMod val="75000"/>
                    <a:lumOff val="25000"/>
                  </a:schemeClr>
                </a:solidFill>
              </a:defRPr>
            </a:lvl4pPr>
            <a:lvl5pPr>
              <a:lnSpc>
                <a:spcPct val="150000"/>
              </a:lnSpc>
              <a:defRPr sz="2000">
                <a:solidFill>
                  <a:schemeClr val="tx1">
                    <a:lumMod val="75000"/>
                    <a:lumOff val="25000"/>
                  </a:schemeClr>
                </a:solidFill>
              </a:defRPr>
            </a:lvl5pPr>
          </a:lstStyle>
          <a:p>
            <a:pPr lvl="0"/>
            <a:r>
              <a:rPr lang="en-US" dirty="0"/>
              <a:t>Click to edit Master text styles</a:t>
            </a:r>
          </a:p>
          <a:p>
            <a:pPr lvl="1"/>
            <a:r>
              <a:rPr lang="en-US" dirty="0">
                <a:sym typeface="+mn-ea"/>
              </a:rPr>
              <a:t>Second level</a:t>
            </a:r>
            <a:endParaRPr lang="en-US" dirty="0"/>
          </a:p>
          <a:p>
            <a:pPr lvl="2"/>
            <a:r>
              <a:rPr lang="en-US" dirty="0">
                <a:sym typeface="+mn-ea"/>
              </a:rPr>
              <a:t>Third level</a:t>
            </a:r>
            <a:endParaRPr lang="en-US" dirty="0"/>
          </a:p>
          <a:p>
            <a:pPr lvl="3"/>
            <a:r>
              <a:rPr lang="en-US" dirty="0">
                <a:sym typeface="+mn-ea"/>
              </a:rPr>
              <a:t>Fourth level</a:t>
            </a:r>
            <a:endParaRPr lang="en-US" dirty="0"/>
          </a:p>
          <a:p>
            <a:pPr lvl="4"/>
            <a:r>
              <a:rPr lang="en-US" dirty="0">
                <a:sym typeface="+mn-ea"/>
              </a:rPr>
              <a:t>Fifth level</a:t>
            </a:r>
            <a:endParaRPr lang="en-US" dirty="0"/>
          </a:p>
        </p:txBody>
      </p:sp>
      <p:sp>
        <p:nvSpPr>
          <p:cNvPr id="5" name="Date Placeholder 4"/>
          <p:cNvSpPr>
            <a:spLocks noGrp="1"/>
          </p:cNvSpPr>
          <p:nvPr>
            <p:ph type="dt" sz="half" idx="10"/>
          </p:nvPr>
        </p:nvSpPr>
        <p:spPr/>
        <p:txBody>
          <a:bodyPr/>
          <a:lstStyle/>
          <a:p>
            <a:fld id="{760FBDFE-C587-4B4C-A407-44438C67B59E}" type="datetimeFigureOut">
              <a:rPr lang="en-US" smtClean="0"/>
              <a:t>12/13/2025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AE70B2-8BF9-45C0-BB95-33D1B9D3A854}" type="slidenum">
              <a:rPr lang="en-US" smtClean="0"/>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lvl1pPr>
              <a:defRPr sz="4400"/>
            </a:lvl1pPr>
          </a:lstStyle>
          <a:p>
            <a:r>
              <a:rPr lang="en-US" dirty="0">
                <a:sym typeface="+mn-ea"/>
              </a:rPr>
              <a:t>Click to edit Master title style</a:t>
            </a:r>
            <a:endParaRPr lang="en-US"/>
          </a:p>
        </p:txBody>
      </p:sp>
      <p:sp>
        <p:nvSpPr>
          <p:cNvPr id="3" name="Text Placeholder 2"/>
          <p:cNvSpPr>
            <a:spLocks noGrp="1"/>
          </p:cNvSpPr>
          <p:nvPr>
            <p:ph type="body" idx="1"/>
          </p:nvPr>
        </p:nvSpPr>
        <p:spPr>
          <a:xfrm>
            <a:off x="839788" y="1744961"/>
            <a:ext cx="5157787" cy="823912"/>
          </a:xfrm>
        </p:spPr>
        <p:txBody>
          <a:bodyPr anchor="b"/>
          <a:lstStyle>
            <a:lvl1pPr marL="0" indent="0">
              <a:buNone/>
              <a:defRPr sz="2400" b="1">
                <a:latin typeface="Calibri Light" panose="020F0302020204030204" pitchFamily="34" charset="0"/>
                <a:cs typeface="Calibri Light" panose="020F03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615609"/>
            <a:ext cx="5157787" cy="357405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atin typeface="Calibri Light" panose="020F0302020204030204" pitchFamily="34" charset="0"/>
                <a:cs typeface="Calibri Light" panose="020F03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内容占位符 5"/>
          <p:cNvSpPr>
            <a:spLocks noGrp="1"/>
          </p:cNvSpPr>
          <p:nvPr>
            <p:ph sz="quarter" idx="4"/>
          </p:nvPr>
        </p:nvSpPr>
        <p:spPr>
          <a:xfrm>
            <a:off x="6172200" y="2615609"/>
            <a:ext cx="5183188" cy="3574054"/>
          </a:xfrm>
        </p:spPr>
        <p:txBody>
          <a:bodyPr/>
          <a:lstStyle/>
          <a:p>
            <a:pPr lvl="0"/>
            <a:r>
              <a:rPr lang="en-US" dirty="0">
                <a:sym typeface="+mn-ea"/>
              </a:rPr>
              <a:t>Click to edit Master text styles</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760FBDFE-C587-4B4C-A407-44438C67B59E}" type="datetimeFigureOut">
              <a:rPr lang="en-US" smtClean="0"/>
              <a:t>12/13/2025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9AE70B2-8BF9-45C0-BB95-33D1B9D3A854}" type="slidenum">
              <a:rPr lang="en-US" smtClean="0"/>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2766219"/>
            <a:ext cx="10515600" cy="1325563"/>
          </a:xfrm>
        </p:spPr>
        <p:txBody>
          <a:bodyPr>
            <a:normAutofit/>
          </a:bodyPr>
          <a:lstStyle>
            <a:lvl1pPr algn="ctr">
              <a:defRPr sz="4400" b="0">
                <a:effectLst/>
                <a:latin typeface="Calibri Light" panose="020F0302020204030204" pitchFamily="34" charset="0"/>
                <a:cs typeface="Calibri Light" panose="020F0302020204030204" pitchFamily="34" charset="0"/>
              </a:defRPr>
            </a:lvl1pPr>
          </a:lstStyle>
          <a:p>
            <a:r>
              <a:rPr lang="en-US" dirty="0"/>
              <a:t>Click to edit Master title style</a:t>
            </a:r>
          </a:p>
        </p:txBody>
      </p:sp>
      <p:sp>
        <p:nvSpPr>
          <p:cNvPr id="3" name="Date Placeholder 2"/>
          <p:cNvSpPr>
            <a:spLocks noGrp="1"/>
          </p:cNvSpPr>
          <p:nvPr>
            <p:ph type="dt" sz="half" idx="10"/>
          </p:nvPr>
        </p:nvSpPr>
        <p:spPr/>
        <p:txBody>
          <a:bodyPr/>
          <a:lstStyle/>
          <a:p>
            <a:fld id="{760FBDFE-C587-4B4C-A407-44438C67B59E}" type="datetimeFigureOut">
              <a:rPr lang="en-US" smtClean="0"/>
              <a:t>12/13/2025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AE70B2-8BF9-45C0-BB95-33D1B9D3A854}" type="slidenum">
              <a:rPr lang="en-US" smtClean="0"/>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0FBDFE-C587-4B4C-A407-44438C67B59E}" type="datetimeFigureOut">
              <a:rPr lang="en-US" smtClean="0"/>
              <a:t>12/13/2025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9AE70B2-8BF9-45C0-BB95-33D1B9D3A854}" type="slidenum">
              <a:rPr lang="en-US" smtClean="0"/>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6747" y="127000"/>
            <a:ext cx="4165200" cy="1600200"/>
          </a:xfrm>
        </p:spPr>
        <p:txBody>
          <a:bodyPr anchor="ctr" anchorCtr="0">
            <a:normAutofit/>
          </a:bodyPr>
          <a:lstStyle>
            <a:lvl1pPr>
              <a:defRPr sz="3200" b="0">
                <a:effectLst/>
                <a:latin typeface="Calibri Light" panose="020F0302020204030204" pitchFamily="34" charset="0"/>
                <a:cs typeface="Calibri Light" panose="020F0302020204030204" pitchFamily="34" charset="0"/>
              </a:defRPr>
            </a:lvl1pPr>
          </a:lstStyle>
          <a:p>
            <a:r>
              <a:rPr lang="en-US" dirty="0"/>
              <a:t>Click to edit Master title style</a:t>
            </a:r>
          </a:p>
        </p:txBody>
      </p:sp>
      <p:sp>
        <p:nvSpPr>
          <p:cNvPr id="3" name="Picture Placeholder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9EFD9D74-47D9-4702-A33C-335B63B48DBF}" type="datetimeFigureOut">
              <a:rPr lang="en-US" smtClean="0"/>
              <a:t>12/13/2025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ABC47A4-756D-490B-A52F-7D9E2C9FC05F}" type="slidenum">
              <a:rPr lang="en-US" smtClean="0"/>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824484" y="365125"/>
            <a:ext cx="1529316" cy="5811838"/>
          </a:xfrm>
        </p:spPr>
        <p:txBody>
          <a:bodyPr vert="eaVert">
            <a:normAutofit/>
          </a:bodyPr>
          <a:lstStyle>
            <a:lvl1pPr>
              <a:defRPr sz="4400"/>
            </a:lvl1pPr>
          </a:lstStyle>
          <a:p>
            <a:r>
              <a:rPr lang="en-US"/>
              <a:t>Click to edit Master title style</a:t>
            </a:r>
          </a:p>
        </p:txBody>
      </p:sp>
      <p:sp>
        <p:nvSpPr>
          <p:cNvPr id="3" name="Vertical Text Placeholder 2"/>
          <p:cNvSpPr>
            <a:spLocks noGrp="1"/>
          </p:cNvSpPr>
          <p:nvPr>
            <p:ph type="body" orient="vert" idx="1"/>
          </p:nvPr>
        </p:nvSpPr>
        <p:spPr>
          <a:xfrm>
            <a:off x="838200" y="365125"/>
            <a:ext cx="8879958"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760FBDFE-C587-4B4C-A407-44438C67B59E}"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60FBDFE-C587-4B4C-A407-44438C67B59E}" type="datetimeFigureOut">
              <a:rPr lang="en-US" smtClean="0"/>
              <a:t>12/13/2025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AE70B2-8BF9-45C0-BB95-33D1B9D3A854}" type="slidenum">
              <a:rPr lang="en-US" smtClean="0"/>
              <a:t>‹N°›</a:t>
            </a:fld>
            <a:endParaRPr lang="en-US"/>
          </a:p>
        </p:txBody>
      </p:sp>
      <p:sp>
        <p:nvSpPr>
          <p:cNvPr id="7" name="Content Placeholder 6"/>
          <p:cNvSpPr>
            <a:spLocks noGrp="1"/>
          </p:cNvSpPr>
          <p:nvPr>
            <p:ph sz="quarter" idx="13"/>
          </p:nvPr>
        </p:nvSpPr>
        <p:spPr>
          <a:xfrm>
            <a:off x="838200" y="551543"/>
            <a:ext cx="10515600" cy="5558971"/>
          </a:xfrm>
        </p:spPr>
        <p:txBody>
          <a:bodyPr/>
          <a:lstStyle/>
          <a:p>
            <a:pPr lvl="0"/>
            <a:r>
              <a:rPr lang="en-US" dirty="0">
                <a:sym typeface="+mn-ea"/>
              </a:rPr>
              <a:t>Click to edit Master text styles</a:t>
            </a:r>
            <a:endParaRPr lang="en-US" dirty="0"/>
          </a:p>
          <a:p>
            <a:pPr lvl="1"/>
            <a:r>
              <a:rPr lang="en-US" dirty="0">
                <a:sym typeface="+mn-ea"/>
              </a:rPr>
              <a:t>Second level</a:t>
            </a:r>
            <a:endParaRPr lang="en-US" dirty="0"/>
          </a:p>
          <a:p>
            <a:pPr lvl="2"/>
            <a:r>
              <a:rPr lang="en-US" dirty="0">
                <a:sym typeface="+mn-ea"/>
              </a:rPr>
              <a:t>Third level</a:t>
            </a:r>
            <a:endParaRPr lang="en-US" dirty="0"/>
          </a:p>
          <a:p>
            <a:pPr lvl="3"/>
            <a:r>
              <a:rPr lang="en-US" dirty="0">
                <a:sym typeface="+mn-ea"/>
              </a:rPr>
              <a:t>Fourth level</a:t>
            </a:r>
            <a:endParaRPr lang="en-US" dirty="0"/>
          </a:p>
          <a:p>
            <a:pPr lvl="4"/>
            <a:r>
              <a:rPr lang="en-US" dirty="0">
                <a:sym typeface="+mn-ea"/>
              </a:rPr>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600" lvl="0" indent="-457200">
              <a:spcBef>
                <a:spcPts val="0"/>
              </a:spcBef>
              <a:spcAft>
                <a:spcPts val="0"/>
              </a:spcAft>
              <a:buSzPts val="1800"/>
              <a:buChar char="●"/>
              <a:defRPr/>
            </a:lvl1pPr>
            <a:lvl2pPr marL="1219200" lvl="1" indent="-423545">
              <a:spcBef>
                <a:spcPts val="0"/>
              </a:spcBef>
              <a:spcAft>
                <a:spcPts val="0"/>
              </a:spcAft>
              <a:buSzPts val="1400"/>
              <a:buChar char="○"/>
              <a:defRPr/>
            </a:lvl2pPr>
            <a:lvl3pPr marL="1828800" lvl="2" indent="-423545">
              <a:spcBef>
                <a:spcPts val="0"/>
              </a:spcBef>
              <a:spcAft>
                <a:spcPts val="0"/>
              </a:spcAft>
              <a:buSzPts val="1400"/>
              <a:buChar char="■"/>
              <a:defRPr/>
            </a:lvl3pPr>
            <a:lvl4pPr marL="2438400" lvl="3" indent="-423545">
              <a:spcBef>
                <a:spcPts val="0"/>
              </a:spcBef>
              <a:spcAft>
                <a:spcPts val="0"/>
              </a:spcAft>
              <a:buSzPts val="1400"/>
              <a:buChar char="●"/>
              <a:defRPr/>
            </a:lvl4pPr>
            <a:lvl5pPr marL="3048000" lvl="4" indent="-423545">
              <a:spcBef>
                <a:spcPts val="0"/>
              </a:spcBef>
              <a:spcAft>
                <a:spcPts val="0"/>
              </a:spcAft>
              <a:buSzPts val="1400"/>
              <a:buChar char="○"/>
              <a:defRPr/>
            </a:lvl5pPr>
            <a:lvl6pPr marL="3657600" lvl="5" indent="-423545">
              <a:spcBef>
                <a:spcPts val="0"/>
              </a:spcBef>
              <a:spcAft>
                <a:spcPts val="0"/>
              </a:spcAft>
              <a:buSzPts val="1400"/>
              <a:buChar char="■"/>
              <a:defRPr/>
            </a:lvl6pPr>
            <a:lvl7pPr marL="4267200" lvl="6" indent="-423545">
              <a:spcBef>
                <a:spcPts val="0"/>
              </a:spcBef>
              <a:spcAft>
                <a:spcPts val="0"/>
              </a:spcAft>
              <a:buSzPts val="1400"/>
              <a:buChar char="●"/>
              <a:defRPr/>
            </a:lvl7pPr>
            <a:lvl8pPr marL="4876800" lvl="7" indent="-423545">
              <a:spcBef>
                <a:spcPts val="0"/>
              </a:spcBef>
              <a:spcAft>
                <a:spcPts val="0"/>
              </a:spcAft>
              <a:buSzPts val="1400"/>
              <a:buChar char="○"/>
              <a:defRPr/>
            </a:lvl8pPr>
            <a:lvl9pPr marL="5486400" lvl="8" indent="-423545">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lang="en-GB"/>
          </a:p>
        </p:txBody>
      </p:sp>
    </p:spTree>
    <p:extLst>
      <p:ext uri="{BB962C8B-B14F-4D97-AF65-F5344CB8AC3E}">
        <p14:creationId xmlns:p14="http://schemas.microsoft.com/office/powerpoint/2010/main" val="25908806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PATH: DataVis - full page graphic">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endParaRPr lang="en-US"/>
          </a:p>
        </p:txBody>
      </p:sp>
      <p:sp>
        <p:nvSpPr>
          <p:cNvPr id="4" name="Date Placeholder 3"/>
          <p:cNvSpPr>
            <a:spLocks noGrp="1"/>
          </p:cNvSpPr>
          <p:nvPr>
            <p:ph type="dt" sz="half" idx="11"/>
          </p:nvPr>
        </p:nvSpPr>
        <p:spPr/>
        <p:txBody>
          <a:bodyPr/>
          <a:lstStyle/>
          <a:p>
            <a:endParaRPr lang="en-US"/>
          </a:p>
        </p:txBody>
      </p:sp>
      <p:sp>
        <p:nvSpPr>
          <p:cNvPr id="5" name="Slide Number Placeholder 4"/>
          <p:cNvSpPr>
            <a:spLocks noGrp="1"/>
          </p:cNvSpPr>
          <p:nvPr>
            <p:ph type="sldNum" sz="quarter" idx="12"/>
          </p:nvPr>
        </p:nvSpPr>
        <p:spPr/>
        <p:txBody>
          <a:bodyPr/>
          <a:lstStyle/>
          <a:p>
            <a:fld id="{E28D367D-202E-4BB0-8243-51A46362D732}" type="slidenum">
              <a:rPr lang="en-US" smtClean="0"/>
              <a:pPr/>
              <a:t>‹N°›</a:t>
            </a:fld>
            <a:endParaRPr lang="en-US"/>
          </a:p>
        </p:txBody>
      </p:sp>
      <p:sp>
        <p:nvSpPr>
          <p:cNvPr id="6" name="Content Placeholder 2"/>
          <p:cNvSpPr>
            <a:spLocks noGrp="1"/>
          </p:cNvSpPr>
          <p:nvPr>
            <p:ph sz="quarter" idx="14"/>
          </p:nvPr>
        </p:nvSpPr>
        <p:spPr>
          <a:xfrm>
            <a:off x="762002" y="2019301"/>
            <a:ext cx="10718799" cy="4099923"/>
          </a:xfrm>
          <a:prstGeom prst="rect">
            <a:avLst/>
          </a:prstGeom>
        </p:spPr>
        <p:txBody>
          <a:bodyPr/>
          <a:lstStyle>
            <a:lvl1pPr marL="0" indent="0">
              <a:spcBef>
                <a:spcPts val="0"/>
              </a:spcBef>
              <a:spcAft>
                <a:spcPts val="1800"/>
              </a:spcAft>
              <a:buNone/>
              <a:defRPr sz="1600"/>
            </a:lvl1pPr>
          </a:lstStyle>
          <a:p>
            <a:pPr lvl="0"/>
            <a:r>
              <a:rPr lang="en-US"/>
              <a:t>Edit Master text styles</a:t>
            </a:r>
          </a:p>
        </p:txBody>
      </p:sp>
      <p:sp>
        <p:nvSpPr>
          <p:cNvPr id="7" name="Text Placeholder 4"/>
          <p:cNvSpPr>
            <a:spLocks noGrp="1"/>
          </p:cNvSpPr>
          <p:nvPr>
            <p:ph type="body" sz="quarter" idx="16" hasCustomPrompt="1"/>
          </p:nvPr>
        </p:nvSpPr>
        <p:spPr>
          <a:xfrm>
            <a:off x="762001" y="847225"/>
            <a:ext cx="10718800" cy="1012465"/>
          </a:xfrm>
          <a:prstGeom prst="rect">
            <a:avLst/>
          </a:prstGeom>
        </p:spPr>
        <p:txBody>
          <a:bodyPr lIns="0" tIns="0" rIns="0" bIns="0"/>
          <a:lstStyle>
            <a:lvl1pPr marL="0" indent="0">
              <a:buNone/>
              <a:defRPr sz="3200" baseline="0">
                <a:solidFill>
                  <a:schemeClr val="accent1"/>
                </a:solidFill>
                <a:latin typeface="+mj-lt"/>
              </a:defRPr>
            </a:lvl1pPr>
          </a:lstStyle>
          <a:p>
            <a:pPr lvl="0"/>
            <a:r>
              <a:rPr lang="en-US" sz="3200">
                <a:solidFill>
                  <a:srgbClr val="F65050"/>
                </a:solidFill>
                <a:latin typeface="Arial" panose="020B0604020202020204" pitchFamily="34" charset="0"/>
                <a:cs typeface="Arial" panose="020B0604020202020204" pitchFamily="34" charset="0"/>
              </a:rPr>
              <a:t>H1 – Arial 32 pt. red: </a:t>
            </a:r>
            <a:r>
              <a:rPr lang="en-US"/>
              <a:t>Data Vis, Long title with large full page data visual graphic</a:t>
            </a:r>
          </a:p>
        </p:txBody>
      </p:sp>
    </p:spTree>
    <p:extLst>
      <p:ext uri="{BB962C8B-B14F-4D97-AF65-F5344CB8AC3E}">
        <p14:creationId xmlns:p14="http://schemas.microsoft.com/office/powerpoint/2010/main" val="2173122462"/>
      </p:ext>
    </p:extLst>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611" y="992767"/>
            <a:ext cx="11360800" cy="27368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6935"/>
            </a:lvl1pPr>
            <a:lvl2pPr lvl="1" algn="ctr">
              <a:spcBef>
                <a:spcPts val="0"/>
              </a:spcBef>
              <a:spcAft>
                <a:spcPts val="0"/>
              </a:spcAft>
              <a:buSzPts val="5200"/>
              <a:buNone/>
              <a:defRPr sz="6935"/>
            </a:lvl2pPr>
            <a:lvl3pPr lvl="2" algn="ctr">
              <a:spcBef>
                <a:spcPts val="0"/>
              </a:spcBef>
              <a:spcAft>
                <a:spcPts val="0"/>
              </a:spcAft>
              <a:buSzPts val="5200"/>
              <a:buNone/>
              <a:defRPr sz="6935"/>
            </a:lvl3pPr>
            <a:lvl4pPr lvl="3" algn="ctr">
              <a:spcBef>
                <a:spcPts val="0"/>
              </a:spcBef>
              <a:spcAft>
                <a:spcPts val="0"/>
              </a:spcAft>
              <a:buSzPts val="5200"/>
              <a:buNone/>
              <a:defRPr sz="6935"/>
            </a:lvl4pPr>
            <a:lvl5pPr lvl="4" algn="ctr">
              <a:spcBef>
                <a:spcPts val="0"/>
              </a:spcBef>
              <a:spcAft>
                <a:spcPts val="0"/>
              </a:spcAft>
              <a:buSzPts val="5200"/>
              <a:buNone/>
              <a:defRPr sz="6935"/>
            </a:lvl5pPr>
            <a:lvl6pPr lvl="5" algn="ctr">
              <a:spcBef>
                <a:spcPts val="0"/>
              </a:spcBef>
              <a:spcAft>
                <a:spcPts val="0"/>
              </a:spcAft>
              <a:buSzPts val="5200"/>
              <a:buNone/>
              <a:defRPr sz="6935"/>
            </a:lvl6pPr>
            <a:lvl7pPr lvl="6" algn="ctr">
              <a:spcBef>
                <a:spcPts val="0"/>
              </a:spcBef>
              <a:spcAft>
                <a:spcPts val="0"/>
              </a:spcAft>
              <a:buSzPts val="5200"/>
              <a:buNone/>
              <a:defRPr sz="6935"/>
            </a:lvl7pPr>
            <a:lvl8pPr lvl="7" algn="ctr">
              <a:spcBef>
                <a:spcPts val="0"/>
              </a:spcBef>
              <a:spcAft>
                <a:spcPts val="0"/>
              </a:spcAft>
              <a:buSzPts val="5200"/>
              <a:buNone/>
              <a:defRPr sz="6935"/>
            </a:lvl8pPr>
            <a:lvl9pPr lvl="8" algn="ctr">
              <a:spcBef>
                <a:spcPts val="0"/>
              </a:spcBef>
              <a:spcAft>
                <a:spcPts val="0"/>
              </a:spcAft>
              <a:buSzPts val="5200"/>
              <a:buNone/>
              <a:defRPr sz="6935"/>
            </a:lvl9pPr>
          </a:lstStyle>
          <a:p>
            <a:endParaRPr/>
          </a:p>
        </p:txBody>
      </p:sp>
      <p:sp>
        <p:nvSpPr>
          <p:cNvPr id="11" name="Google Shape;11;p2"/>
          <p:cNvSpPr txBox="1">
            <a:spLocks noGrp="1"/>
          </p:cNvSpPr>
          <p:nvPr>
            <p:ph type="subTitle" idx="1"/>
          </p:nvPr>
        </p:nvSpPr>
        <p:spPr>
          <a:xfrm>
            <a:off x="415600" y="3778833"/>
            <a:ext cx="11360800" cy="105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3735"/>
            </a:lvl1pPr>
            <a:lvl2pPr lvl="1" algn="ctr">
              <a:lnSpc>
                <a:spcPct val="100000"/>
              </a:lnSpc>
              <a:spcBef>
                <a:spcPts val="0"/>
              </a:spcBef>
              <a:spcAft>
                <a:spcPts val="0"/>
              </a:spcAft>
              <a:buSzPts val="2800"/>
              <a:buNone/>
              <a:defRPr sz="3735"/>
            </a:lvl2pPr>
            <a:lvl3pPr lvl="2" algn="ctr">
              <a:lnSpc>
                <a:spcPct val="100000"/>
              </a:lnSpc>
              <a:spcBef>
                <a:spcPts val="0"/>
              </a:spcBef>
              <a:spcAft>
                <a:spcPts val="0"/>
              </a:spcAft>
              <a:buSzPts val="2800"/>
              <a:buNone/>
              <a:defRPr sz="3735"/>
            </a:lvl3pPr>
            <a:lvl4pPr lvl="3" algn="ctr">
              <a:lnSpc>
                <a:spcPct val="100000"/>
              </a:lnSpc>
              <a:spcBef>
                <a:spcPts val="0"/>
              </a:spcBef>
              <a:spcAft>
                <a:spcPts val="0"/>
              </a:spcAft>
              <a:buSzPts val="2800"/>
              <a:buNone/>
              <a:defRPr sz="3735"/>
            </a:lvl4pPr>
            <a:lvl5pPr lvl="4" algn="ctr">
              <a:lnSpc>
                <a:spcPct val="100000"/>
              </a:lnSpc>
              <a:spcBef>
                <a:spcPts val="0"/>
              </a:spcBef>
              <a:spcAft>
                <a:spcPts val="0"/>
              </a:spcAft>
              <a:buSzPts val="2800"/>
              <a:buNone/>
              <a:defRPr sz="3735"/>
            </a:lvl5pPr>
            <a:lvl6pPr lvl="5" algn="ctr">
              <a:lnSpc>
                <a:spcPct val="100000"/>
              </a:lnSpc>
              <a:spcBef>
                <a:spcPts val="0"/>
              </a:spcBef>
              <a:spcAft>
                <a:spcPts val="0"/>
              </a:spcAft>
              <a:buSzPts val="2800"/>
              <a:buNone/>
              <a:defRPr sz="3735"/>
            </a:lvl6pPr>
            <a:lvl7pPr lvl="6" algn="ctr">
              <a:lnSpc>
                <a:spcPct val="100000"/>
              </a:lnSpc>
              <a:spcBef>
                <a:spcPts val="0"/>
              </a:spcBef>
              <a:spcAft>
                <a:spcPts val="0"/>
              </a:spcAft>
              <a:buSzPts val="2800"/>
              <a:buNone/>
              <a:defRPr sz="3735"/>
            </a:lvl7pPr>
            <a:lvl8pPr lvl="7" algn="ctr">
              <a:lnSpc>
                <a:spcPct val="100000"/>
              </a:lnSpc>
              <a:spcBef>
                <a:spcPts val="0"/>
              </a:spcBef>
              <a:spcAft>
                <a:spcPts val="0"/>
              </a:spcAft>
              <a:buSzPts val="2800"/>
              <a:buNone/>
              <a:defRPr sz="3735"/>
            </a:lvl8pPr>
            <a:lvl9pPr lvl="8" algn="ctr">
              <a:lnSpc>
                <a:spcPct val="100000"/>
              </a:lnSpc>
              <a:spcBef>
                <a:spcPts val="0"/>
              </a:spcBef>
              <a:spcAft>
                <a:spcPts val="0"/>
              </a:spcAft>
              <a:buSzPts val="2800"/>
              <a:buNone/>
              <a:defRPr sz="3735"/>
            </a:lvl9pPr>
          </a:lstStyle>
          <a:p>
            <a:endParaRPr/>
          </a:p>
        </p:txBody>
      </p:sp>
      <p:sp>
        <p:nvSpPr>
          <p:cNvPr id="12" name="Google Shape;12;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600" y="2867800"/>
            <a:ext cx="11360800" cy="1122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48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endParaRPr/>
          </a:p>
        </p:txBody>
      </p:sp>
      <p:sp>
        <p:nvSpPr>
          <p:cNvPr id="15" name="Google Shape;15;p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600" lvl="0" indent="-457200">
              <a:spcBef>
                <a:spcPts val="0"/>
              </a:spcBef>
              <a:spcAft>
                <a:spcPts val="0"/>
              </a:spcAft>
              <a:buSzPts val="1800"/>
              <a:buChar char="●"/>
              <a:defRPr/>
            </a:lvl1pPr>
            <a:lvl2pPr marL="1219200" lvl="1" indent="-423545">
              <a:spcBef>
                <a:spcPts val="0"/>
              </a:spcBef>
              <a:spcAft>
                <a:spcPts val="0"/>
              </a:spcAft>
              <a:buSzPts val="1400"/>
              <a:buChar char="○"/>
              <a:defRPr/>
            </a:lvl2pPr>
            <a:lvl3pPr marL="1828800" lvl="2" indent="-423545">
              <a:spcBef>
                <a:spcPts val="0"/>
              </a:spcBef>
              <a:spcAft>
                <a:spcPts val="0"/>
              </a:spcAft>
              <a:buSzPts val="1400"/>
              <a:buChar char="■"/>
              <a:defRPr/>
            </a:lvl3pPr>
            <a:lvl4pPr marL="2438400" lvl="3" indent="-423545">
              <a:spcBef>
                <a:spcPts val="0"/>
              </a:spcBef>
              <a:spcAft>
                <a:spcPts val="0"/>
              </a:spcAft>
              <a:buSzPts val="1400"/>
              <a:buChar char="●"/>
              <a:defRPr/>
            </a:lvl4pPr>
            <a:lvl5pPr marL="3048000" lvl="4" indent="-423545">
              <a:spcBef>
                <a:spcPts val="0"/>
              </a:spcBef>
              <a:spcAft>
                <a:spcPts val="0"/>
              </a:spcAft>
              <a:buSzPts val="1400"/>
              <a:buChar char="○"/>
              <a:defRPr/>
            </a:lvl5pPr>
            <a:lvl6pPr marL="3657600" lvl="5" indent="-423545">
              <a:spcBef>
                <a:spcPts val="0"/>
              </a:spcBef>
              <a:spcAft>
                <a:spcPts val="0"/>
              </a:spcAft>
              <a:buSzPts val="1400"/>
              <a:buChar char="■"/>
              <a:defRPr/>
            </a:lvl6pPr>
            <a:lvl7pPr marL="4267200" lvl="6" indent="-423545">
              <a:spcBef>
                <a:spcPts val="0"/>
              </a:spcBef>
              <a:spcAft>
                <a:spcPts val="0"/>
              </a:spcAft>
              <a:buSzPts val="1400"/>
              <a:buChar char="●"/>
              <a:defRPr/>
            </a:lvl7pPr>
            <a:lvl8pPr marL="4876800" lvl="7" indent="-423545">
              <a:spcBef>
                <a:spcPts val="0"/>
              </a:spcBef>
              <a:spcAft>
                <a:spcPts val="0"/>
              </a:spcAft>
              <a:buSzPts val="1400"/>
              <a:buChar char="○"/>
              <a:defRPr/>
            </a:lvl8pPr>
            <a:lvl9pPr marL="5486400" lvl="8" indent="-423545">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415600" y="1536633"/>
            <a:ext cx="5333200" cy="4555200"/>
          </a:xfrm>
          <a:prstGeom prst="rect">
            <a:avLst/>
          </a:prstGeom>
        </p:spPr>
        <p:txBody>
          <a:bodyPr spcFirstLastPara="1" wrap="square" lIns="91425" tIns="91425" rIns="91425" bIns="91425" anchor="t" anchorCtr="0">
            <a:normAutofit/>
          </a:bodyPr>
          <a:lstStyle>
            <a:lvl1pPr marL="609600" lvl="0" indent="-423545">
              <a:spcBef>
                <a:spcPts val="0"/>
              </a:spcBef>
              <a:spcAft>
                <a:spcPts val="0"/>
              </a:spcAft>
              <a:buSzPts val="1400"/>
              <a:buChar char="●"/>
              <a:defRPr sz="1865"/>
            </a:lvl1pPr>
            <a:lvl2pPr marL="1219200" lvl="1" indent="-406400">
              <a:spcBef>
                <a:spcPts val="0"/>
              </a:spcBef>
              <a:spcAft>
                <a:spcPts val="0"/>
              </a:spcAft>
              <a:buSzPts val="1200"/>
              <a:buChar char="○"/>
              <a:defRPr sz="1600"/>
            </a:lvl2pPr>
            <a:lvl3pPr marL="1828800" lvl="2" indent="-406400">
              <a:spcBef>
                <a:spcPts val="0"/>
              </a:spcBef>
              <a:spcAft>
                <a:spcPts val="0"/>
              </a:spcAft>
              <a:buSzPts val="1200"/>
              <a:buChar char="■"/>
              <a:defRPr sz="1600"/>
            </a:lvl3pPr>
            <a:lvl4pPr marL="2438400" lvl="3" indent="-406400">
              <a:spcBef>
                <a:spcPts val="0"/>
              </a:spcBef>
              <a:spcAft>
                <a:spcPts val="0"/>
              </a:spcAft>
              <a:buSzPts val="1200"/>
              <a:buChar char="●"/>
              <a:defRPr sz="1600"/>
            </a:lvl4pPr>
            <a:lvl5pPr marL="3048000" lvl="4" indent="-406400">
              <a:spcBef>
                <a:spcPts val="0"/>
              </a:spcBef>
              <a:spcAft>
                <a:spcPts val="0"/>
              </a:spcAft>
              <a:buSzPts val="1200"/>
              <a:buChar char="○"/>
              <a:defRPr sz="1600"/>
            </a:lvl5pPr>
            <a:lvl6pPr marL="3657600" lvl="5" indent="-406400">
              <a:spcBef>
                <a:spcPts val="0"/>
              </a:spcBef>
              <a:spcAft>
                <a:spcPts val="0"/>
              </a:spcAft>
              <a:buSzPts val="1200"/>
              <a:buChar char="■"/>
              <a:defRPr sz="1600"/>
            </a:lvl6pPr>
            <a:lvl7pPr marL="4267200" lvl="6" indent="-406400">
              <a:spcBef>
                <a:spcPts val="0"/>
              </a:spcBef>
              <a:spcAft>
                <a:spcPts val="0"/>
              </a:spcAft>
              <a:buSzPts val="1200"/>
              <a:buChar char="●"/>
              <a:defRPr sz="1600"/>
            </a:lvl7pPr>
            <a:lvl8pPr marL="4876800" lvl="7" indent="-406400">
              <a:spcBef>
                <a:spcPts val="0"/>
              </a:spcBef>
              <a:spcAft>
                <a:spcPts val="0"/>
              </a:spcAft>
              <a:buSzPts val="1200"/>
              <a:buChar char="○"/>
              <a:defRPr sz="1600"/>
            </a:lvl8pPr>
            <a:lvl9pPr marL="5486400" lvl="8" indent="-406400">
              <a:spcBef>
                <a:spcPts val="0"/>
              </a:spcBef>
              <a:spcAft>
                <a:spcPts val="0"/>
              </a:spcAft>
              <a:buSzPts val="1200"/>
              <a:buChar char="■"/>
              <a:defRPr sz="1600"/>
            </a:lvl9pPr>
          </a:lstStyle>
          <a:p>
            <a:endParaRPr/>
          </a:p>
        </p:txBody>
      </p:sp>
      <p:sp>
        <p:nvSpPr>
          <p:cNvPr id="23" name="Google Shape;23;p5"/>
          <p:cNvSpPr txBox="1">
            <a:spLocks noGrp="1"/>
          </p:cNvSpPr>
          <p:nvPr>
            <p:ph type="body" idx="2"/>
          </p:nvPr>
        </p:nvSpPr>
        <p:spPr>
          <a:xfrm>
            <a:off x="6443200" y="1536633"/>
            <a:ext cx="5333200" cy="4555200"/>
          </a:xfrm>
          <a:prstGeom prst="rect">
            <a:avLst/>
          </a:prstGeom>
        </p:spPr>
        <p:txBody>
          <a:bodyPr spcFirstLastPara="1" wrap="square" lIns="91425" tIns="91425" rIns="91425" bIns="91425" anchor="t" anchorCtr="0">
            <a:normAutofit/>
          </a:bodyPr>
          <a:lstStyle>
            <a:lvl1pPr marL="609600" lvl="0" indent="-423545">
              <a:spcBef>
                <a:spcPts val="0"/>
              </a:spcBef>
              <a:spcAft>
                <a:spcPts val="0"/>
              </a:spcAft>
              <a:buSzPts val="1400"/>
              <a:buChar char="●"/>
              <a:defRPr sz="1865"/>
            </a:lvl1pPr>
            <a:lvl2pPr marL="1219200" lvl="1" indent="-406400">
              <a:spcBef>
                <a:spcPts val="0"/>
              </a:spcBef>
              <a:spcAft>
                <a:spcPts val="0"/>
              </a:spcAft>
              <a:buSzPts val="1200"/>
              <a:buChar char="○"/>
              <a:defRPr sz="1600"/>
            </a:lvl2pPr>
            <a:lvl3pPr marL="1828800" lvl="2" indent="-406400">
              <a:spcBef>
                <a:spcPts val="0"/>
              </a:spcBef>
              <a:spcAft>
                <a:spcPts val="0"/>
              </a:spcAft>
              <a:buSzPts val="1200"/>
              <a:buChar char="■"/>
              <a:defRPr sz="1600"/>
            </a:lvl3pPr>
            <a:lvl4pPr marL="2438400" lvl="3" indent="-406400">
              <a:spcBef>
                <a:spcPts val="0"/>
              </a:spcBef>
              <a:spcAft>
                <a:spcPts val="0"/>
              </a:spcAft>
              <a:buSzPts val="1200"/>
              <a:buChar char="●"/>
              <a:defRPr sz="1600"/>
            </a:lvl4pPr>
            <a:lvl5pPr marL="3048000" lvl="4" indent="-406400">
              <a:spcBef>
                <a:spcPts val="0"/>
              </a:spcBef>
              <a:spcAft>
                <a:spcPts val="0"/>
              </a:spcAft>
              <a:buSzPts val="1200"/>
              <a:buChar char="○"/>
              <a:defRPr sz="1600"/>
            </a:lvl5pPr>
            <a:lvl6pPr marL="3657600" lvl="5" indent="-406400">
              <a:spcBef>
                <a:spcPts val="0"/>
              </a:spcBef>
              <a:spcAft>
                <a:spcPts val="0"/>
              </a:spcAft>
              <a:buSzPts val="1200"/>
              <a:buChar char="■"/>
              <a:defRPr sz="1600"/>
            </a:lvl6pPr>
            <a:lvl7pPr marL="4267200" lvl="6" indent="-406400">
              <a:spcBef>
                <a:spcPts val="0"/>
              </a:spcBef>
              <a:spcAft>
                <a:spcPts val="0"/>
              </a:spcAft>
              <a:buSzPts val="1200"/>
              <a:buChar char="●"/>
              <a:defRPr sz="1600"/>
            </a:lvl7pPr>
            <a:lvl8pPr marL="4876800" lvl="7" indent="-406400">
              <a:spcBef>
                <a:spcPts val="0"/>
              </a:spcBef>
              <a:spcAft>
                <a:spcPts val="0"/>
              </a:spcAft>
              <a:buSzPts val="1200"/>
              <a:buChar char="○"/>
              <a:defRPr sz="1600"/>
            </a:lvl8pPr>
            <a:lvl9pPr marL="5486400" lvl="8" indent="-406400">
              <a:spcBef>
                <a:spcPts val="0"/>
              </a:spcBef>
              <a:spcAft>
                <a:spcPts val="0"/>
              </a:spcAft>
              <a:buSzPts val="1200"/>
              <a:buChar char="■"/>
              <a:defRPr sz="1600"/>
            </a:lvl9pPr>
          </a:lstStyle>
          <a:p>
            <a:endParaRPr/>
          </a:p>
        </p:txBody>
      </p:sp>
      <p:sp>
        <p:nvSpPr>
          <p:cNvPr id="24" name="Google Shape;24;p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15600" y="740800"/>
            <a:ext cx="3744000" cy="10076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30" name="Google Shape;30;p7"/>
          <p:cNvSpPr txBox="1">
            <a:spLocks noGrp="1"/>
          </p:cNvSpPr>
          <p:nvPr>
            <p:ph type="body" idx="1"/>
          </p:nvPr>
        </p:nvSpPr>
        <p:spPr>
          <a:xfrm>
            <a:off x="415600" y="1852800"/>
            <a:ext cx="3744000" cy="4239200"/>
          </a:xfrm>
          <a:prstGeom prst="rect">
            <a:avLst/>
          </a:prstGeom>
        </p:spPr>
        <p:txBody>
          <a:bodyPr spcFirstLastPara="1" wrap="square" lIns="91425" tIns="91425" rIns="91425" bIns="91425" anchor="t" anchorCtr="0">
            <a:normAutofit/>
          </a:bodyPr>
          <a:lstStyle>
            <a:lvl1pPr marL="609600" lvl="0" indent="-406400">
              <a:spcBef>
                <a:spcPts val="0"/>
              </a:spcBef>
              <a:spcAft>
                <a:spcPts val="0"/>
              </a:spcAft>
              <a:buSzPts val="1200"/>
              <a:buChar char="●"/>
              <a:defRPr sz="1600"/>
            </a:lvl1pPr>
            <a:lvl2pPr marL="1219200" lvl="1" indent="-406400">
              <a:spcBef>
                <a:spcPts val="0"/>
              </a:spcBef>
              <a:spcAft>
                <a:spcPts val="0"/>
              </a:spcAft>
              <a:buSzPts val="1200"/>
              <a:buChar char="○"/>
              <a:defRPr sz="1600"/>
            </a:lvl2pPr>
            <a:lvl3pPr marL="1828800" lvl="2" indent="-406400">
              <a:spcBef>
                <a:spcPts val="0"/>
              </a:spcBef>
              <a:spcAft>
                <a:spcPts val="0"/>
              </a:spcAft>
              <a:buSzPts val="1200"/>
              <a:buChar char="■"/>
              <a:defRPr sz="1600"/>
            </a:lvl3pPr>
            <a:lvl4pPr marL="2438400" lvl="3" indent="-406400">
              <a:spcBef>
                <a:spcPts val="0"/>
              </a:spcBef>
              <a:spcAft>
                <a:spcPts val="0"/>
              </a:spcAft>
              <a:buSzPts val="1200"/>
              <a:buChar char="●"/>
              <a:defRPr sz="1600"/>
            </a:lvl4pPr>
            <a:lvl5pPr marL="3048000" lvl="4" indent="-406400">
              <a:spcBef>
                <a:spcPts val="0"/>
              </a:spcBef>
              <a:spcAft>
                <a:spcPts val="0"/>
              </a:spcAft>
              <a:buSzPts val="1200"/>
              <a:buChar char="○"/>
              <a:defRPr sz="1600"/>
            </a:lvl5pPr>
            <a:lvl6pPr marL="3657600" lvl="5" indent="-406400">
              <a:spcBef>
                <a:spcPts val="0"/>
              </a:spcBef>
              <a:spcAft>
                <a:spcPts val="0"/>
              </a:spcAft>
              <a:buSzPts val="1200"/>
              <a:buChar char="■"/>
              <a:defRPr sz="1600"/>
            </a:lvl6pPr>
            <a:lvl7pPr marL="4267200" lvl="6" indent="-406400">
              <a:spcBef>
                <a:spcPts val="0"/>
              </a:spcBef>
              <a:spcAft>
                <a:spcPts val="0"/>
              </a:spcAft>
              <a:buSzPts val="1200"/>
              <a:buChar char="●"/>
              <a:defRPr sz="1600"/>
            </a:lvl7pPr>
            <a:lvl8pPr marL="4876800" lvl="7" indent="-406400">
              <a:spcBef>
                <a:spcPts val="0"/>
              </a:spcBef>
              <a:spcAft>
                <a:spcPts val="0"/>
              </a:spcAft>
              <a:buSzPts val="1200"/>
              <a:buChar char="○"/>
              <a:defRPr sz="1600"/>
            </a:lvl8pPr>
            <a:lvl9pPr marL="5486400" lvl="8" indent="-406400">
              <a:spcBef>
                <a:spcPts val="0"/>
              </a:spcBef>
              <a:spcAft>
                <a:spcPts val="0"/>
              </a:spcAft>
              <a:buSzPts val="1200"/>
              <a:buChar char="■"/>
              <a:defRPr sz="1600"/>
            </a:lvl9pPr>
          </a:lstStyle>
          <a:p>
            <a:endParaRPr/>
          </a:p>
        </p:txBody>
      </p:sp>
      <p:sp>
        <p:nvSpPr>
          <p:cNvPr id="31" name="Google Shape;31;p7"/>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667" y="600200"/>
            <a:ext cx="8490400" cy="54544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64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endParaRPr/>
          </a:p>
        </p:txBody>
      </p:sp>
      <p:sp>
        <p:nvSpPr>
          <p:cNvPr id="34" name="Google Shape;34;p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sp>
        <p:nvSpPr>
          <p:cNvPr id="37" name="Google Shape;37;p9"/>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5600"/>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endParaRPr/>
          </a:p>
        </p:txBody>
      </p:sp>
      <p:sp>
        <p:nvSpPr>
          <p:cNvPr id="38" name="Google Shape;38;p9"/>
          <p:cNvSpPr txBox="1">
            <a:spLocks noGrp="1"/>
          </p:cNvSpPr>
          <p:nvPr>
            <p:ph type="subTitle" idx="1"/>
          </p:nvPr>
        </p:nvSpPr>
        <p:spPr>
          <a:xfrm>
            <a:off x="354000" y="3737433"/>
            <a:ext cx="5393600" cy="164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39" name="Google Shape;39;p9"/>
          <p:cNvSpPr txBox="1">
            <a:spLocks noGrp="1"/>
          </p:cNvSpPr>
          <p:nvPr>
            <p:ph type="body" idx="2"/>
          </p:nvPr>
        </p:nvSpPr>
        <p:spPr>
          <a:xfrm>
            <a:off x="6586000" y="965433"/>
            <a:ext cx="5116000" cy="4926800"/>
          </a:xfrm>
          <a:prstGeom prst="rect">
            <a:avLst/>
          </a:prstGeom>
        </p:spPr>
        <p:txBody>
          <a:bodyPr spcFirstLastPara="1" wrap="square" lIns="91425" tIns="91425" rIns="91425" bIns="91425" anchor="ctr" anchorCtr="0">
            <a:normAutofit/>
          </a:bodyPr>
          <a:lstStyle>
            <a:lvl1pPr marL="609600" lvl="0" indent="-457200">
              <a:spcBef>
                <a:spcPts val="0"/>
              </a:spcBef>
              <a:spcAft>
                <a:spcPts val="0"/>
              </a:spcAft>
              <a:buSzPts val="1800"/>
              <a:buChar char="●"/>
              <a:defRPr/>
            </a:lvl1pPr>
            <a:lvl2pPr marL="1219200" lvl="1" indent="-423545">
              <a:spcBef>
                <a:spcPts val="0"/>
              </a:spcBef>
              <a:spcAft>
                <a:spcPts val="0"/>
              </a:spcAft>
              <a:buSzPts val="1400"/>
              <a:buChar char="○"/>
              <a:defRPr/>
            </a:lvl2pPr>
            <a:lvl3pPr marL="1828800" lvl="2" indent="-423545">
              <a:spcBef>
                <a:spcPts val="0"/>
              </a:spcBef>
              <a:spcAft>
                <a:spcPts val="0"/>
              </a:spcAft>
              <a:buSzPts val="1400"/>
              <a:buChar char="■"/>
              <a:defRPr/>
            </a:lvl3pPr>
            <a:lvl4pPr marL="2438400" lvl="3" indent="-423545">
              <a:spcBef>
                <a:spcPts val="0"/>
              </a:spcBef>
              <a:spcAft>
                <a:spcPts val="0"/>
              </a:spcAft>
              <a:buSzPts val="1400"/>
              <a:buChar char="●"/>
              <a:defRPr/>
            </a:lvl4pPr>
            <a:lvl5pPr marL="3048000" lvl="4" indent="-423545">
              <a:spcBef>
                <a:spcPts val="0"/>
              </a:spcBef>
              <a:spcAft>
                <a:spcPts val="0"/>
              </a:spcAft>
              <a:buSzPts val="1400"/>
              <a:buChar char="○"/>
              <a:defRPr/>
            </a:lvl5pPr>
            <a:lvl6pPr marL="3657600" lvl="5" indent="-423545">
              <a:spcBef>
                <a:spcPts val="0"/>
              </a:spcBef>
              <a:spcAft>
                <a:spcPts val="0"/>
              </a:spcAft>
              <a:buSzPts val="1400"/>
              <a:buChar char="■"/>
              <a:defRPr/>
            </a:lvl6pPr>
            <a:lvl7pPr marL="4267200" lvl="6" indent="-423545">
              <a:spcBef>
                <a:spcPts val="0"/>
              </a:spcBef>
              <a:spcAft>
                <a:spcPts val="0"/>
              </a:spcAft>
              <a:buSzPts val="1400"/>
              <a:buChar char="●"/>
              <a:defRPr/>
            </a:lvl7pPr>
            <a:lvl8pPr marL="4876800" lvl="7" indent="-423545">
              <a:spcBef>
                <a:spcPts val="0"/>
              </a:spcBef>
              <a:spcAft>
                <a:spcPts val="0"/>
              </a:spcAft>
              <a:buSzPts val="1400"/>
              <a:buChar char="○"/>
              <a:defRPr/>
            </a:lvl8pPr>
            <a:lvl9pPr marL="5486400" lvl="8" indent="-423545">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15600" y="5640767"/>
            <a:ext cx="7998400" cy="806800"/>
          </a:xfrm>
          <a:prstGeom prst="rect">
            <a:avLst/>
          </a:prstGeom>
        </p:spPr>
        <p:txBody>
          <a:bodyPr spcFirstLastPara="1" wrap="square" lIns="91425" tIns="91425" rIns="91425" bIns="91425" anchor="ctr" anchorCtr="0">
            <a:normAutofit/>
          </a:bodyPr>
          <a:lstStyle>
            <a:lvl1pPr marL="609600" lvl="0" indent="-3048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15600" y="1474833"/>
            <a:ext cx="11360800" cy="26180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6000"/>
            </a:lvl1pPr>
            <a:lvl2pPr lvl="1" algn="ctr">
              <a:spcBef>
                <a:spcPts val="0"/>
              </a:spcBef>
              <a:spcAft>
                <a:spcPts val="0"/>
              </a:spcAft>
              <a:buSzPts val="12000"/>
              <a:buNone/>
              <a:defRPr sz="16000"/>
            </a:lvl2pPr>
            <a:lvl3pPr lvl="2" algn="ctr">
              <a:spcBef>
                <a:spcPts val="0"/>
              </a:spcBef>
              <a:spcAft>
                <a:spcPts val="0"/>
              </a:spcAft>
              <a:buSzPts val="12000"/>
              <a:buNone/>
              <a:defRPr sz="16000"/>
            </a:lvl3pPr>
            <a:lvl4pPr lvl="3" algn="ctr">
              <a:spcBef>
                <a:spcPts val="0"/>
              </a:spcBef>
              <a:spcAft>
                <a:spcPts val="0"/>
              </a:spcAft>
              <a:buSzPts val="12000"/>
              <a:buNone/>
              <a:defRPr sz="16000"/>
            </a:lvl4pPr>
            <a:lvl5pPr lvl="4" algn="ctr">
              <a:spcBef>
                <a:spcPts val="0"/>
              </a:spcBef>
              <a:spcAft>
                <a:spcPts val="0"/>
              </a:spcAft>
              <a:buSzPts val="12000"/>
              <a:buNone/>
              <a:defRPr sz="16000"/>
            </a:lvl5pPr>
            <a:lvl6pPr lvl="5" algn="ctr">
              <a:spcBef>
                <a:spcPts val="0"/>
              </a:spcBef>
              <a:spcAft>
                <a:spcPts val="0"/>
              </a:spcAft>
              <a:buSzPts val="12000"/>
              <a:buNone/>
              <a:defRPr sz="16000"/>
            </a:lvl6pPr>
            <a:lvl7pPr lvl="6" algn="ctr">
              <a:spcBef>
                <a:spcPts val="0"/>
              </a:spcBef>
              <a:spcAft>
                <a:spcPts val="0"/>
              </a:spcAft>
              <a:buSzPts val="12000"/>
              <a:buNone/>
              <a:defRPr sz="16000"/>
            </a:lvl7pPr>
            <a:lvl8pPr lvl="7" algn="ctr">
              <a:spcBef>
                <a:spcPts val="0"/>
              </a:spcBef>
              <a:spcAft>
                <a:spcPts val="0"/>
              </a:spcAft>
              <a:buSzPts val="12000"/>
              <a:buNone/>
              <a:defRPr sz="16000"/>
            </a:lvl8pPr>
            <a:lvl9pPr lvl="8" algn="ctr">
              <a:spcBef>
                <a:spcPts val="0"/>
              </a:spcBef>
              <a:spcAft>
                <a:spcPts val="0"/>
              </a:spcAft>
              <a:buSzPts val="12000"/>
              <a:buNone/>
              <a:defRPr sz="16000"/>
            </a:lvl9pPr>
          </a:lstStyle>
          <a:p>
            <a:r>
              <a:t>xx%</a:t>
            </a:r>
          </a:p>
        </p:txBody>
      </p:sp>
      <p:sp>
        <p:nvSpPr>
          <p:cNvPr id="46" name="Google Shape;46;p11"/>
          <p:cNvSpPr txBox="1">
            <a:spLocks noGrp="1"/>
          </p:cNvSpPr>
          <p:nvPr>
            <p:ph type="body" idx="1"/>
          </p:nvPr>
        </p:nvSpPr>
        <p:spPr>
          <a:xfrm>
            <a:off x="415600" y="4202967"/>
            <a:ext cx="11360800" cy="1734400"/>
          </a:xfrm>
          <a:prstGeom prst="rect">
            <a:avLst/>
          </a:prstGeom>
        </p:spPr>
        <p:txBody>
          <a:bodyPr spcFirstLastPara="1" wrap="square" lIns="91425" tIns="91425" rIns="91425" bIns="91425" anchor="t" anchorCtr="0">
            <a:normAutofit/>
          </a:bodyPr>
          <a:lstStyle>
            <a:lvl1pPr marL="609600" lvl="0" indent="-457200" algn="ctr">
              <a:spcBef>
                <a:spcPts val="0"/>
              </a:spcBef>
              <a:spcAft>
                <a:spcPts val="0"/>
              </a:spcAft>
              <a:buSzPts val="1800"/>
              <a:buChar char="●"/>
              <a:defRPr/>
            </a:lvl1pPr>
            <a:lvl2pPr marL="1219200" lvl="1" indent="-423545" algn="ctr">
              <a:spcBef>
                <a:spcPts val="0"/>
              </a:spcBef>
              <a:spcAft>
                <a:spcPts val="0"/>
              </a:spcAft>
              <a:buSzPts val="1400"/>
              <a:buChar char="○"/>
              <a:defRPr/>
            </a:lvl2pPr>
            <a:lvl3pPr marL="1828800" lvl="2" indent="-423545" algn="ctr">
              <a:spcBef>
                <a:spcPts val="0"/>
              </a:spcBef>
              <a:spcAft>
                <a:spcPts val="0"/>
              </a:spcAft>
              <a:buSzPts val="1400"/>
              <a:buChar char="■"/>
              <a:defRPr/>
            </a:lvl3pPr>
            <a:lvl4pPr marL="2438400" lvl="3" indent="-423545" algn="ctr">
              <a:spcBef>
                <a:spcPts val="0"/>
              </a:spcBef>
              <a:spcAft>
                <a:spcPts val="0"/>
              </a:spcAft>
              <a:buSzPts val="1400"/>
              <a:buChar char="●"/>
              <a:defRPr/>
            </a:lvl4pPr>
            <a:lvl5pPr marL="3048000" lvl="4" indent="-423545" algn="ctr">
              <a:spcBef>
                <a:spcPts val="0"/>
              </a:spcBef>
              <a:spcAft>
                <a:spcPts val="0"/>
              </a:spcAft>
              <a:buSzPts val="1400"/>
              <a:buChar char="○"/>
              <a:defRPr/>
            </a:lvl5pPr>
            <a:lvl6pPr marL="3657600" lvl="5" indent="-423545" algn="ctr">
              <a:spcBef>
                <a:spcPts val="0"/>
              </a:spcBef>
              <a:spcAft>
                <a:spcPts val="0"/>
              </a:spcAft>
              <a:buSzPts val="1400"/>
              <a:buChar char="■"/>
              <a:defRPr/>
            </a:lvl6pPr>
            <a:lvl7pPr marL="4267200" lvl="6" indent="-423545" algn="ctr">
              <a:spcBef>
                <a:spcPts val="0"/>
              </a:spcBef>
              <a:spcAft>
                <a:spcPts val="0"/>
              </a:spcAft>
              <a:buSzPts val="1400"/>
              <a:buChar char="●"/>
              <a:defRPr/>
            </a:lvl7pPr>
            <a:lvl8pPr marL="4876800" lvl="7" indent="-423545" algn="ctr">
              <a:spcBef>
                <a:spcPts val="0"/>
              </a:spcBef>
              <a:spcAft>
                <a:spcPts val="0"/>
              </a:spcAft>
              <a:buSzPts val="1400"/>
              <a:buChar char="○"/>
              <a:defRPr/>
            </a:lvl8pPr>
            <a:lvl9pPr marL="5486400" lvl="8" indent="-423545"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baseline="0">
                <a:solidFill>
                  <a:schemeClr val="tx1">
                    <a:tint val="75000"/>
                  </a:schemeClr>
                </a:solidFill>
              </a:defRPr>
            </a:lvl1pPr>
          </a:lstStyle>
          <a:p>
            <a:fld id="{760FBDFE-C587-4B4C-A407-44438C67B59E}" type="datetimeFigureOut">
              <a:rPr lang="en-US" smtClean="0"/>
              <a:t>12/13/2025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latin typeface="Calibri Light" panose="020F0302020204030204" pitchFamily="34" charset="0"/>
                <a:cs typeface="Calibri Light" panose="020F0302020204030204" pitchFamily="34" charset="0"/>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latin typeface="Calibri Light" panose="020F0302020204030204" pitchFamily="34" charset="0"/>
                <a:cs typeface="Calibri Light" panose="020F0302020204030204" pitchFamily="34" charset="0"/>
              </a:defRPr>
            </a:lvl1pPr>
          </a:lstStyle>
          <a:p>
            <a:fld id="{49AE70B2-8BF9-45C0-BB95-33D1B9D3A854}" type="slidenum">
              <a:rPr lang="en-US" smtClean="0"/>
              <a:t>‹N°›</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71" r:id="rId11"/>
    <p:sldLayoutId id="2147483673" r:id="rId12"/>
  </p:sldLayoutIdLst>
  <p:txStyles>
    <p:titleStyle>
      <a:lvl1pPr algn="l" defTabSz="914400" rtl="0" eaLnBrk="1" latinLnBrk="0" hangingPunct="1">
        <a:lnSpc>
          <a:spcPct val="90000"/>
        </a:lnSpc>
        <a:spcBef>
          <a:spcPct val="0"/>
        </a:spcBef>
        <a:buNone/>
        <a:defRPr sz="4000" kern="1200">
          <a:solidFill>
            <a:schemeClr val="tx1"/>
          </a:solidFill>
          <a:latin typeface="Calibri Light" panose="020F0302020204030204" pitchFamily="34" charset="0"/>
          <a:ea typeface="+mj-ea"/>
          <a:cs typeface="+mj-cs"/>
        </a:defRPr>
      </a:lvl1pPr>
    </p:titleStyle>
    <p:body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2800" b="0" kern="1200">
          <a:solidFill>
            <a:schemeClr val="tx1"/>
          </a:solidFill>
          <a:latin typeface="Calibri Light" panose="020F03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chemeClr val="tx1"/>
          </a:solidFill>
          <a:latin typeface="Calibri Light" panose="020F03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chemeClr val="tx1"/>
          </a:solidFill>
          <a:effectLst/>
          <a:latin typeface="Calibri Light" panose="020F0302020204030204" pitchFamily="34" charset="0"/>
          <a:ea typeface="+mn-ea"/>
          <a:cs typeface="Calibri Light" panose="020F03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effectLst/>
          <a:latin typeface="Calibri Light" panose="020F0302020204030204" pitchFamily="34" charset="0"/>
          <a:ea typeface="+mn-ea"/>
          <a:cs typeface="Calibri Light" panose="020F03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effectLst/>
          <a:latin typeface="Calibri Light" panose="020F0302020204030204" pitchFamily="34" charset="0"/>
          <a:ea typeface="+mn-ea"/>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3735">
                <a:solidFill>
                  <a:schemeClr val="dk1"/>
                </a:solidFill>
              </a:defRPr>
            </a:lvl1pPr>
            <a:lvl2pPr lvl="1">
              <a:spcBef>
                <a:spcPts val="0"/>
              </a:spcBef>
              <a:spcAft>
                <a:spcPts val="0"/>
              </a:spcAft>
              <a:buClr>
                <a:schemeClr val="dk1"/>
              </a:buClr>
              <a:buSzPts val="2800"/>
              <a:buNone/>
              <a:defRPr sz="3735">
                <a:solidFill>
                  <a:schemeClr val="dk1"/>
                </a:solidFill>
              </a:defRPr>
            </a:lvl2pPr>
            <a:lvl3pPr lvl="2">
              <a:spcBef>
                <a:spcPts val="0"/>
              </a:spcBef>
              <a:spcAft>
                <a:spcPts val="0"/>
              </a:spcAft>
              <a:buClr>
                <a:schemeClr val="dk1"/>
              </a:buClr>
              <a:buSzPts val="2800"/>
              <a:buNone/>
              <a:defRPr sz="3735">
                <a:solidFill>
                  <a:schemeClr val="dk1"/>
                </a:solidFill>
              </a:defRPr>
            </a:lvl3pPr>
            <a:lvl4pPr lvl="3">
              <a:spcBef>
                <a:spcPts val="0"/>
              </a:spcBef>
              <a:spcAft>
                <a:spcPts val="0"/>
              </a:spcAft>
              <a:buClr>
                <a:schemeClr val="dk1"/>
              </a:buClr>
              <a:buSzPts val="2800"/>
              <a:buNone/>
              <a:defRPr sz="3735">
                <a:solidFill>
                  <a:schemeClr val="dk1"/>
                </a:solidFill>
              </a:defRPr>
            </a:lvl4pPr>
            <a:lvl5pPr lvl="4">
              <a:spcBef>
                <a:spcPts val="0"/>
              </a:spcBef>
              <a:spcAft>
                <a:spcPts val="0"/>
              </a:spcAft>
              <a:buClr>
                <a:schemeClr val="dk1"/>
              </a:buClr>
              <a:buSzPts val="2800"/>
              <a:buNone/>
              <a:defRPr sz="3735">
                <a:solidFill>
                  <a:schemeClr val="dk1"/>
                </a:solidFill>
              </a:defRPr>
            </a:lvl5pPr>
            <a:lvl6pPr lvl="5">
              <a:spcBef>
                <a:spcPts val="0"/>
              </a:spcBef>
              <a:spcAft>
                <a:spcPts val="0"/>
              </a:spcAft>
              <a:buClr>
                <a:schemeClr val="dk1"/>
              </a:buClr>
              <a:buSzPts val="2800"/>
              <a:buNone/>
              <a:defRPr sz="3735">
                <a:solidFill>
                  <a:schemeClr val="dk1"/>
                </a:solidFill>
              </a:defRPr>
            </a:lvl6pPr>
            <a:lvl7pPr lvl="6">
              <a:spcBef>
                <a:spcPts val="0"/>
              </a:spcBef>
              <a:spcAft>
                <a:spcPts val="0"/>
              </a:spcAft>
              <a:buClr>
                <a:schemeClr val="dk1"/>
              </a:buClr>
              <a:buSzPts val="2800"/>
              <a:buNone/>
              <a:defRPr sz="3735">
                <a:solidFill>
                  <a:schemeClr val="dk1"/>
                </a:solidFill>
              </a:defRPr>
            </a:lvl7pPr>
            <a:lvl8pPr lvl="7">
              <a:spcBef>
                <a:spcPts val="0"/>
              </a:spcBef>
              <a:spcAft>
                <a:spcPts val="0"/>
              </a:spcAft>
              <a:buClr>
                <a:schemeClr val="dk1"/>
              </a:buClr>
              <a:buSzPts val="2800"/>
              <a:buNone/>
              <a:defRPr sz="3735">
                <a:solidFill>
                  <a:schemeClr val="dk1"/>
                </a:solidFill>
              </a:defRPr>
            </a:lvl8pPr>
            <a:lvl9pPr lvl="8">
              <a:spcBef>
                <a:spcPts val="0"/>
              </a:spcBef>
              <a:spcAft>
                <a:spcPts val="0"/>
              </a:spcAft>
              <a:buClr>
                <a:schemeClr val="dk1"/>
              </a:buClr>
              <a:buSzPts val="2800"/>
              <a:buNone/>
              <a:defRPr sz="3735">
                <a:solidFill>
                  <a:schemeClr val="dk1"/>
                </a:solidFill>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609600" lvl="0" indent="-457200">
              <a:lnSpc>
                <a:spcPct val="115000"/>
              </a:lnSpc>
              <a:spcBef>
                <a:spcPts val="0"/>
              </a:spcBef>
              <a:spcAft>
                <a:spcPts val="0"/>
              </a:spcAft>
              <a:buClr>
                <a:schemeClr val="dk2"/>
              </a:buClr>
              <a:buSzPts val="1800"/>
              <a:buChar char="●"/>
              <a:defRPr sz="2400">
                <a:solidFill>
                  <a:schemeClr val="dk2"/>
                </a:solidFill>
              </a:defRPr>
            </a:lvl1pPr>
            <a:lvl2pPr marL="1219200" lvl="1" indent="-423545">
              <a:lnSpc>
                <a:spcPct val="115000"/>
              </a:lnSpc>
              <a:spcBef>
                <a:spcPts val="0"/>
              </a:spcBef>
              <a:spcAft>
                <a:spcPts val="0"/>
              </a:spcAft>
              <a:buClr>
                <a:schemeClr val="dk2"/>
              </a:buClr>
              <a:buSzPts val="1400"/>
              <a:buChar char="○"/>
              <a:defRPr>
                <a:solidFill>
                  <a:schemeClr val="dk2"/>
                </a:solidFill>
              </a:defRPr>
            </a:lvl2pPr>
            <a:lvl3pPr marL="1828800" lvl="2" indent="-423545">
              <a:lnSpc>
                <a:spcPct val="115000"/>
              </a:lnSpc>
              <a:spcBef>
                <a:spcPts val="0"/>
              </a:spcBef>
              <a:spcAft>
                <a:spcPts val="0"/>
              </a:spcAft>
              <a:buClr>
                <a:schemeClr val="dk2"/>
              </a:buClr>
              <a:buSzPts val="1400"/>
              <a:buChar char="■"/>
              <a:defRPr>
                <a:solidFill>
                  <a:schemeClr val="dk2"/>
                </a:solidFill>
              </a:defRPr>
            </a:lvl3pPr>
            <a:lvl4pPr marL="2438400" lvl="3" indent="-423545">
              <a:lnSpc>
                <a:spcPct val="115000"/>
              </a:lnSpc>
              <a:spcBef>
                <a:spcPts val="0"/>
              </a:spcBef>
              <a:spcAft>
                <a:spcPts val="0"/>
              </a:spcAft>
              <a:buClr>
                <a:schemeClr val="dk2"/>
              </a:buClr>
              <a:buSzPts val="1400"/>
              <a:buChar char="●"/>
              <a:defRPr>
                <a:solidFill>
                  <a:schemeClr val="dk2"/>
                </a:solidFill>
              </a:defRPr>
            </a:lvl4pPr>
            <a:lvl5pPr marL="3048000" lvl="4" indent="-423545">
              <a:lnSpc>
                <a:spcPct val="115000"/>
              </a:lnSpc>
              <a:spcBef>
                <a:spcPts val="0"/>
              </a:spcBef>
              <a:spcAft>
                <a:spcPts val="0"/>
              </a:spcAft>
              <a:buClr>
                <a:schemeClr val="dk2"/>
              </a:buClr>
              <a:buSzPts val="1400"/>
              <a:buChar char="○"/>
              <a:defRPr>
                <a:solidFill>
                  <a:schemeClr val="dk2"/>
                </a:solidFill>
              </a:defRPr>
            </a:lvl5pPr>
            <a:lvl6pPr marL="3657600" lvl="5" indent="-423545">
              <a:lnSpc>
                <a:spcPct val="115000"/>
              </a:lnSpc>
              <a:spcBef>
                <a:spcPts val="0"/>
              </a:spcBef>
              <a:spcAft>
                <a:spcPts val="0"/>
              </a:spcAft>
              <a:buClr>
                <a:schemeClr val="dk2"/>
              </a:buClr>
              <a:buSzPts val="1400"/>
              <a:buChar char="■"/>
              <a:defRPr>
                <a:solidFill>
                  <a:schemeClr val="dk2"/>
                </a:solidFill>
              </a:defRPr>
            </a:lvl6pPr>
            <a:lvl7pPr marL="4267200" lvl="6" indent="-423545">
              <a:lnSpc>
                <a:spcPct val="115000"/>
              </a:lnSpc>
              <a:spcBef>
                <a:spcPts val="0"/>
              </a:spcBef>
              <a:spcAft>
                <a:spcPts val="0"/>
              </a:spcAft>
              <a:buClr>
                <a:schemeClr val="dk2"/>
              </a:buClr>
              <a:buSzPts val="1400"/>
              <a:buChar char="●"/>
              <a:defRPr>
                <a:solidFill>
                  <a:schemeClr val="dk2"/>
                </a:solidFill>
              </a:defRPr>
            </a:lvl7pPr>
            <a:lvl8pPr marL="4876800" lvl="7" indent="-423545">
              <a:lnSpc>
                <a:spcPct val="115000"/>
              </a:lnSpc>
              <a:spcBef>
                <a:spcPts val="0"/>
              </a:spcBef>
              <a:spcAft>
                <a:spcPts val="0"/>
              </a:spcAft>
              <a:buClr>
                <a:schemeClr val="dk2"/>
              </a:buClr>
              <a:buSzPts val="1400"/>
              <a:buChar char="○"/>
              <a:defRPr>
                <a:solidFill>
                  <a:schemeClr val="dk2"/>
                </a:solidFill>
              </a:defRPr>
            </a:lvl8pPr>
            <a:lvl9pPr marL="5486400" lvl="8" indent="-423545">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lvl="0" algn="r">
              <a:buNone/>
              <a:defRPr sz="1335">
                <a:solidFill>
                  <a:schemeClr val="dk2"/>
                </a:solidFill>
              </a:defRPr>
            </a:lvl1pPr>
            <a:lvl2pPr lvl="1" algn="r">
              <a:buNone/>
              <a:defRPr sz="1335">
                <a:solidFill>
                  <a:schemeClr val="dk2"/>
                </a:solidFill>
              </a:defRPr>
            </a:lvl2pPr>
            <a:lvl3pPr lvl="2" algn="r">
              <a:buNone/>
              <a:defRPr sz="1335">
                <a:solidFill>
                  <a:schemeClr val="dk2"/>
                </a:solidFill>
              </a:defRPr>
            </a:lvl3pPr>
            <a:lvl4pPr lvl="3" algn="r">
              <a:buNone/>
              <a:defRPr sz="1335">
                <a:solidFill>
                  <a:schemeClr val="dk2"/>
                </a:solidFill>
              </a:defRPr>
            </a:lvl4pPr>
            <a:lvl5pPr lvl="4" algn="r">
              <a:buNone/>
              <a:defRPr sz="1335">
                <a:solidFill>
                  <a:schemeClr val="dk2"/>
                </a:solidFill>
              </a:defRPr>
            </a:lvl5pPr>
            <a:lvl6pPr lvl="5" algn="r">
              <a:buNone/>
              <a:defRPr sz="1335">
                <a:solidFill>
                  <a:schemeClr val="dk2"/>
                </a:solidFill>
              </a:defRPr>
            </a:lvl6pPr>
            <a:lvl7pPr lvl="6" algn="r">
              <a:buNone/>
              <a:defRPr sz="1335">
                <a:solidFill>
                  <a:schemeClr val="dk2"/>
                </a:solidFill>
              </a:defRPr>
            </a:lvl7pPr>
            <a:lvl8pPr lvl="7" algn="r">
              <a:buNone/>
              <a:defRPr sz="1335">
                <a:solidFill>
                  <a:schemeClr val="dk2"/>
                </a:solidFill>
              </a:defRPr>
            </a:lvl8pPr>
            <a:lvl9pPr lvl="8" algn="r">
              <a:buNone/>
              <a:defRPr sz="1335">
                <a:solidFill>
                  <a:schemeClr val="dk2"/>
                </a:solidFill>
              </a:defRPr>
            </a:lvl9pPr>
          </a:lstStyle>
          <a:p>
            <a:pPr marL="0" lvl="0" indent="0" algn="r" rtl="0">
              <a:spcBef>
                <a:spcPts val="0"/>
              </a:spcBef>
              <a:spcAft>
                <a:spcPts val="0"/>
              </a:spcAft>
              <a:buNone/>
            </a:pPr>
            <a:fld id="{00000000-1234-1234-1234-123412341234}" type="slidenum">
              <a:rPr lang="en-GB"/>
              <a:t>‹N°›</a:t>
            </a:fld>
            <a:endParaRPr lang="en-GB"/>
          </a:p>
        </p:txBody>
      </p:sp>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image" Target="../media/image1.jpeg"/><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notesSlide" Target="../notesSlides/notesSlide3.xml"/><Relationship Id="rId2" Type="http://schemas.openxmlformats.org/officeDocument/2006/relationships/tags" Target="../tags/tag2.xml"/><Relationship Id="rId16" Type="http://schemas.openxmlformats.org/officeDocument/2006/relationships/slideLayout" Target="../slideLayouts/slideLayout1.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3" Type="http://schemas.openxmlformats.org/officeDocument/2006/relationships/chart" Target="../charts/chart17.xml"/><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3" Type="http://schemas.openxmlformats.org/officeDocument/2006/relationships/chart" Target="../charts/chart18.xml"/><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3" Type="http://schemas.openxmlformats.org/officeDocument/2006/relationships/chart" Target="../charts/chart19.xml"/><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3" Type="http://schemas.openxmlformats.org/officeDocument/2006/relationships/chart" Target="../charts/chart20.xml"/><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5.xml"/><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3.xm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7.xml"/><Relationship Id="rId1" Type="http://schemas.openxmlformats.org/officeDocument/2006/relationships/slideLayout" Target="../slideLayouts/slideLayout15.xml"/><Relationship Id="rId4" Type="http://schemas.openxmlformats.org/officeDocument/2006/relationships/image" Target="../media/image10.png"/></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9.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1.xml"/><Relationship Id="rId1" Type="http://schemas.openxmlformats.org/officeDocument/2006/relationships/slideLayout" Target="../slideLayouts/slideLayout11.xml"/><Relationship Id="rId6" Type="http://schemas.openxmlformats.org/officeDocument/2006/relationships/chart" Target="../charts/chart21.xml"/><Relationship Id="rId5" Type="http://schemas.openxmlformats.org/officeDocument/2006/relationships/image" Target="../media/image14.png"/><Relationship Id="rId4" Type="http://schemas.openxmlformats.org/officeDocument/2006/relationships/image" Target="../media/image13.png"/></Relationships>
</file>

<file path=ppt/slides/_rels/slide42.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13.png"/><Relationship Id="rId7" Type="http://schemas.openxmlformats.org/officeDocument/2006/relationships/diagramQuickStyle" Target="../diagrams/quickStyle1.xml"/><Relationship Id="rId2" Type="http://schemas.openxmlformats.org/officeDocument/2006/relationships/notesSlide" Target="../notesSlides/notesSlide42.xml"/><Relationship Id="rId1" Type="http://schemas.openxmlformats.org/officeDocument/2006/relationships/slideLayout" Target="../slideLayouts/slideLayout11.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14.png"/><Relationship Id="rId9" Type="http://schemas.microsoft.com/office/2007/relationships/diagramDrawing" Target="../diagrams/drawing1.xml"/></Relationships>
</file>

<file path=ppt/slides/_rels/slide43.xml.rels><?xml version="1.0" encoding="UTF-8" standalone="yes"?>
<Relationships xmlns="http://schemas.openxmlformats.org/package/2006/relationships"><Relationship Id="rId2" Type="http://schemas.openxmlformats.org/officeDocument/2006/relationships/chart" Target="../charts/chart22.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chart" Target="../charts/chart23.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notesSlide" Target="../notesSlides/notesSlide44.xml"/><Relationship Id="rId5" Type="http://schemas.openxmlformats.org/officeDocument/2006/relationships/slideLayout" Target="../slideLayouts/slideLayout15.xml"/><Relationship Id="rId4" Type="http://schemas.openxmlformats.org/officeDocument/2006/relationships/tags" Target="../tags/tag19.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tags" Target="../tags/tag21.xml"/><Relationship Id="rId1" Type="http://schemas.openxmlformats.org/officeDocument/2006/relationships/tags" Target="../tags/tag20.xml"/><Relationship Id="rId4" Type="http://schemas.openxmlformats.org/officeDocument/2006/relationships/notesSlide" Target="../notesSlides/notesSlide45.xml"/></Relationships>
</file>

<file path=ppt/slides/_rels/slide4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8" Type="http://schemas.openxmlformats.org/officeDocument/2006/relationships/tags" Target="../tags/tag29.xml"/><Relationship Id="rId13" Type="http://schemas.openxmlformats.org/officeDocument/2006/relationships/tags" Target="../tags/tag34.xml"/><Relationship Id="rId18" Type="http://schemas.openxmlformats.org/officeDocument/2006/relationships/image" Target="../media/image1.jpeg"/><Relationship Id="rId3" Type="http://schemas.openxmlformats.org/officeDocument/2006/relationships/tags" Target="../tags/tag24.xml"/><Relationship Id="rId7" Type="http://schemas.openxmlformats.org/officeDocument/2006/relationships/tags" Target="../tags/tag28.xml"/><Relationship Id="rId12" Type="http://schemas.openxmlformats.org/officeDocument/2006/relationships/tags" Target="../tags/tag33.xml"/><Relationship Id="rId17" Type="http://schemas.openxmlformats.org/officeDocument/2006/relationships/notesSlide" Target="../notesSlides/notesSlide50.xml"/><Relationship Id="rId2" Type="http://schemas.openxmlformats.org/officeDocument/2006/relationships/tags" Target="../tags/tag23.xml"/><Relationship Id="rId16" Type="http://schemas.openxmlformats.org/officeDocument/2006/relationships/slideLayout" Target="../slideLayouts/slideLayout1.xml"/><Relationship Id="rId1" Type="http://schemas.openxmlformats.org/officeDocument/2006/relationships/tags" Target="../tags/tag22.xml"/><Relationship Id="rId6" Type="http://schemas.openxmlformats.org/officeDocument/2006/relationships/tags" Target="../tags/tag27.xml"/><Relationship Id="rId11" Type="http://schemas.openxmlformats.org/officeDocument/2006/relationships/tags" Target="../tags/tag32.xml"/><Relationship Id="rId5" Type="http://schemas.openxmlformats.org/officeDocument/2006/relationships/tags" Target="../tags/tag26.xml"/><Relationship Id="rId15" Type="http://schemas.openxmlformats.org/officeDocument/2006/relationships/tags" Target="../tags/tag36.xml"/><Relationship Id="rId10" Type="http://schemas.openxmlformats.org/officeDocument/2006/relationships/tags" Target="../tags/tag31.xml"/><Relationship Id="rId4" Type="http://schemas.openxmlformats.org/officeDocument/2006/relationships/tags" Target="../tags/tag25.xml"/><Relationship Id="rId9" Type="http://schemas.openxmlformats.org/officeDocument/2006/relationships/tags" Target="../tags/tag30.xml"/><Relationship Id="rId14" Type="http://schemas.openxmlformats.org/officeDocument/2006/relationships/tags" Target="../tags/tag3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chart" Target="../charts/chart24.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chart" Target="../charts/chart25.xml"/><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chart" Target="../charts/chart26.xml"/><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chart" Target="../charts/chart27.xml"/><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chart" Target="../charts/chart28.xml"/><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chart" Target="../charts/chart29.xml"/><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notesSlide" Target="../notesSlides/notesSlide60.xml"/><Relationship Id="rId5" Type="http://schemas.openxmlformats.org/officeDocument/2006/relationships/slideLayout" Target="../slideLayouts/slideLayout11.xml"/><Relationship Id="rId4" Type="http://schemas.openxmlformats.org/officeDocument/2006/relationships/tags" Target="../tags/tag40.xml"/></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42.xml"/><Relationship Id="rId1" Type="http://schemas.openxmlformats.org/officeDocument/2006/relationships/tags" Target="../tags/tag41.xml"/><Relationship Id="rId4" Type="http://schemas.openxmlformats.org/officeDocument/2006/relationships/notesSlide" Target="../notesSlides/notesSlide6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7.xml.rels><?xml version="1.0" encoding="UTF-8" standalone="yes"?>
<Relationships xmlns="http://schemas.openxmlformats.org/package/2006/relationships"><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notesSlide" Target="../notesSlides/notesSlide64.xml"/><Relationship Id="rId5" Type="http://schemas.openxmlformats.org/officeDocument/2006/relationships/slideLayout" Target="../slideLayouts/slideLayout15.xml"/><Relationship Id="rId4" Type="http://schemas.openxmlformats.org/officeDocument/2006/relationships/tags" Target="../tags/tag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
          <p:cNvSpPr txBox="1">
            <a:spLocks noGrp="1"/>
          </p:cNvSpPr>
          <p:nvPr>
            <p:ph type="sldNum" idx="12"/>
          </p:nvPr>
        </p:nvSpPr>
        <p:spPr>
          <a:xfrm>
            <a:off x="11296611" y="6217623"/>
            <a:ext cx="731600" cy="524800"/>
          </a:xfrm>
          <a:prstGeom prst="rect">
            <a:avLst/>
          </a:prstGeom>
          <a:noFill/>
          <a:ln>
            <a:noFill/>
          </a:ln>
        </p:spPr>
        <p:txBody>
          <a:bodyPr spcFirstLastPara="1" wrap="square" lIns="121900" tIns="121900" rIns="121900" bIns="121900" anchor="ctr" anchorCtr="0">
            <a:normAutofit/>
          </a:bodyPr>
          <a:lstStyle/>
          <a:p>
            <a:pPr marL="0" lvl="0" indent="0" algn="r" rtl="0">
              <a:lnSpc>
                <a:spcPct val="100000"/>
              </a:lnSpc>
              <a:spcBef>
                <a:spcPts val="0"/>
              </a:spcBef>
              <a:spcAft>
                <a:spcPts val="0"/>
              </a:spcAft>
              <a:buSzPts val="1000"/>
              <a:buNone/>
            </a:pPr>
            <a:fld id="{00000000-1234-1234-1234-123412341234}" type="slidenum">
              <a:rPr lang="en-GB" sz="1600"/>
              <a:t>1</a:t>
            </a:fld>
            <a:endParaRPr lang="en-GB" sz="1600"/>
          </a:p>
        </p:txBody>
      </p:sp>
      <p:sp>
        <p:nvSpPr>
          <p:cNvPr id="167" name="Google Shape;167;p1"/>
          <p:cNvSpPr txBox="1"/>
          <p:nvPr/>
        </p:nvSpPr>
        <p:spPr>
          <a:xfrm>
            <a:off x="295033" y="5920417"/>
            <a:ext cx="3302000" cy="34861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700"/>
              <a:buFont typeface="Arial" panose="020B0604020202020204"/>
              <a:buNone/>
            </a:pPr>
            <a:r>
              <a:rPr lang="en-GB" sz="2265" b="0" i="0" u="none" strike="noStrike" cap="none">
                <a:solidFill>
                  <a:srgbClr val="FFFFFF"/>
                </a:solidFill>
                <a:latin typeface="Arial" panose="020B0604020202020204"/>
                <a:ea typeface="Arial" panose="020B0604020202020204"/>
                <a:cs typeface="Arial" panose="020B0604020202020204"/>
                <a:sym typeface="Arial" panose="020B0604020202020204"/>
              </a:rPr>
              <a:t>October 2024</a:t>
            </a:r>
            <a:endParaRPr sz="2265"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168" name="Google Shape;168;p1"/>
          <p:cNvPicPr preferRelativeResize="0"/>
          <p:nvPr/>
        </p:nvPicPr>
        <p:blipFill rotWithShape="1">
          <a:blip r:embed="rId3"/>
          <a:srcRect l="-17785"/>
          <a:stretch>
            <a:fillRect/>
          </a:stretch>
        </p:blipFill>
        <p:spPr>
          <a:xfrm>
            <a:off x="-683503" y="1646443"/>
            <a:ext cx="4526453" cy="3703151"/>
          </a:xfrm>
          <a:prstGeom prst="rect">
            <a:avLst/>
          </a:prstGeom>
          <a:noFill/>
          <a:ln>
            <a:noFill/>
          </a:ln>
        </p:spPr>
      </p:pic>
      <p:sp>
        <p:nvSpPr>
          <p:cNvPr id="169" name="Google Shape;169;p1"/>
          <p:cNvSpPr txBox="1"/>
          <p:nvPr/>
        </p:nvSpPr>
        <p:spPr>
          <a:xfrm>
            <a:off x="4081106" y="1537970"/>
            <a:ext cx="7854355" cy="8277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500"/>
              <a:buFont typeface="Arial" panose="020B0604020202020204"/>
              <a:buNone/>
            </a:pPr>
            <a:r>
              <a:rPr lang="fr-FR" sz="4000"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rPr>
              <a:t>REVUE ANNUELLE 2025 DU PEV</a:t>
            </a:r>
          </a:p>
          <a:p>
            <a:pPr marL="0" marR="0" lvl="0" indent="0" algn="l" rtl="0">
              <a:lnSpc>
                <a:spcPct val="100000"/>
              </a:lnSpc>
              <a:spcBef>
                <a:spcPts val="0"/>
              </a:spcBef>
              <a:spcAft>
                <a:spcPts val="0"/>
              </a:spcAft>
              <a:buClr>
                <a:srgbClr val="000000"/>
              </a:buClr>
              <a:buSzPts val="1500"/>
              <a:buFont typeface="Arial" panose="020B0604020202020204"/>
              <a:buNone/>
            </a:pPr>
            <a:endParaRPr lang="fr-FR" altLang="en-GB" sz="4000"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0" name="Google Shape;170;p1"/>
          <p:cNvSpPr/>
          <p:nvPr/>
        </p:nvSpPr>
        <p:spPr>
          <a:xfrm>
            <a:off x="3660828" y="1516400"/>
            <a:ext cx="373600" cy="1867200"/>
          </a:xfrm>
          <a:prstGeom prst="rect">
            <a:avLst/>
          </a:prstGeom>
          <a:solidFill>
            <a:srgbClr val="145ABE"/>
          </a:solidFill>
          <a:ln>
            <a:noFill/>
          </a:ln>
        </p:spPr>
        <p:txBody>
          <a:bodyPr spcFirstLastPara="1" wrap="square" lIns="91433" tIns="91433" rIns="91433" bIns="91433" anchor="ctr" anchorCtr="0">
            <a:noAutofit/>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Google Shape;169;p1"/>
          <p:cNvSpPr txBox="1"/>
          <p:nvPr/>
        </p:nvSpPr>
        <p:spPr>
          <a:xfrm>
            <a:off x="4034429" y="3383914"/>
            <a:ext cx="7901032" cy="1177925"/>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500"/>
              <a:buFont typeface="Arial" panose="020B0604020202020204"/>
              <a:buNone/>
            </a:pPr>
            <a:r>
              <a:rPr lang="fr-FR" sz="3200" b="1"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rPr>
              <a:t>Groupe Prestation et </a:t>
            </a:r>
            <a:r>
              <a:rPr lang="fr-FR" sz="3200" b="1" dirty="0">
                <a:solidFill>
                  <a:srgbClr val="145ABE"/>
                </a:solidFill>
                <a:latin typeface="Times New Roman" panose="02020603050405020304"/>
                <a:ea typeface="Times New Roman" panose="02020603050405020304"/>
                <a:cs typeface="Times New Roman" panose="02020603050405020304"/>
                <a:sym typeface="Times New Roman" panose="02020603050405020304"/>
              </a:rPr>
              <a:t>Q</a:t>
            </a:r>
            <a:r>
              <a:rPr lang="fr-FR" sz="3200" b="1"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rPr>
              <a:t>ualité des données  </a:t>
            </a:r>
            <a:r>
              <a:rPr lang="fr-FR" sz="2000" b="1"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rPr>
              <a:t> </a:t>
            </a:r>
            <a:endParaRPr sz="1400" b="1"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00"/>
              </a:buClr>
              <a:buSzPts val="1500"/>
              <a:buFont typeface="Arial" panose="020B0604020202020204"/>
              <a:buNone/>
            </a:pPr>
            <a:endParaRPr sz="2000" b="1"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00"/>
              </a:buClr>
              <a:buSzPts val="1500"/>
              <a:buFont typeface="Arial" panose="020B0604020202020204"/>
              <a:buNone/>
            </a:pPr>
            <a:r>
              <a:rPr lang="en-GB" sz="2000" b="1"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rPr>
              <a:t> </a:t>
            </a:r>
            <a:endParaRPr sz="1465"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500"/>
              <a:buFont typeface="Arial" panose="020B0604020202020204"/>
              <a:buNone/>
            </a:pPr>
            <a:endParaRPr lang="fr-FR" altLang="en-GB" sz="2000" b="1" i="1"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 name="Google Shape;169;p1"/>
          <p:cNvSpPr txBox="1"/>
          <p:nvPr/>
        </p:nvSpPr>
        <p:spPr>
          <a:xfrm>
            <a:off x="4081106" y="5580083"/>
            <a:ext cx="7215505" cy="63754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500"/>
              <a:buFont typeface="Arial" panose="020B0604020202020204"/>
              <a:buNone/>
            </a:pPr>
            <a:r>
              <a:rPr lang="fr-FR" sz="2800"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rPr>
              <a:t>Décembre 2025</a:t>
            </a:r>
            <a:r>
              <a:rPr lang="fr-FR" sz="3600"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rPr>
              <a:t> </a:t>
            </a:r>
            <a:endParaRPr sz="2400"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00"/>
              </a:buClr>
              <a:buSzPts val="1500"/>
              <a:buFont typeface="Arial" panose="020B0604020202020204"/>
              <a:buNone/>
            </a:pPr>
            <a:endParaRPr sz="2000" b="1"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00"/>
              </a:buClr>
              <a:buSzPts val="1500"/>
              <a:buFont typeface="Arial" panose="020B0604020202020204"/>
              <a:buNone/>
            </a:pPr>
            <a:r>
              <a:rPr lang="en-GB" sz="2000" b="1"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rPr>
              <a:t> </a:t>
            </a:r>
            <a:endParaRPr sz="1465"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500"/>
              <a:buFont typeface="Arial" panose="020B0604020202020204"/>
              <a:buNone/>
            </a:pPr>
            <a:endParaRPr lang="fr-FR" altLang="en-GB" sz="2000" b="1" i="1"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
          <p:cNvSpPr txBox="1">
            <a:spLocks noGrp="1"/>
          </p:cNvSpPr>
          <p:nvPr>
            <p:ph type="sldNum" idx="12"/>
          </p:nvPr>
        </p:nvSpPr>
        <p:spPr>
          <a:xfrm>
            <a:off x="11296611" y="6217623"/>
            <a:ext cx="731600" cy="524800"/>
          </a:xfrm>
          <a:prstGeom prst="rect">
            <a:avLst/>
          </a:prstGeom>
          <a:noFill/>
          <a:ln>
            <a:noFill/>
          </a:ln>
        </p:spPr>
        <p:txBody>
          <a:bodyPr spcFirstLastPara="1" wrap="square" lIns="121900" tIns="121900" rIns="121900" bIns="121900" anchor="ctr" anchorCtr="0">
            <a:normAutofit/>
          </a:bodyPr>
          <a:lstStyle/>
          <a:p>
            <a:pPr marL="0" lvl="0" indent="0" algn="r" rtl="0">
              <a:lnSpc>
                <a:spcPct val="100000"/>
              </a:lnSpc>
              <a:spcBef>
                <a:spcPts val="0"/>
              </a:spcBef>
              <a:spcAft>
                <a:spcPts val="0"/>
              </a:spcAft>
              <a:buSzPts val="1000"/>
              <a:buNone/>
            </a:pPr>
            <a:fld id="{00000000-1234-1234-1234-123412341234}" type="slidenum">
              <a:rPr lang="en-GB" sz="1600"/>
              <a:t>2</a:t>
            </a:fld>
            <a:endParaRPr lang="en-GB" sz="1600"/>
          </a:p>
        </p:txBody>
      </p:sp>
      <p:sp>
        <p:nvSpPr>
          <p:cNvPr id="167" name="Google Shape;167;p1"/>
          <p:cNvSpPr txBox="1"/>
          <p:nvPr/>
        </p:nvSpPr>
        <p:spPr>
          <a:xfrm>
            <a:off x="295033" y="5920417"/>
            <a:ext cx="3302000" cy="34861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700"/>
              <a:buFont typeface="Arial" panose="020B0604020202020204"/>
              <a:buNone/>
            </a:pPr>
            <a:r>
              <a:rPr lang="en-GB" sz="2265" b="0" i="0" u="none" strike="noStrike" cap="none">
                <a:solidFill>
                  <a:srgbClr val="FFFFFF"/>
                </a:solidFill>
                <a:latin typeface="Arial" panose="020B0604020202020204"/>
                <a:ea typeface="Arial" panose="020B0604020202020204"/>
                <a:cs typeface="Arial" panose="020B0604020202020204"/>
                <a:sym typeface="Arial" panose="020B0604020202020204"/>
              </a:rPr>
              <a:t>October 2024</a:t>
            </a:r>
            <a:endParaRPr sz="2265"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2" name="Google Shape;169;p1"/>
          <p:cNvSpPr txBox="1"/>
          <p:nvPr/>
        </p:nvSpPr>
        <p:spPr>
          <a:xfrm>
            <a:off x="1946033" y="2906056"/>
            <a:ext cx="8218384" cy="1082847"/>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500"/>
              <a:buFont typeface="Arial" panose="020B0604020202020204"/>
              <a:buNone/>
            </a:pPr>
            <a:r>
              <a:rPr lang="fr-FR" sz="4400" b="1"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rPr>
              <a:t>Prestation </a:t>
            </a:r>
            <a:r>
              <a:rPr lang="fr-FR" sz="3200" b="1"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rPr>
              <a:t> </a:t>
            </a:r>
            <a:endParaRPr sz="2000" b="1"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00"/>
              </a:buClr>
              <a:buSzPts val="1500"/>
              <a:buFont typeface="Arial" panose="020B0604020202020204"/>
              <a:buNone/>
            </a:pPr>
            <a:endParaRPr sz="2000" b="1"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00"/>
              </a:buClr>
              <a:buSzPts val="1500"/>
              <a:buFont typeface="Arial" panose="020B0604020202020204"/>
              <a:buNone/>
            </a:pPr>
            <a:r>
              <a:rPr lang="en-GB" sz="2000" b="1"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rPr>
              <a:t> </a:t>
            </a:r>
            <a:endParaRPr sz="1465"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500"/>
              <a:buFont typeface="Arial" panose="020B0604020202020204"/>
              <a:buNone/>
            </a:pPr>
            <a:endParaRPr lang="fr-FR" altLang="en-GB" sz="2000" b="1" i="1"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endParaRPr>
          </a:p>
        </p:txBody>
      </p:sp>
    </p:spTree>
    <p:extLst>
      <p:ext uri="{BB962C8B-B14F-4D97-AF65-F5344CB8AC3E}">
        <p14:creationId xmlns:p14="http://schemas.microsoft.com/office/powerpoint/2010/main" val="8924334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
          <p:cNvSpPr txBox="1">
            <a:spLocks noGrp="1"/>
          </p:cNvSpPr>
          <p:nvPr>
            <p:ph type="sldNum" idx="12"/>
          </p:nvPr>
        </p:nvSpPr>
        <p:spPr>
          <a:xfrm>
            <a:off x="11296611" y="6217623"/>
            <a:ext cx="731600" cy="524800"/>
          </a:xfrm>
          <a:prstGeom prst="rect">
            <a:avLst/>
          </a:prstGeom>
          <a:noFill/>
          <a:ln>
            <a:noFill/>
          </a:ln>
        </p:spPr>
        <p:txBody>
          <a:bodyPr spcFirstLastPara="1" wrap="square" lIns="121900" tIns="121900" rIns="121900" bIns="121900" anchor="ctr" anchorCtr="0">
            <a:normAutofit/>
          </a:bodyPr>
          <a:lstStyle/>
          <a:p>
            <a:pPr marL="0" lvl="0" indent="0" algn="r" rtl="0">
              <a:lnSpc>
                <a:spcPct val="100000"/>
              </a:lnSpc>
              <a:spcBef>
                <a:spcPts val="0"/>
              </a:spcBef>
              <a:spcAft>
                <a:spcPts val="0"/>
              </a:spcAft>
              <a:buSzPts val="1000"/>
              <a:buNone/>
            </a:pPr>
            <a:fld id="{00000000-1234-1234-1234-123412341234}" type="slidenum">
              <a:rPr lang="en-GB" sz="1600"/>
              <a:t>3</a:t>
            </a:fld>
            <a:endParaRPr lang="en-GB" sz="1600"/>
          </a:p>
        </p:txBody>
      </p:sp>
      <p:sp>
        <p:nvSpPr>
          <p:cNvPr id="167" name="Google Shape;167;p1"/>
          <p:cNvSpPr txBox="1"/>
          <p:nvPr/>
        </p:nvSpPr>
        <p:spPr>
          <a:xfrm>
            <a:off x="295033" y="5920417"/>
            <a:ext cx="3302000" cy="34861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700"/>
              <a:buFont typeface="Arial" panose="020B0604020202020204"/>
              <a:buNone/>
            </a:pPr>
            <a:r>
              <a:rPr lang="en-GB" sz="2265" b="0" i="0" u="none" strike="noStrike" cap="none">
                <a:solidFill>
                  <a:srgbClr val="FFFFFF"/>
                </a:solidFill>
                <a:latin typeface="Arial" panose="020B0604020202020204"/>
                <a:ea typeface="Arial" panose="020B0604020202020204"/>
                <a:cs typeface="Arial" panose="020B0604020202020204"/>
                <a:sym typeface="Arial" panose="020B0604020202020204"/>
              </a:rPr>
              <a:t>October 2024</a:t>
            </a:r>
            <a:endParaRPr sz="2265"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168" name="Google Shape;168;p1"/>
          <p:cNvPicPr preferRelativeResize="0"/>
          <p:nvPr/>
        </p:nvPicPr>
        <p:blipFill rotWithShape="1">
          <a:blip r:embed="rId18"/>
          <a:srcRect l="-17785"/>
          <a:stretch>
            <a:fillRect/>
          </a:stretch>
        </p:blipFill>
        <p:spPr>
          <a:xfrm>
            <a:off x="-683503" y="1646443"/>
            <a:ext cx="4526453" cy="3703151"/>
          </a:xfrm>
          <a:prstGeom prst="rect">
            <a:avLst/>
          </a:prstGeom>
          <a:noFill/>
          <a:ln>
            <a:noFill/>
          </a:ln>
        </p:spPr>
      </p:pic>
      <p:sp>
        <p:nvSpPr>
          <p:cNvPr id="170" name="Google Shape;170;p1"/>
          <p:cNvSpPr/>
          <p:nvPr/>
        </p:nvSpPr>
        <p:spPr>
          <a:xfrm>
            <a:off x="3660828" y="1516400"/>
            <a:ext cx="373600" cy="1867200"/>
          </a:xfrm>
          <a:prstGeom prst="rect">
            <a:avLst/>
          </a:prstGeom>
          <a:solidFill>
            <a:srgbClr val="145ABE"/>
          </a:solidFill>
          <a:ln>
            <a:noFill/>
          </a:ln>
        </p:spPr>
        <p:txBody>
          <a:bodyPr spcFirstLastPara="1" wrap="square" lIns="91433" tIns="91433" rIns="91433" bIns="91433" anchor="ctr" anchorCtr="0">
            <a:noAutofit/>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 name="Zone de texte 3"/>
          <p:cNvSpPr txBox="1"/>
          <p:nvPr/>
        </p:nvSpPr>
        <p:spPr>
          <a:xfrm>
            <a:off x="0" y="1652270"/>
            <a:ext cx="2216785" cy="829945"/>
          </a:xfrm>
          <a:prstGeom prst="rect">
            <a:avLst/>
          </a:prstGeom>
          <a:noFill/>
        </p:spPr>
        <p:txBody>
          <a:bodyPr wrap="square" rtlCol="0">
            <a:spAutoFit/>
          </a:bodyPr>
          <a:lstStyle/>
          <a:p>
            <a:r>
              <a:rPr lang="fr-FR" altLang="en-US" sz="4800">
                <a:solidFill>
                  <a:schemeClr val="bg1"/>
                </a:solidFill>
                <a:latin typeface="Arial Black" panose="020B0A04020102020204" charset="0"/>
                <a:cs typeface="Arial Black" panose="020B0A04020102020204" charset="0"/>
              </a:rPr>
              <a:t>PLAN</a:t>
            </a:r>
          </a:p>
        </p:txBody>
      </p:sp>
      <p:grpSp>
        <p:nvGrpSpPr>
          <p:cNvPr id="17" name="Grouper 16"/>
          <p:cNvGrpSpPr/>
          <p:nvPr>
            <p:custDataLst>
              <p:tags r:id="rId1"/>
            </p:custDataLst>
          </p:nvPr>
        </p:nvGrpSpPr>
        <p:grpSpPr>
          <a:xfrm>
            <a:off x="4811395" y="704215"/>
            <a:ext cx="6224905" cy="5868863"/>
            <a:chOff x="7577" y="1109"/>
            <a:chExt cx="9803" cy="9208"/>
          </a:xfrm>
        </p:grpSpPr>
        <p:sp>
          <p:nvSpPr>
            <p:cNvPr id="5" name="序号"/>
            <p:cNvSpPr txBox="1"/>
            <p:nvPr>
              <p:custDataLst>
                <p:tags r:id="rId2"/>
              </p:custDataLst>
            </p:nvPr>
          </p:nvSpPr>
          <p:spPr>
            <a:xfrm>
              <a:off x="7577" y="1357"/>
              <a:ext cx="1787" cy="1387"/>
            </a:xfrm>
            <a:prstGeom prst="rect">
              <a:avLst/>
            </a:prstGeom>
            <a:noFill/>
          </p:spPr>
          <p:txBody>
            <a:bodyPr wrap="none" lIns="0" tIns="0" rIns="0" bIns="0" rtlCol="0" anchor="ctr" anchorCtr="0">
              <a:noAutofit/>
            </a:bodyPr>
            <a:lstStyle/>
            <a:p>
              <a:pPr algn="r">
                <a:lnSpc>
                  <a:spcPct val="100000"/>
                </a:lnSpc>
              </a:pPr>
              <a:r>
                <a:rPr lang="en-US" sz="4400" b="1" dirty="0">
                  <a:solidFill>
                    <a:schemeClr val="accent1">
                      <a:lumMod val="75000"/>
                    </a:schemeClr>
                  </a:solidFill>
                  <a:latin typeface="+mj-lt"/>
                </a:rPr>
                <a:t>01</a:t>
              </a:r>
            </a:p>
          </p:txBody>
        </p:sp>
        <p:sp>
          <p:nvSpPr>
            <p:cNvPr id="6" name="项标题"/>
            <p:cNvSpPr txBox="1"/>
            <p:nvPr>
              <p:custDataLst>
                <p:tags r:id="rId3"/>
              </p:custDataLst>
            </p:nvPr>
          </p:nvSpPr>
          <p:spPr>
            <a:xfrm>
              <a:off x="10752" y="1109"/>
              <a:ext cx="6628" cy="1635"/>
            </a:xfrm>
            <a:prstGeom prst="rect">
              <a:avLst/>
            </a:prstGeom>
            <a:noFill/>
          </p:spPr>
          <p:txBody>
            <a:bodyPr wrap="square" lIns="0" tIns="0" rIns="0" bIns="0" rtlCol="0" anchor="ctr" anchorCtr="0">
              <a:normAutofit/>
            </a:bodyPr>
            <a:lstStyle/>
            <a:p>
              <a:pPr>
                <a:lnSpc>
                  <a:spcPct val="100000"/>
                </a:lnSpc>
              </a:pPr>
              <a:r>
                <a:rPr lang="fr-FR" altLang="en-US" sz="2400" b="1" dirty="0">
                  <a:solidFill>
                    <a:schemeClr val="tx1">
                      <a:lumMod val="85000"/>
                      <a:lumOff val="15000"/>
                    </a:schemeClr>
                  </a:solidFill>
                  <a:latin typeface="+mj-lt"/>
                  <a:cs typeface="+mj-lt"/>
                </a:rPr>
                <a:t>Rappel des objectifs</a:t>
              </a:r>
            </a:p>
          </p:txBody>
        </p:sp>
        <p:sp>
          <p:nvSpPr>
            <p:cNvPr id="7" name="序号"/>
            <p:cNvSpPr txBox="1"/>
            <p:nvPr>
              <p:custDataLst>
                <p:tags r:id="rId4"/>
              </p:custDataLst>
            </p:nvPr>
          </p:nvSpPr>
          <p:spPr>
            <a:xfrm>
              <a:off x="7577" y="2715"/>
              <a:ext cx="1787" cy="1162"/>
            </a:xfrm>
            <a:prstGeom prst="rect">
              <a:avLst/>
            </a:prstGeom>
            <a:noFill/>
          </p:spPr>
          <p:txBody>
            <a:bodyPr wrap="none" lIns="0" tIns="0" rIns="0" bIns="0" rtlCol="0" anchor="ctr" anchorCtr="0">
              <a:noAutofit/>
            </a:bodyPr>
            <a:lstStyle/>
            <a:p>
              <a:pPr algn="r">
                <a:lnSpc>
                  <a:spcPct val="100000"/>
                </a:lnSpc>
              </a:pPr>
              <a:r>
                <a:rPr lang="en-US" sz="4400" b="1">
                  <a:solidFill>
                    <a:schemeClr val="accent1">
                      <a:lumMod val="75000"/>
                    </a:schemeClr>
                  </a:solidFill>
                  <a:latin typeface="+mj-lt"/>
                </a:rPr>
                <a:t>02</a:t>
              </a:r>
            </a:p>
          </p:txBody>
        </p:sp>
        <p:sp>
          <p:nvSpPr>
            <p:cNvPr id="8" name="项标题"/>
            <p:cNvSpPr txBox="1"/>
            <p:nvPr>
              <p:custDataLst>
                <p:tags r:id="rId5"/>
              </p:custDataLst>
            </p:nvPr>
          </p:nvSpPr>
          <p:spPr>
            <a:xfrm>
              <a:off x="10752" y="2467"/>
              <a:ext cx="6628" cy="1409"/>
            </a:xfrm>
            <a:prstGeom prst="rect">
              <a:avLst/>
            </a:prstGeom>
            <a:noFill/>
          </p:spPr>
          <p:txBody>
            <a:bodyPr wrap="square" lIns="0" tIns="0" rIns="0" bIns="0" rtlCol="0" anchor="ctr" anchorCtr="0">
              <a:normAutofit/>
            </a:bodyPr>
            <a:lstStyle/>
            <a:p>
              <a:pPr>
                <a:lnSpc>
                  <a:spcPct val="100000"/>
                </a:lnSpc>
              </a:pPr>
              <a:r>
                <a:rPr lang="fr-FR" altLang="en-US" sz="2400" b="1" dirty="0">
                  <a:solidFill>
                    <a:schemeClr val="tx1">
                      <a:lumMod val="85000"/>
                      <a:lumOff val="15000"/>
                    </a:schemeClr>
                  </a:solidFill>
                  <a:latin typeface="+mj-lt"/>
                  <a:cs typeface="+mj-lt"/>
                </a:rPr>
                <a:t>Resultats PEV routine</a:t>
              </a:r>
            </a:p>
          </p:txBody>
        </p:sp>
        <p:sp>
          <p:nvSpPr>
            <p:cNvPr id="9" name="序号"/>
            <p:cNvSpPr txBox="1"/>
            <p:nvPr>
              <p:custDataLst>
                <p:tags r:id="rId6"/>
              </p:custDataLst>
            </p:nvPr>
          </p:nvSpPr>
          <p:spPr>
            <a:xfrm>
              <a:off x="7577" y="3909"/>
              <a:ext cx="1787" cy="1162"/>
            </a:xfrm>
            <a:prstGeom prst="rect">
              <a:avLst/>
            </a:prstGeom>
            <a:noFill/>
          </p:spPr>
          <p:txBody>
            <a:bodyPr wrap="none" lIns="0" tIns="0" rIns="0" bIns="0" rtlCol="0" anchor="ctr" anchorCtr="0">
              <a:noAutofit/>
            </a:bodyPr>
            <a:lstStyle/>
            <a:p>
              <a:pPr algn="r">
                <a:lnSpc>
                  <a:spcPct val="100000"/>
                </a:lnSpc>
              </a:pPr>
              <a:r>
                <a:rPr lang="en-US" sz="4400" b="1">
                  <a:solidFill>
                    <a:schemeClr val="accent1">
                      <a:lumMod val="75000"/>
                    </a:schemeClr>
                  </a:solidFill>
                  <a:latin typeface="+mj-lt"/>
                </a:rPr>
                <a:t>0</a:t>
              </a:r>
              <a:r>
                <a:rPr lang="fr-FR" altLang="en-US" sz="4400" b="1">
                  <a:solidFill>
                    <a:schemeClr val="accent1">
                      <a:lumMod val="75000"/>
                    </a:schemeClr>
                  </a:solidFill>
                  <a:latin typeface="+mj-lt"/>
                </a:rPr>
                <a:t>3</a:t>
              </a:r>
            </a:p>
          </p:txBody>
        </p:sp>
        <p:sp>
          <p:nvSpPr>
            <p:cNvPr id="10" name="项标题"/>
            <p:cNvSpPr txBox="1"/>
            <p:nvPr>
              <p:custDataLst>
                <p:tags r:id="rId7"/>
              </p:custDataLst>
            </p:nvPr>
          </p:nvSpPr>
          <p:spPr>
            <a:xfrm>
              <a:off x="10752" y="3661"/>
              <a:ext cx="6628" cy="1409"/>
            </a:xfrm>
            <a:prstGeom prst="rect">
              <a:avLst/>
            </a:prstGeom>
            <a:noFill/>
          </p:spPr>
          <p:txBody>
            <a:bodyPr wrap="square" lIns="0" tIns="0" rIns="0" bIns="0" rtlCol="0" anchor="ctr" anchorCtr="0">
              <a:normAutofit/>
            </a:bodyPr>
            <a:lstStyle/>
            <a:p>
              <a:pPr>
                <a:lnSpc>
                  <a:spcPct val="100000"/>
                </a:lnSpc>
              </a:pPr>
              <a:r>
                <a:rPr lang="fr-FR" altLang="en-US" sz="2400" b="1" dirty="0">
                  <a:solidFill>
                    <a:schemeClr val="tx1">
                      <a:lumMod val="85000"/>
                      <a:lumOff val="15000"/>
                    </a:schemeClr>
                  </a:solidFill>
                  <a:latin typeface="+mj-lt"/>
                  <a:cs typeface="+mj-lt"/>
                </a:rPr>
                <a:t>Résultats introduction nouveau vaccins </a:t>
              </a:r>
            </a:p>
          </p:txBody>
        </p:sp>
        <p:sp>
          <p:nvSpPr>
            <p:cNvPr id="11" name="序号"/>
            <p:cNvSpPr txBox="1"/>
            <p:nvPr>
              <p:custDataLst>
                <p:tags r:id="rId8"/>
              </p:custDataLst>
            </p:nvPr>
          </p:nvSpPr>
          <p:spPr>
            <a:xfrm>
              <a:off x="7577" y="5218"/>
              <a:ext cx="1787" cy="1162"/>
            </a:xfrm>
            <a:prstGeom prst="rect">
              <a:avLst/>
            </a:prstGeom>
            <a:noFill/>
          </p:spPr>
          <p:txBody>
            <a:bodyPr wrap="none" lIns="0" tIns="0" rIns="0" bIns="0" rtlCol="0" anchor="ctr" anchorCtr="0">
              <a:noAutofit/>
            </a:bodyPr>
            <a:lstStyle/>
            <a:p>
              <a:pPr algn="r">
                <a:lnSpc>
                  <a:spcPct val="100000"/>
                </a:lnSpc>
              </a:pPr>
              <a:r>
                <a:rPr lang="en-US" sz="4400" b="1">
                  <a:solidFill>
                    <a:schemeClr val="accent1">
                      <a:lumMod val="75000"/>
                    </a:schemeClr>
                  </a:solidFill>
                  <a:latin typeface="+mj-lt"/>
                </a:rPr>
                <a:t>0</a:t>
              </a:r>
              <a:r>
                <a:rPr lang="fr-FR" altLang="en-US" sz="4400" b="1">
                  <a:solidFill>
                    <a:schemeClr val="accent1">
                      <a:lumMod val="75000"/>
                    </a:schemeClr>
                  </a:solidFill>
                  <a:latin typeface="+mj-lt"/>
                </a:rPr>
                <a:t>4</a:t>
              </a:r>
            </a:p>
          </p:txBody>
        </p:sp>
        <p:sp>
          <p:nvSpPr>
            <p:cNvPr id="12" name="项标题"/>
            <p:cNvSpPr txBox="1"/>
            <p:nvPr>
              <p:custDataLst>
                <p:tags r:id="rId9"/>
              </p:custDataLst>
            </p:nvPr>
          </p:nvSpPr>
          <p:spPr>
            <a:xfrm>
              <a:off x="10752" y="4970"/>
              <a:ext cx="6628" cy="1409"/>
            </a:xfrm>
            <a:prstGeom prst="rect">
              <a:avLst/>
            </a:prstGeom>
            <a:noFill/>
          </p:spPr>
          <p:txBody>
            <a:bodyPr wrap="square" lIns="0" tIns="0" rIns="0" bIns="0" rtlCol="0" anchor="ctr" anchorCtr="0">
              <a:normAutofit/>
            </a:bodyPr>
            <a:lstStyle/>
            <a:p>
              <a:pPr>
                <a:lnSpc>
                  <a:spcPct val="100000"/>
                </a:lnSpc>
              </a:pPr>
              <a:r>
                <a:rPr lang="fr-FR" altLang="en-US" sz="2400" b="1" dirty="0">
                  <a:solidFill>
                    <a:schemeClr val="tx1">
                      <a:lumMod val="85000"/>
                      <a:lumOff val="15000"/>
                    </a:schemeClr>
                  </a:solidFill>
                  <a:latin typeface="+mj-lt"/>
                  <a:cs typeface="+mj-lt"/>
                </a:rPr>
                <a:t>Analyse FFOM</a:t>
              </a:r>
            </a:p>
          </p:txBody>
        </p:sp>
        <p:sp>
          <p:nvSpPr>
            <p:cNvPr id="13" name="序号"/>
            <p:cNvSpPr txBox="1"/>
            <p:nvPr>
              <p:custDataLst>
                <p:tags r:id="rId10"/>
              </p:custDataLst>
            </p:nvPr>
          </p:nvSpPr>
          <p:spPr>
            <a:xfrm>
              <a:off x="7577" y="6324"/>
              <a:ext cx="1787" cy="1162"/>
            </a:xfrm>
            <a:prstGeom prst="rect">
              <a:avLst/>
            </a:prstGeom>
            <a:noFill/>
          </p:spPr>
          <p:txBody>
            <a:bodyPr wrap="none" lIns="0" tIns="0" rIns="0" bIns="0" rtlCol="0" anchor="ctr" anchorCtr="0">
              <a:noAutofit/>
            </a:bodyPr>
            <a:lstStyle/>
            <a:p>
              <a:pPr algn="r">
                <a:lnSpc>
                  <a:spcPct val="100000"/>
                </a:lnSpc>
              </a:pPr>
              <a:r>
                <a:rPr lang="en-US" sz="4400" b="1">
                  <a:solidFill>
                    <a:schemeClr val="accent1">
                      <a:lumMod val="75000"/>
                    </a:schemeClr>
                  </a:solidFill>
                  <a:latin typeface="+mj-lt"/>
                </a:rPr>
                <a:t>0</a:t>
              </a:r>
              <a:r>
                <a:rPr lang="fr-FR" altLang="en-US" sz="4400" b="1">
                  <a:solidFill>
                    <a:schemeClr val="accent1">
                      <a:lumMod val="75000"/>
                    </a:schemeClr>
                  </a:solidFill>
                  <a:latin typeface="+mj-lt"/>
                </a:rPr>
                <a:t>5</a:t>
              </a:r>
            </a:p>
          </p:txBody>
        </p:sp>
        <p:sp>
          <p:nvSpPr>
            <p:cNvPr id="14" name="项标题"/>
            <p:cNvSpPr txBox="1"/>
            <p:nvPr>
              <p:custDataLst>
                <p:tags r:id="rId11"/>
              </p:custDataLst>
            </p:nvPr>
          </p:nvSpPr>
          <p:spPr>
            <a:xfrm>
              <a:off x="10752" y="6166"/>
              <a:ext cx="6628" cy="1409"/>
            </a:xfrm>
            <a:prstGeom prst="rect">
              <a:avLst/>
            </a:prstGeom>
            <a:noFill/>
          </p:spPr>
          <p:txBody>
            <a:bodyPr wrap="square" lIns="0" tIns="0" rIns="0" bIns="0" rtlCol="0" anchor="ctr" anchorCtr="0">
              <a:normAutofit/>
            </a:bodyPr>
            <a:lstStyle/>
            <a:p>
              <a:pPr>
                <a:lnSpc>
                  <a:spcPct val="100000"/>
                </a:lnSpc>
              </a:pPr>
              <a:r>
                <a:rPr lang="fr-FR" altLang="en-US" sz="2400" b="1" dirty="0">
                  <a:solidFill>
                    <a:schemeClr val="tx1">
                      <a:lumMod val="85000"/>
                      <a:lumOff val="15000"/>
                    </a:schemeClr>
                  </a:solidFill>
                  <a:latin typeface="+mj-lt"/>
                  <a:cs typeface="+mj-lt"/>
                </a:rPr>
                <a:t>Problèmes /Défis</a:t>
              </a:r>
            </a:p>
          </p:txBody>
        </p:sp>
        <p:sp>
          <p:nvSpPr>
            <p:cNvPr id="15" name="序号"/>
            <p:cNvSpPr txBox="1"/>
            <p:nvPr>
              <p:custDataLst>
                <p:tags r:id="rId12"/>
              </p:custDataLst>
            </p:nvPr>
          </p:nvSpPr>
          <p:spPr>
            <a:xfrm>
              <a:off x="7577" y="7623"/>
              <a:ext cx="1787" cy="1162"/>
            </a:xfrm>
            <a:prstGeom prst="rect">
              <a:avLst/>
            </a:prstGeom>
            <a:noFill/>
          </p:spPr>
          <p:txBody>
            <a:bodyPr wrap="none" lIns="0" tIns="0" rIns="0" bIns="0" rtlCol="0" anchor="ctr" anchorCtr="0">
              <a:noAutofit/>
            </a:bodyPr>
            <a:lstStyle/>
            <a:p>
              <a:pPr algn="r">
                <a:lnSpc>
                  <a:spcPct val="100000"/>
                </a:lnSpc>
              </a:pPr>
              <a:r>
                <a:rPr lang="en-US" sz="4400" b="1">
                  <a:solidFill>
                    <a:schemeClr val="accent1">
                      <a:lumMod val="75000"/>
                    </a:schemeClr>
                  </a:solidFill>
                  <a:latin typeface="+mj-lt"/>
                </a:rPr>
                <a:t>0</a:t>
              </a:r>
              <a:r>
                <a:rPr lang="fr-FR" altLang="en-US" sz="4400" b="1">
                  <a:solidFill>
                    <a:schemeClr val="accent1">
                      <a:lumMod val="75000"/>
                    </a:schemeClr>
                  </a:solidFill>
                  <a:latin typeface="+mj-lt"/>
                </a:rPr>
                <a:t>6</a:t>
              </a:r>
            </a:p>
          </p:txBody>
        </p:sp>
        <p:sp>
          <p:nvSpPr>
            <p:cNvPr id="16" name="项标题"/>
            <p:cNvSpPr txBox="1"/>
            <p:nvPr>
              <p:custDataLst>
                <p:tags r:id="rId13"/>
              </p:custDataLst>
            </p:nvPr>
          </p:nvSpPr>
          <p:spPr>
            <a:xfrm>
              <a:off x="10752" y="7495"/>
              <a:ext cx="6628" cy="1409"/>
            </a:xfrm>
            <a:prstGeom prst="rect">
              <a:avLst/>
            </a:prstGeom>
            <a:noFill/>
          </p:spPr>
          <p:txBody>
            <a:bodyPr wrap="square" lIns="0" tIns="0" rIns="0" bIns="0" rtlCol="0" anchor="ctr" anchorCtr="0">
              <a:normAutofit fontScale="97500"/>
            </a:bodyPr>
            <a:lstStyle/>
            <a:p>
              <a:pPr>
                <a:lnSpc>
                  <a:spcPct val="100000"/>
                </a:lnSpc>
              </a:pPr>
              <a:r>
                <a:rPr lang="fr-FR" altLang="en-US" sz="2400" b="1" dirty="0">
                  <a:solidFill>
                    <a:schemeClr val="tx1">
                      <a:lumMod val="85000"/>
                      <a:lumOff val="15000"/>
                    </a:schemeClr>
                  </a:solidFill>
                  <a:latin typeface="+mj-lt"/>
                  <a:cs typeface="+mj-lt"/>
                </a:rPr>
                <a:t>Piste de solution/Recommandations</a:t>
              </a:r>
            </a:p>
          </p:txBody>
        </p:sp>
        <p:sp>
          <p:nvSpPr>
            <p:cNvPr id="18" name="序号"/>
            <p:cNvSpPr txBox="1"/>
            <p:nvPr>
              <p:custDataLst>
                <p:tags r:id="rId14"/>
              </p:custDataLst>
            </p:nvPr>
          </p:nvSpPr>
          <p:spPr>
            <a:xfrm>
              <a:off x="7577" y="8977"/>
              <a:ext cx="1787" cy="1162"/>
            </a:xfrm>
            <a:prstGeom prst="rect">
              <a:avLst/>
            </a:prstGeom>
            <a:noFill/>
          </p:spPr>
          <p:txBody>
            <a:bodyPr wrap="none" lIns="0" tIns="0" rIns="0" bIns="0" rtlCol="0" anchor="ctr" anchorCtr="0">
              <a:noAutofit/>
            </a:bodyPr>
            <a:lstStyle/>
            <a:p>
              <a:pPr algn="r">
                <a:lnSpc>
                  <a:spcPct val="100000"/>
                </a:lnSpc>
              </a:pPr>
              <a:r>
                <a:rPr lang="en-US" sz="4400" b="1">
                  <a:solidFill>
                    <a:schemeClr val="accent1">
                      <a:lumMod val="75000"/>
                    </a:schemeClr>
                  </a:solidFill>
                  <a:latin typeface="+mj-lt"/>
                </a:rPr>
                <a:t>0</a:t>
              </a:r>
              <a:r>
                <a:rPr lang="fr-FR" altLang="en-US" sz="4400" b="1">
                  <a:solidFill>
                    <a:schemeClr val="accent1">
                      <a:lumMod val="75000"/>
                    </a:schemeClr>
                  </a:solidFill>
                  <a:latin typeface="+mj-lt"/>
                </a:rPr>
                <a:t>7</a:t>
              </a:r>
            </a:p>
          </p:txBody>
        </p:sp>
        <p:sp>
          <p:nvSpPr>
            <p:cNvPr id="19" name="项标题"/>
            <p:cNvSpPr txBox="1"/>
            <p:nvPr>
              <p:custDataLst>
                <p:tags r:id="rId15"/>
              </p:custDataLst>
            </p:nvPr>
          </p:nvSpPr>
          <p:spPr>
            <a:xfrm>
              <a:off x="10752" y="8909"/>
              <a:ext cx="6628" cy="1409"/>
            </a:xfrm>
            <a:prstGeom prst="rect">
              <a:avLst/>
            </a:prstGeom>
            <a:noFill/>
          </p:spPr>
          <p:txBody>
            <a:bodyPr wrap="square" lIns="0" tIns="0" rIns="0" bIns="0" rtlCol="0" anchor="ctr" anchorCtr="0">
              <a:normAutofit/>
            </a:bodyPr>
            <a:lstStyle/>
            <a:p>
              <a:pPr>
                <a:lnSpc>
                  <a:spcPct val="100000"/>
                </a:lnSpc>
              </a:pPr>
              <a:r>
                <a:rPr lang="fr-FR" altLang="en-US" sz="2400" b="1" dirty="0">
                  <a:solidFill>
                    <a:schemeClr val="tx1">
                      <a:lumMod val="85000"/>
                      <a:lumOff val="15000"/>
                    </a:schemeClr>
                  </a:solidFill>
                  <a:latin typeface="+mj-lt"/>
                  <a:cs typeface="+mj-lt"/>
                </a:rPr>
                <a:t>Actions prioritaires 2025</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6"/>
          <p:cNvSpPr txBox="1"/>
          <p:nvPr/>
        </p:nvSpPr>
        <p:spPr>
          <a:xfrm>
            <a:off x="458592" y="317941"/>
            <a:ext cx="11274800" cy="731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SzPts val="1100"/>
              <a:buNone/>
            </a:pPr>
            <a:r>
              <a:rPr lang="fr-FR" altLang="en-GB" sz="2665" b="1">
                <a:solidFill>
                  <a:srgbClr val="1155CC"/>
                </a:solidFill>
                <a:latin typeface="Times New Roman" panose="02020603050405020304"/>
                <a:ea typeface="Times New Roman" panose="02020603050405020304"/>
                <a:cs typeface="Times New Roman" panose="02020603050405020304"/>
                <a:sym typeface="Times New Roman" panose="02020603050405020304"/>
              </a:rPr>
              <a:t>Objectifs </a:t>
            </a:r>
            <a:endParaRPr lang="fr-FR" altLang="en-GB" sz="3200" b="1">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2" name="Google Shape;222;p16"/>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spcBef>
                <a:spcPts val="0"/>
              </a:spcBef>
              <a:spcAft>
                <a:spcPts val="0"/>
              </a:spcAft>
              <a:buNone/>
            </a:pPr>
            <a:endParaRPr sz="1865">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223" name="Google Shape;223;p16"/>
          <p:cNvCxnSpPr/>
          <p:nvPr/>
        </p:nvCxnSpPr>
        <p:spPr>
          <a:xfrm>
            <a:off x="267700" y="6427967"/>
            <a:ext cx="11640400" cy="0"/>
          </a:xfrm>
          <a:prstGeom prst="straightConnector1">
            <a:avLst/>
          </a:prstGeom>
          <a:noFill/>
          <a:ln w="9525" cap="flat" cmpd="sng">
            <a:solidFill>
              <a:srgbClr val="9E9E9E"/>
            </a:solidFill>
            <a:prstDash val="solid"/>
            <a:round/>
            <a:headEnd type="none" w="med" len="med"/>
            <a:tailEnd type="none" w="med" len="med"/>
          </a:ln>
        </p:spPr>
      </p:cxnSp>
      <p:sp>
        <p:nvSpPr>
          <p:cNvPr id="224" name="Google Shape;224;p16"/>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grpSp>
        <p:nvGrpSpPr>
          <p:cNvPr id="2" name="Grouper 1"/>
          <p:cNvGrpSpPr/>
          <p:nvPr/>
        </p:nvGrpSpPr>
        <p:grpSpPr>
          <a:xfrm>
            <a:off x="1715654" y="1382395"/>
            <a:ext cx="6011178" cy="4749851"/>
            <a:chOff x="-3026" y="1774"/>
            <a:chExt cx="7631" cy="4145"/>
          </a:xfrm>
        </p:grpSpPr>
        <p:sp>
          <p:nvSpPr>
            <p:cNvPr id="235" name="Google Shape;235;p17"/>
            <p:cNvSpPr/>
            <p:nvPr/>
          </p:nvSpPr>
          <p:spPr>
            <a:xfrm>
              <a:off x="542" y="1774"/>
              <a:ext cx="4063" cy="492"/>
            </a:xfrm>
            <a:prstGeom prst="rect">
              <a:avLst/>
            </a:prstGeom>
            <a:noFill/>
            <a:ln>
              <a:noFill/>
            </a:ln>
          </p:spPr>
          <p:txBody>
            <a:bodyPr spcFirstLastPara="1" wrap="square" lIns="91425" tIns="91425" rIns="91425" bIns="91425" anchor="ctr" anchorCtr="0">
              <a:noAutofit/>
            </a:bodyPr>
            <a:lstStyle/>
            <a:p>
              <a:pPr algn="ctr"/>
              <a:r>
                <a:rPr lang="fr-FR" altLang="en-GB" sz="2400" b="1" dirty="0" err="1">
                  <a:latin typeface="Times New Roman" panose="02020603050405020304"/>
                  <a:ea typeface="Times New Roman" panose="02020603050405020304"/>
                  <a:cs typeface="Times New Roman" panose="02020603050405020304"/>
                  <a:sym typeface="Times New Roman" panose="02020603050405020304"/>
                </a:rPr>
                <a:t>Objecti</a:t>
              </a:r>
              <a:r>
                <a:rPr lang="" altLang="fr-FR" sz="2400" b="1" dirty="0">
                  <a:latin typeface="Times New Roman" panose="02020603050405020304"/>
                  <a:ea typeface="Times New Roman" panose="02020603050405020304"/>
                  <a:cs typeface="Times New Roman" panose="02020603050405020304"/>
                  <a:sym typeface="Times New Roman" panose="02020603050405020304"/>
                </a:rPr>
                <a:t>fs PAO 2025</a:t>
              </a:r>
            </a:p>
          </p:txBody>
        </p:sp>
        <p:sp>
          <p:nvSpPr>
            <p:cNvPr id="236" name="Google Shape;236;p17"/>
            <p:cNvSpPr/>
            <p:nvPr/>
          </p:nvSpPr>
          <p:spPr>
            <a:xfrm>
              <a:off x="-3026" y="2447"/>
              <a:ext cx="4411" cy="3472"/>
            </a:xfrm>
            <a:prstGeom prst="rect">
              <a:avLst/>
            </a:prstGeom>
            <a:solidFill>
              <a:srgbClr val="F2F2F2"/>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205740" lvl="0" indent="-171450">
                <a:spcBef>
                  <a:spcPts val="600"/>
                </a:spcBef>
                <a:spcAft>
                  <a:spcPts val="600"/>
                </a:spcAft>
                <a:buFont typeface="Arial" panose="020B0604020202020204" pitchFamily="34" charset="0"/>
                <a:buChar char="•"/>
                <a:tabLst>
                  <a:tab pos="0" algn="l"/>
                </a:tabLst>
              </a:pPr>
              <a:r>
                <a:rPr lang="fr-FR" sz="16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Réduire de 20% à 10% le nombre d'enfants 0 dose et de 42% à 25% le nombre d'enfants sous vaccinés d'ici fin décembre 2025;</a:t>
              </a:r>
            </a:p>
            <a:p>
              <a:pPr marL="205740" lvl="0" indent="-171450">
                <a:spcBef>
                  <a:spcPts val="600"/>
                </a:spcBef>
                <a:spcAft>
                  <a:spcPts val="600"/>
                </a:spcAft>
                <a:buFont typeface="Arial" panose="020B0604020202020204" pitchFamily="34" charset="0"/>
                <a:buChar char="•"/>
                <a:tabLst>
                  <a:tab pos="0" algn="l"/>
                </a:tabLst>
              </a:pPr>
              <a:r>
                <a:rPr lang="fr-FR" sz="16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Etendre la protection des enfants contre les maladies à prévention vaccinale :</a:t>
              </a:r>
            </a:p>
            <a:p>
              <a:pPr marL="662940" lvl="1" indent="-171450">
                <a:spcBef>
                  <a:spcPts val="600"/>
                </a:spcBef>
                <a:spcAft>
                  <a:spcPts val="600"/>
                </a:spcAft>
                <a:buFont typeface="Wingdings" panose="05000000000000000000" pitchFamily="2" charset="2"/>
                <a:buChar char="q"/>
                <a:tabLst>
                  <a:tab pos="0" algn="l"/>
                </a:tabLst>
              </a:pPr>
              <a:r>
                <a:rPr lang="fr-FR" sz="16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Introduire le vaccin contre la rougeole rubéole dans le PEV de routine 2025</a:t>
              </a:r>
            </a:p>
            <a:p>
              <a:pPr marL="662940" lvl="1" indent="-171450">
                <a:spcBef>
                  <a:spcPts val="600"/>
                </a:spcBef>
                <a:spcAft>
                  <a:spcPts val="600"/>
                </a:spcAft>
                <a:buFont typeface="Wingdings" panose="05000000000000000000" pitchFamily="2" charset="2"/>
                <a:buChar char="q"/>
                <a:tabLst>
                  <a:tab pos="0" algn="l"/>
                </a:tabLst>
              </a:pPr>
              <a:r>
                <a:rPr lang="fr-FR" sz="16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Etendre l’introduction du vaccin contre le paludisme</a:t>
              </a:r>
            </a:p>
          </p:txBody>
        </p:sp>
      </p:grpSp>
      <p:grpSp>
        <p:nvGrpSpPr>
          <p:cNvPr id="5" name="Grouper 4"/>
          <p:cNvGrpSpPr/>
          <p:nvPr/>
        </p:nvGrpSpPr>
        <p:grpSpPr>
          <a:xfrm>
            <a:off x="6427694" y="1946189"/>
            <a:ext cx="4437529" cy="4715667"/>
            <a:chOff x="12263" y="4105"/>
            <a:chExt cx="6457" cy="6386"/>
          </a:xfrm>
        </p:grpSpPr>
        <p:sp>
          <p:nvSpPr>
            <p:cNvPr id="225" name="Google Shape;225;p16"/>
            <p:cNvSpPr txBox="1"/>
            <p:nvPr/>
          </p:nvSpPr>
          <p:spPr>
            <a:xfrm>
              <a:off x="18360" y="10230"/>
              <a:ext cx="360" cy="261"/>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GB" sz="1200">
                  <a:solidFill>
                    <a:srgbClr val="1155CC"/>
                  </a:solidFill>
                  <a:latin typeface="Source Serif Pro"/>
                  <a:ea typeface="Source Serif Pro"/>
                  <a:cs typeface="Source Serif Pro"/>
                  <a:sym typeface="Source Serif Pro"/>
                </a:rPr>
                <a:t>4</a:t>
              </a:fld>
              <a:endParaRPr sz="1200">
                <a:solidFill>
                  <a:srgbClr val="1155CC"/>
                </a:solidFill>
                <a:latin typeface="Source Serif Pro"/>
                <a:ea typeface="Source Serif Pro"/>
                <a:cs typeface="Source Serif Pro"/>
                <a:sym typeface="Source Serif Pro"/>
              </a:endParaRPr>
            </a:p>
          </p:txBody>
        </p:sp>
        <p:sp>
          <p:nvSpPr>
            <p:cNvPr id="3" name="Google Shape;236;p17"/>
            <p:cNvSpPr/>
            <p:nvPr/>
          </p:nvSpPr>
          <p:spPr>
            <a:xfrm>
              <a:off x="12263" y="4300"/>
              <a:ext cx="6097" cy="5601"/>
            </a:xfrm>
            <a:prstGeom prst="rect">
              <a:avLst/>
            </a:prstGeom>
            <a:solidFill>
              <a:srgbClr val="F2F2F2"/>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205740" lvl="0" indent="-171450">
                <a:spcBef>
                  <a:spcPts val="600"/>
                </a:spcBef>
                <a:spcAft>
                  <a:spcPts val="600"/>
                </a:spcAft>
                <a:buFont typeface="Arial" panose="020B0604020202020204" pitchFamily="34" charset="0"/>
                <a:buChar char="•"/>
                <a:tabLst>
                  <a:tab pos="0" algn="l"/>
                </a:tabLst>
              </a:pPr>
              <a:r>
                <a:rPr lang="fr-FR" sz="16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Pop. Total : </a:t>
              </a:r>
              <a:r>
                <a:rPr lang="fr-FR" sz="1600" b="1" dirty="0"/>
                <a:t> </a:t>
              </a:r>
              <a:r>
                <a:rPr lang="fr-FR" sz="1600" b="1" dirty="0">
                  <a:solidFill>
                    <a:schemeClr val="dk1"/>
                  </a:solidFill>
                  <a:latin typeface="Times New Roman" panose="02020603050405020304"/>
                  <a:ea typeface="Times New Roman" panose="02020603050405020304"/>
                  <a:cs typeface="Times New Roman" panose="02020603050405020304"/>
                </a:rPr>
                <a:t>128 576 222</a:t>
              </a:r>
              <a:endParaRPr lang="fr-FR" sz="16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05740" lvl="0" indent="-171450">
                <a:spcBef>
                  <a:spcPts val="600"/>
                </a:spcBef>
                <a:spcAft>
                  <a:spcPts val="600"/>
                </a:spcAft>
                <a:buFont typeface="Arial" panose="020B0604020202020204" pitchFamily="34" charset="0"/>
                <a:buChar char="•"/>
                <a:tabLst>
                  <a:tab pos="0" algn="l"/>
                </a:tabLst>
              </a:pPr>
              <a:r>
                <a:rPr lang="fr-FR" sz="1600" dirty="0">
                  <a:solidFill>
                    <a:schemeClr val="dk1"/>
                  </a:solidFill>
                  <a:latin typeface="Times New Roman" panose="02020603050405020304"/>
                  <a:ea typeface="Times New Roman" panose="02020603050405020304"/>
                  <a:cs typeface="Times New Roman" panose="02020603050405020304"/>
                  <a:sym typeface="Times New Roman" panose="02020603050405020304"/>
                </a:rPr>
                <a:t>Naissances  Vivantes (4%): </a:t>
              </a:r>
              <a:r>
                <a:rPr lang="fr-FR" sz="1600" dirty="0">
                  <a:solidFill>
                    <a:schemeClr val="dk1"/>
                  </a:solidFill>
                  <a:latin typeface="Times New Roman" panose="02020603050405020304"/>
                  <a:ea typeface="Times New Roman" panose="02020603050405020304"/>
                  <a:cs typeface="Times New Roman" panose="02020603050405020304"/>
                </a:rPr>
                <a:t> </a:t>
              </a:r>
              <a:r>
                <a:rPr lang="fr-FR" sz="1600" b="1" dirty="0">
                  <a:solidFill>
                    <a:schemeClr val="dk1"/>
                  </a:solidFill>
                  <a:latin typeface="Times New Roman" panose="02020603050405020304"/>
                  <a:ea typeface="Times New Roman" panose="02020603050405020304"/>
                  <a:cs typeface="Times New Roman" panose="02020603050405020304"/>
                </a:rPr>
                <a:t>5 143 046 </a:t>
              </a:r>
              <a:endParaRPr lang="fr-FR" sz="16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05740" lvl="0" indent="-171450">
                <a:spcBef>
                  <a:spcPts val="600"/>
                </a:spcBef>
                <a:spcAft>
                  <a:spcPts val="600"/>
                </a:spcAft>
                <a:buFont typeface="Arial" panose="020B0604020202020204" pitchFamily="34" charset="0"/>
                <a:buChar char="•"/>
                <a:tabLst>
                  <a:tab pos="0" algn="l"/>
                </a:tabLst>
              </a:pPr>
              <a:r>
                <a:rPr lang="fr-FR" sz="1600" dirty="0">
                  <a:solidFill>
                    <a:schemeClr val="dk1"/>
                  </a:solidFill>
                  <a:latin typeface="Times New Roman" panose="02020603050405020304"/>
                  <a:ea typeface="Times New Roman" panose="02020603050405020304"/>
                  <a:cs typeface="Times New Roman" panose="02020603050405020304"/>
                </a:rPr>
                <a:t>Nourrissons Survivants (3,49%): </a:t>
              </a:r>
              <a:r>
                <a:rPr lang="fr-FR" sz="1600" b="1" dirty="0">
                  <a:solidFill>
                    <a:schemeClr val="dk1"/>
                  </a:solidFill>
                  <a:latin typeface="Times New Roman" panose="02020603050405020304"/>
                  <a:ea typeface="Times New Roman" panose="02020603050405020304"/>
                  <a:cs typeface="Times New Roman" panose="02020603050405020304"/>
                </a:rPr>
                <a:t>4 487 310</a:t>
              </a:r>
              <a:endParaRPr lang="fr-FR" sz="1600" b="1"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205740" lvl="0" indent="-171450">
                <a:spcBef>
                  <a:spcPts val="600"/>
                </a:spcBef>
                <a:spcAft>
                  <a:spcPts val="600"/>
                </a:spcAft>
                <a:buFont typeface="Arial" panose="020B0604020202020204" pitchFamily="34" charset="0"/>
                <a:buChar char="•"/>
                <a:tabLst>
                  <a:tab pos="0" algn="l"/>
                </a:tabLst>
              </a:pPr>
              <a:r>
                <a:rPr lang="fr-FR" sz="16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Enfants de 0-11 mois, 12 à 23 mois (dans le cadre de la vaccination de routine) ;</a:t>
              </a:r>
            </a:p>
            <a:p>
              <a:pPr marL="205740" lvl="0" indent="-171450">
                <a:spcBef>
                  <a:spcPts val="600"/>
                </a:spcBef>
                <a:spcAft>
                  <a:spcPts val="600"/>
                </a:spcAft>
                <a:buFont typeface="Arial" panose="020B0604020202020204" pitchFamily="34" charset="0"/>
                <a:buChar char="•"/>
                <a:tabLst>
                  <a:tab pos="0" algn="l"/>
                </a:tabLst>
              </a:pPr>
              <a:r>
                <a:rPr lang="fr-FR" sz="1600" b="1" dirty="0">
                  <a:solidFill>
                    <a:schemeClr val="dk1"/>
                  </a:solidFill>
                  <a:latin typeface="Times New Roman" panose="02020603050405020304"/>
                  <a:ea typeface="Times New Roman" panose="02020603050405020304"/>
                  <a:cs typeface="Times New Roman" panose="02020603050405020304"/>
                  <a:sym typeface="Times New Roman" panose="02020603050405020304"/>
                </a:rPr>
                <a:t>Enfants de 24 à 59 mois (dans le cadre de la récupération d’EZD et ESV) ;</a:t>
              </a:r>
            </a:p>
          </p:txBody>
        </p:sp>
        <p:sp>
          <p:nvSpPr>
            <p:cNvPr id="4" name="Google Shape;235;p17"/>
            <p:cNvSpPr/>
            <p:nvPr/>
          </p:nvSpPr>
          <p:spPr>
            <a:xfrm>
              <a:off x="12695" y="4105"/>
              <a:ext cx="4896" cy="788"/>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altLang="en-GB" sz="2400" b="1" dirty="0">
                  <a:latin typeface="Times New Roman" panose="02020603050405020304"/>
                  <a:ea typeface="Times New Roman" panose="02020603050405020304"/>
                  <a:cs typeface="Times New Roman" panose="02020603050405020304"/>
                  <a:sym typeface="Times New Roman" panose="02020603050405020304"/>
                </a:rPr>
                <a:t>Cibles 2025</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
          <p:cNvSpPr txBox="1">
            <a:spLocks noGrp="1"/>
          </p:cNvSpPr>
          <p:nvPr>
            <p:ph type="sldNum" idx="12"/>
          </p:nvPr>
        </p:nvSpPr>
        <p:spPr>
          <a:xfrm>
            <a:off x="11296611" y="6217623"/>
            <a:ext cx="731600" cy="524800"/>
          </a:xfrm>
          <a:prstGeom prst="rect">
            <a:avLst/>
          </a:prstGeom>
          <a:noFill/>
          <a:ln>
            <a:noFill/>
          </a:ln>
        </p:spPr>
        <p:txBody>
          <a:bodyPr spcFirstLastPara="1" wrap="square" lIns="121900" tIns="121900" rIns="121900" bIns="121900" anchor="ctr" anchorCtr="0">
            <a:normAutofit/>
          </a:bodyPr>
          <a:lstStyle/>
          <a:p>
            <a:pPr marL="0" lvl="0" indent="0" algn="r" rtl="0">
              <a:lnSpc>
                <a:spcPct val="100000"/>
              </a:lnSpc>
              <a:spcBef>
                <a:spcPts val="0"/>
              </a:spcBef>
              <a:spcAft>
                <a:spcPts val="0"/>
              </a:spcAft>
              <a:buSzPts val="1000"/>
              <a:buNone/>
            </a:pPr>
            <a:fld id="{00000000-1234-1234-1234-123412341234}" type="slidenum">
              <a:rPr lang="en-GB" sz="1600"/>
              <a:t>5</a:t>
            </a:fld>
            <a:endParaRPr lang="en-GB" sz="1600"/>
          </a:p>
        </p:txBody>
      </p:sp>
      <p:sp>
        <p:nvSpPr>
          <p:cNvPr id="167" name="Google Shape;167;p1"/>
          <p:cNvSpPr txBox="1"/>
          <p:nvPr/>
        </p:nvSpPr>
        <p:spPr>
          <a:xfrm>
            <a:off x="295033" y="5920417"/>
            <a:ext cx="3302000" cy="34861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700"/>
              <a:buFont typeface="Arial" panose="020B0604020202020204"/>
              <a:buNone/>
            </a:pPr>
            <a:r>
              <a:rPr lang="en-GB" sz="2265" b="0" i="0" u="none" strike="noStrike" cap="none">
                <a:solidFill>
                  <a:srgbClr val="FFFFFF"/>
                </a:solidFill>
                <a:latin typeface="Arial" panose="020B0604020202020204"/>
                <a:ea typeface="Arial" panose="020B0604020202020204"/>
                <a:cs typeface="Arial" panose="020B0604020202020204"/>
                <a:sym typeface="Arial" panose="020B0604020202020204"/>
              </a:rPr>
              <a:t>October 2024</a:t>
            </a:r>
            <a:endParaRPr sz="2265"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168" name="Google Shape;168;p1"/>
          <p:cNvPicPr preferRelativeResize="0"/>
          <p:nvPr/>
        </p:nvPicPr>
        <p:blipFill rotWithShape="1">
          <a:blip r:embed="rId3"/>
          <a:srcRect l="-17785"/>
          <a:stretch>
            <a:fillRect/>
          </a:stretch>
        </p:blipFill>
        <p:spPr>
          <a:xfrm>
            <a:off x="-683503" y="1646443"/>
            <a:ext cx="4526453" cy="3703151"/>
          </a:xfrm>
          <a:prstGeom prst="rect">
            <a:avLst/>
          </a:prstGeom>
          <a:noFill/>
          <a:ln>
            <a:noFill/>
          </a:ln>
        </p:spPr>
      </p:pic>
      <p:sp>
        <p:nvSpPr>
          <p:cNvPr id="169" name="Google Shape;169;p1"/>
          <p:cNvSpPr txBox="1"/>
          <p:nvPr/>
        </p:nvSpPr>
        <p:spPr>
          <a:xfrm>
            <a:off x="4412975" y="3042920"/>
            <a:ext cx="7451366" cy="78695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panose="020B0604020202020204"/>
              <a:buNone/>
            </a:pPr>
            <a:r>
              <a:rPr lang="fr-FR" sz="4000" b="1"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rPr>
              <a:t>RESULTATS PEV DE ROUTINE </a:t>
            </a:r>
            <a:endParaRPr lang="fr-FR" altLang="en-GB" sz="4000" b="1"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0" name="Google Shape;170;p1"/>
          <p:cNvSpPr/>
          <p:nvPr/>
        </p:nvSpPr>
        <p:spPr>
          <a:xfrm>
            <a:off x="3660828" y="1516400"/>
            <a:ext cx="373600" cy="1867200"/>
          </a:xfrm>
          <a:prstGeom prst="rect">
            <a:avLst/>
          </a:prstGeom>
          <a:solidFill>
            <a:srgbClr val="145ABE"/>
          </a:solidFill>
          <a:ln>
            <a:noFill/>
          </a:ln>
        </p:spPr>
        <p:txBody>
          <a:bodyPr spcFirstLastPara="1" wrap="square" lIns="91433" tIns="91433" rIns="91433" bIns="91433" anchor="ctr" anchorCtr="0">
            <a:noAutofit/>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90"/>
        <p:cNvGrpSpPr/>
        <p:nvPr/>
      </p:nvGrpSpPr>
      <p:grpSpPr>
        <a:xfrm>
          <a:off x="0" y="0"/>
          <a:ext cx="0" cy="0"/>
          <a:chOff x="0" y="0"/>
          <a:chExt cx="0" cy="0"/>
        </a:xfrm>
      </p:grpSpPr>
      <p:sp>
        <p:nvSpPr>
          <p:cNvPr id="1291" name="Google Shape;1291;g2f1c646a89f_0_0"/>
          <p:cNvSpPr txBox="1"/>
          <p:nvPr/>
        </p:nvSpPr>
        <p:spPr>
          <a:xfrm>
            <a:off x="458592" y="317941"/>
            <a:ext cx="11274800" cy="731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200"/>
              <a:buFont typeface="Arial" panose="020B0604020202020204"/>
              <a:buNone/>
            </a:pPr>
            <a:r>
              <a:rPr lang="fr-FR" altLang="en-US"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É</a:t>
            </a:r>
            <a:r>
              <a:rPr lang="fr-FR" altLang="fr-FR"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tat</a:t>
            </a:r>
            <a:r>
              <a:rPr lang="en-US" altLang="fr-FR"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 de la mise </a:t>
            </a:r>
            <a:r>
              <a:rPr lang="en-US" altLang="fr-FR" sz="2935" b="1" dirty="0" err="1">
                <a:solidFill>
                  <a:srgbClr val="0070C0"/>
                </a:solidFill>
                <a:latin typeface="Times New Roman" panose="02020603050405020304"/>
                <a:ea typeface="Times New Roman" panose="02020603050405020304"/>
                <a:cs typeface="Times New Roman" panose="02020603050405020304"/>
                <a:sym typeface="Times New Roman" panose="02020603050405020304"/>
              </a:rPr>
              <a:t>e</a:t>
            </a:r>
            <a:r>
              <a:rPr lang="en-US" altLang="fr-FR" sz="2935" b="1" i="0" u="none" strike="noStrike" cap="none" dirty="0" err="1">
                <a:solidFill>
                  <a:srgbClr val="0070C0"/>
                </a:solidFill>
                <a:latin typeface="Times New Roman" panose="02020603050405020304"/>
                <a:ea typeface="Times New Roman" panose="02020603050405020304"/>
                <a:cs typeface="Times New Roman" panose="02020603050405020304"/>
                <a:sym typeface="Times New Roman" panose="02020603050405020304"/>
              </a:rPr>
              <a:t>n</a:t>
            </a:r>
            <a:r>
              <a:rPr lang="en-US" altLang="fr-FR"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 </a:t>
            </a:r>
            <a:r>
              <a:rPr lang="fr-FR" altLang="en-US"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œ</a:t>
            </a:r>
            <a:r>
              <a:rPr lang="fr-FR" altLang="fr-FR"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uvre</a:t>
            </a:r>
            <a:r>
              <a:rPr lang="en-US" altLang="fr-FR"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 des </a:t>
            </a:r>
            <a:r>
              <a:rPr lang="fr-FR" altLang="fr-FR"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activités</a:t>
            </a:r>
            <a:r>
              <a:rPr lang="en-US" altLang="fr-FR"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 du PAO</a:t>
            </a:r>
            <a:r>
              <a:rPr lang="fr-FR" altLang="en-US"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 2025</a:t>
            </a:r>
          </a:p>
        </p:txBody>
      </p:sp>
      <p:sp>
        <p:nvSpPr>
          <p:cNvPr id="1292" name="Google Shape;1292;g2f1c646a89f_0_0"/>
          <p:cNvSpPr/>
          <p:nvPr/>
        </p:nvSpPr>
        <p:spPr>
          <a:xfrm>
            <a:off x="0" y="272241"/>
            <a:ext cx="235600" cy="655200"/>
          </a:xfrm>
          <a:prstGeom prst="rect">
            <a:avLst/>
          </a:prstGeom>
          <a:solidFill>
            <a:srgbClr val="0070C0"/>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865"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223" name="Google Shape;223;p16"/>
          <p:cNvCxnSpPr/>
          <p:nvPr/>
        </p:nvCxnSpPr>
        <p:spPr>
          <a:xfrm>
            <a:off x="267700" y="6427967"/>
            <a:ext cx="11640400" cy="0"/>
          </a:xfrm>
          <a:prstGeom prst="straightConnector1">
            <a:avLst/>
          </a:prstGeom>
          <a:noFill/>
          <a:ln w="9525" cap="flat" cmpd="sng">
            <a:solidFill>
              <a:srgbClr val="9E9E9E"/>
            </a:solidFill>
            <a:prstDash val="solid"/>
            <a:round/>
            <a:headEnd type="none" w="med" len="med"/>
            <a:tailEnd type="none" w="med" len="med"/>
          </a:ln>
        </p:spPr>
      </p:cxnSp>
      <p:sp>
        <p:nvSpPr>
          <p:cNvPr id="224" name="Google Shape;224;p16"/>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sp>
        <p:nvSpPr>
          <p:cNvPr id="7" name="Google Shape;165;p3"/>
          <p:cNvSpPr txBox="1"/>
          <p:nvPr/>
        </p:nvSpPr>
        <p:spPr>
          <a:xfrm flipH="1">
            <a:off x="458592" y="4396610"/>
            <a:ext cx="11274800" cy="1553616"/>
          </a:xfrm>
          <a:prstGeom prst="rect">
            <a:avLst/>
          </a:prstGeom>
          <a:noFill/>
          <a:ln>
            <a:noFill/>
          </a:ln>
        </p:spPr>
        <p:txBody>
          <a:bodyPr spcFirstLastPara="1" wrap="square" lIns="121900" tIns="60933" rIns="121900" bIns="60933" anchor="ctr" anchorCtr="0">
            <a:noAutofit/>
          </a:bodyPr>
          <a:lstStyle/>
          <a:p>
            <a:pPr algn="just">
              <a:spcAft>
                <a:spcPts val="0"/>
              </a:spcAft>
            </a:pPr>
            <a:r>
              <a:rPr lang="fr-FR" b="1" kern="0" dirty="0">
                <a:latin typeface="Arial" panose="020B0604020202020204"/>
                <a:ea typeface="Arial" panose="020B0604020202020204"/>
                <a:cs typeface="Arial" panose="020B0604020202020204"/>
                <a:sym typeface="Arial" panose="020B0604020202020204"/>
              </a:rPr>
              <a:t>Commentaire</a:t>
            </a:r>
            <a:r>
              <a:rPr lang="fr-FR" kern="0" dirty="0">
                <a:latin typeface="Arial" panose="020B0604020202020204"/>
                <a:ea typeface="Arial" panose="020B0604020202020204"/>
                <a:cs typeface="Arial" panose="020B0604020202020204"/>
                <a:sym typeface="Arial" panose="020B0604020202020204"/>
              </a:rPr>
              <a:t>s : </a:t>
            </a:r>
            <a:r>
              <a:rPr lang="fr-FR" kern="0" dirty="0">
                <a:latin typeface="Times New Roman" panose="02020603050405020304"/>
                <a:ea typeface="Times New Roman" panose="02020603050405020304"/>
                <a:cs typeface="Times New Roman" panose="02020603050405020304"/>
                <a:sym typeface="Times New Roman" panose="02020603050405020304"/>
              </a:rPr>
              <a:t>Sur </a:t>
            </a:r>
            <a:r>
              <a:rPr lang="fr-FR" b="1" kern="0" dirty="0">
                <a:latin typeface="Times New Roman" panose="02020603050405020304"/>
                <a:ea typeface="Times New Roman" panose="02020603050405020304"/>
                <a:cs typeface="Times New Roman" panose="02020603050405020304"/>
                <a:sym typeface="Times New Roman" panose="02020603050405020304"/>
              </a:rPr>
              <a:t>7</a:t>
            </a:r>
            <a:r>
              <a:rPr lang="fr-FR" kern="0" dirty="0">
                <a:latin typeface="Times New Roman" panose="02020603050405020304"/>
                <a:ea typeface="Times New Roman" panose="02020603050405020304"/>
                <a:cs typeface="Times New Roman" panose="02020603050405020304"/>
                <a:sym typeface="Times New Roman" panose="02020603050405020304"/>
              </a:rPr>
              <a:t> activités planifiées,</a:t>
            </a:r>
            <a:r>
              <a:rPr lang="fr-FR" b="1" kern="0" dirty="0">
                <a:latin typeface="Times New Roman" panose="02020603050405020304"/>
                <a:ea typeface="Times New Roman" panose="02020603050405020304"/>
                <a:cs typeface="Times New Roman" panose="02020603050405020304"/>
                <a:sym typeface="Times New Roman" panose="02020603050405020304"/>
              </a:rPr>
              <a:t> 01</a:t>
            </a:r>
            <a:r>
              <a:rPr lang="fr-FR" kern="0" dirty="0">
                <a:latin typeface="Times New Roman" panose="02020603050405020304"/>
                <a:ea typeface="Times New Roman" panose="02020603050405020304"/>
                <a:cs typeface="Times New Roman" panose="02020603050405020304"/>
                <a:sym typeface="Times New Roman" panose="02020603050405020304"/>
              </a:rPr>
              <a:t> totalement réalisée </a:t>
            </a:r>
            <a:r>
              <a:rPr lang="fr-FR" b="1" kern="0" dirty="0">
                <a:latin typeface="Times New Roman" panose="02020603050405020304"/>
                <a:ea typeface="Times New Roman" panose="02020603050405020304"/>
                <a:cs typeface="Times New Roman" panose="02020603050405020304"/>
                <a:sym typeface="Times New Roman" panose="02020603050405020304"/>
              </a:rPr>
              <a:t>(14%</a:t>
            </a:r>
            <a:r>
              <a:rPr lang="fr-FR" kern="0" dirty="0">
                <a:latin typeface="Times New Roman" panose="02020603050405020304"/>
                <a:ea typeface="Times New Roman" panose="02020603050405020304"/>
                <a:cs typeface="Times New Roman" panose="02020603050405020304"/>
                <a:sym typeface="Times New Roman" panose="02020603050405020304"/>
              </a:rPr>
              <a:t>), </a:t>
            </a:r>
            <a:r>
              <a:rPr lang="fr-FR" b="1" kern="0" dirty="0">
                <a:latin typeface="Times New Roman" panose="02020603050405020304"/>
                <a:ea typeface="Times New Roman" panose="02020603050405020304"/>
                <a:cs typeface="Times New Roman" panose="02020603050405020304"/>
                <a:sym typeface="Times New Roman" panose="02020603050405020304"/>
              </a:rPr>
              <a:t>5</a:t>
            </a:r>
            <a:r>
              <a:rPr lang="fr-FR" kern="0" dirty="0">
                <a:latin typeface="Times New Roman" panose="02020603050405020304"/>
                <a:ea typeface="Times New Roman" panose="02020603050405020304"/>
                <a:cs typeface="Times New Roman" panose="02020603050405020304"/>
                <a:sym typeface="Times New Roman" panose="02020603050405020304"/>
              </a:rPr>
              <a:t> en cours de réalisation (</a:t>
            </a:r>
            <a:r>
              <a:rPr lang="fr-FR" b="1" kern="0" dirty="0">
                <a:latin typeface="Times New Roman" panose="02020603050405020304"/>
                <a:ea typeface="Times New Roman" panose="02020603050405020304"/>
                <a:cs typeface="Times New Roman" panose="02020603050405020304"/>
                <a:sym typeface="Times New Roman" panose="02020603050405020304"/>
              </a:rPr>
              <a:t>72</a:t>
            </a:r>
            <a:r>
              <a:rPr lang="fr-FR" kern="0" dirty="0">
                <a:latin typeface="Times New Roman" panose="02020603050405020304"/>
                <a:ea typeface="Times New Roman" panose="02020603050405020304"/>
                <a:cs typeface="Times New Roman" panose="02020603050405020304"/>
                <a:sym typeface="Times New Roman" panose="02020603050405020304"/>
              </a:rPr>
              <a:t> %) et </a:t>
            </a:r>
            <a:r>
              <a:rPr lang="fr-FR" b="1" kern="0" dirty="0">
                <a:latin typeface="Times New Roman" panose="02020603050405020304"/>
                <a:ea typeface="Times New Roman" panose="02020603050405020304"/>
                <a:cs typeface="Times New Roman" panose="02020603050405020304"/>
                <a:sym typeface="Times New Roman" panose="02020603050405020304"/>
              </a:rPr>
              <a:t>1</a:t>
            </a:r>
            <a:r>
              <a:rPr lang="fr-FR" kern="0" dirty="0">
                <a:latin typeface="Times New Roman" panose="02020603050405020304"/>
                <a:ea typeface="Times New Roman" panose="02020603050405020304"/>
                <a:cs typeface="Times New Roman" panose="02020603050405020304"/>
                <a:sym typeface="Times New Roman" panose="02020603050405020304"/>
              </a:rPr>
              <a:t> non réalisée (</a:t>
            </a:r>
            <a:r>
              <a:rPr lang="fr-FR" b="1" kern="0" dirty="0">
                <a:latin typeface="Times New Roman" panose="02020603050405020304"/>
                <a:ea typeface="Times New Roman" panose="02020603050405020304"/>
                <a:cs typeface="Times New Roman" panose="02020603050405020304"/>
                <a:sym typeface="Times New Roman" panose="02020603050405020304"/>
              </a:rPr>
              <a:t>14</a:t>
            </a:r>
            <a:r>
              <a:rPr lang="fr-FR" kern="0" dirty="0">
                <a:latin typeface="Times New Roman" panose="02020603050405020304"/>
                <a:ea typeface="Times New Roman" panose="02020603050405020304"/>
                <a:cs typeface="Times New Roman" panose="02020603050405020304"/>
                <a:sym typeface="Times New Roman" panose="02020603050405020304"/>
              </a:rPr>
              <a:t> %), celle d’a</a:t>
            </a:r>
            <a:r>
              <a:rPr lang="fr-FR" kern="100" dirty="0">
                <a:ea typeface="SimSun" panose="02010600030101010101" pitchFamily="2" charset="-122"/>
                <a:cs typeface="Times New Roman" panose="02020603050405020304" pitchFamily="18" charset="0"/>
                <a:sym typeface="+mn-ea"/>
              </a:rPr>
              <a:t>pporter un appui technique à l'intégration des activités de vaccination dans tous les </a:t>
            </a:r>
            <a:endParaRPr lang="fr-FR" kern="100" dirty="0">
              <a:ea typeface="SimSun" panose="02010600030101010101" pitchFamily="2" charset="-122"/>
              <a:cs typeface="Times New Roman" panose="02020603050405020304" pitchFamily="18" charset="0"/>
            </a:endParaRPr>
          </a:p>
          <a:p>
            <a:pPr algn="just">
              <a:spcAft>
                <a:spcPts val="0"/>
              </a:spcAft>
            </a:pPr>
            <a:r>
              <a:rPr lang="fr-FR" kern="100" dirty="0">
                <a:ea typeface="SimSun" panose="02010600030101010101" pitchFamily="2" charset="-122"/>
                <a:cs typeface="Times New Roman" panose="02020603050405020304" pitchFamily="18" charset="0"/>
                <a:sym typeface="+mn-ea"/>
              </a:rPr>
              <a:t>ESS publics et privés viables qui ne les offrent pas. </a:t>
            </a:r>
          </a:p>
        </p:txBody>
      </p:sp>
      <p:graphicFrame>
        <p:nvGraphicFramePr>
          <p:cNvPr id="2" name="Tableau 1"/>
          <p:cNvGraphicFramePr>
            <a:graphicFrameLocks noGrp="1"/>
          </p:cNvGraphicFramePr>
          <p:nvPr/>
        </p:nvGraphicFramePr>
        <p:xfrm>
          <a:off x="814456" y="1958678"/>
          <a:ext cx="10012571" cy="1904872"/>
        </p:xfrm>
        <a:graphic>
          <a:graphicData uri="http://schemas.openxmlformats.org/drawingml/2006/table">
            <a:tbl>
              <a:tblPr/>
              <a:tblGrid>
                <a:gridCol w="2422047">
                  <a:extLst>
                    <a:ext uri="{9D8B030D-6E8A-4147-A177-3AD203B41FA5}">
                      <a16:colId xmlns:a16="http://schemas.microsoft.com/office/drawing/2014/main" val="3297312075"/>
                    </a:ext>
                  </a:extLst>
                </a:gridCol>
                <a:gridCol w="1146147">
                  <a:extLst>
                    <a:ext uri="{9D8B030D-6E8A-4147-A177-3AD203B41FA5}">
                      <a16:colId xmlns:a16="http://schemas.microsoft.com/office/drawing/2014/main" val="3744644061"/>
                    </a:ext>
                  </a:extLst>
                </a:gridCol>
                <a:gridCol w="1016394">
                  <a:extLst>
                    <a:ext uri="{9D8B030D-6E8A-4147-A177-3AD203B41FA5}">
                      <a16:colId xmlns:a16="http://schemas.microsoft.com/office/drawing/2014/main" val="1818572978"/>
                    </a:ext>
                  </a:extLst>
                </a:gridCol>
                <a:gridCol w="1059645">
                  <a:extLst>
                    <a:ext uri="{9D8B030D-6E8A-4147-A177-3AD203B41FA5}">
                      <a16:colId xmlns:a16="http://schemas.microsoft.com/office/drawing/2014/main" val="4029717297"/>
                    </a:ext>
                  </a:extLst>
                </a:gridCol>
                <a:gridCol w="1081272">
                  <a:extLst>
                    <a:ext uri="{9D8B030D-6E8A-4147-A177-3AD203B41FA5}">
                      <a16:colId xmlns:a16="http://schemas.microsoft.com/office/drawing/2014/main" val="2041405291"/>
                    </a:ext>
                  </a:extLst>
                </a:gridCol>
                <a:gridCol w="1081272">
                  <a:extLst>
                    <a:ext uri="{9D8B030D-6E8A-4147-A177-3AD203B41FA5}">
                      <a16:colId xmlns:a16="http://schemas.microsoft.com/office/drawing/2014/main" val="2300009869"/>
                    </a:ext>
                  </a:extLst>
                </a:gridCol>
                <a:gridCol w="1102897">
                  <a:extLst>
                    <a:ext uri="{9D8B030D-6E8A-4147-A177-3AD203B41FA5}">
                      <a16:colId xmlns:a16="http://schemas.microsoft.com/office/drawing/2014/main" val="859883586"/>
                    </a:ext>
                  </a:extLst>
                </a:gridCol>
                <a:gridCol w="1102897">
                  <a:extLst>
                    <a:ext uri="{9D8B030D-6E8A-4147-A177-3AD203B41FA5}">
                      <a16:colId xmlns:a16="http://schemas.microsoft.com/office/drawing/2014/main" val="1729687664"/>
                    </a:ext>
                  </a:extLst>
                </a:gridCol>
              </a:tblGrid>
              <a:tr h="698564">
                <a:tc rowSpan="3">
                  <a:txBody>
                    <a:bodyPr/>
                    <a:lstStyle/>
                    <a:p>
                      <a:pPr algn="l" rtl="0" fontAlgn="ctr"/>
                      <a:r>
                        <a:rPr lang="fr-FR" sz="2000" b="1" i="0" u="none" strike="noStrike" dirty="0">
                          <a:solidFill>
                            <a:srgbClr val="000000"/>
                          </a:solidFill>
                          <a:effectLst/>
                          <a:latin typeface="Times New Roman" panose="02020603050405020304" pitchFamily="18" charset="0"/>
                        </a:rPr>
                        <a:t>Domaine</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1155CC"/>
                      </a:solidFill>
                      <a:prstDash val="solid"/>
                      <a:round/>
                      <a:headEnd type="none" w="med" len="med"/>
                      <a:tailEnd type="none" w="med" len="med"/>
                    </a:lnB>
                    <a:solidFill>
                      <a:srgbClr val="C9DAF8"/>
                    </a:solidFill>
                  </a:tcPr>
                </a:tc>
                <a:tc>
                  <a:txBody>
                    <a:bodyPr/>
                    <a:lstStyle/>
                    <a:p>
                      <a:pPr algn="ctr" rtl="0" fontAlgn="ctr"/>
                      <a:r>
                        <a:rPr lang="fr-FR" sz="2000" b="1" i="0" u="none" strike="noStrike" dirty="0">
                          <a:solidFill>
                            <a:srgbClr val="000000"/>
                          </a:solidFill>
                          <a:effectLst/>
                          <a:latin typeface="Times New Roman" panose="02020603050405020304" pitchFamily="18" charset="0"/>
                        </a:rPr>
                        <a:t>Planifiés</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9DAF8"/>
                    </a:solidFill>
                  </a:tcPr>
                </a:tc>
                <a:tc gridSpan="2">
                  <a:txBody>
                    <a:bodyPr/>
                    <a:lstStyle/>
                    <a:p>
                      <a:pPr algn="ctr" rtl="0" fontAlgn="ctr"/>
                      <a:r>
                        <a:rPr lang="fr-FR" sz="2000" b="1" i="0" u="none" strike="noStrike" dirty="0">
                          <a:solidFill>
                            <a:srgbClr val="000000"/>
                          </a:solidFill>
                          <a:effectLst/>
                          <a:latin typeface="Times New Roman" panose="02020603050405020304" pitchFamily="18" charset="0"/>
                        </a:rPr>
                        <a:t>Réalisés</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9DAF8"/>
                    </a:solidFill>
                  </a:tcPr>
                </a:tc>
                <a:tc hMerge="1">
                  <a:txBody>
                    <a:bodyPr/>
                    <a:lstStyle/>
                    <a:p>
                      <a:endParaRPr lang="fr-FR"/>
                    </a:p>
                  </a:txBody>
                  <a:tcPr/>
                </a:tc>
                <a:tc gridSpan="2">
                  <a:txBody>
                    <a:bodyPr/>
                    <a:lstStyle/>
                    <a:p>
                      <a:pPr algn="ctr" rtl="0" fontAlgn="ctr"/>
                      <a:r>
                        <a:rPr lang="fr-FR" sz="2000" b="1" i="0" u="none" strike="noStrike">
                          <a:solidFill>
                            <a:srgbClr val="000000"/>
                          </a:solidFill>
                          <a:effectLst/>
                          <a:latin typeface="Times New Roman" panose="02020603050405020304" pitchFamily="18" charset="0"/>
                        </a:rPr>
                        <a:t>Partiellement réalisés</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9DAF8"/>
                    </a:solidFill>
                  </a:tcPr>
                </a:tc>
                <a:tc hMerge="1">
                  <a:txBody>
                    <a:bodyPr/>
                    <a:lstStyle/>
                    <a:p>
                      <a:endParaRPr lang="fr-FR"/>
                    </a:p>
                  </a:txBody>
                  <a:tcPr/>
                </a:tc>
                <a:tc gridSpan="2">
                  <a:txBody>
                    <a:bodyPr/>
                    <a:lstStyle/>
                    <a:p>
                      <a:pPr algn="ctr" rtl="0" fontAlgn="ctr"/>
                      <a:r>
                        <a:rPr lang="fr-FR" sz="2000" b="1" i="0" u="none" strike="noStrike">
                          <a:solidFill>
                            <a:srgbClr val="000000"/>
                          </a:solidFill>
                          <a:effectLst/>
                          <a:latin typeface="Times New Roman" panose="02020603050405020304" pitchFamily="18" charset="0"/>
                        </a:rPr>
                        <a:t>Non-réalisés</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9DAF8"/>
                    </a:solidFill>
                  </a:tcPr>
                </a:tc>
                <a:tc hMerge="1">
                  <a:txBody>
                    <a:bodyPr/>
                    <a:lstStyle/>
                    <a:p>
                      <a:endParaRPr lang="fr-FR"/>
                    </a:p>
                  </a:txBody>
                  <a:tcPr/>
                </a:tc>
                <a:extLst>
                  <a:ext uri="{0D108BD9-81ED-4DB2-BD59-A6C34878D82A}">
                    <a16:rowId xmlns:a16="http://schemas.microsoft.com/office/drawing/2014/main" val="940955536"/>
                  </a:ext>
                </a:extLst>
              </a:tr>
              <a:tr h="282112">
                <a:tc vMerge="1">
                  <a:txBody>
                    <a:bodyPr/>
                    <a:lstStyle/>
                    <a:p>
                      <a:endParaRPr lang="fr-FR"/>
                    </a:p>
                  </a:txBody>
                  <a:tcPr/>
                </a:tc>
                <a:tc>
                  <a:txBody>
                    <a:bodyPr/>
                    <a:lstStyle/>
                    <a:p>
                      <a:pPr algn="ctr" rtl="0" fontAlgn="ctr"/>
                      <a:r>
                        <a:rPr lang="fr-FR" sz="2000" b="1" i="0" u="none" strike="noStrike" dirty="0">
                          <a:solidFill>
                            <a:srgbClr val="000000"/>
                          </a:solidFill>
                          <a:effectLst/>
                          <a:latin typeface="Times New Roman" panose="02020603050405020304" pitchFamily="18" charset="0"/>
                        </a:rPr>
                        <a:t>PAO </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C9DAF8"/>
                    </a:solidFill>
                  </a:tcPr>
                </a:tc>
                <a:tc rowSpan="2">
                  <a:txBody>
                    <a:bodyPr/>
                    <a:lstStyle/>
                    <a:p>
                      <a:pPr algn="ctr" rtl="0" fontAlgn="ctr"/>
                      <a:r>
                        <a:rPr lang="fr-FR" sz="2000" b="1" i="0" u="none" strike="noStrike" dirty="0">
                          <a:solidFill>
                            <a:srgbClr val="000000"/>
                          </a:solidFill>
                          <a:effectLst/>
                          <a:latin typeface="Times New Roman" panose="02020603050405020304" pitchFamily="18" charset="0"/>
                        </a:rPr>
                        <a:t>Total</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1155CC"/>
                      </a:solidFill>
                      <a:prstDash val="solid"/>
                      <a:round/>
                      <a:headEnd type="none" w="med" len="med"/>
                      <a:tailEnd type="none" w="med" len="med"/>
                    </a:lnB>
                    <a:solidFill>
                      <a:srgbClr val="C9DAF8"/>
                    </a:solidFill>
                  </a:tcPr>
                </a:tc>
                <a:tc rowSpan="2">
                  <a:txBody>
                    <a:bodyPr/>
                    <a:lstStyle/>
                    <a:p>
                      <a:pPr algn="ctr" rtl="0" fontAlgn="ctr"/>
                      <a:r>
                        <a:rPr lang="fr-FR" sz="2000" b="1" i="0" u="none" strike="noStrike">
                          <a:solidFill>
                            <a:srgbClr val="000000"/>
                          </a:solidFill>
                          <a:effectLst/>
                          <a:latin typeface="Times New Roman" panose="02020603050405020304" pitchFamily="18" charset="0"/>
                        </a:rPr>
                        <a:t>%</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1155CC"/>
                      </a:solidFill>
                      <a:prstDash val="solid"/>
                      <a:round/>
                      <a:headEnd type="none" w="med" len="med"/>
                      <a:tailEnd type="none" w="med" len="med"/>
                    </a:lnB>
                    <a:solidFill>
                      <a:srgbClr val="C9DAF8"/>
                    </a:solidFill>
                  </a:tcPr>
                </a:tc>
                <a:tc rowSpan="2">
                  <a:txBody>
                    <a:bodyPr/>
                    <a:lstStyle/>
                    <a:p>
                      <a:pPr algn="ctr" rtl="0" fontAlgn="ctr"/>
                      <a:r>
                        <a:rPr lang="fr-FR" sz="2000" b="1" i="0" u="none" strike="noStrike">
                          <a:solidFill>
                            <a:srgbClr val="000000"/>
                          </a:solidFill>
                          <a:effectLst/>
                          <a:latin typeface="Times New Roman" panose="02020603050405020304" pitchFamily="18" charset="0"/>
                        </a:rPr>
                        <a:t>Total</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1155CC"/>
                      </a:solidFill>
                      <a:prstDash val="solid"/>
                      <a:round/>
                      <a:headEnd type="none" w="med" len="med"/>
                      <a:tailEnd type="none" w="med" len="med"/>
                    </a:lnB>
                    <a:solidFill>
                      <a:srgbClr val="C9DAF8"/>
                    </a:solidFill>
                  </a:tcPr>
                </a:tc>
                <a:tc rowSpan="2">
                  <a:txBody>
                    <a:bodyPr/>
                    <a:lstStyle/>
                    <a:p>
                      <a:pPr algn="ctr" rtl="0" fontAlgn="ctr"/>
                      <a:r>
                        <a:rPr lang="fr-FR" sz="2000" b="1" i="0" u="none" strike="noStrike">
                          <a:solidFill>
                            <a:srgbClr val="000000"/>
                          </a:solidFill>
                          <a:effectLst/>
                          <a:latin typeface="Times New Roman" panose="02020603050405020304" pitchFamily="18" charset="0"/>
                        </a:rPr>
                        <a:t>%</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1155CC"/>
                      </a:solidFill>
                      <a:prstDash val="solid"/>
                      <a:round/>
                      <a:headEnd type="none" w="med" len="med"/>
                      <a:tailEnd type="none" w="med" len="med"/>
                    </a:lnB>
                    <a:solidFill>
                      <a:srgbClr val="C9DAF8"/>
                    </a:solidFill>
                  </a:tcPr>
                </a:tc>
                <a:tc rowSpan="2">
                  <a:txBody>
                    <a:bodyPr/>
                    <a:lstStyle/>
                    <a:p>
                      <a:pPr algn="ctr" rtl="0" fontAlgn="ctr"/>
                      <a:r>
                        <a:rPr lang="fr-FR" sz="2000" b="1" i="0" u="none" strike="noStrike">
                          <a:solidFill>
                            <a:srgbClr val="000000"/>
                          </a:solidFill>
                          <a:effectLst/>
                          <a:latin typeface="Times New Roman" panose="02020603050405020304" pitchFamily="18" charset="0"/>
                        </a:rPr>
                        <a:t>Total</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1155CC"/>
                      </a:solidFill>
                      <a:prstDash val="solid"/>
                      <a:round/>
                      <a:headEnd type="none" w="med" len="med"/>
                      <a:tailEnd type="none" w="med" len="med"/>
                    </a:lnB>
                    <a:solidFill>
                      <a:srgbClr val="C9DAF8"/>
                    </a:solidFill>
                  </a:tcPr>
                </a:tc>
                <a:tc rowSpan="2">
                  <a:txBody>
                    <a:bodyPr/>
                    <a:lstStyle/>
                    <a:p>
                      <a:pPr algn="ctr" rtl="0" fontAlgn="ctr"/>
                      <a:r>
                        <a:rPr lang="fr-FR" sz="2000" b="1" i="0" u="none" strike="noStrike">
                          <a:solidFill>
                            <a:srgbClr val="000000"/>
                          </a:solidFill>
                          <a:effectLst/>
                          <a:latin typeface="Times New Roman" panose="02020603050405020304" pitchFamily="18" charset="0"/>
                        </a:rPr>
                        <a:t>%</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1155CC"/>
                      </a:solidFill>
                      <a:prstDash val="solid"/>
                      <a:round/>
                      <a:headEnd type="none" w="med" len="med"/>
                      <a:tailEnd type="none" w="med" len="med"/>
                    </a:lnB>
                    <a:solidFill>
                      <a:srgbClr val="C9DAF8"/>
                    </a:solidFill>
                  </a:tcPr>
                </a:tc>
                <a:extLst>
                  <a:ext uri="{0D108BD9-81ED-4DB2-BD59-A6C34878D82A}">
                    <a16:rowId xmlns:a16="http://schemas.microsoft.com/office/drawing/2014/main" val="2006574775"/>
                  </a:ext>
                </a:extLst>
              </a:tr>
              <a:tr h="295546">
                <a:tc vMerge="1">
                  <a:txBody>
                    <a:bodyPr/>
                    <a:lstStyle/>
                    <a:p>
                      <a:endParaRPr lang="fr-FR"/>
                    </a:p>
                  </a:txBody>
                  <a:tcPr/>
                </a:tc>
                <a:tc>
                  <a:txBody>
                    <a:bodyPr/>
                    <a:lstStyle/>
                    <a:p>
                      <a:pPr algn="ctr" rtl="0" fontAlgn="ctr"/>
                      <a:r>
                        <a:rPr lang="fr-FR" sz="2000" b="1" i="0" u="none" strike="noStrike" dirty="0">
                          <a:solidFill>
                            <a:srgbClr val="000000"/>
                          </a:solidFill>
                          <a:effectLst/>
                          <a:latin typeface="Times New Roman" panose="02020603050405020304" pitchFamily="18" charset="0"/>
                        </a:rPr>
                        <a:t>2025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1155CC"/>
                      </a:solidFill>
                      <a:prstDash val="solid"/>
                      <a:round/>
                      <a:headEnd type="none" w="med" len="med"/>
                      <a:tailEnd type="none" w="med" len="med"/>
                    </a:lnB>
                    <a:solidFill>
                      <a:srgbClr val="C9DAF8"/>
                    </a:solidFill>
                  </a:tcPr>
                </a:tc>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extLst>
                  <a:ext uri="{0D108BD9-81ED-4DB2-BD59-A6C34878D82A}">
                    <a16:rowId xmlns:a16="http://schemas.microsoft.com/office/drawing/2014/main" val="3126404118"/>
                  </a:ext>
                </a:extLst>
              </a:tr>
              <a:tr h="577658">
                <a:tc>
                  <a:txBody>
                    <a:bodyPr/>
                    <a:lstStyle/>
                    <a:p>
                      <a:pPr algn="l" rtl="0" fontAlgn="ctr"/>
                      <a:r>
                        <a:rPr lang="fr-FR" sz="2000" b="1" i="0" u="none" strike="noStrike" dirty="0">
                          <a:solidFill>
                            <a:srgbClr val="000000"/>
                          </a:solidFill>
                          <a:effectLst/>
                          <a:latin typeface="Times New Roman" panose="02020603050405020304" pitchFamily="18" charset="0"/>
                        </a:rPr>
                        <a:t>Prestation de service</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1155CC"/>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FEFEF"/>
                    </a:solidFill>
                  </a:tcPr>
                </a:tc>
                <a:tc>
                  <a:txBody>
                    <a:bodyPr/>
                    <a:lstStyle/>
                    <a:p>
                      <a:pPr algn="ctr" rtl="0" fontAlgn="ctr"/>
                      <a:r>
                        <a:rPr lang="fr-FR" sz="2000" b="0" i="0" u="none" strike="noStrike">
                          <a:solidFill>
                            <a:srgbClr val="000000"/>
                          </a:solidFill>
                          <a:effectLst/>
                          <a:latin typeface="Times New Roman" panose="02020603050405020304" pitchFamily="18" charset="0"/>
                        </a:rPr>
                        <a:t>7</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1155CC"/>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r>
                        <a:rPr lang="fr-FR" sz="2000" b="0" i="0" u="none" strike="noStrike" dirty="0">
                          <a:solidFill>
                            <a:srgbClr val="000000"/>
                          </a:solidFill>
                          <a:effectLst/>
                          <a:latin typeface="Times New Roman" panose="02020603050405020304" pitchFamily="18" charset="0"/>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1155CC"/>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r>
                        <a:rPr lang="fr-FR" sz="2000" b="1" i="0" u="none" strike="noStrike" dirty="0">
                          <a:solidFill>
                            <a:srgbClr val="000000"/>
                          </a:solidFill>
                          <a:effectLst/>
                          <a:latin typeface="Times New Roman" panose="02020603050405020304" pitchFamily="18" charset="0"/>
                        </a:rPr>
                        <a:t>14%</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1155CC"/>
                      </a:solidFill>
                      <a:prstDash val="solid"/>
                      <a:round/>
                      <a:headEnd type="none" w="med" len="med"/>
                      <a:tailEnd type="none" w="med" len="med"/>
                    </a:lnT>
                    <a:lnB w="12700" cap="flat" cmpd="sng" algn="ctr">
                      <a:solidFill>
                        <a:srgbClr val="1155CC"/>
                      </a:solidFill>
                      <a:prstDash val="solid"/>
                      <a:round/>
                      <a:headEnd type="none" w="med" len="med"/>
                      <a:tailEnd type="none" w="med" len="med"/>
                    </a:lnB>
                    <a:solidFill>
                      <a:srgbClr val="93C47D"/>
                    </a:solidFill>
                  </a:tcPr>
                </a:tc>
                <a:tc>
                  <a:txBody>
                    <a:bodyPr/>
                    <a:lstStyle/>
                    <a:p>
                      <a:pPr algn="ctr" rtl="0" fontAlgn="ctr"/>
                      <a:r>
                        <a:rPr lang="fr-FR" sz="2000" b="0" i="0" u="none" strike="noStrike" dirty="0">
                          <a:solidFill>
                            <a:srgbClr val="000000"/>
                          </a:solidFill>
                          <a:effectLst/>
                          <a:latin typeface="Times New Roman" panose="02020603050405020304" pitchFamily="18" charset="0"/>
                        </a:rPr>
                        <a:t>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1155CC"/>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r>
                        <a:rPr lang="fr-FR" sz="2000" b="1" i="0" u="none" strike="noStrike" dirty="0">
                          <a:solidFill>
                            <a:srgbClr val="000000"/>
                          </a:solidFill>
                          <a:effectLst/>
                          <a:latin typeface="Times New Roman" panose="02020603050405020304" pitchFamily="18" charset="0"/>
                        </a:rPr>
                        <a:t>72%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1155CC"/>
                      </a:solidFill>
                      <a:prstDash val="solid"/>
                      <a:round/>
                      <a:headEnd type="none" w="med" len="med"/>
                      <a:tailEnd type="none" w="med" len="med"/>
                    </a:lnT>
                    <a:lnB w="12700" cap="flat" cmpd="sng" algn="ctr">
                      <a:solidFill>
                        <a:srgbClr val="1155CC"/>
                      </a:solidFill>
                      <a:prstDash val="solid"/>
                      <a:round/>
                      <a:headEnd type="none" w="med" len="med"/>
                      <a:tailEnd type="none" w="med" len="med"/>
                    </a:lnB>
                    <a:solidFill>
                      <a:srgbClr val="FFD966"/>
                    </a:solidFill>
                  </a:tcPr>
                </a:tc>
                <a:tc>
                  <a:txBody>
                    <a:bodyPr/>
                    <a:lstStyle/>
                    <a:p>
                      <a:pPr algn="ctr" rtl="0" fontAlgn="ctr"/>
                      <a:r>
                        <a:rPr lang="fr-FR" sz="2000" b="0" i="0" u="none" strike="noStrike" dirty="0">
                          <a:solidFill>
                            <a:srgbClr val="000000"/>
                          </a:solidFill>
                          <a:effectLst/>
                          <a:latin typeface="Times New Roman" panose="02020603050405020304" pitchFamily="18" charset="0"/>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1155CC"/>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r>
                        <a:rPr lang="fr-FR" sz="2000" b="1" i="0" u="none" strike="noStrike" dirty="0">
                          <a:solidFill>
                            <a:srgbClr val="000000"/>
                          </a:solidFill>
                          <a:effectLst/>
                          <a:latin typeface="Times New Roman" panose="02020603050405020304" pitchFamily="18" charset="0"/>
                        </a:rPr>
                        <a:t>14%</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1155CC"/>
                      </a:solidFill>
                      <a:prstDash val="solid"/>
                      <a:round/>
                      <a:headEnd type="none" w="med" len="med"/>
                      <a:tailEnd type="none" w="med" len="med"/>
                    </a:lnT>
                    <a:lnB w="12700" cap="flat" cmpd="sng" algn="ctr">
                      <a:solidFill>
                        <a:srgbClr val="1155CC"/>
                      </a:solidFill>
                      <a:prstDash val="solid"/>
                      <a:round/>
                      <a:headEnd type="none" w="med" len="med"/>
                      <a:tailEnd type="none" w="med" len="med"/>
                    </a:lnB>
                    <a:solidFill>
                      <a:srgbClr val="E06666"/>
                    </a:solidFill>
                  </a:tcPr>
                </a:tc>
                <a:extLst>
                  <a:ext uri="{0D108BD9-81ED-4DB2-BD59-A6C34878D82A}">
                    <a16:rowId xmlns:a16="http://schemas.microsoft.com/office/drawing/2014/main" val="4142015520"/>
                  </a:ext>
                </a:extLst>
              </a:tr>
            </a:tbl>
          </a:graphicData>
        </a:graphic>
      </p:graphicFrame>
    </p:spTree>
    <p:extLst>
      <p:ext uri="{BB962C8B-B14F-4D97-AF65-F5344CB8AC3E}">
        <p14:creationId xmlns:p14="http://schemas.microsoft.com/office/powerpoint/2010/main" val="35357375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6"/>
          <p:cNvSpPr txBox="1"/>
          <p:nvPr/>
        </p:nvSpPr>
        <p:spPr>
          <a:xfrm>
            <a:off x="407700" y="272241"/>
            <a:ext cx="11274800" cy="509637"/>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SzPts val="1100"/>
              <a:buNone/>
            </a:pPr>
            <a:r>
              <a:rPr lang="fr-FR" altLang="en-GB" sz="2000" b="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EVALUATION DES ACTIVITES PEV DE ROUTINE 2025  </a:t>
            </a:r>
          </a:p>
        </p:txBody>
      </p:sp>
      <p:sp>
        <p:nvSpPr>
          <p:cNvPr id="222" name="Google Shape;222;p16"/>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spcBef>
                <a:spcPts val="0"/>
              </a:spcBef>
              <a:spcAft>
                <a:spcPts val="0"/>
              </a:spcAft>
              <a:buNone/>
            </a:pPr>
            <a:endParaRPr sz="1865">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4" name="Google Shape;224;p16"/>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graphicFrame>
        <p:nvGraphicFramePr>
          <p:cNvPr id="2" name="Tableau 1"/>
          <p:cNvGraphicFramePr>
            <a:graphicFrameLocks noGrp="1"/>
          </p:cNvGraphicFramePr>
          <p:nvPr>
            <p:extLst>
              <p:ext uri="{D42A27DB-BD31-4B8C-83A1-F6EECF244321}">
                <p14:modId xmlns:p14="http://schemas.microsoft.com/office/powerpoint/2010/main" val="900594823"/>
              </p:ext>
            </p:extLst>
          </p:nvPr>
        </p:nvGraphicFramePr>
        <p:xfrm>
          <a:off x="267699" y="683498"/>
          <a:ext cx="10315136" cy="5671766"/>
        </p:xfrm>
        <a:graphic>
          <a:graphicData uri="http://schemas.openxmlformats.org/drawingml/2006/table">
            <a:tbl>
              <a:tblPr firstRow="1" firstCol="1" bandRow="1">
                <a:tableStyleId>{5C22544A-7EE6-4342-B048-85BDC9FD1C3A}</a:tableStyleId>
              </a:tblPr>
              <a:tblGrid>
                <a:gridCol w="441585">
                  <a:extLst>
                    <a:ext uri="{9D8B030D-6E8A-4147-A177-3AD203B41FA5}">
                      <a16:colId xmlns:a16="http://schemas.microsoft.com/office/drawing/2014/main" val="20000"/>
                    </a:ext>
                  </a:extLst>
                </a:gridCol>
                <a:gridCol w="3638113">
                  <a:extLst>
                    <a:ext uri="{9D8B030D-6E8A-4147-A177-3AD203B41FA5}">
                      <a16:colId xmlns:a16="http://schemas.microsoft.com/office/drawing/2014/main" val="20001"/>
                    </a:ext>
                  </a:extLst>
                </a:gridCol>
                <a:gridCol w="2280810">
                  <a:extLst>
                    <a:ext uri="{9D8B030D-6E8A-4147-A177-3AD203B41FA5}">
                      <a16:colId xmlns:a16="http://schemas.microsoft.com/office/drawing/2014/main" val="20002"/>
                    </a:ext>
                  </a:extLst>
                </a:gridCol>
                <a:gridCol w="1140403">
                  <a:extLst>
                    <a:ext uri="{9D8B030D-6E8A-4147-A177-3AD203B41FA5}">
                      <a16:colId xmlns:a16="http://schemas.microsoft.com/office/drawing/2014/main" val="20005"/>
                    </a:ext>
                  </a:extLst>
                </a:gridCol>
                <a:gridCol w="2814225">
                  <a:extLst>
                    <a:ext uri="{9D8B030D-6E8A-4147-A177-3AD203B41FA5}">
                      <a16:colId xmlns:a16="http://schemas.microsoft.com/office/drawing/2014/main" val="20006"/>
                    </a:ext>
                  </a:extLst>
                </a:gridCol>
              </a:tblGrid>
              <a:tr h="369120">
                <a:tc>
                  <a:txBody>
                    <a:bodyPr/>
                    <a:lstStyle/>
                    <a:p>
                      <a:pPr algn="just">
                        <a:spcAft>
                          <a:spcPts val="0"/>
                        </a:spcAft>
                      </a:pPr>
                      <a:r>
                        <a:rPr lang="en-US" sz="1300" kern="100" dirty="0">
                          <a:effectLst/>
                          <a:latin typeface="+mn-lt"/>
                        </a:rPr>
                        <a:t>N°</a:t>
                      </a:r>
                      <a:endParaRPr lang="fr-FR" sz="1300" kern="100" dirty="0">
                        <a:effectLst/>
                        <a:latin typeface="+mn-lt"/>
                        <a:ea typeface="SimSun" panose="02010600030101010101" pitchFamily="2" charset="-122"/>
                        <a:cs typeface="Times New Roman" panose="02020603050405020304" pitchFamily="18" charset="0"/>
                      </a:endParaRPr>
                    </a:p>
                  </a:txBody>
                  <a:tcPr marL="43794" marR="43794" marT="0" marB="0"/>
                </a:tc>
                <a:tc>
                  <a:txBody>
                    <a:bodyPr/>
                    <a:lstStyle/>
                    <a:p>
                      <a:pPr algn="just">
                        <a:spcAft>
                          <a:spcPts val="0"/>
                        </a:spcAft>
                      </a:pPr>
                      <a:r>
                        <a:rPr lang="en-US" sz="1300" kern="100" dirty="0" err="1">
                          <a:effectLst/>
                          <a:latin typeface="+mn-lt"/>
                        </a:rPr>
                        <a:t>Activité</a:t>
                      </a:r>
                      <a:endParaRPr lang="fr-FR" sz="1300" kern="100" dirty="0">
                        <a:effectLst/>
                        <a:latin typeface="+mn-lt"/>
                        <a:ea typeface="SimSun" panose="02010600030101010101" pitchFamily="2" charset="-122"/>
                        <a:cs typeface="Times New Roman" panose="02020603050405020304" pitchFamily="18" charset="0"/>
                      </a:endParaRPr>
                    </a:p>
                  </a:txBody>
                  <a:tcPr marL="43794" marR="43794" marT="0" marB="0" anchor="ctr"/>
                </a:tc>
                <a:tc>
                  <a:txBody>
                    <a:bodyPr/>
                    <a:lstStyle/>
                    <a:p>
                      <a:pPr algn="just">
                        <a:spcAft>
                          <a:spcPts val="0"/>
                        </a:spcAft>
                      </a:pPr>
                      <a:r>
                        <a:rPr lang="en-US" sz="1300" kern="100">
                          <a:effectLst/>
                          <a:latin typeface="+mn-lt"/>
                        </a:rPr>
                        <a:t>Indicateur</a:t>
                      </a:r>
                      <a:endParaRPr lang="fr-FR" sz="1300" kern="100">
                        <a:effectLst/>
                        <a:latin typeface="+mn-lt"/>
                        <a:ea typeface="SimSun" panose="02010600030101010101" pitchFamily="2" charset="-122"/>
                        <a:cs typeface="Times New Roman" panose="02020603050405020304" pitchFamily="18" charset="0"/>
                      </a:endParaRPr>
                    </a:p>
                  </a:txBody>
                  <a:tcPr marL="43794" marR="43794" marT="0" marB="0" anchor="ctr"/>
                </a:tc>
                <a:tc>
                  <a:txBody>
                    <a:bodyPr/>
                    <a:lstStyle/>
                    <a:p>
                      <a:pPr algn="just">
                        <a:spcAft>
                          <a:spcPts val="0"/>
                        </a:spcAft>
                      </a:pPr>
                      <a:r>
                        <a:rPr lang="en-US" sz="1300" kern="100">
                          <a:effectLst/>
                          <a:latin typeface="+mn-lt"/>
                        </a:rPr>
                        <a:t>Statut </a:t>
                      </a:r>
                      <a:endParaRPr lang="fr-FR" sz="1300" kern="100">
                        <a:effectLst/>
                        <a:latin typeface="+mn-lt"/>
                        <a:ea typeface="SimSun" panose="02010600030101010101" pitchFamily="2" charset="-122"/>
                        <a:cs typeface="Times New Roman" panose="02020603050405020304" pitchFamily="18" charset="0"/>
                      </a:endParaRPr>
                    </a:p>
                  </a:txBody>
                  <a:tcPr marL="43794" marR="43794" marT="0" marB="0" anchor="ctr"/>
                </a:tc>
                <a:tc>
                  <a:txBody>
                    <a:bodyPr/>
                    <a:lstStyle/>
                    <a:p>
                      <a:pPr algn="just">
                        <a:spcAft>
                          <a:spcPts val="0"/>
                        </a:spcAft>
                      </a:pPr>
                      <a:r>
                        <a:rPr lang="en-US" sz="1300" kern="100" dirty="0" err="1">
                          <a:effectLst/>
                          <a:latin typeface="+mn-lt"/>
                        </a:rPr>
                        <a:t>Résultats</a:t>
                      </a:r>
                      <a:r>
                        <a:rPr lang="en-US" sz="1300" kern="100" dirty="0">
                          <a:effectLst/>
                          <a:latin typeface="+mn-lt"/>
                        </a:rPr>
                        <a:t> </a:t>
                      </a:r>
                      <a:r>
                        <a:rPr lang="en-US" sz="1300" kern="100" dirty="0" err="1">
                          <a:effectLst/>
                          <a:latin typeface="+mn-lt"/>
                        </a:rPr>
                        <a:t>obtenus</a:t>
                      </a:r>
                      <a:endParaRPr lang="fr-FR" sz="1300" kern="100" dirty="0">
                        <a:effectLst/>
                        <a:latin typeface="+mn-lt"/>
                        <a:ea typeface="SimSun" panose="02010600030101010101" pitchFamily="2" charset="-122"/>
                        <a:cs typeface="Times New Roman" panose="02020603050405020304" pitchFamily="18" charset="0"/>
                      </a:endParaRPr>
                    </a:p>
                  </a:txBody>
                  <a:tcPr marL="43794" marR="43794" marT="0" marB="0" anchor="ctr"/>
                </a:tc>
                <a:extLst>
                  <a:ext uri="{0D108BD9-81ED-4DB2-BD59-A6C34878D82A}">
                    <a16:rowId xmlns:a16="http://schemas.microsoft.com/office/drawing/2014/main" val="10000"/>
                  </a:ext>
                </a:extLst>
              </a:tr>
              <a:tr h="2233305">
                <a:tc>
                  <a:txBody>
                    <a:bodyPr/>
                    <a:lstStyle/>
                    <a:p>
                      <a:pPr algn="just">
                        <a:spcAft>
                          <a:spcPts val="0"/>
                        </a:spcAft>
                      </a:pPr>
                      <a:r>
                        <a:rPr lang="en-US" sz="1300" kern="100" dirty="0">
                          <a:effectLst/>
                          <a:latin typeface="+mn-lt"/>
                        </a:rPr>
                        <a:t>1</a:t>
                      </a:r>
                      <a:endParaRPr lang="fr-FR" sz="1300" kern="100" dirty="0">
                        <a:effectLst/>
                        <a:latin typeface="+mn-lt"/>
                        <a:ea typeface="SimSun" panose="02010600030101010101" pitchFamily="2" charset="-122"/>
                        <a:cs typeface="Times New Roman" panose="02020603050405020304" pitchFamily="18" charset="0"/>
                      </a:endParaRPr>
                    </a:p>
                  </a:txBody>
                  <a:tcPr marL="43794" marR="43794" marT="0" marB="0" anchor="ctr"/>
                </a:tc>
                <a:tc>
                  <a:txBody>
                    <a:bodyPr/>
                    <a:lstStyle/>
                    <a:p>
                      <a:pPr algn="just">
                        <a:spcAft>
                          <a:spcPts val="0"/>
                        </a:spcAft>
                      </a:pPr>
                      <a:r>
                        <a:rPr lang="fr-FR" sz="1400" kern="100" dirty="0">
                          <a:effectLst/>
                          <a:latin typeface="Times New Roman" panose="02020603050405020304" pitchFamily="18" charset="0"/>
                          <a:cs typeface="Times New Roman" panose="02020603050405020304" pitchFamily="18" charset="0"/>
                        </a:rPr>
                        <a:t>Apporter un appui technique à </a:t>
                      </a:r>
                    </a:p>
                    <a:p>
                      <a:pPr algn="just">
                        <a:spcAft>
                          <a:spcPts val="0"/>
                        </a:spcAft>
                      </a:pPr>
                      <a:r>
                        <a:rPr lang="fr-FR" sz="1400" kern="100" dirty="0">
                          <a:effectLst/>
                          <a:latin typeface="Times New Roman" panose="02020603050405020304" pitchFamily="18" charset="0"/>
                          <a:cs typeface="Times New Roman" panose="02020603050405020304" pitchFamily="18" charset="0"/>
                        </a:rPr>
                        <a:t>l'organisation de la micro-planification intégrée (Routine et AVS) à la base dans 519 ZS à travers les antennes</a:t>
                      </a:r>
                    </a:p>
                  </a:txBody>
                  <a:tcPr marL="43794" marR="43794" marT="0" marB="0" anchor="ctr"/>
                </a:tc>
                <a:tc>
                  <a:txBody>
                    <a:bodyPr/>
                    <a:lstStyle/>
                    <a:p>
                      <a:pPr algn="just">
                        <a:spcAft>
                          <a:spcPts val="0"/>
                        </a:spcAft>
                      </a:pPr>
                      <a:r>
                        <a:rPr lang="fr-FR" sz="1400" kern="100" dirty="0">
                          <a:effectLst/>
                          <a:latin typeface="Times New Roman" panose="02020603050405020304" pitchFamily="18" charset="0"/>
                          <a:cs typeface="Times New Roman" panose="02020603050405020304" pitchFamily="18" charset="0"/>
                        </a:rPr>
                        <a:t>Proportion de ZS disposant </a:t>
                      </a:r>
                    </a:p>
                    <a:p>
                      <a:pPr algn="just">
                        <a:spcAft>
                          <a:spcPts val="0"/>
                        </a:spcAft>
                      </a:pPr>
                      <a:r>
                        <a:rPr lang="fr-FR" sz="1400" kern="100" dirty="0">
                          <a:effectLst/>
                          <a:latin typeface="Times New Roman" panose="02020603050405020304" pitchFamily="18" charset="0"/>
                          <a:cs typeface="Times New Roman" panose="02020603050405020304" pitchFamily="18" charset="0"/>
                        </a:rPr>
                        <a:t>de micro-plan intégrés et </a:t>
                      </a:r>
                    </a:p>
                    <a:p>
                      <a:pPr algn="just">
                        <a:spcAft>
                          <a:spcPts val="0"/>
                        </a:spcAft>
                      </a:pPr>
                      <a:r>
                        <a:rPr lang="fr-FR" sz="1400" kern="100" dirty="0">
                          <a:effectLst/>
                          <a:latin typeface="Times New Roman" panose="02020603050405020304" pitchFamily="18" charset="0"/>
                          <a:cs typeface="Times New Roman" panose="02020603050405020304" pitchFamily="18" charset="0"/>
                        </a:rPr>
                        <a:t>validés par l'antenne</a:t>
                      </a:r>
                      <a:endParaRPr lang="fr-FR" sz="14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43794" marR="43794" marT="0" marB="0" anchor="ctr"/>
                </a:tc>
                <a:tc>
                  <a:txBody>
                    <a:bodyPr/>
                    <a:lstStyle/>
                    <a:p>
                      <a:pPr algn="just">
                        <a:spcAft>
                          <a:spcPts val="0"/>
                        </a:spcAft>
                      </a:pPr>
                      <a:r>
                        <a:rPr lang="en-US" sz="1400" kern="100" dirty="0" err="1">
                          <a:effectLst/>
                          <a:latin typeface="Times New Roman" panose="02020603050405020304" pitchFamily="18" charset="0"/>
                          <a:cs typeface="Times New Roman" panose="02020603050405020304" pitchFamily="18" charset="0"/>
                        </a:rPr>
                        <a:t>En</a:t>
                      </a:r>
                      <a:r>
                        <a:rPr lang="en-US" sz="1400" kern="100" dirty="0">
                          <a:effectLst/>
                          <a:latin typeface="Times New Roman" panose="02020603050405020304" pitchFamily="18" charset="0"/>
                          <a:cs typeface="Times New Roman" panose="02020603050405020304" pitchFamily="18" charset="0"/>
                        </a:rPr>
                        <a:t> </a:t>
                      </a:r>
                      <a:r>
                        <a:rPr lang="en-US" sz="1400" kern="100" dirty="0" err="1">
                          <a:effectLst/>
                          <a:latin typeface="Times New Roman" panose="02020603050405020304" pitchFamily="18" charset="0"/>
                          <a:cs typeface="Times New Roman" panose="02020603050405020304" pitchFamily="18" charset="0"/>
                        </a:rPr>
                        <a:t>cours</a:t>
                      </a:r>
                      <a:endParaRPr lang="fr-FR" sz="14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43794" marR="43794" marT="0" marB="0" anchor="ctr">
                    <a:solidFill>
                      <a:srgbClr val="FFFF00"/>
                    </a:solidFill>
                  </a:tcPr>
                </a:tc>
                <a:tc>
                  <a:txBody>
                    <a:bodyPr/>
                    <a:lstStyle/>
                    <a:p>
                      <a:pPr marL="285750" indent="-285750" algn="just">
                        <a:spcAft>
                          <a:spcPts val="0"/>
                        </a:spcAft>
                        <a:buFontTx/>
                        <a:buChar char="-"/>
                      </a:pPr>
                      <a:r>
                        <a:rPr lang="fr-FR" sz="1400" dirty="0">
                          <a:solidFill>
                            <a:schemeClr val="tx1"/>
                          </a:solidFill>
                        </a:rPr>
                        <a:t>192 ZS sur 519 ZS ont transmis les données des microplans intégrés en ligne </a:t>
                      </a:r>
                    </a:p>
                    <a:p>
                      <a:pPr marL="285750" indent="-285750" algn="just">
                        <a:spcAft>
                          <a:spcPts val="0"/>
                        </a:spcAft>
                        <a:buFontTx/>
                        <a:buChar char="-"/>
                      </a:pPr>
                      <a:r>
                        <a:rPr lang="fr-FR" sz="1400" baseline="0" dirty="0">
                          <a:solidFill>
                            <a:schemeClr val="tx1"/>
                          </a:solidFill>
                        </a:rPr>
                        <a:t> 4 antennes sur 46 ont transmis la </a:t>
                      </a:r>
                      <a:r>
                        <a:rPr lang="fr-FR" sz="1400" dirty="0">
                          <a:solidFill>
                            <a:schemeClr val="tx1"/>
                          </a:solidFill>
                        </a:rPr>
                        <a:t>synthèse des </a:t>
                      </a:r>
                      <a:r>
                        <a:rPr lang="fr-FR" sz="1300" kern="100" dirty="0" err="1">
                          <a:solidFill>
                            <a:schemeClr val="tx1"/>
                          </a:solidFill>
                          <a:effectLst/>
                          <a:latin typeface="+mn-lt"/>
                          <a:ea typeface="+mn-ea"/>
                          <a:cs typeface="+mn-cs"/>
                        </a:rPr>
                        <a:t>microplans</a:t>
                      </a:r>
                      <a:r>
                        <a:rPr lang="fr-FR" sz="1400" dirty="0">
                          <a:solidFill>
                            <a:schemeClr val="tx1"/>
                          </a:solidFill>
                        </a:rPr>
                        <a:t>  (Lisala, Bumba , </a:t>
                      </a:r>
                      <a:r>
                        <a:rPr lang="fr-FR" sz="1400" dirty="0" err="1">
                          <a:solidFill>
                            <a:schemeClr val="tx1"/>
                          </a:solidFill>
                        </a:rPr>
                        <a:t>Tshumbe</a:t>
                      </a:r>
                      <a:r>
                        <a:rPr lang="fr-FR" sz="1400" dirty="0">
                          <a:solidFill>
                            <a:schemeClr val="tx1"/>
                          </a:solidFill>
                        </a:rPr>
                        <a:t> et Nord </a:t>
                      </a:r>
                      <a:r>
                        <a:rPr lang="fr-FR" sz="1400" dirty="0" err="1">
                          <a:solidFill>
                            <a:schemeClr val="tx1"/>
                          </a:solidFill>
                        </a:rPr>
                        <a:t>Ubangi</a:t>
                      </a:r>
                      <a:r>
                        <a:rPr lang="fr-FR" sz="1400" dirty="0">
                          <a:solidFill>
                            <a:schemeClr val="tx1"/>
                          </a:solidFill>
                        </a:rPr>
                        <a:t>)</a:t>
                      </a:r>
                    </a:p>
                  </a:txBody>
                  <a:tcPr marL="43794" marR="43794" marT="0" marB="0" anchor="ctr"/>
                </a:tc>
                <a:extLst>
                  <a:ext uri="{0D108BD9-81ED-4DB2-BD59-A6C34878D82A}">
                    <a16:rowId xmlns:a16="http://schemas.microsoft.com/office/drawing/2014/main" val="10001"/>
                  </a:ext>
                </a:extLst>
              </a:tr>
              <a:tr h="1004573">
                <a:tc>
                  <a:txBody>
                    <a:bodyPr/>
                    <a:lstStyle/>
                    <a:p>
                      <a:pPr algn="just">
                        <a:spcAft>
                          <a:spcPts val="0"/>
                        </a:spcAft>
                      </a:pPr>
                      <a:r>
                        <a:rPr lang="en-US" sz="1300" kern="100">
                          <a:effectLst/>
                          <a:latin typeface="+mn-lt"/>
                        </a:rPr>
                        <a:t>2</a:t>
                      </a:r>
                      <a:endParaRPr lang="fr-FR" sz="1300" kern="100">
                        <a:effectLst/>
                        <a:latin typeface="+mn-lt"/>
                        <a:ea typeface="SimSun" panose="02010600030101010101" pitchFamily="2" charset="-122"/>
                        <a:cs typeface="Times New Roman" panose="02020603050405020304" pitchFamily="18" charset="0"/>
                      </a:endParaRPr>
                    </a:p>
                  </a:txBody>
                  <a:tcPr marL="43794" marR="43794" marT="0" marB="0" anchor="ctr"/>
                </a:tc>
                <a:tc>
                  <a:txBody>
                    <a:bodyPr/>
                    <a:lstStyle/>
                    <a:p>
                      <a:pPr algn="just">
                        <a:spcAft>
                          <a:spcPts val="0"/>
                        </a:spcAft>
                      </a:pPr>
                      <a:r>
                        <a:rPr lang="fr-FR" sz="1400" kern="100">
                          <a:effectLst/>
                          <a:latin typeface="Times New Roman" panose="02020603050405020304" pitchFamily="18" charset="0"/>
                          <a:cs typeface="Times New Roman" panose="02020603050405020304" pitchFamily="18" charset="0"/>
                        </a:rPr>
                        <a:t>Apporter un appui technique et financier aux antennes PEV pour l'organisation des séances de vaccination en stratégie traditionnelle (fixe,avancé et mobile)</a:t>
                      </a:r>
                      <a:endParaRPr lang="fr-FR" sz="14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43794" marR="43794" marT="0" marB="0" anchor="ctr"/>
                </a:tc>
                <a:tc>
                  <a:txBody>
                    <a:bodyPr/>
                    <a:lstStyle/>
                    <a:p>
                      <a:pPr algn="just">
                        <a:spcAft>
                          <a:spcPts val="0"/>
                        </a:spcAft>
                      </a:pPr>
                      <a:r>
                        <a:rPr lang="fr-FR" sz="1400" kern="100" dirty="0">
                          <a:effectLst/>
                          <a:latin typeface="Times New Roman" panose="02020603050405020304" pitchFamily="18" charset="0"/>
                          <a:cs typeface="Times New Roman" panose="02020603050405020304" pitchFamily="18" charset="0"/>
                        </a:rPr>
                        <a:t>Proportion des ZS ayant </a:t>
                      </a:r>
                    </a:p>
                    <a:p>
                      <a:pPr algn="just">
                        <a:spcAft>
                          <a:spcPts val="0"/>
                        </a:spcAft>
                      </a:pPr>
                      <a:r>
                        <a:rPr lang="fr-FR" sz="1400" kern="100" dirty="0">
                          <a:effectLst/>
                          <a:latin typeface="Times New Roman" panose="02020603050405020304" pitchFamily="18" charset="0"/>
                          <a:cs typeface="Times New Roman" panose="02020603050405020304" pitchFamily="18" charset="0"/>
                        </a:rPr>
                        <a:t>réalisé au moins 80% des </a:t>
                      </a:r>
                    </a:p>
                    <a:p>
                      <a:pPr algn="just">
                        <a:spcAft>
                          <a:spcPts val="0"/>
                        </a:spcAft>
                      </a:pPr>
                      <a:r>
                        <a:rPr lang="fr-FR" sz="1400" kern="100" dirty="0">
                          <a:effectLst/>
                          <a:latin typeface="Times New Roman" panose="02020603050405020304" pitchFamily="18" charset="0"/>
                          <a:cs typeface="Times New Roman" panose="02020603050405020304" pitchFamily="18" charset="0"/>
                        </a:rPr>
                        <a:t>séances de vaccination </a:t>
                      </a:r>
                      <a:endParaRPr lang="fr-FR" sz="14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43794" marR="43794" marT="0" marB="0" anchor="ctr"/>
                </a:tc>
                <a:tc>
                  <a:txBody>
                    <a:bodyPr/>
                    <a:lstStyle/>
                    <a:p>
                      <a:pPr algn="just">
                        <a:spcAft>
                          <a:spcPts val="0"/>
                        </a:spcAft>
                      </a:pPr>
                      <a:r>
                        <a:rPr lang="en-US" sz="1400" kern="100" dirty="0" err="1">
                          <a:effectLst/>
                          <a:latin typeface="Times New Roman" panose="02020603050405020304" pitchFamily="18" charset="0"/>
                          <a:cs typeface="Times New Roman" panose="02020603050405020304" pitchFamily="18" charset="0"/>
                        </a:rPr>
                        <a:t>En</a:t>
                      </a:r>
                      <a:r>
                        <a:rPr lang="en-US" sz="1400" kern="100" dirty="0">
                          <a:effectLst/>
                          <a:latin typeface="Times New Roman" panose="02020603050405020304" pitchFamily="18" charset="0"/>
                          <a:cs typeface="Times New Roman" panose="02020603050405020304" pitchFamily="18" charset="0"/>
                        </a:rPr>
                        <a:t> </a:t>
                      </a:r>
                      <a:r>
                        <a:rPr lang="en-US" sz="1400" kern="100" dirty="0" err="1">
                          <a:effectLst/>
                          <a:latin typeface="Times New Roman" panose="02020603050405020304" pitchFamily="18" charset="0"/>
                          <a:cs typeface="Times New Roman" panose="02020603050405020304" pitchFamily="18" charset="0"/>
                        </a:rPr>
                        <a:t>cours</a:t>
                      </a:r>
                      <a:r>
                        <a:rPr lang="en-US" sz="1400" kern="100" dirty="0">
                          <a:effectLst/>
                          <a:latin typeface="Times New Roman" panose="02020603050405020304" pitchFamily="18" charset="0"/>
                          <a:cs typeface="Times New Roman" panose="02020603050405020304" pitchFamily="18" charset="0"/>
                        </a:rPr>
                        <a:t> </a:t>
                      </a:r>
                      <a:endParaRPr lang="fr-FR" sz="14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43794" marR="43794" marT="0" marB="0" anchor="ctr">
                    <a:solidFill>
                      <a:srgbClr val="FFFF00"/>
                    </a:solidFill>
                  </a:tcPr>
                </a:tc>
                <a:tc>
                  <a:txBody>
                    <a:bodyPr/>
                    <a:lstStyle/>
                    <a:p>
                      <a:pPr algn="just">
                        <a:spcAft>
                          <a:spcPts val="0"/>
                        </a:spcAft>
                      </a:pPr>
                      <a:r>
                        <a:rPr lang="fr-FR" sz="1300" kern="100" dirty="0">
                          <a:solidFill>
                            <a:schemeClr val="tx1"/>
                          </a:solidFill>
                          <a:effectLst/>
                          <a:latin typeface="+mn-lt"/>
                        </a:rPr>
                        <a:t>2 antennes sur 51 (soit 4%) ont atteint plus de 80% des séances de vaccination.</a:t>
                      </a:r>
                      <a:endParaRPr lang="fr-FR" sz="1300" kern="100" dirty="0">
                        <a:solidFill>
                          <a:schemeClr val="tx1"/>
                        </a:solidFill>
                        <a:effectLst/>
                        <a:latin typeface="+mn-lt"/>
                        <a:ea typeface="SimSun" panose="02010600030101010101" pitchFamily="2" charset="-122"/>
                        <a:cs typeface="Times New Roman" panose="02020603050405020304" pitchFamily="18" charset="0"/>
                      </a:endParaRPr>
                    </a:p>
                  </a:txBody>
                  <a:tcPr marL="43794" marR="43794" marT="0" marB="0" anchor="ctr"/>
                </a:tc>
                <a:extLst>
                  <a:ext uri="{0D108BD9-81ED-4DB2-BD59-A6C34878D82A}">
                    <a16:rowId xmlns:a16="http://schemas.microsoft.com/office/drawing/2014/main" val="10002"/>
                  </a:ext>
                </a:extLst>
              </a:tr>
              <a:tr h="2064768">
                <a:tc>
                  <a:txBody>
                    <a:bodyPr/>
                    <a:lstStyle/>
                    <a:p>
                      <a:pPr algn="just">
                        <a:spcAft>
                          <a:spcPts val="0"/>
                        </a:spcAft>
                      </a:pPr>
                      <a:r>
                        <a:rPr lang="en-US" sz="1300" kern="100" dirty="0">
                          <a:effectLst/>
                          <a:latin typeface="+mn-lt"/>
                        </a:rPr>
                        <a:t> 3</a:t>
                      </a:r>
                      <a:endParaRPr lang="fr-FR" sz="1300" kern="100" dirty="0">
                        <a:effectLst/>
                        <a:latin typeface="+mn-lt"/>
                        <a:ea typeface="SimSun" panose="02010600030101010101" pitchFamily="2" charset="-122"/>
                        <a:cs typeface="Times New Roman" panose="02020603050405020304" pitchFamily="18" charset="0"/>
                      </a:endParaRPr>
                    </a:p>
                  </a:txBody>
                  <a:tcPr marL="43794" marR="43794" marT="0" marB="0" anchor="ctr"/>
                </a:tc>
                <a:tc>
                  <a:txBody>
                    <a:bodyPr/>
                    <a:lstStyle/>
                    <a:p>
                      <a:pPr algn="just">
                        <a:spcAft>
                          <a:spcPts val="0"/>
                        </a:spcAft>
                      </a:pPr>
                      <a:r>
                        <a:rPr lang="fr-FR" sz="1400" kern="100" dirty="0">
                          <a:effectLst/>
                          <a:latin typeface="Times New Roman" panose="02020603050405020304" pitchFamily="18" charset="0"/>
                          <a:cs typeface="Times New Roman" panose="02020603050405020304" pitchFamily="18" charset="0"/>
                        </a:rPr>
                        <a:t>Apporter un appui technique et financier aux antennes PEV pour l'organisation des stratégies spécifiques de vaccination pour atteindre les populations manquées (SAV, IPVS, OVM, approche urbaine, </a:t>
                      </a:r>
                      <a:r>
                        <a:rPr lang="fr-FR" sz="1400" kern="100" dirty="0" err="1">
                          <a:effectLst/>
                          <a:latin typeface="Times New Roman" panose="02020603050405020304" pitchFamily="18" charset="0"/>
                          <a:cs typeface="Times New Roman" panose="02020603050405020304" pitchFamily="18" charset="0"/>
                        </a:rPr>
                        <a:t>strategie</a:t>
                      </a:r>
                      <a:r>
                        <a:rPr lang="fr-FR" sz="1400" kern="100" dirty="0">
                          <a:effectLst/>
                          <a:latin typeface="Times New Roman" panose="02020603050405020304" pitchFamily="18" charset="0"/>
                          <a:cs typeface="Times New Roman" panose="02020603050405020304" pitchFamily="18" charset="0"/>
                        </a:rPr>
                        <a:t> fluviale, PDI, récupération au cours des AVS)</a:t>
                      </a:r>
                      <a:endParaRPr lang="fr-FR" sz="14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43794" marR="43794" marT="0" marB="0" anchor="ctr"/>
                </a:tc>
                <a:tc>
                  <a:txBody>
                    <a:bodyPr/>
                    <a:lstStyle/>
                    <a:p>
                      <a:pPr algn="l">
                        <a:lnSpc>
                          <a:spcPct val="115000"/>
                        </a:lnSpc>
                      </a:pPr>
                      <a:r>
                        <a:rPr lang="fr-FR" sz="1400" kern="100" dirty="0">
                          <a:effectLst/>
                          <a:latin typeface="Times New Roman" panose="02020603050405020304" pitchFamily="18" charset="0"/>
                          <a:cs typeface="Times New Roman" panose="02020603050405020304" pitchFamily="18" charset="0"/>
                        </a:rPr>
                        <a:t>Proportion des ZS ayant récupéré les enfants zéro dose et sous-vaccinés </a:t>
                      </a:r>
                      <a:endParaRPr lang="fr-FR" sz="14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43794" marR="43794" marT="0" marB="0" anchor="ctr"/>
                </a:tc>
                <a:tc>
                  <a:txBody>
                    <a:bodyPr/>
                    <a:lstStyle/>
                    <a:p>
                      <a:pPr algn="just">
                        <a:spcAft>
                          <a:spcPts val="0"/>
                        </a:spcAft>
                      </a:pPr>
                      <a:r>
                        <a:rPr lang="en-US" sz="1400" kern="100" dirty="0" err="1">
                          <a:effectLst/>
                          <a:latin typeface="Times New Roman" panose="02020603050405020304" pitchFamily="18" charset="0"/>
                          <a:cs typeface="Times New Roman" panose="02020603050405020304" pitchFamily="18" charset="0"/>
                        </a:rPr>
                        <a:t>En</a:t>
                      </a:r>
                      <a:r>
                        <a:rPr lang="en-US" sz="1400" kern="100" dirty="0">
                          <a:effectLst/>
                          <a:latin typeface="Times New Roman" panose="02020603050405020304" pitchFamily="18" charset="0"/>
                          <a:cs typeface="Times New Roman" panose="02020603050405020304" pitchFamily="18" charset="0"/>
                        </a:rPr>
                        <a:t> </a:t>
                      </a:r>
                      <a:r>
                        <a:rPr lang="en-US" sz="1400" kern="100" dirty="0" err="1">
                          <a:effectLst/>
                          <a:latin typeface="Times New Roman" panose="02020603050405020304" pitchFamily="18" charset="0"/>
                          <a:cs typeface="Times New Roman" panose="02020603050405020304" pitchFamily="18" charset="0"/>
                        </a:rPr>
                        <a:t>cours</a:t>
                      </a:r>
                      <a:endParaRPr lang="fr-FR" sz="14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43794" marR="43794" marT="0" marB="0" anchor="ctr">
                    <a:solidFill>
                      <a:srgbClr val="FFFF00"/>
                    </a:solidFill>
                  </a:tcPr>
                </a:tc>
                <a:tc>
                  <a:txBody>
                    <a:bodyPr/>
                    <a:lstStyle/>
                    <a:p>
                      <a:pPr algn="just">
                        <a:spcAft>
                          <a:spcPts val="0"/>
                        </a:spcAft>
                      </a:pPr>
                      <a:r>
                        <a:rPr lang="fr-FR" sz="1300" kern="100" dirty="0">
                          <a:solidFill>
                            <a:schemeClr val="tx1"/>
                          </a:solidFill>
                          <a:effectLst/>
                          <a:latin typeface="+mn-lt"/>
                        </a:rPr>
                        <a:t>15/26 (soit 61.5%)</a:t>
                      </a:r>
                    </a:p>
                    <a:p>
                      <a:pPr algn="just">
                        <a:spcAft>
                          <a:spcPts val="0"/>
                        </a:spcAft>
                      </a:pPr>
                      <a:r>
                        <a:rPr lang="fr-FR" sz="1300" kern="100" dirty="0">
                          <a:solidFill>
                            <a:schemeClr val="tx1"/>
                          </a:solidFill>
                          <a:effectLst/>
                          <a:latin typeface="+mn-lt"/>
                        </a:rPr>
                        <a:t>5/16 (31.2%) avec 3 passages</a:t>
                      </a:r>
                    </a:p>
                    <a:p>
                      <a:pPr algn="just">
                        <a:spcAft>
                          <a:spcPts val="0"/>
                        </a:spcAft>
                      </a:pPr>
                      <a:r>
                        <a:rPr lang="fr-FR" sz="1300" kern="100" dirty="0">
                          <a:solidFill>
                            <a:schemeClr val="tx1"/>
                          </a:solidFill>
                          <a:effectLst/>
                          <a:latin typeface="+mn-lt"/>
                        </a:rPr>
                        <a:t>10/26 (soit 62.5%) avec 1-2 passages</a:t>
                      </a:r>
                    </a:p>
                    <a:p>
                      <a:pPr algn="just">
                        <a:spcAft>
                          <a:spcPts val="0"/>
                        </a:spcAft>
                      </a:pPr>
                      <a:r>
                        <a:rPr lang="fr-FR" sz="1300" kern="100" dirty="0">
                          <a:solidFill>
                            <a:schemeClr val="tx1"/>
                          </a:solidFill>
                          <a:effectLst/>
                          <a:latin typeface="+mn-lt"/>
                        </a:rPr>
                        <a:t>1/26 (soit 6.25) en attente de MOE</a:t>
                      </a:r>
                      <a:endParaRPr lang="fr-FR" sz="1300" kern="100" dirty="0">
                        <a:solidFill>
                          <a:schemeClr val="tx1"/>
                        </a:solidFill>
                        <a:effectLst/>
                        <a:latin typeface="+mn-lt"/>
                        <a:ea typeface="SimSun" panose="02010600030101010101" pitchFamily="2" charset="-122"/>
                        <a:cs typeface="Times New Roman" panose="02020603050405020304" pitchFamily="18" charset="0"/>
                      </a:endParaRPr>
                    </a:p>
                  </a:txBody>
                  <a:tcPr marL="43794" marR="43794" marT="0" marB="0"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4991351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2" name="Google Shape;222;p16"/>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spcBef>
                <a:spcPts val="0"/>
              </a:spcBef>
              <a:spcAft>
                <a:spcPts val="0"/>
              </a:spcAft>
              <a:buNone/>
            </a:pPr>
            <a:endParaRPr sz="1865">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4" name="Google Shape;224;p16"/>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graphicFrame>
        <p:nvGraphicFramePr>
          <p:cNvPr id="2" name="Tableau 1"/>
          <p:cNvGraphicFramePr>
            <a:graphicFrameLocks noGrp="1"/>
          </p:cNvGraphicFramePr>
          <p:nvPr>
            <p:extLst>
              <p:ext uri="{D42A27DB-BD31-4B8C-83A1-F6EECF244321}">
                <p14:modId xmlns:p14="http://schemas.microsoft.com/office/powerpoint/2010/main" val="1755026074"/>
              </p:ext>
            </p:extLst>
          </p:nvPr>
        </p:nvGraphicFramePr>
        <p:xfrm>
          <a:off x="267700" y="755161"/>
          <a:ext cx="11274800" cy="5737681"/>
        </p:xfrm>
        <a:graphic>
          <a:graphicData uri="http://schemas.openxmlformats.org/drawingml/2006/table">
            <a:tbl>
              <a:tblPr firstRow="1" firstCol="1" bandRow="1">
                <a:tableStyleId>{5C22544A-7EE6-4342-B048-85BDC9FD1C3A}</a:tableStyleId>
              </a:tblPr>
              <a:tblGrid>
                <a:gridCol w="527158">
                  <a:extLst>
                    <a:ext uri="{9D8B030D-6E8A-4147-A177-3AD203B41FA5}">
                      <a16:colId xmlns:a16="http://schemas.microsoft.com/office/drawing/2014/main" val="20000"/>
                    </a:ext>
                  </a:extLst>
                </a:gridCol>
                <a:gridCol w="4716056">
                  <a:extLst>
                    <a:ext uri="{9D8B030D-6E8A-4147-A177-3AD203B41FA5}">
                      <a16:colId xmlns:a16="http://schemas.microsoft.com/office/drawing/2014/main" val="20001"/>
                    </a:ext>
                  </a:extLst>
                </a:gridCol>
                <a:gridCol w="2862332">
                  <a:extLst>
                    <a:ext uri="{9D8B030D-6E8A-4147-A177-3AD203B41FA5}">
                      <a16:colId xmlns:a16="http://schemas.microsoft.com/office/drawing/2014/main" val="20002"/>
                    </a:ext>
                  </a:extLst>
                </a:gridCol>
                <a:gridCol w="1236269">
                  <a:extLst>
                    <a:ext uri="{9D8B030D-6E8A-4147-A177-3AD203B41FA5}">
                      <a16:colId xmlns:a16="http://schemas.microsoft.com/office/drawing/2014/main" val="20005"/>
                    </a:ext>
                  </a:extLst>
                </a:gridCol>
                <a:gridCol w="1932985">
                  <a:extLst>
                    <a:ext uri="{9D8B030D-6E8A-4147-A177-3AD203B41FA5}">
                      <a16:colId xmlns:a16="http://schemas.microsoft.com/office/drawing/2014/main" val="20006"/>
                    </a:ext>
                  </a:extLst>
                </a:gridCol>
              </a:tblGrid>
              <a:tr h="444636">
                <a:tc>
                  <a:txBody>
                    <a:bodyPr/>
                    <a:lstStyle/>
                    <a:p>
                      <a:pPr algn="just">
                        <a:spcAft>
                          <a:spcPts val="0"/>
                        </a:spcAft>
                      </a:pPr>
                      <a:r>
                        <a:rPr lang="en-US" sz="1400" kern="100" dirty="0">
                          <a:effectLst/>
                          <a:latin typeface="Times New Roman" panose="02020603050405020304" pitchFamily="18" charset="0"/>
                          <a:cs typeface="Times New Roman" panose="02020603050405020304" pitchFamily="18" charset="0"/>
                        </a:rPr>
                        <a:t>N°</a:t>
                      </a:r>
                      <a:endParaRPr lang="fr-FR" sz="14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43794" marR="43794" marT="0" marB="0"/>
                </a:tc>
                <a:tc>
                  <a:txBody>
                    <a:bodyPr/>
                    <a:lstStyle/>
                    <a:p>
                      <a:pPr algn="just">
                        <a:spcAft>
                          <a:spcPts val="0"/>
                        </a:spcAft>
                      </a:pPr>
                      <a:r>
                        <a:rPr lang="en-US" sz="1400" kern="100" dirty="0" err="1">
                          <a:effectLst/>
                          <a:latin typeface="Times New Roman" panose="02020603050405020304" pitchFamily="18" charset="0"/>
                          <a:cs typeface="Times New Roman" panose="02020603050405020304" pitchFamily="18" charset="0"/>
                        </a:rPr>
                        <a:t>Activité</a:t>
                      </a:r>
                      <a:endParaRPr lang="fr-FR" sz="14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43794" marR="43794" marT="0" marB="0" anchor="ctr"/>
                </a:tc>
                <a:tc>
                  <a:txBody>
                    <a:bodyPr/>
                    <a:lstStyle/>
                    <a:p>
                      <a:pPr algn="just">
                        <a:spcAft>
                          <a:spcPts val="0"/>
                        </a:spcAft>
                      </a:pPr>
                      <a:r>
                        <a:rPr lang="en-US" sz="1400" kern="100">
                          <a:effectLst/>
                          <a:latin typeface="Times New Roman" panose="02020603050405020304" pitchFamily="18" charset="0"/>
                          <a:cs typeface="Times New Roman" panose="02020603050405020304" pitchFamily="18" charset="0"/>
                        </a:rPr>
                        <a:t>Indicateur</a:t>
                      </a:r>
                      <a:endParaRPr lang="fr-FR" sz="14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43794" marR="43794" marT="0" marB="0" anchor="ctr"/>
                </a:tc>
                <a:tc>
                  <a:txBody>
                    <a:bodyPr/>
                    <a:lstStyle/>
                    <a:p>
                      <a:pPr algn="just">
                        <a:spcAft>
                          <a:spcPts val="0"/>
                        </a:spcAft>
                      </a:pPr>
                      <a:r>
                        <a:rPr lang="en-US" sz="1400" kern="100">
                          <a:effectLst/>
                          <a:latin typeface="Times New Roman" panose="02020603050405020304" pitchFamily="18" charset="0"/>
                          <a:cs typeface="Times New Roman" panose="02020603050405020304" pitchFamily="18" charset="0"/>
                        </a:rPr>
                        <a:t>Statut </a:t>
                      </a:r>
                      <a:endParaRPr lang="fr-FR" sz="14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43794" marR="43794" marT="0" marB="0" anchor="ctr"/>
                </a:tc>
                <a:tc>
                  <a:txBody>
                    <a:bodyPr/>
                    <a:lstStyle/>
                    <a:p>
                      <a:pPr algn="just">
                        <a:spcAft>
                          <a:spcPts val="0"/>
                        </a:spcAft>
                      </a:pPr>
                      <a:r>
                        <a:rPr lang="en-US" sz="1400" kern="100">
                          <a:effectLst/>
                          <a:latin typeface="Times New Roman" panose="02020603050405020304" pitchFamily="18" charset="0"/>
                          <a:cs typeface="Times New Roman" panose="02020603050405020304" pitchFamily="18" charset="0"/>
                        </a:rPr>
                        <a:t>Résultats obtenus</a:t>
                      </a:r>
                      <a:endParaRPr lang="fr-FR" sz="1400" kern="100">
                        <a:effectLst/>
                        <a:latin typeface="Times New Roman" panose="02020603050405020304" pitchFamily="18" charset="0"/>
                        <a:ea typeface="SimSun" panose="02010600030101010101" pitchFamily="2" charset="-122"/>
                        <a:cs typeface="Times New Roman" panose="02020603050405020304" pitchFamily="18" charset="0"/>
                      </a:endParaRPr>
                    </a:p>
                  </a:txBody>
                  <a:tcPr marL="43794" marR="43794" marT="0" marB="0" anchor="ctr"/>
                </a:tc>
                <a:extLst>
                  <a:ext uri="{0D108BD9-81ED-4DB2-BD59-A6C34878D82A}">
                    <a16:rowId xmlns:a16="http://schemas.microsoft.com/office/drawing/2014/main" val="10000"/>
                  </a:ext>
                </a:extLst>
              </a:tr>
              <a:tr h="1556225">
                <a:tc>
                  <a:txBody>
                    <a:bodyPr/>
                    <a:lstStyle/>
                    <a:p>
                      <a:pPr algn="just">
                        <a:spcAft>
                          <a:spcPts val="0"/>
                        </a:spcAft>
                      </a:pPr>
                      <a:r>
                        <a:rPr lang="en-US" sz="1400" kern="100" dirty="0">
                          <a:effectLst/>
                          <a:latin typeface="Times New Roman" panose="02020603050405020304" pitchFamily="18" charset="0"/>
                          <a:ea typeface="+mn-ea"/>
                          <a:cs typeface="Times New Roman" panose="02020603050405020304" pitchFamily="18" charset="0"/>
                        </a:rPr>
                        <a:t>4</a:t>
                      </a:r>
                      <a:endParaRPr lang="fr-FR" sz="14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43794" marR="43794" marT="0" marB="0" anchor="ctr"/>
                </a:tc>
                <a:tc>
                  <a:txBody>
                    <a:bodyPr/>
                    <a:lstStyle/>
                    <a:p>
                      <a:pPr algn="just">
                        <a:spcAft>
                          <a:spcPts val="0"/>
                        </a:spcAft>
                      </a:pPr>
                      <a:r>
                        <a:rPr lang="fr-FR" sz="1400" kern="100" dirty="0">
                          <a:effectLst/>
                          <a:latin typeface="Times New Roman" panose="02020603050405020304" pitchFamily="18" charset="0"/>
                          <a:ea typeface="SimSun" panose="02010600030101010101" pitchFamily="2" charset="-122"/>
                          <a:cs typeface="Times New Roman" panose="02020603050405020304" pitchFamily="18" charset="0"/>
                        </a:rPr>
                        <a:t>Apporter un appui technique à l'intégration </a:t>
                      </a:r>
                    </a:p>
                    <a:p>
                      <a:pPr algn="just">
                        <a:spcAft>
                          <a:spcPts val="0"/>
                        </a:spcAft>
                      </a:pPr>
                      <a:r>
                        <a:rPr lang="fr-FR" sz="1400" kern="100" dirty="0">
                          <a:effectLst/>
                          <a:latin typeface="Times New Roman" panose="02020603050405020304" pitchFamily="18" charset="0"/>
                          <a:ea typeface="SimSun" panose="02010600030101010101" pitchFamily="2" charset="-122"/>
                          <a:cs typeface="Times New Roman" panose="02020603050405020304" pitchFamily="18" charset="0"/>
                        </a:rPr>
                        <a:t>des activités de vaccination dans tous les ESS publics et privés viables qui ne les offrent pas à travers l'élaboration des directives </a:t>
                      </a:r>
                    </a:p>
                  </a:txBody>
                  <a:tcPr marL="43794" marR="43794" marT="0" marB="0" anchor="ctr"/>
                </a:tc>
                <a:tc>
                  <a:txBody>
                    <a:bodyPr/>
                    <a:lstStyle/>
                    <a:p>
                      <a:pPr algn="just">
                        <a:spcAft>
                          <a:spcPts val="0"/>
                        </a:spcAft>
                      </a:pPr>
                      <a:r>
                        <a:rPr lang="fr-FR" sz="1400" kern="100" dirty="0">
                          <a:effectLst/>
                          <a:latin typeface="Times New Roman" panose="02020603050405020304" pitchFamily="18" charset="0"/>
                          <a:ea typeface="SimSun" panose="02010600030101010101" pitchFamily="2" charset="-122"/>
                          <a:cs typeface="Times New Roman" panose="02020603050405020304" pitchFamily="18" charset="0"/>
                        </a:rPr>
                        <a:t>Proportion des ZS ayant intégré au moins 50% des ESS fiables identifiées</a:t>
                      </a:r>
                    </a:p>
                  </a:txBody>
                  <a:tcPr marL="43794" marR="43794" marT="0" marB="0" anchor="ctr"/>
                </a:tc>
                <a:tc>
                  <a:txBody>
                    <a:bodyPr/>
                    <a:lstStyle/>
                    <a:p>
                      <a:pPr algn="just">
                        <a:spcAft>
                          <a:spcPts val="0"/>
                        </a:spcAft>
                      </a:pPr>
                      <a:endParaRPr lang="fr-FR" sz="14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43794" marR="43794" marT="0" marB="0" anchor="ctr">
                    <a:solidFill>
                      <a:srgbClr val="FF0000"/>
                    </a:solidFill>
                  </a:tcPr>
                </a:tc>
                <a:tc>
                  <a:txBody>
                    <a:bodyPr/>
                    <a:lstStyle/>
                    <a:p>
                      <a:pPr algn="just">
                        <a:spcAft>
                          <a:spcPts val="0"/>
                        </a:spcAft>
                      </a:pPr>
                      <a:r>
                        <a:rPr lang="fr-FR" sz="1300" kern="100" dirty="0">
                          <a:solidFill>
                            <a:schemeClr val="tx1"/>
                          </a:solidFill>
                          <a:effectLst/>
                          <a:latin typeface="+mn-lt"/>
                          <a:ea typeface="SimSun" panose="02010600030101010101" pitchFamily="2" charset="-122"/>
                          <a:cs typeface="Times New Roman" panose="02020603050405020304" pitchFamily="18" charset="0"/>
                        </a:rPr>
                        <a:t>0 %</a:t>
                      </a:r>
                    </a:p>
                  </a:txBody>
                  <a:tcPr marL="43794" marR="43794" marT="0" marB="0" anchor="ctr"/>
                </a:tc>
                <a:extLst>
                  <a:ext uri="{0D108BD9-81ED-4DB2-BD59-A6C34878D82A}">
                    <a16:rowId xmlns:a16="http://schemas.microsoft.com/office/drawing/2014/main" val="10001"/>
                  </a:ext>
                </a:extLst>
              </a:tr>
              <a:tr h="1147914">
                <a:tc>
                  <a:txBody>
                    <a:bodyPr/>
                    <a:lstStyle/>
                    <a:p>
                      <a:pPr algn="just">
                        <a:spcAft>
                          <a:spcPts val="0"/>
                        </a:spcAft>
                      </a:pPr>
                      <a:r>
                        <a:rPr lang="en-US" sz="1400" kern="100" dirty="0">
                          <a:effectLst/>
                          <a:latin typeface="Times New Roman" panose="02020603050405020304" pitchFamily="18" charset="0"/>
                          <a:ea typeface="+mn-ea"/>
                          <a:cs typeface="Times New Roman" panose="02020603050405020304" pitchFamily="18" charset="0"/>
                        </a:rPr>
                        <a:t>5</a:t>
                      </a:r>
                      <a:endParaRPr lang="fr-FR" sz="14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43794" marR="43794" marT="0" marB="0" anchor="ctr"/>
                </a:tc>
                <a:tc>
                  <a:txBody>
                    <a:bodyPr/>
                    <a:lstStyle/>
                    <a:p>
                      <a:pPr marR="0" algn="just" rtl="0">
                        <a:lnSpc>
                          <a:spcPct val="100000"/>
                        </a:lnSpc>
                        <a:spcBef>
                          <a:spcPts val="0"/>
                        </a:spcBef>
                        <a:spcAft>
                          <a:spcPts val="0"/>
                        </a:spcAft>
                        <a:buClr>
                          <a:srgbClr val="000000"/>
                        </a:buClr>
                        <a:buFont typeface="Arial" panose="020B0604020202020204"/>
                      </a:pPr>
                      <a:r>
                        <a:rPr lang="fr-FR" sz="1400" kern="100" dirty="0">
                          <a:solidFill>
                            <a:schemeClr val="dk1"/>
                          </a:solidFill>
                          <a:effectLst/>
                          <a:latin typeface="Times New Roman" panose="02020603050405020304" pitchFamily="18" charset="0"/>
                          <a:ea typeface="SimSun" panose="02010600030101010101" pitchFamily="2" charset="-122"/>
                          <a:cs typeface="Times New Roman" panose="02020603050405020304" pitchFamily="18" charset="0"/>
                          <a:sym typeface="Arial" panose="020B0604020202020204"/>
                        </a:rPr>
                        <a:t>Introduire le vaccin RR </a:t>
                      </a:r>
                    </a:p>
                  </a:txBody>
                  <a:tcPr marL="43794" marR="43794" marT="0" marB="0" anchor="ctr"/>
                </a:tc>
                <a:tc>
                  <a:txBody>
                    <a:bodyPr/>
                    <a:lstStyle/>
                    <a:p>
                      <a:pPr algn="just">
                        <a:spcAft>
                          <a:spcPts val="0"/>
                        </a:spcAft>
                      </a:pPr>
                      <a:r>
                        <a:rPr lang="fr-FR" sz="1400" kern="100" dirty="0">
                          <a:solidFill>
                            <a:schemeClr val="dk1"/>
                          </a:solidFill>
                          <a:effectLst/>
                          <a:latin typeface="Times New Roman" panose="02020603050405020304" pitchFamily="18" charset="0"/>
                          <a:ea typeface="SimSun" panose="02010600030101010101" pitchFamily="2" charset="-122"/>
                          <a:cs typeface="Times New Roman" panose="02020603050405020304" pitchFamily="18" charset="0"/>
                          <a:sym typeface="Arial" panose="020B0604020202020204"/>
                        </a:rPr>
                        <a:t>Proportion de provinces/ZS </a:t>
                      </a:r>
                    </a:p>
                    <a:p>
                      <a:pPr algn="just">
                        <a:spcAft>
                          <a:spcPts val="0"/>
                        </a:spcAft>
                      </a:pPr>
                      <a:r>
                        <a:rPr lang="fr-FR" sz="1400" kern="100" dirty="0">
                          <a:solidFill>
                            <a:schemeClr val="dk1"/>
                          </a:solidFill>
                          <a:effectLst/>
                          <a:latin typeface="Times New Roman" panose="02020603050405020304" pitchFamily="18" charset="0"/>
                          <a:ea typeface="SimSun" panose="02010600030101010101" pitchFamily="2" charset="-122"/>
                          <a:cs typeface="Times New Roman" panose="02020603050405020304" pitchFamily="18" charset="0"/>
                          <a:sym typeface="Arial" panose="020B0604020202020204"/>
                        </a:rPr>
                        <a:t>ayant introduit le vaccin RR</a:t>
                      </a:r>
                    </a:p>
                  </a:txBody>
                  <a:tcPr marL="43794" marR="43794" marT="0" marB="0" anchor="ctr"/>
                </a:tc>
                <a:tc>
                  <a:txBody>
                    <a:bodyPr/>
                    <a:lstStyle/>
                    <a:p>
                      <a:pPr algn="just">
                        <a:spcAft>
                          <a:spcPts val="0"/>
                        </a:spcAft>
                      </a:pPr>
                      <a:endParaRPr lang="fr-FR" sz="1400" kern="100" dirty="0">
                        <a:solidFill>
                          <a:schemeClr val="dk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43794" marR="43794" marT="0" marB="0" anchor="ctr">
                    <a:solidFill>
                      <a:srgbClr val="00B050"/>
                    </a:solidFill>
                  </a:tcPr>
                </a:tc>
                <a:tc>
                  <a:txBody>
                    <a:bodyPr/>
                    <a:lstStyle/>
                    <a:p>
                      <a:pPr marR="0" algn="ctr" rtl="0">
                        <a:lnSpc>
                          <a:spcPct val="100000"/>
                        </a:lnSpc>
                        <a:spcBef>
                          <a:spcPts val="0"/>
                        </a:spcBef>
                        <a:spcAft>
                          <a:spcPts val="0"/>
                        </a:spcAft>
                        <a:buClr>
                          <a:srgbClr val="000000"/>
                        </a:buClr>
                        <a:buFont typeface="Arial" panose="020B0604020202020204"/>
                      </a:pPr>
                      <a:r>
                        <a:rPr lang="fr-FR" sz="1300" kern="100" dirty="0">
                          <a:solidFill>
                            <a:schemeClr val="tx1"/>
                          </a:solidFill>
                          <a:effectLst/>
                          <a:latin typeface="+mn-lt"/>
                          <a:ea typeface="SimSun" panose="02010600030101010101" pitchFamily="2" charset="-122"/>
                          <a:cs typeface="Times New Roman" panose="02020603050405020304" pitchFamily="18" charset="0"/>
                          <a:sym typeface="Arial" panose="020B0604020202020204"/>
                        </a:rPr>
                        <a:t>7/26 Provinces</a:t>
                      </a:r>
                    </a:p>
                  </a:txBody>
                  <a:tcPr marL="43794" marR="43794" marT="0" marB="0" anchor="ctr"/>
                </a:tc>
                <a:extLst>
                  <a:ext uri="{0D108BD9-81ED-4DB2-BD59-A6C34878D82A}">
                    <a16:rowId xmlns:a16="http://schemas.microsoft.com/office/drawing/2014/main" val="10002"/>
                  </a:ext>
                </a:extLst>
              </a:tr>
              <a:tr h="1118292">
                <a:tc>
                  <a:txBody>
                    <a:bodyPr/>
                    <a:lstStyle/>
                    <a:p>
                      <a:pPr algn="just">
                        <a:spcAft>
                          <a:spcPts val="0"/>
                        </a:spcAft>
                      </a:pPr>
                      <a:r>
                        <a:rPr lang="fr-FR" sz="1400" kern="100" dirty="0">
                          <a:effectLst/>
                          <a:latin typeface="Times New Roman" panose="02020603050405020304" pitchFamily="18" charset="0"/>
                          <a:ea typeface="SimSun" panose="02010600030101010101" pitchFamily="2" charset="-122"/>
                          <a:cs typeface="Times New Roman" panose="02020603050405020304" pitchFamily="18" charset="0"/>
                        </a:rPr>
                        <a:t>6</a:t>
                      </a:r>
                    </a:p>
                  </a:txBody>
                  <a:tcPr marL="43794" marR="43794" marT="0" marB="0" anchor="ctr"/>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fr-FR" sz="1400" kern="100" dirty="0">
                          <a:solidFill>
                            <a:schemeClr val="dk1"/>
                          </a:solidFill>
                          <a:effectLst/>
                          <a:latin typeface="Times New Roman" panose="02020603050405020304" pitchFamily="18" charset="0"/>
                          <a:ea typeface="SimSun" panose="02010600030101010101" pitchFamily="2" charset="-122"/>
                          <a:cs typeface="Times New Roman" panose="02020603050405020304" pitchFamily="18" charset="0"/>
                          <a:sym typeface="Arial" panose="020B0604020202020204"/>
                        </a:rPr>
                        <a:t>Introduire le vaccin VAP </a:t>
                      </a:r>
                    </a:p>
                  </a:txBody>
                  <a:tcPr marL="43794" marR="43794" marT="0" marB="0" anchor="ctr"/>
                </a:tc>
                <a:tc>
                  <a:txBody>
                    <a:bodyPr/>
                    <a:lstStyle/>
                    <a:p>
                      <a:pPr algn="just">
                        <a:spcAft>
                          <a:spcPts val="0"/>
                        </a:spcAft>
                      </a:pPr>
                      <a:r>
                        <a:rPr lang="fr-FR" sz="1400" kern="100" dirty="0">
                          <a:solidFill>
                            <a:schemeClr val="dk1"/>
                          </a:solidFill>
                          <a:effectLst/>
                          <a:latin typeface="Times New Roman" panose="02020603050405020304" pitchFamily="18" charset="0"/>
                          <a:ea typeface="SimSun" panose="02010600030101010101" pitchFamily="2" charset="-122"/>
                          <a:cs typeface="Times New Roman" panose="02020603050405020304" pitchFamily="18" charset="0"/>
                          <a:sym typeface="Arial" panose="020B0604020202020204"/>
                        </a:rPr>
                        <a:t>Proportion de provinces/ZS </a:t>
                      </a:r>
                    </a:p>
                    <a:p>
                      <a:pPr algn="just">
                        <a:spcAft>
                          <a:spcPts val="0"/>
                        </a:spcAft>
                      </a:pPr>
                      <a:r>
                        <a:rPr lang="fr-FR" sz="1400" kern="100" dirty="0">
                          <a:solidFill>
                            <a:schemeClr val="dk1"/>
                          </a:solidFill>
                          <a:effectLst/>
                          <a:latin typeface="Times New Roman" panose="02020603050405020304" pitchFamily="18" charset="0"/>
                          <a:ea typeface="SimSun" panose="02010600030101010101" pitchFamily="2" charset="-122"/>
                          <a:cs typeface="Times New Roman" panose="02020603050405020304" pitchFamily="18" charset="0"/>
                          <a:sym typeface="Arial" panose="020B0604020202020204"/>
                        </a:rPr>
                        <a:t>ayant introduit le VAP</a:t>
                      </a:r>
                    </a:p>
                  </a:txBody>
                  <a:tcPr marL="43794" marR="43794" marT="0" marB="0" anchor="ctr"/>
                </a:tc>
                <a:tc>
                  <a:txBody>
                    <a:bodyPr/>
                    <a:lstStyle/>
                    <a:p>
                      <a:pPr algn="just">
                        <a:spcAft>
                          <a:spcPts val="0"/>
                        </a:spcAft>
                      </a:pPr>
                      <a:endParaRPr lang="fr-FR" sz="1400" kern="100" dirty="0">
                        <a:solidFill>
                          <a:schemeClr val="dk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43794" marR="43794" marT="0" marB="0" anchor="ctr">
                    <a:solidFill>
                      <a:srgbClr val="FFFF00"/>
                    </a:solidFill>
                  </a:tcPr>
                </a:tc>
                <a:tc>
                  <a:txBody>
                    <a:bodyPr/>
                    <a:lstStyle/>
                    <a:p>
                      <a:pPr marR="0" algn="ctr" rtl="0">
                        <a:lnSpc>
                          <a:spcPct val="100000"/>
                        </a:lnSpc>
                        <a:spcBef>
                          <a:spcPts val="0"/>
                        </a:spcBef>
                        <a:spcAft>
                          <a:spcPts val="0"/>
                        </a:spcAft>
                        <a:buClr>
                          <a:srgbClr val="000000"/>
                        </a:buClr>
                        <a:buFont typeface="Arial" panose="020B0604020202020204"/>
                      </a:pPr>
                      <a:r>
                        <a:rPr lang="fr-FR" sz="1300" kern="100" dirty="0">
                          <a:solidFill>
                            <a:schemeClr val="tx1"/>
                          </a:solidFill>
                          <a:effectLst/>
                          <a:latin typeface="+mn-lt"/>
                          <a:ea typeface="SimSun" panose="02010600030101010101" pitchFamily="2" charset="-122"/>
                          <a:cs typeface="Times New Roman" panose="02020603050405020304" pitchFamily="18" charset="0"/>
                          <a:sym typeface="Arial" panose="020B0604020202020204"/>
                        </a:rPr>
                        <a:t>16/26 provinces </a:t>
                      </a:r>
                    </a:p>
                  </a:txBody>
                  <a:tcPr marL="43794" marR="43794" marT="0" marB="0" anchor="ctr"/>
                </a:tc>
                <a:extLst>
                  <a:ext uri="{0D108BD9-81ED-4DB2-BD59-A6C34878D82A}">
                    <a16:rowId xmlns:a16="http://schemas.microsoft.com/office/drawing/2014/main" val="3064794599"/>
                  </a:ext>
                </a:extLst>
              </a:tr>
              <a:tr h="1470614">
                <a:tc>
                  <a:txBody>
                    <a:bodyPr/>
                    <a:lstStyle/>
                    <a:p>
                      <a:pPr algn="just">
                        <a:spcAft>
                          <a:spcPts val="0"/>
                        </a:spcAft>
                      </a:pPr>
                      <a:r>
                        <a:rPr lang="fr-FR" sz="1400" kern="100" dirty="0">
                          <a:effectLst/>
                          <a:latin typeface="Times New Roman" panose="02020603050405020304" pitchFamily="18" charset="0"/>
                          <a:ea typeface="SimSun" panose="02010600030101010101" pitchFamily="2" charset="-122"/>
                          <a:cs typeface="Times New Roman" panose="02020603050405020304" pitchFamily="18" charset="0"/>
                        </a:rPr>
                        <a:t>7</a:t>
                      </a:r>
                    </a:p>
                  </a:txBody>
                  <a:tcPr marL="43794" marR="43794" marT="0" marB="0" anchor="ctr"/>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lang="fr-FR" sz="1400" kern="100" dirty="0">
                          <a:solidFill>
                            <a:schemeClr val="dk1"/>
                          </a:solidFill>
                          <a:effectLst/>
                          <a:latin typeface="Times New Roman" panose="02020603050405020304" pitchFamily="18" charset="0"/>
                          <a:ea typeface="SimSun" panose="02010600030101010101" pitchFamily="2" charset="-122"/>
                          <a:cs typeface="Times New Roman" panose="02020603050405020304" pitchFamily="18" charset="0"/>
                          <a:sym typeface="Arial" panose="020B0604020202020204"/>
                        </a:rPr>
                        <a:t>Procéder au </a:t>
                      </a:r>
                      <a:r>
                        <a:rPr lang="fr-FR" sz="1400" kern="100" dirty="0" err="1">
                          <a:solidFill>
                            <a:schemeClr val="dk1"/>
                          </a:solidFill>
                          <a:effectLst/>
                          <a:latin typeface="Times New Roman" panose="02020603050405020304" pitchFamily="18" charset="0"/>
                          <a:ea typeface="SimSun" panose="02010600030101010101" pitchFamily="2" charset="-122"/>
                          <a:cs typeface="Times New Roman" panose="02020603050405020304" pitchFamily="18" charset="0"/>
                          <a:sym typeface="Arial" panose="020B0604020202020204"/>
                        </a:rPr>
                        <a:t>swicth</a:t>
                      </a:r>
                      <a:r>
                        <a:rPr lang="fr-FR" sz="1400" kern="100" dirty="0">
                          <a:solidFill>
                            <a:schemeClr val="dk1"/>
                          </a:solidFill>
                          <a:effectLst/>
                          <a:latin typeface="Times New Roman" panose="02020603050405020304" pitchFamily="18" charset="0"/>
                          <a:ea typeface="SimSun" panose="02010600030101010101" pitchFamily="2" charset="-122"/>
                          <a:cs typeface="Times New Roman" panose="02020603050405020304" pitchFamily="18" charset="0"/>
                          <a:sym typeface="Arial" panose="020B0604020202020204"/>
                        </a:rPr>
                        <a:t> du vaccin anti rota</a:t>
                      </a:r>
                    </a:p>
                  </a:txBody>
                  <a:tcPr marL="43794" marR="43794" marT="0" marB="0" anchor="ctr"/>
                </a:tc>
                <a:tc>
                  <a:txBody>
                    <a:bodyPr/>
                    <a:lstStyle/>
                    <a:p>
                      <a:pPr algn="just">
                        <a:spcAft>
                          <a:spcPts val="0"/>
                        </a:spcAft>
                      </a:pPr>
                      <a:r>
                        <a:rPr lang="fr-FR" sz="1400" kern="100" dirty="0">
                          <a:solidFill>
                            <a:schemeClr val="dk1"/>
                          </a:solidFill>
                          <a:effectLst/>
                          <a:latin typeface="Times New Roman" panose="02020603050405020304" pitchFamily="18" charset="0"/>
                          <a:ea typeface="SimSun" panose="02010600030101010101" pitchFamily="2" charset="-122"/>
                          <a:cs typeface="Times New Roman" panose="02020603050405020304" pitchFamily="18" charset="0"/>
                          <a:sym typeface="Arial" panose="020B0604020202020204"/>
                        </a:rPr>
                        <a:t>Proportion de provinces/ZS </a:t>
                      </a:r>
                    </a:p>
                    <a:p>
                      <a:pPr algn="just">
                        <a:spcAft>
                          <a:spcPts val="0"/>
                        </a:spcAft>
                      </a:pPr>
                      <a:r>
                        <a:rPr lang="fr-FR" sz="1400" kern="100" dirty="0">
                          <a:solidFill>
                            <a:schemeClr val="dk1"/>
                          </a:solidFill>
                          <a:effectLst/>
                          <a:latin typeface="Times New Roman" panose="02020603050405020304" pitchFamily="18" charset="0"/>
                          <a:ea typeface="SimSun" panose="02010600030101010101" pitchFamily="2" charset="-122"/>
                          <a:cs typeface="Times New Roman" panose="02020603050405020304" pitchFamily="18" charset="0"/>
                          <a:sym typeface="Arial" panose="020B0604020202020204"/>
                        </a:rPr>
                        <a:t>ayant réalisé le switch Rota </a:t>
                      </a:r>
                    </a:p>
                  </a:txBody>
                  <a:tcPr marL="43794" marR="43794" marT="0" marB="0" anchor="ctr"/>
                </a:tc>
                <a:tc>
                  <a:txBody>
                    <a:bodyPr/>
                    <a:lstStyle/>
                    <a:p>
                      <a:pPr algn="just">
                        <a:spcAft>
                          <a:spcPts val="0"/>
                        </a:spcAft>
                      </a:pPr>
                      <a:endParaRPr lang="fr-FR" sz="1400" kern="100" dirty="0">
                        <a:solidFill>
                          <a:schemeClr val="dk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43794" marR="43794" marT="0" marB="0" anchor="ctr">
                    <a:solidFill>
                      <a:srgbClr val="FFFF00"/>
                    </a:solidFill>
                  </a:tcPr>
                </a:tc>
                <a:tc>
                  <a:txBody>
                    <a:bodyPr/>
                    <a:lstStyle/>
                    <a:p>
                      <a:pPr marR="0" algn="ctr" rtl="0">
                        <a:lnSpc>
                          <a:spcPct val="100000"/>
                        </a:lnSpc>
                        <a:spcBef>
                          <a:spcPts val="0"/>
                        </a:spcBef>
                        <a:spcAft>
                          <a:spcPts val="0"/>
                        </a:spcAft>
                        <a:buClr>
                          <a:srgbClr val="000000"/>
                        </a:buClr>
                        <a:buFont typeface="Arial" panose="020B0604020202020204"/>
                      </a:pPr>
                      <a:r>
                        <a:rPr lang="fr-FR" sz="1300" kern="100" dirty="0">
                          <a:solidFill>
                            <a:schemeClr val="tx1"/>
                          </a:solidFill>
                          <a:effectLst/>
                          <a:latin typeface="+mn-lt"/>
                          <a:ea typeface="SimSun" panose="02010600030101010101" pitchFamily="2" charset="-122"/>
                          <a:cs typeface="Times New Roman" panose="02020603050405020304" pitchFamily="18" charset="0"/>
                          <a:sym typeface="Arial" panose="020B0604020202020204"/>
                        </a:rPr>
                        <a:t>174 / 519 ZS</a:t>
                      </a:r>
                    </a:p>
                  </a:txBody>
                  <a:tcPr marL="43794" marR="43794" marT="0" marB="0" anchor="ctr"/>
                </a:tc>
                <a:extLst>
                  <a:ext uri="{0D108BD9-81ED-4DB2-BD59-A6C34878D82A}">
                    <a16:rowId xmlns:a16="http://schemas.microsoft.com/office/drawing/2014/main" val="2155427809"/>
                  </a:ext>
                </a:extLst>
              </a:tr>
            </a:tbl>
          </a:graphicData>
        </a:graphic>
      </p:graphicFrame>
      <p:sp>
        <p:nvSpPr>
          <p:cNvPr id="7" name="Google Shape;221;p16"/>
          <p:cNvSpPr txBox="1"/>
          <p:nvPr/>
        </p:nvSpPr>
        <p:spPr>
          <a:xfrm>
            <a:off x="407700" y="272241"/>
            <a:ext cx="11274800" cy="509637"/>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SzPts val="1100"/>
              <a:buNone/>
            </a:pPr>
            <a:r>
              <a:rPr lang="fr-FR" altLang="en-GB" sz="2000" b="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                                                   EVALUATION DES ACTIVITES </a:t>
            </a:r>
          </a:p>
        </p:txBody>
      </p:sp>
    </p:spTree>
    <p:extLst>
      <p:ext uri="{BB962C8B-B14F-4D97-AF65-F5344CB8AC3E}">
        <p14:creationId xmlns:p14="http://schemas.microsoft.com/office/powerpoint/2010/main" val="23612833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6"/>
          <p:cNvSpPr txBox="1"/>
          <p:nvPr/>
        </p:nvSpPr>
        <p:spPr>
          <a:xfrm>
            <a:off x="710383" y="2875722"/>
            <a:ext cx="11274800" cy="864010"/>
          </a:xfrm>
          <a:prstGeom prst="rect">
            <a:avLst/>
          </a:prstGeom>
          <a:noFill/>
          <a:ln>
            <a:noFill/>
          </a:ln>
        </p:spPr>
        <p:txBody>
          <a:bodyPr spcFirstLastPara="1" wrap="square" lIns="0" tIns="0" rIns="0" bIns="0" anchor="t" anchorCtr="0">
            <a:noAutofit/>
          </a:bodyPr>
          <a:lstStyle/>
          <a:p>
            <a:pPr lvl="0" algn="ctr">
              <a:buSzPts val="1100"/>
            </a:pPr>
            <a:r>
              <a:rPr lang="" altLang="fr-FR" sz="2665" b="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Performances Réalisés en routine Jeanvier-Octobre 2025 </a:t>
            </a:r>
            <a:r>
              <a:rPr lang="fr-FR" altLang="en-GB" sz="2665" b="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  </a:t>
            </a:r>
            <a:endParaRPr lang="fr-FR" altLang="en-GB" sz="3200" b="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2" name="Google Shape;222;p16"/>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spcBef>
                <a:spcPts val="0"/>
              </a:spcBef>
              <a:spcAft>
                <a:spcPts val="0"/>
              </a:spcAft>
              <a:buNone/>
            </a:pPr>
            <a:endParaRPr sz="1865">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4" name="Google Shape;224;p16"/>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sp>
        <p:nvSpPr>
          <p:cNvPr id="6" name="ZoneTexte 1"/>
          <p:cNvSpPr txBox="1">
            <a:spLocks noChangeArrowheads="1"/>
          </p:cNvSpPr>
          <p:nvPr/>
        </p:nvSpPr>
        <p:spPr bwMode="auto">
          <a:xfrm>
            <a:off x="306216" y="5931067"/>
            <a:ext cx="1157955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fr-FR" altLang="fr-FR" sz="1200" b="1" dirty="0">
                <a:latin typeface="Times New Roman" panose="02020603050405020304" pitchFamily="18" charset="0"/>
                <a:cs typeface="Times New Roman" panose="02020603050405020304" pitchFamily="18" charset="0"/>
              </a:rPr>
              <a:t>La complétude</a:t>
            </a:r>
          </a:p>
        </p:txBody>
      </p:sp>
    </p:spTree>
    <p:extLst>
      <p:ext uri="{BB962C8B-B14F-4D97-AF65-F5344CB8AC3E}">
        <p14:creationId xmlns:p14="http://schemas.microsoft.com/office/powerpoint/2010/main" val="20787429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6"/>
          <p:cNvSpPr txBox="1"/>
          <p:nvPr/>
        </p:nvSpPr>
        <p:spPr>
          <a:xfrm>
            <a:off x="458592" y="158287"/>
            <a:ext cx="11274800" cy="731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SzPts val="1100"/>
              <a:buNone/>
            </a:pPr>
            <a:r>
              <a:rPr lang="fr-FR" altLang="en-GB" sz="2665" b="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Complétude/Promptitude des rapports des provinces Janvier – octobre 2025</a:t>
            </a:r>
          </a:p>
        </p:txBody>
      </p:sp>
      <p:sp>
        <p:nvSpPr>
          <p:cNvPr id="222" name="Google Shape;222;p16"/>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spcBef>
                <a:spcPts val="0"/>
              </a:spcBef>
              <a:spcAft>
                <a:spcPts val="0"/>
              </a:spcAft>
              <a:buNone/>
            </a:pPr>
            <a:endParaRPr sz="1865">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4" name="Google Shape;224;p16"/>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graphicFrame>
        <p:nvGraphicFramePr>
          <p:cNvPr id="5" name="Graphique 4"/>
          <p:cNvGraphicFramePr>
            <a:graphicFrameLocks noGrp="1"/>
          </p:cNvGraphicFramePr>
          <p:nvPr>
            <p:extLst>
              <p:ext uri="{D42A27DB-BD31-4B8C-83A1-F6EECF244321}">
                <p14:modId xmlns:p14="http://schemas.microsoft.com/office/powerpoint/2010/main" val="3867048147"/>
              </p:ext>
            </p:extLst>
          </p:nvPr>
        </p:nvGraphicFramePr>
        <p:xfrm>
          <a:off x="267700" y="927440"/>
          <a:ext cx="11169334" cy="5003627"/>
        </p:xfrm>
        <a:graphic>
          <a:graphicData uri="http://schemas.openxmlformats.org/drawingml/2006/chart">
            <c:chart xmlns:c="http://schemas.openxmlformats.org/drawingml/2006/chart" xmlns:r="http://schemas.openxmlformats.org/officeDocument/2006/relationships" r:id="rId3"/>
          </a:graphicData>
        </a:graphic>
      </p:graphicFrame>
      <p:sp>
        <p:nvSpPr>
          <p:cNvPr id="6" name="ZoneTexte 1"/>
          <p:cNvSpPr txBox="1">
            <a:spLocks noChangeArrowheads="1"/>
          </p:cNvSpPr>
          <p:nvPr/>
        </p:nvSpPr>
        <p:spPr bwMode="auto">
          <a:xfrm>
            <a:off x="306216" y="5931067"/>
            <a:ext cx="115795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fr-FR" altLang="fr-FR" sz="1200" b="1" dirty="0">
                <a:latin typeface="Times New Roman" panose="02020603050405020304" pitchFamily="18" charset="0"/>
                <a:cs typeface="Times New Roman" panose="02020603050405020304" pitchFamily="18" charset="0"/>
              </a:rPr>
              <a:t>La complétude au niveau national est de 98,9 %, et  la  promptitude est de 92,2 %, Toutes les provinces ont une complétude de plus de 95% et par contre une promptitude reste moins de 90 % pour les provinces de Haut Katanga, Haut </a:t>
            </a:r>
            <a:r>
              <a:rPr lang="fr-FR" altLang="fr-FR" sz="1200" b="1" dirty="0" err="1">
                <a:latin typeface="Times New Roman" panose="02020603050405020304" pitchFamily="18" charset="0"/>
                <a:cs typeface="Times New Roman" panose="02020603050405020304" pitchFamily="18" charset="0"/>
              </a:rPr>
              <a:t>Lomami</a:t>
            </a:r>
            <a:r>
              <a:rPr lang="fr-FR" altLang="fr-FR" sz="1200" b="1" dirty="0">
                <a:latin typeface="Times New Roman" panose="02020603050405020304" pitchFamily="18" charset="0"/>
                <a:cs typeface="Times New Roman" panose="02020603050405020304" pitchFamily="18" charset="0"/>
              </a:rPr>
              <a:t>, Kwango, Lualaba et Sud Kivu  </a:t>
            </a:r>
          </a:p>
        </p:txBody>
      </p:sp>
      <p:sp>
        <p:nvSpPr>
          <p:cNvPr id="7" name="Flèche vers le bas 6"/>
          <p:cNvSpPr/>
          <p:nvPr/>
        </p:nvSpPr>
        <p:spPr>
          <a:xfrm>
            <a:off x="2290908" y="1515024"/>
            <a:ext cx="45719" cy="288032"/>
          </a:xfrm>
          <a:prstGeom prst="downArrow">
            <a:avLst/>
          </a:prstGeom>
          <a:solidFill>
            <a:srgbClr val="00B050"/>
          </a:solidFill>
          <a:ln>
            <a:solidFill>
              <a:srgbClr val="66FF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Flèche vers le bas 7"/>
          <p:cNvSpPr/>
          <p:nvPr/>
        </p:nvSpPr>
        <p:spPr>
          <a:xfrm>
            <a:off x="5391917" y="2173754"/>
            <a:ext cx="45719" cy="288032"/>
          </a:xfrm>
          <a:prstGeom prst="downArrow">
            <a:avLst/>
          </a:prstGeom>
          <a:solidFill>
            <a:srgbClr val="00B050"/>
          </a:solidFill>
          <a:ln>
            <a:solidFill>
              <a:srgbClr val="66FF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Flèche vers le bas 8"/>
          <p:cNvSpPr/>
          <p:nvPr/>
        </p:nvSpPr>
        <p:spPr>
          <a:xfrm>
            <a:off x="6558108" y="1611317"/>
            <a:ext cx="45719" cy="288032"/>
          </a:xfrm>
          <a:prstGeom prst="downArrow">
            <a:avLst/>
          </a:prstGeom>
          <a:solidFill>
            <a:srgbClr val="00B050"/>
          </a:solidFill>
          <a:ln>
            <a:solidFill>
              <a:srgbClr val="66FF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Flèche vers le bas 9"/>
          <p:cNvSpPr/>
          <p:nvPr/>
        </p:nvSpPr>
        <p:spPr>
          <a:xfrm>
            <a:off x="9261551" y="1885722"/>
            <a:ext cx="45719" cy="288032"/>
          </a:xfrm>
          <a:prstGeom prst="downArrow">
            <a:avLst/>
          </a:prstGeom>
          <a:solidFill>
            <a:srgbClr val="00B050"/>
          </a:solidFill>
          <a:ln>
            <a:solidFill>
              <a:srgbClr val="66FF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4283884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6"/>
          <p:cNvSpPr txBox="1"/>
          <p:nvPr/>
        </p:nvSpPr>
        <p:spPr>
          <a:xfrm>
            <a:off x="458592" y="317941"/>
            <a:ext cx="11274800" cy="731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SzPts val="1100"/>
              <a:buNone/>
            </a:pPr>
            <a:r>
              <a:rPr lang="fr-FR" altLang="en-GB" sz="2400" b="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Comparaison Objectifs fixés par rapport aux CV réalisées  Janvier-Octobre 2025</a:t>
            </a:r>
            <a:endParaRPr lang="fr-FR" altLang="en-GB" sz="2800" b="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2" name="Google Shape;222;p16"/>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spcBef>
                <a:spcPts val="0"/>
              </a:spcBef>
              <a:spcAft>
                <a:spcPts val="0"/>
              </a:spcAft>
              <a:buNone/>
            </a:pPr>
            <a:endParaRPr sz="1865">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4" name="Google Shape;224;p16"/>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graphicFrame>
        <p:nvGraphicFramePr>
          <p:cNvPr id="7" name="Graphique 6"/>
          <p:cNvGraphicFramePr>
            <a:graphicFrameLocks noGrp="1"/>
          </p:cNvGraphicFramePr>
          <p:nvPr/>
        </p:nvGraphicFramePr>
        <p:xfrm>
          <a:off x="666206" y="1246173"/>
          <a:ext cx="10776857" cy="515462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4037985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6"/>
          <p:cNvSpPr txBox="1"/>
          <p:nvPr/>
        </p:nvSpPr>
        <p:spPr>
          <a:xfrm>
            <a:off x="458591" y="317941"/>
            <a:ext cx="11481618" cy="731600"/>
          </a:xfrm>
          <a:prstGeom prst="rect">
            <a:avLst/>
          </a:prstGeom>
          <a:noFill/>
          <a:ln>
            <a:noFill/>
          </a:ln>
        </p:spPr>
        <p:txBody>
          <a:bodyPr spcFirstLastPara="1" wrap="square" lIns="0" tIns="0" rIns="0" bIns="0" anchor="t" anchorCtr="0">
            <a:noAutofit/>
          </a:bodyPr>
          <a:lstStyle/>
          <a:p>
            <a:pPr marL="0" lvl="0" indent="0" rtl="0">
              <a:spcBef>
                <a:spcPts val="0"/>
              </a:spcBef>
              <a:spcAft>
                <a:spcPts val="0"/>
              </a:spcAft>
              <a:buSzPts val="1100"/>
              <a:buNone/>
            </a:pPr>
            <a:r>
              <a:rPr lang="fr-FR" altLang="en-GB" sz="2400" b="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CV par antigène avec cible administrative, administrative ajustée  et objectif   </a:t>
            </a:r>
            <a:endParaRPr lang="fr-FR" altLang="en-GB" sz="2400" b="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2" name="Google Shape;222;p16"/>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spcBef>
                <a:spcPts val="0"/>
              </a:spcBef>
              <a:spcAft>
                <a:spcPts val="0"/>
              </a:spcAft>
              <a:buNone/>
            </a:pPr>
            <a:endParaRPr sz="1865">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4" name="Google Shape;224;p16"/>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graphicFrame>
        <p:nvGraphicFramePr>
          <p:cNvPr id="9" name="Graphique 8"/>
          <p:cNvGraphicFramePr>
            <a:graphicFrameLocks noGrp="1"/>
          </p:cNvGraphicFramePr>
          <p:nvPr>
            <p:extLst>
              <p:ext uri="{D42A27DB-BD31-4B8C-83A1-F6EECF244321}">
                <p14:modId xmlns:p14="http://schemas.microsoft.com/office/powerpoint/2010/main" val="3049465249"/>
              </p:ext>
            </p:extLst>
          </p:nvPr>
        </p:nvGraphicFramePr>
        <p:xfrm>
          <a:off x="835834" y="1049541"/>
          <a:ext cx="10528663" cy="4902837"/>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6"/>
          <p:cNvSpPr txBox="1"/>
          <p:nvPr/>
        </p:nvSpPr>
        <p:spPr>
          <a:xfrm>
            <a:off x="458592" y="317941"/>
            <a:ext cx="11441860" cy="731600"/>
          </a:xfrm>
          <a:prstGeom prst="rect">
            <a:avLst/>
          </a:prstGeom>
          <a:noFill/>
          <a:ln>
            <a:noFill/>
          </a:ln>
        </p:spPr>
        <p:txBody>
          <a:bodyPr spcFirstLastPara="1" wrap="square" lIns="0" tIns="0" rIns="0" bIns="0" anchor="t" anchorCtr="0">
            <a:noAutofit/>
          </a:bodyPr>
          <a:lstStyle/>
          <a:p>
            <a:pPr lvl="0">
              <a:buSzPts val="1100"/>
            </a:pPr>
            <a:r>
              <a:rPr lang="fr-FR" altLang="en-GB" sz="2400" b="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Evolution des CV P</a:t>
            </a:r>
            <a:r>
              <a:rPr lang="fr-FR" altLang="en-US" sz="2400" b="1" dirty="0">
                <a:solidFill>
                  <a:srgbClr val="1155CC"/>
                </a:solidFill>
                <a:latin typeface="Times New Roman" panose="02020603050405020304"/>
                <a:ea typeface="Times New Roman" panose="02020603050405020304"/>
                <a:cs typeface="Times New Roman" panose="02020603050405020304"/>
              </a:rPr>
              <a:t>enta1, Penta 3, VAR1 et VAR2 du janvier – octobre 2025</a:t>
            </a:r>
            <a:r>
              <a:rPr lang="fr-FR" altLang="en-GB" sz="2400" b="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   </a:t>
            </a:r>
          </a:p>
        </p:txBody>
      </p:sp>
      <p:sp>
        <p:nvSpPr>
          <p:cNvPr id="222" name="Google Shape;222;p16"/>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spcBef>
                <a:spcPts val="0"/>
              </a:spcBef>
              <a:spcAft>
                <a:spcPts val="0"/>
              </a:spcAft>
              <a:buNone/>
            </a:pPr>
            <a:endParaRPr sz="1865">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4" name="Google Shape;224;p16"/>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graphicFrame>
        <p:nvGraphicFramePr>
          <p:cNvPr id="11" name="Graphique 10"/>
          <p:cNvGraphicFramePr>
            <a:graphicFrameLocks noGrp="1"/>
          </p:cNvGraphicFramePr>
          <p:nvPr>
            <p:extLst>
              <p:ext uri="{D42A27DB-BD31-4B8C-83A1-F6EECF244321}">
                <p14:modId xmlns:p14="http://schemas.microsoft.com/office/powerpoint/2010/main" val="2666076367"/>
              </p:ext>
            </p:extLst>
          </p:nvPr>
        </p:nvGraphicFramePr>
        <p:xfrm>
          <a:off x="705394" y="1188720"/>
          <a:ext cx="10737669" cy="458506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5665441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6"/>
          <p:cNvSpPr txBox="1"/>
          <p:nvPr/>
        </p:nvSpPr>
        <p:spPr>
          <a:xfrm>
            <a:off x="458592" y="101602"/>
            <a:ext cx="11274800" cy="1077906"/>
          </a:xfrm>
          <a:prstGeom prst="rect">
            <a:avLst/>
          </a:prstGeom>
          <a:noFill/>
          <a:ln>
            <a:noFill/>
          </a:ln>
        </p:spPr>
        <p:txBody>
          <a:bodyPr spcFirstLastPara="1" wrap="square" lIns="0" tIns="0" rIns="0" bIns="0" anchor="t" anchorCtr="0">
            <a:noAutofit/>
          </a:bodyPr>
          <a:lstStyle/>
          <a:p>
            <a:pPr lvl="0">
              <a:buSzPts val="1100"/>
            </a:pPr>
            <a:endParaRPr lang="fr-FR" altLang="en-US" sz="2000" b="1" dirty="0">
              <a:solidFill>
                <a:srgbClr val="1155CC"/>
              </a:solidFill>
              <a:latin typeface="Times New Roman" panose="02020603050405020304"/>
              <a:ea typeface="Times New Roman" panose="02020603050405020304"/>
              <a:cs typeface="Times New Roman" panose="02020603050405020304"/>
            </a:endParaRPr>
          </a:p>
          <a:p>
            <a:pPr lvl="0">
              <a:buSzPts val="1100"/>
            </a:pPr>
            <a:r>
              <a:rPr lang="fr-FR" altLang="en-US" sz="2000" b="1" dirty="0">
                <a:solidFill>
                  <a:srgbClr val="1155CC"/>
                </a:solidFill>
                <a:latin typeface="Times New Roman" panose="02020603050405020304"/>
                <a:ea typeface="Times New Roman" panose="02020603050405020304"/>
                <a:cs typeface="Times New Roman" panose="02020603050405020304"/>
              </a:rPr>
              <a:t>Comparaison des CV pour les antigènes d’entrer et de sorti de Janvier – Octobre 2024 versus 2025</a:t>
            </a:r>
            <a:r>
              <a:rPr lang="fr-FR" altLang="en-GB" sz="2000" b="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   </a:t>
            </a:r>
          </a:p>
        </p:txBody>
      </p:sp>
      <p:sp>
        <p:nvSpPr>
          <p:cNvPr id="222" name="Google Shape;222;p16"/>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spcBef>
                <a:spcPts val="0"/>
              </a:spcBef>
              <a:spcAft>
                <a:spcPts val="0"/>
              </a:spcAft>
              <a:buNone/>
            </a:pPr>
            <a:endParaRPr sz="1865">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4" name="Google Shape;224;p16"/>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graphicFrame>
        <p:nvGraphicFramePr>
          <p:cNvPr id="9" name="Graphique 8"/>
          <p:cNvGraphicFramePr>
            <a:graphicFrameLocks/>
          </p:cNvGraphicFramePr>
          <p:nvPr>
            <p:extLst>
              <p:ext uri="{D42A27DB-BD31-4B8C-83A1-F6EECF244321}">
                <p14:modId xmlns:p14="http://schemas.microsoft.com/office/powerpoint/2010/main" val="1161980324"/>
              </p:ext>
            </p:extLst>
          </p:nvPr>
        </p:nvGraphicFramePr>
        <p:xfrm>
          <a:off x="903506" y="1237564"/>
          <a:ext cx="10384972" cy="41148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7473383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6"/>
          <p:cNvSpPr txBox="1"/>
          <p:nvPr/>
        </p:nvSpPr>
        <p:spPr>
          <a:xfrm>
            <a:off x="458592" y="317941"/>
            <a:ext cx="11274800" cy="731600"/>
          </a:xfrm>
          <a:prstGeom prst="rect">
            <a:avLst/>
          </a:prstGeom>
          <a:noFill/>
          <a:ln>
            <a:noFill/>
          </a:ln>
        </p:spPr>
        <p:txBody>
          <a:bodyPr spcFirstLastPara="1" wrap="square" lIns="0" tIns="0" rIns="0" bIns="0" anchor="t" anchorCtr="0">
            <a:noAutofit/>
          </a:bodyPr>
          <a:lstStyle/>
          <a:p>
            <a:pPr lvl="0">
              <a:buSzPts val="1100"/>
            </a:pPr>
            <a:r>
              <a:rPr lang="fr-FR" altLang="en-GB" sz="2665" b="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Taux d’abandon  par province </a:t>
            </a:r>
            <a:endParaRPr lang="fr-FR" altLang="en-GB" sz="3200" b="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2" name="Google Shape;222;p16"/>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spcBef>
                <a:spcPts val="0"/>
              </a:spcBef>
              <a:spcAft>
                <a:spcPts val="0"/>
              </a:spcAft>
              <a:buNone/>
            </a:pPr>
            <a:endParaRPr sz="1865">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4" name="Google Shape;224;p16"/>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graphicFrame>
        <p:nvGraphicFramePr>
          <p:cNvPr id="8" name="Graphique 7"/>
          <p:cNvGraphicFramePr>
            <a:graphicFrameLocks noGrp="1"/>
          </p:cNvGraphicFramePr>
          <p:nvPr/>
        </p:nvGraphicFramePr>
        <p:xfrm>
          <a:off x="583096" y="1319349"/>
          <a:ext cx="10193761" cy="468956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8596258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6"/>
          <p:cNvSpPr txBox="1"/>
          <p:nvPr/>
        </p:nvSpPr>
        <p:spPr>
          <a:xfrm>
            <a:off x="458592" y="317941"/>
            <a:ext cx="11274800" cy="731600"/>
          </a:xfrm>
          <a:prstGeom prst="rect">
            <a:avLst/>
          </a:prstGeom>
          <a:noFill/>
          <a:ln>
            <a:noFill/>
          </a:ln>
        </p:spPr>
        <p:txBody>
          <a:bodyPr spcFirstLastPara="1" wrap="square" lIns="0" tIns="0" rIns="0" bIns="0" anchor="t" anchorCtr="0">
            <a:noAutofit/>
          </a:bodyPr>
          <a:lstStyle/>
          <a:p>
            <a:pPr lvl="0">
              <a:buSzPts val="1100"/>
            </a:pPr>
            <a:r>
              <a:rPr lang="fr-FR" altLang="en-GB" sz="2665" b="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Taux d’abandon  par province </a:t>
            </a:r>
            <a:endParaRPr lang="fr-FR" altLang="en-GB" sz="3200" b="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2" name="Google Shape;222;p16"/>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spcBef>
                <a:spcPts val="0"/>
              </a:spcBef>
              <a:spcAft>
                <a:spcPts val="0"/>
              </a:spcAft>
              <a:buNone/>
            </a:pPr>
            <a:endParaRPr sz="1865">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4" name="Google Shape;224;p16"/>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graphicFrame>
        <p:nvGraphicFramePr>
          <p:cNvPr id="8" name="Graphique 7"/>
          <p:cNvGraphicFramePr>
            <a:graphicFrameLocks noGrp="1"/>
          </p:cNvGraphicFramePr>
          <p:nvPr/>
        </p:nvGraphicFramePr>
        <p:xfrm>
          <a:off x="583096" y="1319349"/>
          <a:ext cx="10193761" cy="468956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4758835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6"/>
          <p:cNvSpPr txBox="1"/>
          <p:nvPr/>
        </p:nvSpPr>
        <p:spPr>
          <a:xfrm>
            <a:off x="917200" y="652071"/>
            <a:ext cx="11274800" cy="731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SzPts val="1100"/>
              <a:buNone/>
            </a:pPr>
            <a:r>
              <a:rPr lang="fr-FR" altLang="en-GB" sz="2665" b="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Taux d’abandon DTC1-DTC3 PAR ANTENNES</a:t>
            </a:r>
            <a:endParaRPr lang="fr-FR" altLang="en-GB" sz="3200" b="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2" name="Google Shape;222;p16"/>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spcBef>
                <a:spcPts val="0"/>
              </a:spcBef>
              <a:spcAft>
                <a:spcPts val="0"/>
              </a:spcAft>
              <a:buNone/>
            </a:pPr>
            <a:endParaRPr sz="1865">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4" name="Google Shape;224;p16"/>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graphicFrame>
        <p:nvGraphicFramePr>
          <p:cNvPr id="13" name="Graphique 12"/>
          <p:cNvGraphicFramePr>
            <a:graphicFrameLocks noGrp="1"/>
          </p:cNvGraphicFramePr>
          <p:nvPr/>
        </p:nvGraphicFramePr>
        <p:xfrm>
          <a:off x="235600" y="1017871"/>
          <a:ext cx="11651600" cy="526536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9420184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6"/>
          <p:cNvSpPr txBox="1"/>
          <p:nvPr/>
        </p:nvSpPr>
        <p:spPr>
          <a:xfrm>
            <a:off x="917200" y="652071"/>
            <a:ext cx="11274800" cy="731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SzPts val="1100"/>
              <a:buNone/>
            </a:pPr>
            <a:r>
              <a:rPr lang="fr-FR" altLang="en-GB" sz="2665" b="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CATEGORISATION DES ANTENNES</a:t>
            </a:r>
            <a:endParaRPr lang="fr-FR" altLang="en-GB" sz="3200" b="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2" name="Google Shape;222;p16"/>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spcBef>
                <a:spcPts val="0"/>
              </a:spcBef>
              <a:spcAft>
                <a:spcPts val="0"/>
              </a:spcAft>
              <a:buNone/>
            </a:pPr>
            <a:endParaRPr sz="1865">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4" name="Google Shape;224;p16"/>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graphicFrame>
        <p:nvGraphicFramePr>
          <p:cNvPr id="10" name="Graphique 9"/>
          <p:cNvGraphicFramePr>
            <a:graphicFrameLocks/>
          </p:cNvGraphicFramePr>
          <p:nvPr>
            <p:extLst>
              <p:ext uri="{D42A27DB-BD31-4B8C-83A1-F6EECF244321}">
                <p14:modId xmlns:p14="http://schemas.microsoft.com/office/powerpoint/2010/main" val="332418033"/>
              </p:ext>
            </p:extLst>
          </p:nvPr>
        </p:nvGraphicFramePr>
        <p:xfrm>
          <a:off x="6232486" y="1415270"/>
          <a:ext cx="5603966" cy="4097225"/>
        </p:xfrm>
        <a:graphic>
          <a:graphicData uri="http://schemas.openxmlformats.org/drawingml/2006/chart">
            <c:chart xmlns:c="http://schemas.openxmlformats.org/drawingml/2006/chart" xmlns:r="http://schemas.openxmlformats.org/officeDocument/2006/relationships" r:id="rId3"/>
          </a:graphicData>
        </a:graphic>
      </p:graphicFrame>
      <p:sp>
        <p:nvSpPr>
          <p:cNvPr id="11" name="ZoneTexte 4"/>
          <p:cNvSpPr txBox="1"/>
          <p:nvPr/>
        </p:nvSpPr>
        <p:spPr>
          <a:xfrm>
            <a:off x="8643944" y="3324225"/>
            <a:ext cx="390525" cy="209549"/>
          </a:xfrm>
          <a:prstGeom prst="rect">
            <a:avLst/>
          </a:prstGeom>
          <a:solidFill>
            <a:schemeClr val="accent1"/>
          </a:solidFill>
          <a:ln>
            <a:solidFill>
              <a:schemeClr val="accent1"/>
            </a:solidFill>
          </a:ln>
        </p:spPr>
        <p:style>
          <a:lnRef idx="2">
            <a:schemeClr val="accent1"/>
          </a:lnRef>
          <a:fillRef idx="1">
            <a:schemeClr val="lt1"/>
          </a:fillRef>
          <a:effectRef idx="0">
            <a:schemeClr val="accent1"/>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fr-FR" sz="900" b="0" cap="none" spc="0">
                <a:ln w="0"/>
                <a:solidFill>
                  <a:schemeClr val="tx1"/>
                </a:solidFill>
                <a:effectLst>
                  <a:outerShdw blurRad="38100" dist="19050" dir="2700000" algn="tl" rotWithShape="0">
                    <a:schemeClr val="dk1">
                      <a:alpha val="40000"/>
                    </a:schemeClr>
                  </a:outerShdw>
                </a:effectLst>
              </a:rPr>
              <a:t>38</a:t>
            </a:r>
            <a:endParaRPr lang="fr-FR" sz="800" b="0" cap="none" spc="0">
              <a:ln w="0"/>
              <a:solidFill>
                <a:schemeClr val="tx1"/>
              </a:solidFill>
              <a:effectLst>
                <a:outerShdw blurRad="38100" dist="19050" dir="2700000" algn="tl" rotWithShape="0">
                  <a:schemeClr val="dk1">
                    <a:alpha val="40000"/>
                  </a:schemeClr>
                </a:outerShdw>
              </a:effectLst>
            </a:endParaRPr>
          </a:p>
        </p:txBody>
      </p:sp>
      <p:sp>
        <p:nvSpPr>
          <p:cNvPr id="12" name="ZoneTexte 4"/>
          <p:cNvSpPr txBox="1"/>
          <p:nvPr/>
        </p:nvSpPr>
        <p:spPr>
          <a:xfrm>
            <a:off x="7113408" y="2800620"/>
            <a:ext cx="238125" cy="133350"/>
          </a:xfrm>
          <a:prstGeom prst="rect">
            <a:avLst/>
          </a:prstGeom>
          <a:solidFill>
            <a:schemeClr val="accent3"/>
          </a:solidFill>
          <a:ln>
            <a:solidFill>
              <a:schemeClr val="accent3"/>
            </a:solidFill>
          </a:ln>
        </p:spPr>
        <p:style>
          <a:lnRef idx="2">
            <a:schemeClr val="accent1"/>
          </a:lnRef>
          <a:fillRef idx="1">
            <a:schemeClr val="lt1"/>
          </a:fillRef>
          <a:effectRef idx="0">
            <a:schemeClr val="accent1"/>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fr-FR" sz="900" b="0" cap="none" spc="0">
                <a:ln w="0"/>
                <a:solidFill>
                  <a:schemeClr val="tx1"/>
                </a:solidFill>
                <a:effectLst>
                  <a:outerShdw blurRad="38100" dist="19050" dir="2700000" algn="tl" rotWithShape="0">
                    <a:schemeClr val="dk1">
                      <a:alpha val="40000"/>
                    </a:schemeClr>
                  </a:outerShdw>
                </a:effectLst>
              </a:rPr>
              <a:t>3</a:t>
            </a:r>
            <a:endParaRPr lang="fr-FR" sz="800" b="0" cap="none" spc="0">
              <a:ln w="0"/>
              <a:solidFill>
                <a:schemeClr val="tx1"/>
              </a:solidFill>
              <a:effectLst>
                <a:outerShdw blurRad="38100" dist="19050" dir="2700000" algn="tl" rotWithShape="0">
                  <a:schemeClr val="dk1">
                    <a:alpha val="40000"/>
                  </a:schemeClr>
                </a:outerShdw>
              </a:effectLst>
            </a:endParaRPr>
          </a:p>
        </p:txBody>
      </p:sp>
      <p:graphicFrame>
        <p:nvGraphicFramePr>
          <p:cNvPr id="16" name="Tableau 15"/>
          <p:cNvGraphicFramePr>
            <a:graphicFrameLocks noGrp="1"/>
          </p:cNvGraphicFramePr>
          <p:nvPr>
            <p:extLst>
              <p:ext uri="{D42A27DB-BD31-4B8C-83A1-F6EECF244321}">
                <p14:modId xmlns:p14="http://schemas.microsoft.com/office/powerpoint/2010/main" val="835520051"/>
              </p:ext>
            </p:extLst>
          </p:nvPr>
        </p:nvGraphicFramePr>
        <p:xfrm>
          <a:off x="235598" y="1171285"/>
          <a:ext cx="5780888" cy="5215540"/>
        </p:xfrm>
        <a:graphic>
          <a:graphicData uri="http://schemas.openxmlformats.org/drawingml/2006/table">
            <a:tbl>
              <a:tblPr/>
              <a:tblGrid>
                <a:gridCol w="939172">
                  <a:extLst>
                    <a:ext uri="{9D8B030D-6E8A-4147-A177-3AD203B41FA5}">
                      <a16:colId xmlns:a16="http://schemas.microsoft.com/office/drawing/2014/main" val="20000"/>
                    </a:ext>
                  </a:extLst>
                </a:gridCol>
                <a:gridCol w="1351838">
                  <a:extLst>
                    <a:ext uri="{9D8B030D-6E8A-4147-A177-3AD203B41FA5}">
                      <a16:colId xmlns:a16="http://schemas.microsoft.com/office/drawing/2014/main" val="20001"/>
                    </a:ext>
                  </a:extLst>
                </a:gridCol>
                <a:gridCol w="569195">
                  <a:extLst>
                    <a:ext uri="{9D8B030D-6E8A-4147-A177-3AD203B41FA5}">
                      <a16:colId xmlns:a16="http://schemas.microsoft.com/office/drawing/2014/main" val="20002"/>
                    </a:ext>
                  </a:extLst>
                </a:gridCol>
                <a:gridCol w="426897">
                  <a:extLst>
                    <a:ext uri="{9D8B030D-6E8A-4147-A177-3AD203B41FA5}">
                      <a16:colId xmlns:a16="http://schemas.microsoft.com/office/drawing/2014/main" val="20003"/>
                    </a:ext>
                  </a:extLst>
                </a:gridCol>
                <a:gridCol w="924942">
                  <a:extLst>
                    <a:ext uri="{9D8B030D-6E8A-4147-A177-3AD203B41FA5}">
                      <a16:colId xmlns:a16="http://schemas.microsoft.com/office/drawing/2014/main" val="20004"/>
                    </a:ext>
                  </a:extLst>
                </a:gridCol>
                <a:gridCol w="800430">
                  <a:extLst>
                    <a:ext uri="{9D8B030D-6E8A-4147-A177-3AD203B41FA5}">
                      <a16:colId xmlns:a16="http://schemas.microsoft.com/office/drawing/2014/main" val="20005"/>
                    </a:ext>
                  </a:extLst>
                </a:gridCol>
                <a:gridCol w="768414">
                  <a:extLst>
                    <a:ext uri="{9D8B030D-6E8A-4147-A177-3AD203B41FA5}">
                      <a16:colId xmlns:a16="http://schemas.microsoft.com/office/drawing/2014/main" val="20006"/>
                    </a:ext>
                  </a:extLst>
                </a:gridCol>
              </a:tblGrid>
              <a:tr h="396284">
                <a:tc>
                  <a:txBody>
                    <a:bodyPr/>
                    <a:lstStyle/>
                    <a:p>
                      <a:pPr algn="ctr" fontAlgn="ctr"/>
                      <a:br>
                        <a:rPr lang="fr-FR" sz="800" b="0" i="0" u="none" strike="noStrike">
                          <a:solidFill>
                            <a:srgbClr val="000000"/>
                          </a:solidFill>
                          <a:effectLst/>
                          <a:latin typeface="Arial" panose="020B0604020202020204" pitchFamily="34" charset="0"/>
                        </a:rPr>
                      </a:br>
                      <a:r>
                        <a:rPr lang="fr-FR" sz="800" b="0" i="0" u="none" strike="noStrike">
                          <a:solidFill>
                            <a:srgbClr val="000000"/>
                          </a:solidFill>
                          <a:effectLst/>
                          <a:latin typeface="Arial" panose="020B0604020202020204" pitchFamily="34" charset="0"/>
                        </a:rPr>
                        <a:t>Provinces/DPS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800" b="0" i="0" u="none" strike="noStrike">
                          <a:solidFill>
                            <a:srgbClr val="000000"/>
                          </a:solidFill>
                          <a:effectLst/>
                          <a:latin typeface="Arial" panose="020B0604020202020204" pitchFamily="34" charset="0"/>
                        </a:rPr>
                        <a:t>Antenne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800" b="0" i="0" u="none" strike="noStrike">
                          <a:solidFill>
                            <a:srgbClr val="000000"/>
                          </a:solidFill>
                          <a:effectLst/>
                          <a:latin typeface="Arial" panose="020B0604020202020204" pitchFamily="34" charset="0"/>
                        </a:rPr>
                        <a:t>Catégorisation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8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ctr" fontAlgn="ctr"/>
                      <a:br>
                        <a:rPr lang="fr-FR" sz="800" b="0" i="0" u="none" strike="noStrike">
                          <a:solidFill>
                            <a:srgbClr val="000000"/>
                          </a:solidFill>
                          <a:effectLst/>
                          <a:latin typeface="Arial" panose="020B0604020202020204" pitchFamily="34" charset="0"/>
                        </a:rPr>
                      </a:br>
                      <a:r>
                        <a:rPr lang="fr-FR" sz="800" b="0" i="0" u="none" strike="noStrike">
                          <a:solidFill>
                            <a:srgbClr val="000000"/>
                          </a:solidFill>
                          <a:effectLst/>
                          <a:latin typeface="Arial" panose="020B0604020202020204" pitchFamily="34" charset="0"/>
                        </a:rPr>
                        <a:t>Provinces/DPS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800" b="0" i="0" u="none" strike="noStrike">
                          <a:solidFill>
                            <a:srgbClr val="000000"/>
                          </a:solidFill>
                          <a:effectLst/>
                          <a:latin typeface="Arial" panose="020B0604020202020204" pitchFamily="34" charset="0"/>
                        </a:rPr>
                        <a:t>Antenne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800" b="0" i="0" u="none" strike="noStrike">
                          <a:solidFill>
                            <a:srgbClr val="000000"/>
                          </a:solidFill>
                          <a:effectLst/>
                          <a:latin typeface="Arial" panose="020B0604020202020204" pitchFamily="34" charset="0"/>
                        </a:rPr>
                        <a:t>Catégorisation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220158">
                <a:tc>
                  <a:txBody>
                    <a:bodyPr/>
                    <a:lstStyle/>
                    <a:p>
                      <a:pPr algn="l" fontAlgn="b"/>
                      <a:r>
                        <a:rPr lang="fr-FR" sz="800" b="0" i="0" u="none" strike="noStrike">
                          <a:solidFill>
                            <a:srgbClr val="000000"/>
                          </a:solidFill>
                          <a:effectLst/>
                          <a:latin typeface="Arial" panose="020B0604020202020204" pitchFamily="34" charset="0"/>
                        </a:rPr>
                        <a:t>Bas Uele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Buta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FF"/>
                          </a:solidFill>
                          <a:effectLst/>
                          <a:latin typeface="Arial" panose="020B0604020202020204" pitchFamily="34" charset="0"/>
                        </a:rPr>
                        <a:t> Cat. 1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l" fontAlgn="b"/>
                      <a:r>
                        <a:rPr lang="fr-FR" sz="8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b"/>
                      <a:r>
                        <a:rPr lang="fr-FR" sz="800" b="0" i="0" u="none" strike="noStrike">
                          <a:solidFill>
                            <a:srgbClr val="000000"/>
                          </a:solidFill>
                          <a:effectLst/>
                          <a:latin typeface="Arial" panose="020B0604020202020204" pitchFamily="34" charset="0"/>
                        </a:rPr>
                        <a:t>Kasai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Tshikapa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Cat. 3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extLst>
                  <a:ext uri="{0D108BD9-81ED-4DB2-BD59-A6C34878D82A}">
                    <a16:rowId xmlns:a16="http://schemas.microsoft.com/office/drawing/2014/main" val="10001"/>
                  </a:ext>
                </a:extLst>
              </a:tr>
              <a:tr h="187134">
                <a:tc>
                  <a:txBody>
                    <a:bodyPr/>
                    <a:lstStyle/>
                    <a:p>
                      <a:pPr algn="l" fontAlgn="b"/>
                      <a:r>
                        <a:rPr lang="fr-FR" sz="800" b="0" i="0" u="none" strike="noStrike">
                          <a:solidFill>
                            <a:srgbClr val="000000"/>
                          </a:solidFill>
                          <a:effectLst/>
                          <a:latin typeface="Arial" panose="020B0604020202020204" pitchFamily="34" charset="0"/>
                        </a:rPr>
                        <a:t>Equateur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Mbandaka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Cat. 3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tc>
                  <a:txBody>
                    <a:bodyPr/>
                    <a:lstStyle/>
                    <a:p>
                      <a:pPr algn="l" fontAlgn="b"/>
                      <a:r>
                        <a:rPr lang="fr-FR" sz="8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b"/>
                      <a:r>
                        <a:rPr lang="fr-FR" sz="800" b="0" i="0" u="none" strike="noStrike">
                          <a:solidFill>
                            <a:srgbClr val="000000"/>
                          </a:solidFill>
                          <a:effectLst/>
                          <a:latin typeface="Arial" panose="020B0604020202020204" pitchFamily="34" charset="0"/>
                        </a:rPr>
                        <a:t>Lualaba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kisenge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FF"/>
                          </a:solidFill>
                          <a:effectLst/>
                          <a:latin typeface="Arial" panose="020B0604020202020204" pitchFamily="34" charset="0"/>
                        </a:rPr>
                        <a:t> Cat. 1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extLst>
                  <a:ext uri="{0D108BD9-81ED-4DB2-BD59-A6C34878D82A}">
                    <a16:rowId xmlns:a16="http://schemas.microsoft.com/office/drawing/2014/main" val="10002"/>
                  </a:ext>
                </a:extLst>
              </a:tr>
              <a:tr h="187134">
                <a:tc>
                  <a:txBody>
                    <a:bodyPr/>
                    <a:lstStyle/>
                    <a:p>
                      <a:pPr algn="l" fontAlgn="b"/>
                      <a:r>
                        <a:rPr lang="fr-FR" sz="800" b="0" i="0" u="none" strike="noStrike">
                          <a:solidFill>
                            <a:srgbClr val="000000"/>
                          </a:solidFill>
                          <a:effectLst/>
                          <a:latin typeface="Arial" panose="020B0604020202020204" pitchFamily="34" charset="0"/>
                        </a:rPr>
                        <a:t>Haut Katanga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Likasi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FF"/>
                          </a:solidFill>
                          <a:effectLst/>
                          <a:latin typeface="Arial" panose="020B0604020202020204" pitchFamily="34" charset="0"/>
                        </a:rPr>
                        <a:t> Cat. 1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l" fontAlgn="b"/>
                      <a:r>
                        <a:rPr lang="fr-FR" sz="8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b"/>
                      <a:r>
                        <a:rPr lang="fr-FR" sz="800" b="0" i="0" u="none" strike="noStrike">
                          <a:solidFill>
                            <a:srgbClr val="000000"/>
                          </a:solidFill>
                          <a:effectLst/>
                          <a:latin typeface="Arial" panose="020B0604020202020204" pitchFamily="34" charset="0"/>
                        </a:rPr>
                        <a:t>lualaba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Kolwezi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Cat. 2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extLst>
                  <a:ext uri="{0D108BD9-81ED-4DB2-BD59-A6C34878D82A}">
                    <a16:rowId xmlns:a16="http://schemas.microsoft.com/office/drawing/2014/main" val="10003"/>
                  </a:ext>
                </a:extLst>
              </a:tr>
              <a:tr h="187134">
                <a:tc>
                  <a:txBody>
                    <a:bodyPr/>
                    <a:lstStyle/>
                    <a:p>
                      <a:pPr algn="l" fontAlgn="b"/>
                      <a:r>
                        <a:rPr lang="fr-FR" sz="800" b="0" i="0" u="none" strike="noStrike">
                          <a:solidFill>
                            <a:srgbClr val="000000"/>
                          </a:solidFill>
                          <a:effectLst/>
                          <a:latin typeface="Arial" panose="020B0604020202020204" pitchFamily="34" charset="0"/>
                        </a:rPr>
                        <a:t>Haut Katanga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Lubumbashi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Cat. 3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tc>
                  <a:txBody>
                    <a:bodyPr/>
                    <a:lstStyle/>
                    <a:p>
                      <a:pPr algn="l" fontAlgn="b"/>
                      <a:r>
                        <a:rPr lang="fr-FR" sz="8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b"/>
                      <a:r>
                        <a:rPr lang="fr-FR" sz="800" b="0" i="0" u="none" strike="noStrike">
                          <a:solidFill>
                            <a:srgbClr val="000000"/>
                          </a:solidFill>
                          <a:effectLst/>
                          <a:latin typeface="Arial" panose="020B0604020202020204" pitchFamily="34" charset="0"/>
                        </a:rPr>
                        <a:t>Lomami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Kabinda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FF"/>
                          </a:solidFill>
                          <a:effectLst/>
                          <a:latin typeface="Arial" panose="020B0604020202020204" pitchFamily="34" charset="0"/>
                        </a:rPr>
                        <a:t> Cat. 1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extLst>
                  <a:ext uri="{0D108BD9-81ED-4DB2-BD59-A6C34878D82A}">
                    <a16:rowId xmlns:a16="http://schemas.microsoft.com/office/drawing/2014/main" val="10004"/>
                  </a:ext>
                </a:extLst>
              </a:tr>
              <a:tr h="187134">
                <a:tc>
                  <a:txBody>
                    <a:bodyPr/>
                    <a:lstStyle/>
                    <a:p>
                      <a:pPr algn="l" fontAlgn="b"/>
                      <a:r>
                        <a:rPr lang="fr-FR" sz="800" b="0" i="0" u="none" strike="noStrike">
                          <a:solidFill>
                            <a:srgbClr val="000000"/>
                          </a:solidFill>
                          <a:effectLst/>
                          <a:latin typeface="Arial" panose="020B0604020202020204" pitchFamily="34" charset="0"/>
                        </a:rPr>
                        <a:t>Haut Lomami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Kabondodianda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FF"/>
                          </a:solidFill>
                          <a:effectLst/>
                          <a:latin typeface="Arial" panose="020B0604020202020204" pitchFamily="34" charset="0"/>
                        </a:rPr>
                        <a:t> Cat. 1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l" fontAlgn="b"/>
                      <a:r>
                        <a:rPr lang="fr-FR" sz="8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b"/>
                      <a:r>
                        <a:rPr lang="fr-FR" sz="800" b="0" i="0" u="none" strike="noStrike">
                          <a:solidFill>
                            <a:srgbClr val="000000"/>
                          </a:solidFill>
                          <a:effectLst/>
                          <a:latin typeface="Arial" panose="020B0604020202020204" pitchFamily="34" charset="0"/>
                        </a:rPr>
                        <a:t>Lomami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Mweneditu</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FF"/>
                          </a:solidFill>
                          <a:effectLst/>
                          <a:latin typeface="Arial" panose="020B0604020202020204" pitchFamily="34" charset="0"/>
                        </a:rPr>
                        <a:t> Cat. 1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extLst>
                  <a:ext uri="{0D108BD9-81ED-4DB2-BD59-A6C34878D82A}">
                    <a16:rowId xmlns:a16="http://schemas.microsoft.com/office/drawing/2014/main" val="10005"/>
                  </a:ext>
                </a:extLst>
              </a:tr>
              <a:tr h="187134">
                <a:tc>
                  <a:txBody>
                    <a:bodyPr/>
                    <a:lstStyle/>
                    <a:p>
                      <a:pPr algn="l" fontAlgn="b"/>
                      <a:r>
                        <a:rPr lang="fr-FR" sz="800" b="0" i="0" u="none" strike="noStrike">
                          <a:solidFill>
                            <a:srgbClr val="000000"/>
                          </a:solidFill>
                          <a:effectLst/>
                          <a:latin typeface="Arial" panose="020B0604020202020204" pitchFamily="34" charset="0"/>
                        </a:rPr>
                        <a:t>Haut Lomami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Kamina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FF"/>
                          </a:solidFill>
                          <a:effectLst/>
                          <a:latin typeface="Arial" panose="020B0604020202020204" pitchFamily="34" charset="0"/>
                        </a:rPr>
                        <a:t> Cat. 1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l" fontAlgn="b"/>
                      <a:r>
                        <a:rPr lang="fr-FR" sz="8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b"/>
                      <a:r>
                        <a:rPr lang="fr-FR" sz="800" b="0" i="0" u="none" strike="noStrike">
                          <a:solidFill>
                            <a:srgbClr val="000000"/>
                          </a:solidFill>
                          <a:effectLst/>
                          <a:latin typeface="Arial" panose="020B0604020202020204" pitchFamily="34" charset="0"/>
                        </a:rPr>
                        <a:t>Maindombe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Inongo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FF"/>
                          </a:solidFill>
                          <a:effectLst/>
                          <a:latin typeface="Arial" panose="020B0604020202020204" pitchFamily="34" charset="0"/>
                        </a:rPr>
                        <a:t> Cat. 1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extLst>
                  <a:ext uri="{0D108BD9-81ED-4DB2-BD59-A6C34878D82A}">
                    <a16:rowId xmlns:a16="http://schemas.microsoft.com/office/drawing/2014/main" val="10006"/>
                  </a:ext>
                </a:extLst>
              </a:tr>
              <a:tr h="187134">
                <a:tc>
                  <a:txBody>
                    <a:bodyPr/>
                    <a:lstStyle/>
                    <a:p>
                      <a:pPr algn="l" fontAlgn="b"/>
                      <a:r>
                        <a:rPr lang="fr-FR" sz="800" b="0" i="0" u="none" strike="noStrike">
                          <a:solidFill>
                            <a:srgbClr val="000000"/>
                          </a:solidFill>
                          <a:effectLst/>
                          <a:latin typeface="Arial" panose="020B0604020202020204" pitchFamily="34" charset="0"/>
                        </a:rPr>
                        <a:t>Haut uele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Isiro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FF"/>
                          </a:solidFill>
                          <a:effectLst/>
                          <a:latin typeface="Arial" panose="020B0604020202020204" pitchFamily="34" charset="0"/>
                        </a:rPr>
                        <a:t> Cat. 1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l" fontAlgn="b"/>
                      <a:r>
                        <a:rPr lang="fr-FR" sz="8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b"/>
                      <a:r>
                        <a:rPr lang="fr-FR" sz="800" b="0" i="0" u="none" strike="noStrike">
                          <a:solidFill>
                            <a:srgbClr val="000000"/>
                          </a:solidFill>
                          <a:effectLst/>
                          <a:latin typeface="Arial" panose="020B0604020202020204" pitchFamily="34" charset="0"/>
                        </a:rPr>
                        <a:t>Maindombe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Nioki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Cat. 1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extLst>
                  <a:ext uri="{0D108BD9-81ED-4DB2-BD59-A6C34878D82A}">
                    <a16:rowId xmlns:a16="http://schemas.microsoft.com/office/drawing/2014/main" val="10007"/>
                  </a:ext>
                </a:extLst>
              </a:tr>
              <a:tr h="187134">
                <a:tc>
                  <a:txBody>
                    <a:bodyPr/>
                    <a:lstStyle/>
                    <a:p>
                      <a:pPr algn="l" fontAlgn="b"/>
                      <a:r>
                        <a:rPr lang="fr-FR" sz="800" b="0" i="0" u="none" strike="noStrike">
                          <a:solidFill>
                            <a:srgbClr val="000000"/>
                          </a:solidFill>
                          <a:effectLst/>
                          <a:latin typeface="Arial" panose="020B0604020202020204" pitchFamily="34" charset="0"/>
                        </a:rPr>
                        <a:t>Haut Uele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Watsa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FF"/>
                          </a:solidFill>
                          <a:effectLst/>
                          <a:latin typeface="Arial" panose="020B0604020202020204" pitchFamily="34" charset="0"/>
                        </a:rPr>
                        <a:t> Cat. 1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l" fontAlgn="b"/>
                      <a:r>
                        <a:rPr lang="fr-FR" sz="8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b"/>
                      <a:r>
                        <a:rPr lang="fr-FR" sz="800" b="0" i="0" u="none" strike="noStrike">
                          <a:solidFill>
                            <a:srgbClr val="000000"/>
                          </a:solidFill>
                          <a:effectLst/>
                          <a:latin typeface="Arial" panose="020B0604020202020204" pitchFamily="34" charset="0"/>
                        </a:rPr>
                        <a:t>Mongala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Bumba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FF"/>
                          </a:solidFill>
                          <a:effectLst/>
                          <a:latin typeface="Arial" panose="020B0604020202020204" pitchFamily="34" charset="0"/>
                        </a:rPr>
                        <a:t> Cat. 1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extLst>
                  <a:ext uri="{0D108BD9-81ED-4DB2-BD59-A6C34878D82A}">
                    <a16:rowId xmlns:a16="http://schemas.microsoft.com/office/drawing/2014/main" val="10008"/>
                  </a:ext>
                </a:extLst>
              </a:tr>
              <a:tr h="187134">
                <a:tc>
                  <a:txBody>
                    <a:bodyPr/>
                    <a:lstStyle/>
                    <a:p>
                      <a:pPr algn="l" fontAlgn="b"/>
                      <a:r>
                        <a:rPr lang="fr-FR" sz="800" b="0" i="0" u="none" strike="noStrike">
                          <a:solidFill>
                            <a:srgbClr val="000000"/>
                          </a:solidFill>
                          <a:effectLst/>
                          <a:latin typeface="Arial" panose="020B0604020202020204" pitchFamily="34" charset="0"/>
                        </a:rPr>
                        <a:t>ITURI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Aru</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Cat. 3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tc>
                  <a:txBody>
                    <a:bodyPr/>
                    <a:lstStyle/>
                    <a:p>
                      <a:pPr algn="l" fontAlgn="b"/>
                      <a:r>
                        <a:rPr lang="fr-FR" sz="8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b"/>
                      <a:r>
                        <a:rPr lang="fr-FR" sz="800" b="0" i="0" u="none" strike="noStrike">
                          <a:solidFill>
                            <a:srgbClr val="000000"/>
                          </a:solidFill>
                          <a:effectLst/>
                          <a:latin typeface="Arial" panose="020B0604020202020204" pitchFamily="34" charset="0"/>
                        </a:rPr>
                        <a:t>Mongala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Lisala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Cat. 3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extLst>
                  <a:ext uri="{0D108BD9-81ED-4DB2-BD59-A6C34878D82A}">
                    <a16:rowId xmlns:a16="http://schemas.microsoft.com/office/drawing/2014/main" val="10009"/>
                  </a:ext>
                </a:extLst>
              </a:tr>
              <a:tr h="187134">
                <a:tc>
                  <a:txBody>
                    <a:bodyPr/>
                    <a:lstStyle/>
                    <a:p>
                      <a:pPr algn="l" fontAlgn="b"/>
                      <a:r>
                        <a:rPr lang="fr-FR" sz="800" b="0" i="0" u="none" strike="noStrike">
                          <a:solidFill>
                            <a:srgbClr val="000000"/>
                          </a:solidFill>
                          <a:effectLst/>
                          <a:latin typeface="Arial" panose="020B0604020202020204" pitchFamily="34" charset="0"/>
                        </a:rPr>
                        <a:t>Ituri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Bunia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FF"/>
                          </a:solidFill>
                          <a:effectLst/>
                          <a:latin typeface="Arial" panose="020B0604020202020204" pitchFamily="34" charset="0"/>
                        </a:rPr>
                        <a:t> Cat. 1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l" fontAlgn="b"/>
                      <a:r>
                        <a:rPr lang="fr-FR" sz="8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b"/>
                      <a:r>
                        <a:rPr lang="fr-FR" sz="800" b="0" i="0" u="none" strike="noStrike">
                          <a:solidFill>
                            <a:srgbClr val="000000"/>
                          </a:solidFill>
                          <a:effectLst/>
                          <a:latin typeface="Arial" panose="020B0604020202020204" pitchFamily="34" charset="0"/>
                        </a:rPr>
                        <a:t>Maniema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Kasongo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Cat. 2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extLst>
                  <a:ext uri="{0D108BD9-81ED-4DB2-BD59-A6C34878D82A}">
                    <a16:rowId xmlns:a16="http://schemas.microsoft.com/office/drawing/2014/main" val="10010"/>
                  </a:ext>
                </a:extLst>
              </a:tr>
              <a:tr h="187134">
                <a:tc>
                  <a:txBody>
                    <a:bodyPr/>
                    <a:lstStyle/>
                    <a:p>
                      <a:pPr algn="l" fontAlgn="b"/>
                      <a:r>
                        <a:rPr lang="fr-FR" sz="800" b="0" i="0" u="none" strike="noStrike">
                          <a:solidFill>
                            <a:srgbClr val="000000"/>
                          </a:solidFill>
                          <a:effectLst/>
                          <a:latin typeface="Arial" panose="020B0604020202020204" pitchFamily="34" charset="0"/>
                        </a:rPr>
                        <a:t>Kongo Central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dirty="0">
                          <a:solidFill>
                            <a:srgbClr val="000000"/>
                          </a:solidFill>
                          <a:effectLst/>
                          <a:latin typeface="Arial" panose="020B0604020202020204" pitchFamily="34" charset="0"/>
                        </a:rPr>
                        <a:t> Boma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FF"/>
                          </a:solidFill>
                          <a:effectLst/>
                          <a:latin typeface="Arial" panose="020B0604020202020204" pitchFamily="34" charset="0"/>
                        </a:rPr>
                        <a:t> Cat. 1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l" fontAlgn="b"/>
                      <a:r>
                        <a:rPr lang="fr-FR" sz="8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b"/>
                      <a:r>
                        <a:rPr lang="fr-FR" sz="800" b="0" i="0" u="none" strike="noStrike">
                          <a:solidFill>
                            <a:srgbClr val="000000"/>
                          </a:solidFill>
                          <a:effectLst/>
                          <a:latin typeface="Arial" panose="020B0604020202020204" pitchFamily="34" charset="0"/>
                        </a:rPr>
                        <a:t>Maniema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Kindu</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Cat. 2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extLst>
                  <a:ext uri="{0D108BD9-81ED-4DB2-BD59-A6C34878D82A}">
                    <a16:rowId xmlns:a16="http://schemas.microsoft.com/office/drawing/2014/main" val="10011"/>
                  </a:ext>
                </a:extLst>
              </a:tr>
              <a:tr h="187134">
                <a:tc>
                  <a:txBody>
                    <a:bodyPr/>
                    <a:lstStyle/>
                    <a:p>
                      <a:pPr algn="l" fontAlgn="b"/>
                      <a:r>
                        <a:rPr lang="fr-FR" sz="800" b="0" i="0" u="none" strike="noStrike">
                          <a:solidFill>
                            <a:srgbClr val="000000"/>
                          </a:solidFill>
                          <a:effectLst/>
                          <a:latin typeface="Arial" panose="020B0604020202020204" pitchFamily="34" charset="0"/>
                        </a:rPr>
                        <a:t>Kongo Central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Matadi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Cat. 1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tc>
                  <a:txBody>
                    <a:bodyPr/>
                    <a:lstStyle/>
                    <a:p>
                      <a:pPr algn="l" fontAlgn="b"/>
                      <a:r>
                        <a:rPr lang="fr-FR" sz="8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b"/>
                      <a:r>
                        <a:rPr lang="fr-FR" sz="800" b="0" i="0" u="none" strike="noStrike">
                          <a:solidFill>
                            <a:srgbClr val="000000"/>
                          </a:solidFill>
                          <a:effectLst/>
                          <a:latin typeface="Arial" panose="020B0604020202020204" pitchFamily="34" charset="0"/>
                        </a:rPr>
                        <a:t>Maniema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Kindu</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FF"/>
                          </a:solidFill>
                          <a:effectLst/>
                          <a:latin typeface="Arial" panose="020B0604020202020204" pitchFamily="34" charset="0"/>
                        </a:rPr>
                        <a:t> Cat. 1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extLst>
                  <a:ext uri="{0D108BD9-81ED-4DB2-BD59-A6C34878D82A}">
                    <a16:rowId xmlns:a16="http://schemas.microsoft.com/office/drawing/2014/main" val="10012"/>
                  </a:ext>
                </a:extLst>
              </a:tr>
              <a:tr h="187134">
                <a:tc>
                  <a:txBody>
                    <a:bodyPr/>
                    <a:lstStyle/>
                    <a:p>
                      <a:pPr algn="l" fontAlgn="b"/>
                      <a:r>
                        <a:rPr lang="fr-FR" sz="800" b="0" i="0" u="none" strike="noStrike">
                          <a:solidFill>
                            <a:srgbClr val="000000"/>
                          </a:solidFill>
                          <a:effectLst/>
                          <a:latin typeface="Arial" panose="020B0604020202020204" pitchFamily="34" charset="0"/>
                        </a:rPr>
                        <a:t>Kongo Central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Mbanzangungu</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FF"/>
                          </a:solidFill>
                          <a:effectLst/>
                          <a:latin typeface="Arial" panose="020B0604020202020204" pitchFamily="34" charset="0"/>
                        </a:rPr>
                        <a:t> Cat. 1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l" fontAlgn="b"/>
                      <a:r>
                        <a:rPr lang="fr-FR" sz="8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b"/>
                      <a:r>
                        <a:rPr lang="fr-FR" sz="800" b="0" i="0" u="none" strike="noStrike">
                          <a:solidFill>
                            <a:srgbClr val="000000"/>
                          </a:solidFill>
                          <a:effectLst/>
                          <a:latin typeface="Arial" panose="020B0604020202020204" pitchFamily="34" charset="0"/>
                        </a:rPr>
                        <a:t>Nord Kivu</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Butembo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FF"/>
                          </a:solidFill>
                          <a:effectLst/>
                          <a:latin typeface="Arial" panose="020B0604020202020204" pitchFamily="34" charset="0"/>
                        </a:rPr>
                        <a:t> Cat. 1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extLst>
                  <a:ext uri="{0D108BD9-81ED-4DB2-BD59-A6C34878D82A}">
                    <a16:rowId xmlns:a16="http://schemas.microsoft.com/office/drawing/2014/main" val="10013"/>
                  </a:ext>
                </a:extLst>
              </a:tr>
              <a:tr h="154111">
                <a:tc>
                  <a:txBody>
                    <a:bodyPr/>
                    <a:lstStyle/>
                    <a:p>
                      <a:pPr algn="l" fontAlgn="b"/>
                      <a:r>
                        <a:rPr lang="fr-FR" sz="800" b="0" i="0" u="none" strike="noStrike">
                          <a:solidFill>
                            <a:srgbClr val="000000"/>
                          </a:solidFill>
                          <a:effectLst/>
                          <a:latin typeface="Arial" panose="020B0604020202020204" pitchFamily="34" charset="0"/>
                        </a:rPr>
                        <a:t>Kasai Oriental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Mbujimayi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FF"/>
                          </a:solidFill>
                          <a:effectLst/>
                          <a:latin typeface="Arial" panose="020B0604020202020204" pitchFamily="34" charset="0"/>
                        </a:rPr>
                        <a:t> Cat. 1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l" fontAlgn="b"/>
                      <a:r>
                        <a:rPr lang="fr-FR" sz="8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b"/>
                      <a:r>
                        <a:rPr lang="fr-FR" sz="800" b="0" i="0" u="none" strike="noStrike">
                          <a:solidFill>
                            <a:srgbClr val="000000"/>
                          </a:solidFill>
                          <a:effectLst/>
                          <a:latin typeface="Arial" panose="020B0604020202020204" pitchFamily="34" charset="0"/>
                        </a:rPr>
                        <a:t>Nord Kivu</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Goma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FF"/>
                          </a:solidFill>
                          <a:effectLst/>
                          <a:latin typeface="Arial" panose="020B0604020202020204" pitchFamily="34" charset="0"/>
                        </a:rPr>
                        <a:t> Cat. 1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extLst>
                  <a:ext uri="{0D108BD9-81ED-4DB2-BD59-A6C34878D82A}">
                    <a16:rowId xmlns:a16="http://schemas.microsoft.com/office/drawing/2014/main" val="10014"/>
                  </a:ext>
                </a:extLst>
              </a:tr>
              <a:tr h="198142">
                <a:tc>
                  <a:txBody>
                    <a:bodyPr/>
                    <a:lstStyle/>
                    <a:p>
                      <a:pPr algn="l" fontAlgn="b"/>
                      <a:r>
                        <a:rPr lang="fr-FR" sz="800" b="0" i="0" u="none" strike="noStrike">
                          <a:solidFill>
                            <a:srgbClr val="000000"/>
                          </a:solidFill>
                          <a:effectLst/>
                          <a:latin typeface="Arial" panose="020B0604020202020204" pitchFamily="34" charset="0"/>
                        </a:rPr>
                        <a:t>Kwango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Kahemba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Cat. 3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tc>
                  <a:txBody>
                    <a:bodyPr/>
                    <a:lstStyle/>
                    <a:p>
                      <a:pPr algn="l" fontAlgn="b"/>
                      <a:r>
                        <a:rPr lang="fr-FR" sz="8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b"/>
                      <a:r>
                        <a:rPr lang="fr-FR" sz="800" b="0" i="0" u="none" strike="noStrike">
                          <a:solidFill>
                            <a:srgbClr val="000000"/>
                          </a:solidFill>
                          <a:effectLst/>
                          <a:latin typeface="Arial" panose="020B0604020202020204" pitchFamily="34" charset="0"/>
                        </a:rPr>
                        <a:t>Nord Ubangi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Gbadolite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FF"/>
                          </a:solidFill>
                          <a:effectLst/>
                          <a:latin typeface="Arial" panose="020B0604020202020204" pitchFamily="34" charset="0"/>
                        </a:rPr>
                        <a:t> Cat. 1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extLst>
                  <a:ext uri="{0D108BD9-81ED-4DB2-BD59-A6C34878D82A}">
                    <a16:rowId xmlns:a16="http://schemas.microsoft.com/office/drawing/2014/main" val="10015"/>
                  </a:ext>
                </a:extLst>
              </a:tr>
              <a:tr h="165119">
                <a:tc>
                  <a:txBody>
                    <a:bodyPr/>
                    <a:lstStyle/>
                    <a:p>
                      <a:pPr algn="l" fontAlgn="b"/>
                      <a:r>
                        <a:rPr lang="fr-FR" sz="800" b="0" i="0" u="none" strike="noStrike">
                          <a:solidFill>
                            <a:srgbClr val="000000"/>
                          </a:solidFill>
                          <a:effectLst/>
                          <a:latin typeface="Arial" panose="020B0604020202020204" pitchFamily="34" charset="0"/>
                        </a:rPr>
                        <a:t>Kwango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Kenge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FF"/>
                          </a:solidFill>
                          <a:effectLst/>
                          <a:latin typeface="Arial" panose="020B0604020202020204" pitchFamily="34" charset="0"/>
                        </a:rPr>
                        <a:t> Cat. 1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l" fontAlgn="b"/>
                      <a:r>
                        <a:rPr lang="fr-FR" sz="8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b"/>
                      <a:r>
                        <a:rPr lang="fr-FR" sz="800" b="0" i="0" u="none" strike="noStrike">
                          <a:solidFill>
                            <a:srgbClr val="000000"/>
                          </a:solidFill>
                          <a:effectLst/>
                          <a:latin typeface="Arial" panose="020B0604020202020204" pitchFamily="34" charset="0"/>
                        </a:rPr>
                        <a:t>Sud Kivu</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Bukavu</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Cat. 1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extLst>
                  <a:ext uri="{0D108BD9-81ED-4DB2-BD59-A6C34878D82A}">
                    <a16:rowId xmlns:a16="http://schemas.microsoft.com/office/drawing/2014/main" val="10016"/>
                  </a:ext>
                </a:extLst>
              </a:tr>
              <a:tr h="209150">
                <a:tc>
                  <a:txBody>
                    <a:bodyPr/>
                    <a:lstStyle/>
                    <a:p>
                      <a:pPr algn="l" fontAlgn="b"/>
                      <a:r>
                        <a:rPr lang="fr-FR" sz="800" b="0" i="0" u="none" strike="noStrike">
                          <a:solidFill>
                            <a:srgbClr val="000000"/>
                          </a:solidFill>
                          <a:effectLst/>
                          <a:latin typeface="Arial" panose="020B0604020202020204" pitchFamily="34" charset="0"/>
                        </a:rPr>
                        <a:t>Kwilu</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bandundu</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FF"/>
                          </a:solidFill>
                          <a:effectLst/>
                          <a:latin typeface="Arial" panose="020B0604020202020204" pitchFamily="34" charset="0"/>
                        </a:rPr>
                        <a:t> Cat. 1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l" fontAlgn="b"/>
                      <a:r>
                        <a:rPr lang="fr-FR" sz="8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b"/>
                      <a:r>
                        <a:rPr lang="fr-FR" sz="800" b="0" i="0" u="none" strike="noStrike">
                          <a:solidFill>
                            <a:srgbClr val="000000"/>
                          </a:solidFill>
                          <a:effectLst/>
                          <a:latin typeface="Arial" panose="020B0604020202020204" pitchFamily="34" charset="0"/>
                        </a:rPr>
                        <a:t>Sud Kivu</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Uvira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Cat. 3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extLst>
                  <a:ext uri="{0D108BD9-81ED-4DB2-BD59-A6C34878D82A}">
                    <a16:rowId xmlns:a16="http://schemas.microsoft.com/office/drawing/2014/main" val="10017"/>
                  </a:ext>
                </a:extLst>
              </a:tr>
              <a:tr h="165119">
                <a:tc>
                  <a:txBody>
                    <a:bodyPr/>
                    <a:lstStyle/>
                    <a:p>
                      <a:pPr algn="l" fontAlgn="b"/>
                      <a:r>
                        <a:rPr lang="fr-FR" sz="800" b="0" i="0" u="none" strike="noStrike">
                          <a:solidFill>
                            <a:srgbClr val="000000"/>
                          </a:solidFill>
                          <a:effectLst/>
                          <a:latin typeface="Arial" panose="020B0604020202020204" pitchFamily="34" charset="0"/>
                        </a:rPr>
                        <a:t>Kwilu</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Kikwit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FF"/>
                          </a:solidFill>
                          <a:effectLst/>
                          <a:latin typeface="Arial" panose="020B0604020202020204" pitchFamily="34" charset="0"/>
                        </a:rPr>
                        <a:t> Cat. 1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l" fontAlgn="b"/>
                      <a:r>
                        <a:rPr lang="fr-FR" sz="8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b"/>
                      <a:r>
                        <a:rPr lang="fr-FR" sz="800" b="0" i="0" u="none" strike="noStrike">
                          <a:solidFill>
                            <a:srgbClr val="000000"/>
                          </a:solidFill>
                          <a:effectLst/>
                          <a:latin typeface="Arial" panose="020B0604020202020204" pitchFamily="34" charset="0"/>
                        </a:rPr>
                        <a:t>Sankuru</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Lodja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Cat. 3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extLst>
                  <a:ext uri="{0D108BD9-81ED-4DB2-BD59-A6C34878D82A}">
                    <a16:rowId xmlns:a16="http://schemas.microsoft.com/office/drawing/2014/main" val="10018"/>
                  </a:ext>
                </a:extLst>
              </a:tr>
              <a:tr h="151909">
                <a:tc>
                  <a:txBody>
                    <a:bodyPr/>
                    <a:lstStyle/>
                    <a:p>
                      <a:pPr algn="l" fontAlgn="b"/>
                      <a:r>
                        <a:rPr lang="fr-FR" sz="800" b="0" i="0" u="none" strike="noStrike">
                          <a:solidFill>
                            <a:srgbClr val="000000"/>
                          </a:solidFill>
                          <a:effectLst/>
                          <a:latin typeface="Arial" panose="020B0604020202020204" pitchFamily="34" charset="0"/>
                        </a:rPr>
                        <a:t>Kinshasa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Kin Centre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Cat. 3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tc>
                  <a:txBody>
                    <a:bodyPr/>
                    <a:lstStyle/>
                    <a:p>
                      <a:pPr algn="l" fontAlgn="b"/>
                      <a:r>
                        <a:rPr lang="fr-FR" sz="8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b"/>
                      <a:r>
                        <a:rPr lang="fr-FR" sz="800" b="0" i="0" u="none" strike="noStrike">
                          <a:solidFill>
                            <a:srgbClr val="000000"/>
                          </a:solidFill>
                          <a:effectLst/>
                          <a:latin typeface="Arial" panose="020B0604020202020204" pitchFamily="34" charset="0"/>
                        </a:rPr>
                        <a:t>Sankuru</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Lusambo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FF"/>
                          </a:solidFill>
                          <a:effectLst/>
                          <a:latin typeface="Arial" panose="020B0604020202020204" pitchFamily="34" charset="0"/>
                        </a:rPr>
                        <a:t> Cat. 1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extLst>
                  <a:ext uri="{0D108BD9-81ED-4DB2-BD59-A6C34878D82A}">
                    <a16:rowId xmlns:a16="http://schemas.microsoft.com/office/drawing/2014/main" val="10019"/>
                  </a:ext>
                </a:extLst>
              </a:tr>
              <a:tr h="176126">
                <a:tc>
                  <a:txBody>
                    <a:bodyPr/>
                    <a:lstStyle/>
                    <a:p>
                      <a:pPr algn="l" fontAlgn="b"/>
                      <a:r>
                        <a:rPr lang="fr-FR" sz="800" b="0" i="0" u="none" strike="noStrike">
                          <a:solidFill>
                            <a:srgbClr val="000000"/>
                          </a:solidFill>
                          <a:effectLst/>
                          <a:latin typeface="Arial" panose="020B0604020202020204" pitchFamily="34" charset="0"/>
                        </a:rPr>
                        <a:t>Kinshasa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dirty="0">
                          <a:solidFill>
                            <a:srgbClr val="000000"/>
                          </a:solidFill>
                          <a:effectLst/>
                          <a:latin typeface="Arial" panose="020B0604020202020204" pitchFamily="34" charset="0"/>
                        </a:rPr>
                        <a:t> </a:t>
                      </a:r>
                      <a:r>
                        <a:rPr lang="fr-FR" sz="800" b="0" i="0" u="none" strike="noStrike" dirty="0" err="1">
                          <a:solidFill>
                            <a:srgbClr val="000000"/>
                          </a:solidFill>
                          <a:effectLst/>
                          <a:latin typeface="Arial" panose="020B0604020202020204" pitchFamily="34" charset="0"/>
                        </a:rPr>
                        <a:t>Kin</a:t>
                      </a:r>
                      <a:r>
                        <a:rPr lang="fr-FR" sz="800" b="0" i="0" u="none" strike="noStrike" dirty="0">
                          <a:solidFill>
                            <a:srgbClr val="000000"/>
                          </a:solidFill>
                          <a:effectLst/>
                          <a:latin typeface="Arial" panose="020B0604020202020204" pitchFamily="34" charset="0"/>
                        </a:rPr>
                        <a:t> Est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Cat. 3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6DCE4"/>
                    </a:solidFill>
                  </a:tcPr>
                </a:tc>
                <a:tc>
                  <a:txBody>
                    <a:bodyPr/>
                    <a:lstStyle/>
                    <a:p>
                      <a:pPr algn="l" fontAlgn="b"/>
                      <a:r>
                        <a:rPr lang="fr-FR" sz="8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b"/>
                      <a:r>
                        <a:rPr lang="fr-FR" sz="800" b="0" i="0" u="none" strike="noStrike">
                          <a:solidFill>
                            <a:srgbClr val="000000"/>
                          </a:solidFill>
                          <a:effectLst/>
                          <a:latin typeface="Arial" panose="020B0604020202020204" pitchFamily="34" charset="0"/>
                        </a:rPr>
                        <a:t>Sankuru</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Tshumbe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FF"/>
                          </a:solidFill>
                          <a:effectLst/>
                          <a:latin typeface="Arial" panose="020B0604020202020204" pitchFamily="34" charset="0"/>
                        </a:rPr>
                        <a:t> Cat. 1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extLst>
                  <a:ext uri="{0D108BD9-81ED-4DB2-BD59-A6C34878D82A}">
                    <a16:rowId xmlns:a16="http://schemas.microsoft.com/office/drawing/2014/main" val="10020"/>
                  </a:ext>
                </a:extLst>
              </a:tr>
              <a:tr h="209150">
                <a:tc>
                  <a:txBody>
                    <a:bodyPr/>
                    <a:lstStyle/>
                    <a:p>
                      <a:pPr algn="l" fontAlgn="b"/>
                      <a:r>
                        <a:rPr lang="fr-FR" sz="800" b="0" i="0" u="none" strike="noStrike">
                          <a:solidFill>
                            <a:srgbClr val="000000"/>
                          </a:solidFill>
                          <a:effectLst/>
                          <a:latin typeface="Arial" panose="020B0604020202020204" pitchFamily="34" charset="0"/>
                        </a:rPr>
                        <a:t>Kinshasa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Kin Ouest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FF"/>
                          </a:solidFill>
                          <a:effectLst/>
                          <a:latin typeface="Arial" panose="020B0604020202020204" pitchFamily="34" charset="0"/>
                        </a:rPr>
                        <a:t> Cat. 1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l" fontAlgn="b"/>
                      <a:r>
                        <a:rPr lang="fr-FR" sz="8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b"/>
                      <a:r>
                        <a:rPr lang="fr-FR" sz="800" b="0" i="0" u="none" strike="noStrike">
                          <a:solidFill>
                            <a:srgbClr val="000000"/>
                          </a:solidFill>
                          <a:effectLst/>
                          <a:latin typeface="Arial" panose="020B0604020202020204" pitchFamily="34" charset="0"/>
                        </a:rPr>
                        <a:t>Sud Ubangi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Gemena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FF"/>
                          </a:solidFill>
                          <a:effectLst/>
                          <a:latin typeface="Arial" panose="020B0604020202020204" pitchFamily="34" charset="0"/>
                        </a:rPr>
                        <a:t> Cat. 1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extLst>
                  <a:ext uri="{0D108BD9-81ED-4DB2-BD59-A6C34878D82A}">
                    <a16:rowId xmlns:a16="http://schemas.microsoft.com/office/drawing/2014/main" val="10021"/>
                  </a:ext>
                </a:extLst>
              </a:tr>
              <a:tr h="198142">
                <a:tc>
                  <a:txBody>
                    <a:bodyPr/>
                    <a:lstStyle/>
                    <a:p>
                      <a:pPr algn="l" fontAlgn="b"/>
                      <a:r>
                        <a:rPr lang="fr-FR" sz="800" b="0" i="0" u="none" strike="noStrike">
                          <a:solidFill>
                            <a:srgbClr val="000000"/>
                          </a:solidFill>
                          <a:effectLst/>
                          <a:latin typeface="Arial" panose="020B0604020202020204" pitchFamily="34" charset="0"/>
                        </a:rPr>
                        <a:t>Kasai Central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Kananga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FF"/>
                          </a:solidFill>
                          <a:effectLst/>
                          <a:latin typeface="Arial" panose="020B0604020202020204" pitchFamily="34" charset="0"/>
                        </a:rPr>
                        <a:t> Cat. 1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l" fontAlgn="b"/>
                      <a:r>
                        <a:rPr lang="fr-FR" sz="8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b"/>
                      <a:r>
                        <a:rPr lang="fr-FR" sz="800" b="0" i="0" u="none" strike="noStrike">
                          <a:solidFill>
                            <a:srgbClr val="000000"/>
                          </a:solidFill>
                          <a:effectLst/>
                          <a:latin typeface="Arial" panose="020B0604020202020204" pitchFamily="34" charset="0"/>
                        </a:rPr>
                        <a:t>Tanganyika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Kabalo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FF"/>
                          </a:solidFill>
                          <a:effectLst/>
                          <a:latin typeface="Arial" panose="020B0604020202020204" pitchFamily="34" charset="0"/>
                        </a:rPr>
                        <a:t> Cat. 1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extLst>
                  <a:ext uri="{0D108BD9-81ED-4DB2-BD59-A6C34878D82A}">
                    <a16:rowId xmlns:a16="http://schemas.microsoft.com/office/drawing/2014/main" val="10022"/>
                  </a:ext>
                </a:extLst>
              </a:tr>
              <a:tr h="220158">
                <a:tc>
                  <a:txBody>
                    <a:bodyPr/>
                    <a:lstStyle/>
                    <a:p>
                      <a:pPr algn="l" fontAlgn="b"/>
                      <a:r>
                        <a:rPr lang="fr-FR" sz="800" b="0" i="0" u="none" strike="noStrike">
                          <a:solidFill>
                            <a:srgbClr val="000000"/>
                          </a:solidFill>
                          <a:effectLst/>
                          <a:latin typeface="Arial" panose="020B0604020202020204" pitchFamily="34" charset="0"/>
                        </a:rPr>
                        <a:t>Kasai Central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Lwiza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FF"/>
                          </a:solidFill>
                          <a:effectLst/>
                          <a:latin typeface="Arial" panose="020B0604020202020204" pitchFamily="34" charset="0"/>
                        </a:rPr>
                        <a:t> Cat. 1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l" fontAlgn="b"/>
                      <a:r>
                        <a:rPr lang="fr-FR" sz="8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b"/>
                      <a:r>
                        <a:rPr lang="fr-FR" sz="800" b="0" i="0" u="none" strike="noStrike">
                          <a:solidFill>
                            <a:srgbClr val="000000"/>
                          </a:solidFill>
                          <a:effectLst/>
                          <a:latin typeface="Arial" panose="020B0604020202020204" pitchFamily="34" charset="0"/>
                        </a:rPr>
                        <a:t>Tanganyika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Kalemie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FF"/>
                          </a:solidFill>
                          <a:effectLst/>
                          <a:latin typeface="Arial" panose="020B0604020202020204" pitchFamily="34" charset="0"/>
                        </a:rPr>
                        <a:t> Cat. 1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extLst>
                  <a:ext uri="{0D108BD9-81ED-4DB2-BD59-A6C34878D82A}">
                    <a16:rowId xmlns:a16="http://schemas.microsoft.com/office/drawing/2014/main" val="10023"/>
                  </a:ext>
                </a:extLst>
              </a:tr>
              <a:tr h="176126">
                <a:tc>
                  <a:txBody>
                    <a:bodyPr/>
                    <a:lstStyle/>
                    <a:p>
                      <a:pPr algn="l" fontAlgn="b"/>
                      <a:r>
                        <a:rPr lang="fr-FR" sz="800" b="0" i="0" u="none" strike="noStrike">
                          <a:solidFill>
                            <a:srgbClr val="000000"/>
                          </a:solidFill>
                          <a:effectLst/>
                          <a:latin typeface="Arial" panose="020B0604020202020204" pitchFamily="34" charset="0"/>
                        </a:rPr>
                        <a:t>Kasai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Mweka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FF"/>
                          </a:solidFill>
                          <a:effectLst/>
                          <a:latin typeface="Arial" panose="020B0604020202020204" pitchFamily="34" charset="0"/>
                        </a:rPr>
                        <a:t> Cat. 1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l" fontAlgn="b"/>
                      <a:r>
                        <a:rPr lang="fr-FR" sz="8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b"/>
                      <a:r>
                        <a:rPr lang="fr-FR" sz="800" b="0" i="0" u="none" strike="noStrike">
                          <a:solidFill>
                            <a:srgbClr val="000000"/>
                          </a:solidFill>
                          <a:effectLst/>
                          <a:latin typeface="Arial" panose="020B0604020202020204" pitchFamily="34" charset="0"/>
                        </a:rPr>
                        <a:t>Tshopo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Kisangani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FF"/>
                          </a:solidFill>
                          <a:effectLst/>
                          <a:latin typeface="Arial" panose="020B0604020202020204" pitchFamily="34" charset="0"/>
                        </a:rPr>
                        <a:t> Cat. 1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extLst>
                  <a:ext uri="{0D108BD9-81ED-4DB2-BD59-A6C34878D82A}">
                    <a16:rowId xmlns:a16="http://schemas.microsoft.com/office/drawing/2014/main" val="10024"/>
                  </a:ext>
                </a:extLst>
              </a:tr>
              <a:tr h="165119">
                <a:tc>
                  <a:txBody>
                    <a:bodyPr/>
                    <a:lstStyle/>
                    <a:p>
                      <a:pPr algn="l" fontAlgn="b"/>
                      <a:r>
                        <a:rPr lang="fr-FR" sz="800" b="0" i="0" u="none" strike="noStrike">
                          <a:solidFill>
                            <a:srgbClr val="000000"/>
                          </a:solidFill>
                          <a:effectLst/>
                          <a:latin typeface="Arial" panose="020B0604020202020204" pitchFamily="34" charset="0"/>
                        </a:rPr>
                        <a:t>Tshuapa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Boende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FF"/>
                          </a:solidFill>
                          <a:effectLst/>
                          <a:latin typeface="Arial" panose="020B0604020202020204" pitchFamily="34" charset="0"/>
                        </a:rPr>
                        <a:t> Cat. 1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l" fontAlgn="b"/>
                      <a:r>
                        <a:rPr lang="fr-FR" sz="8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b"/>
                      <a:r>
                        <a:rPr lang="fr-FR" sz="800" b="0" i="0" u="none" strike="noStrike">
                          <a:solidFill>
                            <a:srgbClr val="000000"/>
                          </a:solidFill>
                          <a:effectLst/>
                          <a:latin typeface="Arial" panose="020B0604020202020204" pitchFamily="34" charset="0"/>
                        </a:rPr>
                        <a:t>Tshopo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Isangi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FF"/>
                          </a:solidFill>
                          <a:effectLst/>
                          <a:latin typeface="Arial" panose="020B0604020202020204" pitchFamily="34" charset="0"/>
                        </a:rPr>
                        <a:t> Cat. 1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extLst>
                  <a:ext uri="{0D108BD9-81ED-4DB2-BD59-A6C34878D82A}">
                    <a16:rowId xmlns:a16="http://schemas.microsoft.com/office/drawing/2014/main" val="10025"/>
                  </a:ext>
                </a:extLst>
              </a:tr>
              <a:tr h="165119">
                <a:tc>
                  <a:txBody>
                    <a:bodyPr/>
                    <a:lstStyle/>
                    <a:p>
                      <a:pPr algn="l" fontAlgn="b"/>
                      <a:r>
                        <a:rPr lang="fr-FR" sz="800" b="0" i="0" u="none" strike="noStrike">
                          <a:solidFill>
                            <a:srgbClr val="000000"/>
                          </a:solidFill>
                          <a:effectLst/>
                          <a:latin typeface="Arial" panose="020B0604020202020204" pitchFamily="34" charset="0"/>
                        </a:rPr>
                        <a:t>Tshuapa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00"/>
                          </a:solidFill>
                          <a:effectLst/>
                          <a:latin typeface="Arial" panose="020B0604020202020204" pitchFamily="34" charset="0"/>
                        </a:rPr>
                        <a:t> Bokungu</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fr-FR" sz="800" b="0" i="0" u="none" strike="noStrike">
                          <a:solidFill>
                            <a:srgbClr val="0000FF"/>
                          </a:solidFill>
                          <a:effectLst/>
                          <a:latin typeface="Arial" panose="020B0604020202020204" pitchFamily="34" charset="0"/>
                        </a:rPr>
                        <a:t> Cat. 1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l" fontAlgn="b"/>
                      <a:r>
                        <a:rPr lang="fr-FR" sz="8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l" fontAlgn="b"/>
                      <a:r>
                        <a:rPr lang="fr-FR" sz="800" b="0" i="0" u="none" strike="noStrike">
                          <a:solidFill>
                            <a:srgbClr val="000000"/>
                          </a:solidFill>
                          <a:effectLst/>
                          <a:latin typeface="Arial" panose="020B0604020202020204" pitchFamily="34" charset="0"/>
                        </a:rPr>
                        <a:t> </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b"/>
                      <a:r>
                        <a:rPr lang="fr-FR" sz="800" b="0" i="0" u="none" strike="noStrike">
                          <a:solidFill>
                            <a:srgbClr val="000000"/>
                          </a:solidFill>
                          <a:effectLst/>
                          <a:latin typeface="Arial" panose="020B0604020202020204" pitchFamily="34" charset="0"/>
                        </a:rPr>
                        <a:t> </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b"/>
                      <a:r>
                        <a:rPr lang="fr-FR" sz="800" b="0" i="0" u="none" strike="noStrike" dirty="0">
                          <a:solidFill>
                            <a:srgbClr val="000000"/>
                          </a:solidFill>
                          <a:effectLst/>
                          <a:latin typeface="Arial" panose="020B0604020202020204" pitchFamily="34" charset="0"/>
                        </a:rPr>
                        <a:t> </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0026"/>
                  </a:ext>
                </a:extLst>
              </a:tr>
            </a:tbl>
          </a:graphicData>
        </a:graphic>
      </p:graphicFrame>
    </p:spTree>
    <p:extLst>
      <p:ext uri="{BB962C8B-B14F-4D97-AF65-F5344CB8AC3E}">
        <p14:creationId xmlns:p14="http://schemas.microsoft.com/office/powerpoint/2010/main" val="23160829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6"/>
          <p:cNvSpPr txBox="1"/>
          <p:nvPr/>
        </p:nvSpPr>
        <p:spPr>
          <a:xfrm>
            <a:off x="389803" y="234041"/>
            <a:ext cx="11656423" cy="731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SzPts val="1100"/>
              <a:buNone/>
            </a:pPr>
            <a:r>
              <a:rPr lang="fr-FR" altLang="en-GB" sz="2665" b="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Taux d’abandon DTC1-DTC3 PAR ANTENNES de janvier – octobre 2024 versus 2025</a:t>
            </a:r>
            <a:endParaRPr lang="fr-FR" altLang="en-GB" sz="3200" b="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2" name="Google Shape;222;p16"/>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spcBef>
                <a:spcPts val="0"/>
              </a:spcBef>
              <a:spcAft>
                <a:spcPts val="0"/>
              </a:spcAft>
              <a:buNone/>
            </a:pPr>
            <a:endParaRPr sz="1865">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4" name="Google Shape;224;p16"/>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graphicFrame>
        <p:nvGraphicFramePr>
          <p:cNvPr id="8" name="Graphique 7"/>
          <p:cNvGraphicFramePr>
            <a:graphicFrameLocks noGrp="1"/>
          </p:cNvGraphicFramePr>
          <p:nvPr/>
        </p:nvGraphicFramePr>
        <p:xfrm>
          <a:off x="535577" y="1383672"/>
          <a:ext cx="10946674" cy="472974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6231384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6"/>
          <p:cNvSpPr txBox="1"/>
          <p:nvPr/>
        </p:nvSpPr>
        <p:spPr>
          <a:xfrm>
            <a:off x="458592" y="317941"/>
            <a:ext cx="11274800" cy="731600"/>
          </a:xfrm>
          <a:prstGeom prst="rect">
            <a:avLst/>
          </a:prstGeom>
          <a:noFill/>
          <a:ln>
            <a:noFill/>
          </a:ln>
        </p:spPr>
        <p:txBody>
          <a:bodyPr spcFirstLastPara="1" wrap="square" lIns="0" tIns="0" rIns="0" bIns="0" anchor="t" anchorCtr="0">
            <a:noAutofit/>
          </a:bodyPr>
          <a:lstStyle/>
          <a:p>
            <a:pPr>
              <a:buSzPts val="1100"/>
            </a:pPr>
            <a:r>
              <a:rPr lang="fr-FR" altLang="en-GB" sz="2400" b="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Couverture vaccinale en BCG par Antenne janvier – octobre 2024 versus 2025</a:t>
            </a:r>
            <a:r>
              <a:rPr lang="fr-FR" altLang="en-GB" sz="2800" b="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 </a:t>
            </a:r>
            <a:r>
              <a:rPr lang="fr-FR" altLang="en-GB" sz="2400" b="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1/2</a:t>
            </a:r>
            <a:endParaRPr lang="fr-FR" altLang="en-GB" sz="2800" b="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2" name="Google Shape;222;p16"/>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spcBef>
                <a:spcPts val="0"/>
              </a:spcBef>
              <a:spcAft>
                <a:spcPts val="0"/>
              </a:spcAft>
              <a:buNone/>
            </a:pPr>
            <a:endParaRPr sz="1865">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4" name="Google Shape;224;p16"/>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graphicFrame>
        <p:nvGraphicFramePr>
          <p:cNvPr id="8" name="Graphique 7"/>
          <p:cNvGraphicFramePr>
            <a:graphicFrameLocks/>
          </p:cNvGraphicFramePr>
          <p:nvPr/>
        </p:nvGraphicFramePr>
        <p:xfrm>
          <a:off x="458592" y="1049541"/>
          <a:ext cx="10958345" cy="527288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9200069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6"/>
          <p:cNvSpPr txBox="1"/>
          <p:nvPr/>
        </p:nvSpPr>
        <p:spPr>
          <a:xfrm>
            <a:off x="458592" y="317941"/>
            <a:ext cx="11274800" cy="731600"/>
          </a:xfrm>
          <a:prstGeom prst="rect">
            <a:avLst/>
          </a:prstGeom>
          <a:noFill/>
          <a:ln>
            <a:noFill/>
          </a:ln>
        </p:spPr>
        <p:txBody>
          <a:bodyPr spcFirstLastPara="1" wrap="square" lIns="0" tIns="0" rIns="0" bIns="0" anchor="t" anchorCtr="0">
            <a:noAutofit/>
          </a:bodyPr>
          <a:lstStyle/>
          <a:p>
            <a:pPr>
              <a:buSzPts val="1100"/>
            </a:pPr>
            <a:r>
              <a:rPr lang="fr-FR" altLang="en-GB" sz="2400" b="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Couverture vaccinale en BCG par Antenne janvier – octobre 2024 versus 2025</a:t>
            </a:r>
            <a:r>
              <a:rPr lang="fr-FR" altLang="en-GB" sz="2800" b="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  </a:t>
            </a:r>
            <a:r>
              <a:rPr lang="fr-FR" altLang="en-GB" sz="2400" b="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2/2</a:t>
            </a:r>
            <a:endParaRPr lang="fr-FR" altLang="en-GB" sz="2800" b="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2" name="Google Shape;222;p16"/>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spcBef>
                <a:spcPts val="0"/>
              </a:spcBef>
              <a:spcAft>
                <a:spcPts val="0"/>
              </a:spcAft>
              <a:buNone/>
            </a:pPr>
            <a:endParaRPr sz="1865">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4" name="Google Shape;224;p16"/>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graphicFrame>
        <p:nvGraphicFramePr>
          <p:cNvPr id="7" name="Graphique 6"/>
          <p:cNvGraphicFramePr>
            <a:graphicFrameLocks noGrp="1"/>
          </p:cNvGraphicFramePr>
          <p:nvPr/>
        </p:nvGraphicFramePr>
        <p:xfrm>
          <a:off x="267700" y="822960"/>
          <a:ext cx="11414800" cy="538189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2221849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6"/>
          <p:cNvSpPr txBox="1"/>
          <p:nvPr/>
        </p:nvSpPr>
        <p:spPr>
          <a:xfrm>
            <a:off x="458592" y="317941"/>
            <a:ext cx="11274800" cy="731600"/>
          </a:xfrm>
          <a:prstGeom prst="rect">
            <a:avLst/>
          </a:prstGeom>
          <a:noFill/>
          <a:ln>
            <a:noFill/>
          </a:ln>
        </p:spPr>
        <p:txBody>
          <a:bodyPr spcFirstLastPara="1" wrap="square" lIns="0" tIns="0" rIns="0" bIns="0" anchor="t" anchorCtr="0">
            <a:noAutofit/>
          </a:bodyPr>
          <a:lstStyle/>
          <a:p>
            <a:pPr>
              <a:buSzPts val="1100"/>
            </a:pPr>
            <a:r>
              <a:rPr lang="fr-FR" altLang="en-GB" sz="2400" b="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Couverture vaccinale enVAR1 par Antenne janvier – octobre 2024 versus 2025</a:t>
            </a:r>
            <a:r>
              <a:rPr lang="fr-FR" altLang="en-GB" sz="2800" b="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  </a:t>
            </a:r>
            <a:r>
              <a:rPr lang="fr-FR" altLang="en-GB" sz="2400" b="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1/2</a:t>
            </a:r>
            <a:endParaRPr lang="fr-FR" altLang="en-GB" sz="2800" b="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2" name="Google Shape;222;p16"/>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spcBef>
                <a:spcPts val="0"/>
              </a:spcBef>
              <a:spcAft>
                <a:spcPts val="0"/>
              </a:spcAft>
              <a:buNone/>
            </a:pPr>
            <a:endParaRPr sz="1865">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4" name="Google Shape;224;p16"/>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graphicFrame>
        <p:nvGraphicFramePr>
          <p:cNvPr id="6" name="Graphique 5"/>
          <p:cNvGraphicFramePr>
            <a:graphicFrameLocks noGrp="1"/>
          </p:cNvGraphicFramePr>
          <p:nvPr/>
        </p:nvGraphicFramePr>
        <p:xfrm>
          <a:off x="267700" y="927441"/>
          <a:ext cx="11201489" cy="535579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1545746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6"/>
          <p:cNvSpPr txBox="1"/>
          <p:nvPr/>
        </p:nvSpPr>
        <p:spPr>
          <a:xfrm>
            <a:off x="458592" y="317941"/>
            <a:ext cx="11274800" cy="731600"/>
          </a:xfrm>
          <a:prstGeom prst="rect">
            <a:avLst/>
          </a:prstGeom>
          <a:noFill/>
          <a:ln>
            <a:noFill/>
          </a:ln>
        </p:spPr>
        <p:txBody>
          <a:bodyPr spcFirstLastPara="1" wrap="square" lIns="0" tIns="0" rIns="0" bIns="0" anchor="t" anchorCtr="0">
            <a:noAutofit/>
          </a:bodyPr>
          <a:lstStyle/>
          <a:p>
            <a:pPr>
              <a:buSzPts val="1100"/>
            </a:pPr>
            <a:r>
              <a:rPr lang="fr-FR" altLang="en-GB" sz="2400" b="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Couverture vaccinale enVAR2 par Antenne janvier – octobre 2024 versus 2025</a:t>
            </a:r>
            <a:r>
              <a:rPr lang="fr-FR" altLang="en-GB" sz="2800" b="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  </a:t>
            </a:r>
            <a:r>
              <a:rPr lang="fr-FR" altLang="en-GB" sz="2400" b="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1/2</a:t>
            </a:r>
            <a:endParaRPr lang="fr-FR" altLang="en-GB" sz="2800" b="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2" name="Google Shape;222;p16"/>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spcBef>
                <a:spcPts val="0"/>
              </a:spcBef>
              <a:spcAft>
                <a:spcPts val="0"/>
              </a:spcAft>
              <a:buNone/>
            </a:pPr>
            <a:endParaRPr sz="1865">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4" name="Google Shape;224;p16"/>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graphicFrame>
        <p:nvGraphicFramePr>
          <p:cNvPr id="8" name="Graphique 7"/>
          <p:cNvGraphicFramePr>
            <a:graphicFrameLocks/>
          </p:cNvGraphicFramePr>
          <p:nvPr/>
        </p:nvGraphicFramePr>
        <p:xfrm>
          <a:off x="458592" y="927441"/>
          <a:ext cx="11036722" cy="515982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8489743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6"/>
          <p:cNvSpPr txBox="1"/>
          <p:nvPr/>
        </p:nvSpPr>
        <p:spPr>
          <a:xfrm>
            <a:off x="458592" y="317941"/>
            <a:ext cx="11274800" cy="731600"/>
          </a:xfrm>
          <a:prstGeom prst="rect">
            <a:avLst/>
          </a:prstGeom>
          <a:noFill/>
          <a:ln>
            <a:noFill/>
          </a:ln>
        </p:spPr>
        <p:txBody>
          <a:bodyPr spcFirstLastPara="1" wrap="square" lIns="0" tIns="0" rIns="0" bIns="0" anchor="t" anchorCtr="0">
            <a:noAutofit/>
          </a:bodyPr>
          <a:lstStyle/>
          <a:p>
            <a:pPr>
              <a:buSzPts val="1100"/>
            </a:pPr>
            <a:r>
              <a:rPr lang="fr-FR" altLang="en-GB" sz="2400" b="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Couverture vaccinale en VAR2 par Antenne janvier – octobre 2024 versus 2025</a:t>
            </a:r>
            <a:r>
              <a:rPr lang="fr-FR" altLang="en-GB" sz="2800" b="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  </a:t>
            </a:r>
            <a:r>
              <a:rPr lang="fr-FR" altLang="en-GB" sz="2400" b="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2/2</a:t>
            </a:r>
            <a:endParaRPr lang="fr-FR" altLang="en-GB" sz="2800" b="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2" name="Google Shape;222;p16"/>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spcBef>
                <a:spcPts val="0"/>
              </a:spcBef>
              <a:spcAft>
                <a:spcPts val="0"/>
              </a:spcAft>
              <a:buNone/>
            </a:pPr>
            <a:endParaRPr sz="1865">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4" name="Google Shape;224;p16"/>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graphicFrame>
        <p:nvGraphicFramePr>
          <p:cNvPr id="11" name="Graphique 10"/>
          <p:cNvGraphicFramePr>
            <a:graphicFrameLocks/>
          </p:cNvGraphicFramePr>
          <p:nvPr/>
        </p:nvGraphicFramePr>
        <p:xfrm>
          <a:off x="979714" y="927441"/>
          <a:ext cx="10110652" cy="529047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0879314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6"/>
          <p:cNvSpPr txBox="1"/>
          <p:nvPr/>
        </p:nvSpPr>
        <p:spPr>
          <a:xfrm>
            <a:off x="458592" y="317941"/>
            <a:ext cx="11274800" cy="731600"/>
          </a:xfrm>
          <a:prstGeom prst="rect">
            <a:avLst/>
          </a:prstGeom>
          <a:noFill/>
          <a:ln>
            <a:noFill/>
          </a:ln>
        </p:spPr>
        <p:txBody>
          <a:bodyPr spcFirstLastPara="1" wrap="square" lIns="0" tIns="0" rIns="0" bIns="0" anchor="t" anchorCtr="0">
            <a:noAutofit/>
          </a:bodyPr>
          <a:lstStyle/>
          <a:p>
            <a:pPr>
              <a:buSzPts val="1100"/>
            </a:pPr>
            <a:r>
              <a:rPr lang="fr-FR" altLang="en-GB" sz="2400" b="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Couverture vaccinale en VPO3 par Antenne janvier – octobre 2024 versus 2025</a:t>
            </a:r>
            <a:r>
              <a:rPr lang="fr-FR" altLang="en-GB" sz="2800" b="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  </a:t>
            </a:r>
            <a:r>
              <a:rPr lang="fr-FR" altLang="en-GB" sz="2400" b="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1/2</a:t>
            </a:r>
            <a:endParaRPr lang="fr-FR" altLang="en-GB" sz="2800" b="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2" name="Google Shape;222;p16"/>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spcBef>
                <a:spcPts val="0"/>
              </a:spcBef>
              <a:spcAft>
                <a:spcPts val="0"/>
              </a:spcAft>
              <a:buNone/>
            </a:pPr>
            <a:endParaRPr sz="1865">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4" name="Google Shape;224;p16"/>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graphicFrame>
        <p:nvGraphicFramePr>
          <p:cNvPr id="10" name="Graphique 9"/>
          <p:cNvGraphicFramePr>
            <a:graphicFrameLocks/>
          </p:cNvGraphicFramePr>
          <p:nvPr/>
        </p:nvGraphicFramePr>
        <p:xfrm>
          <a:off x="458592" y="1049541"/>
          <a:ext cx="10514208" cy="520756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5470081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6"/>
          <p:cNvSpPr txBox="1"/>
          <p:nvPr/>
        </p:nvSpPr>
        <p:spPr>
          <a:xfrm>
            <a:off x="458592" y="317941"/>
            <a:ext cx="11274800" cy="731600"/>
          </a:xfrm>
          <a:prstGeom prst="rect">
            <a:avLst/>
          </a:prstGeom>
          <a:noFill/>
          <a:ln>
            <a:noFill/>
          </a:ln>
        </p:spPr>
        <p:txBody>
          <a:bodyPr spcFirstLastPara="1" wrap="square" lIns="0" tIns="0" rIns="0" bIns="0" anchor="t" anchorCtr="0">
            <a:noAutofit/>
          </a:bodyPr>
          <a:lstStyle/>
          <a:p>
            <a:pPr>
              <a:buSzPts val="1100"/>
            </a:pPr>
            <a:r>
              <a:rPr lang="fr-FR" altLang="en-GB" sz="2400" b="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Couverture vaccinale en VPO3 par Antenne janvier – octobre 2024 versus 2025</a:t>
            </a:r>
            <a:r>
              <a:rPr lang="fr-FR" altLang="en-GB" sz="2800" b="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  </a:t>
            </a:r>
            <a:r>
              <a:rPr lang="fr-FR" altLang="en-GB" sz="2400" b="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2/2</a:t>
            </a:r>
            <a:endParaRPr lang="fr-FR" altLang="en-GB" sz="2800" b="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2" name="Google Shape;222;p16"/>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spcBef>
                <a:spcPts val="0"/>
              </a:spcBef>
              <a:spcAft>
                <a:spcPts val="0"/>
              </a:spcAft>
              <a:buNone/>
            </a:pPr>
            <a:endParaRPr sz="1865">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4" name="Google Shape;224;p16"/>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graphicFrame>
        <p:nvGraphicFramePr>
          <p:cNvPr id="7" name="Graphique 6"/>
          <p:cNvGraphicFramePr>
            <a:graphicFrameLocks/>
          </p:cNvGraphicFramePr>
          <p:nvPr/>
        </p:nvGraphicFramePr>
        <p:xfrm>
          <a:off x="574766" y="927441"/>
          <a:ext cx="10646228" cy="539498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8730510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6"/>
          <p:cNvSpPr txBox="1"/>
          <p:nvPr/>
        </p:nvSpPr>
        <p:spPr>
          <a:xfrm>
            <a:off x="458592" y="317941"/>
            <a:ext cx="11274800" cy="731600"/>
          </a:xfrm>
          <a:prstGeom prst="rect">
            <a:avLst/>
          </a:prstGeom>
          <a:noFill/>
          <a:ln>
            <a:noFill/>
          </a:ln>
        </p:spPr>
        <p:txBody>
          <a:bodyPr spcFirstLastPara="1" wrap="square" lIns="0" tIns="0" rIns="0" bIns="0" anchor="t" anchorCtr="0">
            <a:noAutofit/>
          </a:bodyPr>
          <a:lstStyle/>
          <a:p>
            <a:pPr>
              <a:buSzPts val="1100"/>
            </a:pPr>
            <a:r>
              <a:rPr lang="fr-FR" altLang="en-GB" sz="2400" b="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Couverture vaccinale en VPO3 par Antenne janvier – octobre 2024 versus 2025</a:t>
            </a:r>
            <a:r>
              <a:rPr lang="fr-FR" altLang="en-GB" sz="2800" b="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  </a:t>
            </a:r>
            <a:r>
              <a:rPr lang="fr-FR" altLang="en-GB" sz="2400" b="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2/2</a:t>
            </a:r>
            <a:endParaRPr lang="fr-FR" altLang="en-GB" sz="2800" b="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2" name="Google Shape;222;p16"/>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spcBef>
                <a:spcPts val="0"/>
              </a:spcBef>
              <a:spcAft>
                <a:spcPts val="0"/>
              </a:spcAft>
              <a:buNone/>
            </a:pPr>
            <a:endParaRPr sz="1865">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4" name="Google Shape;224;p16"/>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graphicFrame>
        <p:nvGraphicFramePr>
          <p:cNvPr id="6" name="Graphique 5"/>
          <p:cNvGraphicFramePr>
            <a:graphicFrameLocks/>
          </p:cNvGraphicFramePr>
          <p:nvPr/>
        </p:nvGraphicFramePr>
        <p:xfrm>
          <a:off x="574766" y="927441"/>
          <a:ext cx="10646228" cy="539498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2693244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6"/>
          <p:cNvSpPr txBox="1"/>
          <p:nvPr/>
        </p:nvSpPr>
        <p:spPr>
          <a:xfrm>
            <a:off x="458592" y="317941"/>
            <a:ext cx="11274800" cy="731600"/>
          </a:xfrm>
          <a:prstGeom prst="rect">
            <a:avLst/>
          </a:prstGeom>
          <a:noFill/>
          <a:ln>
            <a:noFill/>
          </a:ln>
        </p:spPr>
        <p:txBody>
          <a:bodyPr spcFirstLastPara="1" wrap="square" lIns="0" tIns="0" rIns="0" bIns="0" anchor="t" anchorCtr="0">
            <a:noAutofit/>
          </a:bodyPr>
          <a:lstStyle/>
          <a:p>
            <a:pPr>
              <a:buSzPts val="1100"/>
            </a:pPr>
            <a:r>
              <a:rPr lang="fr-FR" altLang="en-GB" sz="2000" b="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Couverture vaccinale en DTC-HepB-Hib3 par Antenne janvier – octobre 2024 versus 2025</a:t>
            </a:r>
            <a:r>
              <a:rPr lang="fr-FR" altLang="en-GB" sz="2400" b="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  </a:t>
            </a:r>
            <a:r>
              <a:rPr lang="fr-FR" altLang="en-GB" sz="2000" b="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1/2</a:t>
            </a:r>
            <a:endParaRPr lang="fr-FR" altLang="en-GB" sz="2400" b="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2" name="Google Shape;222;p16"/>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spcBef>
                <a:spcPts val="0"/>
              </a:spcBef>
              <a:spcAft>
                <a:spcPts val="0"/>
              </a:spcAft>
              <a:buNone/>
            </a:pPr>
            <a:endParaRPr sz="1865">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4" name="Google Shape;224;p16"/>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graphicFrame>
        <p:nvGraphicFramePr>
          <p:cNvPr id="6" name="Graphique 5"/>
          <p:cNvGraphicFramePr>
            <a:graphicFrameLocks/>
          </p:cNvGraphicFramePr>
          <p:nvPr/>
        </p:nvGraphicFramePr>
        <p:xfrm>
          <a:off x="731520" y="1049541"/>
          <a:ext cx="10541726" cy="506387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2763960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6"/>
          <p:cNvSpPr txBox="1"/>
          <p:nvPr/>
        </p:nvSpPr>
        <p:spPr>
          <a:xfrm>
            <a:off x="458592" y="317941"/>
            <a:ext cx="11274800" cy="731600"/>
          </a:xfrm>
          <a:prstGeom prst="rect">
            <a:avLst/>
          </a:prstGeom>
          <a:noFill/>
          <a:ln>
            <a:noFill/>
          </a:ln>
        </p:spPr>
        <p:txBody>
          <a:bodyPr spcFirstLastPara="1" wrap="square" lIns="0" tIns="0" rIns="0" bIns="0" anchor="t" anchorCtr="0">
            <a:noAutofit/>
          </a:bodyPr>
          <a:lstStyle/>
          <a:p>
            <a:pPr>
              <a:buSzPts val="1100"/>
            </a:pPr>
            <a:r>
              <a:rPr lang="fr-FR" altLang="en-GB" sz="2000" b="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Couverture vaccinale en DTC-HepB-Hib3 par Antenne janvier – octobre 2024 versus 2025</a:t>
            </a:r>
            <a:r>
              <a:rPr lang="fr-FR" altLang="en-GB" sz="2400" b="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  </a:t>
            </a:r>
            <a:r>
              <a:rPr lang="fr-FR" altLang="en-GB" sz="2000" b="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2/2</a:t>
            </a:r>
            <a:endParaRPr lang="fr-FR" altLang="en-GB" sz="2400" b="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2" name="Google Shape;222;p16"/>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spcBef>
                <a:spcPts val="0"/>
              </a:spcBef>
              <a:spcAft>
                <a:spcPts val="0"/>
              </a:spcAft>
              <a:buNone/>
            </a:pPr>
            <a:endParaRPr sz="1865">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4" name="Google Shape;224;p16"/>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graphicFrame>
        <p:nvGraphicFramePr>
          <p:cNvPr id="6" name="Graphique 5"/>
          <p:cNvGraphicFramePr>
            <a:graphicFrameLocks/>
          </p:cNvGraphicFramePr>
          <p:nvPr/>
        </p:nvGraphicFramePr>
        <p:xfrm>
          <a:off x="458592" y="927441"/>
          <a:ext cx="10853842" cy="530354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3226714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g3a7c27f5d69_1_1103"/>
          <p:cNvSpPr txBox="1"/>
          <p:nvPr/>
        </p:nvSpPr>
        <p:spPr>
          <a:xfrm>
            <a:off x="458592" y="317942"/>
            <a:ext cx="11274800" cy="882357"/>
          </a:xfrm>
          <a:prstGeom prst="rect">
            <a:avLst/>
          </a:prstGeom>
          <a:noFill/>
          <a:ln>
            <a:noFill/>
          </a:ln>
        </p:spPr>
        <p:txBody>
          <a:bodyPr spcFirstLastPara="1" wrap="square" lIns="0" tIns="0" rIns="0" bIns="0" anchor="t" anchorCtr="0">
            <a:spAutoFit/>
          </a:bodyPr>
          <a:lstStyle/>
          <a:p>
            <a:pPr>
              <a:lnSpc>
                <a:spcPct val="115000"/>
              </a:lnSpc>
              <a:spcBef>
                <a:spcPts val="1600"/>
              </a:spcBef>
              <a:spcAft>
                <a:spcPts val="1600"/>
              </a:spcAft>
              <a:buClr>
                <a:schemeClr val="dk1"/>
              </a:buClr>
              <a:buSzPts val="1100"/>
            </a:pPr>
            <a:r>
              <a:rPr lang="fr-FR" sz="2667" dirty="0">
                <a:solidFill>
                  <a:srgbClr val="1155CC"/>
                </a:solidFill>
                <a:latin typeface="Times New Roman"/>
                <a:ea typeface="Times New Roman"/>
                <a:cs typeface="Times New Roman"/>
                <a:sym typeface="Times New Roman"/>
              </a:rPr>
              <a:t>Trois</a:t>
            </a:r>
            <a:r>
              <a:rPr lang="en-GB" sz="2667" dirty="0">
                <a:solidFill>
                  <a:srgbClr val="1155CC"/>
                </a:solidFill>
                <a:latin typeface="Times New Roman"/>
                <a:ea typeface="Times New Roman"/>
                <a:cs typeface="Times New Roman"/>
                <a:sym typeface="Times New Roman"/>
              </a:rPr>
              <a:t> </a:t>
            </a:r>
            <a:r>
              <a:rPr lang="fr-FR" sz="2667" dirty="0">
                <a:solidFill>
                  <a:srgbClr val="1155CC"/>
                </a:solidFill>
                <a:latin typeface="Times New Roman"/>
                <a:ea typeface="Times New Roman"/>
                <a:cs typeface="Times New Roman"/>
                <a:sym typeface="Times New Roman"/>
              </a:rPr>
              <a:t>indicateurs</a:t>
            </a:r>
            <a:r>
              <a:rPr lang="en-GB" sz="2667" dirty="0">
                <a:solidFill>
                  <a:srgbClr val="1155CC"/>
                </a:solidFill>
                <a:latin typeface="Times New Roman"/>
                <a:ea typeface="Times New Roman"/>
                <a:cs typeface="Times New Roman"/>
                <a:sym typeface="Times New Roman"/>
              </a:rPr>
              <a:t> de </a:t>
            </a:r>
            <a:r>
              <a:rPr lang="fr-FR" sz="2667" dirty="0">
                <a:solidFill>
                  <a:srgbClr val="1155CC"/>
                </a:solidFill>
                <a:latin typeface="Times New Roman"/>
                <a:ea typeface="Times New Roman"/>
                <a:cs typeface="Times New Roman"/>
                <a:sym typeface="Times New Roman"/>
              </a:rPr>
              <a:t>suivi</a:t>
            </a:r>
            <a:r>
              <a:rPr lang="en-GB" sz="2667" dirty="0">
                <a:solidFill>
                  <a:srgbClr val="1155CC"/>
                </a:solidFill>
                <a:latin typeface="Times New Roman"/>
                <a:ea typeface="Times New Roman"/>
                <a:cs typeface="Times New Roman"/>
                <a:sym typeface="Times New Roman"/>
              </a:rPr>
              <a:t> de </a:t>
            </a:r>
            <a:r>
              <a:rPr lang="fr-FR" sz="2667" dirty="0">
                <a:solidFill>
                  <a:srgbClr val="1155CC"/>
                </a:solidFill>
                <a:latin typeface="Times New Roman"/>
                <a:ea typeface="Times New Roman"/>
                <a:cs typeface="Times New Roman"/>
                <a:sym typeface="Times New Roman"/>
              </a:rPr>
              <a:t>processus</a:t>
            </a:r>
            <a:r>
              <a:rPr lang="en-GB" sz="2667" dirty="0">
                <a:solidFill>
                  <a:srgbClr val="1155CC"/>
                </a:solidFill>
                <a:latin typeface="Times New Roman"/>
                <a:ea typeface="Times New Roman"/>
                <a:cs typeface="Times New Roman"/>
                <a:sym typeface="Times New Roman"/>
              </a:rPr>
              <a:t> de </a:t>
            </a:r>
            <a:r>
              <a:rPr lang="fr-FR" sz="2667" dirty="0">
                <a:solidFill>
                  <a:srgbClr val="1155CC"/>
                </a:solidFill>
                <a:latin typeface="Times New Roman"/>
                <a:ea typeface="Times New Roman"/>
                <a:cs typeface="Times New Roman"/>
                <a:sym typeface="Times New Roman"/>
              </a:rPr>
              <a:t>prestation</a:t>
            </a:r>
            <a:r>
              <a:rPr lang="en-GB" sz="2667" dirty="0">
                <a:solidFill>
                  <a:srgbClr val="1155CC"/>
                </a:solidFill>
                <a:latin typeface="Times New Roman"/>
                <a:ea typeface="Times New Roman"/>
                <a:cs typeface="Times New Roman"/>
                <a:sym typeface="Times New Roman"/>
              </a:rPr>
              <a:t> / Routine </a:t>
            </a:r>
            <a:endParaRPr sz="2667" dirty="0">
              <a:solidFill>
                <a:srgbClr val="1155CC"/>
              </a:solidFill>
              <a:latin typeface="Times New Roman"/>
              <a:ea typeface="Times New Roman"/>
              <a:cs typeface="Times New Roman"/>
              <a:sym typeface="Times New Roman"/>
            </a:endParaRPr>
          </a:p>
        </p:txBody>
      </p:sp>
      <p:sp>
        <p:nvSpPr>
          <p:cNvPr id="261" name="Google Shape;261;g3a7c27f5d69_1_1103"/>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a:buClr>
                <a:srgbClr val="000000"/>
              </a:buClr>
              <a:buSzPts val="1400"/>
            </a:pPr>
            <a:endParaRPr sz="1867">
              <a:solidFill>
                <a:srgbClr val="0070C0"/>
              </a:solidFill>
              <a:latin typeface="Times New Roman"/>
              <a:ea typeface="Times New Roman"/>
              <a:cs typeface="Times New Roman"/>
              <a:sym typeface="Times New Roman"/>
            </a:endParaRPr>
          </a:p>
        </p:txBody>
      </p:sp>
      <p:sp>
        <p:nvSpPr>
          <p:cNvPr id="262" name="Google Shape;262;g3a7c27f5d69_1_1103"/>
          <p:cNvSpPr txBox="1"/>
          <p:nvPr/>
        </p:nvSpPr>
        <p:spPr>
          <a:xfrm>
            <a:off x="267700" y="6492843"/>
            <a:ext cx="11414800" cy="184666"/>
          </a:xfrm>
          <a:prstGeom prst="rect">
            <a:avLst/>
          </a:prstGeom>
          <a:noFill/>
          <a:ln>
            <a:noFill/>
          </a:ln>
        </p:spPr>
        <p:txBody>
          <a:bodyPr spcFirstLastPara="1" wrap="square" lIns="0" tIns="0" rIns="121900" bIns="0" anchor="t" anchorCtr="0">
            <a:spAutoFit/>
          </a:bodyPr>
          <a:lstStyle/>
          <a:p>
            <a:pPr>
              <a:buClr>
                <a:srgbClr val="000000"/>
              </a:buClr>
              <a:buSzPts val="900"/>
            </a:pPr>
            <a:endParaRPr sz="1200" b="1">
              <a:solidFill>
                <a:srgbClr val="1155CC"/>
              </a:solidFill>
              <a:latin typeface="Times New Roman"/>
              <a:ea typeface="Times New Roman"/>
              <a:cs typeface="Times New Roman"/>
              <a:sym typeface="Times New Roman"/>
            </a:endParaRPr>
          </a:p>
        </p:txBody>
      </p:sp>
      <p:sp>
        <p:nvSpPr>
          <p:cNvPr id="263" name="Google Shape;263;g3a7c27f5d69_1_1103"/>
          <p:cNvSpPr txBox="1"/>
          <p:nvPr/>
        </p:nvSpPr>
        <p:spPr>
          <a:xfrm>
            <a:off x="11658600" y="6496067"/>
            <a:ext cx="228400" cy="166000"/>
          </a:xfrm>
          <a:prstGeom prst="rect">
            <a:avLst/>
          </a:prstGeom>
          <a:noFill/>
          <a:ln>
            <a:noFill/>
          </a:ln>
        </p:spPr>
        <p:txBody>
          <a:bodyPr spcFirstLastPara="1" wrap="square" lIns="0" tIns="0" rIns="0" bIns="0" anchor="ctr" anchorCtr="0">
            <a:noAutofit/>
          </a:bodyPr>
          <a:lstStyle/>
          <a:p>
            <a:pPr algn="r">
              <a:buClr>
                <a:srgbClr val="000000"/>
              </a:buClr>
              <a:buSzPts val="900"/>
            </a:pPr>
            <a:fld id="{00000000-1234-1234-1234-123412341234}" type="slidenum">
              <a:rPr lang="en-GB" sz="1200">
                <a:solidFill>
                  <a:srgbClr val="1155CC"/>
                </a:solidFill>
                <a:latin typeface="Arial"/>
                <a:ea typeface="Arial"/>
                <a:cs typeface="Arial"/>
                <a:sym typeface="Arial"/>
              </a:rPr>
              <a:pPr algn="r">
                <a:buClr>
                  <a:srgbClr val="000000"/>
                </a:buClr>
                <a:buSzPts val="900"/>
              </a:pPr>
              <a:t>30</a:t>
            </a:fld>
            <a:endParaRPr sz="1200">
              <a:solidFill>
                <a:srgbClr val="1155CC"/>
              </a:solidFill>
              <a:latin typeface="Arial"/>
              <a:ea typeface="Arial"/>
              <a:cs typeface="Arial"/>
              <a:sym typeface="Arial"/>
            </a:endParaRPr>
          </a:p>
        </p:txBody>
      </p:sp>
      <p:graphicFrame>
        <p:nvGraphicFramePr>
          <p:cNvPr id="264" name="Google Shape;264;g3a7c27f5d69_1_1103"/>
          <p:cNvGraphicFramePr/>
          <p:nvPr/>
        </p:nvGraphicFramePr>
        <p:xfrm>
          <a:off x="609600" y="2438421"/>
          <a:ext cx="10681252" cy="1499536"/>
        </p:xfrm>
        <a:graphic>
          <a:graphicData uri="http://schemas.openxmlformats.org/drawingml/2006/table">
            <a:tbl>
              <a:tblPr>
                <a:noFill/>
              </a:tblPr>
              <a:tblGrid>
                <a:gridCol w="3493113">
                  <a:extLst>
                    <a:ext uri="{9D8B030D-6E8A-4147-A177-3AD203B41FA5}">
                      <a16:colId xmlns:a16="http://schemas.microsoft.com/office/drawing/2014/main" val="20000"/>
                    </a:ext>
                  </a:extLst>
                </a:gridCol>
                <a:gridCol w="7188139">
                  <a:extLst>
                    <a:ext uri="{9D8B030D-6E8A-4147-A177-3AD203B41FA5}">
                      <a16:colId xmlns:a16="http://schemas.microsoft.com/office/drawing/2014/main" val="20001"/>
                    </a:ext>
                  </a:extLst>
                </a:gridCol>
              </a:tblGrid>
              <a:tr h="524216">
                <a:tc>
                  <a:txBody>
                    <a:bodyPr/>
                    <a:lstStyle/>
                    <a:p>
                      <a:pPr marL="0" lvl="0" indent="0" algn="l" rtl="0">
                        <a:lnSpc>
                          <a:spcPct val="115000"/>
                        </a:lnSpc>
                        <a:spcBef>
                          <a:spcPts val="0"/>
                        </a:spcBef>
                        <a:spcAft>
                          <a:spcPts val="0"/>
                        </a:spcAft>
                        <a:buNone/>
                      </a:pPr>
                      <a:r>
                        <a:rPr lang="en-GB" sz="1600" b="1" dirty="0">
                          <a:solidFill>
                            <a:srgbClr val="FFFFFF"/>
                          </a:solidFill>
                          <a:latin typeface="Times New Roman"/>
                          <a:ea typeface="Times New Roman"/>
                          <a:cs typeface="Times New Roman"/>
                          <a:sym typeface="Times New Roman"/>
                        </a:rPr>
                        <a:t>Domaine</a:t>
                      </a:r>
                      <a:r>
                        <a:rPr lang="en-GB" sz="1600" b="1" baseline="0" dirty="0">
                          <a:solidFill>
                            <a:srgbClr val="FFFFFF"/>
                          </a:solidFill>
                          <a:latin typeface="Times New Roman"/>
                          <a:ea typeface="Times New Roman"/>
                          <a:cs typeface="Times New Roman"/>
                          <a:sym typeface="Times New Roman"/>
                        </a:rPr>
                        <a:t> </a:t>
                      </a:r>
                      <a:endParaRPr sz="1600" b="1" dirty="0">
                        <a:solidFill>
                          <a:srgbClr val="FFFFFF"/>
                        </a:solidFill>
                        <a:latin typeface="Times New Roman"/>
                        <a:ea typeface="Times New Roman"/>
                        <a:cs typeface="Times New Roman"/>
                        <a:sym typeface="Times New Roman"/>
                      </a:endParaRPr>
                    </a:p>
                  </a:txBody>
                  <a:tcPr marL="121900" marR="121900" marT="121900" marB="121900" anchor="ctr">
                    <a:lnL w="9525" cap="flat" cmpd="sng">
                      <a:solidFill>
                        <a:srgbClr val="CCCCCC"/>
                      </a:solidFill>
                      <a:prstDash val="dash"/>
                      <a:round/>
                      <a:headEnd type="none" w="sm" len="sm"/>
                      <a:tailEnd type="none" w="sm" len="sm"/>
                    </a:lnL>
                    <a:lnR w="9525" cap="flat" cmpd="sng">
                      <a:solidFill>
                        <a:srgbClr val="CCCCCC"/>
                      </a:solidFill>
                      <a:prstDash val="dash"/>
                      <a:round/>
                      <a:headEnd type="none" w="sm" len="sm"/>
                      <a:tailEnd type="none" w="sm" len="sm"/>
                    </a:lnR>
                    <a:lnT w="9525" cap="flat" cmpd="sng">
                      <a:solidFill>
                        <a:srgbClr val="CCCCCC"/>
                      </a:solidFill>
                      <a:prstDash val="dash"/>
                      <a:round/>
                      <a:headEnd type="none" w="sm" len="sm"/>
                      <a:tailEnd type="none" w="sm" len="sm"/>
                    </a:lnT>
                    <a:lnB w="9525" cap="flat" cmpd="sng">
                      <a:solidFill>
                        <a:srgbClr val="CCCCCC"/>
                      </a:solidFill>
                      <a:prstDash val="dash"/>
                      <a:round/>
                      <a:headEnd type="none" w="sm" len="sm"/>
                      <a:tailEnd type="none" w="sm" len="sm"/>
                    </a:lnB>
                    <a:solidFill>
                      <a:srgbClr val="1255CC"/>
                    </a:solidFill>
                  </a:tcPr>
                </a:tc>
                <a:tc>
                  <a:txBody>
                    <a:bodyPr/>
                    <a:lstStyle/>
                    <a:p>
                      <a:pPr marL="0" lvl="0" indent="0" algn="l" rtl="0">
                        <a:lnSpc>
                          <a:spcPct val="115000"/>
                        </a:lnSpc>
                        <a:spcBef>
                          <a:spcPts val="0"/>
                        </a:spcBef>
                        <a:spcAft>
                          <a:spcPts val="0"/>
                        </a:spcAft>
                        <a:buNone/>
                      </a:pPr>
                      <a:r>
                        <a:rPr lang="en-GB" sz="1600" b="1">
                          <a:solidFill>
                            <a:srgbClr val="FFFFFF"/>
                          </a:solidFill>
                          <a:latin typeface="Times New Roman"/>
                          <a:ea typeface="Times New Roman"/>
                          <a:cs typeface="Times New Roman"/>
                          <a:sym typeface="Times New Roman"/>
                        </a:rPr>
                        <a:t>Indicateurs en charge</a:t>
                      </a:r>
                      <a:endParaRPr sz="1600" b="1">
                        <a:solidFill>
                          <a:srgbClr val="FFFFFF"/>
                        </a:solidFill>
                        <a:latin typeface="Times New Roman"/>
                        <a:ea typeface="Times New Roman"/>
                        <a:cs typeface="Times New Roman"/>
                        <a:sym typeface="Times New Roman"/>
                      </a:endParaRPr>
                    </a:p>
                  </a:txBody>
                  <a:tcPr marL="121900" marR="121900" marT="121900" marB="121900" anchor="ctr">
                    <a:lnL w="9525" cap="flat" cmpd="sng">
                      <a:solidFill>
                        <a:srgbClr val="CCCCCC"/>
                      </a:solidFill>
                      <a:prstDash val="dash"/>
                      <a:round/>
                      <a:headEnd type="none" w="sm" len="sm"/>
                      <a:tailEnd type="none" w="sm" len="sm"/>
                    </a:lnL>
                    <a:lnR w="9525" cap="flat" cmpd="sng">
                      <a:solidFill>
                        <a:srgbClr val="CCCCCC"/>
                      </a:solidFill>
                      <a:prstDash val="dash"/>
                      <a:round/>
                      <a:headEnd type="none" w="sm" len="sm"/>
                      <a:tailEnd type="none" w="sm" len="sm"/>
                    </a:lnR>
                    <a:lnT w="9525" cap="flat" cmpd="sng">
                      <a:solidFill>
                        <a:srgbClr val="CCCCCC"/>
                      </a:solidFill>
                      <a:prstDash val="dash"/>
                      <a:round/>
                      <a:headEnd type="none" w="sm" len="sm"/>
                      <a:tailEnd type="none" w="sm" len="sm"/>
                    </a:lnT>
                    <a:lnB w="9525" cap="flat" cmpd="sng">
                      <a:solidFill>
                        <a:srgbClr val="CCCCCC"/>
                      </a:solidFill>
                      <a:prstDash val="dash"/>
                      <a:round/>
                      <a:headEnd type="none" w="sm" len="sm"/>
                      <a:tailEnd type="none" w="sm" len="sm"/>
                    </a:lnB>
                    <a:solidFill>
                      <a:srgbClr val="1255CC"/>
                    </a:solidFill>
                  </a:tcPr>
                </a:tc>
                <a:extLst>
                  <a:ext uri="{0D108BD9-81ED-4DB2-BD59-A6C34878D82A}">
                    <a16:rowId xmlns:a16="http://schemas.microsoft.com/office/drawing/2014/main" val="10000"/>
                  </a:ext>
                </a:extLst>
              </a:tr>
              <a:tr h="975320">
                <a:tc>
                  <a:txBody>
                    <a:bodyPr/>
                    <a:lstStyle/>
                    <a:p>
                      <a:pPr marL="0" lvl="0" indent="0" algn="l" rtl="0">
                        <a:spcBef>
                          <a:spcPts val="0"/>
                        </a:spcBef>
                        <a:spcAft>
                          <a:spcPts val="0"/>
                        </a:spcAft>
                        <a:buNone/>
                      </a:pPr>
                      <a:r>
                        <a:rPr lang="en-GB" sz="1600" b="1">
                          <a:latin typeface="Times New Roman"/>
                          <a:ea typeface="Times New Roman"/>
                          <a:cs typeface="Times New Roman"/>
                          <a:sym typeface="Times New Roman"/>
                        </a:rPr>
                        <a:t>Prestation des services</a:t>
                      </a:r>
                      <a:endParaRPr sz="1600" b="1">
                        <a:latin typeface="Times New Roman"/>
                        <a:ea typeface="Times New Roman"/>
                        <a:cs typeface="Times New Roman"/>
                        <a:sym typeface="Times New Roman"/>
                      </a:endParaRPr>
                    </a:p>
                  </a:txBody>
                  <a:tcPr marL="121900" marR="121900" marT="121900" marB="121900" anchor="ctr">
                    <a:lnL w="9525" cap="flat" cmpd="sng">
                      <a:solidFill>
                        <a:srgbClr val="CCCCCC"/>
                      </a:solidFill>
                      <a:prstDash val="dash"/>
                      <a:round/>
                      <a:headEnd type="none" w="sm" len="sm"/>
                      <a:tailEnd type="none" w="sm" len="sm"/>
                    </a:lnL>
                    <a:lnR w="9525" cap="flat" cmpd="sng">
                      <a:solidFill>
                        <a:srgbClr val="CCCCCC"/>
                      </a:solidFill>
                      <a:prstDash val="dash"/>
                      <a:round/>
                      <a:headEnd type="none" w="sm" len="sm"/>
                      <a:tailEnd type="none" w="sm" len="sm"/>
                    </a:lnR>
                    <a:lnT w="9525" cap="flat" cmpd="sng">
                      <a:solidFill>
                        <a:srgbClr val="CCCCCC"/>
                      </a:solidFill>
                      <a:prstDash val="dash"/>
                      <a:round/>
                      <a:headEnd type="none" w="sm" len="sm"/>
                      <a:tailEnd type="none" w="sm" len="sm"/>
                    </a:lnT>
                    <a:lnB w="9525" cap="flat" cmpd="sng">
                      <a:solidFill>
                        <a:srgbClr val="CCCCCC"/>
                      </a:solidFill>
                      <a:prstDash val="dash"/>
                      <a:round/>
                      <a:headEnd type="none" w="sm" len="sm"/>
                      <a:tailEnd type="none" w="sm" len="sm"/>
                    </a:lnB>
                    <a:solidFill>
                      <a:srgbClr val="CFE2F3"/>
                    </a:solidFill>
                  </a:tcPr>
                </a:tc>
                <a:tc>
                  <a:txBody>
                    <a:bodyPr/>
                    <a:lstStyle/>
                    <a:p>
                      <a:pPr marL="457200" lvl="0" indent="-304800" algn="l" rtl="0">
                        <a:spcBef>
                          <a:spcPts val="0"/>
                        </a:spcBef>
                        <a:spcAft>
                          <a:spcPts val="0"/>
                        </a:spcAft>
                        <a:buSzPts val="1200"/>
                        <a:buFont typeface="Times New Roman"/>
                        <a:buChar char="●"/>
                      </a:pPr>
                      <a:r>
                        <a:rPr lang="en-GB" sz="1600" dirty="0">
                          <a:latin typeface="Times New Roman"/>
                          <a:ea typeface="Times New Roman"/>
                          <a:cs typeface="Times New Roman"/>
                          <a:sym typeface="Times New Roman"/>
                        </a:rPr>
                        <a:t>Supervision des ZS et AS, et </a:t>
                      </a:r>
                      <a:r>
                        <a:rPr lang="fr-FR" sz="1600" noProof="0" dirty="0">
                          <a:latin typeface="Times New Roman"/>
                          <a:ea typeface="Times New Roman"/>
                          <a:cs typeface="Times New Roman"/>
                          <a:sym typeface="Times New Roman"/>
                        </a:rPr>
                        <a:t>qualité</a:t>
                      </a:r>
                    </a:p>
                    <a:p>
                      <a:pPr marL="457200" lvl="0" indent="-304800" algn="l" rtl="0">
                        <a:spcBef>
                          <a:spcPts val="0"/>
                        </a:spcBef>
                        <a:spcAft>
                          <a:spcPts val="0"/>
                        </a:spcAft>
                        <a:buSzPts val="1200"/>
                        <a:buFont typeface="Times New Roman"/>
                        <a:buChar char="●"/>
                      </a:pPr>
                      <a:r>
                        <a:rPr lang="en-GB" sz="1600" dirty="0">
                          <a:latin typeface="Times New Roman"/>
                          <a:ea typeface="Times New Roman"/>
                          <a:cs typeface="Times New Roman"/>
                          <a:sym typeface="Times New Roman"/>
                        </a:rPr>
                        <a:t>Formation des IT </a:t>
                      </a:r>
                      <a:r>
                        <a:rPr lang="fr-FR" sz="1600" noProof="0" dirty="0">
                          <a:latin typeface="Times New Roman"/>
                          <a:ea typeface="Times New Roman"/>
                          <a:cs typeface="Times New Roman"/>
                          <a:sym typeface="Times New Roman"/>
                        </a:rPr>
                        <a:t>en</a:t>
                      </a:r>
                      <a:r>
                        <a:rPr lang="en-GB" sz="1600" dirty="0">
                          <a:latin typeface="Times New Roman"/>
                          <a:ea typeface="Times New Roman"/>
                          <a:cs typeface="Times New Roman"/>
                          <a:sym typeface="Times New Roman"/>
                        </a:rPr>
                        <a:t> PEV </a:t>
                      </a:r>
                      <a:r>
                        <a:rPr lang="fr-FR" sz="1600" noProof="0" dirty="0">
                          <a:latin typeface="Times New Roman"/>
                          <a:ea typeface="Times New Roman"/>
                          <a:cs typeface="Times New Roman"/>
                          <a:sym typeface="Times New Roman"/>
                        </a:rPr>
                        <a:t>pratique</a:t>
                      </a:r>
                    </a:p>
                    <a:p>
                      <a:pPr marL="457200" lvl="0" indent="-304800" algn="l" rtl="0">
                        <a:spcBef>
                          <a:spcPts val="0"/>
                        </a:spcBef>
                        <a:spcAft>
                          <a:spcPts val="0"/>
                        </a:spcAft>
                        <a:buSzPts val="1200"/>
                        <a:buFont typeface="Times New Roman"/>
                        <a:buChar char="●"/>
                      </a:pPr>
                      <a:r>
                        <a:rPr lang="fr-FR" sz="1600" noProof="0" dirty="0">
                          <a:latin typeface="Times New Roman"/>
                          <a:ea typeface="Times New Roman"/>
                          <a:cs typeface="Times New Roman"/>
                          <a:sym typeface="Times New Roman"/>
                        </a:rPr>
                        <a:t>Réalisation</a:t>
                      </a:r>
                      <a:r>
                        <a:rPr lang="en-GB" sz="1600" dirty="0">
                          <a:latin typeface="Times New Roman"/>
                          <a:ea typeface="Times New Roman"/>
                          <a:cs typeface="Times New Roman"/>
                          <a:sym typeface="Times New Roman"/>
                        </a:rPr>
                        <a:t> des séances</a:t>
                      </a:r>
                      <a:endParaRPr sz="1600" dirty="0">
                        <a:latin typeface="Times New Roman"/>
                        <a:ea typeface="Times New Roman"/>
                        <a:cs typeface="Times New Roman"/>
                        <a:sym typeface="Times New Roman"/>
                      </a:endParaRPr>
                    </a:p>
                  </a:txBody>
                  <a:tcPr marL="121900" marR="121900" marT="121900" marB="121900" anchor="ctr">
                    <a:lnL w="9525" cap="flat" cmpd="sng">
                      <a:solidFill>
                        <a:srgbClr val="CCCCCC"/>
                      </a:solidFill>
                      <a:prstDash val="dash"/>
                      <a:round/>
                      <a:headEnd type="none" w="sm" len="sm"/>
                      <a:tailEnd type="none" w="sm" len="sm"/>
                    </a:lnL>
                    <a:lnR w="9525" cap="flat" cmpd="sng">
                      <a:solidFill>
                        <a:srgbClr val="CCCCCC"/>
                      </a:solidFill>
                      <a:prstDash val="dash"/>
                      <a:round/>
                      <a:headEnd type="none" w="sm" len="sm"/>
                      <a:tailEnd type="none" w="sm" len="sm"/>
                    </a:lnR>
                    <a:lnT w="9525" cap="flat" cmpd="sng">
                      <a:solidFill>
                        <a:srgbClr val="CCCCCC"/>
                      </a:solidFill>
                      <a:prstDash val="dash"/>
                      <a:round/>
                      <a:headEnd type="none" w="sm" len="sm"/>
                      <a:tailEnd type="none" w="sm" len="sm"/>
                    </a:lnT>
                    <a:lnB w="9525" cap="flat" cmpd="sng">
                      <a:solidFill>
                        <a:srgbClr val="CCCCCC"/>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3638870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pic>
        <p:nvPicPr>
          <p:cNvPr id="269" name="Google Shape;269;g3a7c27f5d69_0_470" title="Chart"/>
          <p:cNvPicPr preferRelativeResize="0"/>
          <p:nvPr/>
        </p:nvPicPr>
        <p:blipFill rotWithShape="1">
          <a:blip r:embed="rId3">
            <a:alphaModFix/>
          </a:blip>
          <a:srcRect l="6375"/>
          <a:stretch/>
        </p:blipFill>
        <p:spPr>
          <a:xfrm>
            <a:off x="6382200" y="2404100"/>
            <a:ext cx="5113603" cy="3253200"/>
          </a:xfrm>
          <a:prstGeom prst="rect">
            <a:avLst/>
          </a:prstGeom>
          <a:noFill/>
          <a:ln>
            <a:noFill/>
          </a:ln>
        </p:spPr>
      </p:pic>
      <p:pic>
        <p:nvPicPr>
          <p:cNvPr id="270" name="Google Shape;270;g3a7c27f5d69_0_470" title="Chart"/>
          <p:cNvPicPr preferRelativeResize="0"/>
          <p:nvPr/>
        </p:nvPicPr>
        <p:blipFill rotWithShape="1">
          <a:blip r:embed="rId4">
            <a:alphaModFix/>
          </a:blip>
          <a:srcRect l="5811"/>
          <a:stretch/>
        </p:blipFill>
        <p:spPr>
          <a:xfrm>
            <a:off x="352533" y="2404100"/>
            <a:ext cx="5113603" cy="3253200"/>
          </a:xfrm>
          <a:prstGeom prst="rect">
            <a:avLst/>
          </a:prstGeom>
          <a:noFill/>
          <a:ln>
            <a:noFill/>
          </a:ln>
        </p:spPr>
      </p:pic>
      <p:sp>
        <p:nvSpPr>
          <p:cNvPr id="271" name="Google Shape;271;g3a7c27f5d69_0_470"/>
          <p:cNvSpPr txBox="1"/>
          <p:nvPr/>
        </p:nvSpPr>
        <p:spPr>
          <a:xfrm>
            <a:off x="458592" y="317941"/>
            <a:ext cx="11274800" cy="410433"/>
          </a:xfrm>
          <a:prstGeom prst="rect">
            <a:avLst/>
          </a:prstGeom>
          <a:noFill/>
          <a:ln>
            <a:noFill/>
          </a:ln>
        </p:spPr>
        <p:txBody>
          <a:bodyPr spcFirstLastPara="1" wrap="square" lIns="0" tIns="0" rIns="0" bIns="0" anchor="t" anchorCtr="0">
            <a:spAutoFit/>
          </a:bodyPr>
          <a:lstStyle/>
          <a:p>
            <a:pPr>
              <a:buClr>
                <a:schemeClr val="dk1"/>
              </a:buClr>
              <a:buSzPts val="1100"/>
            </a:pPr>
            <a:r>
              <a:rPr lang="en-GB" sz="2667" b="1">
                <a:solidFill>
                  <a:srgbClr val="1155CC"/>
                </a:solidFill>
                <a:latin typeface="Times New Roman"/>
                <a:ea typeface="Times New Roman"/>
                <a:cs typeface="Times New Roman"/>
                <a:sym typeface="Times New Roman"/>
              </a:rPr>
              <a:t>Supervision | </a:t>
            </a:r>
            <a:r>
              <a:rPr lang="en-GB" sz="2667">
                <a:solidFill>
                  <a:srgbClr val="1155CC"/>
                </a:solidFill>
                <a:latin typeface="Times New Roman"/>
                <a:ea typeface="Times New Roman"/>
                <a:cs typeface="Times New Roman"/>
                <a:sym typeface="Times New Roman"/>
              </a:rPr>
              <a:t>Evolution de la supervision des zones et des aires de santé</a:t>
            </a:r>
            <a:endParaRPr sz="2667">
              <a:solidFill>
                <a:srgbClr val="1155CC"/>
              </a:solidFill>
              <a:latin typeface="Times New Roman"/>
              <a:ea typeface="Times New Roman"/>
              <a:cs typeface="Times New Roman"/>
              <a:sym typeface="Times New Roman"/>
            </a:endParaRPr>
          </a:p>
        </p:txBody>
      </p:sp>
      <p:sp>
        <p:nvSpPr>
          <p:cNvPr id="272" name="Google Shape;272;g3a7c27f5d69_0_470"/>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a:buClr>
                <a:srgbClr val="000000"/>
              </a:buClr>
              <a:buSzPts val="1400"/>
            </a:pPr>
            <a:endParaRPr sz="1867">
              <a:solidFill>
                <a:srgbClr val="0070C0"/>
              </a:solidFill>
              <a:latin typeface="Times New Roman"/>
              <a:ea typeface="Times New Roman"/>
              <a:cs typeface="Times New Roman"/>
              <a:sym typeface="Times New Roman"/>
            </a:endParaRPr>
          </a:p>
        </p:txBody>
      </p:sp>
      <p:sp>
        <p:nvSpPr>
          <p:cNvPr id="273" name="Google Shape;273;g3a7c27f5d69_0_470"/>
          <p:cNvSpPr txBox="1"/>
          <p:nvPr/>
        </p:nvSpPr>
        <p:spPr>
          <a:xfrm>
            <a:off x="11658600" y="6496067"/>
            <a:ext cx="228400" cy="166000"/>
          </a:xfrm>
          <a:prstGeom prst="rect">
            <a:avLst/>
          </a:prstGeom>
          <a:noFill/>
          <a:ln>
            <a:noFill/>
          </a:ln>
        </p:spPr>
        <p:txBody>
          <a:bodyPr spcFirstLastPara="1" wrap="square" lIns="0" tIns="0" rIns="0" bIns="0" anchor="ctr" anchorCtr="0">
            <a:noAutofit/>
          </a:bodyPr>
          <a:lstStyle/>
          <a:p>
            <a:pPr algn="r">
              <a:buClr>
                <a:srgbClr val="000000"/>
              </a:buClr>
              <a:buSzPts val="900"/>
            </a:pPr>
            <a:fld id="{00000000-1234-1234-1234-123412341234}" type="slidenum">
              <a:rPr lang="en-GB" sz="1200">
                <a:solidFill>
                  <a:srgbClr val="1155CC"/>
                </a:solidFill>
                <a:latin typeface="Arial"/>
                <a:ea typeface="Arial"/>
                <a:cs typeface="Arial"/>
                <a:sym typeface="Arial"/>
              </a:rPr>
              <a:pPr algn="r">
                <a:buClr>
                  <a:srgbClr val="000000"/>
                </a:buClr>
                <a:buSzPts val="900"/>
              </a:pPr>
              <a:t>31</a:t>
            </a:fld>
            <a:endParaRPr sz="1200">
              <a:solidFill>
                <a:srgbClr val="1155CC"/>
              </a:solidFill>
              <a:latin typeface="Arial"/>
              <a:ea typeface="Arial"/>
              <a:cs typeface="Arial"/>
              <a:sym typeface="Arial"/>
            </a:endParaRPr>
          </a:p>
        </p:txBody>
      </p:sp>
      <p:sp>
        <p:nvSpPr>
          <p:cNvPr id="274" name="Google Shape;274;g3a7c27f5d69_0_470"/>
          <p:cNvSpPr/>
          <p:nvPr/>
        </p:nvSpPr>
        <p:spPr>
          <a:xfrm>
            <a:off x="3024267" y="2473033"/>
            <a:ext cx="2794000" cy="3253200"/>
          </a:xfrm>
          <a:prstGeom prst="rect">
            <a:avLst/>
          </a:prstGeom>
          <a:solidFill>
            <a:srgbClr val="EAE7F2">
              <a:alpha val="38040"/>
            </a:srgbClr>
          </a:solidFill>
          <a:ln w="9525" cap="flat" cmpd="sng">
            <a:solidFill>
              <a:srgbClr val="B4A7D7"/>
            </a:solidFill>
            <a:prstDash val="solid"/>
            <a:round/>
            <a:headEnd type="none" w="sm" len="sm"/>
            <a:tailEnd type="none" w="sm" len="sm"/>
          </a:ln>
          <a:effectLst>
            <a:reflection stA="0" endPos="30000" dist="38100" dir="5400000" fadeDir="5400012" sy="-100000" algn="bl" rotWithShape="0"/>
          </a:effectLst>
        </p:spPr>
        <p:txBody>
          <a:bodyPr spcFirstLastPara="1" wrap="square" lIns="91433" tIns="45700" rIns="91433" bIns="45700" anchor="ctr" anchorCtr="0">
            <a:noAutofit/>
          </a:bodyPr>
          <a:lstStyle/>
          <a:p>
            <a:pPr algn="ctr"/>
            <a:endParaRPr sz="1467">
              <a:solidFill>
                <a:srgbClr val="FFFFFF"/>
              </a:solidFill>
              <a:latin typeface="Arial"/>
              <a:ea typeface="Arial"/>
              <a:cs typeface="Arial"/>
              <a:sym typeface="Arial"/>
            </a:endParaRPr>
          </a:p>
        </p:txBody>
      </p:sp>
      <p:sp>
        <p:nvSpPr>
          <p:cNvPr id="275" name="Google Shape;275;g3a7c27f5d69_0_470"/>
          <p:cNvSpPr/>
          <p:nvPr/>
        </p:nvSpPr>
        <p:spPr>
          <a:xfrm>
            <a:off x="9091600" y="2473033"/>
            <a:ext cx="2794000" cy="3253200"/>
          </a:xfrm>
          <a:prstGeom prst="rect">
            <a:avLst/>
          </a:prstGeom>
          <a:solidFill>
            <a:srgbClr val="EAE7F2">
              <a:alpha val="38360"/>
            </a:srgbClr>
          </a:solidFill>
          <a:ln w="9525" cap="flat" cmpd="sng">
            <a:solidFill>
              <a:srgbClr val="B4A7D7"/>
            </a:solidFill>
            <a:prstDash val="solid"/>
            <a:round/>
            <a:headEnd type="none" w="sm" len="sm"/>
            <a:tailEnd type="none" w="sm" len="sm"/>
          </a:ln>
          <a:effectLst>
            <a:reflection stA="0" endPos="30000" dist="38100" dir="5400000" fadeDir="5400012" sy="-100000" algn="bl" rotWithShape="0"/>
          </a:effectLst>
        </p:spPr>
        <p:txBody>
          <a:bodyPr spcFirstLastPara="1" wrap="square" lIns="91433" tIns="45700" rIns="91433" bIns="45700" anchor="ctr" anchorCtr="0">
            <a:noAutofit/>
          </a:bodyPr>
          <a:lstStyle/>
          <a:p>
            <a:pPr algn="ctr"/>
            <a:endParaRPr sz="1467">
              <a:solidFill>
                <a:srgbClr val="FFFFFF"/>
              </a:solidFill>
              <a:latin typeface="Arial"/>
              <a:ea typeface="Arial"/>
              <a:cs typeface="Arial"/>
              <a:sym typeface="Arial"/>
            </a:endParaRPr>
          </a:p>
        </p:txBody>
      </p:sp>
      <p:sp>
        <p:nvSpPr>
          <p:cNvPr id="276" name="Google Shape;276;g3a7c27f5d69_0_470"/>
          <p:cNvSpPr/>
          <p:nvPr/>
        </p:nvSpPr>
        <p:spPr>
          <a:xfrm>
            <a:off x="352533" y="1545412"/>
            <a:ext cx="5113600" cy="491200"/>
          </a:xfrm>
          <a:prstGeom prst="rect">
            <a:avLst/>
          </a:prstGeom>
          <a:noFill/>
          <a:ln>
            <a:noFill/>
          </a:ln>
        </p:spPr>
        <p:txBody>
          <a:bodyPr spcFirstLastPara="1" wrap="square" lIns="0" tIns="0" rIns="0" bIns="0" anchor="b" anchorCtr="0">
            <a:noAutofit/>
          </a:bodyPr>
          <a:lstStyle/>
          <a:p>
            <a:pPr>
              <a:buSzPts val="1200"/>
            </a:pPr>
            <a:r>
              <a:rPr lang="en-GB" sz="1600" b="1">
                <a:latin typeface="Times New Roman"/>
                <a:ea typeface="Times New Roman"/>
                <a:cs typeface="Times New Roman"/>
                <a:sym typeface="Times New Roman"/>
              </a:rPr>
              <a:t>Supervision des Zones de Santé (%), </a:t>
            </a:r>
            <a:br>
              <a:rPr lang="en-GB" sz="1600" b="1">
                <a:latin typeface="Times New Roman"/>
                <a:ea typeface="Times New Roman"/>
                <a:cs typeface="Times New Roman"/>
                <a:sym typeface="Times New Roman"/>
              </a:rPr>
            </a:br>
            <a:r>
              <a:rPr lang="en-GB" sz="1600">
                <a:latin typeface="Times New Roman"/>
                <a:ea typeface="Times New Roman"/>
                <a:cs typeface="Times New Roman"/>
                <a:sym typeface="Times New Roman"/>
              </a:rPr>
              <a:t>N=519, 2</a:t>
            </a:r>
            <a:r>
              <a:rPr lang="en-GB" sz="1600">
                <a:solidFill>
                  <a:srgbClr val="000000"/>
                </a:solidFill>
                <a:latin typeface="Times New Roman"/>
                <a:ea typeface="Times New Roman"/>
                <a:cs typeface="Times New Roman"/>
                <a:sym typeface="Times New Roman"/>
              </a:rPr>
              <a:t>025</a:t>
            </a:r>
            <a:endParaRPr sz="1600" b="1">
              <a:solidFill>
                <a:srgbClr val="000000"/>
              </a:solidFill>
              <a:latin typeface="Times New Roman"/>
              <a:ea typeface="Times New Roman"/>
              <a:cs typeface="Times New Roman"/>
              <a:sym typeface="Times New Roman"/>
            </a:endParaRPr>
          </a:p>
        </p:txBody>
      </p:sp>
      <p:sp>
        <p:nvSpPr>
          <p:cNvPr id="277" name="Google Shape;277;g3a7c27f5d69_0_470"/>
          <p:cNvSpPr/>
          <p:nvPr/>
        </p:nvSpPr>
        <p:spPr>
          <a:xfrm>
            <a:off x="6382200" y="1545400"/>
            <a:ext cx="5396000" cy="491200"/>
          </a:xfrm>
          <a:prstGeom prst="rect">
            <a:avLst/>
          </a:prstGeom>
          <a:noFill/>
          <a:ln>
            <a:noFill/>
          </a:ln>
        </p:spPr>
        <p:txBody>
          <a:bodyPr spcFirstLastPara="1" wrap="square" lIns="0" tIns="0" rIns="0" bIns="0" anchor="b" anchorCtr="0">
            <a:noAutofit/>
          </a:bodyPr>
          <a:lstStyle/>
          <a:p>
            <a:pPr>
              <a:buSzPts val="1200"/>
            </a:pPr>
            <a:r>
              <a:rPr lang="en-GB" sz="1600" b="1" dirty="0">
                <a:latin typeface="Times New Roman"/>
                <a:ea typeface="Times New Roman"/>
                <a:cs typeface="Times New Roman"/>
                <a:sym typeface="Times New Roman"/>
              </a:rPr>
              <a:t>Supervision des Aires de Santé (%),</a:t>
            </a:r>
            <a:r>
              <a:rPr lang="en-GB" sz="1600" dirty="0">
                <a:latin typeface="Times New Roman"/>
                <a:ea typeface="Times New Roman"/>
                <a:cs typeface="Times New Roman"/>
                <a:sym typeface="Times New Roman"/>
              </a:rPr>
              <a:t> </a:t>
            </a:r>
            <a:br>
              <a:rPr lang="en-GB" sz="1600" dirty="0">
                <a:latin typeface="Times New Roman"/>
                <a:ea typeface="Times New Roman"/>
                <a:cs typeface="Times New Roman"/>
                <a:sym typeface="Times New Roman"/>
              </a:rPr>
            </a:br>
            <a:r>
              <a:rPr lang="en-GB" sz="1600" dirty="0">
                <a:latin typeface="Times New Roman"/>
                <a:ea typeface="Times New Roman"/>
                <a:cs typeface="Times New Roman"/>
                <a:sym typeface="Times New Roman"/>
              </a:rPr>
              <a:t>N=9,935, </a:t>
            </a:r>
            <a:r>
              <a:rPr lang="en-GB" sz="1600" dirty="0">
                <a:solidFill>
                  <a:srgbClr val="000000"/>
                </a:solidFill>
                <a:latin typeface="Times New Roman"/>
                <a:ea typeface="Times New Roman"/>
                <a:cs typeface="Times New Roman"/>
                <a:sym typeface="Times New Roman"/>
              </a:rPr>
              <a:t>2025</a:t>
            </a:r>
            <a:endParaRPr sz="1600" b="1" dirty="0">
              <a:solidFill>
                <a:srgbClr val="000000"/>
              </a:solidFill>
              <a:latin typeface="Times New Roman"/>
              <a:ea typeface="Times New Roman"/>
              <a:cs typeface="Times New Roman"/>
              <a:sym typeface="Times New Roman"/>
            </a:endParaRPr>
          </a:p>
        </p:txBody>
      </p:sp>
      <p:sp>
        <p:nvSpPr>
          <p:cNvPr id="278" name="Google Shape;278;g3a7c27f5d69_0_470"/>
          <p:cNvSpPr txBox="1"/>
          <p:nvPr/>
        </p:nvSpPr>
        <p:spPr>
          <a:xfrm>
            <a:off x="5184033" y="3111075"/>
            <a:ext cx="941200" cy="205121"/>
          </a:xfrm>
          <a:prstGeom prst="rect">
            <a:avLst/>
          </a:prstGeom>
          <a:noFill/>
          <a:ln>
            <a:noFill/>
          </a:ln>
        </p:spPr>
        <p:txBody>
          <a:bodyPr spcFirstLastPara="1" wrap="square" lIns="0" tIns="0" rIns="121900" bIns="0" anchor="t" anchorCtr="0">
            <a:spAutoFit/>
          </a:bodyPr>
          <a:lstStyle/>
          <a:p>
            <a:r>
              <a:rPr lang="en-GB" sz="1333">
                <a:solidFill>
                  <a:srgbClr val="329B55"/>
                </a:solidFill>
                <a:latin typeface="Source Serif Pro"/>
                <a:ea typeface="Source Serif Pro"/>
                <a:cs typeface="Source Serif Pro"/>
                <a:sym typeface="Source Serif Pro"/>
              </a:rPr>
              <a:t>(+10 pts)</a:t>
            </a:r>
            <a:endParaRPr sz="1333">
              <a:solidFill>
                <a:srgbClr val="329B55"/>
              </a:solidFill>
              <a:latin typeface="Source Serif Pro"/>
              <a:ea typeface="Source Serif Pro"/>
              <a:cs typeface="Source Serif Pro"/>
              <a:sym typeface="Source Serif Pro"/>
            </a:endParaRPr>
          </a:p>
        </p:txBody>
      </p:sp>
      <p:sp>
        <p:nvSpPr>
          <p:cNvPr id="279" name="Google Shape;279;g3a7c27f5d69_0_470"/>
          <p:cNvSpPr txBox="1"/>
          <p:nvPr/>
        </p:nvSpPr>
        <p:spPr>
          <a:xfrm>
            <a:off x="5184033" y="4093639"/>
            <a:ext cx="941200" cy="205121"/>
          </a:xfrm>
          <a:prstGeom prst="rect">
            <a:avLst/>
          </a:prstGeom>
          <a:noFill/>
          <a:ln>
            <a:noFill/>
          </a:ln>
        </p:spPr>
        <p:txBody>
          <a:bodyPr spcFirstLastPara="1" wrap="square" lIns="0" tIns="0" rIns="121900" bIns="0" anchor="t" anchorCtr="0">
            <a:spAutoFit/>
          </a:bodyPr>
          <a:lstStyle/>
          <a:p>
            <a:r>
              <a:rPr lang="en-GB" sz="1333">
                <a:solidFill>
                  <a:srgbClr val="329B55"/>
                </a:solidFill>
                <a:latin typeface="Source Serif Pro"/>
                <a:ea typeface="Source Serif Pro"/>
                <a:cs typeface="Source Serif Pro"/>
                <a:sym typeface="Source Serif Pro"/>
              </a:rPr>
              <a:t>(+18 pts)</a:t>
            </a:r>
            <a:endParaRPr sz="1333">
              <a:solidFill>
                <a:srgbClr val="329B55"/>
              </a:solidFill>
              <a:latin typeface="Source Serif Pro"/>
              <a:ea typeface="Source Serif Pro"/>
              <a:cs typeface="Source Serif Pro"/>
              <a:sym typeface="Source Serif Pro"/>
            </a:endParaRPr>
          </a:p>
        </p:txBody>
      </p:sp>
      <p:sp>
        <p:nvSpPr>
          <p:cNvPr id="280" name="Google Shape;280;g3a7c27f5d69_0_470"/>
          <p:cNvSpPr txBox="1"/>
          <p:nvPr/>
        </p:nvSpPr>
        <p:spPr>
          <a:xfrm>
            <a:off x="11241369" y="3111067"/>
            <a:ext cx="790400" cy="410241"/>
          </a:xfrm>
          <a:prstGeom prst="rect">
            <a:avLst/>
          </a:prstGeom>
          <a:noFill/>
          <a:ln>
            <a:noFill/>
          </a:ln>
        </p:spPr>
        <p:txBody>
          <a:bodyPr spcFirstLastPara="1" wrap="square" lIns="0" tIns="0" rIns="121900" bIns="0" anchor="t" anchorCtr="0">
            <a:spAutoFit/>
          </a:bodyPr>
          <a:lstStyle/>
          <a:p>
            <a:r>
              <a:rPr lang="en-GB" sz="1333">
                <a:solidFill>
                  <a:srgbClr val="329B55"/>
                </a:solidFill>
                <a:latin typeface="Source Serif Pro"/>
                <a:ea typeface="Source Serif Pro"/>
                <a:cs typeface="Source Serif Pro"/>
                <a:sym typeface="Source Serif Pro"/>
              </a:rPr>
              <a:t>(+10 pts)</a:t>
            </a:r>
            <a:endParaRPr sz="1333">
              <a:solidFill>
                <a:srgbClr val="329B55"/>
              </a:solidFill>
              <a:latin typeface="Source Serif Pro"/>
              <a:ea typeface="Source Serif Pro"/>
              <a:cs typeface="Source Serif Pro"/>
              <a:sym typeface="Source Serif Pro"/>
            </a:endParaRPr>
          </a:p>
        </p:txBody>
      </p:sp>
      <p:sp>
        <p:nvSpPr>
          <p:cNvPr id="281" name="Google Shape;281;g3a7c27f5d69_0_470"/>
          <p:cNvSpPr txBox="1"/>
          <p:nvPr/>
        </p:nvSpPr>
        <p:spPr>
          <a:xfrm>
            <a:off x="11241369" y="4769531"/>
            <a:ext cx="790400" cy="205121"/>
          </a:xfrm>
          <a:prstGeom prst="rect">
            <a:avLst/>
          </a:prstGeom>
          <a:noFill/>
          <a:ln>
            <a:noFill/>
          </a:ln>
        </p:spPr>
        <p:txBody>
          <a:bodyPr spcFirstLastPara="1" wrap="square" lIns="0" tIns="0" rIns="121900" bIns="0" anchor="t" anchorCtr="0">
            <a:spAutoFit/>
          </a:bodyPr>
          <a:lstStyle/>
          <a:p>
            <a:r>
              <a:rPr lang="en-GB" sz="1333">
                <a:solidFill>
                  <a:srgbClr val="329B55"/>
                </a:solidFill>
                <a:latin typeface="Source Serif Pro"/>
                <a:ea typeface="Source Serif Pro"/>
                <a:cs typeface="Source Serif Pro"/>
                <a:sym typeface="Source Serif Pro"/>
              </a:rPr>
              <a:t>(+5 pts)</a:t>
            </a:r>
            <a:endParaRPr sz="1333">
              <a:solidFill>
                <a:srgbClr val="329B55"/>
              </a:solidFill>
              <a:latin typeface="Source Serif Pro"/>
              <a:ea typeface="Source Serif Pro"/>
              <a:cs typeface="Source Serif Pro"/>
              <a:sym typeface="Source Serif Pro"/>
            </a:endParaRPr>
          </a:p>
        </p:txBody>
      </p:sp>
      <p:sp>
        <p:nvSpPr>
          <p:cNvPr id="285" name="Google Shape;285;g3a7c27f5d69_0_470"/>
          <p:cNvSpPr/>
          <p:nvPr/>
        </p:nvSpPr>
        <p:spPr>
          <a:xfrm>
            <a:off x="2269167" y="0"/>
            <a:ext cx="1826400" cy="198800"/>
          </a:xfrm>
          <a:prstGeom prst="rect">
            <a:avLst/>
          </a:prstGeom>
          <a:solidFill>
            <a:srgbClr val="1255CC"/>
          </a:solidFill>
          <a:ln w="9525" cap="flat" cmpd="sng">
            <a:solidFill>
              <a:srgbClr val="D9D9D9"/>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900"/>
            </a:pPr>
            <a:r>
              <a:rPr lang="en-GB" sz="1200">
                <a:solidFill>
                  <a:schemeClr val="lt1"/>
                </a:solidFill>
                <a:latin typeface="Source Serif Pro"/>
                <a:ea typeface="Source Serif Pro"/>
                <a:cs typeface="Source Serif Pro"/>
                <a:sym typeface="Source Serif Pro"/>
              </a:rPr>
              <a:t>Prestation des services</a:t>
            </a:r>
            <a:endParaRPr sz="1200">
              <a:solidFill>
                <a:schemeClr val="lt1"/>
              </a:solidFill>
              <a:latin typeface="Source Serif Pro"/>
              <a:ea typeface="Source Serif Pro"/>
              <a:cs typeface="Source Serif Pro"/>
              <a:sym typeface="Source Serif Pro"/>
            </a:endParaRPr>
          </a:p>
        </p:txBody>
      </p:sp>
      <p:sp>
        <p:nvSpPr>
          <p:cNvPr id="287" name="Google Shape;287;g3a7c27f5d69_0_470"/>
          <p:cNvSpPr/>
          <p:nvPr/>
        </p:nvSpPr>
        <p:spPr>
          <a:xfrm>
            <a:off x="3470667" y="5776721"/>
            <a:ext cx="1901200" cy="205200"/>
          </a:xfrm>
          <a:prstGeom prst="rect">
            <a:avLst/>
          </a:prstGeom>
          <a:noFill/>
          <a:ln>
            <a:noFill/>
          </a:ln>
          <a:effectLst>
            <a:reflection stA="0" endPos="30000" dist="38100" dir="5400000" fadeDir="5400012" sy="-100000" algn="bl" rotWithShape="0"/>
          </a:effectLst>
        </p:spPr>
        <p:txBody>
          <a:bodyPr spcFirstLastPara="1" wrap="square" lIns="91433" tIns="45700" rIns="91433" bIns="45700" anchor="ctr" anchorCtr="0">
            <a:noAutofit/>
          </a:bodyPr>
          <a:lstStyle/>
          <a:p>
            <a:pPr algn="ctr"/>
            <a:r>
              <a:rPr lang="en-GB" sz="1600" b="1">
                <a:solidFill>
                  <a:srgbClr val="222222"/>
                </a:solidFill>
                <a:latin typeface="Times New Roman"/>
                <a:ea typeface="Times New Roman"/>
                <a:cs typeface="Times New Roman"/>
                <a:sym typeface="Times New Roman"/>
              </a:rPr>
              <a:t>Mashako 3.0</a:t>
            </a:r>
            <a:endParaRPr sz="1600" b="1">
              <a:solidFill>
                <a:srgbClr val="222222"/>
              </a:solidFill>
              <a:latin typeface="Times New Roman"/>
              <a:ea typeface="Times New Roman"/>
              <a:cs typeface="Times New Roman"/>
              <a:sym typeface="Times New Roman"/>
            </a:endParaRPr>
          </a:p>
        </p:txBody>
      </p:sp>
      <p:sp>
        <p:nvSpPr>
          <p:cNvPr id="288" name="Google Shape;288;g3a7c27f5d69_0_470"/>
          <p:cNvSpPr/>
          <p:nvPr/>
        </p:nvSpPr>
        <p:spPr>
          <a:xfrm>
            <a:off x="9538000" y="5776721"/>
            <a:ext cx="1901200" cy="205200"/>
          </a:xfrm>
          <a:prstGeom prst="rect">
            <a:avLst/>
          </a:prstGeom>
          <a:noFill/>
          <a:ln>
            <a:noFill/>
          </a:ln>
          <a:effectLst>
            <a:reflection stA="0" endPos="30000" dist="38100" dir="5400000" fadeDir="5400012" sy="-100000" algn="bl" rotWithShape="0"/>
          </a:effectLst>
        </p:spPr>
        <p:txBody>
          <a:bodyPr spcFirstLastPara="1" wrap="square" lIns="91433" tIns="45700" rIns="91433" bIns="45700" anchor="ctr" anchorCtr="0">
            <a:noAutofit/>
          </a:bodyPr>
          <a:lstStyle/>
          <a:p>
            <a:pPr algn="ctr"/>
            <a:r>
              <a:rPr lang="en-GB" sz="1600" b="1">
                <a:solidFill>
                  <a:srgbClr val="222222"/>
                </a:solidFill>
                <a:latin typeface="Times New Roman"/>
                <a:ea typeface="Times New Roman"/>
                <a:cs typeface="Times New Roman"/>
                <a:sym typeface="Times New Roman"/>
              </a:rPr>
              <a:t>Mashako 3.0</a:t>
            </a:r>
            <a:endParaRPr sz="1600" b="1">
              <a:solidFill>
                <a:srgbClr val="222222"/>
              </a:solidFill>
              <a:latin typeface="Times New Roman"/>
              <a:ea typeface="Times New Roman"/>
              <a:cs typeface="Times New Roman"/>
              <a:sym typeface="Times New Roman"/>
            </a:endParaRPr>
          </a:p>
        </p:txBody>
      </p:sp>
      <p:grpSp>
        <p:nvGrpSpPr>
          <p:cNvPr id="289" name="Google Shape;289;g3a7c27f5d69_0_470"/>
          <p:cNvGrpSpPr/>
          <p:nvPr/>
        </p:nvGrpSpPr>
        <p:grpSpPr>
          <a:xfrm>
            <a:off x="6842455" y="6499619"/>
            <a:ext cx="4703580" cy="164228"/>
            <a:chOff x="5131841" y="988513"/>
            <a:chExt cx="3527685" cy="123171"/>
          </a:xfrm>
        </p:grpSpPr>
        <p:grpSp>
          <p:nvGrpSpPr>
            <p:cNvPr id="290" name="Google Shape;290;g3a7c27f5d69_0_470"/>
            <p:cNvGrpSpPr/>
            <p:nvPr/>
          </p:nvGrpSpPr>
          <p:grpSpPr>
            <a:xfrm>
              <a:off x="5131841" y="988513"/>
              <a:ext cx="1196675" cy="123159"/>
              <a:chOff x="1359675" y="1025600"/>
              <a:chExt cx="1196675" cy="123159"/>
            </a:xfrm>
          </p:grpSpPr>
          <p:cxnSp>
            <p:nvCxnSpPr>
              <p:cNvPr id="291" name="Google Shape;291;g3a7c27f5d69_0_470"/>
              <p:cNvCxnSpPr/>
              <p:nvPr/>
            </p:nvCxnSpPr>
            <p:spPr>
              <a:xfrm>
                <a:off x="1359675" y="1079975"/>
                <a:ext cx="101100" cy="0"/>
              </a:xfrm>
              <a:prstGeom prst="straightConnector1">
                <a:avLst/>
              </a:prstGeom>
              <a:noFill/>
              <a:ln w="19050" cap="flat" cmpd="sng">
                <a:solidFill>
                  <a:srgbClr val="0B5394"/>
                </a:solidFill>
                <a:prstDash val="solid"/>
                <a:round/>
                <a:headEnd type="none" w="med" len="med"/>
                <a:tailEnd type="none" w="med" len="med"/>
              </a:ln>
            </p:spPr>
          </p:cxnSp>
          <p:sp>
            <p:nvSpPr>
              <p:cNvPr id="292" name="Google Shape;292;g3a7c27f5d69_0_470"/>
              <p:cNvSpPr txBox="1"/>
              <p:nvPr/>
            </p:nvSpPr>
            <p:spPr>
              <a:xfrm>
                <a:off x="1522850" y="1025600"/>
                <a:ext cx="1033500" cy="123159"/>
              </a:xfrm>
              <a:prstGeom prst="rect">
                <a:avLst/>
              </a:prstGeom>
              <a:noFill/>
              <a:ln>
                <a:noFill/>
              </a:ln>
            </p:spPr>
            <p:txBody>
              <a:bodyPr spcFirstLastPara="1" wrap="square" lIns="0" tIns="0" rIns="0" bIns="0" anchor="t" anchorCtr="0">
                <a:spAutoFit/>
              </a:bodyPr>
              <a:lstStyle/>
              <a:p>
                <a:r>
                  <a:rPr lang="en-GB" sz="1067">
                    <a:solidFill>
                      <a:srgbClr val="000000"/>
                    </a:solidFill>
                    <a:latin typeface="Source Serif Pro"/>
                    <a:ea typeface="Source Serif Pro"/>
                    <a:cs typeface="Source Serif Pro"/>
                    <a:sym typeface="Source Serif Pro"/>
                  </a:rPr>
                  <a:t>Score de Supervision</a:t>
                </a:r>
                <a:endParaRPr sz="1067">
                  <a:solidFill>
                    <a:srgbClr val="000000"/>
                  </a:solidFill>
                  <a:latin typeface="Source Serif Pro"/>
                  <a:ea typeface="Source Serif Pro"/>
                  <a:cs typeface="Source Serif Pro"/>
                  <a:sym typeface="Source Serif Pro"/>
                </a:endParaRPr>
              </a:p>
            </p:txBody>
          </p:sp>
        </p:grpSp>
        <p:grpSp>
          <p:nvGrpSpPr>
            <p:cNvPr id="293" name="Google Shape;293;g3a7c27f5d69_0_470"/>
            <p:cNvGrpSpPr/>
            <p:nvPr/>
          </p:nvGrpSpPr>
          <p:grpSpPr>
            <a:xfrm>
              <a:off x="6529041" y="988525"/>
              <a:ext cx="2130485" cy="123159"/>
              <a:chOff x="6529041" y="988525"/>
              <a:chExt cx="2130485" cy="123159"/>
            </a:xfrm>
          </p:grpSpPr>
          <p:cxnSp>
            <p:nvCxnSpPr>
              <p:cNvPr id="294" name="Google Shape;294;g3a7c27f5d69_0_470"/>
              <p:cNvCxnSpPr/>
              <p:nvPr/>
            </p:nvCxnSpPr>
            <p:spPr>
              <a:xfrm>
                <a:off x="6529041" y="1050013"/>
                <a:ext cx="101100" cy="0"/>
              </a:xfrm>
              <a:prstGeom prst="straightConnector1">
                <a:avLst/>
              </a:prstGeom>
              <a:noFill/>
              <a:ln w="19050" cap="flat" cmpd="sng">
                <a:solidFill>
                  <a:srgbClr val="9FC5E8"/>
                </a:solidFill>
                <a:prstDash val="solid"/>
                <a:round/>
                <a:headEnd type="none" w="med" len="med"/>
                <a:tailEnd type="none" w="med" len="med"/>
              </a:ln>
            </p:spPr>
          </p:cxnSp>
          <p:sp>
            <p:nvSpPr>
              <p:cNvPr id="295" name="Google Shape;295;g3a7c27f5d69_0_470"/>
              <p:cNvSpPr txBox="1"/>
              <p:nvPr/>
            </p:nvSpPr>
            <p:spPr>
              <a:xfrm>
                <a:off x="6675026" y="988525"/>
                <a:ext cx="1984500" cy="123159"/>
              </a:xfrm>
              <a:prstGeom prst="rect">
                <a:avLst/>
              </a:prstGeom>
              <a:noFill/>
              <a:ln>
                <a:noFill/>
              </a:ln>
            </p:spPr>
            <p:txBody>
              <a:bodyPr spcFirstLastPara="1" wrap="square" lIns="0" tIns="0" rIns="0" bIns="0" anchor="t" anchorCtr="0">
                <a:spAutoFit/>
              </a:bodyPr>
              <a:lstStyle/>
              <a:p>
                <a:r>
                  <a:rPr lang="en-GB" sz="1067">
                    <a:solidFill>
                      <a:srgbClr val="000000"/>
                    </a:solidFill>
                    <a:latin typeface="Source Serif Pro"/>
                    <a:ea typeface="Source Serif Pro"/>
                    <a:cs typeface="Source Serif Pro"/>
                    <a:sym typeface="Source Serif Pro"/>
                  </a:rPr>
                  <a:t>Score de Supervisions formative de qualité</a:t>
                </a:r>
                <a:endParaRPr sz="1067">
                  <a:solidFill>
                    <a:srgbClr val="000000"/>
                  </a:solidFill>
                  <a:latin typeface="Source Serif Pro"/>
                  <a:ea typeface="Source Serif Pro"/>
                  <a:cs typeface="Source Serif Pro"/>
                  <a:sym typeface="Source Serif Pro"/>
                </a:endParaRPr>
              </a:p>
            </p:txBody>
          </p:sp>
        </p:grpSp>
      </p:grpSp>
      <p:sp>
        <p:nvSpPr>
          <p:cNvPr id="296" name="Google Shape;296;g3a7c27f5d69_0_470"/>
          <p:cNvSpPr txBox="1"/>
          <p:nvPr/>
        </p:nvSpPr>
        <p:spPr>
          <a:xfrm>
            <a:off x="267700" y="6492834"/>
            <a:ext cx="6462400" cy="164212"/>
          </a:xfrm>
          <a:prstGeom prst="rect">
            <a:avLst/>
          </a:prstGeom>
          <a:noFill/>
          <a:ln>
            <a:noFill/>
          </a:ln>
        </p:spPr>
        <p:txBody>
          <a:bodyPr spcFirstLastPara="1" wrap="square" lIns="0" tIns="0" rIns="121900" bIns="0" anchor="t" anchorCtr="0">
            <a:spAutoFit/>
          </a:bodyPr>
          <a:lstStyle/>
          <a:p>
            <a:r>
              <a:rPr lang="en-GB" sz="1067" b="1">
                <a:solidFill>
                  <a:schemeClr val="dk1"/>
                </a:solidFill>
                <a:latin typeface="Times New Roman"/>
                <a:ea typeface="Times New Roman"/>
                <a:cs typeface="Times New Roman"/>
                <a:sym typeface="Times New Roman"/>
              </a:rPr>
              <a:t>Source:</a:t>
            </a:r>
            <a:r>
              <a:rPr lang="en-GB" sz="1067">
                <a:solidFill>
                  <a:schemeClr val="dk1"/>
                </a:solidFill>
                <a:latin typeface="Times New Roman"/>
                <a:ea typeface="Times New Roman"/>
                <a:cs typeface="Times New Roman"/>
                <a:sym typeface="Times New Roman"/>
              </a:rPr>
              <a:t> Gestion PEV 2025, DHIS2 Tracker 2025</a:t>
            </a:r>
            <a:endParaRPr sz="1067">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2083487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pic>
        <p:nvPicPr>
          <p:cNvPr id="301" name="Google Shape;301;g3a7c27f5d69_1_361" title="Chart"/>
          <p:cNvPicPr preferRelativeResize="0"/>
          <p:nvPr/>
        </p:nvPicPr>
        <p:blipFill rotWithShape="1">
          <a:blip r:embed="rId3">
            <a:alphaModFix/>
          </a:blip>
          <a:srcRect l="2223" r="1926" b="2410"/>
          <a:stretch/>
        </p:blipFill>
        <p:spPr>
          <a:xfrm>
            <a:off x="504864" y="1307868"/>
            <a:ext cx="11228528" cy="5024001"/>
          </a:xfrm>
          <a:prstGeom prst="rect">
            <a:avLst/>
          </a:prstGeom>
          <a:noFill/>
          <a:ln>
            <a:noFill/>
          </a:ln>
        </p:spPr>
      </p:pic>
      <p:sp>
        <p:nvSpPr>
          <p:cNvPr id="302" name="Google Shape;302;g3a7c27f5d69_1_361"/>
          <p:cNvSpPr txBox="1"/>
          <p:nvPr/>
        </p:nvSpPr>
        <p:spPr>
          <a:xfrm>
            <a:off x="458592" y="317941"/>
            <a:ext cx="11274800" cy="731600"/>
          </a:xfrm>
          <a:prstGeom prst="rect">
            <a:avLst/>
          </a:prstGeom>
          <a:noFill/>
          <a:ln>
            <a:noFill/>
          </a:ln>
        </p:spPr>
        <p:txBody>
          <a:bodyPr spcFirstLastPara="1" wrap="square" lIns="0" tIns="0" rIns="0" bIns="0" anchor="t" anchorCtr="0">
            <a:noAutofit/>
          </a:bodyPr>
          <a:lstStyle/>
          <a:p>
            <a:pPr>
              <a:buClr>
                <a:schemeClr val="dk1"/>
              </a:buClr>
              <a:buSzPts val="1100"/>
            </a:pPr>
            <a:r>
              <a:rPr lang="en-GB" sz="2667" b="1" dirty="0">
                <a:solidFill>
                  <a:srgbClr val="1155CC"/>
                </a:solidFill>
                <a:latin typeface="Times New Roman"/>
                <a:ea typeface="Times New Roman"/>
                <a:cs typeface="Times New Roman"/>
                <a:sym typeface="Times New Roman"/>
              </a:rPr>
              <a:t>Supervision | </a:t>
            </a:r>
            <a:r>
              <a:rPr lang="en-GB" sz="2667" dirty="0">
                <a:solidFill>
                  <a:srgbClr val="1155CC"/>
                </a:solidFill>
                <a:latin typeface="Times New Roman"/>
                <a:ea typeface="Times New Roman"/>
                <a:cs typeface="Times New Roman"/>
                <a:sym typeface="Times New Roman"/>
              </a:rPr>
              <a:t>Supervision des zones par les </a:t>
            </a:r>
            <a:r>
              <a:rPr lang="en-GB" sz="2667" dirty="0" err="1">
                <a:solidFill>
                  <a:srgbClr val="1155CC"/>
                </a:solidFill>
                <a:latin typeface="Times New Roman"/>
                <a:ea typeface="Times New Roman"/>
                <a:cs typeface="Times New Roman"/>
                <a:sym typeface="Times New Roman"/>
              </a:rPr>
              <a:t>antennes</a:t>
            </a:r>
            <a:r>
              <a:rPr lang="en-GB" sz="2667" dirty="0">
                <a:solidFill>
                  <a:srgbClr val="1155CC"/>
                </a:solidFill>
                <a:latin typeface="Times New Roman"/>
                <a:ea typeface="Times New Roman"/>
                <a:cs typeface="Times New Roman"/>
                <a:sym typeface="Times New Roman"/>
              </a:rPr>
              <a:t> </a:t>
            </a:r>
            <a:r>
              <a:rPr lang="en-GB" sz="2667" strike="sngStrike" dirty="0">
                <a:solidFill>
                  <a:srgbClr val="FF0000"/>
                </a:solidFill>
                <a:latin typeface="Times New Roman"/>
                <a:ea typeface="Times New Roman"/>
                <a:cs typeface="Times New Roman"/>
                <a:sym typeface="Times New Roman"/>
              </a:rPr>
              <a:t>au </a:t>
            </a:r>
            <a:r>
              <a:rPr lang="en-GB" sz="2667" strike="sngStrike" dirty="0" err="1">
                <a:solidFill>
                  <a:srgbClr val="FF0000"/>
                </a:solidFill>
                <a:latin typeface="Times New Roman"/>
                <a:ea typeface="Times New Roman"/>
                <a:cs typeface="Times New Roman"/>
                <a:sym typeface="Times New Roman"/>
              </a:rPr>
              <a:t>mois</a:t>
            </a:r>
            <a:r>
              <a:rPr lang="en-GB" sz="2667" strike="sngStrike" dirty="0">
                <a:solidFill>
                  <a:srgbClr val="FF0000"/>
                </a:solidFill>
                <a:latin typeface="Times New Roman"/>
                <a:ea typeface="Times New Roman"/>
                <a:cs typeface="Times New Roman"/>
                <a:sym typeface="Times New Roman"/>
              </a:rPr>
              <a:t> de </a:t>
            </a:r>
            <a:r>
              <a:rPr lang="en-GB" sz="2667" strike="sngStrike" dirty="0" err="1">
                <a:solidFill>
                  <a:srgbClr val="FF0000"/>
                </a:solidFill>
                <a:latin typeface="Times New Roman"/>
                <a:ea typeface="Times New Roman"/>
                <a:cs typeface="Times New Roman"/>
                <a:sym typeface="Times New Roman"/>
              </a:rPr>
              <a:t>Novembre</a:t>
            </a:r>
            <a:r>
              <a:rPr lang="en-GB" sz="2667" strike="sngStrike" dirty="0">
                <a:solidFill>
                  <a:srgbClr val="FF0000"/>
                </a:solidFill>
                <a:latin typeface="Times New Roman"/>
                <a:ea typeface="Times New Roman"/>
                <a:cs typeface="Times New Roman"/>
                <a:sym typeface="Times New Roman"/>
              </a:rPr>
              <a:t> 2025</a:t>
            </a:r>
          </a:p>
          <a:p>
            <a:pPr>
              <a:buClr>
                <a:schemeClr val="dk1"/>
              </a:buClr>
              <a:buSzPts val="1100"/>
            </a:pPr>
            <a:r>
              <a:rPr lang="en-GB" sz="2667" b="1" dirty="0">
                <a:solidFill>
                  <a:srgbClr val="FF0000"/>
                </a:solidFill>
                <a:latin typeface="Times New Roman"/>
                <a:ea typeface="Times New Roman"/>
                <a:cs typeface="Times New Roman"/>
                <a:sym typeface="Times New Roman"/>
              </a:rPr>
              <a:t>Faire les </a:t>
            </a:r>
            <a:r>
              <a:rPr lang="en-GB" sz="2667" b="1" dirty="0" err="1">
                <a:solidFill>
                  <a:srgbClr val="FF0000"/>
                </a:solidFill>
                <a:latin typeface="Times New Roman"/>
                <a:ea typeface="Times New Roman"/>
                <a:cs typeface="Times New Roman"/>
                <a:sym typeface="Times New Roman"/>
              </a:rPr>
              <a:t>cumules</a:t>
            </a:r>
            <a:r>
              <a:rPr lang="en-GB" sz="2667" b="1" dirty="0">
                <a:solidFill>
                  <a:srgbClr val="FF0000"/>
                </a:solidFill>
                <a:latin typeface="Times New Roman"/>
                <a:ea typeface="Times New Roman"/>
                <a:cs typeface="Times New Roman"/>
                <a:sym typeface="Times New Roman"/>
              </a:rPr>
              <a:t> de </a:t>
            </a:r>
            <a:r>
              <a:rPr lang="en-GB" sz="2667" b="1" dirty="0" err="1">
                <a:solidFill>
                  <a:srgbClr val="FF0000"/>
                </a:solidFill>
                <a:latin typeface="Times New Roman"/>
                <a:ea typeface="Times New Roman"/>
                <a:cs typeface="Times New Roman"/>
                <a:sym typeface="Times New Roman"/>
              </a:rPr>
              <a:t>Juillet</a:t>
            </a:r>
            <a:r>
              <a:rPr lang="en-GB" sz="2667" b="1" dirty="0">
                <a:solidFill>
                  <a:srgbClr val="FF0000"/>
                </a:solidFill>
                <a:latin typeface="Times New Roman"/>
                <a:ea typeface="Times New Roman"/>
                <a:cs typeface="Times New Roman"/>
                <a:sym typeface="Times New Roman"/>
              </a:rPr>
              <a:t> à </a:t>
            </a:r>
            <a:r>
              <a:rPr lang="en-GB" sz="2667" b="1" dirty="0" err="1">
                <a:solidFill>
                  <a:srgbClr val="FF0000"/>
                </a:solidFill>
                <a:latin typeface="Times New Roman"/>
                <a:ea typeface="Times New Roman"/>
                <a:cs typeface="Times New Roman"/>
                <a:sym typeface="Times New Roman"/>
              </a:rPr>
              <a:t>Novembre</a:t>
            </a:r>
            <a:r>
              <a:rPr lang="en-GB" sz="2667" b="1" dirty="0">
                <a:solidFill>
                  <a:srgbClr val="FF0000"/>
                </a:solidFill>
                <a:latin typeface="Times New Roman"/>
                <a:ea typeface="Times New Roman"/>
                <a:cs typeface="Times New Roman"/>
                <a:sym typeface="Times New Roman"/>
              </a:rPr>
              <a:t> 2025 (PASCAL, MALKA ET BIBIANE) </a:t>
            </a:r>
          </a:p>
          <a:p>
            <a:pPr>
              <a:buClr>
                <a:schemeClr val="dk1"/>
              </a:buClr>
              <a:buSzPts val="1100"/>
            </a:pPr>
            <a:endParaRPr sz="2533" b="1" dirty="0">
              <a:solidFill>
                <a:srgbClr val="FF0000"/>
              </a:solidFill>
              <a:latin typeface="Times New Roman"/>
              <a:ea typeface="Times New Roman"/>
              <a:cs typeface="Times New Roman"/>
              <a:sym typeface="Times New Roman"/>
            </a:endParaRPr>
          </a:p>
        </p:txBody>
      </p:sp>
      <p:sp>
        <p:nvSpPr>
          <p:cNvPr id="303" name="Google Shape;303;g3a7c27f5d69_1_361"/>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a:buClr>
                <a:srgbClr val="000000"/>
              </a:buClr>
              <a:buSzPts val="1400"/>
            </a:pPr>
            <a:endParaRPr sz="1867">
              <a:solidFill>
                <a:srgbClr val="0070C0"/>
              </a:solidFill>
              <a:latin typeface="Times New Roman"/>
              <a:ea typeface="Times New Roman"/>
              <a:cs typeface="Times New Roman"/>
              <a:sym typeface="Times New Roman"/>
            </a:endParaRPr>
          </a:p>
        </p:txBody>
      </p:sp>
      <p:sp>
        <p:nvSpPr>
          <p:cNvPr id="304" name="Google Shape;304;g3a7c27f5d69_1_361"/>
          <p:cNvSpPr txBox="1"/>
          <p:nvPr/>
        </p:nvSpPr>
        <p:spPr>
          <a:xfrm>
            <a:off x="11658600" y="6496067"/>
            <a:ext cx="228400" cy="166000"/>
          </a:xfrm>
          <a:prstGeom prst="rect">
            <a:avLst/>
          </a:prstGeom>
          <a:noFill/>
          <a:ln>
            <a:noFill/>
          </a:ln>
        </p:spPr>
        <p:txBody>
          <a:bodyPr spcFirstLastPara="1" wrap="square" lIns="0" tIns="0" rIns="0" bIns="0" anchor="ctr" anchorCtr="0">
            <a:noAutofit/>
          </a:bodyPr>
          <a:lstStyle/>
          <a:p>
            <a:pPr algn="r">
              <a:buClr>
                <a:srgbClr val="000000"/>
              </a:buClr>
              <a:buSzPts val="900"/>
            </a:pPr>
            <a:fld id="{00000000-1234-1234-1234-123412341234}" type="slidenum">
              <a:rPr lang="en-GB" sz="1200">
                <a:solidFill>
                  <a:srgbClr val="1155CC"/>
                </a:solidFill>
                <a:latin typeface="Arial"/>
                <a:ea typeface="Arial"/>
                <a:cs typeface="Arial"/>
                <a:sym typeface="Arial"/>
              </a:rPr>
              <a:pPr algn="r">
                <a:buClr>
                  <a:srgbClr val="000000"/>
                </a:buClr>
                <a:buSzPts val="900"/>
              </a:pPr>
              <a:t>32</a:t>
            </a:fld>
            <a:endParaRPr sz="1200">
              <a:solidFill>
                <a:srgbClr val="1155CC"/>
              </a:solidFill>
              <a:latin typeface="Arial"/>
              <a:ea typeface="Arial"/>
              <a:cs typeface="Arial"/>
              <a:sym typeface="Arial"/>
            </a:endParaRPr>
          </a:p>
        </p:txBody>
      </p:sp>
      <p:grpSp>
        <p:nvGrpSpPr>
          <p:cNvPr id="305" name="Google Shape;305;g3a7c27f5d69_1_361"/>
          <p:cNvGrpSpPr/>
          <p:nvPr/>
        </p:nvGrpSpPr>
        <p:grpSpPr>
          <a:xfrm>
            <a:off x="7924530" y="6566116"/>
            <a:ext cx="2928137" cy="166000"/>
            <a:chOff x="200775" y="4647825"/>
            <a:chExt cx="2196103" cy="124500"/>
          </a:xfrm>
        </p:grpSpPr>
        <p:sp>
          <p:nvSpPr>
            <p:cNvPr id="306" name="Google Shape;306;g3a7c27f5d69_1_361"/>
            <p:cNvSpPr/>
            <p:nvPr/>
          </p:nvSpPr>
          <p:spPr>
            <a:xfrm>
              <a:off x="200775" y="4647825"/>
              <a:ext cx="697500" cy="124500"/>
            </a:xfrm>
            <a:prstGeom prst="rect">
              <a:avLst/>
            </a:prstGeom>
            <a:solidFill>
              <a:srgbClr val="93C47D"/>
            </a:solidFill>
            <a:ln>
              <a:noFill/>
            </a:ln>
          </p:spPr>
          <p:txBody>
            <a:bodyPr spcFirstLastPara="1" wrap="square" lIns="121900" tIns="121900" rIns="121900" bIns="121900" anchor="ctr" anchorCtr="0">
              <a:noAutofit/>
            </a:bodyPr>
            <a:lstStyle/>
            <a:p>
              <a:pPr algn="ctr">
                <a:buClr>
                  <a:srgbClr val="000000"/>
                </a:buClr>
                <a:buSzPts val="800"/>
              </a:pPr>
              <a:r>
                <a:rPr lang="en-GB" sz="1067">
                  <a:solidFill>
                    <a:srgbClr val="000000"/>
                  </a:solidFill>
                  <a:latin typeface="Arial"/>
                  <a:ea typeface="Arial"/>
                  <a:cs typeface="Arial"/>
                  <a:sym typeface="Arial"/>
                </a:rPr>
                <a:t>&gt;80%</a:t>
              </a:r>
              <a:endParaRPr sz="1067">
                <a:solidFill>
                  <a:srgbClr val="000000"/>
                </a:solidFill>
                <a:latin typeface="Arial"/>
                <a:ea typeface="Arial"/>
                <a:cs typeface="Arial"/>
                <a:sym typeface="Arial"/>
              </a:endParaRPr>
            </a:p>
          </p:txBody>
        </p:sp>
        <p:sp>
          <p:nvSpPr>
            <p:cNvPr id="307" name="Google Shape;307;g3a7c27f5d69_1_361"/>
            <p:cNvSpPr/>
            <p:nvPr/>
          </p:nvSpPr>
          <p:spPr>
            <a:xfrm>
              <a:off x="950078" y="4647825"/>
              <a:ext cx="697500" cy="124500"/>
            </a:xfrm>
            <a:prstGeom prst="rect">
              <a:avLst/>
            </a:prstGeom>
            <a:solidFill>
              <a:srgbClr val="FFD966"/>
            </a:solidFill>
            <a:ln>
              <a:noFill/>
            </a:ln>
          </p:spPr>
          <p:txBody>
            <a:bodyPr spcFirstLastPara="1" wrap="square" lIns="121900" tIns="121900" rIns="121900" bIns="121900" anchor="ctr" anchorCtr="0">
              <a:noAutofit/>
            </a:bodyPr>
            <a:lstStyle/>
            <a:p>
              <a:pPr algn="ctr">
                <a:buClr>
                  <a:srgbClr val="000000"/>
                </a:buClr>
                <a:buSzPts val="800"/>
              </a:pPr>
              <a:r>
                <a:rPr lang="en-GB" sz="1067">
                  <a:solidFill>
                    <a:schemeClr val="dk1"/>
                  </a:solidFill>
                  <a:latin typeface="Arial"/>
                  <a:ea typeface="Arial"/>
                  <a:cs typeface="Arial"/>
                  <a:sym typeface="Arial"/>
                </a:rPr>
                <a:t> 50% -</a:t>
              </a:r>
              <a:r>
                <a:rPr lang="en-GB" sz="1067">
                  <a:solidFill>
                    <a:srgbClr val="000000"/>
                  </a:solidFill>
                  <a:latin typeface="Arial"/>
                  <a:ea typeface="Arial"/>
                  <a:cs typeface="Arial"/>
                  <a:sym typeface="Arial"/>
                </a:rPr>
                <a:t>79%</a:t>
              </a:r>
              <a:endParaRPr sz="1067">
                <a:solidFill>
                  <a:srgbClr val="000000"/>
                </a:solidFill>
                <a:latin typeface="Arial"/>
                <a:ea typeface="Arial"/>
                <a:cs typeface="Arial"/>
                <a:sym typeface="Arial"/>
              </a:endParaRPr>
            </a:p>
          </p:txBody>
        </p:sp>
        <p:sp>
          <p:nvSpPr>
            <p:cNvPr id="308" name="Google Shape;308;g3a7c27f5d69_1_361"/>
            <p:cNvSpPr/>
            <p:nvPr/>
          </p:nvSpPr>
          <p:spPr>
            <a:xfrm>
              <a:off x="1699378" y="4647825"/>
              <a:ext cx="697500" cy="124500"/>
            </a:xfrm>
            <a:prstGeom prst="rect">
              <a:avLst/>
            </a:prstGeom>
            <a:solidFill>
              <a:srgbClr val="E06666"/>
            </a:solidFill>
            <a:ln>
              <a:noFill/>
            </a:ln>
          </p:spPr>
          <p:txBody>
            <a:bodyPr spcFirstLastPara="1" wrap="square" lIns="121900" tIns="121900" rIns="121900" bIns="121900" anchor="ctr" anchorCtr="0">
              <a:noAutofit/>
            </a:bodyPr>
            <a:lstStyle/>
            <a:p>
              <a:pPr algn="ctr">
                <a:buClr>
                  <a:srgbClr val="000000"/>
                </a:buClr>
                <a:buSzPts val="800"/>
              </a:pPr>
              <a:r>
                <a:rPr lang="en-GB" sz="1067">
                  <a:solidFill>
                    <a:srgbClr val="000000"/>
                  </a:solidFill>
                  <a:latin typeface="Arial"/>
                  <a:ea typeface="Arial"/>
                  <a:cs typeface="Arial"/>
                  <a:sym typeface="Arial"/>
                </a:rPr>
                <a:t>&lt;49%</a:t>
              </a:r>
              <a:endParaRPr sz="1067">
                <a:solidFill>
                  <a:srgbClr val="000000"/>
                </a:solidFill>
                <a:latin typeface="Arial"/>
                <a:ea typeface="Arial"/>
                <a:cs typeface="Arial"/>
                <a:sym typeface="Arial"/>
              </a:endParaRPr>
            </a:p>
          </p:txBody>
        </p:sp>
      </p:grpSp>
      <p:sp>
        <p:nvSpPr>
          <p:cNvPr id="309" name="Google Shape;309;g3a7c27f5d69_1_361"/>
          <p:cNvSpPr/>
          <p:nvPr/>
        </p:nvSpPr>
        <p:spPr>
          <a:xfrm>
            <a:off x="8854233" y="1307867"/>
            <a:ext cx="3032800" cy="5024000"/>
          </a:xfrm>
          <a:prstGeom prst="rect">
            <a:avLst/>
          </a:prstGeom>
          <a:solidFill>
            <a:srgbClr val="EAE7F2">
              <a:alpha val="38040"/>
            </a:srgbClr>
          </a:solidFill>
          <a:ln w="9525" cap="flat" cmpd="sng">
            <a:solidFill>
              <a:srgbClr val="B4A7D7"/>
            </a:solidFill>
            <a:prstDash val="solid"/>
            <a:round/>
            <a:headEnd type="none" w="sm" len="sm"/>
            <a:tailEnd type="none" w="sm" len="sm"/>
          </a:ln>
          <a:effectLst>
            <a:reflection stA="0" endPos="30000" dist="38100" dir="5400000" fadeDir="5400012" sy="-100000" algn="bl" rotWithShape="0"/>
          </a:effectLst>
        </p:spPr>
        <p:txBody>
          <a:bodyPr spcFirstLastPara="1" wrap="square" lIns="91433" tIns="45700" rIns="91433" bIns="45700" anchor="ctr" anchorCtr="0">
            <a:noAutofit/>
          </a:bodyPr>
          <a:lstStyle/>
          <a:p>
            <a:pPr algn="ctr">
              <a:buClr>
                <a:srgbClr val="000000"/>
              </a:buClr>
              <a:buSzPts val="1100"/>
            </a:pPr>
            <a:endParaRPr sz="1467">
              <a:solidFill>
                <a:srgbClr val="FFFFFF"/>
              </a:solidFill>
              <a:latin typeface="Arial"/>
              <a:ea typeface="Arial"/>
              <a:cs typeface="Arial"/>
              <a:sym typeface="Arial"/>
            </a:endParaRPr>
          </a:p>
        </p:txBody>
      </p:sp>
      <p:grpSp>
        <p:nvGrpSpPr>
          <p:cNvPr id="310" name="Google Shape;310;g3a7c27f5d69_1_361"/>
          <p:cNvGrpSpPr/>
          <p:nvPr/>
        </p:nvGrpSpPr>
        <p:grpSpPr>
          <a:xfrm>
            <a:off x="2269167" y="0"/>
            <a:ext cx="7411879" cy="198800"/>
            <a:chOff x="1701875" y="0"/>
            <a:chExt cx="5558909" cy="149100"/>
          </a:xfrm>
        </p:grpSpPr>
        <p:sp>
          <p:nvSpPr>
            <p:cNvPr id="311" name="Google Shape;311;g3a7c27f5d69_1_361"/>
            <p:cNvSpPr/>
            <p:nvPr/>
          </p:nvSpPr>
          <p:spPr>
            <a:xfrm>
              <a:off x="3098245" y="0"/>
              <a:ext cx="1369800" cy="149100"/>
            </a:xfrm>
            <a:prstGeom prst="rect">
              <a:avLst/>
            </a:prstGeom>
            <a:solidFill>
              <a:srgbClr val="EEEEEE"/>
            </a:solidFill>
            <a:ln w="9525" cap="flat" cmpd="sng">
              <a:solidFill>
                <a:srgbClr val="D9D9D9"/>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900"/>
              </a:pPr>
              <a:r>
                <a:rPr lang="en-GB" sz="1200">
                  <a:solidFill>
                    <a:schemeClr val="dk1"/>
                  </a:solidFill>
                  <a:latin typeface="Source Serif Pro"/>
                  <a:ea typeface="Source Serif Pro"/>
                  <a:cs typeface="Source Serif Pro"/>
                  <a:sym typeface="Source Serif Pro"/>
                </a:rPr>
                <a:t>Logistique</a:t>
              </a:r>
              <a:endParaRPr sz="1200">
                <a:solidFill>
                  <a:schemeClr val="dk1"/>
                </a:solidFill>
                <a:latin typeface="Source Serif Pro"/>
                <a:ea typeface="Source Serif Pro"/>
                <a:cs typeface="Source Serif Pro"/>
                <a:sym typeface="Source Serif Pro"/>
              </a:endParaRPr>
            </a:p>
          </p:txBody>
        </p:sp>
        <p:sp>
          <p:nvSpPr>
            <p:cNvPr id="312" name="Google Shape;312;g3a7c27f5d69_1_361"/>
            <p:cNvSpPr/>
            <p:nvPr/>
          </p:nvSpPr>
          <p:spPr>
            <a:xfrm>
              <a:off x="4494614" y="0"/>
              <a:ext cx="1369800" cy="149100"/>
            </a:xfrm>
            <a:prstGeom prst="rect">
              <a:avLst/>
            </a:prstGeom>
            <a:solidFill>
              <a:srgbClr val="EEEEEE"/>
            </a:solidFill>
            <a:ln w="9525" cap="flat" cmpd="sng">
              <a:solidFill>
                <a:srgbClr val="D9D9D9"/>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900"/>
              </a:pPr>
              <a:r>
                <a:rPr lang="en-GB" sz="1200">
                  <a:solidFill>
                    <a:schemeClr val="dk1"/>
                  </a:solidFill>
                  <a:latin typeface="Source Serif Pro"/>
                  <a:ea typeface="Source Serif Pro"/>
                  <a:cs typeface="Source Serif Pro"/>
                  <a:sym typeface="Source Serif Pro"/>
                </a:rPr>
                <a:t>Communication</a:t>
              </a:r>
              <a:endParaRPr sz="1200">
                <a:solidFill>
                  <a:schemeClr val="dk1"/>
                </a:solidFill>
                <a:latin typeface="Source Serif Pro"/>
                <a:ea typeface="Source Serif Pro"/>
                <a:cs typeface="Source Serif Pro"/>
                <a:sym typeface="Source Serif Pro"/>
              </a:endParaRPr>
            </a:p>
          </p:txBody>
        </p:sp>
        <p:sp>
          <p:nvSpPr>
            <p:cNvPr id="313" name="Google Shape;313;g3a7c27f5d69_1_361"/>
            <p:cNvSpPr/>
            <p:nvPr/>
          </p:nvSpPr>
          <p:spPr>
            <a:xfrm>
              <a:off x="1701875" y="0"/>
              <a:ext cx="1369800" cy="149100"/>
            </a:xfrm>
            <a:prstGeom prst="rect">
              <a:avLst/>
            </a:prstGeom>
            <a:solidFill>
              <a:srgbClr val="1255CC"/>
            </a:solidFill>
            <a:ln w="9525" cap="flat" cmpd="sng">
              <a:solidFill>
                <a:srgbClr val="D9D9D9"/>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900"/>
              </a:pPr>
              <a:r>
                <a:rPr lang="en-GB" sz="1200">
                  <a:solidFill>
                    <a:schemeClr val="lt1"/>
                  </a:solidFill>
                  <a:latin typeface="Source Serif Pro"/>
                  <a:ea typeface="Source Serif Pro"/>
                  <a:cs typeface="Source Serif Pro"/>
                  <a:sym typeface="Source Serif Pro"/>
                </a:rPr>
                <a:t>Prestation des services</a:t>
              </a:r>
              <a:endParaRPr sz="1200">
                <a:solidFill>
                  <a:schemeClr val="lt1"/>
                </a:solidFill>
                <a:latin typeface="Source Serif Pro"/>
                <a:ea typeface="Source Serif Pro"/>
                <a:cs typeface="Source Serif Pro"/>
                <a:sym typeface="Source Serif Pro"/>
              </a:endParaRPr>
            </a:p>
          </p:txBody>
        </p:sp>
        <p:sp>
          <p:nvSpPr>
            <p:cNvPr id="314" name="Google Shape;314;g3a7c27f5d69_1_361"/>
            <p:cNvSpPr/>
            <p:nvPr/>
          </p:nvSpPr>
          <p:spPr>
            <a:xfrm>
              <a:off x="5890984" y="0"/>
              <a:ext cx="1369800" cy="149100"/>
            </a:xfrm>
            <a:prstGeom prst="rect">
              <a:avLst/>
            </a:prstGeom>
            <a:solidFill>
              <a:srgbClr val="EEEEEE"/>
            </a:solidFill>
            <a:ln w="9525" cap="flat" cmpd="sng">
              <a:solidFill>
                <a:srgbClr val="D9D9D9"/>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900"/>
              </a:pPr>
              <a:r>
                <a:rPr lang="en-GB" sz="1200">
                  <a:solidFill>
                    <a:schemeClr val="dk1"/>
                  </a:solidFill>
                  <a:latin typeface="Source Serif Pro"/>
                  <a:ea typeface="Source Serif Pro"/>
                  <a:cs typeface="Source Serif Pro"/>
                  <a:sym typeface="Source Serif Pro"/>
                </a:rPr>
                <a:t>Appui S&amp;E</a:t>
              </a:r>
              <a:endParaRPr sz="1200">
                <a:solidFill>
                  <a:schemeClr val="dk1"/>
                </a:solidFill>
                <a:latin typeface="Source Serif Pro"/>
                <a:ea typeface="Source Serif Pro"/>
                <a:cs typeface="Source Serif Pro"/>
                <a:sym typeface="Source Serif Pro"/>
              </a:endParaRPr>
            </a:p>
          </p:txBody>
        </p:sp>
      </p:grpSp>
      <p:sp>
        <p:nvSpPr>
          <p:cNvPr id="315" name="Google Shape;315;g3a7c27f5d69_1_361"/>
          <p:cNvSpPr txBox="1"/>
          <p:nvPr/>
        </p:nvSpPr>
        <p:spPr>
          <a:xfrm>
            <a:off x="267700" y="6492834"/>
            <a:ext cx="6462400" cy="164212"/>
          </a:xfrm>
          <a:prstGeom prst="rect">
            <a:avLst/>
          </a:prstGeom>
          <a:noFill/>
          <a:ln>
            <a:noFill/>
          </a:ln>
        </p:spPr>
        <p:txBody>
          <a:bodyPr spcFirstLastPara="1" wrap="square" lIns="0" tIns="0" rIns="121900" bIns="0" anchor="t" anchorCtr="0">
            <a:spAutoFit/>
          </a:bodyPr>
          <a:lstStyle/>
          <a:p>
            <a:r>
              <a:rPr lang="en-GB" sz="1067" b="1">
                <a:solidFill>
                  <a:schemeClr val="dk1"/>
                </a:solidFill>
                <a:latin typeface="Times New Roman"/>
                <a:ea typeface="Times New Roman"/>
                <a:cs typeface="Times New Roman"/>
                <a:sym typeface="Times New Roman"/>
              </a:rPr>
              <a:t>Source:</a:t>
            </a:r>
            <a:r>
              <a:rPr lang="en-GB" sz="1067">
                <a:solidFill>
                  <a:schemeClr val="dk1"/>
                </a:solidFill>
                <a:latin typeface="Times New Roman"/>
                <a:ea typeface="Times New Roman"/>
                <a:cs typeface="Times New Roman"/>
                <a:sym typeface="Times New Roman"/>
              </a:rPr>
              <a:t> Gestion PEV 2025, DHIS2 Tracker 2025</a:t>
            </a:r>
            <a:endParaRPr sz="1067">
              <a:solidFill>
                <a:schemeClr val="dk1"/>
              </a:solidFill>
              <a:latin typeface="Times New Roman"/>
              <a:ea typeface="Times New Roman"/>
              <a:cs typeface="Times New Roman"/>
              <a:sym typeface="Times New Roman"/>
            </a:endParaRPr>
          </a:p>
        </p:txBody>
      </p:sp>
      <p:sp>
        <p:nvSpPr>
          <p:cNvPr id="316" name="Google Shape;316;g3a7c27f5d69_1_361"/>
          <p:cNvSpPr txBox="1"/>
          <p:nvPr/>
        </p:nvSpPr>
        <p:spPr>
          <a:xfrm>
            <a:off x="8854300" y="1307867"/>
            <a:ext cx="3032800" cy="577200"/>
          </a:xfrm>
          <a:prstGeom prst="rect">
            <a:avLst/>
          </a:prstGeom>
          <a:noFill/>
          <a:ln>
            <a:noFill/>
          </a:ln>
        </p:spPr>
        <p:txBody>
          <a:bodyPr spcFirstLastPara="1" wrap="square" lIns="0" tIns="0" rIns="0" bIns="0" anchor="ctr" anchorCtr="0">
            <a:noAutofit/>
          </a:bodyPr>
          <a:lstStyle/>
          <a:p>
            <a:pPr algn="ctr">
              <a:buClr>
                <a:srgbClr val="000000"/>
              </a:buClr>
              <a:buSzPts val="1000"/>
            </a:pPr>
            <a:r>
              <a:rPr lang="en-GB" sz="1333" b="1">
                <a:solidFill>
                  <a:srgbClr val="FF0000"/>
                </a:solidFill>
                <a:latin typeface="Times New Roman"/>
                <a:ea typeface="Times New Roman"/>
                <a:cs typeface="Times New Roman"/>
                <a:sym typeface="Times New Roman"/>
              </a:rPr>
              <a:t>Antennes à faible performance: 13 antennes n’ont pas atteint la cible</a:t>
            </a:r>
            <a:endParaRPr sz="1333" b="1">
              <a:solidFill>
                <a:srgbClr val="FF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6665202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g3a7c27f5d69_1_399"/>
          <p:cNvSpPr txBox="1"/>
          <p:nvPr/>
        </p:nvSpPr>
        <p:spPr>
          <a:xfrm>
            <a:off x="458592" y="0"/>
            <a:ext cx="11274800" cy="1307867"/>
          </a:xfrm>
          <a:prstGeom prst="rect">
            <a:avLst/>
          </a:prstGeom>
          <a:noFill/>
          <a:ln>
            <a:noFill/>
          </a:ln>
        </p:spPr>
        <p:txBody>
          <a:bodyPr spcFirstLastPara="1" wrap="square" lIns="0" tIns="0" rIns="0" bIns="0" anchor="t" anchorCtr="0">
            <a:noAutofit/>
          </a:bodyPr>
          <a:lstStyle/>
          <a:p>
            <a:pPr>
              <a:buClr>
                <a:schemeClr val="dk1"/>
              </a:buClr>
              <a:buSzPts val="1100"/>
            </a:pPr>
            <a:r>
              <a:rPr lang="en-GB" sz="2667" b="1" dirty="0">
                <a:solidFill>
                  <a:srgbClr val="1155CC"/>
                </a:solidFill>
                <a:latin typeface="Times New Roman"/>
                <a:ea typeface="Times New Roman"/>
                <a:cs typeface="Times New Roman"/>
                <a:sym typeface="Times New Roman"/>
              </a:rPr>
              <a:t>Supervision | </a:t>
            </a:r>
            <a:r>
              <a:rPr lang="en-GB" sz="2667" dirty="0" err="1">
                <a:solidFill>
                  <a:srgbClr val="1155CC"/>
                </a:solidFill>
                <a:latin typeface="Times New Roman"/>
                <a:ea typeface="Times New Roman"/>
                <a:cs typeface="Times New Roman"/>
                <a:sym typeface="Times New Roman"/>
              </a:rPr>
              <a:t>Qualité</a:t>
            </a:r>
            <a:r>
              <a:rPr lang="en-GB" sz="2667" dirty="0">
                <a:solidFill>
                  <a:srgbClr val="1155CC"/>
                </a:solidFill>
                <a:latin typeface="Times New Roman"/>
                <a:ea typeface="Times New Roman"/>
                <a:cs typeface="Times New Roman"/>
                <a:sym typeface="Times New Roman"/>
              </a:rPr>
              <a:t> de la supervision des zones par les </a:t>
            </a:r>
            <a:r>
              <a:rPr lang="en-GB" sz="2667" dirty="0" err="1">
                <a:solidFill>
                  <a:srgbClr val="1155CC"/>
                </a:solidFill>
                <a:latin typeface="Times New Roman"/>
                <a:ea typeface="Times New Roman"/>
                <a:cs typeface="Times New Roman"/>
                <a:sym typeface="Times New Roman"/>
              </a:rPr>
              <a:t>antennes</a:t>
            </a:r>
            <a:r>
              <a:rPr lang="en-GB" sz="2667" dirty="0">
                <a:solidFill>
                  <a:srgbClr val="1155CC"/>
                </a:solidFill>
                <a:latin typeface="Times New Roman"/>
                <a:ea typeface="Times New Roman"/>
                <a:cs typeface="Times New Roman"/>
                <a:sym typeface="Times New Roman"/>
              </a:rPr>
              <a:t> </a:t>
            </a:r>
            <a:r>
              <a:rPr lang="en-GB" sz="2667" strike="sngStrike" dirty="0">
                <a:solidFill>
                  <a:srgbClr val="FF0000"/>
                </a:solidFill>
                <a:latin typeface="Times New Roman"/>
                <a:ea typeface="Times New Roman"/>
                <a:cs typeface="Times New Roman"/>
                <a:sym typeface="Times New Roman"/>
              </a:rPr>
              <a:t>au </a:t>
            </a:r>
            <a:r>
              <a:rPr lang="en-GB" sz="2667" strike="sngStrike" dirty="0" err="1">
                <a:solidFill>
                  <a:srgbClr val="FF0000"/>
                </a:solidFill>
                <a:latin typeface="Times New Roman"/>
                <a:ea typeface="Times New Roman"/>
                <a:cs typeface="Times New Roman"/>
                <a:sym typeface="Times New Roman"/>
              </a:rPr>
              <a:t>mois</a:t>
            </a:r>
            <a:r>
              <a:rPr lang="en-GB" sz="2667" strike="sngStrike" dirty="0">
                <a:solidFill>
                  <a:srgbClr val="FF0000"/>
                </a:solidFill>
                <a:latin typeface="Times New Roman"/>
                <a:ea typeface="Times New Roman"/>
                <a:cs typeface="Times New Roman"/>
                <a:sym typeface="Times New Roman"/>
              </a:rPr>
              <a:t> de </a:t>
            </a:r>
            <a:r>
              <a:rPr lang="en-GB" sz="2667" strike="sngStrike" dirty="0" err="1">
                <a:solidFill>
                  <a:srgbClr val="FF0000"/>
                </a:solidFill>
                <a:latin typeface="Times New Roman"/>
                <a:ea typeface="Times New Roman"/>
                <a:cs typeface="Times New Roman"/>
                <a:sym typeface="Times New Roman"/>
              </a:rPr>
              <a:t>Novembre</a:t>
            </a:r>
            <a:r>
              <a:rPr lang="en-GB" sz="2667" strike="sngStrike" dirty="0">
                <a:solidFill>
                  <a:srgbClr val="FF0000"/>
                </a:solidFill>
                <a:latin typeface="Times New Roman"/>
                <a:ea typeface="Times New Roman"/>
                <a:cs typeface="Times New Roman"/>
                <a:sym typeface="Times New Roman"/>
              </a:rPr>
              <a:t> 2025 </a:t>
            </a:r>
            <a:r>
              <a:rPr lang="fr-FR" sz="2667" dirty="0">
                <a:solidFill>
                  <a:srgbClr val="FF0000"/>
                </a:solidFill>
                <a:latin typeface="Times New Roman"/>
                <a:ea typeface="Times New Roman"/>
                <a:cs typeface="Times New Roman"/>
                <a:sym typeface="Times New Roman"/>
              </a:rPr>
              <a:t>Faire les cumules de Juillet à Novembre 2025 (PASCAL, MALKA ET BIBIANE) </a:t>
            </a:r>
          </a:p>
          <a:p>
            <a:pPr>
              <a:buClr>
                <a:schemeClr val="dk1"/>
              </a:buClr>
              <a:buSzPts val="1100"/>
            </a:pPr>
            <a:r>
              <a:rPr lang="fr-FR" sz="2667" dirty="0">
                <a:solidFill>
                  <a:srgbClr val="FF0000"/>
                </a:solidFill>
                <a:latin typeface="Times New Roman"/>
                <a:ea typeface="Times New Roman"/>
                <a:cs typeface="Times New Roman"/>
                <a:sym typeface="Times New Roman"/>
              </a:rPr>
              <a:t>)</a:t>
            </a:r>
          </a:p>
          <a:p>
            <a:pPr>
              <a:buClr>
                <a:schemeClr val="dk1"/>
              </a:buClr>
              <a:buSzPts val="1100"/>
            </a:pPr>
            <a:endParaRPr sz="2533" dirty="0">
              <a:solidFill>
                <a:srgbClr val="1155CC"/>
              </a:solidFill>
              <a:latin typeface="Times New Roman"/>
              <a:ea typeface="Times New Roman"/>
              <a:cs typeface="Times New Roman"/>
              <a:sym typeface="Times New Roman"/>
            </a:endParaRPr>
          </a:p>
        </p:txBody>
      </p:sp>
      <p:sp>
        <p:nvSpPr>
          <p:cNvPr id="322" name="Google Shape;322;g3a7c27f5d69_1_399"/>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a:buClr>
                <a:srgbClr val="000000"/>
              </a:buClr>
              <a:buSzPts val="1400"/>
            </a:pPr>
            <a:endParaRPr sz="1867">
              <a:solidFill>
                <a:srgbClr val="0070C0"/>
              </a:solidFill>
              <a:latin typeface="Times New Roman"/>
              <a:ea typeface="Times New Roman"/>
              <a:cs typeface="Times New Roman"/>
              <a:sym typeface="Times New Roman"/>
            </a:endParaRPr>
          </a:p>
        </p:txBody>
      </p:sp>
      <p:sp>
        <p:nvSpPr>
          <p:cNvPr id="323" name="Google Shape;323;g3a7c27f5d69_1_399"/>
          <p:cNvSpPr txBox="1"/>
          <p:nvPr/>
        </p:nvSpPr>
        <p:spPr>
          <a:xfrm>
            <a:off x="11658600" y="6496067"/>
            <a:ext cx="228400" cy="166000"/>
          </a:xfrm>
          <a:prstGeom prst="rect">
            <a:avLst/>
          </a:prstGeom>
          <a:noFill/>
          <a:ln>
            <a:noFill/>
          </a:ln>
        </p:spPr>
        <p:txBody>
          <a:bodyPr spcFirstLastPara="1" wrap="square" lIns="0" tIns="0" rIns="0" bIns="0" anchor="ctr" anchorCtr="0">
            <a:noAutofit/>
          </a:bodyPr>
          <a:lstStyle/>
          <a:p>
            <a:pPr algn="r">
              <a:buClr>
                <a:srgbClr val="000000"/>
              </a:buClr>
              <a:buSzPts val="900"/>
            </a:pPr>
            <a:fld id="{00000000-1234-1234-1234-123412341234}" type="slidenum">
              <a:rPr lang="en-GB" sz="1200">
                <a:solidFill>
                  <a:srgbClr val="1155CC"/>
                </a:solidFill>
                <a:latin typeface="Arial"/>
                <a:ea typeface="Arial"/>
                <a:cs typeface="Arial"/>
                <a:sym typeface="Arial"/>
              </a:rPr>
              <a:pPr algn="r">
                <a:buClr>
                  <a:srgbClr val="000000"/>
                </a:buClr>
                <a:buSzPts val="900"/>
              </a:pPr>
              <a:t>33</a:t>
            </a:fld>
            <a:endParaRPr sz="1200">
              <a:solidFill>
                <a:srgbClr val="1155CC"/>
              </a:solidFill>
              <a:latin typeface="Arial"/>
              <a:ea typeface="Arial"/>
              <a:cs typeface="Arial"/>
              <a:sym typeface="Arial"/>
            </a:endParaRPr>
          </a:p>
        </p:txBody>
      </p:sp>
      <p:grpSp>
        <p:nvGrpSpPr>
          <p:cNvPr id="324" name="Google Shape;324;g3a7c27f5d69_1_399"/>
          <p:cNvGrpSpPr/>
          <p:nvPr/>
        </p:nvGrpSpPr>
        <p:grpSpPr>
          <a:xfrm>
            <a:off x="7924530" y="6554700"/>
            <a:ext cx="2928137" cy="166000"/>
            <a:chOff x="200775" y="4647825"/>
            <a:chExt cx="2196103" cy="124500"/>
          </a:xfrm>
        </p:grpSpPr>
        <p:sp>
          <p:nvSpPr>
            <p:cNvPr id="325" name="Google Shape;325;g3a7c27f5d69_1_399"/>
            <p:cNvSpPr/>
            <p:nvPr/>
          </p:nvSpPr>
          <p:spPr>
            <a:xfrm>
              <a:off x="200775" y="4647825"/>
              <a:ext cx="697500" cy="124500"/>
            </a:xfrm>
            <a:prstGeom prst="rect">
              <a:avLst/>
            </a:prstGeom>
            <a:solidFill>
              <a:srgbClr val="93C47D"/>
            </a:solidFill>
            <a:ln>
              <a:noFill/>
            </a:ln>
          </p:spPr>
          <p:txBody>
            <a:bodyPr spcFirstLastPara="1" wrap="square" lIns="121900" tIns="121900" rIns="121900" bIns="121900" anchor="ctr" anchorCtr="0">
              <a:noAutofit/>
            </a:bodyPr>
            <a:lstStyle/>
            <a:p>
              <a:pPr algn="ctr">
                <a:buClr>
                  <a:srgbClr val="000000"/>
                </a:buClr>
                <a:buSzPts val="800"/>
              </a:pPr>
              <a:r>
                <a:rPr lang="en-GB" sz="1067">
                  <a:solidFill>
                    <a:srgbClr val="000000"/>
                  </a:solidFill>
                  <a:latin typeface="Arial"/>
                  <a:ea typeface="Arial"/>
                  <a:cs typeface="Arial"/>
                  <a:sym typeface="Arial"/>
                </a:rPr>
                <a:t>&gt;80%</a:t>
              </a:r>
              <a:endParaRPr sz="1067">
                <a:solidFill>
                  <a:srgbClr val="000000"/>
                </a:solidFill>
                <a:latin typeface="Arial"/>
                <a:ea typeface="Arial"/>
                <a:cs typeface="Arial"/>
                <a:sym typeface="Arial"/>
              </a:endParaRPr>
            </a:p>
          </p:txBody>
        </p:sp>
        <p:sp>
          <p:nvSpPr>
            <p:cNvPr id="326" name="Google Shape;326;g3a7c27f5d69_1_399"/>
            <p:cNvSpPr/>
            <p:nvPr/>
          </p:nvSpPr>
          <p:spPr>
            <a:xfrm>
              <a:off x="950078" y="4647825"/>
              <a:ext cx="697500" cy="124500"/>
            </a:xfrm>
            <a:prstGeom prst="rect">
              <a:avLst/>
            </a:prstGeom>
            <a:solidFill>
              <a:srgbClr val="FFD966"/>
            </a:solidFill>
            <a:ln>
              <a:noFill/>
            </a:ln>
          </p:spPr>
          <p:txBody>
            <a:bodyPr spcFirstLastPara="1" wrap="square" lIns="121900" tIns="121900" rIns="121900" bIns="121900" anchor="ctr" anchorCtr="0">
              <a:noAutofit/>
            </a:bodyPr>
            <a:lstStyle/>
            <a:p>
              <a:pPr algn="ctr">
                <a:buClr>
                  <a:srgbClr val="000000"/>
                </a:buClr>
                <a:buSzPts val="800"/>
              </a:pPr>
              <a:r>
                <a:rPr lang="en-GB" sz="1067">
                  <a:solidFill>
                    <a:schemeClr val="dk1"/>
                  </a:solidFill>
                  <a:latin typeface="Arial"/>
                  <a:ea typeface="Arial"/>
                  <a:cs typeface="Arial"/>
                  <a:sym typeface="Arial"/>
                </a:rPr>
                <a:t> 50% -</a:t>
              </a:r>
              <a:r>
                <a:rPr lang="en-GB" sz="1067">
                  <a:solidFill>
                    <a:srgbClr val="000000"/>
                  </a:solidFill>
                  <a:latin typeface="Arial"/>
                  <a:ea typeface="Arial"/>
                  <a:cs typeface="Arial"/>
                  <a:sym typeface="Arial"/>
                </a:rPr>
                <a:t>79%</a:t>
              </a:r>
              <a:endParaRPr sz="1067">
                <a:solidFill>
                  <a:srgbClr val="000000"/>
                </a:solidFill>
                <a:latin typeface="Arial"/>
                <a:ea typeface="Arial"/>
                <a:cs typeface="Arial"/>
                <a:sym typeface="Arial"/>
              </a:endParaRPr>
            </a:p>
          </p:txBody>
        </p:sp>
        <p:sp>
          <p:nvSpPr>
            <p:cNvPr id="327" name="Google Shape;327;g3a7c27f5d69_1_399"/>
            <p:cNvSpPr/>
            <p:nvPr/>
          </p:nvSpPr>
          <p:spPr>
            <a:xfrm>
              <a:off x="1699378" y="4647825"/>
              <a:ext cx="697500" cy="124500"/>
            </a:xfrm>
            <a:prstGeom prst="rect">
              <a:avLst/>
            </a:prstGeom>
            <a:solidFill>
              <a:srgbClr val="E06666"/>
            </a:solidFill>
            <a:ln>
              <a:noFill/>
            </a:ln>
          </p:spPr>
          <p:txBody>
            <a:bodyPr spcFirstLastPara="1" wrap="square" lIns="121900" tIns="121900" rIns="121900" bIns="121900" anchor="ctr" anchorCtr="0">
              <a:noAutofit/>
            </a:bodyPr>
            <a:lstStyle/>
            <a:p>
              <a:pPr algn="ctr">
                <a:buClr>
                  <a:srgbClr val="000000"/>
                </a:buClr>
                <a:buSzPts val="800"/>
              </a:pPr>
              <a:r>
                <a:rPr lang="en-GB" sz="1067">
                  <a:solidFill>
                    <a:srgbClr val="000000"/>
                  </a:solidFill>
                  <a:latin typeface="Arial"/>
                  <a:ea typeface="Arial"/>
                  <a:cs typeface="Arial"/>
                  <a:sym typeface="Arial"/>
                </a:rPr>
                <a:t>&lt;49%</a:t>
              </a:r>
              <a:endParaRPr sz="1067">
                <a:solidFill>
                  <a:srgbClr val="000000"/>
                </a:solidFill>
                <a:latin typeface="Arial"/>
                <a:ea typeface="Arial"/>
                <a:cs typeface="Arial"/>
                <a:sym typeface="Arial"/>
              </a:endParaRPr>
            </a:p>
          </p:txBody>
        </p:sp>
      </p:grpSp>
      <p:grpSp>
        <p:nvGrpSpPr>
          <p:cNvPr id="328" name="Google Shape;328;g3a7c27f5d69_1_399"/>
          <p:cNvGrpSpPr/>
          <p:nvPr/>
        </p:nvGrpSpPr>
        <p:grpSpPr>
          <a:xfrm>
            <a:off x="2269167" y="0"/>
            <a:ext cx="7411879" cy="198800"/>
            <a:chOff x="1701875" y="0"/>
            <a:chExt cx="5558909" cy="149100"/>
          </a:xfrm>
        </p:grpSpPr>
        <p:sp>
          <p:nvSpPr>
            <p:cNvPr id="329" name="Google Shape;329;g3a7c27f5d69_1_399"/>
            <p:cNvSpPr/>
            <p:nvPr/>
          </p:nvSpPr>
          <p:spPr>
            <a:xfrm>
              <a:off x="3098245" y="0"/>
              <a:ext cx="1369800" cy="149100"/>
            </a:xfrm>
            <a:prstGeom prst="rect">
              <a:avLst/>
            </a:prstGeom>
            <a:solidFill>
              <a:srgbClr val="EEEEEE"/>
            </a:solidFill>
            <a:ln w="9525" cap="flat" cmpd="sng">
              <a:solidFill>
                <a:srgbClr val="D9D9D9"/>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900"/>
              </a:pPr>
              <a:r>
                <a:rPr lang="en-GB" sz="1200">
                  <a:solidFill>
                    <a:schemeClr val="dk1"/>
                  </a:solidFill>
                  <a:latin typeface="Source Serif Pro"/>
                  <a:ea typeface="Source Serif Pro"/>
                  <a:cs typeface="Source Serif Pro"/>
                  <a:sym typeface="Source Serif Pro"/>
                </a:rPr>
                <a:t>Logistique</a:t>
              </a:r>
              <a:endParaRPr sz="1200">
                <a:solidFill>
                  <a:schemeClr val="dk1"/>
                </a:solidFill>
                <a:latin typeface="Source Serif Pro"/>
                <a:ea typeface="Source Serif Pro"/>
                <a:cs typeface="Source Serif Pro"/>
                <a:sym typeface="Source Serif Pro"/>
              </a:endParaRPr>
            </a:p>
          </p:txBody>
        </p:sp>
        <p:sp>
          <p:nvSpPr>
            <p:cNvPr id="330" name="Google Shape;330;g3a7c27f5d69_1_399"/>
            <p:cNvSpPr/>
            <p:nvPr/>
          </p:nvSpPr>
          <p:spPr>
            <a:xfrm>
              <a:off x="4494614" y="0"/>
              <a:ext cx="1369800" cy="149100"/>
            </a:xfrm>
            <a:prstGeom prst="rect">
              <a:avLst/>
            </a:prstGeom>
            <a:solidFill>
              <a:srgbClr val="EEEEEE"/>
            </a:solidFill>
            <a:ln w="9525" cap="flat" cmpd="sng">
              <a:solidFill>
                <a:srgbClr val="D9D9D9"/>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900"/>
              </a:pPr>
              <a:r>
                <a:rPr lang="en-GB" sz="1200">
                  <a:solidFill>
                    <a:schemeClr val="dk1"/>
                  </a:solidFill>
                  <a:latin typeface="Source Serif Pro"/>
                  <a:ea typeface="Source Serif Pro"/>
                  <a:cs typeface="Source Serif Pro"/>
                  <a:sym typeface="Source Serif Pro"/>
                </a:rPr>
                <a:t>Communication</a:t>
              </a:r>
              <a:endParaRPr sz="1200">
                <a:solidFill>
                  <a:schemeClr val="dk1"/>
                </a:solidFill>
                <a:latin typeface="Source Serif Pro"/>
                <a:ea typeface="Source Serif Pro"/>
                <a:cs typeface="Source Serif Pro"/>
                <a:sym typeface="Source Serif Pro"/>
              </a:endParaRPr>
            </a:p>
          </p:txBody>
        </p:sp>
        <p:sp>
          <p:nvSpPr>
            <p:cNvPr id="331" name="Google Shape;331;g3a7c27f5d69_1_399"/>
            <p:cNvSpPr/>
            <p:nvPr/>
          </p:nvSpPr>
          <p:spPr>
            <a:xfrm>
              <a:off x="1701875" y="0"/>
              <a:ext cx="1369800" cy="149100"/>
            </a:xfrm>
            <a:prstGeom prst="rect">
              <a:avLst/>
            </a:prstGeom>
            <a:solidFill>
              <a:srgbClr val="1255CC"/>
            </a:solidFill>
            <a:ln w="9525" cap="flat" cmpd="sng">
              <a:solidFill>
                <a:srgbClr val="D9D9D9"/>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900"/>
              </a:pPr>
              <a:r>
                <a:rPr lang="en-GB" sz="1200">
                  <a:solidFill>
                    <a:schemeClr val="lt1"/>
                  </a:solidFill>
                  <a:latin typeface="Source Serif Pro"/>
                  <a:ea typeface="Source Serif Pro"/>
                  <a:cs typeface="Source Serif Pro"/>
                  <a:sym typeface="Source Serif Pro"/>
                </a:rPr>
                <a:t>Prestation des services</a:t>
              </a:r>
              <a:endParaRPr sz="1200">
                <a:solidFill>
                  <a:schemeClr val="lt1"/>
                </a:solidFill>
                <a:latin typeface="Source Serif Pro"/>
                <a:ea typeface="Source Serif Pro"/>
                <a:cs typeface="Source Serif Pro"/>
                <a:sym typeface="Source Serif Pro"/>
              </a:endParaRPr>
            </a:p>
          </p:txBody>
        </p:sp>
        <p:sp>
          <p:nvSpPr>
            <p:cNvPr id="332" name="Google Shape;332;g3a7c27f5d69_1_399"/>
            <p:cNvSpPr/>
            <p:nvPr/>
          </p:nvSpPr>
          <p:spPr>
            <a:xfrm>
              <a:off x="5890984" y="0"/>
              <a:ext cx="1369800" cy="149100"/>
            </a:xfrm>
            <a:prstGeom prst="rect">
              <a:avLst/>
            </a:prstGeom>
            <a:solidFill>
              <a:srgbClr val="EEEEEE"/>
            </a:solidFill>
            <a:ln w="9525" cap="flat" cmpd="sng">
              <a:solidFill>
                <a:srgbClr val="D9D9D9"/>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900"/>
              </a:pPr>
              <a:r>
                <a:rPr lang="en-GB" sz="1200">
                  <a:solidFill>
                    <a:schemeClr val="dk1"/>
                  </a:solidFill>
                  <a:latin typeface="Source Serif Pro"/>
                  <a:ea typeface="Source Serif Pro"/>
                  <a:cs typeface="Source Serif Pro"/>
                  <a:sym typeface="Source Serif Pro"/>
                </a:rPr>
                <a:t>Appui S&amp;E</a:t>
              </a:r>
              <a:endParaRPr sz="1200">
                <a:solidFill>
                  <a:schemeClr val="dk1"/>
                </a:solidFill>
                <a:latin typeface="Source Serif Pro"/>
                <a:ea typeface="Source Serif Pro"/>
                <a:cs typeface="Source Serif Pro"/>
                <a:sym typeface="Source Serif Pro"/>
              </a:endParaRPr>
            </a:p>
          </p:txBody>
        </p:sp>
      </p:grpSp>
      <p:pic>
        <p:nvPicPr>
          <p:cNvPr id="333" name="Google Shape;333;g3a7c27f5d69_1_399" title="Chart"/>
          <p:cNvPicPr preferRelativeResize="0"/>
          <p:nvPr/>
        </p:nvPicPr>
        <p:blipFill rotWithShape="1">
          <a:blip r:embed="rId3">
            <a:alphaModFix/>
          </a:blip>
          <a:srcRect l="3540" r="1798" b="2305"/>
          <a:stretch/>
        </p:blipFill>
        <p:spPr>
          <a:xfrm>
            <a:off x="458600" y="1218634"/>
            <a:ext cx="11274800" cy="5113233"/>
          </a:xfrm>
          <a:prstGeom prst="rect">
            <a:avLst/>
          </a:prstGeom>
          <a:noFill/>
          <a:ln>
            <a:noFill/>
          </a:ln>
        </p:spPr>
      </p:pic>
      <p:sp>
        <p:nvSpPr>
          <p:cNvPr id="334" name="Google Shape;334;g3a7c27f5d69_1_399"/>
          <p:cNvSpPr/>
          <p:nvPr/>
        </p:nvSpPr>
        <p:spPr>
          <a:xfrm>
            <a:off x="1995567" y="1307867"/>
            <a:ext cx="9738000" cy="5024000"/>
          </a:xfrm>
          <a:prstGeom prst="rect">
            <a:avLst/>
          </a:prstGeom>
          <a:solidFill>
            <a:srgbClr val="EAE7F2">
              <a:alpha val="38040"/>
            </a:srgbClr>
          </a:solidFill>
          <a:ln w="9525" cap="flat" cmpd="sng">
            <a:solidFill>
              <a:srgbClr val="B4A7D7"/>
            </a:solidFill>
            <a:prstDash val="solid"/>
            <a:round/>
            <a:headEnd type="none" w="sm" len="sm"/>
            <a:tailEnd type="none" w="sm" len="sm"/>
          </a:ln>
          <a:effectLst>
            <a:reflection stA="0" endPos="30000" dist="38100" dir="5400000" fadeDir="5400012" sy="-100000" algn="bl" rotWithShape="0"/>
          </a:effectLst>
        </p:spPr>
        <p:txBody>
          <a:bodyPr spcFirstLastPara="1" wrap="square" lIns="91433" tIns="45700" rIns="91433" bIns="45700" anchor="ctr" anchorCtr="0">
            <a:noAutofit/>
          </a:bodyPr>
          <a:lstStyle/>
          <a:p>
            <a:pPr algn="ctr">
              <a:buClr>
                <a:srgbClr val="000000"/>
              </a:buClr>
              <a:buSzPts val="1100"/>
            </a:pPr>
            <a:endParaRPr sz="1467">
              <a:solidFill>
                <a:srgbClr val="FFFFFF"/>
              </a:solidFill>
              <a:latin typeface="Arial"/>
              <a:ea typeface="Arial"/>
              <a:cs typeface="Arial"/>
              <a:sym typeface="Arial"/>
            </a:endParaRPr>
          </a:p>
        </p:txBody>
      </p:sp>
      <p:sp>
        <p:nvSpPr>
          <p:cNvPr id="335" name="Google Shape;335;g3a7c27f5d69_1_399"/>
          <p:cNvSpPr txBox="1"/>
          <p:nvPr/>
        </p:nvSpPr>
        <p:spPr>
          <a:xfrm>
            <a:off x="267700" y="6492834"/>
            <a:ext cx="6462400" cy="164212"/>
          </a:xfrm>
          <a:prstGeom prst="rect">
            <a:avLst/>
          </a:prstGeom>
          <a:noFill/>
          <a:ln>
            <a:noFill/>
          </a:ln>
        </p:spPr>
        <p:txBody>
          <a:bodyPr spcFirstLastPara="1" wrap="square" lIns="0" tIns="0" rIns="121900" bIns="0" anchor="t" anchorCtr="0">
            <a:spAutoFit/>
          </a:bodyPr>
          <a:lstStyle/>
          <a:p>
            <a:r>
              <a:rPr lang="en-GB" sz="1067" b="1">
                <a:solidFill>
                  <a:schemeClr val="dk1"/>
                </a:solidFill>
                <a:latin typeface="Times New Roman"/>
                <a:ea typeface="Times New Roman"/>
                <a:cs typeface="Times New Roman"/>
                <a:sym typeface="Times New Roman"/>
              </a:rPr>
              <a:t>Source:</a:t>
            </a:r>
            <a:r>
              <a:rPr lang="en-GB" sz="1067">
                <a:solidFill>
                  <a:schemeClr val="dk1"/>
                </a:solidFill>
                <a:latin typeface="Times New Roman"/>
                <a:ea typeface="Times New Roman"/>
                <a:cs typeface="Times New Roman"/>
                <a:sym typeface="Times New Roman"/>
              </a:rPr>
              <a:t> Gestion PEV 2025, DHIS2 Tracker 2025</a:t>
            </a:r>
            <a:endParaRPr sz="1067">
              <a:solidFill>
                <a:schemeClr val="dk1"/>
              </a:solidFill>
              <a:latin typeface="Times New Roman"/>
              <a:ea typeface="Times New Roman"/>
              <a:cs typeface="Times New Roman"/>
              <a:sym typeface="Times New Roman"/>
            </a:endParaRPr>
          </a:p>
        </p:txBody>
      </p:sp>
      <p:sp>
        <p:nvSpPr>
          <p:cNvPr id="336" name="Google Shape;336;g3a7c27f5d69_1_399"/>
          <p:cNvSpPr txBox="1"/>
          <p:nvPr/>
        </p:nvSpPr>
        <p:spPr>
          <a:xfrm>
            <a:off x="1995500" y="1307867"/>
            <a:ext cx="9738000" cy="577200"/>
          </a:xfrm>
          <a:prstGeom prst="rect">
            <a:avLst/>
          </a:prstGeom>
          <a:noFill/>
          <a:ln>
            <a:noFill/>
          </a:ln>
        </p:spPr>
        <p:txBody>
          <a:bodyPr spcFirstLastPara="1" wrap="square" lIns="0" tIns="0" rIns="0" bIns="0" anchor="ctr" anchorCtr="0">
            <a:noAutofit/>
          </a:bodyPr>
          <a:lstStyle/>
          <a:p>
            <a:pPr algn="ctr">
              <a:buClr>
                <a:srgbClr val="000000"/>
              </a:buClr>
              <a:buSzPts val="1000"/>
            </a:pPr>
            <a:r>
              <a:rPr lang="en-GB" sz="1333" b="1">
                <a:solidFill>
                  <a:srgbClr val="FF0000"/>
                </a:solidFill>
                <a:latin typeface="Times New Roman"/>
                <a:ea typeface="Times New Roman"/>
                <a:cs typeface="Times New Roman"/>
                <a:sym typeface="Times New Roman"/>
              </a:rPr>
              <a:t>Antennes à faible performance: 44 antennes n’ont pas atteint la cible</a:t>
            </a:r>
            <a:endParaRPr sz="1333" b="1">
              <a:solidFill>
                <a:srgbClr val="FF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5026135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g3a7c27f5d69_1_138"/>
          <p:cNvSpPr txBox="1"/>
          <p:nvPr/>
        </p:nvSpPr>
        <p:spPr>
          <a:xfrm>
            <a:off x="458592" y="317941"/>
            <a:ext cx="11274800" cy="731600"/>
          </a:xfrm>
          <a:prstGeom prst="rect">
            <a:avLst/>
          </a:prstGeom>
          <a:noFill/>
          <a:ln>
            <a:noFill/>
          </a:ln>
        </p:spPr>
        <p:txBody>
          <a:bodyPr spcFirstLastPara="1" wrap="square" lIns="0" tIns="0" rIns="0" bIns="0" anchor="t" anchorCtr="0">
            <a:noAutofit/>
          </a:bodyPr>
          <a:lstStyle/>
          <a:p>
            <a:pPr>
              <a:buClr>
                <a:schemeClr val="dk1"/>
              </a:buClr>
              <a:buSzPts val="1100"/>
            </a:pPr>
            <a:r>
              <a:rPr lang="en-GB" sz="2667" b="1" dirty="0">
                <a:solidFill>
                  <a:srgbClr val="1155CC"/>
                </a:solidFill>
                <a:latin typeface="Times New Roman"/>
                <a:ea typeface="Times New Roman"/>
                <a:cs typeface="Times New Roman"/>
                <a:sym typeface="Times New Roman"/>
              </a:rPr>
              <a:t>Supervision | </a:t>
            </a:r>
            <a:r>
              <a:rPr lang="en-GB" sz="2667" dirty="0">
                <a:solidFill>
                  <a:srgbClr val="1155CC"/>
                </a:solidFill>
                <a:latin typeface="Times New Roman"/>
                <a:ea typeface="Times New Roman"/>
                <a:cs typeface="Times New Roman"/>
                <a:sym typeface="Times New Roman"/>
              </a:rPr>
              <a:t>Supervision des </a:t>
            </a:r>
            <a:r>
              <a:rPr lang="en-GB" sz="2667" dirty="0" err="1">
                <a:solidFill>
                  <a:srgbClr val="1155CC"/>
                </a:solidFill>
                <a:latin typeface="Times New Roman"/>
                <a:ea typeface="Times New Roman"/>
                <a:cs typeface="Times New Roman"/>
                <a:sym typeface="Times New Roman"/>
              </a:rPr>
              <a:t>aires</a:t>
            </a:r>
            <a:r>
              <a:rPr lang="en-GB" sz="2667" dirty="0">
                <a:solidFill>
                  <a:srgbClr val="1155CC"/>
                </a:solidFill>
                <a:latin typeface="Times New Roman"/>
                <a:ea typeface="Times New Roman"/>
                <a:cs typeface="Times New Roman"/>
                <a:sym typeface="Times New Roman"/>
              </a:rPr>
              <a:t> par les zones </a:t>
            </a:r>
            <a:r>
              <a:rPr lang="en-GB" sz="2667" strike="sngStrike" dirty="0">
                <a:solidFill>
                  <a:srgbClr val="FF0000"/>
                </a:solidFill>
                <a:latin typeface="Times New Roman"/>
                <a:ea typeface="Times New Roman"/>
                <a:cs typeface="Times New Roman"/>
                <a:sym typeface="Times New Roman"/>
              </a:rPr>
              <a:t>au </a:t>
            </a:r>
            <a:r>
              <a:rPr lang="en-GB" sz="2667" strike="sngStrike" dirty="0" err="1">
                <a:solidFill>
                  <a:srgbClr val="FF0000"/>
                </a:solidFill>
                <a:latin typeface="Times New Roman"/>
                <a:ea typeface="Times New Roman"/>
                <a:cs typeface="Times New Roman"/>
                <a:sym typeface="Times New Roman"/>
              </a:rPr>
              <a:t>mois</a:t>
            </a:r>
            <a:r>
              <a:rPr lang="en-GB" sz="2667" strike="sngStrike" dirty="0">
                <a:solidFill>
                  <a:srgbClr val="FF0000"/>
                </a:solidFill>
                <a:latin typeface="Times New Roman"/>
                <a:ea typeface="Times New Roman"/>
                <a:cs typeface="Times New Roman"/>
                <a:sym typeface="Times New Roman"/>
              </a:rPr>
              <a:t> de </a:t>
            </a:r>
            <a:r>
              <a:rPr lang="en-GB" sz="2667" strike="sngStrike" dirty="0" err="1">
                <a:solidFill>
                  <a:srgbClr val="FF0000"/>
                </a:solidFill>
                <a:latin typeface="Times New Roman"/>
                <a:ea typeface="Times New Roman"/>
                <a:cs typeface="Times New Roman"/>
                <a:sym typeface="Times New Roman"/>
              </a:rPr>
              <a:t>Novembre</a:t>
            </a:r>
            <a:r>
              <a:rPr lang="en-GB" sz="2667" strike="sngStrike" dirty="0">
                <a:solidFill>
                  <a:srgbClr val="FF0000"/>
                </a:solidFill>
                <a:latin typeface="Times New Roman"/>
                <a:ea typeface="Times New Roman"/>
                <a:cs typeface="Times New Roman"/>
                <a:sym typeface="Times New Roman"/>
              </a:rPr>
              <a:t> 2025</a:t>
            </a:r>
          </a:p>
          <a:p>
            <a:pPr>
              <a:buClr>
                <a:schemeClr val="dk1"/>
              </a:buClr>
              <a:buSzPts val="1100"/>
            </a:pPr>
            <a:r>
              <a:rPr lang="fr-FR" sz="2667" dirty="0">
                <a:solidFill>
                  <a:srgbClr val="FF0000"/>
                </a:solidFill>
                <a:latin typeface="Times New Roman"/>
                <a:ea typeface="Times New Roman"/>
                <a:cs typeface="Times New Roman"/>
                <a:sym typeface="Times New Roman"/>
              </a:rPr>
              <a:t>Faire les cumules de Juillet à Novembre 2025 (PASCAL, MALKA ET BIBIANE) </a:t>
            </a:r>
          </a:p>
          <a:p>
            <a:pPr>
              <a:buClr>
                <a:schemeClr val="dk1"/>
              </a:buClr>
              <a:buSzPts val="1100"/>
            </a:pPr>
            <a:endParaRPr lang="fr-FR" sz="2667" dirty="0">
              <a:solidFill>
                <a:srgbClr val="FF0000"/>
              </a:solidFill>
              <a:latin typeface="Times New Roman"/>
              <a:ea typeface="Times New Roman"/>
              <a:cs typeface="Times New Roman"/>
              <a:sym typeface="Times New Roman"/>
            </a:endParaRPr>
          </a:p>
          <a:p>
            <a:pPr>
              <a:buClr>
                <a:schemeClr val="dk1"/>
              </a:buClr>
              <a:buSzPts val="1100"/>
            </a:pPr>
            <a:r>
              <a:rPr lang="en-GB" sz="2667" dirty="0">
                <a:solidFill>
                  <a:srgbClr val="1155CC"/>
                </a:solidFill>
                <a:latin typeface="Times New Roman"/>
                <a:ea typeface="Times New Roman"/>
                <a:cs typeface="Times New Roman"/>
                <a:sym typeface="Times New Roman"/>
              </a:rPr>
              <a:t> </a:t>
            </a:r>
            <a:endParaRPr sz="2533" dirty="0">
              <a:solidFill>
                <a:srgbClr val="1155CC"/>
              </a:solidFill>
              <a:latin typeface="Times New Roman"/>
              <a:ea typeface="Times New Roman"/>
              <a:cs typeface="Times New Roman"/>
              <a:sym typeface="Times New Roman"/>
            </a:endParaRPr>
          </a:p>
        </p:txBody>
      </p:sp>
      <p:sp>
        <p:nvSpPr>
          <p:cNvPr id="342" name="Google Shape;342;g3a7c27f5d69_1_138"/>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a:buClr>
                <a:srgbClr val="000000"/>
              </a:buClr>
              <a:buSzPts val="1400"/>
            </a:pPr>
            <a:endParaRPr sz="1867">
              <a:solidFill>
                <a:srgbClr val="0070C0"/>
              </a:solidFill>
              <a:latin typeface="Times New Roman"/>
              <a:ea typeface="Times New Roman"/>
              <a:cs typeface="Times New Roman"/>
              <a:sym typeface="Times New Roman"/>
            </a:endParaRPr>
          </a:p>
        </p:txBody>
      </p:sp>
      <p:sp>
        <p:nvSpPr>
          <p:cNvPr id="343" name="Google Shape;343;g3a7c27f5d69_1_138"/>
          <p:cNvSpPr txBox="1"/>
          <p:nvPr/>
        </p:nvSpPr>
        <p:spPr>
          <a:xfrm>
            <a:off x="11658600" y="6496067"/>
            <a:ext cx="228400" cy="166000"/>
          </a:xfrm>
          <a:prstGeom prst="rect">
            <a:avLst/>
          </a:prstGeom>
          <a:noFill/>
          <a:ln>
            <a:noFill/>
          </a:ln>
        </p:spPr>
        <p:txBody>
          <a:bodyPr spcFirstLastPara="1" wrap="square" lIns="0" tIns="0" rIns="0" bIns="0" anchor="ctr" anchorCtr="0">
            <a:noAutofit/>
          </a:bodyPr>
          <a:lstStyle/>
          <a:p>
            <a:pPr algn="r">
              <a:buClr>
                <a:srgbClr val="000000"/>
              </a:buClr>
              <a:buSzPts val="900"/>
            </a:pPr>
            <a:fld id="{00000000-1234-1234-1234-123412341234}" type="slidenum">
              <a:rPr lang="en-GB" sz="1200">
                <a:solidFill>
                  <a:srgbClr val="1155CC"/>
                </a:solidFill>
                <a:latin typeface="Arial"/>
                <a:ea typeface="Arial"/>
                <a:cs typeface="Arial"/>
                <a:sym typeface="Arial"/>
              </a:rPr>
              <a:pPr algn="r">
                <a:buClr>
                  <a:srgbClr val="000000"/>
                </a:buClr>
                <a:buSzPts val="900"/>
              </a:pPr>
              <a:t>34</a:t>
            </a:fld>
            <a:endParaRPr sz="1200">
              <a:solidFill>
                <a:srgbClr val="1155CC"/>
              </a:solidFill>
              <a:latin typeface="Arial"/>
              <a:ea typeface="Arial"/>
              <a:cs typeface="Arial"/>
              <a:sym typeface="Arial"/>
            </a:endParaRPr>
          </a:p>
        </p:txBody>
      </p:sp>
      <p:grpSp>
        <p:nvGrpSpPr>
          <p:cNvPr id="344" name="Google Shape;344;g3a7c27f5d69_1_138"/>
          <p:cNvGrpSpPr/>
          <p:nvPr/>
        </p:nvGrpSpPr>
        <p:grpSpPr>
          <a:xfrm>
            <a:off x="7924530" y="6554700"/>
            <a:ext cx="2928137" cy="166000"/>
            <a:chOff x="200775" y="4647825"/>
            <a:chExt cx="2196103" cy="124500"/>
          </a:xfrm>
        </p:grpSpPr>
        <p:sp>
          <p:nvSpPr>
            <p:cNvPr id="345" name="Google Shape;345;g3a7c27f5d69_1_138"/>
            <p:cNvSpPr/>
            <p:nvPr/>
          </p:nvSpPr>
          <p:spPr>
            <a:xfrm>
              <a:off x="200775" y="4647825"/>
              <a:ext cx="697500" cy="124500"/>
            </a:xfrm>
            <a:prstGeom prst="rect">
              <a:avLst/>
            </a:prstGeom>
            <a:solidFill>
              <a:srgbClr val="93C47D"/>
            </a:solidFill>
            <a:ln>
              <a:noFill/>
            </a:ln>
          </p:spPr>
          <p:txBody>
            <a:bodyPr spcFirstLastPara="1" wrap="square" lIns="121900" tIns="121900" rIns="121900" bIns="121900" anchor="ctr" anchorCtr="0">
              <a:noAutofit/>
            </a:bodyPr>
            <a:lstStyle/>
            <a:p>
              <a:pPr algn="ctr">
                <a:buClr>
                  <a:srgbClr val="000000"/>
                </a:buClr>
                <a:buSzPts val="800"/>
              </a:pPr>
              <a:r>
                <a:rPr lang="en-GB" sz="1067">
                  <a:solidFill>
                    <a:srgbClr val="000000"/>
                  </a:solidFill>
                  <a:latin typeface="Arial"/>
                  <a:ea typeface="Arial"/>
                  <a:cs typeface="Arial"/>
                  <a:sym typeface="Arial"/>
                </a:rPr>
                <a:t>&gt;80%</a:t>
              </a:r>
              <a:endParaRPr sz="1067">
                <a:solidFill>
                  <a:srgbClr val="000000"/>
                </a:solidFill>
                <a:latin typeface="Arial"/>
                <a:ea typeface="Arial"/>
                <a:cs typeface="Arial"/>
                <a:sym typeface="Arial"/>
              </a:endParaRPr>
            </a:p>
          </p:txBody>
        </p:sp>
        <p:sp>
          <p:nvSpPr>
            <p:cNvPr id="346" name="Google Shape;346;g3a7c27f5d69_1_138"/>
            <p:cNvSpPr/>
            <p:nvPr/>
          </p:nvSpPr>
          <p:spPr>
            <a:xfrm>
              <a:off x="950078" y="4647825"/>
              <a:ext cx="697500" cy="124500"/>
            </a:xfrm>
            <a:prstGeom prst="rect">
              <a:avLst/>
            </a:prstGeom>
            <a:solidFill>
              <a:srgbClr val="FFD966"/>
            </a:solidFill>
            <a:ln>
              <a:noFill/>
            </a:ln>
          </p:spPr>
          <p:txBody>
            <a:bodyPr spcFirstLastPara="1" wrap="square" lIns="121900" tIns="121900" rIns="121900" bIns="121900" anchor="ctr" anchorCtr="0">
              <a:noAutofit/>
            </a:bodyPr>
            <a:lstStyle/>
            <a:p>
              <a:pPr algn="ctr">
                <a:buClr>
                  <a:srgbClr val="000000"/>
                </a:buClr>
                <a:buSzPts val="800"/>
              </a:pPr>
              <a:r>
                <a:rPr lang="en-GB" sz="1067">
                  <a:solidFill>
                    <a:schemeClr val="dk1"/>
                  </a:solidFill>
                  <a:latin typeface="Arial"/>
                  <a:ea typeface="Arial"/>
                  <a:cs typeface="Arial"/>
                  <a:sym typeface="Arial"/>
                </a:rPr>
                <a:t> 50% -</a:t>
              </a:r>
              <a:r>
                <a:rPr lang="en-GB" sz="1067">
                  <a:solidFill>
                    <a:srgbClr val="000000"/>
                  </a:solidFill>
                  <a:latin typeface="Arial"/>
                  <a:ea typeface="Arial"/>
                  <a:cs typeface="Arial"/>
                  <a:sym typeface="Arial"/>
                </a:rPr>
                <a:t>79%</a:t>
              </a:r>
              <a:endParaRPr sz="1067">
                <a:solidFill>
                  <a:srgbClr val="000000"/>
                </a:solidFill>
                <a:latin typeface="Arial"/>
                <a:ea typeface="Arial"/>
                <a:cs typeface="Arial"/>
                <a:sym typeface="Arial"/>
              </a:endParaRPr>
            </a:p>
          </p:txBody>
        </p:sp>
        <p:sp>
          <p:nvSpPr>
            <p:cNvPr id="347" name="Google Shape;347;g3a7c27f5d69_1_138"/>
            <p:cNvSpPr/>
            <p:nvPr/>
          </p:nvSpPr>
          <p:spPr>
            <a:xfrm>
              <a:off x="1699378" y="4647825"/>
              <a:ext cx="697500" cy="124500"/>
            </a:xfrm>
            <a:prstGeom prst="rect">
              <a:avLst/>
            </a:prstGeom>
            <a:solidFill>
              <a:srgbClr val="E06666"/>
            </a:solidFill>
            <a:ln>
              <a:noFill/>
            </a:ln>
          </p:spPr>
          <p:txBody>
            <a:bodyPr spcFirstLastPara="1" wrap="square" lIns="121900" tIns="121900" rIns="121900" bIns="121900" anchor="ctr" anchorCtr="0">
              <a:noAutofit/>
            </a:bodyPr>
            <a:lstStyle/>
            <a:p>
              <a:pPr algn="ctr">
                <a:buClr>
                  <a:srgbClr val="000000"/>
                </a:buClr>
                <a:buSzPts val="800"/>
              </a:pPr>
              <a:r>
                <a:rPr lang="en-GB" sz="1067">
                  <a:solidFill>
                    <a:srgbClr val="000000"/>
                  </a:solidFill>
                  <a:latin typeface="Arial"/>
                  <a:ea typeface="Arial"/>
                  <a:cs typeface="Arial"/>
                  <a:sym typeface="Arial"/>
                </a:rPr>
                <a:t>&lt;49%</a:t>
              </a:r>
              <a:endParaRPr sz="1067">
                <a:solidFill>
                  <a:srgbClr val="000000"/>
                </a:solidFill>
                <a:latin typeface="Arial"/>
                <a:ea typeface="Arial"/>
                <a:cs typeface="Arial"/>
                <a:sym typeface="Arial"/>
              </a:endParaRPr>
            </a:p>
          </p:txBody>
        </p:sp>
      </p:grpSp>
      <p:grpSp>
        <p:nvGrpSpPr>
          <p:cNvPr id="348" name="Google Shape;348;g3a7c27f5d69_1_138"/>
          <p:cNvGrpSpPr/>
          <p:nvPr/>
        </p:nvGrpSpPr>
        <p:grpSpPr>
          <a:xfrm>
            <a:off x="2269167" y="0"/>
            <a:ext cx="7411879" cy="198800"/>
            <a:chOff x="1701875" y="0"/>
            <a:chExt cx="5558909" cy="149100"/>
          </a:xfrm>
        </p:grpSpPr>
        <p:sp>
          <p:nvSpPr>
            <p:cNvPr id="349" name="Google Shape;349;g3a7c27f5d69_1_138"/>
            <p:cNvSpPr/>
            <p:nvPr/>
          </p:nvSpPr>
          <p:spPr>
            <a:xfrm>
              <a:off x="3098245" y="0"/>
              <a:ext cx="1369800" cy="149100"/>
            </a:xfrm>
            <a:prstGeom prst="rect">
              <a:avLst/>
            </a:prstGeom>
            <a:solidFill>
              <a:srgbClr val="EEEEEE"/>
            </a:solidFill>
            <a:ln w="9525" cap="flat" cmpd="sng">
              <a:solidFill>
                <a:srgbClr val="D9D9D9"/>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900"/>
              </a:pPr>
              <a:r>
                <a:rPr lang="en-GB" sz="1200">
                  <a:solidFill>
                    <a:schemeClr val="dk1"/>
                  </a:solidFill>
                  <a:latin typeface="Source Serif Pro"/>
                  <a:ea typeface="Source Serif Pro"/>
                  <a:cs typeface="Source Serif Pro"/>
                  <a:sym typeface="Source Serif Pro"/>
                </a:rPr>
                <a:t>Logistique</a:t>
              </a:r>
              <a:endParaRPr sz="1200">
                <a:solidFill>
                  <a:schemeClr val="dk1"/>
                </a:solidFill>
                <a:latin typeface="Source Serif Pro"/>
                <a:ea typeface="Source Serif Pro"/>
                <a:cs typeface="Source Serif Pro"/>
                <a:sym typeface="Source Serif Pro"/>
              </a:endParaRPr>
            </a:p>
          </p:txBody>
        </p:sp>
        <p:sp>
          <p:nvSpPr>
            <p:cNvPr id="350" name="Google Shape;350;g3a7c27f5d69_1_138"/>
            <p:cNvSpPr/>
            <p:nvPr/>
          </p:nvSpPr>
          <p:spPr>
            <a:xfrm>
              <a:off x="4494614" y="0"/>
              <a:ext cx="1369800" cy="149100"/>
            </a:xfrm>
            <a:prstGeom prst="rect">
              <a:avLst/>
            </a:prstGeom>
            <a:solidFill>
              <a:srgbClr val="EEEEEE"/>
            </a:solidFill>
            <a:ln w="9525" cap="flat" cmpd="sng">
              <a:solidFill>
                <a:srgbClr val="D9D9D9"/>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900"/>
              </a:pPr>
              <a:r>
                <a:rPr lang="en-GB" sz="1200">
                  <a:solidFill>
                    <a:schemeClr val="dk1"/>
                  </a:solidFill>
                  <a:latin typeface="Source Serif Pro"/>
                  <a:ea typeface="Source Serif Pro"/>
                  <a:cs typeface="Source Serif Pro"/>
                  <a:sym typeface="Source Serif Pro"/>
                </a:rPr>
                <a:t>Communication</a:t>
              </a:r>
              <a:endParaRPr sz="1200">
                <a:solidFill>
                  <a:schemeClr val="dk1"/>
                </a:solidFill>
                <a:latin typeface="Source Serif Pro"/>
                <a:ea typeface="Source Serif Pro"/>
                <a:cs typeface="Source Serif Pro"/>
                <a:sym typeface="Source Serif Pro"/>
              </a:endParaRPr>
            </a:p>
          </p:txBody>
        </p:sp>
        <p:sp>
          <p:nvSpPr>
            <p:cNvPr id="351" name="Google Shape;351;g3a7c27f5d69_1_138"/>
            <p:cNvSpPr/>
            <p:nvPr/>
          </p:nvSpPr>
          <p:spPr>
            <a:xfrm>
              <a:off x="1701875" y="0"/>
              <a:ext cx="1369800" cy="149100"/>
            </a:xfrm>
            <a:prstGeom prst="rect">
              <a:avLst/>
            </a:prstGeom>
            <a:solidFill>
              <a:srgbClr val="1255CC"/>
            </a:solidFill>
            <a:ln w="9525" cap="flat" cmpd="sng">
              <a:solidFill>
                <a:srgbClr val="D9D9D9"/>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900"/>
              </a:pPr>
              <a:r>
                <a:rPr lang="en-GB" sz="1200">
                  <a:solidFill>
                    <a:schemeClr val="lt1"/>
                  </a:solidFill>
                  <a:latin typeface="Source Serif Pro"/>
                  <a:ea typeface="Source Serif Pro"/>
                  <a:cs typeface="Source Serif Pro"/>
                  <a:sym typeface="Source Serif Pro"/>
                </a:rPr>
                <a:t>Prestation des services</a:t>
              </a:r>
              <a:endParaRPr sz="1200">
                <a:solidFill>
                  <a:schemeClr val="lt1"/>
                </a:solidFill>
                <a:latin typeface="Source Serif Pro"/>
                <a:ea typeface="Source Serif Pro"/>
                <a:cs typeface="Source Serif Pro"/>
                <a:sym typeface="Source Serif Pro"/>
              </a:endParaRPr>
            </a:p>
          </p:txBody>
        </p:sp>
        <p:sp>
          <p:nvSpPr>
            <p:cNvPr id="352" name="Google Shape;352;g3a7c27f5d69_1_138"/>
            <p:cNvSpPr/>
            <p:nvPr/>
          </p:nvSpPr>
          <p:spPr>
            <a:xfrm>
              <a:off x="5890984" y="0"/>
              <a:ext cx="1369800" cy="149100"/>
            </a:xfrm>
            <a:prstGeom prst="rect">
              <a:avLst/>
            </a:prstGeom>
            <a:solidFill>
              <a:srgbClr val="EEEEEE"/>
            </a:solidFill>
            <a:ln w="9525" cap="flat" cmpd="sng">
              <a:solidFill>
                <a:srgbClr val="D9D9D9"/>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900"/>
              </a:pPr>
              <a:r>
                <a:rPr lang="en-GB" sz="1200">
                  <a:solidFill>
                    <a:schemeClr val="dk1"/>
                  </a:solidFill>
                  <a:latin typeface="Source Serif Pro"/>
                  <a:ea typeface="Source Serif Pro"/>
                  <a:cs typeface="Source Serif Pro"/>
                  <a:sym typeface="Source Serif Pro"/>
                </a:rPr>
                <a:t>Appui S&amp;E</a:t>
              </a:r>
              <a:endParaRPr sz="1200">
                <a:solidFill>
                  <a:schemeClr val="dk1"/>
                </a:solidFill>
                <a:latin typeface="Source Serif Pro"/>
                <a:ea typeface="Source Serif Pro"/>
                <a:cs typeface="Source Serif Pro"/>
                <a:sym typeface="Source Serif Pro"/>
              </a:endParaRPr>
            </a:p>
          </p:txBody>
        </p:sp>
      </p:grpSp>
      <p:pic>
        <p:nvPicPr>
          <p:cNvPr id="353" name="Google Shape;353;g3a7c27f5d69_1_138" title="Chart"/>
          <p:cNvPicPr preferRelativeResize="0"/>
          <p:nvPr/>
        </p:nvPicPr>
        <p:blipFill rotWithShape="1">
          <a:blip r:embed="rId3">
            <a:alphaModFix/>
          </a:blip>
          <a:srcRect l="3052" r="1854" b="2467"/>
          <a:stretch/>
        </p:blipFill>
        <p:spPr>
          <a:xfrm>
            <a:off x="458600" y="1249940"/>
            <a:ext cx="11274800" cy="5081925"/>
          </a:xfrm>
          <a:prstGeom prst="rect">
            <a:avLst/>
          </a:prstGeom>
          <a:noFill/>
          <a:ln>
            <a:noFill/>
          </a:ln>
        </p:spPr>
      </p:pic>
      <p:sp>
        <p:nvSpPr>
          <p:cNvPr id="354" name="Google Shape;354;g3a7c27f5d69_1_138"/>
          <p:cNvSpPr/>
          <p:nvPr/>
        </p:nvSpPr>
        <p:spPr>
          <a:xfrm>
            <a:off x="6616533" y="1307867"/>
            <a:ext cx="5270400" cy="5024000"/>
          </a:xfrm>
          <a:prstGeom prst="rect">
            <a:avLst/>
          </a:prstGeom>
          <a:solidFill>
            <a:srgbClr val="EAE7F2">
              <a:alpha val="38040"/>
            </a:srgbClr>
          </a:solidFill>
          <a:ln w="9525" cap="flat" cmpd="sng">
            <a:solidFill>
              <a:srgbClr val="B4A7D7"/>
            </a:solidFill>
            <a:prstDash val="solid"/>
            <a:round/>
            <a:headEnd type="none" w="sm" len="sm"/>
            <a:tailEnd type="none" w="sm" len="sm"/>
          </a:ln>
          <a:effectLst>
            <a:reflection stA="0" endPos="30000" dist="38100" dir="5400000" fadeDir="5400012" sy="-100000" algn="bl" rotWithShape="0"/>
          </a:effectLst>
        </p:spPr>
        <p:txBody>
          <a:bodyPr spcFirstLastPara="1" wrap="square" lIns="91433" tIns="45700" rIns="91433" bIns="45700" anchor="ctr" anchorCtr="0">
            <a:noAutofit/>
          </a:bodyPr>
          <a:lstStyle/>
          <a:p>
            <a:pPr algn="ctr">
              <a:buClr>
                <a:srgbClr val="000000"/>
              </a:buClr>
              <a:buSzPts val="1100"/>
            </a:pPr>
            <a:endParaRPr sz="1467">
              <a:solidFill>
                <a:srgbClr val="FFFFFF"/>
              </a:solidFill>
              <a:latin typeface="Arial"/>
              <a:ea typeface="Arial"/>
              <a:cs typeface="Arial"/>
              <a:sym typeface="Arial"/>
            </a:endParaRPr>
          </a:p>
        </p:txBody>
      </p:sp>
      <p:sp>
        <p:nvSpPr>
          <p:cNvPr id="355" name="Google Shape;355;g3a7c27f5d69_1_138"/>
          <p:cNvSpPr txBox="1"/>
          <p:nvPr/>
        </p:nvSpPr>
        <p:spPr>
          <a:xfrm>
            <a:off x="267700" y="6492834"/>
            <a:ext cx="6462400" cy="164212"/>
          </a:xfrm>
          <a:prstGeom prst="rect">
            <a:avLst/>
          </a:prstGeom>
          <a:noFill/>
          <a:ln>
            <a:noFill/>
          </a:ln>
        </p:spPr>
        <p:txBody>
          <a:bodyPr spcFirstLastPara="1" wrap="square" lIns="0" tIns="0" rIns="121900" bIns="0" anchor="t" anchorCtr="0">
            <a:spAutoFit/>
          </a:bodyPr>
          <a:lstStyle/>
          <a:p>
            <a:r>
              <a:rPr lang="en-GB" sz="1067" b="1">
                <a:solidFill>
                  <a:schemeClr val="dk1"/>
                </a:solidFill>
                <a:latin typeface="Times New Roman"/>
                <a:ea typeface="Times New Roman"/>
                <a:cs typeface="Times New Roman"/>
                <a:sym typeface="Times New Roman"/>
              </a:rPr>
              <a:t>Source:</a:t>
            </a:r>
            <a:r>
              <a:rPr lang="en-GB" sz="1067">
                <a:solidFill>
                  <a:schemeClr val="dk1"/>
                </a:solidFill>
                <a:latin typeface="Times New Roman"/>
                <a:ea typeface="Times New Roman"/>
                <a:cs typeface="Times New Roman"/>
                <a:sym typeface="Times New Roman"/>
              </a:rPr>
              <a:t> Gestion PEV 2025, DHIS2 Tracker 2025</a:t>
            </a:r>
            <a:endParaRPr sz="1067">
              <a:solidFill>
                <a:schemeClr val="dk1"/>
              </a:solidFill>
              <a:latin typeface="Times New Roman"/>
              <a:ea typeface="Times New Roman"/>
              <a:cs typeface="Times New Roman"/>
              <a:sym typeface="Times New Roman"/>
            </a:endParaRPr>
          </a:p>
        </p:txBody>
      </p:sp>
      <p:sp>
        <p:nvSpPr>
          <p:cNvPr id="356" name="Google Shape;356;g3a7c27f5d69_1_138"/>
          <p:cNvSpPr txBox="1"/>
          <p:nvPr/>
        </p:nvSpPr>
        <p:spPr>
          <a:xfrm>
            <a:off x="6616533" y="1307867"/>
            <a:ext cx="5270400" cy="577200"/>
          </a:xfrm>
          <a:prstGeom prst="rect">
            <a:avLst/>
          </a:prstGeom>
          <a:noFill/>
          <a:ln>
            <a:noFill/>
          </a:ln>
        </p:spPr>
        <p:txBody>
          <a:bodyPr spcFirstLastPara="1" wrap="square" lIns="0" tIns="0" rIns="0" bIns="0" anchor="ctr" anchorCtr="0">
            <a:noAutofit/>
          </a:bodyPr>
          <a:lstStyle/>
          <a:p>
            <a:pPr algn="ctr">
              <a:buClr>
                <a:srgbClr val="000000"/>
              </a:buClr>
              <a:buSzPts val="1000"/>
            </a:pPr>
            <a:r>
              <a:rPr lang="en-GB" sz="1333" b="1">
                <a:solidFill>
                  <a:srgbClr val="FF0000"/>
                </a:solidFill>
                <a:latin typeface="Times New Roman"/>
                <a:ea typeface="Times New Roman"/>
                <a:cs typeface="Times New Roman"/>
                <a:sym typeface="Times New Roman"/>
              </a:rPr>
              <a:t>Antennes à faible performance: 23 antennes n’ont pas atteint la cible</a:t>
            </a:r>
            <a:endParaRPr sz="1333" b="1">
              <a:solidFill>
                <a:srgbClr val="FF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6309716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g3a7c27f5d69_1_151"/>
          <p:cNvSpPr txBox="1"/>
          <p:nvPr/>
        </p:nvSpPr>
        <p:spPr>
          <a:xfrm>
            <a:off x="458592" y="317941"/>
            <a:ext cx="11274800" cy="731600"/>
          </a:xfrm>
          <a:prstGeom prst="rect">
            <a:avLst/>
          </a:prstGeom>
          <a:noFill/>
          <a:ln>
            <a:noFill/>
          </a:ln>
        </p:spPr>
        <p:txBody>
          <a:bodyPr spcFirstLastPara="1" wrap="square" lIns="0" tIns="0" rIns="0" bIns="0" anchor="t" anchorCtr="0">
            <a:noAutofit/>
          </a:bodyPr>
          <a:lstStyle/>
          <a:p>
            <a:pPr>
              <a:buClr>
                <a:schemeClr val="dk1"/>
              </a:buClr>
              <a:buSzPts val="1100"/>
            </a:pPr>
            <a:r>
              <a:rPr lang="en-GB" sz="2667" b="1" dirty="0">
                <a:solidFill>
                  <a:srgbClr val="1155CC"/>
                </a:solidFill>
                <a:latin typeface="Times New Roman"/>
                <a:ea typeface="Times New Roman"/>
                <a:cs typeface="Times New Roman"/>
                <a:sym typeface="Times New Roman"/>
              </a:rPr>
              <a:t>Supervision | </a:t>
            </a:r>
            <a:r>
              <a:rPr lang="en-GB" sz="2667" dirty="0" err="1">
                <a:solidFill>
                  <a:srgbClr val="1155CC"/>
                </a:solidFill>
                <a:latin typeface="Times New Roman"/>
                <a:ea typeface="Times New Roman"/>
                <a:cs typeface="Times New Roman"/>
                <a:sym typeface="Times New Roman"/>
              </a:rPr>
              <a:t>Qualité</a:t>
            </a:r>
            <a:r>
              <a:rPr lang="en-GB" sz="2667" dirty="0">
                <a:solidFill>
                  <a:srgbClr val="1155CC"/>
                </a:solidFill>
                <a:latin typeface="Times New Roman"/>
                <a:ea typeface="Times New Roman"/>
                <a:cs typeface="Times New Roman"/>
                <a:sym typeface="Times New Roman"/>
              </a:rPr>
              <a:t> de la supervision des </a:t>
            </a:r>
            <a:r>
              <a:rPr lang="en-GB" sz="2667" dirty="0" err="1">
                <a:solidFill>
                  <a:srgbClr val="1155CC"/>
                </a:solidFill>
                <a:latin typeface="Times New Roman"/>
                <a:ea typeface="Times New Roman"/>
                <a:cs typeface="Times New Roman"/>
                <a:sym typeface="Times New Roman"/>
              </a:rPr>
              <a:t>aires</a:t>
            </a:r>
            <a:r>
              <a:rPr lang="en-GB" sz="2667" dirty="0">
                <a:solidFill>
                  <a:srgbClr val="1155CC"/>
                </a:solidFill>
                <a:latin typeface="Times New Roman"/>
                <a:ea typeface="Times New Roman"/>
                <a:cs typeface="Times New Roman"/>
                <a:sym typeface="Times New Roman"/>
              </a:rPr>
              <a:t> par les zones </a:t>
            </a:r>
            <a:r>
              <a:rPr lang="en-GB" sz="2667" strike="sngStrike" dirty="0">
                <a:solidFill>
                  <a:srgbClr val="FF0000"/>
                </a:solidFill>
                <a:latin typeface="Times New Roman"/>
                <a:ea typeface="Times New Roman"/>
                <a:cs typeface="Times New Roman"/>
                <a:sym typeface="Times New Roman"/>
              </a:rPr>
              <a:t>au </a:t>
            </a:r>
            <a:r>
              <a:rPr lang="en-GB" sz="2667" strike="sngStrike" dirty="0" err="1">
                <a:solidFill>
                  <a:srgbClr val="FF0000"/>
                </a:solidFill>
                <a:latin typeface="Times New Roman"/>
                <a:ea typeface="Times New Roman"/>
                <a:cs typeface="Times New Roman"/>
                <a:sym typeface="Times New Roman"/>
              </a:rPr>
              <a:t>mois</a:t>
            </a:r>
            <a:r>
              <a:rPr lang="en-GB" sz="2667" strike="sngStrike" dirty="0">
                <a:solidFill>
                  <a:srgbClr val="FF0000"/>
                </a:solidFill>
                <a:latin typeface="Times New Roman"/>
                <a:ea typeface="Times New Roman"/>
                <a:cs typeface="Times New Roman"/>
                <a:sym typeface="Times New Roman"/>
              </a:rPr>
              <a:t> de </a:t>
            </a:r>
            <a:r>
              <a:rPr lang="en-GB" sz="2667" strike="sngStrike" dirty="0" err="1">
                <a:solidFill>
                  <a:srgbClr val="FF0000"/>
                </a:solidFill>
                <a:latin typeface="Times New Roman"/>
                <a:ea typeface="Times New Roman"/>
                <a:cs typeface="Times New Roman"/>
                <a:sym typeface="Times New Roman"/>
              </a:rPr>
              <a:t>Novembre</a:t>
            </a:r>
            <a:r>
              <a:rPr lang="en-GB" sz="2667" strike="sngStrike" dirty="0">
                <a:solidFill>
                  <a:srgbClr val="FF0000"/>
                </a:solidFill>
                <a:latin typeface="Times New Roman"/>
                <a:ea typeface="Times New Roman"/>
                <a:cs typeface="Times New Roman"/>
                <a:sym typeface="Times New Roman"/>
              </a:rPr>
              <a:t> 2025 </a:t>
            </a:r>
            <a:r>
              <a:rPr lang="fr-FR" sz="2667" dirty="0">
                <a:solidFill>
                  <a:srgbClr val="FF0000"/>
                </a:solidFill>
                <a:latin typeface="Times New Roman"/>
                <a:ea typeface="Times New Roman"/>
                <a:cs typeface="Times New Roman"/>
                <a:sym typeface="Times New Roman"/>
              </a:rPr>
              <a:t>Faire les cumules de Juillet à Novembre 2025 (PASCAL , MALKA ET BIBIANE) </a:t>
            </a:r>
          </a:p>
          <a:p>
            <a:pPr>
              <a:buClr>
                <a:schemeClr val="dk1"/>
              </a:buClr>
              <a:buSzPts val="1100"/>
            </a:pPr>
            <a:endParaRPr sz="2533" dirty="0">
              <a:solidFill>
                <a:srgbClr val="1155CC"/>
              </a:solidFill>
              <a:latin typeface="Times New Roman"/>
              <a:ea typeface="Times New Roman"/>
              <a:cs typeface="Times New Roman"/>
              <a:sym typeface="Times New Roman"/>
            </a:endParaRPr>
          </a:p>
        </p:txBody>
      </p:sp>
      <p:sp>
        <p:nvSpPr>
          <p:cNvPr id="362" name="Google Shape;362;g3a7c27f5d69_1_151"/>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a:buClr>
                <a:srgbClr val="000000"/>
              </a:buClr>
              <a:buSzPts val="1400"/>
            </a:pPr>
            <a:endParaRPr sz="1867">
              <a:solidFill>
                <a:srgbClr val="0070C0"/>
              </a:solidFill>
              <a:latin typeface="Times New Roman"/>
              <a:ea typeface="Times New Roman"/>
              <a:cs typeface="Times New Roman"/>
              <a:sym typeface="Times New Roman"/>
            </a:endParaRPr>
          </a:p>
        </p:txBody>
      </p:sp>
      <p:sp>
        <p:nvSpPr>
          <p:cNvPr id="363" name="Google Shape;363;g3a7c27f5d69_1_151"/>
          <p:cNvSpPr txBox="1"/>
          <p:nvPr/>
        </p:nvSpPr>
        <p:spPr>
          <a:xfrm>
            <a:off x="11658600" y="6496067"/>
            <a:ext cx="228400" cy="166000"/>
          </a:xfrm>
          <a:prstGeom prst="rect">
            <a:avLst/>
          </a:prstGeom>
          <a:noFill/>
          <a:ln>
            <a:noFill/>
          </a:ln>
        </p:spPr>
        <p:txBody>
          <a:bodyPr spcFirstLastPara="1" wrap="square" lIns="0" tIns="0" rIns="0" bIns="0" anchor="ctr" anchorCtr="0">
            <a:noAutofit/>
          </a:bodyPr>
          <a:lstStyle/>
          <a:p>
            <a:pPr algn="r">
              <a:buClr>
                <a:srgbClr val="000000"/>
              </a:buClr>
              <a:buSzPts val="900"/>
            </a:pPr>
            <a:fld id="{00000000-1234-1234-1234-123412341234}" type="slidenum">
              <a:rPr lang="en-GB" sz="1200">
                <a:solidFill>
                  <a:srgbClr val="1155CC"/>
                </a:solidFill>
                <a:latin typeface="Arial"/>
                <a:ea typeface="Arial"/>
                <a:cs typeface="Arial"/>
                <a:sym typeface="Arial"/>
              </a:rPr>
              <a:pPr algn="r">
                <a:buClr>
                  <a:srgbClr val="000000"/>
                </a:buClr>
                <a:buSzPts val="900"/>
              </a:pPr>
              <a:t>35</a:t>
            </a:fld>
            <a:endParaRPr sz="1200">
              <a:solidFill>
                <a:srgbClr val="1155CC"/>
              </a:solidFill>
              <a:latin typeface="Arial"/>
              <a:ea typeface="Arial"/>
              <a:cs typeface="Arial"/>
              <a:sym typeface="Arial"/>
            </a:endParaRPr>
          </a:p>
        </p:txBody>
      </p:sp>
      <p:grpSp>
        <p:nvGrpSpPr>
          <p:cNvPr id="364" name="Google Shape;364;g3a7c27f5d69_1_151"/>
          <p:cNvGrpSpPr/>
          <p:nvPr/>
        </p:nvGrpSpPr>
        <p:grpSpPr>
          <a:xfrm>
            <a:off x="7924530" y="6554700"/>
            <a:ext cx="2928137" cy="166000"/>
            <a:chOff x="200775" y="4647825"/>
            <a:chExt cx="2196103" cy="124500"/>
          </a:xfrm>
        </p:grpSpPr>
        <p:sp>
          <p:nvSpPr>
            <p:cNvPr id="365" name="Google Shape;365;g3a7c27f5d69_1_151"/>
            <p:cNvSpPr/>
            <p:nvPr/>
          </p:nvSpPr>
          <p:spPr>
            <a:xfrm>
              <a:off x="200775" y="4647825"/>
              <a:ext cx="697500" cy="124500"/>
            </a:xfrm>
            <a:prstGeom prst="rect">
              <a:avLst/>
            </a:prstGeom>
            <a:solidFill>
              <a:srgbClr val="93C47D"/>
            </a:solidFill>
            <a:ln>
              <a:noFill/>
            </a:ln>
          </p:spPr>
          <p:txBody>
            <a:bodyPr spcFirstLastPara="1" wrap="square" lIns="121900" tIns="121900" rIns="121900" bIns="121900" anchor="ctr" anchorCtr="0">
              <a:noAutofit/>
            </a:bodyPr>
            <a:lstStyle/>
            <a:p>
              <a:pPr algn="ctr">
                <a:buClr>
                  <a:srgbClr val="000000"/>
                </a:buClr>
                <a:buSzPts val="800"/>
              </a:pPr>
              <a:r>
                <a:rPr lang="en-GB" sz="1067">
                  <a:solidFill>
                    <a:srgbClr val="000000"/>
                  </a:solidFill>
                  <a:latin typeface="Arial"/>
                  <a:ea typeface="Arial"/>
                  <a:cs typeface="Arial"/>
                  <a:sym typeface="Arial"/>
                </a:rPr>
                <a:t>&gt;80%</a:t>
              </a:r>
              <a:endParaRPr sz="1067">
                <a:solidFill>
                  <a:srgbClr val="000000"/>
                </a:solidFill>
                <a:latin typeface="Arial"/>
                <a:ea typeface="Arial"/>
                <a:cs typeface="Arial"/>
                <a:sym typeface="Arial"/>
              </a:endParaRPr>
            </a:p>
          </p:txBody>
        </p:sp>
        <p:sp>
          <p:nvSpPr>
            <p:cNvPr id="366" name="Google Shape;366;g3a7c27f5d69_1_151"/>
            <p:cNvSpPr/>
            <p:nvPr/>
          </p:nvSpPr>
          <p:spPr>
            <a:xfrm>
              <a:off x="950078" y="4647825"/>
              <a:ext cx="697500" cy="124500"/>
            </a:xfrm>
            <a:prstGeom prst="rect">
              <a:avLst/>
            </a:prstGeom>
            <a:solidFill>
              <a:srgbClr val="FFD966"/>
            </a:solidFill>
            <a:ln>
              <a:noFill/>
            </a:ln>
          </p:spPr>
          <p:txBody>
            <a:bodyPr spcFirstLastPara="1" wrap="square" lIns="121900" tIns="121900" rIns="121900" bIns="121900" anchor="ctr" anchorCtr="0">
              <a:noAutofit/>
            </a:bodyPr>
            <a:lstStyle/>
            <a:p>
              <a:pPr algn="ctr">
                <a:buClr>
                  <a:srgbClr val="000000"/>
                </a:buClr>
                <a:buSzPts val="800"/>
              </a:pPr>
              <a:r>
                <a:rPr lang="en-GB" sz="1067">
                  <a:solidFill>
                    <a:schemeClr val="dk1"/>
                  </a:solidFill>
                  <a:latin typeface="Arial"/>
                  <a:ea typeface="Arial"/>
                  <a:cs typeface="Arial"/>
                  <a:sym typeface="Arial"/>
                </a:rPr>
                <a:t> 50% -</a:t>
              </a:r>
              <a:r>
                <a:rPr lang="en-GB" sz="1067">
                  <a:solidFill>
                    <a:srgbClr val="000000"/>
                  </a:solidFill>
                  <a:latin typeface="Arial"/>
                  <a:ea typeface="Arial"/>
                  <a:cs typeface="Arial"/>
                  <a:sym typeface="Arial"/>
                </a:rPr>
                <a:t>79%</a:t>
              </a:r>
              <a:endParaRPr sz="1067">
                <a:solidFill>
                  <a:srgbClr val="000000"/>
                </a:solidFill>
                <a:latin typeface="Arial"/>
                <a:ea typeface="Arial"/>
                <a:cs typeface="Arial"/>
                <a:sym typeface="Arial"/>
              </a:endParaRPr>
            </a:p>
          </p:txBody>
        </p:sp>
        <p:sp>
          <p:nvSpPr>
            <p:cNvPr id="367" name="Google Shape;367;g3a7c27f5d69_1_151"/>
            <p:cNvSpPr/>
            <p:nvPr/>
          </p:nvSpPr>
          <p:spPr>
            <a:xfrm>
              <a:off x="1699378" y="4647825"/>
              <a:ext cx="697500" cy="124500"/>
            </a:xfrm>
            <a:prstGeom prst="rect">
              <a:avLst/>
            </a:prstGeom>
            <a:solidFill>
              <a:srgbClr val="E06666"/>
            </a:solidFill>
            <a:ln>
              <a:noFill/>
            </a:ln>
          </p:spPr>
          <p:txBody>
            <a:bodyPr spcFirstLastPara="1" wrap="square" lIns="121900" tIns="121900" rIns="121900" bIns="121900" anchor="ctr" anchorCtr="0">
              <a:noAutofit/>
            </a:bodyPr>
            <a:lstStyle/>
            <a:p>
              <a:pPr algn="ctr">
                <a:buClr>
                  <a:srgbClr val="000000"/>
                </a:buClr>
                <a:buSzPts val="800"/>
              </a:pPr>
              <a:r>
                <a:rPr lang="en-GB" sz="1067">
                  <a:solidFill>
                    <a:srgbClr val="000000"/>
                  </a:solidFill>
                  <a:latin typeface="Arial"/>
                  <a:ea typeface="Arial"/>
                  <a:cs typeface="Arial"/>
                  <a:sym typeface="Arial"/>
                </a:rPr>
                <a:t>&lt;49%</a:t>
              </a:r>
              <a:endParaRPr sz="1067">
                <a:solidFill>
                  <a:srgbClr val="000000"/>
                </a:solidFill>
                <a:latin typeface="Arial"/>
                <a:ea typeface="Arial"/>
                <a:cs typeface="Arial"/>
                <a:sym typeface="Arial"/>
              </a:endParaRPr>
            </a:p>
          </p:txBody>
        </p:sp>
      </p:grpSp>
      <p:grpSp>
        <p:nvGrpSpPr>
          <p:cNvPr id="368" name="Google Shape;368;g3a7c27f5d69_1_151"/>
          <p:cNvGrpSpPr/>
          <p:nvPr/>
        </p:nvGrpSpPr>
        <p:grpSpPr>
          <a:xfrm>
            <a:off x="2269167" y="0"/>
            <a:ext cx="7411879" cy="198800"/>
            <a:chOff x="1701875" y="0"/>
            <a:chExt cx="5558909" cy="149100"/>
          </a:xfrm>
        </p:grpSpPr>
        <p:sp>
          <p:nvSpPr>
            <p:cNvPr id="369" name="Google Shape;369;g3a7c27f5d69_1_151"/>
            <p:cNvSpPr/>
            <p:nvPr/>
          </p:nvSpPr>
          <p:spPr>
            <a:xfrm>
              <a:off x="3098245" y="0"/>
              <a:ext cx="1369800" cy="149100"/>
            </a:xfrm>
            <a:prstGeom prst="rect">
              <a:avLst/>
            </a:prstGeom>
            <a:solidFill>
              <a:srgbClr val="EEEEEE"/>
            </a:solidFill>
            <a:ln w="9525" cap="flat" cmpd="sng">
              <a:solidFill>
                <a:srgbClr val="D9D9D9"/>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900"/>
              </a:pPr>
              <a:r>
                <a:rPr lang="en-GB" sz="1200">
                  <a:solidFill>
                    <a:schemeClr val="dk1"/>
                  </a:solidFill>
                  <a:latin typeface="Source Serif Pro"/>
                  <a:ea typeface="Source Serif Pro"/>
                  <a:cs typeface="Source Serif Pro"/>
                  <a:sym typeface="Source Serif Pro"/>
                </a:rPr>
                <a:t>Logistique</a:t>
              </a:r>
              <a:endParaRPr sz="1200">
                <a:solidFill>
                  <a:schemeClr val="dk1"/>
                </a:solidFill>
                <a:latin typeface="Source Serif Pro"/>
                <a:ea typeface="Source Serif Pro"/>
                <a:cs typeface="Source Serif Pro"/>
                <a:sym typeface="Source Serif Pro"/>
              </a:endParaRPr>
            </a:p>
          </p:txBody>
        </p:sp>
        <p:sp>
          <p:nvSpPr>
            <p:cNvPr id="370" name="Google Shape;370;g3a7c27f5d69_1_151"/>
            <p:cNvSpPr/>
            <p:nvPr/>
          </p:nvSpPr>
          <p:spPr>
            <a:xfrm>
              <a:off x="4494614" y="0"/>
              <a:ext cx="1369800" cy="149100"/>
            </a:xfrm>
            <a:prstGeom prst="rect">
              <a:avLst/>
            </a:prstGeom>
            <a:solidFill>
              <a:srgbClr val="EEEEEE"/>
            </a:solidFill>
            <a:ln w="9525" cap="flat" cmpd="sng">
              <a:solidFill>
                <a:srgbClr val="D9D9D9"/>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900"/>
              </a:pPr>
              <a:r>
                <a:rPr lang="en-GB" sz="1200">
                  <a:solidFill>
                    <a:schemeClr val="dk1"/>
                  </a:solidFill>
                  <a:latin typeface="Source Serif Pro"/>
                  <a:ea typeface="Source Serif Pro"/>
                  <a:cs typeface="Source Serif Pro"/>
                  <a:sym typeface="Source Serif Pro"/>
                </a:rPr>
                <a:t>Communication</a:t>
              </a:r>
              <a:endParaRPr sz="1200">
                <a:solidFill>
                  <a:schemeClr val="dk1"/>
                </a:solidFill>
                <a:latin typeface="Source Serif Pro"/>
                <a:ea typeface="Source Serif Pro"/>
                <a:cs typeface="Source Serif Pro"/>
                <a:sym typeface="Source Serif Pro"/>
              </a:endParaRPr>
            </a:p>
          </p:txBody>
        </p:sp>
        <p:sp>
          <p:nvSpPr>
            <p:cNvPr id="371" name="Google Shape;371;g3a7c27f5d69_1_151"/>
            <p:cNvSpPr/>
            <p:nvPr/>
          </p:nvSpPr>
          <p:spPr>
            <a:xfrm>
              <a:off x="1701875" y="0"/>
              <a:ext cx="1369800" cy="149100"/>
            </a:xfrm>
            <a:prstGeom prst="rect">
              <a:avLst/>
            </a:prstGeom>
            <a:solidFill>
              <a:srgbClr val="1255CC"/>
            </a:solidFill>
            <a:ln w="9525" cap="flat" cmpd="sng">
              <a:solidFill>
                <a:srgbClr val="D9D9D9"/>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900"/>
              </a:pPr>
              <a:r>
                <a:rPr lang="en-GB" sz="1200">
                  <a:solidFill>
                    <a:schemeClr val="lt1"/>
                  </a:solidFill>
                  <a:latin typeface="Source Serif Pro"/>
                  <a:ea typeface="Source Serif Pro"/>
                  <a:cs typeface="Source Serif Pro"/>
                  <a:sym typeface="Source Serif Pro"/>
                </a:rPr>
                <a:t>Prestation des services</a:t>
              </a:r>
              <a:endParaRPr sz="1200">
                <a:solidFill>
                  <a:schemeClr val="lt1"/>
                </a:solidFill>
                <a:latin typeface="Source Serif Pro"/>
                <a:ea typeface="Source Serif Pro"/>
                <a:cs typeface="Source Serif Pro"/>
                <a:sym typeface="Source Serif Pro"/>
              </a:endParaRPr>
            </a:p>
          </p:txBody>
        </p:sp>
        <p:sp>
          <p:nvSpPr>
            <p:cNvPr id="372" name="Google Shape;372;g3a7c27f5d69_1_151"/>
            <p:cNvSpPr/>
            <p:nvPr/>
          </p:nvSpPr>
          <p:spPr>
            <a:xfrm>
              <a:off x="5890984" y="0"/>
              <a:ext cx="1369800" cy="149100"/>
            </a:xfrm>
            <a:prstGeom prst="rect">
              <a:avLst/>
            </a:prstGeom>
            <a:solidFill>
              <a:srgbClr val="EEEEEE"/>
            </a:solidFill>
            <a:ln w="9525" cap="flat" cmpd="sng">
              <a:solidFill>
                <a:srgbClr val="D9D9D9"/>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900"/>
              </a:pPr>
              <a:r>
                <a:rPr lang="en-GB" sz="1200">
                  <a:solidFill>
                    <a:schemeClr val="dk1"/>
                  </a:solidFill>
                  <a:latin typeface="Source Serif Pro"/>
                  <a:ea typeface="Source Serif Pro"/>
                  <a:cs typeface="Source Serif Pro"/>
                  <a:sym typeface="Source Serif Pro"/>
                </a:rPr>
                <a:t>Appui S&amp;E</a:t>
              </a:r>
              <a:endParaRPr sz="1200">
                <a:solidFill>
                  <a:schemeClr val="dk1"/>
                </a:solidFill>
                <a:latin typeface="Source Serif Pro"/>
                <a:ea typeface="Source Serif Pro"/>
                <a:cs typeface="Source Serif Pro"/>
                <a:sym typeface="Source Serif Pro"/>
              </a:endParaRPr>
            </a:p>
          </p:txBody>
        </p:sp>
      </p:grpSp>
      <p:pic>
        <p:nvPicPr>
          <p:cNvPr id="373" name="Google Shape;373;g3a7c27f5d69_1_151" title="Chart"/>
          <p:cNvPicPr preferRelativeResize="0"/>
          <p:nvPr/>
        </p:nvPicPr>
        <p:blipFill rotWithShape="1">
          <a:blip r:embed="rId3">
            <a:alphaModFix/>
          </a:blip>
          <a:srcRect l="2913" t="5806" r="1566" b="2467"/>
          <a:stretch/>
        </p:blipFill>
        <p:spPr>
          <a:xfrm>
            <a:off x="458600" y="1573894"/>
            <a:ext cx="11274800" cy="4757973"/>
          </a:xfrm>
          <a:prstGeom prst="rect">
            <a:avLst/>
          </a:prstGeom>
          <a:noFill/>
          <a:ln>
            <a:noFill/>
          </a:ln>
        </p:spPr>
      </p:pic>
      <p:sp>
        <p:nvSpPr>
          <p:cNvPr id="374" name="Google Shape;374;g3a7c27f5d69_1_151"/>
          <p:cNvSpPr txBox="1"/>
          <p:nvPr/>
        </p:nvSpPr>
        <p:spPr>
          <a:xfrm>
            <a:off x="267700" y="6492834"/>
            <a:ext cx="6462400" cy="164212"/>
          </a:xfrm>
          <a:prstGeom prst="rect">
            <a:avLst/>
          </a:prstGeom>
          <a:noFill/>
          <a:ln>
            <a:noFill/>
          </a:ln>
        </p:spPr>
        <p:txBody>
          <a:bodyPr spcFirstLastPara="1" wrap="square" lIns="0" tIns="0" rIns="121900" bIns="0" anchor="t" anchorCtr="0">
            <a:spAutoFit/>
          </a:bodyPr>
          <a:lstStyle/>
          <a:p>
            <a:r>
              <a:rPr lang="en-GB" sz="1067" b="1">
                <a:solidFill>
                  <a:schemeClr val="dk1"/>
                </a:solidFill>
                <a:latin typeface="Times New Roman"/>
                <a:ea typeface="Times New Roman"/>
                <a:cs typeface="Times New Roman"/>
                <a:sym typeface="Times New Roman"/>
              </a:rPr>
              <a:t>Source:</a:t>
            </a:r>
            <a:r>
              <a:rPr lang="en-GB" sz="1067">
                <a:solidFill>
                  <a:schemeClr val="dk1"/>
                </a:solidFill>
                <a:latin typeface="Times New Roman"/>
                <a:ea typeface="Times New Roman"/>
                <a:cs typeface="Times New Roman"/>
                <a:sym typeface="Times New Roman"/>
              </a:rPr>
              <a:t> Gestion PEV 2025, DHIS2 Tracker 2025</a:t>
            </a:r>
            <a:endParaRPr sz="1067">
              <a:solidFill>
                <a:schemeClr val="dk1"/>
              </a:solidFill>
              <a:latin typeface="Times New Roman"/>
              <a:ea typeface="Times New Roman"/>
              <a:cs typeface="Times New Roman"/>
              <a:sym typeface="Times New Roman"/>
            </a:endParaRPr>
          </a:p>
        </p:txBody>
      </p:sp>
      <p:sp>
        <p:nvSpPr>
          <p:cNvPr id="375" name="Google Shape;375;g3a7c27f5d69_1_151"/>
          <p:cNvSpPr txBox="1"/>
          <p:nvPr/>
        </p:nvSpPr>
        <p:spPr>
          <a:xfrm>
            <a:off x="6616600" y="1573900"/>
            <a:ext cx="5270400" cy="577200"/>
          </a:xfrm>
          <a:prstGeom prst="rect">
            <a:avLst/>
          </a:prstGeom>
          <a:noFill/>
          <a:ln>
            <a:noFill/>
          </a:ln>
        </p:spPr>
        <p:txBody>
          <a:bodyPr spcFirstLastPara="1" wrap="square" lIns="0" tIns="0" rIns="0" bIns="0" anchor="ctr" anchorCtr="0">
            <a:noAutofit/>
          </a:bodyPr>
          <a:lstStyle/>
          <a:p>
            <a:pPr algn="ctr">
              <a:buClr>
                <a:srgbClr val="000000"/>
              </a:buClr>
              <a:buSzPts val="1000"/>
            </a:pPr>
            <a:r>
              <a:rPr lang="en-GB" sz="1333" b="1">
                <a:solidFill>
                  <a:srgbClr val="FF0000"/>
                </a:solidFill>
                <a:latin typeface="Times New Roman"/>
                <a:ea typeface="Times New Roman"/>
                <a:cs typeface="Times New Roman"/>
                <a:sym typeface="Times New Roman"/>
              </a:rPr>
              <a:t>Cibles non atteints dans toutes les antennes</a:t>
            </a:r>
            <a:endParaRPr sz="1333" b="1">
              <a:solidFill>
                <a:srgbClr val="FF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8629389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g3a7c27f5d69_1_1118"/>
          <p:cNvSpPr txBox="1"/>
          <p:nvPr/>
        </p:nvSpPr>
        <p:spPr>
          <a:xfrm>
            <a:off x="458592" y="317941"/>
            <a:ext cx="11274800" cy="410433"/>
          </a:xfrm>
          <a:prstGeom prst="rect">
            <a:avLst/>
          </a:prstGeom>
          <a:noFill/>
          <a:ln>
            <a:noFill/>
          </a:ln>
        </p:spPr>
        <p:txBody>
          <a:bodyPr spcFirstLastPara="1" wrap="square" lIns="0" tIns="0" rIns="0" bIns="0" anchor="t" anchorCtr="0">
            <a:spAutoFit/>
          </a:bodyPr>
          <a:lstStyle/>
          <a:p>
            <a:pPr>
              <a:buClr>
                <a:schemeClr val="dk1"/>
              </a:buClr>
              <a:buSzPts val="1100"/>
            </a:pPr>
            <a:r>
              <a:rPr lang="en-GB" sz="2667" b="1">
                <a:solidFill>
                  <a:srgbClr val="1155CC"/>
                </a:solidFill>
                <a:latin typeface="Times New Roman"/>
                <a:ea typeface="Times New Roman"/>
                <a:cs typeface="Times New Roman"/>
                <a:sym typeface="Times New Roman"/>
              </a:rPr>
              <a:t>Réalisation des séances | </a:t>
            </a:r>
            <a:r>
              <a:rPr lang="en-GB" sz="2667">
                <a:solidFill>
                  <a:srgbClr val="1155CC"/>
                </a:solidFill>
                <a:latin typeface="Times New Roman"/>
                <a:ea typeface="Times New Roman"/>
                <a:cs typeface="Times New Roman"/>
                <a:sym typeface="Times New Roman"/>
              </a:rPr>
              <a:t>Evolution de la réalisation des séances de vaccination</a:t>
            </a:r>
            <a:endParaRPr sz="2533" b="1">
              <a:solidFill>
                <a:srgbClr val="1155CC"/>
              </a:solidFill>
              <a:latin typeface="Times New Roman"/>
              <a:ea typeface="Times New Roman"/>
              <a:cs typeface="Times New Roman"/>
              <a:sym typeface="Times New Roman"/>
            </a:endParaRPr>
          </a:p>
        </p:txBody>
      </p:sp>
      <p:sp>
        <p:nvSpPr>
          <p:cNvPr id="381" name="Google Shape;381;g3a7c27f5d69_1_1118"/>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a:buClr>
                <a:srgbClr val="000000"/>
              </a:buClr>
              <a:buSzPts val="1400"/>
            </a:pPr>
            <a:endParaRPr sz="1867">
              <a:solidFill>
                <a:srgbClr val="0070C0"/>
              </a:solidFill>
              <a:latin typeface="Times New Roman"/>
              <a:ea typeface="Times New Roman"/>
              <a:cs typeface="Times New Roman"/>
              <a:sym typeface="Times New Roman"/>
            </a:endParaRPr>
          </a:p>
        </p:txBody>
      </p:sp>
      <p:sp>
        <p:nvSpPr>
          <p:cNvPr id="382" name="Google Shape;382;g3a7c27f5d69_1_1118"/>
          <p:cNvSpPr txBox="1"/>
          <p:nvPr/>
        </p:nvSpPr>
        <p:spPr>
          <a:xfrm>
            <a:off x="11658600" y="6496067"/>
            <a:ext cx="228400" cy="166000"/>
          </a:xfrm>
          <a:prstGeom prst="rect">
            <a:avLst/>
          </a:prstGeom>
          <a:noFill/>
          <a:ln>
            <a:noFill/>
          </a:ln>
        </p:spPr>
        <p:txBody>
          <a:bodyPr spcFirstLastPara="1" wrap="square" lIns="0" tIns="0" rIns="0" bIns="0" anchor="ctr" anchorCtr="0">
            <a:noAutofit/>
          </a:bodyPr>
          <a:lstStyle/>
          <a:p>
            <a:pPr algn="r">
              <a:buClr>
                <a:srgbClr val="000000"/>
              </a:buClr>
              <a:buSzPts val="900"/>
            </a:pPr>
            <a:fld id="{00000000-1234-1234-1234-123412341234}" type="slidenum">
              <a:rPr lang="en-GB" sz="1200">
                <a:solidFill>
                  <a:srgbClr val="1155CC"/>
                </a:solidFill>
                <a:latin typeface="Arial"/>
                <a:ea typeface="Arial"/>
                <a:cs typeface="Arial"/>
                <a:sym typeface="Arial"/>
              </a:rPr>
              <a:pPr algn="r">
                <a:buClr>
                  <a:srgbClr val="000000"/>
                </a:buClr>
                <a:buSzPts val="900"/>
              </a:pPr>
              <a:t>36</a:t>
            </a:fld>
            <a:endParaRPr sz="1200">
              <a:solidFill>
                <a:srgbClr val="1155CC"/>
              </a:solidFill>
              <a:latin typeface="Arial"/>
              <a:ea typeface="Arial"/>
              <a:cs typeface="Arial"/>
              <a:sym typeface="Arial"/>
            </a:endParaRPr>
          </a:p>
        </p:txBody>
      </p:sp>
      <p:grpSp>
        <p:nvGrpSpPr>
          <p:cNvPr id="383" name="Google Shape;383;g3a7c27f5d69_1_1118"/>
          <p:cNvGrpSpPr/>
          <p:nvPr/>
        </p:nvGrpSpPr>
        <p:grpSpPr>
          <a:xfrm>
            <a:off x="2269167" y="0"/>
            <a:ext cx="7411879" cy="198800"/>
            <a:chOff x="1701875" y="0"/>
            <a:chExt cx="5558909" cy="149100"/>
          </a:xfrm>
        </p:grpSpPr>
        <p:sp>
          <p:nvSpPr>
            <p:cNvPr id="384" name="Google Shape;384;g3a7c27f5d69_1_1118"/>
            <p:cNvSpPr/>
            <p:nvPr/>
          </p:nvSpPr>
          <p:spPr>
            <a:xfrm>
              <a:off x="3098245" y="0"/>
              <a:ext cx="1369800" cy="149100"/>
            </a:xfrm>
            <a:prstGeom prst="rect">
              <a:avLst/>
            </a:prstGeom>
            <a:solidFill>
              <a:srgbClr val="EEEEEE"/>
            </a:solidFill>
            <a:ln w="9525" cap="flat" cmpd="sng">
              <a:solidFill>
                <a:srgbClr val="D9D9D9"/>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900"/>
              </a:pPr>
              <a:r>
                <a:rPr lang="en-GB" sz="1200">
                  <a:solidFill>
                    <a:schemeClr val="dk1"/>
                  </a:solidFill>
                  <a:latin typeface="Source Serif Pro"/>
                  <a:ea typeface="Source Serif Pro"/>
                  <a:cs typeface="Source Serif Pro"/>
                  <a:sym typeface="Source Serif Pro"/>
                </a:rPr>
                <a:t>Logistique</a:t>
              </a:r>
              <a:endParaRPr sz="1200">
                <a:solidFill>
                  <a:schemeClr val="dk1"/>
                </a:solidFill>
                <a:latin typeface="Source Serif Pro"/>
                <a:ea typeface="Source Serif Pro"/>
                <a:cs typeface="Source Serif Pro"/>
                <a:sym typeface="Source Serif Pro"/>
              </a:endParaRPr>
            </a:p>
          </p:txBody>
        </p:sp>
        <p:sp>
          <p:nvSpPr>
            <p:cNvPr id="385" name="Google Shape;385;g3a7c27f5d69_1_1118"/>
            <p:cNvSpPr/>
            <p:nvPr/>
          </p:nvSpPr>
          <p:spPr>
            <a:xfrm>
              <a:off x="4494614" y="0"/>
              <a:ext cx="1369800" cy="149100"/>
            </a:xfrm>
            <a:prstGeom prst="rect">
              <a:avLst/>
            </a:prstGeom>
            <a:solidFill>
              <a:srgbClr val="EEEEEE"/>
            </a:solidFill>
            <a:ln w="9525" cap="flat" cmpd="sng">
              <a:solidFill>
                <a:srgbClr val="D9D9D9"/>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900"/>
              </a:pPr>
              <a:r>
                <a:rPr lang="en-GB" sz="1200">
                  <a:solidFill>
                    <a:schemeClr val="dk1"/>
                  </a:solidFill>
                  <a:latin typeface="Source Serif Pro"/>
                  <a:ea typeface="Source Serif Pro"/>
                  <a:cs typeface="Source Serif Pro"/>
                  <a:sym typeface="Source Serif Pro"/>
                </a:rPr>
                <a:t>Communication</a:t>
              </a:r>
              <a:endParaRPr sz="1200">
                <a:solidFill>
                  <a:schemeClr val="dk1"/>
                </a:solidFill>
                <a:latin typeface="Source Serif Pro"/>
                <a:ea typeface="Source Serif Pro"/>
                <a:cs typeface="Source Serif Pro"/>
                <a:sym typeface="Source Serif Pro"/>
              </a:endParaRPr>
            </a:p>
          </p:txBody>
        </p:sp>
        <p:sp>
          <p:nvSpPr>
            <p:cNvPr id="386" name="Google Shape;386;g3a7c27f5d69_1_1118"/>
            <p:cNvSpPr/>
            <p:nvPr/>
          </p:nvSpPr>
          <p:spPr>
            <a:xfrm>
              <a:off x="1701875" y="0"/>
              <a:ext cx="1369800" cy="149100"/>
            </a:xfrm>
            <a:prstGeom prst="rect">
              <a:avLst/>
            </a:prstGeom>
            <a:solidFill>
              <a:srgbClr val="1255CC"/>
            </a:solidFill>
            <a:ln w="9525" cap="flat" cmpd="sng">
              <a:solidFill>
                <a:srgbClr val="D9D9D9"/>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900"/>
              </a:pPr>
              <a:r>
                <a:rPr lang="en-GB" sz="1200">
                  <a:solidFill>
                    <a:schemeClr val="lt1"/>
                  </a:solidFill>
                  <a:latin typeface="Source Serif Pro"/>
                  <a:ea typeface="Source Serif Pro"/>
                  <a:cs typeface="Source Serif Pro"/>
                  <a:sym typeface="Source Serif Pro"/>
                </a:rPr>
                <a:t>Prestation des services</a:t>
              </a:r>
              <a:endParaRPr sz="1200">
                <a:solidFill>
                  <a:schemeClr val="lt1"/>
                </a:solidFill>
                <a:latin typeface="Source Serif Pro"/>
                <a:ea typeface="Source Serif Pro"/>
                <a:cs typeface="Source Serif Pro"/>
                <a:sym typeface="Source Serif Pro"/>
              </a:endParaRPr>
            </a:p>
          </p:txBody>
        </p:sp>
        <p:sp>
          <p:nvSpPr>
            <p:cNvPr id="387" name="Google Shape;387;g3a7c27f5d69_1_1118"/>
            <p:cNvSpPr/>
            <p:nvPr/>
          </p:nvSpPr>
          <p:spPr>
            <a:xfrm>
              <a:off x="5890984" y="0"/>
              <a:ext cx="1369800" cy="149100"/>
            </a:xfrm>
            <a:prstGeom prst="rect">
              <a:avLst/>
            </a:prstGeom>
            <a:solidFill>
              <a:srgbClr val="EEEEEE"/>
            </a:solidFill>
            <a:ln w="9525" cap="flat" cmpd="sng">
              <a:solidFill>
                <a:srgbClr val="D9D9D9"/>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900"/>
              </a:pPr>
              <a:r>
                <a:rPr lang="en-GB" sz="1200">
                  <a:solidFill>
                    <a:schemeClr val="dk1"/>
                  </a:solidFill>
                  <a:latin typeface="Source Serif Pro"/>
                  <a:ea typeface="Source Serif Pro"/>
                  <a:cs typeface="Source Serif Pro"/>
                  <a:sym typeface="Source Serif Pro"/>
                </a:rPr>
                <a:t>Appui S&amp;E</a:t>
              </a:r>
              <a:endParaRPr sz="1200">
                <a:solidFill>
                  <a:schemeClr val="dk1"/>
                </a:solidFill>
                <a:latin typeface="Source Serif Pro"/>
                <a:ea typeface="Source Serif Pro"/>
                <a:cs typeface="Source Serif Pro"/>
                <a:sym typeface="Source Serif Pro"/>
              </a:endParaRPr>
            </a:p>
          </p:txBody>
        </p:sp>
      </p:grpSp>
      <p:sp>
        <p:nvSpPr>
          <p:cNvPr id="388" name="Google Shape;388;g3a7c27f5d69_1_1118"/>
          <p:cNvSpPr txBox="1"/>
          <p:nvPr/>
        </p:nvSpPr>
        <p:spPr>
          <a:xfrm>
            <a:off x="360933" y="1501467"/>
            <a:ext cx="6114000" cy="290000"/>
          </a:xfrm>
          <a:prstGeom prst="rect">
            <a:avLst/>
          </a:prstGeom>
          <a:noFill/>
          <a:ln>
            <a:noFill/>
          </a:ln>
        </p:spPr>
        <p:txBody>
          <a:bodyPr spcFirstLastPara="1" wrap="square" lIns="0" tIns="0" rIns="0" bIns="0" anchor="t" anchorCtr="0">
            <a:noAutofit/>
          </a:bodyPr>
          <a:lstStyle/>
          <a:p>
            <a:pPr>
              <a:buClr>
                <a:srgbClr val="000000"/>
              </a:buClr>
              <a:buSzPts val="1200"/>
            </a:pPr>
            <a:r>
              <a:rPr lang="en-GB" sz="1600" b="1">
                <a:solidFill>
                  <a:schemeClr val="dk1"/>
                </a:solidFill>
                <a:latin typeface="Times New Roman"/>
                <a:ea typeface="Times New Roman"/>
                <a:cs typeface="Times New Roman"/>
                <a:sym typeface="Times New Roman"/>
              </a:rPr>
              <a:t>Réalisation des séances (%), </a:t>
            </a:r>
            <a:r>
              <a:rPr lang="en-GB" sz="1600">
                <a:solidFill>
                  <a:schemeClr val="dk1"/>
                </a:solidFill>
                <a:latin typeface="Times New Roman"/>
                <a:ea typeface="Times New Roman"/>
                <a:cs typeface="Times New Roman"/>
                <a:sym typeface="Times New Roman"/>
              </a:rPr>
              <a:t>Juillet - Novembre</a:t>
            </a:r>
            <a:endParaRPr sz="1600" i="1">
              <a:solidFill>
                <a:schemeClr val="dk1"/>
              </a:solidFill>
              <a:latin typeface="Times New Roman"/>
              <a:ea typeface="Times New Roman"/>
              <a:cs typeface="Times New Roman"/>
              <a:sym typeface="Times New Roman"/>
            </a:endParaRPr>
          </a:p>
        </p:txBody>
      </p:sp>
      <p:cxnSp>
        <p:nvCxnSpPr>
          <p:cNvPr id="389" name="Google Shape;389;g3a7c27f5d69_1_1118"/>
          <p:cNvCxnSpPr/>
          <p:nvPr/>
        </p:nvCxnSpPr>
        <p:spPr>
          <a:xfrm>
            <a:off x="360933" y="1791467"/>
            <a:ext cx="8212800" cy="0"/>
          </a:xfrm>
          <a:prstGeom prst="straightConnector1">
            <a:avLst/>
          </a:prstGeom>
          <a:noFill/>
          <a:ln w="9525" cap="flat" cmpd="sng">
            <a:solidFill>
              <a:schemeClr val="dk1"/>
            </a:solidFill>
            <a:prstDash val="solid"/>
            <a:round/>
            <a:headEnd type="none" w="sm" len="sm"/>
            <a:tailEnd type="none" w="sm" len="sm"/>
          </a:ln>
        </p:spPr>
      </p:cxnSp>
      <p:sp>
        <p:nvSpPr>
          <p:cNvPr id="390" name="Google Shape;390;g3a7c27f5d69_1_1118"/>
          <p:cNvSpPr txBox="1"/>
          <p:nvPr/>
        </p:nvSpPr>
        <p:spPr>
          <a:xfrm>
            <a:off x="267700" y="6492834"/>
            <a:ext cx="6462400" cy="164212"/>
          </a:xfrm>
          <a:prstGeom prst="rect">
            <a:avLst/>
          </a:prstGeom>
          <a:noFill/>
          <a:ln>
            <a:noFill/>
          </a:ln>
        </p:spPr>
        <p:txBody>
          <a:bodyPr spcFirstLastPara="1" wrap="square" lIns="0" tIns="0" rIns="121900" bIns="0" anchor="t" anchorCtr="0">
            <a:spAutoFit/>
          </a:bodyPr>
          <a:lstStyle/>
          <a:p>
            <a:r>
              <a:rPr lang="en-GB" sz="1067" b="1">
                <a:solidFill>
                  <a:schemeClr val="dk1"/>
                </a:solidFill>
                <a:latin typeface="Times New Roman"/>
                <a:ea typeface="Times New Roman"/>
                <a:cs typeface="Times New Roman"/>
                <a:sym typeface="Times New Roman"/>
              </a:rPr>
              <a:t>Source:</a:t>
            </a:r>
            <a:r>
              <a:rPr lang="en-GB" sz="1067">
                <a:solidFill>
                  <a:schemeClr val="dk1"/>
                </a:solidFill>
                <a:latin typeface="Times New Roman"/>
                <a:ea typeface="Times New Roman"/>
                <a:cs typeface="Times New Roman"/>
                <a:sym typeface="Times New Roman"/>
              </a:rPr>
              <a:t> Gestion PEV 2025, DHIS2 Tracker 2025</a:t>
            </a:r>
            <a:endParaRPr sz="1067">
              <a:solidFill>
                <a:schemeClr val="dk1"/>
              </a:solidFill>
              <a:latin typeface="Times New Roman"/>
              <a:ea typeface="Times New Roman"/>
              <a:cs typeface="Times New Roman"/>
              <a:sym typeface="Times New Roman"/>
            </a:endParaRPr>
          </a:p>
        </p:txBody>
      </p:sp>
      <p:pic>
        <p:nvPicPr>
          <p:cNvPr id="391" name="Google Shape;391;g3a7c27f5d69_1_1118" title="Chart"/>
          <p:cNvPicPr preferRelativeResize="0"/>
          <p:nvPr/>
        </p:nvPicPr>
        <p:blipFill rotWithShape="1">
          <a:blip r:embed="rId3">
            <a:alphaModFix/>
          </a:blip>
          <a:srcRect l="5807" t="23652" r="2876"/>
          <a:stretch/>
        </p:blipFill>
        <p:spPr>
          <a:xfrm>
            <a:off x="360934" y="2043751"/>
            <a:ext cx="8212628" cy="4245883"/>
          </a:xfrm>
          <a:prstGeom prst="rect">
            <a:avLst/>
          </a:prstGeom>
          <a:noFill/>
          <a:ln>
            <a:noFill/>
          </a:ln>
        </p:spPr>
      </p:pic>
      <p:sp>
        <p:nvSpPr>
          <p:cNvPr id="392" name="Google Shape;392;g3a7c27f5d69_1_1118"/>
          <p:cNvSpPr txBox="1"/>
          <p:nvPr/>
        </p:nvSpPr>
        <p:spPr>
          <a:xfrm>
            <a:off x="8026133" y="4215009"/>
            <a:ext cx="941200" cy="205121"/>
          </a:xfrm>
          <a:prstGeom prst="rect">
            <a:avLst/>
          </a:prstGeom>
          <a:noFill/>
          <a:ln>
            <a:noFill/>
          </a:ln>
        </p:spPr>
        <p:txBody>
          <a:bodyPr spcFirstLastPara="1" wrap="square" lIns="0" tIns="0" rIns="121900" bIns="0" anchor="t" anchorCtr="0">
            <a:spAutoFit/>
          </a:bodyPr>
          <a:lstStyle/>
          <a:p>
            <a:r>
              <a:rPr lang="en-GB" sz="1333">
                <a:solidFill>
                  <a:srgbClr val="329B55"/>
                </a:solidFill>
                <a:latin typeface="Source Serif Pro"/>
                <a:ea typeface="Source Serif Pro"/>
                <a:cs typeface="Source Serif Pro"/>
                <a:sym typeface="Source Serif Pro"/>
              </a:rPr>
              <a:t>(+7 pts)</a:t>
            </a:r>
            <a:endParaRPr sz="1333">
              <a:solidFill>
                <a:srgbClr val="329B55"/>
              </a:solidFill>
              <a:latin typeface="Source Serif Pro"/>
              <a:ea typeface="Source Serif Pro"/>
              <a:cs typeface="Source Serif Pro"/>
              <a:sym typeface="Source Serif Pro"/>
            </a:endParaRPr>
          </a:p>
        </p:txBody>
      </p:sp>
      <p:sp>
        <p:nvSpPr>
          <p:cNvPr id="393" name="Google Shape;393;g3a7c27f5d69_1_1118"/>
          <p:cNvSpPr/>
          <p:nvPr/>
        </p:nvSpPr>
        <p:spPr>
          <a:xfrm rot="-5400000">
            <a:off x="8258633" y="2326800"/>
            <a:ext cx="4719600" cy="3148000"/>
          </a:xfrm>
          <a:prstGeom prst="round2SameRect">
            <a:avLst>
              <a:gd name="adj1" fmla="val 8141"/>
              <a:gd name="adj2" fmla="val 0"/>
            </a:avLst>
          </a:prstGeom>
          <a:solidFill>
            <a:srgbClr val="EFE3D3"/>
          </a:solidFill>
          <a:ln>
            <a:noFill/>
          </a:ln>
        </p:spPr>
        <p:txBody>
          <a:bodyPr spcFirstLastPara="1" wrap="square" lIns="121900" tIns="60933" rIns="121900" bIns="60933" anchor="ctr" anchorCtr="0">
            <a:noAutofit/>
          </a:bodyPr>
          <a:lstStyle/>
          <a:p>
            <a:pPr algn="ctr">
              <a:buClr>
                <a:srgbClr val="000000"/>
              </a:buClr>
              <a:buSzPts val="1600"/>
            </a:pPr>
            <a:endParaRPr sz="2133">
              <a:solidFill>
                <a:srgbClr val="FFFFFF"/>
              </a:solidFill>
              <a:latin typeface="Arial"/>
              <a:ea typeface="Arial"/>
              <a:cs typeface="Arial"/>
              <a:sym typeface="Arial"/>
            </a:endParaRPr>
          </a:p>
        </p:txBody>
      </p:sp>
      <p:sp>
        <p:nvSpPr>
          <p:cNvPr id="394" name="Google Shape;394;g3a7c27f5d69_1_1118"/>
          <p:cNvSpPr txBox="1"/>
          <p:nvPr/>
        </p:nvSpPr>
        <p:spPr>
          <a:xfrm>
            <a:off x="9215433" y="2053801"/>
            <a:ext cx="2806000" cy="3693278"/>
          </a:xfrm>
          <a:prstGeom prst="rect">
            <a:avLst/>
          </a:prstGeom>
          <a:noFill/>
          <a:ln>
            <a:noFill/>
          </a:ln>
        </p:spPr>
        <p:txBody>
          <a:bodyPr spcFirstLastPara="1" wrap="square" lIns="121900" tIns="121900" rIns="121900" bIns="121900" anchor="t" anchorCtr="0">
            <a:spAutoFit/>
          </a:bodyPr>
          <a:lstStyle/>
          <a:p>
            <a:pPr marL="609585" indent="-406390">
              <a:buClr>
                <a:schemeClr val="dk1"/>
              </a:buClr>
              <a:buSzPts val="1200"/>
              <a:buChar char="●"/>
            </a:pPr>
            <a:r>
              <a:rPr lang="en-GB" sz="1600">
                <a:solidFill>
                  <a:schemeClr val="dk1"/>
                </a:solidFill>
                <a:latin typeface="Times New Roman"/>
                <a:ea typeface="Times New Roman"/>
                <a:cs typeface="Times New Roman"/>
                <a:sym typeface="Times New Roman"/>
              </a:rPr>
              <a:t>La réalisation des séances de vaccination s’est améliorée de </a:t>
            </a:r>
            <a:r>
              <a:rPr lang="en-GB" sz="1600" b="1">
                <a:solidFill>
                  <a:schemeClr val="dk1"/>
                </a:solidFill>
                <a:latin typeface="Times New Roman"/>
                <a:ea typeface="Times New Roman"/>
                <a:cs typeface="Times New Roman"/>
                <a:sym typeface="Times New Roman"/>
              </a:rPr>
              <a:t>+7 pts depuis juillet</a:t>
            </a:r>
            <a:r>
              <a:rPr lang="en-GB" sz="1600">
                <a:solidFill>
                  <a:schemeClr val="dk1"/>
                </a:solidFill>
                <a:latin typeface="Times New Roman"/>
                <a:ea typeface="Times New Roman"/>
                <a:cs typeface="Times New Roman"/>
                <a:sym typeface="Times New Roman"/>
              </a:rPr>
              <a:t> avec une performance </a:t>
            </a:r>
            <a:r>
              <a:rPr lang="en-GB" sz="1600" b="1">
                <a:solidFill>
                  <a:schemeClr val="dk1"/>
                </a:solidFill>
                <a:latin typeface="Times New Roman"/>
                <a:ea typeface="Times New Roman"/>
                <a:cs typeface="Times New Roman"/>
                <a:sym typeface="Times New Roman"/>
              </a:rPr>
              <a:t>des séances avancées supérieure à celle des séances fixes</a:t>
            </a:r>
            <a:endParaRPr sz="1600">
              <a:solidFill>
                <a:schemeClr val="dk1"/>
              </a:solidFill>
              <a:latin typeface="Times New Roman"/>
              <a:ea typeface="Times New Roman"/>
              <a:cs typeface="Times New Roman"/>
              <a:sym typeface="Times New Roman"/>
            </a:endParaRPr>
          </a:p>
          <a:p>
            <a:pPr marL="609585" indent="-406390">
              <a:buClr>
                <a:schemeClr val="dk1"/>
              </a:buClr>
              <a:buSzPts val="1200"/>
              <a:buFont typeface="Times New Roman"/>
              <a:buChar char="●"/>
            </a:pPr>
            <a:r>
              <a:rPr lang="en-GB" sz="1600">
                <a:solidFill>
                  <a:schemeClr val="dk1"/>
                </a:solidFill>
                <a:latin typeface="Times New Roman"/>
                <a:ea typeface="Times New Roman"/>
                <a:cs typeface="Times New Roman"/>
                <a:sym typeface="Times New Roman"/>
              </a:rPr>
              <a:t>Toutefois, le niveau reste </a:t>
            </a:r>
            <a:r>
              <a:rPr lang="en-GB" sz="1600" b="1">
                <a:solidFill>
                  <a:schemeClr val="dk1"/>
                </a:solidFill>
                <a:latin typeface="Times New Roman"/>
                <a:ea typeface="Times New Roman"/>
                <a:cs typeface="Times New Roman"/>
                <a:sym typeface="Times New Roman"/>
              </a:rPr>
              <a:t>insuffisant pour entraîner une amélioration significative de la couverture vaccinale</a:t>
            </a:r>
            <a:endParaRPr sz="160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2471660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g3a7c27f5d69_1_662"/>
          <p:cNvSpPr txBox="1"/>
          <p:nvPr/>
        </p:nvSpPr>
        <p:spPr>
          <a:xfrm>
            <a:off x="458592" y="143773"/>
            <a:ext cx="11274800" cy="731600"/>
          </a:xfrm>
          <a:prstGeom prst="rect">
            <a:avLst/>
          </a:prstGeom>
          <a:noFill/>
          <a:ln>
            <a:noFill/>
          </a:ln>
        </p:spPr>
        <p:txBody>
          <a:bodyPr spcFirstLastPara="1" wrap="square" lIns="0" tIns="0" rIns="0" bIns="0" anchor="t" anchorCtr="0">
            <a:noAutofit/>
          </a:bodyPr>
          <a:lstStyle/>
          <a:p>
            <a:pPr>
              <a:buClr>
                <a:schemeClr val="dk1"/>
              </a:buClr>
              <a:buSzPts val="1100"/>
            </a:pPr>
            <a:r>
              <a:rPr lang="en-GB" sz="2667" b="1" dirty="0" err="1">
                <a:solidFill>
                  <a:srgbClr val="1155CC"/>
                </a:solidFill>
                <a:latin typeface="Times New Roman"/>
                <a:ea typeface="Times New Roman"/>
                <a:cs typeface="Times New Roman"/>
                <a:sym typeface="Times New Roman"/>
              </a:rPr>
              <a:t>Réalisation</a:t>
            </a:r>
            <a:r>
              <a:rPr lang="en-GB" sz="2667" b="1" dirty="0">
                <a:solidFill>
                  <a:srgbClr val="1155CC"/>
                </a:solidFill>
                <a:latin typeface="Times New Roman"/>
                <a:ea typeface="Times New Roman"/>
                <a:cs typeface="Times New Roman"/>
                <a:sym typeface="Times New Roman"/>
              </a:rPr>
              <a:t> des séances | </a:t>
            </a:r>
            <a:r>
              <a:rPr lang="en-GB" sz="2667" dirty="0" err="1">
                <a:solidFill>
                  <a:srgbClr val="1155CC"/>
                </a:solidFill>
                <a:latin typeface="Times New Roman"/>
                <a:ea typeface="Times New Roman"/>
                <a:cs typeface="Times New Roman"/>
                <a:sym typeface="Times New Roman"/>
              </a:rPr>
              <a:t>Réalisation</a:t>
            </a:r>
            <a:r>
              <a:rPr lang="en-GB" sz="2667" dirty="0">
                <a:solidFill>
                  <a:srgbClr val="1155CC"/>
                </a:solidFill>
                <a:latin typeface="Times New Roman"/>
                <a:ea typeface="Times New Roman"/>
                <a:cs typeface="Times New Roman"/>
                <a:sym typeface="Times New Roman"/>
              </a:rPr>
              <a:t> des séances de vaccination </a:t>
            </a:r>
            <a:r>
              <a:rPr lang="en-GB" sz="2667" strike="sngStrike" dirty="0">
                <a:solidFill>
                  <a:srgbClr val="FF0000"/>
                </a:solidFill>
                <a:latin typeface="Times New Roman"/>
                <a:ea typeface="Times New Roman"/>
                <a:cs typeface="Times New Roman"/>
                <a:sym typeface="Times New Roman"/>
              </a:rPr>
              <a:t>au </a:t>
            </a:r>
            <a:r>
              <a:rPr lang="en-GB" sz="2667" strike="sngStrike" dirty="0" err="1">
                <a:solidFill>
                  <a:srgbClr val="FF0000"/>
                </a:solidFill>
                <a:latin typeface="Times New Roman"/>
                <a:ea typeface="Times New Roman"/>
                <a:cs typeface="Times New Roman"/>
                <a:sym typeface="Times New Roman"/>
              </a:rPr>
              <a:t>mois</a:t>
            </a:r>
            <a:r>
              <a:rPr lang="en-GB" sz="2667" strike="sngStrike" dirty="0">
                <a:solidFill>
                  <a:srgbClr val="FF0000"/>
                </a:solidFill>
                <a:latin typeface="Times New Roman"/>
                <a:ea typeface="Times New Roman"/>
                <a:cs typeface="Times New Roman"/>
                <a:sym typeface="Times New Roman"/>
              </a:rPr>
              <a:t> de </a:t>
            </a:r>
            <a:r>
              <a:rPr lang="en-GB" sz="2667" strike="sngStrike" dirty="0" err="1">
                <a:solidFill>
                  <a:srgbClr val="FF0000"/>
                </a:solidFill>
                <a:latin typeface="Times New Roman"/>
                <a:ea typeface="Times New Roman"/>
                <a:cs typeface="Times New Roman"/>
                <a:sym typeface="Times New Roman"/>
              </a:rPr>
              <a:t>Novembre</a:t>
            </a:r>
            <a:r>
              <a:rPr lang="en-GB" sz="2667" strike="sngStrike" dirty="0">
                <a:solidFill>
                  <a:srgbClr val="FF0000"/>
                </a:solidFill>
                <a:latin typeface="Times New Roman"/>
                <a:ea typeface="Times New Roman"/>
                <a:cs typeface="Times New Roman"/>
                <a:sym typeface="Times New Roman"/>
              </a:rPr>
              <a:t> 2025 </a:t>
            </a:r>
            <a:r>
              <a:rPr lang="fr-FR" sz="2667" dirty="0">
                <a:solidFill>
                  <a:srgbClr val="FF0000"/>
                </a:solidFill>
                <a:latin typeface="Times New Roman"/>
                <a:ea typeface="Times New Roman"/>
                <a:cs typeface="Times New Roman"/>
                <a:sym typeface="Times New Roman"/>
              </a:rPr>
              <a:t>Faire les cumules de Janvier à Novembre 2025 (PASCAL, MALKA ET BIBIANE) </a:t>
            </a:r>
          </a:p>
          <a:p>
            <a:pPr>
              <a:buClr>
                <a:schemeClr val="dk1"/>
              </a:buClr>
              <a:buSzPts val="1100"/>
            </a:pPr>
            <a:endParaRPr sz="2533" b="1" dirty="0">
              <a:solidFill>
                <a:srgbClr val="1155CC"/>
              </a:solidFill>
              <a:latin typeface="Times New Roman"/>
              <a:ea typeface="Times New Roman"/>
              <a:cs typeface="Times New Roman"/>
              <a:sym typeface="Times New Roman"/>
            </a:endParaRPr>
          </a:p>
          <a:p>
            <a:pPr>
              <a:buClr>
                <a:schemeClr val="dk1"/>
              </a:buClr>
              <a:buSzPts val="1100"/>
            </a:pPr>
            <a:endParaRPr sz="2533" dirty="0">
              <a:solidFill>
                <a:srgbClr val="1155CC"/>
              </a:solidFill>
              <a:latin typeface="Times New Roman"/>
              <a:ea typeface="Times New Roman"/>
              <a:cs typeface="Times New Roman"/>
              <a:sym typeface="Times New Roman"/>
            </a:endParaRPr>
          </a:p>
        </p:txBody>
      </p:sp>
      <p:sp>
        <p:nvSpPr>
          <p:cNvPr id="400" name="Google Shape;400;g3a7c27f5d69_1_662"/>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a:buClr>
                <a:srgbClr val="000000"/>
              </a:buClr>
              <a:buSzPts val="1400"/>
            </a:pPr>
            <a:endParaRPr sz="1867">
              <a:solidFill>
                <a:srgbClr val="0070C0"/>
              </a:solidFill>
              <a:latin typeface="Times New Roman"/>
              <a:ea typeface="Times New Roman"/>
              <a:cs typeface="Times New Roman"/>
              <a:sym typeface="Times New Roman"/>
            </a:endParaRPr>
          </a:p>
        </p:txBody>
      </p:sp>
      <p:sp>
        <p:nvSpPr>
          <p:cNvPr id="401" name="Google Shape;401;g3a7c27f5d69_1_662"/>
          <p:cNvSpPr txBox="1"/>
          <p:nvPr/>
        </p:nvSpPr>
        <p:spPr>
          <a:xfrm>
            <a:off x="11658600" y="6496067"/>
            <a:ext cx="228400" cy="166000"/>
          </a:xfrm>
          <a:prstGeom prst="rect">
            <a:avLst/>
          </a:prstGeom>
          <a:noFill/>
          <a:ln>
            <a:noFill/>
          </a:ln>
        </p:spPr>
        <p:txBody>
          <a:bodyPr spcFirstLastPara="1" wrap="square" lIns="0" tIns="0" rIns="0" bIns="0" anchor="ctr" anchorCtr="0">
            <a:noAutofit/>
          </a:bodyPr>
          <a:lstStyle/>
          <a:p>
            <a:pPr algn="r">
              <a:buClr>
                <a:srgbClr val="000000"/>
              </a:buClr>
              <a:buSzPts val="900"/>
            </a:pPr>
            <a:fld id="{00000000-1234-1234-1234-123412341234}" type="slidenum">
              <a:rPr lang="en-GB" sz="1200">
                <a:solidFill>
                  <a:srgbClr val="1155CC"/>
                </a:solidFill>
                <a:latin typeface="Arial"/>
                <a:ea typeface="Arial"/>
                <a:cs typeface="Arial"/>
                <a:sym typeface="Arial"/>
              </a:rPr>
              <a:pPr algn="r">
                <a:buClr>
                  <a:srgbClr val="000000"/>
                </a:buClr>
                <a:buSzPts val="900"/>
              </a:pPr>
              <a:t>37</a:t>
            </a:fld>
            <a:endParaRPr sz="1200">
              <a:solidFill>
                <a:srgbClr val="1155CC"/>
              </a:solidFill>
              <a:latin typeface="Arial"/>
              <a:ea typeface="Arial"/>
              <a:cs typeface="Arial"/>
              <a:sym typeface="Arial"/>
            </a:endParaRPr>
          </a:p>
        </p:txBody>
      </p:sp>
      <p:grpSp>
        <p:nvGrpSpPr>
          <p:cNvPr id="402" name="Google Shape;402;g3a7c27f5d69_1_662"/>
          <p:cNvGrpSpPr/>
          <p:nvPr/>
        </p:nvGrpSpPr>
        <p:grpSpPr>
          <a:xfrm>
            <a:off x="7924530" y="6554700"/>
            <a:ext cx="2928137" cy="166000"/>
            <a:chOff x="200775" y="4647825"/>
            <a:chExt cx="2196103" cy="124500"/>
          </a:xfrm>
        </p:grpSpPr>
        <p:sp>
          <p:nvSpPr>
            <p:cNvPr id="403" name="Google Shape;403;g3a7c27f5d69_1_662"/>
            <p:cNvSpPr/>
            <p:nvPr/>
          </p:nvSpPr>
          <p:spPr>
            <a:xfrm>
              <a:off x="200775" y="4647825"/>
              <a:ext cx="697500" cy="124500"/>
            </a:xfrm>
            <a:prstGeom prst="rect">
              <a:avLst/>
            </a:prstGeom>
            <a:solidFill>
              <a:srgbClr val="93C47D"/>
            </a:solidFill>
            <a:ln>
              <a:noFill/>
            </a:ln>
          </p:spPr>
          <p:txBody>
            <a:bodyPr spcFirstLastPara="1" wrap="square" lIns="121900" tIns="121900" rIns="121900" bIns="121900" anchor="ctr" anchorCtr="0">
              <a:noAutofit/>
            </a:bodyPr>
            <a:lstStyle/>
            <a:p>
              <a:pPr algn="ctr">
                <a:buClr>
                  <a:srgbClr val="000000"/>
                </a:buClr>
                <a:buSzPts val="800"/>
              </a:pPr>
              <a:r>
                <a:rPr lang="en-GB" sz="1067">
                  <a:solidFill>
                    <a:srgbClr val="000000"/>
                  </a:solidFill>
                  <a:latin typeface="Arial"/>
                  <a:ea typeface="Arial"/>
                  <a:cs typeface="Arial"/>
                  <a:sym typeface="Arial"/>
                </a:rPr>
                <a:t>&gt;80%</a:t>
              </a:r>
              <a:endParaRPr sz="1067">
                <a:solidFill>
                  <a:srgbClr val="000000"/>
                </a:solidFill>
                <a:latin typeface="Arial"/>
                <a:ea typeface="Arial"/>
                <a:cs typeface="Arial"/>
                <a:sym typeface="Arial"/>
              </a:endParaRPr>
            </a:p>
          </p:txBody>
        </p:sp>
        <p:sp>
          <p:nvSpPr>
            <p:cNvPr id="404" name="Google Shape;404;g3a7c27f5d69_1_662"/>
            <p:cNvSpPr/>
            <p:nvPr/>
          </p:nvSpPr>
          <p:spPr>
            <a:xfrm>
              <a:off x="950078" y="4647825"/>
              <a:ext cx="697500" cy="124500"/>
            </a:xfrm>
            <a:prstGeom prst="rect">
              <a:avLst/>
            </a:prstGeom>
            <a:solidFill>
              <a:srgbClr val="FFD966"/>
            </a:solidFill>
            <a:ln>
              <a:noFill/>
            </a:ln>
          </p:spPr>
          <p:txBody>
            <a:bodyPr spcFirstLastPara="1" wrap="square" lIns="121900" tIns="121900" rIns="121900" bIns="121900" anchor="ctr" anchorCtr="0">
              <a:noAutofit/>
            </a:bodyPr>
            <a:lstStyle/>
            <a:p>
              <a:pPr algn="ctr">
                <a:buClr>
                  <a:srgbClr val="000000"/>
                </a:buClr>
                <a:buSzPts val="800"/>
              </a:pPr>
              <a:r>
                <a:rPr lang="en-GB" sz="1067">
                  <a:solidFill>
                    <a:schemeClr val="dk1"/>
                  </a:solidFill>
                  <a:latin typeface="Arial"/>
                  <a:ea typeface="Arial"/>
                  <a:cs typeface="Arial"/>
                  <a:sym typeface="Arial"/>
                </a:rPr>
                <a:t> 50% -</a:t>
              </a:r>
              <a:r>
                <a:rPr lang="en-GB" sz="1067">
                  <a:solidFill>
                    <a:srgbClr val="000000"/>
                  </a:solidFill>
                  <a:latin typeface="Arial"/>
                  <a:ea typeface="Arial"/>
                  <a:cs typeface="Arial"/>
                  <a:sym typeface="Arial"/>
                </a:rPr>
                <a:t>79%</a:t>
              </a:r>
              <a:endParaRPr sz="1067">
                <a:solidFill>
                  <a:srgbClr val="000000"/>
                </a:solidFill>
                <a:latin typeface="Arial"/>
                <a:ea typeface="Arial"/>
                <a:cs typeface="Arial"/>
                <a:sym typeface="Arial"/>
              </a:endParaRPr>
            </a:p>
          </p:txBody>
        </p:sp>
        <p:sp>
          <p:nvSpPr>
            <p:cNvPr id="405" name="Google Shape;405;g3a7c27f5d69_1_662"/>
            <p:cNvSpPr/>
            <p:nvPr/>
          </p:nvSpPr>
          <p:spPr>
            <a:xfrm>
              <a:off x="1699378" y="4647825"/>
              <a:ext cx="697500" cy="124500"/>
            </a:xfrm>
            <a:prstGeom prst="rect">
              <a:avLst/>
            </a:prstGeom>
            <a:solidFill>
              <a:srgbClr val="E06666"/>
            </a:solidFill>
            <a:ln>
              <a:noFill/>
            </a:ln>
          </p:spPr>
          <p:txBody>
            <a:bodyPr spcFirstLastPara="1" wrap="square" lIns="121900" tIns="121900" rIns="121900" bIns="121900" anchor="ctr" anchorCtr="0">
              <a:noAutofit/>
            </a:bodyPr>
            <a:lstStyle/>
            <a:p>
              <a:pPr algn="ctr">
                <a:buClr>
                  <a:srgbClr val="000000"/>
                </a:buClr>
                <a:buSzPts val="800"/>
              </a:pPr>
              <a:r>
                <a:rPr lang="en-GB" sz="1067">
                  <a:solidFill>
                    <a:srgbClr val="000000"/>
                  </a:solidFill>
                  <a:latin typeface="Arial"/>
                  <a:ea typeface="Arial"/>
                  <a:cs typeface="Arial"/>
                  <a:sym typeface="Arial"/>
                </a:rPr>
                <a:t>&lt;49%</a:t>
              </a:r>
              <a:endParaRPr sz="1067">
                <a:solidFill>
                  <a:srgbClr val="000000"/>
                </a:solidFill>
                <a:latin typeface="Arial"/>
                <a:ea typeface="Arial"/>
                <a:cs typeface="Arial"/>
                <a:sym typeface="Arial"/>
              </a:endParaRPr>
            </a:p>
          </p:txBody>
        </p:sp>
      </p:grpSp>
      <p:grpSp>
        <p:nvGrpSpPr>
          <p:cNvPr id="406" name="Google Shape;406;g3a7c27f5d69_1_662"/>
          <p:cNvGrpSpPr/>
          <p:nvPr/>
        </p:nvGrpSpPr>
        <p:grpSpPr>
          <a:xfrm>
            <a:off x="2269167" y="0"/>
            <a:ext cx="7411879" cy="198800"/>
            <a:chOff x="1701875" y="0"/>
            <a:chExt cx="5558909" cy="149100"/>
          </a:xfrm>
        </p:grpSpPr>
        <p:sp>
          <p:nvSpPr>
            <p:cNvPr id="407" name="Google Shape;407;g3a7c27f5d69_1_662"/>
            <p:cNvSpPr/>
            <p:nvPr/>
          </p:nvSpPr>
          <p:spPr>
            <a:xfrm>
              <a:off x="3098245" y="0"/>
              <a:ext cx="1369800" cy="149100"/>
            </a:xfrm>
            <a:prstGeom prst="rect">
              <a:avLst/>
            </a:prstGeom>
            <a:solidFill>
              <a:srgbClr val="EEEEEE"/>
            </a:solidFill>
            <a:ln w="9525" cap="flat" cmpd="sng">
              <a:solidFill>
                <a:srgbClr val="D9D9D9"/>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900"/>
              </a:pPr>
              <a:r>
                <a:rPr lang="en-GB" sz="1200">
                  <a:solidFill>
                    <a:schemeClr val="dk1"/>
                  </a:solidFill>
                  <a:latin typeface="Source Serif Pro"/>
                  <a:ea typeface="Source Serif Pro"/>
                  <a:cs typeface="Source Serif Pro"/>
                  <a:sym typeface="Source Serif Pro"/>
                </a:rPr>
                <a:t>Logistique</a:t>
              </a:r>
              <a:endParaRPr sz="1200">
                <a:solidFill>
                  <a:schemeClr val="dk1"/>
                </a:solidFill>
                <a:latin typeface="Source Serif Pro"/>
                <a:ea typeface="Source Serif Pro"/>
                <a:cs typeface="Source Serif Pro"/>
                <a:sym typeface="Source Serif Pro"/>
              </a:endParaRPr>
            </a:p>
          </p:txBody>
        </p:sp>
        <p:sp>
          <p:nvSpPr>
            <p:cNvPr id="408" name="Google Shape;408;g3a7c27f5d69_1_662"/>
            <p:cNvSpPr/>
            <p:nvPr/>
          </p:nvSpPr>
          <p:spPr>
            <a:xfrm>
              <a:off x="4494614" y="0"/>
              <a:ext cx="1369800" cy="149100"/>
            </a:xfrm>
            <a:prstGeom prst="rect">
              <a:avLst/>
            </a:prstGeom>
            <a:solidFill>
              <a:srgbClr val="EEEEEE"/>
            </a:solidFill>
            <a:ln w="9525" cap="flat" cmpd="sng">
              <a:solidFill>
                <a:srgbClr val="D9D9D9"/>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900"/>
              </a:pPr>
              <a:r>
                <a:rPr lang="en-GB" sz="1200">
                  <a:solidFill>
                    <a:schemeClr val="dk1"/>
                  </a:solidFill>
                  <a:latin typeface="Source Serif Pro"/>
                  <a:ea typeface="Source Serif Pro"/>
                  <a:cs typeface="Source Serif Pro"/>
                  <a:sym typeface="Source Serif Pro"/>
                </a:rPr>
                <a:t>Communication</a:t>
              </a:r>
              <a:endParaRPr sz="1200">
                <a:solidFill>
                  <a:schemeClr val="dk1"/>
                </a:solidFill>
                <a:latin typeface="Source Serif Pro"/>
                <a:ea typeface="Source Serif Pro"/>
                <a:cs typeface="Source Serif Pro"/>
                <a:sym typeface="Source Serif Pro"/>
              </a:endParaRPr>
            </a:p>
          </p:txBody>
        </p:sp>
        <p:sp>
          <p:nvSpPr>
            <p:cNvPr id="409" name="Google Shape;409;g3a7c27f5d69_1_662"/>
            <p:cNvSpPr/>
            <p:nvPr/>
          </p:nvSpPr>
          <p:spPr>
            <a:xfrm>
              <a:off x="1701875" y="0"/>
              <a:ext cx="1369800" cy="149100"/>
            </a:xfrm>
            <a:prstGeom prst="rect">
              <a:avLst/>
            </a:prstGeom>
            <a:solidFill>
              <a:srgbClr val="1255CC"/>
            </a:solidFill>
            <a:ln w="9525" cap="flat" cmpd="sng">
              <a:solidFill>
                <a:srgbClr val="D9D9D9"/>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900"/>
              </a:pPr>
              <a:r>
                <a:rPr lang="en-GB" sz="1200">
                  <a:solidFill>
                    <a:schemeClr val="lt1"/>
                  </a:solidFill>
                  <a:latin typeface="Source Serif Pro"/>
                  <a:ea typeface="Source Serif Pro"/>
                  <a:cs typeface="Source Serif Pro"/>
                  <a:sym typeface="Source Serif Pro"/>
                </a:rPr>
                <a:t>Prestation des services</a:t>
              </a:r>
              <a:endParaRPr sz="1200">
                <a:solidFill>
                  <a:schemeClr val="lt1"/>
                </a:solidFill>
                <a:latin typeface="Source Serif Pro"/>
                <a:ea typeface="Source Serif Pro"/>
                <a:cs typeface="Source Serif Pro"/>
                <a:sym typeface="Source Serif Pro"/>
              </a:endParaRPr>
            </a:p>
          </p:txBody>
        </p:sp>
        <p:sp>
          <p:nvSpPr>
            <p:cNvPr id="410" name="Google Shape;410;g3a7c27f5d69_1_662"/>
            <p:cNvSpPr/>
            <p:nvPr/>
          </p:nvSpPr>
          <p:spPr>
            <a:xfrm>
              <a:off x="5890984" y="0"/>
              <a:ext cx="1369800" cy="149100"/>
            </a:xfrm>
            <a:prstGeom prst="rect">
              <a:avLst/>
            </a:prstGeom>
            <a:solidFill>
              <a:srgbClr val="EEEEEE"/>
            </a:solidFill>
            <a:ln w="9525" cap="flat" cmpd="sng">
              <a:solidFill>
                <a:srgbClr val="D9D9D9"/>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900"/>
              </a:pPr>
              <a:r>
                <a:rPr lang="en-GB" sz="1200">
                  <a:solidFill>
                    <a:schemeClr val="dk1"/>
                  </a:solidFill>
                  <a:latin typeface="Source Serif Pro"/>
                  <a:ea typeface="Source Serif Pro"/>
                  <a:cs typeface="Source Serif Pro"/>
                  <a:sym typeface="Source Serif Pro"/>
                </a:rPr>
                <a:t>Appui S&amp;E</a:t>
              </a:r>
              <a:endParaRPr sz="1200">
                <a:solidFill>
                  <a:schemeClr val="dk1"/>
                </a:solidFill>
                <a:latin typeface="Source Serif Pro"/>
                <a:ea typeface="Source Serif Pro"/>
                <a:cs typeface="Source Serif Pro"/>
                <a:sym typeface="Source Serif Pro"/>
              </a:endParaRPr>
            </a:p>
          </p:txBody>
        </p:sp>
      </p:grpSp>
      <p:pic>
        <p:nvPicPr>
          <p:cNvPr id="411" name="Google Shape;411;g3a7c27f5d69_1_662" title="Chart"/>
          <p:cNvPicPr preferRelativeResize="0"/>
          <p:nvPr/>
        </p:nvPicPr>
        <p:blipFill rotWithShape="1">
          <a:blip r:embed="rId3">
            <a:alphaModFix/>
          </a:blip>
          <a:srcRect/>
          <a:stretch/>
        </p:blipFill>
        <p:spPr>
          <a:xfrm>
            <a:off x="203201" y="1392649"/>
            <a:ext cx="11530199" cy="5066983"/>
          </a:xfrm>
          <a:prstGeom prst="rect">
            <a:avLst/>
          </a:prstGeom>
          <a:noFill/>
          <a:ln>
            <a:noFill/>
          </a:ln>
        </p:spPr>
      </p:pic>
      <p:pic>
        <p:nvPicPr>
          <p:cNvPr id="412" name="Google Shape;412;g3a7c27f5d69_1_662" title="Chart"/>
          <p:cNvPicPr preferRelativeResize="0"/>
          <p:nvPr/>
        </p:nvPicPr>
        <p:blipFill rotWithShape="1">
          <a:blip r:embed="rId4">
            <a:alphaModFix/>
          </a:blip>
          <a:srcRect l="2985" r="1939" b="2524"/>
          <a:stretch/>
        </p:blipFill>
        <p:spPr>
          <a:xfrm>
            <a:off x="458600" y="1307867"/>
            <a:ext cx="11274800" cy="5079643"/>
          </a:xfrm>
          <a:prstGeom prst="rect">
            <a:avLst/>
          </a:prstGeom>
          <a:noFill/>
          <a:ln>
            <a:noFill/>
          </a:ln>
        </p:spPr>
      </p:pic>
      <p:sp>
        <p:nvSpPr>
          <p:cNvPr id="413" name="Google Shape;413;g3a7c27f5d69_1_662"/>
          <p:cNvSpPr/>
          <p:nvPr/>
        </p:nvSpPr>
        <p:spPr>
          <a:xfrm>
            <a:off x="982000" y="1307867"/>
            <a:ext cx="10751200" cy="5024000"/>
          </a:xfrm>
          <a:prstGeom prst="rect">
            <a:avLst/>
          </a:prstGeom>
          <a:solidFill>
            <a:srgbClr val="EAE7F2">
              <a:alpha val="38040"/>
            </a:srgbClr>
          </a:solidFill>
          <a:ln w="9525" cap="flat" cmpd="sng">
            <a:solidFill>
              <a:srgbClr val="B4A7D7"/>
            </a:solidFill>
            <a:prstDash val="solid"/>
            <a:round/>
            <a:headEnd type="none" w="sm" len="sm"/>
            <a:tailEnd type="none" w="sm" len="sm"/>
          </a:ln>
          <a:effectLst>
            <a:reflection stA="0" endPos="30000" dist="38100" dir="5400000" fadeDir="5400012" sy="-100000" algn="bl" rotWithShape="0"/>
          </a:effectLst>
        </p:spPr>
        <p:txBody>
          <a:bodyPr spcFirstLastPara="1" wrap="square" lIns="91433" tIns="45700" rIns="91433" bIns="45700" anchor="ctr" anchorCtr="0">
            <a:noAutofit/>
          </a:bodyPr>
          <a:lstStyle/>
          <a:p>
            <a:pPr algn="ctr">
              <a:buClr>
                <a:srgbClr val="000000"/>
              </a:buClr>
              <a:buSzPts val="1100"/>
            </a:pPr>
            <a:endParaRPr sz="1467">
              <a:solidFill>
                <a:srgbClr val="FFFFFF"/>
              </a:solidFill>
              <a:latin typeface="Arial"/>
              <a:ea typeface="Arial"/>
              <a:cs typeface="Arial"/>
              <a:sym typeface="Arial"/>
            </a:endParaRPr>
          </a:p>
        </p:txBody>
      </p:sp>
      <p:sp>
        <p:nvSpPr>
          <p:cNvPr id="414" name="Google Shape;414;g3a7c27f5d69_1_662"/>
          <p:cNvSpPr txBox="1"/>
          <p:nvPr/>
        </p:nvSpPr>
        <p:spPr>
          <a:xfrm>
            <a:off x="267700" y="6492834"/>
            <a:ext cx="6462400" cy="164212"/>
          </a:xfrm>
          <a:prstGeom prst="rect">
            <a:avLst/>
          </a:prstGeom>
          <a:noFill/>
          <a:ln>
            <a:noFill/>
          </a:ln>
        </p:spPr>
        <p:txBody>
          <a:bodyPr spcFirstLastPara="1" wrap="square" lIns="0" tIns="0" rIns="121900" bIns="0" anchor="t" anchorCtr="0">
            <a:spAutoFit/>
          </a:bodyPr>
          <a:lstStyle/>
          <a:p>
            <a:r>
              <a:rPr lang="en-GB" sz="1067" b="1">
                <a:solidFill>
                  <a:schemeClr val="dk1"/>
                </a:solidFill>
                <a:latin typeface="Times New Roman"/>
                <a:ea typeface="Times New Roman"/>
                <a:cs typeface="Times New Roman"/>
                <a:sym typeface="Times New Roman"/>
              </a:rPr>
              <a:t>Source:</a:t>
            </a:r>
            <a:r>
              <a:rPr lang="en-GB" sz="1067">
                <a:solidFill>
                  <a:schemeClr val="dk1"/>
                </a:solidFill>
                <a:latin typeface="Times New Roman"/>
                <a:ea typeface="Times New Roman"/>
                <a:cs typeface="Times New Roman"/>
                <a:sym typeface="Times New Roman"/>
              </a:rPr>
              <a:t> Gestion PEV 2025, DHIS2 Tracker 2025</a:t>
            </a:r>
            <a:endParaRPr sz="1067">
              <a:solidFill>
                <a:schemeClr val="dk1"/>
              </a:solidFill>
              <a:latin typeface="Times New Roman"/>
              <a:ea typeface="Times New Roman"/>
              <a:cs typeface="Times New Roman"/>
              <a:sym typeface="Times New Roman"/>
            </a:endParaRPr>
          </a:p>
        </p:txBody>
      </p:sp>
      <p:sp>
        <p:nvSpPr>
          <p:cNvPr id="415" name="Google Shape;415;g3a7c27f5d69_1_662"/>
          <p:cNvSpPr txBox="1"/>
          <p:nvPr/>
        </p:nvSpPr>
        <p:spPr>
          <a:xfrm>
            <a:off x="6616600" y="1307867"/>
            <a:ext cx="5116800" cy="577200"/>
          </a:xfrm>
          <a:prstGeom prst="rect">
            <a:avLst/>
          </a:prstGeom>
          <a:noFill/>
          <a:ln>
            <a:noFill/>
          </a:ln>
        </p:spPr>
        <p:txBody>
          <a:bodyPr spcFirstLastPara="1" wrap="square" lIns="0" tIns="0" rIns="0" bIns="0" anchor="ctr" anchorCtr="0">
            <a:noAutofit/>
          </a:bodyPr>
          <a:lstStyle/>
          <a:p>
            <a:pPr algn="ctr">
              <a:buClr>
                <a:schemeClr val="dk1"/>
              </a:buClr>
              <a:buSzPts val="1000"/>
            </a:pPr>
            <a:r>
              <a:rPr lang="en-GB" sz="1333" b="1">
                <a:solidFill>
                  <a:srgbClr val="FF0000"/>
                </a:solidFill>
                <a:latin typeface="Times New Roman"/>
                <a:ea typeface="Times New Roman"/>
                <a:cs typeface="Times New Roman"/>
                <a:sym typeface="Times New Roman"/>
              </a:rPr>
              <a:t>Antennes à faible performance: 49 antennes n’ont pas atteint la cible</a:t>
            </a:r>
            <a:endParaRPr sz="1333" b="1">
              <a:solidFill>
                <a:srgbClr val="FF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9629716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0" name="Google Shape;420;g3a7c27f5d69_1_612"/>
          <p:cNvSpPr txBox="1"/>
          <p:nvPr/>
        </p:nvSpPr>
        <p:spPr>
          <a:xfrm>
            <a:off x="458592" y="317942"/>
            <a:ext cx="11274800" cy="779572"/>
          </a:xfrm>
          <a:prstGeom prst="rect">
            <a:avLst/>
          </a:prstGeom>
          <a:noFill/>
          <a:ln>
            <a:noFill/>
          </a:ln>
        </p:spPr>
        <p:txBody>
          <a:bodyPr spcFirstLastPara="1" wrap="square" lIns="0" tIns="0" rIns="0" bIns="0" anchor="t" anchorCtr="0">
            <a:spAutoFit/>
          </a:bodyPr>
          <a:lstStyle/>
          <a:p>
            <a:pPr>
              <a:buClr>
                <a:schemeClr val="dk1"/>
              </a:buClr>
              <a:buSzPts val="1100"/>
            </a:pPr>
            <a:r>
              <a:rPr lang="en-GB" sz="2533" b="1" strike="sngStrike" dirty="0">
                <a:solidFill>
                  <a:srgbClr val="1155CC"/>
                </a:solidFill>
                <a:latin typeface="Times New Roman"/>
                <a:ea typeface="Times New Roman"/>
                <a:cs typeface="Times New Roman"/>
                <a:sym typeface="Times New Roman"/>
              </a:rPr>
              <a:t>Formation des IT | </a:t>
            </a:r>
            <a:r>
              <a:rPr lang="en-GB" sz="2533" strike="sngStrike" dirty="0">
                <a:solidFill>
                  <a:srgbClr val="1155CC"/>
                </a:solidFill>
                <a:latin typeface="Times New Roman"/>
                <a:ea typeface="Times New Roman"/>
                <a:cs typeface="Times New Roman"/>
                <a:sym typeface="Times New Roman"/>
              </a:rPr>
              <a:t>Evolution de la formation des Its</a:t>
            </a:r>
            <a:r>
              <a:rPr lang="en-GB" sz="2533" dirty="0">
                <a:solidFill>
                  <a:srgbClr val="1155CC"/>
                </a:solidFill>
                <a:latin typeface="Times New Roman"/>
                <a:ea typeface="Times New Roman"/>
                <a:cs typeface="Times New Roman"/>
                <a:sym typeface="Times New Roman"/>
              </a:rPr>
              <a:t> </a:t>
            </a:r>
            <a:r>
              <a:rPr lang="en-GB" sz="2533" dirty="0">
                <a:solidFill>
                  <a:srgbClr val="FF0000"/>
                </a:solidFill>
                <a:latin typeface="Times New Roman"/>
                <a:ea typeface="Times New Roman"/>
                <a:cs typeface="Times New Roman"/>
                <a:sym typeface="Times New Roman"/>
              </a:rPr>
              <a:t>Proportion des ITs </a:t>
            </a:r>
            <a:r>
              <a:rPr lang="en-GB" sz="2533" dirty="0" err="1">
                <a:solidFill>
                  <a:srgbClr val="FF0000"/>
                </a:solidFill>
                <a:latin typeface="Times New Roman"/>
                <a:ea typeface="Times New Roman"/>
                <a:cs typeface="Times New Roman"/>
                <a:sym typeface="Times New Roman"/>
              </a:rPr>
              <a:t>visités</a:t>
            </a:r>
            <a:r>
              <a:rPr lang="en-GB" sz="2533" dirty="0">
                <a:solidFill>
                  <a:srgbClr val="FF0000"/>
                </a:solidFill>
                <a:latin typeface="Times New Roman"/>
                <a:ea typeface="Times New Roman"/>
                <a:cs typeface="Times New Roman"/>
                <a:sym typeface="Times New Roman"/>
              </a:rPr>
              <a:t> par structures </a:t>
            </a:r>
            <a:r>
              <a:rPr lang="en-GB" sz="2533" dirty="0" err="1">
                <a:solidFill>
                  <a:srgbClr val="FF0000"/>
                </a:solidFill>
                <a:latin typeface="Times New Roman"/>
                <a:ea typeface="Times New Roman"/>
                <a:cs typeface="Times New Roman"/>
                <a:sym typeface="Times New Roman"/>
              </a:rPr>
              <a:t>ont</a:t>
            </a:r>
            <a:r>
              <a:rPr lang="en-GB" sz="2533" dirty="0">
                <a:solidFill>
                  <a:srgbClr val="FF0000"/>
                </a:solidFill>
                <a:latin typeface="Times New Roman"/>
                <a:ea typeface="Times New Roman"/>
                <a:cs typeface="Times New Roman"/>
                <a:sym typeface="Times New Roman"/>
              </a:rPr>
              <a:t> </a:t>
            </a:r>
            <a:r>
              <a:rPr lang="en-GB" sz="2533" dirty="0" err="1">
                <a:solidFill>
                  <a:srgbClr val="FF0000"/>
                </a:solidFill>
                <a:latin typeface="Times New Roman"/>
                <a:ea typeface="Times New Roman"/>
                <a:cs typeface="Times New Roman"/>
                <a:sym typeface="Times New Roman"/>
              </a:rPr>
              <a:t>été</a:t>
            </a:r>
            <a:r>
              <a:rPr lang="en-GB" sz="2533" dirty="0">
                <a:solidFill>
                  <a:srgbClr val="FF0000"/>
                </a:solidFill>
                <a:latin typeface="Times New Roman"/>
                <a:ea typeface="Times New Roman"/>
                <a:cs typeface="Times New Roman"/>
                <a:sym typeface="Times New Roman"/>
              </a:rPr>
              <a:t> </a:t>
            </a:r>
            <a:r>
              <a:rPr lang="en-GB" sz="2533" dirty="0" err="1">
                <a:solidFill>
                  <a:srgbClr val="FF0000"/>
                </a:solidFill>
                <a:latin typeface="Times New Roman"/>
                <a:ea typeface="Times New Roman"/>
                <a:cs typeface="Times New Roman"/>
                <a:sym typeface="Times New Roman"/>
              </a:rPr>
              <a:t>formés</a:t>
            </a:r>
            <a:r>
              <a:rPr lang="en-GB" sz="2533" dirty="0">
                <a:solidFill>
                  <a:srgbClr val="FF0000"/>
                </a:solidFill>
                <a:latin typeface="Times New Roman"/>
                <a:ea typeface="Times New Roman"/>
                <a:cs typeface="Times New Roman"/>
                <a:sym typeface="Times New Roman"/>
              </a:rPr>
              <a:t> </a:t>
            </a:r>
            <a:r>
              <a:rPr lang="en-GB" sz="2533" dirty="0" err="1">
                <a:solidFill>
                  <a:srgbClr val="FF0000"/>
                </a:solidFill>
                <a:latin typeface="Times New Roman"/>
                <a:ea typeface="Times New Roman"/>
                <a:cs typeface="Times New Roman"/>
                <a:sym typeface="Times New Roman"/>
              </a:rPr>
              <a:t>Juillet</a:t>
            </a:r>
            <a:r>
              <a:rPr lang="en-GB" sz="2533" dirty="0">
                <a:solidFill>
                  <a:srgbClr val="FF0000"/>
                </a:solidFill>
                <a:latin typeface="Times New Roman"/>
                <a:ea typeface="Times New Roman"/>
                <a:cs typeface="Times New Roman"/>
                <a:sym typeface="Times New Roman"/>
              </a:rPr>
              <a:t> à </a:t>
            </a:r>
            <a:r>
              <a:rPr lang="en-GB" sz="2533" dirty="0" err="1">
                <a:solidFill>
                  <a:srgbClr val="FF0000"/>
                </a:solidFill>
                <a:latin typeface="Times New Roman"/>
                <a:ea typeface="Times New Roman"/>
                <a:cs typeface="Times New Roman"/>
                <a:sym typeface="Times New Roman"/>
              </a:rPr>
              <a:t>Novembre</a:t>
            </a:r>
            <a:endParaRPr sz="2533" dirty="0">
              <a:solidFill>
                <a:srgbClr val="FF0000"/>
              </a:solidFill>
              <a:latin typeface="Times New Roman"/>
              <a:ea typeface="Times New Roman"/>
              <a:cs typeface="Times New Roman"/>
              <a:sym typeface="Times New Roman"/>
            </a:endParaRPr>
          </a:p>
        </p:txBody>
      </p:sp>
      <p:sp>
        <p:nvSpPr>
          <p:cNvPr id="421" name="Google Shape;421;g3a7c27f5d69_1_612"/>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a:buClr>
                <a:srgbClr val="000000"/>
              </a:buClr>
              <a:buSzPts val="1400"/>
            </a:pPr>
            <a:endParaRPr sz="1867">
              <a:solidFill>
                <a:srgbClr val="0070C0"/>
              </a:solidFill>
              <a:latin typeface="Times New Roman"/>
              <a:ea typeface="Times New Roman"/>
              <a:cs typeface="Times New Roman"/>
              <a:sym typeface="Times New Roman"/>
            </a:endParaRPr>
          </a:p>
        </p:txBody>
      </p:sp>
      <p:sp>
        <p:nvSpPr>
          <p:cNvPr id="422" name="Google Shape;422;g3a7c27f5d69_1_612"/>
          <p:cNvSpPr txBox="1"/>
          <p:nvPr/>
        </p:nvSpPr>
        <p:spPr>
          <a:xfrm>
            <a:off x="11658600" y="6496067"/>
            <a:ext cx="228400" cy="166000"/>
          </a:xfrm>
          <a:prstGeom prst="rect">
            <a:avLst/>
          </a:prstGeom>
          <a:noFill/>
          <a:ln>
            <a:noFill/>
          </a:ln>
        </p:spPr>
        <p:txBody>
          <a:bodyPr spcFirstLastPara="1" wrap="square" lIns="0" tIns="0" rIns="0" bIns="0" anchor="ctr" anchorCtr="0">
            <a:noAutofit/>
          </a:bodyPr>
          <a:lstStyle/>
          <a:p>
            <a:pPr algn="r">
              <a:buClr>
                <a:srgbClr val="000000"/>
              </a:buClr>
              <a:buSzPts val="900"/>
            </a:pPr>
            <a:fld id="{00000000-1234-1234-1234-123412341234}" type="slidenum">
              <a:rPr lang="en-GB" sz="1200">
                <a:solidFill>
                  <a:srgbClr val="1155CC"/>
                </a:solidFill>
                <a:latin typeface="Arial"/>
                <a:ea typeface="Arial"/>
                <a:cs typeface="Arial"/>
                <a:sym typeface="Arial"/>
              </a:rPr>
              <a:pPr algn="r">
                <a:buClr>
                  <a:srgbClr val="000000"/>
                </a:buClr>
                <a:buSzPts val="900"/>
              </a:pPr>
              <a:t>38</a:t>
            </a:fld>
            <a:endParaRPr sz="1200">
              <a:solidFill>
                <a:srgbClr val="1155CC"/>
              </a:solidFill>
              <a:latin typeface="Arial"/>
              <a:ea typeface="Arial"/>
              <a:cs typeface="Arial"/>
              <a:sym typeface="Arial"/>
            </a:endParaRPr>
          </a:p>
        </p:txBody>
      </p:sp>
      <p:grpSp>
        <p:nvGrpSpPr>
          <p:cNvPr id="423" name="Google Shape;423;g3a7c27f5d69_1_612"/>
          <p:cNvGrpSpPr/>
          <p:nvPr/>
        </p:nvGrpSpPr>
        <p:grpSpPr>
          <a:xfrm>
            <a:off x="2269167" y="0"/>
            <a:ext cx="7411879" cy="198800"/>
            <a:chOff x="1701875" y="0"/>
            <a:chExt cx="5558909" cy="149100"/>
          </a:xfrm>
        </p:grpSpPr>
        <p:sp>
          <p:nvSpPr>
            <p:cNvPr id="424" name="Google Shape;424;g3a7c27f5d69_1_612"/>
            <p:cNvSpPr/>
            <p:nvPr/>
          </p:nvSpPr>
          <p:spPr>
            <a:xfrm>
              <a:off x="3098245" y="0"/>
              <a:ext cx="1369800" cy="149100"/>
            </a:xfrm>
            <a:prstGeom prst="rect">
              <a:avLst/>
            </a:prstGeom>
            <a:solidFill>
              <a:srgbClr val="EEEEEE"/>
            </a:solidFill>
            <a:ln w="9525" cap="flat" cmpd="sng">
              <a:solidFill>
                <a:srgbClr val="D9D9D9"/>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900"/>
              </a:pPr>
              <a:r>
                <a:rPr lang="en-GB" sz="1200">
                  <a:solidFill>
                    <a:schemeClr val="dk1"/>
                  </a:solidFill>
                  <a:latin typeface="Source Serif Pro"/>
                  <a:ea typeface="Source Serif Pro"/>
                  <a:cs typeface="Source Serif Pro"/>
                  <a:sym typeface="Source Serif Pro"/>
                </a:rPr>
                <a:t>Logistique</a:t>
              </a:r>
              <a:endParaRPr sz="1200">
                <a:solidFill>
                  <a:schemeClr val="dk1"/>
                </a:solidFill>
                <a:latin typeface="Source Serif Pro"/>
                <a:ea typeface="Source Serif Pro"/>
                <a:cs typeface="Source Serif Pro"/>
                <a:sym typeface="Source Serif Pro"/>
              </a:endParaRPr>
            </a:p>
          </p:txBody>
        </p:sp>
        <p:sp>
          <p:nvSpPr>
            <p:cNvPr id="425" name="Google Shape;425;g3a7c27f5d69_1_612"/>
            <p:cNvSpPr/>
            <p:nvPr/>
          </p:nvSpPr>
          <p:spPr>
            <a:xfrm>
              <a:off x="4494614" y="0"/>
              <a:ext cx="1369800" cy="149100"/>
            </a:xfrm>
            <a:prstGeom prst="rect">
              <a:avLst/>
            </a:prstGeom>
            <a:solidFill>
              <a:srgbClr val="EEEEEE"/>
            </a:solidFill>
            <a:ln w="9525" cap="flat" cmpd="sng">
              <a:solidFill>
                <a:srgbClr val="D9D9D9"/>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900"/>
              </a:pPr>
              <a:r>
                <a:rPr lang="en-GB" sz="1200">
                  <a:solidFill>
                    <a:schemeClr val="dk1"/>
                  </a:solidFill>
                  <a:latin typeface="Source Serif Pro"/>
                  <a:ea typeface="Source Serif Pro"/>
                  <a:cs typeface="Source Serif Pro"/>
                  <a:sym typeface="Source Serif Pro"/>
                </a:rPr>
                <a:t>Communication</a:t>
              </a:r>
              <a:endParaRPr sz="1200">
                <a:solidFill>
                  <a:schemeClr val="dk1"/>
                </a:solidFill>
                <a:latin typeface="Source Serif Pro"/>
                <a:ea typeface="Source Serif Pro"/>
                <a:cs typeface="Source Serif Pro"/>
                <a:sym typeface="Source Serif Pro"/>
              </a:endParaRPr>
            </a:p>
          </p:txBody>
        </p:sp>
        <p:sp>
          <p:nvSpPr>
            <p:cNvPr id="426" name="Google Shape;426;g3a7c27f5d69_1_612"/>
            <p:cNvSpPr/>
            <p:nvPr/>
          </p:nvSpPr>
          <p:spPr>
            <a:xfrm>
              <a:off x="1701875" y="0"/>
              <a:ext cx="1369800" cy="149100"/>
            </a:xfrm>
            <a:prstGeom prst="rect">
              <a:avLst/>
            </a:prstGeom>
            <a:solidFill>
              <a:srgbClr val="1255CC"/>
            </a:solidFill>
            <a:ln w="9525" cap="flat" cmpd="sng">
              <a:solidFill>
                <a:srgbClr val="D9D9D9"/>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900"/>
              </a:pPr>
              <a:r>
                <a:rPr lang="en-GB" sz="1200">
                  <a:solidFill>
                    <a:schemeClr val="lt1"/>
                  </a:solidFill>
                  <a:latin typeface="Source Serif Pro"/>
                  <a:ea typeface="Source Serif Pro"/>
                  <a:cs typeface="Source Serif Pro"/>
                  <a:sym typeface="Source Serif Pro"/>
                </a:rPr>
                <a:t>Prestation des services</a:t>
              </a:r>
              <a:endParaRPr sz="1200">
                <a:solidFill>
                  <a:schemeClr val="lt1"/>
                </a:solidFill>
                <a:latin typeface="Source Serif Pro"/>
                <a:ea typeface="Source Serif Pro"/>
                <a:cs typeface="Source Serif Pro"/>
                <a:sym typeface="Source Serif Pro"/>
              </a:endParaRPr>
            </a:p>
          </p:txBody>
        </p:sp>
        <p:sp>
          <p:nvSpPr>
            <p:cNvPr id="427" name="Google Shape;427;g3a7c27f5d69_1_612"/>
            <p:cNvSpPr/>
            <p:nvPr/>
          </p:nvSpPr>
          <p:spPr>
            <a:xfrm>
              <a:off x="5890984" y="0"/>
              <a:ext cx="1369800" cy="149100"/>
            </a:xfrm>
            <a:prstGeom prst="rect">
              <a:avLst/>
            </a:prstGeom>
            <a:solidFill>
              <a:srgbClr val="EEEEEE"/>
            </a:solidFill>
            <a:ln w="9525" cap="flat" cmpd="sng">
              <a:solidFill>
                <a:srgbClr val="D9D9D9"/>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900"/>
              </a:pPr>
              <a:r>
                <a:rPr lang="en-GB" sz="1200">
                  <a:solidFill>
                    <a:schemeClr val="dk1"/>
                  </a:solidFill>
                  <a:latin typeface="Source Serif Pro"/>
                  <a:ea typeface="Source Serif Pro"/>
                  <a:cs typeface="Source Serif Pro"/>
                  <a:sym typeface="Source Serif Pro"/>
                </a:rPr>
                <a:t>Appui S&amp;E</a:t>
              </a:r>
              <a:endParaRPr sz="1200">
                <a:solidFill>
                  <a:schemeClr val="dk1"/>
                </a:solidFill>
                <a:latin typeface="Source Serif Pro"/>
                <a:ea typeface="Source Serif Pro"/>
                <a:cs typeface="Source Serif Pro"/>
                <a:sym typeface="Source Serif Pro"/>
              </a:endParaRPr>
            </a:p>
          </p:txBody>
        </p:sp>
      </p:grpSp>
      <p:sp>
        <p:nvSpPr>
          <p:cNvPr id="428" name="Google Shape;428;g3a7c27f5d69_1_612"/>
          <p:cNvSpPr txBox="1"/>
          <p:nvPr/>
        </p:nvSpPr>
        <p:spPr>
          <a:xfrm>
            <a:off x="360933" y="1501467"/>
            <a:ext cx="5835200" cy="290000"/>
          </a:xfrm>
          <a:prstGeom prst="rect">
            <a:avLst/>
          </a:prstGeom>
          <a:noFill/>
          <a:ln>
            <a:noFill/>
          </a:ln>
        </p:spPr>
        <p:txBody>
          <a:bodyPr spcFirstLastPara="1" wrap="square" lIns="0" tIns="0" rIns="0" bIns="0" anchor="t" anchorCtr="0">
            <a:noAutofit/>
          </a:bodyPr>
          <a:lstStyle/>
          <a:p>
            <a:pPr>
              <a:buClr>
                <a:srgbClr val="000000"/>
              </a:buClr>
              <a:buSzPts val="1200"/>
            </a:pPr>
            <a:r>
              <a:rPr lang="en-GB" sz="1600" b="1">
                <a:solidFill>
                  <a:schemeClr val="dk1"/>
                </a:solidFill>
                <a:latin typeface="Times New Roman"/>
                <a:ea typeface="Times New Roman"/>
                <a:cs typeface="Times New Roman"/>
                <a:sym typeface="Times New Roman"/>
              </a:rPr>
              <a:t>Formation des IT (%), </a:t>
            </a:r>
            <a:r>
              <a:rPr lang="en-GB" sz="1600">
                <a:solidFill>
                  <a:schemeClr val="dk1"/>
                </a:solidFill>
                <a:latin typeface="Times New Roman"/>
                <a:ea typeface="Times New Roman"/>
                <a:cs typeface="Times New Roman"/>
                <a:sym typeface="Times New Roman"/>
              </a:rPr>
              <a:t>Juillet - Novembre</a:t>
            </a:r>
            <a:endParaRPr sz="1600" i="1">
              <a:solidFill>
                <a:schemeClr val="dk1"/>
              </a:solidFill>
              <a:latin typeface="Times New Roman"/>
              <a:ea typeface="Times New Roman"/>
              <a:cs typeface="Times New Roman"/>
              <a:sym typeface="Times New Roman"/>
            </a:endParaRPr>
          </a:p>
        </p:txBody>
      </p:sp>
      <p:cxnSp>
        <p:nvCxnSpPr>
          <p:cNvPr id="429" name="Google Shape;429;g3a7c27f5d69_1_612"/>
          <p:cNvCxnSpPr/>
          <p:nvPr/>
        </p:nvCxnSpPr>
        <p:spPr>
          <a:xfrm>
            <a:off x="360933" y="1791467"/>
            <a:ext cx="7838000" cy="0"/>
          </a:xfrm>
          <a:prstGeom prst="straightConnector1">
            <a:avLst/>
          </a:prstGeom>
          <a:noFill/>
          <a:ln w="9525" cap="flat" cmpd="sng">
            <a:solidFill>
              <a:schemeClr val="dk1"/>
            </a:solidFill>
            <a:prstDash val="solid"/>
            <a:round/>
            <a:headEnd type="none" w="sm" len="sm"/>
            <a:tailEnd type="none" w="sm" len="sm"/>
          </a:ln>
        </p:spPr>
      </p:cxnSp>
      <p:sp>
        <p:nvSpPr>
          <p:cNvPr id="430" name="Google Shape;430;g3a7c27f5d69_1_612"/>
          <p:cNvSpPr txBox="1"/>
          <p:nvPr/>
        </p:nvSpPr>
        <p:spPr>
          <a:xfrm>
            <a:off x="267700" y="6492834"/>
            <a:ext cx="6462400" cy="164212"/>
          </a:xfrm>
          <a:prstGeom prst="rect">
            <a:avLst/>
          </a:prstGeom>
          <a:noFill/>
          <a:ln>
            <a:noFill/>
          </a:ln>
        </p:spPr>
        <p:txBody>
          <a:bodyPr spcFirstLastPara="1" wrap="square" lIns="0" tIns="0" rIns="121900" bIns="0" anchor="t" anchorCtr="0">
            <a:spAutoFit/>
          </a:bodyPr>
          <a:lstStyle/>
          <a:p>
            <a:r>
              <a:rPr lang="en-GB" sz="1067" b="1">
                <a:solidFill>
                  <a:schemeClr val="dk1"/>
                </a:solidFill>
                <a:latin typeface="Times New Roman"/>
                <a:ea typeface="Times New Roman"/>
                <a:cs typeface="Times New Roman"/>
                <a:sym typeface="Times New Roman"/>
              </a:rPr>
              <a:t>Source:</a:t>
            </a:r>
            <a:r>
              <a:rPr lang="en-GB" sz="1067">
                <a:solidFill>
                  <a:schemeClr val="dk1"/>
                </a:solidFill>
                <a:latin typeface="Times New Roman"/>
                <a:ea typeface="Times New Roman"/>
                <a:cs typeface="Times New Roman"/>
                <a:sym typeface="Times New Roman"/>
              </a:rPr>
              <a:t> Gestion PEV 2025, DHIS2 Tracker 2025</a:t>
            </a:r>
            <a:endParaRPr sz="1067">
              <a:solidFill>
                <a:schemeClr val="dk1"/>
              </a:solidFill>
              <a:latin typeface="Times New Roman"/>
              <a:ea typeface="Times New Roman"/>
              <a:cs typeface="Times New Roman"/>
              <a:sym typeface="Times New Roman"/>
            </a:endParaRPr>
          </a:p>
        </p:txBody>
      </p:sp>
      <p:pic>
        <p:nvPicPr>
          <p:cNvPr id="431" name="Google Shape;431;g3a7c27f5d69_1_612" title="Chart"/>
          <p:cNvPicPr preferRelativeResize="0"/>
          <p:nvPr/>
        </p:nvPicPr>
        <p:blipFill rotWithShape="1">
          <a:blip r:embed="rId3">
            <a:alphaModFix/>
          </a:blip>
          <a:srcRect l="5580" t="13741" r="2643"/>
          <a:stretch/>
        </p:blipFill>
        <p:spPr>
          <a:xfrm>
            <a:off x="360934" y="1957734"/>
            <a:ext cx="7454452" cy="4331900"/>
          </a:xfrm>
          <a:prstGeom prst="rect">
            <a:avLst/>
          </a:prstGeom>
          <a:noFill/>
          <a:ln>
            <a:noFill/>
          </a:ln>
        </p:spPr>
      </p:pic>
      <p:sp>
        <p:nvSpPr>
          <p:cNvPr id="432" name="Google Shape;432;g3a7c27f5d69_1_612"/>
          <p:cNvSpPr txBox="1"/>
          <p:nvPr/>
        </p:nvSpPr>
        <p:spPr>
          <a:xfrm>
            <a:off x="7257700" y="3429009"/>
            <a:ext cx="941200" cy="205121"/>
          </a:xfrm>
          <a:prstGeom prst="rect">
            <a:avLst/>
          </a:prstGeom>
          <a:noFill/>
          <a:ln>
            <a:noFill/>
          </a:ln>
        </p:spPr>
        <p:txBody>
          <a:bodyPr spcFirstLastPara="1" wrap="square" lIns="0" tIns="0" rIns="121900" bIns="0" anchor="t" anchorCtr="0">
            <a:spAutoFit/>
          </a:bodyPr>
          <a:lstStyle/>
          <a:p>
            <a:r>
              <a:rPr lang="en-GB" sz="1333">
                <a:solidFill>
                  <a:srgbClr val="329B55"/>
                </a:solidFill>
                <a:latin typeface="Source Serif Pro"/>
                <a:ea typeface="Source Serif Pro"/>
                <a:cs typeface="Source Serif Pro"/>
                <a:sym typeface="Source Serif Pro"/>
              </a:rPr>
              <a:t>(+17 pts)</a:t>
            </a:r>
            <a:endParaRPr sz="1333">
              <a:solidFill>
                <a:srgbClr val="329B55"/>
              </a:solidFill>
              <a:latin typeface="Source Serif Pro"/>
              <a:ea typeface="Source Serif Pro"/>
              <a:cs typeface="Source Serif Pro"/>
              <a:sym typeface="Source Serif Pro"/>
            </a:endParaRPr>
          </a:p>
        </p:txBody>
      </p:sp>
      <p:sp>
        <p:nvSpPr>
          <p:cNvPr id="433" name="Google Shape;433;g3a7c27f5d69_1_612"/>
          <p:cNvSpPr/>
          <p:nvPr/>
        </p:nvSpPr>
        <p:spPr>
          <a:xfrm rot="-5400000">
            <a:off x="7953200" y="2369977"/>
            <a:ext cx="4719600" cy="3148000"/>
          </a:xfrm>
          <a:prstGeom prst="round2SameRect">
            <a:avLst>
              <a:gd name="adj1" fmla="val 8141"/>
              <a:gd name="adj2" fmla="val 0"/>
            </a:avLst>
          </a:prstGeom>
          <a:solidFill>
            <a:srgbClr val="EFE3D3"/>
          </a:solidFill>
          <a:ln>
            <a:noFill/>
          </a:ln>
        </p:spPr>
        <p:txBody>
          <a:bodyPr spcFirstLastPara="1" wrap="square" lIns="121900" tIns="60933" rIns="121900" bIns="60933" anchor="ctr" anchorCtr="0">
            <a:noAutofit/>
          </a:bodyPr>
          <a:lstStyle/>
          <a:p>
            <a:pPr algn="ctr">
              <a:buClr>
                <a:srgbClr val="000000"/>
              </a:buClr>
              <a:buSzPts val="1600"/>
            </a:pPr>
            <a:endParaRPr sz="2133">
              <a:solidFill>
                <a:srgbClr val="FFFFFF"/>
              </a:solidFill>
              <a:latin typeface="Arial"/>
              <a:ea typeface="Arial"/>
              <a:cs typeface="Arial"/>
              <a:sym typeface="Arial"/>
            </a:endParaRPr>
          </a:p>
        </p:txBody>
      </p:sp>
      <p:sp>
        <p:nvSpPr>
          <p:cNvPr id="434" name="Google Shape;434;g3a7c27f5d69_1_612"/>
          <p:cNvSpPr txBox="1"/>
          <p:nvPr/>
        </p:nvSpPr>
        <p:spPr>
          <a:xfrm>
            <a:off x="8739000" y="1827100"/>
            <a:ext cx="3193233" cy="3200836"/>
          </a:xfrm>
          <a:prstGeom prst="rect">
            <a:avLst/>
          </a:prstGeom>
          <a:noFill/>
          <a:ln>
            <a:noFill/>
          </a:ln>
        </p:spPr>
        <p:txBody>
          <a:bodyPr spcFirstLastPara="1" wrap="square" lIns="121900" tIns="121900" rIns="121900" bIns="121900" anchor="t" anchorCtr="0">
            <a:spAutoFit/>
          </a:bodyPr>
          <a:lstStyle/>
          <a:p>
            <a:pPr>
              <a:buClr>
                <a:srgbClr val="000000"/>
              </a:buClr>
              <a:buSzPts val="1100"/>
            </a:pPr>
            <a:endParaRPr sz="1600" b="1" dirty="0">
              <a:solidFill>
                <a:schemeClr val="dk1"/>
              </a:solidFill>
              <a:latin typeface="Times New Roman"/>
              <a:ea typeface="Times New Roman"/>
              <a:cs typeface="Times New Roman"/>
              <a:sym typeface="Times New Roman"/>
            </a:endParaRPr>
          </a:p>
          <a:p>
            <a:pPr marL="609585" indent="-406390">
              <a:buClr>
                <a:schemeClr val="dk1"/>
              </a:buClr>
              <a:buSzPts val="1200"/>
              <a:buChar char="●"/>
            </a:pPr>
            <a:r>
              <a:rPr lang="en-GB" sz="1600" dirty="0">
                <a:solidFill>
                  <a:schemeClr val="dk1"/>
                </a:solidFill>
                <a:latin typeface="Times New Roman"/>
                <a:ea typeface="Times New Roman"/>
                <a:cs typeface="Times New Roman"/>
                <a:sym typeface="Times New Roman"/>
              </a:rPr>
              <a:t>Le </a:t>
            </a:r>
            <a:r>
              <a:rPr lang="en-GB" sz="1600" dirty="0" err="1">
                <a:solidFill>
                  <a:schemeClr val="dk1"/>
                </a:solidFill>
                <a:latin typeface="Times New Roman"/>
                <a:ea typeface="Times New Roman"/>
                <a:cs typeface="Times New Roman"/>
                <a:sym typeface="Times New Roman"/>
              </a:rPr>
              <a:t>nombre</a:t>
            </a:r>
            <a:r>
              <a:rPr lang="en-GB" sz="1600" dirty="0">
                <a:solidFill>
                  <a:schemeClr val="dk1"/>
                </a:solidFill>
                <a:latin typeface="Times New Roman"/>
                <a:ea typeface="Times New Roman"/>
                <a:cs typeface="Times New Roman"/>
                <a:sym typeface="Times New Roman"/>
              </a:rPr>
              <a:t> des </a:t>
            </a:r>
            <a:r>
              <a:rPr lang="en-GB" sz="1600" dirty="0" err="1">
                <a:solidFill>
                  <a:schemeClr val="dk1"/>
                </a:solidFill>
                <a:latin typeface="Times New Roman"/>
                <a:ea typeface="Times New Roman"/>
                <a:cs typeface="Times New Roman"/>
                <a:sym typeface="Times New Roman"/>
              </a:rPr>
              <a:t>prestataires</a:t>
            </a:r>
            <a:r>
              <a:rPr lang="en-GB" sz="1600" dirty="0">
                <a:solidFill>
                  <a:schemeClr val="dk1"/>
                </a:solidFill>
                <a:latin typeface="Times New Roman"/>
                <a:ea typeface="Times New Roman"/>
                <a:cs typeface="Times New Roman"/>
                <a:sym typeface="Times New Roman"/>
              </a:rPr>
              <a:t> </a:t>
            </a:r>
            <a:r>
              <a:rPr lang="en-GB" sz="1600" dirty="0" err="1">
                <a:solidFill>
                  <a:schemeClr val="dk1"/>
                </a:solidFill>
                <a:latin typeface="Times New Roman"/>
                <a:ea typeface="Times New Roman"/>
                <a:cs typeface="Times New Roman"/>
                <a:sym typeface="Times New Roman"/>
              </a:rPr>
              <a:t>formés</a:t>
            </a:r>
            <a:r>
              <a:rPr lang="en-GB" sz="1600" dirty="0">
                <a:solidFill>
                  <a:schemeClr val="dk1"/>
                </a:solidFill>
                <a:latin typeface="Times New Roman"/>
                <a:ea typeface="Times New Roman"/>
                <a:cs typeface="Times New Roman"/>
                <a:sym typeface="Times New Roman"/>
              </a:rPr>
              <a:t> </a:t>
            </a:r>
            <a:r>
              <a:rPr lang="en-GB" sz="1600" dirty="0" err="1">
                <a:solidFill>
                  <a:schemeClr val="dk1"/>
                </a:solidFill>
                <a:latin typeface="Times New Roman"/>
                <a:ea typeface="Times New Roman"/>
                <a:cs typeface="Times New Roman"/>
                <a:sym typeface="Times New Roman"/>
              </a:rPr>
              <a:t>en</a:t>
            </a:r>
            <a:r>
              <a:rPr lang="en-GB" sz="1600" dirty="0">
                <a:solidFill>
                  <a:schemeClr val="dk1"/>
                </a:solidFill>
                <a:latin typeface="Times New Roman"/>
                <a:ea typeface="Times New Roman"/>
                <a:cs typeface="Times New Roman"/>
                <a:sym typeface="Times New Roman"/>
              </a:rPr>
              <a:t> PEV </a:t>
            </a:r>
            <a:r>
              <a:rPr lang="en-GB" sz="1600" dirty="0" err="1">
                <a:solidFill>
                  <a:schemeClr val="dk1"/>
                </a:solidFill>
                <a:latin typeface="Times New Roman"/>
                <a:ea typeface="Times New Roman"/>
                <a:cs typeface="Times New Roman"/>
                <a:sym typeface="Times New Roman"/>
              </a:rPr>
              <a:t>pratique</a:t>
            </a:r>
            <a:r>
              <a:rPr lang="en-GB" sz="1600" dirty="0">
                <a:solidFill>
                  <a:schemeClr val="dk1"/>
                </a:solidFill>
                <a:latin typeface="Times New Roman"/>
                <a:ea typeface="Times New Roman"/>
                <a:cs typeface="Times New Roman"/>
                <a:sym typeface="Times New Roman"/>
              </a:rPr>
              <a:t> </a:t>
            </a:r>
            <a:r>
              <a:rPr lang="en-GB" sz="1600" b="1" dirty="0">
                <a:solidFill>
                  <a:schemeClr val="dk1"/>
                </a:solidFill>
                <a:latin typeface="Times New Roman"/>
                <a:ea typeface="Times New Roman"/>
                <a:cs typeface="Times New Roman"/>
                <a:sym typeface="Times New Roman"/>
              </a:rPr>
              <a:t>a </a:t>
            </a:r>
            <a:r>
              <a:rPr lang="en-GB" sz="1600" b="1" dirty="0" err="1">
                <a:solidFill>
                  <a:schemeClr val="dk1"/>
                </a:solidFill>
                <a:latin typeface="Times New Roman"/>
                <a:ea typeface="Times New Roman"/>
                <a:cs typeface="Times New Roman"/>
                <a:sym typeface="Times New Roman"/>
              </a:rPr>
              <a:t>augmentés</a:t>
            </a:r>
            <a:r>
              <a:rPr lang="en-GB" sz="1600" b="1" dirty="0">
                <a:solidFill>
                  <a:schemeClr val="dk1"/>
                </a:solidFill>
                <a:latin typeface="Times New Roman"/>
                <a:ea typeface="Times New Roman"/>
                <a:cs typeface="Times New Roman"/>
                <a:sym typeface="Times New Roman"/>
              </a:rPr>
              <a:t> de 17 pts </a:t>
            </a:r>
            <a:r>
              <a:rPr lang="en-GB" sz="1600" b="1" dirty="0" err="1">
                <a:solidFill>
                  <a:schemeClr val="dk1"/>
                </a:solidFill>
                <a:latin typeface="Times New Roman"/>
                <a:ea typeface="Times New Roman"/>
                <a:cs typeface="Times New Roman"/>
                <a:sym typeface="Times New Roman"/>
              </a:rPr>
              <a:t>depuis</a:t>
            </a:r>
            <a:r>
              <a:rPr lang="en-GB" sz="1600" b="1" dirty="0">
                <a:solidFill>
                  <a:schemeClr val="dk1"/>
                </a:solidFill>
                <a:latin typeface="Times New Roman"/>
                <a:ea typeface="Times New Roman"/>
                <a:cs typeface="Times New Roman"/>
                <a:sym typeface="Times New Roman"/>
              </a:rPr>
              <a:t> </a:t>
            </a:r>
            <a:r>
              <a:rPr lang="en-GB" sz="1600" b="1" dirty="0" err="1">
                <a:solidFill>
                  <a:schemeClr val="dk1"/>
                </a:solidFill>
                <a:latin typeface="Times New Roman"/>
                <a:ea typeface="Times New Roman"/>
                <a:cs typeface="Times New Roman"/>
                <a:sym typeface="Times New Roman"/>
              </a:rPr>
              <a:t>juillet</a:t>
            </a:r>
            <a:r>
              <a:rPr lang="en-GB" sz="1600" b="1" dirty="0">
                <a:solidFill>
                  <a:schemeClr val="dk1"/>
                </a:solidFill>
                <a:latin typeface="Times New Roman"/>
                <a:ea typeface="Times New Roman"/>
                <a:cs typeface="Times New Roman"/>
                <a:sym typeface="Times New Roman"/>
              </a:rPr>
              <a:t> 2025 avec les orientations </a:t>
            </a:r>
            <a:r>
              <a:rPr lang="en-GB" sz="1600" b="1" dirty="0" err="1">
                <a:solidFill>
                  <a:schemeClr val="dk1"/>
                </a:solidFill>
                <a:latin typeface="Times New Roman"/>
                <a:ea typeface="Times New Roman"/>
                <a:cs typeface="Times New Roman"/>
                <a:sym typeface="Times New Roman"/>
              </a:rPr>
              <a:t>Mashako</a:t>
            </a:r>
            <a:r>
              <a:rPr lang="en-GB" sz="1600" b="1" dirty="0">
                <a:solidFill>
                  <a:schemeClr val="dk1"/>
                </a:solidFill>
                <a:latin typeface="Times New Roman"/>
                <a:ea typeface="Times New Roman"/>
                <a:cs typeface="Times New Roman"/>
                <a:sym typeface="Times New Roman"/>
              </a:rPr>
              <a:t> 3.0 et la vulgarisation des modules </a:t>
            </a:r>
            <a:r>
              <a:rPr lang="en-GB" sz="1600" b="1" dirty="0" err="1">
                <a:solidFill>
                  <a:schemeClr val="dk1"/>
                </a:solidFill>
                <a:latin typeface="Times New Roman"/>
                <a:ea typeface="Times New Roman"/>
                <a:cs typeface="Times New Roman"/>
                <a:sym typeface="Times New Roman"/>
              </a:rPr>
              <a:t>elearning</a:t>
            </a:r>
            <a:endParaRPr sz="1600" b="1" dirty="0">
              <a:solidFill>
                <a:schemeClr val="dk1"/>
              </a:solidFill>
              <a:latin typeface="Times New Roman"/>
              <a:ea typeface="Times New Roman"/>
              <a:cs typeface="Times New Roman"/>
              <a:sym typeface="Times New Roman"/>
            </a:endParaRPr>
          </a:p>
          <a:p>
            <a:pPr marL="609585" indent="-406390">
              <a:buClr>
                <a:schemeClr val="dk1"/>
              </a:buClr>
              <a:buSzPts val="1200"/>
              <a:buFont typeface="Times New Roman"/>
              <a:buChar char="●"/>
            </a:pPr>
            <a:r>
              <a:rPr lang="en-GB" sz="1600" dirty="0" err="1">
                <a:solidFill>
                  <a:schemeClr val="dk1"/>
                </a:solidFill>
                <a:latin typeface="Times New Roman"/>
                <a:ea typeface="Times New Roman"/>
                <a:cs typeface="Times New Roman"/>
                <a:sym typeface="Times New Roman"/>
              </a:rPr>
              <a:t>Toutefois</a:t>
            </a:r>
            <a:r>
              <a:rPr lang="en-GB" sz="1600" dirty="0">
                <a:solidFill>
                  <a:schemeClr val="dk1"/>
                </a:solidFill>
                <a:latin typeface="Times New Roman"/>
                <a:ea typeface="Times New Roman"/>
                <a:cs typeface="Times New Roman"/>
                <a:sym typeface="Times New Roman"/>
              </a:rPr>
              <a:t>, les efforts </a:t>
            </a:r>
            <a:r>
              <a:rPr lang="en-GB" sz="1600" dirty="0" err="1">
                <a:solidFill>
                  <a:schemeClr val="dk1"/>
                </a:solidFill>
                <a:latin typeface="Times New Roman"/>
                <a:ea typeface="Times New Roman"/>
                <a:cs typeface="Times New Roman"/>
                <a:sym typeface="Times New Roman"/>
              </a:rPr>
              <a:t>sont</a:t>
            </a:r>
            <a:r>
              <a:rPr lang="en-GB" sz="1600" dirty="0">
                <a:solidFill>
                  <a:schemeClr val="dk1"/>
                </a:solidFill>
                <a:latin typeface="Times New Roman"/>
                <a:ea typeface="Times New Roman"/>
                <a:cs typeface="Times New Roman"/>
                <a:sym typeface="Times New Roman"/>
              </a:rPr>
              <a:t> </a:t>
            </a:r>
            <a:r>
              <a:rPr lang="en-GB" sz="1600" dirty="0" err="1">
                <a:solidFill>
                  <a:schemeClr val="dk1"/>
                </a:solidFill>
                <a:latin typeface="Times New Roman"/>
                <a:ea typeface="Times New Roman"/>
                <a:cs typeface="Times New Roman"/>
                <a:sym typeface="Times New Roman"/>
              </a:rPr>
              <a:t>en</a:t>
            </a:r>
            <a:r>
              <a:rPr lang="en-GB" sz="1600" dirty="0">
                <a:solidFill>
                  <a:schemeClr val="dk1"/>
                </a:solidFill>
                <a:latin typeface="Times New Roman"/>
                <a:ea typeface="Times New Roman"/>
                <a:cs typeface="Times New Roman"/>
                <a:sym typeface="Times New Roman"/>
              </a:rPr>
              <a:t> </a:t>
            </a:r>
            <a:r>
              <a:rPr lang="en-GB" sz="1600" dirty="0" err="1">
                <a:solidFill>
                  <a:schemeClr val="dk1"/>
                </a:solidFill>
                <a:latin typeface="Times New Roman"/>
                <a:ea typeface="Times New Roman"/>
                <a:cs typeface="Times New Roman"/>
                <a:sym typeface="Times New Roman"/>
              </a:rPr>
              <a:t>fournir</a:t>
            </a:r>
            <a:r>
              <a:rPr lang="en-GB" sz="1600" dirty="0">
                <a:solidFill>
                  <a:schemeClr val="dk1"/>
                </a:solidFill>
                <a:latin typeface="Times New Roman"/>
                <a:ea typeface="Times New Roman"/>
                <a:cs typeface="Times New Roman"/>
                <a:sym typeface="Times New Roman"/>
              </a:rPr>
              <a:t> pour </a:t>
            </a:r>
            <a:r>
              <a:rPr lang="en-GB" sz="1600" dirty="0" err="1">
                <a:solidFill>
                  <a:schemeClr val="dk1"/>
                </a:solidFill>
                <a:latin typeface="Times New Roman"/>
                <a:ea typeface="Times New Roman"/>
                <a:cs typeface="Times New Roman"/>
                <a:sym typeface="Times New Roman"/>
              </a:rPr>
              <a:t>atteindre</a:t>
            </a:r>
            <a:r>
              <a:rPr lang="en-GB" sz="1600" dirty="0">
                <a:solidFill>
                  <a:schemeClr val="dk1"/>
                </a:solidFill>
                <a:latin typeface="Times New Roman"/>
                <a:ea typeface="Times New Roman"/>
                <a:cs typeface="Times New Roman"/>
                <a:sym typeface="Times New Roman"/>
              </a:rPr>
              <a:t> 100% des </a:t>
            </a:r>
            <a:r>
              <a:rPr lang="en-GB" sz="1600" dirty="0" err="1">
                <a:solidFill>
                  <a:schemeClr val="dk1"/>
                </a:solidFill>
                <a:latin typeface="Times New Roman"/>
                <a:ea typeface="Times New Roman"/>
                <a:cs typeface="Times New Roman"/>
                <a:sym typeface="Times New Roman"/>
              </a:rPr>
              <a:t>aires</a:t>
            </a:r>
            <a:r>
              <a:rPr lang="en-GB" sz="1600" dirty="0">
                <a:solidFill>
                  <a:schemeClr val="dk1"/>
                </a:solidFill>
                <a:latin typeface="Times New Roman"/>
                <a:ea typeface="Times New Roman"/>
                <a:cs typeface="Times New Roman"/>
                <a:sym typeface="Times New Roman"/>
              </a:rPr>
              <a:t> de santé avec au </a:t>
            </a:r>
            <a:r>
              <a:rPr lang="en-GB" sz="1600" dirty="0" err="1">
                <a:solidFill>
                  <a:schemeClr val="dk1"/>
                </a:solidFill>
                <a:latin typeface="Times New Roman"/>
                <a:ea typeface="Times New Roman"/>
                <a:cs typeface="Times New Roman"/>
                <a:sym typeface="Times New Roman"/>
              </a:rPr>
              <a:t>moins</a:t>
            </a:r>
            <a:r>
              <a:rPr lang="en-GB" sz="1600" dirty="0">
                <a:solidFill>
                  <a:schemeClr val="dk1"/>
                </a:solidFill>
                <a:latin typeface="Times New Roman"/>
                <a:ea typeface="Times New Roman"/>
                <a:cs typeface="Times New Roman"/>
                <a:sym typeface="Times New Roman"/>
              </a:rPr>
              <a:t> un IT </a:t>
            </a:r>
            <a:r>
              <a:rPr lang="en-GB" sz="1600" dirty="0" err="1">
                <a:solidFill>
                  <a:schemeClr val="dk1"/>
                </a:solidFill>
                <a:latin typeface="Times New Roman"/>
                <a:ea typeface="Times New Roman"/>
                <a:cs typeface="Times New Roman"/>
                <a:sym typeface="Times New Roman"/>
              </a:rPr>
              <a:t>formé</a:t>
            </a:r>
            <a:endParaRPr sz="1600"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802382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g3a7c27f5d69_1_1118"/>
          <p:cNvSpPr txBox="1"/>
          <p:nvPr/>
        </p:nvSpPr>
        <p:spPr>
          <a:xfrm>
            <a:off x="458592" y="317941"/>
            <a:ext cx="11274800" cy="410433"/>
          </a:xfrm>
          <a:prstGeom prst="rect">
            <a:avLst/>
          </a:prstGeom>
          <a:noFill/>
          <a:ln>
            <a:noFill/>
          </a:ln>
        </p:spPr>
        <p:txBody>
          <a:bodyPr spcFirstLastPara="1" wrap="square" lIns="0" tIns="0" rIns="0" bIns="0" anchor="t" anchorCtr="0">
            <a:spAutoFit/>
          </a:bodyPr>
          <a:lstStyle/>
          <a:p>
            <a:pPr>
              <a:buClr>
                <a:schemeClr val="dk1"/>
              </a:buClr>
              <a:buSzPts val="1100"/>
            </a:pPr>
            <a:r>
              <a:rPr lang="en-GB" sz="2667" b="1">
                <a:solidFill>
                  <a:srgbClr val="1155CC"/>
                </a:solidFill>
                <a:latin typeface="Times New Roman"/>
                <a:ea typeface="Times New Roman"/>
                <a:cs typeface="Times New Roman"/>
                <a:sym typeface="Times New Roman"/>
              </a:rPr>
              <a:t>Réalisation des séances | </a:t>
            </a:r>
            <a:r>
              <a:rPr lang="en-GB" sz="2667">
                <a:solidFill>
                  <a:srgbClr val="1155CC"/>
                </a:solidFill>
                <a:latin typeface="Times New Roman"/>
                <a:ea typeface="Times New Roman"/>
                <a:cs typeface="Times New Roman"/>
                <a:sym typeface="Times New Roman"/>
              </a:rPr>
              <a:t>Evolution de la réalisation des séances de vaccination</a:t>
            </a:r>
            <a:endParaRPr sz="2533" b="1">
              <a:solidFill>
                <a:srgbClr val="1155CC"/>
              </a:solidFill>
              <a:latin typeface="Times New Roman"/>
              <a:ea typeface="Times New Roman"/>
              <a:cs typeface="Times New Roman"/>
              <a:sym typeface="Times New Roman"/>
            </a:endParaRPr>
          </a:p>
        </p:txBody>
      </p:sp>
      <p:sp>
        <p:nvSpPr>
          <p:cNvPr id="381" name="Google Shape;381;g3a7c27f5d69_1_1118"/>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a:buClr>
                <a:srgbClr val="000000"/>
              </a:buClr>
              <a:buSzPts val="1400"/>
            </a:pPr>
            <a:endParaRPr sz="1867">
              <a:solidFill>
                <a:srgbClr val="0070C0"/>
              </a:solidFill>
              <a:latin typeface="Times New Roman"/>
              <a:ea typeface="Times New Roman"/>
              <a:cs typeface="Times New Roman"/>
              <a:sym typeface="Times New Roman"/>
            </a:endParaRPr>
          </a:p>
        </p:txBody>
      </p:sp>
      <p:sp>
        <p:nvSpPr>
          <p:cNvPr id="382" name="Google Shape;382;g3a7c27f5d69_1_1118"/>
          <p:cNvSpPr txBox="1"/>
          <p:nvPr/>
        </p:nvSpPr>
        <p:spPr>
          <a:xfrm>
            <a:off x="11658600" y="6496067"/>
            <a:ext cx="228400" cy="166000"/>
          </a:xfrm>
          <a:prstGeom prst="rect">
            <a:avLst/>
          </a:prstGeom>
          <a:noFill/>
          <a:ln>
            <a:noFill/>
          </a:ln>
        </p:spPr>
        <p:txBody>
          <a:bodyPr spcFirstLastPara="1" wrap="square" lIns="0" tIns="0" rIns="0" bIns="0" anchor="ctr" anchorCtr="0">
            <a:noAutofit/>
          </a:bodyPr>
          <a:lstStyle/>
          <a:p>
            <a:pPr algn="r">
              <a:buClr>
                <a:srgbClr val="000000"/>
              </a:buClr>
              <a:buSzPts val="900"/>
            </a:pPr>
            <a:fld id="{00000000-1234-1234-1234-123412341234}" type="slidenum">
              <a:rPr lang="en-GB" sz="1200">
                <a:solidFill>
                  <a:srgbClr val="1155CC"/>
                </a:solidFill>
                <a:latin typeface="Arial"/>
                <a:ea typeface="Arial"/>
                <a:cs typeface="Arial"/>
                <a:sym typeface="Arial"/>
              </a:rPr>
              <a:pPr algn="r">
                <a:buClr>
                  <a:srgbClr val="000000"/>
                </a:buClr>
                <a:buSzPts val="900"/>
              </a:pPr>
              <a:t>39</a:t>
            </a:fld>
            <a:endParaRPr sz="1200">
              <a:solidFill>
                <a:srgbClr val="1155CC"/>
              </a:solidFill>
              <a:latin typeface="Arial"/>
              <a:ea typeface="Arial"/>
              <a:cs typeface="Arial"/>
              <a:sym typeface="Arial"/>
            </a:endParaRPr>
          </a:p>
        </p:txBody>
      </p:sp>
      <p:grpSp>
        <p:nvGrpSpPr>
          <p:cNvPr id="383" name="Google Shape;383;g3a7c27f5d69_1_1118"/>
          <p:cNvGrpSpPr/>
          <p:nvPr/>
        </p:nvGrpSpPr>
        <p:grpSpPr>
          <a:xfrm>
            <a:off x="2269167" y="0"/>
            <a:ext cx="7411879" cy="198800"/>
            <a:chOff x="1701875" y="0"/>
            <a:chExt cx="5558909" cy="149100"/>
          </a:xfrm>
        </p:grpSpPr>
        <p:sp>
          <p:nvSpPr>
            <p:cNvPr id="384" name="Google Shape;384;g3a7c27f5d69_1_1118"/>
            <p:cNvSpPr/>
            <p:nvPr/>
          </p:nvSpPr>
          <p:spPr>
            <a:xfrm>
              <a:off x="3098245" y="0"/>
              <a:ext cx="1369800" cy="149100"/>
            </a:xfrm>
            <a:prstGeom prst="rect">
              <a:avLst/>
            </a:prstGeom>
            <a:solidFill>
              <a:srgbClr val="EEEEEE"/>
            </a:solidFill>
            <a:ln w="9525" cap="flat" cmpd="sng">
              <a:solidFill>
                <a:srgbClr val="D9D9D9"/>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900"/>
              </a:pPr>
              <a:r>
                <a:rPr lang="en-GB" sz="1200">
                  <a:solidFill>
                    <a:schemeClr val="dk1"/>
                  </a:solidFill>
                  <a:latin typeface="Source Serif Pro"/>
                  <a:ea typeface="Source Serif Pro"/>
                  <a:cs typeface="Source Serif Pro"/>
                  <a:sym typeface="Source Serif Pro"/>
                </a:rPr>
                <a:t>Logistique</a:t>
              </a:r>
              <a:endParaRPr sz="1200">
                <a:solidFill>
                  <a:schemeClr val="dk1"/>
                </a:solidFill>
                <a:latin typeface="Source Serif Pro"/>
                <a:ea typeface="Source Serif Pro"/>
                <a:cs typeface="Source Serif Pro"/>
                <a:sym typeface="Source Serif Pro"/>
              </a:endParaRPr>
            </a:p>
          </p:txBody>
        </p:sp>
        <p:sp>
          <p:nvSpPr>
            <p:cNvPr id="385" name="Google Shape;385;g3a7c27f5d69_1_1118"/>
            <p:cNvSpPr/>
            <p:nvPr/>
          </p:nvSpPr>
          <p:spPr>
            <a:xfrm>
              <a:off x="4494614" y="0"/>
              <a:ext cx="1369800" cy="149100"/>
            </a:xfrm>
            <a:prstGeom prst="rect">
              <a:avLst/>
            </a:prstGeom>
            <a:solidFill>
              <a:srgbClr val="EEEEEE"/>
            </a:solidFill>
            <a:ln w="9525" cap="flat" cmpd="sng">
              <a:solidFill>
                <a:srgbClr val="D9D9D9"/>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900"/>
              </a:pPr>
              <a:r>
                <a:rPr lang="en-GB" sz="1200">
                  <a:solidFill>
                    <a:schemeClr val="dk1"/>
                  </a:solidFill>
                  <a:latin typeface="Source Serif Pro"/>
                  <a:ea typeface="Source Serif Pro"/>
                  <a:cs typeface="Source Serif Pro"/>
                  <a:sym typeface="Source Serif Pro"/>
                </a:rPr>
                <a:t>Communication</a:t>
              </a:r>
              <a:endParaRPr sz="1200">
                <a:solidFill>
                  <a:schemeClr val="dk1"/>
                </a:solidFill>
                <a:latin typeface="Source Serif Pro"/>
                <a:ea typeface="Source Serif Pro"/>
                <a:cs typeface="Source Serif Pro"/>
                <a:sym typeface="Source Serif Pro"/>
              </a:endParaRPr>
            </a:p>
          </p:txBody>
        </p:sp>
        <p:sp>
          <p:nvSpPr>
            <p:cNvPr id="386" name="Google Shape;386;g3a7c27f5d69_1_1118"/>
            <p:cNvSpPr/>
            <p:nvPr/>
          </p:nvSpPr>
          <p:spPr>
            <a:xfrm>
              <a:off x="1701875" y="0"/>
              <a:ext cx="1369800" cy="149100"/>
            </a:xfrm>
            <a:prstGeom prst="rect">
              <a:avLst/>
            </a:prstGeom>
            <a:solidFill>
              <a:srgbClr val="1255CC"/>
            </a:solidFill>
            <a:ln w="9525" cap="flat" cmpd="sng">
              <a:solidFill>
                <a:srgbClr val="D9D9D9"/>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900"/>
              </a:pPr>
              <a:r>
                <a:rPr lang="en-GB" sz="1200">
                  <a:solidFill>
                    <a:schemeClr val="lt1"/>
                  </a:solidFill>
                  <a:latin typeface="Source Serif Pro"/>
                  <a:ea typeface="Source Serif Pro"/>
                  <a:cs typeface="Source Serif Pro"/>
                  <a:sym typeface="Source Serif Pro"/>
                </a:rPr>
                <a:t>Prestation des services</a:t>
              </a:r>
              <a:endParaRPr sz="1200">
                <a:solidFill>
                  <a:schemeClr val="lt1"/>
                </a:solidFill>
                <a:latin typeface="Source Serif Pro"/>
                <a:ea typeface="Source Serif Pro"/>
                <a:cs typeface="Source Serif Pro"/>
                <a:sym typeface="Source Serif Pro"/>
              </a:endParaRPr>
            </a:p>
          </p:txBody>
        </p:sp>
        <p:sp>
          <p:nvSpPr>
            <p:cNvPr id="387" name="Google Shape;387;g3a7c27f5d69_1_1118"/>
            <p:cNvSpPr/>
            <p:nvPr/>
          </p:nvSpPr>
          <p:spPr>
            <a:xfrm>
              <a:off x="5890984" y="0"/>
              <a:ext cx="1369800" cy="149100"/>
            </a:xfrm>
            <a:prstGeom prst="rect">
              <a:avLst/>
            </a:prstGeom>
            <a:solidFill>
              <a:srgbClr val="EEEEEE"/>
            </a:solidFill>
            <a:ln w="9525" cap="flat" cmpd="sng">
              <a:solidFill>
                <a:srgbClr val="D9D9D9"/>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900"/>
              </a:pPr>
              <a:r>
                <a:rPr lang="en-GB" sz="1200">
                  <a:solidFill>
                    <a:schemeClr val="dk1"/>
                  </a:solidFill>
                  <a:latin typeface="Source Serif Pro"/>
                  <a:ea typeface="Source Serif Pro"/>
                  <a:cs typeface="Source Serif Pro"/>
                  <a:sym typeface="Source Serif Pro"/>
                </a:rPr>
                <a:t>Appui S&amp;E</a:t>
              </a:r>
              <a:endParaRPr sz="1200">
                <a:solidFill>
                  <a:schemeClr val="dk1"/>
                </a:solidFill>
                <a:latin typeface="Source Serif Pro"/>
                <a:ea typeface="Source Serif Pro"/>
                <a:cs typeface="Source Serif Pro"/>
                <a:sym typeface="Source Serif Pro"/>
              </a:endParaRPr>
            </a:p>
          </p:txBody>
        </p:sp>
      </p:grpSp>
      <p:sp>
        <p:nvSpPr>
          <p:cNvPr id="388" name="Google Shape;388;g3a7c27f5d69_1_1118"/>
          <p:cNvSpPr txBox="1"/>
          <p:nvPr/>
        </p:nvSpPr>
        <p:spPr>
          <a:xfrm>
            <a:off x="360933" y="1501467"/>
            <a:ext cx="6114000" cy="290000"/>
          </a:xfrm>
          <a:prstGeom prst="rect">
            <a:avLst/>
          </a:prstGeom>
          <a:noFill/>
          <a:ln>
            <a:noFill/>
          </a:ln>
        </p:spPr>
        <p:txBody>
          <a:bodyPr spcFirstLastPara="1" wrap="square" lIns="0" tIns="0" rIns="0" bIns="0" anchor="t" anchorCtr="0">
            <a:noAutofit/>
          </a:bodyPr>
          <a:lstStyle/>
          <a:p>
            <a:pPr>
              <a:buClr>
                <a:srgbClr val="000000"/>
              </a:buClr>
              <a:buSzPts val="1200"/>
            </a:pPr>
            <a:r>
              <a:rPr lang="en-GB" sz="1600" b="1">
                <a:solidFill>
                  <a:schemeClr val="dk1"/>
                </a:solidFill>
                <a:latin typeface="Times New Roman"/>
                <a:ea typeface="Times New Roman"/>
                <a:cs typeface="Times New Roman"/>
                <a:sym typeface="Times New Roman"/>
              </a:rPr>
              <a:t>Réalisation des séances (%), </a:t>
            </a:r>
            <a:r>
              <a:rPr lang="en-GB" sz="1600">
                <a:solidFill>
                  <a:schemeClr val="dk1"/>
                </a:solidFill>
                <a:latin typeface="Times New Roman"/>
                <a:ea typeface="Times New Roman"/>
                <a:cs typeface="Times New Roman"/>
                <a:sym typeface="Times New Roman"/>
              </a:rPr>
              <a:t>Juillet - Novembre</a:t>
            </a:r>
            <a:endParaRPr sz="1600" i="1">
              <a:solidFill>
                <a:schemeClr val="dk1"/>
              </a:solidFill>
              <a:latin typeface="Times New Roman"/>
              <a:ea typeface="Times New Roman"/>
              <a:cs typeface="Times New Roman"/>
              <a:sym typeface="Times New Roman"/>
            </a:endParaRPr>
          </a:p>
        </p:txBody>
      </p:sp>
      <p:cxnSp>
        <p:nvCxnSpPr>
          <p:cNvPr id="389" name="Google Shape;389;g3a7c27f5d69_1_1118"/>
          <p:cNvCxnSpPr/>
          <p:nvPr/>
        </p:nvCxnSpPr>
        <p:spPr>
          <a:xfrm>
            <a:off x="360933" y="1791467"/>
            <a:ext cx="8212800" cy="0"/>
          </a:xfrm>
          <a:prstGeom prst="straightConnector1">
            <a:avLst/>
          </a:prstGeom>
          <a:noFill/>
          <a:ln w="9525" cap="flat" cmpd="sng">
            <a:solidFill>
              <a:schemeClr val="dk1"/>
            </a:solidFill>
            <a:prstDash val="solid"/>
            <a:round/>
            <a:headEnd type="none" w="sm" len="sm"/>
            <a:tailEnd type="none" w="sm" len="sm"/>
          </a:ln>
        </p:spPr>
      </p:cxnSp>
      <p:sp>
        <p:nvSpPr>
          <p:cNvPr id="390" name="Google Shape;390;g3a7c27f5d69_1_1118"/>
          <p:cNvSpPr txBox="1"/>
          <p:nvPr/>
        </p:nvSpPr>
        <p:spPr>
          <a:xfrm>
            <a:off x="267700" y="6492834"/>
            <a:ext cx="6462400" cy="164212"/>
          </a:xfrm>
          <a:prstGeom prst="rect">
            <a:avLst/>
          </a:prstGeom>
          <a:noFill/>
          <a:ln>
            <a:noFill/>
          </a:ln>
        </p:spPr>
        <p:txBody>
          <a:bodyPr spcFirstLastPara="1" wrap="square" lIns="0" tIns="0" rIns="121900" bIns="0" anchor="t" anchorCtr="0">
            <a:spAutoFit/>
          </a:bodyPr>
          <a:lstStyle/>
          <a:p>
            <a:r>
              <a:rPr lang="en-GB" sz="1067" b="1">
                <a:solidFill>
                  <a:schemeClr val="dk1"/>
                </a:solidFill>
                <a:latin typeface="Times New Roman"/>
                <a:ea typeface="Times New Roman"/>
                <a:cs typeface="Times New Roman"/>
                <a:sym typeface="Times New Roman"/>
              </a:rPr>
              <a:t>Source:</a:t>
            </a:r>
            <a:r>
              <a:rPr lang="en-GB" sz="1067">
                <a:solidFill>
                  <a:schemeClr val="dk1"/>
                </a:solidFill>
                <a:latin typeface="Times New Roman"/>
                <a:ea typeface="Times New Roman"/>
                <a:cs typeface="Times New Roman"/>
                <a:sym typeface="Times New Roman"/>
              </a:rPr>
              <a:t> Gestion PEV 2025, DHIS2 Tracker 2025</a:t>
            </a:r>
            <a:endParaRPr sz="1067">
              <a:solidFill>
                <a:schemeClr val="dk1"/>
              </a:solidFill>
              <a:latin typeface="Times New Roman"/>
              <a:ea typeface="Times New Roman"/>
              <a:cs typeface="Times New Roman"/>
              <a:sym typeface="Times New Roman"/>
            </a:endParaRPr>
          </a:p>
        </p:txBody>
      </p:sp>
      <p:pic>
        <p:nvPicPr>
          <p:cNvPr id="391" name="Google Shape;391;g3a7c27f5d69_1_1118" title="Chart"/>
          <p:cNvPicPr preferRelativeResize="0"/>
          <p:nvPr/>
        </p:nvPicPr>
        <p:blipFill rotWithShape="1">
          <a:blip r:embed="rId3">
            <a:alphaModFix/>
          </a:blip>
          <a:srcRect l="5807" t="23652" r="2876"/>
          <a:stretch/>
        </p:blipFill>
        <p:spPr>
          <a:xfrm>
            <a:off x="360934" y="2043751"/>
            <a:ext cx="8212628" cy="4245883"/>
          </a:xfrm>
          <a:prstGeom prst="rect">
            <a:avLst/>
          </a:prstGeom>
          <a:noFill/>
          <a:ln>
            <a:noFill/>
          </a:ln>
        </p:spPr>
      </p:pic>
      <p:sp>
        <p:nvSpPr>
          <p:cNvPr id="392" name="Google Shape;392;g3a7c27f5d69_1_1118"/>
          <p:cNvSpPr txBox="1"/>
          <p:nvPr/>
        </p:nvSpPr>
        <p:spPr>
          <a:xfrm>
            <a:off x="8026133" y="4215009"/>
            <a:ext cx="941200" cy="205121"/>
          </a:xfrm>
          <a:prstGeom prst="rect">
            <a:avLst/>
          </a:prstGeom>
          <a:noFill/>
          <a:ln>
            <a:noFill/>
          </a:ln>
        </p:spPr>
        <p:txBody>
          <a:bodyPr spcFirstLastPara="1" wrap="square" lIns="0" tIns="0" rIns="121900" bIns="0" anchor="t" anchorCtr="0">
            <a:spAutoFit/>
          </a:bodyPr>
          <a:lstStyle/>
          <a:p>
            <a:r>
              <a:rPr lang="en-GB" sz="1333">
                <a:solidFill>
                  <a:srgbClr val="329B55"/>
                </a:solidFill>
                <a:latin typeface="Source Serif Pro"/>
                <a:ea typeface="Source Serif Pro"/>
                <a:cs typeface="Source Serif Pro"/>
                <a:sym typeface="Source Serif Pro"/>
              </a:rPr>
              <a:t>(+7 pts)</a:t>
            </a:r>
            <a:endParaRPr sz="1333">
              <a:solidFill>
                <a:srgbClr val="329B55"/>
              </a:solidFill>
              <a:latin typeface="Source Serif Pro"/>
              <a:ea typeface="Source Serif Pro"/>
              <a:cs typeface="Source Serif Pro"/>
              <a:sym typeface="Source Serif Pro"/>
            </a:endParaRPr>
          </a:p>
        </p:txBody>
      </p:sp>
      <p:sp>
        <p:nvSpPr>
          <p:cNvPr id="393" name="Google Shape;393;g3a7c27f5d69_1_1118"/>
          <p:cNvSpPr/>
          <p:nvPr/>
        </p:nvSpPr>
        <p:spPr>
          <a:xfrm rot="-5400000">
            <a:off x="8258633" y="2326800"/>
            <a:ext cx="4719600" cy="3148000"/>
          </a:xfrm>
          <a:prstGeom prst="round2SameRect">
            <a:avLst>
              <a:gd name="adj1" fmla="val 8141"/>
              <a:gd name="adj2" fmla="val 0"/>
            </a:avLst>
          </a:prstGeom>
          <a:solidFill>
            <a:srgbClr val="EFE3D3"/>
          </a:solidFill>
          <a:ln>
            <a:noFill/>
          </a:ln>
        </p:spPr>
        <p:txBody>
          <a:bodyPr spcFirstLastPara="1" wrap="square" lIns="121900" tIns="60933" rIns="121900" bIns="60933" anchor="ctr" anchorCtr="0">
            <a:noAutofit/>
          </a:bodyPr>
          <a:lstStyle/>
          <a:p>
            <a:pPr algn="ctr">
              <a:buClr>
                <a:srgbClr val="000000"/>
              </a:buClr>
              <a:buSzPts val="1600"/>
            </a:pPr>
            <a:endParaRPr sz="2133">
              <a:solidFill>
                <a:srgbClr val="FFFFFF"/>
              </a:solidFill>
              <a:latin typeface="Arial"/>
              <a:ea typeface="Arial"/>
              <a:cs typeface="Arial"/>
              <a:sym typeface="Arial"/>
            </a:endParaRPr>
          </a:p>
        </p:txBody>
      </p:sp>
      <p:sp>
        <p:nvSpPr>
          <p:cNvPr id="394" name="Google Shape;394;g3a7c27f5d69_1_1118"/>
          <p:cNvSpPr txBox="1"/>
          <p:nvPr/>
        </p:nvSpPr>
        <p:spPr>
          <a:xfrm>
            <a:off x="9215433" y="2053801"/>
            <a:ext cx="2806000" cy="3693278"/>
          </a:xfrm>
          <a:prstGeom prst="rect">
            <a:avLst/>
          </a:prstGeom>
          <a:noFill/>
          <a:ln>
            <a:noFill/>
          </a:ln>
        </p:spPr>
        <p:txBody>
          <a:bodyPr spcFirstLastPara="1" wrap="square" lIns="121900" tIns="121900" rIns="121900" bIns="121900" anchor="t" anchorCtr="0">
            <a:spAutoFit/>
          </a:bodyPr>
          <a:lstStyle/>
          <a:p>
            <a:pPr marL="609585" indent="-406390">
              <a:buClr>
                <a:schemeClr val="dk1"/>
              </a:buClr>
              <a:buSzPts val="1200"/>
              <a:buChar char="●"/>
            </a:pPr>
            <a:r>
              <a:rPr lang="en-GB" sz="1600">
                <a:solidFill>
                  <a:schemeClr val="dk1"/>
                </a:solidFill>
                <a:latin typeface="Times New Roman"/>
                <a:ea typeface="Times New Roman"/>
                <a:cs typeface="Times New Roman"/>
                <a:sym typeface="Times New Roman"/>
              </a:rPr>
              <a:t>La réalisation des séances de vaccination s’est améliorée de </a:t>
            </a:r>
            <a:r>
              <a:rPr lang="en-GB" sz="1600" b="1">
                <a:solidFill>
                  <a:schemeClr val="dk1"/>
                </a:solidFill>
                <a:latin typeface="Times New Roman"/>
                <a:ea typeface="Times New Roman"/>
                <a:cs typeface="Times New Roman"/>
                <a:sym typeface="Times New Roman"/>
              </a:rPr>
              <a:t>+7 pts depuis juillet</a:t>
            </a:r>
            <a:r>
              <a:rPr lang="en-GB" sz="1600">
                <a:solidFill>
                  <a:schemeClr val="dk1"/>
                </a:solidFill>
                <a:latin typeface="Times New Roman"/>
                <a:ea typeface="Times New Roman"/>
                <a:cs typeface="Times New Roman"/>
                <a:sym typeface="Times New Roman"/>
              </a:rPr>
              <a:t> avec une performance </a:t>
            </a:r>
            <a:r>
              <a:rPr lang="en-GB" sz="1600" b="1">
                <a:solidFill>
                  <a:schemeClr val="dk1"/>
                </a:solidFill>
                <a:latin typeface="Times New Roman"/>
                <a:ea typeface="Times New Roman"/>
                <a:cs typeface="Times New Roman"/>
                <a:sym typeface="Times New Roman"/>
              </a:rPr>
              <a:t>des séances avancées supérieure à celle des séances fixes</a:t>
            </a:r>
            <a:endParaRPr sz="1600">
              <a:solidFill>
                <a:schemeClr val="dk1"/>
              </a:solidFill>
              <a:latin typeface="Times New Roman"/>
              <a:ea typeface="Times New Roman"/>
              <a:cs typeface="Times New Roman"/>
              <a:sym typeface="Times New Roman"/>
            </a:endParaRPr>
          </a:p>
          <a:p>
            <a:pPr marL="609585" indent="-406390">
              <a:buClr>
                <a:schemeClr val="dk1"/>
              </a:buClr>
              <a:buSzPts val="1200"/>
              <a:buFont typeface="Times New Roman"/>
              <a:buChar char="●"/>
            </a:pPr>
            <a:r>
              <a:rPr lang="en-GB" sz="1600">
                <a:solidFill>
                  <a:schemeClr val="dk1"/>
                </a:solidFill>
                <a:latin typeface="Times New Roman"/>
                <a:ea typeface="Times New Roman"/>
                <a:cs typeface="Times New Roman"/>
                <a:sym typeface="Times New Roman"/>
              </a:rPr>
              <a:t>Toutefois, le niveau reste </a:t>
            </a:r>
            <a:r>
              <a:rPr lang="en-GB" sz="1600" b="1">
                <a:solidFill>
                  <a:schemeClr val="dk1"/>
                </a:solidFill>
                <a:latin typeface="Times New Roman"/>
                <a:ea typeface="Times New Roman"/>
                <a:cs typeface="Times New Roman"/>
                <a:sym typeface="Times New Roman"/>
              </a:rPr>
              <a:t>insuffisant pour entraîner une amélioration significative de la couverture vaccinale</a:t>
            </a:r>
            <a:endParaRPr sz="160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3023604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
          <p:cNvSpPr txBox="1">
            <a:spLocks noGrp="1"/>
          </p:cNvSpPr>
          <p:nvPr>
            <p:ph type="sldNum" idx="12"/>
          </p:nvPr>
        </p:nvSpPr>
        <p:spPr>
          <a:xfrm>
            <a:off x="11296611" y="6217623"/>
            <a:ext cx="731600" cy="524800"/>
          </a:xfrm>
          <a:prstGeom prst="rect">
            <a:avLst/>
          </a:prstGeom>
          <a:noFill/>
          <a:ln>
            <a:noFill/>
          </a:ln>
        </p:spPr>
        <p:txBody>
          <a:bodyPr spcFirstLastPara="1" wrap="square" lIns="121900" tIns="121900" rIns="121900" bIns="121900" anchor="ctr" anchorCtr="0">
            <a:normAutofit/>
          </a:bodyPr>
          <a:lstStyle/>
          <a:p>
            <a:pPr marL="0" lvl="0" indent="0" algn="r" rtl="0">
              <a:lnSpc>
                <a:spcPct val="100000"/>
              </a:lnSpc>
              <a:spcBef>
                <a:spcPts val="0"/>
              </a:spcBef>
              <a:spcAft>
                <a:spcPts val="0"/>
              </a:spcAft>
              <a:buSzPts val="1000"/>
              <a:buNone/>
            </a:pPr>
            <a:fld id="{00000000-1234-1234-1234-123412341234}" type="slidenum">
              <a:rPr lang="en-GB" sz="1600"/>
              <a:t>40</a:t>
            </a:fld>
            <a:endParaRPr lang="en-GB" sz="1600"/>
          </a:p>
        </p:txBody>
      </p:sp>
      <p:sp>
        <p:nvSpPr>
          <p:cNvPr id="167" name="Google Shape;167;p1"/>
          <p:cNvSpPr txBox="1"/>
          <p:nvPr/>
        </p:nvSpPr>
        <p:spPr>
          <a:xfrm>
            <a:off x="295033" y="5920417"/>
            <a:ext cx="3302000" cy="34861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700"/>
              <a:buFont typeface="Arial" panose="020B0604020202020204"/>
              <a:buNone/>
            </a:pPr>
            <a:r>
              <a:rPr lang="en-GB" sz="2265" b="0" i="0" u="none" strike="noStrike" cap="none">
                <a:solidFill>
                  <a:srgbClr val="FFFFFF"/>
                </a:solidFill>
                <a:latin typeface="Arial" panose="020B0604020202020204"/>
                <a:ea typeface="Arial" panose="020B0604020202020204"/>
                <a:cs typeface="Arial" panose="020B0604020202020204"/>
                <a:sym typeface="Arial" panose="020B0604020202020204"/>
              </a:rPr>
              <a:t>October 2024</a:t>
            </a:r>
            <a:endParaRPr sz="2265"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2" name="Google Shape;169;p1"/>
          <p:cNvSpPr txBox="1"/>
          <p:nvPr/>
        </p:nvSpPr>
        <p:spPr>
          <a:xfrm>
            <a:off x="1946033" y="2906056"/>
            <a:ext cx="8218384" cy="1082847"/>
          </a:xfrm>
          <a:prstGeom prst="rect">
            <a:avLst/>
          </a:prstGeom>
          <a:noFill/>
          <a:ln>
            <a:noFill/>
          </a:ln>
        </p:spPr>
        <p:txBody>
          <a:bodyPr spcFirstLastPara="1" wrap="square" lIns="0" tIns="0" rIns="0" bIns="0" anchor="t" anchorCtr="0">
            <a:noAutofit/>
          </a:bodyPr>
          <a:lstStyle/>
          <a:p>
            <a:pPr lvl="0" algn="ctr">
              <a:buClr>
                <a:srgbClr val="000000"/>
              </a:buClr>
              <a:buSzPts val="1500"/>
            </a:pPr>
            <a:r>
              <a:rPr lang="fr-FR" altLang="en-GB" sz="4400" b="1" dirty="0">
                <a:solidFill>
                  <a:srgbClr val="145ABE"/>
                </a:solidFill>
                <a:latin typeface="Times New Roman" panose="02020603050405020304"/>
                <a:ea typeface="Times New Roman" panose="02020603050405020304"/>
                <a:cs typeface="Times New Roman" panose="02020603050405020304"/>
                <a:sym typeface="Times New Roman" panose="02020603050405020304"/>
              </a:rPr>
              <a:t>Introduction nouveaux vaccins</a:t>
            </a:r>
            <a:r>
              <a:rPr lang="fr-FR" sz="4400" b="1" dirty="0">
                <a:solidFill>
                  <a:srgbClr val="145ABE"/>
                </a:solidFill>
                <a:latin typeface="Times New Roman" panose="02020603050405020304"/>
                <a:ea typeface="Times New Roman" panose="02020603050405020304"/>
                <a:cs typeface="Times New Roman" panose="02020603050405020304"/>
                <a:sym typeface="Times New Roman" panose="02020603050405020304"/>
              </a:rPr>
              <a:t>  </a:t>
            </a:r>
            <a:endParaRPr sz="4400" b="1" dirty="0">
              <a:solidFill>
                <a:srgbClr val="145ABE"/>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00"/>
              </a:buClr>
              <a:buSzPts val="1500"/>
              <a:buFont typeface="Arial" panose="020B0604020202020204"/>
              <a:buNone/>
            </a:pPr>
            <a:endParaRPr sz="4400" b="1" dirty="0">
              <a:solidFill>
                <a:srgbClr val="145ABE"/>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00"/>
              </a:buClr>
              <a:buSzPts val="1500"/>
              <a:buFont typeface="Arial" panose="020B0604020202020204"/>
              <a:buNone/>
            </a:pPr>
            <a:r>
              <a:rPr lang="en-GB" sz="2000" b="1"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rPr>
              <a:t> </a:t>
            </a:r>
            <a:endParaRPr sz="1465"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500"/>
              <a:buFont typeface="Arial" panose="020B0604020202020204"/>
              <a:buNone/>
            </a:pPr>
            <a:endParaRPr lang="fr-FR" altLang="en-GB" sz="2000" b="1" i="1"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endParaRPr>
          </a:p>
        </p:txBody>
      </p:sp>
    </p:spTree>
    <p:extLst>
      <p:ext uri="{BB962C8B-B14F-4D97-AF65-F5344CB8AC3E}">
        <p14:creationId xmlns:p14="http://schemas.microsoft.com/office/powerpoint/2010/main" val="1460771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 name="Google Shape;221;p16"/>
          <p:cNvSpPr txBox="1"/>
          <p:nvPr/>
        </p:nvSpPr>
        <p:spPr>
          <a:xfrm>
            <a:off x="458592" y="317941"/>
            <a:ext cx="11274800" cy="731600"/>
          </a:xfrm>
          <a:prstGeom prst="rect">
            <a:avLst/>
          </a:prstGeom>
          <a:noFill/>
          <a:ln>
            <a:noFill/>
          </a:ln>
        </p:spPr>
        <p:txBody>
          <a:bodyPr spcFirstLastPara="1" wrap="square" lIns="0" tIns="0" rIns="0" bIns="0" anchor="t">
            <a:noAutofit/>
          </a:bodyPr>
          <a:lstStyle/>
          <a:p>
            <a:pPr marL="0" indent="0" algn="l" rtl="0">
              <a:spcBef>
                <a:spcPts val="0"/>
              </a:spcBef>
              <a:spcAft>
                <a:spcPts val="0"/>
              </a:spcAft>
              <a:buSzPts val="1100"/>
              <a:buNone/>
            </a:pPr>
            <a:r>
              <a:rPr lang="fr-FR" altLang="en-GB" sz="3600" b="1" dirty="0">
                <a:solidFill>
                  <a:srgbClr val="FF00FF"/>
                </a:solidFill>
                <a:latin typeface="Times New Roman" panose="02020603050405020304"/>
                <a:cs typeface="Times New Roman" panose="02020603050405020304"/>
                <a:sym typeface="Times New Roman" panose="02020603050405020304"/>
              </a:rPr>
              <a:t>Résultats Introduction nouveaux vaccins </a:t>
            </a:r>
            <a:r>
              <a:rPr lang="fr-FR" altLang="en-GB" sz="2665" b="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a:t>
            </a:r>
            <a:r>
              <a:rPr lang="fr-FR" altLang="en-GB" sz="2665" b="1" dirty="0">
                <a:solidFill>
                  <a:srgbClr val="FF6600"/>
                </a:solidFill>
                <a:latin typeface="Times New Roman" panose="02020603050405020304"/>
                <a:ea typeface="Times New Roman" panose="02020603050405020304"/>
                <a:cs typeface="Times New Roman" panose="02020603050405020304"/>
                <a:sym typeface="Times New Roman" panose="02020603050405020304"/>
              </a:rPr>
              <a:t>Bibiane et Constant)</a:t>
            </a:r>
            <a:endParaRPr lang="fr-FR" altLang="en-GB" sz="3200" b="1" dirty="0">
              <a:solidFill>
                <a:srgbClr val="FF66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2" name="Google Shape;222;p16"/>
          <p:cNvSpPr/>
          <p:nvPr/>
        </p:nvSpPr>
        <p:spPr>
          <a:xfrm>
            <a:off x="0" y="272241"/>
            <a:ext cx="235600" cy="655200"/>
          </a:xfrm>
          <a:prstGeom prst="rect">
            <a:avLst/>
          </a:prstGeom>
          <a:solidFill>
            <a:srgbClr val="1155CC"/>
          </a:solidFill>
          <a:ln>
            <a:noFill/>
          </a:ln>
        </p:spPr>
        <p:txBody>
          <a:bodyPr spcFirstLastPara="1" wrap="square" lIns="91400" tIns="91400" rIns="91400" bIns="91400" anchor="ctr">
            <a:noAutofit/>
          </a:bodyPr>
          <a:lstStyle/>
          <a:p>
            <a:pPr marL="0" marR="0" indent="0" algn="l" rtl="0">
              <a:spcBef>
                <a:spcPts val="0"/>
              </a:spcBef>
              <a:spcAft>
                <a:spcPts val="0"/>
              </a:spcAft>
              <a:buNone/>
            </a:pPr>
            <a:endParaRPr sz="1865">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4" name="Google Shape;224;p16"/>
          <p:cNvSpPr txBox="1"/>
          <p:nvPr/>
        </p:nvSpPr>
        <p:spPr>
          <a:xfrm>
            <a:off x="267700" y="6492843"/>
            <a:ext cx="11414800" cy="184150"/>
          </a:xfrm>
          <a:prstGeom prst="rect">
            <a:avLst/>
          </a:prstGeom>
          <a:noFill/>
          <a:ln>
            <a:noFill/>
          </a:ln>
        </p:spPr>
        <p:txBody>
          <a:bodyPr spcFirstLastPara="1" wrap="square" lIns="0" tIns="0" rIns="121900" bIns="0" anchor="t">
            <a:spAutoFit/>
          </a:bodyPr>
          <a:lstStyle/>
          <a:p>
            <a:pPr mar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sp>
        <p:nvSpPr>
          <p:cNvPr id="2" name="Zone de texte 1"/>
          <p:cNvSpPr txBox="1"/>
          <p:nvPr/>
        </p:nvSpPr>
        <p:spPr>
          <a:xfrm>
            <a:off x="382904" y="5709594"/>
            <a:ext cx="3681095" cy="276999"/>
          </a:xfrm>
          <a:prstGeom prst="rect">
            <a:avLst/>
          </a:prstGeom>
          <a:noFill/>
        </p:spPr>
        <p:txBody>
          <a:bodyPr wrap="square" rtlCol="0">
            <a:spAutoFit/>
          </a:bodyPr>
          <a:lstStyle/>
          <a:p>
            <a:pPr algn="l">
              <a:buClrTx/>
              <a:buSzPct val="100000"/>
              <a:buFontTx/>
            </a:pPr>
            <a:r>
              <a:rPr lang="fr-FR" altLang="en-US" sz="1200" dirty="0">
                <a:solidFill>
                  <a:srgbClr val="FF6600"/>
                </a:solidFill>
                <a:sym typeface="+mn-ea"/>
              </a:rPr>
              <a:t>CV VAP1,2,3,4 niveau national   </a:t>
            </a:r>
            <a:endParaRPr lang="fr-FR" altLang="en-US" sz="1200" dirty="0">
              <a:solidFill>
                <a:srgbClr val="FF6600"/>
              </a:solidFill>
            </a:endParaRPr>
          </a:p>
        </p:txBody>
      </p:sp>
      <p:sp>
        <p:nvSpPr>
          <p:cNvPr id="3" name="Rectangle 2"/>
          <p:cNvSpPr/>
          <p:nvPr/>
        </p:nvSpPr>
        <p:spPr>
          <a:xfrm>
            <a:off x="4563110" y="1342390"/>
            <a:ext cx="0" cy="5332095"/>
          </a:xfrm>
          <a:prstGeom prst="rect">
            <a:avLst/>
          </a:prstGeom>
          <a:ln>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fr-FR" altLang="en-US"/>
          </a:p>
        </p:txBody>
      </p:sp>
      <p:sp>
        <p:nvSpPr>
          <p:cNvPr id="7" name="Rectangle 6"/>
          <p:cNvSpPr/>
          <p:nvPr/>
        </p:nvSpPr>
        <p:spPr>
          <a:xfrm>
            <a:off x="8854934" y="1313180"/>
            <a:ext cx="0" cy="5332095"/>
          </a:xfrm>
          <a:prstGeom prst="rect">
            <a:avLst/>
          </a:prstGeom>
          <a:ln>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fr-FR" altLang="en-US"/>
          </a:p>
        </p:txBody>
      </p:sp>
      <p:sp>
        <p:nvSpPr>
          <p:cNvPr id="8" name="Zone de texte 7"/>
          <p:cNvSpPr txBox="1"/>
          <p:nvPr/>
        </p:nvSpPr>
        <p:spPr>
          <a:xfrm>
            <a:off x="8930640" y="1399540"/>
            <a:ext cx="3157854" cy="1189556"/>
          </a:xfrm>
          <a:prstGeom prst="rect">
            <a:avLst/>
          </a:prstGeom>
          <a:noFill/>
        </p:spPr>
        <p:txBody>
          <a:bodyPr wrap="square" rtlCol="0">
            <a:spAutoFit/>
          </a:bodyPr>
          <a:lstStyle/>
          <a:p>
            <a:pPr algn="l">
              <a:buClrTx/>
              <a:buSzPct val="100000"/>
              <a:buFontTx/>
            </a:pPr>
            <a:r>
              <a:rPr lang="fr-FR" altLang="en-US" dirty="0">
                <a:solidFill>
                  <a:srgbClr val="7030A0"/>
                </a:solidFill>
                <a:sym typeface="+mn-ea"/>
              </a:rPr>
              <a:t>Carte des </a:t>
            </a:r>
            <a:r>
              <a:rPr lang="fr-FR" altLang="en-US" b="1" dirty="0">
                <a:solidFill>
                  <a:srgbClr val="3333FF"/>
                </a:solidFill>
                <a:highlight>
                  <a:srgbClr val="00FFFF"/>
                </a:highlight>
                <a:sym typeface="+mn-ea"/>
              </a:rPr>
              <a:t>provinces/ZS</a:t>
            </a:r>
            <a:r>
              <a:rPr lang="fr-FR" altLang="en-US" dirty="0">
                <a:solidFill>
                  <a:srgbClr val="7030A0"/>
                </a:solidFill>
                <a:sym typeface="+mn-ea"/>
              </a:rPr>
              <a:t> </a:t>
            </a:r>
          </a:p>
          <a:p>
            <a:pPr algn="l">
              <a:buClrTx/>
              <a:buSzPct val="100000"/>
              <a:buFontTx/>
            </a:pPr>
            <a:r>
              <a:rPr lang="fr-FR" altLang="en-US" dirty="0">
                <a:solidFill>
                  <a:srgbClr val="7030A0"/>
                </a:solidFill>
                <a:sym typeface="+mn-ea"/>
              </a:rPr>
              <a:t>ayant réalisé le switch </a:t>
            </a:r>
            <a:r>
              <a:rPr lang="fr-FR" altLang="en-US" dirty="0">
                <a:solidFill>
                  <a:schemeClr val="accent4">
                    <a:lumMod val="75000"/>
                  </a:schemeClr>
                </a:solidFill>
                <a:sym typeface="+mn-ea"/>
              </a:rPr>
              <a:t>(</a:t>
            </a:r>
            <a:r>
              <a:rPr lang="fr-FR" altLang="en-US" sz="2665" b="1" dirty="0">
                <a:solidFill>
                  <a:srgbClr val="FF6600"/>
                </a:solidFill>
                <a:latin typeface="Times New Roman" panose="02020603050405020304"/>
                <a:cs typeface="Times New Roman" panose="02020603050405020304"/>
                <a:sym typeface="+mn-ea"/>
              </a:rPr>
              <a:t> Ir HERITIER)</a:t>
            </a:r>
          </a:p>
        </p:txBody>
      </p:sp>
      <p:sp>
        <p:nvSpPr>
          <p:cNvPr id="9" name="Zone de texte 8"/>
          <p:cNvSpPr txBox="1"/>
          <p:nvPr/>
        </p:nvSpPr>
        <p:spPr>
          <a:xfrm>
            <a:off x="8930640" y="3448685"/>
            <a:ext cx="2878455" cy="2031325"/>
          </a:xfrm>
          <a:prstGeom prst="rect">
            <a:avLst/>
          </a:prstGeom>
          <a:noFill/>
        </p:spPr>
        <p:txBody>
          <a:bodyPr wrap="square" rtlCol="0">
            <a:spAutoFit/>
          </a:bodyPr>
          <a:lstStyle/>
          <a:p>
            <a:pPr marL="285750" indent="-285750" algn="l">
              <a:buClrTx/>
              <a:buSzPct val="100000"/>
              <a:buFont typeface="Arial" panose="020B0604020202020204" pitchFamily="34" charset="0"/>
              <a:buChar char="•"/>
            </a:pPr>
            <a:r>
              <a:rPr lang="fr-FR" altLang="en-US" dirty="0">
                <a:solidFill>
                  <a:srgbClr val="0070C0"/>
                </a:solidFill>
                <a:sym typeface="+mn-ea"/>
              </a:rPr>
              <a:t>Nbre de doses de </a:t>
            </a:r>
            <a:r>
              <a:rPr lang="fr-FR" altLang="en-US" dirty="0" err="1">
                <a:solidFill>
                  <a:srgbClr val="0070C0"/>
                </a:solidFill>
                <a:sym typeface="+mn-ea"/>
              </a:rPr>
              <a:t>Rotarix</a:t>
            </a:r>
            <a:r>
              <a:rPr lang="fr-FR" altLang="en-US" dirty="0">
                <a:solidFill>
                  <a:srgbClr val="0070C0"/>
                </a:solidFill>
                <a:sym typeface="+mn-ea"/>
              </a:rPr>
              <a:t> approvisionnées dans les provinces.</a:t>
            </a:r>
          </a:p>
          <a:p>
            <a:pPr marL="285750" indent="-285750" algn="l">
              <a:buClrTx/>
              <a:buSzPct val="100000"/>
              <a:buFont typeface="Arial" panose="020B0604020202020204" pitchFamily="34" charset="0"/>
              <a:buChar char="•"/>
            </a:pPr>
            <a:r>
              <a:rPr lang="fr-FR" altLang="en-US" dirty="0">
                <a:solidFill>
                  <a:srgbClr val="0070C0"/>
                </a:solidFill>
                <a:sym typeface="+mn-ea"/>
              </a:rPr>
              <a:t>Nbre de doses de Rotasiil disponibles dans les provinces. </a:t>
            </a:r>
          </a:p>
        </p:txBody>
      </p:sp>
      <p:pic>
        <p:nvPicPr>
          <p:cNvPr id="11" name="Google Shape;150;p15">
            <a:extLst>
              <a:ext uri="{FF2B5EF4-FFF2-40B4-BE49-F238E27FC236}">
                <a16:creationId xmlns:a16="http://schemas.microsoft.com/office/drawing/2014/main" id="{DDE3FAA6-03A1-5FA4-83AF-782F7D073136}"/>
              </a:ext>
            </a:extLst>
          </p:cNvPr>
          <p:cNvPicPr preferRelativeResize="0"/>
          <p:nvPr/>
        </p:nvPicPr>
        <p:blipFill rotWithShape="1">
          <a:blip r:embed="rId3"/>
          <a:srcRect/>
          <a:stretch>
            <a:fillRect/>
          </a:stretch>
        </p:blipFill>
        <p:spPr>
          <a:xfrm>
            <a:off x="4635228" y="1215856"/>
            <a:ext cx="4295412" cy="4153803"/>
          </a:xfrm>
          <a:prstGeom prst="rect">
            <a:avLst/>
          </a:prstGeom>
          <a:noFill/>
          <a:ln>
            <a:noFill/>
          </a:ln>
        </p:spPr>
      </p:pic>
      <p:grpSp>
        <p:nvGrpSpPr>
          <p:cNvPr id="6" name="Groupe 3">
            <a:extLst>
              <a:ext uri="{FF2B5EF4-FFF2-40B4-BE49-F238E27FC236}">
                <a16:creationId xmlns:a16="http://schemas.microsoft.com/office/drawing/2014/main" id="{0B3B141A-071A-4606-2525-EA35FA926831}"/>
              </a:ext>
            </a:extLst>
          </p:cNvPr>
          <p:cNvGrpSpPr/>
          <p:nvPr/>
        </p:nvGrpSpPr>
        <p:grpSpPr>
          <a:xfrm>
            <a:off x="536588" y="927440"/>
            <a:ext cx="3158471" cy="2797811"/>
            <a:chOff x="6467139" y="157541"/>
            <a:chExt cx="5365711" cy="5119444"/>
          </a:xfrm>
        </p:grpSpPr>
        <p:pic>
          <p:nvPicPr>
            <p:cNvPr id="12" name="Picture 11">
              <a:extLst>
                <a:ext uri="{FF2B5EF4-FFF2-40B4-BE49-F238E27FC236}">
                  <a16:creationId xmlns:a16="http://schemas.microsoft.com/office/drawing/2014/main" id="{CD520E4D-79D1-05C3-2DA1-54F99352C635}"/>
                </a:ext>
              </a:extLst>
            </p:cNvPr>
            <p:cNvPicPr>
              <a:picLocks noChangeAspect="1"/>
            </p:cNvPicPr>
            <p:nvPr/>
          </p:nvPicPr>
          <p:blipFill>
            <a:blip r:embed="rId4"/>
            <a:srcRect l="13472" t="1644" r="21786" b="199"/>
            <a:stretch>
              <a:fillRect/>
            </a:stretch>
          </p:blipFill>
          <p:spPr>
            <a:xfrm>
              <a:off x="6467139" y="157541"/>
              <a:ext cx="5365711" cy="5119444"/>
            </a:xfrm>
            <a:prstGeom prst="round2DiagRect">
              <a:avLst/>
            </a:prstGeom>
          </p:spPr>
        </p:pic>
        <p:pic>
          <p:nvPicPr>
            <p:cNvPr id="13" name="Image 1" descr="Une image contenant texte, Police, capture d’écran, conception&#10;&#10;Le contenu généré par l’IA peut être incorrect.">
              <a:extLst>
                <a:ext uri="{FF2B5EF4-FFF2-40B4-BE49-F238E27FC236}">
                  <a16:creationId xmlns:a16="http://schemas.microsoft.com/office/drawing/2014/main" id="{50494E7E-89E6-153A-B0B5-0279AC14EAE3}"/>
                </a:ext>
              </a:extLst>
            </p:cNvPr>
            <p:cNvPicPr>
              <a:picLocks noChangeAspect="1"/>
            </p:cNvPicPr>
            <p:nvPr/>
          </p:nvPicPr>
          <p:blipFill>
            <a:blip r:embed="rId5"/>
            <a:stretch>
              <a:fillRect/>
            </a:stretch>
          </p:blipFill>
          <p:spPr>
            <a:xfrm>
              <a:off x="6468745" y="3824922"/>
              <a:ext cx="1733550" cy="1057275"/>
            </a:xfrm>
            <a:prstGeom prst="rect">
              <a:avLst/>
            </a:prstGeom>
          </p:spPr>
        </p:pic>
      </p:grpSp>
      <p:sp>
        <p:nvSpPr>
          <p:cNvPr id="15" name="TextBox 14">
            <a:extLst>
              <a:ext uri="{FF2B5EF4-FFF2-40B4-BE49-F238E27FC236}">
                <a16:creationId xmlns:a16="http://schemas.microsoft.com/office/drawing/2014/main" id="{DF6CF384-D294-1FDE-4AA5-134208715505}"/>
              </a:ext>
            </a:extLst>
          </p:cNvPr>
          <p:cNvSpPr txBox="1"/>
          <p:nvPr/>
        </p:nvSpPr>
        <p:spPr>
          <a:xfrm>
            <a:off x="175700" y="5953825"/>
            <a:ext cx="3888299" cy="646331"/>
          </a:xfrm>
          <a:prstGeom prst="rect">
            <a:avLst/>
          </a:prstGeom>
          <a:noFill/>
        </p:spPr>
        <p:txBody>
          <a:bodyPr wrap="square" rtlCol="0">
            <a:spAutoFit/>
          </a:bodyPr>
          <a:lstStyle/>
          <a:p>
            <a:r>
              <a:rPr lang="fr-FR" sz="1200" dirty="0">
                <a:solidFill>
                  <a:srgbClr val="FF0000"/>
                </a:solidFill>
              </a:rPr>
              <a:t>Remplacer le graphique ci-haut par les CV VAP 1,2,3 et 4 ainsi qu’un tableau synthèse avec les données brutes des vaccinées </a:t>
            </a:r>
          </a:p>
        </p:txBody>
      </p:sp>
      <p:sp>
        <p:nvSpPr>
          <p:cNvPr id="17" name="ZoneTexte 16">
            <a:extLst>
              <a:ext uri="{FF2B5EF4-FFF2-40B4-BE49-F238E27FC236}">
                <a16:creationId xmlns:a16="http://schemas.microsoft.com/office/drawing/2014/main" id="{41261B78-B9D7-A4E1-1512-1E393EFA6714}"/>
              </a:ext>
            </a:extLst>
          </p:cNvPr>
          <p:cNvSpPr txBox="1"/>
          <p:nvPr/>
        </p:nvSpPr>
        <p:spPr>
          <a:xfrm>
            <a:off x="4632885" y="5639168"/>
            <a:ext cx="3996763" cy="1167114"/>
          </a:xfrm>
          <a:prstGeom prst="rect">
            <a:avLst/>
          </a:prstGeom>
          <a:noFill/>
        </p:spPr>
        <p:txBody>
          <a:bodyPr wrap="square">
            <a:spAutoFit/>
          </a:bodyPr>
          <a:lstStyle/>
          <a:p>
            <a:pPr marL="251899" marR="0" lvl="0" indent="-251899" algn="just" rtl="0">
              <a:lnSpc>
                <a:spcPct val="150000"/>
              </a:lnSpc>
              <a:spcBef>
                <a:spcPts val="0"/>
              </a:spcBef>
              <a:spcAft>
                <a:spcPts val="0"/>
              </a:spcAft>
              <a:buClr>
                <a:srgbClr val="0070C0"/>
              </a:buClr>
              <a:buSzPts val="1498"/>
              <a:buFont typeface="Wingdings" panose="05000000000000000000" pitchFamily="2" charset="2"/>
              <a:buChar char="v"/>
            </a:pPr>
            <a:r>
              <a:rPr lang="en-GB" sz="1200" b="1" i="0" u="none" strike="noStrike" cap="none" dirty="0">
                <a:solidFill>
                  <a:srgbClr val="0070C0"/>
                </a:solidFill>
                <a:latin typeface="Times New Roman"/>
                <a:ea typeface="Times New Roman"/>
                <a:cs typeface="Times New Roman"/>
                <a:sym typeface="Times New Roman"/>
              </a:rPr>
              <a:t>Bloc 1 (27 Novembre au 01 </a:t>
            </a:r>
            <a:r>
              <a:rPr lang="en-GB" sz="1200" b="1" i="0" u="none" strike="noStrike" cap="none" dirty="0" err="1">
                <a:solidFill>
                  <a:srgbClr val="0070C0"/>
                </a:solidFill>
                <a:latin typeface="Times New Roman"/>
                <a:ea typeface="Times New Roman"/>
                <a:cs typeface="Times New Roman"/>
                <a:sym typeface="Times New Roman"/>
              </a:rPr>
              <a:t>décembre</a:t>
            </a:r>
            <a:r>
              <a:rPr lang="en-GB" sz="1200" b="1" i="0" u="none" strike="noStrike" cap="none" dirty="0">
                <a:solidFill>
                  <a:srgbClr val="0070C0"/>
                </a:solidFill>
                <a:latin typeface="Times New Roman"/>
                <a:ea typeface="Times New Roman"/>
                <a:cs typeface="Times New Roman"/>
                <a:sym typeface="Times New Roman"/>
              </a:rPr>
              <a:t>  2025)</a:t>
            </a:r>
            <a:r>
              <a:rPr lang="en-GB" sz="1200" i="0" u="none" strike="noStrike" cap="none" dirty="0">
                <a:solidFill>
                  <a:srgbClr val="0070C0"/>
                </a:solidFill>
                <a:latin typeface="Times New Roman"/>
                <a:ea typeface="Times New Roman"/>
                <a:cs typeface="Times New Roman"/>
                <a:sym typeface="Times New Roman"/>
              </a:rPr>
              <a:t> </a:t>
            </a:r>
            <a:r>
              <a:rPr lang="en-GB" sz="1200" i="0" u="none" strike="noStrike" cap="none" dirty="0">
                <a:solidFill>
                  <a:schemeClr val="dk1"/>
                </a:solidFill>
                <a:latin typeface="Times New Roman"/>
                <a:ea typeface="Times New Roman"/>
                <a:cs typeface="Times New Roman"/>
                <a:sym typeface="Times New Roman"/>
              </a:rPr>
              <a:t>: Bas </a:t>
            </a:r>
            <a:r>
              <a:rPr lang="en-GB" sz="1200" i="0" u="none" strike="noStrike" cap="none" dirty="0" err="1">
                <a:solidFill>
                  <a:schemeClr val="dk1"/>
                </a:solidFill>
                <a:latin typeface="Times New Roman"/>
                <a:ea typeface="Times New Roman"/>
                <a:cs typeface="Times New Roman"/>
                <a:sym typeface="Times New Roman"/>
              </a:rPr>
              <a:t>Uélé</a:t>
            </a:r>
            <a:r>
              <a:rPr lang="en-GB" sz="1200" i="0" u="none" strike="noStrike" cap="none" dirty="0">
                <a:solidFill>
                  <a:schemeClr val="dk1"/>
                </a:solidFill>
                <a:latin typeface="Times New Roman"/>
                <a:ea typeface="Times New Roman"/>
                <a:cs typeface="Times New Roman"/>
                <a:sym typeface="Times New Roman"/>
              </a:rPr>
              <a:t>, Haut Katanga, Haut Lomami, Haut </a:t>
            </a:r>
            <a:r>
              <a:rPr lang="en-GB" sz="1200" i="0" u="none" strike="noStrike" cap="none" dirty="0" err="1">
                <a:solidFill>
                  <a:schemeClr val="dk1"/>
                </a:solidFill>
                <a:latin typeface="Times New Roman"/>
                <a:ea typeface="Times New Roman"/>
                <a:cs typeface="Times New Roman"/>
                <a:sym typeface="Times New Roman"/>
              </a:rPr>
              <a:t>Uélé</a:t>
            </a:r>
            <a:r>
              <a:rPr lang="en-GB" sz="1200" i="0" u="none" strike="noStrike" cap="none" dirty="0">
                <a:solidFill>
                  <a:schemeClr val="dk1"/>
                </a:solidFill>
                <a:latin typeface="Times New Roman"/>
                <a:ea typeface="Times New Roman"/>
                <a:cs typeface="Times New Roman"/>
                <a:sym typeface="Times New Roman"/>
              </a:rPr>
              <a:t>, </a:t>
            </a:r>
            <a:r>
              <a:rPr lang="en-GB" sz="1200" i="0" u="none" strike="noStrike" cap="none" dirty="0" err="1">
                <a:solidFill>
                  <a:schemeClr val="dk1"/>
                </a:solidFill>
                <a:latin typeface="Times New Roman"/>
                <a:ea typeface="Times New Roman"/>
                <a:cs typeface="Times New Roman"/>
                <a:sym typeface="Times New Roman"/>
              </a:rPr>
              <a:t>Ituri</a:t>
            </a:r>
            <a:r>
              <a:rPr lang="en-GB" sz="1200" i="0" u="none" strike="noStrike" cap="none" dirty="0">
                <a:solidFill>
                  <a:schemeClr val="dk1"/>
                </a:solidFill>
                <a:latin typeface="Times New Roman"/>
                <a:ea typeface="Times New Roman"/>
                <a:cs typeface="Times New Roman"/>
                <a:sym typeface="Times New Roman"/>
              </a:rPr>
              <a:t>, Lualaba et Tanganyika</a:t>
            </a:r>
          </a:p>
          <a:p>
            <a:pPr marR="0" lvl="0" algn="just" rtl="0">
              <a:lnSpc>
                <a:spcPct val="150000"/>
              </a:lnSpc>
              <a:spcBef>
                <a:spcPts val="0"/>
              </a:spcBef>
              <a:spcAft>
                <a:spcPts val="0"/>
              </a:spcAft>
              <a:buClr>
                <a:srgbClr val="0070C0"/>
              </a:buClr>
              <a:buSzPts val="1498"/>
            </a:pPr>
            <a:r>
              <a:rPr lang="en-GB" sz="1200" b="1" dirty="0" err="1">
                <a:solidFill>
                  <a:schemeClr val="dk1"/>
                </a:solidFill>
                <a:latin typeface="Times New Roman"/>
                <a:ea typeface="Times New Roman"/>
                <a:cs typeface="Times New Roman"/>
                <a:sym typeface="Times New Roman"/>
              </a:rPr>
              <a:t>Lancement</a:t>
            </a:r>
            <a:r>
              <a:rPr lang="en-GB" sz="1200" b="1" dirty="0">
                <a:solidFill>
                  <a:schemeClr val="dk1"/>
                </a:solidFill>
                <a:latin typeface="Times New Roman"/>
                <a:ea typeface="Times New Roman"/>
                <a:cs typeface="Times New Roman"/>
                <a:sym typeface="Times New Roman"/>
              </a:rPr>
              <a:t> </a:t>
            </a:r>
            <a:r>
              <a:rPr lang="en-GB" sz="1200" b="1" dirty="0" err="1">
                <a:solidFill>
                  <a:schemeClr val="dk1"/>
                </a:solidFill>
                <a:latin typeface="Times New Roman"/>
                <a:ea typeface="Times New Roman"/>
                <a:cs typeface="Times New Roman"/>
                <a:sym typeface="Times New Roman"/>
              </a:rPr>
              <a:t>officiel</a:t>
            </a:r>
            <a:r>
              <a:rPr lang="en-GB" sz="1200" b="1" dirty="0">
                <a:solidFill>
                  <a:schemeClr val="dk1"/>
                </a:solidFill>
                <a:latin typeface="Times New Roman"/>
                <a:ea typeface="Times New Roman"/>
                <a:cs typeface="Times New Roman"/>
                <a:sym typeface="Times New Roman"/>
              </a:rPr>
              <a:t> le 26 </a:t>
            </a:r>
            <a:r>
              <a:rPr lang="en-GB" sz="1200" b="1" dirty="0" err="1">
                <a:solidFill>
                  <a:schemeClr val="dk1"/>
                </a:solidFill>
                <a:latin typeface="Times New Roman"/>
                <a:ea typeface="Times New Roman"/>
                <a:cs typeface="Times New Roman"/>
                <a:sym typeface="Times New Roman"/>
              </a:rPr>
              <a:t>novembre</a:t>
            </a:r>
            <a:r>
              <a:rPr lang="en-GB" sz="1200" b="1" dirty="0">
                <a:solidFill>
                  <a:schemeClr val="dk1"/>
                </a:solidFill>
                <a:latin typeface="Times New Roman"/>
                <a:ea typeface="Times New Roman"/>
                <a:cs typeface="Times New Roman"/>
                <a:sym typeface="Times New Roman"/>
              </a:rPr>
              <a:t> 2025</a:t>
            </a:r>
            <a:endParaRPr lang="en-GB" sz="1200" b="1" i="0" u="none" strike="noStrike" cap="none" dirty="0">
              <a:solidFill>
                <a:schemeClr val="dk1"/>
              </a:solidFill>
              <a:latin typeface="Times New Roman"/>
              <a:ea typeface="Times New Roman"/>
              <a:cs typeface="Times New Roman"/>
              <a:sym typeface="Times New Roman"/>
            </a:endParaRPr>
          </a:p>
        </p:txBody>
      </p:sp>
      <p:graphicFrame>
        <p:nvGraphicFramePr>
          <p:cNvPr id="18" name="Chart 1">
            <a:extLst>
              <a:ext uri="{FF2B5EF4-FFF2-40B4-BE49-F238E27FC236}">
                <a16:creationId xmlns:a16="http://schemas.microsoft.com/office/drawing/2014/main" id="{052EA11C-961B-9AD4-8F14-9C5601FA75E0}"/>
              </a:ext>
            </a:extLst>
          </p:cNvPr>
          <p:cNvGraphicFramePr>
            <a:graphicFrameLocks/>
          </p:cNvGraphicFramePr>
          <p:nvPr>
            <p:extLst>
              <p:ext uri="{D42A27DB-BD31-4B8C-83A1-F6EECF244321}">
                <p14:modId xmlns:p14="http://schemas.microsoft.com/office/powerpoint/2010/main" val="3331139892"/>
              </p:ext>
            </p:extLst>
          </p:nvPr>
        </p:nvGraphicFramePr>
        <p:xfrm>
          <a:off x="175699" y="3725251"/>
          <a:ext cx="4024001" cy="2028018"/>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18895119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 name="Google Shape;221;p16"/>
          <p:cNvSpPr txBox="1"/>
          <p:nvPr/>
        </p:nvSpPr>
        <p:spPr>
          <a:xfrm>
            <a:off x="458592" y="317941"/>
            <a:ext cx="11274800" cy="731600"/>
          </a:xfrm>
          <a:prstGeom prst="rect">
            <a:avLst/>
          </a:prstGeom>
          <a:noFill/>
          <a:ln>
            <a:noFill/>
          </a:ln>
        </p:spPr>
        <p:txBody>
          <a:bodyPr spcFirstLastPara="1" wrap="square" lIns="0" tIns="0" rIns="0" bIns="0" anchor="t">
            <a:noAutofit/>
          </a:bodyPr>
          <a:lstStyle/>
          <a:p>
            <a:pPr>
              <a:buSzPts val="1100"/>
            </a:pPr>
            <a:r>
              <a:rPr lang="fr-FR" altLang="en-GB" sz="3200" dirty="0">
                <a:solidFill>
                  <a:srgbClr val="145ABE"/>
                </a:solidFill>
                <a:latin typeface="Times New Roman"/>
                <a:ea typeface="Times New Roman"/>
                <a:cs typeface="Times New Roman"/>
                <a:sym typeface="Times New Roman" panose="02020603050405020304"/>
              </a:rPr>
              <a:t>Introduction VAP</a:t>
            </a:r>
          </a:p>
        </p:txBody>
      </p:sp>
      <p:sp>
        <p:nvSpPr>
          <p:cNvPr id="222" name="Google Shape;222;p16"/>
          <p:cNvSpPr/>
          <p:nvPr/>
        </p:nvSpPr>
        <p:spPr>
          <a:xfrm>
            <a:off x="0" y="272241"/>
            <a:ext cx="235600" cy="655200"/>
          </a:xfrm>
          <a:prstGeom prst="rect">
            <a:avLst/>
          </a:prstGeom>
          <a:solidFill>
            <a:srgbClr val="1155CC"/>
          </a:solidFill>
          <a:ln>
            <a:noFill/>
          </a:ln>
        </p:spPr>
        <p:txBody>
          <a:bodyPr spcFirstLastPara="1" wrap="square" lIns="91400" tIns="91400" rIns="91400" bIns="91400" anchor="ctr">
            <a:noAutofit/>
          </a:bodyPr>
          <a:lstStyle/>
          <a:p>
            <a:endParaRPr sz="1865">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4" name="Google Shape;224;p16"/>
          <p:cNvSpPr txBox="1"/>
          <p:nvPr/>
        </p:nvSpPr>
        <p:spPr>
          <a:xfrm>
            <a:off x="267700" y="6492844"/>
            <a:ext cx="11414800" cy="184666"/>
          </a:xfrm>
          <a:prstGeom prst="rect">
            <a:avLst/>
          </a:prstGeom>
          <a:noFill/>
          <a:ln>
            <a:noFill/>
          </a:ln>
        </p:spPr>
        <p:txBody>
          <a:bodyPr spcFirstLastPara="1" wrap="square" lIns="0" tIns="0" rIns="121900" bIns="0" anchor="t">
            <a:spAutoFit/>
          </a:bodyPr>
          <a:lstStyle/>
          <a:p>
            <a:r>
              <a:rPr lang="fr-FR" sz="1200" b="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grpSp>
        <p:nvGrpSpPr>
          <p:cNvPr id="6" name="Groupe 3">
            <a:extLst>
              <a:ext uri="{FF2B5EF4-FFF2-40B4-BE49-F238E27FC236}">
                <a16:creationId xmlns:a16="http://schemas.microsoft.com/office/drawing/2014/main" id="{0B3B141A-071A-4606-2525-EA35FA926831}"/>
              </a:ext>
            </a:extLst>
          </p:cNvPr>
          <p:cNvGrpSpPr/>
          <p:nvPr/>
        </p:nvGrpSpPr>
        <p:grpSpPr>
          <a:xfrm>
            <a:off x="1161598" y="1049541"/>
            <a:ext cx="5431821" cy="4546024"/>
            <a:chOff x="6467139" y="157541"/>
            <a:chExt cx="5365711" cy="5119444"/>
          </a:xfrm>
        </p:grpSpPr>
        <p:pic>
          <p:nvPicPr>
            <p:cNvPr id="12" name="Picture 11">
              <a:extLst>
                <a:ext uri="{FF2B5EF4-FFF2-40B4-BE49-F238E27FC236}">
                  <a16:creationId xmlns:a16="http://schemas.microsoft.com/office/drawing/2014/main" id="{CD520E4D-79D1-05C3-2DA1-54F99352C635}"/>
                </a:ext>
              </a:extLst>
            </p:cNvPr>
            <p:cNvPicPr>
              <a:picLocks noChangeAspect="1"/>
            </p:cNvPicPr>
            <p:nvPr/>
          </p:nvPicPr>
          <p:blipFill>
            <a:blip r:embed="rId3"/>
            <a:srcRect l="13472" t="1644" r="21786" b="199"/>
            <a:stretch>
              <a:fillRect/>
            </a:stretch>
          </p:blipFill>
          <p:spPr>
            <a:xfrm>
              <a:off x="6467139" y="157541"/>
              <a:ext cx="5365711" cy="5119444"/>
            </a:xfrm>
            <a:prstGeom prst="round2DiagRect">
              <a:avLst/>
            </a:prstGeom>
          </p:spPr>
        </p:pic>
        <p:pic>
          <p:nvPicPr>
            <p:cNvPr id="13" name="Image 1" descr="Une image contenant texte, Police, capture d’écran, conception&#10;&#10;Le contenu généré par l’IA peut être incorrect.">
              <a:extLst>
                <a:ext uri="{FF2B5EF4-FFF2-40B4-BE49-F238E27FC236}">
                  <a16:creationId xmlns:a16="http://schemas.microsoft.com/office/drawing/2014/main" id="{50494E7E-89E6-153A-B0B5-0279AC14EAE3}"/>
                </a:ext>
              </a:extLst>
            </p:cNvPr>
            <p:cNvPicPr>
              <a:picLocks noChangeAspect="1"/>
            </p:cNvPicPr>
            <p:nvPr/>
          </p:nvPicPr>
          <p:blipFill>
            <a:blip r:embed="rId4"/>
            <a:stretch>
              <a:fillRect/>
            </a:stretch>
          </p:blipFill>
          <p:spPr>
            <a:xfrm>
              <a:off x="6468745" y="3824922"/>
              <a:ext cx="1733550" cy="1057275"/>
            </a:xfrm>
            <a:prstGeom prst="rect">
              <a:avLst/>
            </a:prstGeom>
          </p:spPr>
        </p:pic>
      </p:grpSp>
      <p:sp>
        <p:nvSpPr>
          <p:cNvPr id="18" name="ZoneTexte 17">
            <a:extLst>
              <a:ext uri="{FF2B5EF4-FFF2-40B4-BE49-F238E27FC236}">
                <a16:creationId xmlns:a16="http://schemas.microsoft.com/office/drawing/2014/main" id="{41261B78-B9D7-A4E1-1512-1E393EFA6714}"/>
              </a:ext>
            </a:extLst>
          </p:cNvPr>
          <p:cNvSpPr txBox="1"/>
          <p:nvPr/>
        </p:nvSpPr>
        <p:spPr>
          <a:xfrm>
            <a:off x="1161598" y="5736334"/>
            <a:ext cx="4302627" cy="369332"/>
          </a:xfrm>
          <a:prstGeom prst="rect">
            <a:avLst/>
          </a:prstGeom>
          <a:noFill/>
        </p:spPr>
        <p:txBody>
          <a:bodyPr wrap="square">
            <a:spAutoFit/>
          </a:bodyPr>
          <a:lstStyle/>
          <a:p>
            <a:pPr marL="251892" indent="-251892" algn="just">
              <a:lnSpc>
                <a:spcPct val="150000"/>
              </a:lnSpc>
              <a:buClr>
                <a:srgbClr val="0070C0"/>
              </a:buClr>
              <a:buSzPts val="1498"/>
              <a:buFont typeface="Wingdings" panose="05000000000000000000" pitchFamily="2" charset="2"/>
              <a:buChar char="v"/>
            </a:pPr>
            <a:r>
              <a:rPr lang="en-GB" sz="1200" b="1" dirty="0">
                <a:solidFill>
                  <a:srgbClr val="0070C0"/>
                </a:solidFill>
                <a:latin typeface="Times New Roman"/>
                <a:ea typeface="Times New Roman"/>
                <a:cs typeface="Times New Roman"/>
                <a:sym typeface="Times New Roman"/>
              </a:rPr>
              <a:t>  16 sur 26 provinces </a:t>
            </a:r>
            <a:r>
              <a:rPr lang="en-GB" sz="1200" b="1" dirty="0" err="1">
                <a:solidFill>
                  <a:srgbClr val="0070C0"/>
                </a:solidFill>
                <a:latin typeface="Times New Roman"/>
                <a:ea typeface="Times New Roman"/>
                <a:cs typeface="Times New Roman"/>
                <a:sym typeface="Times New Roman"/>
              </a:rPr>
              <a:t>ont</a:t>
            </a:r>
            <a:r>
              <a:rPr lang="en-GB" sz="1200" b="1" dirty="0">
                <a:solidFill>
                  <a:srgbClr val="0070C0"/>
                </a:solidFill>
                <a:latin typeface="Times New Roman"/>
                <a:ea typeface="Times New Roman"/>
                <a:cs typeface="Times New Roman"/>
                <a:sym typeface="Times New Roman"/>
              </a:rPr>
              <a:t> </a:t>
            </a:r>
            <a:r>
              <a:rPr lang="en-GB" sz="1200" b="1" dirty="0" err="1">
                <a:solidFill>
                  <a:srgbClr val="0070C0"/>
                </a:solidFill>
                <a:latin typeface="Times New Roman"/>
                <a:ea typeface="Times New Roman"/>
                <a:cs typeface="Times New Roman"/>
                <a:sym typeface="Times New Roman"/>
              </a:rPr>
              <a:t>introduits</a:t>
            </a:r>
            <a:r>
              <a:rPr lang="en-GB" sz="1200" b="1" dirty="0">
                <a:solidFill>
                  <a:srgbClr val="0070C0"/>
                </a:solidFill>
                <a:latin typeface="Times New Roman"/>
                <a:ea typeface="Times New Roman"/>
                <a:cs typeface="Times New Roman"/>
                <a:sym typeface="Times New Roman"/>
              </a:rPr>
              <a:t> le VAP (Bloc 1 &amp; 2) </a:t>
            </a:r>
            <a:endParaRPr lang="en-GB" sz="1200" b="1" dirty="0">
              <a:solidFill>
                <a:schemeClr val="dk1"/>
              </a:solidFill>
              <a:latin typeface="Times New Roman"/>
              <a:ea typeface="Times New Roman"/>
              <a:cs typeface="Times New Roman"/>
              <a:sym typeface="Times New Roman"/>
            </a:endParaRPr>
          </a:p>
        </p:txBody>
      </p:sp>
      <p:graphicFrame>
        <p:nvGraphicFramePr>
          <p:cNvPr id="9" name="Text Placeholder 6">
            <a:extLst>
              <a:ext uri="{FF2B5EF4-FFF2-40B4-BE49-F238E27FC236}">
                <a16:creationId xmlns:a16="http://schemas.microsoft.com/office/drawing/2014/main" id="{F194614A-2F7F-CE9C-85D7-42328E62CC39}"/>
              </a:ext>
            </a:extLst>
          </p:cNvPr>
          <p:cNvGraphicFramePr/>
          <p:nvPr/>
        </p:nvGraphicFramePr>
        <p:xfrm>
          <a:off x="7329253" y="1453780"/>
          <a:ext cx="4404139" cy="3263994"/>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2" name="Rectangle 1"/>
          <p:cNvSpPr/>
          <p:nvPr/>
        </p:nvSpPr>
        <p:spPr>
          <a:xfrm>
            <a:off x="7756765" y="1252053"/>
            <a:ext cx="3549113" cy="369332"/>
          </a:xfrm>
          <a:prstGeom prst="rect">
            <a:avLst/>
          </a:prstGeom>
        </p:spPr>
        <p:txBody>
          <a:bodyPr wrap="none">
            <a:spAutoFit/>
          </a:bodyPr>
          <a:lstStyle/>
          <a:p>
            <a:r>
              <a:rPr lang="fr-FR" dirty="0">
                <a:solidFill>
                  <a:srgbClr val="145ABE"/>
                </a:solidFill>
                <a:latin typeface="Times New Roman"/>
                <a:sym typeface="Arial"/>
              </a:rPr>
              <a:t>Objectif national de couverture VAP</a:t>
            </a:r>
            <a:endParaRPr lang="fr-FR" dirty="0"/>
          </a:p>
        </p:txBody>
      </p:sp>
    </p:spTree>
    <p:extLst>
      <p:ext uri="{BB962C8B-B14F-4D97-AF65-F5344CB8AC3E}">
        <p14:creationId xmlns:p14="http://schemas.microsoft.com/office/powerpoint/2010/main" val="42188757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16E61-1883-FF69-05AB-8ABF14E183F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5FD5EA9-6448-9C42-4EB0-5E6269F2114C}"/>
              </a:ext>
            </a:extLst>
          </p:cNvPr>
          <p:cNvSpPr>
            <a:spLocks noGrp="1"/>
          </p:cNvSpPr>
          <p:nvPr>
            <p:ph type="sldNum" sz="quarter" idx="12"/>
          </p:nvPr>
        </p:nvSpPr>
        <p:spPr/>
        <p:txBody>
          <a:bodyPr/>
          <a:lstStyle/>
          <a:p>
            <a:fld id="{E28D367D-202E-4BB0-8243-51A46362D732}" type="slidenum">
              <a:rPr lang="en-US" smtClean="0"/>
              <a:pPr/>
              <a:t>43</a:t>
            </a:fld>
            <a:endParaRPr lang="en-US"/>
          </a:p>
        </p:txBody>
      </p:sp>
      <p:sp>
        <p:nvSpPr>
          <p:cNvPr id="4" name="Text Placeholder 3">
            <a:extLst>
              <a:ext uri="{FF2B5EF4-FFF2-40B4-BE49-F238E27FC236}">
                <a16:creationId xmlns:a16="http://schemas.microsoft.com/office/drawing/2014/main" id="{257DFB93-C2CB-A86C-ACCD-09C20EE6C73F}"/>
              </a:ext>
            </a:extLst>
          </p:cNvPr>
          <p:cNvSpPr>
            <a:spLocks noGrp="1"/>
          </p:cNvSpPr>
          <p:nvPr>
            <p:ph type="body" sz="quarter" idx="16"/>
          </p:nvPr>
        </p:nvSpPr>
        <p:spPr>
          <a:xfrm>
            <a:off x="588265" y="241447"/>
            <a:ext cx="10718800" cy="817587"/>
          </a:xfrm>
        </p:spPr>
        <p:txBody>
          <a:bodyPr>
            <a:normAutofit fontScale="92500" lnSpcReduction="10000"/>
          </a:bodyPr>
          <a:lstStyle/>
          <a:p>
            <a:pPr algn="ctr"/>
            <a:r>
              <a:rPr lang="fr-FR" sz="2800" b="1" dirty="0">
                <a:solidFill>
                  <a:prstClr val="black">
                    <a:lumMod val="65000"/>
                    <a:lumOff val="35000"/>
                  </a:prstClr>
                </a:solidFill>
              </a:rPr>
              <a:t>Tendance de la couverture vaccinale contre le paludisme</a:t>
            </a:r>
            <a:r>
              <a:rPr lang="en-US" sz="2800" b="1" dirty="0">
                <a:solidFill>
                  <a:prstClr val="black">
                    <a:lumMod val="65000"/>
                    <a:lumOff val="35000"/>
                  </a:prstClr>
                </a:solidFill>
              </a:rPr>
              <a:t>   </a:t>
            </a:r>
          </a:p>
          <a:p>
            <a:pPr algn="ctr"/>
            <a:r>
              <a:rPr lang="en-US" sz="2800" b="1" dirty="0">
                <a:solidFill>
                  <a:prstClr val="black">
                    <a:lumMod val="65000"/>
                    <a:lumOff val="35000"/>
                  </a:prstClr>
                </a:solidFill>
              </a:rPr>
              <a:t>KONGO CENTRAL Oct 2024-Octobre 2025 </a:t>
            </a:r>
            <a:endParaRPr lang="fr-FR" sz="2800" b="1" dirty="0">
              <a:solidFill>
                <a:schemeClr val="tx2"/>
              </a:solidFill>
            </a:endParaRPr>
          </a:p>
        </p:txBody>
      </p:sp>
      <p:graphicFrame>
        <p:nvGraphicFramePr>
          <p:cNvPr id="6" name="Chart 5">
            <a:extLst>
              <a:ext uri="{FF2B5EF4-FFF2-40B4-BE49-F238E27FC236}">
                <a16:creationId xmlns:a16="http://schemas.microsoft.com/office/drawing/2014/main" id="{552E33FA-C350-8AA4-5DAC-2ACF449B9A91}"/>
              </a:ext>
            </a:extLst>
          </p:cNvPr>
          <p:cNvGraphicFramePr>
            <a:graphicFrameLocks/>
          </p:cNvGraphicFramePr>
          <p:nvPr/>
        </p:nvGraphicFramePr>
        <p:xfrm>
          <a:off x="229423" y="1059035"/>
          <a:ext cx="9179620" cy="5297317"/>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a:extLst>
              <a:ext uri="{FF2B5EF4-FFF2-40B4-BE49-F238E27FC236}">
                <a16:creationId xmlns:a16="http://schemas.microsoft.com/office/drawing/2014/main" id="{FFE6FA9E-2C51-A9DB-3D5D-7C71A50E2A0F}"/>
              </a:ext>
            </a:extLst>
          </p:cNvPr>
          <p:cNvSpPr txBox="1"/>
          <p:nvPr/>
        </p:nvSpPr>
        <p:spPr>
          <a:xfrm>
            <a:off x="9886122" y="3816129"/>
            <a:ext cx="2142798" cy="1169551"/>
          </a:xfrm>
          <a:prstGeom prst="rect">
            <a:avLst/>
          </a:prstGeom>
          <a:noFill/>
        </p:spPr>
        <p:txBody>
          <a:bodyPr wrap="square" rtlCol="0">
            <a:spAutoFit/>
          </a:bodyPr>
          <a:lstStyle/>
          <a:p>
            <a:r>
              <a:rPr lang="fr-FR" sz="1400" dirty="0">
                <a:latin typeface="Arial Black" panose="020B0A04020102020204" pitchFamily="34" charset="0"/>
              </a:rPr>
              <a:t>Toutes les doses sont au delà de la cible nationale fixée pour l’introduction</a:t>
            </a:r>
          </a:p>
        </p:txBody>
      </p:sp>
    </p:spTree>
    <p:extLst>
      <p:ext uri="{BB962C8B-B14F-4D97-AF65-F5344CB8AC3E}">
        <p14:creationId xmlns:p14="http://schemas.microsoft.com/office/powerpoint/2010/main" val="2928900437"/>
      </p:ext>
    </p:extLst>
  </p:cSld>
  <p:clrMapOvr>
    <a:masterClrMapping/>
  </p:clrMapOvr>
  <p:transition spd="med">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CCAAFCF-4775-0332-C62D-E28DC98DEA67}"/>
              </a:ext>
            </a:extLst>
          </p:cNvPr>
          <p:cNvSpPr>
            <a:spLocks noGrp="1"/>
          </p:cNvSpPr>
          <p:nvPr>
            <p:ph type="body" sz="quarter" idx="16"/>
          </p:nvPr>
        </p:nvSpPr>
        <p:spPr>
          <a:xfrm>
            <a:off x="835153" y="188857"/>
            <a:ext cx="10718800" cy="643248"/>
          </a:xfrm>
        </p:spPr>
        <p:txBody>
          <a:bodyPr>
            <a:normAutofit/>
          </a:bodyPr>
          <a:lstStyle/>
          <a:p>
            <a:pPr algn="ctr"/>
            <a:r>
              <a:rPr lang="fr-FR" dirty="0"/>
              <a:t>CV VAP 8 Provinces du Bloc1 </a:t>
            </a:r>
            <a:r>
              <a:rPr lang="fr-FR" dirty="0">
                <a:solidFill>
                  <a:srgbClr val="FF0000"/>
                </a:solidFill>
              </a:rPr>
              <a:t> </a:t>
            </a:r>
            <a:endParaRPr lang="fr-FR" dirty="0"/>
          </a:p>
        </p:txBody>
      </p:sp>
      <p:graphicFrame>
        <p:nvGraphicFramePr>
          <p:cNvPr id="2" name="Table 1">
            <a:extLst>
              <a:ext uri="{FF2B5EF4-FFF2-40B4-BE49-F238E27FC236}">
                <a16:creationId xmlns:a16="http://schemas.microsoft.com/office/drawing/2014/main" id="{5F037459-2DE7-A3E2-A825-579BC770545E}"/>
              </a:ext>
            </a:extLst>
          </p:cNvPr>
          <p:cNvGraphicFramePr>
            <a:graphicFrameLocks noGrp="1"/>
          </p:cNvGraphicFramePr>
          <p:nvPr>
            <p:extLst>
              <p:ext uri="{D42A27DB-BD31-4B8C-83A1-F6EECF244321}">
                <p14:modId xmlns:p14="http://schemas.microsoft.com/office/powerpoint/2010/main" val="1382597429"/>
              </p:ext>
            </p:extLst>
          </p:nvPr>
        </p:nvGraphicFramePr>
        <p:xfrm>
          <a:off x="246888" y="826633"/>
          <a:ext cx="11750055" cy="5842510"/>
        </p:xfrm>
        <a:graphic>
          <a:graphicData uri="http://schemas.openxmlformats.org/drawingml/2006/table">
            <a:tbl>
              <a:tblPr>
                <a:tableStyleId>{BC89EF96-8CEA-46FF-86C4-4CE0E7609802}</a:tableStyleId>
              </a:tblPr>
              <a:tblGrid>
                <a:gridCol w="1060439">
                  <a:extLst>
                    <a:ext uri="{9D8B030D-6E8A-4147-A177-3AD203B41FA5}">
                      <a16:colId xmlns:a16="http://schemas.microsoft.com/office/drawing/2014/main" val="1457160193"/>
                    </a:ext>
                  </a:extLst>
                </a:gridCol>
                <a:gridCol w="1060439">
                  <a:extLst>
                    <a:ext uri="{9D8B030D-6E8A-4147-A177-3AD203B41FA5}">
                      <a16:colId xmlns:a16="http://schemas.microsoft.com/office/drawing/2014/main" val="4064017895"/>
                    </a:ext>
                  </a:extLst>
                </a:gridCol>
                <a:gridCol w="656147">
                  <a:extLst>
                    <a:ext uri="{9D8B030D-6E8A-4147-A177-3AD203B41FA5}">
                      <a16:colId xmlns:a16="http://schemas.microsoft.com/office/drawing/2014/main" val="3511776465"/>
                    </a:ext>
                  </a:extLst>
                </a:gridCol>
                <a:gridCol w="766926">
                  <a:extLst>
                    <a:ext uri="{9D8B030D-6E8A-4147-A177-3AD203B41FA5}">
                      <a16:colId xmlns:a16="http://schemas.microsoft.com/office/drawing/2014/main" val="635188235"/>
                    </a:ext>
                  </a:extLst>
                </a:gridCol>
                <a:gridCol w="698754">
                  <a:extLst>
                    <a:ext uri="{9D8B030D-6E8A-4147-A177-3AD203B41FA5}">
                      <a16:colId xmlns:a16="http://schemas.microsoft.com/office/drawing/2014/main" val="966308572"/>
                    </a:ext>
                  </a:extLst>
                </a:gridCol>
                <a:gridCol w="745587">
                  <a:extLst>
                    <a:ext uri="{9D8B030D-6E8A-4147-A177-3AD203B41FA5}">
                      <a16:colId xmlns:a16="http://schemas.microsoft.com/office/drawing/2014/main" val="1099915686"/>
                    </a:ext>
                  </a:extLst>
                </a:gridCol>
                <a:gridCol w="775234">
                  <a:extLst>
                    <a:ext uri="{9D8B030D-6E8A-4147-A177-3AD203B41FA5}">
                      <a16:colId xmlns:a16="http://schemas.microsoft.com/office/drawing/2014/main" val="3987829695"/>
                    </a:ext>
                  </a:extLst>
                </a:gridCol>
                <a:gridCol w="524314">
                  <a:extLst>
                    <a:ext uri="{9D8B030D-6E8A-4147-A177-3AD203B41FA5}">
                      <a16:colId xmlns:a16="http://schemas.microsoft.com/office/drawing/2014/main" val="4180478681"/>
                    </a:ext>
                  </a:extLst>
                </a:gridCol>
                <a:gridCol w="716061">
                  <a:extLst>
                    <a:ext uri="{9D8B030D-6E8A-4147-A177-3AD203B41FA5}">
                      <a16:colId xmlns:a16="http://schemas.microsoft.com/office/drawing/2014/main" val="2718804457"/>
                    </a:ext>
                  </a:extLst>
                </a:gridCol>
                <a:gridCol w="620187">
                  <a:extLst>
                    <a:ext uri="{9D8B030D-6E8A-4147-A177-3AD203B41FA5}">
                      <a16:colId xmlns:a16="http://schemas.microsoft.com/office/drawing/2014/main" val="2125250865"/>
                    </a:ext>
                  </a:extLst>
                </a:gridCol>
                <a:gridCol w="620187">
                  <a:extLst>
                    <a:ext uri="{9D8B030D-6E8A-4147-A177-3AD203B41FA5}">
                      <a16:colId xmlns:a16="http://schemas.microsoft.com/office/drawing/2014/main" val="776921547"/>
                    </a:ext>
                  </a:extLst>
                </a:gridCol>
                <a:gridCol w="620187">
                  <a:extLst>
                    <a:ext uri="{9D8B030D-6E8A-4147-A177-3AD203B41FA5}">
                      <a16:colId xmlns:a16="http://schemas.microsoft.com/office/drawing/2014/main" val="2357800702"/>
                    </a:ext>
                  </a:extLst>
                </a:gridCol>
                <a:gridCol w="620187">
                  <a:extLst>
                    <a:ext uri="{9D8B030D-6E8A-4147-A177-3AD203B41FA5}">
                      <a16:colId xmlns:a16="http://schemas.microsoft.com/office/drawing/2014/main" val="1098624142"/>
                    </a:ext>
                  </a:extLst>
                </a:gridCol>
                <a:gridCol w="518515">
                  <a:extLst>
                    <a:ext uri="{9D8B030D-6E8A-4147-A177-3AD203B41FA5}">
                      <a16:colId xmlns:a16="http://schemas.microsoft.com/office/drawing/2014/main" val="2772050001"/>
                    </a:ext>
                  </a:extLst>
                </a:gridCol>
                <a:gridCol w="721860">
                  <a:extLst>
                    <a:ext uri="{9D8B030D-6E8A-4147-A177-3AD203B41FA5}">
                      <a16:colId xmlns:a16="http://schemas.microsoft.com/office/drawing/2014/main" val="923842603"/>
                    </a:ext>
                  </a:extLst>
                </a:gridCol>
                <a:gridCol w="475986">
                  <a:extLst>
                    <a:ext uri="{9D8B030D-6E8A-4147-A177-3AD203B41FA5}">
                      <a16:colId xmlns:a16="http://schemas.microsoft.com/office/drawing/2014/main" val="2429848927"/>
                    </a:ext>
                  </a:extLst>
                </a:gridCol>
                <a:gridCol w="549045">
                  <a:extLst>
                    <a:ext uri="{9D8B030D-6E8A-4147-A177-3AD203B41FA5}">
                      <a16:colId xmlns:a16="http://schemas.microsoft.com/office/drawing/2014/main" val="954603006"/>
                    </a:ext>
                  </a:extLst>
                </a:gridCol>
              </a:tblGrid>
              <a:tr h="584251">
                <a:tc rowSpan="2">
                  <a:txBody>
                    <a:bodyPr/>
                    <a:lstStyle/>
                    <a:p>
                      <a:pPr algn="ctr" fontAlgn="b">
                        <a:buNone/>
                      </a:pPr>
                      <a:r>
                        <a:rPr lang="en-US" sz="1600" b="1" u="none" strike="noStrike" dirty="0">
                          <a:effectLst/>
                        </a:rPr>
                        <a:t>Province</a:t>
                      </a:r>
                      <a:endParaRPr lang="en-US" sz="1600" b="1" i="0" u="none" strike="noStrike" dirty="0">
                        <a:effectLst/>
                        <a:latin typeface="Arial" panose="020B0604020202020204" pitchFamily="34" charset="0"/>
                      </a:endParaRPr>
                    </a:p>
                  </a:txBody>
                  <a:tcPr marL="6351" marR="6351" marT="6351" marB="0" anchor="ctr">
                    <a:solidFill>
                      <a:schemeClr val="tx2">
                        <a:lumMod val="10000"/>
                        <a:lumOff val="90000"/>
                      </a:schemeClr>
                    </a:solidFill>
                  </a:tcPr>
                </a:tc>
                <a:tc rowSpan="2">
                  <a:txBody>
                    <a:bodyPr/>
                    <a:lstStyle/>
                    <a:p>
                      <a:pPr algn="ctr" fontAlgn="b">
                        <a:buNone/>
                      </a:pPr>
                      <a:r>
                        <a:rPr lang="en-US" sz="1600" b="1" i="0" u="none" strike="noStrike" dirty="0" err="1">
                          <a:effectLst/>
                          <a:latin typeface="Arial" panose="020B0604020202020204" pitchFamily="34" charset="0"/>
                        </a:rPr>
                        <a:t>Nbre</a:t>
                      </a:r>
                      <a:r>
                        <a:rPr lang="en-US" sz="1600" b="1" i="0" u="none" strike="noStrike" baseline="0" dirty="0">
                          <a:effectLst/>
                          <a:latin typeface="Arial" panose="020B0604020202020204" pitchFamily="34" charset="0"/>
                        </a:rPr>
                        <a:t> ZS</a:t>
                      </a:r>
                      <a:endParaRPr lang="en-US" sz="1600" b="1" i="0" u="none" strike="noStrike" dirty="0">
                        <a:effectLst/>
                        <a:latin typeface="Arial" panose="020B0604020202020204" pitchFamily="34" charset="0"/>
                      </a:endParaRPr>
                    </a:p>
                  </a:txBody>
                  <a:tcPr marL="6351" marR="6351" marT="6351" marB="0" anchor="ctr">
                    <a:solidFill>
                      <a:schemeClr val="tx2">
                        <a:lumMod val="10000"/>
                        <a:lumOff val="90000"/>
                      </a:schemeClr>
                    </a:solidFill>
                  </a:tcPr>
                </a:tc>
                <a:tc>
                  <a:txBody>
                    <a:bodyPr/>
                    <a:lstStyle/>
                    <a:p>
                      <a:pPr algn="ctr" fontAlgn="b">
                        <a:buNone/>
                      </a:pPr>
                      <a:r>
                        <a:rPr lang="en-US" sz="1600" b="0" u="none" strike="noStrike" dirty="0">
                          <a:effectLst/>
                        </a:rPr>
                        <a:t>May-25</a:t>
                      </a:r>
                      <a:endParaRPr lang="en-US" sz="1600" b="0" i="0" u="none" strike="noStrike" dirty="0">
                        <a:effectLst/>
                        <a:latin typeface="Arial" panose="020B0604020202020204" pitchFamily="34" charset="0"/>
                      </a:endParaRPr>
                    </a:p>
                  </a:txBody>
                  <a:tcPr marL="6351" marR="6351" marT="6351" marB="0" anchor="ctr">
                    <a:solidFill>
                      <a:schemeClr val="tx2">
                        <a:lumMod val="10000"/>
                        <a:lumOff val="90000"/>
                      </a:schemeClr>
                    </a:solidFill>
                  </a:tcPr>
                </a:tc>
                <a:tc gridSpan="2">
                  <a:txBody>
                    <a:bodyPr/>
                    <a:lstStyle/>
                    <a:p>
                      <a:pPr algn="ctr" fontAlgn="b">
                        <a:buNone/>
                      </a:pPr>
                      <a:r>
                        <a:rPr lang="en-US" sz="1600" b="0" u="none" strike="noStrike">
                          <a:effectLst/>
                        </a:rPr>
                        <a:t>June-25</a:t>
                      </a:r>
                      <a:endParaRPr lang="en-US" sz="1600" b="0" i="0" u="none" strike="noStrike">
                        <a:effectLst/>
                        <a:latin typeface="Arial" panose="020B0604020202020204" pitchFamily="34" charset="0"/>
                      </a:endParaRPr>
                    </a:p>
                  </a:txBody>
                  <a:tcPr marL="6351" marR="6351" marT="6351" marB="0" anchor="ctr">
                    <a:solidFill>
                      <a:schemeClr val="tx2">
                        <a:lumMod val="10000"/>
                        <a:lumOff val="90000"/>
                      </a:schemeClr>
                    </a:solidFill>
                  </a:tcPr>
                </a:tc>
                <a:tc hMerge="1">
                  <a:txBody>
                    <a:bodyPr/>
                    <a:lstStyle/>
                    <a:p>
                      <a:endParaRPr lang="fr-FR"/>
                    </a:p>
                  </a:txBody>
                  <a:tcPr/>
                </a:tc>
                <a:tc gridSpan="3">
                  <a:txBody>
                    <a:bodyPr/>
                    <a:lstStyle/>
                    <a:p>
                      <a:pPr algn="ctr" fontAlgn="b">
                        <a:buNone/>
                      </a:pPr>
                      <a:r>
                        <a:rPr lang="en-US" sz="1600" b="0" u="none" strike="noStrike">
                          <a:effectLst/>
                        </a:rPr>
                        <a:t>July-25</a:t>
                      </a:r>
                      <a:endParaRPr lang="en-US" sz="1600" b="0" i="0" u="none" strike="noStrike">
                        <a:effectLst/>
                        <a:latin typeface="Arial" panose="020B0604020202020204" pitchFamily="34" charset="0"/>
                      </a:endParaRPr>
                    </a:p>
                  </a:txBody>
                  <a:tcPr marL="6351" marR="6351" marT="6351" marB="0" anchor="ctr">
                    <a:solidFill>
                      <a:schemeClr val="tx2">
                        <a:lumMod val="10000"/>
                        <a:lumOff val="90000"/>
                      </a:schemeClr>
                    </a:solidFill>
                  </a:tcPr>
                </a:tc>
                <a:tc hMerge="1">
                  <a:txBody>
                    <a:bodyPr/>
                    <a:lstStyle/>
                    <a:p>
                      <a:endParaRPr lang="fr-FR"/>
                    </a:p>
                  </a:txBody>
                  <a:tcPr/>
                </a:tc>
                <a:tc hMerge="1">
                  <a:txBody>
                    <a:bodyPr/>
                    <a:lstStyle/>
                    <a:p>
                      <a:endParaRPr lang="fr-FR"/>
                    </a:p>
                  </a:txBody>
                  <a:tcPr/>
                </a:tc>
                <a:tc gridSpan="3">
                  <a:txBody>
                    <a:bodyPr/>
                    <a:lstStyle/>
                    <a:p>
                      <a:pPr algn="ctr" fontAlgn="b">
                        <a:buNone/>
                      </a:pPr>
                      <a:r>
                        <a:rPr lang="en-US" sz="1600" b="0" u="none" strike="noStrike">
                          <a:effectLst/>
                        </a:rPr>
                        <a:t>August-25</a:t>
                      </a:r>
                      <a:endParaRPr lang="en-US" sz="1600" b="0" i="0" u="none" strike="noStrike">
                        <a:effectLst/>
                        <a:latin typeface="Arial" panose="020B0604020202020204" pitchFamily="34" charset="0"/>
                      </a:endParaRPr>
                    </a:p>
                  </a:txBody>
                  <a:tcPr marL="6351" marR="6351" marT="6351" marB="0" anchor="ctr">
                    <a:solidFill>
                      <a:schemeClr val="tx2">
                        <a:lumMod val="10000"/>
                        <a:lumOff val="90000"/>
                      </a:schemeClr>
                    </a:solidFill>
                  </a:tcPr>
                </a:tc>
                <a:tc hMerge="1">
                  <a:txBody>
                    <a:bodyPr/>
                    <a:lstStyle/>
                    <a:p>
                      <a:endParaRPr lang="fr-FR"/>
                    </a:p>
                  </a:txBody>
                  <a:tcPr/>
                </a:tc>
                <a:tc hMerge="1">
                  <a:txBody>
                    <a:bodyPr/>
                    <a:lstStyle/>
                    <a:p>
                      <a:endParaRPr lang="fr-FR"/>
                    </a:p>
                  </a:txBody>
                  <a:tcPr/>
                </a:tc>
                <a:tc gridSpan="3">
                  <a:txBody>
                    <a:bodyPr/>
                    <a:lstStyle/>
                    <a:p>
                      <a:pPr algn="ctr" fontAlgn="b">
                        <a:buNone/>
                      </a:pPr>
                      <a:r>
                        <a:rPr lang="en-US" sz="1600" b="0" u="none" strike="noStrike">
                          <a:effectLst/>
                        </a:rPr>
                        <a:t>September-25</a:t>
                      </a:r>
                      <a:endParaRPr lang="en-US" sz="1600" b="0" i="0" u="none" strike="noStrike">
                        <a:effectLst/>
                        <a:latin typeface="Arial" panose="020B0604020202020204" pitchFamily="34" charset="0"/>
                      </a:endParaRPr>
                    </a:p>
                  </a:txBody>
                  <a:tcPr marL="6351" marR="6351" marT="6351" marB="0" anchor="ctr">
                    <a:solidFill>
                      <a:schemeClr val="tx2">
                        <a:lumMod val="10000"/>
                        <a:lumOff val="90000"/>
                      </a:schemeClr>
                    </a:solidFill>
                  </a:tcPr>
                </a:tc>
                <a:tc hMerge="1">
                  <a:txBody>
                    <a:bodyPr/>
                    <a:lstStyle/>
                    <a:p>
                      <a:endParaRPr lang="fr-FR"/>
                    </a:p>
                  </a:txBody>
                  <a:tcPr/>
                </a:tc>
                <a:tc hMerge="1">
                  <a:txBody>
                    <a:bodyPr/>
                    <a:lstStyle/>
                    <a:p>
                      <a:endParaRPr lang="fr-FR"/>
                    </a:p>
                  </a:txBody>
                  <a:tcPr/>
                </a:tc>
                <a:tc gridSpan="3">
                  <a:txBody>
                    <a:bodyPr/>
                    <a:lstStyle/>
                    <a:p>
                      <a:pPr algn="ctr" fontAlgn="b">
                        <a:buNone/>
                      </a:pPr>
                      <a:r>
                        <a:rPr lang="en-US" sz="1600" b="0" u="none" strike="noStrike">
                          <a:effectLst/>
                        </a:rPr>
                        <a:t>October-25</a:t>
                      </a:r>
                      <a:endParaRPr lang="en-US" sz="1600" b="0" i="0" u="none" strike="noStrike">
                        <a:effectLst/>
                        <a:latin typeface="Arial" panose="020B0604020202020204" pitchFamily="34" charset="0"/>
                      </a:endParaRPr>
                    </a:p>
                  </a:txBody>
                  <a:tcPr marL="6351" marR="6351" marT="6351" marB="0" anchor="ctr">
                    <a:solidFill>
                      <a:schemeClr val="tx2">
                        <a:lumMod val="10000"/>
                        <a:lumOff val="90000"/>
                      </a:schemeClr>
                    </a:solidFill>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434114446"/>
                  </a:ext>
                </a:extLst>
              </a:tr>
              <a:tr h="584251">
                <a:tc vMerge="1">
                  <a:txBody>
                    <a:bodyPr/>
                    <a:lstStyle/>
                    <a:p>
                      <a:endParaRPr lang="fr-FR"/>
                    </a:p>
                  </a:txBody>
                  <a:tcPr/>
                </a:tc>
                <a:tc vMerge="1">
                  <a:txBody>
                    <a:bodyPr/>
                    <a:lstStyle/>
                    <a:p>
                      <a:endParaRPr lang="fr-FR"/>
                    </a:p>
                  </a:txBody>
                  <a:tcPr/>
                </a:tc>
                <a:tc>
                  <a:txBody>
                    <a:bodyPr/>
                    <a:lstStyle/>
                    <a:p>
                      <a:pPr algn="ctr" fontAlgn="ctr">
                        <a:buNone/>
                      </a:pPr>
                      <a:r>
                        <a:rPr lang="en-US" sz="1600" b="1" u="none" strike="noStrike" dirty="0">
                          <a:effectLst/>
                        </a:rPr>
                        <a:t>VAP1</a:t>
                      </a:r>
                      <a:endParaRPr lang="en-US" sz="1600" b="1" i="0" u="none" strike="noStrike" dirty="0">
                        <a:effectLst/>
                        <a:latin typeface="Arial" panose="020B0604020202020204" pitchFamily="34" charset="0"/>
                      </a:endParaRPr>
                    </a:p>
                  </a:txBody>
                  <a:tcPr marL="6351" marR="6351" marT="6351" marB="0" anchor="ctr">
                    <a:solidFill>
                      <a:schemeClr val="tx2">
                        <a:lumMod val="10000"/>
                        <a:lumOff val="90000"/>
                      </a:schemeClr>
                    </a:solidFill>
                  </a:tcPr>
                </a:tc>
                <a:tc>
                  <a:txBody>
                    <a:bodyPr/>
                    <a:lstStyle/>
                    <a:p>
                      <a:pPr algn="ctr" fontAlgn="ctr">
                        <a:buNone/>
                      </a:pPr>
                      <a:r>
                        <a:rPr lang="en-US" sz="1600" b="1" u="none" strike="noStrike" dirty="0">
                          <a:effectLst/>
                        </a:rPr>
                        <a:t>VAP1</a:t>
                      </a:r>
                      <a:endParaRPr lang="en-US" sz="1600" b="1" i="0" u="none" strike="noStrike" dirty="0">
                        <a:effectLst/>
                        <a:latin typeface="Arial" panose="020B0604020202020204" pitchFamily="34" charset="0"/>
                      </a:endParaRPr>
                    </a:p>
                  </a:txBody>
                  <a:tcPr marL="6351" marR="6351" marT="6351" marB="0" anchor="ctr">
                    <a:solidFill>
                      <a:schemeClr val="tx2">
                        <a:lumMod val="10000"/>
                        <a:lumOff val="90000"/>
                      </a:schemeClr>
                    </a:solidFill>
                  </a:tcPr>
                </a:tc>
                <a:tc>
                  <a:txBody>
                    <a:bodyPr/>
                    <a:lstStyle/>
                    <a:p>
                      <a:pPr algn="ctr" fontAlgn="ctr">
                        <a:buNone/>
                      </a:pPr>
                      <a:r>
                        <a:rPr lang="en-US" sz="1600" b="1" u="none" strike="noStrike" dirty="0">
                          <a:effectLst/>
                        </a:rPr>
                        <a:t>VAP2</a:t>
                      </a:r>
                      <a:endParaRPr lang="en-US" sz="1600" b="1" i="0" u="none" strike="noStrike" dirty="0">
                        <a:effectLst/>
                        <a:latin typeface="Arial" panose="020B0604020202020204" pitchFamily="34" charset="0"/>
                      </a:endParaRPr>
                    </a:p>
                  </a:txBody>
                  <a:tcPr marL="6351" marR="6351" marT="6351" marB="0" anchor="ctr">
                    <a:solidFill>
                      <a:schemeClr val="tx2">
                        <a:lumMod val="10000"/>
                        <a:lumOff val="90000"/>
                      </a:schemeClr>
                    </a:solidFill>
                  </a:tcPr>
                </a:tc>
                <a:tc>
                  <a:txBody>
                    <a:bodyPr/>
                    <a:lstStyle/>
                    <a:p>
                      <a:pPr algn="ctr" fontAlgn="ctr">
                        <a:buNone/>
                      </a:pPr>
                      <a:r>
                        <a:rPr lang="en-US" sz="1600" b="1" u="none" strike="noStrike" dirty="0">
                          <a:effectLst/>
                        </a:rPr>
                        <a:t>VAP1</a:t>
                      </a:r>
                      <a:endParaRPr lang="en-US" sz="1600" b="1" i="0" u="none" strike="noStrike" dirty="0">
                        <a:effectLst/>
                        <a:latin typeface="Arial" panose="020B0604020202020204" pitchFamily="34" charset="0"/>
                      </a:endParaRPr>
                    </a:p>
                  </a:txBody>
                  <a:tcPr marL="6351" marR="6351" marT="6351" marB="0" anchor="ctr">
                    <a:solidFill>
                      <a:schemeClr val="tx2">
                        <a:lumMod val="10000"/>
                        <a:lumOff val="90000"/>
                      </a:schemeClr>
                    </a:solidFill>
                  </a:tcPr>
                </a:tc>
                <a:tc>
                  <a:txBody>
                    <a:bodyPr/>
                    <a:lstStyle/>
                    <a:p>
                      <a:pPr algn="ctr" fontAlgn="ctr">
                        <a:buNone/>
                      </a:pPr>
                      <a:r>
                        <a:rPr lang="en-US" sz="1600" b="1" u="none" strike="noStrike" dirty="0">
                          <a:effectLst/>
                        </a:rPr>
                        <a:t>VAP2</a:t>
                      </a:r>
                      <a:endParaRPr lang="en-US" sz="1600" b="1" i="0" u="none" strike="noStrike" dirty="0">
                        <a:effectLst/>
                        <a:latin typeface="Arial" panose="020B0604020202020204" pitchFamily="34" charset="0"/>
                      </a:endParaRPr>
                    </a:p>
                  </a:txBody>
                  <a:tcPr marL="6351" marR="6351" marT="6351" marB="0" anchor="ctr">
                    <a:solidFill>
                      <a:schemeClr val="tx2">
                        <a:lumMod val="10000"/>
                        <a:lumOff val="90000"/>
                      </a:schemeClr>
                    </a:solidFill>
                  </a:tcPr>
                </a:tc>
                <a:tc>
                  <a:txBody>
                    <a:bodyPr/>
                    <a:lstStyle/>
                    <a:p>
                      <a:pPr algn="ctr" fontAlgn="ctr">
                        <a:buNone/>
                      </a:pPr>
                      <a:r>
                        <a:rPr lang="en-US" sz="1600" b="1" u="none" strike="noStrike" dirty="0">
                          <a:effectLst/>
                        </a:rPr>
                        <a:t>VAP3</a:t>
                      </a:r>
                      <a:endParaRPr lang="en-US" sz="1600" b="1" i="0" u="none" strike="noStrike" dirty="0">
                        <a:effectLst/>
                        <a:latin typeface="Arial" panose="020B0604020202020204" pitchFamily="34" charset="0"/>
                      </a:endParaRPr>
                    </a:p>
                  </a:txBody>
                  <a:tcPr marL="6351" marR="6351" marT="6351" marB="0" anchor="ctr">
                    <a:solidFill>
                      <a:schemeClr val="tx2">
                        <a:lumMod val="10000"/>
                        <a:lumOff val="90000"/>
                      </a:schemeClr>
                    </a:solidFill>
                  </a:tcPr>
                </a:tc>
                <a:tc>
                  <a:txBody>
                    <a:bodyPr/>
                    <a:lstStyle/>
                    <a:p>
                      <a:pPr algn="ctr" fontAlgn="ctr">
                        <a:buNone/>
                      </a:pPr>
                      <a:r>
                        <a:rPr lang="en-US" sz="1600" b="1" u="none" strike="noStrike" dirty="0">
                          <a:effectLst/>
                        </a:rPr>
                        <a:t>VAP1</a:t>
                      </a:r>
                      <a:endParaRPr lang="en-US" sz="1600" b="1" i="0" u="none" strike="noStrike" dirty="0">
                        <a:effectLst/>
                        <a:latin typeface="Arial" panose="020B0604020202020204" pitchFamily="34" charset="0"/>
                      </a:endParaRPr>
                    </a:p>
                  </a:txBody>
                  <a:tcPr marL="6351" marR="6351" marT="6351" marB="0" anchor="ctr">
                    <a:solidFill>
                      <a:schemeClr val="tx2">
                        <a:lumMod val="10000"/>
                        <a:lumOff val="90000"/>
                      </a:schemeClr>
                    </a:solidFill>
                  </a:tcPr>
                </a:tc>
                <a:tc>
                  <a:txBody>
                    <a:bodyPr/>
                    <a:lstStyle/>
                    <a:p>
                      <a:pPr algn="ctr" fontAlgn="ctr">
                        <a:buNone/>
                      </a:pPr>
                      <a:r>
                        <a:rPr lang="en-US" sz="1600" b="1" u="none" strike="noStrike" dirty="0">
                          <a:effectLst/>
                        </a:rPr>
                        <a:t>VAP2</a:t>
                      </a:r>
                      <a:endParaRPr lang="en-US" sz="1600" b="1" i="0" u="none" strike="noStrike" dirty="0">
                        <a:effectLst/>
                        <a:latin typeface="Arial" panose="020B0604020202020204" pitchFamily="34" charset="0"/>
                      </a:endParaRPr>
                    </a:p>
                  </a:txBody>
                  <a:tcPr marL="6351" marR="6351" marT="6351" marB="0" anchor="ctr">
                    <a:solidFill>
                      <a:schemeClr val="tx2">
                        <a:lumMod val="10000"/>
                        <a:lumOff val="90000"/>
                      </a:schemeClr>
                    </a:solidFill>
                  </a:tcPr>
                </a:tc>
                <a:tc>
                  <a:txBody>
                    <a:bodyPr/>
                    <a:lstStyle/>
                    <a:p>
                      <a:pPr algn="ctr" fontAlgn="ctr">
                        <a:buNone/>
                      </a:pPr>
                      <a:r>
                        <a:rPr lang="en-US" sz="1600" b="1" u="none" strike="noStrike" dirty="0">
                          <a:effectLst/>
                        </a:rPr>
                        <a:t>VAP3</a:t>
                      </a:r>
                      <a:endParaRPr lang="en-US" sz="1600" b="1" i="0" u="none" strike="noStrike" dirty="0">
                        <a:effectLst/>
                        <a:latin typeface="Arial" panose="020B0604020202020204" pitchFamily="34" charset="0"/>
                      </a:endParaRPr>
                    </a:p>
                  </a:txBody>
                  <a:tcPr marL="6351" marR="6351" marT="6351" marB="0" anchor="ctr">
                    <a:solidFill>
                      <a:schemeClr val="tx2">
                        <a:lumMod val="10000"/>
                        <a:lumOff val="90000"/>
                      </a:schemeClr>
                    </a:solidFill>
                  </a:tcPr>
                </a:tc>
                <a:tc>
                  <a:txBody>
                    <a:bodyPr/>
                    <a:lstStyle/>
                    <a:p>
                      <a:pPr algn="ctr" fontAlgn="b">
                        <a:buNone/>
                      </a:pPr>
                      <a:r>
                        <a:rPr lang="en-US" sz="1600" b="1" u="none" strike="noStrike" dirty="0">
                          <a:effectLst/>
                        </a:rPr>
                        <a:t>VAP1</a:t>
                      </a:r>
                      <a:endParaRPr lang="en-US" sz="1600" b="1" i="0" u="none" strike="noStrike" dirty="0">
                        <a:effectLst/>
                        <a:latin typeface="Arial" panose="020B0604020202020204" pitchFamily="34" charset="0"/>
                      </a:endParaRPr>
                    </a:p>
                  </a:txBody>
                  <a:tcPr marL="6351" marR="6351" marT="6351" marB="0" anchor="ctr">
                    <a:solidFill>
                      <a:schemeClr val="tx2">
                        <a:lumMod val="10000"/>
                        <a:lumOff val="90000"/>
                      </a:schemeClr>
                    </a:solidFill>
                  </a:tcPr>
                </a:tc>
                <a:tc>
                  <a:txBody>
                    <a:bodyPr/>
                    <a:lstStyle/>
                    <a:p>
                      <a:pPr algn="ctr" fontAlgn="b">
                        <a:buNone/>
                      </a:pPr>
                      <a:r>
                        <a:rPr lang="en-US" sz="1600" b="1" u="none" strike="noStrike" dirty="0">
                          <a:effectLst/>
                        </a:rPr>
                        <a:t>VAP2</a:t>
                      </a:r>
                      <a:endParaRPr lang="en-US" sz="1600" b="1" i="0" u="none" strike="noStrike" dirty="0">
                        <a:effectLst/>
                        <a:latin typeface="Arial" panose="020B0604020202020204" pitchFamily="34" charset="0"/>
                      </a:endParaRPr>
                    </a:p>
                  </a:txBody>
                  <a:tcPr marL="6351" marR="6351" marT="6351" marB="0" anchor="ctr">
                    <a:solidFill>
                      <a:schemeClr val="tx2">
                        <a:lumMod val="10000"/>
                        <a:lumOff val="90000"/>
                      </a:schemeClr>
                    </a:solidFill>
                  </a:tcPr>
                </a:tc>
                <a:tc>
                  <a:txBody>
                    <a:bodyPr/>
                    <a:lstStyle/>
                    <a:p>
                      <a:pPr algn="ctr" fontAlgn="b">
                        <a:buNone/>
                      </a:pPr>
                      <a:r>
                        <a:rPr lang="en-US" sz="1600" b="1" u="none" strike="noStrike" dirty="0">
                          <a:effectLst/>
                        </a:rPr>
                        <a:t>VAP3</a:t>
                      </a:r>
                      <a:endParaRPr lang="en-US" sz="1600" b="1" i="0" u="none" strike="noStrike" dirty="0">
                        <a:effectLst/>
                        <a:latin typeface="Arial" panose="020B0604020202020204" pitchFamily="34" charset="0"/>
                      </a:endParaRPr>
                    </a:p>
                  </a:txBody>
                  <a:tcPr marL="6351" marR="6351" marT="6351" marB="0" anchor="ctr">
                    <a:solidFill>
                      <a:schemeClr val="tx2">
                        <a:lumMod val="10000"/>
                        <a:lumOff val="90000"/>
                      </a:schemeClr>
                    </a:solidFill>
                  </a:tcPr>
                </a:tc>
                <a:tc>
                  <a:txBody>
                    <a:bodyPr/>
                    <a:lstStyle/>
                    <a:p>
                      <a:pPr algn="ctr" fontAlgn="b">
                        <a:buNone/>
                      </a:pPr>
                      <a:r>
                        <a:rPr lang="en-US" sz="1600" b="1" u="none" strike="noStrike" dirty="0">
                          <a:effectLst/>
                        </a:rPr>
                        <a:t>VAP1</a:t>
                      </a:r>
                      <a:endParaRPr lang="en-US" sz="1600" b="1" i="0" u="none" strike="noStrike" dirty="0">
                        <a:effectLst/>
                        <a:latin typeface="Arial" panose="020B0604020202020204" pitchFamily="34" charset="0"/>
                      </a:endParaRPr>
                    </a:p>
                  </a:txBody>
                  <a:tcPr marL="6351" marR="6351" marT="6351" marB="0" anchor="ctr">
                    <a:solidFill>
                      <a:schemeClr val="tx2">
                        <a:lumMod val="10000"/>
                        <a:lumOff val="90000"/>
                      </a:schemeClr>
                    </a:solidFill>
                  </a:tcPr>
                </a:tc>
                <a:tc>
                  <a:txBody>
                    <a:bodyPr/>
                    <a:lstStyle/>
                    <a:p>
                      <a:pPr algn="ctr" fontAlgn="b">
                        <a:buNone/>
                      </a:pPr>
                      <a:r>
                        <a:rPr lang="en-US" sz="1600" b="1" u="none" strike="noStrike" dirty="0">
                          <a:effectLst/>
                        </a:rPr>
                        <a:t>VAP2</a:t>
                      </a:r>
                      <a:endParaRPr lang="en-US" sz="1600" b="1" i="0" u="none" strike="noStrike" dirty="0">
                        <a:effectLst/>
                        <a:latin typeface="Arial" panose="020B0604020202020204" pitchFamily="34" charset="0"/>
                      </a:endParaRPr>
                    </a:p>
                  </a:txBody>
                  <a:tcPr marL="6351" marR="6351" marT="6351" marB="0" anchor="ctr">
                    <a:solidFill>
                      <a:schemeClr val="tx2">
                        <a:lumMod val="10000"/>
                        <a:lumOff val="90000"/>
                      </a:schemeClr>
                    </a:solidFill>
                  </a:tcPr>
                </a:tc>
                <a:tc>
                  <a:txBody>
                    <a:bodyPr/>
                    <a:lstStyle/>
                    <a:p>
                      <a:pPr algn="ctr" fontAlgn="b">
                        <a:buNone/>
                      </a:pPr>
                      <a:r>
                        <a:rPr lang="en-US" sz="1600" b="1" u="none" strike="noStrike" dirty="0">
                          <a:effectLst/>
                        </a:rPr>
                        <a:t>VAP3</a:t>
                      </a:r>
                      <a:endParaRPr lang="en-US" sz="1600" b="1" i="0" u="none" strike="noStrike" dirty="0">
                        <a:effectLst/>
                        <a:latin typeface="Arial" panose="020B0604020202020204" pitchFamily="34" charset="0"/>
                      </a:endParaRPr>
                    </a:p>
                  </a:txBody>
                  <a:tcPr marL="6351" marR="6351" marT="6351" marB="0" anchor="ctr">
                    <a:solidFill>
                      <a:schemeClr val="tx2">
                        <a:lumMod val="10000"/>
                        <a:lumOff val="90000"/>
                      </a:schemeClr>
                    </a:solidFill>
                  </a:tcPr>
                </a:tc>
                <a:extLst>
                  <a:ext uri="{0D108BD9-81ED-4DB2-BD59-A6C34878D82A}">
                    <a16:rowId xmlns:a16="http://schemas.microsoft.com/office/drawing/2014/main" val="4242646437"/>
                  </a:ext>
                </a:extLst>
              </a:tr>
              <a:tr h="584251">
                <a:tc>
                  <a:txBody>
                    <a:bodyPr/>
                    <a:lstStyle/>
                    <a:p>
                      <a:pPr algn="ctr" fontAlgn="b">
                        <a:buNone/>
                      </a:pPr>
                      <a:r>
                        <a:rPr lang="en-US" sz="1600" b="0" u="none" strike="noStrike">
                          <a:effectLst/>
                        </a:rPr>
                        <a:t>Equateur</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i="0" u="none" strike="noStrike" dirty="0">
                          <a:effectLst/>
                          <a:latin typeface="Arial" panose="020B0604020202020204" pitchFamily="34" charset="0"/>
                        </a:rPr>
                        <a:t>18</a:t>
                      </a:r>
                    </a:p>
                  </a:txBody>
                  <a:tcPr marL="6351" marR="6351" marT="6351" marB="0" anchor="ctr"/>
                </a:tc>
                <a:tc>
                  <a:txBody>
                    <a:bodyPr/>
                    <a:lstStyle/>
                    <a:p>
                      <a:pPr algn="ctr" fontAlgn="b">
                        <a:buNone/>
                      </a:pPr>
                      <a:r>
                        <a:rPr lang="en-US" sz="1600" b="0" i="0" u="none" strike="noStrike" dirty="0">
                          <a:effectLst/>
                          <a:latin typeface="Arial" panose="020B0604020202020204" pitchFamily="34" charset="0"/>
                        </a:rPr>
                        <a:t>NA</a:t>
                      </a:r>
                    </a:p>
                  </a:txBody>
                  <a:tcPr marL="6351" marR="6351" marT="6351" marB="0" anchor="ctr"/>
                </a:tc>
                <a:tc>
                  <a:txBody>
                    <a:bodyPr/>
                    <a:lstStyle/>
                    <a:p>
                      <a:pPr algn="ctr" fontAlgn="b">
                        <a:buNone/>
                      </a:pPr>
                      <a:r>
                        <a:rPr lang="en-US" sz="1600" b="0" u="none" strike="noStrike">
                          <a:effectLst/>
                        </a:rPr>
                        <a:t>127%</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i="0" u="none" strike="noStrike" dirty="0">
                          <a:effectLst/>
                          <a:latin typeface="Arial" panose="020B0604020202020204" pitchFamily="34" charset="0"/>
                        </a:rPr>
                        <a:t>NA</a:t>
                      </a:r>
                    </a:p>
                  </a:txBody>
                  <a:tcPr marL="6351" marR="6351" marT="6351" marB="0" anchor="ctr"/>
                </a:tc>
                <a:tc>
                  <a:txBody>
                    <a:bodyPr/>
                    <a:lstStyle/>
                    <a:p>
                      <a:pPr algn="ctr" fontAlgn="b">
                        <a:buNone/>
                      </a:pPr>
                      <a:r>
                        <a:rPr lang="en-US" sz="1600" b="0" u="none" strike="noStrike">
                          <a:effectLst/>
                        </a:rPr>
                        <a:t>77%</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59%</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i="0" u="none" strike="noStrike" dirty="0">
                          <a:effectLst/>
                          <a:latin typeface="Arial" panose="020B0604020202020204" pitchFamily="34" charset="0"/>
                        </a:rPr>
                        <a:t>NA</a:t>
                      </a:r>
                    </a:p>
                  </a:txBody>
                  <a:tcPr marL="6351" marR="6351" marT="6351" marB="0" anchor="ctr"/>
                </a:tc>
                <a:tc>
                  <a:txBody>
                    <a:bodyPr/>
                    <a:lstStyle/>
                    <a:p>
                      <a:pPr algn="ctr" fontAlgn="b">
                        <a:buNone/>
                      </a:pPr>
                      <a:r>
                        <a:rPr lang="en-US" sz="1600" b="0" u="none" strike="noStrike" dirty="0">
                          <a:effectLst/>
                        </a:rPr>
                        <a:t>86%</a:t>
                      </a:r>
                      <a:endParaRPr lang="en-US" sz="1600" b="0" i="0" u="none" strike="noStrike" dirty="0">
                        <a:effectLst/>
                        <a:latin typeface="Arial" panose="020B0604020202020204" pitchFamily="34" charset="0"/>
                      </a:endParaRPr>
                    </a:p>
                  </a:txBody>
                  <a:tcPr marL="6351" marR="6351" marT="6351" marB="0" anchor="ctr"/>
                </a:tc>
                <a:tc>
                  <a:txBody>
                    <a:bodyPr/>
                    <a:lstStyle/>
                    <a:p>
                      <a:pPr algn="ctr" fontAlgn="b">
                        <a:buNone/>
                      </a:pPr>
                      <a:r>
                        <a:rPr lang="en-US" sz="1600" b="0" u="none" strike="noStrike" dirty="0">
                          <a:effectLst/>
                        </a:rPr>
                        <a:t>78%</a:t>
                      </a:r>
                      <a:endParaRPr lang="en-US" sz="1600" b="0" i="0" u="none" strike="noStrike" dirty="0">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42%</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83%</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76%</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60%</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82%</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73%</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60%</a:t>
                      </a:r>
                      <a:endParaRPr lang="en-US" sz="1600" b="0" i="0" u="none" strike="noStrike">
                        <a:effectLst/>
                        <a:latin typeface="Arial" panose="020B0604020202020204" pitchFamily="34" charset="0"/>
                      </a:endParaRPr>
                    </a:p>
                  </a:txBody>
                  <a:tcPr marL="6351" marR="6351" marT="6351" marB="0" anchor="ctr"/>
                </a:tc>
                <a:extLst>
                  <a:ext uri="{0D108BD9-81ED-4DB2-BD59-A6C34878D82A}">
                    <a16:rowId xmlns:a16="http://schemas.microsoft.com/office/drawing/2014/main" val="3545128917"/>
                  </a:ext>
                </a:extLst>
              </a:tr>
              <a:tr h="584251">
                <a:tc>
                  <a:txBody>
                    <a:bodyPr/>
                    <a:lstStyle/>
                    <a:p>
                      <a:pPr algn="ctr" fontAlgn="b">
                        <a:buNone/>
                      </a:pPr>
                      <a:r>
                        <a:rPr lang="en-US" sz="1600" b="0" u="none" strike="noStrike">
                          <a:effectLst/>
                        </a:rPr>
                        <a:t>Kwango</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i="0" u="none" strike="noStrike" dirty="0">
                          <a:effectLst/>
                          <a:latin typeface="Arial" panose="020B0604020202020204" pitchFamily="34" charset="0"/>
                        </a:rPr>
                        <a:t>31</a:t>
                      </a:r>
                    </a:p>
                  </a:txBody>
                  <a:tcPr marL="6351" marR="6351" marT="6351" marB="0" anchor="ctr"/>
                </a:tc>
                <a:tc>
                  <a:txBody>
                    <a:bodyPr/>
                    <a:lstStyle/>
                    <a:p>
                      <a:pPr algn="ctr" fontAlgn="b">
                        <a:buNone/>
                      </a:pPr>
                      <a:r>
                        <a:rPr lang="en-US" sz="1600" b="0" u="none" strike="noStrike">
                          <a:effectLst/>
                        </a:rPr>
                        <a:t>26%</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80%</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21%</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70%</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57%</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15%</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71%</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dirty="0">
                          <a:effectLst/>
                        </a:rPr>
                        <a:t>64%</a:t>
                      </a:r>
                      <a:endParaRPr lang="en-US" sz="1600" b="0" i="0" u="none" strike="noStrike" dirty="0">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39%</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65%</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60%</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51%</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68%</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dirty="0">
                          <a:effectLst/>
                        </a:rPr>
                        <a:t>61%</a:t>
                      </a:r>
                      <a:endParaRPr lang="en-US" sz="1600" b="0" i="0" u="none" strike="noStrike" dirty="0">
                        <a:effectLst/>
                        <a:latin typeface="Arial" panose="020B0604020202020204" pitchFamily="34" charset="0"/>
                      </a:endParaRPr>
                    </a:p>
                  </a:txBody>
                  <a:tcPr marL="6351" marR="6351" marT="6351" marB="0" anchor="ctr"/>
                </a:tc>
                <a:tc>
                  <a:txBody>
                    <a:bodyPr/>
                    <a:lstStyle/>
                    <a:p>
                      <a:pPr algn="ctr" fontAlgn="b">
                        <a:buNone/>
                      </a:pPr>
                      <a:r>
                        <a:rPr lang="en-US" sz="1600" b="0" u="none" strike="noStrike" dirty="0">
                          <a:solidFill>
                            <a:schemeClr val="accent3"/>
                          </a:solidFill>
                          <a:effectLst/>
                        </a:rPr>
                        <a:t>55%</a:t>
                      </a:r>
                      <a:endParaRPr lang="en-US" sz="1600" b="0" i="0" u="none" strike="noStrike" dirty="0">
                        <a:solidFill>
                          <a:schemeClr val="accent3"/>
                        </a:solidFill>
                        <a:effectLst/>
                        <a:latin typeface="Arial" panose="020B0604020202020204" pitchFamily="34" charset="0"/>
                      </a:endParaRPr>
                    </a:p>
                  </a:txBody>
                  <a:tcPr marL="6351" marR="6351" marT="6351" marB="0" anchor="ctr"/>
                </a:tc>
                <a:extLst>
                  <a:ext uri="{0D108BD9-81ED-4DB2-BD59-A6C34878D82A}">
                    <a16:rowId xmlns:a16="http://schemas.microsoft.com/office/drawing/2014/main" val="2825063117"/>
                  </a:ext>
                </a:extLst>
              </a:tr>
              <a:tr h="584251">
                <a:tc>
                  <a:txBody>
                    <a:bodyPr/>
                    <a:lstStyle/>
                    <a:p>
                      <a:pPr algn="ctr" fontAlgn="b">
                        <a:buNone/>
                      </a:pPr>
                      <a:r>
                        <a:rPr lang="en-US" sz="1600" b="0" u="none" strike="noStrike">
                          <a:effectLst/>
                        </a:rPr>
                        <a:t>Kwilu</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i="0" u="none" strike="noStrike" dirty="0">
                          <a:effectLst/>
                          <a:latin typeface="Arial" panose="020B0604020202020204" pitchFamily="34" charset="0"/>
                        </a:rPr>
                        <a:t>24</a:t>
                      </a:r>
                    </a:p>
                  </a:txBody>
                  <a:tcPr marL="6351" marR="6351" marT="6351" marB="0" anchor="ctr"/>
                </a:tc>
                <a:tc>
                  <a:txBody>
                    <a:bodyPr/>
                    <a:lstStyle/>
                    <a:p>
                      <a:pPr algn="ctr" fontAlgn="b">
                        <a:buNone/>
                      </a:pPr>
                      <a:r>
                        <a:rPr lang="en-US" sz="1600" b="0" u="none" strike="noStrike">
                          <a:effectLst/>
                        </a:rPr>
                        <a:t>76%</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137%</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53%</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106%</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93%</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35%</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100%</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93%</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dirty="0">
                          <a:effectLst/>
                        </a:rPr>
                        <a:t>73%</a:t>
                      </a:r>
                      <a:endParaRPr lang="en-US" sz="1600" b="0" i="0" u="none" strike="noStrike" dirty="0">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80%</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76%</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72%</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82%</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77%</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dirty="0">
                          <a:effectLst/>
                        </a:rPr>
                        <a:t>75%</a:t>
                      </a:r>
                      <a:endParaRPr lang="en-US" sz="1600" b="0" i="0" u="none" strike="noStrike" dirty="0">
                        <a:effectLst/>
                        <a:latin typeface="Arial" panose="020B0604020202020204" pitchFamily="34" charset="0"/>
                      </a:endParaRPr>
                    </a:p>
                  </a:txBody>
                  <a:tcPr marL="6351" marR="6351" marT="6351" marB="0" anchor="ctr"/>
                </a:tc>
                <a:extLst>
                  <a:ext uri="{0D108BD9-81ED-4DB2-BD59-A6C34878D82A}">
                    <a16:rowId xmlns:a16="http://schemas.microsoft.com/office/drawing/2014/main" val="3758770421"/>
                  </a:ext>
                </a:extLst>
              </a:tr>
              <a:tr h="584251">
                <a:tc>
                  <a:txBody>
                    <a:bodyPr/>
                    <a:lstStyle/>
                    <a:p>
                      <a:pPr algn="ctr" fontAlgn="b">
                        <a:buNone/>
                      </a:pPr>
                      <a:r>
                        <a:rPr lang="en-US" sz="1600" b="0" u="none" strike="noStrike">
                          <a:effectLst/>
                        </a:rPr>
                        <a:t>Maindombe</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i="0" u="none" strike="noStrike" dirty="0">
                          <a:effectLst/>
                          <a:latin typeface="Arial" panose="020B0604020202020204" pitchFamily="34" charset="0"/>
                        </a:rPr>
                        <a:t>14</a:t>
                      </a:r>
                    </a:p>
                  </a:txBody>
                  <a:tcPr marL="6351" marR="6351" marT="6351" marB="0" anchor="ctr"/>
                </a:tc>
                <a:tc>
                  <a:txBody>
                    <a:bodyPr/>
                    <a:lstStyle/>
                    <a:p>
                      <a:pPr algn="ctr" fontAlgn="b">
                        <a:buNone/>
                      </a:pPr>
                      <a:r>
                        <a:rPr lang="en-US" sz="1600" b="0" u="none" strike="noStrike">
                          <a:effectLst/>
                        </a:rPr>
                        <a:t>187%</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111%</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100%</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95%</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89%</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76%</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91%</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86%</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81%</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dirty="0">
                          <a:effectLst/>
                        </a:rPr>
                        <a:t>91%</a:t>
                      </a:r>
                      <a:endParaRPr lang="en-US" sz="1600" b="0" i="0" u="none" strike="noStrike" dirty="0">
                        <a:effectLst/>
                        <a:latin typeface="Arial" panose="020B0604020202020204" pitchFamily="34" charset="0"/>
                      </a:endParaRPr>
                    </a:p>
                  </a:txBody>
                  <a:tcPr marL="6351" marR="6351" marT="6351" marB="0" anchor="ctr"/>
                </a:tc>
                <a:tc>
                  <a:txBody>
                    <a:bodyPr/>
                    <a:lstStyle/>
                    <a:p>
                      <a:pPr algn="ctr" fontAlgn="b">
                        <a:buNone/>
                      </a:pPr>
                      <a:r>
                        <a:rPr lang="en-US" sz="1600" b="0" u="none" strike="noStrike" dirty="0">
                          <a:effectLst/>
                        </a:rPr>
                        <a:t>97%</a:t>
                      </a:r>
                      <a:endParaRPr lang="en-US" sz="1600" b="0" i="0" u="none" strike="noStrike" dirty="0">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79%</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97%</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81%</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dirty="0">
                          <a:effectLst/>
                        </a:rPr>
                        <a:t>79%</a:t>
                      </a:r>
                      <a:endParaRPr lang="en-US" sz="1600" b="0" i="0" u="none" strike="noStrike" dirty="0">
                        <a:effectLst/>
                        <a:latin typeface="Arial" panose="020B0604020202020204" pitchFamily="34" charset="0"/>
                      </a:endParaRPr>
                    </a:p>
                  </a:txBody>
                  <a:tcPr marL="6351" marR="6351" marT="6351" marB="0" anchor="ctr"/>
                </a:tc>
                <a:extLst>
                  <a:ext uri="{0D108BD9-81ED-4DB2-BD59-A6C34878D82A}">
                    <a16:rowId xmlns:a16="http://schemas.microsoft.com/office/drawing/2014/main" val="4061958158"/>
                  </a:ext>
                </a:extLst>
              </a:tr>
              <a:tr h="584251">
                <a:tc>
                  <a:txBody>
                    <a:bodyPr/>
                    <a:lstStyle/>
                    <a:p>
                      <a:pPr algn="ctr" fontAlgn="b">
                        <a:buNone/>
                      </a:pPr>
                      <a:r>
                        <a:rPr lang="en-US" sz="1600" b="0" u="none" strike="noStrike">
                          <a:effectLst/>
                        </a:rPr>
                        <a:t>Mongala</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i="0" u="none" strike="noStrike" dirty="0">
                          <a:effectLst/>
                          <a:latin typeface="Arial" panose="020B0604020202020204" pitchFamily="34" charset="0"/>
                        </a:rPr>
                        <a:t>12</a:t>
                      </a:r>
                    </a:p>
                  </a:txBody>
                  <a:tcPr marL="6351" marR="6351" marT="6351" marB="0" anchor="ctr"/>
                </a:tc>
                <a:tc>
                  <a:txBody>
                    <a:bodyPr/>
                    <a:lstStyle/>
                    <a:p>
                      <a:pPr algn="ctr" fontAlgn="b">
                        <a:buNone/>
                      </a:pPr>
                      <a:r>
                        <a:rPr lang="en-US" sz="1600" b="0" u="none" strike="noStrike">
                          <a:effectLst/>
                        </a:rPr>
                        <a:t>76%</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140%</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60%</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98%</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86%</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43%</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59%</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56%</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48%</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64%</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57%</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dirty="0">
                          <a:effectLst/>
                        </a:rPr>
                        <a:t>50%</a:t>
                      </a:r>
                      <a:endParaRPr lang="en-US" sz="1600" b="0" i="0" u="none" strike="noStrike" dirty="0">
                        <a:effectLst/>
                        <a:latin typeface="Arial" panose="020B0604020202020204" pitchFamily="34" charset="0"/>
                      </a:endParaRPr>
                    </a:p>
                  </a:txBody>
                  <a:tcPr marL="6351" marR="6351" marT="6351" marB="0" anchor="ctr"/>
                </a:tc>
                <a:tc>
                  <a:txBody>
                    <a:bodyPr/>
                    <a:lstStyle/>
                    <a:p>
                      <a:pPr algn="ctr" fontAlgn="b">
                        <a:buNone/>
                      </a:pPr>
                      <a:r>
                        <a:rPr lang="en-US" sz="1600" b="0" u="none" strike="noStrike" dirty="0">
                          <a:effectLst/>
                        </a:rPr>
                        <a:t>70%</a:t>
                      </a:r>
                      <a:endParaRPr lang="en-US" sz="1600" b="0" i="0" u="none" strike="noStrike" dirty="0">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62%</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dirty="0">
                          <a:solidFill>
                            <a:schemeClr val="accent3"/>
                          </a:solidFill>
                          <a:effectLst/>
                        </a:rPr>
                        <a:t>55%</a:t>
                      </a:r>
                      <a:endParaRPr lang="en-US" sz="1600" b="0" i="0" u="none" strike="noStrike" dirty="0">
                        <a:solidFill>
                          <a:schemeClr val="accent3"/>
                        </a:solidFill>
                        <a:effectLst/>
                        <a:latin typeface="Arial" panose="020B0604020202020204" pitchFamily="34" charset="0"/>
                      </a:endParaRPr>
                    </a:p>
                  </a:txBody>
                  <a:tcPr marL="6351" marR="6351" marT="6351" marB="0" anchor="ctr"/>
                </a:tc>
                <a:extLst>
                  <a:ext uri="{0D108BD9-81ED-4DB2-BD59-A6C34878D82A}">
                    <a16:rowId xmlns:a16="http://schemas.microsoft.com/office/drawing/2014/main" val="3430664128"/>
                  </a:ext>
                </a:extLst>
              </a:tr>
              <a:tr h="584251">
                <a:tc>
                  <a:txBody>
                    <a:bodyPr/>
                    <a:lstStyle/>
                    <a:p>
                      <a:pPr algn="ctr" fontAlgn="b">
                        <a:buNone/>
                      </a:pPr>
                      <a:r>
                        <a:rPr lang="en-US" sz="1600" b="0" u="none" strike="noStrike">
                          <a:effectLst/>
                        </a:rPr>
                        <a:t>Nord Ubangi</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i="0" u="none" strike="noStrike" dirty="0">
                          <a:effectLst/>
                          <a:latin typeface="Arial" panose="020B0604020202020204" pitchFamily="34" charset="0"/>
                        </a:rPr>
                        <a:t>11</a:t>
                      </a:r>
                    </a:p>
                  </a:txBody>
                  <a:tcPr marL="6351" marR="6351" marT="6351" marB="0" anchor="ctr"/>
                </a:tc>
                <a:tc>
                  <a:txBody>
                    <a:bodyPr/>
                    <a:lstStyle/>
                    <a:p>
                      <a:pPr algn="ctr" fontAlgn="b">
                        <a:buNone/>
                      </a:pPr>
                      <a:r>
                        <a:rPr lang="en-US" sz="1600" b="0" i="0" u="none" strike="noStrike" dirty="0">
                          <a:effectLst/>
                          <a:latin typeface="Arial" panose="020B0604020202020204" pitchFamily="34" charset="0"/>
                        </a:rPr>
                        <a:t>NA</a:t>
                      </a:r>
                    </a:p>
                  </a:txBody>
                  <a:tcPr marL="6351" marR="6351" marT="6351" marB="0" anchor="ctr"/>
                </a:tc>
                <a:tc>
                  <a:txBody>
                    <a:bodyPr/>
                    <a:lstStyle/>
                    <a:p>
                      <a:pPr algn="ctr" fontAlgn="b">
                        <a:buNone/>
                      </a:pPr>
                      <a:r>
                        <a:rPr lang="en-US" sz="1600" b="0" u="none" strike="noStrike">
                          <a:effectLst/>
                        </a:rPr>
                        <a:t>287%</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i="0" u="none" strike="noStrike" dirty="0">
                          <a:effectLst/>
                          <a:latin typeface="Arial" panose="020B0604020202020204" pitchFamily="34" charset="0"/>
                        </a:rPr>
                        <a:t>NA</a:t>
                      </a:r>
                    </a:p>
                  </a:txBody>
                  <a:tcPr marL="6351" marR="6351" marT="6351" marB="0" anchor="ctr"/>
                </a:tc>
                <a:tc>
                  <a:txBody>
                    <a:bodyPr/>
                    <a:lstStyle/>
                    <a:p>
                      <a:pPr algn="ctr" fontAlgn="b">
                        <a:buNone/>
                      </a:pPr>
                      <a:r>
                        <a:rPr lang="en-US" sz="1600" b="0" u="none" strike="noStrike">
                          <a:effectLst/>
                        </a:rPr>
                        <a:t>118%</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133%</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i="0" u="none" strike="noStrike" dirty="0">
                          <a:effectLst/>
                          <a:latin typeface="Arial" panose="020B0604020202020204" pitchFamily="34" charset="0"/>
                        </a:rPr>
                        <a:t>NA</a:t>
                      </a:r>
                    </a:p>
                  </a:txBody>
                  <a:tcPr marL="6351" marR="6351" marT="6351" marB="0" anchor="ctr"/>
                </a:tc>
                <a:tc>
                  <a:txBody>
                    <a:bodyPr/>
                    <a:lstStyle/>
                    <a:p>
                      <a:pPr algn="ctr" fontAlgn="b">
                        <a:buNone/>
                      </a:pPr>
                      <a:r>
                        <a:rPr lang="en-US" sz="1600" b="0" u="none" strike="noStrike">
                          <a:effectLst/>
                        </a:rPr>
                        <a:t>82%</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83%</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95%</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73%</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68%</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62%</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dirty="0">
                          <a:effectLst/>
                        </a:rPr>
                        <a:t>78%</a:t>
                      </a:r>
                      <a:endParaRPr lang="en-US" sz="1600" b="0" i="0" u="none" strike="noStrike" dirty="0">
                        <a:effectLst/>
                        <a:latin typeface="Arial" panose="020B0604020202020204" pitchFamily="34" charset="0"/>
                      </a:endParaRPr>
                    </a:p>
                  </a:txBody>
                  <a:tcPr marL="6351" marR="6351" marT="6351" marB="0" anchor="ctr"/>
                </a:tc>
                <a:tc>
                  <a:txBody>
                    <a:bodyPr/>
                    <a:lstStyle/>
                    <a:p>
                      <a:pPr algn="ctr" fontAlgn="b">
                        <a:buNone/>
                      </a:pPr>
                      <a:r>
                        <a:rPr lang="en-US" sz="1600" b="0" u="none" strike="noStrike" dirty="0">
                          <a:effectLst/>
                        </a:rPr>
                        <a:t>75%</a:t>
                      </a:r>
                      <a:endParaRPr lang="en-US" sz="1600" b="0" i="0" u="none" strike="noStrike" dirty="0">
                        <a:effectLst/>
                        <a:latin typeface="Arial" panose="020B0604020202020204" pitchFamily="34" charset="0"/>
                      </a:endParaRPr>
                    </a:p>
                  </a:txBody>
                  <a:tcPr marL="6351" marR="6351" marT="6351" marB="0" anchor="ctr"/>
                </a:tc>
                <a:tc>
                  <a:txBody>
                    <a:bodyPr/>
                    <a:lstStyle/>
                    <a:p>
                      <a:pPr algn="ctr" fontAlgn="b">
                        <a:buNone/>
                      </a:pPr>
                      <a:r>
                        <a:rPr lang="en-US" sz="1600" b="0" u="none" strike="noStrike" dirty="0">
                          <a:effectLst/>
                        </a:rPr>
                        <a:t>64%</a:t>
                      </a:r>
                      <a:endParaRPr lang="en-US" sz="1600" b="0" i="0" u="none" strike="noStrike" dirty="0">
                        <a:effectLst/>
                        <a:latin typeface="Arial" panose="020B0604020202020204" pitchFamily="34" charset="0"/>
                      </a:endParaRPr>
                    </a:p>
                  </a:txBody>
                  <a:tcPr marL="6351" marR="6351" marT="6351" marB="0" anchor="ctr"/>
                </a:tc>
                <a:extLst>
                  <a:ext uri="{0D108BD9-81ED-4DB2-BD59-A6C34878D82A}">
                    <a16:rowId xmlns:a16="http://schemas.microsoft.com/office/drawing/2014/main" val="2044728994"/>
                  </a:ext>
                </a:extLst>
              </a:tr>
              <a:tr h="584251">
                <a:tc>
                  <a:txBody>
                    <a:bodyPr/>
                    <a:lstStyle/>
                    <a:p>
                      <a:pPr algn="ctr" fontAlgn="b">
                        <a:buNone/>
                      </a:pPr>
                      <a:r>
                        <a:rPr lang="en-US" sz="1600" b="0" u="none" strike="noStrike">
                          <a:effectLst/>
                        </a:rPr>
                        <a:t>Sud Ubangi</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i="0" u="none" strike="noStrike" dirty="0">
                          <a:effectLst/>
                          <a:latin typeface="Arial" panose="020B0604020202020204" pitchFamily="34" charset="0"/>
                        </a:rPr>
                        <a:t>16</a:t>
                      </a:r>
                    </a:p>
                  </a:txBody>
                  <a:tcPr marL="6351" marR="6351" marT="6351" marB="0" anchor="ctr"/>
                </a:tc>
                <a:tc>
                  <a:txBody>
                    <a:bodyPr/>
                    <a:lstStyle/>
                    <a:p>
                      <a:pPr algn="ctr" fontAlgn="b">
                        <a:buNone/>
                      </a:pPr>
                      <a:r>
                        <a:rPr lang="en-US" sz="1600" b="0" u="none" strike="noStrike">
                          <a:effectLst/>
                        </a:rPr>
                        <a:t>1%</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183%</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2%</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124%</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116%</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5%</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106%</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99%</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86%</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104%</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94%</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86%</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95%</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dirty="0">
                          <a:effectLst/>
                        </a:rPr>
                        <a:t>89%</a:t>
                      </a:r>
                      <a:endParaRPr lang="en-US" sz="1600" b="0" i="0" u="none" strike="noStrike" dirty="0">
                        <a:effectLst/>
                        <a:latin typeface="Arial" panose="020B0604020202020204" pitchFamily="34" charset="0"/>
                      </a:endParaRPr>
                    </a:p>
                  </a:txBody>
                  <a:tcPr marL="6351" marR="6351" marT="6351" marB="0" anchor="ctr"/>
                </a:tc>
                <a:tc>
                  <a:txBody>
                    <a:bodyPr/>
                    <a:lstStyle/>
                    <a:p>
                      <a:pPr algn="ctr" fontAlgn="b">
                        <a:buNone/>
                      </a:pPr>
                      <a:r>
                        <a:rPr lang="en-US" sz="1600" b="0" u="none" strike="noStrike" dirty="0">
                          <a:effectLst/>
                        </a:rPr>
                        <a:t>81%</a:t>
                      </a:r>
                      <a:endParaRPr lang="en-US" sz="1600" b="0" i="0" u="none" strike="noStrike" dirty="0">
                        <a:effectLst/>
                        <a:latin typeface="Arial" panose="020B0604020202020204" pitchFamily="34" charset="0"/>
                      </a:endParaRPr>
                    </a:p>
                  </a:txBody>
                  <a:tcPr marL="6351" marR="6351" marT="6351" marB="0" anchor="ctr"/>
                </a:tc>
                <a:extLst>
                  <a:ext uri="{0D108BD9-81ED-4DB2-BD59-A6C34878D82A}">
                    <a16:rowId xmlns:a16="http://schemas.microsoft.com/office/drawing/2014/main" val="172289383"/>
                  </a:ext>
                </a:extLst>
              </a:tr>
              <a:tr h="584251">
                <a:tc>
                  <a:txBody>
                    <a:bodyPr/>
                    <a:lstStyle/>
                    <a:p>
                      <a:pPr algn="ctr" fontAlgn="b">
                        <a:buNone/>
                      </a:pPr>
                      <a:r>
                        <a:rPr lang="en-US" sz="1600" b="0" u="none" strike="noStrike">
                          <a:effectLst/>
                        </a:rPr>
                        <a:t>Tshuapa</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i="0" u="none" strike="noStrike" dirty="0">
                          <a:effectLst/>
                          <a:latin typeface="Arial" panose="020B0604020202020204" pitchFamily="34" charset="0"/>
                        </a:rPr>
                        <a:t>12</a:t>
                      </a:r>
                    </a:p>
                  </a:txBody>
                  <a:tcPr marL="6351" marR="6351" marT="6351" marB="0" anchor="ctr"/>
                </a:tc>
                <a:tc>
                  <a:txBody>
                    <a:bodyPr/>
                    <a:lstStyle/>
                    <a:p>
                      <a:pPr algn="ctr" fontAlgn="b">
                        <a:buNone/>
                      </a:pPr>
                      <a:r>
                        <a:rPr lang="en-US" sz="1600" b="0" u="none" strike="noStrike" dirty="0">
                          <a:effectLst/>
                        </a:rPr>
                        <a:t>25%</a:t>
                      </a:r>
                      <a:endParaRPr lang="en-US" sz="1600" b="0" i="0" u="none" strike="noStrike" dirty="0">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93%</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18%</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83%</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72%</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18%</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76%</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67%</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53%</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65%</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60%</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55%</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66%</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a:effectLst/>
                        </a:rPr>
                        <a:t>60%</a:t>
                      </a:r>
                      <a:endParaRPr lang="en-US" sz="1600" b="0" i="0" u="none" strike="noStrike">
                        <a:effectLst/>
                        <a:latin typeface="Arial" panose="020B0604020202020204" pitchFamily="34" charset="0"/>
                      </a:endParaRPr>
                    </a:p>
                  </a:txBody>
                  <a:tcPr marL="6351" marR="6351" marT="6351" marB="0" anchor="ctr"/>
                </a:tc>
                <a:tc>
                  <a:txBody>
                    <a:bodyPr/>
                    <a:lstStyle/>
                    <a:p>
                      <a:pPr algn="ctr" fontAlgn="b">
                        <a:buNone/>
                      </a:pPr>
                      <a:r>
                        <a:rPr lang="en-US" sz="1600" b="0" u="none" strike="noStrike" dirty="0">
                          <a:effectLst/>
                        </a:rPr>
                        <a:t>55%</a:t>
                      </a:r>
                      <a:endParaRPr lang="en-US" sz="1600" b="0" i="0" u="none" strike="noStrike" dirty="0">
                        <a:effectLst/>
                        <a:latin typeface="Arial" panose="020B0604020202020204" pitchFamily="34" charset="0"/>
                      </a:endParaRPr>
                    </a:p>
                  </a:txBody>
                  <a:tcPr marL="6351" marR="6351" marT="6351" marB="0" anchor="ctr"/>
                </a:tc>
                <a:extLst>
                  <a:ext uri="{0D108BD9-81ED-4DB2-BD59-A6C34878D82A}">
                    <a16:rowId xmlns:a16="http://schemas.microsoft.com/office/drawing/2014/main" val="3931909435"/>
                  </a:ext>
                </a:extLst>
              </a:tr>
            </a:tbl>
          </a:graphicData>
        </a:graphic>
      </p:graphicFrame>
    </p:spTree>
    <p:extLst>
      <p:ext uri="{BB962C8B-B14F-4D97-AF65-F5344CB8AC3E}">
        <p14:creationId xmlns:p14="http://schemas.microsoft.com/office/powerpoint/2010/main" val="786345960"/>
      </p:ext>
    </p:extLst>
  </p:cSld>
  <p:clrMapOvr>
    <a:masterClrMapping/>
  </p:clrMapOvr>
  <p:transition spd="med">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39FD7-689F-BAAA-4E3B-1AB14C86F9F2}"/>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8F6A2507-9EED-9D38-362F-3AAC7E51C449}"/>
              </a:ext>
            </a:extLst>
          </p:cNvPr>
          <p:cNvSpPr>
            <a:spLocks noGrp="1"/>
          </p:cNvSpPr>
          <p:nvPr>
            <p:ph type="body" sz="quarter" idx="16"/>
          </p:nvPr>
        </p:nvSpPr>
        <p:spPr>
          <a:xfrm>
            <a:off x="1082288" y="114717"/>
            <a:ext cx="10718800" cy="643248"/>
          </a:xfrm>
        </p:spPr>
        <p:txBody>
          <a:bodyPr>
            <a:normAutofit/>
          </a:bodyPr>
          <a:lstStyle/>
          <a:p>
            <a:pPr algn="ctr"/>
            <a:r>
              <a:rPr lang="fr-FR" dirty="0"/>
              <a:t>CV VAP 7 Provinces du Bloc 2 </a:t>
            </a:r>
            <a:endParaRPr lang="fr-FR" dirty="0">
              <a:solidFill>
                <a:srgbClr val="FF0000"/>
              </a:solidFill>
            </a:endParaRPr>
          </a:p>
        </p:txBody>
      </p:sp>
      <p:graphicFrame>
        <p:nvGraphicFramePr>
          <p:cNvPr id="4" name="Graphique 3"/>
          <p:cNvGraphicFramePr>
            <a:graphicFrameLocks/>
          </p:cNvGraphicFramePr>
          <p:nvPr>
            <p:extLst>
              <p:ext uri="{D42A27DB-BD31-4B8C-83A1-F6EECF244321}">
                <p14:modId xmlns:p14="http://schemas.microsoft.com/office/powerpoint/2010/main" val="3931828713"/>
              </p:ext>
            </p:extLst>
          </p:nvPr>
        </p:nvGraphicFramePr>
        <p:xfrm>
          <a:off x="992458" y="832105"/>
          <a:ext cx="10214517" cy="553524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3383877"/>
      </p:ext>
    </p:extLst>
  </p:cSld>
  <p:clrMapOvr>
    <a:masterClrMapping/>
  </p:clrMapOvr>
  <p:transition spd="med">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
          <p:cNvSpPr txBox="1">
            <a:spLocks noGrp="1"/>
          </p:cNvSpPr>
          <p:nvPr>
            <p:ph type="sldNum" idx="12"/>
          </p:nvPr>
        </p:nvSpPr>
        <p:spPr>
          <a:xfrm>
            <a:off x="11296611" y="6217623"/>
            <a:ext cx="731600" cy="524800"/>
          </a:xfrm>
          <a:prstGeom prst="rect">
            <a:avLst/>
          </a:prstGeom>
          <a:noFill/>
          <a:ln>
            <a:noFill/>
          </a:ln>
        </p:spPr>
        <p:txBody>
          <a:bodyPr spcFirstLastPara="1" wrap="square" lIns="121900" tIns="121900" rIns="121900" bIns="121900" anchor="ctr" anchorCtr="0">
            <a:normAutofit/>
          </a:bodyPr>
          <a:lstStyle/>
          <a:p>
            <a:pPr marL="0" lvl="0" indent="0" algn="r" rtl="0">
              <a:lnSpc>
                <a:spcPct val="100000"/>
              </a:lnSpc>
              <a:spcBef>
                <a:spcPts val="0"/>
              </a:spcBef>
              <a:spcAft>
                <a:spcPts val="0"/>
              </a:spcAft>
              <a:buSzPts val="1000"/>
              <a:buNone/>
            </a:pPr>
            <a:fld id="{00000000-1234-1234-1234-123412341234}" type="slidenum">
              <a:rPr lang="en-GB" sz="1600"/>
              <a:t>46</a:t>
            </a:fld>
            <a:endParaRPr lang="en-GB" sz="1600"/>
          </a:p>
        </p:txBody>
      </p:sp>
      <p:sp>
        <p:nvSpPr>
          <p:cNvPr id="167" name="Google Shape;167;p1"/>
          <p:cNvSpPr txBox="1"/>
          <p:nvPr/>
        </p:nvSpPr>
        <p:spPr>
          <a:xfrm>
            <a:off x="295033" y="5920417"/>
            <a:ext cx="3302000" cy="34861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700"/>
              <a:buFont typeface="Arial" panose="020B0604020202020204"/>
              <a:buNone/>
            </a:pPr>
            <a:r>
              <a:rPr lang="en-GB" sz="2265" b="0" i="0" u="none" strike="noStrike" cap="none">
                <a:solidFill>
                  <a:srgbClr val="FFFFFF"/>
                </a:solidFill>
                <a:latin typeface="Arial" panose="020B0604020202020204"/>
                <a:ea typeface="Arial" panose="020B0604020202020204"/>
                <a:cs typeface="Arial" panose="020B0604020202020204"/>
                <a:sym typeface="Arial" panose="020B0604020202020204"/>
              </a:rPr>
              <a:t>October 2024</a:t>
            </a:r>
            <a:endParaRPr sz="2265"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168" name="Google Shape;168;p1"/>
          <p:cNvPicPr preferRelativeResize="0"/>
          <p:nvPr/>
        </p:nvPicPr>
        <p:blipFill rotWithShape="1">
          <a:blip r:embed="rId3"/>
          <a:srcRect l="-17785"/>
          <a:stretch>
            <a:fillRect/>
          </a:stretch>
        </p:blipFill>
        <p:spPr>
          <a:xfrm>
            <a:off x="-683503" y="1646443"/>
            <a:ext cx="4526453" cy="3703151"/>
          </a:xfrm>
          <a:prstGeom prst="rect">
            <a:avLst/>
          </a:prstGeom>
          <a:noFill/>
          <a:ln>
            <a:noFill/>
          </a:ln>
        </p:spPr>
      </p:pic>
      <p:sp>
        <p:nvSpPr>
          <p:cNvPr id="169" name="Google Shape;169;p1"/>
          <p:cNvSpPr txBox="1"/>
          <p:nvPr/>
        </p:nvSpPr>
        <p:spPr>
          <a:xfrm>
            <a:off x="4399723" y="3042920"/>
            <a:ext cx="7464618" cy="122301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500"/>
              <a:buFont typeface="Arial" panose="020B0604020202020204"/>
              <a:buNone/>
            </a:pPr>
            <a:r>
              <a:rPr lang="fr-FR" sz="3600" b="1" i="0" u="none" strike="noStrike" cap="none" dirty="0" err="1">
                <a:solidFill>
                  <a:srgbClr val="145ABE"/>
                </a:solidFill>
                <a:latin typeface="Times New Roman" panose="02020603050405020304"/>
                <a:ea typeface="Times New Roman" panose="02020603050405020304"/>
                <a:cs typeface="Times New Roman" panose="02020603050405020304"/>
                <a:sym typeface="Times New Roman" panose="02020603050405020304"/>
              </a:rPr>
              <a:t>ANALYSE FFOM/LE</a:t>
            </a:r>
            <a:r>
              <a:rPr lang="en-US" altLang="en-US" sz="3600" b="1" i="0" u="none" strike="noStrike" cap="none" dirty="0" err="1">
                <a:solidFill>
                  <a:srgbClr val="145ABE"/>
                </a:solidFill>
                <a:latin typeface="Times New Roman" panose="02020603050405020304"/>
                <a:ea typeface="Times New Roman" panose="02020603050405020304"/>
                <a:cs typeface="Times New Roman" panose="02020603050405020304"/>
                <a:sym typeface="Times New Roman" panose="02020603050405020304"/>
              </a:rPr>
              <a:t>Ç</a:t>
            </a:r>
            <a:r>
              <a:rPr lang="fr-FR" sz="3600" b="1" i="0" u="none" strike="noStrike" cap="none" dirty="0" err="1">
                <a:solidFill>
                  <a:srgbClr val="145ABE"/>
                </a:solidFill>
                <a:latin typeface="Times New Roman" panose="02020603050405020304"/>
                <a:ea typeface="Times New Roman" panose="02020603050405020304"/>
                <a:cs typeface="Times New Roman" panose="02020603050405020304"/>
                <a:sym typeface="Times New Roman" panose="02020603050405020304"/>
              </a:rPr>
              <a:t>ONS APPRISES -BONNE PRATIQUE</a:t>
            </a:r>
            <a:endParaRPr lang="fr-FR" altLang="en-GB" sz="3600" b="1" i="0" u="none" strike="noStrike" cap="none" dirty="0" err="1">
              <a:solidFill>
                <a:srgbClr val="145ABE"/>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0" name="Google Shape;170;p1"/>
          <p:cNvSpPr/>
          <p:nvPr/>
        </p:nvSpPr>
        <p:spPr>
          <a:xfrm>
            <a:off x="3660828" y="1516400"/>
            <a:ext cx="373600" cy="1867200"/>
          </a:xfrm>
          <a:prstGeom prst="rect">
            <a:avLst/>
          </a:prstGeom>
          <a:solidFill>
            <a:srgbClr val="145ABE"/>
          </a:solidFill>
          <a:ln>
            <a:noFill/>
          </a:ln>
        </p:spPr>
        <p:txBody>
          <a:bodyPr spcFirstLastPara="1" wrap="square" lIns="91433" tIns="91433" rIns="91433" bIns="91433" anchor="ctr" anchorCtr="0">
            <a:noAutofit/>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6"/>
          <p:cNvSpPr txBox="1"/>
          <p:nvPr/>
        </p:nvSpPr>
        <p:spPr>
          <a:xfrm>
            <a:off x="458592" y="13147"/>
            <a:ext cx="11274800" cy="731600"/>
          </a:xfrm>
          <a:prstGeom prst="rect">
            <a:avLst/>
          </a:prstGeom>
          <a:noFill/>
          <a:ln>
            <a:noFill/>
          </a:ln>
        </p:spPr>
        <p:txBody>
          <a:bodyPr spcFirstLastPara="1" wrap="square" lIns="0" tIns="0" rIns="0" bIns="0" anchor="t" anchorCtr="0">
            <a:noAutofit/>
          </a:bodyPr>
          <a:lstStyle/>
          <a:p>
            <a:pPr lvl="0">
              <a:buSzPts val="1100"/>
            </a:pPr>
            <a:r>
              <a:rPr lang="fr-FR" altLang="en-GB" sz="2665" b="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FFOM / PEV DE ROUTINE/INTRODUCTION DES NOUVEAUX VACCINS /</a:t>
            </a:r>
            <a:endParaRPr lang="fr-FR" altLang="en-GB" sz="3200" b="1" dirty="0">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2" name="Google Shape;222;p16"/>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spcBef>
                <a:spcPts val="0"/>
              </a:spcBef>
              <a:spcAft>
                <a:spcPts val="0"/>
              </a:spcAft>
              <a:buNone/>
            </a:pPr>
            <a:endParaRPr sz="1865">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17" name="Grouper 16"/>
          <p:cNvGrpSpPr/>
          <p:nvPr/>
        </p:nvGrpSpPr>
        <p:grpSpPr>
          <a:xfrm>
            <a:off x="118110" y="662644"/>
            <a:ext cx="11711940" cy="6014380"/>
            <a:chOff x="186" y="1743"/>
            <a:chExt cx="18444" cy="8772"/>
          </a:xfrm>
        </p:grpSpPr>
        <p:sp>
          <p:nvSpPr>
            <p:cNvPr id="224" name="Google Shape;224;p16"/>
            <p:cNvSpPr txBox="1"/>
            <p:nvPr/>
          </p:nvSpPr>
          <p:spPr>
            <a:xfrm>
              <a:off x="422" y="10225"/>
              <a:ext cx="17976" cy="29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sp>
          <p:nvSpPr>
            <p:cNvPr id="4" name="Zone de texte 3"/>
            <p:cNvSpPr txBox="1"/>
            <p:nvPr>
              <p:custDataLst>
                <p:tags r:id="rId3"/>
              </p:custDataLst>
            </p:nvPr>
          </p:nvSpPr>
          <p:spPr>
            <a:xfrm>
              <a:off x="936" y="1799"/>
              <a:ext cx="8000" cy="539"/>
            </a:xfrm>
            <a:prstGeom prst="rect">
              <a:avLst/>
            </a:prstGeom>
            <a:noFill/>
          </p:spPr>
          <p:txBody>
            <a:bodyPr wrap="square" rtlCol="0">
              <a:spAutoFit/>
            </a:bodyPr>
            <a:lstStyle/>
            <a:p>
              <a:pPr lvl="0" algn="l">
                <a:buClrTx/>
                <a:buSzTx/>
                <a:buFontTx/>
              </a:pPr>
              <a:r>
                <a:rPr lang="fr-FR" altLang="en-US" b="1" dirty="0">
                  <a:latin typeface="Times New Roman" panose="02020603050405020304" pitchFamily="18" charset="0"/>
                  <a:cs typeface="Times New Roman" panose="02020603050405020304" pitchFamily="18" charset="0"/>
                  <a:sym typeface="+mn-ea"/>
                </a:rPr>
                <a:t>Forces</a:t>
              </a:r>
              <a:r>
                <a:rPr lang="fr-FR" altLang="en-US" dirty="0">
                  <a:sym typeface="+mn-ea"/>
                </a:rPr>
                <a:t> </a:t>
              </a:r>
            </a:p>
          </p:txBody>
        </p:sp>
        <p:sp>
          <p:nvSpPr>
            <p:cNvPr id="8" name="Zone de texte 7"/>
            <p:cNvSpPr txBox="1"/>
            <p:nvPr>
              <p:custDataLst>
                <p:tags r:id="rId4"/>
              </p:custDataLst>
            </p:nvPr>
          </p:nvSpPr>
          <p:spPr>
            <a:xfrm>
              <a:off x="11199" y="1743"/>
              <a:ext cx="4533" cy="539"/>
            </a:xfrm>
            <a:prstGeom prst="rect">
              <a:avLst/>
            </a:prstGeom>
            <a:noFill/>
          </p:spPr>
          <p:txBody>
            <a:bodyPr wrap="square" rtlCol="0">
              <a:spAutoFit/>
            </a:bodyPr>
            <a:lstStyle/>
            <a:p>
              <a:pPr lvl="0" algn="l">
                <a:buClrTx/>
                <a:buSzTx/>
                <a:buFontTx/>
              </a:pPr>
              <a:r>
                <a:rPr lang="fr-FR" altLang="en-US" b="1" dirty="0">
                  <a:latin typeface="Times New Roman" panose="02020603050405020304" pitchFamily="18" charset="0"/>
                  <a:cs typeface="Times New Roman" panose="02020603050405020304" pitchFamily="18" charset="0"/>
                  <a:sym typeface="+mn-ea"/>
                </a:rPr>
                <a:t>Faiblesses </a:t>
              </a:r>
            </a:p>
          </p:txBody>
        </p:sp>
        <p:sp>
          <p:nvSpPr>
            <p:cNvPr id="12" name="Zone de texte 11"/>
            <p:cNvSpPr txBox="1"/>
            <p:nvPr/>
          </p:nvSpPr>
          <p:spPr>
            <a:xfrm>
              <a:off x="186" y="2414"/>
              <a:ext cx="9184" cy="2943"/>
            </a:xfrm>
            <a:prstGeom prst="rect">
              <a:avLst/>
            </a:prstGeom>
            <a:noFill/>
          </p:spPr>
          <p:txBody>
            <a:bodyPr wrap="square" rtlCol="0">
              <a:noAutofit/>
            </a:bodyPr>
            <a:lstStyle/>
            <a:p>
              <a:pPr marL="285750" indent="-285750" algn="just">
                <a:spcBef>
                  <a:spcPts val="600"/>
                </a:spcBef>
                <a:spcAft>
                  <a:spcPts val="600"/>
                </a:spcAft>
                <a:buFont typeface="Arial" panose="020B0604020202020204" pitchFamily="34" charset="0"/>
                <a:buChar char="•"/>
              </a:pPr>
              <a:r>
                <a:rPr lang="fr-FR" altLang="en-US" sz="1400" dirty="0">
                  <a:latin typeface="Times New Roman" panose="02020603050405020304" pitchFamily="18" charset="0"/>
                  <a:cs typeface="Times New Roman" panose="02020603050405020304" pitchFamily="18" charset="0"/>
                </a:rPr>
                <a:t>L’</a:t>
              </a:r>
              <a:r>
                <a:rPr lang="fr-FR" altLang="en-US" sz="1400" dirty="0" err="1">
                  <a:latin typeface="Times New Roman" panose="02020603050405020304" pitchFamily="18" charset="0"/>
                  <a:cs typeface="Times New Roman" panose="02020603050405020304" pitchFamily="18" charset="0"/>
                </a:rPr>
                <a:t>organisationn</a:t>
              </a:r>
              <a:r>
                <a:rPr lang="fr-FR" altLang="en-US" sz="1400" dirty="0">
                  <a:latin typeface="Times New Roman" panose="02020603050405020304" pitchFamily="18" charset="0"/>
                  <a:cs typeface="Times New Roman" panose="02020603050405020304" pitchFamily="18" charset="0"/>
                </a:rPr>
                <a:t> des ateliers d’orientation </a:t>
              </a:r>
              <a:r>
                <a:rPr lang="fr-FR" altLang="en-US" sz="1400" dirty="0" err="1">
                  <a:latin typeface="Times New Roman" panose="02020603050405020304" pitchFamily="18" charset="0"/>
                  <a:cs typeface="Times New Roman" panose="02020603050405020304" pitchFamily="18" charset="0"/>
                </a:rPr>
                <a:t>Mashako</a:t>
              </a:r>
              <a:r>
                <a:rPr lang="fr-FR" altLang="en-US" sz="1400" dirty="0">
                  <a:latin typeface="Times New Roman" panose="02020603050405020304" pitchFamily="18" charset="0"/>
                  <a:cs typeface="Times New Roman" panose="02020603050405020304" pitchFamily="18" charset="0"/>
                </a:rPr>
                <a:t> 3.0 a améliorer les performances des acteurs du niveau intermédiaire et opérationnel </a:t>
              </a:r>
            </a:p>
            <a:p>
              <a:pPr marL="285750" indent="-285750" algn="just">
                <a:spcBef>
                  <a:spcPts val="600"/>
                </a:spcBef>
                <a:spcAft>
                  <a:spcPts val="600"/>
                </a:spcAft>
                <a:buFont typeface="Arial" panose="020B0604020202020204" pitchFamily="34" charset="0"/>
                <a:buChar char="•"/>
              </a:pPr>
              <a:r>
                <a:rPr lang="fr-FR" altLang="en-US" sz="1400" dirty="0">
                  <a:latin typeface="Times New Roman" panose="02020603050405020304" pitchFamily="18" charset="0"/>
                  <a:cs typeface="Times New Roman" panose="02020603050405020304" pitchFamily="18" charset="0"/>
                </a:rPr>
                <a:t>La récupération des enfants de 12 à 59 mois dans le cadre de BCU est un atout pour une bonne immunité collective.</a:t>
              </a:r>
            </a:p>
            <a:p>
              <a:pPr marL="285750" indent="-285750" algn="just">
                <a:spcBef>
                  <a:spcPts val="600"/>
                </a:spcBef>
                <a:spcAft>
                  <a:spcPts val="600"/>
                </a:spcAft>
                <a:buFont typeface="Arial" panose="020B0604020202020204" pitchFamily="34" charset="0"/>
                <a:buChar char="•"/>
              </a:pPr>
              <a:r>
                <a:rPr lang="fr-FR" altLang="en-US" sz="1400" dirty="0">
                  <a:latin typeface="Times New Roman" panose="02020603050405020304" pitchFamily="18" charset="0"/>
                  <a:cs typeface="Times New Roman" panose="02020603050405020304" pitchFamily="18" charset="0"/>
                </a:rPr>
                <a:t>Couplage des activités dans le contexte de ressources limitées (Orientations </a:t>
              </a:r>
              <a:r>
                <a:rPr lang="fr-FR" altLang="en-US" sz="1400" dirty="0" err="1">
                  <a:latin typeface="Times New Roman" panose="02020603050405020304" pitchFamily="18" charset="0"/>
                  <a:cs typeface="Times New Roman" panose="02020603050405020304" pitchFamily="18" charset="0"/>
                </a:rPr>
                <a:t>Mashako</a:t>
              </a:r>
              <a:r>
                <a:rPr lang="fr-FR" altLang="en-US" sz="1400" dirty="0">
                  <a:latin typeface="Times New Roman" panose="02020603050405020304" pitchFamily="18" charset="0"/>
                  <a:cs typeface="Times New Roman" panose="02020603050405020304" pitchFamily="18" charset="0"/>
                </a:rPr>
                <a:t> et formation de nouveaux vaccins); </a:t>
              </a:r>
            </a:p>
            <a:p>
              <a:pPr marL="285750" indent="-285750" algn="just">
                <a:spcBef>
                  <a:spcPts val="600"/>
                </a:spcBef>
                <a:spcAft>
                  <a:spcPts val="600"/>
                </a:spcAft>
                <a:buFont typeface="Arial" panose="020B0604020202020204" pitchFamily="34" charset="0"/>
                <a:buChar char="•"/>
              </a:pPr>
              <a:r>
                <a:rPr lang="fr-FR" altLang="en-US" sz="1400" dirty="0">
                  <a:latin typeface="Times New Roman" panose="02020603050405020304" pitchFamily="18" charset="0"/>
                  <a:cs typeface="Times New Roman" panose="02020603050405020304" pitchFamily="18" charset="0"/>
                </a:rPr>
                <a:t>L’introduction du VAP à </a:t>
              </a:r>
              <a:r>
                <a:rPr lang="fr-FR" altLang="en-US" sz="1400" dirty="0" err="1">
                  <a:latin typeface="Times New Roman" panose="02020603050405020304" pitchFamily="18" charset="0"/>
                  <a:cs typeface="Times New Roman" panose="02020603050405020304" pitchFamily="18" charset="0"/>
                </a:rPr>
                <a:t>amelior</a:t>
              </a:r>
              <a:r>
                <a:rPr lang="fr-FR" altLang="en-US" sz="1400" dirty="0">
                  <a:latin typeface="Times New Roman" panose="02020603050405020304" pitchFamily="18" charset="0"/>
                  <a:cs typeface="Times New Roman" panose="02020603050405020304" pitchFamily="18" charset="0"/>
                </a:rPr>
                <a:t> les performances des antigènes de routine</a:t>
              </a:r>
            </a:p>
          </p:txBody>
        </p:sp>
        <p:sp>
          <p:nvSpPr>
            <p:cNvPr id="14" name="Zone de texte 13"/>
            <p:cNvSpPr txBox="1"/>
            <p:nvPr/>
          </p:nvSpPr>
          <p:spPr>
            <a:xfrm>
              <a:off x="9897" y="2525"/>
              <a:ext cx="8733" cy="2504"/>
            </a:xfrm>
            <a:prstGeom prst="rect">
              <a:avLst/>
            </a:prstGeom>
            <a:noFill/>
          </p:spPr>
          <p:txBody>
            <a:bodyPr wrap="square" rtlCol="0">
              <a:noAutofit/>
            </a:bodyPr>
            <a:lstStyle/>
            <a:p>
              <a:pPr marL="285750" indent="-285750">
                <a:spcBef>
                  <a:spcPts val="600"/>
                </a:spcBef>
                <a:spcAft>
                  <a:spcPts val="600"/>
                </a:spcAft>
                <a:buFont typeface="Arial" panose="020B0604020202020204" pitchFamily="34" charset="0"/>
                <a:buChar char="•"/>
              </a:pPr>
              <a:r>
                <a:rPr lang="fr-FR" altLang="en-US" sz="1400" dirty="0">
                  <a:latin typeface="Times New Roman" panose="02020603050405020304" pitchFamily="18" charset="0"/>
                  <a:cs typeface="Times New Roman" panose="02020603050405020304" pitchFamily="18" charset="0"/>
                </a:rPr>
                <a:t>Le non accompagnement des provinces par le niveau central dans le processus de la micro planification a pesé sur la qualité.</a:t>
              </a:r>
            </a:p>
            <a:p>
              <a:pPr marL="285750" indent="-285750">
                <a:spcBef>
                  <a:spcPts val="600"/>
                </a:spcBef>
                <a:spcAft>
                  <a:spcPts val="600"/>
                </a:spcAft>
                <a:buFont typeface="Arial" panose="020B0604020202020204" pitchFamily="34" charset="0"/>
                <a:buChar char="•"/>
              </a:pPr>
              <a:r>
                <a:rPr lang="fr-FR" altLang="en-US" sz="1400" dirty="0">
                  <a:latin typeface="Times New Roman" panose="02020603050405020304" pitchFamily="18" charset="0"/>
                  <a:cs typeface="Times New Roman" panose="02020603050405020304" pitchFamily="18" charset="0"/>
                </a:rPr>
                <a:t>Le non respect du délais entre deux doses des vaccins dans le rattrapage; </a:t>
              </a:r>
            </a:p>
            <a:p>
              <a:pPr marL="285750" indent="-285750">
                <a:spcBef>
                  <a:spcPts val="600"/>
                </a:spcBef>
                <a:spcAft>
                  <a:spcPts val="600"/>
                </a:spcAft>
                <a:buFont typeface="Arial" panose="020B0604020202020204" pitchFamily="34" charset="0"/>
                <a:buChar char="•"/>
              </a:pPr>
              <a:r>
                <a:rPr lang="fr-FR" altLang="en-US" sz="1400" dirty="0">
                  <a:latin typeface="Times New Roman" panose="02020603050405020304" pitchFamily="18" charset="0"/>
                  <a:cs typeface="Times New Roman" panose="02020603050405020304" pitchFamily="18" charset="0"/>
                </a:rPr>
                <a:t>Le non accompagnement des provinces par le niveau central dans le processus de la micro planification a pesé sur la qualité.</a:t>
              </a:r>
            </a:p>
            <a:p>
              <a:pPr marL="285750" indent="-285750">
                <a:spcBef>
                  <a:spcPts val="600"/>
                </a:spcBef>
                <a:spcAft>
                  <a:spcPts val="600"/>
                </a:spcAft>
                <a:buFont typeface="Arial" panose="020B0604020202020204" pitchFamily="34" charset="0"/>
                <a:buChar char="•"/>
              </a:pPr>
              <a:r>
                <a:rPr lang="fr-FR" altLang="en-US" sz="1400" dirty="0">
                  <a:latin typeface="Times New Roman" panose="02020603050405020304" pitchFamily="18" charset="0"/>
                  <a:cs typeface="Times New Roman" panose="02020603050405020304" pitchFamily="18" charset="0"/>
                </a:rPr>
                <a:t>Le non respect du délais entre deux doses des vaccins dans le rattrapage;</a:t>
              </a:r>
            </a:p>
            <a:p>
              <a:pPr marL="285750" indent="-285750">
                <a:spcBef>
                  <a:spcPts val="600"/>
                </a:spcBef>
                <a:spcAft>
                  <a:spcPts val="600"/>
                </a:spcAft>
                <a:buFont typeface="Arial" panose="020B0604020202020204" pitchFamily="34" charset="0"/>
                <a:buChar char="•"/>
              </a:pPr>
              <a:r>
                <a:rPr lang="fr-FR" altLang="en-US" sz="1400" dirty="0">
                  <a:latin typeface="Times New Roman" panose="02020603050405020304" pitchFamily="18" charset="0"/>
                  <a:cs typeface="Times New Roman" panose="02020603050405020304" pitchFamily="18" charset="0"/>
                </a:rPr>
                <a:t> Insuffisance des outil des communications</a:t>
              </a:r>
            </a:p>
            <a:p>
              <a:pPr marL="285750" indent="-285750">
                <a:spcBef>
                  <a:spcPts val="600"/>
                </a:spcBef>
                <a:spcAft>
                  <a:spcPts val="600"/>
                </a:spcAft>
                <a:buFont typeface="Arial" panose="020B0604020202020204" pitchFamily="34" charset="0"/>
                <a:buChar char="•"/>
              </a:pPr>
              <a:r>
                <a:rPr lang="fr-FR" altLang="en-US" sz="1400" dirty="0">
                  <a:latin typeface="Times New Roman" panose="02020603050405020304" pitchFamily="18" charset="0"/>
                  <a:cs typeface="Times New Roman" panose="02020603050405020304" pitchFamily="18" charset="0"/>
                </a:rPr>
                <a:t>Non maitrise de la cohorte de VAP1</a:t>
              </a:r>
              <a:endParaRPr lang="fr-FR" altLang="en-US" sz="1400" dirty="0">
                <a:solidFill>
                  <a:srgbClr val="0070C0"/>
                </a:solidFill>
                <a:latin typeface="Times New Roman" panose="02020603050405020304" pitchFamily="18" charset="0"/>
                <a:cs typeface="Times New Roman" panose="02020603050405020304" pitchFamily="18" charset="0"/>
                <a:sym typeface="+mn-ea"/>
              </a:endParaRPr>
            </a:p>
          </p:txBody>
        </p:sp>
      </p:grpSp>
      <p:sp>
        <p:nvSpPr>
          <p:cNvPr id="10" name="Zone de texte 3"/>
          <p:cNvSpPr txBox="1"/>
          <p:nvPr>
            <p:custDataLst>
              <p:tags r:id="rId1"/>
            </p:custDataLst>
          </p:nvPr>
        </p:nvSpPr>
        <p:spPr>
          <a:xfrm>
            <a:off x="746760" y="3596639"/>
            <a:ext cx="5080000" cy="369557"/>
          </a:xfrm>
          <a:prstGeom prst="rect">
            <a:avLst/>
          </a:prstGeom>
          <a:noFill/>
        </p:spPr>
        <p:txBody>
          <a:bodyPr wrap="square" rtlCol="0">
            <a:spAutoFit/>
          </a:bodyPr>
          <a:lstStyle/>
          <a:p>
            <a:pPr lvl="0"/>
            <a:r>
              <a:rPr lang="fr-FR" altLang="en-US" b="1" dirty="0">
                <a:sym typeface="+mn-ea"/>
              </a:rPr>
              <a:t>Opportunités</a:t>
            </a:r>
            <a:r>
              <a:rPr lang="fr-FR" altLang="en-US" dirty="0">
                <a:sym typeface="+mn-ea"/>
              </a:rPr>
              <a:t> </a:t>
            </a:r>
          </a:p>
        </p:txBody>
      </p:sp>
      <p:sp>
        <p:nvSpPr>
          <p:cNvPr id="11" name="Zone de texte 7"/>
          <p:cNvSpPr txBox="1"/>
          <p:nvPr>
            <p:custDataLst>
              <p:tags r:id="rId2"/>
            </p:custDataLst>
          </p:nvPr>
        </p:nvSpPr>
        <p:spPr>
          <a:xfrm>
            <a:off x="7263765" y="4269430"/>
            <a:ext cx="2878455" cy="369332"/>
          </a:xfrm>
          <a:prstGeom prst="rect">
            <a:avLst/>
          </a:prstGeom>
          <a:noFill/>
        </p:spPr>
        <p:txBody>
          <a:bodyPr wrap="square" rtlCol="0">
            <a:spAutoFit/>
          </a:bodyPr>
          <a:lstStyle/>
          <a:p>
            <a:r>
              <a:rPr lang="fr-FR" altLang="en-US" b="1" dirty="0">
                <a:latin typeface="Times New Roman" panose="02020603050405020304" pitchFamily="18" charset="0"/>
                <a:cs typeface="Times New Roman" panose="02020603050405020304" pitchFamily="18" charset="0"/>
              </a:rPr>
              <a:t>Menaces</a:t>
            </a:r>
            <a:r>
              <a:rPr lang="fr-FR" altLang="en-US" dirty="0">
                <a:sym typeface="+mn-ea"/>
              </a:rPr>
              <a:t>  </a:t>
            </a:r>
            <a:r>
              <a:rPr lang="fr-FR" altLang="en-US" b="1" dirty="0">
                <a:latin typeface="Times New Roman" panose="02020603050405020304" pitchFamily="18" charset="0"/>
                <a:cs typeface="Times New Roman" panose="02020603050405020304" pitchFamily="18" charset="0"/>
                <a:sym typeface="+mn-ea"/>
              </a:rPr>
              <a:t> </a:t>
            </a:r>
          </a:p>
        </p:txBody>
      </p:sp>
      <p:sp>
        <p:nvSpPr>
          <p:cNvPr id="13" name="Zone de texte 11"/>
          <p:cNvSpPr txBox="1"/>
          <p:nvPr/>
        </p:nvSpPr>
        <p:spPr>
          <a:xfrm>
            <a:off x="270510" y="4018304"/>
            <a:ext cx="5831840" cy="2017820"/>
          </a:xfrm>
          <a:prstGeom prst="rect">
            <a:avLst/>
          </a:prstGeom>
          <a:noFill/>
        </p:spPr>
        <p:txBody>
          <a:bodyPr wrap="square" rtlCol="0">
            <a:noAutofit/>
          </a:bodyPr>
          <a:lstStyle/>
          <a:p>
            <a:pPr marL="285750" indent="-285750" algn="just">
              <a:spcBef>
                <a:spcPts val="600"/>
              </a:spcBef>
              <a:spcAft>
                <a:spcPts val="600"/>
              </a:spcAft>
              <a:buFont typeface="Arial" panose="020B0604020202020204" pitchFamily="34" charset="0"/>
              <a:buChar char="•"/>
            </a:pPr>
            <a:endParaRPr lang="fr-FR" altLang="en-US" sz="1400" dirty="0">
              <a:latin typeface="Times New Roman" panose="02020603050405020304" pitchFamily="18" charset="0"/>
              <a:cs typeface="Times New Roman" panose="02020603050405020304" pitchFamily="18" charset="0"/>
            </a:endParaRPr>
          </a:p>
        </p:txBody>
      </p:sp>
      <p:sp>
        <p:nvSpPr>
          <p:cNvPr id="15" name="Zone de texte 13"/>
          <p:cNvSpPr txBox="1"/>
          <p:nvPr/>
        </p:nvSpPr>
        <p:spPr>
          <a:xfrm>
            <a:off x="6436995" y="4747540"/>
            <a:ext cx="5545455" cy="1716827"/>
          </a:xfrm>
          <a:prstGeom prst="rect">
            <a:avLst/>
          </a:prstGeom>
          <a:noFill/>
        </p:spPr>
        <p:txBody>
          <a:bodyPr wrap="square" rtlCol="0">
            <a:noAutofit/>
          </a:bodyPr>
          <a:lstStyle/>
          <a:p>
            <a:pPr marL="285750" indent="-285750">
              <a:spcBef>
                <a:spcPts val="600"/>
              </a:spcBef>
              <a:spcAft>
                <a:spcPts val="600"/>
              </a:spcAft>
              <a:buFont typeface="Arial" panose="020B0604020202020204" pitchFamily="34" charset="0"/>
              <a:buChar char="•"/>
            </a:pPr>
            <a:r>
              <a:rPr lang="fr-FR" altLang="en-US" sz="1400" dirty="0">
                <a:latin typeface="Times New Roman" panose="02020603050405020304" pitchFamily="18" charset="0"/>
                <a:cs typeface="Times New Roman" panose="02020603050405020304" pitchFamily="18" charset="0"/>
                <a:sym typeface="+mn-ea"/>
              </a:rPr>
              <a:t>L’</a:t>
            </a:r>
            <a:r>
              <a:rPr lang="fr-FR" altLang="en-US" sz="1400" dirty="0" err="1">
                <a:latin typeface="Times New Roman" panose="02020603050405020304" pitchFamily="18" charset="0"/>
                <a:cs typeface="Times New Roman" panose="02020603050405020304" pitchFamily="18" charset="0"/>
                <a:sym typeface="+mn-ea"/>
              </a:rPr>
              <a:t>insécurite</a:t>
            </a:r>
            <a:r>
              <a:rPr lang="fr-FR" altLang="en-US" sz="1400" dirty="0">
                <a:latin typeface="Times New Roman" panose="02020603050405020304" pitchFamily="18" charset="0"/>
                <a:cs typeface="Times New Roman" panose="02020603050405020304" pitchFamily="18" charset="0"/>
                <a:sym typeface="+mn-ea"/>
              </a:rPr>
              <a:t> a menacé les activités de vaccination dans les provinces du  Nord et </a:t>
            </a:r>
            <a:r>
              <a:rPr lang="fr-FR" altLang="en-US" sz="1400" dirty="0" err="1">
                <a:latin typeface="Times New Roman" panose="02020603050405020304" pitchFamily="18" charset="0"/>
                <a:cs typeface="Times New Roman" panose="02020603050405020304" pitchFamily="18" charset="0"/>
                <a:sym typeface="+mn-ea"/>
              </a:rPr>
              <a:t>Nurd</a:t>
            </a:r>
            <a:r>
              <a:rPr lang="fr-FR" altLang="en-US" sz="1400" dirty="0">
                <a:latin typeface="Times New Roman" panose="02020603050405020304" pitchFamily="18" charset="0"/>
                <a:cs typeface="Times New Roman" panose="02020603050405020304" pitchFamily="18" charset="0"/>
                <a:sym typeface="+mn-ea"/>
              </a:rPr>
              <a:t> Kivu</a:t>
            </a:r>
          </a:p>
        </p:txBody>
      </p:sp>
    </p:spTree>
    <p:extLst>
      <p:ext uri="{BB962C8B-B14F-4D97-AF65-F5344CB8AC3E}">
        <p14:creationId xmlns:p14="http://schemas.microsoft.com/office/powerpoint/2010/main" val="317470349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6"/>
          <p:cNvSpPr txBox="1"/>
          <p:nvPr/>
        </p:nvSpPr>
        <p:spPr>
          <a:xfrm>
            <a:off x="455534" y="163282"/>
            <a:ext cx="11274800" cy="731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SzPts val="1100"/>
              <a:buNone/>
            </a:pPr>
            <a:r>
              <a:rPr lang="fr-FR" altLang="en-GB" sz="2665" b="1">
                <a:solidFill>
                  <a:srgbClr val="1155CC"/>
                </a:solidFill>
                <a:latin typeface="Times New Roman" panose="02020603050405020304"/>
                <a:ea typeface="Times New Roman" panose="02020603050405020304"/>
                <a:cs typeface="Times New Roman" panose="02020603050405020304"/>
                <a:sym typeface="Times New Roman" panose="02020603050405020304"/>
              </a:rPr>
              <a:t>Leçons apprises - Bonne pratique</a:t>
            </a:r>
            <a:endParaRPr lang="fr-FR" altLang="en-GB" sz="3200" b="1">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2" name="Google Shape;222;p16"/>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spcBef>
                <a:spcPts val="0"/>
              </a:spcBef>
              <a:spcAft>
                <a:spcPts val="0"/>
              </a:spcAft>
              <a:buNone/>
            </a:pPr>
            <a:endParaRPr sz="1865">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4" name="Google Shape;224;p16"/>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sp>
        <p:nvSpPr>
          <p:cNvPr id="3" name="Rectangle 2"/>
          <p:cNvSpPr/>
          <p:nvPr/>
        </p:nvSpPr>
        <p:spPr>
          <a:xfrm>
            <a:off x="6188764" y="1342390"/>
            <a:ext cx="0" cy="5332095"/>
          </a:xfrm>
          <a:prstGeom prst="rect">
            <a:avLst/>
          </a:prstGeom>
          <a:ln>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fr-FR" altLang="en-US"/>
          </a:p>
        </p:txBody>
      </p:sp>
      <p:sp>
        <p:nvSpPr>
          <p:cNvPr id="4" name="Zone de texte 3"/>
          <p:cNvSpPr txBox="1"/>
          <p:nvPr>
            <p:custDataLst>
              <p:tags r:id="rId1"/>
            </p:custDataLst>
          </p:nvPr>
        </p:nvSpPr>
        <p:spPr>
          <a:xfrm>
            <a:off x="267700" y="813925"/>
            <a:ext cx="5080000" cy="368300"/>
          </a:xfrm>
          <a:prstGeom prst="rect">
            <a:avLst/>
          </a:prstGeom>
          <a:noFill/>
        </p:spPr>
        <p:txBody>
          <a:bodyPr wrap="square" rtlCol="0">
            <a:spAutoFit/>
          </a:bodyPr>
          <a:lstStyle/>
          <a:p>
            <a:pPr lvl="0" algn="l">
              <a:buClrTx/>
              <a:buSzTx/>
              <a:buFontTx/>
            </a:pPr>
            <a:r>
              <a:rPr lang="fr-FR" altLang="en-US" b="1" dirty="0">
                <a:sym typeface="+mn-ea"/>
              </a:rPr>
              <a:t>Leçons apprises  </a:t>
            </a:r>
          </a:p>
        </p:txBody>
      </p:sp>
      <p:sp>
        <p:nvSpPr>
          <p:cNvPr id="8" name="Zone de texte 7"/>
          <p:cNvSpPr txBox="1"/>
          <p:nvPr>
            <p:custDataLst>
              <p:tags r:id="rId2"/>
            </p:custDataLst>
          </p:nvPr>
        </p:nvSpPr>
        <p:spPr>
          <a:xfrm>
            <a:off x="6469768" y="674336"/>
            <a:ext cx="2878455" cy="368300"/>
          </a:xfrm>
          <a:prstGeom prst="rect">
            <a:avLst/>
          </a:prstGeom>
          <a:noFill/>
        </p:spPr>
        <p:txBody>
          <a:bodyPr wrap="square" rtlCol="0">
            <a:spAutoFit/>
          </a:bodyPr>
          <a:lstStyle/>
          <a:p>
            <a:pPr lvl="0" algn="l">
              <a:buClrTx/>
              <a:buSzTx/>
              <a:buFontTx/>
            </a:pPr>
            <a:r>
              <a:rPr lang="fr-FR" altLang="en-US" b="1" dirty="0">
                <a:sym typeface="+mn-ea"/>
              </a:rPr>
              <a:t>Bonne pratique  </a:t>
            </a:r>
          </a:p>
        </p:txBody>
      </p:sp>
      <p:sp>
        <p:nvSpPr>
          <p:cNvPr id="12" name="Zone de texte 11"/>
          <p:cNvSpPr txBox="1"/>
          <p:nvPr/>
        </p:nvSpPr>
        <p:spPr>
          <a:xfrm>
            <a:off x="235600" y="1191657"/>
            <a:ext cx="5857334" cy="4782185"/>
          </a:xfrm>
          <a:prstGeom prst="rect">
            <a:avLst/>
          </a:prstGeom>
          <a:noFill/>
        </p:spPr>
        <p:txBody>
          <a:bodyPr wrap="square" rtlCol="0">
            <a:noAutofit/>
          </a:bodyPr>
          <a:lstStyle/>
          <a:p>
            <a:pPr marL="285750" indent="-285750">
              <a:spcBef>
                <a:spcPts val="600"/>
              </a:spcBef>
              <a:spcAft>
                <a:spcPts val="600"/>
              </a:spcAft>
              <a:buFont typeface="Arial" panose="020B0604020202020204" pitchFamily="34" charset="0"/>
              <a:buChar char="•"/>
            </a:pPr>
            <a:r>
              <a:rPr lang="fr-FR" altLang="en-US" sz="1400" dirty="0">
                <a:latin typeface="Times New Roman" panose="02020603050405020304" pitchFamily="18" charset="0"/>
                <a:cs typeface="Times New Roman" panose="02020603050405020304" pitchFamily="18" charset="0"/>
              </a:rPr>
              <a:t>La multiplicité d’outils de collecte des données de la vaccination entraine des erreurs de transcription</a:t>
            </a:r>
            <a:endParaRPr lang="fr-FR" altLang="en-US" sz="1400" dirty="0">
              <a:solidFill>
                <a:srgbClr val="0070C0"/>
              </a:solidFill>
              <a:latin typeface="Times New Roman" panose="02020603050405020304" pitchFamily="18" charset="0"/>
              <a:cs typeface="Times New Roman" panose="02020603050405020304" pitchFamily="18" charset="0"/>
            </a:endParaRPr>
          </a:p>
          <a:p>
            <a:pPr marL="285750" indent="-285750">
              <a:spcBef>
                <a:spcPts val="600"/>
              </a:spcBef>
              <a:spcAft>
                <a:spcPts val="600"/>
              </a:spcAft>
              <a:buFont typeface="Arial" panose="020B0604020202020204" pitchFamily="34" charset="0"/>
              <a:buChar char="•"/>
            </a:pPr>
            <a:r>
              <a:rPr lang="fr-FR" altLang="en-US" sz="1400" dirty="0">
                <a:latin typeface="Times New Roman" panose="02020603050405020304" pitchFamily="18" charset="0"/>
                <a:cs typeface="Times New Roman" panose="02020603050405020304" pitchFamily="18" charset="0"/>
              </a:rPr>
              <a:t>Fort leadership de la Direction du PEV est un atout pour la bonne coordination et mise en œuvre du SNV;</a:t>
            </a:r>
          </a:p>
          <a:p>
            <a:pPr marL="285750" indent="-285750">
              <a:spcBef>
                <a:spcPts val="600"/>
              </a:spcBef>
              <a:spcAft>
                <a:spcPts val="600"/>
              </a:spcAft>
              <a:buFont typeface="Arial" panose="020B0604020202020204" pitchFamily="34" charset="0"/>
              <a:buChar char="•"/>
            </a:pPr>
            <a:r>
              <a:rPr lang="fr-FR" altLang="en-US" sz="1400" dirty="0">
                <a:latin typeface="Times New Roman" panose="02020603050405020304" pitchFamily="18" charset="0"/>
                <a:cs typeface="Times New Roman" panose="02020603050405020304" pitchFamily="18" charset="0"/>
              </a:rPr>
              <a:t>Engagement des APA et leaders sociaux à tous les niveaux reste capital pour la réussite d’introduction de nouveaux vaccins;</a:t>
            </a:r>
          </a:p>
          <a:p>
            <a:pPr marL="285750" indent="-285750">
              <a:spcBef>
                <a:spcPts val="600"/>
              </a:spcBef>
              <a:spcAft>
                <a:spcPts val="600"/>
              </a:spcAft>
              <a:buFont typeface="Arial" panose="020B0604020202020204" pitchFamily="34" charset="0"/>
              <a:buChar char="•"/>
            </a:pPr>
            <a:r>
              <a:rPr lang="fr-FR" altLang="en-US" sz="1400" dirty="0">
                <a:latin typeface="Times New Roman" panose="02020603050405020304" pitchFamily="18" charset="0"/>
                <a:cs typeface="Times New Roman" panose="02020603050405020304" pitchFamily="18" charset="0"/>
              </a:rPr>
              <a:t>Mise en place à temps et la fonctionnalité des structures des coordinations (partenaires et PEV) par domaines de prestation renforce l’atteinte des résultats attendus;</a:t>
            </a:r>
          </a:p>
          <a:p>
            <a:pPr marL="285750" indent="-285750">
              <a:spcBef>
                <a:spcPts val="600"/>
              </a:spcBef>
              <a:spcAft>
                <a:spcPts val="600"/>
              </a:spcAft>
              <a:buFont typeface="Arial" panose="020B0604020202020204" pitchFamily="34" charset="0"/>
              <a:buChar char="•"/>
            </a:pPr>
            <a:r>
              <a:rPr lang="fr-FR" altLang="en-US" sz="1400" dirty="0">
                <a:latin typeface="Times New Roman" panose="02020603050405020304" pitchFamily="18" charset="0"/>
                <a:cs typeface="Times New Roman" panose="02020603050405020304" pitchFamily="18" charset="0"/>
              </a:rPr>
              <a:t>Approvisionnement à temps et en quantité suffisante du nouveau vaccin au pays permet le respect du plan du plan de mise en œuvre;</a:t>
            </a:r>
          </a:p>
          <a:p>
            <a:pPr marL="285750" indent="-285750">
              <a:spcBef>
                <a:spcPts val="600"/>
              </a:spcBef>
              <a:spcAft>
                <a:spcPts val="600"/>
              </a:spcAft>
              <a:buFont typeface="Arial" panose="020B0604020202020204" pitchFamily="34" charset="0"/>
              <a:buChar char="•"/>
            </a:pPr>
            <a:r>
              <a:rPr lang="fr-FR" altLang="en-US" sz="1400" dirty="0">
                <a:latin typeface="Times New Roman" panose="02020603050405020304" pitchFamily="18" charset="0"/>
                <a:cs typeface="Times New Roman" panose="02020603050405020304" pitchFamily="18" charset="0"/>
              </a:rPr>
              <a:t>Fonds de soutien de </a:t>
            </a:r>
            <a:r>
              <a:rPr lang="fr-FR" altLang="en-US" sz="1400" dirty="0" err="1">
                <a:latin typeface="Times New Roman" panose="02020603050405020304" pitchFamily="18" charset="0"/>
                <a:cs typeface="Times New Roman" panose="02020603050405020304" pitchFamily="18" charset="0"/>
              </a:rPr>
              <a:t>Gavi</a:t>
            </a:r>
            <a:r>
              <a:rPr lang="fr-FR" altLang="en-US" sz="1400" dirty="0">
                <a:latin typeface="Times New Roman" panose="02020603050405020304" pitchFamily="18" charset="0"/>
                <a:cs typeface="Times New Roman" panose="02020603050405020304" pitchFamily="18" charset="0"/>
              </a:rPr>
              <a:t> et l’appui des PTF sont importants dans le domaine d’introduction de nouveaux vaccins;</a:t>
            </a:r>
          </a:p>
          <a:p>
            <a:pPr marL="285750" indent="-285750">
              <a:spcBef>
                <a:spcPts val="600"/>
              </a:spcBef>
              <a:spcAft>
                <a:spcPts val="600"/>
              </a:spcAft>
              <a:buFont typeface="Arial" panose="020B0604020202020204" pitchFamily="34" charset="0"/>
              <a:buChar char="•"/>
            </a:pPr>
            <a:r>
              <a:rPr lang="fr-FR" altLang="en-US" sz="1400" dirty="0">
                <a:latin typeface="Times New Roman" panose="02020603050405020304" pitchFamily="18" charset="0"/>
                <a:cs typeface="Times New Roman" panose="02020603050405020304" pitchFamily="18" charset="0"/>
              </a:rPr>
              <a:t>Bonne qualité de la sensibilisation de la population, un mois avant l’introduction reste un atout majeur pour la réussite du lancement d’un nouveau vaccin.</a:t>
            </a:r>
          </a:p>
          <a:p>
            <a:pPr marL="285750" indent="-285750">
              <a:spcBef>
                <a:spcPts val="600"/>
              </a:spcBef>
              <a:spcAft>
                <a:spcPts val="600"/>
              </a:spcAft>
              <a:buFont typeface="Arial" panose="020B0604020202020204" pitchFamily="34" charset="0"/>
              <a:buChar char="•"/>
            </a:pPr>
            <a:r>
              <a:rPr lang="fr-FR" altLang="en-US" sz="1400" dirty="0">
                <a:latin typeface="Times New Roman" panose="02020603050405020304" pitchFamily="18" charset="0"/>
                <a:cs typeface="Times New Roman" panose="02020603050405020304" pitchFamily="18" charset="0"/>
              </a:rPr>
              <a:t>*Mise en place et bonne fonctionnalité du GTCV est un atout pour les qualités de décisions prises en faveur de nouveaux vaccins ainsi que, les prestations d’autres domaines de vaccination.</a:t>
            </a:r>
            <a:endParaRPr lang="fr-FR" altLang="en-US" sz="1400" dirty="0">
              <a:solidFill>
                <a:srgbClr val="FF000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fr-FR" altLang="en-US" sz="1400" dirty="0"/>
          </a:p>
          <a:p>
            <a:pPr marL="285750" indent="-285750">
              <a:buFont typeface="Arial" panose="020B0604020202020204" pitchFamily="34" charset="0"/>
              <a:buChar char="•"/>
            </a:pPr>
            <a:endParaRPr lang="fr-FR" altLang="en-US" sz="1400" dirty="0"/>
          </a:p>
          <a:p>
            <a:pPr marL="285750" indent="-285750">
              <a:buFont typeface="Arial" panose="020B0604020202020204" pitchFamily="34" charset="0"/>
              <a:buChar char="•"/>
            </a:pPr>
            <a:endParaRPr lang="fr-FR" altLang="en-US" sz="1400" dirty="0"/>
          </a:p>
          <a:p>
            <a:pPr marL="285750" indent="-285750">
              <a:buFont typeface="Arial" panose="020B0604020202020204" pitchFamily="34" charset="0"/>
              <a:buChar char="•"/>
            </a:pPr>
            <a:endParaRPr lang="fr-FR" altLang="en-US" sz="1400" dirty="0"/>
          </a:p>
          <a:p>
            <a:pPr marL="285750" indent="-285750">
              <a:buFont typeface="Arial" panose="020B0604020202020204" pitchFamily="34" charset="0"/>
              <a:buChar char="•"/>
            </a:pPr>
            <a:endParaRPr lang="fr-FR" altLang="en-US" sz="1400" dirty="0"/>
          </a:p>
          <a:p>
            <a:pPr marL="285750" indent="-285750">
              <a:buFont typeface="Arial" panose="020B0604020202020204" pitchFamily="34" charset="0"/>
              <a:buChar char="•"/>
            </a:pPr>
            <a:endParaRPr lang="fr-FR" altLang="en-US" sz="1400" dirty="0"/>
          </a:p>
          <a:p>
            <a:pPr marL="285750" indent="-285750">
              <a:buFont typeface="Arial" panose="020B0604020202020204" pitchFamily="34" charset="0"/>
              <a:buChar char="•"/>
            </a:pPr>
            <a:r>
              <a:rPr lang="fr-FR" altLang="en-US" sz="1400" dirty="0"/>
              <a:t>NB: </a:t>
            </a:r>
            <a:r>
              <a:rPr lang="fr-FR" altLang="en-US" sz="1400" dirty="0">
                <a:solidFill>
                  <a:srgbClr val="FF0000"/>
                </a:solidFill>
              </a:rPr>
              <a:t>il s’agit d’</a:t>
            </a:r>
            <a:r>
              <a:rPr lang="en-US" altLang="fr-FR" sz="1400" dirty="0">
                <a:solidFill>
                  <a:srgbClr val="FF0000"/>
                </a:solidFill>
              </a:rPr>
              <a:t>un </a:t>
            </a:r>
            <a:r>
              <a:rPr lang="fr-FR" altLang="en-US" sz="1400" dirty="0">
                <a:solidFill>
                  <a:srgbClr val="FF0000"/>
                </a:solidFill>
              </a:rPr>
              <a:t>savoir tiré de la mise en </a:t>
            </a:r>
            <a:r>
              <a:rPr lang="fr-FR" altLang="en-US" sz="1400" dirty="0" err="1">
                <a:solidFill>
                  <a:srgbClr val="FF0000"/>
                </a:solidFill>
              </a:rPr>
              <a:t>oeuvre</a:t>
            </a:r>
            <a:r>
              <a:rPr lang="fr-FR" altLang="en-US" sz="1400" dirty="0">
                <a:solidFill>
                  <a:srgbClr val="FF0000"/>
                </a:solidFill>
              </a:rPr>
              <a:t> des activité </a:t>
            </a:r>
            <a:r>
              <a:rPr lang="fr-FR" altLang="en-US" sz="1400" dirty="0" err="1">
                <a:solidFill>
                  <a:srgbClr val="FF0000"/>
                </a:solidFill>
              </a:rPr>
              <a:t>aucours</a:t>
            </a:r>
            <a:r>
              <a:rPr lang="fr-FR" altLang="en-US" sz="1400" dirty="0">
                <a:solidFill>
                  <a:srgbClr val="FF0000"/>
                </a:solidFill>
              </a:rPr>
              <a:t> de l’année 2025 ou tiré d’une expérience réussie ou non réussie, à capitaliser dans le futur.</a:t>
            </a:r>
          </a:p>
        </p:txBody>
      </p:sp>
      <p:sp>
        <p:nvSpPr>
          <p:cNvPr id="14" name="Zone de texte 13"/>
          <p:cNvSpPr txBox="1"/>
          <p:nvPr/>
        </p:nvSpPr>
        <p:spPr>
          <a:xfrm>
            <a:off x="6284595" y="1239020"/>
            <a:ext cx="5545455" cy="4806315"/>
          </a:xfrm>
          <a:prstGeom prst="rect">
            <a:avLst/>
          </a:prstGeom>
          <a:noFill/>
        </p:spPr>
        <p:txBody>
          <a:bodyPr wrap="square" rtlCol="0">
            <a:noAutofit/>
          </a:bodyPr>
          <a:lstStyle/>
          <a:p>
            <a:pPr marL="285750" indent="-285750">
              <a:spcBef>
                <a:spcPts val="600"/>
              </a:spcBef>
              <a:spcAft>
                <a:spcPts val="600"/>
              </a:spcAft>
              <a:buFont typeface="Arial" panose="020B0604020202020204" pitchFamily="34" charset="0"/>
              <a:buChar char="•"/>
            </a:pPr>
            <a:r>
              <a:rPr lang="fr-FR" altLang="en-US" sz="1400" dirty="0">
                <a:latin typeface="Times New Roman" panose="02020603050405020304" pitchFamily="18" charset="0"/>
                <a:cs typeface="Times New Roman" panose="02020603050405020304" pitchFamily="18" charset="0"/>
              </a:rPr>
              <a:t>la vaccination des cibles routinières (0-11 mois) pendant les IPVS améliore les couvertures vaccinales </a:t>
            </a:r>
            <a:endParaRPr lang="fr-FR" altLang="en-US" sz="1400" dirty="0">
              <a:solidFill>
                <a:srgbClr val="0070C0"/>
              </a:solidFill>
              <a:latin typeface="Times New Roman" panose="02020603050405020304" pitchFamily="18" charset="0"/>
              <a:cs typeface="Times New Roman" panose="02020603050405020304" pitchFamily="18" charset="0"/>
              <a:sym typeface="+mn-ea"/>
            </a:endParaRPr>
          </a:p>
          <a:p>
            <a:pPr marL="285750" indent="-285750">
              <a:spcBef>
                <a:spcPts val="600"/>
              </a:spcBef>
              <a:spcAft>
                <a:spcPts val="600"/>
              </a:spcAft>
              <a:buFont typeface="Arial" panose="020B0604020202020204" pitchFamily="34" charset="0"/>
              <a:buChar char="•"/>
            </a:pPr>
            <a:r>
              <a:rPr lang="fr-FR" altLang="en-US" sz="1400" dirty="0">
                <a:latin typeface="Times New Roman" panose="02020603050405020304" pitchFamily="18" charset="0"/>
                <a:cs typeface="Times New Roman" panose="02020603050405020304" pitchFamily="18" charset="0"/>
                <a:sym typeface="+mn-ea"/>
              </a:rPr>
              <a:t>Plaidoyer national de haut niveau auprès des APA et leaders sociaux provinciaux facilite l’adhésion de la population aux nouveaux vaccins;</a:t>
            </a:r>
          </a:p>
          <a:p>
            <a:pPr marL="285750" indent="-285750">
              <a:spcBef>
                <a:spcPts val="600"/>
              </a:spcBef>
              <a:spcAft>
                <a:spcPts val="600"/>
              </a:spcAft>
              <a:buFont typeface="Arial" panose="020B0604020202020204" pitchFamily="34" charset="0"/>
              <a:buChar char="•"/>
            </a:pPr>
            <a:r>
              <a:rPr lang="fr-FR" altLang="en-US" sz="1400" dirty="0">
                <a:latin typeface="Times New Roman" panose="02020603050405020304" pitchFamily="18" charset="0"/>
                <a:cs typeface="Times New Roman" panose="02020603050405020304" pitchFamily="18" charset="0"/>
                <a:sym typeface="+mn-ea"/>
              </a:rPr>
              <a:t>Renforcement de structures de coordinations (staffs et coordinations provinciaux) permet la bonne mise en œuvre;</a:t>
            </a:r>
          </a:p>
          <a:p>
            <a:pPr marL="285750" indent="-285750">
              <a:spcBef>
                <a:spcPts val="600"/>
              </a:spcBef>
              <a:spcAft>
                <a:spcPts val="600"/>
              </a:spcAft>
              <a:buFont typeface="Arial" panose="020B0604020202020204" pitchFamily="34" charset="0"/>
              <a:buChar char="•"/>
            </a:pPr>
            <a:r>
              <a:rPr lang="fr-FR" altLang="en-US" sz="1400" dirty="0">
                <a:latin typeface="Times New Roman" panose="02020603050405020304" pitchFamily="18" charset="0"/>
                <a:cs typeface="Times New Roman" panose="02020603050405020304" pitchFamily="18" charset="0"/>
                <a:sym typeface="+mn-ea"/>
              </a:rPr>
              <a:t>Approvisionnement à temps et en quantité suffisante des nouveaux vaccins permet le respect du plan de mise en œuvre;</a:t>
            </a:r>
          </a:p>
          <a:p>
            <a:pPr marL="285750" indent="-285750">
              <a:spcBef>
                <a:spcPts val="600"/>
              </a:spcBef>
              <a:spcAft>
                <a:spcPts val="600"/>
              </a:spcAft>
              <a:buFont typeface="Arial" panose="020B0604020202020204" pitchFamily="34" charset="0"/>
              <a:buChar char="•"/>
            </a:pPr>
            <a:r>
              <a:rPr lang="fr-FR" altLang="en-US" sz="1400" dirty="0">
                <a:latin typeface="Times New Roman" panose="02020603050405020304" pitchFamily="18" charset="0"/>
                <a:cs typeface="Times New Roman" panose="02020603050405020304" pitchFamily="18" charset="0"/>
                <a:sym typeface="+mn-ea"/>
              </a:rPr>
              <a:t>les appuis de qualité et à temps des niveaux  intermédiaires et opérationnel maximisent l’atteinte des résultats;</a:t>
            </a:r>
          </a:p>
          <a:p>
            <a:pPr marL="285750" indent="-285750">
              <a:spcBef>
                <a:spcPts val="600"/>
              </a:spcBef>
              <a:spcAft>
                <a:spcPts val="600"/>
              </a:spcAft>
              <a:buFont typeface="Arial" panose="020B0604020202020204" pitchFamily="34" charset="0"/>
              <a:buChar char="•"/>
            </a:pPr>
            <a:r>
              <a:rPr lang="fr-FR" altLang="en-US" sz="1400" dirty="0">
                <a:latin typeface="Times New Roman" panose="02020603050405020304" pitchFamily="18" charset="0"/>
                <a:cs typeface="Times New Roman" panose="02020603050405020304" pitchFamily="18" charset="0"/>
                <a:sym typeface="+mn-ea"/>
              </a:rPr>
              <a:t>Renforcement des supervisions de niveaux intermédiaire et opérationnel, le suivi et la réalisation des PIE interne permet de corrige à temps les prestations et de booster les performances  de nouveaux vaccins;</a:t>
            </a:r>
          </a:p>
          <a:p>
            <a:pPr marL="285750" indent="-285750">
              <a:spcBef>
                <a:spcPts val="600"/>
              </a:spcBef>
              <a:spcAft>
                <a:spcPts val="600"/>
              </a:spcAft>
              <a:buFont typeface="Arial" panose="020B0604020202020204" pitchFamily="34" charset="0"/>
              <a:buChar char="•"/>
            </a:pPr>
            <a:r>
              <a:rPr lang="fr-FR" altLang="en-US" sz="1400" dirty="0">
                <a:latin typeface="Times New Roman" panose="02020603050405020304" pitchFamily="18" charset="0"/>
                <a:cs typeface="Times New Roman" panose="02020603050405020304" pitchFamily="18" charset="0"/>
                <a:sym typeface="+mn-ea"/>
              </a:rPr>
              <a:t>Couplage des activités (micro plans et formations) favorise la mise en œuvre dans le contexte de ressources limitées.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
          <p:cNvSpPr txBox="1">
            <a:spLocks noGrp="1"/>
          </p:cNvSpPr>
          <p:nvPr>
            <p:ph type="sldNum" idx="12"/>
          </p:nvPr>
        </p:nvSpPr>
        <p:spPr>
          <a:xfrm>
            <a:off x="11296611" y="6217623"/>
            <a:ext cx="731600" cy="524800"/>
          </a:xfrm>
          <a:prstGeom prst="rect">
            <a:avLst/>
          </a:prstGeom>
          <a:noFill/>
          <a:ln>
            <a:noFill/>
          </a:ln>
        </p:spPr>
        <p:txBody>
          <a:bodyPr spcFirstLastPara="1" wrap="square" lIns="121900" tIns="121900" rIns="121900" bIns="121900" anchor="ctr" anchorCtr="0">
            <a:normAutofit/>
          </a:bodyPr>
          <a:lstStyle/>
          <a:p>
            <a:pPr marL="0" lvl="0" indent="0" algn="r" rtl="0">
              <a:lnSpc>
                <a:spcPct val="100000"/>
              </a:lnSpc>
              <a:spcBef>
                <a:spcPts val="0"/>
              </a:spcBef>
              <a:spcAft>
                <a:spcPts val="0"/>
              </a:spcAft>
              <a:buSzPts val="1000"/>
              <a:buNone/>
            </a:pPr>
            <a:fld id="{00000000-1234-1234-1234-123412341234}" type="slidenum">
              <a:rPr lang="en-GB" sz="1600"/>
              <a:t>49</a:t>
            </a:fld>
            <a:endParaRPr lang="en-GB" sz="1600"/>
          </a:p>
        </p:txBody>
      </p:sp>
      <p:sp>
        <p:nvSpPr>
          <p:cNvPr id="167" name="Google Shape;167;p1"/>
          <p:cNvSpPr txBox="1"/>
          <p:nvPr/>
        </p:nvSpPr>
        <p:spPr>
          <a:xfrm>
            <a:off x="295033" y="5920417"/>
            <a:ext cx="3302000" cy="34861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700"/>
              <a:buFont typeface="Arial" panose="020B0604020202020204"/>
              <a:buNone/>
            </a:pPr>
            <a:r>
              <a:rPr lang="en-GB" sz="2265" b="0" i="0" u="none" strike="noStrike" cap="none">
                <a:solidFill>
                  <a:srgbClr val="FFFFFF"/>
                </a:solidFill>
                <a:latin typeface="Arial" panose="020B0604020202020204"/>
                <a:ea typeface="Arial" panose="020B0604020202020204"/>
                <a:cs typeface="Arial" panose="020B0604020202020204"/>
                <a:sym typeface="Arial" panose="020B0604020202020204"/>
              </a:rPr>
              <a:t>October 2024</a:t>
            </a:r>
            <a:endParaRPr sz="2265"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168" name="Google Shape;168;p1"/>
          <p:cNvPicPr preferRelativeResize="0"/>
          <p:nvPr/>
        </p:nvPicPr>
        <p:blipFill rotWithShape="1">
          <a:blip r:embed="rId3"/>
          <a:srcRect l="-17785"/>
          <a:stretch>
            <a:fillRect/>
          </a:stretch>
        </p:blipFill>
        <p:spPr>
          <a:xfrm>
            <a:off x="-683503" y="1646443"/>
            <a:ext cx="4526453" cy="3703151"/>
          </a:xfrm>
          <a:prstGeom prst="rect">
            <a:avLst/>
          </a:prstGeom>
          <a:noFill/>
          <a:ln>
            <a:noFill/>
          </a:ln>
        </p:spPr>
      </p:pic>
      <p:sp>
        <p:nvSpPr>
          <p:cNvPr id="169" name="Google Shape;169;p1"/>
          <p:cNvSpPr txBox="1"/>
          <p:nvPr/>
        </p:nvSpPr>
        <p:spPr>
          <a:xfrm>
            <a:off x="4346713" y="3042920"/>
            <a:ext cx="7517627" cy="122301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500"/>
              <a:buFont typeface="Arial" panose="020B0604020202020204"/>
              <a:buNone/>
            </a:pPr>
            <a:r>
              <a:rPr lang="fr-FR" sz="3200" b="1" dirty="0">
                <a:solidFill>
                  <a:srgbClr val="145ABE"/>
                </a:solidFill>
                <a:latin typeface="Times New Roman" panose="02020603050405020304"/>
                <a:ea typeface="Times New Roman" panose="02020603050405020304"/>
                <a:cs typeface="Times New Roman" panose="02020603050405020304"/>
                <a:sym typeface="Times New Roman" panose="02020603050405020304"/>
              </a:rPr>
              <a:t>RECOMMANDATIONS/</a:t>
            </a:r>
          </a:p>
          <a:p>
            <a:pPr marL="0" marR="0" lvl="0" indent="0" algn="l" rtl="0">
              <a:lnSpc>
                <a:spcPct val="100000"/>
              </a:lnSpc>
              <a:spcBef>
                <a:spcPts val="0"/>
              </a:spcBef>
              <a:spcAft>
                <a:spcPts val="0"/>
              </a:spcAft>
              <a:buClr>
                <a:srgbClr val="000000"/>
              </a:buClr>
              <a:buSzPts val="1500"/>
              <a:buFont typeface="Arial" panose="020B0604020202020204"/>
              <a:buNone/>
            </a:pPr>
            <a:r>
              <a:rPr lang="fr-FR" sz="3200" b="1" dirty="0">
                <a:solidFill>
                  <a:srgbClr val="145ABE"/>
                </a:solidFill>
                <a:latin typeface="Times New Roman" panose="02020603050405020304"/>
                <a:ea typeface="Times New Roman" panose="02020603050405020304"/>
                <a:cs typeface="Times New Roman" panose="02020603050405020304"/>
                <a:sym typeface="Times New Roman" panose="02020603050405020304"/>
              </a:rPr>
              <a:t>ACTIONS PRIORITAIRES POUR </a:t>
            </a:r>
            <a:r>
              <a:rPr lang="fr-FR" sz="3200" b="1"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rPr>
              <a:t>2025</a:t>
            </a:r>
          </a:p>
        </p:txBody>
      </p:sp>
      <p:sp>
        <p:nvSpPr>
          <p:cNvPr id="170" name="Google Shape;170;p1"/>
          <p:cNvSpPr/>
          <p:nvPr/>
        </p:nvSpPr>
        <p:spPr>
          <a:xfrm>
            <a:off x="3660828" y="1516400"/>
            <a:ext cx="373600" cy="1867200"/>
          </a:xfrm>
          <a:prstGeom prst="rect">
            <a:avLst/>
          </a:prstGeom>
          <a:solidFill>
            <a:srgbClr val="145ABE"/>
          </a:solidFill>
          <a:ln>
            <a:noFill/>
          </a:ln>
        </p:spPr>
        <p:txBody>
          <a:bodyPr spcFirstLastPara="1" wrap="square" lIns="91433" tIns="91433" rIns="91433" bIns="91433" anchor="ctr" anchorCtr="0">
            <a:noAutofit/>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6"/>
          <p:cNvSpPr txBox="1"/>
          <p:nvPr/>
        </p:nvSpPr>
        <p:spPr>
          <a:xfrm>
            <a:off x="458592" y="317941"/>
            <a:ext cx="11274800" cy="731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SzPts val="1100"/>
              <a:buNone/>
            </a:pPr>
            <a:r>
              <a:rPr lang="fr-FR" altLang="en-GB" sz="3200" b="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Recommandations </a:t>
            </a:r>
          </a:p>
        </p:txBody>
      </p:sp>
      <p:sp>
        <p:nvSpPr>
          <p:cNvPr id="222" name="Google Shape;222;p16"/>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spcBef>
                <a:spcPts val="0"/>
              </a:spcBef>
              <a:spcAft>
                <a:spcPts val="0"/>
              </a:spcAft>
              <a:buNone/>
            </a:pPr>
            <a:endParaRPr sz="1865">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4" name="Google Shape;224;p16"/>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sp>
        <p:nvSpPr>
          <p:cNvPr id="12" name="Zone de texte 11"/>
          <p:cNvSpPr txBox="1"/>
          <p:nvPr/>
        </p:nvSpPr>
        <p:spPr>
          <a:xfrm>
            <a:off x="235600" y="1049541"/>
            <a:ext cx="11388725" cy="5034280"/>
          </a:xfrm>
          <a:prstGeom prst="rect">
            <a:avLst/>
          </a:prstGeom>
          <a:noFill/>
        </p:spPr>
        <p:txBody>
          <a:bodyPr wrap="square" rtlCol="0">
            <a:noAutofit/>
          </a:bodyPr>
          <a:lstStyle/>
          <a:p>
            <a:pPr marL="285750" indent="-285750">
              <a:spcBef>
                <a:spcPts val="600"/>
              </a:spcBef>
              <a:spcAft>
                <a:spcPts val="600"/>
              </a:spcAft>
              <a:buFont typeface="Arial" panose="020B0604020202020204" pitchFamily="34" charset="0"/>
              <a:buChar char="•"/>
            </a:pPr>
            <a:r>
              <a:rPr lang="fr-FR" sz="1400" dirty="0">
                <a:latin typeface="Times New Roman" panose="02020603050405020304" pitchFamily="18" charset="0"/>
                <a:cs typeface="Times New Roman" panose="02020603050405020304" pitchFamily="18" charset="0"/>
              </a:rPr>
              <a:t>Renforcement des plaidoyers auprès de la haute hiérarchie du pays et partenaires pour la mobilisation des ressources afin d’assurer la finalisation du déploiement du VAP dans les …… zones de santé de 10 provinces du bloc III, le cofinancement et l’achats des vaccins de routine dans le contexte de ressources limitées;</a:t>
            </a:r>
          </a:p>
          <a:p>
            <a:pPr marL="285750" indent="-285750">
              <a:spcBef>
                <a:spcPts val="600"/>
              </a:spcBef>
              <a:spcAft>
                <a:spcPts val="600"/>
              </a:spcAft>
              <a:buFont typeface="Arial" panose="020B0604020202020204" pitchFamily="34" charset="0"/>
              <a:buChar char="•"/>
            </a:pPr>
            <a:r>
              <a:rPr lang="fr-FR" sz="1400" dirty="0">
                <a:latin typeface="Times New Roman" panose="02020603050405020304" pitchFamily="18" charset="0"/>
                <a:cs typeface="Times New Roman" panose="02020603050405020304" pitchFamily="18" charset="0"/>
              </a:rPr>
              <a:t>Renforcer les organes de coordination (Staff, </a:t>
            </a:r>
            <a:r>
              <a:rPr lang="fr-FR" sz="1400" dirty="0" err="1">
                <a:latin typeface="Times New Roman" panose="02020603050405020304" pitchFamily="18" charset="0"/>
                <a:cs typeface="Times New Roman" panose="02020603050405020304" pitchFamily="18" charset="0"/>
              </a:rPr>
              <a:t>CCPeV</a:t>
            </a:r>
            <a:r>
              <a:rPr lang="fr-FR" sz="1400" dirty="0">
                <a:latin typeface="Times New Roman" panose="02020603050405020304" pitchFamily="18" charset="0"/>
                <a:cs typeface="Times New Roman" panose="02020603050405020304" pitchFamily="18" charset="0"/>
              </a:rPr>
              <a:t>, CNC, CPP, CDC, CLC) à tous les niveaux dans la planification et mise en œuvre des activités pour éviter les chevauchements;</a:t>
            </a:r>
          </a:p>
          <a:p>
            <a:pPr marL="285750" indent="-285750">
              <a:spcBef>
                <a:spcPts val="600"/>
              </a:spcBef>
              <a:spcAft>
                <a:spcPts val="600"/>
              </a:spcAft>
              <a:buFont typeface="Arial" panose="020B0604020202020204" pitchFamily="34" charset="0"/>
              <a:buChar char="•"/>
            </a:pPr>
            <a:r>
              <a:rPr lang="fr-FR" sz="1400" dirty="0">
                <a:latin typeface="Times New Roman" panose="02020603050405020304" pitchFamily="18" charset="0"/>
                <a:cs typeface="Times New Roman" panose="02020603050405020304" pitchFamily="18" charset="0"/>
              </a:rPr>
              <a:t>Renforcer le leadership des Antennes PEV sur le plan technique et financier pour éviter la persistance les insuffisances persistances, entretenues entre les cadres des DPS et Coordinations / Antennes PEV;</a:t>
            </a:r>
          </a:p>
          <a:p>
            <a:pPr marL="285750" indent="-285750">
              <a:spcBef>
                <a:spcPts val="600"/>
              </a:spcBef>
              <a:spcAft>
                <a:spcPts val="600"/>
              </a:spcAft>
              <a:buFont typeface="Arial" panose="020B0604020202020204" pitchFamily="34" charset="0"/>
              <a:buChar char="•"/>
            </a:pPr>
            <a:r>
              <a:rPr lang="fr-FR" sz="1400" dirty="0">
                <a:latin typeface="Times New Roman" panose="02020603050405020304" pitchFamily="18" charset="0"/>
                <a:cs typeface="Times New Roman" panose="02020603050405020304" pitchFamily="18" charset="0"/>
              </a:rPr>
              <a:t>Renforcer les qualités des formations couplées à tous les niveaux dans le cadre de contexte limité des ressources financières;</a:t>
            </a:r>
          </a:p>
          <a:p>
            <a:pPr marL="285750" indent="-285750">
              <a:spcBef>
                <a:spcPts val="600"/>
              </a:spcBef>
              <a:spcAft>
                <a:spcPts val="600"/>
              </a:spcAft>
              <a:buFont typeface="Arial" panose="020B0604020202020204" pitchFamily="34" charset="0"/>
              <a:buChar char="•"/>
            </a:pPr>
            <a:r>
              <a:rPr lang="fr-FR" sz="1400" dirty="0">
                <a:latin typeface="Times New Roman" panose="02020603050405020304" pitchFamily="18" charset="0"/>
                <a:cs typeface="Times New Roman" panose="02020603050405020304" pitchFamily="18" charset="0"/>
              </a:rPr>
              <a:t>Approvisionner à temps et en quantité suffisance le nouveau vaccin, au moins une semaine dans la zone de santé avant la mise en œuvre du lancement des activités;</a:t>
            </a:r>
          </a:p>
          <a:p>
            <a:pPr marL="285750" indent="-285750">
              <a:spcBef>
                <a:spcPts val="600"/>
              </a:spcBef>
              <a:spcAft>
                <a:spcPts val="600"/>
              </a:spcAft>
              <a:buFont typeface="Arial" panose="020B0604020202020204" pitchFamily="34" charset="0"/>
              <a:buChar char="•"/>
            </a:pPr>
            <a:r>
              <a:rPr lang="fr-FR" sz="1400" dirty="0">
                <a:latin typeface="Times New Roman" panose="02020603050405020304" pitchFamily="18" charset="0"/>
                <a:cs typeface="Times New Roman" panose="02020603050405020304" pitchFamily="18" charset="0"/>
              </a:rPr>
              <a:t>Communication doit créer l’adhésion de la population et promouvoir les avantages des nouveaux vaccins pour le bien être de communautés.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6"/>
          <p:cNvSpPr txBox="1"/>
          <p:nvPr/>
        </p:nvSpPr>
        <p:spPr>
          <a:xfrm>
            <a:off x="458592" y="317941"/>
            <a:ext cx="11274800" cy="731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SzPts val="1100"/>
              <a:buNone/>
            </a:pPr>
            <a:r>
              <a:rPr lang="fr-FR" altLang="en-GB" sz="3200" b="1">
                <a:solidFill>
                  <a:srgbClr val="0070C0"/>
                </a:solidFill>
                <a:latin typeface="Times New Roman" panose="02020603050405020304"/>
                <a:ea typeface="Times New Roman" panose="02020603050405020304"/>
                <a:cs typeface="Times New Roman" panose="02020603050405020304"/>
                <a:sym typeface="Times New Roman" panose="02020603050405020304"/>
              </a:rPr>
              <a:t>Actions prioritaires pour 2026 </a:t>
            </a:r>
          </a:p>
        </p:txBody>
      </p:sp>
      <p:sp>
        <p:nvSpPr>
          <p:cNvPr id="222" name="Google Shape;222;p16"/>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spcBef>
                <a:spcPts val="0"/>
              </a:spcBef>
              <a:spcAft>
                <a:spcPts val="0"/>
              </a:spcAft>
              <a:buNone/>
            </a:pPr>
            <a:endParaRPr sz="1865">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4" name="Google Shape;224;p16"/>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sp>
        <p:nvSpPr>
          <p:cNvPr id="12" name="Zone de texte 11"/>
          <p:cNvSpPr txBox="1"/>
          <p:nvPr/>
        </p:nvSpPr>
        <p:spPr>
          <a:xfrm>
            <a:off x="235600" y="1254052"/>
            <a:ext cx="11388725" cy="5034280"/>
          </a:xfrm>
          <a:prstGeom prst="rect">
            <a:avLst/>
          </a:prstGeom>
          <a:noFill/>
        </p:spPr>
        <p:txBody>
          <a:bodyPr wrap="square" rtlCol="0">
            <a:noAutofit/>
          </a:bodyPr>
          <a:lstStyle/>
          <a:p>
            <a:pPr marL="285750" indent="-285750">
              <a:spcBef>
                <a:spcPts val="600"/>
              </a:spcBef>
              <a:spcAft>
                <a:spcPts val="600"/>
              </a:spcAft>
              <a:buFont typeface="Arial" panose="020B0604020202020204" pitchFamily="34" charset="0"/>
              <a:buChar char="•"/>
            </a:pPr>
            <a:r>
              <a:rPr lang="fr-FR" sz="1600" dirty="0">
                <a:latin typeface="Times New Roman" panose="02020603050405020304" pitchFamily="18" charset="0"/>
                <a:cs typeface="Times New Roman" panose="02020603050405020304" pitchFamily="18" charset="0"/>
              </a:rPr>
              <a:t>Récupération et Consolidation des  </a:t>
            </a:r>
            <a:r>
              <a:rPr lang="fr-FR" sz="1600" dirty="0" err="1">
                <a:latin typeface="Times New Roman" panose="02020603050405020304" pitchFamily="18" charset="0"/>
                <a:cs typeface="Times New Roman" panose="02020603050405020304" pitchFamily="18" charset="0"/>
              </a:rPr>
              <a:t>Microplan</a:t>
            </a:r>
            <a:r>
              <a:rPr lang="fr-FR" sz="1600" dirty="0">
                <a:latin typeface="Times New Roman" panose="02020603050405020304" pitchFamily="18" charset="0"/>
                <a:cs typeface="Times New Roman" panose="02020603050405020304" pitchFamily="18" charset="0"/>
              </a:rPr>
              <a:t> 2025 et faire la projection pour 2026</a:t>
            </a:r>
          </a:p>
          <a:p>
            <a:pPr marL="285750" indent="-285750">
              <a:spcBef>
                <a:spcPts val="600"/>
              </a:spcBef>
              <a:spcAft>
                <a:spcPts val="600"/>
              </a:spcAft>
              <a:buFont typeface="Arial" panose="020B0604020202020204" pitchFamily="34" charset="0"/>
              <a:buChar char="•"/>
            </a:pPr>
            <a:r>
              <a:rPr lang="fr-FR" sz="1600" dirty="0">
                <a:latin typeface="Times New Roman" panose="02020603050405020304" pitchFamily="18" charset="0"/>
                <a:cs typeface="Times New Roman" panose="02020603050405020304" pitchFamily="18" charset="0"/>
                <a:sym typeface="Arial" panose="020B0604020202020204"/>
              </a:rPr>
              <a:t>L’atteinte de populations cibles à travers l’approche antenne</a:t>
            </a:r>
            <a:endParaRPr lang="fr-FR" sz="1600" dirty="0">
              <a:latin typeface="Times New Roman" panose="02020603050405020304" pitchFamily="18" charset="0"/>
              <a:cs typeface="Times New Roman" panose="02020603050405020304" pitchFamily="18" charset="0"/>
            </a:endParaRPr>
          </a:p>
          <a:p>
            <a:pPr marL="285750" indent="-285750" algn="just">
              <a:spcBef>
                <a:spcPts val="600"/>
              </a:spcBef>
              <a:spcAft>
                <a:spcPts val="600"/>
              </a:spcAft>
              <a:buFont typeface="Arial" panose="020B0604020202020204" pitchFamily="34" charset="0"/>
              <a:buChar char="•"/>
            </a:pPr>
            <a:r>
              <a:rPr lang="fr-FR" sz="1600" dirty="0">
                <a:latin typeface="Times New Roman" panose="02020603050405020304" pitchFamily="18" charset="0"/>
                <a:cs typeface="Times New Roman" panose="02020603050405020304" pitchFamily="18" charset="0"/>
              </a:rPr>
              <a:t>Intégrer la prestation de services pour améliorer l’efficacité, la régularité et/ou la fiabilité des activités de vaccination planifiées, en mettant l’accent sur les enfants zéro dose et sous-vaccinés et les communautés oubliées</a:t>
            </a:r>
          </a:p>
          <a:p>
            <a:pPr marL="285750" indent="-285750" algn="just">
              <a:spcBef>
                <a:spcPts val="600"/>
              </a:spcBef>
              <a:spcAft>
                <a:spcPts val="600"/>
              </a:spcAft>
              <a:buFont typeface="Arial" panose="020B0604020202020204" pitchFamily="34" charset="0"/>
              <a:buChar char="•"/>
            </a:pPr>
            <a:r>
              <a:rPr lang="fr-FR" sz="1600" dirty="0">
                <a:latin typeface="Times New Roman" panose="02020603050405020304" pitchFamily="18" charset="0"/>
                <a:cs typeface="Times New Roman" panose="02020603050405020304" pitchFamily="18" charset="0"/>
              </a:rPr>
              <a:t>Améliorer la qualité des services et l'expérience des utilisateurs des services de vaccination en mettant en évidence l'approche antenne </a:t>
            </a:r>
          </a:p>
          <a:p>
            <a:pPr marL="285750" indent="-285750" algn="just">
              <a:spcBef>
                <a:spcPts val="600"/>
              </a:spcBef>
              <a:spcAft>
                <a:spcPts val="600"/>
              </a:spcAft>
              <a:buFont typeface="Arial" panose="020B0604020202020204" pitchFamily="34" charset="0"/>
              <a:buChar char="•"/>
            </a:pPr>
            <a:r>
              <a:rPr lang="fr-FR" sz="1600" dirty="0">
                <a:latin typeface="Times New Roman" panose="02020603050405020304" pitchFamily="18" charset="0"/>
                <a:cs typeface="Times New Roman" panose="02020603050405020304" pitchFamily="18" charset="0"/>
              </a:rPr>
              <a:t>Plaidoyer auprès du Gouvernement et Partenaires pour la mobilisation des ressources additionnelles favorisant l’extension de VAP dans les 10 provinces restantes;</a:t>
            </a:r>
          </a:p>
          <a:p>
            <a:pPr marL="285750" indent="-285750" algn="just">
              <a:spcBef>
                <a:spcPts val="600"/>
              </a:spcBef>
              <a:spcAft>
                <a:spcPts val="600"/>
              </a:spcAft>
              <a:buFont typeface="Arial" panose="020B0604020202020204" pitchFamily="34" charset="0"/>
              <a:buChar char="•"/>
            </a:pPr>
            <a:r>
              <a:rPr lang="fr-FR" sz="1600" dirty="0">
                <a:latin typeface="Times New Roman" panose="02020603050405020304" pitchFamily="18" charset="0"/>
                <a:cs typeface="Times New Roman" panose="02020603050405020304" pitchFamily="18" charset="0"/>
              </a:rPr>
              <a:t>Poursuivre l’introduction de qualité du  vaccin contre la Rougeole et la Rubéole (RR) dans les provinces avec l’</a:t>
            </a:r>
            <a:r>
              <a:rPr lang="fr-FR" sz="1600" dirty="0" err="1">
                <a:latin typeface="Times New Roman" panose="02020603050405020304" pitchFamily="18" charset="0"/>
                <a:cs typeface="Times New Roman" panose="02020603050405020304" pitchFamily="18" charset="0"/>
              </a:rPr>
              <a:t>intregration</a:t>
            </a:r>
            <a:r>
              <a:rPr lang="fr-FR" sz="1600" dirty="0">
                <a:latin typeface="Times New Roman" panose="02020603050405020304" pitchFamily="18" charset="0"/>
                <a:cs typeface="Times New Roman" panose="02020603050405020304" pitchFamily="18" charset="0"/>
              </a:rPr>
              <a:t> d’autres activités </a:t>
            </a:r>
          </a:p>
          <a:p>
            <a:pPr marL="285750" indent="-285750" algn="just">
              <a:spcBef>
                <a:spcPts val="600"/>
              </a:spcBef>
              <a:spcAft>
                <a:spcPts val="600"/>
              </a:spcAft>
              <a:buFont typeface="Arial" panose="020B0604020202020204" pitchFamily="34" charset="0"/>
              <a:buChar char="•"/>
            </a:pPr>
            <a:r>
              <a:rPr lang="fr-FR" sz="1600" dirty="0">
                <a:latin typeface="Times New Roman" panose="02020603050405020304" pitchFamily="18" charset="0"/>
                <a:cs typeface="Times New Roman" panose="02020603050405020304" pitchFamily="18" charset="0"/>
              </a:rPr>
              <a:t>Finaliser le processus du switch des vaccins anti </a:t>
            </a:r>
            <a:r>
              <a:rPr lang="fr-FR" sz="1600" dirty="0" err="1">
                <a:latin typeface="Times New Roman" panose="02020603050405020304" pitchFamily="18" charset="0"/>
                <a:cs typeface="Times New Roman" panose="02020603050405020304" pitchFamily="18" charset="0"/>
              </a:rPr>
              <a:t>rotavirus</a:t>
            </a:r>
            <a:r>
              <a:rPr lang="fr-FR" sz="1600" dirty="0">
                <a:latin typeface="Times New Roman" panose="02020603050405020304" pitchFamily="18" charset="0"/>
                <a:cs typeface="Times New Roman" panose="02020603050405020304" pitchFamily="18" charset="0"/>
              </a:rPr>
              <a:t> (du </a:t>
            </a:r>
            <a:r>
              <a:rPr lang="fr-FR" sz="1600" dirty="0" err="1">
                <a:latin typeface="Times New Roman" panose="02020603050405020304" pitchFamily="18" charset="0"/>
                <a:cs typeface="Times New Roman" panose="02020603050405020304" pitchFamily="18" charset="0"/>
              </a:rPr>
              <a:t>Rotasiil</a:t>
            </a:r>
            <a:r>
              <a:rPr lang="fr-FR" sz="1600" dirty="0">
                <a:latin typeface="Times New Roman" panose="02020603050405020304" pitchFamily="18" charset="0"/>
                <a:cs typeface="Times New Roman" panose="02020603050405020304" pitchFamily="18" charset="0"/>
              </a:rPr>
              <a:t> vers le </a:t>
            </a:r>
            <a:r>
              <a:rPr lang="fr-FR" sz="1600" dirty="0" err="1">
                <a:latin typeface="Times New Roman" panose="02020603050405020304" pitchFamily="18" charset="0"/>
                <a:cs typeface="Times New Roman" panose="02020603050405020304" pitchFamily="18" charset="0"/>
              </a:rPr>
              <a:t>Rotarix</a:t>
            </a:r>
            <a:r>
              <a:rPr lang="fr-FR" sz="1600" dirty="0">
                <a:latin typeface="Times New Roman" panose="02020603050405020304" pitchFamily="18" charset="0"/>
                <a:cs typeface="Times New Roman" panose="02020603050405020304" pitchFamily="18" charset="0"/>
              </a:rPr>
              <a:t>).</a:t>
            </a:r>
          </a:p>
          <a:p>
            <a:pPr marL="285750" indent="-285750" algn="just">
              <a:spcBef>
                <a:spcPts val="600"/>
              </a:spcBef>
              <a:spcAft>
                <a:spcPts val="600"/>
              </a:spcAft>
              <a:buFont typeface="Arial" panose="020B0604020202020204" pitchFamily="34" charset="0"/>
              <a:buChar char="•"/>
            </a:pPr>
            <a:r>
              <a:rPr lang="fr-FR" sz="1600" dirty="0">
                <a:latin typeface="Times New Roman" panose="02020603050405020304" pitchFamily="18" charset="0"/>
                <a:cs typeface="Times New Roman" panose="02020603050405020304" pitchFamily="18" charset="0"/>
              </a:rPr>
              <a:t>Introduire le vaccin HPV dans le calendrier vaccinal</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
          <p:cNvSpPr txBox="1">
            <a:spLocks noGrp="1"/>
          </p:cNvSpPr>
          <p:nvPr>
            <p:ph type="sldNum" idx="12"/>
          </p:nvPr>
        </p:nvSpPr>
        <p:spPr>
          <a:xfrm>
            <a:off x="11296611" y="6217623"/>
            <a:ext cx="731600" cy="524800"/>
          </a:xfrm>
          <a:prstGeom prst="rect">
            <a:avLst/>
          </a:prstGeom>
          <a:noFill/>
          <a:ln>
            <a:noFill/>
          </a:ln>
        </p:spPr>
        <p:txBody>
          <a:bodyPr spcFirstLastPara="1" wrap="square" lIns="121900" tIns="121900" rIns="121900" bIns="121900" anchor="ctr" anchorCtr="0">
            <a:normAutofit/>
          </a:bodyPr>
          <a:lstStyle/>
          <a:p>
            <a:pPr marL="0" lvl="0" indent="0" algn="r" rtl="0">
              <a:lnSpc>
                <a:spcPct val="100000"/>
              </a:lnSpc>
              <a:spcBef>
                <a:spcPts val="0"/>
              </a:spcBef>
              <a:spcAft>
                <a:spcPts val="0"/>
              </a:spcAft>
              <a:buSzPts val="1000"/>
              <a:buNone/>
            </a:pPr>
            <a:fld id="{00000000-1234-1234-1234-123412341234}" type="slidenum">
              <a:rPr lang="en-GB" sz="1600"/>
              <a:t>52</a:t>
            </a:fld>
            <a:endParaRPr lang="en-GB" sz="1600"/>
          </a:p>
        </p:txBody>
      </p:sp>
      <p:sp>
        <p:nvSpPr>
          <p:cNvPr id="167" name="Google Shape;167;p1"/>
          <p:cNvSpPr txBox="1"/>
          <p:nvPr/>
        </p:nvSpPr>
        <p:spPr>
          <a:xfrm>
            <a:off x="295033" y="5920417"/>
            <a:ext cx="3302000" cy="34861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700"/>
              <a:buFont typeface="Arial" panose="020B0604020202020204"/>
              <a:buNone/>
            </a:pPr>
            <a:r>
              <a:rPr lang="en-GB" sz="2265" b="0" i="0" u="none" strike="noStrike" cap="none">
                <a:solidFill>
                  <a:srgbClr val="FFFFFF"/>
                </a:solidFill>
                <a:latin typeface="Arial" panose="020B0604020202020204"/>
                <a:ea typeface="Arial" panose="020B0604020202020204"/>
                <a:cs typeface="Arial" panose="020B0604020202020204"/>
                <a:sym typeface="Arial" panose="020B0604020202020204"/>
              </a:rPr>
              <a:t>October 2024</a:t>
            </a:r>
            <a:endParaRPr sz="2265"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168" name="Google Shape;168;p1"/>
          <p:cNvPicPr preferRelativeResize="0"/>
          <p:nvPr/>
        </p:nvPicPr>
        <p:blipFill rotWithShape="1">
          <a:blip r:embed="rId3"/>
          <a:srcRect l="-17785"/>
          <a:stretch>
            <a:fillRect/>
          </a:stretch>
        </p:blipFill>
        <p:spPr>
          <a:xfrm>
            <a:off x="-683503" y="1646443"/>
            <a:ext cx="4526453" cy="3703151"/>
          </a:xfrm>
          <a:prstGeom prst="rect">
            <a:avLst/>
          </a:prstGeom>
          <a:noFill/>
          <a:ln>
            <a:noFill/>
          </a:ln>
        </p:spPr>
      </p:pic>
      <p:sp>
        <p:nvSpPr>
          <p:cNvPr id="170" name="Google Shape;170;p1"/>
          <p:cNvSpPr/>
          <p:nvPr/>
        </p:nvSpPr>
        <p:spPr>
          <a:xfrm>
            <a:off x="3842950" y="1646443"/>
            <a:ext cx="373600" cy="1867200"/>
          </a:xfrm>
          <a:prstGeom prst="rect">
            <a:avLst/>
          </a:prstGeom>
          <a:solidFill>
            <a:srgbClr val="145ABE"/>
          </a:solidFill>
          <a:ln>
            <a:noFill/>
          </a:ln>
        </p:spPr>
        <p:txBody>
          <a:bodyPr spcFirstLastPara="1" wrap="square" lIns="91433" tIns="91433" rIns="91433" bIns="91433" anchor="ctr" anchorCtr="0">
            <a:noAutofit/>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Google Shape;169;p1"/>
          <p:cNvSpPr txBox="1"/>
          <p:nvPr/>
        </p:nvSpPr>
        <p:spPr>
          <a:xfrm>
            <a:off x="4216550" y="3367358"/>
            <a:ext cx="7215505" cy="106426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500"/>
              <a:buFont typeface="Arial" panose="020B0604020202020204"/>
              <a:buNone/>
            </a:pPr>
            <a:r>
              <a:rPr lang="fr-FR" sz="3600" b="1" dirty="0">
                <a:solidFill>
                  <a:srgbClr val="00B0F0"/>
                </a:solidFill>
                <a:latin typeface="Times New Roman" panose="02020603050405020304"/>
                <a:ea typeface="Times New Roman" panose="02020603050405020304"/>
                <a:cs typeface="Times New Roman" panose="02020603050405020304"/>
                <a:sym typeface="Times New Roman" panose="02020603050405020304"/>
              </a:rPr>
              <a:t>Qualité des données</a:t>
            </a:r>
            <a:endParaRPr sz="3600" b="1" dirty="0">
              <a:solidFill>
                <a:srgbClr val="00B0F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000000"/>
              </a:buClr>
              <a:buSzPts val="1500"/>
              <a:buFont typeface="Arial" panose="020B0604020202020204"/>
              <a:buNone/>
            </a:pPr>
            <a:r>
              <a:rPr lang="fr-FR" sz="3600" b="1" i="0" u="none" strike="noStrike" cap="none" dirty="0" err="1">
                <a:solidFill>
                  <a:srgbClr val="145ABE"/>
                </a:solidFill>
                <a:latin typeface="Times New Roman" panose="02020603050405020304"/>
                <a:ea typeface="Times New Roman" panose="02020603050405020304"/>
                <a:cs typeface="Times New Roman" panose="02020603050405020304"/>
                <a:sym typeface="Times New Roman" panose="02020603050405020304"/>
              </a:rPr>
              <a:t> </a:t>
            </a:r>
            <a:r>
              <a:rPr lang="fr-FR" sz="2000" b="1" i="0" u="none" strike="noStrike" cap="none" dirty="0" err="1">
                <a:solidFill>
                  <a:srgbClr val="145ABE"/>
                </a:solidFill>
                <a:latin typeface="Times New Roman" panose="02020603050405020304"/>
                <a:ea typeface="Times New Roman" panose="02020603050405020304"/>
                <a:cs typeface="Times New Roman" panose="02020603050405020304"/>
                <a:sym typeface="Times New Roman" panose="02020603050405020304"/>
              </a:rPr>
              <a:t>  </a:t>
            </a:r>
            <a:endParaRPr sz="1400" b="1"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00"/>
              </a:buClr>
              <a:buSzPts val="1500"/>
              <a:buFont typeface="Arial" panose="020B0604020202020204"/>
              <a:buNone/>
            </a:pPr>
            <a:endParaRPr sz="1400" b="1"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00"/>
              </a:buClr>
              <a:buSzPts val="1500"/>
              <a:buFont typeface="Arial" panose="020B0604020202020204"/>
              <a:buNone/>
            </a:pPr>
            <a:r>
              <a:rPr lang="en-GB" sz="1400" b="1"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rPr>
              <a:t> </a:t>
            </a:r>
            <a:endParaRPr sz="10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500"/>
              <a:buFont typeface="Arial" panose="020B0604020202020204"/>
              <a:buNone/>
            </a:pPr>
            <a:endParaRPr lang="fr-FR" altLang="en-GB" sz="10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Tree>
    <p:extLst>
      <p:ext uri="{BB962C8B-B14F-4D97-AF65-F5344CB8AC3E}">
        <p14:creationId xmlns:p14="http://schemas.microsoft.com/office/powerpoint/2010/main" val="12310060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
          <p:cNvSpPr txBox="1">
            <a:spLocks noGrp="1"/>
          </p:cNvSpPr>
          <p:nvPr>
            <p:ph type="sldNum" idx="12"/>
          </p:nvPr>
        </p:nvSpPr>
        <p:spPr>
          <a:xfrm>
            <a:off x="11296611" y="6217623"/>
            <a:ext cx="731600" cy="524800"/>
          </a:xfrm>
          <a:prstGeom prst="rect">
            <a:avLst/>
          </a:prstGeom>
          <a:noFill/>
          <a:ln>
            <a:noFill/>
          </a:ln>
        </p:spPr>
        <p:txBody>
          <a:bodyPr spcFirstLastPara="1" wrap="square" lIns="121900" tIns="121900" rIns="121900" bIns="121900" anchor="ctr" anchorCtr="0">
            <a:normAutofit/>
          </a:bodyPr>
          <a:lstStyle/>
          <a:p>
            <a:pPr marL="0" lvl="0" indent="0" algn="r" rtl="0">
              <a:lnSpc>
                <a:spcPct val="100000"/>
              </a:lnSpc>
              <a:spcBef>
                <a:spcPts val="0"/>
              </a:spcBef>
              <a:spcAft>
                <a:spcPts val="0"/>
              </a:spcAft>
              <a:buSzPts val="1000"/>
              <a:buNone/>
            </a:pPr>
            <a:fld id="{00000000-1234-1234-1234-123412341234}" type="slidenum">
              <a:rPr lang="en-GB" sz="1600"/>
              <a:t>53</a:t>
            </a:fld>
            <a:endParaRPr lang="en-GB" sz="1600"/>
          </a:p>
        </p:txBody>
      </p:sp>
      <p:sp>
        <p:nvSpPr>
          <p:cNvPr id="167" name="Google Shape;167;p1"/>
          <p:cNvSpPr txBox="1"/>
          <p:nvPr/>
        </p:nvSpPr>
        <p:spPr>
          <a:xfrm>
            <a:off x="295033" y="5920417"/>
            <a:ext cx="3302000" cy="34861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700"/>
              <a:buFont typeface="Arial" panose="020B0604020202020204"/>
              <a:buNone/>
            </a:pPr>
            <a:r>
              <a:rPr lang="en-GB" sz="2265" b="0" i="0" u="none" strike="noStrike" cap="none">
                <a:solidFill>
                  <a:srgbClr val="FFFFFF"/>
                </a:solidFill>
                <a:latin typeface="Arial" panose="020B0604020202020204"/>
                <a:ea typeface="Arial" panose="020B0604020202020204"/>
                <a:cs typeface="Arial" panose="020B0604020202020204"/>
                <a:sym typeface="Arial" panose="020B0604020202020204"/>
              </a:rPr>
              <a:t>October 2024</a:t>
            </a:r>
            <a:endParaRPr sz="2265"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168" name="Google Shape;168;p1"/>
          <p:cNvPicPr preferRelativeResize="0"/>
          <p:nvPr/>
        </p:nvPicPr>
        <p:blipFill rotWithShape="1">
          <a:blip r:embed="rId18"/>
          <a:srcRect l="-17785"/>
          <a:stretch>
            <a:fillRect/>
          </a:stretch>
        </p:blipFill>
        <p:spPr>
          <a:xfrm>
            <a:off x="-683503" y="1646443"/>
            <a:ext cx="4526453" cy="3703151"/>
          </a:xfrm>
          <a:prstGeom prst="rect">
            <a:avLst/>
          </a:prstGeom>
          <a:noFill/>
          <a:ln>
            <a:noFill/>
          </a:ln>
        </p:spPr>
      </p:pic>
      <p:sp>
        <p:nvSpPr>
          <p:cNvPr id="170" name="Google Shape;170;p1"/>
          <p:cNvSpPr/>
          <p:nvPr/>
        </p:nvSpPr>
        <p:spPr>
          <a:xfrm>
            <a:off x="3855610" y="1646443"/>
            <a:ext cx="373600" cy="1867200"/>
          </a:xfrm>
          <a:prstGeom prst="rect">
            <a:avLst/>
          </a:prstGeom>
          <a:solidFill>
            <a:srgbClr val="145ABE"/>
          </a:solidFill>
          <a:ln>
            <a:noFill/>
          </a:ln>
        </p:spPr>
        <p:txBody>
          <a:bodyPr spcFirstLastPara="1" wrap="square" lIns="91433" tIns="91433" rIns="91433" bIns="91433" anchor="ctr" anchorCtr="0">
            <a:noAutofit/>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 name="Zone de texte 3"/>
          <p:cNvSpPr txBox="1"/>
          <p:nvPr/>
        </p:nvSpPr>
        <p:spPr>
          <a:xfrm>
            <a:off x="0" y="1652270"/>
            <a:ext cx="2216785" cy="829945"/>
          </a:xfrm>
          <a:prstGeom prst="rect">
            <a:avLst/>
          </a:prstGeom>
          <a:noFill/>
        </p:spPr>
        <p:txBody>
          <a:bodyPr wrap="square" rtlCol="0">
            <a:spAutoFit/>
          </a:bodyPr>
          <a:lstStyle/>
          <a:p>
            <a:r>
              <a:rPr lang="fr-FR" altLang="en-US" sz="4800">
                <a:solidFill>
                  <a:schemeClr val="bg1"/>
                </a:solidFill>
                <a:latin typeface="Arial Black" panose="020B0A04020102020204" charset="0"/>
                <a:cs typeface="Arial Black" panose="020B0A04020102020204" charset="0"/>
              </a:rPr>
              <a:t>PLAN</a:t>
            </a:r>
          </a:p>
        </p:txBody>
      </p:sp>
      <p:grpSp>
        <p:nvGrpSpPr>
          <p:cNvPr id="17" name="Grouper 16"/>
          <p:cNvGrpSpPr/>
          <p:nvPr>
            <p:custDataLst>
              <p:tags r:id="rId1"/>
            </p:custDataLst>
          </p:nvPr>
        </p:nvGrpSpPr>
        <p:grpSpPr>
          <a:xfrm>
            <a:off x="4811395" y="704215"/>
            <a:ext cx="6224905" cy="5847715"/>
            <a:chOff x="7577" y="1109"/>
            <a:chExt cx="9803" cy="9209"/>
          </a:xfrm>
        </p:grpSpPr>
        <p:sp>
          <p:nvSpPr>
            <p:cNvPr id="5" name="序号"/>
            <p:cNvSpPr txBox="1"/>
            <p:nvPr>
              <p:custDataLst>
                <p:tags r:id="rId2"/>
              </p:custDataLst>
            </p:nvPr>
          </p:nvSpPr>
          <p:spPr>
            <a:xfrm>
              <a:off x="7577" y="1357"/>
              <a:ext cx="1787" cy="1387"/>
            </a:xfrm>
            <a:prstGeom prst="rect">
              <a:avLst/>
            </a:prstGeom>
            <a:noFill/>
          </p:spPr>
          <p:txBody>
            <a:bodyPr wrap="none" lIns="0" tIns="0" rIns="0" bIns="0" rtlCol="0" anchor="ctr" anchorCtr="0">
              <a:noAutofit/>
            </a:bodyPr>
            <a:lstStyle/>
            <a:p>
              <a:pPr algn="r">
                <a:lnSpc>
                  <a:spcPct val="100000"/>
                </a:lnSpc>
              </a:pPr>
              <a:r>
                <a:rPr lang="en-US" sz="4400" b="1" dirty="0">
                  <a:solidFill>
                    <a:schemeClr val="accent1">
                      <a:lumMod val="75000"/>
                    </a:schemeClr>
                  </a:solidFill>
                  <a:latin typeface="+mj-lt"/>
                </a:rPr>
                <a:t>01</a:t>
              </a:r>
            </a:p>
          </p:txBody>
        </p:sp>
        <p:sp>
          <p:nvSpPr>
            <p:cNvPr id="6" name="项标题"/>
            <p:cNvSpPr txBox="1"/>
            <p:nvPr>
              <p:custDataLst>
                <p:tags r:id="rId3"/>
              </p:custDataLst>
            </p:nvPr>
          </p:nvSpPr>
          <p:spPr>
            <a:xfrm>
              <a:off x="10752" y="1109"/>
              <a:ext cx="6628" cy="1635"/>
            </a:xfrm>
            <a:prstGeom prst="rect">
              <a:avLst/>
            </a:prstGeom>
            <a:noFill/>
          </p:spPr>
          <p:txBody>
            <a:bodyPr wrap="square" lIns="0" tIns="0" rIns="0" bIns="0" rtlCol="0" anchor="ctr" anchorCtr="0">
              <a:normAutofit/>
            </a:bodyPr>
            <a:lstStyle/>
            <a:p>
              <a:pPr>
                <a:lnSpc>
                  <a:spcPct val="100000"/>
                </a:lnSpc>
              </a:pPr>
              <a:r>
                <a:rPr lang="fr-FR" altLang="en-US" sz="2400" b="1" dirty="0">
                  <a:solidFill>
                    <a:srgbClr val="00B0F0"/>
                  </a:solidFill>
                  <a:latin typeface="+mj-lt"/>
                  <a:cs typeface="+mj-lt"/>
                </a:rPr>
                <a:t>Rappel des objectifs</a:t>
              </a:r>
            </a:p>
          </p:txBody>
        </p:sp>
        <p:sp>
          <p:nvSpPr>
            <p:cNvPr id="7" name="序号"/>
            <p:cNvSpPr txBox="1"/>
            <p:nvPr>
              <p:custDataLst>
                <p:tags r:id="rId4"/>
              </p:custDataLst>
            </p:nvPr>
          </p:nvSpPr>
          <p:spPr>
            <a:xfrm>
              <a:off x="7577" y="2715"/>
              <a:ext cx="1787" cy="1162"/>
            </a:xfrm>
            <a:prstGeom prst="rect">
              <a:avLst/>
            </a:prstGeom>
            <a:noFill/>
          </p:spPr>
          <p:txBody>
            <a:bodyPr wrap="none" lIns="0" tIns="0" rIns="0" bIns="0" rtlCol="0" anchor="ctr" anchorCtr="0">
              <a:noAutofit/>
            </a:bodyPr>
            <a:lstStyle/>
            <a:p>
              <a:pPr algn="r">
                <a:lnSpc>
                  <a:spcPct val="100000"/>
                </a:lnSpc>
              </a:pPr>
              <a:r>
                <a:rPr lang="en-US" sz="4400" b="1">
                  <a:solidFill>
                    <a:schemeClr val="accent1">
                      <a:lumMod val="75000"/>
                    </a:schemeClr>
                  </a:solidFill>
                  <a:latin typeface="+mj-lt"/>
                </a:rPr>
                <a:t>02</a:t>
              </a:r>
            </a:p>
          </p:txBody>
        </p:sp>
        <p:sp>
          <p:nvSpPr>
            <p:cNvPr id="8" name="项标题"/>
            <p:cNvSpPr txBox="1"/>
            <p:nvPr>
              <p:custDataLst>
                <p:tags r:id="rId5"/>
              </p:custDataLst>
            </p:nvPr>
          </p:nvSpPr>
          <p:spPr>
            <a:xfrm>
              <a:off x="10752" y="2567"/>
              <a:ext cx="6628" cy="1409"/>
            </a:xfrm>
            <a:prstGeom prst="rect">
              <a:avLst/>
            </a:prstGeom>
            <a:noFill/>
          </p:spPr>
          <p:txBody>
            <a:bodyPr wrap="square" lIns="0" tIns="0" rIns="0" bIns="0" rtlCol="0" anchor="ctr" anchorCtr="0">
              <a:normAutofit/>
            </a:bodyPr>
            <a:lstStyle/>
            <a:p>
              <a:pPr>
                <a:lnSpc>
                  <a:spcPct val="100000"/>
                </a:lnSpc>
              </a:pPr>
              <a:r>
                <a:rPr lang="fr-FR" altLang="en-US" sz="2400" b="1" dirty="0">
                  <a:solidFill>
                    <a:srgbClr val="00B0F0"/>
                  </a:solidFill>
                  <a:latin typeface="+mj-lt"/>
                  <a:cs typeface="+mj-lt"/>
                </a:rPr>
                <a:t>Etat de mise en oeuvre du PAO 2025 </a:t>
              </a:r>
            </a:p>
          </p:txBody>
        </p:sp>
        <p:sp>
          <p:nvSpPr>
            <p:cNvPr id="9" name="序号"/>
            <p:cNvSpPr txBox="1"/>
            <p:nvPr>
              <p:custDataLst>
                <p:tags r:id="rId6"/>
              </p:custDataLst>
            </p:nvPr>
          </p:nvSpPr>
          <p:spPr>
            <a:xfrm>
              <a:off x="7577" y="4164"/>
              <a:ext cx="1787" cy="1162"/>
            </a:xfrm>
            <a:prstGeom prst="rect">
              <a:avLst/>
            </a:prstGeom>
            <a:noFill/>
          </p:spPr>
          <p:txBody>
            <a:bodyPr wrap="none" lIns="0" tIns="0" rIns="0" bIns="0" rtlCol="0" anchor="ctr" anchorCtr="0">
              <a:noAutofit/>
            </a:bodyPr>
            <a:lstStyle/>
            <a:p>
              <a:pPr algn="r">
                <a:lnSpc>
                  <a:spcPct val="100000"/>
                </a:lnSpc>
              </a:pPr>
              <a:r>
                <a:rPr lang="en-US" sz="4400" b="1">
                  <a:solidFill>
                    <a:schemeClr val="accent1">
                      <a:lumMod val="75000"/>
                    </a:schemeClr>
                  </a:solidFill>
                  <a:latin typeface="+mj-lt"/>
                </a:rPr>
                <a:t>0</a:t>
              </a:r>
              <a:r>
                <a:rPr lang="fr-FR" altLang="en-US" sz="4400" b="1">
                  <a:solidFill>
                    <a:schemeClr val="accent1">
                      <a:lumMod val="75000"/>
                    </a:schemeClr>
                  </a:solidFill>
                  <a:latin typeface="+mj-lt"/>
                </a:rPr>
                <a:t>3</a:t>
              </a:r>
            </a:p>
          </p:txBody>
        </p:sp>
        <p:sp>
          <p:nvSpPr>
            <p:cNvPr id="10" name="项标题"/>
            <p:cNvSpPr txBox="1"/>
            <p:nvPr>
              <p:custDataLst>
                <p:tags r:id="rId7"/>
              </p:custDataLst>
            </p:nvPr>
          </p:nvSpPr>
          <p:spPr>
            <a:xfrm>
              <a:off x="10752" y="4041"/>
              <a:ext cx="6628" cy="1409"/>
            </a:xfrm>
            <a:prstGeom prst="rect">
              <a:avLst/>
            </a:prstGeom>
            <a:noFill/>
          </p:spPr>
          <p:txBody>
            <a:bodyPr wrap="square" lIns="0" tIns="0" rIns="0" bIns="0" rtlCol="0" anchor="ctr" anchorCtr="0">
              <a:normAutofit/>
            </a:bodyPr>
            <a:lstStyle/>
            <a:p>
              <a:pPr>
                <a:lnSpc>
                  <a:spcPct val="100000"/>
                </a:lnSpc>
              </a:pPr>
              <a:r>
                <a:rPr lang="fr-FR" altLang="en-US" sz="2400" b="1" dirty="0">
                  <a:solidFill>
                    <a:schemeClr val="tx1">
                      <a:lumMod val="85000"/>
                      <a:lumOff val="15000"/>
                    </a:schemeClr>
                  </a:solidFill>
                  <a:latin typeface="+mj-lt"/>
                  <a:cs typeface="+mj-lt"/>
                </a:rPr>
                <a:t>Indicateurs du cadre de suivi évaluation du PAO 2025   </a:t>
              </a:r>
            </a:p>
          </p:txBody>
        </p:sp>
        <p:sp>
          <p:nvSpPr>
            <p:cNvPr id="11" name="序号"/>
            <p:cNvSpPr txBox="1"/>
            <p:nvPr>
              <p:custDataLst>
                <p:tags r:id="rId8"/>
              </p:custDataLst>
            </p:nvPr>
          </p:nvSpPr>
          <p:spPr>
            <a:xfrm>
              <a:off x="7577" y="5473"/>
              <a:ext cx="1787" cy="1162"/>
            </a:xfrm>
            <a:prstGeom prst="rect">
              <a:avLst/>
            </a:prstGeom>
            <a:noFill/>
          </p:spPr>
          <p:txBody>
            <a:bodyPr wrap="none" lIns="0" tIns="0" rIns="0" bIns="0" rtlCol="0" anchor="ctr" anchorCtr="0">
              <a:noAutofit/>
            </a:bodyPr>
            <a:lstStyle/>
            <a:p>
              <a:pPr algn="r">
                <a:lnSpc>
                  <a:spcPct val="100000"/>
                </a:lnSpc>
              </a:pPr>
              <a:r>
                <a:rPr lang="en-US" sz="4400" b="1">
                  <a:solidFill>
                    <a:schemeClr val="accent1">
                      <a:lumMod val="75000"/>
                    </a:schemeClr>
                  </a:solidFill>
                  <a:latin typeface="+mj-lt"/>
                </a:rPr>
                <a:t>0</a:t>
              </a:r>
              <a:r>
                <a:rPr lang="fr-FR" altLang="en-US" sz="4400" b="1">
                  <a:solidFill>
                    <a:schemeClr val="accent1">
                      <a:lumMod val="75000"/>
                    </a:schemeClr>
                  </a:solidFill>
                  <a:latin typeface="+mj-lt"/>
                </a:rPr>
                <a:t>4</a:t>
              </a:r>
            </a:p>
          </p:txBody>
        </p:sp>
        <p:sp>
          <p:nvSpPr>
            <p:cNvPr id="12" name="项标题"/>
            <p:cNvSpPr txBox="1"/>
            <p:nvPr>
              <p:custDataLst>
                <p:tags r:id="rId9"/>
              </p:custDataLst>
            </p:nvPr>
          </p:nvSpPr>
          <p:spPr>
            <a:xfrm>
              <a:off x="10752" y="5370"/>
              <a:ext cx="6628" cy="1409"/>
            </a:xfrm>
            <a:prstGeom prst="rect">
              <a:avLst/>
            </a:prstGeom>
            <a:noFill/>
          </p:spPr>
          <p:txBody>
            <a:bodyPr wrap="square" lIns="0" tIns="0" rIns="0" bIns="0" rtlCol="0" anchor="ctr" anchorCtr="0">
              <a:normAutofit/>
            </a:bodyPr>
            <a:lstStyle/>
            <a:p>
              <a:pPr>
                <a:lnSpc>
                  <a:spcPct val="100000"/>
                </a:lnSpc>
              </a:pPr>
              <a:r>
                <a:rPr lang="fr-FR" altLang="en-US" sz="2400" b="1" dirty="0">
                  <a:solidFill>
                    <a:srgbClr val="FF0000"/>
                  </a:solidFill>
                  <a:latin typeface="+mj-lt"/>
                  <a:cs typeface="+mj-lt"/>
                </a:rPr>
                <a:t>Classification des antennes selon le Benchmarking</a:t>
              </a:r>
            </a:p>
          </p:txBody>
        </p:sp>
        <p:sp>
          <p:nvSpPr>
            <p:cNvPr id="13" name="序号"/>
            <p:cNvSpPr txBox="1"/>
            <p:nvPr>
              <p:custDataLst>
                <p:tags r:id="rId10"/>
              </p:custDataLst>
            </p:nvPr>
          </p:nvSpPr>
          <p:spPr>
            <a:xfrm>
              <a:off x="7577" y="6879"/>
              <a:ext cx="1787" cy="1162"/>
            </a:xfrm>
            <a:prstGeom prst="rect">
              <a:avLst/>
            </a:prstGeom>
            <a:noFill/>
          </p:spPr>
          <p:txBody>
            <a:bodyPr wrap="none" lIns="0" tIns="0" rIns="0" bIns="0" rtlCol="0" anchor="ctr" anchorCtr="0">
              <a:noAutofit/>
            </a:bodyPr>
            <a:lstStyle/>
            <a:p>
              <a:pPr algn="r">
                <a:lnSpc>
                  <a:spcPct val="100000"/>
                </a:lnSpc>
              </a:pPr>
              <a:r>
                <a:rPr lang="en-US" sz="4400" b="1">
                  <a:solidFill>
                    <a:schemeClr val="accent1">
                      <a:lumMod val="75000"/>
                    </a:schemeClr>
                  </a:solidFill>
                  <a:latin typeface="+mj-lt"/>
                </a:rPr>
                <a:t>0</a:t>
              </a:r>
              <a:r>
                <a:rPr lang="fr-FR" altLang="en-US" sz="4400" b="1">
                  <a:solidFill>
                    <a:schemeClr val="accent1">
                      <a:lumMod val="75000"/>
                    </a:schemeClr>
                  </a:solidFill>
                  <a:latin typeface="+mj-lt"/>
                </a:rPr>
                <a:t>5</a:t>
              </a:r>
            </a:p>
          </p:txBody>
        </p:sp>
        <p:sp>
          <p:nvSpPr>
            <p:cNvPr id="14" name="项标题"/>
            <p:cNvSpPr txBox="1"/>
            <p:nvPr>
              <p:custDataLst>
                <p:tags r:id="rId11"/>
              </p:custDataLst>
            </p:nvPr>
          </p:nvSpPr>
          <p:spPr>
            <a:xfrm>
              <a:off x="10752" y="6711"/>
              <a:ext cx="6628" cy="1409"/>
            </a:xfrm>
            <a:prstGeom prst="rect">
              <a:avLst/>
            </a:prstGeom>
            <a:noFill/>
          </p:spPr>
          <p:txBody>
            <a:bodyPr wrap="square" lIns="0" tIns="0" rIns="0" bIns="0" rtlCol="0" anchor="ctr" anchorCtr="0">
              <a:normAutofit/>
            </a:bodyPr>
            <a:lstStyle/>
            <a:p>
              <a:pPr>
                <a:lnSpc>
                  <a:spcPct val="100000"/>
                </a:lnSpc>
              </a:pPr>
              <a:r>
                <a:rPr lang="fr-FR" altLang="en-US" sz="2400" b="1" dirty="0">
                  <a:solidFill>
                    <a:schemeClr val="tx1">
                      <a:lumMod val="85000"/>
                      <a:lumOff val="15000"/>
                    </a:schemeClr>
                  </a:solidFill>
                  <a:latin typeface="+mj-lt"/>
                  <a:cs typeface="+mj-lt"/>
                  <a:sym typeface="+mn-ea"/>
                </a:rPr>
                <a:t>Analyse FFOM</a:t>
              </a:r>
              <a:endParaRPr lang="fr-FR" altLang="en-US" sz="2400" b="1" dirty="0">
                <a:solidFill>
                  <a:schemeClr val="tx1">
                    <a:lumMod val="85000"/>
                    <a:lumOff val="15000"/>
                  </a:schemeClr>
                </a:solidFill>
                <a:latin typeface="+mj-lt"/>
                <a:cs typeface="+mj-lt"/>
              </a:endParaRPr>
            </a:p>
            <a:p>
              <a:pPr>
                <a:lnSpc>
                  <a:spcPct val="100000"/>
                </a:lnSpc>
              </a:pPr>
              <a:r>
                <a:rPr lang="fr-FR" altLang="en-US" sz="2400" b="1" dirty="0">
                  <a:solidFill>
                    <a:schemeClr val="tx1">
                      <a:lumMod val="85000"/>
                      <a:lumOff val="15000"/>
                    </a:schemeClr>
                  </a:solidFill>
                  <a:latin typeface="+mj-lt"/>
                  <a:cs typeface="+mj-lt"/>
                </a:rPr>
                <a:t>Problèmes /Défis</a:t>
              </a:r>
            </a:p>
          </p:txBody>
        </p:sp>
        <p:sp>
          <p:nvSpPr>
            <p:cNvPr id="15" name="序号"/>
            <p:cNvSpPr txBox="1"/>
            <p:nvPr>
              <p:custDataLst>
                <p:tags r:id="rId12"/>
              </p:custDataLst>
            </p:nvPr>
          </p:nvSpPr>
          <p:spPr>
            <a:xfrm>
              <a:off x="7577" y="8058"/>
              <a:ext cx="1787" cy="1162"/>
            </a:xfrm>
            <a:prstGeom prst="rect">
              <a:avLst/>
            </a:prstGeom>
            <a:noFill/>
          </p:spPr>
          <p:txBody>
            <a:bodyPr wrap="none" lIns="0" tIns="0" rIns="0" bIns="0" rtlCol="0" anchor="ctr" anchorCtr="0">
              <a:noAutofit/>
            </a:bodyPr>
            <a:lstStyle/>
            <a:p>
              <a:pPr algn="r">
                <a:lnSpc>
                  <a:spcPct val="100000"/>
                </a:lnSpc>
              </a:pPr>
              <a:r>
                <a:rPr lang="en-US" sz="4400" b="1">
                  <a:solidFill>
                    <a:schemeClr val="accent1">
                      <a:lumMod val="75000"/>
                    </a:schemeClr>
                  </a:solidFill>
                  <a:latin typeface="+mj-lt"/>
                </a:rPr>
                <a:t>0</a:t>
              </a:r>
              <a:r>
                <a:rPr lang="fr-FR" altLang="en-US" sz="4400" b="1">
                  <a:solidFill>
                    <a:schemeClr val="accent1">
                      <a:lumMod val="75000"/>
                    </a:schemeClr>
                  </a:solidFill>
                  <a:latin typeface="+mj-lt"/>
                </a:rPr>
                <a:t>6</a:t>
              </a:r>
            </a:p>
          </p:txBody>
        </p:sp>
        <p:sp>
          <p:nvSpPr>
            <p:cNvPr id="16" name="项标题"/>
            <p:cNvSpPr txBox="1"/>
            <p:nvPr>
              <p:custDataLst>
                <p:tags r:id="rId13"/>
              </p:custDataLst>
            </p:nvPr>
          </p:nvSpPr>
          <p:spPr>
            <a:xfrm>
              <a:off x="10752" y="7925"/>
              <a:ext cx="6628" cy="1409"/>
            </a:xfrm>
            <a:prstGeom prst="rect">
              <a:avLst/>
            </a:prstGeom>
            <a:noFill/>
          </p:spPr>
          <p:txBody>
            <a:bodyPr wrap="square" lIns="0" tIns="0" rIns="0" bIns="0" rtlCol="0" anchor="ctr" anchorCtr="0">
              <a:normAutofit fontScale="97500"/>
            </a:bodyPr>
            <a:lstStyle/>
            <a:p>
              <a:pPr>
                <a:lnSpc>
                  <a:spcPct val="100000"/>
                </a:lnSpc>
              </a:pPr>
              <a:r>
                <a:rPr lang="fr-FR" altLang="en-US" sz="2400" b="1" dirty="0">
                  <a:solidFill>
                    <a:schemeClr val="tx1">
                      <a:lumMod val="85000"/>
                      <a:lumOff val="15000"/>
                    </a:schemeClr>
                  </a:solidFill>
                  <a:latin typeface="+mj-lt"/>
                  <a:cs typeface="+mj-lt"/>
                </a:rPr>
                <a:t>Piste de solution/Recommandations</a:t>
              </a:r>
            </a:p>
          </p:txBody>
        </p:sp>
        <p:sp>
          <p:nvSpPr>
            <p:cNvPr id="18" name="序号"/>
            <p:cNvSpPr txBox="1"/>
            <p:nvPr>
              <p:custDataLst>
                <p:tags r:id="rId14"/>
              </p:custDataLst>
            </p:nvPr>
          </p:nvSpPr>
          <p:spPr>
            <a:xfrm>
              <a:off x="7577" y="8977"/>
              <a:ext cx="1787" cy="1162"/>
            </a:xfrm>
            <a:prstGeom prst="rect">
              <a:avLst/>
            </a:prstGeom>
            <a:noFill/>
          </p:spPr>
          <p:txBody>
            <a:bodyPr wrap="none" lIns="0" tIns="0" rIns="0" bIns="0" rtlCol="0" anchor="ctr" anchorCtr="0">
              <a:noAutofit/>
            </a:bodyPr>
            <a:lstStyle/>
            <a:p>
              <a:pPr algn="r">
                <a:lnSpc>
                  <a:spcPct val="100000"/>
                </a:lnSpc>
              </a:pPr>
              <a:r>
                <a:rPr lang="en-US" sz="4400" b="1">
                  <a:solidFill>
                    <a:schemeClr val="accent1">
                      <a:lumMod val="75000"/>
                    </a:schemeClr>
                  </a:solidFill>
                  <a:latin typeface="+mj-lt"/>
                </a:rPr>
                <a:t>0</a:t>
              </a:r>
              <a:r>
                <a:rPr lang="fr-FR" altLang="en-US" sz="4400" b="1">
                  <a:solidFill>
                    <a:schemeClr val="accent1">
                      <a:lumMod val="75000"/>
                    </a:schemeClr>
                  </a:solidFill>
                  <a:latin typeface="+mj-lt"/>
                </a:rPr>
                <a:t>7</a:t>
              </a:r>
            </a:p>
          </p:txBody>
        </p:sp>
        <p:sp>
          <p:nvSpPr>
            <p:cNvPr id="19" name="项标题"/>
            <p:cNvSpPr txBox="1"/>
            <p:nvPr>
              <p:custDataLst>
                <p:tags r:id="rId15"/>
              </p:custDataLst>
            </p:nvPr>
          </p:nvSpPr>
          <p:spPr>
            <a:xfrm>
              <a:off x="10752" y="8909"/>
              <a:ext cx="6628" cy="1409"/>
            </a:xfrm>
            <a:prstGeom prst="rect">
              <a:avLst/>
            </a:prstGeom>
            <a:noFill/>
          </p:spPr>
          <p:txBody>
            <a:bodyPr wrap="square" lIns="0" tIns="0" rIns="0" bIns="0" rtlCol="0" anchor="ctr" anchorCtr="0">
              <a:normAutofit/>
            </a:bodyPr>
            <a:lstStyle/>
            <a:p>
              <a:pPr>
                <a:lnSpc>
                  <a:spcPct val="100000"/>
                </a:lnSpc>
              </a:pPr>
              <a:r>
                <a:rPr lang="fr-FR" altLang="en-US" sz="2400" b="1" dirty="0">
                  <a:solidFill>
                    <a:schemeClr val="tx1">
                      <a:lumMod val="85000"/>
                      <a:lumOff val="15000"/>
                    </a:schemeClr>
                  </a:solidFill>
                  <a:latin typeface="+mj-lt"/>
                  <a:cs typeface="+mj-lt"/>
                </a:rPr>
                <a:t>Actions prioritaires 2026</a:t>
              </a:r>
            </a:p>
          </p:txBody>
        </p:sp>
      </p:grpSp>
    </p:spTree>
    <p:extLst>
      <p:ext uri="{BB962C8B-B14F-4D97-AF65-F5344CB8AC3E}">
        <p14:creationId xmlns:p14="http://schemas.microsoft.com/office/powerpoint/2010/main" val="256073045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6"/>
          <p:cNvSpPr txBox="1"/>
          <p:nvPr/>
        </p:nvSpPr>
        <p:spPr>
          <a:xfrm>
            <a:off x="458592" y="292063"/>
            <a:ext cx="11274800" cy="731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SzPts val="1100"/>
              <a:buNone/>
            </a:pPr>
            <a:r>
              <a:rPr lang="fr-FR" altLang="en-GB" sz="2665" b="1">
                <a:solidFill>
                  <a:srgbClr val="1155CC"/>
                </a:solidFill>
                <a:latin typeface="Times New Roman" panose="02020603050405020304"/>
                <a:ea typeface="Times New Roman" panose="02020603050405020304"/>
                <a:cs typeface="Times New Roman" panose="02020603050405020304"/>
                <a:sym typeface="Times New Roman" panose="02020603050405020304"/>
              </a:rPr>
              <a:t>Objectifs </a:t>
            </a:r>
            <a:endParaRPr lang="fr-FR" altLang="en-GB" sz="3200" b="1">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2" name="Google Shape;222;p16"/>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spcBef>
                <a:spcPts val="0"/>
              </a:spcBef>
              <a:spcAft>
                <a:spcPts val="0"/>
              </a:spcAft>
              <a:buNone/>
            </a:pPr>
            <a:endParaRPr sz="1865">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223" name="Google Shape;223;p16"/>
          <p:cNvCxnSpPr/>
          <p:nvPr/>
        </p:nvCxnSpPr>
        <p:spPr>
          <a:xfrm>
            <a:off x="267700" y="6427967"/>
            <a:ext cx="11640400" cy="0"/>
          </a:xfrm>
          <a:prstGeom prst="straightConnector1">
            <a:avLst/>
          </a:prstGeom>
          <a:noFill/>
          <a:ln w="9525" cap="flat" cmpd="sng">
            <a:solidFill>
              <a:srgbClr val="9E9E9E"/>
            </a:solidFill>
            <a:prstDash val="solid"/>
            <a:round/>
            <a:headEnd type="none" w="med" len="med"/>
            <a:tailEnd type="none" w="med" len="med"/>
          </a:ln>
        </p:spPr>
      </p:cxnSp>
      <p:sp>
        <p:nvSpPr>
          <p:cNvPr id="224" name="Google Shape;224;p16"/>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grpSp>
        <p:nvGrpSpPr>
          <p:cNvPr id="6" name="Grouper 5"/>
          <p:cNvGrpSpPr/>
          <p:nvPr/>
        </p:nvGrpSpPr>
        <p:grpSpPr>
          <a:xfrm>
            <a:off x="1054818" y="1306401"/>
            <a:ext cx="3495829" cy="4855673"/>
            <a:chOff x="722" y="2799"/>
            <a:chExt cx="4431" cy="4423"/>
          </a:xfrm>
        </p:grpSpPr>
        <p:sp>
          <p:nvSpPr>
            <p:cNvPr id="239" name="Google Shape;239;p17"/>
            <p:cNvSpPr/>
            <p:nvPr/>
          </p:nvSpPr>
          <p:spPr>
            <a:xfrm>
              <a:off x="881" y="3213"/>
              <a:ext cx="4063" cy="3823"/>
            </a:xfrm>
            <a:prstGeom prst="rect">
              <a:avLst/>
            </a:prstGeom>
            <a:solidFill>
              <a:srgbClr val="F2F2F2"/>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171450" indent="-171450">
                <a:buFont typeface="Arial" panose="020B0604020202020204" pitchFamily="34" charset="0"/>
                <a:buChar char="•"/>
              </a:pPr>
              <a:r>
                <a:rPr lang="fr-FR" sz="1200" dirty="0">
                  <a:solidFill>
                    <a:srgbClr val="2205CD"/>
                  </a:solidFill>
                </a:rPr>
                <a:t>Contribuer à l’amélioration de la qualité des données de vaccination afin de garantir la réduction de la mortalité et la morbidité due aux maladies à prévention vaccinale.</a:t>
              </a:r>
              <a:endParaRPr lang="fr-FR" sz="1200" dirty="0">
                <a:solidFill>
                  <a:srgbClr val="2205CD"/>
                </a:solidFill>
                <a:latin typeface="Times New Roman" panose="02020603050405020304"/>
                <a:ea typeface="Times New Roman" panose="02020603050405020304"/>
                <a:cs typeface="Times New Roman" panose="02020603050405020304"/>
                <a:sym typeface="Times New Roman" panose="02020603050405020304"/>
              </a:endParaRPr>
            </a:p>
            <a:p>
              <a:pPr marL="171450" indent="-171450">
                <a:buFont typeface="Arial" panose="020B0604020202020204" pitchFamily="34" charset="0"/>
                <a:buChar char="•"/>
              </a:pPr>
              <a:r>
                <a:rPr lang="fr-FR" sz="1200" dirty="0">
                  <a:solidFill>
                    <a:srgbClr val="2205CD"/>
                  </a:solidFill>
                </a:rPr>
                <a:t>Réduire de 30 % à moins de 10% les écarts entre les données administratives et les données des estimations OMS-Unicef (WUENIC) / enquêtes de CV.</a:t>
              </a:r>
              <a:endParaRPr lang="fr-FR" sz="1200" dirty="0">
                <a:solidFill>
                  <a:srgbClr val="2205CD"/>
                </a:solidFill>
                <a:latin typeface="Times New Roman" panose="02020603050405020304"/>
                <a:ea typeface="Times New Roman" panose="02020603050405020304"/>
                <a:cs typeface="Times New Roman" panose="02020603050405020304"/>
                <a:sym typeface="Times New Roman" panose="02020603050405020304"/>
              </a:endParaRPr>
            </a:p>
            <a:p>
              <a:pPr marL="171450" indent="-171450">
                <a:buFont typeface="Arial" panose="020B0604020202020204" pitchFamily="34" charset="0"/>
                <a:buChar char="•"/>
              </a:pPr>
              <a:r>
                <a:rPr lang="fr-FR" sz="1200" dirty="0">
                  <a:solidFill>
                    <a:srgbClr val="2205CD"/>
                  </a:solidFill>
                </a:rPr>
                <a:t>Renforcer les capacités des agents et des structures impliquées dans la gestion des données de vaccination à tous les niveaux</a:t>
              </a:r>
            </a:p>
            <a:p>
              <a:pPr marL="171450" indent="-171450">
                <a:buFont typeface="Arial" panose="020B0604020202020204" pitchFamily="34" charset="0"/>
                <a:buChar char="•"/>
              </a:pPr>
              <a:r>
                <a:rPr lang="fr-FR" sz="1200" dirty="0">
                  <a:solidFill>
                    <a:srgbClr val="2205CD"/>
                  </a:solidFill>
                </a:rPr>
                <a:t>Rendre disponible à toutes les structures de santé les outils de gestion actualisés à temps et en quantité suffisante y compris les documents actualisés des politiques, normes et directives du PEV</a:t>
              </a:r>
            </a:p>
            <a:p>
              <a:pPr marL="171450" indent="-171450">
                <a:buFont typeface="Arial" panose="020B0604020202020204" pitchFamily="34" charset="0"/>
                <a:buChar char="•"/>
              </a:pPr>
              <a:r>
                <a:rPr lang="fr-FR" sz="1200" dirty="0">
                  <a:solidFill>
                    <a:srgbClr val="2205CD"/>
                  </a:solidFill>
                </a:rPr>
                <a:t>Promouvoir l’utilisation des Nouvelles Technologies de l'Information et de Communication (NTIC) et l’archivage informatisé des informations à tous les niveaux</a:t>
              </a:r>
              <a:endParaRPr lang="fr-FR" sz="1200" dirty="0">
                <a:solidFill>
                  <a:srgbClr val="2205CD"/>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41" name="Google Shape;241;p17"/>
            <p:cNvSpPr/>
            <p:nvPr/>
          </p:nvSpPr>
          <p:spPr>
            <a:xfrm>
              <a:off x="722" y="2799"/>
              <a:ext cx="4431" cy="4423"/>
            </a:xfrm>
            <a:prstGeom prst="rect">
              <a:avLst/>
            </a:prstGeom>
            <a:noFill/>
            <a:ln w="19050" cap="flat" cmpd="sng">
              <a:solidFill>
                <a:srgbClr val="1155CC"/>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2205CD"/>
                </a:solidFill>
              </a:endParaRPr>
            </a:p>
          </p:txBody>
        </p:sp>
        <p:sp>
          <p:nvSpPr>
            <p:cNvPr id="237" name="Google Shape;237;p17"/>
            <p:cNvSpPr/>
            <p:nvPr/>
          </p:nvSpPr>
          <p:spPr>
            <a:xfrm>
              <a:off x="910" y="2888"/>
              <a:ext cx="4123" cy="236"/>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b="1" dirty="0">
                  <a:latin typeface="Times New Roman" panose="02020603050405020304"/>
                  <a:ea typeface="Times New Roman" panose="02020603050405020304"/>
                  <a:cs typeface="Times New Roman" panose="02020603050405020304"/>
                  <a:sym typeface="Times New Roman" panose="02020603050405020304"/>
                </a:rPr>
                <a:t>Objectifs MASHAKO</a:t>
              </a:r>
            </a:p>
          </p:txBody>
        </p:sp>
      </p:grpSp>
      <p:grpSp>
        <p:nvGrpSpPr>
          <p:cNvPr id="2" name="Grouper 1"/>
          <p:cNvGrpSpPr/>
          <p:nvPr/>
        </p:nvGrpSpPr>
        <p:grpSpPr>
          <a:xfrm>
            <a:off x="6095992" y="1289555"/>
            <a:ext cx="3200553" cy="4704643"/>
            <a:chOff x="542" y="1774"/>
            <a:chExt cx="4063" cy="4546"/>
          </a:xfrm>
        </p:grpSpPr>
        <p:sp>
          <p:nvSpPr>
            <p:cNvPr id="235" name="Google Shape;235;p17"/>
            <p:cNvSpPr/>
            <p:nvPr/>
          </p:nvSpPr>
          <p:spPr>
            <a:xfrm>
              <a:off x="781" y="1774"/>
              <a:ext cx="3581" cy="492"/>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fr-FR" altLang="en-GB" b="1" dirty="0" err="1">
                  <a:latin typeface="Times New Roman" panose="02020603050405020304"/>
                  <a:ea typeface="Times New Roman" panose="02020603050405020304"/>
                  <a:cs typeface="Times New Roman" panose="02020603050405020304"/>
                  <a:sym typeface="Times New Roman" panose="02020603050405020304"/>
                </a:rPr>
                <a:t>Objectis</a:t>
              </a:r>
              <a:r>
                <a:rPr lang="fr-FR" altLang="en-GB" b="1" dirty="0">
                  <a:latin typeface="Times New Roman" panose="02020603050405020304"/>
                  <a:ea typeface="Times New Roman" panose="02020603050405020304"/>
                  <a:cs typeface="Times New Roman" panose="02020603050405020304"/>
                  <a:sym typeface="Times New Roman" panose="02020603050405020304"/>
                </a:rPr>
                <a:t> PAO</a:t>
              </a:r>
            </a:p>
          </p:txBody>
        </p:sp>
        <p:sp>
          <p:nvSpPr>
            <p:cNvPr id="236" name="Google Shape;236;p17"/>
            <p:cNvSpPr/>
            <p:nvPr/>
          </p:nvSpPr>
          <p:spPr>
            <a:xfrm>
              <a:off x="542" y="2329"/>
              <a:ext cx="4063" cy="3991"/>
            </a:xfrm>
            <a:prstGeom prst="rect">
              <a:avLst/>
            </a:prstGeom>
            <a:solidFill>
              <a:srgbClr val="F2F2F2"/>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endParaRPr lang="fr-FR" sz="1200" dirty="0">
                <a:solidFill>
                  <a:srgbClr val="2205CD"/>
                </a:solidFill>
              </a:endParaRPr>
            </a:p>
            <a:p>
              <a:pPr marL="171450" indent="-171450">
                <a:buFont typeface="Arial" panose="020B0604020202020204" pitchFamily="34" charset="0"/>
                <a:buChar char="•"/>
              </a:pPr>
              <a:r>
                <a:rPr lang="fr-FR" sz="1200" dirty="0">
                  <a:solidFill>
                    <a:srgbClr val="2205CD"/>
                  </a:solidFill>
                </a:rPr>
                <a:t>Réduire d’au moins 5 points de pourcentage, d’ici [2025], l’écart entre les taux de couverture vaccinale issus des données administratives nationales et les estimations WUENIC de l’OMS-UNICEF.";</a:t>
              </a:r>
            </a:p>
            <a:p>
              <a:pPr marL="171450" indent="-171450">
                <a:buFont typeface="Arial" panose="020B0604020202020204" pitchFamily="34" charset="0"/>
                <a:buChar char="•"/>
              </a:pPr>
              <a:endParaRPr lang="fr-FR" sz="1200" dirty="0">
                <a:solidFill>
                  <a:srgbClr val="2205CD"/>
                </a:solidFill>
              </a:endParaRPr>
            </a:p>
            <a:p>
              <a:pPr marL="34290" lvl="0" algn="l" defTabSz="914400" rtl="0">
                <a:spcBef>
                  <a:spcPts val="1000"/>
                </a:spcBef>
                <a:spcAft>
                  <a:spcPts val="1000"/>
                </a:spcAft>
                <a:tabLst>
                  <a:tab pos="0" algn="l"/>
                </a:tabLst>
              </a:pPr>
              <a:endParaRPr sz="1200" dirty="0">
                <a:solidFill>
                  <a:srgbClr val="2205CD"/>
                </a:solidFill>
                <a:latin typeface="Times New Roman" panose="02020603050405020304"/>
                <a:ea typeface="Times New Roman" panose="02020603050405020304"/>
                <a:cs typeface="Times New Roman" panose="02020603050405020304"/>
                <a:sym typeface="Times New Roman" panose="02020603050405020304"/>
              </a:endParaRPr>
            </a:p>
          </p:txBody>
        </p:sp>
      </p:grpSp>
    </p:spTree>
    <p:extLst>
      <p:ext uri="{BB962C8B-B14F-4D97-AF65-F5344CB8AC3E}">
        <p14:creationId xmlns:p14="http://schemas.microsoft.com/office/powerpoint/2010/main" val="226735885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
          <p:cNvSpPr txBox="1">
            <a:spLocks noGrp="1"/>
          </p:cNvSpPr>
          <p:nvPr>
            <p:ph type="sldNum" idx="12"/>
          </p:nvPr>
        </p:nvSpPr>
        <p:spPr>
          <a:xfrm>
            <a:off x="11296611" y="6217623"/>
            <a:ext cx="731600" cy="524800"/>
          </a:xfrm>
          <a:prstGeom prst="rect">
            <a:avLst/>
          </a:prstGeom>
          <a:noFill/>
          <a:ln>
            <a:noFill/>
          </a:ln>
        </p:spPr>
        <p:txBody>
          <a:bodyPr spcFirstLastPara="1" wrap="square" lIns="121900" tIns="121900" rIns="121900" bIns="121900" anchor="ctr" anchorCtr="0">
            <a:normAutofit/>
          </a:bodyPr>
          <a:lstStyle/>
          <a:p>
            <a:pPr marL="0" lvl="0" indent="0" algn="r" rtl="0">
              <a:lnSpc>
                <a:spcPct val="100000"/>
              </a:lnSpc>
              <a:spcBef>
                <a:spcPts val="0"/>
              </a:spcBef>
              <a:spcAft>
                <a:spcPts val="0"/>
              </a:spcAft>
              <a:buSzPts val="1000"/>
              <a:buNone/>
            </a:pPr>
            <a:fld id="{00000000-1234-1234-1234-123412341234}" type="slidenum">
              <a:rPr lang="en-GB" sz="1600"/>
              <a:t>55</a:t>
            </a:fld>
            <a:endParaRPr lang="en-GB" sz="1600"/>
          </a:p>
        </p:txBody>
      </p:sp>
      <p:sp>
        <p:nvSpPr>
          <p:cNvPr id="167" name="Google Shape;167;p1"/>
          <p:cNvSpPr txBox="1"/>
          <p:nvPr/>
        </p:nvSpPr>
        <p:spPr>
          <a:xfrm>
            <a:off x="295033" y="5920417"/>
            <a:ext cx="3302000" cy="34861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700"/>
              <a:buFont typeface="Arial" panose="020B0604020202020204"/>
              <a:buNone/>
            </a:pPr>
            <a:r>
              <a:rPr lang="en-GB" sz="2265" b="0" i="0" u="none" strike="noStrike" cap="none">
                <a:solidFill>
                  <a:srgbClr val="FFFFFF"/>
                </a:solidFill>
                <a:latin typeface="Arial" panose="020B0604020202020204"/>
                <a:ea typeface="Arial" panose="020B0604020202020204"/>
                <a:cs typeface="Arial" panose="020B0604020202020204"/>
                <a:sym typeface="Arial" panose="020B0604020202020204"/>
              </a:rPr>
              <a:t>October 2024</a:t>
            </a:r>
            <a:endParaRPr sz="2265"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168" name="Google Shape;168;p1"/>
          <p:cNvPicPr preferRelativeResize="0"/>
          <p:nvPr/>
        </p:nvPicPr>
        <p:blipFill rotWithShape="1">
          <a:blip r:embed="rId3"/>
          <a:srcRect l="-17785"/>
          <a:stretch>
            <a:fillRect/>
          </a:stretch>
        </p:blipFill>
        <p:spPr>
          <a:xfrm>
            <a:off x="-683503" y="1646443"/>
            <a:ext cx="4526453" cy="3703151"/>
          </a:xfrm>
          <a:prstGeom prst="rect">
            <a:avLst/>
          </a:prstGeom>
          <a:noFill/>
          <a:ln>
            <a:noFill/>
          </a:ln>
        </p:spPr>
      </p:pic>
      <p:sp>
        <p:nvSpPr>
          <p:cNvPr id="170" name="Google Shape;170;p1"/>
          <p:cNvSpPr/>
          <p:nvPr/>
        </p:nvSpPr>
        <p:spPr>
          <a:xfrm>
            <a:off x="3660828" y="1516400"/>
            <a:ext cx="373600" cy="1867200"/>
          </a:xfrm>
          <a:prstGeom prst="rect">
            <a:avLst/>
          </a:prstGeom>
          <a:solidFill>
            <a:srgbClr val="145ABE"/>
          </a:solidFill>
          <a:ln>
            <a:noFill/>
          </a:ln>
        </p:spPr>
        <p:txBody>
          <a:bodyPr spcFirstLastPara="1" wrap="square" lIns="91433" tIns="91433" rIns="91433" bIns="91433" anchor="ctr" anchorCtr="0">
            <a:noAutofit/>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Google Shape;169;p1"/>
          <p:cNvSpPr txBox="1"/>
          <p:nvPr/>
        </p:nvSpPr>
        <p:spPr>
          <a:xfrm>
            <a:off x="4214191" y="2761615"/>
            <a:ext cx="7721269" cy="106426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500"/>
              <a:buFont typeface="Arial" panose="020B0604020202020204"/>
              <a:buNone/>
            </a:pPr>
            <a:r>
              <a:rPr lang="fr-FR" sz="3600" b="1" dirty="0">
                <a:solidFill>
                  <a:srgbClr val="00B0F0"/>
                </a:solidFill>
                <a:latin typeface="Times New Roman" panose="02020603050405020304"/>
                <a:ea typeface="Times New Roman" panose="02020603050405020304"/>
                <a:cs typeface="Times New Roman" panose="02020603050405020304"/>
                <a:sym typeface="Times New Roman" panose="02020603050405020304"/>
              </a:rPr>
              <a:t>Etat mise en </a:t>
            </a:r>
            <a:r>
              <a:rPr lang="fr-FR" sz="3600" b="1" dirty="0" err="1">
                <a:solidFill>
                  <a:srgbClr val="00B0F0"/>
                </a:solidFill>
                <a:latin typeface="Times New Roman" panose="02020603050405020304"/>
                <a:ea typeface="Times New Roman" panose="02020603050405020304"/>
                <a:cs typeface="Times New Roman" panose="02020603050405020304"/>
                <a:sym typeface="Times New Roman" panose="02020603050405020304"/>
              </a:rPr>
              <a:t>oeuvre</a:t>
            </a:r>
            <a:r>
              <a:rPr lang="fr-FR" sz="3600" b="1" dirty="0">
                <a:solidFill>
                  <a:srgbClr val="00B0F0"/>
                </a:solidFill>
                <a:latin typeface="Times New Roman" panose="02020603050405020304"/>
                <a:ea typeface="Times New Roman" panose="02020603050405020304"/>
                <a:cs typeface="Times New Roman" panose="02020603050405020304"/>
                <a:sym typeface="Times New Roman" panose="02020603050405020304"/>
              </a:rPr>
              <a:t> du PAO</a:t>
            </a:r>
            <a:r>
              <a:rPr lang="en-GB" sz="3600" b="1" dirty="0">
                <a:solidFill>
                  <a:srgbClr val="00B0F0"/>
                </a:solidFill>
                <a:latin typeface="Times New Roman" panose="02020603050405020304"/>
                <a:ea typeface="Times New Roman" panose="02020603050405020304"/>
                <a:cs typeface="Times New Roman" panose="02020603050405020304"/>
                <a:sym typeface="+mn-ea"/>
              </a:rPr>
              <a:t> 202</a:t>
            </a:r>
            <a:r>
              <a:rPr lang="fr-FR" altLang="en-GB" sz="3600" b="1" dirty="0">
                <a:solidFill>
                  <a:srgbClr val="00B0F0"/>
                </a:solidFill>
                <a:latin typeface="Times New Roman" panose="02020603050405020304"/>
                <a:ea typeface="Times New Roman" panose="02020603050405020304"/>
                <a:cs typeface="Times New Roman" panose="02020603050405020304"/>
                <a:sym typeface="+mn-ea"/>
              </a:rPr>
              <a:t>5</a:t>
            </a:r>
            <a:r>
              <a:rPr lang="fr-FR" sz="3600" b="1" dirty="0">
                <a:solidFill>
                  <a:srgbClr val="00B0F0"/>
                </a:solidFill>
                <a:latin typeface="Times New Roman" panose="02020603050405020304"/>
                <a:ea typeface="Times New Roman" panose="02020603050405020304"/>
                <a:cs typeface="Times New Roman" panose="02020603050405020304"/>
                <a:sym typeface="Times New Roman" panose="02020603050405020304"/>
              </a:rPr>
              <a:t> </a:t>
            </a:r>
            <a:r>
              <a:rPr lang="fr-FR" sz="3600" b="1"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rPr>
              <a:t> </a:t>
            </a:r>
            <a:r>
              <a:rPr lang="fr-FR" sz="2000" b="1"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rPr>
              <a:t>  </a:t>
            </a:r>
            <a:endParaRPr sz="1400" b="1"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00"/>
              </a:buClr>
              <a:buSzPts val="1500"/>
              <a:buFont typeface="Arial" panose="020B0604020202020204"/>
              <a:buNone/>
            </a:pPr>
            <a:endParaRPr sz="1400" b="1"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00"/>
              </a:buClr>
              <a:buSzPts val="1500"/>
              <a:buFont typeface="Arial" panose="020B0604020202020204"/>
              <a:buNone/>
            </a:pPr>
            <a:r>
              <a:rPr lang="en-GB" sz="1400" b="1" i="0" u="none" strike="noStrike" cap="none" dirty="0">
                <a:solidFill>
                  <a:srgbClr val="145ABE"/>
                </a:solidFill>
                <a:latin typeface="Times New Roman" panose="02020603050405020304"/>
                <a:ea typeface="Times New Roman" panose="02020603050405020304"/>
                <a:cs typeface="Times New Roman" panose="02020603050405020304"/>
                <a:sym typeface="Times New Roman" panose="02020603050405020304"/>
              </a:rPr>
              <a:t> </a:t>
            </a:r>
            <a:endParaRPr sz="10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500"/>
              <a:buFont typeface="Arial" panose="020B0604020202020204"/>
              <a:buNone/>
            </a:pPr>
            <a:endParaRPr lang="fr-FR" altLang="en-GB" sz="10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Tree>
    <p:extLst>
      <p:ext uri="{BB962C8B-B14F-4D97-AF65-F5344CB8AC3E}">
        <p14:creationId xmlns:p14="http://schemas.microsoft.com/office/powerpoint/2010/main" val="364824231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290"/>
        <p:cNvGrpSpPr/>
        <p:nvPr/>
      </p:nvGrpSpPr>
      <p:grpSpPr>
        <a:xfrm>
          <a:off x="0" y="0"/>
          <a:ext cx="0" cy="0"/>
          <a:chOff x="0" y="0"/>
          <a:chExt cx="0" cy="0"/>
        </a:xfrm>
      </p:grpSpPr>
      <p:sp>
        <p:nvSpPr>
          <p:cNvPr id="1291" name="Google Shape;1291;g2f1c646a89f_0_0"/>
          <p:cNvSpPr txBox="1"/>
          <p:nvPr/>
        </p:nvSpPr>
        <p:spPr>
          <a:xfrm>
            <a:off x="458592" y="317941"/>
            <a:ext cx="11274800" cy="731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2200"/>
              <a:buFont typeface="Arial" panose="020B0604020202020204"/>
              <a:buNone/>
            </a:pPr>
            <a:r>
              <a:rPr lang="en-US" altLang="en-US" sz="2935" b="1" i="0" u="none" strike="noStrike" cap="none" dirty="0" err="1">
                <a:solidFill>
                  <a:srgbClr val="0070C0"/>
                </a:solidFill>
                <a:latin typeface="Times New Roman" panose="02020603050405020304"/>
                <a:ea typeface="Times New Roman" panose="02020603050405020304"/>
                <a:cs typeface="Times New Roman" panose="02020603050405020304"/>
                <a:sym typeface="Times New Roman" panose="02020603050405020304"/>
              </a:rPr>
              <a:t>É</a:t>
            </a:r>
            <a:r>
              <a:rPr lang="en-US" altLang="fr-FR" sz="2935" b="1" i="0" u="none" strike="noStrike" cap="none" dirty="0" err="1">
                <a:solidFill>
                  <a:srgbClr val="0070C0"/>
                </a:solidFill>
                <a:latin typeface="Times New Roman" panose="02020603050405020304"/>
                <a:ea typeface="Times New Roman" panose="02020603050405020304"/>
                <a:cs typeface="Times New Roman" panose="02020603050405020304"/>
                <a:sym typeface="Times New Roman" panose="02020603050405020304"/>
              </a:rPr>
              <a:t>tat</a:t>
            </a:r>
            <a:r>
              <a:rPr lang="en-US" altLang="fr-FR"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 de la mise en </a:t>
            </a:r>
            <a:r>
              <a:rPr lang="en-US" altLang="en-US" sz="2935" b="1" i="0" u="none" strike="noStrike" cap="none" dirty="0" err="1">
                <a:solidFill>
                  <a:srgbClr val="0070C0"/>
                </a:solidFill>
                <a:latin typeface="Times New Roman" panose="02020603050405020304"/>
                <a:ea typeface="Times New Roman" panose="02020603050405020304"/>
                <a:cs typeface="Times New Roman" panose="02020603050405020304"/>
                <a:sym typeface="Times New Roman" panose="02020603050405020304"/>
              </a:rPr>
              <a:t>œ</a:t>
            </a:r>
            <a:r>
              <a:rPr lang="en-US" altLang="fr-FR" sz="2935" b="1" i="0" u="none" strike="noStrike" cap="none" dirty="0" err="1">
                <a:solidFill>
                  <a:srgbClr val="0070C0"/>
                </a:solidFill>
                <a:latin typeface="Times New Roman" panose="02020603050405020304"/>
                <a:ea typeface="Times New Roman" panose="02020603050405020304"/>
                <a:cs typeface="Times New Roman" panose="02020603050405020304"/>
                <a:sym typeface="Times New Roman" panose="02020603050405020304"/>
              </a:rPr>
              <a:t>uvre</a:t>
            </a:r>
            <a:r>
              <a:rPr lang="en-US" altLang="fr-FR"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 des </a:t>
            </a:r>
            <a:r>
              <a:rPr lang="en-US" altLang="fr-FR" sz="2935" b="1" i="0" u="none" strike="noStrike" cap="none" dirty="0" err="1">
                <a:solidFill>
                  <a:srgbClr val="0070C0"/>
                </a:solidFill>
                <a:latin typeface="Times New Roman" panose="02020603050405020304"/>
                <a:ea typeface="Times New Roman" panose="02020603050405020304"/>
                <a:cs typeface="Times New Roman" panose="02020603050405020304"/>
                <a:sym typeface="Times New Roman" panose="02020603050405020304"/>
              </a:rPr>
              <a:t>activités</a:t>
            </a:r>
            <a:r>
              <a:rPr lang="en-US" altLang="fr-FR"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 du PAO</a:t>
            </a:r>
            <a:r>
              <a:rPr lang="fr-FR" altLang="en-US" sz="2935" b="1" i="0" u="none" strike="noStrike" cap="none"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 2025</a:t>
            </a:r>
          </a:p>
        </p:txBody>
      </p:sp>
      <p:sp>
        <p:nvSpPr>
          <p:cNvPr id="1292" name="Google Shape;1292;g2f1c646a89f_0_0"/>
          <p:cNvSpPr/>
          <p:nvPr/>
        </p:nvSpPr>
        <p:spPr>
          <a:xfrm>
            <a:off x="0" y="272241"/>
            <a:ext cx="235600" cy="655200"/>
          </a:xfrm>
          <a:prstGeom prst="rect">
            <a:avLst/>
          </a:prstGeom>
          <a:solidFill>
            <a:srgbClr val="0070C0"/>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865"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223" name="Google Shape;223;p16"/>
          <p:cNvCxnSpPr/>
          <p:nvPr/>
        </p:nvCxnSpPr>
        <p:spPr>
          <a:xfrm>
            <a:off x="267700" y="6427967"/>
            <a:ext cx="11640400" cy="0"/>
          </a:xfrm>
          <a:prstGeom prst="straightConnector1">
            <a:avLst/>
          </a:prstGeom>
          <a:noFill/>
          <a:ln w="9525" cap="flat" cmpd="sng">
            <a:solidFill>
              <a:srgbClr val="9E9E9E"/>
            </a:solidFill>
            <a:prstDash val="solid"/>
            <a:round/>
            <a:headEnd type="none" w="med" len="med"/>
            <a:tailEnd type="none" w="med" len="med"/>
          </a:ln>
        </p:spPr>
      </p:cxnSp>
      <p:sp>
        <p:nvSpPr>
          <p:cNvPr id="224" name="Google Shape;224;p16"/>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sp>
        <p:nvSpPr>
          <p:cNvPr id="7" name="Google Shape;165;p3"/>
          <p:cNvSpPr txBox="1"/>
          <p:nvPr/>
        </p:nvSpPr>
        <p:spPr>
          <a:xfrm flipH="1">
            <a:off x="458592" y="4383358"/>
            <a:ext cx="11170073" cy="1004993"/>
          </a:xfrm>
          <a:prstGeom prst="rect">
            <a:avLst/>
          </a:prstGeom>
          <a:noFill/>
          <a:ln>
            <a:noFill/>
          </a:ln>
        </p:spPr>
        <p:txBody>
          <a:bodyPr spcFirstLastPara="1" wrap="square" lIns="121900" tIns="60933" rIns="121900" bIns="60933" anchor="ctr" anchorCtr="0">
            <a:noAutofit/>
          </a:bodyPr>
          <a:lstStyle/>
          <a:p>
            <a:pPr defTabSz="1219170">
              <a:buClr>
                <a:srgbClr val="000000"/>
              </a:buClr>
            </a:pPr>
            <a:r>
              <a:rPr lang="fr-FR" sz="2000" b="1" kern="0" dirty="0">
                <a:solidFill>
                  <a:srgbClr val="000000"/>
                </a:solidFill>
                <a:latin typeface="Arial" panose="020B0604020202020204"/>
                <a:ea typeface="Arial" panose="020B0604020202020204"/>
                <a:cs typeface="Arial" panose="020B0604020202020204"/>
                <a:sym typeface="Arial" panose="020B0604020202020204"/>
              </a:rPr>
              <a:t>Commentaire</a:t>
            </a:r>
            <a:r>
              <a:rPr lang="fr-FR" sz="2000" kern="0" dirty="0">
                <a:solidFill>
                  <a:srgbClr val="000000"/>
                </a:solidFill>
                <a:latin typeface="Arial" panose="020B0604020202020204"/>
                <a:ea typeface="Arial" panose="020B0604020202020204"/>
                <a:cs typeface="Arial" panose="020B0604020202020204"/>
                <a:sym typeface="Arial" panose="020B0604020202020204"/>
              </a:rPr>
              <a:t>s : </a:t>
            </a:r>
            <a:r>
              <a:rPr lang="fr-FR" sz="2400" kern="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Sur  </a:t>
            </a:r>
            <a:r>
              <a:rPr lang="fr-FR" sz="2400" b="1" kern="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17</a:t>
            </a:r>
            <a:r>
              <a:rPr lang="fr-FR" sz="2400" kern="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activités planifiées,</a:t>
            </a:r>
            <a:r>
              <a:rPr lang="fr-FR" sz="2400" b="1" kern="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10 </a:t>
            </a:r>
            <a:r>
              <a:rPr lang="fr-FR" sz="2400" kern="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ont été réalisées </a:t>
            </a:r>
            <a:r>
              <a:rPr lang="fr-FR" sz="2400" b="1" kern="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(59%</a:t>
            </a:r>
            <a:r>
              <a:rPr lang="fr-FR" sz="2400" kern="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fr-FR" sz="2400" b="1" kern="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5</a:t>
            </a:r>
            <a:r>
              <a:rPr lang="fr-FR" sz="2400" kern="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en cours de </a:t>
            </a:r>
          </a:p>
          <a:p>
            <a:pPr defTabSz="1219170">
              <a:buClr>
                <a:srgbClr val="000000"/>
              </a:buClr>
            </a:pPr>
            <a:r>
              <a:rPr lang="fr-FR" sz="2400" kern="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réalisation (</a:t>
            </a:r>
            <a:r>
              <a:rPr lang="fr-FR" sz="2400" b="1" kern="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29</a:t>
            </a:r>
            <a:r>
              <a:rPr lang="fr-FR" sz="2400" kern="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 et </a:t>
            </a:r>
            <a:r>
              <a:rPr lang="fr-FR" sz="2400" b="1" kern="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2</a:t>
            </a:r>
            <a:r>
              <a:rPr lang="fr-FR" sz="2400" kern="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non réalisées (</a:t>
            </a:r>
            <a:r>
              <a:rPr lang="fr-FR" sz="2400" b="1" kern="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12</a:t>
            </a:r>
            <a:r>
              <a:rPr lang="fr-FR" sz="2400" kern="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 </a:t>
            </a:r>
            <a:endParaRPr sz="500" kern="0" dirty="0">
              <a:solidFill>
                <a:srgbClr val="000000"/>
              </a:solidFill>
              <a:latin typeface="Arial" panose="020B0604020202020204"/>
              <a:cs typeface="Arial" panose="020B0604020202020204"/>
              <a:sym typeface="Arial" panose="020B0604020202020204"/>
            </a:endParaRPr>
          </a:p>
        </p:txBody>
      </p:sp>
      <p:graphicFrame>
        <p:nvGraphicFramePr>
          <p:cNvPr id="2" name="Tableau 1"/>
          <p:cNvGraphicFramePr>
            <a:graphicFrameLocks noGrp="1"/>
          </p:cNvGraphicFramePr>
          <p:nvPr>
            <p:extLst>
              <p:ext uri="{D42A27DB-BD31-4B8C-83A1-F6EECF244321}">
                <p14:modId xmlns:p14="http://schemas.microsoft.com/office/powerpoint/2010/main" val="2581707463"/>
              </p:ext>
            </p:extLst>
          </p:nvPr>
        </p:nvGraphicFramePr>
        <p:xfrm>
          <a:off x="708438" y="2089157"/>
          <a:ext cx="10012571" cy="1641539"/>
        </p:xfrm>
        <a:graphic>
          <a:graphicData uri="http://schemas.openxmlformats.org/drawingml/2006/table">
            <a:tbl>
              <a:tblPr/>
              <a:tblGrid>
                <a:gridCol w="2422047">
                  <a:extLst>
                    <a:ext uri="{9D8B030D-6E8A-4147-A177-3AD203B41FA5}">
                      <a16:colId xmlns:a16="http://schemas.microsoft.com/office/drawing/2014/main" val="3297312075"/>
                    </a:ext>
                  </a:extLst>
                </a:gridCol>
                <a:gridCol w="1146147">
                  <a:extLst>
                    <a:ext uri="{9D8B030D-6E8A-4147-A177-3AD203B41FA5}">
                      <a16:colId xmlns:a16="http://schemas.microsoft.com/office/drawing/2014/main" val="3744644061"/>
                    </a:ext>
                  </a:extLst>
                </a:gridCol>
                <a:gridCol w="1016394">
                  <a:extLst>
                    <a:ext uri="{9D8B030D-6E8A-4147-A177-3AD203B41FA5}">
                      <a16:colId xmlns:a16="http://schemas.microsoft.com/office/drawing/2014/main" val="1818572978"/>
                    </a:ext>
                  </a:extLst>
                </a:gridCol>
                <a:gridCol w="1059645">
                  <a:extLst>
                    <a:ext uri="{9D8B030D-6E8A-4147-A177-3AD203B41FA5}">
                      <a16:colId xmlns:a16="http://schemas.microsoft.com/office/drawing/2014/main" val="4029717297"/>
                    </a:ext>
                  </a:extLst>
                </a:gridCol>
                <a:gridCol w="1081272">
                  <a:extLst>
                    <a:ext uri="{9D8B030D-6E8A-4147-A177-3AD203B41FA5}">
                      <a16:colId xmlns:a16="http://schemas.microsoft.com/office/drawing/2014/main" val="2041405291"/>
                    </a:ext>
                  </a:extLst>
                </a:gridCol>
                <a:gridCol w="1081272">
                  <a:extLst>
                    <a:ext uri="{9D8B030D-6E8A-4147-A177-3AD203B41FA5}">
                      <a16:colId xmlns:a16="http://schemas.microsoft.com/office/drawing/2014/main" val="2300009869"/>
                    </a:ext>
                  </a:extLst>
                </a:gridCol>
                <a:gridCol w="1102897">
                  <a:extLst>
                    <a:ext uri="{9D8B030D-6E8A-4147-A177-3AD203B41FA5}">
                      <a16:colId xmlns:a16="http://schemas.microsoft.com/office/drawing/2014/main" val="859883586"/>
                    </a:ext>
                  </a:extLst>
                </a:gridCol>
                <a:gridCol w="1102897">
                  <a:extLst>
                    <a:ext uri="{9D8B030D-6E8A-4147-A177-3AD203B41FA5}">
                      <a16:colId xmlns:a16="http://schemas.microsoft.com/office/drawing/2014/main" val="1729687664"/>
                    </a:ext>
                  </a:extLst>
                </a:gridCol>
              </a:tblGrid>
              <a:tr h="698564">
                <a:tc rowSpan="3">
                  <a:txBody>
                    <a:bodyPr/>
                    <a:lstStyle/>
                    <a:p>
                      <a:pPr algn="l" rtl="0" fontAlgn="ctr"/>
                      <a:r>
                        <a:rPr lang="fr-FR" sz="2000" b="1" i="0" u="none" strike="noStrike" dirty="0">
                          <a:solidFill>
                            <a:srgbClr val="000000"/>
                          </a:solidFill>
                          <a:effectLst/>
                          <a:latin typeface="Times New Roman" panose="02020603050405020304" pitchFamily="18" charset="0"/>
                        </a:rPr>
                        <a:t>Domaine</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1155CC"/>
                      </a:solidFill>
                      <a:prstDash val="solid"/>
                      <a:round/>
                      <a:headEnd type="none" w="med" len="med"/>
                      <a:tailEnd type="none" w="med" len="med"/>
                    </a:lnB>
                    <a:solidFill>
                      <a:srgbClr val="C9DAF8"/>
                    </a:solidFill>
                  </a:tcPr>
                </a:tc>
                <a:tc>
                  <a:txBody>
                    <a:bodyPr/>
                    <a:lstStyle/>
                    <a:p>
                      <a:pPr algn="ctr" rtl="0" fontAlgn="ctr"/>
                      <a:r>
                        <a:rPr lang="fr-FR" sz="2000" b="1" i="0" u="none" strike="noStrike" dirty="0">
                          <a:solidFill>
                            <a:srgbClr val="000000"/>
                          </a:solidFill>
                          <a:effectLst/>
                          <a:latin typeface="Times New Roman" panose="02020603050405020304" pitchFamily="18" charset="0"/>
                        </a:rPr>
                        <a:t>Planifiés</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9DAF8"/>
                    </a:solidFill>
                  </a:tcPr>
                </a:tc>
                <a:tc gridSpan="2">
                  <a:txBody>
                    <a:bodyPr/>
                    <a:lstStyle/>
                    <a:p>
                      <a:pPr algn="ctr" rtl="0" fontAlgn="ctr"/>
                      <a:r>
                        <a:rPr lang="fr-FR" sz="2000" b="1" i="0" u="none" strike="noStrike" dirty="0">
                          <a:solidFill>
                            <a:srgbClr val="000000"/>
                          </a:solidFill>
                          <a:effectLst/>
                          <a:latin typeface="Times New Roman" panose="02020603050405020304" pitchFamily="18" charset="0"/>
                        </a:rPr>
                        <a:t>Réalisés</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9DAF8"/>
                    </a:solidFill>
                  </a:tcPr>
                </a:tc>
                <a:tc hMerge="1">
                  <a:txBody>
                    <a:bodyPr/>
                    <a:lstStyle/>
                    <a:p>
                      <a:endParaRPr lang="fr-FR"/>
                    </a:p>
                  </a:txBody>
                  <a:tcPr/>
                </a:tc>
                <a:tc gridSpan="2">
                  <a:txBody>
                    <a:bodyPr/>
                    <a:lstStyle/>
                    <a:p>
                      <a:pPr algn="ctr" rtl="0" fontAlgn="ctr"/>
                      <a:r>
                        <a:rPr lang="fr-FR" sz="2000" b="1" i="0" u="none" strike="noStrike">
                          <a:solidFill>
                            <a:srgbClr val="000000"/>
                          </a:solidFill>
                          <a:effectLst/>
                          <a:latin typeface="Times New Roman" panose="02020603050405020304" pitchFamily="18" charset="0"/>
                        </a:rPr>
                        <a:t>Partiellement réalisés</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9DAF8"/>
                    </a:solidFill>
                  </a:tcPr>
                </a:tc>
                <a:tc hMerge="1">
                  <a:txBody>
                    <a:bodyPr/>
                    <a:lstStyle/>
                    <a:p>
                      <a:endParaRPr lang="fr-FR"/>
                    </a:p>
                  </a:txBody>
                  <a:tcPr/>
                </a:tc>
                <a:tc gridSpan="2">
                  <a:txBody>
                    <a:bodyPr/>
                    <a:lstStyle/>
                    <a:p>
                      <a:pPr algn="ctr" rtl="0" fontAlgn="ctr"/>
                      <a:r>
                        <a:rPr lang="fr-FR" sz="2000" b="1" i="0" u="none" strike="noStrike">
                          <a:solidFill>
                            <a:srgbClr val="000000"/>
                          </a:solidFill>
                          <a:effectLst/>
                          <a:latin typeface="Times New Roman" panose="02020603050405020304" pitchFamily="18" charset="0"/>
                        </a:rPr>
                        <a:t>Non-réalisés</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9DAF8"/>
                    </a:solidFill>
                  </a:tcPr>
                </a:tc>
                <a:tc hMerge="1">
                  <a:txBody>
                    <a:bodyPr/>
                    <a:lstStyle/>
                    <a:p>
                      <a:endParaRPr lang="fr-FR"/>
                    </a:p>
                  </a:txBody>
                  <a:tcPr/>
                </a:tc>
                <a:extLst>
                  <a:ext uri="{0D108BD9-81ED-4DB2-BD59-A6C34878D82A}">
                    <a16:rowId xmlns:a16="http://schemas.microsoft.com/office/drawing/2014/main" val="940955536"/>
                  </a:ext>
                </a:extLst>
              </a:tr>
              <a:tr h="282112">
                <a:tc vMerge="1">
                  <a:txBody>
                    <a:bodyPr/>
                    <a:lstStyle/>
                    <a:p>
                      <a:endParaRPr lang="fr-FR"/>
                    </a:p>
                  </a:txBody>
                  <a:tcPr/>
                </a:tc>
                <a:tc>
                  <a:txBody>
                    <a:bodyPr/>
                    <a:lstStyle/>
                    <a:p>
                      <a:pPr algn="ctr" rtl="0" fontAlgn="ctr"/>
                      <a:r>
                        <a:rPr lang="fr-FR" sz="2000" b="1" i="0" u="none" strike="noStrike">
                          <a:solidFill>
                            <a:srgbClr val="000000"/>
                          </a:solidFill>
                          <a:effectLst/>
                          <a:latin typeface="Times New Roman" panose="02020603050405020304" pitchFamily="18" charset="0"/>
                        </a:rPr>
                        <a:t>PAO </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C9DAF8"/>
                    </a:solidFill>
                  </a:tcPr>
                </a:tc>
                <a:tc rowSpan="2">
                  <a:txBody>
                    <a:bodyPr/>
                    <a:lstStyle/>
                    <a:p>
                      <a:pPr algn="ctr" rtl="0" fontAlgn="ctr"/>
                      <a:r>
                        <a:rPr lang="fr-FR" sz="2000" b="1" i="0" u="none" strike="noStrike" dirty="0">
                          <a:solidFill>
                            <a:srgbClr val="000000"/>
                          </a:solidFill>
                          <a:effectLst/>
                          <a:latin typeface="Times New Roman" panose="02020603050405020304" pitchFamily="18" charset="0"/>
                        </a:rPr>
                        <a:t>Total</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1155CC"/>
                      </a:solidFill>
                      <a:prstDash val="solid"/>
                      <a:round/>
                      <a:headEnd type="none" w="med" len="med"/>
                      <a:tailEnd type="none" w="med" len="med"/>
                    </a:lnB>
                    <a:solidFill>
                      <a:srgbClr val="C9DAF8"/>
                    </a:solidFill>
                  </a:tcPr>
                </a:tc>
                <a:tc rowSpan="2">
                  <a:txBody>
                    <a:bodyPr/>
                    <a:lstStyle/>
                    <a:p>
                      <a:pPr algn="ctr" rtl="0" fontAlgn="ctr"/>
                      <a:r>
                        <a:rPr lang="fr-FR" sz="2000" b="1" i="0" u="none" strike="noStrike">
                          <a:solidFill>
                            <a:srgbClr val="000000"/>
                          </a:solidFill>
                          <a:effectLst/>
                          <a:latin typeface="Times New Roman" panose="02020603050405020304" pitchFamily="18" charset="0"/>
                        </a:rPr>
                        <a:t>%</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1155CC"/>
                      </a:solidFill>
                      <a:prstDash val="solid"/>
                      <a:round/>
                      <a:headEnd type="none" w="med" len="med"/>
                      <a:tailEnd type="none" w="med" len="med"/>
                    </a:lnB>
                    <a:solidFill>
                      <a:srgbClr val="C9DAF8"/>
                    </a:solidFill>
                  </a:tcPr>
                </a:tc>
                <a:tc rowSpan="2">
                  <a:txBody>
                    <a:bodyPr/>
                    <a:lstStyle/>
                    <a:p>
                      <a:pPr algn="ctr" rtl="0" fontAlgn="ctr"/>
                      <a:r>
                        <a:rPr lang="fr-FR" sz="2000" b="1" i="0" u="none" strike="noStrike">
                          <a:solidFill>
                            <a:srgbClr val="000000"/>
                          </a:solidFill>
                          <a:effectLst/>
                          <a:latin typeface="Times New Roman" panose="02020603050405020304" pitchFamily="18" charset="0"/>
                        </a:rPr>
                        <a:t>Total</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1155CC"/>
                      </a:solidFill>
                      <a:prstDash val="solid"/>
                      <a:round/>
                      <a:headEnd type="none" w="med" len="med"/>
                      <a:tailEnd type="none" w="med" len="med"/>
                    </a:lnB>
                    <a:solidFill>
                      <a:srgbClr val="C9DAF8"/>
                    </a:solidFill>
                  </a:tcPr>
                </a:tc>
                <a:tc rowSpan="2">
                  <a:txBody>
                    <a:bodyPr/>
                    <a:lstStyle/>
                    <a:p>
                      <a:pPr algn="ctr" rtl="0" fontAlgn="ctr"/>
                      <a:r>
                        <a:rPr lang="fr-FR" sz="2000" b="1" i="0" u="none" strike="noStrike">
                          <a:solidFill>
                            <a:srgbClr val="000000"/>
                          </a:solidFill>
                          <a:effectLst/>
                          <a:latin typeface="Times New Roman" panose="02020603050405020304" pitchFamily="18" charset="0"/>
                        </a:rPr>
                        <a:t>%</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1155CC"/>
                      </a:solidFill>
                      <a:prstDash val="solid"/>
                      <a:round/>
                      <a:headEnd type="none" w="med" len="med"/>
                      <a:tailEnd type="none" w="med" len="med"/>
                    </a:lnB>
                    <a:solidFill>
                      <a:srgbClr val="C9DAF8"/>
                    </a:solidFill>
                  </a:tcPr>
                </a:tc>
                <a:tc rowSpan="2">
                  <a:txBody>
                    <a:bodyPr/>
                    <a:lstStyle/>
                    <a:p>
                      <a:pPr algn="ctr" rtl="0" fontAlgn="ctr"/>
                      <a:r>
                        <a:rPr lang="fr-FR" sz="2000" b="1" i="0" u="none" strike="noStrike">
                          <a:solidFill>
                            <a:srgbClr val="000000"/>
                          </a:solidFill>
                          <a:effectLst/>
                          <a:latin typeface="Times New Roman" panose="02020603050405020304" pitchFamily="18" charset="0"/>
                        </a:rPr>
                        <a:t>Total</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1155CC"/>
                      </a:solidFill>
                      <a:prstDash val="solid"/>
                      <a:round/>
                      <a:headEnd type="none" w="med" len="med"/>
                      <a:tailEnd type="none" w="med" len="med"/>
                    </a:lnB>
                    <a:solidFill>
                      <a:srgbClr val="C9DAF8"/>
                    </a:solidFill>
                  </a:tcPr>
                </a:tc>
                <a:tc rowSpan="2">
                  <a:txBody>
                    <a:bodyPr/>
                    <a:lstStyle/>
                    <a:p>
                      <a:pPr algn="ctr" rtl="0" fontAlgn="ctr"/>
                      <a:r>
                        <a:rPr lang="fr-FR" sz="2000" b="1" i="0" u="none" strike="noStrike">
                          <a:solidFill>
                            <a:srgbClr val="000000"/>
                          </a:solidFill>
                          <a:effectLst/>
                          <a:latin typeface="Times New Roman" panose="02020603050405020304" pitchFamily="18" charset="0"/>
                        </a:rPr>
                        <a:t>%</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1155CC"/>
                      </a:solidFill>
                      <a:prstDash val="solid"/>
                      <a:round/>
                      <a:headEnd type="none" w="med" len="med"/>
                      <a:tailEnd type="none" w="med" len="med"/>
                    </a:lnB>
                    <a:solidFill>
                      <a:srgbClr val="C9DAF8"/>
                    </a:solidFill>
                  </a:tcPr>
                </a:tc>
                <a:extLst>
                  <a:ext uri="{0D108BD9-81ED-4DB2-BD59-A6C34878D82A}">
                    <a16:rowId xmlns:a16="http://schemas.microsoft.com/office/drawing/2014/main" val="2006574775"/>
                  </a:ext>
                </a:extLst>
              </a:tr>
              <a:tr h="295546">
                <a:tc vMerge="1">
                  <a:txBody>
                    <a:bodyPr/>
                    <a:lstStyle/>
                    <a:p>
                      <a:endParaRPr lang="fr-FR"/>
                    </a:p>
                  </a:txBody>
                  <a:tcPr/>
                </a:tc>
                <a:tc>
                  <a:txBody>
                    <a:bodyPr/>
                    <a:lstStyle/>
                    <a:p>
                      <a:pPr algn="ctr" rtl="0" fontAlgn="ctr"/>
                      <a:r>
                        <a:rPr lang="fr-FR" sz="2000" b="1" i="0" u="none" strike="noStrike" dirty="0">
                          <a:solidFill>
                            <a:srgbClr val="000000"/>
                          </a:solidFill>
                          <a:effectLst/>
                          <a:latin typeface="Times New Roman" panose="02020603050405020304" pitchFamily="18" charset="0"/>
                        </a:rPr>
                        <a:t>2025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1155CC"/>
                      </a:solidFill>
                      <a:prstDash val="solid"/>
                      <a:round/>
                      <a:headEnd type="none" w="med" len="med"/>
                      <a:tailEnd type="none" w="med" len="med"/>
                    </a:lnB>
                    <a:solidFill>
                      <a:srgbClr val="C9DAF8"/>
                    </a:solidFill>
                  </a:tcPr>
                </a:tc>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tc vMerge="1">
                  <a:txBody>
                    <a:bodyPr/>
                    <a:lstStyle/>
                    <a:p>
                      <a:endParaRPr lang="fr-FR"/>
                    </a:p>
                  </a:txBody>
                  <a:tcPr/>
                </a:tc>
                <a:extLst>
                  <a:ext uri="{0D108BD9-81ED-4DB2-BD59-A6C34878D82A}">
                    <a16:rowId xmlns:a16="http://schemas.microsoft.com/office/drawing/2014/main" val="3126404118"/>
                  </a:ext>
                </a:extLst>
              </a:tr>
              <a:tr h="295546">
                <a:tc>
                  <a:txBody>
                    <a:bodyPr/>
                    <a:lstStyle/>
                    <a:p>
                      <a:pPr algn="l" rtl="0" fontAlgn="ctr"/>
                      <a:r>
                        <a:rPr lang="fr-FR" sz="2000" b="1" i="0" u="none" strike="noStrike" dirty="0">
                          <a:solidFill>
                            <a:srgbClr val="000000"/>
                          </a:solidFill>
                          <a:effectLst/>
                          <a:latin typeface="Times New Roman" panose="02020603050405020304" pitchFamily="18" charset="0"/>
                        </a:rPr>
                        <a:t>Qualité des données</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1155CC"/>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FEFEF"/>
                    </a:solidFill>
                  </a:tcPr>
                </a:tc>
                <a:tc>
                  <a:txBody>
                    <a:bodyPr/>
                    <a:lstStyle/>
                    <a:p>
                      <a:pPr algn="ctr" rtl="0" fontAlgn="ctr"/>
                      <a:r>
                        <a:rPr lang="fr-FR" sz="2000" b="0" i="0" u="none" strike="noStrike">
                          <a:solidFill>
                            <a:srgbClr val="000000"/>
                          </a:solidFill>
                          <a:effectLst/>
                          <a:latin typeface="Times New Roman" panose="02020603050405020304" pitchFamily="18" charset="0"/>
                        </a:rPr>
                        <a:t>17</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1155CC"/>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r>
                        <a:rPr lang="fr-FR" sz="2000" b="0" i="0" u="none" strike="noStrike">
                          <a:solidFill>
                            <a:srgbClr val="000000"/>
                          </a:solidFill>
                          <a:effectLst/>
                          <a:latin typeface="Times New Roman" panose="02020603050405020304" pitchFamily="18" charset="0"/>
                        </a:rPr>
                        <a:t>10</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1155CC"/>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r>
                        <a:rPr lang="fr-FR" sz="2000" b="1" i="0" u="none" strike="noStrike">
                          <a:solidFill>
                            <a:srgbClr val="000000"/>
                          </a:solidFill>
                          <a:effectLst/>
                          <a:latin typeface="Times New Roman" panose="02020603050405020304" pitchFamily="18" charset="0"/>
                        </a:rPr>
                        <a:t>59%</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1155CC"/>
                      </a:solidFill>
                      <a:prstDash val="solid"/>
                      <a:round/>
                      <a:headEnd type="none" w="med" len="med"/>
                      <a:tailEnd type="none" w="med" len="med"/>
                    </a:lnT>
                    <a:lnB w="12700" cap="flat" cmpd="sng" algn="ctr">
                      <a:solidFill>
                        <a:srgbClr val="1155CC"/>
                      </a:solidFill>
                      <a:prstDash val="solid"/>
                      <a:round/>
                      <a:headEnd type="none" w="med" len="med"/>
                      <a:tailEnd type="none" w="med" len="med"/>
                    </a:lnB>
                    <a:solidFill>
                      <a:srgbClr val="93C47D"/>
                    </a:solidFill>
                  </a:tcPr>
                </a:tc>
                <a:tc>
                  <a:txBody>
                    <a:bodyPr/>
                    <a:lstStyle/>
                    <a:p>
                      <a:pPr algn="ctr" rtl="0" fontAlgn="ctr"/>
                      <a:r>
                        <a:rPr lang="fr-FR" sz="2000" b="0" i="0" u="none" strike="noStrike">
                          <a:solidFill>
                            <a:srgbClr val="000000"/>
                          </a:solidFill>
                          <a:effectLst/>
                          <a:latin typeface="Times New Roman" panose="02020603050405020304" pitchFamily="18" charset="0"/>
                        </a:rPr>
                        <a:t>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1155CC"/>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r>
                        <a:rPr lang="fr-FR" sz="2000" b="1" i="0" u="none" strike="noStrike">
                          <a:solidFill>
                            <a:srgbClr val="000000"/>
                          </a:solidFill>
                          <a:effectLst/>
                          <a:latin typeface="Times New Roman" panose="02020603050405020304" pitchFamily="18" charset="0"/>
                        </a:rPr>
                        <a:t>29%</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1155CC"/>
                      </a:solidFill>
                      <a:prstDash val="solid"/>
                      <a:round/>
                      <a:headEnd type="none" w="med" len="med"/>
                      <a:tailEnd type="none" w="med" len="med"/>
                    </a:lnT>
                    <a:lnB w="12700" cap="flat" cmpd="sng" algn="ctr">
                      <a:solidFill>
                        <a:srgbClr val="1155CC"/>
                      </a:solidFill>
                      <a:prstDash val="solid"/>
                      <a:round/>
                      <a:headEnd type="none" w="med" len="med"/>
                      <a:tailEnd type="none" w="med" len="med"/>
                    </a:lnB>
                    <a:solidFill>
                      <a:srgbClr val="FFD966"/>
                    </a:solidFill>
                  </a:tcPr>
                </a:tc>
                <a:tc>
                  <a:txBody>
                    <a:bodyPr/>
                    <a:lstStyle/>
                    <a:p>
                      <a:pPr algn="ctr" rtl="0" fontAlgn="ctr"/>
                      <a:r>
                        <a:rPr lang="fr-FR" sz="2000" b="0" i="0" u="none" strike="noStrike">
                          <a:solidFill>
                            <a:srgbClr val="000000"/>
                          </a:solidFill>
                          <a:effectLst/>
                          <a:latin typeface="Times New Roman" panose="02020603050405020304" pitchFamily="18" charset="0"/>
                        </a:rPr>
                        <a:t>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1155CC"/>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0" fontAlgn="ctr"/>
                      <a:r>
                        <a:rPr lang="fr-FR" sz="2000" b="1" i="0" u="none" strike="noStrike" dirty="0">
                          <a:solidFill>
                            <a:srgbClr val="000000"/>
                          </a:solidFill>
                          <a:effectLst/>
                          <a:latin typeface="Times New Roman" panose="02020603050405020304" pitchFamily="18" charset="0"/>
                        </a:rPr>
                        <a:t>12%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1155CC"/>
                      </a:solidFill>
                      <a:prstDash val="solid"/>
                      <a:round/>
                      <a:headEnd type="none" w="med" len="med"/>
                      <a:tailEnd type="none" w="med" len="med"/>
                    </a:lnT>
                    <a:lnB w="12700" cap="flat" cmpd="sng" algn="ctr">
                      <a:solidFill>
                        <a:srgbClr val="1155CC"/>
                      </a:solidFill>
                      <a:prstDash val="solid"/>
                      <a:round/>
                      <a:headEnd type="none" w="med" len="med"/>
                      <a:tailEnd type="none" w="med" len="med"/>
                    </a:lnB>
                    <a:solidFill>
                      <a:srgbClr val="E06666"/>
                    </a:solidFill>
                  </a:tcPr>
                </a:tc>
                <a:extLst>
                  <a:ext uri="{0D108BD9-81ED-4DB2-BD59-A6C34878D82A}">
                    <a16:rowId xmlns:a16="http://schemas.microsoft.com/office/drawing/2014/main" val="1236391854"/>
                  </a:ext>
                </a:extLst>
              </a:tr>
            </a:tbl>
          </a:graphicData>
        </a:graphic>
      </p:graphicFrame>
    </p:spTree>
    <p:extLst>
      <p:ext uri="{BB962C8B-B14F-4D97-AF65-F5344CB8AC3E}">
        <p14:creationId xmlns:p14="http://schemas.microsoft.com/office/powerpoint/2010/main" val="81778112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41516" y="-1"/>
            <a:ext cx="11887200" cy="653143"/>
          </a:xfrm>
        </p:spPr>
        <p:txBody>
          <a:bodyPr>
            <a:noAutofit/>
          </a:bodyPr>
          <a:lstStyle/>
          <a:p>
            <a:r>
              <a:rPr lang="fr-FR" sz="2800" dirty="0">
                <a:solidFill>
                  <a:srgbClr val="2205CD"/>
                </a:solidFill>
              </a:rPr>
              <a:t>Evaluation activités 2025 de la Qualité des Données (1/3) </a:t>
            </a:r>
          </a:p>
        </p:txBody>
      </p:sp>
      <p:pic>
        <p:nvPicPr>
          <p:cNvPr id="7" name="Image 6"/>
          <p:cNvPicPr>
            <a:picLocks noChangeAspect="1"/>
          </p:cNvPicPr>
          <p:nvPr/>
        </p:nvPicPr>
        <p:blipFill>
          <a:blip r:embed="rId2"/>
          <a:stretch>
            <a:fillRect/>
          </a:stretch>
        </p:blipFill>
        <p:spPr>
          <a:xfrm>
            <a:off x="141515" y="653143"/>
            <a:ext cx="11887200" cy="6128657"/>
          </a:xfrm>
          <a:prstGeom prst="rect">
            <a:avLst/>
          </a:prstGeom>
        </p:spPr>
      </p:pic>
    </p:spTree>
    <p:extLst>
      <p:ext uri="{BB962C8B-B14F-4D97-AF65-F5344CB8AC3E}">
        <p14:creationId xmlns:p14="http://schemas.microsoft.com/office/powerpoint/2010/main" val="427116947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41514" y="81736"/>
            <a:ext cx="11887200" cy="527863"/>
          </a:xfrm>
        </p:spPr>
        <p:txBody>
          <a:bodyPr>
            <a:noAutofit/>
          </a:bodyPr>
          <a:lstStyle/>
          <a:p>
            <a:r>
              <a:rPr lang="fr-FR" sz="2800" dirty="0">
                <a:solidFill>
                  <a:srgbClr val="2205CD"/>
                </a:solidFill>
              </a:rPr>
              <a:t>Evaluation activités 2025 de la Qualité des Données (2/3)</a:t>
            </a:r>
          </a:p>
        </p:txBody>
      </p:sp>
      <p:pic>
        <p:nvPicPr>
          <p:cNvPr id="4" name="Image 3"/>
          <p:cNvPicPr>
            <a:picLocks noChangeAspect="1"/>
          </p:cNvPicPr>
          <p:nvPr/>
        </p:nvPicPr>
        <p:blipFill>
          <a:blip r:embed="rId2"/>
          <a:stretch>
            <a:fillRect/>
          </a:stretch>
        </p:blipFill>
        <p:spPr>
          <a:xfrm>
            <a:off x="141514" y="707571"/>
            <a:ext cx="11887200" cy="5954486"/>
          </a:xfrm>
          <a:prstGeom prst="rect">
            <a:avLst/>
          </a:prstGeom>
        </p:spPr>
      </p:pic>
    </p:spTree>
    <p:extLst>
      <p:ext uri="{BB962C8B-B14F-4D97-AF65-F5344CB8AC3E}">
        <p14:creationId xmlns:p14="http://schemas.microsoft.com/office/powerpoint/2010/main" val="297403272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41514" y="103508"/>
            <a:ext cx="11887200" cy="440778"/>
          </a:xfrm>
        </p:spPr>
        <p:txBody>
          <a:bodyPr>
            <a:normAutofit fontScale="90000"/>
          </a:bodyPr>
          <a:lstStyle/>
          <a:p>
            <a:r>
              <a:rPr lang="fr-FR" dirty="0">
                <a:solidFill>
                  <a:srgbClr val="2205CD"/>
                </a:solidFill>
              </a:rPr>
              <a:t>Evaluation activités 2025 de la Qualité des Données (3/3)</a:t>
            </a:r>
          </a:p>
        </p:txBody>
      </p:sp>
      <p:pic>
        <p:nvPicPr>
          <p:cNvPr id="4" name="Image 3"/>
          <p:cNvPicPr>
            <a:picLocks noChangeAspect="1"/>
          </p:cNvPicPr>
          <p:nvPr/>
        </p:nvPicPr>
        <p:blipFill>
          <a:blip r:embed="rId2"/>
          <a:stretch>
            <a:fillRect/>
          </a:stretch>
        </p:blipFill>
        <p:spPr>
          <a:xfrm>
            <a:off x="141514" y="892629"/>
            <a:ext cx="11756572" cy="5769428"/>
          </a:xfrm>
          <a:prstGeom prst="rect">
            <a:avLst/>
          </a:prstGeom>
        </p:spPr>
      </p:pic>
    </p:spTree>
    <p:extLst>
      <p:ext uri="{BB962C8B-B14F-4D97-AF65-F5344CB8AC3E}">
        <p14:creationId xmlns:p14="http://schemas.microsoft.com/office/powerpoint/2010/main" val="211252311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152650" y="365126"/>
            <a:ext cx="7886700" cy="471587"/>
          </a:xfrm>
          <a:solidFill>
            <a:srgbClr val="0070C0"/>
          </a:solidFill>
          <a:ln w="9525" cap="flat">
            <a:solidFill>
              <a:schemeClr val="accent1"/>
            </a:solidFill>
            <a:miter lim="800000"/>
            <a:headEnd/>
            <a:tailEnd/>
          </a:ln>
          <a:effectLst>
            <a:outerShdw blurRad="63500" dist="20000" dir="5400000" rotWithShape="0">
              <a:srgbClr val="000000">
                <a:alpha val="37999"/>
              </a:srgbClr>
            </a:outerShdw>
          </a:effectLst>
        </p:spPr>
        <p:txBody>
          <a:bodyPr vert="horz" wrap="square" lIns="91440" tIns="45720" rIns="91440" bIns="45720" numCol="1" rtlCol="0" anchor="ctr" anchorCtr="0" compatLnSpc="1">
            <a:prstTxWarp prst="textNoShape">
              <a:avLst/>
            </a:prstTxWarp>
            <a:noAutofit/>
          </a:bodyPr>
          <a:lstStyle/>
          <a:p>
            <a:pPr algn="ctr"/>
            <a:br>
              <a:rPr lang="fr-FR" altLang="fr-FR" sz="4000" b="1" dirty="0">
                <a:solidFill>
                  <a:schemeClr val="bg1"/>
                </a:solidFill>
                <a:effectLst>
                  <a:outerShdw blurRad="38100" dist="38100" dir="2700000" algn="tl">
                    <a:srgbClr val="000000">
                      <a:alpha val="43137"/>
                    </a:srgbClr>
                  </a:outerShdw>
                </a:effectLst>
                <a:ea typeface="ＭＳ Ｐゴシック" pitchFamily="34" charset="-128"/>
              </a:rPr>
            </a:br>
            <a:r>
              <a:rPr lang="fr-FR" altLang="fr-FR" sz="4000" b="1" dirty="0">
                <a:solidFill>
                  <a:schemeClr val="bg1"/>
                </a:solidFill>
                <a:effectLst>
                  <a:outerShdw blurRad="38100" dist="38100" dir="2700000" algn="tl">
                    <a:srgbClr val="000000">
                      <a:alpha val="43137"/>
                    </a:srgbClr>
                  </a:outerShdw>
                </a:effectLst>
                <a:ea typeface="ＭＳ Ｐゴシック" pitchFamily="34" charset="-128"/>
              </a:rPr>
              <a:t>Résultats obtenus</a:t>
            </a:r>
            <a:br>
              <a:rPr lang="fr-FR" altLang="fr-FR" sz="4000" b="1" dirty="0">
                <a:solidFill>
                  <a:schemeClr val="bg1"/>
                </a:solidFill>
                <a:effectLst>
                  <a:outerShdw blurRad="38100" dist="38100" dir="2700000" algn="tl">
                    <a:srgbClr val="000000">
                      <a:alpha val="43137"/>
                    </a:srgbClr>
                  </a:outerShdw>
                </a:effectLst>
                <a:ea typeface="ＭＳ Ｐゴシック" pitchFamily="34" charset="-128"/>
              </a:rPr>
            </a:br>
            <a:endParaRPr lang="fr-FR" sz="4000" b="1" dirty="0">
              <a:solidFill>
                <a:schemeClr val="bg1"/>
              </a:solidFill>
              <a:effectLst>
                <a:outerShdw blurRad="38100" dist="38100" dir="2700000" algn="tl">
                  <a:srgbClr val="000000">
                    <a:alpha val="43137"/>
                  </a:srgbClr>
                </a:outerShdw>
              </a:effectLst>
              <a:ea typeface="ＭＳ Ｐゴシック" pitchFamily="34" charset="-128"/>
            </a:endParaRPr>
          </a:p>
        </p:txBody>
      </p:sp>
      <p:sp>
        <p:nvSpPr>
          <p:cNvPr id="3" name="Espace réservé du contenu 2"/>
          <p:cNvSpPr>
            <a:spLocks noGrp="1"/>
          </p:cNvSpPr>
          <p:nvPr>
            <p:ph idx="1"/>
          </p:nvPr>
        </p:nvSpPr>
        <p:spPr>
          <a:xfrm>
            <a:off x="475488" y="1170432"/>
            <a:ext cx="11210544" cy="5354912"/>
          </a:xfrm>
        </p:spPr>
        <p:txBody>
          <a:bodyPr>
            <a:normAutofit/>
          </a:bodyPr>
          <a:lstStyle/>
          <a:p>
            <a:endParaRPr lang="fr-FR" dirty="0"/>
          </a:p>
          <a:p>
            <a:pPr algn="just"/>
            <a:r>
              <a:rPr lang="fr-FR" sz="2800" dirty="0"/>
              <a:t>JRF 2025 élaborés et partagés</a:t>
            </a:r>
          </a:p>
          <a:p>
            <a:pPr algn="just"/>
            <a:r>
              <a:rPr lang="fr-FR" sz="2800" dirty="0"/>
              <a:t>Réalisation des estimations des couvertures vaccinales du niveau provincial (WUESNIC 2025)</a:t>
            </a:r>
          </a:p>
          <a:p>
            <a:endParaRPr lang="fr-FR" dirty="0"/>
          </a:p>
          <a:p>
            <a:pPr marL="0" indent="0">
              <a:buNone/>
            </a:pPr>
            <a:endParaRPr lang="fr-FR" dirty="0"/>
          </a:p>
        </p:txBody>
      </p:sp>
    </p:spTree>
    <p:extLst>
      <p:ext uri="{BB962C8B-B14F-4D97-AF65-F5344CB8AC3E}">
        <p14:creationId xmlns:p14="http://schemas.microsoft.com/office/powerpoint/2010/main" val="228425939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81000" y="247824"/>
            <a:ext cx="11595100" cy="864096"/>
          </a:xfrm>
          <a:solidFill>
            <a:srgbClr val="0070C0"/>
          </a:solidFill>
          <a:ln w="9525" cap="flat" cmpd="sng">
            <a:solidFill>
              <a:schemeClr val="accent1"/>
            </a:solidFill>
            <a:prstDash val="solid"/>
            <a:round/>
            <a:headEnd type="none" w="sm" len="sm"/>
            <a:tailEnd type="none" w="sm" len="sm"/>
          </a:ln>
          <a:effectLst>
            <a:outerShdw blurRad="63500" dist="20000" dir="5400000" rotWithShape="0">
              <a:srgbClr val="000000">
                <a:alpha val="37647"/>
              </a:srgbClr>
            </a:outerShdw>
          </a:effectLst>
        </p:spPr>
        <p:txBody>
          <a:bodyPr spcFirstLastPara="1" wrap="square" lIns="91425" tIns="45700" rIns="91425" bIns="45700" anchor="ctr" anchorCtr="0">
            <a:noAutofit/>
          </a:bodyPr>
          <a:lstStyle/>
          <a:p>
            <a:pPr>
              <a:buClr>
                <a:schemeClr val="lt1"/>
              </a:buClr>
              <a:buSzPts val="3200"/>
            </a:pPr>
            <a:r>
              <a:rPr lang="en-US" sz="2800" b="1" dirty="0">
                <a:solidFill>
                  <a:schemeClr val="lt1"/>
                </a:solidFill>
                <a:latin typeface="Lato"/>
                <a:ea typeface="Lato"/>
                <a:cs typeface="Lato"/>
                <a:sym typeface="Arial"/>
              </a:rPr>
              <a:t>Evolution du </a:t>
            </a:r>
            <a:r>
              <a:rPr lang="en-US" sz="2400" b="1" dirty="0" err="1">
                <a:solidFill>
                  <a:schemeClr val="lt1"/>
                </a:solidFill>
                <a:latin typeface="Lato"/>
                <a:ea typeface="Lato"/>
                <a:cs typeface="Lato"/>
                <a:sym typeface="Arial"/>
              </a:rPr>
              <a:t>nombre</a:t>
            </a:r>
            <a:r>
              <a:rPr lang="en-US" sz="2800" b="1" dirty="0">
                <a:solidFill>
                  <a:schemeClr val="lt1"/>
                </a:solidFill>
                <a:latin typeface="Lato"/>
                <a:ea typeface="Lato"/>
                <a:cs typeface="Lato"/>
                <a:sym typeface="Arial"/>
              </a:rPr>
              <a:t> de  ZS avec CV DTC3 &gt; 100%, 2020-2025</a:t>
            </a:r>
            <a:br>
              <a:rPr lang="en-US" sz="2800" b="1" dirty="0">
                <a:solidFill>
                  <a:schemeClr val="lt1"/>
                </a:solidFill>
                <a:latin typeface="Lato"/>
                <a:ea typeface="Lato"/>
                <a:cs typeface="Lato"/>
                <a:sym typeface="Arial"/>
              </a:rPr>
            </a:br>
            <a:r>
              <a:rPr lang="en-US" sz="2800" b="1" dirty="0">
                <a:solidFill>
                  <a:schemeClr val="lt1"/>
                </a:solidFill>
                <a:latin typeface="Lato"/>
                <a:ea typeface="Lato"/>
                <a:cs typeface="Lato"/>
                <a:sym typeface="Arial"/>
              </a:rPr>
              <a:t>(</a:t>
            </a:r>
            <a:r>
              <a:rPr lang="en-US" sz="2800" b="1" dirty="0" err="1">
                <a:solidFill>
                  <a:schemeClr val="lt1"/>
                </a:solidFill>
                <a:latin typeface="Lato"/>
                <a:ea typeface="Lato"/>
                <a:cs typeface="Lato"/>
                <a:sym typeface="Arial"/>
              </a:rPr>
              <a:t>Dénominateur</a:t>
            </a:r>
            <a:r>
              <a:rPr lang="en-US" sz="2800" b="1" dirty="0">
                <a:solidFill>
                  <a:schemeClr val="lt1"/>
                </a:solidFill>
                <a:latin typeface="Lato"/>
                <a:ea typeface="Lato"/>
                <a:cs typeface="Lato"/>
                <a:sym typeface="Arial"/>
              </a:rPr>
              <a:t> Administrative) </a:t>
            </a:r>
            <a:r>
              <a:rPr lang="en-US" sz="2800" b="1" dirty="0">
                <a:solidFill>
                  <a:srgbClr val="FF0000"/>
                </a:solidFill>
                <a:latin typeface="Lato"/>
                <a:ea typeface="Lato"/>
                <a:cs typeface="Lato"/>
                <a:sym typeface="Arial"/>
              </a:rPr>
              <a:t>Si on </a:t>
            </a:r>
            <a:r>
              <a:rPr lang="en-US" sz="2800" b="1" dirty="0" err="1">
                <a:solidFill>
                  <a:srgbClr val="FF0000"/>
                </a:solidFill>
                <a:latin typeface="Lato"/>
                <a:ea typeface="Lato"/>
                <a:cs typeface="Lato"/>
                <a:sym typeface="Arial"/>
              </a:rPr>
              <a:t>peut</a:t>
            </a:r>
            <a:r>
              <a:rPr lang="en-US" sz="2800" b="1" dirty="0">
                <a:solidFill>
                  <a:srgbClr val="FF0000"/>
                </a:solidFill>
                <a:latin typeface="Lato"/>
                <a:ea typeface="Lato"/>
                <a:cs typeface="Lato"/>
                <a:sym typeface="Arial"/>
              </a:rPr>
              <a:t> comparer avec la population </a:t>
            </a:r>
            <a:r>
              <a:rPr lang="en-US" sz="2800" b="1" dirty="0" err="1">
                <a:solidFill>
                  <a:srgbClr val="FF0000"/>
                </a:solidFill>
                <a:latin typeface="Lato"/>
                <a:ea typeface="Lato"/>
                <a:cs typeface="Lato"/>
                <a:sym typeface="Arial"/>
              </a:rPr>
              <a:t>ajuster</a:t>
            </a:r>
            <a:endParaRPr lang="en-US" sz="2800" b="1" dirty="0">
              <a:solidFill>
                <a:srgbClr val="FF0000"/>
              </a:solidFill>
              <a:latin typeface="Lato"/>
              <a:ea typeface="Lato"/>
              <a:cs typeface="Lato"/>
              <a:sym typeface="Arial"/>
            </a:endParaRPr>
          </a:p>
        </p:txBody>
      </p:sp>
      <p:sp>
        <p:nvSpPr>
          <p:cNvPr id="5" name="ZoneTexte 4"/>
          <p:cNvSpPr txBox="1"/>
          <p:nvPr/>
        </p:nvSpPr>
        <p:spPr>
          <a:xfrm>
            <a:off x="6384032" y="6370433"/>
            <a:ext cx="5088565" cy="307777"/>
          </a:xfrm>
          <a:prstGeom prst="rect">
            <a:avLst/>
          </a:prstGeom>
          <a:noFill/>
        </p:spPr>
        <p:txBody>
          <a:bodyPr wrap="square" rtlCol="0">
            <a:spAutoFit/>
          </a:bodyPr>
          <a:lstStyle/>
          <a:p>
            <a:r>
              <a:rPr lang="fr-FR" sz="1400" b="1" dirty="0"/>
              <a:t>Source</a:t>
            </a:r>
            <a:r>
              <a:rPr lang="fr-FR" sz="1400" dirty="0"/>
              <a:t> DHIS2 2020-2025</a:t>
            </a:r>
          </a:p>
        </p:txBody>
      </p:sp>
      <p:graphicFrame>
        <p:nvGraphicFramePr>
          <p:cNvPr id="6" name="Graphique 5"/>
          <p:cNvGraphicFramePr>
            <a:graphicFrameLocks noGrp="1"/>
          </p:cNvGraphicFramePr>
          <p:nvPr/>
        </p:nvGraphicFramePr>
        <p:xfrm>
          <a:off x="613955" y="1567543"/>
          <a:ext cx="10620102" cy="461118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71583617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93700" y="142880"/>
            <a:ext cx="11569700" cy="765843"/>
          </a:xfrm>
          <a:solidFill>
            <a:srgbClr val="0070C0"/>
          </a:solidFill>
          <a:ln w="9525" cap="flat" cmpd="sng">
            <a:solidFill>
              <a:schemeClr val="accent1"/>
            </a:solidFill>
            <a:prstDash val="solid"/>
            <a:round/>
            <a:headEnd type="none" w="sm" len="sm"/>
            <a:tailEnd type="none" w="sm" len="sm"/>
          </a:ln>
          <a:effectLst>
            <a:outerShdw blurRad="63500" dist="20000" dir="5400000" rotWithShape="0">
              <a:srgbClr val="000000">
                <a:alpha val="37647"/>
              </a:srgbClr>
            </a:outerShdw>
          </a:effectLst>
        </p:spPr>
        <p:txBody>
          <a:bodyPr spcFirstLastPara="1" wrap="square" lIns="91425" tIns="45700" rIns="91425" bIns="45700" anchor="ctr" anchorCtr="0">
            <a:noAutofit/>
          </a:bodyPr>
          <a:lstStyle/>
          <a:p>
            <a:pPr>
              <a:buClr>
                <a:schemeClr val="lt1"/>
              </a:buClr>
              <a:buSzPts val="3200"/>
            </a:pPr>
            <a:r>
              <a:rPr lang="fr-FR" altLang="fr-FR" sz="2000" b="1" dirty="0">
                <a:solidFill>
                  <a:schemeClr val="lt1"/>
                </a:solidFill>
                <a:latin typeface="Lato"/>
                <a:ea typeface="Lato"/>
                <a:cs typeface="Lato"/>
                <a:sym typeface="Arial"/>
              </a:rPr>
              <a:t>Evolution du nombre de ZS avec Taux d’abandon DTC1/DTC3 négatif de 2020 – 2025</a:t>
            </a:r>
            <a:r>
              <a:rPr lang="fr-FR" altLang="fr-FR" sz="1800" b="1" dirty="0">
                <a:solidFill>
                  <a:schemeClr val="lt1"/>
                </a:solidFill>
                <a:latin typeface="Lato"/>
                <a:ea typeface="Lato"/>
                <a:cs typeface="Lato"/>
                <a:sym typeface="Arial"/>
              </a:rPr>
              <a:t>, </a:t>
            </a:r>
            <a:br>
              <a:rPr lang="fr-FR" altLang="fr-FR" sz="1800" b="1" dirty="0">
                <a:solidFill>
                  <a:schemeClr val="lt1"/>
                </a:solidFill>
                <a:latin typeface="Lato"/>
                <a:ea typeface="Lato"/>
                <a:cs typeface="Lato"/>
                <a:sym typeface="Arial"/>
              </a:rPr>
            </a:br>
            <a:r>
              <a:rPr lang="fr-FR" altLang="fr-FR" sz="1800" b="1" dirty="0">
                <a:solidFill>
                  <a:schemeClr val="lt1"/>
                </a:solidFill>
                <a:latin typeface="Lato"/>
                <a:ea typeface="Lato"/>
                <a:cs typeface="Lato"/>
                <a:sym typeface="Arial"/>
              </a:rPr>
              <a:t>Janvier- Octobre 2025 </a:t>
            </a:r>
            <a:r>
              <a:rPr lang="fr-FR" altLang="fr-FR" sz="1800" b="1" dirty="0">
                <a:solidFill>
                  <a:srgbClr val="FF0000"/>
                </a:solidFill>
                <a:latin typeface="Lato"/>
                <a:ea typeface="Lato"/>
                <a:cs typeface="Lato"/>
                <a:sym typeface="Arial"/>
              </a:rPr>
              <a:t>Ajouter les 18 ZS à coté</a:t>
            </a:r>
          </a:p>
        </p:txBody>
      </p:sp>
      <p:sp>
        <p:nvSpPr>
          <p:cNvPr id="5" name="ZoneTexte 4"/>
          <p:cNvSpPr txBox="1"/>
          <p:nvPr/>
        </p:nvSpPr>
        <p:spPr>
          <a:xfrm>
            <a:off x="6740769" y="6334780"/>
            <a:ext cx="5070231" cy="369332"/>
          </a:xfrm>
          <a:prstGeom prst="rect">
            <a:avLst/>
          </a:prstGeom>
          <a:noFill/>
        </p:spPr>
        <p:txBody>
          <a:bodyPr wrap="square" rtlCol="0">
            <a:spAutoFit/>
          </a:bodyPr>
          <a:lstStyle/>
          <a:p>
            <a:r>
              <a:rPr lang="fr-FR" b="1" dirty="0"/>
              <a:t>Source : </a:t>
            </a:r>
            <a:r>
              <a:rPr lang="fr-FR" dirty="0"/>
              <a:t> DHIS2 2020-2025</a:t>
            </a:r>
          </a:p>
        </p:txBody>
      </p:sp>
      <p:graphicFrame>
        <p:nvGraphicFramePr>
          <p:cNvPr id="6" name="Graphique 5"/>
          <p:cNvGraphicFramePr>
            <a:graphicFrameLocks noGrp="1"/>
          </p:cNvGraphicFramePr>
          <p:nvPr/>
        </p:nvGraphicFramePr>
        <p:xfrm>
          <a:off x="561703" y="1227909"/>
          <a:ext cx="11025051" cy="471569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92942213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1">
            <a:extLst>
              <a:ext uri="{FF2B5EF4-FFF2-40B4-BE49-F238E27FC236}">
                <a16:creationId xmlns:a16="http://schemas.microsoft.com/office/drawing/2014/main" id="{EAD598ED-991A-463B-FC5B-B5EFA8C8F508}"/>
              </a:ext>
            </a:extLst>
          </p:cNvPr>
          <p:cNvSpPr txBox="1">
            <a:spLocks/>
          </p:cNvSpPr>
          <p:nvPr/>
        </p:nvSpPr>
        <p:spPr>
          <a:xfrm>
            <a:off x="254000" y="46892"/>
            <a:ext cx="11836400" cy="1041679"/>
          </a:xfrm>
          <a:prstGeom prst="rect">
            <a:avLst/>
          </a:prstGeom>
          <a:solidFill>
            <a:srgbClr val="0070C0"/>
          </a:solidFill>
          <a:ln w="9525" cap="flat" cmpd="sng">
            <a:solidFill>
              <a:schemeClr val="accent1"/>
            </a:solidFill>
            <a:prstDash val="solid"/>
            <a:round/>
            <a:headEnd type="none" w="sm" len="sm"/>
            <a:tailEnd type="none" w="sm" len="sm"/>
          </a:ln>
          <a:effectLst>
            <a:outerShdw blurRad="63500" dist="20000" dir="5400000" rotWithShape="0">
              <a:srgbClr val="000000">
                <a:alpha val="37647"/>
              </a:srgbClr>
            </a:outerShdw>
          </a:effectLst>
        </p:spPr>
        <p:txBody>
          <a:bodyPr spcFirstLastPara="1" wrap="square" lIns="91425" tIns="45700" rIns="91425" bIns="45700" anchor="ctr" anchorCtr="0">
            <a:noAutofit/>
          </a:bodyPr>
          <a:lstStyle>
            <a:defPPr marR="0" lvl="0" algn="l" rtl="0">
              <a:lnSpc>
                <a:spcPct val="100000"/>
              </a:lnSpc>
              <a:spcBef>
                <a:spcPts val="0"/>
              </a:spcBef>
              <a:spcAft>
                <a:spcPts val="0"/>
              </a:spcAft>
              <a:defRPr/>
            </a:defPPr>
            <a:lvl1pPr marL="0" indent="0">
              <a:lnSpc>
                <a:spcPct val="90000"/>
              </a:lnSpc>
              <a:buClr>
                <a:schemeClr val="lt1"/>
              </a:buClr>
              <a:buSzPts val="3200"/>
              <a:buFont typeface="Arimo"/>
              <a:buNone/>
              <a:defRPr sz="4000" b="1">
                <a:solidFill>
                  <a:schemeClr val="lt1"/>
                </a:solidFill>
                <a:latin typeface="Lato"/>
                <a:ea typeface="Lato"/>
                <a:cs typeface="Lato"/>
              </a:defRPr>
            </a:lvl1pPr>
            <a:lvl2pPr>
              <a:buSzPts val="1400"/>
              <a:buNone/>
              <a:defRPr sz="1800"/>
            </a:lvl2pPr>
            <a:lvl3pPr>
              <a:buSzPts val="1400"/>
              <a:buNone/>
              <a:defRPr sz="1800"/>
            </a:lvl3pPr>
            <a:lvl4pPr>
              <a:buSzPts val="1400"/>
              <a:buNone/>
              <a:defRPr sz="1800"/>
            </a:lvl4pPr>
            <a:lvl5pPr>
              <a:buSzPts val="1400"/>
              <a:buNone/>
              <a:defRPr sz="1800"/>
            </a:lvl5pPr>
            <a:lvl6pPr>
              <a:buSzPts val="1400"/>
              <a:buNone/>
              <a:defRPr sz="1800"/>
            </a:lvl6pPr>
            <a:lvl7pPr>
              <a:buSzPts val="1400"/>
              <a:buNone/>
              <a:defRPr sz="1800"/>
            </a:lvl7pPr>
            <a:lvl8pPr>
              <a:buSzPts val="1400"/>
              <a:buNone/>
              <a:defRPr sz="1800"/>
            </a:lvl8pPr>
            <a:lvl9pPr>
              <a:buSzPts val="1400"/>
              <a:buNone/>
              <a:defRPr sz="1800"/>
            </a:lvl9pPr>
          </a:lstStyle>
          <a:p>
            <a:r>
              <a:rPr lang="fr-FR" sz="2000" dirty="0"/>
              <a:t>Incohérences: VPO,Penta,PCV2 &gt; VPO,Penta,PCV1 et VPO,Penta,PCV3 &gt; VPO,Penta,PCV2</a:t>
            </a:r>
            <a:br>
              <a:rPr lang="fr-FR" sz="2000" dirty="0"/>
            </a:br>
            <a:r>
              <a:rPr lang="fr-FR" sz="2000" dirty="0"/>
              <a:t>RDC, Janvier- Octobre 2025 </a:t>
            </a:r>
            <a:r>
              <a:rPr lang="fr-FR" sz="2000" dirty="0">
                <a:solidFill>
                  <a:srgbClr val="FF0000"/>
                </a:solidFill>
              </a:rPr>
              <a:t>Ajouter les couleurs dans les provinces où il y a eu beaucoup de problèmes</a:t>
            </a:r>
          </a:p>
        </p:txBody>
      </p:sp>
      <p:graphicFrame>
        <p:nvGraphicFramePr>
          <p:cNvPr id="2" name="Tableau 1"/>
          <p:cNvGraphicFramePr>
            <a:graphicFrameLocks noGrp="1"/>
          </p:cNvGraphicFramePr>
          <p:nvPr/>
        </p:nvGraphicFramePr>
        <p:xfrm>
          <a:off x="470263" y="1240986"/>
          <a:ext cx="11129553" cy="5213580"/>
        </p:xfrm>
        <a:graphic>
          <a:graphicData uri="http://schemas.openxmlformats.org/drawingml/2006/table">
            <a:tbl>
              <a:tblPr/>
              <a:tblGrid>
                <a:gridCol w="1561522">
                  <a:extLst>
                    <a:ext uri="{9D8B030D-6E8A-4147-A177-3AD203B41FA5}">
                      <a16:colId xmlns:a16="http://schemas.microsoft.com/office/drawing/2014/main" val="20000"/>
                    </a:ext>
                  </a:extLst>
                </a:gridCol>
                <a:gridCol w="952149">
                  <a:extLst>
                    <a:ext uri="{9D8B030D-6E8A-4147-A177-3AD203B41FA5}">
                      <a16:colId xmlns:a16="http://schemas.microsoft.com/office/drawing/2014/main" val="20001"/>
                    </a:ext>
                  </a:extLst>
                </a:gridCol>
                <a:gridCol w="1015624">
                  <a:extLst>
                    <a:ext uri="{9D8B030D-6E8A-4147-A177-3AD203B41FA5}">
                      <a16:colId xmlns:a16="http://schemas.microsoft.com/office/drawing/2014/main" val="20002"/>
                    </a:ext>
                  </a:extLst>
                </a:gridCol>
                <a:gridCol w="1015624">
                  <a:extLst>
                    <a:ext uri="{9D8B030D-6E8A-4147-A177-3AD203B41FA5}">
                      <a16:colId xmlns:a16="http://schemas.microsoft.com/office/drawing/2014/main" val="20003"/>
                    </a:ext>
                  </a:extLst>
                </a:gridCol>
                <a:gridCol w="1015624">
                  <a:extLst>
                    <a:ext uri="{9D8B030D-6E8A-4147-A177-3AD203B41FA5}">
                      <a16:colId xmlns:a16="http://schemas.microsoft.com/office/drawing/2014/main" val="20004"/>
                    </a:ext>
                  </a:extLst>
                </a:gridCol>
                <a:gridCol w="1015624">
                  <a:extLst>
                    <a:ext uri="{9D8B030D-6E8A-4147-A177-3AD203B41FA5}">
                      <a16:colId xmlns:a16="http://schemas.microsoft.com/office/drawing/2014/main" val="20005"/>
                    </a:ext>
                  </a:extLst>
                </a:gridCol>
                <a:gridCol w="1015624">
                  <a:extLst>
                    <a:ext uri="{9D8B030D-6E8A-4147-A177-3AD203B41FA5}">
                      <a16:colId xmlns:a16="http://schemas.microsoft.com/office/drawing/2014/main" val="20006"/>
                    </a:ext>
                  </a:extLst>
                </a:gridCol>
                <a:gridCol w="1066408">
                  <a:extLst>
                    <a:ext uri="{9D8B030D-6E8A-4147-A177-3AD203B41FA5}">
                      <a16:colId xmlns:a16="http://schemas.microsoft.com/office/drawing/2014/main" val="20007"/>
                    </a:ext>
                  </a:extLst>
                </a:gridCol>
                <a:gridCol w="1066408">
                  <a:extLst>
                    <a:ext uri="{9D8B030D-6E8A-4147-A177-3AD203B41FA5}">
                      <a16:colId xmlns:a16="http://schemas.microsoft.com/office/drawing/2014/main" val="20008"/>
                    </a:ext>
                  </a:extLst>
                </a:gridCol>
                <a:gridCol w="1404946">
                  <a:extLst>
                    <a:ext uri="{9D8B030D-6E8A-4147-A177-3AD203B41FA5}">
                      <a16:colId xmlns:a16="http://schemas.microsoft.com/office/drawing/2014/main" val="20009"/>
                    </a:ext>
                  </a:extLst>
                </a:gridCol>
              </a:tblGrid>
              <a:tr h="425236">
                <a:tc>
                  <a:txBody>
                    <a:bodyPr/>
                    <a:lstStyle/>
                    <a:p>
                      <a:pPr algn="ctr" fontAlgn="ctr"/>
                      <a:r>
                        <a:rPr lang="fr-FR" sz="1100" b="1" i="0" u="none" strike="noStrike">
                          <a:effectLst/>
                          <a:latin typeface="Arial" panose="020B0604020202020204" pitchFamily="34" charset="0"/>
                        </a:rPr>
                        <a:t>DPS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fr-FR" sz="1100" b="1" i="0" u="none" strike="noStrike">
                          <a:effectLst/>
                          <a:latin typeface="Arial" panose="020B0604020202020204" pitchFamily="34" charset="0"/>
                        </a:rPr>
                        <a:t>Nombre de ZS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fr-FR" sz="1100" b="1" i="0" u="none" strike="noStrike">
                          <a:effectLst/>
                          <a:latin typeface="Arial" panose="020B0604020202020204" pitchFamily="34" charset="0"/>
                        </a:rPr>
                        <a:t>CV de plus de 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fr-FR" sz="1100" b="1" i="0" u="none" strike="noStrike">
                          <a:effectLst/>
                          <a:latin typeface="Arial" panose="020B0604020202020204" pitchFamily="34" charset="0"/>
                        </a:rPr>
                        <a:t>VPO2&gt;VPO1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fr-FR" sz="1100" b="1" i="0" u="none" strike="noStrike">
                          <a:effectLst/>
                          <a:latin typeface="Arial" panose="020B0604020202020204" pitchFamily="34" charset="0"/>
                        </a:rPr>
                        <a:t>VPO3&gt;VPO2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fr-FR" sz="1100" b="1" i="0" u="none" strike="noStrike">
                          <a:effectLst/>
                          <a:latin typeface="Arial" panose="020B0604020202020204" pitchFamily="34" charset="0"/>
                        </a:rPr>
                        <a:t>PENTA2&gt;PENTA1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fr-FR" sz="1100" b="1" i="0" u="none" strike="noStrike">
                          <a:effectLst/>
                          <a:latin typeface="Arial" panose="020B0604020202020204" pitchFamily="34" charset="0"/>
                        </a:rPr>
                        <a:t>PENTA3&gt;PENTA2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fr-FR" sz="1100" b="1" i="0" u="none" strike="noStrike">
                          <a:effectLst/>
                          <a:latin typeface="Arial" panose="020B0604020202020204" pitchFamily="34" charset="0"/>
                        </a:rPr>
                        <a:t>PNEUMO2&gt;PNEUMO1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fr-FR" sz="1100" b="1" i="0" u="none" strike="noStrike">
                          <a:effectLst/>
                          <a:latin typeface="Arial" panose="020B0604020202020204" pitchFamily="34" charset="0"/>
                        </a:rPr>
                        <a:t>PNEUMO3&gt;PNEUMO2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fr-FR" sz="1100" b="1" i="0" u="none" strike="noStrike">
                          <a:effectLst/>
                          <a:latin typeface="Arial" panose="020B0604020202020204" pitchFamily="34" charset="0"/>
                        </a:rPr>
                        <a:t>CV</a:t>
                      </a:r>
                      <a:br>
                        <a:rPr lang="fr-FR" sz="1100" b="1" i="0" u="none" strike="noStrike">
                          <a:effectLst/>
                          <a:latin typeface="Arial" panose="020B0604020202020204" pitchFamily="34" charset="0"/>
                        </a:rPr>
                      </a:br>
                      <a:r>
                        <a:rPr lang="fr-FR" sz="1100" b="1" i="0" u="none" strike="noStrike">
                          <a:effectLst/>
                          <a:latin typeface="Arial" panose="020B0604020202020204" pitchFamily="34" charset="0"/>
                        </a:rPr>
                        <a:t>&gt;=90% tous Ag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extLst>
                  <a:ext uri="{0D108BD9-81ED-4DB2-BD59-A6C34878D82A}">
                    <a16:rowId xmlns:a16="http://schemas.microsoft.com/office/drawing/2014/main" val="10000"/>
                  </a:ext>
                </a:extLst>
              </a:tr>
              <a:tr h="143393">
                <a:tc>
                  <a:txBody>
                    <a:bodyPr/>
                    <a:lstStyle/>
                    <a:p>
                      <a:pPr algn="l" fontAlgn="ctr"/>
                      <a:r>
                        <a:rPr lang="fr-FR" sz="1100" b="0" i="0" u="none" strike="noStrike">
                          <a:effectLst/>
                          <a:latin typeface="Arial" panose="020B0604020202020204" pitchFamily="34" charset="0"/>
                        </a:rPr>
                        <a:t>Bas Uélé</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43393">
                <a:tc>
                  <a:txBody>
                    <a:bodyPr/>
                    <a:lstStyle/>
                    <a:p>
                      <a:pPr algn="l" fontAlgn="ctr"/>
                      <a:r>
                        <a:rPr lang="fr-FR" sz="1100" b="0" i="0" u="none" strike="noStrike">
                          <a:effectLst/>
                          <a:latin typeface="Arial" panose="020B0604020202020204" pitchFamily="34" charset="0"/>
                        </a:rPr>
                        <a:t>Equateur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43393">
                <a:tc>
                  <a:txBody>
                    <a:bodyPr/>
                    <a:lstStyle/>
                    <a:p>
                      <a:pPr algn="l" fontAlgn="ctr"/>
                      <a:r>
                        <a:rPr lang="fr-FR" sz="1100" b="0" i="0" u="none" strike="noStrike">
                          <a:effectLst/>
                          <a:latin typeface="Arial" panose="020B0604020202020204" pitchFamily="34" charset="0"/>
                        </a:rPr>
                        <a:t>Haut Katanga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43393">
                <a:tc>
                  <a:txBody>
                    <a:bodyPr/>
                    <a:lstStyle/>
                    <a:p>
                      <a:pPr algn="l" fontAlgn="ctr"/>
                      <a:r>
                        <a:rPr lang="fr-FR" sz="1100" b="0" i="0" u="none" strike="noStrike">
                          <a:effectLst/>
                          <a:latin typeface="Arial" panose="020B0604020202020204" pitchFamily="34" charset="0"/>
                        </a:rPr>
                        <a:t>Haut lomami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43393">
                <a:tc>
                  <a:txBody>
                    <a:bodyPr/>
                    <a:lstStyle/>
                    <a:p>
                      <a:pPr algn="l" fontAlgn="ctr"/>
                      <a:r>
                        <a:rPr lang="fr-FR" sz="1100" b="0" i="0" u="none" strike="noStrike">
                          <a:effectLst/>
                          <a:latin typeface="Arial" panose="020B0604020202020204" pitchFamily="34" charset="0"/>
                        </a:rPr>
                        <a:t>Haut Uélé</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143393">
                <a:tc>
                  <a:txBody>
                    <a:bodyPr/>
                    <a:lstStyle/>
                    <a:p>
                      <a:pPr algn="l" fontAlgn="ctr"/>
                      <a:r>
                        <a:rPr lang="fr-FR" sz="1100" b="0" i="0" u="none" strike="noStrike">
                          <a:effectLst/>
                          <a:latin typeface="Arial" panose="020B0604020202020204" pitchFamily="34" charset="0"/>
                        </a:rPr>
                        <a:t>Ituri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36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143393">
                <a:tc>
                  <a:txBody>
                    <a:bodyPr/>
                    <a:lstStyle/>
                    <a:p>
                      <a:pPr algn="l" fontAlgn="ctr"/>
                      <a:r>
                        <a:rPr lang="fr-FR" sz="1100" b="0" i="0" u="none" strike="noStrike">
                          <a:effectLst/>
                          <a:latin typeface="Arial" panose="020B0604020202020204" pitchFamily="34" charset="0"/>
                        </a:rPr>
                        <a:t>Kasai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262064">
                <a:tc>
                  <a:txBody>
                    <a:bodyPr/>
                    <a:lstStyle/>
                    <a:p>
                      <a:pPr algn="l" fontAlgn="ctr"/>
                      <a:r>
                        <a:rPr lang="fr-FR" sz="1100" b="0" i="0" u="none" strike="noStrike">
                          <a:effectLst/>
                          <a:latin typeface="Arial" panose="020B0604020202020204" pitchFamily="34" charset="0"/>
                        </a:rPr>
                        <a:t>Kasai Central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143393">
                <a:tc>
                  <a:txBody>
                    <a:bodyPr/>
                    <a:lstStyle/>
                    <a:p>
                      <a:pPr algn="l" fontAlgn="ctr"/>
                      <a:r>
                        <a:rPr lang="fr-FR" sz="1100" b="0" i="0" u="none" strike="noStrike">
                          <a:effectLst/>
                          <a:latin typeface="Arial" panose="020B0604020202020204" pitchFamily="34" charset="0"/>
                        </a:rPr>
                        <a:t>Kasai Oriental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19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143393">
                <a:tc>
                  <a:txBody>
                    <a:bodyPr/>
                    <a:lstStyle/>
                    <a:p>
                      <a:pPr algn="l" fontAlgn="ctr"/>
                      <a:r>
                        <a:rPr lang="fr-FR" sz="1100" b="0" i="0" u="none" strike="noStrike">
                          <a:effectLst/>
                          <a:latin typeface="Arial" panose="020B0604020202020204" pitchFamily="34" charset="0"/>
                        </a:rPr>
                        <a:t>Kinshasa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143393">
                <a:tc>
                  <a:txBody>
                    <a:bodyPr/>
                    <a:lstStyle/>
                    <a:p>
                      <a:pPr algn="l" fontAlgn="ctr"/>
                      <a:r>
                        <a:rPr lang="fr-FR" sz="1100" b="0" i="0" u="none" strike="noStrike">
                          <a:effectLst/>
                          <a:latin typeface="Arial" panose="020B0604020202020204" pitchFamily="34" charset="0"/>
                        </a:rPr>
                        <a:t>Kongo Central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31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143393">
                <a:tc>
                  <a:txBody>
                    <a:bodyPr/>
                    <a:lstStyle/>
                    <a:p>
                      <a:pPr algn="l" fontAlgn="ctr"/>
                      <a:r>
                        <a:rPr lang="fr-FR" sz="1100" b="0" i="0" u="none" strike="noStrike">
                          <a:effectLst/>
                          <a:latin typeface="Arial" panose="020B0604020202020204" pitchFamily="34" charset="0"/>
                        </a:rPr>
                        <a:t>Kwango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143393">
                <a:tc>
                  <a:txBody>
                    <a:bodyPr/>
                    <a:lstStyle/>
                    <a:p>
                      <a:pPr algn="l" fontAlgn="ctr"/>
                      <a:r>
                        <a:rPr lang="fr-FR" sz="1100" b="0" i="0" u="none" strike="noStrike">
                          <a:effectLst/>
                          <a:latin typeface="Arial" panose="020B0604020202020204" pitchFamily="34" charset="0"/>
                        </a:rPr>
                        <a:t>Kwilu</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143393">
                <a:tc>
                  <a:txBody>
                    <a:bodyPr/>
                    <a:lstStyle/>
                    <a:p>
                      <a:pPr algn="l" fontAlgn="ctr"/>
                      <a:r>
                        <a:rPr lang="fr-FR" sz="1100" b="0" i="0" u="none" strike="noStrike">
                          <a:effectLst/>
                          <a:latin typeface="Arial" panose="020B0604020202020204" pitchFamily="34" charset="0"/>
                        </a:rPr>
                        <a:t>Lomami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4"/>
                  </a:ext>
                </a:extLst>
              </a:tr>
              <a:tr h="143393">
                <a:tc>
                  <a:txBody>
                    <a:bodyPr/>
                    <a:lstStyle/>
                    <a:p>
                      <a:pPr algn="l" fontAlgn="ctr"/>
                      <a:r>
                        <a:rPr lang="fr-FR" sz="1100" b="0" i="0" u="none" strike="noStrike">
                          <a:effectLst/>
                          <a:latin typeface="Arial" panose="020B0604020202020204" pitchFamily="34" charset="0"/>
                        </a:rPr>
                        <a:t>Lualaba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5"/>
                  </a:ext>
                </a:extLst>
              </a:tr>
              <a:tr h="143393">
                <a:tc>
                  <a:txBody>
                    <a:bodyPr/>
                    <a:lstStyle/>
                    <a:p>
                      <a:pPr algn="l" fontAlgn="ctr"/>
                      <a:r>
                        <a:rPr lang="fr-FR" sz="1100" b="0" i="0" u="none" strike="noStrike">
                          <a:effectLst/>
                          <a:latin typeface="Arial" panose="020B0604020202020204" pitchFamily="34" charset="0"/>
                        </a:rPr>
                        <a:t>Octobrendombe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6"/>
                  </a:ext>
                </a:extLst>
              </a:tr>
              <a:tr h="143393">
                <a:tc>
                  <a:txBody>
                    <a:bodyPr/>
                    <a:lstStyle/>
                    <a:p>
                      <a:pPr algn="l" fontAlgn="ctr"/>
                      <a:r>
                        <a:rPr lang="fr-FR" sz="1100" b="0" i="0" u="none" strike="noStrike">
                          <a:effectLst/>
                          <a:latin typeface="Arial" panose="020B0604020202020204" pitchFamily="34" charset="0"/>
                        </a:rPr>
                        <a:t>Maniema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7"/>
                  </a:ext>
                </a:extLst>
              </a:tr>
              <a:tr h="143393">
                <a:tc>
                  <a:txBody>
                    <a:bodyPr/>
                    <a:lstStyle/>
                    <a:p>
                      <a:pPr algn="l" fontAlgn="ctr"/>
                      <a:r>
                        <a:rPr lang="fr-FR" sz="1100" b="0" i="0" u="none" strike="noStrike">
                          <a:effectLst/>
                          <a:latin typeface="Arial" panose="020B0604020202020204" pitchFamily="34" charset="0"/>
                        </a:rPr>
                        <a:t>Mongala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8"/>
                  </a:ext>
                </a:extLst>
              </a:tr>
              <a:tr h="143393">
                <a:tc>
                  <a:txBody>
                    <a:bodyPr/>
                    <a:lstStyle/>
                    <a:p>
                      <a:pPr algn="l" fontAlgn="ctr"/>
                      <a:r>
                        <a:rPr lang="fr-FR" sz="1100" b="0" i="0" u="none" strike="noStrike">
                          <a:effectLst/>
                          <a:latin typeface="Arial" panose="020B0604020202020204" pitchFamily="34" charset="0"/>
                        </a:rPr>
                        <a:t>Nord Kivu</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34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9"/>
                  </a:ext>
                </a:extLst>
              </a:tr>
              <a:tr h="143393">
                <a:tc>
                  <a:txBody>
                    <a:bodyPr/>
                    <a:lstStyle/>
                    <a:p>
                      <a:pPr algn="l" fontAlgn="ctr"/>
                      <a:r>
                        <a:rPr lang="fr-FR" sz="1100" b="0" i="0" u="none" strike="noStrike">
                          <a:effectLst/>
                          <a:latin typeface="Arial" panose="020B0604020202020204" pitchFamily="34" charset="0"/>
                        </a:rPr>
                        <a:t>Nord Ubangi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0"/>
                  </a:ext>
                </a:extLst>
              </a:tr>
              <a:tr h="143393">
                <a:tc>
                  <a:txBody>
                    <a:bodyPr/>
                    <a:lstStyle/>
                    <a:p>
                      <a:pPr algn="l" fontAlgn="ctr"/>
                      <a:r>
                        <a:rPr lang="fr-FR" sz="1100" b="0" i="0" u="none" strike="noStrike">
                          <a:effectLst/>
                          <a:latin typeface="Arial" panose="020B0604020202020204" pitchFamily="34" charset="0"/>
                        </a:rPr>
                        <a:t>Sankuru</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1"/>
                  </a:ext>
                </a:extLst>
              </a:tr>
              <a:tr h="143393">
                <a:tc>
                  <a:txBody>
                    <a:bodyPr/>
                    <a:lstStyle/>
                    <a:p>
                      <a:pPr algn="l" fontAlgn="ctr"/>
                      <a:r>
                        <a:rPr lang="fr-FR" sz="1100" b="0" i="0" u="none" strike="noStrike">
                          <a:effectLst/>
                          <a:latin typeface="Arial" panose="020B0604020202020204" pitchFamily="34" charset="0"/>
                        </a:rPr>
                        <a:t>Sud Kivu</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34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2"/>
                  </a:ext>
                </a:extLst>
              </a:tr>
              <a:tr h="143393">
                <a:tc>
                  <a:txBody>
                    <a:bodyPr/>
                    <a:lstStyle/>
                    <a:p>
                      <a:pPr algn="l" fontAlgn="ctr"/>
                      <a:r>
                        <a:rPr lang="fr-FR" sz="1100" b="0" i="0" u="none" strike="noStrike">
                          <a:effectLst/>
                          <a:latin typeface="Arial" panose="020B0604020202020204" pitchFamily="34" charset="0"/>
                        </a:rPr>
                        <a:t>Sud Ubangi</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3"/>
                  </a:ext>
                </a:extLst>
              </a:tr>
              <a:tr h="143393">
                <a:tc>
                  <a:txBody>
                    <a:bodyPr/>
                    <a:lstStyle/>
                    <a:p>
                      <a:pPr algn="l" fontAlgn="ctr"/>
                      <a:r>
                        <a:rPr lang="fr-FR" sz="1100" b="0" i="0" u="none" strike="noStrike">
                          <a:effectLst/>
                          <a:latin typeface="Arial" panose="020B0604020202020204" pitchFamily="34" charset="0"/>
                        </a:rPr>
                        <a:t>Tanganyika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4"/>
                  </a:ext>
                </a:extLst>
              </a:tr>
              <a:tr h="143393">
                <a:tc>
                  <a:txBody>
                    <a:bodyPr/>
                    <a:lstStyle/>
                    <a:p>
                      <a:pPr algn="l" fontAlgn="ctr"/>
                      <a:r>
                        <a:rPr lang="fr-FR" sz="1100" b="0" i="0" u="none" strike="noStrike">
                          <a:effectLst/>
                          <a:latin typeface="Arial" panose="020B0604020202020204" pitchFamily="34" charset="0"/>
                        </a:rPr>
                        <a:t>Tshopo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5"/>
                  </a:ext>
                </a:extLst>
              </a:tr>
              <a:tr h="143393">
                <a:tc>
                  <a:txBody>
                    <a:bodyPr/>
                    <a:lstStyle/>
                    <a:p>
                      <a:pPr algn="l" fontAlgn="ctr"/>
                      <a:r>
                        <a:rPr lang="fr-FR" sz="1100" b="0" i="0" u="none" strike="noStrike">
                          <a:effectLst/>
                          <a:latin typeface="Arial" panose="020B0604020202020204" pitchFamily="34" charset="0"/>
                        </a:rPr>
                        <a:t>Tshuapa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fr-FR" sz="1100" b="0" i="0" u="none" strike="noStrike">
                          <a:effectLst/>
                          <a:latin typeface="Arial" panose="020B0604020202020204" pitchFamily="34"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6"/>
                  </a:ext>
                </a:extLst>
              </a:tr>
              <a:tr h="143393">
                <a:tc>
                  <a:txBody>
                    <a:bodyPr/>
                    <a:lstStyle/>
                    <a:p>
                      <a:pPr algn="l" fontAlgn="ctr"/>
                      <a:r>
                        <a:rPr lang="fr-FR" sz="1100" b="1" i="0" u="none" strike="noStrike">
                          <a:effectLst/>
                          <a:latin typeface="Arial" panose="020B0604020202020204" pitchFamily="34" charset="0"/>
                        </a:rPr>
                        <a:t>National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fr-FR" sz="1100" b="1" i="0" u="none" strike="noStrike">
                          <a:effectLst/>
                          <a:latin typeface="Arial" panose="020B0604020202020204" pitchFamily="34" charset="0"/>
                        </a:rPr>
                        <a:t>519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fr-FR" sz="1100" b="1" i="0" u="none" strike="noStrike">
                          <a:effectLst/>
                          <a:latin typeface="Arial" panose="020B0604020202020204" pitchFamily="34" charset="0"/>
                        </a:rPr>
                        <a:t>75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fr-FR" sz="1100" b="1" i="0" u="none" strike="noStrike">
                          <a:effectLst/>
                          <a:latin typeface="Arial" panose="020B0604020202020204" pitchFamily="34" charset="0"/>
                        </a:rPr>
                        <a:t>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fr-FR" sz="1100" b="1" i="0" u="none" strike="noStrike">
                          <a:effectLst/>
                          <a:latin typeface="Arial" panose="020B0604020202020204" pitchFamily="34" charset="0"/>
                        </a:rPr>
                        <a:t>58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fr-FR" sz="1100" b="1" i="0" u="none" strike="noStrike">
                          <a:effectLst/>
                          <a:latin typeface="Arial" panose="020B0604020202020204" pitchFamily="34" charset="0"/>
                        </a:rPr>
                        <a:t>260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fr-FR" sz="1100" b="1" i="0" u="none" strike="noStrike">
                          <a:effectLst/>
                          <a:latin typeface="Arial" panose="020B0604020202020204" pitchFamily="34" charset="0"/>
                        </a:rPr>
                        <a:t>322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fr-FR" sz="1100" b="1" i="0" u="none" strike="noStrike">
                          <a:effectLst/>
                          <a:latin typeface="Arial" panose="020B0604020202020204" pitchFamily="34" charset="0"/>
                        </a:rPr>
                        <a:t>185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fr-FR" sz="1100" b="1" i="0" u="none" strike="noStrike">
                          <a:effectLst/>
                          <a:latin typeface="Arial" panose="020B0604020202020204" pitchFamily="34" charset="0"/>
                        </a:rPr>
                        <a:t>169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tc>
                  <a:txBody>
                    <a:bodyPr/>
                    <a:lstStyle/>
                    <a:p>
                      <a:pPr algn="ctr" fontAlgn="ctr"/>
                      <a:r>
                        <a:rPr lang="fr-FR" sz="1100" b="1" i="0" u="none" strike="noStrike">
                          <a:effectLst/>
                          <a:latin typeface="Arial" panose="020B0604020202020204" pitchFamily="34" charset="0"/>
                        </a:rPr>
                        <a:t>39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8CCE4"/>
                    </a:solidFill>
                  </a:tcPr>
                </a:tc>
                <a:extLst>
                  <a:ext uri="{0D108BD9-81ED-4DB2-BD59-A6C34878D82A}">
                    <a16:rowId xmlns:a16="http://schemas.microsoft.com/office/drawing/2014/main" val="10027"/>
                  </a:ext>
                </a:extLst>
              </a:tr>
              <a:tr h="143393">
                <a:tc>
                  <a:txBody>
                    <a:bodyPr/>
                    <a:lstStyle/>
                    <a:p>
                      <a:pPr algn="l" fontAlgn="ctr"/>
                      <a:r>
                        <a:rPr lang="fr-FR" sz="1100" b="1" i="0" u="none" strike="noStrike">
                          <a:solidFill>
                            <a:srgbClr val="002060"/>
                          </a:solidFill>
                          <a:effectLst/>
                          <a:latin typeface="Arial" panose="020B0604020202020204" pitchFamily="34" charset="0"/>
                        </a:rPr>
                        <a:t>Proportion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fr-FR" sz="1100" b="1" i="0" u="none" strike="noStrike">
                          <a:solidFill>
                            <a:srgbClr val="002060"/>
                          </a:solidFill>
                          <a:effectLst/>
                          <a:latin typeface="Arial" panose="020B0604020202020204" pitchFamily="34" charset="0"/>
                        </a:rPr>
                        <a:t>100,0%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fr-FR" sz="1100" b="1" i="0" u="none" strike="noStrike">
                          <a:solidFill>
                            <a:srgbClr val="002060"/>
                          </a:solidFill>
                          <a:effectLst/>
                          <a:latin typeface="Arial" panose="020B0604020202020204" pitchFamily="34" charset="0"/>
                        </a:rPr>
                        <a:t>14,5%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fr-FR" sz="1100" b="1" i="0" u="none" strike="noStrike">
                          <a:solidFill>
                            <a:srgbClr val="002060"/>
                          </a:solidFill>
                          <a:effectLst/>
                          <a:latin typeface="Arial" panose="020B0604020202020204" pitchFamily="34" charset="0"/>
                        </a:rPr>
                        <a:t>5,2%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fr-FR" sz="1100" b="1" i="0" u="none" strike="noStrike" dirty="0">
                          <a:solidFill>
                            <a:srgbClr val="002060"/>
                          </a:solidFill>
                          <a:effectLst/>
                          <a:latin typeface="Arial" panose="020B0604020202020204" pitchFamily="34" charset="0"/>
                        </a:rPr>
                        <a:t>11,2%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fr-FR" sz="1100" b="1" i="0" u="none" strike="noStrike">
                          <a:solidFill>
                            <a:srgbClr val="002060"/>
                          </a:solidFill>
                          <a:effectLst/>
                          <a:latin typeface="Arial" panose="020B0604020202020204" pitchFamily="34" charset="0"/>
                        </a:rPr>
                        <a:t>50,1%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fr-FR" sz="1100" b="1" i="0" u="none" strike="noStrike">
                          <a:solidFill>
                            <a:srgbClr val="002060"/>
                          </a:solidFill>
                          <a:effectLst/>
                          <a:latin typeface="Arial" panose="020B0604020202020204" pitchFamily="34" charset="0"/>
                        </a:rPr>
                        <a:t>62,0%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fr-FR" sz="1100" b="1" i="0" u="none" strike="noStrike">
                          <a:solidFill>
                            <a:srgbClr val="002060"/>
                          </a:solidFill>
                          <a:effectLst/>
                          <a:latin typeface="Arial" panose="020B0604020202020204" pitchFamily="34" charset="0"/>
                        </a:rPr>
                        <a:t>35,6%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fr-FR" sz="1100" b="1" i="0" u="none" strike="noStrike">
                          <a:solidFill>
                            <a:srgbClr val="002060"/>
                          </a:solidFill>
                          <a:effectLst/>
                          <a:latin typeface="Arial" panose="020B0604020202020204" pitchFamily="34" charset="0"/>
                        </a:rPr>
                        <a:t>32,6%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fr-FR" sz="1100" b="1" i="0" u="none" strike="noStrike" dirty="0">
                          <a:solidFill>
                            <a:srgbClr val="002060"/>
                          </a:solidFill>
                          <a:effectLst/>
                          <a:latin typeface="Arial" panose="020B0604020202020204" pitchFamily="34" charset="0"/>
                        </a:rPr>
                        <a:t>7,5%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28"/>
                  </a:ext>
                </a:extLst>
              </a:tr>
            </a:tbl>
          </a:graphicData>
        </a:graphic>
      </p:graphicFrame>
    </p:spTree>
    <p:extLst>
      <p:ext uri="{BB962C8B-B14F-4D97-AF65-F5344CB8AC3E}">
        <p14:creationId xmlns:p14="http://schemas.microsoft.com/office/powerpoint/2010/main" val="96150821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p:cNvSpPr>
            <a:spLocks noGrp="1"/>
          </p:cNvSpPr>
          <p:nvPr>
            <p:ph type="title"/>
          </p:nvPr>
        </p:nvSpPr>
        <p:spPr>
          <a:xfrm>
            <a:off x="431371" y="116632"/>
            <a:ext cx="11425269" cy="576064"/>
          </a:xfrm>
          <a:solidFill>
            <a:srgbClr val="0070C0"/>
          </a:solidFill>
          <a:ln w="9525" cap="flat" cmpd="sng">
            <a:solidFill>
              <a:schemeClr val="accent1"/>
            </a:solidFill>
            <a:prstDash val="solid"/>
            <a:round/>
            <a:headEnd type="none" w="sm" len="sm"/>
            <a:tailEnd type="none" w="sm" len="sm"/>
          </a:ln>
          <a:effectLst>
            <a:outerShdw blurRad="63500" dist="20000" dir="5400000" rotWithShape="0">
              <a:srgbClr val="000000">
                <a:alpha val="37647"/>
              </a:srgbClr>
            </a:outerShdw>
          </a:effectLst>
        </p:spPr>
        <p:txBody>
          <a:bodyPr spcFirstLastPara="1" wrap="square" lIns="91425" tIns="45700" rIns="91425" bIns="45700" anchor="ctr" anchorCtr="0">
            <a:noAutofit/>
          </a:bodyPr>
          <a:lstStyle/>
          <a:p>
            <a:pPr>
              <a:buClr>
                <a:schemeClr val="lt1"/>
              </a:buClr>
              <a:buSzPts val="3200"/>
            </a:pPr>
            <a:r>
              <a:rPr lang="fr-FR" sz="3600" b="1" dirty="0">
                <a:solidFill>
                  <a:schemeClr val="lt1"/>
                </a:solidFill>
                <a:latin typeface="Lato"/>
                <a:ea typeface="Lato"/>
                <a:cs typeface="Lato"/>
                <a:sym typeface="Arial"/>
              </a:rPr>
              <a:t>Evolution de la consistance Interne des données</a:t>
            </a:r>
          </a:p>
        </p:txBody>
      </p:sp>
      <p:sp>
        <p:nvSpPr>
          <p:cNvPr id="5" name="ZoneTexte 4"/>
          <p:cNvSpPr txBox="1"/>
          <p:nvPr/>
        </p:nvSpPr>
        <p:spPr>
          <a:xfrm>
            <a:off x="5327915" y="6372036"/>
            <a:ext cx="6624736" cy="369332"/>
          </a:xfrm>
          <a:prstGeom prst="rect">
            <a:avLst/>
          </a:prstGeom>
          <a:noFill/>
        </p:spPr>
        <p:txBody>
          <a:bodyPr wrap="square" rtlCol="0">
            <a:spAutoFit/>
          </a:bodyPr>
          <a:lstStyle/>
          <a:p>
            <a:r>
              <a:rPr lang="fr-FR" b="1" dirty="0"/>
              <a:t>Source</a:t>
            </a:r>
            <a:r>
              <a:rPr lang="fr-FR" dirty="0"/>
              <a:t> : DHIS2  2020-2025</a:t>
            </a:r>
          </a:p>
        </p:txBody>
      </p:sp>
      <p:graphicFrame>
        <p:nvGraphicFramePr>
          <p:cNvPr id="3" name="Tableau 2"/>
          <p:cNvGraphicFramePr>
            <a:graphicFrameLocks noGrp="1"/>
          </p:cNvGraphicFramePr>
          <p:nvPr/>
        </p:nvGraphicFramePr>
        <p:xfrm>
          <a:off x="600894" y="979714"/>
          <a:ext cx="10946670" cy="4615958"/>
        </p:xfrm>
        <a:graphic>
          <a:graphicData uri="http://schemas.openxmlformats.org/drawingml/2006/table">
            <a:tbl>
              <a:tblPr/>
              <a:tblGrid>
                <a:gridCol w="1563810">
                  <a:extLst>
                    <a:ext uri="{9D8B030D-6E8A-4147-A177-3AD203B41FA5}">
                      <a16:colId xmlns:a16="http://schemas.microsoft.com/office/drawing/2014/main" val="20000"/>
                    </a:ext>
                  </a:extLst>
                </a:gridCol>
                <a:gridCol w="1563810">
                  <a:extLst>
                    <a:ext uri="{9D8B030D-6E8A-4147-A177-3AD203B41FA5}">
                      <a16:colId xmlns:a16="http://schemas.microsoft.com/office/drawing/2014/main" val="20001"/>
                    </a:ext>
                  </a:extLst>
                </a:gridCol>
                <a:gridCol w="1563810">
                  <a:extLst>
                    <a:ext uri="{9D8B030D-6E8A-4147-A177-3AD203B41FA5}">
                      <a16:colId xmlns:a16="http://schemas.microsoft.com/office/drawing/2014/main" val="20002"/>
                    </a:ext>
                  </a:extLst>
                </a:gridCol>
                <a:gridCol w="1563810">
                  <a:extLst>
                    <a:ext uri="{9D8B030D-6E8A-4147-A177-3AD203B41FA5}">
                      <a16:colId xmlns:a16="http://schemas.microsoft.com/office/drawing/2014/main" val="20003"/>
                    </a:ext>
                  </a:extLst>
                </a:gridCol>
                <a:gridCol w="1563810">
                  <a:extLst>
                    <a:ext uri="{9D8B030D-6E8A-4147-A177-3AD203B41FA5}">
                      <a16:colId xmlns:a16="http://schemas.microsoft.com/office/drawing/2014/main" val="20004"/>
                    </a:ext>
                  </a:extLst>
                </a:gridCol>
                <a:gridCol w="1563810">
                  <a:extLst>
                    <a:ext uri="{9D8B030D-6E8A-4147-A177-3AD203B41FA5}">
                      <a16:colId xmlns:a16="http://schemas.microsoft.com/office/drawing/2014/main" val="20005"/>
                    </a:ext>
                  </a:extLst>
                </a:gridCol>
                <a:gridCol w="1563810">
                  <a:extLst>
                    <a:ext uri="{9D8B030D-6E8A-4147-A177-3AD203B41FA5}">
                      <a16:colId xmlns:a16="http://schemas.microsoft.com/office/drawing/2014/main" val="20006"/>
                    </a:ext>
                  </a:extLst>
                </a:gridCol>
              </a:tblGrid>
              <a:tr h="822960">
                <a:tc rowSpan="2">
                  <a:txBody>
                    <a:bodyPr/>
                    <a:lstStyle/>
                    <a:p>
                      <a:pPr algn="l" rtl="0" fontAlgn="ctr"/>
                      <a:r>
                        <a:rPr lang="fr-FR" sz="1400" b="1" i="0" u="none" strike="noStrike" dirty="0">
                          <a:solidFill>
                            <a:srgbClr val="000000"/>
                          </a:solidFill>
                          <a:effectLst/>
                          <a:latin typeface="Franklin Gothic Book" panose="020B0503020102020204" pitchFamily="34" charset="0"/>
                        </a:rPr>
                        <a:t>National</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algn="ctr" rtl="0" fontAlgn="ctr"/>
                      <a:r>
                        <a:rPr lang="fr-FR" sz="1400" b="1" i="0" u="none" strike="noStrike" dirty="0">
                          <a:solidFill>
                            <a:srgbClr val="000000"/>
                          </a:solidFill>
                          <a:effectLst/>
                          <a:latin typeface="Franklin Gothic Book" panose="020B0503020102020204" pitchFamily="34" charset="0"/>
                        </a:rPr>
                        <a:t>VPO2&gt;VPO1</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AEFF7"/>
                    </a:solidFill>
                  </a:tcPr>
                </a:tc>
                <a:tc>
                  <a:txBody>
                    <a:bodyPr/>
                    <a:lstStyle/>
                    <a:p>
                      <a:pPr algn="ctr" rtl="0" fontAlgn="ctr"/>
                      <a:r>
                        <a:rPr lang="fr-FR" sz="1400" b="1" i="0" u="none" strike="noStrike" dirty="0">
                          <a:solidFill>
                            <a:srgbClr val="000000"/>
                          </a:solidFill>
                          <a:effectLst/>
                          <a:latin typeface="Franklin Gothic Book" panose="020B0503020102020204" pitchFamily="34" charset="0"/>
                        </a:rPr>
                        <a:t>VPO3&gt;VPO2</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AEFF7"/>
                    </a:solidFill>
                  </a:tcPr>
                </a:tc>
                <a:tc>
                  <a:txBody>
                    <a:bodyPr/>
                    <a:lstStyle/>
                    <a:p>
                      <a:pPr algn="ctr" rtl="0" fontAlgn="ctr"/>
                      <a:r>
                        <a:rPr lang="fr-FR" sz="1400" b="1" i="0" u="none" strike="noStrike">
                          <a:solidFill>
                            <a:srgbClr val="000000"/>
                          </a:solidFill>
                          <a:effectLst/>
                          <a:latin typeface="Franklin Gothic Book" panose="020B0503020102020204" pitchFamily="34" charset="0"/>
                        </a:rPr>
                        <a:t>PENTA2&gt;PENTA1</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AEFF7"/>
                    </a:solidFill>
                  </a:tcPr>
                </a:tc>
                <a:tc>
                  <a:txBody>
                    <a:bodyPr/>
                    <a:lstStyle/>
                    <a:p>
                      <a:pPr algn="ctr" rtl="0" fontAlgn="ctr"/>
                      <a:r>
                        <a:rPr lang="fr-FR" sz="1400" b="1" i="0" u="none" strike="noStrike">
                          <a:solidFill>
                            <a:srgbClr val="000000"/>
                          </a:solidFill>
                          <a:effectLst/>
                          <a:latin typeface="Franklin Gothic Book" panose="020B0503020102020204" pitchFamily="34" charset="0"/>
                        </a:rPr>
                        <a:t>PENTA3&gt;PENTA2</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AEFF7"/>
                    </a:solidFill>
                  </a:tcPr>
                </a:tc>
                <a:tc>
                  <a:txBody>
                    <a:bodyPr/>
                    <a:lstStyle/>
                    <a:p>
                      <a:pPr algn="ctr" rtl="0" fontAlgn="ctr"/>
                      <a:r>
                        <a:rPr lang="fr-FR" sz="1400" b="1" i="0" u="none" strike="noStrike">
                          <a:solidFill>
                            <a:srgbClr val="000000"/>
                          </a:solidFill>
                          <a:effectLst/>
                          <a:latin typeface="Franklin Gothic Book" panose="020B0503020102020204" pitchFamily="34" charset="0"/>
                        </a:rPr>
                        <a:t>PNEUMO2&gt;</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AEFF7"/>
                    </a:solidFill>
                  </a:tcPr>
                </a:tc>
                <a:tc>
                  <a:txBody>
                    <a:bodyPr/>
                    <a:lstStyle/>
                    <a:p>
                      <a:pPr algn="ctr" rtl="0" fontAlgn="ctr"/>
                      <a:r>
                        <a:rPr lang="fr-FR" sz="1400" b="1" i="0" u="none" strike="noStrike">
                          <a:solidFill>
                            <a:srgbClr val="000000"/>
                          </a:solidFill>
                          <a:effectLst/>
                          <a:latin typeface="Franklin Gothic Book" panose="020B0503020102020204" pitchFamily="34" charset="0"/>
                        </a:rPr>
                        <a:t>PNEUMO3&gt;</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AEFF7"/>
                    </a:solidFill>
                  </a:tcPr>
                </a:tc>
                <a:extLst>
                  <a:ext uri="{0D108BD9-81ED-4DB2-BD59-A6C34878D82A}">
                    <a16:rowId xmlns:a16="http://schemas.microsoft.com/office/drawing/2014/main" val="10000"/>
                  </a:ext>
                </a:extLst>
              </a:tr>
              <a:tr h="287383">
                <a:tc vMerge="1">
                  <a:txBody>
                    <a:bodyPr/>
                    <a:lstStyle/>
                    <a:p>
                      <a:endParaRPr lang="fr-FR"/>
                    </a:p>
                  </a:txBody>
                  <a:tcPr/>
                </a:tc>
                <a:tc>
                  <a:txBody>
                    <a:bodyPr/>
                    <a:lstStyle/>
                    <a:p>
                      <a:pPr algn="ctr" rtl="0" fontAlgn="ctr"/>
                      <a:r>
                        <a:rPr lang="fr-FR" sz="1400" b="1" i="0" u="none" strike="noStrike">
                          <a:solidFill>
                            <a:srgbClr val="000000"/>
                          </a:solidFill>
                          <a:effectLst/>
                          <a:latin typeface="Times New Roman" panose="02020603050405020304" pitchFamily="18" charset="0"/>
                        </a:rPr>
                        <a:t>(# ZS)</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EAEFF7"/>
                    </a:solidFill>
                  </a:tcPr>
                </a:tc>
                <a:tc>
                  <a:txBody>
                    <a:bodyPr/>
                    <a:lstStyle/>
                    <a:p>
                      <a:pPr algn="ctr" rtl="0" fontAlgn="ctr"/>
                      <a:r>
                        <a:rPr lang="fr-FR" sz="1400" b="1" i="0" u="none" strike="noStrike">
                          <a:solidFill>
                            <a:srgbClr val="000000"/>
                          </a:solidFill>
                          <a:effectLst/>
                          <a:latin typeface="Times New Roman" panose="02020603050405020304" pitchFamily="18" charset="0"/>
                        </a:rPr>
                        <a:t>(# ZS)</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EAEFF7"/>
                    </a:solidFill>
                  </a:tcPr>
                </a:tc>
                <a:tc>
                  <a:txBody>
                    <a:bodyPr/>
                    <a:lstStyle/>
                    <a:p>
                      <a:pPr algn="ctr" rtl="0" fontAlgn="ctr"/>
                      <a:r>
                        <a:rPr lang="fr-FR" sz="1400" b="1" i="0" u="none" strike="noStrike">
                          <a:solidFill>
                            <a:srgbClr val="000000"/>
                          </a:solidFill>
                          <a:effectLst/>
                          <a:latin typeface="Times New Roman" panose="02020603050405020304" pitchFamily="18" charset="0"/>
                        </a:rPr>
                        <a:t>(# ZS)</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EAEFF7"/>
                    </a:solidFill>
                  </a:tcPr>
                </a:tc>
                <a:tc>
                  <a:txBody>
                    <a:bodyPr/>
                    <a:lstStyle/>
                    <a:p>
                      <a:pPr algn="ctr" rtl="0" fontAlgn="ctr"/>
                      <a:r>
                        <a:rPr lang="fr-FR" sz="1400" b="1" i="0" u="none" strike="noStrike">
                          <a:solidFill>
                            <a:srgbClr val="000000"/>
                          </a:solidFill>
                          <a:effectLst/>
                          <a:latin typeface="Times New Roman" panose="02020603050405020304" pitchFamily="18" charset="0"/>
                        </a:rPr>
                        <a:t>(# ZS)</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EAEFF7"/>
                    </a:solidFill>
                  </a:tcPr>
                </a:tc>
                <a:tc>
                  <a:txBody>
                    <a:bodyPr/>
                    <a:lstStyle/>
                    <a:p>
                      <a:pPr algn="ctr" rtl="0" fontAlgn="ctr"/>
                      <a:r>
                        <a:rPr lang="fr-FR" sz="1400" b="1" i="0" u="none" strike="noStrike">
                          <a:solidFill>
                            <a:srgbClr val="000000"/>
                          </a:solidFill>
                          <a:effectLst/>
                          <a:latin typeface="Franklin Gothic Book" panose="020B0503020102020204" pitchFamily="34" charset="0"/>
                        </a:rPr>
                        <a:t>PNEUMO1</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EAEFF7"/>
                    </a:solidFill>
                  </a:tcPr>
                </a:tc>
                <a:tc>
                  <a:txBody>
                    <a:bodyPr/>
                    <a:lstStyle/>
                    <a:p>
                      <a:pPr algn="ctr" rtl="0" fontAlgn="ctr"/>
                      <a:r>
                        <a:rPr lang="fr-FR" sz="1400" b="1" i="0" u="none" strike="noStrike">
                          <a:solidFill>
                            <a:srgbClr val="000000"/>
                          </a:solidFill>
                          <a:effectLst/>
                          <a:latin typeface="Franklin Gothic Book" panose="020B0503020102020204" pitchFamily="34" charset="0"/>
                        </a:rPr>
                        <a:t>PNEUMO2</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EAEFF7"/>
                    </a:solidFill>
                  </a:tcPr>
                </a:tc>
                <a:extLst>
                  <a:ext uri="{0D108BD9-81ED-4DB2-BD59-A6C34878D82A}">
                    <a16:rowId xmlns:a16="http://schemas.microsoft.com/office/drawing/2014/main" val="10001"/>
                  </a:ext>
                </a:extLst>
              </a:tr>
              <a:tr h="447854">
                <a:tc>
                  <a:txBody>
                    <a:bodyPr/>
                    <a:lstStyle/>
                    <a:p>
                      <a:pPr algn="l" rtl="0" fontAlgn="ctr"/>
                      <a:r>
                        <a:rPr lang="fr-FR" sz="1800" b="1" i="0" u="none" strike="noStrike">
                          <a:solidFill>
                            <a:srgbClr val="000000"/>
                          </a:solidFill>
                          <a:effectLst/>
                          <a:latin typeface="Franklin Gothic Book" panose="020B0503020102020204" pitchFamily="34" charset="0"/>
                        </a:rPr>
                        <a:t>2020</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27</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153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22</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161</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21</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151</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extLst>
                  <a:ext uri="{0D108BD9-81ED-4DB2-BD59-A6C34878D82A}">
                    <a16:rowId xmlns:a16="http://schemas.microsoft.com/office/drawing/2014/main" val="10002"/>
                  </a:ext>
                </a:extLst>
              </a:tr>
              <a:tr h="447854">
                <a:tc>
                  <a:txBody>
                    <a:bodyPr/>
                    <a:lstStyle/>
                    <a:p>
                      <a:pPr algn="l" rtl="0" fontAlgn="ctr"/>
                      <a:r>
                        <a:rPr lang="fr-FR" sz="1800" b="1" i="0" u="none" strike="noStrike">
                          <a:solidFill>
                            <a:srgbClr val="000000"/>
                          </a:solidFill>
                          <a:effectLst/>
                          <a:latin typeface="Franklin Gothic Book" panose="020B0503020102020204" pitchFamily="34" charset="0"/>
                        </a:rPr>
                        <a:t>2021</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17</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135</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15</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142</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10</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141</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extLst>
                  <a:ext uri="{0D108BD9-81ED-4DB2-BD59-A6C34878D82A}">
                    <a16:rowId xmlns:a16="http://schemas.microsoft.com/office/drawing/2014/main" val="10003"/>
                  </a:ext>
                </a:extLst>
              </a:tr>
              <a:tr h="447854">
                <a:tc>
                  <a:txBody>
                    <a:bodyPr/>
                    <a:lstStyle/>
                    <a:p>
                      <a:pPr algn="l" rtl="0" fontAlgn="ctr"/>
                      <a:r>
                        <a:rPr lang="fr-FR" sz="1800" b="1" i="0" u="none" strike="noStrike">
                          <a:solidFill>
                            <a:srgbClr val="000000"/>
                          </a:solidFill>
                          <a:effectLst/>
                          <a:latin typeface="Franklin Gothic Book" panose="020B0503020102020204" pitchFamily="34" charset="0"/>
                        </a:rPr>
                        <a:t>2022</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15</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121</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11</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128</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14</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141</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extLst>
                  <a:ext uri="{0D108BD9-81ED-4DB2-BD59-A6C34878D82A}">
                    <a16:rowId xmlns:a16="http://schemas.microsoft.com/office/drawing/2014/main" val="10004"/>
                  </a:ext>
                </a:extLst>
              </a:tr>
              <a:tr h="447854">
                <a:tc>
                  <a:txBody>
                    <a:bodyPr/>
                    <a:lstStyle/>
                    <a:p>
                      <a:pPr algn="l" rtl="0" fontAlgn="ctr"/>
                      <a:r>
                        <a:rPr lang="fr-FR" sz="1800" b="1" i="0" u="none" strike="noStrike">
                          <a:solidFill>
                            <a:srgbClr val="000000"/>
                          </a:solidFill>
                          <a:effectLst/>
                          <a:latin typeface="Franklin Gothic Book" panose="020B0503020102020204" pitchFamily="34" charset="0"/>
                        </a:rPr>
                        <a:t>2023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128</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0</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143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17</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131</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20</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extLst>
                  <a:ext uri="{0D108BD9-81ED-4DB2-BD59-A6C34878D82A}">
                    <a16:rowId xmlns:a16="http://schemas.microsoft.com/office/drawing/2014/main" val="10005"/>
                  </a:ext>
                </a:extLst>
              </a:tr>
              <a:tr h="447854">
                <a:tc>
                  <a:txBody>
                    <a:bodyPr/>
                    <a:lstStyle/>
                    <a:p>
                      <a:pPr algn="l" rtl="0" fontAlgn="ctr"/>
                      <a:r>
                        <a:rPr lang="fr-FR" sz="1800" b="1" i="0" u="none" strike="noStrike">
                          <a:solidFill>
                            <a:srgbClr val="000000"/>
                          </a:solidFill>
                          <a:effectLst/>
                          <a:latin typeface="Franklin Gothic Book" panose="020B0503020102020204" pitchFamily="34" charset="0"/>
                        </a:rPr>
                        <a:t>2024</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14</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134</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141</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15</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148</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extLst>
                  <a:ext uri="{0D108BD9-81ED-4DB2-BD59-A6C34878D82A}">
                    <a16:rowId xmlns:a16="http://schemas.microsoft.com/office/drawing/2014/main" val="10006"/>
                  </a:ext>
                </a:extLst>
              </a:tr>
              <a:tr h="447854">
                <a:tc>
                  <a:txBody>
                    <a:bodyPr/>
                    <a:lstStyle/>
                    <a:p>
                      <a:pPr algn="l" rtl="0" fontAlgn="ctr"/>
                      <a:r>
                        <a:rPr lang="fr-FR" sz="1800" b="1" i="0" u="none" strike="noStrike">
                          <a:solidFill>
                            <a:srgbClr val="000000"/>
                          </a:solidFill>
                          <a:effectLst/>
                          <a:latin typeface="Franklin Gothic Book" panose="020B0503020102020204" pitchFamily="34" charset="0"/>
                        </a:rPr>
                        <a:t>2025</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27</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58</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260</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322</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185</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tc>
                  <a:txBody>
                    <a:bodyPr/>
                    <a:lstStyle/>
                    <a:p>
                      <a:pPr algn="ctr" rtl="0" fontAlgn="ctr"/>
                      <a:r>
                        <a:rPr lang="fr-FR" sz="1800" b="0" i="0" u="none" strike="noStrike">
                          <a:solidFill>
                            <a:srgbClr val="000000"/>
                          </a:solidFill>
                          <a:effectLst/>
                          <a:latin typeface="Franklin Gothic Book" panose="020B0503020102020204" pitchFamily="34" charset="0"/>
                        </a:rPr>
                        <a:t>169</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DF"/>
                    </a:solidFill>
                  </a:tcPr>
                </a:tc>
                <a:extLst>
                  <a:ext uri="{0D108BD9-81ED-4DB2-BD59-A6C34878D82A}">
                    <a16:rowId xmlns:a16="http://schemas.microsoft.com/office/drawing/2014/main" val="10007"/>
                  </a:ext>
                </a:extLst>
              </a:tr>
              <a:tr h="818491">
                <a:tc>
                  <a:txBody>
                    <a:bodyPr/>
                    <a:lstStyle/>
                    <a:p>
                      <a:pPr algn="l" rtl="0" fontAlgn="ctr"/>
                      <a:r>
                        <a:rPr lang="fr-FR" sz="1100" b="1" i="0" u="none" strike="noStrike">
                          <a:solidFill>
                            <a:srgbClr val="000000"/>
                          </a:solidFill>
                          <a:effectLst/>
                          <a:latin typeface="Franklin Gothic Book" panose="020B0503020102020204" pitchFamily="34" charset="0"/>
                        </a:rPr>
                        <a:t>Conclusion</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algn="ctr" rtl="0" fontAlgn="ctr"/>
                      <a:r>
                        <a:rPr lang="fr-FR" sz="1100" b="0" i="0" u="none" strike="noStrike" dirty="0">
                          <a:solidFill>
                            <a:srgbClr val="FFFFFF"/>
                          </a:solidFill>
                          <a:effectLst/>
                          <a:latin typeface="Franklin Gothic Book" panose="020B0503020102020204" pitchFamily="34" charset="0"/>
                        </a:rPr>
                        <a:t>Augmentation et Diminution</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gn="ctr" rtl="0" fontAlgn="ctr"/>
                      <a:r>
                        <a:rPr lang="fr-FR" sz="1100" b="0" i="0" u="none" strike="noStrike">
                          <a:solidFill>
                            <a:srgbClr val="FFFFFF"/>
                          </a:solidFill>
                          <a:effectLst/>
                          <a:latin typeface="Franklin Gothic Book" panose="020B0503020102020204" pitchFamily="34" charset="0"/>
                        </a:rPr>
                        <a:t>Augmentation et Diminution</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gn="ctr" rtl="0" fontAlgn="ctr"/>
                      <a:r>
                        <a:rPr lang="fr-FR" sz="1100" b="0" i="0" u="none" strike="noStrike">
                          <a:solidFill>
                            <a:srgbClr val="FFFFFF"/>
                          </a:solidFill>
                          <a:effectLst/>
                          <a:latin typeface="Franklin Gothic Book" panose="020B0503020102020204" pitchFamily="34" charset="0"/>
                        </a:rPr>
                        <a:t>Augmentation et Diminution</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gn="ctr" rtl="0" fontAlgn="ctr"/>
                      <a:r>
                        <a:rPr lang="fr-FR" sz="1100" b="0" i="0" u="none" strike="noStrike">
                          <a:solidFill>
                            <a:srgbClr val="FFFFFF"/>
                          </a:solidFill>
                          <a:effectLst/>
                          <a:latin typeface="Franklin Gothic Book" panose="020B0503020102020204" pitchFamily="34" charset="0"/>
                        </a:rPr>
                        <a:t>Augmentation et Diminution</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gn="ctr" rtl="0" fontAlgn="ctr"/>
                      <a:r>
                        <a:rPr lang="fr-FR" sz="1100" b="0" i="0" u="none" strike="noStrike">
                          <a:solidFill>
                            <a:srgbClr val="FFFFFF"/>
                          </a:solidFill>
                          <a:effectLst/>
                          <a:latin typeface="Franklin Gothic Book" panose="020B0503020102020204" pitchFamily="34" charset="0"/>
                        </a:rPr>
                        <a:t>Augmentation et Diminution</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gn="ctr" rtl="0" fontAlgn="ctr"/>
                      <a:r>
                        <a:rPr lang="fr-FR" sz="1100" b="0" i="0" u="none" strike="noStrike" dirty="0">
                          <a:solidFill>
                            <a:srgbClr val="FFFFFF"/>
                          </a:solidFill>
                          <a:effectLst/>
                          <a:latin typeface="Franklin Gothic Book" panose="020B0503020102020204" pitchFamily="34" charset="0"/>
                        </a:rPr>
                        <a:t>Augmentation et Diminution</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7879129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re 1"/>
          <p:cNvSpPr>
            <a:spLocks noGrp="1"/>
          </p:cNvSpPr>
          <p:nvPr>
            <p:ph type="title"/>
          </p:nvPr>
        </p:nvSpPr>
        <p:spPr>
          <a:xfrm>
            <a:off x="316523" y="44624"/>
            <a:ext cx="11512062" cy="792088"/>
          </a:xfrm>
        </p:spPr>
        <p:txBody>
          <a:bodyPr>
            <a:normAutofit/>
          </a:bodyPr>
          <a:lstStyle/>
          <a:p>
            <a:r>
              <a:rPr lang="fr-FR" altLang="fr-FR" sz="1800" b="1" dirty="0">
                <a:solidFill>
                  <a:srgbClr val="008000"/>
                </a:solidFill>
              </a:rPr>
              <a:t>Evolution de nombre des enfants vaccinés  en DTC </a:t>
            </a:r>
            <a:r>
              <a:rPr lang="fr-FR" altLang="fr-FR" sz="1800" b="1" dirty="0" err="1">
                <a:solidFill>
                  <a:srgbClr val="008000"/>
                </a:solidFill>
              </a:rPr>
              <a:t>HepB</a:t>
            </a:r>
            <a:r>
              <a:rPr lang="fr-FR" altLang="fr-FR" sz="1800" b="1" dirty="0">
                <a:solidFill>
                  <a:srgbClr val="008000"/>
                </a:solidFill>
              </a:rPr>
              <a:t> Hib1, DTC </a:t>
            </a:r>
            <a:r>
              <a:rPr lang="fr-FR" altLang="fr-FR" sz="1800" b="1" dirty="0" err="1">
                <a:solidFill>
                  <a:srgbClr val="008000"/>
                </a:solidFill>
              </a:rPr>
              <a:t>HepB</a:t>
            </a:r>
            <a:r>
              <a:rPr lang="fr-FR" altLang="fr-FR" sz="1800" b="1" dirty="0">
                <a:solidFill>
                  <a:srgbClr val="008000"/>
                </a:solidFill>
              </a:rPr>
              <a:t> Hib3 et VAR 1 par rapport à la cible de 2020-2025</a:t>
            </a:r>
            <a:endParaRPr lang="fr-FR" altLang="fr-FR" sz="1400" dirty="0">
              <a:solidFill>
                <a:srgbClr val="FF0000"/>
              </a:solidFill>
            </a:endParaRPr>
          </a:p>
        </p:txBody>
      </p:sp>
      <p:graphicFrame>
        <p:nvGraphicFramePr>
          <p:cNvPr id="4" name="Graphique 3"/>
          <p:cNvGraphicFramePr>
            <a:graphicFrameLocks/>
          </p:cNvGraphicFramePr>
          <p:nvPr/>
        </p:nvGraphicFramePr>
        <p:xfrm>
          <a:off x="653143" y="1267097"/>
          <a:ext cx="10816046" cy="5172892"/>
        </p:xfrm>
        <a:graphic>
          <a:graphicData uri="http://schemas.openxmlformats.org/drawingml/2006/chart">
            <c:chart xmlns:c="http://schemas.openxmlformats.org/drawingml/2006/chart" xmlns:r="http://schemas.openxmlformats.org/officeDocument/2006/relationships" r:id="rId3"/>
          </a:graphicData>
        </a:graphic>
      </p:graphicFrame>
      <p:sp>
        <p:nvSpPr>
          <p:cNvPr id="6" name="Ellipse 5">
            <a:extLst>
              <a:ext uri="{FF2B5EF4-FFF2-40B4-BE49-F238E27FC236}">
                <a16:creationId xmlns:a16="http://schemas.microsoft.com/office/drawing/2014/main" id="{560812FB-B834-F405-A12D-E6FB9748C1D5}"/>
              </a:ext>
            </a:extLst>
          </p:cNvPr>
          <p:cNvSpPr/>
          <p:nvPr/>
        </p:nvSpPr>
        <p:spPr>
          <a:xfrm>
            <a:off x="6746862" y="1726622"/>
            <a:ext cx="1127968" cy="209846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fr-FR"/>
          </a:p>
        </p:txBody>
      </p:sp>
    </p:spTree>
    <p:extLst>
      <p:ext uri="{BB962C8B-B14F-4D97-AF65-F5344CB8AC3E}">
        <p14:creationId xmlns:p14="http://schemas.microsoft.com/office/powerpoint/2010/main" val="1962356893"/>
      </p:ext>
    </p:extLst>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52AB9-D70A-5D68-9621-1BBE6922BE44}"/>
            </a:ext>
          </a:extLst>
        </p:cNvPr>
        <p:cNvGrpSpPr/>
        <p:nvPr/>
      </p:nvGrpSpPr>
      <p:grpSpPr>
        <a:xfrm>
          <a:off x="0" y="0"/>
          <a:ext cx="0" cy="0"/>
          <a:chOff x="0" y="0"/>
          <a:chExt cx="0" cy="0"/>
        </a:xfrm>
      </p:grpSpPr>
      <p:sp>
        <p:nvSpPr>
          <p:cNvPr id="10242" name="Titre 1">
            <a:extLst>
              <a:ext uri="{FF2B5EF4-FFF2-40B4-BE49-F238E27FC236}">
                <a16:creationId xmlns:a16="http://schemas.microsoft.com/office/drawing/2014/main" id="{DE615A41-3420-77CD-C739-D9CEC8C3F121}"/>
              </a:ext>
            </a:extLst>
          </p:cNvPr>
          <p:cNvSpPr>
            <a:spLocks noGrp="1"/>
          </p:cNvSpPr>
          <p:nvPr>
            <p:ph type="title"/>
          </p:nvPr>
        </p:nvSpPr>
        <p:spPr>
          <a:xfrm>
            <a:off x="529770" y="162552"/>
            <a:ext cx="11497129" cy="792088"/>
          </a:xfrm>
          <a:solidFill>
            <a:srgbClr val="0070C0"/>
          </a:solidFill>
          <a:ln w="9525" cap="flat" cmpd="sng">
            <a:solidFill>
              <a:schemeClr val="accent1"/>
            </a:solidFill>
            <a:prstDash val="solid"/>
            <a:round/>
            <a:headEnd type="none" w="sm" len="sm"/>
            <a:tailEnd type="none" w="sm" len="sm"/>
          </a:ln>
          <a:effectLst>
            <a:outerShdw blurRad="63500" dist="20000" dir="5400000" rotWithShape="0">
              <a:srgbClr val="000000">
                <a:alpha val="37647"/>
              </a:srgbClr>
            </a:outerShdw>
          </a:effectLst>
        </p:spPr>
        <p:txBody>
          <a:bodyPr spcFirstLastPara="1" wrap="square" lIns="91425" tIns="45700" rIns="91425" bIns="45700" anchor="ctr" anchorCtr="0">
            <a:noAutofit/>
          </a:bodyPr>
          <a:lstStyle/>
          <a:p>
            <a:pPr>
              <a:buClr>
                <a:schemeClr val="lt1"/>
              </a:buClr>
              <a:buSzPts val="3200"/>
            </a:pPr>
            <a:r>
              <a:rPr lang="fr-FR" altLang="fr-FR" sz="2000" b="1" dirty="0">
                <a:solidFill>
                  <a:schemeClr val="lt1"/>
                </a:solidFill>
                <a:latin typeface="Lato"/>
                <a:ea typeface="Lato"/>
                <a:cs typeface="Lato"/>
                <a:sym typeface="Arial"/>
              </a:rPr>
              <a:t>Comparaison des CV des antigènes qui se donnent au même moment par province </a:t>
            </a:r>
            <a:br>
              <a:rPr lang="fr-FR" altLang="fr-FR" sz="2000" b="1" dirty="0">
                <a:solidFill>
                  <a:schemeClr val="lt1"/>
                </a:solidFill>
                <a:latin typeface="Lato"/>
                <a:ea typeface="Lato"/>
                <a:cs typeface="Lato"/>
                <a:sym typeface="Arial"/>
              </a:rPr>
            </a:br>
            <a:r>
              <a:rPr lang="fr-FR" altLang="fr-FR" sz="2000" b="1" dirty="0">
                <a:solidFill>
                  <a:schemeClr val="lt1"/>
                </a:solidFill>
                <a:latin typeface="Lato"/>
                <a:ea typeface="Lato"/>
                <a:cs typeface="Lato"/>
                <a:sym typeface="Arial"/>
              </a:rPr>
              <a:t>RDC, Janvier-Octobre 2025</a:t>
            </a:r>
          </a:p>
        </p:txBody>
      </p:sp>
      <p:graphicFrame>
        <p:nvGraphicFramePr>
          <p:cNvPr id="6" name="Graphique 5"/>
          <p:cNvGraphicFramePr>
            <a:graphicFrameLocks noGrp="1"/>
          </p:cNvGraphicFramePr>
          <p:nvPr/>
        </p:nvGraphicFramePr>
        <p:xfrm>
          <a:off x="374073" y="1357745"/>
          <a:ext cx="11471563" cy="479367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930010117"/>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re 1"/>
          <p:cNvSpPr>
            <a:spLocks noGrp="1"/>
          </p:cNvSpPr>
          <p:nvPr>
            <p:ph type="title"/>
          </p:nvPr>
        </p:nvSpPr>
        <p:spPr>
          <a:xfrm>
            <a:off x="1610270" y="44624"/>
            <a:ext cx="9022234" cy="720080"/>
          </a:xfrm>
        </p:spPr>
        <p:txBody>
          <a:bodyPr/>
          <a:lstStyle/>
          <a:p>
            <a:r>
              <a:rPr lang="fr-FR" altLang="fr-FR" sz="1800" b="1" dirty="0">
                <a:solidFill>
                  <a:srgbClr val="008000"/>
                </a:solidFill>
                <a:latin typeface="Maiandra GD" panose="020E0502030308020204" pitchFamily="34" charset="0"/>
              </a:rPr>
              <a:t>Comparaison des CV des antigènes qui se donnent au même moment par province </a:t>
            </a:r>
            <a:br>
              <a:rPr lang="fr-FR" altLang="fr-FR" sz="1800" b="1" dirty="0">
                <a:solidFill>
                  <a:srgbClr val="008000"/>
                </a:solidFill>
                <a:latin typeface="Maiandra GD" panose="020E0502030308020204" pitchFamily="34" charset="0"/>
              </a:rPr>
            </a:br>
            <a:r>
              <a:rPr lang="fr-FR" altLang="fr-FR" sz="1400" b="1" dirty="0">
                <a:solidFill>
                  <a:srgbClr val="008000"/>
                </a:solidFill>
                <a:latin typeface="Maiandra GD" panose="020E0502030308020204" pitchFamily="34" charset="0"/>
              </a:rPr>
              <a:t>RDC, </a:t>
            </a:r>
            <a:r>
              <a:rPr lang="fr-FR" altLang="fr-FR" sz="1400" b="1" dirty="0">
                <a:solidFill>
                  <a:srgbClr val="008000"/>
                </a:solidFill>
              </a:rPr>
              <a:t>Janvier-Octobre 2025</a:t>
            </a:r>
            <a:endParaRPr lang="fr-FR" altLang="fr-FR" sz="1400" dirty="0">
              <a:solidFill>
                <a:srgbClr val="FF0000"/>
              </a:solidFill>
              <a:latin typeface="Maiandra GD" panose="020E0502030308020204" pitchFamily="34" charset="0"/>
            </a:endParaRPr>
          </a:p>
        </p:txBody>
      </p:sp>
      <p:graphicFrame>
        <p:nvGraphicFramePr>
          <p:cNvPr id="4" name="Graphique 3"/>
          <p:cNvGraphicFramePr>
            <a:graphicFrameLocks noGrp="1"/>
          </p:cNvGraphicFramePr>
          <p:nvPr/>
        </p:nvGraphicFramePr>
        <p:xfrm>
          <a:off x="728663" y="1557338"/>
          <a:ext cx="10787062" cy="460057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901721229"/>
      </p:ext>
    </p:extLst>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re 1"/>
          <p:cNvSpPr>
            <a:spLocks noGrp="1"/>
          </p:cNvSpPr>
          <p:nvPr>
            <p:ph type="title"/>
          </p:nvPr>
        </p:nvSpPr>
        <p:spPr>
          <a:xfrm>
            <a:off x="567160" y="44624"/>
            <a:ext cx="11076972" cy="720080"/>
          </a:xfrm>
        </p:spPr>
        <p:txBody>
          <a:bodyPr>
            <a:normAutofit fontScale="90000"/>
          </a:bodyPr>
          <a:lstStyle/>
          <a:p>
            <a:r>
              <a:rPr lang="fr-FR" altLang="fr-FR" sz="2400" b="1" dirty="0">
                <a:solidFill>
                  <a:srgbClr val="008000"/>
                </a:solidFill>
                <a:latin typeface="Maiandra GD" panose="020E0502030308020204" pitchFamily="34" charset="0"/>
              </a:rPr>
              <a:t>Comparaison des CV de VAR 2024 et 2025 par province </a:t>
            </a:r>
            <a:br>
              <a:rPr lang="fr-FR" altLang="fr-FR" sz="2400" b="1" dirty="0">
                <a:solidFill>
                  <a:srgbClr val="008000"/>
                </a:solidFill>
                <a:latin typeface="Maiandra GD" panose="020E0502030308020204" pitchFamily="34" charset="0"/>
              </a:rPr>
            </a:br>
            <a:r>
              <a:rPr lang="fr-FR" altLang="fr-FR" sz="2400" b="1" dirty="0">
                <a:solidFill>
                  <a:srgbClr val="008000"/>
                </a:solidFill>
                <a:latin typeface="Maiandra GD" panose="020E0502030308020204" pitchFamily="34" charset="0"/>
              </a:rPr>
              <a:t> </a:t>
            </a:r>
            <a:r>
              <a:rPr lang="fr-FR" altLang="fr-FR" sz="1800" b="1" dirty="0">
                <a:solidFill>
                  <a:srgbClr val="008000"/>
                </a:solidFill>
                <a:latin typeface="Maiandra GD" panose="020E0502030308020204" pitchFamily="34" charset="0"/>
              </a:rPr>
              <a:t>RDC, </a:t>
            </a:r>
            <a:r>
              <a:rPr lang="fr-FR" altLang="fr-FR" sz="1800" b="1" dirty="0">
                <a:solidFill>
                  <a:srgbClr val="008000"/>
                </a:solidFill>
              </a:rPr>
              <a:t>Janvier-Octobre 2025</a:t>
            </a:r>
            <a:endParaRPr lang="fr-FR" altLang="fr-FR" sz="1800" dirty="0">
              <a:solidFill>
                <a:srgbClr val="FF0000"/>
              </a:solidFill>
              <a:latin typeface="Maiandra GD" panose="020E0502030308020204" pitchFamily="34" charset="0"/>
            </a:endParaRPr>
          </a:p>
        </p:txBody>
      </p:sp>
      <p:graphicFrame>
        <p:nvGraphicFramePr>
          <p:cNvPr id="4" name="Graphique 3"/>
          <p:cNvGraphicFramePr>
            <a:graphicFrameLocks noGrp="1"/>
          </p:cNvGraphicFramePr>
          <p:nvPr/>
        </p:nvGraphicFramePr>
        <p:xfrm>
          <a:off x="567160" y="1343891"/>
          <a:ext cx="11076971" cy="484909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340114218"/>
      </p:ext>
    </p:extLst>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634902" y="130622"/>
            <a:ext cx="8922196" cy="706090"/>
          </a:xfrm>
          <a:solidFill>
            <a:schemeClr val="accent2"/>
          </a:solidFill>
          <a:ln w="9525" cap="flat">
            <a:solidFill>
              <a:schemeClr val="accent1"/>
            </a:solidFill>
            <a:miter lim="800000"/>
            <a:headEnd/>
            <a:tailEnd/>
          </a:ln>
          <a:effectLst>
            <a:outerShdw blurRad="63500" dist="20000" dir="5400000" rotWithShape="0">
              <a:srgbClr val="000000">
                <a:alpha val="37999"/>
              </a:srgbClr>
            </a:outerShdw>
          </a:effectLst>
        </p:spPr>
        <p:txBody>
          <a:bodyPr vert="horz" wrap="square" lIns="91440" tIns="45720" rIns="91440" bIns="45720" numCol="1" rtlCol="0" anchor="ctr" anchorCtr="0" compatLnSpc="1">
            <a:prstTxWarp prst="textNoShape">
              <a:avLst/>
            </a:prstTxWarp>
            <a:noAutofit/>
          </a:bodyPr>
          <a:lstStyle/>
          <a:p>
            <a:pPr algn="ctr"/>
            <a:r>
              <a:rPr lang="fr-FR" sz="2800" b="1" dirty="0">
                <a:solidFill>
                  <a:schemeClr val="bg1"/>
                </a:solidFill>
                <a:effectLst>
                  <a:outerShdw blurRad="38100" dist="38100" dir="2700000" algn="tl">
                    <a:srgbClr val="000000">
                      <a:alpha val="43137"/>
                    </a:srgbClr>
                  </a:outerShdw>
                </a:effectLst>
                <a:ea typeface="ＭＳ Ｐゴシック" pitchFamily="34" charset="-128"/>
              </a:rPr>
              <a:t>Triangulation des données DTC3 selon différentes sources</a:t>
            </a:r>
            <a:br>
              <a:rPr lang="fr-FR" sz="2800" b="1" dirty="0">
                <a:solidFill>
                  <a:schemeClr val="bg1"/>
                </a:solidFill>
                <a:effectLst>
                  <a:outerShdw blurRad="38100" dist="38100" dir="2700000" algn="tl">
                    <a:srgbClr val="000000">
                      <a:alpha val="43137"/>
                    </a:srgbClr>
                  </a:outerShdw>
                </a:effectLst>
                <a:ea typeface="ＭＳ Ｐゴシック" pitchFamily="34" charset="-128"/>
              </a:rPr>
            </a:br>
            <a:r>
              <a:rPr lang="fr-FR" sz="2800" dirty="0">
                <a:solidFill>
                  <a:srgbClr val="FF0000"/>
                </a:solidFill>
                <a:effectLst>
                  <a:outerShdw blurRad="38100" dist="38100" dir="2700000" algn="tl">
                    <a:srgbClr val="000000">
                      <a:alpha val="43137"/>
                    </a:srgbClr>
                  </a:outerShdw>
                </a:effectLst>
                <a:ea typeface="ＭＳ Ｐゴシック" pitchFamily="34" charset="-128"/>
              </a:rPr>
              <a:t>COMPLETER LE TABLEAU</a:t>
            </a:r>
            <a:endParaRPr lang="fr-FR" sz="2800" b="1" dirty="0">
              <a:solidFill>
                <a:srgbClr val="FF0000"/>
              </a:solidFill>
              <a:effectLst>
                <a:outerShdw blurRad="38100" dist="38100" dir="2700000" algn="tl">
                  <a:srgbClr val="000000">
                    <a:alpha val="43137"/>
                  </a:srgbClr>
                </a:outerShdw>
              </a:effectLst>
              <a:ea typeface="ＭＳ Ｐゴシック" pitchFamily="34" charset="-128"/>
            </a:endParaRPr>
          </a:p>
        </p:txBody>
      </p:sp>
      <p:sp>
        <p:nvSpPr>
          <p:cNvPr id="3" name="Rectangle 2">
            <a:extLst>
              <a:ext uri="{FF2B5EF4-FFF2-40B4-BE49-F238E27FC236}">
                <a16:creationId xmlns:a16="http://schemas.microsoft.com/office/drawing/2014/main" id="{79B2E943-C597-4035-955C-9DF1F2D2F6BE}"/>
              </a:ext>
            </a:extLst>
          </p:cNvPr>
          <p:cNvSpPr>
            <a:spLocks noChangeArrowheads="1"/>
          </p:cNvSpPr>
          <p:nvPr/>
        </p:nvSpPr>
        <p:spPr bwMode="auto">
          <a:xfrm flipV="1">
            <a:off x="1963866" y="2907153"/>
            <a:ext cx="1391854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GB"/>
          </a:p>
        </p:txBody>
      </p:sp>
      <p:sp>
        <p:nvSpPr>
          <p:cNvPr id="6" name="Rectangle 3">
            <a:extLst>
              <a:ext uri="{FF2B5EF4-FFF2-40B4-BE49-F238E27FC236}">
                <a16:creationId xmlns:a16="http://schemas.microsoft.com/office/drawing/2014/main" id="{18217FFE-AEE0-42D9-ADE4-3903E15E7303}"/>
              </a:ext>
            </a:extLst>
          </p:cNvPr>
          <p:cNvSpPr>
            <a:spLocks noChangeArrowheads="1"/>
          </p:cNvSpPr>
          <p:nvPr/>
        </p:nvSpPr>
        <p:spPr bwMode="auto">
          <a:xfrm flipV="1">
            <a:off x="1963866" y="6536178"/>
            <a:ext cx="1391854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GB"/>
          </a:p>
        </p:txBody>
      </p:sp>
    </p:spTree>
    <p:extLst>
      <p:ext uri="{BB962C8B-B14F-4D97-AF65-F5344CB8AC3E}">
        <p14:creationId xmlns:p14="http://schemas.microsoft.com/office/powerpoint/2010/main" val="83060977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
          <p:cNvSpPr txBox="1">
            <a:spLocks noGrp="1"/>
          </p:cNvSpPr>
          <p:nvPr>
            <p:ph type="sldNum" idx="12"/>
          </p:nvPr>
        </p:nvSpPr>
        <p:spPr>
          <a:xfrm>
            <a:off x="11296611" y="6217623"/>
            <a:ext cx="731600" cy="524800"/>
          </a:xfrm>
          <a:prstGeom prst="rect">
            <a:avLst/>
          </a:prstGeom>
          <a:noFill/>
          <a:ln>
            <a:noFill/>
          </a:ln>
        </p:spPr>
        <p:txBody>
          <a:bodyPr spcFirstLastPara="1" wrap="square" lIns="121900" tIns="121900" rIns="121900" bIns="121900" anchor="ctr" anchorCtr="0">
            <a:normAutofit/>
          </a:bodyPr>
          <a:lstStyle/>
          <a:p>
            <a:pPr marL="0" lvl="0" indent="0" algn="r" rtl="0">
              <a:lnSpc>
                <a:spcPct val="100000"/>
              </a:lnSpc>
              <a:spcBef>
                <a:spcPts val="0"/>
              </a:spcBef>
              <a:spcAft>
                <a:spcPts val="0"/>
              </a:spcAft>
              <a:buSzPts val="1000"/>
              <a:buNone/>
            </a:pPr>
            <a:fld id="{00000000-1234-1234-1234-123412341234}" type="slidenum">
              <a:rPr lang="en-GB" sz="1600"/>
              <a:t>70</a:t>
            </a:fld>
            <a:endParaRPr lang="en-GB" sz="1600"/>
          </a:p>
        </p:txBody>
      </p:sp>
      <p:sp>
        <p:nvSpPr>
          <p:cNvPr id="167" name="Google Shape;167;p1"/>
          <p:cNvSpPr txBox="1"/>
          <p:nvPr/>
        </p:nvSpPr>
        <p:spPr>
          <a:xfrm>
            <a:off x="295033" y="5920417"/>
            <a:ext cx="3302000" cy="34861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700"/>
              <a:buFont typeface="Arial" panose="020B0604020202020204"/>
              <a:buNone/>
            </a:pPr>
            <a:r>
              <a:rPr lang="en-GB" sz="2265" b="0" i="0" u="none" strike="noStrike" cap="none">
                <a:solidFill>
                  <a:srgbClr val="FFFFFF"/>
                </a:solidFill>
                <a:latin typeface="Arial" panose="020B0604020202020204"/>
                <a:ea typeface="Arial" panose="020B0604020202020204"/>
                <a:cs typeface="Arial" panose="020B0604020202020204"/>
                <a:sym typeface="Arial" panose="020B0604020202020204"/>
              </a:rPr>
              <a:t>October 2024</a:t>
            </a:r>
            <a:endParaRPr sz="2265"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168" name="Google Shape;168;p1"/>
          <p:cNvPicPr preferRelativeResize="0"/>
          <p:nvPr/>
        </p:nvPicPr>
        <p:blipFill rotWithShape="1">
          <a:blip r:embed="rId3"/>
          <a:srcRect l="-17785"/>
          <a:stretch>
            <a:fillRect/>
          </a:stretch>
        </p:blipFill>
        <p:spPr>
          <a:xfrm>
            <a:off x="-683503" y="1646443"/>
            <a:ext cx="4526453" cy="3703151"/>
          </a:xfrm>
          <a:prstGeom prst="rect">
            <a:avLst/>
          </a:prstGeom>
          <a:noFill/>
          <a:ln>
            <a:noFill/>
          </a:ln>
        </p:spPr>
      </p:pic>
      <p:sp>
        <p:nvSpPr>
          <p:cNvPr id="169" name="Google Shape;169;p1"/>
          <p:cNvSpPr txBox="1"/>
          <p:nvPr/>
        </p:nvSpPr>
        <p:spPr>
          <a:xfrm>
            <a:off x="4648835" y="3042920"/>
            <a:ext cx="7215505" cy="122301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panose="020B0604020202020204"/>
              <a:buNone/>
            </a:pPr>
            <a:r>
              <a:rPr lang="fr-FR" sz="4000" b="1" i="0" u="none" strike="noStrike" cap="none" dirty="0" err="1">
                <a:solidFill>
                  <a:srgbClr val="145ABE"/>
                </a:solidFill>
                <a:latin typeface="Times New Roman" panose="02020603050405020304"/>
                <a:ea typeface="Times New Roman" panose="02020603050405020304"/>
                <a:cs typeface="Times New Roman" panose="02020603050405020304"/>
                <a:sym typeface="Times New Roman" panose="02020603050405020304"/>
              </a:rPr>
              <a:t>ANALYSE FFOM/LE</a:t>
            </a:r>
            <a:r>
              <a:rPr lang="en-US" altLang="en-US" sz="4000" b="1" i="0" u="none" strike="noStrike" cap="none" dirty="0" err="1">
                <a:solidFill>
                  <a:srgbClr val="145ABE"/>
                </a:solidFill>
                <a:latin typeface="Times New Roman" panose="02020603050405020304"/>
                <a:ea typeface="Times New Roman" panose="02020603050405020304"/>
                <a:cs typeface="Times New Roman" panose="02020603050405020304"/>
                <a:sym typeface="Times New Roman" panose="02020603050405020304"/>
              </a:rPr>
              <a:t>Ç</a:t>
            </a:r>
            <a:r>
              <a:rPr lang="fr-FR" sz="4000" b="1" i="0" u="none" strike="noStrike" cap="none" dirty="0" err="1">
                <a:solidFill>
                  <a:srgbClr val="145ABE"/>
                </a:solidFill>
                <a:latin typeface="Times New Roman" panose="02020603050405020304"/>
                <a:ea typeface="Times New Roman" panose="02020603050405020304"/>
                <a:cs typeface="Times New Roman" panose="02020603050405020304"/>
                <a:sym typeface="Times New Roman" panose="02020603050405020304"/>
              </a:rPr>
              <a:t>ONS APPRISES -BONNE PRATIQUE</a:t>
            </a:r>
            <a:endParaRPr lang="fr-FR" altLang="en-GB" sz="4000" b="1" i="0" u="none" strike="noStrike" cap="none" dirty="0" err="1">
              <a:solidFill>
                <a:srgbClr val="145ABE"/>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0" name="Google Shape;170;p1"/>
          <p:cNvSpPr/>
          <p:nvPr/>
        </p:nvSpPr>
        <p:spPr>
          <a:xfrm>
            <a:off x="3660828" y="1516400"/>
            <a:ext cx="373600" cy="1867200"/>
          </a:xfrm>
          <a:prstGeom prst="rect">
            <a:avLst/>
          </a:prstGeom>
          <a:solidFill>
            <a:srgbClr val="145ABE"/>
          </a:solidFill>
          <a:ln>
            <a:noFill/>
          </a:ln>
        </p:spPr>
        <p:txBody>
          <a:bodyPr spcFirstLastPara="1" wrap="square" lIns="91433" tIns="91433" rIns="91433" bIns="91433" anchor="ctr" anchorCtr="0">
            <a:noAutofit/>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465"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extLst>
      <p:ext uri="{BB962C8B-B14F-4D97-AF65-F5344CB8AC3E}">
        <p14:creationId xmlns:p14="http://schemas.microsoft.com/office/powerpoint/2010/main" val="59515141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6"/>
          <p:cNvSpPr txBox="1"/>
          <p:nvPr/>
        </p:nvSpPr>
        <p:spPr>
          <a:xfrm>
            <a:off x="458592" y="317941"/>
            <a:ext cx="11274800" cy="731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SzPts val="1100"/>
              <a:buNone/>
            </a:pPr>
            <a:r>
              <a:rPr lang="fr-FR" altLang="en-GB" sz="2665" b="1">
                <a:solidFill>
                  <a:srgbClr val="1155CC"/>
                </a:solidFill>
                <a:latin typeface="Times New Roman" panose="02020603050405020304"/>
                <a:ea typeface="Times New Roman" panose="02020603050405020304"/>
                <a:cs typeface="Times New Roman" panose="02020603050405020304"/>
                <a:sym typeface="Times New Roman" panose="02020603050405020304"/>
              </a:rPr>
              <a:t>Forces - Faiblesses - Opportunités - Ménaces</a:t>
            </a:r>
            <a:endParaRPr lang="fr-FR" altLang="en-GB" sz="3200" b="1">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2" name="Google Shape;222;p16"/>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spcBef>
                <a:spcPts val="0"/>
              </a:spcBef>
              <a:spcAft>
                <a:spcPts val="0"/>
              </a:spcAft>
              <a:buNone/>
            </a:pPr>
            <a:endParaRPr sz="1865">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17" name="Grouper 16"/>
          <p:cNvGrpSpPr/>
          <p:nvPr/>
        </p:nvGrpSpPr>
        <p:grpSpPr>
          <a:xfrm>
            <a:off x="103505" y="1142365"/>
            <a:ext cx="11728450" cy="5534660"/>
            <a:chOff x="163" y="1799"/>
            <a:chExt cx="18470" cy="8716"/>
          </a:xfrm>
        </p:grpSpPr>
        <p:sp>
          <p:nvSpPr>
            <p:cNvPr id="224" name="Google Shape;224;p16"/>
            <p:cNvSpPr txBox="1"/>
            <p:nvPr/>
          </p:nvSpPr>
          <p:spPr>
            <a:xfrm>
              <a:off x="422" y="10225"/>
              <a:ext cx="17976" cy="29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sp>
          <p:nvSpPr>
            <p:cNvPr id="3" name="Rectangle 2"/>
            <p:cNvSpPr/>
            <p:nvPr/>
          </p:nvSpPr>
          <p:spPr>
            <a:xfrm>
              <a:off x="9600" y="2114"/>
              <a:ext cx="0" cy="8397"/>
            </a:xfrm>
            <a:prstGeom prst="rect">
              <a:avLst/>
            </a:prstGeom>
            <a:ln>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fr-FR" altLang="en-US"/>
            </a:p>
          </p:txBody>
        </p:sp>
        <p:sp>
          <p:nvSpPr>
            <p:cNvPr id="4" name="Zone de texte 3"/>
            <p:cNvSpPr txBox="1"/>
            <p:nvPr>
              <p:custDataLst>
                <p:tags r:id="rId1"/>
              </p:custDataLst>
            </p:nvPr>
          </p:nvSpPr>
          <p:spPr>
            <a:xfrm>
              <a:off x="163" y="1799"/>
              <a:ext cx="8000" cy="580"/>
            </a:xfrm>
            <a:prstGeom prst="rect">
              <a:avLst/>
            </a:prstGeom>
            <a:noFill/>
          </p:spPr>
          <p:txBody>
            <a:bodyPr wrap="square" rtlCol="0">
              <a:spAutoFit/>
            </a:bodyPr>
            <a:lstStyle/>
            <a:p>
              <a:pPr lvl="0" algn="l">
                <a:buClrTx/>
                <a:buSzTx/>
                <a:buFontTx/>
              </a:pPr>
              <a:r>
                <a:rPr lang="fr-FR" altLang="en-US" dirty="0">
                  <a:solidFill>
                    <a:srgbClr val="2205CD"/>
                  </a:solidFill>
                  <a:sym typeface="+mn-ea"/>
                </a:rPr>
                <a:t>Forces </a:t>
              </a:r>
            </a:p>
          </p:txBody>
        </p:sp>
        <p:sp>
          <p:nvSpPr>
            <p:cNvPr id="5" name="Zone de texte 4"/>
            <p:cNvSpPr txBox="1"/>
            <p:nvPr>
              <p:custDataLst>
                <p:tags r:id="rId2"/>
              </p:custDataLst>
            </p:nvPr>
          </p:nvSpPr>
          <p:spPr>
            <a:xfrm>
              <a:off x="163" y="6600"/>
              <a:ext cx="6400" cy="580"/>
            </a:xfrm>
            <a:prstGeom prst="rect">
              <a:avLst/>
            </a:prstGeom>
            <a:noFill/>
          </p:spPr>
          <p:txBody>
            <a:bodyPr wrap="square" rtlCol="0">
              <a:spAutoFit/>
            </a:bodyPr>
            <a:lstStyle/>
            <a:p>
              <a:pPr lvl="0" algn="l">
                <a:buClrTx/>
                <a:buSzTx/>
                <a:buFontTx/>
              </a:pPr>
              <a:r>
                <a:rPr lang="fr-FR" altLang="en-US" dirty="0" err="1">
                  <a:solidFill>
                    <a:srgbClr val="2205CD"/>
                  </a:solidFill>
                  <a:sym typeface="+mn-ea"/>
                </a:rPr>
                <a:t>Oportunités</a:t>
              </a:r>
              <a:r>
                <a:rPr lang="fr-FR" altLang="en-US" dirty="0">
                  <a:solidFill>
                    <a:srgbClr val="2205CD"/>
                  </a:solidFill>
                  <a:sym typeface="+mn-ea"/>
                </a:rPr>
                <a:t>  </a:t>
              </a:r>
              <a:endParaRPr lang="fr-FR" altLang="en-US" dirty="0">
                <a:solidFill>
                  <a:srgbClr val="2205CD"/>
                </a:solidFill>
              </a:endParaRPr>
            </a:p>
          </p:txBody>
        </p:sp>
        <p:sp>
          <p:nvSpPr>
            <p:cNvPr id="6" name="Zone de texte 5"/>
            <p:cNvSpPr txBox="1"/>
            <p:nvPr>
              <p:custDataLst>
                <p:tags r:id="rId3"/>
              </p:custDataLst>
            </p:nvPr>
          </p:nvSpPr>
          <p:spPr>
            <a:xfrm>
              <a:off x="9905" y="6600"/>
              <a:ext cx="4533" cy="580"/>
            </a:xfrm>
            <a:prstGeom prst="rect">
              <a:avLst/>
            </a:prstGeom>
            <a:noFill/>
          </p:spPr>
          <p:txBody>
            <a:bodyPr wrap="square" rtlCol="0">
              <a:spAutoFit/>
            </a:bodyPr>
            <a:lstStyle/>
            <a:p>
              <a:pPr lvl="0" algn="l">
                <a:buClrTx/>
                <a:buSzTx/>
                <a:buFontTx/>
              </a:pPr>
              <a:r>
                <a:rPr lang="fr-FR" altLang="en-US" dirty="0" err="1">
                  <a:solidFill>
                    <a:srgbClr val="2205CD"/>
                  </a:solidFill>
                  <a:sym typeface="+mn-ea"/>
                </a:rPr>
                <a:t>Ménaces</a:t>
              </a:r>
              <a:r>
                <a:rPr lang="fr-FR" altLang="en-US" dirty="0">
                  <a:solidFill>
                    <a:srgbClr val="2205CD"/>
                  </a:solidFill>
                  <a:sym typeface="+mn-ea"/>
                </a:rPr>
                <a:t>  </a:t>
              </a:r>
            </a:p>
          </p:txBody>
        </p:sp>
        <p:sp>
          <p:nvSpPr>
            <p:cNvPr id="8" name="Zone de texte 7"/>
            <p:cNvSpPr txBox="1"/>
            <p:nvPr>
              <p:custDataLst>
                <p:tags r:id="rId4"/>
              </p:custDataLst>
            </p:nvPr>
          </p:nvSpPr>
          <p:spPr>
            <a:xfrm>
              <a:off x="9905" y="1799"/>
              <a:ext cx="4533" cy="580"/>
            </a:xfrm>
            <a:prstGeom prst="rect">
              <a:avLst/>
            </a:prstGeom>
            <a:noFill/>
          </p:spPr>
          <p:txBody>
            <a:bodyPr wrap="square" rtlCol="0">
              <a:spAutoFit/>
            </a:bodyPr>
            <a:lstStyle/>
            <a:p>
              <a:pPr lvl="0" algn="l">
                <a:buClrTx/>
                <a:buSzTx/>
                <a:buFontTx/>
              </a:pPr>
              <a:r>
                <a:rPr lang="fr-FR" altLang="en-US" dirty="0">
                  <a:solidFill>
                    <a:srgbClr val="2205CD"/>
                  </a:solidFill>
                  <a:sym typeface="+mn-ea"/>
                </a:rPr>
                <a:t>Faiblesses </a:t>
              </a:r>
            </a:p>
          </p:txBody>
        </p:sp>
        <p:sp>
          <p:nvSpPr>
            <p:cNvPr id="10" name="Rectangle 9"/>
            <p:cNvSpPr/>
            <p:nvPr/>
          </p:nvSpPr>
          <p:spPr>
            <a:xfrm>
              <a:off x="881" y="6489"/>
              <a:ext cx="7691" cy="0"/>
            </a:xfrm>
            <a:prstGeom prst="rect">
              <a:avLst/>
            </a:prstGeom>
            <a:ln>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fr-FR" altLang="en-US"/>
            </a:p>
          </p:txBody>
        </p:sp>
        <p:sp>
          <p:nvSpPr>
            <p:cNvPr id="11" name="Rectangle 10"/>
            <p:cNvSpPr/>
            <p:nvPr/>
          </p:nvSpPr>
          <p:spPr>
            <a:xfrm>
              <a:off x="9905" y="6489"/>
              <a:ext cx="7691" cy="0"/>
            </a:xfrm>
            <a:prstGeom prst="rect">
              <a:avLst/>
            </a:prstGeom>
            <a:ln>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fr-FR" altLang="en-US"/>
            </a:p>
          </p:txBody>
        </p:sp>
        <p:sp>
          <p:nvSpPr>
            <p:cNvPr id="12" name="Zone de texte 11"/>
            <p:cNvSpPr txBox="1"/>
            <p:nvPr/>
          </p:nvSpPr>
          <p:spPr>
            <a:xfrm>
              <a:off x="341" y="2563"/>
              <a:ext cx="8763" cy="3628"/>
            </a:xfrm>
            <a:prstGeom prst="rect">
              <a:avLst/>
            </a:prstGeom>
            <a:noFill/>
          </p:spPr>
          <p:txBody>
            <a:bodyPr wrap="square" rtlCol="0">
              <a:noAutofit/>
            </a:bodyPr>
            <a:lstStyle/>
            <a:p>
              <a:pPr marL="171450" lvl="0" indent="-171450">
                <a:buFont typeface="Arial" panose="020B0604020202020204" pitchFamily="34" charset="0"/>
                <a:buChar char="•"/>
              </a:pPr>
              <a:r>
                <a:rPr lang="fr-FR" sz="1200" b="1" dirty="0"/>
                <a:t>Amélioration de la complétude et la promptitude des données dans le DHIS2;</a:t>
              </a:r>
            </a:p>
            <a:p>
              <a:pPr marL="171450" lvl="0" indent="-171450">
                <a:buFont typeface="Arial" panose="020B0604020202020204" pitchFamily="34" charset="0"/>
                <a:buChar char="•"/>
              </a:pPr>
              <a:r>
                <a:rPr lang="fr-FR" sz="1200" b="1" dirty="0"/>
                <a:t>7 réunions d’analyse des données tenues sur 6 au niveau de central </a:t>
              </a:r>
            </a:p>
            <a:p>
              <a:pPr marL="171450" lvl="0" indent="-171450">
                <a:buFont typeface="Arial" panose="020B0604020202020204" pitchFamily="34" charset="0"/>
                <a:buChar char="•"/>
              </a:pPr>
              <a:r>
                <a:rPr lang="fr-FR" sz="1200" b="1" dirty="0"/>
                <a:t>Implémentation des 7 cours certifiant (Vaccination pratique, Gestion des données, Utilisation des données, DQS,  Monitorage pour action, Stratégie de vaccination et Genre &amp; Equité vaccinale) en ligne pour la formation de prestataires au niveau opérationnel;</a:t>
              </a:r>
            </a:p>
            <a:p>
              <a:pPr marL="171450" lvl="0" indent="-171450">
                <a:buFont typeface="Arial" panose="020B0604020202020204" pitchFamily="34" charset="0"/>
                <a:buChar char="•"/>
              </a:pPr>
              <a:r>
                <a:rPr lang="fr-FR" sz="1200" b="1" dirty="0"/>
                <a:t>Analyses mensuelles des performances des zones de santé par le niveau central suivi de retro informations aux DPS, antennes et ZS</a:t>
              </a:r>
            </a:p>
            <a:p>
              <a:endParaRPr lang="fr-FR" altLang="en-US" sz="1200" dirty="0"/>
            </a:p>
          </p:txBody>
        </p:sp>
        <p:sp>
          <p:nvSpPr>
            <p:cNvPr id="14" name="Zone de texte 13"/>
            <p:cNvSpPr txBox="1"/>
            <p:nvPr/>
          </p:nvSpPr>
          <p:spPr>
            <a:xfrm>
              <a:off x="9897" y="2525"/>
              <a:ext cx="8733" cy="3628"/>
            </a:xfrm>
            <a:prstGeom prst="rect">
              <a:avLst/>
            </a:prstGeom>
            <a:noFill/>
          </p:spPr>
          <p:txBody>
            <a:bodyPr wrap="square" rtlCol="0">
              <a:noAutofit/>
            </a:bodyPr>
            <a:lstStyle/>
            <a:p>
              <a:pPr marL="171450" lvl="0" indent="-171450">
                <a:buFont typeface="Arial" panose="020B0604020202020204" pitchFamily="34" charset="0"/>
                <a:buChar char="•"/>
              </a:pPr>
              <a:r>
                <a:rPr lang="fr-FR" sz="1200" b="1" dirty="0"/>
                <a:t>Non maitrise du dénominateur;</a:t>
              </a:r>
            </a:p>
            <a:p>
              <a:pPr marL="171450" lvl="0" indent="-171450">
                <a:buFont typeface="Arial" panose="020B0604020202020204" pitchFamily="34" charset="0"/>
                <a:buChar char="•"/>
              </a:pPr>
              <a:r>
                <a:rPr lang="fr-FR" sz="1200" b="1" dirty="0"/>
                <a:t>Ecart  de plus 20 points entre les données administratives et les données des estimations OMS-Unicef pour DTC3 en 2024;</a:t>
              </a:r>
            </a:p>
            <a:p>
              <a:pPr marL="171450" lvl="0" indent="-171450">
                <a:buFont typeface="Arial" panose="020B0604020202020204" pitchFamily="34" charset="0"/>
                <a:buChar char="•"/>
              </a:pPr>
              <a:r>
                <a:rPr lang="fr-FR" sz="1200" b="1" dirty="0"/>
                <a:t>Faible analyse et validation des données PEV aux niveaux intermédiaire et opérationnel; </a:t>
              </a:r>
            </a:p>
            <a:p>
              <a:pPr marL="171450" lvl="0" indent="-171450">
                <a:buFont typeface="Arial" panose="020B0604020202020204" pitchFamily="34" charset="0"/>
                <a:buChar char="•"/>
              </a:pPr>
              <a:r>
                <a:rPr lang="fr-FR" sz="1200" b="1" dirty="0"/>
                <a:t>Faible rapportage des données de la gestion de vaccins et autres intrants dans le DHIS2;</a:t>
              </a:r>
            </a:p>
            <a:p>
              <a:pPr marL="171450" lvl="0" indent="-171450">
                <a:buFont typeface="Arial" panose="020B0604020202020204" pitchFamily="34" charset="0"/>
                <a:buChar char="•"/>
              </a:pPr>
              <a:r>
                <a:rPr lang="fr-FR" sz="1200" b="1" dirty="0"/>
                <a:t>Faible réalisation de DQS dans les AS;</a:t>
              </a:r>
            </a:p>
            <a:p>
              <a:pPr marL="171450" lvl="0" indent="-171450">
                <a:buFont typeface="Arial" panose="020B0604020202020204" pitchFamily="34" charset="0"/>
                <a:buChar char="•"/>
              </a:pPr>
              <a:r>
                <a:rPr lang="fr-FR" sz="1200" b="1" dirty="0"/>
                <a:t>Distribution tardive et insuffisante des outils de collecte des données aux ESS qui vaccinent.</a:t>
              </a:r>
            </a:p>
            <a:p>
              <a:r>
                <a:rPr lang="fr-FR" altLang="en-US" sz="1200" dirty="0">
                  <a:solidFill>
                    <a:srgbClr val="FF0000"/>
                  </a:solidFill>
                </a:rPr>
                <a:t> </a:t>
              </a:r>
            </a:p>
          </p:txBody>
        </p:sp>
        <p:sp>
          <p:nvSpPr>
            <p:cNvPr id="15" name="Zone de texte 14"/>
            <p:cNvSpPr txBox="1"/>
            <p:nvPr/>
          </p:nvSpPr>
          <p:spPr>
            <a:xfrm>
              <a:off x="371" y="7191"/>
              <a:ext cx="8733" cy="2902"/>
            </a:xfrm>
            <a:prstGeom prst="rect">
              <a:avLst/>
            </a:prstGeom>
            <a:noFill/>
          </p:spPr>
          <p:txBody>
            <a:bodyPr wrap="square" rtlCol="0">
              <a:noAutofit/>
            </a:bodyPr>
            <a:lstStyle/>
            <a:p>
              <a:endParaRPr lang="fr-FR" altLang="en-US" sz="1200" dirty="0">
                <a:solidFill>
                  <a:srgbClr val="FF0000"/>
                </a:solidFill>
              </a:endParaRPr>
            </a:p>
            <a:p>
              <a:pPr marL="171450" indent="-171450">
                <a:buFont typeface="Arial" panose="020B0604020202020204" pitchFamily="34" charset="0"/>
                <a:buChar char="•"/>
              </a:pPr>
              <a:r>
                <a:rPr lang="fr-FR" altLang="en-US" sz="1200" b="1" dirty="0"/>
                <a:t>Présence des assistances techniques sur terrain en appui au PEV</a:t>
              </a:r>
            </a:p>
            <a:p>
              <a:endParaRPr lang="fr-FR" altLang="en-US" sz="1200" dirty="0">
                <a:solidFill>
                  <a:srgbClr val="FF0000"/>
                </a:solidFill>
              </a:endParaRPr>
            </a:p>
          </p:txBody>
        </p:sp>
        <p:sp>
          <p:nvSpPr>
            <p:cNvPr id="16" name="Zone de texte 15"/>
            <p:cNvSpPr txBox="1"/>
            <p:nvPr/>
          </p:nvSpPr>
          <p:spPr>
            <a:xfrm>
              <a:off x="9900" y="7391"/>
              <a:ext cx="8733" cy="2902"/>
            </a:xfrm>
            <a:prstGeom prst="rect">
              <a:avLst/>
            </a:prstGeom>
            <a:noFill/>
          </p:spPr>
          <p:txBody>
            <a:bodyPr wrap="square" rtlCol="0">
              <a:noAutofit/>
            </a:bodyPr>
            <a:lstStyle/>
            <a:p>
              <a:endParaRPr lang="fr-FR" altLang="en-US" sz="1200" dirty="0">
                <a:solidFill>
                  <a:srgbClr val="FF0000"/>
                </a:solidFill>
              </a:endParaRPr>
            </a:p>
            <a:p>
              <a:pPr marL="171450" indent="-171450">
                <a:buFont typeface="Arial" panose="020B0604020202020204" pitchFamily="34" charset="0"/>
                <a:buChar char="•"/>
              </a:pPr>
              <a:r>
                <a:rPr lang="fr-FR" altLang="en-US" sz="1200" b="1" dirty="0"/>
                <a:t>Instabilité du personnel formé commis à la gestion des données</a:t>
              </a:r>
            </a:p>
            <a:p>
              <a:pPr marL="171450" indent="-171450">
                <a:buFont typeface="Arial" panose="020B0604020202020204" pitchFamily="34" charset="0"/>
                <a:buChar char="•"/>
              </a:pPr>
              <a:r>
                <a:rPr lang="fr-FR" altLang="en-US" sz="1200" b="1" dirty="0"/>
                <a:t>Aires de santé d’accès difficile sans couverture internet</a:t>
              </a:r>
            </a:p>
            <a:p>
              <a:pPr marL="171450" indent="-171450">
                <a:buFont typeface="Arial" panose="020B0604020202020204" pitchFamily="34" charset="0"/>
                <a:buChar char="•"/>
              </a:pPr>
              <a:r>
                <a:rPr lang="fr-FR" altLang="en-US" sz="1200" b="1" dirty="0" err="1"/>
                <a:t>Vsat</a:t>
              </a:r>
              <a:r>
                <a:rPr lang="fr-FR" altLang="en-US" sz="1200" b="1" dirty="0"/>
                <a:t> de plusieurs Zones de Santé  en panne et/ou sans abonnement Internet</a:t>
              </a:r>
            </a:p>
          </p:txBody>
        </p:sp>
      </p:grpSp>
    </p:spTree>
    <p:extLst>
      <p:ext uri="{BB962C8B-B14F-4D97-AF65-F5344CB8AC3E}">
        <p14:creationId xmlns:p14="http://schemas.microsoft.com/office/powerpoint/2010/main" val="32668328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6"/>
          <p:cNvSpPr txBox="1"/>
          <p:nvPr/>
        </p:nvSpPr>
        <p:spPr>
          <a:xfrm>
            <a:off x="458592" y="317941"/>
            <a:ext cx="11274800" cy="731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SzPts val="1100"/>
              <a:buNone/>
            </a:pPr>
            <a:r>
              <a:rPr lang="fr-FR" altLang="en-GB" sz="2665" b="1">
                <a:solidFill>
                  <a:srgbClr val="1155CC"/>
                </a:solidFill>
                <a:latin typeface="Times New Roman" panose="02020603050405020304"/>
                <a:ea typeface="Times New Roman" panose="02020603050405020304"/>
                <a:cs typeface="Times New Roman" panose="02020603050405020304"/>
                <a:sym typeface="Times New Roman" panose="02020603050405020304"/>
              </a:rPr>
              <a:t>Leçons apprises - Bonne pratique</a:t>
            </a:r>
            <a:endParaRPr lang="fr-FR" altLang="en-GB" sz="3200" b="1">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2" name="Google Shape;222;p16"/>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spcBef>
                <a:spcPts val="0"/>
              </a:spcBef>
              <a:spcAft>
                <a:spcPts val="0"/>
              </a:spcAft>
              <a:buNone/>
            </a:pPr>
            <a:endParaRPr sz="1865">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4" name="Google Shape;224;p16"/>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sp>
        <p:nvSpPr>
          <p:cNvPr id="3" name="Rectangle 2"/>
          <p:cNvSpPr/>
          <p:nvPr/>
        </p:nvSpPr>
        <p:spPr>
          <a:xfrm>
            <a:off x="6096000" y="1342390"/>
            <a:ext cx="0" cy="5332095"/>
          </a:xfrm>
          <a:prstGeom prst="rect">
            <a:avLst/>
          </a:prstGeom>
          <a:ln>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fr-FR" altLang="en-US"/>
          </a:p>
        </p:txBody>
      </p:sp>
      <p:sp>
        <p:nvSpPr>
          <p:cNvPr id="4" name="Zone de texte 3"/>
          <p:cNvSpPr txBox="1"/>
          <p:nvPr>
            <p:custDataLst>
              <p:tags r:id="rId1"/>
            </p:custDataLst>
          </p:nvPr>
        </p:nvSpPr>
        <p:spPr>
          <a:xfrm>
            <a:off x="103505" y="1142048"/>
            <a:ext cx="5080000" cy="368300"/>
          </a:xfrm>
          <a:prstGeom prst="rect">
            <a:avLst/>
          </a:prstGeom>
          <a:noFill/>
        </p:spPr>
        <p:txBody>
          <a:bodyPr wrap="square" rtlCol="0">
            <a:spAutoFit/>
          </a:bodyPr>
          <a:lstStyle/>
          <a:p>
            <a:pPr lvl="0" algn="l">
              <a:buClrTx/>
              <a:buSzTx/>
              <a:buFontTx/>
            </a:pPr>
            <a:r>
              <a:rPr lang="fr-FR" altLang="en-US">
                <a:sym typeface="+mn-ea"/>
              </a:rPr>
              <a:t>Leçons apprises  </a:t>
            </a:r>
          </a:p>
        </p:txBody>
      </p:sp>
      <p:sp>
        <p:nvSpPr>
          <p:cNvPr id="8" name="Zone de texte 7"/>
          <p:cNvSpPr txBox="1"/>
          <p:nvPr>
            <p:custDataLst>
              <p:tags r:id="rId2"/>
            </p:custDataLst>
          </p:nvPr>
        </p:nvSpPr>
        <p:spPr>
          <a:xfrm>
            <a:off x="6289675" y="1142365"/>
            <a:ext cx="2878455" cy="368300"/>
          </a:xfrm>
          <a:prstGeom prst="rect">
            <a:avLst/>
          </a:prstGeom>
          <a:noFill/>
        </p:spPr>
        <p:txBody>
          <a:bodyPr wrap="square" rtlCol="0">
            <a:spAutoFit/>
          </a:bodyPr>
          <a:lstStyle/>
          <a:p>
            <a:pPr lvl="0" algn="l">
              <a:buClrTx/>
              <a:buSzTx/>
              <a:buFontTx/>
            </a:pPr>
            <a:r>
              <a:rPr lang="fr-FR" altLang="en-US">
                <a:sym typeface="+mn-ea"/>
              </a:rPr>
              <a:t>Bonne pratique  </a:t>
            </a:r>
          </a:p>
        </p:txBody>
      </p:sp>
      <p:sp>
        <p:nvSpPr>
          <p:cNvPr id="12" name="Zone de texte 11"/>
          <p:cNvSpPr txBox="1"/>
          <p:nvPr/>
        </p:nvSpPr>
        <p:spPr>
          <a:xfrm>
            <a:off x="216535" y="1627505"/>
            <a:ext cx="5685791" cy="4782185"/>
          </a:xfrm>
          <a:prstGeom prst="rect">
            <a:avLst/>
          </a:prstGeom>
          <a:noFill/>
        </p:spPr>
        <p:txBody>
          <a:bodyPr wrap="square" rtlCol="0">
            <a:noAutofit/>
          </a:bodyPr>
          <a:lstStyle/>
          <a:p>
            <a:endParaRPr lang="fr-FR" altLang="en-US" sz="1200" dirty="0">
              <a:solidFill>
                <a:srgbClr val="FF3300"/>
              </a:solidFill>
            </a:endParaRPr>
          </a:p>
          <a:p>
            <a:pPr marL="285750" indent="-285750">
              <a:buFont typeface="Arial" panose="020B0604020202020204" pitchFamily="34" charset="0"/>
              <a:buChar char="•"/>
            </a:pPr>
            <a:r>
              <a:rPr lang="fr-FR" altLang="en-US" sz="1400" b="1" dirty="0"/>
              <a:t>L’utilisation par toutes les zones de santé du logiciel DHIS2 a permis, chaque mois, d’avoir les données de la vaccination de Routine et de réduire sensiblement le temps d’attente des données de vaccination du niveau opérationnel.</a:t>
            </a:r>
          </a:p>
        </p:txBody>
      </p:sp>
      <p:sp>
        <p:nvSpPr>
          <p:cNvPr id="14" name="Zone de texte 13"/>
          <p:cNvSpPr txBox="1"/>
          <p:nvPr/>
        </p:nvSpPr>
        <p:spPr>
          <a:xfrm>
            <a:off x="6284595" y="1603375"/>
            <a:ext cx="5545455" cy="4806315"/>
          </a:xfrm>
          <a:prstGeom prst="rect">
            <a:avLst/>
          </a:prstGeom>
          <a:noFill/>
        </p:spPr>
        <p:txBody>
          <a:bodyPr wrap="square" rtlCol="0">
            <a:noAutofit/>
          </a:bodyPr>
          <a:lstStyle/>
          <a:p>
            <a:endParaRPr lang="fr-FR" altLang="en-US" sz="1400" dirty="0">
              <a:solidFill>
                <a:srgbClr val="FF0000"/>
              </a:solidFill>
            </a:endParaRPr>
          </a:p>
        </p:txBody>
      </p:sp>
    </p:spTree>
    <p:extLst>
      <p:ext uri="{BB962C8B-B14F-4D97-AF65-F5344CB8AC3E}">
        <p14:creationId xmlns:p14="http://schemas.microsoft.com/office/powerpoint/2010/main" val="195061711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6"/>
          <p:cNvSpPr txBox="1"/>
          <p:nvPr/>
        </p:nvSpPr>
        <p:spPr>
          <a:xfrm>
            <a:off x="458592" y="317941"/>
            <a:ext cx="11274800" cy="731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SzPts val="1100"/>
              <a:buNone/>
            </a:pPr>
            <a:r>
              <a:rPr lang="fr-FR" altLang="en-GB" sz="3200" b="1">
                <a:solidFill>
                  <a:srgbClr val="0070C0"/>
                </a:solidFill>
                <a:latin typeface="Times New Roman" panose="02020603050405020304"/>
                <a:ea typeface="Times New Roman" panose="02020603050405020304"/>
                <a:cs typeface="Times New Roman" panose="02020603050405020304"/>
                <a:sym typeface="Times New Roman" panose="02020603050405020304"/>
              </a:rPr>
              <a:t>Recommandations </a:t>
            </a:r>
          </a:p>
        </p:txBody>
      </p:sp>
      <p:sp>
        <p:nvSpPr>
          <p:cNvPr id="222" name="Google Shape;222;p16"/>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spcBef>
                <a:spcPts val="0"/>
              </a:spcBef>
              <a:spcAft>
                <a:spcPts val="0"/>
              </a:spcAft>
              <a:buNone/>
            </a:pPr>
            <a:endParaRPr sz="1865">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4" name="Google Shape;224;p16"/>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sp>
        <p:nvSpPr>
          <p:cNvPr id="12" name="Zone de texte 11"/>
          <p:cNvSpPr txBox="1"/>
          <p:nvPr/>
        </p:nvSpPr>
        <p:spPr>
          <a:xfrm>
            <a:off x="235600" y="1131952"/>
            <a:ext cx="11388725" cy="5034280"/>
          </a:xfrm>
          <a:prstGeom prst="rect">
            <a:avLst/>
          </a:prstGeom>
          <a:noFill/>
        </p:spPr>
        <p:txBody>
          <a:bodyPr wrap="square" rtlCol="0">
            <a:noAutofit/>
          </a:bodyPr>
          <a:lstStyle/>
          <a:p>
            <a:endParaRPr lang="fr-FR" dirty="0"/>
          </a:p>
          <a:p>
            <a:pPr marL="171450" lvl="0" indent="-171450">
              <a:spcBef>
                <a:spcPts val="600"/>
              </a:spcBef>
              <a:spcAft>
                <a:spcPts val="600"/>
              </a:spcAft>
              <a:buFont typeface="Arial" panose="020B0604020202020204" pitchFamily="34" charset="0"/>
              <a:buChar char="•"/>
            </a:pPr>
            <a:r>
              <a:rPr lang="fr-FR" sz="1600" dirty="0">
                <a:latin typeface="Times New Roman" panose="02020603050405020304" pitchFamily="18" charset="0"/>
                <a:cs typeface="Times New Roman" panose="02020603050405020304" pitchFamily="18" charset="0"/>
              </a:rPr>
              <a:t>Proposer à la hiérarchie d’autoriser l’utilisation sur DHIS2 des cibles réajustées en 2024 et 2025 pour améliorer le dénominateur;</a:t>
            </a:r>
          </a:p>
          <a:p>
            <a:pPr marL="171450" lvl="0" indent="-171450">
              <a:spcBef>
                <a:spcPts val="600"/>
              </a:spcBef>
              <a:spcAft>
                <a:spcPts val="600"/>
              </a:spcAft>
              <a:buFont typeface="Arial" panose="020B0604020202020204" pitchFamily="34" charset="0"/>
              <a:buChar char="•"/>
            </a:pPr>
            <a:r>
              <a:rPr lang="fr-FR" sz="1600" dirty="0">
                <a:latin typeface="Times New Roman" panose="02020603050405020304" pitchFamily="18" charset="0"/>
                <a:cs typeface="Times New Roman" panose="02020603050405020304" pitchFamily="18" charset="0"/>
              </a:rPr>
              <a:t>Revoir le calcul des nourrissons survivants qui est passé de 3,49% à 3,77% étant donné que la mortalité infantile a fortement baissé de 2017 à 2024;</a:t>
            </a:r>
          </a:p>
          <a:p>
            <a:pPr marL="171450" lvl="0" indent="-171450">
              <a:spcBef>
                <a:spcPts val="600"/>
              </a:spcBef>
              <a:spcAft>
                <a:spcPts val="600"/>
              </a:spcAft>
              <a:buFont typeface="Arial" panose="020B0604020202020204" pitchFamily="34" charset="0"/>
              <a:buChar char="•"/>
            </a:pPr>
            <a:r>
              <a:rPr lang="fr-FR" sz="1600" dirty="0">
                <a:latin typeface="Times New Roman" panose="02020603050405020304" pitchFamily="18" charset="0"/>
                <a:cs typeface="Times New Roman" panose="02020603050405020304" pitchFamily="18" charset="0"/>
              </a:rPr>
              <a:t>Rendre les outils de gestion disponibles à temps et en quantité suffisante dans les structures qui vaccinent;</a:t>
            </a:r>
          </a:p>
          <a:p>
            <a:pPr marL="171450" lvl="0" indent="-171450">
              <a:spcBef>
                <a:spcPts val="600"/>
              </a:spcBef>
              <a:spcAft>
                <a:spcPts val="600"/>
              </a:spcAft>
              <a:buFont typeface="Arial" panose="020B0604020202020204" pitchFamily="34" charset="0"/>
              <a:buChar char="•"/>
            </a:pPr>
            <a:r>
              <a:rPr lang="fr-FR" sz="1600" dirty="0">
                <a:latin typeface="Times New Roman" panose="02020603050405020304" pitchFamily="18" charset="0"/>
                <a:cs typeface="Times New Roman" panose="02020603050405020304" pitchFamily="18" charset="0"/>
              </a:rPr>
              <a:t>Renforcer les capacités des gestionnaires des données dans l’analyse et traitement des données;</a:t>
            </a:r>
          </a:p>
          <a:p>
            <a:pPr marL="171450" lvl="0" indent="-171450">
              <a:spcBef>
                <a:spcPts val="600"/>
              </a:spcBef>
              <a:spcAft>
                <a:spcPts val="600"/>
              </a:spcAft>
              <a:buFont typeface="Arial" panose="020B0604020202020204" pitchFamily="34" charset="0"/>
              <a:buChar char="•"/>
            </a:pPr>
            <a:r>
              <a:rPr lang="fr-FR" sz="1600" dirty="0">
                <a:latin typeface="Times New Roman" panose="02020603050405020304" pitchFamily="18" charset="0"/>
                <a:cs typeface="Times New Roman" panose="02020603050405020304" pitchFamily="18" charset="0"/>
              </a:rPr>
              <a:t>Superviser mensuellement/trimestriellement les gestionnaires des données pour s’assurer de l’amélioration de la qualité des données de la vaccination;</a:t>
            </a:r>
          </a:p>
          <a:p>
            <a:pPr marL="171450" lvl="0" indent="-171450">
              <a:spcBef>
                <a:spcPts val="600"/>
              </a:spcBef>
              <a:spcAft>
                <a:spcPts val="600"/>
              </a:spcAft>
              <a:buFont typeface="Arial" panose="020B0604020202020204" pitchFamily="34" charset="0"/>
              <a:buChar char="•"/>
            </a:pPr>
            <a:r>
              <a:rPr lang="fr-FR" sz="1600" dirty="0">
                <a:latin typeface="Times New Roman" panose="02020603050405020304" pitchFamily="18" charset="0"/>
                <a:cs typeface="Times New Roman" panose="02020603050405020304" pitchFamily="18" charset="0"/>
              </a:rPr>
              <a:t>Vulgariser au niveau des AS les outils d’auto-évaluation de la qualité des données (DQS)</a:t>
            </a:r>
          </a:p>
        </p:txBody>
      </p:sp>
    </p:spTree>
    <p:extLst>
      <p:ext uri="{BB962C8B-B14F-4D97-AF65-F5344CB8AC3E}">
        <p14:creationId xmlns:p14="http://schemas.microsoft.com/office/powerpoint/2010/main" val="238519647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6"/>
          <p:cNvSpPr txBox="1"/>
          <p:nvPr/>
        </p:nvSpPr>
        <p:spPr>
          <a:xfrm>
            <a:off x="458592" y="89335"/>
            <a:ext cx="11274800" cy="46583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SzPts val="1100"/>
              <a:buNone/>
            </a:pPr>
            <a:r>
              <a:rPr lang="fr-FR" altLang="en-GB" sz="3200" b="1" dirty="0">
                <a:solidFill>
                  <a:srgbClr val="0070C0"/>
                </a:solidFill>
                <a:latin typeface="Times New Roman" panose="02020603050405020304"/>
                <a:ea typeface="Times New Roman" panose="02020603050405020304"/>
                <a:cs typeface="Times New Roman" panose="02020603050405020304"/>
                <a:sym typeface="Times New Roman" panose="02020603050405020304"/>
              </a:rPr>
              <a:t>Actions prioritaires pour 2026 </a:t>
            </a:r>
          </a:p>
        </p:txBody>
      </p:sp>
      <p:sp>
        <p:nvSpPr>
          <p:cNvPr id="222" name="Google Shape;222;p16"/>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spcBef>
                <a:spcPts val="0"/>
              </a:spcBef>
              <a:spcAft>
                <a:spcPts val="0"/>
              </a:spcAft>
              <a:buNone/>
            </a:pPr>
            <a:endParaRPr sz="1865">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4" name="Google Shape;224;p16"/>
          <p:cNvSpPr txBox="1"/>
          <p:nvPr/>
        </p:nvSpPr>
        <p:spPr>
          <a:xfrm>
            <a:off x="267700" y="6492843"/>
            <a:ext cx="11414800" cy="18415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sp>
        <p:nvSpPr>
          <p:cNvPr id="12" name="Zone de texte 11"/>
          <p:cNvSpPr txBox="1"/>
          <p:nvPr/>
        </p:nvSpPr>
        <p:spPr>
          <a:xfrm>
            <a:off x="235601" y="692901"/>
            <a:ext cx="11497792" cy="5785264"/>
          </a:xfrm>
          <a:prstGeom prst="rect">
            <a:avLst/>
          </a:prstGeom>
          <a:noFill/>
        </p:spPr>
        <p:txBody>
          <a:bodyPr wrap="square" rtlCol="0">
            <a:noAutofit/>
          </a:bodyPr>
          <a:lstStyle/>
          <a:p>
            <a:pPr marL="228600" indent="-228600" algn="just">
              <a:spcBef>
                <a:spcPts val="600"/>
              </a:spcBef>
              <a:spcAft>
                <a:spcPts val="600"/>
              </a:spcAft>
              <a:buFont typeface="+mj-lt"/>
              <a:buAutoNum type="arabicPeriod"/>
            </a:pPr>
            <a:r>
              <a:rPr lang="fr-FR" sz="1300" dirty="0">
                <a:latin typeface="Times New Roman" panose="02020603050405020304" pitchFamily="18" charset="0"/>
                <a:cs typeface="Times New Roman" panose="02020603050405020304" pitchFamily="18" charset="0"/>
              </a:rPr>
              <a:t>Poursuivre le déploiement des registres électroniques de vaccination pour le suivi des enregistrements de vaccination individuelle à  Kinshasa  après la phase pilote.</a:t>
            </a:r>
          </a:p>
          <a:p>
            <a:pPr marL="342900" indent="-342900" algn="just">
              <a:spcBef>
                <a:spcPts val="600"/>
              </a:spcBef>
              <a:spcAft>
                <a:spcPts val="600"/>
              </a:spcAft>
              <a:buFont typeface="+mj-lt"/>
              <a:buAutoNum type="arabicPeriod"/>
            </a:pPr>
            <a:r>
              <a:rPr lang="fr-FR" sz="1300" dirty="0">
                <a:latin typeface="Times New Roman" panose="02020603050405020304" pitchFamily="18" charset="0"/>
                <a:cs typeface="Times New Roman" panose="02020603050405020304" pitchFamily="18" charset="0"/>
              </a:rPr>
              <a:t>Appuyer la décentralisation de DHIS2 vers les aires de santé pour la saisie des données SNIS dans la DPS de Kinshasa</a:t>
            </a:r>
          </a:p>
          <a:p>
            <a:pPr marL="342900" indent="-342900" algn="just">
              <a:spcBef>
                <a:spcPts val="600"/>
              </a:spcBef>
              <a:spcAft>
                <a:spcPts val="600"/>
              </a:spcAft>
              <a:buFont typeface="+mj-lt"/>
              <a:buAutoNum type="arabicPeriod"/>
            </a:pPr>
            <a:r>
              <a:rPr lang="fr-FR" sz="1300" dirty="0">
                <a:latin typeface="Times New Roman" panose="02020603050405020304" pitchFamily="18" charset="0"/>
                <a:cs typeface="Times New Roman" panose="02020603050405020304" pitchFamily="18" charset="0"/>
              </a:rPr>
              <a:t>Réaliser les estimations de couverture vaccinale des provinces (ESNIC)</a:t>
            </a:r>
          </a:p>
          <a:p>
            <a:pPr marL="342900" indent="-342900" algn="just">
              <a:spcBef>
                <a:spcPts val="600"/>
              </a:spcBef>
              <a:spcAft>
                <a:spcPts val="600"/>
              </a:spcAft>
              <a:buFont typeface="+mj-lt"/>
              <a:buAutoNum type="arabicPeriod"/>
            </a:pPr>
            <a:r>
              <a:rPr lang="fr-FR" sz="1300" dirty="0">
                <a:latin typeface="Times New Roman" panose="02020603050405020304" pitchFamily="18" charset="0"/>
                <a:cs typeface="Times New Roman" panose="02020603050405020304" pitchFamily="18" charset="0"/>
              </a:rPr>
              <a:t>Doter chaque FOSA des outils de gestion des données : outils spécifiques au PEV : (fiches de pointage, registre de </a:t>
            </a:r>
            <a:r>
              <a:rPr lang="fr-FR" sz="1300" dirty="0" err="1">
                <a:latin typeface="Times New Roman" panose="02020603050405020304" pitchFamily="18" charset="0"/>
                <a:cs typeface="Times New Roman" panose="02020603050405020304" pitchFamily="18" charset="0"/>
              </a:rPr>
              <a:t>vaccination,Nouvelles</a:t>
            </a:r>
            <a:r>
              <a:rPr lang="fr-FR" sz="1300" dirty="0">
                <a:latin typeface="Times New Roman" panose="02020603050405020304" pitchFamily="18" charset="0"/>
                <a:cs typeface="Times New Roman" panose="02020603050405020304" pitchFamily="18" charset="0"/>
              </a:rPr>
              <a:t> cartes de vaccination-CPS)</a:t>
            </a:r>
          </a:p>
          <a:p>
            <a:pPr marL="342900" indent="-342900" algn="just">
              <a:spcBef>
                <a:spcPts val="600"/>
              </a:spcBef>
              <a:spcAft>
                <a:spcPts val="600"/>
              </a:spcAft>
              <a:buFont typeface="+mj-lt"/>
              <a:buAutoNum type="arabicPeriod"/>
            </a:pPr>
            <a:r>
              <a:rPr lang="fr-FR" sz="1300" dirty="0">
                <a:latin typeface="Times New Roman" panose="02020603050405020304" pitchFamily="18" charset="0"/>
                <a:cs typeface="Times New Roman" panose="02020603050405020304" pitchFamily="18" charset="0"/>
              </a:rPr>
              <a:t>Contribuer a l'impression   des outils intégrés du SNIS</a:t>
            </a:r>
          </a:p>
          <a:p>
            <a:pPr marL="342900" indent="-342900" algn="just">
              <a:spcBef>
                <a:spcPts val="600"/>
              </a:spcBef>
              <a:spcAft>
                <a:spcPts val="600"/>
              </a:spcAft>
              <a:buFont typeface="+mj-lt"/>
              <a:buAutoNum type="arabicPeriod"/>
            </a:pPr>
            <a:r>
              <a:rPr lang="fr-FR" sz="1300" dirty="0">
                <a:latin typeface="Times New Roman" panose="02020603050405020304" pitchFamily="18" charset="0"/>
                <a:cs typeface="Times New Roman" panose="02020603050405020304" pitchFamily="18" charset="0"/>
              </a:rPr>
              <a:t>Appuyer l'organisation </a:t>
            </a:r>
            <a:r>
              <a:rPr lang="fr-FR" sz="1300" dirty="0" err="1">
                <a:latin typeface="Times New Roman" panose="02020603050405020304" pitchFamily="18" charset="0"/>
                <a:cs typeface="Times New Roman" panose="02020603050405020304" pitchFamily="18" charset="0"/>
              </a:rPr>
              <a:t>systematique</a:t>
            </a:r>
            <a:r>
              <a:rPr lang="fr-FR" sz="1300" dirty="0">
                <a:latin typeface="Times New Roman" panose="02020603050405020304" pitchFamily="18" charset="0"/>
                <a:cs typeface="Times New Roman" panose="02020603050405020304" pitchFamily="18" charset="0"/>
              </a:rPr>
              <a:t> des réunions de monitorage mensuel au niveau des AS et BCZS des 6 DPS a </a:t>
            </a:r>
            <a:r>
              <a:rPr lang="fr-FR" sz="1300" dirty="0" err="1">
                <a:latin typeface="Times New Roman" panose="02020603050405020304" pitchFamily="18" charset="0"/>
                <a:cs typeface="Times New Roman" panose="02020603050405020304" pitchFamily="18" charset="0"/>
              </a:rPr>
              <a:t>Ht</a:t>
            </a:r>
            <a:r>
              <a:rPr lang="fr-FR" sz="1300" dirty="0">
                <a:latin typeface="Times New Roman" panose="02020603050405020304" pitchFamily="18" charset="0"/>
                <a:cs typeface="Times New Roman" panose="02020603050405020304" pitchFamily="18" charset="0"/>
              </a:rPr>
              <a:t> impact (</a:t>
            </a:r>
            <a:r>
              <a:rPr lang="fr-FR" sz="1300" dirty="0" err="1">
                <a:latin typeface="Times New Roman" panose="02020603050405020304" pitchFamily="18" charset="0"/>
                <a:cs typeface="Times New Roman" panose="02020603050405020304" pitchFamily="18" charset="0"/>
              </a:rPr>
              <a:t>Tshopo</a:t>
            </a:r>
            <a:r>
              <a:rPr lang="fr-FR" sz="1300" dirty="0">
                <a:latin typeface="Times New Roman" panose="02020603050405020304" pitchFamily="18" charset="0"/>
                <a:cs typeface="Times New Roman" panose="02020603050405020304" pitchFamily="18" charset="0"/>
              </a:rPr>
              <a:t>, </a:t>
            </a:r>
            <a:r>
              <a:rPr lang="fr-FR" sz="1300" dirty="0" err="1">
                <a:latin typeface="Times New Roman" panose="02020603050405020304" pitchFamily="18" charset="0"/>
                <a:cs typeface="Times New Roman" panose="02020603050405020304" pitchFamily="18" charset="0"/>
              </a:rPr>
              <a:t>Mongala</a:t>
            </a:r>
            <a:r>
              <a:rPr lang="fr-FR" sz="1300" dirty="0">
                <a:latin typeface="Times New Roman" panose="02020603050405020304" pitchFamily="18" charset="0"/>
                <a:cs typeface="Times New Roman" panose="02020603050405020304" pitchFamily="18" charset="0"/>
              </a:rPr>
              <a:t>, </a:t>
            </a:r>
            <a:r>
              <a:rPr lang="fr-FR" sz="1300" dirty="0" err="1">
                <a:latin typeface="Times New Roman" panose="02020603050405020304" pitchFamily="18" charset="0"/>
                <a:cs typeface="Times New Roman" panose="02020603050405020304" pitchFamily="18" charset="0"/>
              </a:rPr>
              <a:t>Kasa</a:t>
            </a:r>
            <a:r>
              <a:rPr lang="fr-FR" sz="1300" dirty="0">
                <a:latin typeface="Times New Roman" panose="02020603050405020304" pitchFamily="18" charset="0"/>
                <a:cs typeface="Times New Roman" panose="02020603050405020304" pitchFamily="18" charset="0"/>
              </a:rPr>
              <a:t> Oriental, Sud </a:t>
            </a:r>
            <a:r>
              <a:rPr lang="fr-FR" sz="1300" dirty="0" err="1">
                <a:latin typeface="Times New Roman" panose="02020603050405020304" pitchFamily="18" charset="0"/>
                <a:cs typeface="Times New Roman" panose="02020603050405020304" pitchFamily="18" charset="0"/>
              </a:rPr>
              <a:t>kivu</a:t>
            </a:r>
            <a:r>
              <a:rPr lang="fr-FR" sz="1300" dirty="0">
                <a:latin typeface="Times New Roman" panose="02020603050405020304" pitchFamily="18" charset="0"/>
                <a:cs typeface="Times New Roman" panose="02020603050405020304" pitchFamily="18" charset="0"/>
              </a:rPr>
              <a:t>, </a:t>
            </a:r>
            <a:r>
              <a:rPr lang="fr-FR" sz="1300" dirty="0" err="1">
                <a:latin typeface="Times New Roman" panose="02020603050405020304" pitchFamily="18" charset="0"/>
                <a:cs typeface="Times New Roman" panose="02020603050405020304" pitchFamily="18" charset="0"/>
              </a:rPr>
              <a:t>Ht</a:t>
            </a:r>
            <a:r>
              <a:rPr lang="fr-FR" sz="1300" dirty="0">
                <a:latin typeface="Times New Roman" panose="02020603050405020304" pitchFamily="18" charset="0"/>
                <a:cs typeface="Times New Roman" panose="02020603050405020304" pitchFamily="18" charset="0"/>
              </a:rPr>
              <a:t> </a:t>
            </a:r>
            <a:r>
              <a:rPr lang="fr-FR" sz="1300" dirty="0" err="1">
                <a:latin typeface="Times New Roman" panose="02020603050405020304" pitchFamily="18" charset="0"/>
                <a:cs typeface="Times New Roman" panose="02020603050405020304" pitchFamily="18" charset="0"/>
              </a:rPr>
              <a:t>katanga</a:t>
            </a:r>
            <a:r>
              <a:rPr lang="fr-FR" sz="1300" dirty="0">
                <a:latin typeface="Times New Roman" panose="02020603050405020304" pitchFamily="18" charset="0"/>
                <a:cs typeface="Times New Roman" panose="02020603050405020304" pitchFamily="18" charset="0"/>
              </a:rPr>
              <a:t>, </a:t>
            </a:r>
            <a:r>
              <a:rPr lang="fr-FR" sz="1300" dirty="0" err="1">
                <a:latin typeface="Times New Roman" panose="02020603050405020304" pitchFamily="18" charset="0"/>
                <a:cs typeface="Times New Roman" panose="02020603050405020304" pitchFamily="18" charset="0"/>
              </a:rPr>
              <a:t>Tshuapa</a:t>
            </a:r>
            <a:r>
              <a:rPr lang="fr-FR" sz="1300" dirty="0">
                <a:latin typeface="Times New Roman" panose="02020603050405020304" pitchFamily="18" charset="0"/>
                <a:cs typeface="Times New Roman" panose="02020603050405020304" pitchFamily="18" charset="0"/>
              </a:rPr>
              <a:t>)..</a:t>
            </a:r>
          </a:p>
          <a:p>
            <a:pPr marL="342900" indent="-342900" algn="just">
              <a:spcBef>
                <a:spcPts val="600"/>
              </a:spcBef>
              <a:spcAft>
                <a:spcPts val="600"/>
              </a:spcAft>
              <a:buFont typeface="+mj-lt"/>
              <a:buAutoNum type="arabicPeriod"/>
            </a:pPr>
            <a:r>
              <a:rPr lang="fr-FR" sz="1300" dirty="0">
                <a:latin typeface="Times New Roman" panose="02020603050405020304" pitchFamily="18" charset="0"/>
                <a:cs typeface="Times New Roman" panose="02020603050405020304" pitchFamily="18" charset="0"/>
              </a:rPr>
              <a:t>Réaliser le monitorage semestriel des données par la méthode </a:t>
            </a:r>
            <a:r>
              <a:rPr lang="fr-FR" sz="1300" dirty="0" err="1">
                <a:latin typeface="Times New Roman" panose="02020603050405020304" pitchFamily="18" charset="0"/>
                <a:cs typeface="Times New Roman" panose="02020603050405020304" pitchFamily="18" charset="0"/>
              </a:rPr>
              <a:t>Tanahashi</a:t>
            </a:r>
            <a:r>
              <a:rPr lang="fr-FR" sz="1300" dirty="0">
                <a:latin typeface="Times New Roman" panose="02020603050405020304" pitchFamily="18" charset="0"/>
                <a:cs typeface="Times New Roman" panose="02020603050405020304" pitchFamily="18" charset="0"/>
              </a:rPr>
              <a:t> Transversale dans les DPS </a:t>
            </a:r>
            <a:r>
              <a:rPr lang="fr-FR" sz="1300" dirty="0" err="1">
                <a:latin typeface="Times New Roman" panose="02020603050405020304" pitchFamily="18" charset="0"/>
                <a:cs typeface="Times New Roman" panose="02020603050405020304" pitchFamily="18" charset="0"/>
              </a:rPr>
              <a:t>Ht</a:t>
            </a:r>
            <a:r>
              <a:rPr lang="fr-FR" sz="1300" dirty="0">
                <a:latin typeface="Times New Roman" panose="02020603050405020304" pitchFamily="18" charset="0"/>
                <a:cs typeface="Times New Roman" panose="02020603050405020304" pitchFamily="18" charset="0"/>
              </a:rPr>
              <a:t> impact (</a:t>
            </a:r>
            <a:r>
              <a:rPr lang="fr-FR" sz="1300" dirty="0" err="1">
                <a:latin typeface="Times New Roman" panose="02020603050405020304" pitchFamily="18" charset="0"/>
                <a:cs typeface="Times New Roman" panose="02020603050405020304" pitchFamily="18" charset="0"/>
              </a:rPr>
              <a:t>Tshopo</a:t>
            </a:r>
            <a:r>
              <a:rPr lang="fr-FR" sz="1300" dirty="0">
                <a:latin typeface="Times New Roman" panose="02020603050405020304" pitchFamily="18" charset="0"/>
                <a:cs typeface="Times New Roman" panose="02020603050405020304" pitchFamily="18" charset="0"/>
              </a:rPr>
              <a:t>, </a:t>
            </a:r>
            <a:r>
              <a:rPr lang="fr-FR" sz="1300" dirty="0" err="1">
                <a:latin typeface="Times New Roman" panose="02020603050405020304" pitchFamily="18" charset="0"/>
                <a:cs typeface="Times New Roman" panose="02020603050405020304" pitchFamily="18" charset="0"/>
              </a:rPr>
              <a:t>Mongala</a:t>
            </a:r>
            <a:r>
              <a:rPr lang="fr-FR" sz="1300" dirty="0">
                <a:latin typeface="Times New Roman" panose="02020603050405020304" pitchFamily="18" charset="0"/>
                <a:cs typeface="Times New Roman" panose="02020603050405020304" pitchFamily="18" charset="0"/>
              </a:rPr>
              <a:t>, </a:t>
            </a:r>
            <a:r>
              <a:rPr lang="fr-FR" sz="1300" dirty="0" err="1">
                <a:latin typeface="Times New Roman" panose="02020603050405020304" pitchFamily="18" charset="0"/>
                <a:cs typeface="Times New Roman" panose="02020603050405020304" pitchFamily="18" charset="0"/>
              </a:rPr>
              <a:t>Kasai</a:t>
            </a:r>
            <a:r>
              <a:rPr lang="fr-FR" sz="1300" dirty="0">
                <a:latin typeface="Times New Roman" panose="02020603050405020304" pitchFamily="18" charset="0"/>
                <a:cs typeface="Times New Roman" panose="02020603050405020304" pitchFamily="18" charset="0"/>
              </a:rPr>
              <a:t> Oriental, Sud </a:t>
            </a:r>
            <a:r>
              <a:rPr lang="fr-FR" sz="1300" dirty="0" err="1">
                <a:latin typeface="Times New Roman" panose="02020603050405020304" pitchFamily="18" charset="0"/>
                <a:cs typeface="Times New Roman" panose="02020603050405020304" pitchFamily="18" charset="0"/>
              </a:rPr>
              <a:t>kivu</a:t>
            </a:r>
            <a:r>
              <a:rPr lang="fr-FR" sz="1300" dirty="0">
                <a:latin typeface="Times New Roman" panose="02020603050405020304" pitchFamily="18" charset="0"/>
                <a:cs typeface="Times New Roman" panose="02020603050405020304" pitchFamily="18" charset="0"/>
              </a:rPr>
              <a:t>, </a:t>
            </a:r>
            <a:r>
              <a:rPr lang="fr-FR" sz="1300" dirty="0" err="1">
                <a:latin typeface="Times New Roman" panose="02020603050405020304" pitchFamily="18" charset="0"/>
                <a:cs typeface="Times New Roman" panose="02020603050405020304" pitchFamily="18" charset="0"/>
              </a:rPr>
              <a:t>Ht</a:t>
            </a:r>
            <a:r>
              <a:rPr lang="fr-FR" sz="1300" dirty="0">
                <a:latin typeface="Times New Roman" panose="02020603050405020304" pitchFamily="18" charset="0"/>
                <a:cs typeface="Times New Roman" panose="02020603050405020304" pitchFamily="18" charset="0"/>
              </a:rPr>
              <a:t> </a:t>
            </a:r>
            <a:r>
              <a:rPr lang="fr-FR" sz="1300" dirty="0" err="1">
                <a:latin typeface="Times New Roman" panose="02020603050405020304" pitchFamily="18" charset="0"/>
                <a:cs typeface="Times New Roman" panose="02020603050405020304" pitchFamily="18" charset="0"/>
              </a:rPr>
              <a:t>katanga</a:t>
            </a:r>
            <a:r>
              <a:rPr lang="fr-FR" sz="1300" dirty="0">
                <a:latin typeface="Times New Roman" panose="02020603050405020304" pitchFamily="18" charset="0"/>
                <a:cs typeface="Times New Roman" panose="02020603050405020304" pitchFamily="18" charset="0"/>
              </a:rPr>
              <a:t>, </a:t>
            </a:r>
            <a:r>
              <a:rPr lang="fr-FR" sz="1300" dirty="0" err="1">
                <a:latin typeface="Times New Roman" panose="02020603050405020304" pitchFamily="18" charset="0"/>
                <a:cs typeface="Times New Roman" panose="02020603050405020304" pitchFamily="18" charset="0"/>
              </a:rPr>
              <a:t>Tshuapa</a:t>
            </a:r>
            <a:r>
              <a:rPr lang="fr-FR" sz="1300" dirty="0">
                <a:latin typeface="Times New Roman" panose="02020603050405020304" pitchFamily="18" charset="0"/>
                <a:cs typeface="Times New Roman" panose="02020603050405020304" pitchFamily="18" charset="0"/>
              </a:rPr>
              <a:t>).</a:t>
            </a:r>
          </a:p>
          <a:p>
            <a:pPr marL="342900" indent="-342900" algn="just">
              <a:spcBef>
                <a:spcPts val="600"/>
              </a:spcBef>
              <a:spcAft>
                <a:spcPts val="600"/>
              </a:spcAft>
              <a:buFont typeface="+mj-lt"/>
              <a:buAutoNum type="arabicPeriod"/>
            </a:pPr>
            <a:r>
              <a:rPr lang="fr-FR" sz="1300" dirty="0">
                <a:latin typeface="Times New Roman" panose="02020603050405020304" pitchFamily="18" charset="0"/>
                <a:cs typeface="Times New Roman" panose="02020603050405020304" pitchFamily="18" charset="0"/>
              </a:rPr>
              <a:t>Réaliser trimestriellement le Lot </a:t>
            </a:r>
            <a:r>
              <a:rPr lang="fr-FR" sz="1300" dirty="0" err="1">
                <a:latin typeface="Times New Roman" panose="02020603050405020304" pitchFamily="18" charset="0"/>
                <a:cs typeface="Times New Roman" panose="02020603050405020304" pitchFamily="18" charset="0"/>
              </a:rPr>
              <a:t>Quality</a:t>
            </a:r>
            <a:r>
              <a:rPr lang="fr-FR" sz="1300" dirty="0">
                <a:latin typeface="Times New Roman" panose="02020603050405020304" pitchFamily="18" charset="0"/>
                <a:cs typeface="Times New Roman" panose="02020603050405020304" pitchFamily="18" charset="0"/>
              </a:rPr>
              <a:t> Assurance </a:t>
            </a:r>
            <a:r>
              <a:rPr lang="fr-FR" sz="1300" dirty="0" err="1">
                <a:latin typeface="Times New Roman" panose="02020603050405020304" pitchFamily="18" charset="0"/>
                <a:cs typeface="Times New Roman" panose="02020603050405020304" pitchFamily="18" charset="0"/>
              </a:rPr>
              <a:t>Sampling</a:t>
            </a:r>
            <a:r>
              <a:rPr lang="fr-FR" sz="1300" dirty="0">
                <a:latin typeface="Times New Roman" panose="02020603050405020304" pitchFamily="18" charset="0"/>
                <a:cs typeface="Times New Roman" panose="02020603050405020304" pitchFamily="18" charset="0"/>
              </a:rPr>
              <a:t> (LQAS) en routine pour mesurer les performances dans 6 DPS a </a:t>
            </a:r>
            <a:r>
              <a:rPr lang="fr-FR" sz="1300" dirty="0" err="1">
                <a:latin typeface="Times New Roman" panose="02020603050405020304" pitchFamily="18" charset="0"/>
                <a:cs typeface="Times New Roman" panose="02020603050405020304" pitchFamily="18" charset="0"/>
              </a:rPr>
              <a:t>Ht</a:t>
            </a:r>
            <a:r>
              <a:rPr lang="fr-FR" sz="1300" dirty="0">
                <a:latin typeface="Times New Roman" panose="02020603050405020304" pitchFamily="18" charset="0"/>
                <a:cs typeface="Times New Roman" panose="02020603050405020304" pitchFamily="18" charset="0"/>
              </a:rPr>
              <a:t> impact (</a:t>
            </a:r>
            <a:r>
              <a:rPr lang="fr-FR" sz="1300" dirty="0" err="1">
                <a:latin typeface="Times New Roman" panose="02020603050405020304" pitchFamily="18" charset="0"/>
                <a:cs typeface="Times New Roman" panose="02020603050405020304" pitchFamily="18" charset="0"/>
              </a:rPr>
              <a:t>Tshopo</a:t>
            </a:r>
            <a:r>
              <a:rPr lang="fr-FR" sz="1300" dirty="0">
                <a:latin typeface="Times New Roman" panose="02020603050405020304" pitchFamily="18" charset="0"/>
                <a:cs typeface="Times New Roman" panose="02020603050405020304" pitchFamily="18" charset="0"/>
              </a:rPr>
              <a:t>, </a:t>
            </a:r>
            <a:r>
              <a:rPr lang="fr-FR" sz="1300" dirty="0" err="1">
                <a:latin typeface="Times New Roman" panose="02020603050405020304" pitchFamily="18" charset="0"/>
                <a:cs typeface="Times New Roman" panose="02020603050405020304" pitchFamily="18" charset="0"/>
              </a:rPr>
              <a:t>Mongala</a:t>
            </a:r>
            <a:r>
              <a:rPr lang="fr-FR" sz="1300" dirty="0">
                <a:latin typeface="Times New Roman" panose="02020603050405020304" pitchFamily="18" charset="0"/>
                <a:cs typeface="Times New Roman" panose="02020603050405020304" pitchFamily="18" charset="0"/>
              </a:rPr>
              <a:t>, </a:t>
            </a:r>
            <a:r>
              <a:rPr lang="fr-FR" sz="1300" dirty="0" err="1">
                <a:latin typeface="Times New Roman" panose="02020603050405020304" pitchFamily="18" charset="0"/>
                <a:cs typeface="Times New Roman" panose="02020603050405020304" pitchFamily="18" charset="0"/>
              </a:rPr>
              <a:t>Kasa</a:t>
            </a:r>
            <a:r>
              <a:rPr lang="fr-FR" sz="1300" dirty="0">
                <a:latin typeface="Times New Roman" panose="02020603050405020304" pitchFamily="18" charset="0"/>
                <a:cs typeface="Times New Roman" panose="02020603050405020304" pitchFamily="18" charset="0"/>
              </a:rPr>
              <a:t> Oriental, Sud </a:t>
            </a:r>
            <a:r>
              <a:rPr lang="fr-FR" sz="1300" dirty="0" err="1">
                <a:latin typeface="Times New Roman" panose="02020603050405020304" pitchFamily="18" charset="0"/>
                <a:cs typeface="Times New Roman" panose="02020603050405020304" pitchFamily="18" charset="0"/>
              </a:rPr>
              <a:t>kivu</a:t>
            </a:r>
            <a:r>
              <a:rPr lang="fr-FR" sz="1300" dirty="0">
                <a:latin typeface="Times New Roman" panose="02020603050405020304" pitchFamily="18" charset="0"/>
                <a:cs typeface="Times New Roman" panose="02020603050405020304" pitchFamily="18" charset="0"/>
              </a:rPr>
              <a:t>, </a:t>
            </a:r>
            <a:r>
              <a:rPr lang="fr-FR" sz="1300" dirty="0" err="1">
                <a:latin typeface="Times New Roman" panose="02020603050405020304" pitchFamily="18" charset="0"/>
                <a:cs typeface="Times New Roman" panose="02020603050405020304" pitchFamily="18" charset="0"/>
              </a:rPr>
              <a:t>Ht</a:t>
            </a:r>
            <a:r>
              <a:rPr lang="fr-FR" sz="1300" dirty="0">
                <a:latin typeface="Times New Roman" panose="02020603050405020304" pitchFamily="18" charset="0"/>
                <a:cs typeface="Times New Roman" panose="02020603050405020304" pitchFamily="18" charset="0"/>
              </a:rPr>
              <a:t> </a:t>
            </a:r>
            <a:r>
              <a:rPr lang="fr-FR" sz="1300" dirty="0" err="1">
                <a:latin typeface="Times New Roman" panose="02020603050405020304" pitchFamily="18" charset="0"/>
                <a:cs typeface="Times New Roman" panose="02020603050405020304" pitchFamily="18" charset="0"/>
              </a:rPr>
              <a:t>katanga</a:t>
            </a:r>
            <a:r>
              <a:rPr lang="fr-FR" sz="1300" dirty="0">
                <a:latin typeface="Times New Roman" panose="02020603050405020304" pitchFamily="18" charset="0"/>
                <a:cs typeface="Times New Roman" panose="02020603050405020304" pitchFamily="18" charset="0"/>
              </a:rPr>
              <a:t>, </a:t>
            </a:r>
            <a:r>
              <a:rPr lang="fr-FR" sz="1300" dirty="0" err="1">
                <a:latin typeface="Times New Roman" panose="02020603050405020304" pitchFamily="18" charset="0"/>
                <a:cs typeface="Times New Roman" panose="02020603050405020304" pitchFamily="18" charset="0"/>
              </a:rPr>
              <a:t>Tshuapa</a:t>
            </a:r>
            <a:r>
              <a:rPr lang="fr-FR" sz="1300" dirty="0">
                <a:latin typeface="Times New Roman" panose="02020603050405020304" pitchFamily="18" charset="0"/>
                <a:cs typeface="Times New Roman" panose="02020603050405020304" pitchFamily="18" charset="0"/>
              </a:rPr>
              <a:t>)..</a:t>
            </a:r>
          </a:p>
          <a:p>
            <a:pPr marL="342900" indent="-342900" algn="just">
              <a:spcBef>
                <a:spcPts val="600"/>
              </a:spcBef>
              <a:spcAft>
                <a:spcPts val="600"/>
              </a:spcAft>
              <a:buFont typeface="+mj-lt"/>
              <a:buAutoNum type="arabicPeriod"/>
            </a:pPr>
            <a:r>
              <a:rPr lang="fr-FR" sz="1300" dirty="0">
                <a:latin typeface="Times New Roman" panose="02020603050405020304" pitchFamily="18" charset="0"/>
                <a:cs typeface="Times New Roman" panose="02020603050405020304" pitchFamily="18" charset="0"/>
              </a:rPr>
              <a:t>Contribuer  la </a:t>
            </a:r>
            <a:r>
              <a:rPr lang="fr-FR" sz="1300" dirty="0" err="1">
                <a:latin typeface="Times New Roman" panose="02020603050405020304" pitchFamily="18" charset="0"/>
                <a:cs typeface="Times New Roman" panose="02020603050405020304" pitchFamily="18" charset="0"/>
              </a:rPr>
              <a:t>realisation</a:t>
            </a:r>
            <a:r>
              <a:rPr lang="fr-FR" sz="1300" dirty="0">
                <a:latin typeface="Times New Roman" panose="02020603050405020304" pitchFamily="18" charset="0"/>
                <a:cs typeface="Times New Roman" panose="02020603050405020304" pitchFamily="18" charset="0"/>
              </a:rPr>
              <a:t> des DQR intégré national chaque deux ans dans les 6 DPS </a:t>
            </a:r>
            <a:r>
              <a:rPr lang="fr-FR" sz="1300" dirty="0" err="1">
                <a:latin typeface="Times New Roman" panose="02020603050405020304" pitchFamily="18" charset="0"/>
                <a:cs typeface="Times New Roman" panose="02020603050405020304" pitchFamily="18" charset="0"/>
              </a:rPr>
              <a:t>Ht</a:t>
            </a:r>
            <a:r>
              <a:rPr lang="fr-FR" sz="1300" dirty="0">
                <a:latin typeface="Times New Roman" panose="02020603050405020304" pitchFamily="18" charset="0"/>
                <a:cs typeface="Times New Roman" panose="02020603050405020304" pitchFamily="18" charset="0"/>
              </a:rPr>
              <a:t> impact (Haut Katanga, </a:t>
            </a:r>
            <a:r>
              <a:rPr lang="fr-FR" sz="1300" dirty="0" err="1">
                <a:latin typeface="Times New Roman" panose="02020603050405020304" pitchFamily="18" charset="0"/>
                <a:cs typeface="Times New Roman" panose="02020603050405020304" pitchFamily="18" charset="0"/>
              </a:rPr>
              <a:t>Kasai</a:t>
            </a:r>
            <a:r>
              <a:rPr lang="fr-FR" sz="1300" dirty="0">
                <a:latin typeface="Times New Roman" panose="02020603050405020304" pitchFamily="18" charset="0"/>
                <a:cs typeface="Times New Roman" panose="02020603050405020304" pitchFamily="18" charset="0"/>
              </a:rPr>
              <a:t> Oriental, </a:t>
            </a:r>
            <a:r>
              <a:rPr lang="fr-FR" sz="1300" dirty="0" err="1">
                <a:latin typeface="Times New Roman" panose="02020603050405020304" pitchFamily="18" charset="0"/>
                <a:cs typeface="Times New Roman" panose="02020603050405020304" pitchFamily="18" charset="0"/>
              </a:rPr>
              <a:t>Mongala</a:t>
            </a:r>
            <a:r>
              <a:rPr lang="fr-FR" sz="1300" dirty="0">
                <a:latin typeface="Times New Roman" panose="02020603050405020304" pitchFamily="18" charset="0"/>
                <a:cs typeface="Times New Roman" panose="02020603050405020304" pitchFamily="18" charset="0"/>
              </a:rPr>
              <a:t>, Sud Kivu, </a:t>
            </a:r>
            <a:r>
              <a:rPr lang="fr-FR" sz="1300" dirty="0" err="1">
                <a:latin typeface="Times New Roman" panose="02020603050405020304" pitchFamily="18" charset="0"/>
                <a:cs typeface="Times New Roman" panose="02020603050405020304" pitchFamily="18" charset="0"/>
              </a:rPr>
              <a:t>Tshopo</a:t>
            </a:r>
            <a:r>
              <a:rPr lang="fr-FR" sz="1300" dirty="0">
                <a:latin typeface="Times New Roman" panose="02020603050405020304" pitchFamily="18" charset="0"/>
                <a:cs typeface="Times New Roman" panose="02020603050405020304" pitchFamily="18" charset="0"/>
              </a:rPr>
              <a:t>, </a:t>
            </a:r>
            <a:r>
              <a:rPr lang="fr-FR" sz="1300" dirty="0" err="1">
                <a:latin typeface="Times New Roman" panose="02020603050405020304" pitchFamily="18" charset="0"/>
                <a:cs typeface="Times New Roman" panose="02020603050405020304" pitchFamily="18" charset="0"/>
              </a:rPr>
              <a:t>Tshuapa</a:t>
            </a:r>
            <a:r>
              <a:rPr lang="fr-FR" sz="1300" dirty="0">
                <a:latin typeface="Times New Roman" panose="02020603050405020304" pitchFamily="18" charset="0"/>
                <a:cs typeface="Times New Roman" panose="02020603050405020304" pitchFamily="18" charset="0"/>
              </a:rPr>
              <a:t>)..</a:t>
            </a:r>
          </a:p>
          <a:p>
            <a:pPr marL="342900" indent="-342900" algn="just">
              <a:spcBef>
                <a:spcPts val="600"/>
              </a:spcBef>
              <a:spcAft>
                <a:spcPts val="600"/>
              </a:spcAft>
              <a:buFont typeface="+mj-lt"/>
              <a:buAutoNum type="arabicPeriod"/>
            </a:pPr>
            <a:r>
              <a:rPr lang="fr-FR" sz="1300" dirty="0">
                <a:latin typeface="Times New Roman" panose="02020603050405020304" pitchFamily="18" charset="0"/>
                <a:cs typeface="Times New Roman" panose="02020603050405020304" pitchFamily="18" charset="0"/>
              </a:rPr>
              <a:t>Organiser les ateliers d'amélioration des données à tous les niveaux (Validation des données, Joint </a:t>
            </a:r>
            <a:r>
              <a:rPr lang="fr-FR" sz="1300" dirty="0" err="1">
                <a:latin typeface="Times New Roman" panose="02020603050405020304" pitchFamily="18" charset="0"/>
                <a:cs typeface="Times New Roman" panose="02020603050405020304" pitchFamily="18" charset="0"/>
              </a:rPr>
              <a:t>Reporting</a:t>
            </a:r>
            <a:r>
              <a:rPr lang="fr-FR" sz="1300" dirty="0">
                <a:latin typeface="Times New Roman" panose="02020603050405020304" pitchFamily="18" charset="0"/>
                <a:cs typeface="Times New Roman" panose="02020603050405020304" pitchFamily="18" charset="0"/>
              </a:rPr>
              <a:t> </a:t>
            </a:r>
            <a:r>
              <a:rPr lang="fr-FR" sz="1300" dirty="0" err="1">
                <a:latin typeface="Times New Roman" panose="02020603050405020304" pitchFamily="18" charset="0"/>
                <a:cs typeface="Times New Roman" panose="02020603050405020304" pitchFamily="18" charset="0"/>
              </a:rPr>
              <a:t>Form</a:t>
            </a:r>
            <a:r>
              <a:rPr lang="fr-FR" sz="1300" dirty="0">
                <a:latin typeface="Times New Roman" panose="02020603050405020304" pitchFamily="18" charset="0"/>
                <a:cs typeface="Times New Roman" panose="02020603050405020304" pitchFamily="18" charset="0"/>
              </a:rPr>
              <a:t>(JRF),analyse des données dans 6 DPS </a:t>
            </a:r>
            <a:r>
              <a:rPr lang="fr-FR" sz="1300" dirty="0" err="1">
                <a:latin typeface="Times New Roman" panose="02020603050405020304" pitchFamily="18" charset="0"/>
                <a:cs typeface="Times New Roman" panose="02020603050405020304" pitchFamily="18" charset="0"/>
              </a:rPr>
              <a:t>Ht</a:t>
            </a:r>
            <a:r>
              <a:rPr lang="fr-FR" sz="1300" dirty="0">
                <a:latin typeface="Times New Roman" panose="02020603050405020304" pitchFamily="18" charset="0"/>
                <a:cs typeface="Times New Roman" panose="02020603050405020304" pitchFamily="18" charset="0"/>
              </a:rPr>
              <a:t> impact: Haut Katanga, </a:t>
            </a:r>
            <a:r>
              <a:rPr lang="fr-FR" sz="1300" dirty="0" err="1">
                <a:latin typeface="Times New Roman" panose="02020603050405020304" pitchFamily="18" charset="0"/>
                <a:cs typeface="Times New Roman" panose="02020603050405020304" pitchFamily="18" charset="0"/>
              </a:rPr>
              <a:t>Kasai</a:t>
            </a:r>
            <a:r>
              <a:rPr lang="fr-FR" sz="1300" dirty="0">
                <a:latin typeface="Times New Roman" panose="02020603050405020304" pitchFamily="18" charset="0"/>
                <a:cs typeface="Times New Roman" panose="02020603050405020304" pitchFamily="18" charset="0"/>
              </a:rPr>
              <a:t> Oriental, </a:t>
            </a:r>
            <a:r>
              <a:rPr lang="fr-FR" sz="1300" dirty="0" err="1">
                <a:latin typeface="Times New Roman" panose="02020603050405020304" pitchFamily="18" charset="0"/>
                <a:cs typeface="Times New Roman" panose="02020603050405020304" pitchFamily="18" charset="0"/>
              </a:rPr>
              <a:t>Mongala</a:t>
            </a:r>
            <a:r>
              <a:rPr lang="fr-FR" sz="1300" dirty="0">
                <a:latin typeface="Times New Roman" panose="02020603050405020304" pitchFamily="18" charset="0"/>
                <a:cs typeface="Times New Roman" panose="02020603050405020304" pitchFamily="18" charset="0"/>
              </a:rPr>
              <a:t>, Sud Kivu, </a:t>
            </a:r>
            <a:r>
              <a:rPr lang="fr-FR" sz="1300" dirty="0" err="1">
                <a:latin typeface="Times New Roman" panose="02020603050405020304" pitchFamily="18" charset="0"/>
                <a:cs typeface="Times New Roman" panose="02020603050405020304" pitchFamily="18" charset="0"/>
              </a:rPr>
              <a:t>Tshopo</a:t>
            </a:r>
            <a:r>
              <a:rPr lang="fr-FR" sz="1300" dirty="0">
                <a:latin typeface="Times New Roman" panose="02020603050405020304" pitchFamily="18" charset="0"/>
                <a:cs typeface="Times New Roman" panose="02020603050405020304" pitchFamily="18" charset="0"/>
              </a:rPr>
              <a:t>, </a:t>
            </a:r>
            <a:r>
              <a:rPr lang="fr-FR" sz="1300" dirty="0" err="1">
                <a:latin typeface="Times New Roman" panose="02020603050405020304" pitchFamily="18" charset="0"/>
                <a:cs typeface="Times New Roman" panose="02020603050405020304" pitchFamily="18" charset="0"/>
              </a:rPr>
              <a:t>Tshuapa</a:t>
            </a:r>
            <a:r>
              <a:rPr lang="fr-FR" sz="1300" dirty="0">
                <a:latin typeface="Times New Roman" panose="02020603050405020304" pitchFamily="18" charset="0"/>
                <a:cs typeface="Times New Roman" panose="02020603050405020304" pitchFamily="18" charset="0"/>
              </a:rPr>
              <a:t>)..</a:t>
            </a:r>
          </a:p>
          <a:p>
            <a:pPr marL="342900" indent="-342900" algn="just">
              <a:spcBef>
                <a:spcPts val="600"/>
              </a:spcBef>
              <a:spcAft>
                <a:spcPts val="600"/>
              </a:spcAft>
              <a:buFont typeface="+mj-lt"/>
              <a:buAutoNum type="arabicPeriod"/>
            </a:pPr>
            <a:r>
              <a:rPr lang="fr-FR" sz="1300" dirty="0">
                <a:latin typeface="Times New Roman" panose="02020603050405020304" pitchFamily="18" charset="0"/>
                <a:cs typeface="Times New Roman" panose="02020603050405020304" pitchFamily="18" charset="0"/>
              </a:rPr>
              <a:t>Organiser les enquêtes indépendantes quantitatives et qualitatives de couverture vaccinale avec focus sur les enfants zéro – dose et les communautés manquées toutes les deux ans</a:t>
            </a:r>
          </a:p>
          <a:p>
            <a:pPr marL="342900" indent="-342900" algn="just">
              <a:spcBef>
                <a:spcPts val="600"/>
              </a:spcBef>
              <a:spcAft>
                <a:spcPts val="600"/>
              </a:spcAft>
              <a:buFont typeface="+mj-lt"/>
              <a:buAutoNum type="arabicPeriod"/>
            </a:pPr>
            <a:r>
              <a:rPr lang="fr-FR" sz="1300" dirty="0">
                <a:latin typeface="Times New Roman" panose="02020603050405020304" pitchFamily="18" charset="0"/>
                <a:cs typeface="Times New Roman" panose="02020603050405020304" pitchFamily="18" charset="0"/>
              </a:rPr>
              <a:t>Appuyer la connexion internet adaptée au contexte de chaque ZS des 6 DPS a </a:t>
            </a:r>
            <a:r>
              <a:rPr lang="fr-FR" sz="1300" dirty="0" err="1">
                <a:latin typeface="Times New Roman" panose="02020603050405020304" pitchFamily="18" charset="0"/>
                <a:cs typeface="Times New Roman" panose="02020603050405020304" pitchFamily="18" charset="0"/>
              </a:rPr>
              <a:t>Ht</a:t>
            </a:r>
            <a:r>
              <a:rPr lang="fr-FR" sz="1300" dirty="0">
                <a:latin typeface="Times New Roman" panose="02020603050405020304" pitchFamily="18" charset="0"/>
                <a:cs typeface="Times New Roman" panose="02020603050405020304" pitchFamily="18" charset="0"/>
              </a:rPr>
              <a:t> impact  (</a:t>
            </a:r>
            <a:r>
              <a:rPr lang="fr-FR" sz="1300" dirty="0" err="1">
                <a:latin typeface="Times New Roman" panose="02020603050405020304" pitchFamily="18" charset="0"/>
                <a:cs typeface="Times New Roman" panose="02020603050405020304" pitchFamily="18" charset="0"/>
              </a:rPr>
              <a:t>Kasai</a:t>
            </a:r>
            <a:r>
              <a:rPr lang="fr-FR" sz="1300" dirty="0">
                <a:latin typeface="Times New Roman" panose="02020603050405020304" pitchFamily="18" charset="0"/>
                <a:cs typeface="Times New Roman" panose="02020603050405020304" pitchFamily="18" charset="0"/>
              </a:rPr>
              <a:t> oriental, </a:t>
            </a:r>
            <a:r>
              <a:rPr lang="fr-FR" sz="1300" dirty="0" err="1">
                <a:latin typeface="Times New Roman" panose="02020603050405020304" pitchFamily="18" charset="0"/>
                <a:cs typeface="Times New Roman" panose="02020603050405020304" pitchFamily="18" charset="0"/>
              </a:rPr>
              <a:t>Ht</a:t>
            </a:r>
            <a:r>
              <a:rPr lang="fr-FR" sz="1300" dirty="0">
                <a:latin typeface="Times New Roman" panose="02020603050405020304" pitchFamily="18" charset="0"/>
                <a:cs typeface="Times New Roman" panose="02020603050405020304" pitchFamily="18" charset="0"/>
              </a:rPr>
              <a:t> Katanga, </a:t>
            </a:r>
            <a:r>
              <a:rPr lang="fr-FR" sz="1300" dirty="0" err="1">
                <a:latin typeface="Times New Roman" panose="02020603050405020304" pitchFamily="18" charset="0"/>
                <a:cs typeface="Times New Roman" panose="02020603050405020304" pitchFamily="18" charset="0"/>
              </a:rPr>
              <a:t>Mongala</a:t>
            </a:r>
            <a:r>
              <a:rPr lang="fr-FR" sz="1300" dirty="0">
                <a:latin typeface="Times New Roman" panose="02020603050405020304" pitchFamily="18" charset="0"/>
                <a:cs typeface="Times New Roman" panose="02020603050405020304" pitchFamily="18" charset="0"/>
              </a:rPr>
              <a:t>, Sud </a:t>
            </a:r>
            <a:r>
              <a:rPr lang="fr-FR" sz="1300" dirty="0" err="1">
                <a:latin typeface="Times New Roman" panose="02020603050405020304" pitchFamily="18" charset="0"/>
                <a:cs typeface="Times New Roman" panose="02020603050405020304" pitchFamily="18" charset="0"/>
              </a:rPr>
              <a:t>Kivu,Tshopo,Tshuapa</a:t>
            </a:r>
            <a:r>
              <a:rPr lang="fr-FR" sz="1300" dirty="0">
                <a:latin typeface="Times New Roman" panose="02020603050405020304" pitchFamily="18" charset="0"/>
                <a:cs typeface="Times New Roman" panose="02020603050405020304" pitchFamily="18" charset="0"/>
              </a:rPr>
              <a:t>).</a:t>
            </a:r>
          </a:p>
          <a:p>
            <a:pPr marL="342900" indent="-342900" algn="just">
              <a:spcBef>
                <a:spcPts val="600"/>
              </a:spcBef>
              <a:spcAft>
                <a:spcPts val="600"/>
              </a:spcAft>
              <a:buFont typeface="+mj-lt"/>
              <a:buAutoNum type="arabicPeriod"/>
            </a:pPr>
            <a:r>
              <a:rPr lang="fr-FR" sz="1300" dirty="0">
                <a:latin typeface="Times New Roman" panose="02020603050405020304" pitchFamily="18" charset="0"/>
                <a:cs typeface="Times New Roman" panose="02020603050405020304" pitchFamily="18" charset="0"/>
              </a:rPr>
              <a:t>Doter les structures de 6 DPS a </a:t>
            </a:r>
            <a:r>
              <a:rPr lang="fr-FR" sz="1300" dirty="0" err="1">
                <a:latin typeface="Times New Roman" panose="02020603050405020304" pitchFamily="18" charset="0"/>
                <a:cs typeface="Times New Roman" panose="02020603050405020304" pitchFamily="18" charset="0"/>
              </a:rPr>
              <a:t>Ht</a:t>
            </a:r>
            <a:r>
              <a:rPr lang="fr-FR" sz="1300" dirty="0">
                <a:latin typeface="Times New Roman" panose="02020603050405020304" pitchFamily="18" charset="0"/>
                <a:cs typeface="Times New Roman" panose="02020603050405020304" pitchFamily="18" charset="0"/>
              </a:rPr>
              <a:t> impact en matériels informatique pour améliorer la gestion de données (</a:t>
            </a:r>
            <a:r>
              <a:rPr lang="fr-FR" sz="1300" dirty="0" err="1">
                <a:latin typeface="Times New Roman" panose="02020603050405020304" pitchFamily="18" charset="0"/>
                <a:cs typeface="Times New Roman" panose="02020603050405020304" pitchFamily="18" charset="0"/>
              </a:rPr>
              <a:t>Tshopo</a:t>
            </a:r>
            <a:r>
              <a:rPr lang="fr-FR" sz="1300" dirty="0">
                <a:latin typeface="Times New Roman" panose="02020603050405020304" pitchFamily="18" charset="0"/>
                <a:cs typeface="Times New Roman" panose="02020603050405020304" pitchFamily="18" charset="0"/>
              </a:rPr>
              <a:t>, </a:t>
            </a:r>
            <a:r>
              <a:rPr lang="fr-FR" sz="1300" dirty="0" err="1">
                <a:latin typeface="Times New Roman" panose="02020603050405020304" pitchFamily="18" charset="0"/>
                <a:cs typeface="Times New Roman" panose="02020603050405020304" pitchFamily="18" charset="0"/>
              </a:rPr>
              <a:t>Mongala</a:t>
            </a:r>
            <a:r>
              <a:rPr lang="fr-FR" sz="1300" dirty="0">
                <a:latin typeface="Times New Roman" panose="02020603050405020304" pitchFamily="18" charset="0"/>
                <a:cs typeface="Times New Roman" panose="02020603050405020304" pitchFamily="18" charset="0"/>
              </a:rPr>
              <a:t>, </a:t>
            </a:r>
            <a:r>
              <a:rPr lang="fr-FR" sz="1300" dirty="0" err="1">
                <a:latin typeface="Times New Roman" panose="02020603050405020304" pitchFamily="18" charset="0"/>
                <a:cs typeface="Times New Roman" panose="02020603050405020304" pitchFamily="18" charset="0"/>
              </a:rPr>
              <a:t>Kasai</a:t>
            </a:r>
            <a:r>
              <a:rPr lang="fr-FR" sz="1300" dirty="0">
                <a:latin typeface="Times New Roman" panose="02020603050405020304" pitchFamily="18" charset="0"/>
                <a:cs typeface="Times New Roman" panose="02020603050405020304" pitchFamily="18" charset="0"/>
              </a:rPr>
              <a:t> oriental, Sud Kivu, </a:t>
            </a:r>
            <a:r>
              <a:rPr lang="fr-FR" sz="1300" dirty="0" err="1">
                <a:latin typeface="Times New Roman" panose="02020603050405020304" pitchFamily="18" charset="0"/>
                <a:cs typeface="Times New Roman" panose="02020603050405020304" pitchFamily="18" charset="0"/>
              </a:rPr>
              <a:t>Ht</a:t>
            </a:r>
            <a:r>
              <a:rPr lang="fr-FR" sz="1300" dirty="0">
                <a:latin typeface="Times New Roman" panose="02020603050405020304" pitchFamily="18" charset="0"/>
                <a:cs typeface="Times New Roman" panose="02020603050405020304" pitchFamily="18" charset="0"/>
              </a:rPr>
              <a:t> Katanga, </a:t>
            </a:r>
            <a:r>
              <a:rPr lang="fr-FR" sz="1300" dirty="0" err="1">
                <a:latin typeface="Times New Roman" panose="02020603050405020304" pitchFamily="18" charset="0"/>
                <a:cs typeface="Times New Roman" panose="02020603050405020304" pitchFamily="18" charset="0"/>
              </a:rPr>
              <a:t>Tshuapa</a:t>
            </a:r>
            <a:r>
              <a:rPr lang="fr-FR" sz="1300" dirty="0">
                <a:latin typeface="Times New Roman" panose="02020603050405020304" pitchFamily="18" charset="0"/>
                <a:cs typeface="Times New Roman" panose="02020603050405020304" pitchFamily="18" charset="0"/>
              </a:rPr>
              <a:t>)</a:t>
            </a:r>
          </a:p>
          <a:p>
            <a:pPr marL="285750" indent="-285750" algn="just">
              <a:buFont typeface="+mj-lt"/>
              <a:buAutoNum type="arabicPeriod"/>
            </a:pPr>
            <a:endParaRPr lang="fr-FR" sz="1400" dirty="0">
              <a:solidFill>
                <a:srgbClr val="2205CD"/>
              </a:solidFill>
            </a:endParaRPr>
          </a:p>
        </p:txBody>
      </p:sp>
    </p:spTree>
    <p:extLst>
      <p:ext uri="{BB962C8B-B14F-4D97-AF65-F5344CB8AC3E}">
        <p14:creationId xmlns:p14="http://schemas.microsoft.com/office/powerpoint/2010/main" val="124716364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D521872-8CD0-9826-D6B7-1F548ADA522D}"/>
              </a:ext>
            </a:extLst>
          </p:cNvPr>
          <p:cNvSpPr>
            <a:spLocks noGrp="1"/>
          </p:cNvSpPr>
          <p:nvPr>
            <p:ph type="title"/>
          </p:nvPr>
        </p:nvSpPr>
        <p:spPr/>
        <p:txBody>
          <a:bodyPr>
            <a:noAutofit/>
          </a:bodyPr>
          <a:lstStyle/>
          <a:p>
            <a:r>
              <a:rPr lang="fr-FR" sz="2000" b="1" dirty="0">
                <a:solidFill>
                  <a:schemeClr val="accent1"/>
                </a:solidFill>
              </a:rPr>
              <a:t>                    </a:t>
            </a:r>
            <a:r>
              <a:rPr lang="fr-FR" sz="2800" b="1" dirty="0">
                <a:solidFill>
                  <a:schemeClr val="accent1"/>
                </a:solidFill>
              </a:rPr>
              <a:t>Axe d’interventions en 2026  pour la Routine </a:t>
            </a:r>
            <a:br>
              <a:rPr lang="fr-FR" sz="2000" b="1" dirty="0">
                <a:solidFill>
                  <a:schemeClr val="accent1"/>
                </a:solidFill>
              </a:rPr>
            </a:br>
            <a:r>
              <a:rPr lang="fr-FR" sz="2000" b="1" dirty="0">
                <a:solidFill>
                  <a:schemeClr val="accent1"/>
                </a:solidFill>
              </a:rPr>
              <a:t>               </a:t>
            </a:r>
            <a:endParaRPr lang="fr-CD" sz="2000" dirty="0"/>
          </a:p>
        </p:txBody>
      </p:sp>
      <p:sp>
        <p:nvSpPr>
          <p:cNvPr id="3" name="Espace réservé du texte 2">
            <a:extLst>
              <a:ext uri="{FF2B5EF4-FFF2-40B4-BE49-F238E27FC236}">
                <a16:creationId xmlns:a16="http://schemas.microsoft.com/office/drawing/2014/main" id="{BC66E4F2-1DD1-A9A7-F8F4-78FBA16A77B9}"/>
              </a:ext>
            </a:extLst>
          </p:cNvPr>
          <p:cNvSpPr>
            <a:spLocks noGrp="1"/>
          </p:cNvSpPr>
          <p:nvPr>
            <p:ph type="body" idx="1"/>
          </p:nvPr>
        </p:nvSpPr>
        <p:spPr>
          <a:xfrm>
            <a:off x="415600" y="1479176"/>
            <a:ext cx="11360800" cy="4612657"/>
          </a:xfrm>
        </p:spPr>
        <p:txBody>
          <a:bodyPr/>
          <a:lstStyle/>
          <a:p>
            <a:r>
              <a:rPr lang="fr-FR" dirty="0">
                <a:solidFill>
                  <a:schemeClr val="tx1"/>
                </a:solidFill>
              </a:rPr>
              <a:t>Récupération et Consolidation des  </a:t>
            </a:r>
            <a:r>
              <a:rPr lang="fr-FR" dirty="0" err="1">
                <a:solidFill>
                  <a:schemeClr val="tx1"/>
                </a:solidFill>
              </a:rPr>
              <a:t>Microplan</a:t>
            </a:r>
            <a:r>
              <a:rPr lang="fr-FR" dirty="0">
                <a:solidFill>
                  <a:schemeClr val="tx1"/>
                </a:solidFill>
              </a:rPr>
              <a:t> 2025 et faire la projection pour 2025</a:t>
            </a:r>
          </a:p>
          <a:p>
            <a:pPr marL="152400" indent="0">
              <a:buNone/>
            </a:pPr>
            <a:r>
              <a:rPr lang="fr-FR" dirty="0"/>
              <a:t>  </a:t>
            </a:r>
          </a:p>
          <a:p>
            <a:r>
              <a:rPr kumimoji="0" lang="fr-FR" sz="2400" i="0" u="none" strike="noStrike" kern="0" cap="none" spc="0" normalizeH="0" baseline="0" noProof="0" dirty="0">
                <a:ln>
                  <a:noFill/>
                </a:ln>
                <a:solidFill>
                  <a:schemeClr val="tx1"/>
                </a:solidFill>
                <a:effectLst/>
                <a:uLnTx/>
                <a:uFillTx/>
                <a:latin typeface="Arial" panose="020B0604020202020204"/>
                <a:cs typeface="Arial" panose="020B0604020202020204"/>
                <a:sym typeface="Arial" panose="020B0604020202020204"/>
              </a:rPr>
              <a:t>L’atteinte de populations cibles à travers l’approche antenne</a:t>
            </a:r>
          </a:p>
          <a:p>
            <a:pPr marL="152400" indent="0">
              <a:buNone/>
            </a:pPr>
            <a:endParaRPr kumimoji="0" lang="fr-FR" sz="2400" i="0" u="none" strike="noStrike" kern="0" cap="none" spc="0" normalizeH="0" baseline="0" noProof="0" dirty="0">
              <a:ln>
                <a:noFill/>
              </a:ln>
              <a:solidFill>
                <a:schemeClr val="tx1"/>
              </a:solidFill>
              <a:effectLst/>
              <a:uLnTx/>
              <a:uFillTx/>
              <a:latin typeface="Arial" panose="020B0604020202020204"/>
              <a:cs typeface="Arial" panose="020B0604020202020204"/>
              <a:sym typeface="Arial" panose="020B0604020202020204"/>
            </a:endParaRPr>
          </a:p>
          <a:p>
            <a:pPr marL="1562100" lvl="2" indent="-342900">
              <a:buFont typeface="Wingdings" panose="05000000000000000000" pitchFamily="2" charset="2"/>
              <a:buChar char="§"/>
            </a:pPr>
            <a:r>
              <a:rPr lang="fr-FR" dirty="0"/>
              <a:t>  </a:t>
            </a:r>
            <a:r>
              <a:rPr lang="fr-FR" b="1" dirty="0"/>
              <a:t>Stratégies traditionnelles ( </a:t>
            </a:r>
            <a:r>
              <a:rPr lang="fr-FR" sz="1800" dirty="0"/>
              <a:t>Fixes , avancées et mobiles</a:t>
            </a:r>
            <a:r>
              <a:rPr lang="fr-FR" b="1" dirty="0"/>
              <a:t>)</a:t>
            </a:r>
          </a:p>
          <a:p>
            <a:pPr marL="1562100" lvl="2" indent="-342900">
              <a:buFont typeface="Wingdings" panose="05000000000000000000" pitchFamily="2" charset="2"/>
              <a:buChar char="§"/>
            </a:pPr>
            <a:r>
              <a:rPr lang="fr-FR" b="1" dirty="0"/>
              <a:t>   Stratégies Spécifiques     (</a:t>
            </a:r>
            <a:r>
              <a:rPr lang="fr-FR" sz="1600" dirty="0"/>
              <a:t>IPVS , OVM , Points de conc , horaires,</a:t>
            </a:r>
          </a:p>
          <a:p>
            <a:pPr marL="1219200" lvl="2" indent="0">
              <a:buNone/>
            </a:pPr>
            <a:r>
              <a:rPr lang="fr-FR" sz="1600" dirty="0"/>
              <a:t>                                                           renforcer le rattrapage pendant  les AVS</a:t>
            </a:r>
            <a:r>
              <a:rPr lang="fr-FR" sz="2000" kern="1200" dirty="0">
                <a:solidFill>
                  <a:prstClr val="black">
                    <a:lumMod val="75000"/>
                    <a:lumOff val="25000"/>
                  </a:prstClr>
                </a:solidFill>
                <a:latin typeface="Calibri Light" panose="020F0302020204030204" pitchFamily="34" charset="0"/>
                <a:ea typeface="+mn-ea"/>
                <a:cs typeface="Calibri Light" panose="020F0302020204030204" pitchFamily="34" charset="0"/>
              </a:rPr>
              <a:t>)</a:t>
            </a:r>
            <a:r>
              <a:rPr lang="fr-FR" sz="1600" b="1" dirty="0"/>
              <a:t>     </a:t>
            </a:r>
          </a:p>
          <a:p>
            <a:pPr marL="1562100" lvl="2" indent="-342900">
              <a:buFont typeface="Wingdings" panose="05000000000000000000" pitchFamily="2" charset="2"/>
              <a:buChar char="§"/>
            </a:pPr>
            <a:r>
              <a:rPr lang="fr-FR" sz="1600" b="1" dirty="0"/>
              <a:t>  Rattrage dans la routine </a:t>
            </a:r>
          </a:p>
          <a:p>
            <a:pPr marL="152400" indent="0">
              <a:buNone/>
            </a:pPr>
            <a:r>
              <a:rPr lang="fr-FR" sz="2800" dirty="0"/>
              <a:t>                                     </a:t>
            </a:r>
          </a:p>
        </p:txBody>
      </p:sp>
    </p:spTree>
    <p:extLst>
      <p:ext uri="{BB962C8B-B14F-4D97-AF65-F5344CB8AC3E}">
        <p14:creationId xmlns:p14="http://schemas.microsoft.com/office/powerpoint/2010/main" val="149848148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95858" y="2443938"/>
            <a:ext cx="11360800" cy="763600"/>
          </a:xfrm>
        </p:spPr>
        <p:txBody>
          <a:bodyPr/>
          <a:lstStyle/>
          <a:p>
            <a:pPr algn="ctr"/>
            <a:r>
              <a:rPr lang="fr-FR" dirty="0"/>
              <a:t>Merci </a:t>
            </a:r>
          </a:p>
        </p:txBody>
      </p:sp>
    </p:spTree>
    <p:extLst>
      <p:ext uri="{BB962C8B-B14F-4D97-AF65-F5344CB8AC3E}">
        <p14:creationId xmlns:p14="http://schemas.microsoft.com/office/powerpoint/2010/main" val="134354189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6"/>
          <p:cNvSpPr txBox="1"/>
          <p:nvPr/>
        </p:nvSpPr>
        <p:spPr>
          <a:xfrm>
            <a:off x="458592" y="91341"/>
            <a:ext cx="11274800" cy="731600"/>
          </a:xfrm>
          <a:prstGeom prst="rect">
            <a:avLst/>
          </a:prstGeom>
          <a:noFill/>
          <a:ln>
            <a:noFill/>
          </a:ln>
        </p:spPr>
        <p:txBody>
          <a:bodyPr spcFirstLastPara="1" wrap="square" lIns="0" tIns="0" rIns="0" bIns="0" anchor="t" anchorCtr="0">
            <a:noAutofit/>
          </a:bodyPr>
          <a:lstStyle/>
          <a:p>
            <a:pPr lvl="0">
              <a:buSzPts val="1100"/>
            </a:pPr>
            <a:r>
              <a:rPr lang="fr-FR" altLang="en-GB" sz="2665" b="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FFOM / INTRODUCTION DES NOUVEAUX VACCINS </a:t>
            </a:r>
          </a:p>
        </p:txBody>
      </p:sp>
      <p:sp>
        <p:nvSpPr>
          <p:cNvPr id="222" name="Google Shape;222;p16"/>
          <p:cNvSpPr/>
          <p:nvPr/>
        </p:nvSpPr>
        <p:spPr>
          <a:xfrm>
            <a:off x="0" y="272241"/>
            <a:ext cx="2356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spcBef>
                <a:spcPts val="0"/>
              </a:spcBef>
              <a:spcAft>
                <a:spcPts val="0"/>
              </a:spcAft>
              <a:buNone/>
            </a:pPr>
            <a:endParaRPr sz="1865">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17" name="Grouper 16"/>
          <p:cNvGrpSpPr/>
          <p:nvPr/>
        </p:nvGrpSpPr>
        <p:grpSpPr>
          <a:xfrm>
            <a:off x="235600" y="508067"/>
            <a:ext cx="11497792" cy="6171029"/>
            <a:chOff x="186" y="1407"/>
            <a:chExt cx="18444" cy="9108"/>
          </a:xfrm>
        </p:grpSpPr>
        <p:sp>
          <p:nvSpPr>
            <p:cNvPr id="224" name="Google Shape;224;p16"/>
            <p:cNvSpPr txBox="1"/>
            <p:nvPr/>
          </p:nvSpPr>
          <p:spPr>
            <a:xfrm>
              <a:off x="422" y="10225"/>
              <a:ext cx="17976" cy="290"/>
            </a:xfrm>
            <a:prstGeom prst="rect">
              <a:avLst/>
            </a:prstGeom>
            <a:noFill/>
            <a:ln>
              <a:noFill/>
            </a:ln>
          </p:spPr>
          <p:txBody>
            <a:bodyPr spcFirstLastPara="1" wrap="square" lIns="0" tIns="0" rIns="121900" bIns="0" anchor="t" anchorCtr="0">
              <a:spAutoFit/>
            </a:bodyPr>
            <a:lstStyle/>
            <a:p>
              <a:pPr marL="0" lvl="0" indent="0" algn="l" rtl="0">
                <a:spcBef>
                  <a:spcPts val="0"/>
                </a:spcBef>
                <a:spcAft>
                  <a:spcPts val="0"/>
                </a:spcAft>
                <a:buNone/>
              </a:pPr>
              <a:r>
                <a:rPr lang="fr-FR" sz="1200" b="1"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PEV 2025</a:t>
              </a:r>
            </a:p>
          </p:txBody>
        </p:sp>
        <p:sp>
          <p:nvSpPr>
            <p:cNvPr id="4" name="Zone de texte 3"/>
            <p:cNvSpPr txBox="1"/>
            <p:nvPr>
              <p:custDataLst>
                <p:tags r:id="rId3"/>
              </p:custDataLst>
            </p:nvPr>
          </p:nvSpPr>
          <p:spPr>
            <a:xfrm>
              <a:off x="936" y="1407"/>
              <a:ext cx="8000" cy="539"/>
            </a:xfrm>
            <a:prstGeom prst="rect">
              <a:avLst/>
            </a:prstGeom>
            <a:noFill/>
          </p:spPr>
          <p:txBody>
            <a:bodyPr wrap="square" rtlCol="0">
              <a:spAutoFit/>
            </a:bodyPr>
            <a:lstStyle/>
            <a:p>
              <a:pPr lvl="0" algn="l">
                <a:buClrTx/>
                <a:buSzTx/>
                <a:buFontTx/>
              </a:pPr>
              <a:r>
                <a:rPr lang="fr-FR" altLang="en-US" b="1" dirty="0">
                  <a:latin typeface="Times New Roman" panose="02020603050405020304" pitchFamily="18" charset="0"/>
                  <a:cs typeface="Times New Roman" panose="02020603050405020304" pitchFamily="18" charset="0"/>
                  <a:sym typeface="+mn-ea"/>
                </a:rPr>
                <a:t>Forces</a:t>
              </a:r>
              <a:r>
                <a:rPr lang="fr-FR" altLang="en-US" dirty="0">
                  <a:sym typeface="+mn-ea"/>
                </a:rPr>
                <a:t> </a:t>
              </a:r>
            </a:p>
          </p:txBody>
        </p:sp>
        <p:sp>
          <p:nvSpPr>
            <p:cNvPr id="8" name="Zone de texte 7"/>
            <p:cNvSpPr txBox="1"/>
            <p:nvPr>
              <p:custDataLst>
                <p:tags r:id="rId4"/>
              </p:custDataLst>
            </p:nvPr>
          </p:nvSpPr>
          <p:spPr>
            <a:xfrm>
              <a:off x="11199" y="1743"/>
              <a:ext cx="4533" cy="539"/>
            </a:xfrm>
            <a:prstGeom prst="rect">
              <a:avLst/>
            </a:prstGeom>
            <a:noFill/>
          </p:spPr>
          <p:txBody>
            <a:bodyPr wrap="square" rtlCol="0">
              <a:spAutoFit/>
            </a:bodyPr>
            <a:lstStyle/>
            <a:p>
              <a:pPr lvl="0" algn="l">
                <a:buClrTx/>
                <a:buSzTx/>
                <a:buFontTx/>
              </a:pPr>
              <a:r>
                <a:rPr lang="fr-FR" altLang="en-US" b="1" dirty="0">
                  <a:latin typeface="Times New Roman" panose="02020603050405020304" pitchFamily="18" charset="0"/>
                  <a:cs typeface="Times New Roman" panose="02020603050405020304" pitchFamily="18" charset="0"/>
                  <a:sym typeface="+mn-ea"/>
                </a:rPr>
                <a:t>Faiblesses </a:t>
              </a:r>
            </a:p>
          </p:txBody>
        </p:sp>
        <p:sp>
          <p:nvSpPr>
            <p:cNvPr id="12" name="Zone de texte 11"/>
            <p:cNvSpPr txBox="1"/>
            <p:nvPr/>
          </p:nvSpPr>
          <p:spPr>
            <a:xfrm>
              <a:off x="186" y="1796"/>
              <a:ext cx="10719" cy="3266"/>
            </a:xfrm>
            <a:prstGeom prst="rect">
              <a:avLst/>
            </a:prstGeom>
            <a:noFill/>
          </p:spPr>
          <p:txBody>
            <a:bodyPr wrap="square" rtlCol="0">
              <a:noAutofit/>
            </a:bodyPr>
            <a:lstStyle/>
            <a:p>
              <a:pPr marL="285750" indent="-285750" algn="just">
                <a:lnSpc>
                  <a:spcPct val="150000"/>
                </a:lnSpc>
                <a:buClr>
                  <a:srgbClr val="000000"/>
                </a:buClr>
                <a:buFont typeface="Arial" panose="020B0604020202020204" pitchFamily="34" charset="0"/>
                <a:buChar char="•"/>
              </a:pPr>
              <a:r>
                <a:rPr lang="fr-FR" sz="1400" dirty="0">
                  <a:latin typeface="Times New Roman" panose="02020603050405020304" pitchFamily="18" charset="0"/>
                  <a:cs typeface="Times New Roman" panose="02020603050405020304" pitchFamily="18" charset="0"/>
                  <a:sym typeface="Arial" panose="020B0604020202020204" pitchFamily="34" charset="0"/>
                </a:rPr>
                <a:t>L’introduction du VAP à </a:t>
              </a:r>
              <a:r>
                <a:rPr lang="fr-FR" sz="1400" dirty="0" err="1">
                  <a:latin typeface="Times New Roman" panose="02020603050405020304" pitchFamily="18" charset="0"/>
                  <a:cs typeface="Times New Roman" panose="02020603050405020304" pitchFamily="18" charset="0"/>
                  <a:sym typeface="Arial" panose="020B0604020202020204" pitchFamily="34" charset="0"/>
                </a:rPr>
                <a:t>amelior</a:t>
              </a:r>
              <a:r>
                <a:rPr lang="fr-FR" sz="1400" dirty="0">
                  <a:latin typeface="Times New Roman" panose="02020603050405020304" pitchFamily="18" charset="0"/>
                  <a:cs typeface="Times New Roman" panose="02020603050405020304" pitchFamily="18" charset="0"/>
                  <a:sym typeface="Arial" panose="020B0604020202020204" pitchFamily="34" charset="0"/>
                </a:rPr>
                <a:t> les performances des antigènes de routine;</a:t>
              </a:r>
            </a:p>
            <a:p>
              <a:pPr marL="285750" indent="-285750" algn="just">
                <a:lnSpc>
                  <a:spcPct val="150000"/>
                </a:lnSpc>
                <a:buClr>
                  <a:srgbClr val="000000"/>
                </a:buClr>
                <a:buFont typeface="Arial" panose="020B0604020202020204" pitchFamily="34" charset="0"/>
                <a:buChar char="•"/>
              </a:pPr>
              <a:r>
                <a:rPr lang="fr-FR" sz="1400" dirty="0">
                  <a:solidFill>
                    <a:srgbClr val="FF0000"/>
                  </a:solidFill>
                  <a:latin typeface="Times New Roman" panose="02020603050405020304" pitchFamily="18" charset="0"/>
                  <a:cs typeface="Times New Roman" panose="02020603050405020304" pitchFamily="18" charset="0"/>
                  <a:sym typeface="Arial" panose="020B0604020202020204" pitchFamily="34" charset="0"/>
                </a:rPr>
                <a:t>Existence d’un PEV performant avec des structures établies;</a:t>
              </a:r>
            </a:p>
            <a:p>
              <a:pPr marL="285750" indent="-285750" algn="just">
                <a:lnSpc>
                  <a:spcPct val="150000"/>
                </a:lnSpc>
                <a:buClr>
                  <a:srgbClr val="000000"/>
                </a:buClr>
                <a:buFont typeface="Arial" panose="020B0604020202020204" pitchFamily="34" charset="0"/>
                <a:buChar char="•"/>
              </a:pPr>
              <a:r>
                <a:rPr lang="fr-FR" sz="1400" dirty="0">
                  <a:solidFill>
                    <a:srgbClr val="FF0000"/>
                  </a:solidFill>
                  <a:latin typeface="Times New Roman" panose="02020603050405020304" pitchFamily="18" charset="0"/>
                  <a:cs typeface="Times New Roman" panose="02020603050405020304" pitchFamily="18" charset="0"/>
                  <a:sym typeface="Arial" panose="020B0604020202020204" pitchFamily="34" charset="0"/>
                </a:rPr>
                <a:t>Expérience acquise dans l’introduction de vaccins précédents;</a:t>
              </a:r>
            </a:p>
            <a:p>
              <a:pPr marL="285750" indent="-285750" algn="just">
                <a:lnSpc>
                  <a:spcPct val="150000"/>
                </a:lnSpc>
                <a:buClr>
                  <a:srgbClr val="000000"/>
                </a:buClr>
                <a:buFont typeface="Arial" panose="020B0604020202020204" pitchFamily="34" charset="0"/>
                <a:buChar char="•"/>
              </a:pPr>
              <a:r>
                <a:rPr lang="fr-FR" sz="1400" dirty="0">
                  <a:solidFill>
                    <a:srgbClr val="FF0000"/>
                  </a:solidFill>
                  <a:latin typeface="Times New Roman" panose="02020603050405020304" pitchFamily="18" charset="0"/>
                  <a:cs typeface="Times New Roman" panose="02020603050405020304" pitchFamily="18" charset="0"/>
                  <a:sym typeface="Arial" panose="020B0604020202020204" pitchFamily="34" charset="0"/>
                </a:rPr>
                <a:t>Appui technique et financier de partenaires (GAVI,OMS, UNICEF, PATH,CHAI,JSI…);</a:t>
              </a:r>
            </a:p>
            <a:p>
              <a:pPr marL="285750" indent="-285750" algn="just">
                <a:lnSpc>
                  <a:spcPct val="150000"/>
                </a:lnSpc>
                <a:buClr>
                  <a:srgbClr val="000000"/>
                </a:buClr>
                <a:buFont typeface="Arial" panose="020B0604020202020204" pitchFamily="34" charset="0"/>
                <a:buChar char="•"/>
              </a:pPr>
              <a:r>
                <a:rPr lang="fr-FR" sz="1400" strike="sngStrike" dirty="0">
                  <a:solidFill>
                    <a:srgbClr val="FF0000"/>
                  </a:solidFill>
                  <a:latin typeface="Times New Roman" panose="02020603050405020304" pitchFamily="18" charset="0"/>
                  <a:cs typeface="Times New Roman" panose="02020603050405020304" pitchFamily="18" charset="0"/>
                  <a:sym typeface="Arial" panose="020B0604020202020204" pitchFamily="34" charset="0"/>
                </a:rPr>
                <a:t>Présence d’un GTCV /NITAG opérationnel; </a:t>
              </a:r>
              <a:r>
                <a:rPr lang="fr-FR" sz="1400" strike="sngStrike" dirty="0" err="1">
                  <a:solidFill>
                    <a:srgbClr val="FF0000"/>
                  </a:solidFill>
                  <a:latin typeface="Times New Roman" panose="02020603050405020304" pitchFamily="18" charset="0"/>
                  <a:cs typeface="Times New Roman" panose="02020603050405020304" pitchFamily="18" charset="0"/>
                  <a:sym typeface="Arial" panose="020B0604020202020204" pitchFamily="34" charset="0"/>
                </a:rPr>
                <a:t>Coodination</a:t>
              </a:r>
              <a:endParaRPr lang="fr-FR" sz="1400" strike="sngStrike" dirty="0">
                <a:solidFill>
                  <a:srgbClr val="FF0000"/>
                </a:solidFill>
                <a:latin typeface="Times New Roman" panose="02020603050405020304" pitchFamily="18" charset="0"/>
                <a:cs typeface="Times New Roman" panose="02020603050405020304" pitchFamily="18" charset="0"/>
                <a:sym typeface="Arial" panose="020B0604020202020204" pitchFamily="34" charset="0"/>
              </a:endParaRPr>
            </a:p>
            <a:p>
              <a:pPr marL="285750" indent="-285750" algn="just">
                <a:lnSpc>
                  <a:spcPct val="150000"/>
                </a:lnSpc>
                <a:buClr>
                  <a:srgbClr val="000000"/>
                </a:buClr>
                <a:buFont typeface="Arial" panose="020B0604020202020204" pitchFamily="34" charset="0"/>
                <a:buChar char="•"/>
              </a:pPr>
              <a:r>
                <a:rPr lang="fr-FR" sz="1400" dirty="0">
                  <a:solidFill>
                    <a:srgbClr val="FF0000"/>
                  </a:solidFill>
                  <a:latin typeface="Times New Roman" panose="02020603050405020304" pitchFamily="18" charset="0"/>
                  <a:cs typeface="Times New Roman" panose="02020603050405020304" pitchFamily="18" charset="0"/>
                  <a:sym typeface="Arial" panose="020B0604020202020204" pitchFamily="34" charset="0"/>
                </a:rPr>
                <a:t>Infrastructure de chaîne de froid renforcée (HUB);</a:t>
              </a:r>
            </a:p>
            <a:p>
              <a:pPr marL="285750" indent="-285750" algn="just">
                <a:lnSpc>
                  <a:spcPct val="150000"/>
                </a:lnSpc>
                <a:buClr>
                  <a:srgbClr val="000000"/>
                </a:buClr>
                <a:buFont typeface="Arial" panose="020B0604020202020204" pitchFamily="34" charset="0"/>
                <a:buChar char="•"/>
              </a:pPr>
              <a:r>
                <a:rPr lang="fr-FR" sz="1400" dirty="0">
                  <a:solidFill>
                    <a:srgbClr val="FF0000"/>
                  </a:solidFill>
                  <a:latin typeface="Times New Roman" panose="02020603050405020304" pitchFamily="18" charset="0"/>
                  <a:cs typeface="Times New Roman" panose="02020603050405020304" pitchFamily="18" charset="0"/>
                  <a:sym typeface="Arial" panose="020B0604020202020204" pitchFamily="34" charset="0"/>
                </a:rPr>
                <a:t>Acceptabilité générale des vaccins;</a:t>
              </a:r>
            </a:p>
            <a:p>
              <a:pPr marL="285750" indent="-285750" algn="just">
                <a:lnSpc>
                  <a:spcPct val="150000"/>
                </a:lnSpc>
                <a:buClr>
                  <a:srgbClr val="000000"/>
                </a:buClr>
                <a:buFont typeface="Arial" panose="020B0604020202020204" pitchFamily="34" charset="0"/>
                <a:buChar char="•"/>
              </a:pPr>
              <a:r>
                <a:rPr lang="fr-FR" sz="1400" dirty="0">
                  <a:solidFill>
                    <a:srgbClr val="FF0000"/>
                  </a:solidFill>
                  <a:latin typeface="Times New Roman" panose="02020603050405020304" pitchFamily="18" charset="0"/>
                  <a:cs typeface="Times New Roman" panose="02020603050405020304" pitchFamily="18" charset="0"/>
                  <a:sym typeface="Arial" panose="020B0604020202020204" pitchFamily="34" charset="0"/>
                </a:rPr>
                <a:t>Système de surveillance épidémiologique et de gestion des do</a:t>
              </a:r>
              <a:r>
                <a:rPr lang="fr-FR" sz="1400" dirty="0">
                  <a:latin typeface="Times New Roman" panose="02020603050405020304" pitchFamily="18" charset="0"/>
                  <a:cs typeface="Times New Roman" panose="02020603050405020304" pitchFamily="18" charset="0"/>
                  <a:sym typeface="Arial" panose="020B0604020202020204" pitchFamily="34" charset="0"/>
                </a:rPr>
                <a:t>nnées en place</a:t>
              </a:r>
              <a:r>
                <a:rPr lang="fr-FR" sz="1300" dirty="0">
                  <a:latin typeface="Arial" panose="020B0604020202020204" pitchFamily="34" charset="0"/>
                  <a:cs typeface="Arial" panose="020B0604020202020204" pitchFamily="34" charset="0"/>
                  <a:sym typeface="Arial" panose="020B0604020202020204" pitchFamily="34" charset="0"/>
                </a:rPr>
                <a:t>.</a:t>
              </a:r>
            </a:p>
          </p:txBody>
        </p:sp>
        <p:sp>
          <p:nvSpPr>
            <p:cNvPr id="14" name="Zone de texte 13"/>
            <p:cNvSpPr txBox="1"/>
            <p:nvPr/>
          </p:nvSpPr>
          <p:spPr>
            <a:xfrm>
              <a:off x="10905" y="2525"/>
              <a:ext cx="7725" cy="3336"/>
            </a:xfrm>
            <a:prstGeom prst="rect">
              <a:avLst/>
            </a:prstGeom>
            <a:noFill/>
          </p:spPr>
          <p:txBody>
            <a:bodyPr wrap="square" rtlCol="0">
              <a:noAutofit/>
            </a:bodyPr>
            <a:lstStyle/>
            <a:p>
              <a:pPr marL="285750" indent="-285750">
                <a:lnSpc>
                  <a:spcPct val="150000"/>
                </a:lnSpc>
                <a:spcBef>
                  <a:spcPts val="600"/>
                </a:spcBef>
                <a:spcAft>
                  <a:spcPts val="600"/>
                </a:spcAft>
                <a:buClr>
                  <a:srgbClr val="000000"/>
                </a:buClr>
                <a:buFont typeface="Arial" panose="020B0604020202020204" pitchFamily="34" charset="0"/>
                <a:buChar char="•"/>
              </a:pPr>
              <a:r>
                <a:rPr lang="fr-FR" sz="1400" dirty="0">
                  <a:solidFill>
                    <a:srgbClr val="FF0000"/>
                  </a:solidFill>
                  <a:latin typeface="Times New Roman" panose="02020603050405020304" pitchFamily="18" charset="0"/>
                  <a:cs typeface="Times New Roman" panose="02020603050405020304" pitchFamily="18" charset="0"/>
                  <a:sym typeface="Arial" panose="020B0604020202020204" pitchFamily="34" charset="0"/>
                </a:rPr>
                <a:t>Faible mobilisation de ressources financières additionnel pour l’introduction de nouveau vaccin</a:t>
              </a:r>
            </a:p>
            <a:p>
              <a:pPr marL="285750" indent="-285750">
                <a:lnSpc>
                  <a:spcPct val="150000"/>
                </a:lnSpc>
                <a:spcBef>
                  <a:spcPts val="600"/>
                </a:spcBef>
                <a:spcAft>
                  <a:spcPts val="600"/>
                </a:spcAft>
                <a:buClr>
                  <a:srgbClr val="000000"/>
                </a:buClr>
                <a:buFont typeface="Arial" panose="020B0604020202020204" pitchFamily="34" charset="0"/>
                <a:buChar char="•"/>
              </a:pPr>
              <a:r>
                <a:rPr lang="fr-FR" sz="1400" strike="sngStrike" dirty="0">
                  <a:solidFill>
                    <a:srgbClr val="FF0000"/>
                  </a:solidFill>
                  <a:latin typeface="Times New Roman" panose="02020603050405020304" pitchFamily="18" charset="0"/>
                  <a:cs typeface="Times New Roman" panose="02020603050405020304" pitchFamily="18" charset="0"/>
                  <a:sym typeface="Arial" panose="020B0604020202020204" pitchFamily="34" charset="0"/>
                </a:rPr>
                <a:t>domestiques pour l'appui à l'introduction des vaccins; </a:t>
              </a:r>
            </a:p>
            <a:p>
              <a:pPr marL="285750" indent="-285750">
                <a:lnSpc>
                  <a:spcPct val="150000"/>
                </a:lnSpc>
                <a:spcBef>
                  <a:spcPts val="600"/>
                </a:spcBef>
                <a:spcAft>
                  <a:spcPts val="600"/>
                </a:spcAft>
                <a:buClr>
                  <a:srgbClr val="000000"/>
                </a:buClr>
                <a:buFont typeface="Arial" panose="020B0604020202020204" pitchFamily="34" charset="0"/>
                <a:buChar char="•"/>
              </a:pPr>
              <a:r>
                <a:rPr lang="fr-FR" sz="1400" dirty="0">
                  <a:latin typeface="Times New Roman" panose="02020603050405020304" pitchFamily="18" charset="0"/>
                  <a:cs typeface="Times New Roman" panose="02020603050405020304" pitchFamily="18" charset="0"/>
                  <a:sym typeface="Arial" panose="020B0604020202020204" pitchFamily="34" charset="0"/>
                </a:rPr>
                <a:t>Insuffisance des outil des communications</a:t>
              </a:r>
            </a:p>
            <a:p>
              <a:pPr marL="285750" indent="-285750">
                <a:lnSpc>
                  <a:spcPct val="150000"/>
                </a:lnSpc>
                <a:spcBef>
                  <a:spcPts val="600"/>
                </a:spcBef>
                <a:spcAft>
                  <a:spcPts val="600"/>
                </a:spcAft>
                <a:buClr>
                  <a:srgbClr val="000000"/>
                </a:buClr>
                <a:buFont typeface="Arial" panose="020B0604020202020204" pitchFamily="34" charset="0"/>
                <a:buChar char="•"/>
              </a:pPr>
              <a:r>
                <a:rPr lang="fr-FR" sz="1400" dirty="0">
                  <a:latin typeface="Times New Roman" panose="02020603050405020304" pitchFamily="18" charset="0"/>
                  <a:cs typeface="Times New Roman" panose="02020603050405020304" pitchFamily="18" charset="0"/>
                  <a:sym typeface="Arial" panose="020B0604020202020204" pitchFamily="34" charset="0"/>
                </a:rPr>
                <a:t>Non maitrise de la cohorte de VAP1</a:t>
              </a:r>
            </a:p>
            <a:p>
              <a:pPr marL="285750" indent="-285750">
                <a:lnSpc>
                  <a:spcPct val="150000"/>
                </a:lnSpc>
                <a:spcBef>
                  <a:spcPts val="600"/>
                </a:spcBef>
                <a:spcAft>
                  <a:spcPts val="600"/>
                </a:spcAft>
                <a:buClr>
                  <a:srgbClr val="000000"/>
                </a:buClr>
                <a:buFont typeface="Arial" panose="020B0604020202020204" pitchFamily="34" charset="0"/>
                <a:buChar char="•"/>
              </a:pPr>
              <a:endParaRPr lang="fr-FR" sz="1400" dirty="0">
                <a:latin typeface="Times New Roman" panose="02020603050405020304" pitchFamily="18" charset="0"/>
                <a:cs typeface="Times New Roman" panose="02020603050405020304" pitchFamily="18" charset="0"/>
                <a:sym typeface="Arial" panose="020B0604020202020204" pitchFamily="34" charset="0"/>
              </a:endParaRPr>
            </a:p>
            <a:p>
              <a:pPr marL="285750" indent="-285750">
                <a:lnSpc>
                  <a:spcPct val="150000"/>
                </a:lnSpc>
                <a:spcBef>
                  <a:spcPts val="600"/>
                </a:spcBef>
                <a:spcAft>
                  <a:spcPts val="600"/>
                </a:spcAft>
                <a:buClr>
                  <a:srgbClr val="000000"/>
                </a:buClr>
                <a:buFont typeface="Arial" panose="020B0604020202020204" pitchFamily="34" charset="0"/>
                <a:buChar char="•"/>
              </a:pPr>
              <a:endParaRPr lang="fr-FR" sz="1400" dirty="0">
                <a:latin typeface="Times New Roman" panose="02020603050405020304" pitchFamily="18" charset="0"/>
                <a:cs typeface="Times New Roman" panose="02020603050405020304" pitchFamily="18" charset="0"/>
                <a:sym typeface="Arial" panose="020B0604020202020204" pitchFamily="34" charset="0"/>
              </a:endParaRPr>
            </a:p>
            <a:p>
              <a:pPr marL="285750" indent="-285750">
                <a:lnSpc>
                  <a:spcPct val="150000"/>
                </a:lnSpc>
                <a:spcBef>
                  <a:spcPts val="600"/>
                </a:spcBef>
                <a:spcAft>
                  <a:spcPts val="600"/>
                </a:spcAft>
                <a:buClr>
                  <a:srgbClr val="000000"/>
                </a:buClr>
                <a:buFont typeface="Arial" panose="020B0604020202020204" pitchFamily="34" charset="0"/>
                <a:buChar char="•"/>
              </a:pPr>
              <a:r>
                <a:rPr lang="fr-FR" sz="1400" strike="sngStrike" dirty="0">
                  <a:solidFill>
                    <a:srgbClr val="FF0000"/>
                  </a:solidFill>
                  <a:latin typeface="Times New Roman" panose="02020603050405020304" pitchFamily="18" charset="0"/>
                  <a:cs typeface="Times New Roman" panose="02020603050405020304" pitchFamily="18" charset="0"/>
                  <a:sym typeface="Arial" panose="020B0604020202020204" pitchFamily="34" charset="0"/>
                </a:rPr>
                <a:t>Insuffisance du personnel formé;</a:t>
              </a:r>
            </a:p>
            <a:p>
              <a:pPr marL="285750" indent="-285750">
                <a:lnSpc>
                  <a:spcPct val="150000"/>
                </a:lnSpc>
                <a:spcBef>
                  <a:spcPts val="600"/>
                </a:spcBef>
                <a:spcAft>
                  <a:spcPts val="600"/>
                </a:spcAft>
                <a:buClr>
                  <a:srgbClr val="000000"/>
                </a:buClr>
                <a:buFont typeface="Arial" panose="020B0604020202020204" pitchFamily="34" charset="0"/>
                <a:buChar char="•"/>
              </a:pPr>
              <a:r>
                <a:rPr lang="fr-FR" sz="1400" strike="sngStrike" dirty="0">
                  <a:solidFill>
                    <a:srgbClr val="FF0000"/>
                  </a:solidFill>
                  <a:latin typeface="Times New Roman" panose="02020603050405020304" pitchFamily="18" charset="0"/>
                  <a:cs typeface="Times New Roman" panose="02020603050405020304" pitchFamily="18" charset="0"/>
                  <a:sym typeface="Arial" panose="020B0604020202020204" pitchFamily="34" charset="0"/>
                </a:rPr>
                <a:t>Nécessité de renforcer la coordination multisectorielle</a:t>
              </a:r>
              <a:endParaRPr lang="fr-FR" altLang="en-US" sz="1400" strike="sngStrike" dirty="0">
                <a:solidFill>
                  <a:srgbClr val="FF0000"/>
                </a:solidFill>
                <a:latin typeface="Times New Roman" panose="02020603050405020304" pitchFamily="18" charset="0"/>
                <a:cs typeface="Times New Roman" panose="02020603050405020304" pitchFamily="18" charset="0"/>
              </a:endParaRPr>
            </a:p>
          </p:txBody>
        </p:sp>
      </p:grpSp>
      <p:sp>
        <p:nvSpPr>
          <p:cNvPr id="10" name="Zone de texte 3"/>
          <p:cNvSpPr txBox="1"/>
          <p:nvPr>
            <p:custDataLst>
              <p:tags r:id="rId1"/>
            </p:custDataLst>
          </p:nvPr>
        </p:nvSpPr>
        <p:spPr>
          <a:xfrm>
            <a:off x="610256" y="3525583"/>
            <a:ext cx="5080000" cy="369557"/>
          </a:xfrm>
          <a:prstGeom prst="rect">
            <a:avLst/>
          </a:prstGeom>
          <a:noFill/>
        </p:spPr>
        <p:txBody>
          <a:bodyPr wrap="square" rtlCol="0">
            <a:spAutoFit/>
          </a:bodyPr>
          <a:lstStyle/>
          <a:p>
            <a:pPr lvl="0"/>
            <a:r>
              <a:rPr lang="fr-FR" altLang="en-US" b="1" dirty="0">
                <a:sym typeface="+mn-ea"/>
              </a:rPr>
              <a:t>Opportunités</a:t>
            </a:r>
            <a:r>
              <a:rPr lang="fr-FR" altLang="en-US" dirty="0">
                <a:sym typeface="+mn-ea"/>
              </a:rPr>
              <a:t> </a:t>
            </a:r>
          </a:p>
        </p:txBody>
      </p:sp>
      <p:sp>
        <p:nvSpPr>
          <p:cNvPr id="11" name="Zone de texte 7"/>
          <p:cNvSpPr txBox="1"/>
          <p:nvPr>
            <p:custDataLst>
              <p:tags r:id="rId2"/>
            </p:custDataLst>
          </p:nvPr>
        </p:nvSpPr>
        <p:spPr>
          <a:xfrm>
            <a:off x="7263765" y="3440253"/>
            <a:ext cx="2878455" cy="369332"/>
          </a:xfrm>
          <a:prstGeom prst="rect">
            <a:avLst/>
          </a:prstGeom>
          <a:noFill/>
        </p:spPr>
        <p:txBody>
          <a:bodyPr wrap="square" rtlCol="0">
            <a:spAutoFit/>
          </a:bodyPr>
          <a:lstStyle/>
          <a:p>
            <a:r>
              <a:rPr lang="fr-FR" altLang="en-US" b="1" dirty="0">
                <a:latin typeface="Times New Roman" panose="02020603050405020304" pitchFamily="18" charset="0"/>
                <a:cs typeface="Times New Roman" panose="02020603050405020304" pitchFamily="18" charset="0"/>
              </a:rPr>
              <a:t>Menaces</a:t>
            </a:r>
            <a:r>
              <a:rPr lang="fr-FR" altLang="en-US" dirty="0">
                <a:sym typeface="+mn-ea"/>
              </a:rPr>
              <a:t>  </a:t>
            </a:r>
            <a:r>
              <a:rPr lang="fr-FR" altLang="en-US" b="1" dirty="0">
                <a:latin typeface="Times New Roman" panose="02020603050405020304" pitchFamily="18" charset="0"/>
                <a:cs typeface="Times New Roman" panose="02020603050405020304" pitchFamily="18" charset="0"/>
                <a:sym typeface="+mn-ea"/>
              </a:rPr>
              <a:t> </a:t>
            </a:r>
          </a:p>
        </p:txBody>
      </p:sp>
      <p:sp>
        <p:nvSpPr>
          <p:cNvPr id="13" name="Zone de texte 11"/>
          <p:cNvSpPr txBox="1"/>
          <p:nvPr/>
        </p:nvSpPr>
        <p:spPr>
          <a:xfrm>
            <a:off x="264227" y="3831943"/>
            <a:ext cx="6653483" cy="2673025"/>
          </a:xfrm>
          <a:prstGeom prst="rect">
            <a:avLst/>
          </a:prstGeom>
          <a:noFill/>
        </p:spPr>
        <p:txBody>
          <a:bodyPr wrap="square" rtlCol="0">
            <a:noAutofit/>
          </a:bodyPr>
          <a:lstStyle/>
          <a:p>
            <a:pPr marL="285750" indent="-285750" algn="just">
              <a:buFont typeface="Arial" panose="020B0604020202020204" pitchFamily="34" charset="0"/>
              <a:buChar char="•"/>
            </a:pPr>
            <a:r>
              <a:rPr lang="fr-FR" altLang="en-US" sz="1400" strike="sngStrike" dirty="0">
                <a:solidFill>
                  <a:srgbClr val="FF0000"/>
                </a:solidFill>
                <a:latin typeface="Times New Roman" panose="02020603050405020304" pitchFamily="18" charset="0"/>
                <a:cs typeface="Times New Roman" panose="02020603050405020304" pitchFamily="18" charset="0"/>
              </a:rPr>
              <a:t>l’</a:t>
            </a:r>
          </a:p>
          <a:p>
            <a:pPr marL="285750" indent="-285750" algn="just">
              <a:buFont typeface="Arial" panose="020B0604020202020204" pitchFamily="34" charset="0"/>
              <a:buChar char="•"/>
            </a:pPr>
            <a:r>
              <a:rPr lang="fr-FR" altLang="en-US" sz="1400" strike="sngStrike" dirty="0">
                <a:solidFill>
                  <a:srgbClr val="FF0000"/>
                </a:solidFill>
                <a:latin typeface="Times New Roman" panose="02020603050405020304" pitchFamily="18" charset="0"/>
                <a:cs typeface="Times New Roman" panose="02020603050405020304" pitchFamily="18" charset="0"/>
              </a:rPr>
              <a:t>introduction du vaccin contre le paludisme a renforcé la demande des services de la vaccination; forces</a:t>
            </a:r>
          </a:p>
          <a:p>
            <a:pPr marL="285750" indent="-285750" algn="just">
              <a:buFont typeface="Arial" panose="020B0604020202020204" pitchFamily="34" charset="0"/>
              <a:buChar char="•"/>
            </a:pPr>
            <a:r>
              <a:rPr lang="fr-FR" altLang="en-US" sz="1400" strike="sngStrike" dirty="0">
                <a:solidFill>
                  <a:srgbClr val="FF0000"/>
                </a:solidFill>
                <a:latin typeface="Times New Roman" panose="02020603050405020304" pitchFamily="18" charset="0"/>
                <a:cs typeface="Times New Roman" panose="02020603050405020304" pitchFamily="18" charset="0"/>
              </a:rPr>
              <a:t>la mise en </a:t>
            </a:r>
            <a:r>
              <a:rPr lang="fr-FR" altLang="en-US" sz="1400" strike="sngStrike" dirty="0" err="1">
                <a:solidFill>
                  <a:srgbClr val="FF0000"/>
                </a:solidFill>
                <a:latin typeface="Times New Roman" panose="02020603050405020304" pitchFamily="18" charset="0"/>
                <a:cs typeface="Times New Roman" panose="02020603050405020304" pitchFamily="18" charset="0"/>
              </a:rPr>
              <a:t>oeuvre</a:t>
            </a:r>
            <a:r>
              <a:rPr lang="fr-FR" altLang="en-US" sz="1400" strike="sngStrike" dirty="0">
                <a:solidFill>
                  <a:srgbClr val="FF0000"/>
                </a:solidFill>
                <a:latin typeface="Times New Roman" panose="02020603050405020304" pitchFamily="18" charset="0"/>
                <a:cs typeface="Times New Roman" panose="02020603050405020304" pitchFamily="18" charset="0"/>
              </a:rPr>
              <a:t> des IPVS dans le cadre du grand rattrapage a améliorer les couvertures vaccinales dans les aires de santé</a:t>
            </a:r>
          </a:p>
          <a:p>
            <a:pPr marL="285750" indent="-285750" algn="just">
              <a:buFont typeface="Arial" panose="020B0604020202020204" pitchFamily="34" charset="0"/>
              <a:buChar char="•"/>
            </a:pPr>
            <a:r>
              <a:rPr lang="fr-FR" altLang="en-US" sz="1400" strike="sngStrike" dirty="0">
                <a:solidFill>
                  <a:srgbClr val="FF0000"/>
                </a:solidFill>
                <a:latin typeface="Times New Roman" panose="02020603050405020304" pitchFamily="18" charset="0"/>
                <a:cs typeface="Times New Roman" panose="02020603050405020304" pitchFamily="18" charset="0"/>
              </a:rPr>
              <a:t>le processus de la micro planification a permit un réajustement du dénominateur de notre cible</a:t>
            </a:r>
          </a:p>
          <a:p>
            <a:pPr marL="285750" indent="-285750" algn="just">
              <a:buFont typeface="Arial" panose="020B0604020202020204" pitchFamily="34" charset="0"/>
              <a:buChar char="•"/>
            </a:pPr>
            <a:r>
              <a:rPr lang="fr-FR" sz="1400" strike="sngStrike" dirty="0">
                <a:solidFill>
                  <a:srgbClr val="FF0000"/>
                </a:solidFill>
                <a:latin typeface="Times New Roman" panose="02020603050405020304" pitchFamily="18" charset="0"/>
                <a:cs typeface="Times New Roman" panose="02020603050405020304" pitchFamily="18" charset="0"/>
              </a:rPr>
              <a:t>Soutien politique et financier des bailleurs;</a:t>
            </a:r>
          </a:p>
          <a:p>
            <a:pPr marL="285750" indent="-285750" algn="just">
              <a:buFont typeface="Arial" panose="020B0604020202020204" pitchFamily="34" charset="0"/>
              <a:buChar char="•"/>
            </a:pPr>
            <a:r>
              <a:rPr lang="fr-FR" sz="1400" strike="sngStrike" dirty="0">
                <a:solidFill>
                  <a:srgbClr val="FF0000"/>
                </a:solidFill>
                <a:latin typeface="Times New Roman" panose="02020603050405020304" pitchFamily="18" charset="0"/>
                <a:cs typeface="Times New Roman" panose="02020603050405020304" pitchFamily="18" charset="0"/>
              </a:rPr>
              <a:t>Financements internationaux disponibles;</a:t>
            </a:r>
          </a:p>
          <a:p>
            <a:pPr marL="285750" indent="-285750" algn="just">
              <a:buFont typeface="Arial" panose="020B0604020202020204" pitchFamily="34" charset="0"/>
              <a:buChar char="•"/>
            </a:pPr>
            <a:r>
              <a:rPr lang="fr-FR" sz="1400" strike="sngStrike" dirty="0">
                <a:solidFill>
                  <a:srgbClr val="FF0000"/>
                </a:solidFill>
                <a:latin typeface="Times New Roman" panose="02020603050405020304" pitchFamily="18" charset="0"/>
                <a:cs typeface="Times New Roman" panose="02020603050405020304" pitchFamily="18" charset="0"/>
              </a:rPr>
              <a:t>Intégration avec d’autres programmes de santé (PNLP, PNSR etc...);</a:t>
            </a:r>
          </a:p>
          <a:p>
            <a:pPr marL="285750" indent="-285750" algn="just">
              <a:buFont typeface="Arial" panose="020B0604020202020204" pitchFamily="34" charset="0"/>
              <a:buChar char="•"/>
            </a:pPr>
            <a:endParaRPr lang="fr-FR" sz="1400" strike="sngStrike" dirty="0">
              <a:solidFill>
                <a:srgbClr val="FF0000"/>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fr-FR" sz="1400" dirty="0">
                <a:latin typeface="Times New Roman" panose="02020603050405020304" pitchFamily="18" charset="0"/>
                <a:cs typeface="Times New Roman" panose="02020603050405020304" pitchFamily="18" charset="0"/>
              </a:rPr>
              <a:t>Mobilisation communautaire accrue;</a:t>
            </a:r>
          </a:p>
          <a:p>
            <a:pPr marL="285750" indent="-285750" algn="just">
              <a:buFont typeface="Arial" panose="020B0604020202020204" pitchFamily="34" charset="0"/>
              <a:buChar char="•"/>
            </a:pPr>
            <a:r>
              <a:rPr lang="fr-FR" sz="1400" dirty="0">
                <a:latin typeface="Times New Roman" panose="02020603050405020304" pitchFamily="18" charset="0"/>
                <a:cs typeface="Times New Roman" panose="02020603050405020304" pitchFamily="18" charset="0"/>
              </a:rPr>
              <a:t>Renforcement de la recherche locale</a:t>
            </a:r>
            <a:endParaRPr lang="fr-FR" altLang="en-US" sz="1400" dirty="0">
              <a:latin typeface="Times New Roman" panose="02020603050405020304" pitchFamily="18" charset="0"/>
              <a:cs typeface="Times New Roman" panose="02020603050405020304" pitchFamily="18" charset="0"/>
            </a:endParaRPr>
          </a:p>
        </p:txBody>
      </p:sp>
      <p:sp>
        <p:nvSpPr>
          <p:cNvPr id="15" name="Zone de texte 13"/>
          <p:cNvSpPr txBox="1"/>
          <p:nvPr/>
        </p:nvSpPr>
        <p:spPr>
          <a:xfrm>
            <a:off x="7100986" y="3918313"/>
            <a:ext cx="4881464" cy="1716827"/>
          </a:xfrm>
          <a:prstGeom prst="rect">
            <a:avLst/>
          </a:prstGeom>
          <a:noFill/>
        </p:spPr>
        <p:txBody>
          <a:bodyPr wrap="square" rtlCol="0">
            <a:noAutofit/>
          </a:bodyPr>
          <a:lstStyle/>
          <a:p>
            <a:pPr marL="285750" indent="-285750">
              <a:spcBef>
                <a:spcPts val="600"/>
              </a:spcBef>
              <a:spcAft>
                <a:spcPts val="600"/>
              </a:spcAft>
              <a:buFont typeface="Arial" panose="020B0604020202020204" pitchFamily="34" charset="0"/>
              <a:buChar char="•"/>
            </a:pPr>
            <a:r>
              <a:rPr lang="fr-FR" altLang="en-US" sz="1400" strike="sngStrike" dirty="0">
                <a:solidFill>
                  <a:srgbClr val="FF0000"/>
                </a:solidFill>
                <a:latin typeface="Times New Roman" panose="02020603050405020304" pitchFamily="18" charset="0"/>
                <a:cs typeface="Times New Roman" panose="02020603050405020304" pitchFamily="18" charset="0"/>
              </a:rPr>
              <a:t>Le non accompagnement des provinces par le niveau central dans le processus de la micro planification a pesé sur la qualité.</a:t>
            </a:r>
          </a:p>
          <a:p>
            <a:pPr marL="285750" indent="-285750">
              <a:spcBef>
                <a:spcPts val="600"/>
              </a:spcBef>
              <a:spcAft>
                <a:spcPts val="600"/>
              </a:spcAft>
              <a:buFont typeface="Arial" panose="020B0604020202020204" pitchFamily="34" charset="0"/>
              <a:buChar char="•"/>
            </a:pPr>
            <a:r>
              <a:rPr lang="fr-FR" altLang="en-US" sz="1400" strike="sngStrike" dirty="0">
                <a:solidFill>
                  <a:srgbClr val="FF0000"/>
                </a:solidFill>
                <a:latin typeface="Times New Roman" panose="02020603050405020304" pitchFamily="18" charset="0"/>
                <a:cs typeface="Times New Roman" panose="02020603050405020304" pitchFamily="18" charset="0"/>
              </a:rPr>
              <a:t>Le non respect du délais entre deux doses des vaccins dans le rattrapage;</a:t>
            </a:r>
          </a:p>
          <a:p>
            <a:pPr marL="285750" indent="-285750">
              <a:spcBef>
                <a:spcPts val="600"/>
              </a:spcBef>
              <a:spcAft>
                <a:spcPts val="600"/>
              </a:spcAft>
              <a:buFont typeface="Arial" panose="020B0604020202020204" pitchFamily="34" charset="0"/>
              <a:buChar char="•"/>
            </a:pPr>
            <a:r>
              <a:rPr lang="fr-FR" altLang="en-US" sz="1400" dirty="0">
                <a:latin typeface="Times New Roman" panose="02020603050405020304" pitchFamily="18" charset="0"/>
                <a:cs typeface="Times New Roman" panose="02020603050405020304" pitchFamily="18" charset="0"/>
              </a:rPr>
              <a:t>L’</a:t>
            </a:r>
            <a:r>
              <a:rPr lang="fr-FR" altLang="en-US" sz="1400" dirty="0" err="1">
                <a:latin typeface="Times New Roman" panose="02020603050405020304" pitchFamily="18" charset="0"/>
                <a:cs typeface="Times New Roman" panose="02020603050405020304" pitchFamily="18" charset="0"/>
              </a:rPr>
              <a:t>insécurite</a:t>
            </a:r>
            <a:r>
              <a:rPr lang="fr-FR" altLang="en-US" sz="1400" dirty="0">
                <a:latin typeface="Times New Roman" panose="02020603050405020304" pitchFamily="18" charset="0"/>
                <a:cs typeface="Times New Roman" panose="02020603050405020304" pitchFamily="18" charset="0"/>
              </a:rPr>
              <a:t> dans les provinces du  Nord et </a:t>
            </a:r>
            <a:r>
              <a:rPr lang="fr-FR" altLang="en-US" sz="1400" dirty="0" err="1">
                <a:latin typeface="Times New Roman" panose="02020603050405020304" pitchFamily="18" charset="0"/>
                <a:cs typeface="Times New Roman" panose="02020603050405020304" pitchFamily="18" charset="0"/>
              </a:rPr>
              <a:t>Nurd</a:t>
            </a:r>
            <a:r>
              <a:rPr lang="fr-FR" altLang="en-US" sz="1400" dirty="0">
                <a:latin typeface="Times New Roman" panose="02020603050405020304" pitchFamily="18" charset="0"/>
                <a:cs typeface="Times New Roman" panose="02020603050405020304" pitchFamily="18" charset="0"/>
              </a:rPr>
              <a:t> Kivu</a:t>
            </a:r>
          </a:p>
          <a:p>
            <a:pPr marL="285750" indent="-285750">
              <a:spcBef>
                <a:spcPts val="600"/>
              </a:spcBef>
              <a:spcAft>
                <a:spcPts val="600"/>
              </a:spcAft>
              <a:buFont typeface="Arial" panose="020B0604020202020204" pitchFamily="34" charset="0"/>
              <a:buChar char="•"/>
            </a:pPr>
            <a:endParaRPr lang="fr-FR" altLang="en-US" sz="1400" dirty="0">
              <a:solidFill>
                <a:srgbClr val="FF0000"/>
              </a:solidFill>
              <a:latin typeface="Times New Roman" panose="02020603050405020304" pitchFamily="18" charset="0"/>
              <a:cs typeface="Times New Roman" panose="02020603050405020304" pitchFamily="18" charset="0"/>
              <a:sym typeface="+mn-ea"/>
            </a:endParaRPr>
          </a:p>
        </p:txBody>
      </p:sp>
    </p:spTree>
    <p:extLst>
      <p:ext uri="{BB962C8B-B14F-4D97-AF65-F5344CB8AC3E}">
        <p14:creationId xmlns:p14="http://schemas.microsoft.com/office/powerpoint/2010/main" val="50224234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460.4,&quot;left&quot;:378.85,&quot;top&quot;:55.45,&quot;width&quot;:490.15}"/>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i*1_1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DIAGRAM_GROUP_CODE" val="l1-1"/>
  <p:tag name="KSO_WM_UNIT_SUBTYPE" val="d"/>
  <p:tag name="KSO_WM_UNIT_TYPE" val="l_h_i"/>
  <p:tag name="KSO_WM_UNIT_INDEX" val="1_1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6"/>
  <p:tag name="KSO_WM_UNIT_TEXT_FILL_TYPE" val="1"/>
  <p:tag name="KSO_WM_UNIT_USESOURCEFORMAT_APPLY" val="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f*1_1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UNIT_SUBTYPE" val="a"/>
  <p:tag name="KSO_WM_UNIT_NOCLEAR" val="0"/>
  <p:tag name="KSO_WM_UNIT_VALUE" val="78"/>
  <p:tag name="KSO_WM_DIAGRAM_GROUP_CODE" val="l1-1"/>
  <p:tag name="KSO_WM_UNIT_TYPE" val="l_h_f"/>
  <p:tag name="KSO_WM_UNIT_INDEX" val="1_1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3"/>
  <p:tag name="KSO_WM_UNIT_TEXT_FILL_TYPE" val="1"/>
  <p:tag name="KSO_WM_UNIT_USESOURCEFORMAT_APPLY" val="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i*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DIAGRAM_GROUP_CODE" val="l1-1"/>
  <p:tag name="KSO_WM_UNIT_SUBTYPE" val="d"/>
  <p:tag name="KSO_WM_UNIT_TYPE" val="l_h_i"/>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6"/>
  <p:tag name="KSO_WM_UNIT_TEXT_FILL_TYPE" val="1"/>
  <p:tag name="KSO_WM_UNIT_USESOURCEFORMAT_APPLY" val="1"/>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f*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UNIT_SUBTYPE" val="a"/>
  <p:tag name="KSO_WM_UNIT_NOCLEAR" val="0"/>
  <p:tag name="KSO_WM_UNIT_VALUE" val="78"/>
  <p:tag name="KSO_WM_DIAGRAM_GROUP_CODE" val="l1-1"/>
  <p:tag name="KSO_WM_UNIT_TYPE" val="l_h_f"/>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3"/>
  <p:tag name="KSO_WM_UNIT_TEXT_FILL_TYPE" val="1"/>
  <p:tag name="KSO_WM_UNIT_USESOURCEFORMAT_APPLY" val="1"/>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i*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DIAGRAM_GROUP_CODE" val="l1-1"/>
  <p:tag name="KSO_WM_UNIT_SUBTYPE" val="d"/>
  <p:tag name="KSO_WM_UNIT_TYPE" val="l_h_i"/>
  <p:tag name="KSO_WM_UNIT_INDEX" val="1_2_1"/>
  <p:tag name="KSO_WM_DIAGRAM_MAX_ITEMCNT" val="6"/>
  <p:tag name="KSO_WM_DIAGRAM_MIN_ITEMCNT" val="2"/>
  <p:tag name="KSO_WM_DIAGRAM_VIRTUALLY_FRAME" val="{&quot;height&quot;:458,&quot;left&quot;:378.85,&quot;top&quot;:52.1,&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6"/>
  <p:tag name="KSO_WM_UNIT_TEXT_FILL_TYPE" val="1"/>
  <p:tag name="KSO_WM_UNIT_USESOURCEFORMAT_APPLY" val="1"/>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f*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UNIT_SUBTYPE" val="a"/>
  <p:tag name="KSO_WM_UNIT_NOCLEAR" val="0"/>
  <p:tag name="KSO_WM_UNIT_VALUE" val="78"/>
  <p:tag name="KSO_WM_DIAGRAM_GROUP_CODE" val="l1-1"/>
  <p:tag name="KSO_WM_UNIT_TYPE" val="l_h_f"/>
  <p:tag name="KSO_WM_UNIT_INDEX" val="1_2_1"/>
  <p:tag name="KSO_WM_DIAGRAM_MAX_ITEMCNT" val="6"/>
  <p:tag name="KSO_WM_DIAGRAM_MIN_ITEMCNT" val="2"/>
  <p:tag name="KSO_WM_DIAGRAM_VIRTUALLY_FRAME" val="{&quot;height&quot;:458,&quot;left&quot;:378.85,&quot;top&quot;:52.1,&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3"/>
  <p:tag name="KSO_WM_UNIT_TEXT_FILL_TYPE" val="1"/>
  <p:tag name="KSO_WM_UNIT_USESOURCEFORMAT_APPLY" val="1"/>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i*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DIAGRAM_GROUP_CODE" val="l1-1"/>
  <p:tag name="KSO_WM_UNIT_SUBTYPE" val="d"/>
  <p:tag name="KSO_WM_UNIT_TYPE" val="l_h_i"/>
  <p:tag name="KSO_WM_UNIT_INDEX" val="1_2_1"/>
  <p:tag name="KSO_WM_DIAGRAM_MAX_ITEMCNT" val="6"/>
  <p:tag name="KSO_WM_DIAGRAM_MIN_ITEMCNT" val="2"/>
  <p:tag name="KSO_WM_DIAGRAM_VIRTUALLY_FRAME" val="{&quot;height&quot;:458,&quot;left&quot;:378.85,&quot;top&quot;:52.1,&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6"/>
  <p:tag name="KSO_WM_UNIT_TEXT_FILL_TYPE" val="1"/>
  <p:tag name="KSO_WM_UNIT_USESOURCEFORMAT_APPLY" val="1"/>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f*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UNIT_SUBTYPE" val="a"/>
  <p:tag name="KSO_WM_UNIT_NOCLEAR" val="0"/>
  <p:tag name="KSO_WM_UNIT_VALUE" val="78"/>
  <p:tag name="KSO_WM_DIAGRAM_GROUP_CODE" val="l1-1"/>
  <p:tag name="KSO_WM_UNIT_TYPE" val="l_h_f"/>
  <p:tag name="KSO_WM_UNIT_INDEX" val="1_2_1"/>
  <p:tag name="KSO_WM_DIAGRAM_MAX_ITEMCNT" val="6"/>
  <p:tag name="KSO_WM_DIAGRAM_MIN_ITEMCNT" val="2"/>
  <p:tag name="KSO_WM_DIAGRAM_VIRTUALLY_FRAME" val="{&quot;height&quot;:458,&quot;left&quot;:378.85,&quot;top&quot;:52.1,&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3"/>
  <p:tag name="KSO_WM_UNIT_TEXT_FILL_TYPE" val="1"/>
  <p:tag name="KSO_WM_UNIT_USESOURCEFORMAT_APPLY" val="1"/>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i*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DIAGRAM_GROUP_CODE" val="l1-1"/>
  <p:tag name="KSO_WM_UNIT_SUBTYPE" val="d"/>
  <p:tag name="KSO_WM_UNIT_TYPE" val="l_h_i"/>
  <p:tag name="KSO_WM_UNIT_INDEX" val="1_2_1"/>
  <p:tag name="KSO_WM_DIAGRAM_MAX_ITEMCNT" val="6"/>
  <p:tag name="KSO_WM_DIAGRAM_MIN_ITEMCNT" val="2"/>
  <p:tag name="KSO_WM_DIAGRAM_VIRTUALLY_FRAME" val="{&quot;height&quot;:458,&quot;left&quot;:378.85,&quot;top&quot;:52.1,&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6"/>
  <p:tag name="KSO_WM_UNIT_TEXT_FILL_TYPE" val="1"/>
  <p:tag name="KSO_WM_UNIT_USESOURCEFORMAT_APPLY" val="1"/>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f*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UNIT_SUBTYPE" val="a"/>
  <p:tag name="KSO_WM_UNIT_NOCLEAR" val="0"/>
  <p:tag name="KSO_WM_UNIT_VALUE" val="78"/>
  <p:tag name="KSO_WM_DIAGRAM_GROUP_CODE" val="l1-1"/>
  <p:tag name="KSO_WM_UNIT_TYPE" val="l_h_f"/>
  <p:tag name="KSO_WM_UNIT_INDEX" val="1_2_1"/>
  <p:tag name="KSO_WM_DIAGRAM_MAX_ITEMCNT" val="6"/>
  <p:tag name="KSO_WM_DIAGRAM_MIN_ITEMCNT" val="2"/>
  <p:tag name="KSO_WM_DIAGRAM_VIRTUALLY_FRAME" val="{&quot;height&quot;:458,&quot;left&quot;:378.85,&quot;top&quot;:52.1,&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3"/>
  <p:tag name="KSO_WM_UNIT_TEXT_FILL_TYPE" val="1"/>
  <p:tag name="KSO_WM_UNIT_USESOURCEFORMAT_APPLY" val="1"/>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i*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DIAGRAM_GROUP_CODE" val="l1-1"/>
  <p:tag name="KSO_WM_UNIT_SUBTYPE" val="d"/>
  <p:tag name="KSO_WM_UNIT_TYPE" val="l_h_i"/>
  <p:tag name="KSO_WM_UNIT_INDEX" val="1_2_1"/>
  <p:tag name="KSO_WM_DIAGRAM_MAX_ITEMCNT" val="6"/>
  <p:tag name="KSO_WM_DIAGRAM_MIN_ITEMCNT" val="2"/>
  <p:tag name="KSO_WM_DIAGRAM_VIRTUALLY_FRAME" val="{&quot;height&quot;:458,&quot;left&quot;:378.85,&quot;top&quot;:52.1,&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6"/>
  <p:tag name="KSO_WM_UNIT_TEXT_FILL_TYPE" val="1"/>
  <p:tag name="KSO_WM_UNIT_USESOURCEFORMAT_APPLY" val="1"/>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f*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UNIT_SUBTYPE" val="a"/>
  <p:tag name="KSO_WM_UNIT_NOCLEAR" val="0"/>
  <p:tag name="KSO_WM_UNIT_VALUE" val="78"/>
  <p:tag name="KSO_WM_DIAGRAM_GROUP_CODE" val="l1-1"/>
  <p:tag name="KSO_WM_UNIT_TYPE" val="l_h_f"/>
  <p:tag name="KSO_WM_UNIT_INDEX" val="1_2_1"/>
  <p:tag name="KSO_WM_DIAGRAM_MAX_ITEMCNT" val="6"/>
  <p:tag name="KSO_WM_DIAGRAM_MIN_ITEMCNT" val="2"/>
  <p:tag name="KSO_WM_DIAGRAM_VIRTUALLY_FRAME" val="{&quot;height&quot;:458,&quot;left&quot;:378.85,&quot;top&quot;:52.1,&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3"/>
  <p:tag name="KSO_WM_UNIT_TEXT_FILL_TYPE" val="1"/>
  <p:tag name="KSO_WM_UNIT_USESOURCEFORMAT_APPLY" val="1"/>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i*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DIAGRAM_GROUP_CODE" val="l1-1"/>
  <p:tag name="KSO_WM_UNIT_SUBTYPE" val="d"/>
  <p:tag name="KSO_WM_UNIT_TYPE" val="l_h_i"/>
  <p:tag name="KSO_WM_UNIT_INDEX" val="1_2_1"/>
  <p:tag name="KSO_WM_DIAGRAM_MAX_ITEMCNT" val="6"/>
  <p:tag name="KSO_WM_DIAGRAM_MIN_ITEMCNT" val="2"/>
  <p:tag name="KSO_WM_DIAGRAM_VIRTUALLY_FRAME" val="{&quot;height&quot;:458,&quot;left&quot;:378.85,&quot;top&quot;:52.1,&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6"/>
  <p:tag name="KSO_WM_UNIT_TEXT_FILL_TYPE" val="1"/>
  <p:tag name="KSO_WM_UNIT_USESOURCEFORMAT_APPLY" val="1"/>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f*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UNIT_SUBTYPE" val="a"/>
  <p:tag name="KSO_WM_UNIT_NOCLEAR" val="0"/>
  <p:tag name="KSO_WM_UNIT_VALUE" val="78"/>
  <p:tag name="KSO_WM_DIAGRAM_GROUP_CODE" val="l1-1"/>
  <p:tag name="KSO_WM_UNIT_TYPE" val="l_h_f"/>
  <p:tag name="KSO_WM_UNIT_INDEX" val="1_2_1"/>
  <p:tag name="KSO_WM_DIAGRAM_MAX_ITEMCNT" val="6"/>
  <p:tag name="KSO_WM_DIAGRAM_MIN_ITEMCNT" val="2"/>
  <p:tag name="KSO_WM_DIAGRAM_VIRTUALLY_FRAME" val="{&quot;height&quot;:458,&quot;left&quot;:378.85,&quot;top&quot;:52.1,&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3"/>
  <p:tag name="KSO_WM_UNIT_TEXT_FILL_TYPE" val="1"/>
  <p:tag name="KSO_WM_UNIT_USESOURCEFORMAT_APPLY" val="1"/>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297.92496062992126,&quot;left&quot;:80,&quot;top&quot;:139.17503937007874,&quot;width&quot;:818}"/>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297.92496062992126,&quot;left&quot;:80,&quot;top&quot;:139.17503937007874,&quot;width&quot;:818}"/>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297.92496062992126,&quot;left&quot;:80,&quot;top&quot;:139.17503937007874,&quot;width&quot;:818}"/>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297.92496062992126,&quot;left&quot;:80,&quot;top&quot;:139.17503937007874,&quot;width&quot;:818}"/>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297.92496062992126,&quot;left&quot;:80,&quot;top&quot;:139.17503937007874,&quot;width&quot;:818}"/>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297.92496062992126,&quot;left&quot;:80,&quot;top&quot;:139.17503937007874,&quot;width&quot;:818}"/>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460.4,&quot;left&quot;:378.85,&quot;top&quot;:55.45,&quot;width&quot;:490.15}"/>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i*1_1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DIAGRAM_GROUP_CODE" val="l1-1"/>
  <p:tag name="KSO_WM_UNIT_SUBTYPE" val="d"/>
  <p:tag name="KSO_WM_UNIT_TYPE" val="l_h_i"/>
  <p:tag name="KSO_WM_UNIT_INDEX" val="1_1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6"/>
  <p:tag name="KSO_WM_UNIT_TEXT_FILL_TYPE" val="1"/>
  <p:tag name="KSO_WM_UNIT_USESOURCEFORMAT_APPLY" val="1"/>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f*1_1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UNIT_SUBTYPE" val="a"/>
  <p:tag name="KSO_WM_UNIT_NOCLEAR" val="0"/>
  <p:tag name="KSO_WM_UNIT_VALUE" val="78"/>
  <p:tag name="KSO_WM_DIAGRAM_GROUP_CODE" val="l1-1"/>
  <p:tag name="KSO_WM_UNIT_TYPE" val="l_h_f"/>
  <p:tag name="KSO_WM_UNIT_INDEX" val="1_1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3"/>
  <p:tag name="KSO_WM_UNIT_TEXT_FILL_TYPE" val="1"/>
  <p:tag name="KSO_WM_UNIT_USESOURCEFORMAT_APPLY" val="1"/>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i*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DIAGRAM_GROUP_CODE" val="l1-1"/>
  <p:tag name="KSO_WM_UNIT_SUBTYPE" val="d"/>
  <p:tag name="KSO_WM_UNIT_TYPE" val="l_h_i"/>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6"/>
  <p:tag name="KSO_WM_UNIT_TEXT_FILL_TYPE" val="1"/>
  <p:tag name="KSO_WM_UNIT_USESOURCEFORMAT_APPLY" val="1"/>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f*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UNIT_SUBTYPE" val="a"/>
  <p:tag name="KSO_WM_UNIT_NOCLEAR" val="0"/>
  <p:tag name="KSO_WM_UNIT_VALUE" val="78"/>
  <p:tag name="KSO_WM_DIAGRAM_GROUP_CODE" val="l1-1"/>
  <p:tag name="KSO_WM_UNIT_TYPE" val="l_h_f"/>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3"/>
  <p:tag name="KSO_WM_UNIT_TEXT_FILL_TYPE" val="1"/>
  <p:tag name="KSO_WM_UNIT_USESOURCEFORMAT_APPLY" val="1"/>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i*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DIAGRAM_GROUP_CODE" val="l1-1"/>
  <p:tag name="KSO_WM_UNIT_SUBTYPE" val="d"/>
  <p:tag name="KSO_WM_UNIT_TYPE" val="l_h_i"/>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6"/>
  <p:tag name="KSO_WM_UNIT_TEXT_FILL_TYPE" val="1"/>
  <p:tag name="KSO_WM_UNIT_USESOURCEFORMAT_APPLY" val="1"/>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f*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UNIT_SUBTYPE" val="a"/>
  <p:tag name="KSO_WM_UNIT_NOCLEAR" val="0"/>
  <p:tag name="KSO_WM_UNIT_VALUE" val="78"/>
  <p:tag name="KSO_WM_DIAGRAM_GROUP_CODE" val="l1-1"/>
  <p:tag name="KSO_WM_UNIT_TYPE" val="l_h_f"/>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3"/>
  <p:tag name="KSO_WM_UNIT_TEXT_FILL_TYPE" val="1"/>
  <p:tag name="KSO_WM_UNIT_USESOURCEFORMAT_APPLY" val="1"/>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i*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DIAGRAM_GROUP_CODE" val="l1-1"/>
  <p:tag name="KSO_WM_UNIT_SUBTYPE" val="d"/>
  <p:tag name="KSO_WM_UNIT_TYPE" val="l_h_i"/>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6"/>
  <p:tag name="KSO_WM_UNIT_TEXT_FILL_TYPE" val="1"/>
  <p:tag name="KSO_WM_UNIT_USESOURCEFORMAT_APPLY" val="1"/>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f*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UNIT_SUBTYPE" val="a"/>
  <p:tag name="KSO_WM_UNIT_NOCLEAR" val="0"/>
  <p:tag name="KSO_WM_UNIT_VALUE" val="78"/>
  <p:tag name="KSO_WM_DIAGRAM_GROUP_CODE" val="l1-1"/>
  <p:tag name="KSO_WM_UNIT_TYPE" val="l_h_f"/>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3"/>
  <p:tag name="KSO_WM_UNIT_TEXT_FILL_TYPE" val="1"/>
  <p:tag name="KSO_WM_UNIT_USESOURCEFORMAT_APPLY" val="1"/>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i*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DIAGRAM_GROUP_CODE" val="l1-1"/>
  <p:tag name="KSO_WM_UNIT_SUBTYPE" val="d"/>
  <p:tag name="KSO_WM_UNIT_TYPE" val="l_h_i"/>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6"/>
  <p:tag name="KSO_WM_UNIT_TEXT_FILL_TYPE" val="1"/>
  <p:tag name="KSO_WM_UNIT_USESOURCEFORMAT_APPLY" val="1"/>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f*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UNIT_SUBTYPE" val="a"/>
  <p:tag name="KSO_WM_UNIT_NOCLEAR" val="0"/>
  <p:tag name="KSO_WM_UNIT_VALUE" val="78"/>
  <p:tag name="KSO_WM_DIAGRAM_GROUP_CODE" val="l1-1"/>
  <p:tag name="KSO_WM_UNIT_TYPE" val="l_h_f"/>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3"/>
  <p:tag name="KSO_WM_UNIT_TEXT_FILL_TYPE" val="1"/>
  <p:tag name="KSO_WM_UNIT_USESOURCEFORMAT_APPLY" val="1"/>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i*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DIAGRAM_GROUP_CODE" val="l1-1"/>
  <p:tag name="KSO_WM_UNIT_SUBTYPE" val="d"/>
  <p:tag name="KSO_WM_UNIT_TYPE" val="l_h_i"/>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6"/>
  <p:tag name="KSO_WM_UNIT_TEXT_FILL_TYPE" val="1"/>
  <p:tag name="KSO_WM_UNIT_USESOURCEFORMAT_APPLY" val="1"/>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f*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UNIT_SUBTYPE" val="a"/>
  <p:tag name="KSO_WM_UNIT_NOCLEAR" val="0"/>
  <p:tag name="KSO_WM_UNIT_VALUE" val="78"/>
  <p:tag name="KSO_WM_DIAGRAM_GROUP_CODE" val="l1-1"/>
  <p:tag name="KSO_WM_UNIT_TYPE" val="l_h_f"/>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3"/>
  <p:tag name="KSO_WM_UNIT_TEXT_FILL_TYPE" val="1"/>
  <p:tag name="KSO_WM_UNIT_USESOURCEFORMAT_APPLY" val="1"/>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i*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DIAGRAM_GROUP_CODE" val="l1-1"/>
  <p:tag name="KSO_WM_UNIT_SUBTYPE" val="d"/>
  <p:tag name="KSO_WM_UNIT_TYPE" val="l_h_i"/>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6"/>
  <p:tag name="KSO_WM_UNIT_TEXT_FILL_TYPE" val="1"/>
  <p:tag name="KSO_WM_UNIT_USESOURCEFORMAT_APPLY" val="1"/>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8021_2*l_h_f*1_2_1"/>
  <p:tag name="KSO_WM_TEMPLATE_CATEGORY" val="custom"/>
  <p:tag name="KSO_WM_TEMPLATE_INDEX" val="20238021"/>
  <p:tag name="KSO_WM_UNIT_LAYERLEVEL" val="1_1_1"/>
  <p:tag name="KSO_WM_TAG_VERSION" val="3.0"/>
  <p:tag name="KSO_WM_DIAGRAM_VERSION" val="3"/>
  <p:tag name="KSO_WM_DIAGRAM_COLOR_TRICK" val="1"/>
  <p:tag name="KSO_WM_DIAGRAM_COLOR_TEXT_CAN_REMOVE" val="n"/>
  <p:tag name="KSO_WM_UNIT_SUBTYPE" val="a"/>
  <p:tag name="KSO_WM_UNIT_NOCLEAR" val="0"/>
  <p:tag name="KSO_WM_UNIT_VALUE" val="78"/>
  <p:tag name="KSO_WM_DIAGRAM_GROUP_CODE" val="l1-1"/>
  <p:tag name="KSO_WM_UNIT_TYPE" val="l_h_f"/>
  <p:tag name="KSO_WM_UNIT_INDEX" val="1_2_1"/>
  <p:tag name="KSO_WM_DIAGRAM_MAX_ITEMCNT" val="6"/>
  <p:tag name="KSO_WM_DIAGRAM_MIN_ITEMCNT" val="2"/>
  <p:tag name="KSO_WM_DIAGRAM_VIRTUALLY_FRAME" val="{&quot;height&quot;:460.4,&quot;left&quot;:378.85,&quot;top&quot;:55.45,&quot;width&quot;:49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UNIT_TEXT_FILL_FORE_SCHEMECOLOR_INDEX" val="13"/>
  <p:tag name="KSO_WM_UNIT_TEXT_FILL_TYPE" val="1"/>
  <p:tag name="KSO_WM_UNIT_USESOURCEFORMAT_APPLY" val="1"/>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297.92496062992126,&quot;left&quot;:80,&quot;top&quot;:139.17503937007874,&quot;width&quot;:818}"/>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297.92496062992126,&quot;left&quot;:80,&quot;top&quot;:139.17503937007874,&quot;width&quot;:818}"/>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297.92496062992126,&quot;left&quot;:80,&quot;top&quot;:139.17503937007874,&quot;width&quot;:818}"/>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297.92496062992126,&quot;left&quot;:80,&quot;top&quot;:139.17503937007874,&quot;width&quot;:818}"/>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297.92496062992126,&quot;left&quot;:80,&quot;top&quot;:139.17503937007874,&quot;width&quot;:818}"/>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297.92496062992126,&quot;left&quot;:80,&quot;top&quot;:139.17503937007874,&quot;width&quot;:818}"/>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297.92496062992126,&quot;left&quot;:80,&quot;top&quot;:139.17503937007874,&quot;width&quot;:818}"/>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297.92496062992126,&quot;left&quot;:80,&quot;top&quot;:139.17503937007874,&quot;width&quot;:818}"/>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297.92496062992126,&quot;left&quot;:80,&quot;top&quot;:139.17503937007874,&quot;width&quot;:818}"/>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297.92496062992126,&quot;left&quot;:80,&quot;top&quot;:139.17503937007874,&quot;width&quot;:81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Calibri"/>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1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otalTime>2502</TotalTime>
  <Words>5729</Words>
  <Application>Microsoft Office PowerPoint</Application>
  <PresentationFormat>Grand écran</PresentationFormat>
  <Paragraphs>1289</Paragraphs>
  <Slides>77</Slides>
  <Notes>64</Notes>
  <HiddenSlides>1</HiddenSlides>
  <MMClips>0</MMClips>
  <ScaleCrop>false</ScaleCrop>
  <HeadingPairs>
    <vt:vector size="6" baseType="variant">
      <vt:variant>
        <vt:lpstr>Polices utilisées</vt:lpstr>
      </vt:variant>
      <vt:variant>
        <vt:i4>12</vt:i4>
      </vt:variant>
      <vt:variant>
        <vt:lpstr>Thème</vt:lpstr>
      </vt:variant>
      <vt:variant>
        <vt:i4>2</vt:i4>
      </vt:variant>
      <vt:variant>
        <vt:lpstr>Titres des diapositives</vt:lpstr>
      </vt:variant>
      <vt:variant>
        <vt:i4>77</vt:i4>
      </vt:variant>
    </vt:vector>
  </HeadingPairs>
  <TitlesOfParts>
    <vt:vector size="91" baseType="lpstr">
      <vt:lpstr>微软雅黑</vt:lpstr>
      <vt:lpstr>Arial</vt:lpstr>
      <vt:lpstr>Arial Black</vt:lpstr>
      <vt:lpstr>Arimo</vt:lpstr>
      <vt:lpstr>Calibri</vt:lpstr>
      <vt:lpstr>Calibri Light</vt:lpstr>
      <vt:lpstr>Franklin Gothic Book</vt:lpstr>
      <vt:lpstr>Lato</vt:lpstr>
      <vt:lpstr>Maiandra GD</vt:lpstr>
      <vt:lpstr>Source Serif Pro</vt:lpstr>
      <vt:lpstr>Times New Roman</vt:lpstr>
      <vt:lpstr>Wingdings</vt:lpstr>
      <vt:lpstr>Office Theme</vt:lpstr>
      <vt:lpstr>Simple Light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Evaluation activités 2025 de la Qualité des Données (1/3) </vt:lpstr>
      <vt:lpstr>Evaluation activités 2025 de la Qualité des Données (2/3)</vt:lpstr>
      <vt:lpstr>Evaluation activités 2025 de la Qualité des Données (3/3)</vt:lpstr>
      <vt:lpstr> Résultats obtenus </vt:lpstr>
      <vt:lpstr>Evolution du nombre de  ZS avec CV DTC3 &gt; 100%, 2020-2025 (Dénominateur Administrative) Si on peut comparer avec la population ajuster</vt:lpstr>
      <vt:lpstr>Evolution du nombre de ZS avec Taux d’abandon DTC1/DTC3 négatif de 2020 – 2025,  Janvier- Octobre 2025 Ajouter les 18 ZS à coté</vt:lpstr>
      <vt:lpstr>Présentation PowerPoint</vt:lpstr>
      <vt:lpstr>Evolution de la consistance Interne des données</vt:lpstr>
      <vt:lpstr>Evolution de nombre des enfants vaccinés  en DTC HepB Hib1, DTC HepB Hib3 et VAR 1 par rapport à la cible de 2020-2025</vt:lpstr>
      <vt:lpstr>Comparaison des CV des antigènes qui se donnent au même moment par province  RDC, Janvier-Octobre 2025</vt:lpstr>
      <vt:lpstr>Comparaison des CV des antigènes qui se donnent au même moment par province  RDC, Janvier-Octobre 2025</vt:lpstr>
      <vt:lpstr>Comparaison des CV de VAR 2024 et 2025 par province   RDC, Janvier-Octobre 2025</vt:lpstr>
      <vt:lpstr>Triangulation des données DTC3 selon différentes sources COMPLETER LE TABLEAU</vt:lpstr>
      <vt:lpstr>Présentation PowerPoint</vt:lpstr>
      <vt:lpstr>Présentation PowerPoint</vt:lpstr>
      <vt:lpstr>Présentation PowerPoint</vt:lpstr>
      <vt:lpstr>Présentation PowerPoint</vt:lpstr>
      <vt:lpstr>Présentation PowerPoint</vt:lpstr>
      <vt:lpstr>                    Axe d’interventions en 2026  pour la Routine                 </vt:lpstr>
      <vt:lpstr>Merci </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bushabufaustin@outlook.com</cp:lastModifiedBy>
  <cp:revision>147</cp:revision>
  <dcterms:created xsi:type="dcterms:W3CDTF">2025-07-23T00:59:00Z</dcterms:created>
  <dcterms:modified xsi:type="dcterms:W3CDTF">2025-12-13T14:31:50Z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3084-12.2.0.23131</vt:lpwstr>
  </property>
  <property fmtid="{D5CDD505-2E9C-101B-9397-08002B2CF9AE}" pid="3" name="ICV">
    <vt:lpwstr>660B6B08150D47D28CC74F278AEBE4A4_13</vt:lpwstr>
  </property>
</Properties>
</file>