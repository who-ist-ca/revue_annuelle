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7.png"/><Relationship Id="rId6" Type="http://schemas.openxmlformats.org/officeDocument/2006/relationships/image" Target="../media/image22.png"/><Relationship Id="rId5" Type="http://schemas.openxmlformats.org/officeDocument/2006/relationships/image" Target="../media/image26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29.png"/><Relationship Id="rId2" Type="http://schemas.openxmlformats.org/officeDocument/2006/relationships/image" Target="../media/image12.png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85725" y="-201295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5" name="Shape 3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F5F9F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711903" y="6314846"/>
            <a:ext cx="133502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3155" y="6264910"/>
            <a:ext cx="3531870" cy="241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Protéger • Immuniser • Sauver des vies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895905" y="4176979"/>
            <a:ext cx="6400800" cy="2834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9" name="Shape 6"/>
          <p:cNvSpPr/>
          <p:nvPr/>
        </p:nvSpPr>
        <p:spPr>
          <a:xfrm>
            <a:off x="5620537" y="4501363"/>
            <a:ext cx="952805" cy="75895"/>
          </a:xfrm>
          <a:prstGeom prst="rect">
            <a:avLst/>
          </a:prstGeom>
          <a:solidFill>
            <a:srgbClr val="F0AB00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10098" y="942746"/>
            <a:ext cx="571500" cy="5715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07869" y="1809598"/>
            <a:ext cx="7439558" cy="743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3366"/>
                </a:solidFill>
                <a:latin typeface="Times New Roman" panose="02020603050405020304" charset="0"/>
                <a:ea typeface="Montserrat" pitchFamily="34" charset="-122"/>
                <a:cs typeface="Times New Roman" panose="02020603050405020304" charset="0"/>
              </a:rPr>
              <a:t>RECOMMANDATIONS</a:t>
            </a:r>
            <a:endParaRPr lang="en-US" sz="4800" b="1" dirty="0">
              <a:solidFill>
                <a:srgbClr val="003366"/>
              </a:solidFill>
              <a:latin typeface="Times New Roman" panose="02020603050405020304" charset="0"/>
              <a:ea typeface="Montserrat" pitchFamily="34" charset="-122"/>
              <a:cs typeface="Times New Roman" panose="02020603050405020304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4295851" y="2541118"/>
            <a:ext cx="4058107" cy="743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" altLang="en-US" sz="4800" dirty="0">
                <a:latin typeface="Times New Roman" panose="02020603050405020304" charset="0"/>
                <a:cs typeface="Times New Roman" panose="02020603050405020304" charset="0"/>
              </a:rPr>
              <a:t>RETENUES</a:t>
            </a:r>
            <a:endParaRPr lang="" altLang="en-US" sz="4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3819449" y="3519526"/>
            <a:ext cx="4819802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7C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Revue Annuelle PEV 202</a:t>
            </a:r>
            <a:r>
              <a:rPr lang="" altLang="en-US" sz="2700" b="1" dirty="0">
                <a:solidFill>
                  <a:srgbClr val="007C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" altLang="en-US" sz="2700" b="1" dirty="0">
              <a:solidFill>
                <a:srgbClr val="007CC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4269105" y="4814570"/>
            <a:ext cx="5319395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5555"/>
                </a:solidFill>
                <a:latin typeface="Times New Roman" panose="02020603050405020304" charset="0"/>
                <a:ea typeface="Open Sans" pitchFamily="34" charset="-122"/>
                <a:cs typeface="Times New Roman" panose="02020603050405020304" charset="0"/>
              </a:rPr>
              <a:t>Programme Élargi de Vaccination</a:t>
            </a:r>
            <a:endParaRPr lang="en-US" sz="1800" b="1" dirty="0">
              <a:solidFill>
                <a:srgbClr val="555555"/>
              </a:solidFill>
              <a:latin typeface="Times New Roman" panose="02020603050405020304" charset="0"/>
              <a:ea typeface="Open Sans" pitchFamily="34" charset="-122"/>
              <a:cs typeface="Times New Roman" panose="02020603050405020304" charset="0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4476115" y="5288915"/>
            <a:ext cx="4506595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5555"/>
                </a:solidFill>
                <a:latin typeface="Times New Roman" panose="02020603050405020304" charset="0"/>
                <a:ea typeface="Open Sans" pitchFamily="34" charset="-122"/>
                <a:cs typeface="Times New Roman" panose="02020603050405020304" charset="0"/>
              </a:rPr>
              <a:t>République Démocratique du Congo</a:t>
            </a:r>
            <a:endParaRPr lang="en-US" sz="1800" b="1" dirty="0">
              <a:solidFill>
                <a:srgbClr val="555555"/>
              </a:solidFill>
              <a:latin typeface="Times New Roman" panose="02020603050405020304" charset="0"/>
              <a:ea typeface="Open Sans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5" name="Shape 3"/>
          <p:cNvSpPr/>
          <p:nvPr/>
        </p:nvSpPr>
        <p:spPr>
          <a:xfrm>
            <a:off x="0" y="127"/>
            <a:ext cx="12191695" cy="104790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0" y="1078992"/>
            <a:ext cx="12191695" cy="19202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7" name="Text 5"/>
          <p:cNvSpPr txBox="1"/>
          <p:nvPr/>
        </p:nvSpPr>
        <p:spPr>
          <a:xfrm>
            <a:off x="738505" y="421513"/>
            <a:ext cx="8472830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Vue d'ensemble des recommandations</a:t>
            </a:r>
            <a:endParaRPr lang="en-US" sz="32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921750" y="540385"/>
            <a:ext cx="3009900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Revue Annuelle PEV 202</a:t>
            </a:r>
            <a:r>
              <a:rPr lang="" altLang="en-US" sz="1600" b="1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5</a:t>
            </a:r>
            <a:endParaRPr lang="" altLang="en-US" sz="1600" b="1" dirty="0">
              <a:solidFill>
                <a:srgbClr val="66666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71500" y="1488643"/>
            <a:ext cx="6238951" cy="10003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La revue annuelle 202</a:t>
            </a:r>
            <a:r>
              <a:rPr lang="" altLang="en-US" sz="20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5</a:t>
            </a:r>
            <a:r>
              <a:rPr lang="en-US" sz="20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 a permis d'identifier des leviers d'action prioritaires pour renforcer le système de vaccination en RDC.</a:t>
            </a:r>
            <a:endParaRPr lang="en-US" sz="20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1500" y="2793492"/>
            <a:ext cx="381305" cy="381305"/>
          </a:xfrm>
          <a:prstGeom prst="ellipse">
            <a:avLst/>
          </a:prstGeom>
          <a:solidFill>
            <a:srgbClr val="E6F0F7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76656" y="2898648"/>
            <a:ext cx="171907" cy="17190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43000" y="2822753"/>
            <a:ext cx="2386584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4D80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Objectif Stratégique</a:t>
            </a:r>
            <a:endParaRPr lang="en-US" b="1" dirty="0">
              <a:solidFill>
                <a:srgbClr val="004D80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143000" y="3155594"/>
            <a:ext cx="5148986" cy="7150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Renforcer le système de santé et améliorer durablement les performances de vaccination à tous les niveaux de la pyramide sanitaire.</a:t>
            </a:r>
            <a:endParaRPr lang="en-US" dirty="0">
              <a:solidFill>
                <a:srgbClr val="555555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71500" y="4113886"/>
            <a:ext cx="381305" cy="381305"/>
          </a:xfrm>
          <a:prstGeom prst="ellipse">
            <a:avLst/>
          </a:prstGeom>
          <a:solidFill>
            <a:srgbClr val="E6F0F7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l="-1064" r="-1064"/>
          <a:stretch>
            <a:fillRect/>
          </a:stretch>
        </p:blipFill>
        <p:spPr>
          <a:xfrm>
            <a:off x="652882" y="4219042"/>
            <a:ext cx="219456" cy="1719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43000" y="4142232"/>
            <a:ext cx="255757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4D80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Engagement Collectif</a:t>
            </a:r>
            <a:endParaRPr lang="en-US" sz="2000" b="1" dirty="0">
              <a:solidFill>
                <a:srgbClr val="004D80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1143000" y="4475988"/>
            <a:ext cx="5263286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Une mobilisation nécessaire de tous les acteurs : niveau Central, Provincial</a:t>
            </a:r>
            <a:r>
              <a:rPr lang="" altLang="en-US" dirty="0">
                <a:solidFill>
                  <a:srgbClr val="555555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,</a:t>
            </a:r>
            <a:r>
              <a:rPr lang="en-US" dirty="0">
                <a:solidFill>
                  <a:srgbClr val="555555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 Opérationnel</a:t>
            </a:r>
            <a:r>
              <a:rPr lang="" altLang="en-US" dirty="0">
                <a:solidFill>
                  <a:srgbClr val="555555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 et PTF</a:t>
            </a:r>
            <a:r>
              <a:rPr lang="en-US" dirty="0">
                <a:solidFill>
                  <a:srgbClr val="555555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.</a:t>
            </a:r>
            <a:endParaRPr lang="en-US" dirty="0">
              <a:solidFill>
                <a:srgbClr val="555555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71500" y="5194706"/>
            <a:ext cx="381305" cy="381305"/>
          </a:xfrm>
          <a:prstGeom prst="ellipse">
            <a:avLst/>
          </a:prstGeom>
          <a:solidFill>
            <a:srgbClr val="E6F0F7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6656" y="5298948"/>
            <a:ext cx="171907" cy="17190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43000" y="5223053"/>
            <a:ext cx="2729484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4D80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Approche Pragmatique</a:t>
            </a:r>
            <a:endParaRPr lang="en-US" sz="2000" b="1" dirty="0">
              <a:solidFill>
                <a:srgbClr val="004D80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1143000" y="5555615"/>
            <a:ext cx="5320030" cy="724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Des recommandations ciblées, avec des responsables clairement identifiés et des échéances précises pour un suivi rigoureux.</a:t>
            </a:r>
            <a:endParaRPr lang="en-US" dirty="0">
              <a:solidFill>
                <a:srgbClr val="555555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7422185" y="1479499"/>
            <a:ext cx="4200754" cy="4800600"/>
          </a:xfrm>
          <a:prstGeom prst="roundRect">
            <a:avLst>
              <a:gd name="adj" fmla="val 592"/>
            </a:avLst>
          </a:prstGeom>
          <a:solidFill>
            <a:srgbClr val="F5F9FC"/>
          </a:solidFill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07478" y="1764792"/>
            <a:ext cx="3629254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</p:spPr>
      </p:sp>
      <p:sp>
        <p:nvSpPr>
          <p:cNvPr id="24" name="Shape 19"/>
          <p:cNvSpPr/>
          <p:nvPr/>
        </p:nvSpPr>
        <p:spPr>
          <a:xfrm>
            <a:off x="7707478" y="1764792"/>
            <a:ext cx="47549" cy="1114654"/>
          </a:xfrm>
          <a:prstGeom prst="rect">
            <a:avLst/>
          </a:prstGeom>
          <a:solidFill>
            <a:srgbClr val="007CC2"/>
          </a:solidFill>
        </p:spPr>
      </p:sp>
      <p:sp>
        <p:nvSpPr>
          <p:cNvPr id="25" name="Text 20"/>
          <p:cNvSpPr txBox="1"/>
          <p:nvPr/>
        </p:nvSpPr>
        <p:spPr>
          <a:xfrm>
            <a:off x="9487484" y="1945818"/>
            <a:ext cx="800100" cy="5532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7CC2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12</a:t>
            </a:r>
            <a:endParaRPr lang="en-US" sz="4400" b="1" dirty="0">
              <a:solidFill>
                <a:srgbClr val="007CC2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8533130" y="2506980"/>
            <a:ext cx="2477135" cy="410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RECOMMANDATIONS </a:t>
            </a:r>
            <a:r>
              <a:rPr lang="" altLang="en-US" sz="1600" b="1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RETENUES</a:t>
            </a:r>
            <a:endParaRPr lang="" altLang="en-US" sz="1600" b="1" dirty="0">
              <a:solidFill>
                <a:srgbClr val="66666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7874483" y="3136367"/>
            <a:ext cx="20199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4D80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4 Axes Stratégiques</a:t>
            </a:r>
            <a:endParaRPr lang="en-US" dirty="0">
              <a:solidFill>
                <a:srgbClr val="004D80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7707478" y="3689604"/>
            <a:ext cx="1742846" cy="514807"/>
          </a:xfrm>
          <a:prstGeom prst="roundRect">
            <a:avLst>
              <a:gd name="adj" fmla="val 19736"/>
            </a:avLst>
          </a:prstGeom>
          <a:solidFill>
            <a:srgbClr val="FFFFFF"/>
          </a:solidFill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850124" y="3869741"/>
            <a:ext cx="152705" cy="15270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169834" y="3869715"/>
            <a:ext cx="10954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D8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Gouvernance</a:t>
            </a:r>
            <a:endParaRPr lang="en-US" sz="1600" b="1" dirty="0">
              <a:solidFill>
                <a:srgbClr val="004D8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9592970" y="3689604"/>
            <a:ext cx="1742846" cy="514807"/>
          </a:xfrm>
          <a:prstGeom prst="roundRect">
            <a:avLst>
              <a:gd name="adj" fmla="val 19736"/>
            </a:avLst>
          </a:prstGeom>
          <a:solidFill>
            <a:srgbClr val="FFFFFF"/>
          </a:solidFill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35617" y="3869741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887407" y="3869715"/>
            <a:ext cx="886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D8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Prestation</a:t>
            </a:r>
            <a:endParaRPr lang="en-US" sz="1600" b="1" dirty="0">
              <a:solidFill>
                <a:srgbClr val="004D8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7707478" y="4346143"/>
            <a:ext cx="1742846" cy="514807"/>
          </a:xfrm>
          <a:prstGeom prst="roundRect">
            <a:avLst>
              <a:gd name="adj" fmla="val 19736"/>
            </a:avLst>
          </a:prstGeom>
          <a:solidFill>
            <a:srgbClr val="FFFFFF"/>
          </a:solidFill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rcRect t="-180" b="-180"/>
          <a:stretch>
            <a:fillRect/>
          </a:stretch>
        </p:blipFill>
        <p:spPr>
          <a:xfrm>
            <a:off x="7850124" y="4527194"/>
            <a:ext cx="190195" cy="15270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041234" y="4527169"/>
            <a:ext cx="8769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D8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Logistique</a:t>
            </a:r>
            <a:endParaRPr lang="en-US" sz="1600" b="1" dirty="0">
              <a:solidFill>
                <a:srgbClr val="004D8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9592970" y="4346143"/>
            <a:ext cx="1742846" cy="514807"/>
          </a:xfrm>
          <a:prstGeom prst="roundRect">
            <a:avLst>
              <a:gd name="adj" fmla="val 19736"/>
            </a:avLst>
          </a:prstGeom>
          <a:solidFill>
            <a:srgbClr val="FFFFFF"/>
          </a:solidFill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735617" y="4527194"/>
            <a:ext cx="152705" cy="15270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887407" y="4527169"/>
            <a:ext cx="8577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D8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Suivi-Éval.</a:t>
            </a:r>
            <a:endParaRPr lang="en-US" sz="1600" b="1" dirty="0">
              <a:solidFill>
                <a:srgbClr val="004D8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7707478" y="5483657"/>
            <a:ext cx="3629254" cy="504749"/>
          </a:xfrm>
          <a:prstGeom prst="roundRect">
            <a:avLst>
              <a:gd name="adj" fmla="val 20509"/>
            </a:avLst>
          </a:prstGeom>
          <a:solidFill>
            <a:srgbClr val="E1F0FA"/>
          </a:solidFill>
          <a:ln w="12700">
            <a:solidFill>
              <a:srgbClr val="007CC2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rcRect t="-1100" b="-1100"/>
          <a:stretch>
            <a:fillRect/>
          </a:stretch>
        </p:blipFill>
        <p:spPr>
          <a:xfrm>
            <a:off x="8380476" y="5672023"/>
            <a:ext cx="114300" cy="13350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8571586" y="5645506"/>
            <a:ext cx="2196389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D8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Période de mise en œuvre : 2026</a:t>
            </a:r>
            <a:endParaRPr lang="en-US" sz="1400" b="1" dirty="0">
              <a:solidFill>
                <a:srgbClr val="004D8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0" y="6655003"/>
            <a:ext cx="12191695" cy="209398"/>
          </a:xfrm>
          <a:prstGeom prst="rect">
            <a:avLst/>
          </a:prstGeom>
          <a:solidFill>
            <a:srgbClr val="F8F8F8"/>
          </a:solidFill>
        </p:spPr>
      </p:sp>
      <p:sp>
        <p:nvSpPr>
          <p:cNvPr id="44" name="Text 34"/>
          <p:cNvSpPr txBox="1"/>
          <p:nvPr/>
        </p:nvSpPr>
        <p:spPr>
          <a:xfrm>
            <a:off x="571500" y="6670675"/>
            <a:ext cx="3109595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 Élargi de Vaccination - RDC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1489436" y="6670548"/>
            <a:ext cx="2194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4D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098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5" name="Shape 3"/>
          <p:cNvSpPr/>
          <p:nvPr/>
        </p:nvSpPr>
        <p:spPr>
          <a:xfrm>
            <a:off x="0" y="95098"/>
            <a:ext cx="12191695" cy="86685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0" y="942746"/>
            <a:ext cx="12191695" cy="19202"/>
          </a:xfrm>
          <a:prstGeom prst="rect">
            <a:avLst/>
          </a:prstGeom>
          <a:solidFill>
            <a:srgbClr val="F0F0F0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1500" y="390449"/>
            <a:ext cx="304495" cy="3044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8715" y="132080"/>
            <a:ext cx="15675610" cy="536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Recommandations - Gouvernance et Leadership (1/2)</a:t>
            </a:r>
            <a:endParaRPr lang="en-US" sz="32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1221517" y="437998"/>
            <a:ext cx="51480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Axe 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1500" y="1248156"/>
            <a:ext cx="11048695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" y="1248156"/>
            <a:ext cx="57607" cy="152430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12" name="Shape 9"/>
          <p:cNvSpPr/>
          <p:nvPr/>
        </p:nvSpPr>
        <p:spPr>
          <a:xfrm>
            <a:off x="629107" y="1248156"/>
            <a:ext cx="571500" cy="152430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13" name="Text 10"/>
          <p:cNvSpPr txBox="1"/>
          <p:nvPr/>
        </p:nvSpPr>
        <p:spPr>
          <a:xfrm>
            <a:off x="719887" y="1693697"/>
            <a:ext cx="5623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01</a:t>
            </a:r>
            <a:endParaRPr lang="en-US" sz="24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200607" y="1248156"/>
            <a:ext cx="10420502" cy="485546"/>
          </a:xfrm>
          <a:prstGeom prst="rect">
            <a:avLst/>
          </a:prstGeom>
          <a:solidFill>
            <a:srgbClr val="F8FBFD"/>
          </a:solidFill>
        </p:spPr>
      </p:sp>
      <p:sp>
        <p:nvSpPr>
          <p:cNvPr id="15" name="Shape 12"/>
          <p:cNvSpPr/>
          <p:nvPr/>
        </p:nvSpPr>
        <p:spPr>
          <a:xfrm>
            <a:off x="1200607" y="1724558"/>
            <a:ext cx="10420502" cy="9144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16" name="Text 13"/>
          <p:cNvSpPr txBox="1"/>
          <p:nvPr/>
        </p:nvSpPr>
        <p:spPr>
          <a:xfrm>
            <a:off x="1519555" y="1232535"/>
            <a:ext cx="467804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Fichier unique des prestataires</a:t>
            </a:r>
            <a:endParaRPr lang="en-US" sz="16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980883" y="1343254"/>
            <a:ext cx="1705356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8085125" y="1421892"/>
            <a:ext cx="105156" cy="1234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147050" y="1358265"/>
            <a:ext cx="1655445" cy="211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SG / Direction PEV</a:t>
            </a:r>
            <a:endParaRPr lang="en-US" sz="1200" dirty="0">
              <a:solidFill>
                <a:srgbClr val="66666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9827057" y="1343254"/>
            <a:ext cx="1609344" cy="286207"/>
          </a:xfrm>
          <a:prstGeom prst="roundRect">
            <a:avLst>
              <a:gd name="adj" fmla="val 42599"/>
            </a:avLst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 t="-1359" b="-1359"/>
          <a:stretch>
            <a:fillRect/>
          </a:stretch>
        </p:blipFill>
        <p:spPr>
          <a:xfrm>
            <a:off x="9931298" y="1421892"/>
            <a:ext cx="105156" cy="1234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100310" y="1358265"/>
            <a:ext cx="1663065" cy="25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Échéance: T1–T2 2026</a:t>
            </a:r>
            <a:endParaRPr lang="en-US" sz="12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200607" y="1729130"/>
            <a:ext cx="4172407" cy="1123798"/>
          </a:xfrm>
          <a:prstGeom prst="rect">
            <a:avLst/>
          </a:prstGeom>
          <a:solidFill>
            <a:srgbClr val="FFFAF0"/>
          </a:solidFill>
        </p:spPr>
      </p:sp>
      <p:sp>
        <p:nvSpPr>
          <p:cNvPr id="24" name="Shape 19"/>
          <p:cNvSpPr/>
          <p:nvPr/>
        </p:nvSpPr>
        <p:spPr>
          <a:xfrm>
            <a:off x="5363870" y="1729130"/>
            <a:ext cx="9144" cy="1123798"/>
          </a:xfrm>
          <a:prstGeom prst="rect">
            <a:avLst/>
          </a:prstGeom>
          <a:solidFill>
            <a:srgbClr val="EDF2F7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rcRect l="-4348" r="-4348"/>
          <a:stretch>
            <a:fillRect/>
          </a:stretch>
        </p:blipFill>
        <p:spPr>
          <a:xfrm>
            <a:off x="1390650" y="1745615"/>
            <a:ext cx="183515" cy="16954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710055" y="1732280"/>
            <a:ext cx="1137285" cy="169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621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CONTEXTE</a:t>
            </a:r>
            <a:endParaRPr lang="en-US" sz="1000" b="1" dirty="0">
              <a:solidFill>
                <a:srgbClr val="C05621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1541780" y="1947545"/>
            <a:ext cx="3806825" cy="739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Retards dans la transmission des listes de prestataires entraînant des échecs ou retards de paiement lors des AVS.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5368442" y="1729130"/>
            <a:ext cx="6258154" cy="1123798"/>
          </a:xfrm>
          <a:prstGeom prst="rect">
            <a:avLst/>
          </a:prstGeom>
          <a:solidFill>
            <a:srgbClr val="F0FDF4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4348" r="-4348"/>
          <a:stretch>
            <a:fillRect/>
          </a:stretch>
        </p:blipFill>
        <p:spPr>
          <a:xfrm>
            <a:off x="5558638" y="1766214"/>
            <a:ext cx="114300" cy="1051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730240" y="1732280"/>
            <a:ext cx="2024380" cy="169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6749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</a:t>
            </a:r>
            <a:endParaRPr lang="en-US" sz="1000" b="1" dirty="0">
              <a:solidFill>
                <a:srgbClr val="276749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5372735" y="2041525"/>
            <a:ext cx="6046470" cy="645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Mettre en place un fichier unique, standardisé et régulièrement mis à jour des prestataires à tous les niveaux pour les AVS.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571500" y="2958998"/>
            <a:ext cx="11048695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71500" y="2958998"/>
            <a:ext cx="57607" cy="152430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34" name="Shape 27"/>
          <p:cNvSpPr/>
          <p:nvPr/>
        </p:nvSpPr>
        <p:spPr>
          <a:xfrm>
            <a:off x="629107" y="2958998"/>
            <a:ext cx="571500" cy="152430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35" name="Text 28"/>
          <p:cNvSpPr txBox="1"/>
          <p:nvPr/>
        </p:nvSpPr>
        <p:spPr>
          <a:xfrm>
            <a:off x="714477" y="3405454"/>
            <a:ext cx="619963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02</a:t>
            </a:r>
            <a:endParaRPr lang="en-US" sz="24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1200607" y="2958998"/>
            <a:ext cx="10420502" cy="485546"/>
          </a:xfrm>
          <a:prstGeom prst="rect">
            <a:avLst/>
          </a:prstGeom>
          <a:solidFill>
            <a:srgbClr val="F8FBFD"/>
          </a:solidFill>
        </p:spPr>
      </p:sp>
      <p:sp>
        <p:nvSpPr>
          <p:cNvPr id="37" name="Shape 30"/>
          <p:cNvSpPr/>
          <p:nvPr/>
        </p:nvSpPr>
        <p:spPr>
          <a:xfrm>
            <a:off x="1200607" y="3435401"/>
            <a:ext cx="10420502" cy="9144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38" name="Text 31"/>
          <p:cNvSpPr txBox="1"/>
          <p:nvPr/>
        </p:nvSpPr>
        <p:spPr>
          <a:xfrm>
            <a:off x="1315720" y="2990850"/>
            <a:ext cx="625475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Harmonisation des cycles de planification</a:t>
            </a:r>
            <a:endParaRPr lang="en-US" sz="16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7828610" y="3009011"/>
            <a:ext cx="1857146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7906461" y="3076854"/>
            <a:ext cx="105156" cy="123444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043545" y="2931160"/>
            <a:ext cx="1621155" cy="333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Direction PEV / CDPS</a:t>
            </a:r>
            <a:endParaRPr lang="en-US" sz="1000" dirty="0">
              <a:solidFill>
                <a:srgbClr val="66666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10029139" y="3054096"/>
            <a:ext cx="1410005" cy="286207"/>
          </a:xfrm>
          <a:prstGeom prst="roundRect">
            <a:avLst>
              <a:gd name="adj" fmla="val 42599"/>
            </a:avLst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3"/>
          <a:srcRect t="-1359" b="-1359"/>
          <a:stretch>
            <a:fillRect/>
          </a:stretch>
        </p:blipFill>
        <p:spPr>
          <a:xfrm>
            <a:off x="10134295" y="3132734"/>
            <a:ext cx="105156" cy="123444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0262235" y="3093720"/>
            <a:ext cx="1347470" cy="182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Échéance: T1 2026</a:t>
            </a:r>
            <a:endParaRPr lang="en-US" sz="12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1200785" y="3391535"/>
            <a:ext cx="6705600" cy="1172210"/>
          </a:xfrm>
          <a:prstGeom prst="rect">
            <a:avLst/>
          </a:prstGeom>
          <a:solidFill>
            <a:srgbClr val="FFFAF0"/>
          </a:solidFill>
        </p:spPr>
      </p:sp>
      <p:sp>
        <p:nvSpPr>
          <p:cNvPr id="46" name="Shape 37"/>
          <p:cNvSpPr/>
          <p:nvPr/>
        </p:nvSpPr>
        <p:spPr>
          <a:xfrm>
            <a:off x="5363870" y="3439973"/>
            <a:ext cx="9144" cy="1123798"/>
          </a:xfrm>
          <a:prstGeom prst="rect">
            <a:avLst/>
          </a:prstGeom>
          <a:solidFill>
            <a:srgbClr val="EDF2F7"/>
          </a:solidFill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4"/>
          <a:srcRect l="-4348" r="-4348"/>
          <a:stretch>
            <a:fillRect/>
          </a:stretch>
        </p:blipFill>
        <p:spPr>
          <a:xfrm>
            <a:off x="1349527" y="3510077"/>
            <a:ext cx="114300" cy="105156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1506220" y="3489960"/>
            <a:ext cx="1137285" cy="169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621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CONTEXTE</a:t>
            </a:r>
            <a:endParaRPr lang="en-US" sz="1000" b="1" dirty="0">
              <a:solidFill>
                <a:srgbClr val="C05621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9" name="Text 39"/>
          <p:cNvSpPr txBox="1"/>
          <p:nvPr/>
        </p:nvSpPr>
        <p:spPr>
          <a:xfrm>
            <a:off x="1372870" y="3714115"/>
            <a:ext cx="3946525" cy="791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Décalage entre cycles de planification central et provincial, provoquant des ruptures d'information et une faible cohérence.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5362727" y="3359328"/>
            <a:ext cx="6258154" cy="1123798"/>
          </a:xfrm>
          <a:prstGeom prst="rect">
            <a:avLst/>
          </a:prstGeom>
          <a:solidFill>
            <a:srgbClr val="F0FDF4"/>
          </a:solidFill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5"/>
          <a:srcRect l="-4348" r="-4348"/>
          <a:stretch>
            <a:fillRect/>
          </a:stretch>
        </p:blipFill>
        <p:spPr>
          <a:xfrm>
            <a:off x="5550383" y="3518332"/>
            <a:ext cx="114300" cy="105156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5788025" y="3489960"/>
            <a:ext cx="2024380" cy="169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6749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</a:t>
            </a:r>
            <a:endParaRPr lang="en-US" sz="1000" b="1" dirty="0">
              <a:solidFill>
                <a:srgbClr val="276749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3" name="Text 42"/>
          <p:cNvSpPr txBox="1"/>
          <p:nvPr/>
        </p:nvSpPr>
        <p:spPr>
          <a:xfrm>
            <a:off x="5372735" y="3714750"/>
            <a:ext cx="5875655" cy="717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Harmoniser les cycles et calendriers de planification entre le niveau central et les provinces.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4" name="Shape 43"/>
          <p:cNvSpPr/>
          <p:nvPr/>
        </p:nvSpPr>
        <p:spPr>
          <a:xfrm>
            <a:off x="571500" y="4670755"/>
            <a:ext cx="11048695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571500" y="4670755"/>
            <a:ext cx="57607" cy="152430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56" name="Shape 45"/>
          <p:cNvSpPr/>
          <p:nvPr/>
        </p:nvSpPr>
        <p:spPr>
          <a:xfrm>
            <a:off x="629107" y="4670755"/>
            <a:ext cx="571500" cy="152430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57" name="Text 46"/>
          <p:cNvSpPr txBox="1"/>
          <p:nvPr/>
        </p:nvSpPr>
        <p:spPr>
          <a:xfrm>
            <a:off x="676656" y="5116297"/>
            <a:ext cx="619963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03</a:t>
            </a:r>
            <a:endParaRPr lang="en-US" sz="24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58" name="Shape 47"/>
          <p:cNvSpPr/>
          <p:nvPr/>
        </p:nvSpPr>
        <p:spPr>
          <a:xfrm>
            <a:off x="1200607" y="4670755"/>
            <a:ext cx="10420502" cy="485546"/>
          </a:xfrm>
          <a:prstGeom prst="rect">
            <a:avLst/>
          </a:prstGeom>
          <a:solidFill>
            <a:srgbClr val="F8FBFD"/>
          </a:solidFill>
        </p:spPr>
      </p:sp>
      <p:sp>
        <p:nvSpPr>
          <p:cNvPr id="59" name="Shape 48"/>
          <p:cNvSpPr/>
          <p:nvPr/>
        </p:nvSpPr>
        <p:spPr>
          <a:xfrm>
            <a:off x="1200607" y="5147158"/>
            <a:ext cx="10420502" cy="9144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60" name="Text 49"/>
          <p:cNvSpPr txBox="1"/>
          <p:nvPr/>
        </p:nvSpPr>
        <p:spPr>
          <a:xfrm>
            <a:off x="1315720" y="4702175"/>
            <a:ext cx="570357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Concertation sur les avances ouvertes</a:t>
            </a:r>
            <a:endParaRPr lang="en-US" sz="16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61" name="Shape 50"/>
          <p:cNvSpPr/>
          <p:nvPr/>
        </p:nvSpPr>
        <p:spPr>
          <a:xfrm>
            <a:off x="8178394" y="4765853"/>
            <a:ext cx="1438351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2" name="Image 9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8283550" y="4844491"/>
            <a:ext cx="105156" cy="123444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8388985" y="4806315"/>
            <a:ext cx="1955800" cy="179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Times New Roman" panose="02020603050405020304" charset="0"/>
                <a:ea typeface="Open Sans" pitchFamily="34" charset="-122"/>
                <a:cs typeface="Times New Roman" panose="02020603050405020304" charset="0"/>
              </a:rPr>
              <a:t>Resp: Direction PEV</a:t>
            </a:r>
            <a:endParaRPr lang="en-US" sz="1200" dirty="0">
              <a:solidFill>
                <a:srgbClr val="666666"/>
              </a:solidFill>
              <a:latin typeface="Times New Roman" panose="02020603050405020304" charset="0"/>
              <a:ea typeface="Open Sans" pitchFamily="34" charset="-122"/>
              <a:cs typeface="Times New Roman" panose="02020603050405020304" charset="0"/>
            </a:endParaRPr>
          </a:p>
        </p:txBody>
      </p:sp>
      <p:sp>
        <p:nvSpPr>
          <p:cNvPr id="64" name="Shape 52"/>
          <p:cNvSpPr/>
          <p:nvPr/>
        </p:nvSpPr>
        <p:spPr>
          <a:xfrm>
            <a:off x="9757562" y="4765853"/>
            <a:ext cx="1676095" cy="286207"/>
          </a:xfrm>
          <a:prstGeom prst="roundRect">
            <a:avLst>
              <a:gd name="adj" fmla="val 42599"/>
            </a:avLst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6"/>
          <a:srcRect t="-1359" b="-1359"/>
          <a:stretch>
            <a:fillRect/>
          </a:stretch>
        </p:blipFill>
        <p:spPr>
          <a:xfrm>
            <a:off x="9861804" y="4844491"/>
            <a:ext cx="105156" cy="123444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9966960" y="4806315"/>
            <a:ext cx="163893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Times New Roman" panose="02020603050405020304" charset="0"/>
                <a:ea typeface="Open Sans" pitchFamily="34" charset="-122"/>
                <a:cs typeface="Times New Roman" panose="02020603050405020304" charset="0"/>
              </a:rPr>
              <a:t>Échéance: Janvier 2026</a:t>
            </a:r>
            <a:endParaRPr lang="en-US" sz="1200" b="1" dirty="0">
              <a:solidFill>
                <a:srgbClr val="C53030"/>
              </a:solidFill>
              <a:latin typeface="Times New Roman" panose="02020603050405020304" charset="0"/>
              <a:ea typeface="Open Sans" pitchFamily="34" charset="-122"/>
              <a:cs typeface="Times New Roman" panose="02020603050405020304" charset="0"/>
            </a:endParaRPr>
          </a:p>
        </p:txBody>
      </p:sp>
      <p:sp>
        <p:nvSpPr>
          <p:cNvPr id="67" name="Shape 54"/>
          <p:cNvSpPr/>
          <p:nvPr/>
        </p:nvSpPr>
        <p:spPr>
          <a:xfrm>
            <a:off x="1200607" y="5151730"/>
            <a:ext cx="4172407" cy="1047902"/>
          </a:xfrm>
          <a:prstGeom prst="rect">
            <a:avLst/>
          </a:prstGeom>
          <a:solidFill>
            <a:srgbClr val="FFFAF0"/>
          </a:solidFill>
        </p:spPr>
      </p:sp>
      <p:sp>
        <p:nvSpPr>
          <p:cNvPr id="68" name="Shape 55"/>
          <p:cNvSpPr/>
          <p:nvPr/>
        </p:nvSpPr>
        <p:spPr>
          <a:xfrm>
            <a:off x="5363870" y="5151730"/>
            <a:ext cx="9144" cy="1047902"/>
          </a:xfrm>
          <a:prstGeom prst="rect">
            <a:avLst/>
          </a:prstGeom>
          <a:solidFill>
            <a:srgbClr val="EDF2F7"/>
          </a:solidFill>
        </p:spPr>
      </p:sp>
      <p:pic>
        <p:nvPicPr>
          <p:cNvPr id="69" name="Image 11" descr="preencoded.png"/>
          <p:cNvPicPr>
            <a:picLocks noChangeAspect="1"/>
          </p:cNvPicPr>
          <p:nvPr/>
        </p:nvPicPr>
        <p:blipFill>
          <a:blip r:embed="rId4"/>
          <a:srcRect l="-4348" r="-4348"/>
          <a:stretch>
            <a:fillRect/>
          </a:stretch>
        </p:blipFill>
        <p:spPr>
          <a:xfrm>
            <a:off x="1390802" y="5232629"/>
            <a:ext cx="114300" cy="105156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1506220" y="5201920"/>
            <a:ext cx="1137285" cy="169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621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CONTEXTE</a:t>
            </a:r>
            <a:endParaRPr lang="en-US" sz="1000" b="1" dirty="0">
              <a:solidFill>
                <a:srgbClr val="C05621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71" name="Text 57"/>
          <p:cNvSpPr txBox="1"/>
          <p:nvPr/>
        </p:nvSpPr>
        <p:spPr>
          <a:xfrm>
            <a:off x="1315720" y="5425440"/>
            <a:ext cx="3759200" cy="723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Discordances entre DPS et CAGF sur la justification et la situation des avances ouvertes.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72" name="Shape 58"/>
          <p:cNvSpPr/>
          <p:nvPr/>
        </p:nvSpPr>
        <p:spPr>
          <a:xfrm>
            <a:off x="5368442" y="5151730"/>
            <a:ext cx="6258154" cy="1047902"/>
          </a:xfrm>
          <a:prstGeom prst="rect">
            <a:avLst/>
          </a:prstGeom>
          <a:solidFill>
            <a:srgbClr val="F0FDF4"/>
          </a:solidFill>
        </p:spPr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5"/>
          <a:srcRect l="-4348" r="-4348"/>
          <a:stretch>
            <a:fillRect/>
          </a:stretch>
        </p:blipFill>
        <p:spPr>
          <a:xfrm>
            <a:off x="5558638" y="5205324"/>
            <a:ext cx="114300" cy="105156"/>
          </a:xfrm>
          <a:prstGeom prst="rect">
            <a:avLst/>
          </a:prstGeom>
        </p:spPr>
      </p:pic>
      <p:sp>
        <p:nvSpPr>
          <p:cNvPr id="74" name="Text 59"/>
          <p:cNvSpPr txBox="1"/>
          <p:nvPr/>
        </p:nvSpPr>
        <p:spPr>
          <a:xfrm>
            <a:off x="5789930" y="5201920"/>
            <a:ext cx="2024380" cy="169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6749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</a:t>
            </a:r>
            <a:endParaRPr lang="en-US" sz="1000" b="1" dirty="0">
              <a:solidFill>
                <a:srgbClr val="276749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75" name="Text 60"/>
          <p:cNvSpPr txBox="1"/>
          <p:nvPr/>
        </p:nvSpPr>
        <p:spPr>
          <a:xfrm>
            <a:off x="5294630" y="5511165"/>
            <a:ext cx="5861050" cy="70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Tenir une réunion de concertation CDPS, CAGF, GFA, PEV et SG sous la coordination du SEM.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76" name="Shape 61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8F8F8"/>
          </a:solidFill>
        </p:spPr>
      </p:sp>
      <p:sp>
        <p:nvSpPr>
          <p:cNvPr id="77" name="Text 62"/>
          <p:cNvSpPr txBox="1"/>
          <p:nvPr/>
        </p:nvSpPr>
        <p:spPr>
          <a:xfrm>
            <a:off x="571500" y="6581775"/>
            <a:ext cx="2975610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 Élargi de Vaccination - RDC</a:t>
            </a:r>
            <a:endParaRPr lang="en-US" sz="900" dirty="0"/>
          </a:p>
        </p:txBody>
      </p:sp>
      <p:sp>
        <p:nvSpPr>
          <p:cNvPr id="78" name="Text 63"/>
          <p:cNvSpPr txBox="1"/>
          <p:nvPr/>
        </p:nvSpPr>
        <p:spPr>
          <a:xfrm>
            <a:off x="11489436" y="6581851"/>
            <a:ext cx="2194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4D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098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5" name="Shape 3"/>
          <p:cNvSpPr/>
          <p:nvPr/>
        </p:nvSpPr>
        <p:spPr>
          <a:xfrm>
            <a:off x="0" y="95098"/>
            <a:ext cx="12191695" cy="86685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0" y="942746"/>
            <a:ext cx="12191695" cy="19202"/>
          </a:xfrm>
          <a:prstGeom prst="rect">
            <a:avLst/>
          </a:prstGeom>
          <a:solidFill>
            <a:srgbClr val="F0F0F0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1500" y="390449"/>
            <a:ext cx="304495" cy="3044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37031" y="286207"/>
            <a:ext cx="9820656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Recommandations - Gouvernance et Leadership (2/2)</a:t>
            </a:r>
            <a:endParaRPr lang="en-US" sz="27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1221517" y="437998"/>
            <a:ext cx="51480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Axe 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1500" y="1248156"/>
            <a:ext cx="11048695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" y="1248156"/>
            <a:ext cx="57607" cy="152430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12" name="Shape 9"/>
          <p:cNvSpPr/>
          <p:nvPr/>
        </p:nvSpPr>
        <p:spPr>
          <a:xfrm>
            <a:off x="629107" y="1248156"/>
            <a:ext cx="571500" cy="152430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13" name="Text 10"/>
          <p:cNvSpPr txBox="1"/>
          <p:nvPr/>
        </p:nvSpPr>
        <p:spPr>
          <a:xfrm>
            <a:off x="691312" y="1779422"/>
            <a:ext cx="64831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24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  <a:sym typeface="+mn-ea"/>
              </a:rPr>
              <a:t>04</a:t>
            </a:r>
            <a:endParaRPr lang="en-US" sz="24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  <a:sym typeface="+mn-e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200607" y="1248156"/>
            <a:ext cx="10420502" cy="485546"/>
          </a:xfrm>
          <a:prstGeom prst="rect">
            <a:avLst/>
          </a:prstGeom>
          <a:solidFill>
            <a:srgbClr val="F8FBFD"/>
          </a:solidFill>
        </p:spPr>
      </p:sp>
      <p:sp>
        <p:nvSpPr>
          <p:cNvPr id="15" name="Shape 12"/>
          <p:cNvSpPr/>
          <p:nvPr/>
        </p:nvSpPr>
        <p:spPr>
          <a:xfrm>
            <a:off x="1200607" y="1724558"/>
            <a:ext cx="10420502" cy="9144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16" name="Text 13"/>
          <p:cNvSpPr txBox="1"/>
          <p:nvPr/>
        </p:nvSpPr>
        <p:spPr>
          <a:xfrm>
            <a:off x="1607972" y="1374343"/>
            <a:ext cx="259598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Accompagnement des DPS</a:t>
            </a:r>
            <a:endParaRPr lang="en-US" sz="16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610551" y="1343254"/>
            <a:ext cx="2276856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7715707" y="1421892"/>
            <a:ext cx="105156" cy="1234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937424" y="1390802"/>
            <a:ext cx="205557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Direction PEV et Partenaires</a:t>
            </a:r>
            <a:endParaRPr lang="en-US" sz="1000" dirty="0">
              <a:solidFill>
                <a:srgbClr val="66666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10029139" y="1343254"/>
            <a:ext cx="1410005" cy="286207"/>
          </a:xfrm>
          <a:prstGeom prst="roundRect">
            <a:avLst>
              <a:gd name="adj" fmla="val 42599"/>
            </a:avLst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 t="-1359" b="-1359"/>
          <a:stretch>
            <a:fillRect/>
          </a:stretch>
        </p:blipFill>
        <p:spPr>
          <a:xfrm>
            <a:off x="10134295" y="1421892"/>
            <a:ext cx="105156" cy="1234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356926" y="1390802"/>
            <a:ext cx="118872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Échéance: T1 2026</a:t>
            </a:r>
            <a:endParaRPr lang="en-US" sz="10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200607" y="1729130"/>
            <a:ext cx="4172407" cy="1047902"/>
          </a:xfrm>
          <a:prstGeom prst="rect">
            <a:avLst/>
          </a:prstGeom>
          <a:solidFill>
            <a:srgbClr val="FFFAF0"/>
          </a:solidFill>
        </p:spPr>
      </p:sp>
      <p:sp>
        <p:nvSpPr>
          <p:cNvPr id="24" name="Shape 19"/>
          <p:cNvSpPr/>
          <p:nvPr/>
        </p:nvSpPr>
        <p:spPr>
          <a:xfrm>
            <a:off x="5363870" y="1729130"/>
            <a:ext cx="9144" cy="1047902"/>
          </a:xfrm>
          <a:prstGeom prst="rect">
            <a:avLst/>
          </a:prstGeom>
          <a:solidFill>
            <a:srgbClr val="EDF2F7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rcRect l="-4348" r="-4348"/>
          <a:stretch>
            <a:fillRect/>
          </a:stretch>
        </p:blipFill>
        <p:spPr>
          <a:xfrm>
            <a:off x="1390802" y="1898294"/>
            <a:ext cx="114300" cy="1051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798320" y="1839595"/>
            <a:ext cx="1234440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5621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CONTEXTE</a:t>
            </a:r>
            <a:endParaRPr lang="en-US" sz="1200" b="1" dirty="0">
              <a:solidFill>
                <a:srgbClr val="C05621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1427480" y="2105025"/>
            <a:ext cx="4030980" cy="664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Dégradation des indicateurs de vaccination de routine dans plusieurs DPS </a:t>
            </a:r>
            <a:r>
              <a:rPr lang="" alt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 surtout celles </a:t>
            </a: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avec MOU.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5368442" y="1729130"/>
            <a:ext cx="6258154" cy="1047902"/>
          </a:xfrm>
          <a:prstGeom prst="rect">
            <a:avLst/>
          </a:prstGeom>
          <a:solidFill>
            <a:srgbClr val="F0FDF4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4348" r="-4348"/>
          <a:stretch>
            <a:fillRect/>
          </a:stretch>
        </p:blipFill>
        <p:spPr>
          <a:xfrm>
            <a:off x="5558638" y="1898294"/>
            <a:ext cx="114300" cy="1051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866130" y="1838960"/>
            <a:ext cx="1978025" cy="233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6749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</a:t>
            </a:r>
            <a:endParaRPr lang="en-US" sz="1200" b="1" dirty="0">
              <a:solidFill>
                <a:srgbClr val="276749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5676265" y="2105025"/>
            <a:ext cx="5860415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Accompagner les DPS dans la mise en œuvre des activités de vaccination de routine pour le maintien des acquis.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571500" y="2958998"/>
            <a:ext cx="11048695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71500" y="2958998"/>
            <a:ext cx="57607" cy="152430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34" name="Shape 27"/>
          <p:cNvSpPr/>
          <p:nvPr/>
        </p:nvSpPr>
        <p:spPr>
          <a:xfrm>
            <a:off x="629107" y="2958998"/>
            <a:ext cx="571500" cy="152430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35" name="Text 28"/>
          <p:cNvSpPr txBox="1"/>
          <p:nvPr/>
        </p:nvSpPr>
        <p:spPr>
          <a:xfrm>
            <a:off x="697687" y="3491179"/>
            <a:ext cx="619963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24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  <a:sym typeface="+mn-ea"/>
              </a:rPr>
              <a:t>05</a:t>
            </a:r>
            <a:endParaRPr lang="en-US" sz="24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  <a:sym typeface="+mn-ea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1300302" y="2958998"/>
            <a:ext cx="10420502" cy="485546"/>
          </a:xfrm>
          <a:prstGeom prst="rect">
            <a:avLst/>
          </a:prstGeom>
          <a:solidFill>
            <a:srgbClr val="F8FBFD"/>
          </a:solidFill>
        </p:spPr>
      </p:sp>
      <p:sp>
        <p:nvSpPr>
          <p:cNvPr id="37" name="Shape 30"/>
          <p:cNvSpPr/>
          <p:nvPr/>
        </p:nvSpPr>
        <p:spPr>
          <a:xfrm>
            <a:off x="1200607" y="3435401"/>
            <a:ext cx="10420502" cy="9144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38" name="Text 31"/>
          <p:cNvSpPr txBox="1"/>
          <p:nvPr/>
        </p:nvSpPr>
        <p:spPr>
          <a:xfrm>
            <a:off x="1508277" y="3085186"/>
            <a:ext cx="301477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Ajustement des cibles PEV 2026</a:t>
            </a:r>
            <a:endParaRPr lang="en-US" sz="13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8151571" y="3054096"/>
            <a:ext cx="1438351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8145780" y="3132455"/>
            <a:ext cx="109855" cy="12827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328660" y="3068320"/>
            <a:ext cx="1466850" cy="267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Direction PEV</a:t>
            </a:r>
            <a:endParaRPr lang="en-US" sz="1000" dirty="0">
              <a:solidFill>
                <a:srgbClr val="66666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9623146" y="3054096"/>
            <a:ext cx="1809598" cy="286207"/>
          </a:xfrm>
          <a:prstGeom prst="roundRect">
            <a:avLst>
              <a:gd name="adj" fmla="val 42599"/>
            </a:avLst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6"/>
          <a:srcRect t="-1359" b="-1359"/>
          <a:stretch>
            <a:fillRect/>
          </a:stretch>
        </p:blipFill>
        <p:spPr>
          <a:xfrm>
            <a:off x="9728302" y="3132734"/>
            <a:ext cx="105156" cy="123444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9939223" y="3101645"/>
            <a:ext cx="158831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Échéance: 31 Janvier 2026</a:t>
            </a:r>
            <a:endParaRPr lang="en-US" sz="1000" dirty="0">
              <a:solidFill>
                <a:srgbClr val="C5303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1318082" y="3439973"/>
            <a:ext cx="4172407" cy="1047902"/>
          </a:xfrm>
          <a:prstGeom prst="rect">
            <a:avLst/>
          </a:prstGeom>
          <a:solidFill>
            <a:srgbClr val="FFFAF0"/>
          </a:solidFill>
        </p:spPr>
      </p:sp>
      <p:sp>
        <p:nvSpPr>
          <p:cNvPr id="46" name="Shape 37"/>
          <p:cNvSpPr/>
          <p:nvPr/>
        </p:nvSpPr>
        <p:spPr>
          <a:xfrm>
            <a:off x="5363870" y="3439973"/>
            <a:ext cx="9144" cy="1047902"/>
          </a:xfrm>
          <a:prstGeom prst="rect">
            <a:avLst/>
          </a:prstGeom>
          <a:solidFill>
            <a:srgbClr val="EDF2F7"/>
          </a:solidFill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4"/>
          <a:srcRect l="-4348" r="-4348"/>
          <a:stretch>
            <a:fillRect/>
          </a:stretch>
        </p:blipFill>
        <p:spPr>
          <a:xfrm>
            <a:off x="1390802" y="3534842"/>
            <a:ext cx="114300" cy="105156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1798955" y="3444240"/>
            <a:ext cx="106172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5621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CONTEXTE</a:t>
            </a:r>
            <a:endParaRPr lang="en-US" sz="1200" b="1" dirty="0">
              <a:solidFill>
                <a:srgbClr val="C05621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9" name="Text 39"/>
          <p:cNvSpPr txBox="1"/>
          <p:nvPr/>
        </p:nvSpPr>
        <p:spPr>
          <a:xfrm>
            <a:off x="1440180" y="3669030"/>
            <a:ext cx="3954145" cy="82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Écart entre données administratives et enquêtes de couverture vaccinale, non-maîtrise de la cible.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5372887" y="3435528"/>
            <a:ext cx="6258154" cy="1047902"/>
          </a:xfrm>
          <a:prstGeom prst="rect">
            <a:avLst/>
          </a:prstGeom>
          <a:solidFill>
            <a:srgbClr val="F0FDF4"/>
          </a:solidFill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5"/>
          <a:srcRect l="-4348" r="-4348"/>
          <a:stretch>
            <a:fillRect/>
          </a:stretch>
        </p:blipFill>
        <p:spPr>
          <a:xfrm>
            <a:off x="5558638" y="3551352"/>
            <a:ext cx="114300" cy="105156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5866130" y="3453130"/>
            <a:ext cx="1861185" cy="292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6749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</a:t>
            </a:r>
            <a:endParaRPr lang="en-US" sz="1200" b="1" dirty="0">
              <a:solidFill>
                <a:srgbClr val="276749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3" name="Text 42"/>
          <p:cNvSpPr txBox="1"/>
          <p:nvPr/>
        </p:nvSpPr>
        <p:spPr>
          <a:xfrm>
            <a:off x="5676265" y="3816985"/>
            <a:ext cx="5879465" cy="671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Conduire avant fin janvier 2026 l'exercice d'ajustement des cibles du PEV pour 2026.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4" name="Shape 43"/>
          <p:cNvSpPr/>
          <p:nvPr/>
        </p:nvSpPr>
        <p:spPr>
          <a:xfrm>
            <a:off x="571500" y="4670755"/>
            <a:ext cx="11048695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571500" y="4670755"/>
            <a:ext cx="57607" cy="152430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56" name="Shape 45"/>
          <p:cNvSpPr/>
          <p:nvPr/>
        </p:nvSpPr>
        <p:spPr>
          <a:xfrm>
            <a:off x="629107" y="4670755"/>
            <a:ext cx="571500" cy="152430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57" name="Text 46"/>
          <p:cNvSpPr txBox="1"/>
          <p:nvPr/>
        </p:nvSpPr>
        <p:spPr>
          <a:xfrm>
            <a:off x="714146" y="5202022"/>
            <a:ext cx="638251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06</a:t>
            </a:r>
            <a:endParaRPr lang="en-US" sz="24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58" name="Shape 47"/>
          <p:cNvSpPr/>
          <p:nvPr/>
        </p:nvSpPr>
        <p:spPr>
          <a:xfrm>
            <a:off x="1200607" y="4670755"/>
            <a:ext cx="10420502" cy="485546"/>
          </a:xfrm>
          <a:prstGeom prst="rect">
            <a:avLst/>
          </a:prstGeom>
          <a:solidFill>
            <a:srgbClr val="F8FBFD"/>
          </a:solidFill>
        </p:spPr>
      </p:sp>
      <p:sp>
        <p:nvSpPr>
          <p:cNvPr id="59" name="Shape 48"/>
          <p:cNvSpPr/>
          <p:nvPr/>
        </p:nvSpPr>
        <p:spPr>
          <a:xfrm>
            <a:off x="1200607" y="5147158"/>
            <a:ext cx="10420502" cy="9144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60" name="Text 49"/>
          <p:cNvSpPr txBox="1"/>
          <p:nvPr/>
        </p:nvSpPr>
        <p:spPr>
          <a:xfrm>
            <a:off x="1440332" y="4796942"/>
            <a:ext cx="3376879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Note officielle sur les cibles ajustées</a:t>
            </a:r>
            <a:endParaRPr lang="en-US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61" name="Shape 50"/>
          <p:cNvSpPr/>
          <p:nvPr/>
        </p:nvSpPr>
        <p:spPr>
          <a:xfrm>
            <a:off x="8044891" y="4765853"/>
            <a:ext cx="1438351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2" name="Image 9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8150047" y="4844491"/>
            <a:ext cx="105156" cy="123444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8428279" y="4796257"/>
            <a:ext cx="121706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Direction PEV</a:t>
            </a:r>
            <a:endParaRPr lang="en-US" sz="1000" dirty="0">
              <a:solidFill>
                <a:srgbClr val="66666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64" name="Shape 52"/>
          <p:cNvSpPr/>
          <p:nvPr/>
        </p:nvSpPr>
        <p:spPr>
          <a:xfrm>
            <a:off x="9623146" y="4765853"/>
            <a:ext cx="1809598" cy="286207"/>
          </a:xfrm>
          <a:prstGeom prst="roundRect">
            <a:avLst>
              <a:gd name="adj" fmla="val 42599"/>
            </a:avLst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6"/>
          <a:srcRect t="-1359" b="-1359"/>
          <a:stretch>
            <a:fillRect/>
          </a:stretch>
        </p:blipFill>
        <p:spPr>
          <a:xfrm>
            <a:off x="9728302" y="4844491"/>
            <a:ext cx="105156" cy="123444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9939223" y="4813402"/>
            <a:ext cx="158831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Échéance: 31 Janvier 2026</a:t>
            </a:r>
            <a:endParaRPr lang="en-US" sz="1000" dirty="0">
              <a:solidFill>
                <a:srgbClr val="C5303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67" name="Shape 54"/>
          <p:cNvSpPr/>
          <p:nvPr/>
        </p:nvSpPr>
        <p:spPr>
          <a:xfrm>
            <a:off x="1200607" y="5151730"/>
            <a:ext cx="4172407" cy="1047902"/>
          </a:xfrm>
          <a:prstGeom prst="rect">
            <a:avLst/>
          </a:prstGeom>
          <a:solidFill>
            <a:srgbClr val="FFFAF0"/>
          </a:solidFill>
        </p:spPr>
      </p:sp>
      <p:sp>
        <p:nvSpPr>
          <p:cNvPr id="68" name="Shape 55"/>
          <p:cNvSpPr/>
          <p:nvPr/>
        </p:nvSpPr>
        <p:spPr>
          <a:xfrm>
            <a:off x="5363870" y="5151730"/>
            <a:ext cx="9144" cy="1047902"/>
          </a:xfrm>
          <a:prstGeom prst="rect">
            <a:avLst/>
          </a:prstGeom>
          <a:solidFill>
            <a:srgbClr val="EDF2F7"/>
          </a:solidFill>
        </p:spPr>
      </p:sp>
      <p:pic>
        <p:nvPicPr>
          <p:cNvPr id="69" name="Image 11" descr="preencoded.png"/>
          <p:cNvPicPr>
            <a:picLocks noChangeAspect="1"/>
          </p:cNvPicPr>
          <p:nvPr/>
        </p:nvPicPr>
        <p:blipFill>
          <a:blip r:embed="rId4"/>
          <a:srcRect l="-4348" r="-4348"/>
          <a:stretch>
            <a:fillRect/>
          </a:stretch>
        </p:blipFill>
        <p:spPr>
          <a:xfrm>
            <a:off x="1390802" y="5320894"/>
            <a:ext cx="114300" cy="105156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1630680" y="5285105"/>
            <a:ext cx="1113155" cy="172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5621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CONTEXTE</a:t>
            </a:r>
            <a:endParaRPr lang="en-US" sz="1200" b="1" dirty="0">
              <a:solidFill>
                <a:srgbClr val="C05621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71" name="Text 57"/>
          <p:cNvSpPr txBox="1"/>
          <p:nvPr/>
        </p:nvSpPr>
        <p:spPr>
          <a:xfrm>
            <a:off x="1390650" y="5527675"/>
            <a:ext cx="3803015" cy="550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Nécessité d'officialiser les cibles ajustées pour le suivi de la performance.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72" name="Shape 58"/>
          <p:cNvSpPr/>
          <p:nvPr/>
        </p:nvSpPr>
        <p:spPr>
          <a:xfrm>
            <a:off x="5368442" y="5151730"/>
            <a:ext cx="6258154" cy="1047902"/>
          </a:xfrm>
          <a:prstGeom prst="rect">
            <a:avLst/>
          </a:prstGeom>
          <a:solidFill>
            <a:srgbClr val="F0FDF4"/>
          </a:solidFill>
        </p:spPr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5"/>
          <a:srcRect l="-4348" r="-4348"/>
          <a:stretch>
            <a:fillRect/>
          </a:stretch>
        </p:blipFill>
        <p:spPr>
          <a:xfrm>
            <a:off x="5558638" y="5320894"/>
            <a:ext cx="114300" cy="105156"/>
          </a:xfrm>
          <a:prstGeom prst="rect">
            <a:avLst/>
          </a:prstGeom>
        </p:spPr>
      </p:pic>
      <p:sp>
        <p:nvSpPr>
          <p:cNvPr id="74" name="Text 59"/>
          <p:cNvSpPr txBox="1"/>
          <p:nvPr/>
        </p:nvSpPr>
        <p:spPr>
          <a:xfrm>
            <a:off x="5855335" y="5193030"/>
            <a:ext cx="1860550" cy="264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6749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</a:t>
            </a:r>
            <a:endParaRPr lang="en-US" sz="1200" b="1" dirty="0">
              <a:solidFill>
                <a:srgbClr val="276749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75" name="Text 60"/>
          <p:cNvSpPr txBox="1"/>
          <p:nvPr/>
        </p:nvSpPr>
        <p:spPr>
          <a:xfrm>
            <a:off x="5665470" y="5527675"/>
            <a:ext cx="5565140" cy="687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Soumettre à la signature du SG une note demandant aux CD d'utiliser les cibles ajustées pour le suivi de la performance du PEV.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76" name="Shape 61"/>
          <p:cNvSpPr/>
          <p:nvPr/>
        </p:nvSpPr>
        <p:spPr>
          <a:xfrm>
            <a:off x="314960" y="6476695"/>
            <a:ext cx="12191695" cy="381305"/>
          </a:xfrm>
          <a:prstGeom prst="rect">
            <a:avLst/>
          </a:prstGeom>
          <a:solidFill>
            <a:srgbClr val="F8F8F8"/>
          </a:solidFill>
        </p:spPr>
      </p:sp>
      <p:sp>
        <p:nvSpPr>
          <p:cNvPr id="77" name="Text 62"/>
          <p:cNvSpPr txBox="1"/>
          <p:nvPr/>
        </p:nvSpPr>
        <p:spPr>
          <a:xfrm>
            <a:off x="571500" y="6581775"/>
            <a:ext cx="2807970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 Élargi de Vaccination - RDC</a:t>
            </a:r>
            <a:endParaRPr lang="en-US" sz="900" dirty="0"/>
          </a:p>
        </p:txBody>
      </p:sp>
      <p:sp>
        <p:nvSpPr>
          <p:cNvPr id="78" name="Text 63"/>
          <p:cNvSpPr txBox="1"/>
          <p:nvPr/>
        </p:nvSpPr>
        <p:spPr>
          <a:xfrm>
            <a:off x="11489436" y="6581851"/>
            <a:ext cx="2194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4D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098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5" name="Shape 3"/>
          <p:cNvSpPr/>
          <p:nvPr/>
        </p:nvSpPr>
        <p:spPr>
          <a:xfrm>
            <a:off x="0" y="95098"/>
            <a:ext cx="12191695" cy="86685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0" y="942746"/>
            <a:ext cx="12191695" cy="19202"/>
          </a:xfrm>
          <a:prstGeom prst="rect">
            <a:avLst/>
          </a:prstGeom>
          <a:solidFill>
            <a:srgbClr val="F0F0F0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1500" y="390449"/>
            <a:ext cx="304495" cy="3044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19556" y="286207"/>
            <a:ext cx="8001000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Recommandations - Prestation de Services</a:t>
            </a:r>
            <a:endParaRPr lang="en-US" sz="32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1221517" y="437998"/>
            <a:ext cx="51480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Axe 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961949"/>
            <a:ext cx="12191695" cy="5514746"/>
          </a:xfrm>
          <a:prstGeom prst="rect">
            <a:avLst/>
          </a:prstGeom>
          <a:solidFill>
            <a:srgbClr val="F9FCFF"/>
          </a:solidFill>
        </p:spPr>
      </p:sp>
      <p:sp>
        <p:nvSpPr>
          <p:cNvPr id="11" name="Shape 8"/>
          <p:cNvSpPr/>
          <p:nvPr/>
        </p:nvSpPr>
        <p:spPr>
          <a:xfrm>
            <a:off x="761695" y="1433779"/>
            <a:ext cx="10668305" cy="4572000"/>
          </a:xfrm>
          <a:prstGeom prst="roundRect">
            <a:avLst>
              <a:gd name="adj" fmla="val 500"/>
            </a:avLst>
          </a:prstGeom>
          <a:solidFill>
            <a:srgbClr val="FFFFFF"/>
          </a:solidFill>
          <a:effectLst>
            <a:outerShdw blurRad="190500" dist="762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1695" y="1433779"/>
            <a:ext cx="114300" cy="4572000"/>
          </a:xfrm>
          <a:prstGeom prst="rect">
            <a:avLst/>
          </a:prstGeom>
          <a:solidFill>
            <a:srgbClr val="007CC2"/>
          </a:solidFill>
        </p:spPr>
      </p:sp>
      <p:sp>
        <p:nvSpPr>
          <p:cNvPr id="13" name="Shape 10"/>
          <p:cNvSpPr/>
          <p:nvPr/>
        </p:nvSpPr>
        <p:spPr>
          <a:xfrm>
            <a:off x="875995" y="1433779"/>
            <a:ext cx="10554005" cy="116220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Shape 11"/>
          <p:cNvSpPr/>
          <p:nvPr/>
        </p:nvSpPr>
        <p:spPr>
          <a:xfrm>
            <a:off x="875995" y="2586838"/>
            <a:ext cx="10554005" cy="9144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15" name="Text 12"/>
          <p:cNvSpPr txBox="1"/>
          <p:nvPr/>
        </p:nvSpPr>
        <p:spPr>
          <a:xfrm>
            <a:off x="1257300" y="1638605"/>
            <a:ext cx="1248156" cy="743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E6F0F7"/>
                </a:solidFill>
                <a:latin typeface="Times New Roman" panose="02020603050405020304" charset="0"/>
                <a:ea typeface="Montserrat" pitchFamily="34" charset="-122"/>
                <a:cs typeface="Times New Roman" panose="02020603050405020304" charset="0"/>
              </a:rPr>
              <a:t>07</a:t>
            </a:r>
            <a:endParaRPr lang="en-US" sz="5400" b="1" dirty="0">
              <a:solidFill>
                <a:srgbClr val="E6F0F7"/>
              </a:solidFill>
              <a:latin typeface="Times New Roman" panose="02020603050405020304" charset="0"/>
              <a:ea typeface="Montserrat" pitchFamily="34" charset="-122"/>
              <a:cs typeface="Times New Roman" panose="02020603050405020304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2332355" y="1638300"/>
            <a:ext cx="6819265" cy="39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D80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Microplanification intégrée à la base</a:t>
            </a:r>
            <a:endParaRPr lang="en-US" sz="2800" b="1" dirty="0">
              <a:solidFill>
                <a:srgbClr val="004D80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2332355" y="2128520"/>
            <a:ext cx="6504305" cy="46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Amélioration de la qualité de </a:t>
            </a:r>
            <a:r>
              <a:rPr lang="" altLang="en-US" b="1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Micro</a:t>
            </a:r>
            <a:r>
              <a:rPr lang="en-US" b="1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planification des AVS et Routine</a:t>
            </a:r>
            <a:endParaRPr lang="en-US" b="1" dirty="0">
              <a:solidFill>
                <a:srgbClr val="66666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>
            <a:alphaModFix amt="10000"/>
          </a:blip>
          <a:srcRect t="-13" b="-13"/>
          <a:stretch>
            <a:fillRect/>
          </a:stretch>
        </p:blipFill>
        <p:spPr>
          <a:xfrm>
            <a:off x="10620756" y="1819656"/>
            <a:ext cx="428854" cy="381305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 l="-7778" r="-7778"/>
          <a:stretch>
            <a:fillRect/>
          </a:stretch>
        </p:blipFill>
        <p:spPr>
          <a:xfrm>
            <a:off x="1257300" y="2912364"/>
            <a:ext cx="142646" cy="1234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76756" y="2881274"/>
            <a:ext cx="229331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5621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CONTEXTE &amp; PROBLÉMATIQUE</a:t>
            </a:r>
            <a:endParaRPr lang="en-US" sz="1200" b="1" dirty="0">
              <a:solidFill>
                <a:srgbClr val="C05621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1257300" y="3181198"/>
            <a:ext cx="38405" cy="828446"/>
          </a:xfrm>
          <a:prstGeom prst="rect">
            <a:avLst/>
          </a:prstGeom>
          <a:solidFill>
            <a:srgbClr val="FBD38D"/>
          </a:solidFill>
        </p:spPr>
      </p:sp>
      <p:sp>
        <p:nvSpPr>
          <p:cNvPr id="22" name="Text 17"/>
          <p:cNvSpPr txBox="1"/>
          <p:nvPr/>
        </p:nvSpPr>
        <p:spPr>
          <a:xfrm>
            <a:off x="1438351" y="3200400"/>
            <a:ext cx="6777533" cy="7818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La faible maîtrise du dénominateur cible compromet la qualité de la planification et du suivi des Activités de Vaccination Supplémentaires (AVS) et de la vaccination de routine.</a:t>
            </a:r>
            <a:endParaRPr lang="en-US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 l="-7778" r="-7778"/>
          <a:stretch>
            <a:fillRect/>
          </a:stretch>
        </p:blipFill>
        <p:spPr>
          <a:xfrm>
            <a:off x="1473200" y="4549775"/>
            <a:ext cx="180340" cy="20891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798955" y="4329430"/>
            <a:ext cx="3258185" cy="58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6749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 </a:t>
            </a:r>
            <a:endParaRPr lang="en-US" sz="1200" b="1" dirty="0">
              <a:solidFill>
                <a:srgbClr val="276749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1284605" y="4870450"/>
            <a:ext cx="8761095" cy="1172845"/>
          </a:xfrm>
          <a:prstGeom prst="rect">
            <a:avLst/>
          </a:prstGeom>
          <a:solidFill>
            <a:srgbClr val="F0FFF4"/>
          </a:solidFill>
        </p:spPr>
      </p:sp>
      <p:sp>
        <p:nvSpPr>
          <p:cNvPr id="26" name="Shape 20"/>
          <p:cNvSpPr/>
          <p:nvPr/>
        </p:nvSpPr>
        <p:spPr>
          <a:xfrm>
            <a:off x="1257300" y="5178247"/>
            <a:ext cx="38405" cy="857707"/>
          </a:xfrm>
          <a:prstGeom prst="rect">
            <a:avLst/>
          </a:prstGeom>
          <a:solidFill>
            <a:srgbClr val="68D391"/>
          </a:solidFill>
        </p:spPr>
      </p:sp>
      <p:sp>
        <p:nvSpPr>
          <p:cNvPr id="27" name="Text 21"/>
          <p:cNvSpPr txBox="1"/>
          <p:nvPr/>
        </p:nvSpPr>
        <p:spPr>
          <a:xfrm>
            <a:off x="1438351" y="5330952"/>
            <a:ext cx="6039612" cy="5431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C5282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Organiser une microplanification intégrée à la base et assurer la remontée des microplans de qualité dans le délai imparti.</a:t>
            </a:r>
            <a:endParaRPr lang="en-US" b="1" dirty="0">
              <a:solidFill>
                <a:srgbClr val="2C5282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8572500" y="2595982"/>
            <a:ext cx="2857500" cy="3733495"/>
          </a:xfrm>
          <a:prstGeom prst="rect">
            <a:avLst/>
          </a:prstGeom>
          <a:solidFill>
            <a:srgbClr val="F5F9FC"/>
          </a:solidFill>
        </p:spPr>
      </p:sp>
      <p:sp>
        <p:nvSpPr>
          <p:cNvPr id="29" name="Shape 23"/>
          <p:cNvSpPr/>
          <p:nvPr/>
        </p:nvSpPr>
        <p:spPr>
          <a:xfrm>
            <a:off x="8572500" y="2595982"/>
            <a:ext cx="9144" cy="3733495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30" name="Shape 24"/>
          <p:cNvSpPr/>
          <p:nvPr/>
        </p:nvSpPr>
        <p:spPr>
          <a:xfrm>
            <a:off x="8867851" y="2881274"/>
            <a:ext cx="2276856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9068105" y="3081528"/>
            <a:ext cx="9528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888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RESPONSABLE</a:t>
            </a:r>
            <a:endParaRPr lang="en-US" sz="1200" b="1" dirty="0">
              <a:solidFill>
                <a:srgbClr val="88888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rcRect l="-13222" r="-13222"/>
          <a:stretch>
            <a:fillRect/>
          </a:stretch>
        </p:blipFill>
        <p:spPr>
          <a:xfrm>
            <a:off x="9068105" y="3357677"/>
            <a:ext cx="190195" cy="17190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258300" y="3347618"/>
            <a:ext cx="93360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CDT / CDA</a:t>
            </a:r>
            <a:endParaRPr lang="en-US" sz="1600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8867851" y="3995928"/>
            <a:ext cx="2276856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9068105" y="4196182"/>
            <a:ext cx="7242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888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ÉCHÉANCE</a:t>
            </a:r>
            <a:endParaRPr lang="en-US" sz="1200" b="1" dirty="0">
              <a:solidFill>
                <a:srgbClr val="88888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rcRect l="-13222" r="-13222"/>
          <a:stretch>
            <a:fillRect/>
          </a:stretch>
        </p:blipFill>
        <p:spPr>
          <a:xfrm>
            <a:off x="9068105" y="4472330"/>
            <a:ext cx="190195" cy="17190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258300" y="4462272"/>
            <a:ext cx="695858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T1 2026</a:t>
            </a:r>
            <a:endParaRPr lang="en-US" sz="1600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8867851" y="5110582"/>
            <a:ext cx="2276856" cy="933602"/>
          </a:xfrm>
          <a:prstGeom prst="roundRect">
            <a:avLst>
              <a:gd name="adj" fmla="val 7995"/>
            </a:avLst>
          </a:prstGeom>
          <a:solidFill>
            <a:srgbClr val="EBF8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9020810" y="5177790"/>
            <a:ext cx="1809750" cy="181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INDICATEUR DE SUIVI</a:t>
            </a:r>
            <a:endParaRPr lang="en-US" sz="12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020556" y="5536692"/>
            <a:ext cx="133502" cy="13350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9298686" y="5502554"/>
            <a:ext cx="1548079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Microplans intégrés élaborés et disponibles</a:t>
            </a:r>
            <a:endParaRPr lang="en-US" sz="1400" i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8F8F8"/>
          </a:solidFill>
        </p:spPr>
      </p:sp>
      <p:sp>
        <p:nvSpPr>
          <p:cNvPr id="43" name="Text 34"/>
          <p:cNvSpPr txBox="1"/>
          <p:nvPr/>
        </p:nvSpPr>
        <p:spPr>
          <a:xfrm>
            <a:off x="571500" y="6581775"/>
            <a:ext cx="2682240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 Élargi de Vaccination - RDC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11489436" y="6581851"/>
            <a:ext cx="2194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4D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098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5" name="Shape 3"/>
          <p:cNvSpPr/>
          <p:nvPr/>
        </p:nvSpPr>
        <p:spPr>
          <a:xfrm>
            <a:off x="0" y="95098"/>
            <a:ext cx="12191695" cy="86685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0" y="942746"/>
            <a:ext cx="12191695" cy="19202"/>
          </a:xfrm>
          <a:prstGeom prst="rect">
            <a:avLst/>
          </a:prstGeom>
          <a:solidFill>
            <a:srgbClr val="F0F0F0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-90" r="-90"/>
          <a:stretch>
            <a:fillRect/>
          </a:stretch>
        </p:blipFill>
        <p:spPr>
          <a:xfrm>
            <a:off x="571500" y="390449"/>
            <a:ext cx="381305" cy="3044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12291" y="286207"/>
            <a:ext cx="589605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Recommandations - Logistique</a:t>
            </a:r>
            <a:endParaRPr lang="en-US" sz="32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1221517" y="437998"/>
            <a:ext cx="51480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Axe 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961949"/>
            <a:ext cx="12191695" cy="5514746"/>
          </a:xfrm>
          <a:prstGeom prst="rect">
            <a:avLst/>
          </a:prstGeom>
          <a:solidFill>
            <a:srgbClr val="F9FCFF"/>
          </a:solidFill>
        </p:spPr>
      </p:sp>
      <p:sp>
        <p:nvSpPr>
          <p:cNvPr id="11" name="Shape 8"/>
          <p:cNvSpPr/>
          <p:nvPr/>
        </p:nvSpPr>
        <p:spPr>
          <a:xfrm>
            <a:off x="761695" y="1433779"/>
            <a:ext cx="10668305" cy="4572000"/>
          </a:xfrm>
          <a:prstGeom prst="roundRect">
            <a:avLst>
              <a:gd name="adj" fmla="val 500"/>
            </a:avLst>
          </a:prstGeom>
          <a:solidFill>
            <a:srgbClr val="FFFFFF"/>
          </a:solidFill>
          <a:effectLst>
            <a:outerShdw blurRad="190500" dist="762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1695" y="1433779"/>
            <a:ext cx="114300" cy="4572000"/>
          </a:xfrm>
          <a:prstGeom prst="rect">
            <a:avLst/>
          </a:prstGeom>
          <a:solidFill>
            <a:srgbClr val="007CC2"/>
          </a:solidFill>
        </p:spPr>
      </p:sp>
      <p:sp>
        <p:nvSpPr>
          <p:cNvPr id="13" name="Shape 10"/>
          <p:cNvSpPr/>
          <p:nvPr/>
        </p:nvSpPr>
        <p:spPr>
          <a:xfrm>
            <a:off x="875995" y="1433779"/>
            <a:ext cx="10554005" cy="116220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Shape 11"/>
          <p:cNvSpPr/>
          <p:nvPr/>
        </p:nvSpPr>
        <p:spPr>
          <a:xfrm>
            <a:off x="875995" y="2586838"/>
            <a:ext cx="10554005" cy="9144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15" name="Text 12"/>
          <p:cNvSpPr txBox="1"/>
          <p:nvPr/>
        </p:nvSpPr>
        <p:spPr>
          <a:xfrm>
            <a:off x="1257300" y="1638300"/>
            <a:ext cx="1050925" cy="743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6F0F7"/>
                </a:solidFill>
                <a:latin typeface="Times New Roman" panose="02020603050405020304" charset="0"/>
                <a:ea typeface="Montserrat" pitchFamily="34" charset="-122"/>
                <a:cs typeface="Times New Roman" panose="02020603050405020304" charset="0"/>
              </a:rPr>
              <a:t>08</a:t>
            </a:r>
            <a:endParaRPr lang="en-US" sz="4800" b="1" dirty="0">
              <a:solidFill>
                <a:srgbClr val="E6F0F7"/>
              </a:solidFill>
              <a:latin typeface="Times New Roman" panose="02020603050405020304" charset="0"/>
              <a:ea typeface="Montserrat" pitchFamily="34" charset="-122"/>
              <a:cs typeface="Times New Roman" panose="02020603050405020304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2475992" y="1586103"/>
            <a:ext cx="4715561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D80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Maquette type pour dépôts secs</a:t>
            </a:r>
            <a:endParaRPr lang="en-US" sz="2800" b="1" dirty="0">
              <a:solidFill>
                <a:srgbClr val="004D80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2475865" y="2128520"/>
            <a:ext cx="6105525" cy="431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Harmonisation des infrastructures des antennes PEV</a:t>
            </a:r>
            <a:endParaRPr lang="en-US" b="1" dirty="0">
              <a:solidFill>
                <a:srgbClr val="66666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>
            <a:alphaModFix amt="10000"/>
          </a:blip>
          <a:srcRect t="-24" b="-24"/>
          <a:stretch>
            <a:fillRect/>
          </a:stretch>
        </p:blipFill>
        <p:spPr>
          <a:xfrm>
            <a:off x="10573207" y="1819656"/>
            <a:ext cx="476402" cy="381305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 l="-7778" r="-7778"/>
          <a:stretch>
            <a:fillRect/>
          </a:stretch>
        </p:blipFill>
        <p:spPr>
          <a:xfrm>
            <a:off x="1257300" y="2912364"/>
            <a:ext cx="142646" cy="1234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93850" y="2919095"/>
            <a:ext cx="269557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5621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CONTEXTE &amp; PROBLÉMATIQUE</a:t>
            </a:r>
            <a:endParaRPr lang="en-US" sz="1400" b="1" dirty="0">
              <a:solidFill>
                <a:srgbClr val="C05621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1257300" y="3181198"/>
            <a:ext cx="38405" cy="552298"/>
          </a:xfrm>
          <a:prstGeom prst="rect">
            <a:avLst/>
          </a:prstGeom>
          <a:solidFill>
            <a:srgbClr val="FBD38D"/>
          </a:solidFill>
        </p:spPr>
      </p:sp>
      <p:sp>
        <p:nvSpPr>
          <p:cNvPr id="22" name="Text 17"/>
          <p:cNvSpPr txBox="1"/>
          <p:nvPr/>
        </p:nvSpPr>
        <p:spPr>
          <a:xfrm>
            <a:off x="1555115" y="3200400"/>
            <a:ext cx="6301105" cy="772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L'absence de maquette standard pour les dépôts secs entraîne des disparités significatives dans les infrastructures des antennes PEV.</a:t>
            </a:r>
            <a:endParaRPr lang="en-US" sz="2000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 l="-7778" r="-7778"/>
          <a:stretch>
            <a:fillRect/>
          </a:stretch>
        </p:blipFill>
        <p:spPr>
          <a:xfrm>
            <a:off x="1257300" y="4909414"/>
            <a:ext cx="142646" cy="1234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93850" y="4643755"/>
            <a:ext cx="257937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6749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 </a:t>
            </a:r>
            <a:endParaRPr lang="en-US" sz="1200" b="1" dirty="0">
              <a:solidFill>
                <a:srgbClr val="276749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1257300" y="5178247"/>
            <a:ext cx="6933895" cy="857707"/>
          </a:xfrm>
          <a:prstGeom prst="rect">
            <a:avLst/>
          </a:prstGeom>
          <a:solidFill>
            <a:srgbClr val="F0FFF4"/>
          </a:solidFill>
        </p:spPr>
      </p:sp>
      <p:sp>
        <p:nvSpPr>
          <p:cNvPr id="26" name="Shape 20"/>
          <p:cNvSpPr/>
          <p:nvPr/>
        </p:nvSpPr>
        <p:spPr>
          <a:xfrm>
            <a:off x="1257300" y="5178247"/>
            <a:ext cx="38405" cy="857707"/>
          </a:xfrm>
          <a:prstGeom prst="rect">
            <a:avLst/>
          </a:prstGeom>
          <a:solidFill>
            <a:srgbClr val="68D391"/>
          </a:solidFill>
        </p:spPr>
      </p:sp>
      <p:sp>
        <p:nvSpPr>
          <p:cNvPr id="27" name="Text 21"/>
          <p:cNvSpPr txBox="1"/>
          <p:nvPr/>
        </p:nvSpPr>
        <p:spPr>
          <a:xfrm>
            <a:off x="1504950" y="5330825"/>
            <a:ext cx="6324600" cy="675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5282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Concevoir et valider une maquette type de construction des dépôts secs des antennes PEV pour standardiser les infrastructures.</a:t>
            </a:r>
            <a:endParaRPr lang="en-US" sz="2000" b="1" dirty="0">
              <a:solidFill>
                <a:srgbClr val="2C5282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8572500" y="2595982"/>
            <a:ext cx="2857500" cy="3733495"/>
          </a:xfrm>
          <a:prstGeom prst="rect">
            <a:avLst/>
          </a:prstGeom>
          <a:solidFill>
            <a:srgbClr val="F5F9FC"/>
          </a:solidFill>
        </p:spPr>
      </p:sp>
      <p:sp>
        <p:nvSpPr>
          <p:cNvPr id="29" name="Shape 23"/>
          <p:cNvSpPr/>
          <p:nvPr/>
        </p:nvSpPr>
        <p:spPr>
          <a:xfrm>
            <a:off x="8572500" y="2595982"/>
            <a:ext cx="9144" cy="3733495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30" name="Shape 24"/>
          <p:cNvSpPr/>
          <p:nvPr/>
        </p:nvSpPr>
        <p:spPr>
          <a:xfrm>
            <a:off x="8867851" y="2881274"/>
            <a:ext cx="2276856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9134780" y="3081528"/>
            <a:ext cx="9528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888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RESPONSABLE</a:t>
            </a:r>
            <a:endParaRPr lang="en-US" sz="1200" b="1" dirty="0">
              <a:solidFill>
                <a:srgbClr val="88888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rcRect t="-6490" b="-6490"/>
          <a:stretch>
            <a:fillRect/>
          </a:stretch>
        </p:blipFill>
        <p:spPr>
          <a:xfrm>
            <a:off x="9068105" y="3357677"/>
            <a:ext cx="190195" cy="17190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324975" y="3347618"/>
            <a:ext cx="120975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Direction PEV</a:t>
            </a:r>
            <a:endParaRPr lang="en-US" sz="1600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8867851" y="3995928"/>
            <a:ext cx="2276856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9134780" y="4196182"/>
            <a:ext cx="7242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888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ÉCHÉANCE</a:t>
            </a:r>
            <a:endParaRPr lang="en-US" sz="1200" b="1" dirty="0">
              <a:solidFill>
                <a:srgbClr val="88888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rcRect l="-13222" r="-13222"/>
          <a:stretch>
            <a:fillRect/>
          </a:stretch>
        </p:blipFill>
        <p:spPr>
          <a:xfrm>
            <a:off x="9068105" y="4472330"/>
            <a:ext cx="190195" cy="17190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324975" y="4462272"/>
            <a:ext cx="695858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T1 2026</a:t>
            </a:r>
            <a:endParaRPr lang="en-US" sz="1600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8867851" y="5110582"/>
            <a:ext cx="2276856" cy="933602"/>
          </a:xfrm>
          <a:prstGeom prst="roundRect">
            <a:avLst>
              <a:gd name="adj" fmla="val 7995"/>
            </a:avLst>
          </a:prstGeom>
          <a:solidFill>
            <a:srgbClr val="EBF8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9020810" y="5178425"/>
            <a:ext cx="1808480" cy="246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INDICATEUR DE SUIVI</a:t>
            </a:r>
            <a:endParaRPr lang="en-US" sz="12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rcRect l="-2512" r="-2512"/>
          <a:stretch>
            <a:fillRect/>
          </a:stretch>
        </p:blipFill>
        <p:spPr>
          <a:xfrm>
            <a:off x="9020556" y="5536692"/>
            <a:ext cx="105156" cy="13350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9185656" y="5510174"/>
            <a:ext cx="1824228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Maquette type validée et diffusée</a:t>
            </a:r>
            <a:endParaRPr lang="en-US" sz="1400" i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8F8F8"/>
          </a:solidFill>
        </p:spPr>
      </p:sp>
      <p:sp>
        <p:nvSpPr>
          <p:cNvPr id="43" name="Text 34"/>
          <p:cNvSpPr txBox="1"/>
          <p:nvPr/>
        </p:nvSpPr>
        <p:spPr>
          <a:xfrm>
            <a:off x="571500" y="6581775"/>
            <a:ext cx="2925445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 Élargi de Vaccination - RDC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11489436" y="6581851"/>
            <a:ext cx="2194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4D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5461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098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5" name="Shape 3"/>
          <p:cNvSpPr/>
          <p:nvPr/>
        </p:nvSpPr>
        <p:spPr>
          <a:xfrm>
            <a:off x="0" y="95098"/>
            <a:ext cx="12191695" cy="86685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0" y="942746"/>
            <a:ext cx="12191695" cy="19202"/>
          </a:xfrm>
          <a:prstGeom prst="rect">
            <a:avLst/>
          </a:prstGeom>
          <a:solidFill>
            <a:srgbClr val="F0F0F0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1500" y="390449"/>
            <a:ext cx="304495" cy="3044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19810" y="374650"/>
            <a:ext cx="112268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Recommandations - Suivi et Évaluation (1/2)</a:t>
            </a:r>
            <a:endParaRPr lang="en-US" sz="32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1221517" y="437998"/>
            <a:ext cx="51480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Axe 4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1500" y="1248156"/>
            <a:ext cx="11048695" cy="171450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" y="1248156"/>
            <a:ext cx="57607" cy="1714500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12" name="Shape 9"/>
          <p:cNvSpPr/>
          <p:nvPr/>
        </p:nvSpPr>
        <p:spPr>
          <a:xfrm>
            <a:off x="629107" y="1248156"/>
            <a:ext cx="571500" cy="1714500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13" name="Text 10"/>
          <p:cNvSpPr txBox="1"/>
          <p:nvPr/>
        </p:nvSpPr>
        <p:spPr>
          <a:xfrm>
            <a:off x="678180" y="1954530"/>
            <a:ext cx="879475" cy="3790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09</a:t>
            </a:r>
            <a:endParaRPr lang="en-US" sz="32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200607" y="1248156"/>
            <a:ext cx="10420502" cy="485546"/>
          </a:xfrm>
          <a:prstGeom prst="rect">
            <a:avLst/>
          </a:prstGeom>
          <a:solidFill>
            <a:srgbClr val="F8FBFD"/>
          </a:solidFill>
        </p:spPr>
      </p:sp>
      <p:sp>
        <p:nvSpPr>
          <p:cNvPr id="15" name="Shape 12"/>
          <p:cNvSpPr/>
          <p:nvPr/>
        </p:nvSpPr>
        <p:spPr>
          <a:xfrm>
            <a:off x="1200607" y="1724558"/>
            <a:ext cx="10420502" cy="9144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16" name="Text 13"/>
          <p:cNvSpPr txBox="1"/>
          <p:nvPr/>
        </p:nvSpPr>
        <p:spPr>
          <a:xfrm>
            <a:off x="1445260" y="1409700"/>
            <a:ext cx="453644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Rapports trimestriels des antennes</a:t>
            </a:r>
            <a:endParaRPr lang="en-US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101230" y="1343254"/>
            <a:ext cx="1304849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7206386" y="1421892"/>
            <a:ext cx="105156" cy="1234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365365" y="1419860"/>
            <a:ext cx="149288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MCP / MCA</a:t>
            </a:r>
            <a:endParaRPr lang="en-US" sz="1200" dirty="0">
              <a:solidFill>
                <a:srgbClr val="66666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545068" y="1343254"/>
            <a:ext cx="2885846" cy="286207"/>
          </a:xfrm>
          <a:prstGeom prst="roundRect">
            <a:avLst>
              <a:gd name="adj" fmla="val 42599"/>
            </a:avLst>
          </a:prstGeom>
          <a:solidFill>
            <a:srgbClr val="E6FF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50224" y="1421892"/>
            <a:ext cx="123444" cy="1234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828405" y="1419860"/>
            <a:ext cx="364744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7A7B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Échéance: Chaque trimestre (au 5 du mois)</a:t>
            </a:r>
            <a:endParaRPr lang="en-US" sz="1200" b="1" dirty="0">
              <a:solidFill>
                <a:srgbClr val="2C7A7B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200607" y="1729130"/>
            <a:ext cx="4172407" cy="1238098"/>
          </a:xfrm>
          <a:prstGeom prst="rect">
            <a:avLst/>
          </a:prstGeom>
          <a:solidFill>
            <a:srgbClr val="FFFAF0"/>
          </a:solidFill>
        </p:spPr>
      </p:sp>
      <p:sp>
        <p:nvSpPr>
          <p:cNvPr id="24" name="Shape 19"/>
          <p:cNvSpPr/>
          <p:nvPr/>
        </p:nvSpPr>
        <p:spPr>
          <a:xfrm>
            <a:off x="5363870" y="1729130"/>
            <a:ext cx="9144" cy="1238098"/>
          </a:xfrm>
          <a:prstGeom prst="rect">
            <a:avLst/>
          </a:prstGeom>
          <a:solidFill>
            <a:srgbClr val="EDF2F7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rcRect l="-4348" r="-4348"/>
          <a:stretch>
            <a:fillRect/>
          </a:stretch>
        </p:blipFill>
        <p:spPr>
          <a:xfrm>
            <a:off x="1390802" y="1898294"/>
            <a:ext cx="114300" cy="1051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35760" y="1899920"/>
            <a:ext cx="975995" cy="134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5621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CONTEXTE</a:t>
            </a:r>
            <a:endParaRPr lang="en-US" sz="1200" b="1" dirty="0">
              <a:solidFill>
                <a:srgbClr val="C05621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1445260" y="2205990"/>
            <a:ext cx="3945255" cy="753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Faible redevabilité des antennes et coordinations, se traduisant par des retards fréquents dans la transmission des rapports d'activités.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5368442" y="1729130"/>
            <a:ext cx="6258154" cy="1238098"/>
          </a:xfrm>
          <a:prstGeom prst="rect">
            <a:avLst/>
          </a:prstGeom>
          <a:solidFill>
            <a:srgbClr val="F0FDF4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4348" r="-4348"/>
          <a:stretch>
            <a:fillRect/>
          </a:stretch>
        </p:blipFill>
        <p:spPr>
          <a:xfrm>
            <a:off x="5558638" y="1898294"/>
            <a:ext cx="114300" cy="1051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803265" y="1899920"/>
            <a:ext cx="1736090" cy="134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6749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</a:t>
            </a:r>
            <a:endParaRPr lang="en-US" sz="1200" b="1" dirty="0">
              <a:solidFill>
                <a:srgbClr val="276749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5613400" y="2171700"/>
            <a:ext cx="5910580" cy="684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Partager trimestriellement les rapports d'activités des antennes et coordinations avec la Direction PEV.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571500" y="3152851"/>
            <a:ext cx="11048695" cy="171450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71500" y="3152851"/>
            <a:ext cx="57607" cy="1714500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34" name="Shape 27"/>
          <p:cNvSpPr/>
          <p:nvPr/>
        </p:nvSpPr>
        <p:spPr>
          <a:xfrm>
            <a:off x="629107" y="3152851"/>
            <a:ext cx="571500" cy="1714500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35" name="Text 28"/>
          <p:cNvSpPr txBox="1"/>
          <p:nvPr/>
        </p:nvSpPr>
        <p:spPr>
          <a:xfrm>
            <a:off x="657225" y="3878580"/>
            <a:ext cx="807720" cy="359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10</a:t>
            </a:r>
            <a:endParaRPr lang="en-US" sz="32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1200607" y="3152851"/>
            <a:ext cx="10420502" cy="485546"/>
          </a:xfrm>
          <a:prstGeom prst="rect">
            <a:avLst/>
          </a:prstGeom>
          <a:solidFill>
            <a:srgbClr val="F8FBFD"/>
          </a:solidFill>
        </p:spPr>
      </p:sp>
      <p:sp>
        <p:nvSpPr>
          <p:cNvPr id="37" name="Shape 30"/>
          <p:cNvSpPr/>
          <p:nvPr/>
        </p:nvSpPr>
        <p:spPr>
          <a:xfrm>
            <a:off x="1200607" y="3629254"/>
            <a:ext cx="10420502" cy="9144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38" name="Text 31"/>
          <p:cNvSpPr txBox="1"/>
          <p:nvPr/>
        </p:nvSpPr>
        <p:spPr>
          <a:xfrm>
            <a:off x="1445260" y="3314700"/>
            <a:ext cx="4984115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Révision des indicateurs MASHAKO 3.0</a:t>
            </a:r>
            <a:endParaRPr lang="en-US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8450885" y="3247949"/>
            <a:ext cx="1438351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8556041" y="3326587"/>
            <a:ext cx="105156" cy="123444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716010" y="3324860"/>
            <a:ext cx="167767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Direction PEV</a:t>
            </a:r>
            <a:endParaRPr lang="en-US" sz="1200" dirty="0">
              <a:solidFill>
                <a:srgbClr val="66666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10029139" y="3247949"/>
            <a:ext cx="1410005" cy="286207"/>
          </a:xfrm>
          <a:prstGeom prst="roundRect">
            <a:avLst>
              <a:gd name="adj" fmla="val 42599"/>
            </a:avLst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6"/>
          <a:srcRect t="-1359" b="-1359"/>
          <a:stretch>
            <a:fillRect/>
          </a:stretch>
        </p:blipFill>
        <p:spPr>
          <a:xfrm>
            <a:off x="10134295" y="3326587"/>
            <a:ext cx="105156" cy="123444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0293985" y="3324860"/>
            <a:ext cx="163830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Échéance: T1 2026</a:t>
            </a:r>
            <a:endParaRPr lang="en-US" sz="12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1331595" y="3634105"/>
            <a:ext cx="4172585" cy="1408430"/>
          </a:xfrm>
          <a:prstGeom prst="rect">
            <a:avLst/>
          </a:prstGeom>
          <a:solidFill>
            <a:srgbClr val="FFFAF0"/>
          </a:solidFill>
        </p:spPr>
      </p:sp>
      <p:sp>
        <p:nvSpPr>
          <p:cNvPr id="46" name="Shape 37"/>
          <p:cNvSpPr/>
          <p:nvPr/>
        </p:nvSpPr>
        <p:spPr>
          <a:xfrm>
            <a:off x="5363870" y="3633826"/>
            <a:ext cx="9144" cy="1238098"/>
          </a:xfrm>
          <a:prstGeom prst="rect">
            <a:avLst/>
          </a:prstGeom>
          <a:solidFill>
            <a:srgbClr val="EDF2F7"/>
          </a:solidFill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4"/>
          <a:srcRect l="-4348" r="-4348"/>
          <a:stretch>
            <a:fillRect/>
          </a:stretch>
        </p:blipFill>
        <p:spPr>
          <a:xfrm>
            <a:off x="1390802" y="3802990"/>
            <a:ext cx="114300" cy="105156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1635760" y="3804285"/>
            <a:ext cx="975995" cy="134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5621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CONTEXTE</a:t>
            </a:r>
            <a:endParaRPr lang="en-US" sz="1200" b="1" dirty="0">
              <a:solidFill>
                <a:srgbClr val="C05621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9" name="Text 39"/>
          <p:cNvSpPr txBox="1"/>
          <p:nvPr/>
        </p:nvSpPr>
        <p:spPr>
          <a:xfrm>
            <a:off x="1445260" y="4110355"/>
            <a:ext cx="3968115" cy="772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Les indicateurs de processus du plan MASHAKO 3.0 sont actuellement insuffisamment alignés aux fondamentaux de la vaccination.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5368290" y="3634105"/>
            <a:ext cx="6266815" cy="1409065"/>
          </a:xfrm>
          <a:prstGeom prst="rect">
            <a:avLst/>
          </a:prstGeom>
          <a:solidFill>
            <a:srgbClr val="F0FDF4"/>
          </a:solidFill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5"/>
          <a:srcRect l="-4348" r="-4348"/>
          <a:stretch>
            <a:fillRect/>
          </a:stretch>
        </p:blipFill>
        <p:spPr>
          <a:xfrm>
            <a:off x="5558638" y="3802990"/>
            <a:ext cx="114300" cy="105156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5803265" y="3804285"/>
            <a:ext cx="1736090" cy="134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6749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</a:t>
            </a:r>
            <a:endParaRPr lang="en-US" sz="1200" b="1" dirty="0">
              <a:solidFill>
                <a:srgbClr val="276749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3" name="Text 42"/>
          <p:cNvSpPr txBox="1"/>
          <p:nvPr/>
        </p:nvSpPr>
        <p:spPr>
          <a:xfrm>
            <a:off x="5613400" y="4076065"/>
            <a:ext cx="5819775" cy="966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Réviser et aligner les indicateurs de processus du plan MASHAKO 3.0 aux indicateurs standards de la vaccination.</a:t>
            </a:r>
            <a:endParaRPr lang="en-US" sz="16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4" name="Shape 4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8F8F8"/>
          </a:solidFill>
        </p:spPr>
      </p:sp>
      <p:sp>
        <p:nvSpPr>
          <p:cNvPr id="55" name="Text 44"/>
          <p:cNvSpPr txBox="1"/>
          <p:nvPr/>
        </p:nvSpPr>
        <p:spPr>
          <a:xfrm>
            <a:off x="571500" y="6581775"/>
            <a:ext cx="282448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 Élargi de Vaccination - RDC</a:t>
            </a:r>
            <a:endParaRPr lang="en-US" sz="900" dirty="0"/>
          </a:p>
        </p:txBody>
      </p:sp>
      <p:sp>
        <p:nvSpPr>
          <p:cNvPr id="56" name="Text 45"/>
          <p:cNvSpPr txBox="1"/>
          <p:nvPr/>
        </p:nvSpPr>
        <p:spPr>
          <a:xfrm>
            <a:off x="11489436" y="6581851"/>
            <a:ext cx="2194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4D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098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5" name="Shape 3"/>
          <p:cNvSpPr/>
          <p:nvPr/>
        </p:nvSpPr>
        <p:spPr>
          <a:xfrm>
            <a:off x="0" y="95098"/>
            <a:ext cx="12191695" cy="86685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0" y="942746"/>
            <a:ext cx="12191695" cy="19202"/>
          </a:xfrm>
          <a:prstGeom prst="rect">
            <a:avLst/>
          </a:prstGeom>
          <a:solidFill>
            <a:srgbClr val="F0F0F0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1500" y="390449"/>
            <a:ext cx="304495" cy="3044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28141" y="389712"/>
            <a:ext cx="8211312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Recommandations - Suivi et Évaluation (2/2)</a:t>
            </a:r>
            <a:endParaRPr lang="en-US" sz="28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1221517" y="437998"/>
            <a:ext cx="51480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Axe 4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1500" y="1695298"/>
            <a:ext cx="11048695" cy="19046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" y="1695298"/>
            <a:ext cx="57607" cy="190469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12" name="Shape 9"/>
          <p:cNvSpPr/>
          <p:nvPr/>
        </p:nvSpPr>
        <p:spPr>
          <a:xfrm>
            <a:off x="629107" y="1695298"/>
            <a:ext cx="571500" cy="190469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13" name="Text 10"/>
          <p:cNvSpPr txBox="1"/>
          <p:nvPr/>
        </p:nvSpPr>
        <p:spPr>
          <a:xfrm>
            <a:off x="696824" y="2523007"/>
            <a:ext cx="47640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11</a:t>
            </a:r>
            <a:endParaRPr lang="en-US" sz="28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200607" y="1695298"/>
            <a:ext cx="10420502" cy="552298"/>
          </a:xfrm>
          <a:prstGeom prst="rect">
            <a:avLst/>
          </a:prstGeom>
          <a:solidFill>
            <a:srgbClr val="F8FBFD"/>
          </a:solidFill>
        </p:spPr>
      </p:sp>
      <p:sp>
        <p:nvSpPr>
          <p:cNvPr id="15" name="Shape 12"/>
          <p:cNvSpPr/>
          <p:nvPr/>
        </p:nvSpPr>
        <p:spPr>
          <a:xfrm>
            <a:off x="1200607" y="2238451"/>
            <a:ext cx="10420502" cy="9144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16" name="Text 13"/>
          <p:cNvSpPr txBox="1"/>
          <p:nvPr/>
        </p:nvSpPr>
        <p:spPr>
          <a:xfrm>
            <a:off x="1499387" y="1953336"/>
            <a:ext cx="46222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Révision du système d'évaluation des antennes</a:t>
            </a:r>
            <a:endParaRPr lang="en-US" sz="16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185709" y="1809598"/>
            <a:ext cx="1571854" cy="314554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rcRect t="-1100" b="-1100"/>
          <a:stretch>
            <a:fillRect/>
          </a:stretch>
        </p:blipFill>
        <p:spPr>
          <a:xfrm>
            <a:off x="8310067" y="1900123"/>
            <a:ext cx="114300" cy="1335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532952" y="1876349"/>
            <a:ext cx="131033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Direction PEV</a:t>
            </a:r>
            <a:endParaRPr lang="en-US" sz="1200" dirty="0">
              <a:solidFill>
                <a:srgbClr val="66666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9898380" y="1809598"/>
            <a:ext cx="1533449" cy="314554"/>
          </a:xfrm>
          <a:prstGeom prst="roundRect">
            <a:avLst>
              <a:gd name="adj" fmla="val 35236"/>
            </a:avLst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 t="-1100" b="-1100"/>
          <a:stretch>
            <a:fillRect/>
          </a:stretch>
        </p:blipFill>
        <p:spPr>
          <a:xfrm>
            <a:off x="10021824" y="1900123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244709" y="1876349"/>
            <a:ext cx="127193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Échéance: T1 2026</a:t>
            </a:r>
            <a:endParaRPr lang="en-US" sz="12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200607" y="2247595"/>
            <a:ext cx="4172407" cy="1352398"/>
          </a:xfrm>
          <a:prstGeom prst="rect">
            <a:avLst/>
          </a:prstGeom>
          <a:solidFill>
            <a:srgbClr val="FFFAF0"/>
          </a:solidFill>
        </p:spPr>
      </p:sp>
      <p:sp>
        <p:nvSpPr>
          <p:cNvPr id="24" name="Shape 19"/>
          <p:cNvSpPr/>
          <p:nvPr/>
        </p:nvSpPr>
        <p:spPr>
          <a:xfrm>
            <a:off x="5363870" y="2247595"/>
            <a:ext cx="9144" cy="1352398"/>
          </a:xfrm>
          <a:prstGeom prst="rect">
            <a:avLst/>
          </a:prstGeom>
          <a:solidFill>
            <a:srgbClr val="EDF2F7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rcRect l="-4000" r="-4000"/>
          <a:stretch>
            <a:fillRect/>
          </a:stretch>
        </p:blipFill>
        <p:spPr>
          <a:xfrm>
            <a:off x="1438351" y="2447849"/>
            <a:ext cx="123444" cy="1143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747190" y="2423947"/>
            <a:ext cx="76261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621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CONTEXTE</a:t>
            </a:r>
            <a:endParaRPr lang="en-US" sz="1000" b="1" dirty="0">
              <a:solidFill>
                <a:srgbClr val="C05621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1546860" y="2799080"/>
            <a:ext cx="3728720" cy="667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Absence de consensus sur les indicateurs et critères d'évaluation de la performance des antennes.</a:t>
            </a:r>
            <a:endParaRPr lang="en-US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5368442" y="2247595"/>
            <a:ext cx="6258154" cy="1352398"/>
          </a:xfrm>
          <a:prstGeom prst="rect">
            <a:avLst/>
          </a:prstGeom>
          <a:solidFill>
            <a:srgbClr val="F0FDF4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4000" r="-4000"/>
          <a:stretch>
            <a:fillRect/>
          </a:stretch>
        </p:blipFill>
        <p:spPr>
          <a:xfrm>
            <a:off x="5606186" y="2447849"/>
            <a:ext cx="123444" cy="1143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915025" y="2419502"/>
            <a:ext cx="136245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6749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</a:t>
            </a:r>
            <a:endParaRPr lang="en-US" sz="1000" b="1" dirty="0">
              <a:solidFill>
                <a:srgbClr val="276749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5715000" y="2695575"/>
            <a:ext cx="5800725" cy="7004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Réviser le système d'évaluation des antennes (Plan Mashako 3.0) et organiser une consultation sur les nouveaux critères.</a:t>
            </a:r>
            <a:endParaRPr lang="en-US" sz="20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571500" y="3838651"/>
            <a:ext cx="11048695" cy="19046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71500" y="3838651"/>
            <a:ext cx="57607" cy="190469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34" name="Shape 27"/>
          <p:cNvSpPr/>
          <p:nvPr/>
        </p:nvSpPr>
        <p:spPr>
          <a:xfrm>
            <a:off x="629107" y="3838651"/>
            <a:ext cx="571500" cy="1904695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35" name="Text 28"/>
          <p:cNvSpPr txBox="1"/>
          <p:nvPr/>
        </p:nvSpPr>
        <p:spPr>
          <a:xfrm>
            <a:off x="707923" y="4666361"/>
            <a:ext cx="53401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12</a:t>
            </a:r>
            <a:endParaRPr lang="en-US" sz="28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1200607" y="3838651"/>
            <a:ext cx="10420502" cy="552298"/>
          </a:xfrm>
          <a:prstGeom prst="rect">
            <a:avLst/>
          </a:prstGeom>
          <a:solidFill>
            <a:srgbClr val="F8FBFD"/>
          </a:solidFill>
        </p:spPr>
      </p:sp>
      <p:sp>
        <p:nvSpPr>
          <p:cNvPr id="37" name="Shape 30"/>
          <p:cNvSpPr/>
          <p:nvPr/>
        </p:nvSpPr>
        <p:spPr>
          <a:xfrm>
            <a:off x="1200607" y="4381805"/>
            <a:ext cx="10420502" cy="9144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38" name="Text 31"/>
          <p:cNvSpPr txBox="1"/>
          <p:nvPr/>
        </p:nvSpPr>
        <p:spPr>
          <a:xfrm>
            <a:off x="1499387" y="4096690"/>
            <a:ext cx="395569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Redevabilité des assistances techniques</a:t>
            </a:r>
            <a:endParaRPr lang="en-US" sz="16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8185709" y="3952951"/>
            <a:ext cx="1571854" cy="314554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2"/>
          <a:srcRect t="-1100" b="-1100"/>
          <a:stretch>
            <a:fillRect/>
          </a:stretch>
        </p:blipFill>
        <p:spPr>
          <a:xfrm>
            <a:off x="8310067" y="4043477"/>
            <a:ext cx="114300" cy="133502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532952" y="4019702"/>
            <a:ext cx="131033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Direction PEV</a:t>
            </a:r>
            <a:endParaRPr lang="en-US" sz="1200" dirty="0">
              <a:solidFill>
                <a:srgbClr val="66666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9898380" y="3952951"/>
            <a:ext cx="1533449" cy="314554"/>
          </a:xfrm>
          <a:prstGeom prst="roundRect">
            <a:avLst>
              <a:gd name="adj" fmla="val 35236"/>
            </a:avLst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3"/>
          <a:srcRect t="-1100" b="-1100"/>
          <a:stretch>
            <a:fillRect/>
          </a:stretch>
        </p:blipFill>
        <p:spPr>
          <a:xfrm>
            <a:off x="10021824" y="4043477"/>
            <a:ext cx="114300" cy="133502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0136124" y="4019702"/>
            <a:ext cx="127193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Échéance: T1 2026</a:t>
            </a:r>
            <a:endParaRPr lang="en-US" sz="12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1200785" y="4391025"/>
            <a:ext cx="4172585" cy="1520190"/>
          </a:xfrm>
          <a:prstGeom prst="rect">
            <a:avLst/>
          </a:prstGeom>
          <a:solidFill>
            <a:srgbClr val="FFFAF0"/>
          </a:solidFill>
        </p:spPr>
      </p:sp>
      <p:sp>
        <p:nvSpPr>
          <p:cNvPr id="46" name="Shape 37"/>
          <p:cNvSpPr/>
          <p:nvPr/>
        </p:nvSpPr>
        <p:spPr>
          <a:xfrm>
            <a:off x="5363870" y="4390949"/>
            <a:ext cx="9144" cy="1352398"/>
          </a:xfrm>
          <a:prstGeom prst="rect">
            <a:avLst/>
          </a:prstGeom>
          <a:solidFill>
            <a:srgbClr val="EDF2F7"/>
          </a:solidFill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4"/>
          <a:srcRect l="-4000" r="-4000"/>
          <a:stretch>
            <a:fillRect/>
          </a:stretch>
        </p:blipFill>
        <p:spPr>
          <a:xfrm>
            <a:off x="1438351" y="4591202"/>
            <a:ext cx="123444" cy="11430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1747190" y="4517771"/>
            <a:ext cx="76261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621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CONTEXTE</a:t>
            </a:r>
            <a:endParaRPr lang="en-US" sz="1000" b="1" dirty="0">
              <a:solidFill>
                <a:srgbClr val="C05621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9" name="Text 39"/>
          <p:cNvSpPr txBox="1"/>
          <p:nvPr/>
        </p:nvSpPr>
        <p:spPr>
          <a:xfrm>
            <a:off x="1546860" y="4734560"/>
            <a:ext cx="3639185" cy="847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Les assistances techniques ne sont pas toujours alignées sur les besoins prioritaires du PEV.</a:t>
            </a:r>
            <a:endParaRPr lang="en-US" sz="20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5368290" y="4391025"/>
            <a:ext cx="6257925" cy="1528445"/>
          </a:xfrm>
          <a:prstGeom prst="rect">
            <a:avLst/>
          </a:prstGeom>
          <a:solidFill>
            <a:srgbClr val="F0FDF4"/>
          </a:solidFill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5"/>
          <a:srcRect l="-4000" r="-4000"/>
          <a:stretch>
            <a:fillRect/>
          </a:stretch>
        </p:blipFill>
        <p:spPr>
          <a:xfrm>
            <a:off x="5606186" y="4591202"/>
            <a:ext cx="123444" cy="114300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5806440" y="4562856"/>
            <a:ext cx="136245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6749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</a:t>
            </a:r>
            <a:endParaRPr lang="en-US" sz="1000" b="1" dirty="0">
              <a:solidFill>
                <a:srgbClr val="276749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3" name="Text 42"/>
          <p:cNvSpPr txBox="1"/>
          <p:nvPr/>
        </p:nvSpPr>
        <p:spPr>
          <a:xfrm>
            <a:off x="5606415" y="4838700"/>
            <a:ext cx="582041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44444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Renforcer le cadre de redevabilité des assistances techniques sur les priorités du PEV.</a:t>
            </a:r>
            <a:endParaRPr lang="en-US" sz="2000" b="1" dirty="0">
              <a:solidFill>
                <a:srgbClr val="444444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4" name="Shape 4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8F8F8"/>
          </a:solidFill>
        </p:spPr>
      </p:sp>
      <p:sp>
        <p:nvSpPr>
          <p:cNvPr id="55" name="Text 44"/>
          <p:cNvSpPr txBox="1"/>
          <p:nvPr/>
        </p:nvSpPr>
        <p:spPr>
          <a:xfrm>
            <a:off x="571500" y="6581775"/>
            <a:ext cx="347789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 Élargi de Vaccination - RDC</a:t>
            </a:r>
            <a:endParaRPr lang="en-US" sz="900" dirty="0"/>
          </a:p>
        </p:txBody>
      </p:sp>
      <p:sp>
        <p:nvSpPr>
          <p:cNvPr id="56" name="Text 45"/>
          <p:cNvSpPr txBox="1"/>
          <p:nvPr/>
        </p:nvSpPr>
        <p:spPr>
          <a:xfrm>
            <a:off x="11489436" y="6581851"/>
            <a:ext cx="2194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4D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098"/>
          </a:xfrm>
          <a:prstGeom prst="rect">
            <a:avLst/>
          </a:prstGeom>
          <a:solidFill>
            <a:srgbClr val="004D80"/>
          </a:solidFill>
        </p:spPr>
      </p:sp>
      <p:sp>
        <p:nvSpPr>
          <p:cNvPr id="5" name="Shape 3"/>
          <p:cNvSpPr/>
          <p:nvPr/>
        </p:nvSpPr>
        <p:spPr>
          <a:xfrm>
            <a:off x="0" y="95098"/>
            <a:ext cx="12191695" cy="81930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0" y="895198"/>
            <a:ext cx="12191695" cy="19202"/>
          </a:xfrm>
          <a:prstGeom prst="rect">
            <a:avLst/>
          </a:prstGeom>
          <a:solidFill>
            <a:srgbClr val="F0F0F0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-107" r="-107"/>
          <a:stretch>
            <a:fillRect/>
          </a:stretch>
        </p:blipFill>
        <p:spPr>
          <a:xfrm>
            <a:off x="571500" y="390449"/>
            <a:ext cx="267005" cy="3044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81151" y="286207"/>
            <a:ext cx="277246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En conclusion</a:t>
            </a:r>
            <a:endParaRPr lang="en-US" sz="32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0951769" y="437998"/>
            <a:ext cx="790956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66666"/>
                </a:solidFill>
                <a:latin typeface="Times New Roman" panose="02020603050405020304" charset="0"/>
                <a:ea typeface="Open Sans" pitchFamily="34" charset="-122"/>
                <a:cs typeface="Times New Roman" panose="02020603050405020304" charset="0"/>
              </a:rPr>
              <a:t>Synthèse</a:t>
            </a:r>
            <a:endParaRPr lang="en-US" sz="1400" b="1" dirty="0">
              <a:solidFill>
                <a:srgbClr val="666666"/>
              </a:solidFill>
              <a:latin typeface="Times New Roman" panose="02020603050405020304" charset="0"/>
              <a:ea typeface="Open Sans" pitchFamily="34" charset="-122"/>
              <a:cs typeface="Times New Roman" panose="020206030504050203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0" y="914400"/>
            <a:ext cx="12191695" cy="556229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8"/>
          <p:cNvSpPr/>
          <p:nvPr/>
        </p:nvSpPr>
        <p:spPr>
          <a:xfrm>
            <a:off x="571500" y="1200607"/>
            <a:ext cx="2619756" cy="1714500"/>
          </a:xfrm>
          <a:prstGeom prst="roundRect">
            <a:avLst>
              <a:gd name="adj" fmla="val 2963"/>
            </a:avLst>
          </a:prstGeom>
          <a:solidFill>
            <a:srgbClr val="F8FBFD"/>
          </a:solidFill>
          <a:effectLst>
            <a:outerShdw blurRad="63500" dist="38100" dir="5400000" algn="bl" rotWithShape="0">
              <a:srgbClr val="000000">
                <a:alpha val="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500" y="1200607"/>
            <a:ext cx="2619756" cy="47549"/>
          </a:xfrm>
          <a:prstGeom prst="rect">
            <a:avLst/>
          </a:prstGeom>
          <a:solidFill>
            <a:srgbClr val="007CC2"/>
          </a:solidFill>
        </p:spPr>
      </p:sp>
      <p:sp>
        <p:nvSpPr>
          <p:cNvPr id="13" name="Shape 10"/>
          <p:cNvSpPr/>
          <p:nvPr/>
        </p:nvSpPr>
        <p:spPr>
          <a:xfrm>
            <a:off x="1595628" y="1438351"/>
            <a:ext cx="571500" cy="448056"/>
          </a:xfrm>
          <a:prstGeom prst="ellipse">
            <a:avLst/>
          </a:prstGeom>
          <a:solidFill>
            <a:srgbClr val="E6F0F7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29130" y="1507846"/>
            <a:ext cx="304495" cy="3044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31874" y="1986991"/>
            <a:ext cx="534010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4D80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12</a:t>
            </a:r>
            <a:endParaRPr lang="en-US" sz="3200" b="1" dirty="0">
              <a:solidFill>
                <a:srgbClr val="004D80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821131" y="2368296"/>
            <a:ext cx="2224735" cy="3621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Recommandations structurantes pour renforcer le système PEV</a:t>
            </a:r>
            <a:endParaRPr lang="en-US" sz="1400" b="1" dirty="0">
              <a:solidFill>
                <a:srgbClr val="555555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381451" y="1200607"/>
            <a:ext cx="2619756" cy="1714500"/>
          </a:xfrm>
          <a:prstGeom prst="roundRect">
            <a:avLst>
              <a:gd name="adj" fmla="val 2963"/>
            </a:avLst>
          </a:prstGeom>
          <a:solidFill>
            <a:srgbClr val="F8FBFD"/>
          </a:solidFill>
          <a:effectLst>
            <a:outerShdw blurRad="63500" dist="38100" dir="5400000" algn="bl" rotWithShape="0">
              <a:srgbClr val="000000">
                <a:alpha val="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381451" y="1200607"/>
            <a:ext cx="2619756" cy="47549"/>
          </a:xfrm>
          <a:prstGeom prst="rect">
            <a:avLst/>
          </a:prstGeom>
          <a:solidFill>
            <a:srgbClr val="007CC2"/>
          </a:solidFill>
        </p:spPr>
      </p:sp>
      <p:sp>
        <p:nvSpPr>
          <p:cNvPr id="19" name="Shape 15"/>
          <p:cNvSpPr/>
          <p:nvPr/>
        </p:nvSpPr>
        <p:spPr>
          <a:xfrm>
            <a:off x="4405579" y="1438351"/>
            <a:ext cx="571500" cy="304495"/>
          </a:xfrm>
          <a:prstGeom prst="ellipse">
            <a:avLst/>
          </a:prstGeom>
          <a:solidFill>
            <a:srgbClr val="E6F0F7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 l="-50" r="-50"/>
          <a:stretch>
            <a:fillRect/>
          </a:stretch>
        </p:blipFill>
        <p:spPr>
          <a:xfrm>
            <a:off x="4519879" y="1438351"/>
            <a:ext cx="342900" cy="3044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585716" y="1848002"/>
            <a:ext cx="448056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4D80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4</a:t>
            </a:r>
            <a:endParaRPr lang="en-US" sz="3200" b="1" dirty="0">
              <a:solidFill>
                <a:srgbClr val="004D80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4116629" y="2229307"/>
            <a:ext cx="1252728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Axes Stratégiques</a:t>
            </a:r>
            <a:endParaRPr lang="en-US" sz="1200" b="1" dirty="0">
              <a:solidFill>
                <a:srgbClr val="555555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3519170" y="2402205"/>
            <a:ext cx="2338705" cy="493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(Gouvernance, Prestation, Logistique, Suivi)</a:t>
            </a:r>
            <a:endParaRPr lang="en-US" sz="1400" b="1" dirty="0">
              <a:solidFill>
                <a:srgbClr val="555555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191402" y="1200607"/>
            <a:ext cx="2619756" cy="1714500"/>
          </a:xfrm>
          <a:prstGeom prst="roundRect">
            <a:avLst>
              <a:gd name="adj" fmla="val 2963"/>
            </a:avLst>
          </a:prstGeom>
          <a:solidFill>
            <a:srgbClr val="FFF5F5"/>
          </a:solidFill>
          <a:effectLst>
            <a:outerShdw blurRad="63500" dist="38100" dir="5400000" algn="bl" rotWithShape="0">
              <a:srgbClr val="000000">
                <a:alpha val="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91402" y="1200607"/>
            <a:ext cx="2619756" cy="47549"/>
          </a:xfrm>
          <a:prstGeom prst="rect">
            <a:avLst/>
          </a:prstGeom>
          <a:solidFill>
            <a:srgbClr val="C53030"/>
          </a:solidFill>
        </p:spPr>
      </p:sp>
      <p:sp>
        <p:nvSpPr>
          <p:cNvPr id="26" name="Shape 21"/>
          <p:cNvSpPr/>
          <p:nvPr/>
        </p:nvSpPr>
        <p:spPr>
          <a:xfrm>
            <a:off x="7215530" y="1438351"/>
            <a:ext cx="571500" cy="448056"/>
          </a:xfrm>
          <a:prstGeom prst="ellipse">
            <a:avLst/>
          </a:prstGeom>
          <a:solidFill>
            <a:srgbClr val="FED7D7"/>
          </a:solidFill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348118" y="1507846"/>
            <a:ext cx="304495" cy="3044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410298" y="1986991"/>
            <a:ext cx="4096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B2C2C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3</a:t>
            </a:r>
            <a:endParaRPr lang="en-US" sz="3200" b="1" dirty="0">
              <a:solidFill>
                <a:srgbClr val="9B2C2C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6952183" y="2368296"/>
            <a:ext cx="1205179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Actions Urgentes</a:t>
            </a:r>
            <a:endParaRPr lang="en-US" sz="1200" b="1" dirty="0">
              <a:solidFill>
                <a:srgbClr val="555555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0" name="Text 24"/>
          <p:cNvSpPr txBox="1"/>
          <p:nvPr/>
        </p:nvSpPr>
        <p:spPr>
          <a:xfrm>
            <a:off x="6473190" y="2541270"/>
            <a:ext cx="2157730" cy="354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à finaliser avant fin Janvier 2026</a:t>
            </a:r>
            <a:endParaRPr lang="en-US" sz="1400" b="1" dirty="0">
              <a:solidFill>
                <a:srgbClr val="555555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9001354" y="1200607"/>
            <a:ext cx="2619756" cy="1714500"/>
          </a:xfrm>
          <a:prstGeom prst="roundRect">
            <a:avLst>
              <a:gd name="adj" fmla="val 2963"/>
            </a:avLst>
          </a:prstGeom>
          <a:solidFill>
            <a:srgbClr val="FFFAF0"/>
          </a:solidFill>
          <a:effectLst>
            <a:outerShdw blurRad="63500" dist="38100" dir="5400000" algn="bl" rotWithShape="0">
              <a:srgbClr val="000000">
                <a:alpha val="4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9001354" y="1200607"/>
            <a:ext cx="2619756" cy="47549"/>
          </a:xfrm>
          <a:prstGeom prst="rect">
            <a:avLst/>
          </a:prstGeom>
          <a:solidFill>
            <a:srgbClr val="DD6B20"/>
          </a:solidFill>
        </p:spPr>
      </p:sp>
      <p:sp>
        <p:nvSpPr>
          <p:cNvPr id="33" name="Shape 27"/>
          <p:cNvSpPr/>
          <p:nvPr/>
        </p:nvSpPr>
        <p:spPr>
          <a:xfrm>
            <a:off x="10025482" y="1438351"/>
            <a:ext cx="571500" cy="448056"/>
          </a:xfrm>
          <a:prstGeom prst="ellipse">
            <a:avLst/>
          </a:prstGeom>
          <a:solidFill>
            <a:srgbClr val="FEEBC8"/>
          </a:solidFill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58070" y="1507846"/>
            <a:ext cx="304495" cy="30449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213848" y="1986991"/>
            <a:ext cx="428854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5621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9</a:t>
            </a:r>
            <a:endParaRPr lang="en-US" sz="3200" b="1" dirty="0">
              <a:solidFill>
                <a:srgbClr val="C05621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9314180" y="2368550"/>
            <a:ext cx="210058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Recommandations à mettre en œuvre au 1er Trimestre 2026</a:t>
            </a:r>
            <a:endParaRPr lang="en-US" sz="1400" b="1" dirty="0">
              <a:solidFill>
                <a:srgbClr val="555555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1676095" y="3314700"/>
            <a:ext cx="8839505" cy="2295144"/>
          </a:xfrm>
          <a:prstGeom prst="roundRect">
            <a:avLst>
              <a:gd name="adj" fmla="val 2480"/>
            </a:avLst>
          </a:prstGeom>
          <a:solidFill>
            <a:srgbClr val="004D80"/>
          </a:solidFill>
          <a:effectLst>
            <a:outerShdw blurRad="241300" dist="101600" dir="5400000" algn="bl" rotWithShape="0">
              <a:srgbClr val="004D80">
                <a:alpha val="2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1676095" y="3314700"/>
            <a:ext cx="8839505" cy="2295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9" name="Text 32"/>
          <p:cNvSpPr txBox="1"/>
          <p:nvPr/>
        </p:nvSpPr>
        <p:spPr>
          <a:xfrm>
            <a:off x="3279953" y="6001207"/>
            <a:ext cx="643738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>
                    <a:alpha val="60000"/>
                  </a:srgbClr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PEV RDC</a:t>
            </a:r>
            <a:endParaRPr lang="en-US" sz="1400" b="1" dirty="0">
              <a:solidFill>
                <a:srgbClr val="000000">
                  <a:alpha val="60000"/>
                </a:srgbClr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0" name="Text 33"/>
          <p:cNvSpPr txBox="1"/>
          <p:nvPr/>
        </p:nvSpPr>
        <p:spPr>
          <a:xfrm>
            <a:off x="4202582" y="6001207"/>
            <a:ext cx="2472538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>
                    <a:alpha val="60000"/>
                  </a:srgbClr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Partenaires Techniques et Financiers</a:t>
            </a:r>
            <a:endParaRPr lang="en-US" sz="1400" b="1" dirty="0">
              <a:solidFill>
                <a:srgbClr val="000000">
                  <a:alpha val="60000"/>
                </a:srgbClr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1" name="Text 34"/>
          <p:cNvSpPr txBox="1"/>
          <p:nvPr/>
        </p:nvSpPr>
        <p:spPr>
          <a:xfrm>
            <a:off x="6954012" y="6001207"/>
            <a:ext cx="2062886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>
                    <a:alpha val="60000"/>
                  </a:srgbClr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Ministère de la Santé Publique</a:t>
            </a:r>
            <a:endParaRPr lang="en-US" sz="1400" b="1" dirty="0">
              <a:solidFill>
                <a:srgbClr val="000000">
                  <a:alpha val="60000"/>
                </a:srgbClr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2" name="Shape 35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8F8F8"/>
          </a:solidFill>
        </p:spPr>
      </p:sp>
      <p:sp>
        <p:nvSpPr>
          <p:cNvPr id="43" name="Text 36"/>
          <p:cNvSpPr txBox="1"/>
          <p:nvPr/>
        </p:nvSpPr>
        <p:spPr>
          <a:xfrm>
            <a:off x="571500" y="6581851"/>
            <a:ext cx="21717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 Élargi de Vaccination - RDC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11489436" y="6581851"/>
            <a:ext cx="2194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4D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90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6"/>
          <a:srcRect t="-24" b="-24"/>
          <a:stretch>
            <a:fillRect/>
          </a:stretch>
        </p:blipFill>
        <p:spPr>
          <a:xfrm>
            <a:off x="5857646" y="3696005"/>
            <a:ext cx="476402" cy="38130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4572000" y="4352544"/>
            <a:ext cx="3248863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Engagement Collectif</a:t>
            </a:r>
            <a:endParaRPr lang="en-US" sz="28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47" name="Text 39"/>
          <p:cNvSpPr txBox="1"/>
          <p:nvPr/>
        </p:nvSpPr>
        <p:spPr>
          <a:xfrm>
            <a:off x="2082089" y="4819802"/>
            <a:ext cx="8158277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>
                    <a:alpha val="90000"/>
                  </a:srgbClr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"Ensemble, transformons ces recommandations en actions concrètes pour la santé des enfants de la RDC !"</a:t>
            </a:r>
            <a:endParaRPr lang="en-US" dirty="0">
              <a:solidFill>
                <a:srgbClr val="FFFFFF">
                  <a:alpha val="90000"/>
                </a:srgbClr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6044</Words>
  <Application>WPS Presentation</Application>
  <PresentationFormat>On-screen Show (16:9)</PresentationFormat>
  <Paragraphs>348</Paragraphs>
  <Slides>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SimSun</vt:lpstr>
      <vt:lpstr>Wingdings</vt:lpstr>
      <vt:lpstr>Open Sans</vt:lpstr>
      <vt:lpstr>Segoe Print</vt:lpstr>
      <vt:lpstr>Open Sans</vt:lpstr>
      <vt:lpstr>Open Sans</vt:lpstr>
      <vt:lpstr>Montserrat</vt:lpstr>
      <vt:lpstr>Montserrat</vt:lpstr>
      <vt:lpstr>Montserrat</vt:lpstr>
      <vt:lpstr>Calibri</vt:lpstr>
      <vt:lpstr>Microsoft YaHei</vt:lpstr>
      <vt:lpstr>Arial Unicode MS</vt:lpstr>
      <vt:lpstr>MingLiU-ExtB</vt:lpstr>
      <vt:lpstr>Times New Roman</vt:lpstr>
      <vt:lpstr>Tw Cen MT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Mymy MWIKA</cp:lastModifiedBy>
  <cp:revision>4</cp:revision>
  <dcterms:created xsi:type="dcterms:W3CDTF">2025-12-20T07:28:00Z</dcterms:created>
  <dcterms:modified xsi:type="dcterms:W3CDTF">2025-12-20T10:56:02Z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16B8AC459E154E4F8DE16322808F7D58_13</vt:lpwstr>
  </property>
  <property fmtid="{D5CDD505-2E9C-101B-9397-08002B2CF9AE}" pid="3" name="KSOProductBuildVer">
    <vt:lpwstr>3084-12.2.0.23155</vt:lpwstr>
  </property>
</Properties>
</file>