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68" r:id="rId7"/>
    <p:sldId id="269" r:id="rId8"/>
    <p:sldId id="258" r:id="rId9"/>
    <p:sldId id="259" r:id="rId10"/>
    <p:sldId id="260" r:id="rId11"/>
    <p:sldId id="261" r:id="rId12"/>
    <p:sldId id="262" r:id="rId13"/>
    <p:sldId id="264" r:id="rId14"/>
    <p:sldId id="265" r:id="rId15"/>
    <p:sldId id="266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image" Target="../media/image5.pn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1" Type="http://schemas.openxmlformats.org/officeDocument/2006/relationships/notesSlide" Target="../notesSlides/notesSlide2.xml"/><Relationship Id="rId30" Type="http://schemas.openxmlformats.org/officeDocument/2006/relationships/slideLayout" Target="../slideLayouts/slideLayout1.xml"/><Relationship Id="rId3" Type="http://schemas.openxmlformats.org/officeDocument/2006/relationships/tags" Target="../tags/tag2.xml"/><Relationship Id="rId29" Type="http://schemas.openxmlformats.org/officeDocument/2006/relationships/tags" Target="../tags/tag24.xml"/><Relationship Id="rId28" Type="http://schemas.openxmlformats.org/officeDocument/2006/relationships/tags" Target="../tags/tag23.xml"/><Relationship Id="rId27" Type="http://schemas.openxmlformats.org/officeDocument/2006/relationships/tags" Target="../tags/tag22.xml"/><Relationship Id="rId26" Type="http://schemas.openxmlformats.org/officeDocument/2006/relationships/tags" Target="../tags/tag21.xml"/><Relationship Id="rId25" Type="http://schemas.openxmlformats.org/officeDocument/2006/relationships/tags" Target="../tags/tag20.xml"/><Relationship Id="rId24" Type="http://schemas.openxmlformats.org/officeDocument/2006/relationships/tags" Target="../tags/tag19.xml"/><Relationship Id="rId23" Type="http://schemas.openxmlformats.org/officeDocument/2006/relationships/tags" Target="../tags/tag18.xml"/><Relationship Id="rId22" Type="http://schemas.openxmlformats.org/officeDocument/2006/relationships/tags" Target="../tags/tag17.xml"/><Relationship Id="rId21" Type="http://schemas.openxmlformats.org/officeDocument/2006/relationships/image" Target="../media/image8.png"/><Relationship Id="rId20" Type="http://schemas.openxmlformats.org/officeDocument/2006/relationships/tags" Target="../tags/tag16.xml"/><Relationship Id="rId2" Type="http://schemas.openxmlformats.org/officeDocument/2006/relationships/tags" Target="../tags/tag1.xml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image" Target="../media/image7.png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image" Target="../media/image6.png"/><Relationship Id="rId10" Type="http://schemas.openxmlformats.org/officeDocument/2006/relationships/tags" Target="../tags/tag8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image" Target="../media/image4.png"/><Relationship Id="rId3" Type="http://schemas.openxmlformats.org/officeDocument/2006/relationships/tags" Target="../tags/tag27.xml"/><Relationship Id="rId20" Type="http://schemas.openxmlformats.org/officeDocument/2006/relationships/notesSlide" Target="../notesSlides/notesSlide3.xml"/><Relationship Id="rId2" Type="http://schemas.openxmlformats.org/officeDocument/2006/relationships/tags" Target="../tags/tag26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41.xml"/><Relationship Id="rId17" Type="http://schemas.openxmlformats.org/officeDocument/2006/relationships/tags" Target="../tags/tag40.xml"/><Relationship Id="rId16" Type="http://schemas.openxmlformats.org/officeDocument/2006/relationships/tags" Target="../tags/tag39.xml"/><Relationship Id="rId15" Type="http://schemas.openxmlformats.org/officeDocument/2006/relationships/tags" Target="../tags/tag38.xml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tags" Target="../tags/tag25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4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99CC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rcRect t="22343" b="22343"/>
          <a:stretch>
            <a:fillRect/>
          </a:stretch>
        </p:blipFill>
        <p:spPr>
          <a:xfrm>
            <a:off x="0" y="114300"/>
            <a:ext cx="12191695" cy="67437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366"/>
          </a:solidFill>
        </p:spPr>
      </p:sp>
      <p:sp>
        <p:nvSpPr>
          <p:cNvPr id="7" name="Text 4"/>
          <p:cNvSpPr txBox="1"/>
          <p:nvPr/>
        </p:nvSpPr>
        <p:spPr>
          <a:xfrm>
            <a:off x="381305" y="6667805"/>
            <a:ext cx="233446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 de Planification Stratégique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0" y="114300"/>
            <a:ext cx="12191695" cy="6743700"/>
          </a:xfrm>
          <a:prstGeom prst="rect">
            <a:avLst/>
          </a:prstGeom>
          <a:solidFill>
            <a:srgbClr val="FFFFFF">
              <a:alpha val="92000"/>
            </a:srgbClr>
          </a:solidFill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38851" y="841248"/>
            <a:ext cx="457200" cy="457200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181344" y="841248"/>
            <a:ext cx="571500" cy="4572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269334" y="4530852"/>
            <a:ext cx="3829507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556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Programme Élargi de Vaccination</a:t>
            </a:r>
            <a:endParaRPr lang="en-US" sz="1800" b="1" dirty="0">
              <a:solidFill>
                <a:srgbClr val="4A556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12" name="Text 7"/>
          <p:cNvSpPr txBox="1"/>
          <p:nvPr/>
        </p:nvSpPr>
        <p:spPr>
          <a:xfrm>
            <a:off x="302895" y="5800725"/>
            <a:ext cx="3966210" cy="4832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A556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République Démocratique du Congo</a:t>
            </a:r>
            <a:endParaRPr lang="en-US" sz="1500" dirty="0">
              <a:solidFill>
                <a:srgbClr val="4A556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5308092" y="5798210"/>
            <a:ext cx="1580998" cy="485546"/>
          </a:xfrm>
          <a:prstGeom prst="roundRect">
            <a:avLst>
              <a:gd name="adj" fmla="val 184631"/>
            </a:avLst>
          </a:prstGeom>
          <a:noFill/>
          <a:ln w="25400">
            <a:solidFill>
              <a:srgbClr val="CBD5E0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5613502" y="5921654"/>
            <a:ext cx="110093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18096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Année 2026</a:t>
            </a:r>
            <a:endParaRPr lang="en-US" sz="1300" b="1" dirty="0">
              <a:solidFill>
                <a:srgbClr val="718096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1350010" y="1822450"/>
            <a:ext cx="9511665" cy="1295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3366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Prochaines Étapes </a:t>
            </a:r>
            <a:r>
              <a:rPr lang="" altLang="en-US" sz="4200" b="1" dirty="0">
                <a:solidFill>
                  <a:srgbClr val="003366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et activités p</a:t>
            </a:r>
            <a:r>
              <a:rPr lang="en-US" sz="4200" b="1" dirty="0">
                <a:solidFill>
                  <a:srgbClr val="003366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rioritaires</a:t>
            </a:r>
            <a:r>
              <a:rPr lang="" altLang="en-US" sz="4200" b="1" dirty="0">
                <a:solidFill>
                  <a:srgbClr val="003366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 S1</a:t>
            </a:r>
            <a:r>
              <a:rPr lang="en-US" sz="4200" b="1" dirty="0">
                <a:solidFill>
                  <a:srgbClr val="003366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 2026</a:t>
            </a:r>
            <a:endParaRPr lang="en-US" sz="4200" b="1" dirty="0">
              <a:solidFill>
                <a:srgbClr val="003366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5524805" y="3264408"/>
            <a:ext cx="1143000" cy="38405"/>
          </a:xfrm>
          <a:prstGeom prst="rect">
            <a:avLst/>
          </a:prstGeom>
          <a:solidFill>
            <a:srgbClr val="FF9933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99CC"/>
          </a:solidFill>
        </p:spPr>
      </p:sp>
      <p:sp>
        <p:nvSpPr>
          <p:cNvPr id="5" name="Shape 3"/>
          <p:cNvSpPr/>
          <p:nvPr/>
        </p:nvSpPr>
        <p:spPr>
          <a:xfrm>
            <a:off x="571500" y="1286561"/>
            <a:ext cx="11048695" cy="28346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6" name="Shape 4"/>
          <p:cNvSpPr/>
          <p:nvPr/>
        </p:nvSpPr>
        <p:spPr>
          <a:xfrm>
            <a:off x="571500" y="509321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E6F7FF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rcRect l="-685" r="-685"/>
          <a:stretch>
            <a:fillRect/>
          </a:stretch>
        </p:blipFill>
        <p:spPr>
          <a:xfrm>
            <a:off x="705002" y="662026"/>
            <a:ext cx="304495" cy="267005"/>
          </a:xfrm>
          <a:prstGeom prst="rect">
            <a:avLst/>
          </a:prstGeom>
        </p:spPr>
      </p:pic>
      <p:sp>
        <p:nvSpPr>
          <p:cNvPr id="8" name="Shape 5"/>
          <p:cNvSpPr/>
          <p:nvPr>
            <p:custDataLst>
              <p:tags r:id="rId2"/>
            </p:custDataLst>
          </p:nvPr>
        </p:nvSpPr>
        <p:spPr>
          <a:xfrm>
            <a:off x="571500" y="1695298"/>
            <a:ext cx="5333695" cy="2200046"/>
          </a:xfrm>
          <a:prstGeom prst="roundRect">
            <a:avLst>
              <a:gd name="adj" fmla="val 2699"/>
            </a:avLst>
          </a:prstGeom>
          <a:solidFill>
            <a:srgbClr val="FFFFFF"/>
          </a:solidFill>
          <a:effectLst>
            <a:outerShdw blurRad="1397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6"/>
          <p:cNvSpPr/>
          <p:nvPr>
            <p:custDataLst>
              <p:tags r:id="rId3"/>
            </p:custDataLst>
          </p:nvPr>
        </p:nvSpPr>
        <p:spPr>
          <a:xfrm>
            <a:off x="571500" y="1695298"/>
            <a:ext cx="57607" cy="2200046"/>
          </a:xfrm>
          <a:prstGeom prst="rect">
            <a:avLst/>
          </a:prstGeom>
          <a:solidFill>
            <a:srgbClr val="0099CC"/>
          </a:solidFill>
        </p:spPr>
      </p:sp>
      <p:sp>
        <p:nvSpPr>
          <p:cNvPr id="10" name="Shape 7"/>
          <p:cNvSpPr/>
          <p:nvPr>
            <p:custDataLst>
              <p:tags r:id="rId4"/>
            </p:custDataLst>
          </p:nvPr>
        </p:nvSpPr>
        <p:spPr>
          <a:xfrm>
            <a:off x="914400" y="1981505"/>
            <a:ext cx="476402" cy="476402"/>
          </a:xfrm>
          <a:prstGeom prst="ellipse">
            <a:avLst/>
          </a:prstGeom>
          <a:solidFill>
            <a:srgbClr val="E6F7FF"/>
          </a:solidFill>
        </p:spPr>
      </p:sp>
      <p:pic>
        <p:nvPicPr>
          <p:cNvPr id="11" name="Image 1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1047902" y="2115007"/>
            <a:ext cx="209398" cy="209398"/>
          </a:xfrm>
          <a:prstGeom prst="rect">
            <a:avLst/>
          </a:prstGeom>
        </p:spPr>
      </p:pic>
      <p:sp>
        <p:nvSpPr>
          <p:cNvPr id="12" name="Shape 8"/>
          <p:cNvSpPr/>
          <p:nvPr>
            <p:custDataLst>
              <p:tags r:id="rId7"/>
            </p:custDataLst>
          </p:nvPr>
        </p:nvSpPr>
        <p:spPr>
          <a:xfrm>
            <a:off x="6286500" y="1695298"/>
            <a:ext cx="5333695" cy="2200046"/>
          </a:xfrm>
          <a:prstGeom prst="roundRect">
            <a:avLst>
              <a:gd name="adj" fmla="val 2699"/>
            </a:avLst>
          </a:prstGeom>
          <a:solidFill>
            <a:srgbClr val="FFFFFF"/>
          </a:solidFill>
          <a:effectLst>
            <a:outerShdw blurRad="1397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3" name="Shape 9"/>
          <p:cNvSpPr/>
          <p:nvPr>
            <p:custDataLst>
              <p:tags r:id="rId8"/>
            </p:custDataLst>
          </p:nvPr>
        </p:nvSpPr>
        <p:spPr>
          <a:xfrm>
            <a:off x="6286500" y="1695298"/>
            <a:ext cx="57607" cy="2200046"/>
          </a:xfrm>
          <a:prstGeom prst="rect">
            <a:avLst/>
          </a:prstGeom>
          <a:solidFill>
            <a:srgbClr val="28A745"/>
          </a:solidFill>
        </p:spPr>
      </p:sp>
      <p:sp>
        <p:nvSpPr>
          <p:cNvPr id="14" name="Shape 10"/>
          <p:cNvSpPr/>
          <p:nvPr>
            <p:custDataLst>
              <p:tags r:id="rId9"/>
            </p:custDataLst>
          </p:nvPr>
        </p:nvSpPr>
        <p:spPr>
          <a:xfrm>
            <a:off x="6629400" y="1981505"/>
            <a:ext cx="476402" cy="476402"/>
          </a:xfrm>
          <a:prstGeom prst="ellipse">
            <a:avLst/>
          </a:prstGeom>
          <a:solidFill>
            <a:srgbClr val="E6FFFA"/>
          </a:solidFill>
        </p:spPr>
      </p:sp>
      <p:pic>
        <p:nvPicPr>
          <p:cNvPr id="15" name="Image 2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l="-461" r="-461"/>
          <a:stretch>
            <a:fillRect/>
          </a:stretch>
        </p:blipFill>
        <p:spPr>
          <a:xfrm>
            <a:off x="6748272" y="2115007"/>
            <a:ext cx="237744" cy="209398"/>
          </a:xfrm>
          <a:prstGeom prst="rect">
            <a:avLst/>
          </a:prstGeom>
        </p:spPr>
      </p:pic>
      <p:sp>
        <p:nvSpPr>
          <p:cNvPr id="16" name="Shape 11"/>
          <p:cNvSpPr/>
          <p:nvPr>
            <p:custDataLst>
              <p:tags r:id="rId12"/>
            </p:custDataLst>
          </p:nvPr>
        </p:nvSpPr>
        <p:spPr>
          <a:xfrm>
            <a:off x="571500" y="4276649"/>
            <a:ext cx="5333695" cy="2200046"/>
          </a:xfrm>
          <a:prstGeom prst="roundRect">
            <a:avLst>
              <a:gd name="adj" fmla="val 2699"/>
            </a:avLst>
          </a:prstGeom>
          <a:solidFill>
            <a:srgbClr val="FFFFFF"/>
          </a:solidFill>
          <a:effectLst>
            <a:outerShdw blurRad="1397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7" name="Shape 12"/>
          <p:cNvSpPr/>
          <p:nvPr>
            <p:custDataLst>
              <p:tags r:id="rId13"/>
            </p:custDataLst>
          </p:nvPr>
        </p:nvSpPr>
        <p:spPr>
          <a:xfrm>
            <a:off x="571500" y="4276649"/>
            <a:ext cx="57607" cy="2200046"/>
          </a:xfrm>
          <a:prstGeom prst="rect">
            <a:avLst/>
          </a:prstGeom>
          <a:solidFill>
            <a:srgbClr val="FF9933"/>
          </a:solidFill>
        </p:spPr>
      </p:sp>
      <p:sp>
        <p:nvSpPr>
          <p:cNvPr id="18" name="Shape 13"/>
          <p:cNvSpPr/>
          <p:nvPr>
            <p:custDataLst>
              <p:tags r:id="rId14"/>
            </p:custDataLst>
          </p:nvPr>
        </p:nvSpPr>
        <p:spPr>
          <a:xfrm>
            <a:off x="914400" y="4562856"/>
            <a:ext cx="476402" cy="476402"/>
          </a:xfrm>
          <a:prstGeom prst="ellipse">
            <a:avLst/>
          </a:prstGeom>
          <a:solidFill>
            <a:srgbClr val="FFF5EB"/>
          </a:solidFill>
        </p:spPr>
      </p:sp>
      <p:pic>
        <p:nvPicPr>
          <p:cNvPr id="19" name="Image 3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rcRect/>
          <a:stretch>
            <a:fillRect/>
          </a:stretch>
        </p:blipFill>
        <p:spPr>
          <a:xfrm>
            <a:off x="1047902" y="4695444"/>
            <a:ext cx="209398" cy="209398"/>
          </a:xfrm>
          <a:prstGeom prst="rect">
            <a:avLst/>
          </a:prstGeom>
        </p:spPr>
      </p:pic>
      <p:sp>
        <p:nvSpPr>
          <p:cNvPr id="20" name="Shape 14"/>
          <p:cNvSpPr/>
          <p:nvPr>
            <p:custDataLst>
              <p:tags r:id="rId17"/>
            </p:custDataLst>
          </p:nvPr>
        </p:nvSpPr>
        <p:spPr>
          <a:xfrm>
            <a:off x="6286500" y="4276649"/>
            <a:ext cx="5333695" cy="2200046"/>
          </a:xfrm>
          <a:prstGeom prst="roundRect">
            <a:avLst>
              <a:gd name="adj" fmla="val 2699"/>
            </a:avLst>
          </a:prstGeom>
          <a:solidFill>
            <a:srgbClr val="FFFFFF"/>
          </a:solidFill>
          <a:effectLst>
            <a:outerShdw blurRad="1397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1" name="Shape 15"/>
          <p:cNvSpPr/>
          <p:nvPr>
            <p:custDataLst>
              <p:tags r:id="rId18"/>
            </p:custDataLst>
          </p:nvPr>
        </p:nvSpPr>
        <p:spPr>
          <a:xfrm>
            <a:off x="6286500" y="4276649"/>
            <a:ext cx="57607" cy="2200046"/>
          </a:xfrm>
          <a:prstGeom prst="rect">
            <a:avLst/>
          </a:prstGeom>
          <a:solidFill>
            <a:srgbClr val="6F42C1"/>
          </a:solidFill>
        </p:spPr>
      </p:sp>
      <p:sp>
        <p:nvSpPr>
          <p:cNvPr id="22" name="Shape 16"/>
          <p:cNvSpPr/>
          <p:nvPr>
            <p:custDataLst>
              <p:tags r:id="rId19"/>
            </p:custDataLst>
          </p:nvPr>
        </p:nvSpPr>
        <p:spPr>
          <a:xfrm>
            <a:off x="6629400" y="4562856"/>
            <a:ext cx="476402" cy="476402"/>
          </a:xfrm>
          <a:prstGeom prst="ellipse">
            <a:avLst/>
          </a:prstGeom>
          <a:solidFill>
            <a:srgbClr val="F3EBFF"/>
          </a:solidFill>
        </p:spPr>
      </p:sp>
      <p:pic>
        <p:nvPicPr>
          <p:cNvPr id="23" name="Image 4" descr="preencoded.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rcRect l="-1004" r="-1004"/>
          <a:stretch>
            <a:fillRect/>
          </a:stretch>
        </p:blipFill>
        <p:spPr>
          <a:xfrm>
            <a:off x="6734556" y="4695444"/>
            <a:ext cx="267005" cy="20939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380744" y="543154"/>
            <a:ext cx="4691786" cy="495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" altLang="en-US" sz="3100" b="1" dirty="0">
                <a:solidFill>
                  <a:srgbClr val="003366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Introduction</a:t>
            </a:r>
            <a:endParaRPr lang="" altLang="en-US" sz="3100" b="1" dirty="0">
              <a:solidFill>
                <a:srgbClr val="003366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25" name="Text 18"/>
          <p:cNvSpPr txBox="1"/>
          <p:nvPr>
            <p:custDataLst>
              <p:tags r:id="rId22"/>
            </p:custDataLst>
          </p:nvPr>
        </p:nvSpPr>
        <p:spPr>
          <a:xfrm>
            <a:off x="1580998" y="2090318"/>
            <a:ext cx="2319833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2D3748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8 Étapes Prioritaires</a:t>
            </a:r>
            <a:endParaRPr lang="en-US" b="1" dirty="0">
              <a:solidFill>
                <a:srgbClr val="2D3748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26" name="Text 19"/>
          <p:cNvSpPr txBox="1"/>
          <p:nvPr>
            <p:custDataLst>
              <p:tags r:id="rId23"/>
            </p:custDataLst>
          </p:nvPr>
        </p:nvSpPr>
        <p:spPr>
          <a:xfrm>
            <a:off x="914400" y="2667000"/>
            <a:ext cx="4772660" cy="1073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4A556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Une feuille de route structurée autour de 8 étapes clés </a:t>
            </a:r>
            <a:r>
              <a:rPr lang="" altLang="en-US" dirty="0">
                <a:solidFill>
                  <a:srgbClr val="4A556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à suivre</a:t>
            </a:r>
            <a:r>
              <a:rPr lang="en-US" dirty="0">
                <a:solidFill>
                  <a:srgbClr val="4A556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 tout au long de l'année 2026.</a:t>
            </a:r>
            <a:endParaRPr lang="en-US" dirty="0">
              <a:solidFill>
                <a:srgbClr val="4A556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7" name="Text 20"/>
          <p:cNvSpPr txBox="1"/>
          <p:nvPr>
            <p:custDataLst>
              <p:tags r:id="rId24"/>
            </p:custDataLst>
          </p:nvPr>
        </p:nvSpPr>
        <p:spPr>
          <a:xfrm>
            <a:off x="7295998" y="2090318"/>
            <a:ext cx="3272638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2D3748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Axes Stratégiques Diversifiés</a:t>
            </a:r>
            <a:endParaRPr lang="en-US" b="1" dirty="0">
              <a:solidFill>
                <a:srgbClr val="2D3748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28" name="Text 21"/>
          <p:cNvSpPr txBox="1"/>
          <p:nvPr>
            <p:custDataLst>
              <p:tags r:id="rId25"/>
            </p:custDataLst>
          </p:nvPr>
        </p:nvSpPr>
        <p:spPr>
          <a:xfrm>
            <a:off x="6629400" y="2667000"/>
            <a:ext cx="4531360" cy="1073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4A556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Une approche intégrée couvrant l'intensification des activités, l'innovation logistique, la gouvernance décentralisée et l'introduction de nouveaux vaccins.</a:t>
            </a:r>
            <a:endParaRPr lang="en-US" dirty="0">
              <a:solidFill>
                <a:srgbClr val="4A556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9" name="Text 22"/>
          <p:cNvSpPr txBox="1"/>
          <p:nvPr>
            <p:custDataLst>
              <p:tags r:id="rId26"/>
            </p:custDataLst>
          </p:nvPr>
        </p:nvSpPr>
        <p:spPr>
          <a:xfrm>
            <a:off x="1580998" y="4671670"/>
            <a:ext cx="2310689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2D3748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Objectifs Ambitieux</a:t>
            </a:r>
            <a:endParaRPr lang="en-US" b="1" dirty="0">
              <a:solidFill>
                <a:srgbClr val="2D3748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30" name="Text 23"/>
          <p:cNvSpPr txBox="1"/>
          <p:nvPr>
            <p:custDataLst>
              <p:tags r:id="rId27"/>
            </p:custDataLst>
          </p:nvPr>
        </p:nvSpPr>
        <p:spPr>
          <a:xfrm>
            <a:off x="914400" y="5248910"/>
            <a:ext cx="5052695" cy="1073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4A556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A</a:t>
            </a:r>
            <a:r>
              <a:rPr lang="" altLang="en-US" dirty="0">
                <a:solidFill>
                  <a:srgbClr val="4A556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ugmenter la couverture vaccinale et a</a:t>
            </a:r>
            <a:r>
              <a:rPr lang="en-US" dirty="0">
                <a:solidFill>
                  <a:srgbClr val="4A556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ccroître significativement l'accès aux vaccins pour les populations cibles</a:t>
            </a:r>
            <a:r>
              <a:rPr lang="" altLang="en-US" dirty="0">
                <a:solidFill>
                  <a:srgbClr val="4A556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;</a:t>
            </a:r>
            <a:r>
              <a:rPr lang="en-US" dirty="0">
                <a:solidFill>
                  <a:srgbClr val="4A556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 et améliorer durablement la qualité des services de vaccination offerts.</a:t>
            </a:r>
            <a:endParaRPr lang="en-US" dirty="0">
              <a:solidFill>
                <a:srgbClr val="4A556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31" name="Text 24"/>
          <p:cNvSpPr txBox="1"/>
          <p:nvPr>
            <p:custDataLst>
              <p:tags r:id="rId28"/>
            </p:custDataLst>
          </p:nvPr>
        </p:nvSpPr>
        <p:spPr>
          <a:xfrm>
            <a:off x="7295998" y="4671670"/>
            <a:ext cx="2520086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2D3748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Engagement Collectif</a:t>
            </a:r>
            <a:endParaRPr lang="en-US" b="1" dirty="0">
              <a:solidFill>
                <a:srgbClr val="2D3748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32" name="Text 25"/>
          <p:cNvSpPr txBox="1"/>
          <p:nvPr>
            <p:custDataLst>
              <p:tags r:id="rId29"/>
            </p:custDataLst>
          </p:nvPr>
        </p:nvSpPr>
        <p:spPr>
          <a:xfrm>
            <a:off x="6629400" y="5248910"/>
            <a:ext cx="5073015" cy="1073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4A556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Mobilisation de tous les acteurs clés : le PEV Central, les Divisions Provinciales de la Santé (DPS), les Zones de Santé (ECZ) et les Partenaires techniques et financiers.</a:t>
            </a:r>
            <a:endParaRPr lang="en-US" dirty="0">
              <a:solidFill>
                <a:srgbClr val="4A556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33" name="Shape 2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366"/>
          </a:solidFill>
        </p:spPr>
      </p:sp>
      <p:sp>
        <p:nvSpPr>
          <p:cNvPr id="34" name="Text 27"/>
          <p:cNvSpPr txBox="1"/>
          <p:nvPr/>
        </p:nvSpPr>
        <p:spPr>
          <a:xfrm>
            <a:off x="381305" y="6667805"/>
            <a:ext cx="209580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Prochaines Étapes </a:t>
            </a:r>
            <a:r>
              <a:rPr lang="en-US" sz="900" dirty="0">
                <a:solidFill>
                  <a:srgbClr val="FFFFFF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Prioritaires 2026</a:t>
            </a:r>
            <a:endParaRPr lang="en-US" sz="900" dirty="0">
              <a:latin typeface="Tw Cen MT" panose="020B0602020104020603" charset="0"/>
              <a:cs typeface="Tw Cen MT" panose="020B0602020104020603" charset="0"/>
            </a:endParaRPr>
          </a:p>
        </p:txBody>
      </p:sp>
      <p:sp>
        <p:nvSpPr>
          <p:cNvPr id="35" name="Text 28"/>
          <p:cNvSpPr txBox="1"/>
          <p:nvPr/>
        </p:nvSpPr>
        <p:spPr>
          <a:xfrm>
            <a:off x="11420856" y="6667805"/>
            <a:ext cx="47640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Page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99CC"/>
          </a:solidFill>
        </p:spPr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571500" y="1286561"/>
            <a:ext cx="11048695" cy="28346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571500" y="509321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E6F7FF"/>
          </a:solidFill>
        </p:spPr>
      </p:sp>
      <p:pic>
        <p:nvPicPr>
          <p:cNvPr id="7" name="Image 0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-685" r="-685"/>
          <a:stretch>
            <a:fillRect/>
          </a:stretch>
        </p:blipFill>
        <p:spPr>
          <a:xfrm>
            <a:off x="705002" y="662026"/>
            <a:ext cx="304495" cy="267005"/>
          </a:xfrm>
          <a:prstGeom prst="rect">
            <a:avLst/>
          </a:prstGeom>
        </p:spPr>
      </p:pic>
      <p:sp>
        <p:nvSpPr>
          <p:cNvPr id="8" name="Shape 5"/>
          <p:cNvSpPr/>
          <p:nvPr>
            <p:custDataLst>
              <p:tags r:id="rId5"/>
            </p:custDataLst>
          </p:nvPr>
        </p:nvSpPr>
        <p:spPr>
          <a:xfrm>
            <a:off x="571500" y="1695298"/>
            <a:ext cx="5333695" cy="2200046"/>
          </a:xfrm>
          <a:prstGeom prst="roundRect">
            <a:avLst>
              <a:gd name="adj" fmla="val 2699"/>
            </a:avLst>
          </a:prstGeom>
          <a:solidFill>
            <a:srgbClr val="FFFFFF"/>
          </a:solidFill>
          <a:effectLst>
            <a:outerShdw blurRad="1397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6"/>
          <p:cNvSpPr/>
          <p:nvPr>
            <p:custDataLst>
              <p:tags r:id="rId6"/>
            </p:custDataLst>
          </p:nvPr>
        </p:nvSpPr>
        <p:spPr>
          <a:xfrm>
            <a:off x="571500" y="1695298"/>
            <a:ext cx="57607" cy="2200046"/>
          </a:xfrm>
          <a:prstGeom prst="rect">
            <a:avLst/>
          </a:prstGeom>
          <a:solidFill>
            <a:srgbClr val="0099CC"/>
          </a:solidFill>
        </p:spPr>
      </p:sp>
      <p:sp>
        <p:nvSpPr>
          <p:cNvPr id="12" name="Shape 8"/>
          <p:cNvSpPr/>
          <p:nvPr>
            <p:custDataLst>
              <p:tags r:id="rId7"/>
            </p:custDataLst>
          </p:nvPr>
        </p:nvSpPr>
        <p:spPr>
          <a:xfrm>
            <a:off x="6286500" y="1695298"/>
            <a:ext cx="5333695" cy="2200046"/>
          </a:xfrm>
          <a:prstGeom prst="roundRect">
            <a:avLst>
              <a:gd name="adj" fmla="val 2699"/>
            </a:avLst>
          </a:prstGeom>
          <a:solidFill>
            <a:srgbClr val="FFFFFF"/>
          </a:solidFill>
          <a:effectLst>
            <a:outerShdw blurRad="1397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3" name="Shape 9"/>
          <p:cNvSpPr/>
          <p:nvPr>
            <p:custDataLst>
              <p:tags r:id="rId8"/>
            </p:custDataLst>
          </p:nvPr>
        </p:nvSpPr>
        <p:spPr>
          <a:xfrm>
            <a:off x="6286500" y="1695298"/>
            <a:ext cx="57607" cy="2200046"/>
          </a:xfrm>
          <a:prstGeom prst="rect">
            <a:avLst/>
          </a:prstGeom>
          <a:solidFill>
            <a:srgbClr val="28A745"/>
          </a:solidFill>
        </p:spPr>
      </p:sp>
      <p:sp>
        <p:nvSpPr>
          <p:cNvPr id="16" name="Shape 11"/>
          <p:cNvSpPr/>
          <p:nvPr>
            <p:custDataLst>
              <p:tags r:id="rId9"/>
            </p:custDataLst>
          </p:nvPr>
        </p:nvSpPr>
        <p:spPr>
          <a:xfrm>
            <a:off x="571500" y="4218229"/>
            <a:ext cx="5333695" cy="2200046"/>
          </a:xfrm>
          <a:prstGeom prst="roundRect">
            <a:avLst>
              <a:gd name="adj" fmla="val 2699"/>
            </a:avLst>
          </a:prstGeom>
          <a:solidFill>
            <a:srgbClr val="FFFFFF"/>
          </a:solidFill>
          <a:effectLst>
            <a:outerShdw blurRad="1397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7" name="Shape 12"/>
          <p:cNvSpPr/>
          <p:nvPr>
            <p:custDataLst>
              <p:tags r:id="rId10"/>
            </p:custDataLst>
          </p:nvPr>
        </p:nvSpPr>
        <p:spPr>
          <a:xfrm>
            <a:off x="571500" y="4276649"/>
            <a:ext cx="57607" cy="2200046"/>
          </a:xfrm>
          <a:prstGeom prst="rect">
            <a:avLst/>
          </a:prstGeom>
          <a:solidFill>
            <a:srgbClr val="FF9933"/>
          </a:solidFill>
        </p:spPr>
      </p:sp>
      <p:sp>
        <p:nvSpPr>
          <p:cNvPr id="20" name="Shape 14"/>
          <p:cNvSpPr/>
          <p:nvPr>
            <p:custDataLst>
              <p:tags r:id="rId11"/>
            </p:custDataLst>
          </p:nvPr>
        </p:nvSpPr>
        <p:spPr>
          <a:xfrm>
            <a:off x="6286500" y="4276649"/>
            <a:ext cx="5333695" cy="2200046"/>
          </a:xfrm>
          <a:prstGeom prst="roundRect">
            <a:avLst>
              <a:gd name="adj" fmla="val 2699"/>
            </a:avLst>
          </a:prstGeom>
          <a:solidFill>
            <a:srgbClr val="FFFFFF"/>
          </a:solidFill>
          <a:effectLst>
            <a:outerShdw blurRad="1397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1" name="Shape 15"/>
          <p:cNvSpPr/>
          <p:nvPr>
            <p:custDataLst>
              <p:tags r:id="rId12"/>
            </p:custDataLst>
          </p:nvPr>
        </p:nvSpPr>
        <p:spPr>
          <a:xfrm>
            <a:off x="6286500" y="4276649"/>
            <a:ext cx="57607" cy="2200046"/>
          </a:xfrm>
          <a:prstGeom prst="rect">
            <a:avLst/>
          </a:prstGeom>
          <a:solidFill>
            <a:srgbClr val="6F42C1"/>
          </a:solidFill>
        </p:spPr>
      </p:sp>
      <p:sp>
        <p:nvSpPr>
          <p:cNvPr id="24" name="Text 17"/>
          <p:cNvSpPr txBox="1"/>
          <p:nvPr>
            <p:custDataLst>
              <p:tags r:id="rId13"/>
            </p:custDataLst>
          </p:nvPr>
        </p:nvSpPr>
        <p:spPr>
          <a:xfrm>
            <a:off x="1380744" y="543154"/>
            <a:ext cx="4691786" cy="495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" altLang="en-US" sz="3100" b="1" dirty="0">
                <a:solidFill>
                  <a:srgbClr val="003366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Prochaines étapes</a:t>
            </a:r>
            <a:endParaRPr lang="" altLang="en-US" sz="3100" b="1" dirty="0">
              <a:solidFill>
                <a:srgbClr val="003366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25" name="Text 18"/>
          <p:cNvSpPr txBox="1"/>
          <p:nvPr>
            <p:custDataLst>
              <p:tags r:id="rId14"/>
            </p:custDataLst>
          </p:nvPr>
        </p:nvSpPr>
        <p:spPr>
          <a:xfrm>
            <a:off x="2897505" y="1376045"/>
            <a:ext cx="5556250" cy="3194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" altLang="en-US" sz="2800" b="1" dirty="0">
                <a:solidFill>
                  <a:srgbClr val="2D3748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4 </a:t>
            </a:r>
            <a:r>
              <a:rPr lang="en-US" sz="2800" b="1" dirty="0">
                <a:solidFill>
                  <a:srgbClr val="2D3748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Étapes Prioritai</a:t>
            </a:r>
            <a:r>
              <a:rPr lang="" altLang="en-US" sz="2800" b="1" dirty="0">
                <a:solidFill>
                  <a:srgbClr val="2D3748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res</a:t>
            </a:r>
            <a:endParaRPr lang="" altLang="en-US" sz="2800" b="1" dirty="0">
              <a:solidFill>
                <a:srgbClr val="2D3748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26" name="Text 19"/>
          <p:cNvSpPr txBox="1"/>
          <p:nvPr>
            <p:custDataLst>
              <p:tags r:id="rId15"/>
            </p:custDataLst>
          </p:nvPr>
        </p:nvSpPr>
        <p:spPr>
          <a:xfrm>
            <a:off x="914400" y="2628265"/>
            <a:ext cx="4772660" cy="1073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" altLang="en-US" sz="2400" dirty="0">
                <a:solidFill>
                  <a:srgbClr val="4A556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Finalisation le PAO </a:t>
            </a:r>
            <a:r>
              <a:rPr lang="en-US" sz="2400" dirty="0">
                <a:solidFill>
                  <a:srgbClr val="4A556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2026</a:t>
            </a:r>
            <a:r>
              <a:rPr lang="" altLang="en-US" sz="2400" dirty="0">
                <a:solidFill>
                  <a:srgbClr val="4A556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 (Word et Excel): PTT1 2026, FDR S1 2026</a:t>
            </a:r>
            <a:endParaRPr lang="" altLang="en-US" sz="2400" dirty="0">
              <a:solidFill>
                <a:srgbClr val="4A556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8" name="Text 21"/>
          <p:cNvSpPr txBox="1"/>
          <p:nvPr>
            <p:custDataLst>
              <p:tags r:id="rId16"/>
            </p:custDataLst>
          </p:nvPr>
        </p:nvSpPr>
        <p:spPr>
          <a:xfrm>
            <a:off x="6629400" y="2412365"/>
            <a:ext cx="4531360" cy="13284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" altLang="en-US" sz="2400" dirty="0">
                <a:solidFill>
                  <a:srgbClr val="4A556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Partage de la version validée avec toutes les parties prenantes</a:t>
            </a:r>
            <a:endParaRPr lang="" altLang="en-US" sz="2400" dirty="0">
              <a:solidFill>
                <a:srgbClr val="4A556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30" name="Text 23"/>
          <p:cNvSpPr txBox="1"/>
          <p:nvPr>
            <p:custDataLst>
              <p:tags r:id="rId17"/>
            </p:custDataLst>
          </p:nvPr>
        </p:nvSpPr>
        <p:spPr>
          <a:xfrm>
            <a:off x="914400" y="4551680"/>
            <a:ext cx="5052695" cy="1771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" altLang="en-US" sz="2400" dirty="0">
                <a:solidFill>
                  <a:srgbClr val="4A556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Validation du PAO 2026 au niveau du CCPeV stratégique au plus tard le 29 Décembre 2025</a:t>
            </a:r>
            <a:endParaRPr lang="" altLang="en-US" sz="2400" dirty="0">
              <a:solidFill>
                <a:srgbClr val="4A556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32" name="Text 25"/>
          <p:cNvSpPr txBox="1"/>
          <p:nvPr>
            <p:custDataLst>
              <p:tags r:id="rId18"/>
            </p:custDataLst>
          </p:nvPr>
        </p:nvSpPr>
        <p:spPr>
          <a:xfrm>
            <a:off x="6547485" y="4803140"/>
            <a:ext cx="5073015" cy="1073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" altLang="en-US" sz="2400" dirty="0">
                <a:solidFill>
                  <a:srgbClr val="4A556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Diffusion du PAO 2026</a:t>
            </a:r>
            <a:endParaRPr lang="" altLang="en-US" sz="2400" dirty="0">
              <a:solidFill>
                <a:srgbClr val="4A556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33" name="Shape 2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366"/>
          </a:solidFill>
        </p:spPr>
      </p:sp>
      <p:sp>
        <p:nvSpPr>
          <p:cNvPr id="34" name="Text 27"/>
          <p:cNvSpPr txBox="1"/>
          <p:nvPr/>
        </p:nvSpPr>
        <p:spPr>
          <a:xfrm>
            <a:off x="381305" y="6667805"/>
            <a:ext cx="209580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Prochaines Étapes </a:t>
            </a:r>
            <a:r>
              <a:rPr lang="en-US" sz="900" dirty="0">
                <a:solidFill>
                  <a:srgbClr val="FFFFFF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Prioritaires 2026</a:t>
            </a:r>
            <a:endParaRPr lang="en-US" sz="900" dirty="0">
              <a:latin typeface="Tw Cen MT" panose="020B0602020104020603" charset="0"/>
              <a:cs typeface="Tw Cen MT" panose="020B0602020104020603" charset="0"/>
            </a:endParaRPr>
          </a:p>
        </p:txBody>
      </p:sp>
      <p:sp>
        <p:nvSpPr>
          <p:cNvPr id="35" name="Text 28"/>
          <p:cNvSpPr txBox="1"/>
          <p:nvPr/>
        </p:nvSpPr>
        <p:spPr>
          <a:xfrm>
            <a:off x="11420856" y="6667805"/>
            <a:ext cx="47640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Page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99CC"/>
          </a:solidFill>
        </p:spPr>
      </p:sp>
      <p:sp>
        <p:nvSpPr>
          <p:cNvPr id="5" name="Shape 3"/>
          <p:cNvSpPr/>
          <p:nvPr/>
        </p:nvSpPr>
        <p:spPr>
          <a:xfrm>
            <a:off x="571500" y="1286561"/>
            <a:ext cx="11048695" cy="28346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6" name="Shape 4"/>
          <p:cNvSpPr/>
          <p:nvPr/>
        </p:nvSpPr>
        <p:spPr>
          <a:xfrm>
            <a:off x="571500" y="509321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E6F7FF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rcRect l="-685" r="-685"/>
          <a:stretch>
            <a:fillRect/>
          </a:stretch>
        </p:blipFill>
        <p:spPr>
          <a:xfrm>
            <a:off x="705002" y="662026"/>
            <a:ext cx="304495" cy="267005"/>
          </a:xfrm>
          <a:prstGeom prst="rect">
            <a:avLst/>
          </a:prstGeom>
        </p:spPr>
      </p:pic>
      <p:sp>
        <p:nvSpPr>
          <p:cNvPr id="8" name="Shape 5"/>
          <p:cNvSpPr/>
          <p:nvPr>
            <p:custDataLst>
              <p:tags r:id="rId2"/>
            </p:custDataLst>
          </p:nvPr>
        </p:nvSpPr>
        <p:spPr>
          <a:xfrm>
            <a:off x="571500" y="1695450"/>
            <a:ext cx="11049635" cy="4033520"/>
          </a:xfrm>
          <a:prstGeom prst="roundRect">
            <a:avLst>
              <a:gd name="adj" fmla="val 2699"/>
            </a:avLst>
          </a:prstGeom>
          <a:solidFill>
            <a:srgbClr val="FFFFFF"/>
          </a:solidFill>
          <a:effectLst>
            <a:outerShdw blurRad="1397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p>
            <a:pPr marL="342900" indent="-342900">
              <a:buFont typeface="+mj-lt"/>
              <a:buAutoNum type="arabicPeriod"/>
            </a:pPr>
            <a:r>
              <a:rPr lang="" altLang="fr-CA" sz="2800">
                <a:latin typeface="Tw Cen MT" panose="020B0602020104020603" charset="0"/>
                <a:cs typeface="Tw Cen MT" panose="020B0602020104020603" charset="0"/>
              </a:rPr>
              <a:t>Rattrapage en routine</a:t>
            </a:r>
            <a:endParaRPr lang="" altLang="fr-CA" sz="2800">
              <a:latin typeface="Tw Cen MT" panose="020B0602020104020603" charset="0"/>
              <a:cs typeface="Tw Cen MT" panose="020B0602020104020603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" altLang="fr-CA" sz="2800">
                <a:latin typeface="Tw Cen MT" panose="020B0602020104020603" charset="0"/>
                <a:cs typeface="Tw Cen MT" panose="020B0602020104020603" charset="0"/>
              </a:rPr>
              <a:t>Intégration des stratégies</a:t>
            </a:r>
            <a:endParaRPr lang="" altLang="fr-CA" sz="2800">
              <a:latin typeface="Tw Cen MT" panose="020B0602020104020603" charset="0"/>
              <a:cs typeface="Tw Cen MT" panose="020B0602020104020603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" altLang="fr-CA" sz="2800">
                <a:latin typeface="Tw Cen MT" panose="020B0602020104020603" charset="0"/>
                <a:cs typeface="Tw Cen MT" panose="020B0602020104020603" charset="0"/>
              </a:rPr>
              <a:t>Introduction des nouveaux vaccins</a:t>
            </a:r>
            <a:endParaRPr lang="" altLang="fr-CA" sz="2800">
              <a:latin typeface="Tw Cen MT" panose="020B0602020104020603" charset="0"/>
              <a:cs typeface="Tw Cen MT" panose="020B0602020104020603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" altLang="fr-CA" sz="2800">
                <a:latin typeface="Tw Cen MT" panose="020B0602020104020603" charset="0"/>
                <a:cs typeface="Tw Cen MT" panose="020B0602020104020603" charset="0"/>
              </a:rPr>
              <a:t>Opérationnalisation des hubs (Lubumbashi et Kisangani)</a:t>
            </a:r>
            <a:endParaRPr lang="" altLang="fr-CA" sz="2800">
              <a:latin typeface="Tw Cen MT" panose="020B0602020104020603" charset="0"/>
              <a:cs typeface="Tw Cen MT" panose="020B0602020104020603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" altLang="fr-CA" sz="2800">
                <a:latin typeface="Tw Cen MT" panose="020B0602020104020603" charset="0"/>
                <a:cs typeface="Tw Cen MT" panose="020B0602020104020603" charset="0"/>
              </a:rPr>
              <a:t>Microplanifacation à la base</a:t>
            </a:r>
            <a:endParaRPr lang="" altLang="fr-CA" sz="2800">
              <a:latin typeface="Tw Cen MT" panose="020B0602020104020603" charset="0"/>
              <a:cs typeface="Tw Cen MT" panose="020B0602020104020603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" altLang="fr-CA" sz="2800">
                <a:latin typeface="Tw Cen MT" panose="020B0602020104020603" charset="0"/>
                <a:cs typeface="Tw Cen MT" panose="020B0602020104020603" charset="0"/>
              </a:rPr>
              <a:t>Interruption de la circulation de VDPV</a:t>
            </a:r>
            <a:endParaRPr lang="" altLang="fr-CA" sz="2800">
              <a:latin typeface="Tw Cen MT" panose="020B0602020104020603" charset="0"/>
              <a:cs typeface="Tw Cen MT" panose="020B0602020104020603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" altLang="fr-CA" sz="2800">
                <a:latin typeface="Tw Cen MT" panose="020B0602020104020603" charset="0"/>
                <a:cs typeface="Tw Cen MT" panose="020B0602020104020603" charset="0"/>
              </a:rPr>
              <a:t>Organisation des Enquetes de couverture vaccinale</a:t>
            </a:r>
            <a:endParaRPr lang="" altLang="fr-CA" sz="2800">
              <a:latin typeface="Tw Cen MT" panose="020B0602020104020603" charset="0"/>
              <a:cs typeface="Tw Cen MT" panose="020B0602020104020603" charset="0"/>
            </a:endParaRPr>
          </a:p>
        </p:txBody>
      </p:sp>
      <p:sp>
        <p:nvSpPr>
          <p:cNvPr id="24" name="Text 17"/>
          <p:cNvSpPr txBox="1"/>
          <p:nvPr/>
        </p:nvSpPr>
        <p:spPr>
          <a:xfrm>
            <a:off x="1380744" y="543154"/>
            <a:ext cx="4691786" cy="495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" altLang="en-US" sz="3100" b="1" dirty="0">
                <a:solidFill>
                  <a:srgbClr val="003366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Actions prioritaires</a:t>
            </a:r>
            <a:r>
              <a:rPr lang="en-US" altLang="en-US" sz="3100" b="1" dirty="0">
                <a:solidFill>
                  <a:srgbClr val="003366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 </a:t>
            </a:r>
            <a:r>
              <a:rPr lang="en-US" sz="3100" b="1" dirty="0">
                <a:solidFill>
                  <a:srgbClr val="003366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2026</a:t>
            </a:r>
            <a:endParaRPr lang="en-US" sz="3100" b="1" dirty="0">
              <a:solidFill>
                <a:srgbClr val="003366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33" name="Shape 2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366"/>
          </a:solidFill>
        </p:spPr>
      </p:sp>
      <p:sp>
        <p:nvSpPr>
          <p:cNvPr id="34" name="Text 27"/>
          <p:cNvSpPr txBox="1"/>
          <p:nvPr/>
        </p:nvSpPr>
        <p:spPr>
          <a:xfrm>
            <a:off x="381305" y="6667805"/>
            <a:ext cx="209580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Prochaines Étapes </a:t>
            </a:r>
            <a:r>
              <a:rPr lang="en-US" sz="900" dirty="0">
                <a:solidFill>
                  <a:srgbClr val="FFFFFF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Prioritaires 2026</a:t>
            </a:r>
            <a:endParaRPr lang="en-US" sz="900" dirty="0">
              <a:latin typeface="Tw Cen MT" panose="020B0602020104020603" charset="0"/>
              <a:cs typeface="Tw Cen MT" panose="020B0602020104020603" charset="0"/>
            </a:endParaRPr>
          </a:p>
        </p:txBody>
      </p:sp>
      <p:sp>
        <p:nvSpPr>
          <p:cNvPr id="35" name="Text 28"/>
          <p:cNvSpPr txBox="1"/>
          <p:nvPr/>
        </p:nvSpPr>
        <p:spPr>
          <a:xfrm>
            <a:off x="11420856" y="6667805"/>
            <a:ext cx="47640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Page 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99CC"/>
          </a:solidFill>
        </p:spPr>
      </p:sp>
      <p:sp>
        <p:nvSpPr>
          <p:cNvPr id="5" name="Shape 3"/>
          <p:cNvSpPr/>
          <p:nvPr/>
        </p:nvSpPr>
        <p:spPr>
          <a:xfrm>
            <a:off x="571500" y="495605"/>
            <a:ext cx="1200607" cy="448056"/>
          </a:xfrm>
          <a:prstGeom prst="roundRect">
            <a:avLst>
              <a:gd name="adj" fmla="val 34737"/>
            </a:avLst>
          </a:prstGeom>
          <a:solidFill>
            <a:srgbClr val="003366"/>
          </a:solidFill>
        </p:spPr>
      </p:sp>
      <p:sp>
        <p:nvSpPr>
          <p:cNvPr id="6" name="Shape 4"/>
          <p:cNvSpPr/>
          <p:nvPr/>
        </p:nvSpPr>
        <p:spPr>
          <a:xfrm>
            <a:off x="571500" y="1133856"/>
            <a:ext cx="3486607" cy="5152644"/>
          </a:xfrm>
          <a:prstGeom prst="roundRect">
            <a:avLst>
              <a:gd name="adj" fmla="val 1433"/>
            </a:avLst>
          </a:prstGeom>
          <a:solidFill>
            <a:srgbClr val="E6F7FF"/>
          </a:solidFill>
          <a:ln w="25400">
            <a:solidFill>
              <a:srgbClr val="B3E0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837944" y="2852014"/>
            <a:ext cx="952805" cy="9528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076602" y="4529938"/>
            <a:ext cx="476402" cy="38405"/>
          </a:xfrm>
          <a:prstGeom prst="roundRect">
            <a:avLst>
              <a:gd name="adj" fmla="val 1190470"/>
            </a:avLst>
          </a:prstGeom>
          <a:solidFill>
            <a:srgbClr val="0099CC"/>
          </a:solidFill>
        </p:spPr>
      </p:sp>
      <p:sp>
        <p:nvSpPr>
          <p:cNvPr id="9" name="Shape 6"/>
          <p:cNvSpPr/>
          <p:nvPr/>
        </p:nvSpPr>
        <p:spPr>
          <a:xfrm>
            <a:off x="4438498" y="495605"/>
            <a:ext cx="7181698" cy="5982005"/>
          </a:xfrm>
          <a:prstGeom prst="roundRect">
            <a:avLst>
              <a:gd name="adj" fmla="val 365"/>
            </a:avLst>
          </a:prstGeom>
          <a:solidFill>
            <a:srgbClr val="FFFFFF"/>
          </a:solidFill>
          <a:effectLst>
            <a:outerShdw blurRad="1905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38498" y="495605"/>
            <a:ext cx="75895" cy="5982005"/>
          </a:xfrm>
          <a:prstGeom prst="rect">
            <a:avLst/>
          </a:prstGeom>
          <a:solidFill>
            <a:srgbClr val="28A745"/>
          </a:solidFill>
        </p:spPr>
      </p:sp>
      <p:sp>
        <p:nvSpPr>
          <p:cNvPr id="11" name="Shape 8"/>
          <p:cNvSpPr/>
          <p:nvPr/>
        </p:nvSpPr>
        <p:spPr>
          <a:xfrm>
            <a:off x="4848149" y="1475842"/>
            <a:ext cx="6439205" cy="19202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12" name="Shape 9"/>
          <p:cNvSpPr/>
          <p:nvPr/>
        </p:nvSpPr>
        <p:spPr>
          <a:xfrm>
            <a:off x="4848149" y="1781251"/>
            <a:ext cx="381305" cy="381305"/>
          </a:xfrm>
          <a:prstGeom prst="ellipse">
            <a:avLst/>
          </a:prstGeom>
          <a:solidFill>
            <a:srgbClr val="F0FFF4"/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953305" y="1902917"/>
            <a:ext cx="171907" cy="17190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848149" y="3172282"/>
            <a:ext cx="381305" cy="381305"/>
          </a:xfrm>
          <a:prstGeom prst="ellipse">
            <a:avLst/>
          </a:prstGeom>
          <a:solidFill>
            <a:srgbClr val="F0FFF4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953305" y="3285414"/>
            <a:ext cx="171907" cy="171907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848149" y="5807405"/>
            <a:ext cx="1476756" cy="352044"/>
          </a:xfrm>
          <a:prstGeom prst="roundRect">
            <a:avLst>
              <a:gd name="adj" fmla="val 42120"/>
            </a:avLst>
          </a:prstGeom>
          <a:solidFill>
            <a:srgbClr val="FFF5F5"/>
          </a:solidFill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rcRect t="-1100" b="-1100"/>
          <a:stretch>
            <a:fillRect/>
          </a:stretch>
        </p:blipFill>
        <p:spPr>
          <a:xfrm>
            <a:off x="5000854" y="5900623"/>
            <a:ext cx="114300" cy="13350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114925" y="5875655"/>
            <a:ext cx="115760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5303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Période: T1 2026</a:t>
            </a:r>
            <a:endParaRPr lang="en-US" sz="1200" b="1" dirty="0">
              <a:solidFill>
                <a:srgbClr val="C53030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6467551" y="5790895"/>
            <a:ext cx="2180844" cy="352044"/>
          </a:xfrm>
          <a:prstGeom prst="roundRect">
            <a:avLst>
              <a:gd name="adj" fmla="val 42120"/>
            </a:avLst>
          </a:prstGeom>
          <a:solidFill>
            <a:srgbClr val="EBF8FF"/>
          </a:solidFill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rcRect t="-1100" b="-1100"/>
          <a:stretch>
            <a:fillRect/>
          </a:stretch>
        </p:blipFill>
        <p:spPr>
          <a:xfrm>
            <a:off x="6620256" y="5900623"/>
            <a:ext cx="114300" cy="13350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734810" y="5741035"/>
            <a:ext cx="1862455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6CB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Resp: PEV Central, DPS, ECZ</a:t>
            </a:r>
            <a:endParaRPr lang="en-US" sz="1200" b="1" dirty="0">
              <a:solidFill>
                <a:srgbClr val="2B6CB0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2" name="Text 15"/>
          <p:cNvSpPr txBox="1"/>
          <p:nvPr/>
        </p:nvSpPr>
        <p:spPr>
          <a:xfrm>
            <a:off x="761695" y="609905"/>
            <a:ext cx="948233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ÉTAPE 01</a:t>
            </a:r>
            <a:endParaRPr lang="en-US" sz="1300" b="1" dirty="0">
              <a:solidFill>
                <a:srgbClr val="FFFFFF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23" name="Text 16"/>
          <p:cNvSpPr txBox="1"/>
          <p:nvPr/>
        </p:nvSpPr>
        <p:spPr>
          <a:xfrm>
            <a:off x="1164946" y="4115765"/>
            <a:ext cx="2477110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" altLang="en-US" sz="2000" b="1" dirty="0">
                <a:solidFill>
                  <a:srgbClr val="003366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Rattrapage</a:t>
            </a:r>
            <a:r>
              <a:rPr lang="en-US" sz="2000" b="1" dirty="0">
                <a:solidFill>
                  <a:srgbClr val="003366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 </a:t>
            </a:r>
            <a:r>
              <a:rPr lang="" altLang="en-US" sz="2000" b="1" dirty="0">
                <a:solidFill>
                  <a:srgbClr val="003366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(</a:t>
            </a:r>
            <a:r>
              <a:rPr lang="en-US" sz="2000" b="1" dirty="0">
                <a:solidFill>
                  <a:srgbClr val="003366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IPVS</a:t>
            </a:r>
            <a:r>
              <a:rPr lang="" altLang="en-US" sz="2000" b="1" dirty="0">
                <a:solidFill>
                  <a:srgbClr val="003366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)</a:t>
            </a:r>
            <a:endParaRPr lang="" altLang="en-US" sz="2000" b="1" dirty="0">
              <a:solidFill>
                <a:srgbClr val="003366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24" name="Text 17"/>
          <p:cNvSpPr txBox="1"/>
          <p:nvPr/>
        </p:nvSpPr>
        <p:spPr>
          <a:xfrm>
            <a:off x="4848149" y="883361"/>
            <a:ext cx="3943807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D3748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Extension des Activités</a:t>
            </a:r>
            <a:endParaRPr lang="en-US" sz="2800" b="1" dirty="0">
              <a:solidFill>
                <a:srgbClr val="2D3748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25" name="Text 18"/>
          <p:cNvSpPr txBox="1"/>
          <p:nvPr/>
        </p:nvSpPr>
        <p:spPr>
          <a:xfrm>
            <a:off x="5419725" y="1617345"/>
            <a:ext cx="2828290" cy="370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18096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PROCHAINE ÉTAPE 2026</a:t>
            </a:r>
            <a:endParaRPr lang="en-US" sz="1600" b="1" dirty="0">
              <a:solidFill>
                <a:srgbClr val="718096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6" name="Text 19"/>
          <p:cNvSpPr txBox="1"/>
          <p:nvPr/>
        </p:nvSpPr>
        <p:spPr>
          <a:xfrm>
            <a:off x="5419649" y="2045564"/>
            <a:ext cx="5715000" cy="5239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Extension du délai (ratissage) des IPVS dans les Zones de Santé ayant déjà organisé les trois passages.</a:t>
            </a:r>
            <a:endParaRPr lang="en-US" sz="2000" dirty="0">
              <a:solidFill>
                <a:srgbClr val="2D374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7" name="Text 20"/>
          <p:cNvSpPr txBox="1"/>
          <p:nvPr/>
        </p:nvSpPr>
        <p:spPr>
          <a:xfrm>
            <a:off x="5419725" y="3119755"/>
            <a:ext cx="2334895" cy="300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18096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RÉSULTAT ATTENDU</a:t>
            </a:r>
            <a:endParaRPr lang="en-US" sz="1600" b="1" dirty="0">
              <a:solidFill>
                <a:srgbClr val="718096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8" name="Text 21"/>
          <p:cNvSpPr txBox="1"/>
          <p:nvPr/>
        </p:nvSpPr>
        <p:spPr>
          <a:xfrm>
            <a:off x="5419649" y="3476955"/>
            <a:ext cx="5982005" cy="5239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Augmentation significative de la couverture vaccinale et réduction du nombre d'enfants zéro-dose</a:t>
            </a:r>
            <a:r>
              <a:rPr lang="" altLang="en-US" sz="2000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 et sous vaccinés</a:t>
            </a:r>
            <a:r>
              <a:rPr lang="en-US" sz="2000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.</a:t>
            </a:r>
            <a:endParaRPr lang="en-US" sz="2000" dirty="0">
              <a:solidFill>
                <a:srgbClr val="2D374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9809963" y="4393082"/>
            <a:ext cx="1904695" cy="1904695"/>
          </a:xfrm>
          <a:prstGeom prst="ellipse">
            <a:avLst/>
          </a:prstGeom>
          <a:solidFill>
            <a:srgbClr val="28A745">
              <a:alpha val="5000"/>
            </a:srgbClr>
          </a:solidFill>
        </p:spPr>
      </p:sp>
      <p:sp>
        <p:nvSpPr>
          <p:cNvPr id="30" name="Shape 2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366"/>
          </a:solidFill>
        </p:spPr>
      </p:sp>
      <p:sp>
        <p:nvSpPr>
          <p:cNvPr id="31" name="Text 24"/>
          <p:cNvSpPr txBox="1"/>
          <p:nvPr/>
        </p:nvSpPr>
        <p:spPr>
          <a:xfrm>
            <a:off x="381305" y="6667805"/>
            <a:ext cx="209580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Prochaines Étapes Prioritaires 2026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11421770" y="6667805"/>
            <a:ext cx="47640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Page 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99CC"/>
          </a:solidFill>
        </p:spPr>
      </p:sp>
      <p:sp>
        <p:nvSpPr>
          <p:cNvPr id="5" name="Shape 3"/>
          <p:cNvSpPr/>
          <p:nvPr/>
        </p:nvSpPr>
        <p:spPr>
          <a:xfrm>
            <a:off x="571500" y="495605"/>
            <a:ext cx="1238098" cy="448056"/>
          </a:xfrm>
          <a:prstGeom prst="roundRect">
            <a:avLst>
              <a:gd name="adj" fmla="val 34737"/>
            </a:avLst>
          </a:prstGeom>
          <a:solidFill>
            <a:srgbClr val="003366"/>
          </a:solidFill>
        </p:spPr>
      </p:sp>
      <p:sp>
        <p:nvSpPr>
          <p:cNvPr id="6" name="Shape 4"/>
          <p:cNvSpPr/>
          <p:nvPr/>
        </p:nvSpPr>
        <p:spPr>
          <a:xfrm>
            <a:off x="571500" y="1133856"/>
            <a:ext cx="3486607" cy="5152644"/>
          </a:xfrm>
          <a:prstGeom prst="roundRect">
            <a:avLst>
              <a:gd name="adj" fmla="val 1433"/>
            </a:avLst>
          </a:prstGeom>
          <a:solidFill>
            <a:srgbClr val="E6F7FF"/>
          </a:solidFill>
          <a:ln w="25400">
            <a:solidFill>
              <a:srgbClr val="B3E0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838579" y="2229256"/>
            <a:ext cx="952805" cy="9528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076602" y="4678985"/>
            <a:ext cx="476402" cy="38405"/>
          </a:xfrm>
          <a:prstGeom prst="roundRect">
            <a:avLst>
              <a:gd name="adj" fmla="val 1190470"/>
            </a:avLst>
          </a:prstGeom>
          <a:solidFill>
            <a:srgbClr val="0099CC"/>
          </a:solidFill>
        </p:spPr>
      </p:sp>
      <p:sp>
        <p:nvSpPr>
          <p:cNvPr id="9" name="Shape 6"/>
          <p:cNvSpPr/>
          <p:nvPr/>
        </p:nvSpPr>
        <p:spPr>
          <a:xfrm>
            <a:off x="4438498" y="876605"/>
            <a:ext cx="7181698" cy="5982005"/>
          </a:xfrm>
          <a:prstGeom prst="roundRect">
            <a:avLst>
              <a:gd name="adj" fmla="val 365"/>
            </a:avLst>
          </a:prstGeom>
          <a:solidFill>
            <a:srgbClr val="FFFFFF"/>
          </a:solidFill>
          <a:effectLst>
            <a:outerShdw blurRad="1905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38498" y="495605"/>
            <a:ext cx="75895" cy="5982005"/>
          </a:xfrm>
          <a:prstGeom prst="rect">
            <a:avLst/>
          </a:prstGeom>
          <a:solidFill>
            <a:srgbClr val="28A745"/>
          </a:solidFill>
        </p:spPr>
      </p:sp>
      <p:sp>
        <p:nvSpPr>
          <p:cNvPr id="11" name="Shape 8"/>
          <p:cNvSpPr/>
          <p:nvPr/>
        </p:nvSpPr>
        <p:spPr>
          <a:xfrm>
            <a:off x="4848149" y="1475842"/>
            <a:ext cx="6439205" cy="19202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12" name="Shape 9"/>
          <p:cNvSpPr/>
          <p:nvPr/>
        </p:nvSpPr>
        <p:spPr>
          <a:xfrm>
            <a:off x="4848149" y="1781251"/>
            <a:ext cx="381305" cy="381305"/>
          </a:xfrm>
          <a:prstGeom prst="ellipse">
            <a:avLst/>
          </a:prstGeom>
          <a:solidFill>
            <a:srgbClr val="F0FFF4"/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953305" y="1886407"/>
            <a:ext cx="171907" cy="17190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848149" y="3288487"/>
            <a:ext cx="381305" cy="381305"/>
          </a:xfrm>
          <a:prstGeom prst="ellipse">
            <a:avLst/>
          </a:prstGeom>
          <a:solidFill>
            <a:srgbClr val="F0FFF4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953305" y="3383839"/>
            <a:ext cx="171907" cy="171907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848149" y="5790895"/>
            <a:ext cx="1676095" cy="352044"/>
          </a:xfrm>
          <a:prstGeom prst="roundRect">
            <a:avLst>
              <a:gd name="adj" fmla="val 42120"/>
            </a:avLst>
          </a:prstGeom>
          <a:solidFill>
            <a:srgbClr val="FFF5F5"/>
          </a:solidFill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rcRect t="-1100" b="-1100"/>
          <a:stretch>
            <a:fillRect/>
          </a:stretch>
        </p:blipFill>
        <p:spPr>
          <a:xfrm>
            <a:off x="5000854" y="5900623"/>
            <a:ext cx="114300" cy="13350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115154" y="5867705"/>
            <a:ext cx="1357884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5303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Période: T1-T2 2026</a:t>
            </a:r>
            <a:endParaRPr lang="en-US" sz="1200" b="1" dirty="0">
              <a:solidFill>
                <a:srgbClr val="C53030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6662318" y="5790895"/>
            <a:ext cx="2180844" cy="352044"/>
          </a:xfrm>
          <a:prstGeom prst="roundRect">
            <a:avLst>
              <a:gd name="adj" fmla="val 42120"/>
            </a:avLst>
          </a:prstGeom>
          <a:solidFill>
            <a:srgbClr val="EBF8FF"/>
          </a:solidFill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rcRect t="-1100" b="-1100"/>
          <a:stretch>
            <a:fillRect/>
          </a:stretch>
        </p:blipFill>
        <p:spPr>
          <a:xfrm>
            <a:off x="6814109" y="5900623"/>
            <a:ext cx="114300" cy="13350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928409" y="5867705"/>
            <a:ext cx="1862633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6CB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Resp: PEV, DPS, Partenaires</a:t>
            </a:r>
            <a:endParaRPr lang="en-US" sz="1200" b="1" dirty="0">
              <a:solidFill>
                <a:srgbClr val="2B6CB0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2" name="Text 15"/>
          <p:cNvSpPr txBox="1"/>
          <p:nvPr/>
        </p:nvSpPr>
        <p:spPr>
          <a:xfrm>
            <a:off x="761695" y="609905"/>
            <a:ext cx="98663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ÉTAPE 02</a:t>
            </a:r>
            <a:endParaRPr lang="en-US" sz="1400" b="1" dirty="0">
              <a:solidFill>
                <a:srgbClr val="FFFFFF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23" name="Text 16"/>
          <p:cNvSpPr txBox="1"/>
          <p:nvPr/>
        </p:nvSpPr>
        <p:spPr>
          <a:xfrm>
            <a:off x="956310" y="3342640"/>
            <a:ext cx="2809240" cy="1308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3366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Intégration des Stratégies</a:t>
            </a:r>
            <a:r>
              <a:rPr lang="" altLang="en-US" sz="2000" b="1" dirty="0">
                <a:solidFill>
                  <a:srgbClr val="003366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 (Campagne de rattrapage RR et Campagne polio)</a:t>
            </a:r>
            <a:endParaRPr lang="" altLang="en-US" sz="2000" b="1" dirty="0">
              <a:solidFill>
                <a:srgbClr val="003366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24" name="Text 17"/>
          <p:cNvSpPr txBox="1"/>
          <p:nvPr/>
        </p:nvSpPr>
        <p:spPr>
          <a:xfrm>
            <a:off x="4848149" y="866851"/>
            <a:ext cx="4476902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D3748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Introduction du RR &amp; Polio</a:t>
            </a:r>
            <a:endParaRPr lang="en-US" sz="2800" b="1" dirty="0">
              <a:solidFill>
                <a:srgbClr val="2D3748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25" name="Text 18"/>
          <p:cNvSpPr txBox="1"/>
          <p:nvPr/>
        </p:nvSpPr>
        <p:spPr>
          <a:xfrm>
            <a:off x="5419725" y="1499235"/>
            <a:ext cx="2342515" cy="472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18096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PROCHAINE ÉTAPE 2026</a:t>
            </a:r>
            <a:endParaRPr lang="en-US" sz="1600" b="1" dirty="0">
              <a:solidFill>
                <a:srgbClr val="718096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6" name="Text 19"/>
          <p:cNvSpPr txBox="1"/>
          <p:nvPr/>
        </p:nvSpPr>
        <p:spPr>
          <a:xfrm>
            <a:off x="5419725" y="2163445"/>
            <a:ext cx="5638800" cy="5600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Introduction du vaccin RR dans les blocs 2 et 3 avec intégration avec la Polio.</a:t>
            </a:r>
            <a:endParaRPr lang="en-US" sz="2000" dirty="0">
              <a:solidFill>
                <a:srgbClr val="2D374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7" name="Text 20"/>
          <p:cNvSpPr txBox="1"/>
          <p:nvPr/>
        </p:nvSpPr>
        <p:spPr>
          <a:xfrm>
            <a:off x="5419725" y="3181350"/>
            <a:ext cx="2486025" cy="2882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18096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RÉSULTAT ATTENDU</a:t>
            </a:r>
            <a:endParaRPr lang="en-US" sz="1600" b="1" dirty="0">
              <a:solidFill>
                <a:srgbClr val="718096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8" name="Text 21"/>
          <p:cNvSpPr txBox="1"/>
          <p:nvPr/>
        </p:nvSpPr>
        <p:spPr>
          <a:xfrm>
            <a:off x="5419725" y="3526790"/>
            <a:ext cx="5639435" cy="949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Amélioration de l'efficacité des interventions intégrées (couverture et coût-efficacité)</a:t>
            </a:r>
            <a:r>
              <a:rPr lang="" altLang="en-US" sz="2000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 et atteinte des cibles</a:t>
            </a:r>
            <a:r>
              <a:rPr lang="en-US" sz="2000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.</a:t>
            </a:r>
            <a:endParaRPr lang="en-US" sz="2000" dirty="0">
              <a:solidFill>
                <a:srgbClr val="2D374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9810598" y="4476902"/>
            <a:ext cx="1904695" cy="1904695"/>
          </a:xfrm>
          <a:prstGeom prst="ellipse">
            <a:avLst/>
          </a:prstGeom>
          <a:solidFill>
            <a:srgbClr val="28A745">
              <a:alpha val="5000"/>
            </a:srgbClr>
          </a:solidFill>
        </p:spPr>
      </p:sp>
      <p:sp>
        <p:nvSpPr>
          <p:cNvPr id="30" name="Shape 2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366"/>
          </a:solidFill>
        </p:spPr>
      </p:sp>
      <p:sp>
        <p:nvSpPr>
          <p:cNvPr id="31" name="Text 24"/>
          <p:cNvSpPr txBox="1"/>
          <p:nvPr/>
        </p:nvSpPr>
        <p:spPr>
          <a:xfrm>
            <a:off x="381305" y="6667805"/>
            <a:ext cx="209580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Prochaines Étapes Prioritaires 2026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11410798" y="6667805"/>
            <a:ext cx="49560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Page 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99CC"/>
          </a:solidFill>
        </p:spPr>
      </p:sp>
      <p:sp>
        <p:nvSpPr>
          <p:cNvPr id="5" name="Shape 3"/>
          <p:cNvSpPr/>
          <p:nvPr/>
        </p:nvSpPr>
        <p:spPr>
          <a:xfrm>
            <a:off x="571500" y="495605"/>
            <a:ext cx="1238098" cy="448056"/>
          </a:xfrm>
          <a:prstGeom prst="roundRect">
            <a:avLst>
              <a:gd name="adj" fmla="val 34737"/>
            </a:avLst>
          </a:prstGeom>
          <a:solidFill>
            <a:srgbClr val="003366"/>
          </a:solidFill>
        </p:spPr>
      </p:sp>
      <p:sp>
        <p:nvSpPr>
          <p:cNvPr id="6" name="Shape 4"/>
          <p:cNvSpPr/>
          <p:nvPr/>
        </p:nvSpPr>
        <p:spPr>
          <a:xfrm>
            <a:off x="571500" y="1133856"/>
            <a:ext cx="3486607" cy="5152644"/>
          </a:xfrm>
          <a:prstGeom prst="roundRect">
            <a:avLst>
              <a:gd name="adj" fmla="val 1433"/>
            </a:avLst>
          </a:prstGeom>
          <a:solidFill>
            <a:srgbClr val="E6F7FF"/>
          </a:solidFill>
          <a:ln w="25400">
            <a:solidFill>
              <a:srgbClr val="B3E0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837944" y="2702966"/>
            <a:ext cx="952805" cy="9528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076602" y="4678985"/>
            <a:ext cx="476402" cy="38405"/>
          </a:xfrm>
          <a:prstGeom prst="roundRect">
            <a:avLst>
              <a:gd name="adj" fmla="val 1190470"/>
            </a:avLst>
          </a:prstGeom>
          <a:solidFill>
            <a:srgbClr val="0099CC"/>
          </a:solidFill>
        </p:spPr>
      </p:sp>
      <p:sp>
        <p:nvSpPr>
          <p:cNvPr id="9" name="Shape 6"/>
          <p:cNvSpPr/>
          <p:nvPr/>
        </p:nvSpPr>
        <p:spPr>
          <a:xfrm>
            <a:off x="4239108" y="609905"/>
            <a:ext cx="7181698" cy="5982005"/>
          </a:xfrm>
          <a:prstGeom prst="roundRect">
            <a:avLst>
              <a:gd name="adj" fmla="val 365"/>
            </a:avLst>
          </a:prstGeom>
          <a:solidFill>
            <a:srgbClr val="FFFFFF"/>
          </a:solidFill>
          <a:effectLst>
            <a:outerShdw blurRad="1905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38498" y="495605"/>
            <a:ext cx="75895" cy="5982005"/>
          </a:xfrm>
          <a:prstGeom prst="rect">
            <a:avLst/>
          </a:prstGeom>
          <a:solidFill>
            <a:srgbClr val="28A745"/>
          </a:solidFill>
        </p:spPr>
      </p:sp>
      <p:sp>
        <p:nvSpPr>
          <p:cNvPr id="11" name="Shape 8"/>
          <p:cNvSpPr/>
          <p:nvPr/>
        </p:nvSpPr>
        <p:spPr>
          <a:xfrm>
            <a:off x="4848149" y="1475842"/>
            <a:ext cx="6439205" cy="19202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12" name="Shape 9"/>
          <p:cNvSpPr/>
          <p:nvPr/>
        </p:nvSpPr>
        <p:spPr>
          <a:xfrm>
            <a:off x="4848149" y="1781251"/>
            <a:ext cx="381305" cy="381305"/>
          </a:xfrm>
          <a:prstGeom prst="ellipse">
            <a:avLst/>
          </a:prstGeom>
          <a:solidFill>
            <a:srgbClr val="F0FFF4"/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953305" y="1886407"/>
            <a:ext cx="171907" cy="17190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848149" y="3370402"/>
            <a:ext cx="381305" cy="381305"/>
          </a:xfrm>
          <a:prstGeom prst="ellipse">
            <a:avLst/>
          </a:prstGeom>
          <a:solidFill>
            <a:srgbClr val="F0FFF4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953305" y="3474644"/>
            <a:ext cx="171907" cy="171907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848149" y="5790895"/>
            <a:ext cx="1695298" cy="352044"/>
          </a:xfrm>
          <a:prstGeom prst="roundRect">
            <a:avLst>
              <a:gd name="adj" fmla="val 42120"/>
            </a:avLst>
          </a:prstGeom>
          <a:solidFill>
            <a:srgbClr val="FFF5F5"/>
          </a:solidFill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rcRect t="-1100" b="-1100"/>
          <a:stretch>
            <a:fillRect/>
          </a:stretch>
        </p:blipFill>
        <p:spPr>
          <a:xfrm>
            <a:off x="5000854" y="5900623"/>
            <a:ext cx="114300" cy="13350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114925" y="5882640"/>
            <a:ext cx="1377315" cy="184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5303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Période: T</a:t>
            </a:r>
            <a:r>
              <a:rPr lang="" altLang="en-US" sz="1200" b="1" dirty="0">
                <a:solidFill>
                  <a:srgbClr val="C5303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1</a:t>
            </a:r>
            <a:r>
              <a:rPr lang="en-US" sz="1200" b="1" dirty="0">
                <a:solidFill>
                  <a:srgbClr val="C5303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–T</a:t>
            </a:r>
            <a:r>
              <a:rPr lang="" altLang="en-US" sz="1200" b="1" dirty="0">
                <a:solidFill>
                  <a:srgbClr val="C5303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2</a:t>
            </a:r>
            <a:r>
              <a:rPr lang="en-US" sz="1200" b="1" dirty="0">
                <a:solidFill>
                  <a:srgbClr val="C5303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 2026</a:t>
            </a:r>
            <a:endParaRPr lang="en-US" sz="1200" b="1" dirty="0">
              <a:solidFill>
                <a:srgbClr val="C53030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6686093" y="5790895"/>
            <a:ext cx="1676095" cy="352044"/>
          </a:xfrm>
          <a:prstGeom prst="roundRect">
            <a:avLst>
              <a:gd name="adj" fmla="val 42120"/>
            </a:avLst>
          </a:prstGeom>
          <a:solidFill>
            <a:srgbClr val="EBF8FF"/>
          </a:solidFill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rcRect t="-1100" b="-1100"/>
          <a:stretch>
            <a:fillRect/>
          </a:stretch>
        </p:blipFill>
        <p:spPr>
          <a:xfrm>
            <a:off x="6837883" y="5900623"/>
            <a:ext cx="114300" cy="13350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952183" y="5867705"/>
            <a:ext cx="1357884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6CB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Resp: PEV, DPS, ECZ</a:t>
            </a:r>
            <a:endParaRPr lang="en-US" sz="1200" b="1" dirty="0">
              <a:solidFill>
                <a:srgbClr val="2B6CB0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2" name="Text 15"/>
          <p:cNvSpPr txBox="1"/>
          <p:nvPr/>
        </p:nvSpPr>
        <p:spPr>
          <a:xfrm>
            <a:off x="761695" y="609905"/>
            <a:ext cx="98663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ÉTAPE 03</a:t>
            </a:r>
            <a:endParaRPr lang="en-US" sz="1300" b="1" dirty="0">
              <a:solidFill>
                <a:srgbClr val="FFFFFF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23" name="Text 16"/>
          <p:cNvSpPr txBox="1"/>
          <p:nvPr/>
        </p:nvSpPr>
        <p:spPr>
          <a:xfrm>
            <a:off x="951890" y="3951122"/>
            <a:ext cx="2905963" cy="5815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3366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Introduction Nouveaux Vaccins</a:t>
            </a:r>
            <a:endParaRPr lang="en-US" sz="2800" b="1" dirty="0">
              <a:solidFill>
                <a:srgbClr val="003366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24" name="Text 17"/>
          <p:cNvSpPr txBox="1"/>
          <p:nvPr/>
        </p:nvSpPr>
        <p:spPr>
          <a:xfrm>
            <a:off x="4848225" y="691515"/>
            <a:ext cx="5497195" cy="5473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D3748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Extension de la VAP</a:t>
            </a:r>
            <a:endParaRPr lang="en-US" sz="3600" b="1" dirty="0">
              <a:solidFill>
                <a:srgbClr val="2D3748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25" name="Text 18"/>
          <p:cNvSpPr txBox="1"/>
          <p:nvPr/>
        </p:nvSpPr>
        <p:spPr>
          <a:xfrm>
            <a:off x="5419725" y="1541145"/>
            <a:ext cx="2880360" cy="430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18096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PROCHAINE ÉTAPE 2026</a:t>
            </a:r>
            <a:endParaRPr lang="en-US" sz="1600" b="1" dirty="0">
              <a:solidFill>
                <a:srgbClr val="718096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6" name="Text 19"/>
          <p:cNvSpPr txBox="1"/>
          <p:nvPr/>
        </p:nvSpPr>
        <p:spPr>
          <a:xfrm>
            <a:off x="5419649" y="2029054"/>
            <a:ext cx="5639105" cy="5239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Extension de la VAP</a:t>
            </a:r>
            <a:r>
              <a:rPr lang="" altLang="en-US" sz="2000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 dans les provinces restantes</a:t>
            </a:r>
            <a:r>
              <a:rPr lang="en-US" sz="2000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.</a:t>
            </a:r>
            <a:endParaRPr lang="en-US" sz="2000" dirty="0">
              <a:solidFill>
                <a:srgbClr val="2D374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7" name="Text 20"/>
          <p:cNvSpPr txBox="1"/>
          <p:nvPr/>
        </p:nvSpPr>
        <p:spPr>
          <a:xfrm>
            <a:off x="5419725" y="3164840"/>
            <a:ext cx="2150745" cy="395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18096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RÉSULTAT ATTENDU</a:t>
            </a:r>
            <a:endParaRPr lang="en-US" sz="1600" b="1" dirty="0">
              <a:solidFill>
                <a:srgbClr val="718096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8" name="Text 21"/>
          <p:cNvSpPr txBox="1"/>
          <p:nvPr/>
        </p:nvSpPr>
        <p:spPr>
          <a:xfrm>
            <a:off x="5419649" y="3864940"/>
            <a:ext cx="5191963" cy="5239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" altLang="en-US" sz="2000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Extension effective du VAP en routine avec amélioration de la CV et qualité des service</a:t>
            </a:r>
            <a:r>
              <a:rPr lang="en-US" sz="2000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.</a:t>
            </a:r>
            <a:endParaRPr lang="en-US" sz="2000" dirty="0">
              <a:solidFill>
                <a:srgbClr val="2D374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9014943" y="4532782"/>
            <a:ext cx="1904695" cy="1904695"/>
          </a:xfrm>
          <a:prstGeom prst="ellipse">
            <a:avLst/>
          </a:prstGeom>
          <a:solidFill>
            <a:srgbClr val="28A745">
              <a:alpha val="5000"/>
            </a:srgbClr>
          </a:solidFill>
        </p:spPr>
      </p:sp>
      <p:sp>
        <p:nvSpPr>
          <p:cNvPr id="30" name="Shape 2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366"/>
          </a:solidFill>
        </p:spPr>
      </p:sp>
      <p:sp>
        <p:nvSpPr>
          <p:cNvPr id="31" name="Text 24"/>
          <p:cNvSpPr txBox="1"/>
          <p:nvPr/>
        </p:nvSpPr>
        <p:spPr>
          <a:xfrm>
            <a:off x="381305" y="6667805"/>
            <a:ext cx="209580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Prochaines Étapes Prioritaires 2026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11420856" y="6667805"/>
            <a:ext cx="47640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Page 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99CC"/>
          </a:solidFill>
        </p:spPr>
      </p:sp>
      <p:sp>
        <p:nvSpPr>
          <p:cNvPr id="5" name="Shape 3"/>
          <p:cNvSpPr/>
          <p:nvPr/>
        </p:nvSpPr>
        <p:spPr>
          <a:xfrm>
            <a:off x="571500" y="495605"/>
            <a:ext cx="1257300" cy="448056"/>
          </a:xfrm>
          <a:prstGeom prst="roundRect">
            <a:avLst>
              <a:gd name="adj" fmla="val 34737"/>
            </a:avLst>
          </a:prstGeom>
          <a:solidFill>
            <a:srgbClr val="003366"/>
          </a:solidFill>
        </p:spPr>
      </p:sp>
      <p:sp>
        <p:nvSpPr>
          <p:cNvPr id="6" name="Shape 4"/>
          <p:cNvSpPr/>
          <p:nvPr/>
        </p:nvSpPr>
        <p:spPr>
          <a:xfrm>
            <a:off x="571500" y="1133856"/>
            <a:ext cx="3486607" cy="5152644"/>
          </a:xfrm>
          <a:prstGeom prst="roundRect">
            <a:avLst>
              <a:gd name="adj" fmla="val 1433"/>
            </a:avLst>
          </a:prstGeom>
          <a:solidFill>
            <a:srgbClr val="E6F7FF"/>
          </a:solidFill>
          <a:ln w="25400">
            <a:solidFill>
              <a:srgbClr val="B3E0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rcRect t="-32" b="-32"/>
          <a:stretch>
            <a:fillRect/>
          </a:stretch>
        </p:blipFill>
        <p:spPr>
          <a:xfrm>
            <a:off x="1957730" y="2702966"/>
            <a:ext cx="714146" cy="9528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076602" y="4678985"/>
            <a:ext cx="476402" cy="38405"/>
          </a:xfrm>
          <a:prstGeom prst="roundRect">
            <a:avLst>
              <a:gd name="adj" fmla="val 1190470"/>
            </a:avLst>
          </a:prstGeom>
          <a:solidFill>
            <a:srgbClr val="0099CC"/>
          </a:solidFill>
        </p:spPr>
      </p:sp>
      <p:sp>
        <p:nvSpPr>
          <p:cNvPr id="9" name="Shape 6"/>
          <p:cNvSpPr/>
          <p:nvPr/>
        </p:nvSpPr>
        <p:spPr>
          <a:xfrm>
            <a:off x="4438498" y="496240"/>
            <a:ext cx="7181698" cy="5982005"/>
          </a:xfrm>
          <a:prstGeom prst="roundRect">
            <a:avLst>
              <a:gd name="adj" fmla="val 365"/>
            </a:avLst>
          </a:prstGeom>
          <a:solidFill>
            <a:srgbClr val="FFFFFF"/>
          </a:solidFill>
          <a:effectLst>
            <a:outerShdw blurRad="1905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38498" y="495605"/>
            <a:ext cx="75895" cy="5982005"/>
          </a:xfrm>
          <a:prstGeom prst="rect">
            <a:avLst/>
          </a:prstGeom>
          <a:solidFill>
            <a:srgbClr val="28A745"/>
          </a:solidFill>
        </p:spPr>
      </p:sp>
      <p:sp>
        <p:nvSpPr>
          <p:cNvPr id="11" name="Shape 8"/>
          <p:cNvSpPr/>
          <p:nvPr/>
        </p:nvSpPr>
        <p:spPr>
          <a:xfrm>
            <a:off x="4848149" y="1475842"/>
            <a:ext cx="6439205" cy="19202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12" name="Shape 9"/>
          <p:cNvSpPr/>
          <p:nvPr/>
        </p:nvSpPr>
        <p:spPr>
          <a:xfrm>
            <a:off x="4848149" y="1781251"/>
            <a:ext cx="381305" cy="381305"/>
          </a:xfrm>
          <a:prstGeom prst="ellipse">
            <a:avLst/>
          </a:prstGeom>
          <a:solidFill>
            <a:srgbClr val="F0FFF4"/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953305" y="1886407"/>
            <a:ext cx="171907" cy="17190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848149" y="3274517"/>
            <a:ext cx="381305" cy="381305"/>
          </a:xfrm>
          <a:prstGeom prst="ellipse">
            <a:avLst/>
          </a:prstGeom>
          <a:solidFill>
            <a:srgbClr val="F0FFF4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957115" y="3350819"/>
            <a:ext cx="171907" cy="171907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848149" y="5790895"/>
            <a:ext cx="1476756" cy="352044"/>
          </a:xfrm>
          <a:prstGeom prst="roundRect">
            <a:avLst>
              <a:gd name="adj" fmla="val 42120"/>
            </a:avLst>
          </a:prstGeom>
          <a:solidFill>
            <a:srgbClr val="FFF5F5"/>
          </a:solidFill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rcRect t="-1100" b="-1100"/>
          <a:stretch>
            <a:fillRect/>
          </a:stretch>
        </p:blipFill>
        <p:spPr>
          <a:xfrm>
            <a:off x="5000854" y="5900623"/>
            <a:ext cx="114300" cy="13350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115154" y="5868340"/>
            <a:ext cx="115763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5303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Période: T1 2026</a:t>
            </a:r>
            <a:endParaRPr lang="en-US" sz="1200" b="1" dirty="0">
              <a:solidFill>
                <a:srgbClr val="C53030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6467551" y="5790895"/>
            <a:ext cx="2048256" cy="352044"/>
          </a:xfrm>
          <a:prstGeom prst="roundRect">
            <a:avLst>
              <a:gd name="adj" fmla="val 42120"/>
            </a:avLst>
          </a:prstGeom>
          <a:solidFill>
            <a:srgbClr val="EBF8FF"/>
          </a:solidFill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rcRect t="-1100" b="-1100"/>
          <a:stretch>
            <a:fillRect/>
          </a:stretch>
        </p:blipFill>
        <p:spPr>
          <a:xfrm>
            <a:off x="6620256" y="5900623"/>
            <a:ext cx="114300" cy="13350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734810" y="5791200"/>
            <a:ext cx="1784985" cy="402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6CB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Resp: ECZ, DPS, Antennes</a:t>
            </a:r>
            <a:endParaRPr lang="en-US" sz="1200" b="1" dirty="0">
              <a:solidFill>
                <a:srgbClr val="2B6CB0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2" name="Text 15"/>
          <p:cNvSpPr txBox="1"/>
          <p:nvPr/>
        </p:nvSpPr>
        <p:spPr>
          <a:xfrm>
            <a:off x="661365" y="610540"/>
            <a:ext cx="1004926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ÉTAPE 04</a:t>
            </a:r>
            <a:endParaRPr lang="en-US" b="1" dirty="0">
              <a:solidFill>
                <a:srgbClr val="FFFFFF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23" name="Text 16"/>
          <p:cNvSpPr txBox="1"/>
          <p:nvPr/>
        </p:nvSpPr>
        <p:spPr>
          <a:xfrm>
            <a:off x="1335405" y="3633470"/>
            <a:ext cx="2419985" cy="899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3366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Planification Opérationnelle</a:t>
            </a:r>
            <a:endParaRPr lang="en-US" sz="2800" b="1" dirty="0">
              <a:solidFill>
                <a:srgbClr val="003366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24" name="Text 17"/>
          <p:cNvSpPr txBox="1"/>
          <p:nvPr/>
        </p:nvSpPr>
        <p:spPr>
          <a:xfrm>
            <a:off x="4747895" y="495300"/>
            <a:ext cx="6710680" cy="744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" altLang="en-US" sz="2800" b="1" dirty="0">
                <a:solidFill>
                  <a:srgbClr val="2D3748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Actualisation des microplans et </a:t>
            </a:r>
            <a:r>
              <a:rPr lang="en-US" sz="2800" b="1" dirty="0">
                <a:solidFill>
                  <a:srgbClr val="2D3748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Finalisation </a:t>
            </a:r>
            <a:r>
              <a:rPr lang="" altLang="en-US" sz="2800" b="1" dirty="0">
                <a:solidFill>
                  <a:srgbClr val="2D3748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de la </a:t>
            </a:r>
            <a:r>
              <a:rPr lang="en-US" sz="2800" b="1" dirty="0">
                <a:solidFill>
                  <a:srgbClr val="2D3748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Microplan</a:t>
            </a:r>
            <a:r>
              <a:rPr lang="" altLang="en-US" sz="2800" b="1" dirty="0">
                <a:solidFill>
                  <a:srgbClr val="2D3748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ification</a:t>
            </a:r>
            <a:endParaRPr lang="" altLang="en-US" sz="2800" b="1" dirty="0">
              <a:solidFill>
                <a:srgbClr val="2D3748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25" name="Text 18"/>
          <p:cNvSpPr txBox="1"/>
          <p:nvPr/>
        </p:nvSpPr>
        <p:spPr>
          <a:xfrm>
            <a:off x="5419725" y="1621155"/>
            <a:ext cx="2619375" cy="3511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18096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PROCHAINE ÉTAPE 2026</a:t>
            </a:r>
            <a:endParaRPr lang="en-US" sz="1600" b="1" dirty="0">
              <a:solidFill>
                <a:srgbClr val="718096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6" name="Text 19"/>
          <p:cNvSpPr txBox="1"/>
          <p:nvPr/>
        </p:nvSpPr>
        <p:spPr>
          <a:xfrm>
            <a:off x="5419649" y="2029689"/>
            <a:ext cx="5734202" cy="5239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Finalisation de la micro-planification et remontée complète des micro-plans</a:t>
            </a:r>
            <a:r>
              <a:rPr lang="" altLang="en-US" sz="2000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 actualisés</a:t>
            </a:r>
            <a:r>
              <a:rPr lang="en-US" sz="2000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.</a:t>
            </a:r>
            <a:endParaRPr lang="en-US" sz="2000" dirty="0">
              <a:solidFill>
                <a:srgbClr val="2D374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7" name="Text 20"/>
          <p:cNvSpPr txBox="1"/>
          <p:nvPr/>
        </p:nvSpPr>
        <p:spPr>
          <a:xfrm>
            <a:off x="5419725" y="3087370"/>
            <a:ext cx="2635250" cy="3498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18096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RÉSULTAT ATTENDU</a:t>
            </a:r>
            <a:endParaRPr lang="en-US" sz="1600" b="1" dirty="0">
              <a:solidFill>
                <a:srgbClr val="718096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8" name="Text 21"/>
          <p:cNvSpPr txBox="1"/>
          <p:nvPr/>
        </p:nvSpPr>
        <p:spPr>
          <a:xfrm>
            <a:off x="5419725" y="3494405"/>
            <a:ext cx="5991860" cy="701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Micro-plans validés et utilisés efficacement pour la mise en œuvre des activités.</a:t>
            </a:r>
            <a:endParaRPr lang="en-US" sz="2000" dirty="0">
              <a:solidFill>
                <a:srgbClr val="2D374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9810598" y="4476902"/>
            <a:ext cx="1904695" cy="1904695"/>
          </a:xfrm>
          <a:prstGeom prst="ellipse">
            <a:avLst/>
          </a:prstGeom>
          <a:solidFill>
            <a:srgbClr val="28A745">
              <a:alpha val="5000"/>
            </a:srgbClr>
          </a:solidFill>
        </p:spPr>
      </p:sp>
      <p:sp>
        <p:nvSpPr>
          <p:cNvPr id="30" name="Shape 2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366"/>
          </a:solidFill>
        </p:spPr>
      </p:sp>
      <p:sp>
        <p:nvSpPr>
          <p:cNvPr id="31" name="Text 24"/>
          <p:cNvSpPr txBox="1"/>
          <p:nvPr/>
        </p:nvSpPr>
        <p:spPr>
          <a:xfrm>
            <a:off x="381305" y="6667805"/>
            <a:ext cx="209580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Prochaines Étapes Prioritaires 2026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11416284" y="6667805"/>
            <a:ext cx="48646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Page 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99CC"/>
          </a:solidFill>
        </p:spPr>
      </p:sp>
      <p:sp>
        <p:nvSpPr>
          <p:cNvPr id="5" name="Shape 3"/>
          <p:cNvSpPr/>
          <p:nvPr/>
        </p:nvSpPr>
        <p:spPr>
          <a:xfrm>
            <a:off x="571500" y="495605"/>
            <a:ext cx="1238098" cy="448056"/>
          </a:xfrm>
          <a:prstGeom prst="roundRect">
            <a:avLst>
              <a:gd name="adj" fmla="val 34737"/>
            </a:avLst>
          </a:prstGeom>
          <a:solidFill>
            <a:srgbClr val="003366"/>
          </a:solidFill>
        </p:spPr>
      </p:sp>
      <p:sp>
        <p:nvSpPr>
          <p:cNvPr id="6" name="Shape 4"/>
          <p:cNvSpPr/>
          <p:nvPr/>
        </p:nvSpPr>
        <p:spPr>
          <a:xfrm>
            <a:off x="571500" y="1133856"/>
            <a:ext cx="3486607" cy="5152644"/>
          </a:xfrm>
          <a:prstGeom prst="roundRect">
            <a:avLst>
              <a:gd name="adj" fmla="val 1433"/>
            </a:avLst>
          </a:prstGeom>
          <a:solidFill>
            <a:srgbClr val="E6F7FF"/>
          </a:solidFill>
          <a:ln w="25400">
            <a:solidFill>
              <a:srgbClr val="B3E0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rcRect t="-19" b="-19"/>
          <a:stretch>
            <a:fillRect/>
          </a:stretch>
        </p:blipFill>
        <p:spPr>
          <a:xfrm>
            <a:off x="1809877" y="2162581"/>
            <a:ext cx="1190549" cy="9528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076602" y="4678985"/>
            <a:ext cx="476402" cy="38405"/>
          </a:xfrm>
          <a:prstGeom prst="roundRect">
            <a:avLst>
              <a:gd name="adj" fmla="val 1190470"/>
            </a:avLst>
          </a:prstGeom>
          <a:solidFill>
            <a:srgbClr val="0099CC"/>
          </a:solidFill>
        </p:spPr>
      </p:sp>
      <p:sp>
        <p:nvSpPr>
          <p:cNvPr id="9" name="Shape 6"/>
          <p:cNvSpPr/>
          <p:nvPr/>
        </p:nvSpPr>
        <p:spPr>
          <a:xfrm>
            <a:off x="4438498" y="495605"/>
            <a:ext cx="7181698" cy="5982005"/>
          </a:xfrm>
          <a:prstGeom prst="roundRect">
            <a:avLst>
              <a:gd name="adj" fmla="val 365"/>
            </a:avLst>
          </a:prstGeom>
          <a:solidFill>
            <a:srgbClr val="FFFFFF"/>
          </a:solidFill>
          <a:effectLst>
            <a:outerShdw blurRad="1905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38498" y="495605"/>
            <a:ext cx="75895" cy="5982005"/>
          </a:xfrm>
          <a:prstGeom prst="rect">
            <a:avLst/>
          </a:prstGeom>
          <a:solidFill>
            <a:srgbClr val="28A745"/>
          </a:solidFill>
        </p:spPr>
      </p:sp>
      <p:sp>
        <p:nvSpPr>
          <p:cNvPr id="11" name="Shape 8"/>
          <p:cNvSpPr/>
          <p:nvPr/>
        </p:nvSpPr>
        <p:spPr>
          <a:xfrm>
            <a:off x="4848149" y="1475842"/>
            <a:ext cx="6439205" cy="19202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12" name="Shape 9"/>
          <p:cNvSpPr/>
          <p:nvPr/>
        </p:nvSpPr>
        <p:spPr>
          <a:xfrm>
            <a:off x="4848149" y="1781251"/>
            <a:ext cx="381305" cy="381305"/>
          </a:xfrm>
          <a:prstGeom prst="ellipse">
            <a:avLst/>
          </a:prstGeom>
          <a:solidFill>
            <a:srgbClr val="F0FFF4"/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rcRect l="-1064" r="-1064"/>
          <a:stretch>
            <a:fillRect/>
          </a:stretch>
        </p:blipFill>
        <p:spPr>
          <a:xfrm>
            <a:off x="4929530" y="1886407"/>
            <a:ext cx="219456" cy="17190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848149" y="2990672"/>
            <a:ext cx="381305" cy="381305"/>
          </a:xfrm>
          <a:prstGeom prst="ellipse">
            <a:avLst/>
          </a:prstGeom>
          <a:solidFill>
            <a:srgbClr val="F0FFF4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rcRect l="-1064" r="-1064"/>
          <a:stretch>
            <a:fillRect/>
          </a:stretch>
        </p:blipFill>
        <p:spPr>
          <a:xfrm flipV="1">
            <a:off x="4929505" y="3267075"/>
            <a:ext cx="219710" cy="19558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848149" y="5790895"/>
            <a:ext cx="1695298" cy="352044"/>
          </a:xfrm>
          <a:prstGeom prst="roundRect">
            <a:avLst>
              <a:gd name="adj" fmla="val 42120"/>
            </a:avLst>
          </a:prstGeom>
          <a:solidFill>
            <a:srgbClr val="FFF5F5"/>
          </a:solidFill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rcRect t="-1100" b="-1100"/>
          <a:stretch>
            <a:fillRect/>
          </a:stretch>
        </p:blipFill>
        <p:spPr>
          <a:xfrm>
            <a:off x="5000854" y="5900623"/>
            <a:ext cx="114300" cy="13350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115154" y="5867705"/>
            <a:ext cx="137708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5303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Période: T1–T2 2026</a:t>
            </a:r>
            <a:endParaRPr lang="en-US" sz="1200" b="1" dirty="0">
              <a:solidFill>
                <a:srgbClr val="C53030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6686093" y="5790895"/>
            <a:ext cx="2600554" cy="352044"/>
          </a:xfrm>
          <a:prstGeom prst="roundRect">
            <a:avLst>
              <a:gd name="adj" fmla="val 42120"/>
            </a:avLst>
          </a:prstGeom>
          <a:solidFill>
            <a:srgbClr val="EBF8FF"/>
          </a:solidFill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rcRect t="-1100" b="-1100"/>
          <a:stretch>
            <a:fillRect/>
          </a:stretch>
        </p:blipFill>
        <p:spPr>
          <a:xfrm>
            <a:off x="6837883" y="5900623"/>
            <a:ext cx="114300" cy="13350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952183" y="5867705"/>
            <a:ext cx="2281428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6CB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Resp: PEV, Logistique, Partenaires</a:t>
            </a:r>
            <a:endParaRPr lang="en-US" sz="1200" b="1" dirty="0">
              <a:solidFill>
                <a:srgbClr val="2B6CB0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2" name="Text 15"/>
          <p:cNvSpPr txBox="1"/>
          <p:nvPr/>
        </p:nvSpPr>
        <p:spPr>
          <a:xfrm>
            <a:off x="761695" y="609905"/>
            <a:ext cx="98663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ÉTAPE 05</a:t>
            </a:r>
            <a:endParaRPr lang="en-US" b="1" dirty="0">
              <a:solidFill>
                <a:srgbClr val="FFFFFF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23" name="Text 16"/>
          <p:cNvSpPr txBox="1"/>
          <p:nvPr/>
        </p:nvSpPr>
        <p:spPr>
          <a:xfrm>
            <a:off x="1541780" y="3277870"/>
            <a:ext cx="1991360" cy="1254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3366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Logistique et Coordination</a:t>
            </a:r>
            <a:endParaRPr lang="en-US" sz="2800" b="1" dirty="0">
              <a:solidFill>
                <a:srgbClr val="003366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24" name="Text 17"/>
          <p:cNvSpPr txBox="1"/>
          <p:nvPr/>
        </p:nvSpPr>
        <p:spPr>
          <a:xfrm>
            <a:off x="4848225" y="866775"/>
            <a:ext cx="5839460" cy="372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D3748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Opérationnalisation des Hubs</a:t>
            </a:r>
            <a:endParaRPr lang="en-US" sz="3200" b="1" dirty="0">
              <a:solidFill>
                <a:srgbClr val="2D3748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25" name="Text 18"/>
          <p:cNvSpPr txBox="1"/>
          <p:nvPr/>
        </p:nvSpPr>
        <p:spPr>
          <a:xfrm>
            <a:off x="5419725" y="1656715"/>
            <a:ext cx="2385695" cy="314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18096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PROCHAINE ÉTAPE 2026</a:t>
            </a:r>
            <a:endParaRPr lang="en-US" sz="1600" b="1" dirty="0">
              <a:solidFill>
                <a:srgbClr val="718096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6" name="Text 19"/>
          <p:cNvSpPr txBox="1"/>
          <p:nvPr/>
        </p:nvSpPr>
        <p:spPr>
          <a:xfrm>
            <a:off x="5419725" y="2136140"/>
            <a:ext cx="5858510" cy="769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Opérationnalisation complète des hubs logistiques régionaux de Kisangani et Lubumbashi.</a:t>
            </a:r>
            <a:endParaRPr lang="en-US" sz="2000" dirty="0">
              <a:solidFill>
                <a:srgbClr val="2D374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7" name="Text 20"/>
          <p:cNvSpPr txBox="1"/>
          <p:nvPr/>
        </p:nvSpPr>
        <p:spPr>
          <a:xfrm>
            <a:off x="5419725" y="3065780"/>
            <a:ext cx="2988310" cy="407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18096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RÉSULTAT ATTENDU</a:t>
            </a:r>
            <a:endParaRPr lang="en-US" sz="1600" b="1" dirty="0">
              <a:solidFill>
                <a:srgbClr val="718096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8" name="Text 21"/>
          <p:cNvSpPr txBox="1"/>
          <p:nvPr/>
        </p:nvSpPr>
        <p:spPr>
          <a:xfrm>
            <a:off x="5419725" y="3733165"/>
            <a:ext cx="5324475" cy="9455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Amélioration significative de la disponibilité des </a:t>
            </a:r>
            <a:r>
              <a:rPr lang="" altLang="en-US" sz="2000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vaccins et autres </a:t>
            </a:r>
            <a:r>
              <a:rPr lang="en-US" sz="2000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intrants </a:t>
            </a:r>
            <a:r>
              <a:rPr lang="" altLang="en-US" sz="2000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ainsi que l’</a:t>
            </a:r>
            <a:r>
              <a:rPr lang="en-US" sz="2000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optimisation de la coordination régionale.</a:t>
            </a:r>
            <a:endParaRPr lang="en-US" sz="2000" dirty="0">
              <a:solidFill>
                <a:srgbClr val="2D374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9810598" y="4476902"/>
            <a:ext cx="1904695" cy="1904695"/>
          </a:xfrm>
          <a:prstGeom prst="ellipse">
            <a:avLst/>
          </a:prstGeom>
          <a:solidFill>
            <a:srgbClr val="28A745">
              <a:alpha val="5000"/>
            </a:srgbClr>
          </a:solidFill>
        </p:spPr>
      </p:sp>
      <p:sp>
        <p:nvSpPr>
          <p:cNvPr id="30" name="Shape 2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366"/>
          </a:solidFill>
        </p:spPr>
      </p:sp>
      <p:sp>
        <p:nvSpPr>
          <p:cNvPr id="31" name="Text 24"/>
          <p:cNvSpPr txBox="1"/>
          <p:nvPr/>
        </p:nvSpPr>
        <p:spPr>
          <a:xfrm>
            <a:off x="381305" y="6667805"/>
            <a:ext cx="209580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Prochaines Étapes Prioritaires 2026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11418113" y="6667805"/>
            <a:ext cx="48646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Page 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99CC"/>
          </a:solidFill>
        </p:spPr>
      </p:sp>
      <p:sp>
        <p:nvSpPr>
          <p:cNvPr id="5" name="Shape 3"/>
          <p:cNvSpPr/>
          <p:nvPr/>
        </p:nvSpPr>
        <p:spPr>
          <a:xfrm>
            <a:off x="571500" y="495605"/>
            <a:ext cx="1238098" cy="448056"/>
          </a:xfrm>
          <a:prstGeom prst="roundRect">
            <a:avLst>
              <a:gd name="adj" fmla="val 34737"/>
            </a:avLst>
          </a:prstGeom>
          <a:solidFill>
            <a:srgbClr val="003366"/>
          </a:solidFill>
        </p:spPr>
      </p:sp>
      <p:sp>
        <p:nvSpPr>
          <p:cNvPr id="6" name="Shape 4"/>
          <p:cNvSpPr/>
          <p:nvPr/>
        </p:nvSpPr>
        <p:spPr>
          <a:xfrm>
            <a:off x="571500" y="1133856"/>
            <a:ext cx="3486607" cy="5152644"/>
          </a:xfrm>
          <a:prstGeom prst="roundRect">
            <a:avLst>
              <a:gd name="adj" fmla="val 1433"/>
            </a:avLst>
          </a:prstGeom>
          <a:solidFill>
            <a:srgbClr val="E6F7FF"/>
          </a:solidFill>
          <a:ln w="25400">
            <a:solidFill>
              <a:srgbClr val="B3E0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rcRect t="-19" b="-19"/>
          <a:stretch>
            <a:fillRect/>
          </a:stretch>
        </p:blipFill>
        <p:spPr>
          <a:xfrm>
            <a:off x="1809877" y="1886814"/>
            <a:ext cx="1190549" cy="9528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076602" y="4529938"/>
            <a:ext cx="476402" cy="38405"/>
          </a:xfrm>
          <a:prstGeom prst="roundRect">
            <a:avLst>
              <a:gd name="adj" fmla="val 1190470"/>
            </a:avLst>
          </a:prstGeom>
          <a:solidFill>
            <a:srgbClr val="C53030"/>
          </a:solidFill>
        </p:spPr>
      </p:sp>
      <p:sp>
        <p:nvSpPr>
          <p:cNvPr id="9" name="Shape 6"/>
          <p:cNvSpPr/>
          <p:nvPr/>
        </p:nvSpPr>
        <p:spPr>
          <a:xfrm>
            <a:off x="4438498" y="495605"/>
            <a:ext cx="7181698" cy="5982005"/>
          </a:xfrm>
          <a:prstGeom prst="roundRect">
            <a:avLst>
              <a:gd name="adj" fmla="val 365"/>
            </a:avLst>
          </a:prstGeom>
          <a:solidFill>
            <a:srgbClr val="FFFFFF"/>
          </a:solidFill>
          <a:effectLst>
            <a:outerShdw blurRad="1905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38498" y="495605"/>
            <a:ext cx="75895" cy="5982005"/>
          </a:xfrm>
          <a:prstGeom prst="rect">
            <a:avLst/>
          </a:prstGeom>
          <a:solidFill>
            <a:srgbClr val="C53030"/>
          </a:solidFill>
        </p:spPr>
      </p:sp>
      <p:sp>
        <p:nvSpPr>
          <p:cNvPr id="11" name="Shape 8"/>
          <p:cNvSpPr/>
          <p:nvPr/>
        </p:nvSpPr>
        <p:spPr>
          <a:xfrm>
            <a:off x="4848149" y="1475842"/>
            <a:ext cx="6439205" cy="19202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12" name="Shape 9"/>
          <p:cNvSpPr/>
          <p:nvPr/>
        </p:nvSpPr>
        <p:spPr>
          <a:xfrm>
            <a:off x="4848149" y="1781251"/>
            <a:ext cx="381305" cy="381305"/>
          </a:xfrm>
          <a:prstGeom prst="ellipse">
            <a:avLst/>
          </a:prstGeom>
          <a:solidFill>
            <a:srgbClr val="FFF5F5"/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953305" y="1886407"/>
            <a:ext cx="171907" cy="17190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848149" y="3318967"/>
            <a:ext cx="381305" cy="381305"/>
          </a:xfrm>
          <a:prstGeom prst="ellipse">
            <a:avLst/>
          </a:prstGeom>
          <a:solidFill>
            <a:srgbClr val="FFF5F5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rcRect l="-760" r="-760"/>
          <a:stretch>
            <a:fillRect/>
          </a:stretch>
        </p:blipFill>
        <p:spPr>
          <a:xfrm>
            <a:off x="4962449" y="3423209"/>
            <a:ext cx="152705" cy="171907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848149" y="5790895"/>
            <a:ext cx="2210105" cy="352044"/>
          </a:xfrm>
          <a:prstGeom prst="roundRect">
            <a:avLst>
              <a:gd name="adj" fmla="val 42120"/>
            </a:avLst>
          </a:prstGeom>
          <a:solidFill>
            <a:srgbClr val="FFF5F5"/>
          </a:solidFill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rcRect t="-1100" b="-1100"/>
          <a:stretch>
            <a:fillRect/>
          </a:stretch>
        </p:blipFill>
        <p:spPr>
          <a:xfrm>
            <a:off x="5000854" y="5900623"/>
            <a:ext cx="114300" cy="13350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115154" y="5867705"/>
            <a:ext cx="1890979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5303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Période: Toute l'année 2026</a:t>
            </a:r>
            <a:endParaRPr lang="en-US" sz="1000" b="1" dirty="0">
              <a:solidFill>
                <a:srgbClr val="C53030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7191756" y="5790895"/>
            <a:ext cx="2714854" cy="352044"/>
          </a:xfrm>
          <a:prstGeom prst="roundRect">
            <a:avLst>
              <a:gd name="adj" fmla="val 42120"/>
            </a:avLst>
          </a:prstGeom>
          <a:solidFill>
            <a:srgbClr val="EBF8FF"/>
          </a:solidFill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rcRect t="-1100" b="-1100"/>
          <a:stretch>
            <a:fillRect/>
          </a:stretch>
        </p:blipFill>
        <p:spPr>
          <a:xfrm>
            <a:off x="7343546" y="5900623"/>
            <a:ext cx="114300" cy="13350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457846" y="5867705"/>
            <a:ext cx="2395728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6CB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Resp: PEV, Surveillance, Partenaires</a:t>
            </a:r>
            <a:endParaRPr lang="en-US" sz="1000" b="1" dirty="0">
              <a:solidFill>
                <a:srgbClr val="2B6CB0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2" name="Text 15"/>
          <p:cNvSpPr txBox="1"/>
          <p:nvPr/>
        </p:nvSpPr>
        <p:spPr>
          <a:xfrm>
            <a:off x="761695" y="609905"/>
            <a:ext cx="98663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ÉTAPE 0</a:t>
            </a:r>
            <a:r>
              <a:rPr lang="" altLang="en-US" b="1" dirty="0">
                <a:solidFill>
                  <a:srgbClr val="FFFFFF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6</a:t>
            </a:r>
            <a:endParaRPr lang="" altLang="en-US" b="1" dirty="0">
              <a:solidFill>
                <a:srgbClr val="FFFFFF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23" name="Text 16"/>
          <p:cNvSpPr txBox="1"/>
          <p:nvPr/>
        </p:nvSpPr>
        <p:spPr>
          <a:xfrm>
            <a:off x="1003300" y="3173095"/>
            <a:ext cx="2800985" cy="1203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3366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Éradication de la Polio</a:t>
            </a:r>
            <a:endParaRPr lang="en-US" sz="2800" b="1" dirty="0">
              <a:solidFill>
                <a:srgbClr val="003366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24" name="Text 17"/>
          <p:cNvSpPr txBox="1"/>
          <p:nvPr/>
        </p:nvSpPr>
        <p:spPr>
          <a:xfrm>
            <a:off x="4848225" y="572770"/>
            <a:ext cx="6286500" cy="6661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D3748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Interruption de la circulation</a:t>
            </a:r>
            <a:endParaRPr lang="en-US" sz="3600" b="1" dirty="0">
              <a:solidFill>
                <a:srgbClr val="2D3748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25" name="Text 18"/>
          <p:cNvSpPr txBox="1"/>
          <p:nvPr/>
        </p:nvSpPr>
        <p:spPr>
          <a:xfrm>
            <a:off x="5419725" y="1599565"/>
            <a:ext cx="2917190" cy="372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18096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PROCHAINE ÉTAPE 2026</a:t>
            </a:r>
            <a:endParaRPr lang="en-US" sz="1600" b="1" dirty="0">
              <a:solidFill>
                <a:srgbClr val="718096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6" name="Text 19"/>
          <p:cNvSpPr txBox="1"/>
          <p:nvPr/>
        </p:nvSpPr>
        <p:spPr>
          <a:xfrm>
            <a:off x="5419725" y="2064385"/>
            <a:ext cx="5438775" cy="11042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Interruption complète de la circulation du cVDPV (poliovirus circulant dérivé d'une souche vaccinale).</a:t>
            </a:r>
            <a:endParaRPr lang="en-US" sz="2400" dirty="0">
              <a:solidFill>
                <a:srgbClr val="2D374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7" name="Text 20"/>
          <p:cNvSpPr txBox="1"/>
          <p:nvPr/>
        </p:nvSpPr>
        <p:spPr>
          <a:xfrm>
            <a:off x="5419725" y="3328035"/>
            <a:ext cx="2534920" cy="3625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18096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RÉSULTAT ATTENDU</a:t>
            </a:r>
            <a:endParaRPr lang="en-US" sz="1600" b="1" dirty="0">
              <a:solidFill>
                <a:srgbClr val="718096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8" name="Text 21"/>
          <p:cNvSpPr txBox="1"/>
          <p:nvPr/>
        </p:nvSpPr>
        <p:spPr>
          <a:xfrm>
            <a:off x="5419725" y="3700145"/>
            <a:ext cx="5229225" cy="7861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Zéro circulation documentée du cVDPV sur l'ensemble du territoire.</a:t>
            </a:r>
            <a:endParaRPr lang="en-US" sz="2400" dirty="0">
              <a:solidFill>
                <a:srgbClr val="2D374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9810598" y="4476902"/>
            <a:ext cx="1904695" cy="1904695"/>
          </a:xfrm>
          <a:prstGeom prst="ellipse">
            <a:avLst/>
          </a:prstGeom>
          <a:solidFill>
            <a:srgbClr val="C53030">
              <a:alpha val="5000"/>
            </a:srgbClr>
          </a:solidFill>
        </p:spPr>
      </p:sp>
      <p:sp>
        <p:nvSpPr>
          <p:cNvPr id="30" name="Shape 2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366"/>
          </a:solidFill>
        </p:spPr>
      </p:sp>
      <p:sp>
        <p:nvSpPr>
          <p:cNvPr id="31" name="Text 24"/>
          <p:cNvSpPr txBox="1"/>
          <p:nvPr/>
        </p:nvSpPr>
        <p:spPr>
          <a:xfrm>
            <a:off x="381305" y="6667805"/>
            <a:ext cx="209580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Prochaines Étapes Prioritaires 2026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11416284" y="6667805"/>
            <a:ext cx="48646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Page 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99CC"/>
          </a:solidFill>
        </p:spPr>
      </p:sp>
      <p:sp>
        <p:nvSpPr>
          <p:cNvPr id="5" name="Shape 3"/>
          <p:cNvSpPr/>
          <p:nvPr/>
        </p:nvSpPr>
        <p:spPr>
          <a:xfrm>
            <a:off x="571500" y="495605"/>
            <a:ext cx="1248156" cy="448056"/>
          </a:xfrm>
          <a:prstGeom prst="roundRect">
            <a:avLst>
              <a:gd name="adj" fmla="val 34737"/>
            </a:avLst>
          </a:prstGeom>
          <a:solidFill>
            <a:srgbClr val="003366"/>
          </a:solidFill>
        </p:spPr>
      </p:sp>
      <p:sp>
        <p:nvSpPr>
          <p:cNvPr id="6" name="Shape 4"/>
          <p:cNvSpPr/>
          <p:nvPr/>
        </p:nvSpPr>
        <p:spPr>
          <a:xfrm>
            <a:off x="571500" y="1133856"/>
            <a:ext cx="3486607" cy="5152644"/>
          </a:xfrm>
          <a:prstGeom prst="roundRect">
            <a:avLst>
              <a:gd name="adj" fmla="val 1433"/>
            </a:avLst>
          </a:prstGeom>
          <a:solidFill>
            <a:srgbClr val="FFF9E6"/>
          </a:solidFill>
          <a:ln w="25400">
            <a:solidFill>
              <a:srgbClr val="FFEEB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rcRect t="-32" b="-32"/>
          <a:stretch>
            <a:fillRect/>
          </a:stretch>
        </p:blipFill>
        <p:spPr>
          <a:xfrm>
            <a:off x="1957730" y="2185899"/>
            <a:ext cx="714146" cy="9528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076602" y="4529938"/>
            <a:ext cx="476402" cy="38405"/>
          </a:xfrm>
          <a:prstGeom prst="roundRect">
            <a:avLst>
              <a:gd name="adj" fmla="val 1190470"/>
            </a:avLst>
          </a:prstGeom>
          <a:solidFill>
            <a:srgbClr val="F6AD55"/>
          </a:solidFill>
        </p:spPr>
      </p:sp>
      <p:sp>
        <p:nvSpPr>
          <p:cNvPr id="9" name="Shape 6"/>
          <p:cNvSpPr/>
          <p:nvPr/>
        </p:nvSpPr>
        <p:spPr>
          <a:xfrm>
            <a:off x="4438498" y="495605"/>
            <a:ext cx="7181698" cy="5982005"/>
          </a:xfrm>
          <a:prstGeom prst="roundRect">
            <a:avLst>
              <a:gd name="adj" fmla="val 365"/>
            </a:avLst>
          </a:prstGeom>
          <a:solidFill>
            <a:srgbClr val="FFFFFF"/>
          </a:solidFill>
          <a:effectLst>
            <a:outerShdw blurRad="1905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38498" y="495605"/>
            <a:ext cx="75895" cy="5982005"/>
          </a:xfrm>
          <a:prstGeom prst="rect">
            <a:avLst/>
          </a:prstGeom>
          <a:solidFill>
            <a:srgbClr val="F6AD55"/>
          </a:solidFill>
        </p:spPr>
      </p:sp>
      <p:sp>
        <p:nvSpPr>
          <p:cNvPr id="11" name="Shape 8"/>
          <p:cNvSpPr/>
          <p:nvPr/>
        </p:nvSpPr>
        <p:spPr>
          <a:xfrm>
            <a:off x="4848149" y="1475842"/>
            <a:ext cx="6439205" cy="19202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12" name="Shape 9"/>
          <p:cNvSpPr/>
          <p:nvPr/>
        </p:nvSpPr>
        <p:spPr>
          <a:xfrm>
            <a:off x="4848149" y="1781251"/>
            <a:ext cx="381305" cy="381305"/>
          </a:xfrm>
          <a:prstGeom prst="ellipse">
            <a:avLst/>
          </a:prstGeom>
          <a:solidFill>
            <a:srgbClr val="FFFAF0"/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rcRect l="-760" r="-760"/>
          <a:stretch>
            <a:fillRect/>
          </a:stretch>
        </p:blipFill>
        <p:spPr>
          <a:xfrm>
            <a:off x="4962449" y="1886407"/>
            <a:ext cx="152705" cy="17190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847590" y="3390900"/>
            <a:ext cx="534035" cy="381000"/>
          </a:xfrm>
          <a:prstGeom prst="ellipse">
            <a:avLst/>
          </a:prstGeom>
          <a:solidFill>
            <a:srgbClr val="FFFAF0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011725" y="3420364"/>
            <a:ext cx="171907" cy="171907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848149" y="5790895"/>
            <a:ext cx="1676095" cy="352044"/>
          </a:xfrm>
          <a:prstGeom prst="roundRect">
            <a:avLst>
              <a:gd name="adj" fmla="val 42120"/>
            </a:avLst>
          </a:prstGeom>
          <a:solidFill>
            <a:srgbClr val="FFF5F5"/>
          </a:solidFill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rcRect t="-1100" b="-1100"/>
          <a:stretch>
            <a:fillRect/>
          </a:stretch>
        </p:blipFill>
        <p:spPr>
          <a:xfrm>
            <a:off x="5000854" y="5900623"/>
            <a:ext cx="114300" cy="13350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183505" y="5878195"/>
            <a:ext cx="1340485" cy="1892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5303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Période: T2-T4 2026</a:t>
            </a:r>
            <a:endParaRPr lang="en-US" sz="1200" b="1" dirty="0">
              <a:solidFill>
                <a:srgbClr val="C53030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6662318" y="5790895"/>
            <a:ext cx="2180844" cy="352044"/>
          </a:xfrm>
          <a:prstGeom prst="roundRect">
            <a:avLst>
              <a:gd name="adj" fmla="val 42120"/>
            </a:avLst>
          </a:prstGeom>
          <a:solidFill>
            <a:srgbClr val="EBF8FF"/>
          </a:solidFill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rcRect t="-1100" b="-1100"/>
          <a:stretch>
            <a:fillRect/>
          </a:stretch>
        </p:blipFill>
        <p:spPr>
          <a:xfrm>
            <a:off x="6814109" y="5900623"/>
            <a:ext cx="114300" cy="13350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016750" y="5717540"/>
            <a:ext cx="2004060" cy="360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6CB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Resp: PEV, DPS, Partenaires</a:t>
            </a:r>
            <a:endParaRPr lang="en-US" sz="1200" b="1" dirty="0">
              <a:solidFill>
                <a:srgbClr val="2B6CB0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2" name="Text 15"/>
          <p:cNvSpPr txBox="1"/>
          <p:nvPr/>
        </p:nvSpPr>
        <p:spPr>
          <a:xfrm>
            <a:off x="813130" y="609905"/>
            <a:ext cx="99578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ÉTAPE 08</a:t>
            </a:r>
            <a:endParaRPr lang="en-US" b="1" dirty="0">
              <a:solidFill>
                <a:srgbClr val="FFFFFF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23" name="Text 16"/>
          <p:cNvSpPr txBox="1"/>
          <p:nvPr/>
        </p:nvSpPr>
        <p:spPr>
          <a:xfrm>
            <a:off x="1120775" y="3453130"/>
            <a:ext cx="2572385" cy="9232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3366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Suivi et Redevabilité</a:t>
            </a:r>
            <a:endParaRPr lang="en-US" sz="2800" b="1" dirty="0">
              <a:solidFill>
                <a:srgbClr val="003366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24" name="Text 17"/>
          <p:cNvSpPr txBox="1"/>
          <p:nvPr/>
        </p:nvSpPr>
        <p:spPr>
          <a:xfrm>
            <a:off x="4849495" y="751840"/>
            <a:ext cx="5780405" cy="4870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D3748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Organisation des ECV</a:t>
            </a:r>
            <a:endParaRPr lang="en-US" sz="3600" b="1" dirty="0">
              <a:solidFill>
                <a:srgbClr val="2D3748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25" name="Text 18"/>
          <p:cNvSpPr txBox="1"/>
          <p:nvPr/>
        </p:nvSpPr>
        <p:spPr>
          <a:xfrm>
            <a:off x="5471160" y="1568450"/>
            <a:ext cx="2486025" cy="403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18096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PROCHAINE ÉTAPE 2026</a:t>
            </a:r>
            <a:endParaRPr lang="en-US" sz="1600" b="1" dirty="0">
              <a:solidFill>
                <a:srgbClr val="718096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6" name="Text 19"/>
          <p:cNvSpPr txBox="1"/>
          <p:nvPr/>
        </p:nvSpPr>
        <p:spPr>
          <a:xfrm>
            <a:off x="5471160" y="2185670"/>
            <a:ext cx="5287010" cy="665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Organisation des Enquêtes de Couverture Vaccinale (ECV).</a:t>
            </a:r>
            <a:endParaRPr lang="en-US" sz="2400" dirty="0">
              <a:solidFill>
                <a:srgbClr val="2D374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7" name="Text 20"/>
          <p:cNvSpPr txBox="1"/>
          <p:nvPr/>
        </p:nvSpPr>
        <p:spPr>
          <a:xfrm>
            <a:off x="5462905" y="3282950"/>
            <a:ext cx="2512695" cy="4044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18096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RÉSULTAT ATTENDU</a:t>
            </a:r>
            <a:endParaRPr lang="en-US" sz="1600" b="1" dirty="0">
              <a:solidFill>
                <a:srgbClr val="718096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8" name="Text 21"/>
          <p:cNvSpPr txBox="1"/>
          <p:nvPr/>
        </p:nvSpPr>
        <p:spPr>
          <a:xfrm>
            <a:off x="5471160" y="3948430"/>
            <a:ext cx="5906135" cy="698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Évaluation objective des performances et mise en place d'actions correctrices.</a:t>
            </a:r>
            <a:endParaRPr lang="en-US" sz="2400" dirty="0">
              <a:solidFill>
                <a:srgbClr val="2D374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9810598" y="4476902"/>
            <a:ext cx="1904695" cy="1904695"/>
          </a:xfrm>
          <a:prstGeom prst="ellipse">
            <a:avLst/>
          </a:prstGeom>
          <a:solidFill>
            <a:srgbClr val="F6AD55">
              <a:alpha val="5000"/>
            </a:srgbClr>
          </a:solidFill>
        </p:spPr>
      </p:sp>
      <p:sp>
        <p:nvSpPr>
          <p:cNvPr id="30" name="Shape 2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366"/>
          </a:solidFill>
        </p:spPr>
      </p:sp>
      <p:sp>
        <p:nvSpPr>
          <p:cNvPr id="31" name="Text 24"/>
          <p:cNvSpPr txBox="1"/>
          <p:nvPr/>
        </p:nvSpPr>
        <p:spPr>
          <a:xfrm>
            <a:off x="381305" y="6667805"/>
            <a:ext cx="209580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Prochaines Étapes Prioritaires 2026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11368735" y="6667805"/>
            <a:ext cx="53401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Page 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99CC"/>
          </a:solidFill>
        </p:spPr>
      </p:sp>
      <p:sp>
        <p:nvSpPr>
          <p:cNvPr id="5" name="Shape 3"/>
          <p:cNvSpPr/>
          <p:nvPr/>
        </p:nvSpPr>
        <p:spPr>
          <a:xfrm>
            <a:off x="476402" y="1057961"/>
            <a:ext cx="11239805" cy="19202"/>
          </a:xfrm>
          <a:prstGeom prst="rect">
            <a:avLst/>
          </a:prstGeom>
          <a:solidFill>
            <a:srgbClr val="E2E8F0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 l="-107" r="-107"/>
          <a:stretch>
            <a:fillRect/>
          </a:stretch>
        </p:blipFill>
        <p:spPr>
          <a:xfrm>
            <a:off x="476402" y="504749"/>
            <a:ext cx="267005" cy="30449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86054" y="419481"/>
            <a:ext cx="8420710" cy="419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3366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Chronogramme des étapes prioritaires – 2026</a:t>
            </a:r>
            <a:endParaRPr lang="en-US" sz="2700" b="1" dirty="0">
              <a:solidFill>
                <a:srgbClr val="003366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9372600" y="400507"/>
            <a:ext cx="2343607" cy="333756"/>
          </a:xfrm>
          <a:prstGeom prst="roundRect">
            <a:avLst>
              <a:gd name="adj" fmla="val 156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525305" y="516636"/>
            <a:ext cx="95098" cy="95098"/>
          </a:xfrm>
          <a:prstGeom prst="ellipse">
            <a:avLst/>
          </a:prstGeom>
          <a:solidFill>
            <a:srgbClr val="4299E1"/>
          </a:solidFill>
        </p:spPr>
      </p:sp>
      <p:sp>
        <p:nvSpPr>
          <p:cNvPr id="10" name="Text 7"/>
          <p:cNvSpPr txBox="1"/>
          <p:nvPr/>
        </p:nvSpPr>
        <p:spPr>
          <a:xfrm>
            <a:off x="9678010" y="485546"/>
            <a:ext cx="39319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Début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0130638" y="516636"/>
            <a:ext cx="95098" cy="95098"/>
          </a:xfrm>
          <a:prstGeom prst="ellipse">
            <a:avLst/>
          </a:prstGeom>
          <a:solidFill>
            <a:srgbClr val="ECC94B"/>
          </a:solidFill>
        </p:spPr>
      </p:sp>
      <p:sp>
        <p:nvSpPr>
          <p:cNvPr id="12" name="Text 9"/>
          <p:cNvSpPr txBox="1"/>
          <p:nvPr/>
        </p:nvSpPr>
        <p:spPr>
          <a:xfrm>
            <a:off x="10283342" y="485546"/>
            <a:ext cx="48829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10827410" y="516636"/>
            <a:ext cx="95098" cy="95098"/>
          </a:xfrm>
          <a:prstGeom prst="ellipse">
            <a:avLst/>
          </a:prstGeom>
          <a:solidFill>
            <a:srgbClr val="F56565"/>
          </a:solidFill>
        </p:spPr>
      </p:sp>
      <p:sp>
        <p:nvSpPr>
          <p:cNvPr id="14" name="Text 11"/>
          <p:cNvSpPr txBox="1"/>
          <p:nvPr/>
        </p:nvSpPr>
        <p:spPr>
          <a:xfrm>
            <a:off x="10979201" y="485546"/>
            <a:ext cx="66934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1809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Finalisation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76402" y="1314907"/>
            <a:ext cx="2704795" cy="5352898"/>
          </a:xfrm>
          <a:prstGeom prst="roundRect">
            <a:avLst>
              <a:gd name="adj" fmla="val 14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5546" y="1295476"/>
            <a:ext cx="2686507" cy="790956"/>
          </a:xfrm>
          <a:prstGeom prst="rect">
            <a:avLst/>
          </a:prstGeom>
          <a:solidFill>
            <a:srgbClr val="0099CC"/>
          </a:solidFill>
        </p:spPr>
      </p:sp>
      <p:sp>
        <p:nvSpPr>
          <p:cNvPr id="17" name="Text 14"/>
          <p:cNvSpPr txBox="1"/>
          <p:nvPr/>
        </p:nvSpPr>
        <p:spPr>
          <a:xfrm>
            <a:off x="1687982" y="1409776"/>
            <a:ext cx="486461" cy="3246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T1</a:t>
            </a:r>
            <a:endParaRPr lang="en-US" sz="2100" b="1" dirty="0">
              <a:solidFill>
                <a:srgbClr val="FFFFFF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1378001" y="1761820"/>
            <a:ext cx="99852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>
                    <a:alpha val="90000"/>
                  </a:srgbClr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Janvier – Mars</a:t>
            </a:r>
            <a:endParaRPr lang="en-US" sz="900" b="1" dirty="0">
              <a:solidFill>
                <a:srgbClr val="FFFFFF">
                  <a:alpha val="90000"/>
                </a:srgbClr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85546" y="2109521"/>
            <a:ext cx="2686507" cy="4552798"/>
          </a:xfrm>
          <a:prstGeom prst="rect">
            <a:avLst/>
          </a:prstGeom>
          <a:solidFill>
            <a:srgbClr val="FCFCFC"/>
          </a:solidFill>
        </p:spPr>
      </p:sp>
      <p:sp>
        <p:nvSpPr>
          <p:cNvPr id="20" name="Shape 17"/>
          <p:cNvSpPr/>
          <p:nvPr/>
        </p:nvSpPr>
        <p:spPr>
          <a:xfrm>
            <a:off x="629107" y="2253082"/>
            <a:ext cx="2400300" cy="562356"/>
          </a:xfrm>
          <a:prstGeom prst="roundRect">
            <a:avLst>
              <a:gd name="adj" fmla="val 22048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9107" y="2253082"/>
            <a:ext cx="38405" cy="562356"/>
          </a:xfrm>
          <a:prstGeom prst="rect">
            <a:avLst/>
          </a:prstGeom>
          <a:solidFill>
            <a:srgbClr val="4299E1"/>
          </a:solidFill>
        </p:spPr>
      </p:sp>
      <p:sp>
        <p:nvSpPr>
          <p:cNvPr id="22" name="Shape 19"/>
          <p:cNvSpPr/>
          <p:nvPr/>
        </p:nvSpPr>
        <p:spPr>
          <a:xfrm>
            <a:off x="780898" y="2357323"/>
            <a:ext cx="485546" cy="161849"/>
          </a:xfrm>
          <a:prstGeom prst="roundRect">
            <a:avLst>
              <a:gd name="adj" fmla="val 132934"/>
            </a:avLst>
          </a:prstGeom>
          <a:solidFill>
            <a:srgbClr val="EBF8FF"/>
          </a:solidFill>
        </p:spPr>
      </p:sp>
      <p:sp>
        <p:nvSpPr>
          <p:cNvPr id="23" name="Text 20"/>
          <p:cNvSpPr txBox="1"/>
          <p:nvPr/>
        </p:nvSpPr>
        <p:spPr>
          <a:xfrm>
            <a:off x="838505" y="2338807"/>
            <a:ext cx="4480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B6CB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ÉTAPE 1</a:t>
            </a:r>
            <a:endParaRPr lang="en-US" sz="800" b="1" dirty="0">
              <a:solidFill>
                <a:srgbClr val="2B6CB0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4" name="Text 21"/>
          <p:cNvSpPr txBox="1"/>
          <p:nvPr/>
        </p:nvSpPr>
        <p:spPr>
          <a:xfrm>
            <a:off x="780898" y="2518943"/>
            <a:ext cx="1245413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Intensification IPVS</a:t>
            </a:r>
            <a:endParaRPr lang="en-US" sz="900" b="1" dirty="0">
              <a:solidFill>
                <a:srgbClr val="2D374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629107" y="2908706"/>
            <a:ext cx="2400300" cy="562356"/>
          </a:xfrm>
          <a:prstGeom prst="roundRect">
            <a:avLst>
              <a:gd name="adj" fmla="val 22048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29107" y="2908706"/>
            <a:ext cx="38405" cy="562356"/>
          </a:xfrm>
          <a:prstGeom prst="rect">
            <a:avLst/>
          </a:prstGeom>
          <a:solidFill>
            <a:srgbClr val="4299E1"/>
          </a:solidFill>
        </p:spPr>
      </p:sp>
      <p:sp>
        <p:nvSpPr>
          <p:cNvPr id="27" name="Shape 24"/>
          <p:cNvSpPr/>
          <p:nvPr/>
        </p:nvSpPr>
        <p:spPr>
          <a:xfrm>
            <a:off x="780898" y="3013862"/>
            <a:ext cx="485546" cy="161849"/>
          </a:xfrm>
          <a:prstGeom prst="roundRect">
            <a:avLst>
              <a:gd name="adj" fmla="val 132934"/>
            </a:avLst>
          </a:prstGeom>
          <a:solidFill>
            <a:srgbClr val="EBF8FF"/>
          </a:solidFill>
        </p:spPr>
      </p:sp>
      <p:sp>
        <p:nvSpPr>
          <p:cNvPr id="28" name="Text 25"/>
          <p:cNvSpPr txBox="1"/>
          <p:nvPr/>
        </p:nvSpPr>
        <p:spPr>
          <a:xfrm>
            <a:off x="838505" y="2994431"/>
            <a:ext cx="4480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B6CB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ÉTAPE 2</a:t>
            </a:r>
            <a:endParaRPr lang="en-US" sz="800" b="1" dirty="0">
              <a:solidFill>
                <a:srgbClr val="2B6CB0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9" name="Text 26"/>
          <p:cNvSpPr txBox="1"/>
          <p:nvPr/>
        </p:nvSpPr>
        <p:spPr>
          <a:xfrm>
            <a:off x="780898" y="3175483"/>
            <a:ext cx="161757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Intro RR Blocs 2-3 (Début)</a:t>
            </a:r>
            <a:endParaRPr lang="en-US" sz="900" b="1" dirty="0">
              <a:solidFill>
                <a:srgbClr val="2D374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629107" y="3565246"/>
            <a:ext cx="2400300" cy="562356"/>
          </a:xfrm>
          <a:prstGeom prst="roundRect">
            <a:avLst>
              <a:gd name="adj" fmla="val 22048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29107" y="3565246"/>
            <a:ext cx="38405" cy="562356"/>
          </a:xfrm>
          <a:prstGeom prst="rect">
            <a:avLst/>
          </a:prstGeom>
          <a:solidFill>
            <a:srgbClr val="F56565"/>
          </a:solidFill>
        </p:spPr>
      </p:sp>
      <p:sp>
        <p:nvSpPr>
          <p:cNvPr id="32" name="Shape 29"/>
          <p:cNvSpPr/>
          <p:nvPr/>
        </p:nvSpPr>
        <p:spPr>
          <a:xfrm>
            <a:off x="780898" y="3670402"/>
            <a:ext cx="485546" cy="161849"/>
          </a:xfrm>
          <a:prstGeom prst="roundRect">
            <a:avLst>
              <a:gd name="adj" fmla="val 132934"/>
            </a:avLst>
          </a:prstGeom>
          <a:solidFill>
            <a:srgbClr val="FFF5F5"/>
          </a:solidFill>
        </p:spPr>
      </p:sp>
      <p:sp>
        <p:nvSpPr>
          <p:cNvPr id="33" name="Text 30"/>
          <p:cNvSpPr txBox="1"/>
          <p:nvPr/>
        </p:nvSpPr>
        <p:spPr>
          <a:xfrm>
            <a:off x="838505" y="3650971"/>
            <a:ext cx="4480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5303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ÉTAPE 4</a:t>
            </a:r>
            <a:endParaRPr lang="en-US" sz="800" b="1" dirty="0">
              <a:solidFill>
                <a:srgbClr val="C53030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34" name="Text 31"/>
          <p:cNvSpPr txBox="1"/>
          <p:nvPr/>
        </p:nvSpPr>
        <p:spPr>
          <a:xfrm>
            <a:off x="780898" y="3832022"/>
            <a:ext cx="1522476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Finalisation micro-plans</a:t>
            </a:r>
            <a:endParaRPr lang="en-US" sz="900" b="1" dirty="0">
              <a:solidFill>
                <a:srgbClr val="2D374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629107" y="4221785"/>
            <a:ext cx="2400300" cy="562356"/>
          </a:xfrm>
          <a:prstGeom prst="roundRect">
            <a:avLst>
              <a:gd name="adj" fmla="val 22048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29107" y="4221785"/>
            <a:ext cx="38405" cy="562356"/>
          </a:xfrm>
          <a:prstGeom prst="rect">
            <a:avLst/>
          </a:prstGeom>
          <a:solidFill>
            <a:srgbClr val="4299E1"/>
          </a:solidFill>
        </p:spPr>
      </p:sp>
      <p:sp>
        <p:nvSpPr>
          <p:cNvPr id="37" name="Shape 34"/>
          <p:cNvSpPr/>
          <p:nvPr/>
        </p:nvSpPr>
        <p:spPr>
          <a:xfrm>
            <a:off x="780898" y="4326026"/>
            <a:ext cx="485546" cy="161849"/>
          </a:xfrm>
          <a:prstGeom prst="roundRect">
            <a:avLst>
              <a:gd name="adj" fmla="val 132934"/>
            </a:avLst>
          </a:prstGeom>
          <a:solidFill>
            <a:srgbClr val="EBF8FF"/>
          </a:solidFill>
        </p:spPr>
      </p:sp>
      <p:sp>
        <p:nvSpPr>
          <p:cNvPr id="38" name="Text 35"/>
          <p:cNvSpPr txBox="1"/>
          <p:nvPr/>
        </p:nvSpPr>
        <p:spPr>
          <a:xfrm>
            <a:off x="838505" y="4336085"/>
            <a:ext cx="4480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B6CB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ÉTAPE 5</a:t>
            </a:r>
            <a:endParaRPr lang="en-US" sz="800" b="1" dirty="0">
              <a:solidFill>
                <a:srgbClr val="2B6CB0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39" name="Text 36"/>
          <p:cNvSpPr txBox="1"/>
          <p:nvPr/>
        </p:nvSpPr>
        <p:spPr>
          <a:xfrm>
            <a:off x="780898" y="4517136"/>
            <a:ext cx="1807769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Hubs Kisangani/Lubumbashi</a:t>
            </a:r>
            <a:endParaRPr lang="en-US" sz="900" b="1" dirty="0">
              <a:solidFill>
                <a:srgbClr val="2D374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629107" y="4878324"/>
            <a:ext cx="2400300" cy="562356"/>
          </a:xfrm>
          <a:prstGeom prst="roundRect">
            <a:avLst>
              <a:gd name="adj" fmla="val 22048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629107" y="4878324"/>
            <a:ext cx="38405" cy="562356"/>
          </a:xfrm>
          <a:prstGeom prst="rect">
            <a:avLst/>
          </a:prstGeom>
          <a:solidFill>
            <a:srgbClr val="4299E1"/>
          </a:solidFill>
        </p:spPr>
      </p:sp>
      <p:sp>
        <p:nvSpPr>
          <p:cNvPr id="42" name="Shape 39"/>
          <p:cNvSpPr/>
          <p:nvPr/>
        </p:nvSpPr>
        <p:spPr>
          <a:xfrm>
            <a:off x="780898" y="4982566"/>
            <a:ext cx="485546" cy="161849"/>
          </a:xfrm>
          <a:prstGeom prst="roundRect">
            <a:avLst>
              <a:gd name="adj" fmla="val 132934"/>
            </a:avLst>
          </a:prstGeom>
          <a:solidFill>
            <a:srgbClr val="EBF8FF"/>
          </a:solidFill>
        </p:spPr>
      </p:sp>
      <p:sp>
        <p:nvSpPr>
          <p:cNvPr id="43" name="Text 40"/>
          <p:cNvSpPr txBox="1"/>
          <p:nvPr/>
        </p:nvSpPr>
        <p:spPr>
          <a:xfrm>
            <a:off x="838505" y="4992624"/>
            <a:ext cx="4480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B6CB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ÉTAPE 6</a:t>
            </a:r>
            <a:endParaRPr lang="en-US" sz="800" b="1" dirty="0">
              <a:solidFill>
                <a:srgbClr val="2B6CB0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44" name="Text 41"/>
          <p:cNvSpPr txBox="1"/>
          <p:nvPr/>
        </p:nvSpPr>
        <p:spPr>
          <a:xfrm>
            <a:off x="780898" y="5173675"/>
            <a:ext cx="1988820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Approche antenne </a:t>
            </a:r>
            <a:endParaRPr lang="en-US" sz="900" b="1" dirty="0">
              <a:solidFill>
                <a:srgbClr val="2D374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629107" y="5533949"/>
            <a:ext cx="2400300" cy="562356"/>
          </a:xfrm>
          <a:prstGeom prst="roundRect">
            <a:avLst>
              <a:gd name="adj" fmla="val 22048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629107" y="5533949"/>
            <a:ext cx="38405" cy="562356"/>
          </a:xfrm>
          <a:prstGeom prst="rect">
            <a:avLst/>
          </a:prstGeom>
          <a:solidFill>
            <a:srgbClr val="ECC94B"/>
          </a:solidFill>
        </p:spPr>
      </p:sp>
      <p:sp>
        <p:nvSpPr>
          <p:cNvPr id="47" name="Shape 44"/>
          <p:cNvSpPr/>
          <p:nvPr/>
        </p:nvSpPr>
        <p:spPr>
          <a:xfrm>
            <a:off x="780898" y="5639105"/>
            <a:ext cx="485546" cy="161849"/>
          </a:xfrm>
          <a:prstGeom prst="roundRect">
            <a:avLst>
              <a:gd name="adj" fmla="val 132934"/>
            </a:avLst>
          </a:prstGeom>
          <a:solidFill>
            <a:srgbClr val="FFFFF0"/>
          </a:solidFill>
        </p:spPr>
      </p:sp>
      <p:sp>
        <p:nvSpPr>
          <p:cNvPr id="48" name="Text 45"/>
          <p:cNvSpPr txBox="1"/>
          <p:nvPr/>
        </p:nvSpPr>
        <p:spPr>
          <a:xfrm>
            <a:off x="838505" y="5648249"/>
            <a:ext cx="4480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75A16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ÉTAPE 7</a:t>
            </a:r>
            <a:endParaRPr lang="en-US" sz="800" b="1" dirty="0">
              <a:solidFill>
                <a:srgbClr val="975A16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49" name="Text 46"/>
          <p:cNvSpPr txBox="1"/>
          <p:nvPr/>
        </p:nvSpPr>
        <p:spPr>
          <a:xfrm>
            <a:off x="780898" y="5829300"/>
            <a:ext cx="1102766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Éradication Polio</a:t>
            </a:r>
            <a:endParaRPr lang="en-US" sz="900" b="1" dirty="0">
              <a:solidFill>
                <a:srgbClr val="2D374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3322015" y="1314907"/>
            <a:ext cx="2704795" cy="5352898"/>
          </a:xfrm>
          <a:prstGeom prst="roundRect">
            <a:avLst>
              <a:gd name="adj" fmla="val 14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3331159" y="1295476"/>
            <a:ext cx="2686507" cy="790956"/>
          </a:xfrm>
          <a:prstGeom prst="rect">
            <a:avLst/>
          </a:prstGeom>
          <a:solidFill>
            <a:srgbClr val="28A745"/>
          </a:solidFill>
        </p:spPr>
      </p:sp>
      <p:sp>
        <p:nvSpPr>
          <p:cNvPr id="52" name="Text 49"/>
          <p:cNvSpPr txBox="1"/>
          <p:nvPr/>
        </p:nvSpPr>
        <p:spPr>
          <a:xfrm>
            <a:off x="4508906" y="1409776"/>
            <a:ext cx="534010" cy="3246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T2</a:t>
            </a:r>
            <a:endParaRPr lang="en-US" sz="2100" b="1" dirty="0">
              <a:solidFill>
                <a:srgbClr val="FFFFFF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53" name="Text 50"/>
          <p:cNvSpPr txBox="1"/>
          <p:nvPr/>
        </p:nvSpPr>
        <p:spPr>
          <a:xfrm>
            <a:off x="4330598" y="1761820"/>
            <a:ext cx="779069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>
                    <a:alpha val="90000"/>
                  </a:srgbClr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Avril – Juin</a:t>
            </a:r>
            <a:endParaRPr lang="en-US" sz="900" b="1" dirty="0">
              <a:solidFill>
                <a:srgbClr val="FFFFFF">
                  <a:alpha val="90000"/>
                </a:srgbClr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3331159" y="2109521"/>
            <a:ext cx="2686507" cy="4552798"/>
          </a:xfrm>
          <a:prstGeom prst="rect">
            <a:avLst/>
          </a:prstGeom>
          <a:solidFill>
            <a:srgbClr val="FCFCFC"/>
          </a:solidFill>
        </p:spPr>
      </p:sp>
      <p:sp>
        <p:nvSpPr>
          <p:cNvPr id="55" name="Shape 52"/>
          <p:cNvSpPr/>
          <p:nvPr/>
        </p:nvSpPr>
        <p:spPr>
          <a:xfrm>
            <a:off x="3473806" y="2253082"/>
            <a:ext cx="2400300" cy="562356"/>
          </a:xfrm>
          <a:prstGeom prst="roundRect">
            <a:avLst>
              <a:gd name="adj" fmla="val 22048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3473806" y="2253082"/>
            <a:ext cx="38405" cy="562356"/>
          </a:xfrm>
          <a:prstGeom prst="rect">
            <a:avLst/>
          </a:prstGeom>
          <a:solidFill>
            <a:srgbClr val="ECC94B"/>
          </a:solidFill>
        </p:spPr>
      </p:sp>
      <p:sp>
        <p:nvSpPr>
          <p:cNvPr id="57" name="Shape 54"/>
          <p:cNvSpPr/>
          <p:nvPr/>
        </p:nvSpPr>
        <p:spPr>
          <a:xfrm>
            <a:off x="3626510" y="2357323"/>
            <a:ext cx="485546" cy="161849"/>
          </a:xfrm>
          <a:prstGeom prst="roundRect">
            <a:avLst>
              <a:gd name="adj" fmla="val 132934"/>
            </a:avLst>
          </a:prstGeom>
          <a:solidFill>
            <a:srgbClr val="FFFFF0"/>
          </a:solidFill>
        </p:spPr>
      </p:sp>
      <p:sp>
        <p:nvSpPr>
          <p:cNvPr id="58" name="Text 55"/>
          <p:cNvSpPr txBox="1"/>
          <p:nvPr/>
        </p:nvSpPr>
        <p:spPr>
          <a:xfrm>
            <a:off x="3684118" y="2338807"/>
            <a:ext cx="4480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75A16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ÉTAPE 2</a:t>
            </a:r>
            <a:endParaRPr lang="en-US" sz="800" b="1" dirty="0">
              <a:solidFill>
                <a:srgbClr val="975A16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59" name="Text 56"/>
          <p:cNvSpPr txBox="1"/>
          <p:nvPr/>
        </p:nvSpPr>
        <p:spPr>
          <a:xfrm>
            <a:off x="3626510" y="2518943"/>
            <a:ext cx="998525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Intro RR (Suite)</a:t>
            </a:r>
            <a:endParaRPr lang="en-US" sz="900" b="1" dirty="0">
              <a:solidFill>
                <a:srgbClr val="2D374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60" name="Shape 57"/>
          <p:cNvSpPr/>
          <p:nvPr/>
        </p:nvSpPr>
        <p:spPr>
          <a:xfrm>
            <a:off x="3473806" y="2908706"/>
            <a:ext cx="2400300" cy="562356"/>
          </a:xfrm>
          <a:prstGeom prst="roundRect">
            <a:avLst>
              <a:gd name="adj" fmla="val 22048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3473806" y="2908706"/>
            <a:ext cx="38405" cy="562356"/>
          </a:xfrm>
          <a:prstGeom prst="rect">
            <a:avLst/>
          </a:prstGeom>
          <a:solidFill>
            <a:srgbClr val="4299E1"/>
          </a:solidFill>
        </p:spPr>
      </p:sp>
      <p:sp>
        <p:nvSpPr>
          <p:cNvPr id="62" name="Shape 59"/>
          <p:cNvSpPr/>
          <p:nvPr/>
        </p:nvSpPr>
        <p:spPr>
          <a:xfrm>
            <a:off x="3626510" y="3013862"/>
            <a:ext cx="485546" cy="161849"/>
          </a:xfrm>
          <a:prstGeom prst="roundRect">
            <a:avLst>
              <a:gd name="adj" fmla="val 132934"/>
            </a:avLst>
          </a:prstGeom>
          <a:solidFill>
            <a:srgbClr val="EBF8FF"/>
          </a:solidFill>
        </p:spPr>
      </p:sp>
      <p:sp>
        <p:nvSpPr>
          <p:cNvPr id="63" name="Text 60"/>
          <p:cNvSpPr txBox="1"/>
          <p:nvPr/>
        </p:nvSpPr>
        <p:spPr>
          <a:xfrm>
            <a:off x="3684118" y="2994431"/>
            <a:ext cx="4480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B6CB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ÉTAPE 3</a:t>
            </a:r>
            <a:endParaRPr lang="en-US" sz="800" b="1" dirty="0">
              <a:solidFill>
                <a:srgbClr val="2B6CB0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64" name="Text 61"/>
          <p:cNvSpPr txBox="1"/>
          <p:nvPr/>
        </p:nvSpPr>
        <p:spPr>
          <a:xfrm>
            <a:off x="3626510" y="3175483"/>
            <a:ext cx="1512418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Extension VAP Blocs 3-4</a:t>
            </a:r>
            <a:endParaRPr lang="en-US" sz="900" b="1" dirty="0">
              <a:solidFill>
                <a:srgbClr val="2D374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65" name="Shape 62"/>
          <p:cNvSpPr/>
          <p:nvPr/>
        </p:nvSpPr>
        <p:spPr>
          <a:xfrm>
            <a:off x="3473806" y="3565246"/>
            <a:ext cx="2400300" cy="562356"/>
          </a:xfrm>
          <a:prstGeom prst="roundRect">
            <a:avLst>
              <a:gd name="adj" fmla="val 22048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66" name="Shape 63"/>
          <p:cNvSpPr/>
          <p:nvPr/>
        </p:nvSpPr>
        <p:spPr>
          <a:xfrm>
            <a:off x="3473806" y="3565246"/>
            <a:ext cx="38405" cy="562356"/>
          </a:xfrm>
          <a:prstGeom prst="rect">
            <a:avLst/>
          </a:prstGeom>
          <a:solidFill>
            <a:srgbClr val="F56565"/>
          </a:solidFill>
        </p:spPr>
      </p:sp>
      <p:sp>
        <p:nvSpPr>
          <p:cNvPr id="67" name="Shape 64"/>
          <p:cNvSpPr/>
          <p:nvPr/>
        </p:nvSpPr>
        <p:spPr>
          <a:xfrm>
            <a:off x="3626510" y="3670402"/>
            <a:ext cx="485546" cy="161849"/>
          </a:xfrm>
          <a:prstGeom prst="roundRect">
            <a:avLst>
              <a:gd name="adj" fmla="val 132934"/>
            </a:avLst>
          </a:prstGeom>
          <a:solidFill>
            <a:srgbClr val="FFF5F5"/>
          </a:solidFill>
        </p:spPr>
      </p:sp>
      <p:sp>
        <p:nvSpPr>
          <p:cNvPr id="68" name="Text 65"/>
          <p:cNvSpPr txBox="1"/>
          <p:nvPr/>
        </p:nvSpPr>
        <p:spPr>
          <a:xfrm>
            <a:off x="3684118" y="3650971"/>
            <a:ext cx="4480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5303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ÉTAPE 5</a:t>
            </a:r>
            <a:endParaRPr lang="en-US" sz="800" b="1" dirty="0">
              <a:solidFill>
                <a:srgbClr val="C53030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69" name="Text 66"/>
          <p:cNvSpPr txBox="1"/>
          <p:nvPr/>
        </p:nvSpPr>
        <p:spPr>
          <a:xfrm>
            <a:off x="3626510" y="3832022"/>
            <a:ext cx="1131113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Finalisation Hubs</a:t>
            </a:r>
            <a:endParaRPr lang="en-US" sz="900" b="1" dirty="0">
              <a:solidFill>
                <a:srgbClr val="2D374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70" name="Shape 67"/>
          <p:cNvSpPr/>
          <p:nvPr/>
        </p:nvSpPr>
        <p:spPr>
          <a:xfrm>
            <a:off x="3473806" y="4193210"/>
            <a:ext cx="2400300" cy="562356"/>
          </a:xfrm>
          <a:prstGeom prst="roundRect">
            <a:avLst>
              <a:gd name="adj" fmla="val 22048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71" name="Shape 68"/>
          <p:cNvSpPr/>
          <p:nvPr/>
        </p:nvSpPr>
        <p:spPr>
          <a:xfrm>
            <a:off x="3473806" y="4221785"/>
            <a:ext cx="38405" cy="562356"/>
          </a:xfrm>
          <a:prstGeom prst="rect">
            <a:avLst/>
          </a:prstGeom>
          <a:solidFill>
            <a:srgbClr val="ECC94B"/>
          </a:solidFill>
        </p:spPr>
      </p:sp>
      <p:sp>
        <p:nvSpPr>
          <p:cNvPr id="72" name="Shape 69"/>
          <p:cNvSpPr/>
          <p:nvPr/>
        </p:nvSpPr>
        <p:spPr>
          <a:xfrm>
            <a:off x="3626510" y="4326026"/>
            <a:ext cx="485546" cy="161849"/>
          </a:xfrm>
          <a:prstGeom prst="roundRect">
            <a:avLst>
              <a:gd name="adj" fmla="val 132934"/>
            </a:avLst>
          </a:prstGeom>
          <a:solidFill>
            <a:srgbClr val="FFFFF0"/>
          </a:solidFill>
        </p:spPr>
      </p:sp>
      <p:sp>
        <p:nvSpPr>
          <p:cNvPr id="73" name="Text 70"/>
          <p:cNvSpPr txBox="1"/>
          <p:nvPr/>
        </p:nvSpPr>
        <p:spPr>
          <a:xfrm>
            <a:off x="3684118" y="4336085"/>
            <a:ext cx="4480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75A16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ÉTAPE 6</a:t>
            </a:r>
            <a:endParaRPr lang="en-US" sz="800" b="1" dirty="0">
              <a:solidFill>
                <a:srgbClr val="975A16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74" name="Text 71"/>
          <p:cNvSpPr txBox="1"/>
          <p:nvPr/>
        </p:nvSpPr>
        <p:spPr>
          <a:xfrm>
            <a:off x="3626510" y="4488561"/>
            <a:ext cx="2093976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Approche antenne (Déploiement)</a:t>
            </a:r>
            <a:endParaRPr lang="en-US" sz="900" b="1" dirty="0">
              <a:solidFill>
                <a:srgbClr val="2D374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75" name="Shape 72"/>
          <p:cNvSpPr/>
          <p:nvPr/>
        </p:nvSpPr>
        <p:spPr>
          <a:xfrm>
            <a:off x="3473806" y="4878324"/>
            <a:ext cx="2400300" cy="562356"/>
          </a:xfrm>
          <a:prstGeom prst="roundRect">
            <a:avLst>
              <a:gd name="adj" fmla="val 22048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3473806" y="4878324"/>
            <a:ext cx="38405" cy="562356"/>
          </a:xfrm>
          <a:prstGeom prst="rect">
            <a:avLst/>
          </a:prstGeom>
          <a:solidFill>
            <a:srgbClr val="ECC94B"/>
          </a:solidFill>
        </p:spPr>
      </p:sp>
      <p:sp>
        <p:nvSpPr>
          <p:cNvPr id="77" name="Shape 74"/>
          <p:cNvSpPr/>
          <p:nvPr/>
        </p:nvSpPr>
        <p:spPr>
          <a:xfrm>
            <a:off x="3626510" y="4982566"/>
            <a:ext cx="485546" cy="161849"/>
          </a:xfrm>
          <a:prstGeom prst="roundRect">
            <a:avLst>
              <a:gd name="adj" fmla="val 132934"/>
            </a:avLst>
          </a:prstGeom>
          <a:solidFill>
            <a:srgbClr val="FFFFF0"/>
          </a:solidFill>
        </p:spPr>
      </p:sp>
      <p:sp>
        <p:nvSpPr>
          <p:cNvPr id="78" name="Text 75"/>
          <p:cNvSpPr txBox="1"/>
          <p:nvPr/>
        </p:nvSpPr>
        <p:spPr>
          <a:xfrm>
            <a:off x="3684118" y="4964049"/>
            <a:ext cx="4480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75A16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ÉTAPE 7</a:t>
            </a:r>
            <a:endParaRPr lang="en-US" sz="800" b="1" dirty="0">
              <a:solidFill>
                <a:srgbClr val="975A16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79" name="Text 76"/>
          <p:cNvSpPr txBox="1"/>
          <p:nvPr/>
        </p:nvSpPr>
        <p:spPr>
          <a:xfrm>
            <a:off x="3626510" y="5145100"/>
            <a:ext cx="1102766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Éradication Polio</a:t>
            </a:r>
            <a:endParaRPr lang="en-US" sz="900" b="1" dirty="0">
              <a:solidFill>
                <a:srgbClr val="2D374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80" name="Shape 77"/>
          <p:cNvSpPr/>
          <p:nvPr/>
        </p:nvSpPr>
        <p:spPr>
          <a:xfrm>
            <a:off x="3473806" y="5533949"/>
            <a:ext cx="2400300" cy="562356"/>
          </a:xfrm>
          <a:prstGeom prst="roundRect">
            <a:avLst>
              <a:gd name="adj" fmla="val 22048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81" name="Shape 78"/>
          <p:cNvSpPr/>
          <p:nvPr/>
        </p:nvSpPr>
        <p:spPr>
          <a:xfrm>
            <a:off x="3473806" y="5533949"/>
            <a:ext cx="38405" cy="562356"/>
          </a:xfrm>
          <a:prstGeom prst="rect">
            <a:avLst/>
          </a:prstGeom>
          <a:solidFill>
            <a:srgbClr val="4299E1"/>
          </a:solidFill>
        </p:spPr>
      </p:sp>
      <p:sp>
        <p:nvSpPr>
          <p:cNvPr id="82" name="Shape 79"/>
          <p:cNvSpPr/>
          <p:nvPr/>
        </p:nvSpPr>
        <p:spPr>
          <a:xfrm>
            <a:off x="3626510" y="5639105"/>
            <a:ext cx="485546" cy="161849"/>
          </a:xfrm>
          <a:prstGeom prst="roundRect">
            <a:avLst>
              <a:gd name="adj" fmla="val 132934"/>
            </a:avLst>
          </a:prstGeom>
          <a:solidFill>
            <a:srgbClr val="EBF8FF"/>
          </a:solidFill>
        </p:spPr>
      </p:sp>
      <p:sp>
        <p:nvSpPr>
          <p:cNvPr id="83" name="Text 80"/>
          <p:cNvSpPr txBox="1"/>
          <p:nvPr/>
        </p:nvSpPr>
        <p:spPr>
          <a:xfrm>
            <a:off x="3684118" y="5619674"/>
            <a:ext cx="4480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B6CB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ÉTAPE 8</a:t>
            </a:r>
            <a:endParaRPr lang="en-US" sz="800" b="1" dirty="0">
              <a:solidFill>
                <a:srgbClr val="2B6CB0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84" name="Text 81"/>
          <p:cNvSpPr txBox="1"/>
          <p:nvPr/>
        </p:nvSpPr>
        <p:spPr>
          <a:xfrm>
            <a:off x="3626510" y="5800725"/>
            <a:ext cx="722376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Début ECV</a:t>
            </a:r>
            <a:endParaRPr lang="en-US" sz="900" b="1" dirty="0">
              <a:solidFill>
                <a:srgbClr val="2D374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85" name="Shape 82"/>
          <p:cNvSpPr/>
          <p:nvPr/>
        </p:nvSpPr>
        <p:spPr>
          <a:xfrm>
            <a:off x="6167628" y="1314907"/>
            <a:ext cx="2704795" cy="5352898"/>
          </a:xfrm>
          <a:prstGeom prst="roundRect">
            <a:avLst>
              <a:gd name="adj" fmla="val 14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86" name="Shape 83"/>
          <p:cNvSpPr/>
          <p:nvPr/>
        </p:nvSpPr>
        <p:spPr>
          <a:xfrm>
            <a:off x="6176772" y="1295476"/>
            <a:ext cx="2686507" cy="790956"/>
          </a:xfrm>
          <a:prstGeom prst="rect">
            <a:avLst/>
          </a:prstGeom>
          <a:solidFill>
            <a:srgbClr val="FF9933"/>
          </a:solidFill>
        </p:spPr>
      </p:sp>
      <p:sp>
        <p:nvSpPr>
          <p:cNvPr id="87" name="Text 84"/>
          <p:cNvSpPr txBox="1"/>
          <p:nvPr/>
        </p:nvSpPr>
        <p:spPr>
          <a:xfrm>
            <a:off x="7356348" y="1409776"/>
            <a:ext cx="534010" cy="3246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T3</a:t>
            </a:r>
            <a:endParaRPr lang="en-US" sz="2100" b="1" dirty="0">
              <a:solidFill>
                <a:srgbClr val="FFFFFF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88" name="Text 85"/>
          <p:cNvSpPr txBox="1"/>
          <p:nvPr/>
        </p:nvSpPr>
        <p:spPr>
          <a:xfrm>
            <a:off x="6905549" y="1761820"/>
            <a:ext cx="132222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>
                    <a:alpha val="90000"/>
                  </a:srgbClr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Juillet – Septembre</a:t>
            </a:r>
            <a:endParaRPr lang="en-US" sz="900" b="1" dirty="0">
              <a:solidFill>
                <a:srgbClr val="FFFFFF">
                  <a:alpha val="90000"/>
                </a:srgbClr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89" name="Shape 86"/>
          <p:cNvSpPr/>
          <p:nvPr/>
        </p:nvSpPr>
        <p:spPr>
          <a:xfrm>
            <a:off x="6176772" y="2109521"/>
            <a:ext cx="2686507" cy="4552798"/>
          </a:xfrm>
          <a:prstGeom prst="rect">
            <a:avLst/>
          </a:prstGeom>
          <a:solidFill>
            <a:srgbClr val="FCFCFC"/>
          </a:solidFill>
        </p:spPr>
      </p:sp>
      <p:sp>
        <p:nvSpPr>
          <p:cNvPr id="90" name="Shape 87"/>
          <p:cNvSpPr/>
          <p:nvPr/>
        </p:nvSpPr>
        <p:spPr>
          <a:xfrm>
            <a:off x="6319418" y="2224507"/>
            <a:ext cx="2400300" cy="562356"/>
          </a:xfrm>
          <a:prstGeom prst="roundRect">
            <a:avLst>
              <a:gd name="adj" fmla="val 22048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6319418" y="2253082"/>
            <a:ext cx="38405" cy="562356"/>
          </a:xfrm>
          <a:prstGeom prst="rect">
            <a:avLst/>
          </a:prstGeom>
          <a:solidFill>
            <a:srgbClr val="ECC94B"/>
          </a:solidFill>
        </p:spPr>
      </p:sp>
      <p:sp>
        <p:nvSpPr>
          <p:cNvPr id="92" name="Shape 89"/>
          <p:cNvSpPr/>
          <p:nvPr/>
        </p:nvSpPr>
        <p:spPr>
          <a:xfrm>
            <a:off x="6472123" y="2357323"/>
            <a:ext cx="485546" cy="161849"/>
          </a:xfrm>
          <a:prstGeom prst="roundRect">
            <a:avLst>
              <a:gd name="adj" fmla="val 132934"/>
            </a:avLst>
          </a:prstGeom>
          <a:solidFill>
            <a:srgbClr val="FFFFF0"/>
          </a:solidFill>
        </p:spPr>
      </p:sp>
      <p:sp>
        <p:nvSpPr>
          <p:cNvPr id="93" name="Text 90"/>
          <p:cNvSpPr txBox="1"/>
          <p:nvPr/>
        </p:nvSpPr>
        <p:spPr>
          <a:xfrm>
            <a:off x="6529730" y="2338807"/>
            <a:ext cx="4480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75A16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ÉTAPE 3</a:t>
            </a:r>
            <a:endParaRPr lang="en-US" sz="800" b="1" dirty="0">
              <a:solidFill>
                <a:srgbClr val="975A16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94" name="Text 91"/>
          <p:cNvSpPr txBox="1"/>
          <p:nvPr/>
        </p:nvSpPr>
        <p:spPr>
          <a:xfrm>
            <a:off x="6472123" y="2518943"/>
            <a:ext cx="1359713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Extension VAP (Suite)</a:t>
            </a:r>
            <a:endParaRPr lang="en-US" sz="900" b="1" dirty="0">
              <a:solidFill>
                <a:srgbClr val="2D374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95" name="Shape 92"/>
          <p:cNvSpPr/>
          <p:nvPr/>
        </p:nvSpPr>
        <p:spPr>
          <a:xfrm>
            <a:off x="6319418" y="2908706"/>
            <a:ext cx="2400300" cy="562356"/>
          </a:xfrm>
          <a:prstGeom prst="roundRect">
            <a:avLst>
              <a:gd name="adj" fmla="val 22048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96" name="Shape 93"/>
          <p:cNvSpPr/>
          <p:nvPr/>
        </p:nvSpPr>
        <p:spPr>
          <a:xfrm>
            <a:off x="6319418" y="2908706"/>
            <a:ext cx="38405" cy="562356"/>
          </a:xfrm>
          <a:prstGeom prst="rect">
            <a:avLst/>
          </a:prstGeom>
          <a:solidFill>
            <a:srgbClr val="ECC94B"/>
          </a:solidFill>
        </p:spPr>
      </p:sp>
      <p:sp>
        <p:nvSpPr>
          <p:cNvPr id="97" name="Shape 94"/>
          <p:cNvSpPr/>
          <p:nvPr/>
        </p:nvSpPr>
        <p:spPr>
          <a:xfrm>
            <a:off x="6472123" y="3013862"/>
            <a:ext cx="485546" cy="161849"/>
          </a:xfrm>
          <a:prstGeom prst="roundRect">
            <a:avLst>
              <a:gd name="adj" fmla="val 132934"/>
            </a:avLst>
          </a:prstGeom>
          <a:solidFill>
            <a:srgbClr val="FFFFF0"/>
          </a:solidFill>
        </p:spPr>
      </p:sp>
      <p:sp>
        <p:nvSpPr>
          <p:cNvPr id="98" name="Text 95"/>
          <p:cNvSpPr txBox="1"/>
          <p:nvPr/>
        </p:nvSpPr>
        <p:spPr>
          <a:xfrm>
            <a:off x="6529730" y="2994431"/>
            <a:ext cx="4480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75A16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ÉTAPE 6</a:t>
            </a:r>
            <a:endParaRPr lang="en-US" sz="800" b="1" dirty="0">
              <a:solidFill>
                <a:srgbClr val="975A16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99" name="Text 96"/>
          <p:cNvSpPr txBox="1"/>
          <p:nvPr/>
        </p:nvSpPr>
        <p:spPr>
          <a:xfrm>
            <a:off x="6472123" y="3175483"/>
            <a:ext cx="1598371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Approche antenne (Suivi)</a:t>
            </a:r>
            <a:endParaRPr lang="en-US" sz="900" b="1" dirty="0">
              <a:solidFill>
                <a:srgbClr val="2D374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100" name="Shape 97"/>
          <p:cNvSpPr/>
          <p:nvPr/>
        </p:nvSpPr>
        <p:spPr>
          <a:xfrm>
            <a:off x="6319418" y="3536671"/>
            <a:ext cx="2400300" cy="562356"/>
          </a:xfrm>
          <a:prstGeom prst="roundRect">
            <a:avLst>
              <a:gd name="adj" fmla="val 22048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101" name="Shape 98"/>
          <p:cNvSpPr/>
          <p:nvPr/>
        </p:nvSpPr>
        <p:spPr>
          <a:xfrm>
            <a:off x="6319418" y="3565246"/>
            <a:ext cx="38405" cy="562356"/>
          </a:xfrm>
          <a:prstGeom prst="rect">
            <a:avLst/>
          </a:prstGeom>
          <a:solidFill>
            <a:srgbClr val="ECC94B"/>
          </a:solidFill>
        </p:spPr>
      </p:sp>
      <p:sp>
        <p:nvSpPr>
          <p:cNvPr id="102" name="Shape 99"/>
          <p:cNvSpPr/>
          <p:nvPr/>
        </p:nvSpPr>
        <p:spPr>
          <a:xfrm>
            <a:off x="6472123" y="3670402"/>
            <a:ext cx="485546" cy="161849"/>
          </a:xfrm>
          <a:prstGeom prst="roundRect">
            <a:avLst>
              <a:gd name="adj" fmla="val 132934"/>
            </a:avLst>
          </a:prstGeom>
          <a:solidFill>
            <a:srgbClr val="FFFFF0"/>
          </a:solidFill>
        </p:spPr>
      </p:sp>
      <p:sp>
        <p:nvSpPr>
          <p:cNvPr id="103" name="Text 100"/>
          <p:cNvSpPr txBox="1"/>
          <p:nvPr/>
        </p:nvSpPr>
        <p:spPr>
          <a:xfrm>
            <a:off x="6529730" y="3650971"/>
            <a:ext cx="4480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75A16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ÉTAPE 7</a:t>
            </a:r>
            <a:endParaRPr lang="en-US" sz="800" b="1" dirty="0">
              <a:solidFill>
                <a:srgbClr val="975A16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104" name="Text 101"/>
          <p:cNvSpPr txBox="1"/>
          <p:nvPr/>
        </p:nvSpPr>
        <p:spPr>
          <a:xfrm>
            <a:off x="6472123" y="3832022"/>
            <a:ext cx="1102766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Éradication Polio</a:t>
            </a:r>
            <a:endParaRPr lang="en-US" sz="900" b="1" dirty="0">
              <a:solidFill>
                <a:srgbClr val="2D374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105" name="Shape 102"/>
          <p:cNvSpPr/>
          <p:nvPr/>
        </p:nvSpPr>
        <p:spPr>
          <a:xfrm>
            <a:off x="6319418" y="4193210"/>
            <a:ext cx="2400300" cy="562356"/>
          </a:xfrm>
          <a:prstGeom prst="roundRect">
            <a:avLst>
              <a:gd name="adj" fmla="val 22048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106" name="Shape 103"/>
          <p:cNvSpPr/>
          <p:nvPr/>
        </p:nvSpPr>
        <p:spPr>
          <a:xfrm>
            <a:off x="6319418" y="4221785"/>
            <a:ext cx="38405" cy="562356"/>
          </a:xfrm>
          <a:prstGeom prst="rect">
            <a:avLst/>
          </a:prstGeom>
          <a:solidFill>
            <a:srgbClr val="ECC94B"/>
          </a:solidFill>
        </p:spPr>
      </p:sp>
      <p:sp>
        <p:nvSpPr>
          <p:cNvPr id="107" name="Shape 104"/>
          <p:cNvSpPr/>
          <p:nvPr/>
        </p:nvSpPr>
        <p:spPr>
          <a:xfrm>
            <a:off x="6472123" y="4326026"/>
            <a:ext cx="485546" cy="161849"/>
          </a:xfrm>
          <a:prstGeom prst="roundRect">
            <a:avLst>
              <a:gd name="adj" fmla="val 132934"/>
            </a:avLst>
          </a:prstGeom>
          <a:solidFill>
            <a:srgbClr val="FFFFF0"/>
          </a:solidFill>
        </p:spPr>
      </p:sp>
      <p:sp>
        <p:nvSpPr>
          <p:cNvPr id="108" name="Text 105"/>
          <p:cNvSpPr txBox="1"/>
          <p:nvPr/>
        </p:nvSpPr>
        <p:spPr>
          <a:xfrm>
            <a:off x="6529730" y="4307510"/>
            <a:ext cx="4480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75A16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ÉTAPE 8</a:t>
            </a:r>
            <a:endParaRPr lang="en-US" sz="800" b="1" dirty="0">
              <a:solidFill>
                <a:srgbClr val="975A16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109" name="Text 106"/>
          <p:cNvSpPr txBox="1"/>
          <p:nvPr/>
        </p:nvSpPr>
        <p:spPr>
          <a:xfrm>
            <a:off x="6472123" y="4488561"/>
            <a:ext cx="142646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ECV (Collecte/Analyse)</a:t>
            </a:r>
            <a:endParaRPr lang="en-US" sz="900" b="1" dirty="0">
              <a:solidFill>
                <a:srgbClr val="2D374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110" name="Shape 107"/>
          <p:cNvSpPr/>
          <p:nvPr/>
        </p:nvSpPr>
        <p:spPr>
          <a:xfrm>
            <a:off x="9013241" y="1314907"/>
            <a:ext cx="2704795" cy="5352898"/>
          </a:xfrm>
          <a:prstGeom prst="roundRect">
            <a:avLst>
              <a:gd name="adj" fmla="val 14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1" name="Shape 108"/>
          <p:cNvSpPr/>
          <p:nvPr/>
        </p:nvSpPr>
        <p:spPr>
          <a:xfrm>
            <a:off x="9022385" y="1295476"/>
            <a:ext cx="2686507" cy="790956"/>
          </a:xfrm>
          <a:prstGeom prst="rect">
            <a:avLst/>
          </a:prstGeom>
          <a:solidFill>
            <a:srgbClr val="6F42C1"/>
          </a:solidFill>
        </p:spPr>
      </p:sp>
      <p:sp>
        <p:nvSpPr>
          <p:cNvPr id="112" name="Text 109"/>
          <p:cNvSpPr txBox="1"/>
          <p:nvPr/>
        </p:nvSpPr>
        <p:spPr>
          <a:xfrm>
            <a:off x="10201046" y="1409776"/>
            <a:ext cx="534010" cy="3246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T4</a:t>
            </a:r>
            <a:endParaRPr lang="en-US" sz="2100" b="1" dirty="0">
              <a:solidFill>
                <a:srgbClr val="FFFFFF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113" name="Text 110"/>
          <p:cNvSpPr txBox="1"/>
          <p:nvPr/>
        </p:nvSpPr>
        <p:spPr>
          <a:xfrm>
            <a:off x="9703613" y="1761820"/>
            <a:ext cx="141732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>
                    <a:alpha val="90000"/>
                  </a:srgbClr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Octobre – Décembre</a:t>
            </a:r>
            <a:endParaRPr lang="en-US" sz="900" b="1" dirty="0">
              <a:solidFill>
                <a:srgbClr val="FFFFFF">
                  <a:alpha val="90000"/>
                </a:srgbClr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114" name="Shape 111"/>
          <p:cNvSpPr/>
          <p:nvPr/>
        </p:nvSpPr>
        <p:spPr>
          <a:xfrm>
            <a:off x="9022385" y="2109521"/>
            <a:ext cx="2686507" cy="4552798"/>
          </a:xfrm>
          <a:prstGeom prst="rect">
            <a:avLst/>
          </a:prstGeom>
          <a:solidFill>
            <a:srgbClr val="FCFCFC"/>
          </a:solidFill>
        </p:spPr>
      </p:sp>
      <p:sp>
        <p:nvSpPr>
          <p:cNvPr id="115" name="Shape 112"/>
          <p:cNvSpPr/>
          <p:nvPr/>
        </p:nvSpPr>
        <p:spPr>
          <a:xfrm>
            <a:off x="9165031" y="2224507"/>
            <a:ext cx="2400300" cy="562356"/>
          </a:xfrm>
          <a:prstGeom prst="roundRect">
            <a:avLst>
              <a:gd name="adj" fmla="val 22048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116" name="Shape 113"/>
          <p:cNvSpPr/>
          <p:nvPr/>
        </p:nvSpPr>
        <p:spPr>
          <a:xfrm>
            <a:off x="9165031" y="2253082"/>
            <a:ext cx="38405" cy="562356"/>
          </a:xfrm>
          <a:prstGeom prst="rect">
            <a:avLst/>
          </a:prstGeom>
          <a:solidFill>
            <a:srgbClr val="ECC94B"/>
          </a:solidFill>
        </p:spPr>
      </p:sp>
      <p:sp>
        <p:nvSpPr>
          <p:cNvPr id="117" name="Shape 114"/>
          <p:cNvSpPr/>
          <p:nvPr/>
        </p:nvSpPr>
        <p:spPr>
          <a:xfrm>
            <a:off x="9317736" y="2357323"/>
            <a:ext cx="485546" cy="161849"/>
          </a:xfrm>
          <a:prstGeom prst="roundRect">
            <a:avLst>
              <a:gd name="adj" fmla="val 132934"/>
            </a:avLst>
          </a:prstGeom>
          <a:solidFill>
            <a:srgbClr val="FFFFF0"/>
          </a:solidFill>
        </p:spPr>
      </p:sp>
      <p:sp>
        <p:nvSpPr>
          <p:cNvPr id="118" name="Text 115"/>
          <p:cNvSpPr txBox="1"/>
          <p:nvPr/>
        </p:nvSpPr>
        <p:spPr>
          <a:xfrm>
            <a:off x="9375343" y="2338807"/>
            <a:ext cx="4480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75A16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ÉTAPE 6</a:t>
            </a:r>
            <a:endParaRPr lang="en-US" sz="800" b="1" dirty="0">
              <a:solidFill>
                <a:srgbClr val="975A16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119" name="Text 116"/>
          <p:cNvSpPr txBox="1"/>
          <p:nvPr/>
        </p:nvSpPr>
        <p:spPr>
          <a:xfrm>
            <a:off x="9317736" y="2518943"/>
            <a:ext cx="161757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Approche antenne (Bilan)</a:t>
            </a:r>
            <a:endParaRPr lang="en-US" sz="900" b="1" dirty="0">
              <a:solidFill>
                <a:srgbClr val="2D374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120" name="Shape 117"/>
          <p:cNvSpPr/>
          <p:nvPr/>
        </p:nvSpPr>
        <p:spPr>
          <a:xfrm>
            <a:off x="9165031" y="2908706"/>
            <a:ext cx="2400300" cy="562356"/>
          </a:xfrm>
          <a:prstGeom prst="roundRect">
            <a:avLst>
              <a:gd name="adj" fmla="val 22048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121" name="Shape 118"/>
          <p:cNvSpPr/>
          <p:nvPr/>
        </p:nvSpPr>
        <p:spPr>
          <a:xfrm>
            <a:off x="9165031" y="2908706"/>
            <a:ext cx="38405" cy="562356"/>
          </a:xfrm>
          <a:prstGeom prst="rect">
            <a:avLst/>
          </a:prstGeom>
          <a:solidFill>
            <a:srgbClr val="F56565"/>
          </a:solidFill>
        </p:spPr>
      </p:sp>
      <p:sp>
        <p:nvSpPr>
          <p:cNvPr id="122" name="Shape 119"/>
          <p:cNvSpPr/>
          <p:nvPr/>
        </p:nvSpPr>
        <p:spPr>
          <a:xfrm>
            <a:off x="9317736" y="3013862"/>
            <a:ext cx="485546" cy="161849"/>
          </a:xfrm>
          <a:prstGeom prst="roundRect">
            <a:avLst>
              <a:gd name="adj" fmla="val 132934"/>
            </a:avLst>
          </a:prstGeom>
          <a:solidFill>
            <a:srgbClr val="FFF5F5"/>
          </a:solidFill>
        </p:spPr>
      </p:sp>
      <p:sp>
        <p:nvSpPr>
          <p:cNvPr id="123" name="Text 120"/>
          <p:cNvSpPr txBox="1"/>
          <p:nvPr/>
        </p:nvSpPr>
        <p:spPr>
          <a:xfrm>
            <a:off x="9375343" y="2994431"/>
            <a:ext cx="4480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5303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ÉTAPE 7</a:t>
            </a:r>
            <a:endParaRPr lang="en-US" sz="800" b="1" dirty="0">
              <a:solidFill>
                <a:srgbClr val="C53030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124" name="Text 121"/>
          <p:cNvSpPr txBox="1"/>
          <p:nvPr/>
        </p:nvSpPr>
        <p:spPr>
          <a:xfrm>
            <a:off x="9317736" y="3175483"/>
            <a:ext cx="1579169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Éradication Polio (Certif.)</a:t>
            </a:r>
            <a:endParaRPr lang="en-US" sz="900" b="1" dirty="0">
              <a:solidFill>
                <a:srgbClr val="2D374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125" name="Shape 122"/>
          <p:cNvSpPr/>
          <p:nvPr/>
        </p:nvSpPr>
        <p:spPr>
          <a:xfrm>
            <a:off x="9165031" y="3536671"/>
            <a:ext cx="2400300" cy="562356"/>
          </a:xfrm>
          <a:prstGeom prst="roundRect">
            <a:avLst>
              <a:gd name="adj" fmla="val 22048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000000">
                <a:alpha val="3000"/>
              </a:srgbClr>
            </a:outerShdw>
          </a:effectLst>
        </p:spPr>
      </p:sp>
      <p:sp>
        <p:nvSpPr>
          <p:cNvPr id="126" name="Shape 123"/>
          <p:cNvSpPr/>
          <p:nvPr/>
        </p:nvSpPr>
        <p:spPr>
          <a:xfrm>
            <a:off x="9165031" y="3565246"/>
            <a:ext cx="38405" cy="562356"/>
          </a:xfrm>
          <a:prstGeom prst="rect">
            <a:avLst/>
          </a:prstGeom>
          <a:solidFill>
            <a:srgbClr val="F56565"/>
          </a:solidFill>
        </p:spPr>
      </p:sp>
      <p:sp>
        <p:nvSpPr>
          <p:cNvPr id="127" name="Shape 124"/>
          <p:cNvSpPr/>
          <p:nvPr/>
        </p:nvSpPr>
        <p:spPr>
          <a:xfrm>
            <a:off x="9317736" y="3670402"/>
            <a:ext cx="485546" cy="161849"/>
          </a:xfrm>
          <a:prstGeom prst="roundRect">
            <a:avLst>
              <a:gd name="adj" fmla="val 132934"/>
            </a:avLst>
          </a:prstGeom>
          <a:solidFill>
            <a:srgbClr val="FFF5F5"/>
          </a:solidFill>
        </p:spPr>
      </p:sp>
      <p:sp>
        <p:nvSpPr>
          <p:cNvPr id="128" name="Text 125"/>
          <p:cNvSpPr txBox="1"/>
          <p:nvPr/>
        </p:nvSpPr>
        <p:spPr>
          <a:xfrm>
            <a:off x="9375343" y="3650971"/>
            <a:ext cx="448056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53030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ÉTAPE 8</a:t>
            </a:r>
            <a:endParaRPr lang="en-US" sz="800" b="1" dirty="0">
              <a:solidFill>
                <a:srgbClr val="C53030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129" name="Text 126"/>
          <p:cNvSpPr txBox="1"/>
          <p:nvPr/>
        </p:nvSpPr>
        <p:spPr>
          <a:xfrm>
            <a:off x="9317736" y="3832022"/>
            <a:ext cx="1121969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748"/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ECV (Finalisation)</a:t>
            </a:r>
            <a:endParaRPr lang="en-US" sz="900" b="1" dirty="0">
              <a:solidFill>
                <a:srgbClr val="2D3748"/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pic>
        <p:nvPicPr>
          <p:cNvPr id="130" name="Image 1" descr="preencoded.png"/>
          <p:cNvPicPr>
            <a:picLocks noChangeAspect="1"/>
          </p:cNvPicPr>
          <p:nvPr/>
        </p:nvPicPr>
        <p:blipFill>
          <a:blip r:embed="rId2"/>
          <a:srcRect l="-1923" r="-1923"/>
          <a:stretch>
            <a:fillRect/>
          </a:stretch>
        </p:blipFill>
        <p:spPr>
          <a:xfrm>
            <a:off x="3140964" y="1705356"/>
            <a:ext cx="123444" cy="190195"/>
          </a:xfrm>
          <a:prstGeom prst="rect">
            <a:avLst/>
          </a:prstGeom>
        </p:spPr>
      </p:pic>
      <p:pic>
        <p:nvPicPr>
          <p:cNvPr id="131" name="Image 2" descr="preencoded.png"/>
          <p:cNvPicPr>
            <a:picLocks noChangeAspect="1"/>
          </p:cNvPicPr>
          <p:nvPr/>
        </p:nvPicPr>
        <p:blipFill>
          <a:blip r:embed="rId2"/>
          <a:srcRect l="-1923" r="-1923"/>
          <a:stretch>
            <a:fillRect/>
          </a:stretch>
        </p:blipFill>
        <p:spPr>
          <a:xfrm>
            <a:off x="5986577" y="1705356"/>
            <a:ext cx="123444" cy="190195"/>
          </a:xfrm>
          <a:prstGeom prst="rect">
            <a:avLst/>
          </a:prstGeom>
        </p:spPr>
      </p:pic>
      <p:pic>
        <p:nvPicPr>
          <p:cNvPr id="132" name="Image 3" descr="preencoded.png"/>
          <p:cNvPicPr>
            <a:picLocks noChangeAspect="1"/>
          </p:cNvPicPr>
          <p:nvPr/>
        </p:nvPicPr>
        <p:blipFill>
          <a:blip r:embed="rId2"/>
          <a:srcRect l="-1923" r="-1923"/>
          <a:stretch>
            <a:fillRect/>
          </a:stretch>
        </p:blipFill>
        <p:spPr>
          <a:xfrm>
            <a:off x="8832190" y="1705356"/>
            <a:ext cx="123444" cy="190195"/>
          </a:xfrm>
          <a:prstGeom prst="rect">
            <a:avLst/>
          </a:prstGeom>
        </p:spPr>
      </p:pic>
      <p:sp>
        <p:nvSpPr>
          <p:cNvPr id="133" name="Shape 12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366"/>
          </a:solidFill>
        </p:spPr>
      </p:sp>
      <p:sp>
        <p:nvSpPr>
          <p:cNvPr id="134" name="Text 128"/>
          <p:cNvSpPr txBox="1"/>
          <p:nvPr/>
        </p:nvSpPr>
        <p:spPr>
          <a:xfrm>
            <a:off x="381305" y="6667805"/>
            <a:ext cx="209580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Prochaines Étapes Prioritaires 2026</a:t>
            </a:r>
            <a:endParaRPr lang="en-US" sz="900" dirty="0"/>
          </a:p>
        </p:txBody>
      </p:sp>
      <p:sp>
        <p:nvSpPr>
          <p:cNvPr id="135" name="Text 129"/>
          <p:cNvSpPr txBox="1"/>
          <p:nvPr/>
        </p:nvSpPr>
        <p:spPr>
          <a:xfrm>
            <a:off x="11403482" y="6667805"/>
            <a:ext cx="49560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Page 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" name="Shape 24"/>
          <p:cNvSpPr/>
          <p:nvPr/>
        </p:nvSpPr>
        <p:spPr>
          <a:xfrm>
            <a:off x="2146630" y="868934"/>
            <a:ext cx="4000500" cy="5095951"/>
          </a:xfrm>
          <a:prstGeom prst="roundRect">
            <a:avLst>
              <a:gd name="adj" fmla="val 1088"/>
            </a:avLst>
          </a:prstGeom>
          <a:solidFill>
            <a:srgbClr val="003366"/>
          </a:solidFill>
          <a:effectLst>
            <a:outerShdw blurRad="241300" dist="101600" dir="5400000" algn="bl" rotWithShape="0">
              <a:srgbClr val="003366">
                <a:alpha val="30000"/>
              </a:srgbClr>
            </a:outerShdw>
          </a:effectLst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852672" y="1707591"/>
            <a:ext cx="580644" cy="580644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2674239" y="2536800"/>
            <a:ext cx="3152851" cy="1448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Tw Cen MT" panose="020B0602020104020603" charset="0"/>
                <a:ea typeface="Montserrat" pitchFamily="34" charset="-122"/>
                <a:cs typeface="Tw Cen MT" panose="020B0602020104020603" charset="0"/>
              </a:rPr>
              <a:t>Ensemble, faisons de 2026 une année décisive pour la vaccination en RDC !</a:t>
            </a:r>
            <a:endParaRPr lang="en-US" sz="2100" b="1" dirty="0">
              <a:solidFill>
                <a:srgbClr val="FFFFFF"/>
              </a:solidFill>
              <a:latin typeface="Tw Cen MT" panose="020B0602020104020603" charset="0"/>
              <a:ea typeface="Montserrat" pitchFamily="34" charset="-122"/>
              <a:cs typeface="Tw Cen MT" panose="020B0602020104020603" charset="0"/>
            </a:endParaRPr>
          </a:p>
        </p:txBody>
      </p:sp>
      <p:sp>
        <p:nvSpPr>
          <p:cNvPr id="36" name="Shape 26"/>
          <p:cNvSpPr/>
          <p:nvPr/>
        </p:nvSpPr>
        <p:spPr>
          <a:xfrm>
            <a:off x="3861130" y="4393032"/>
            <a:ext cx="571500" cy="38405"/>
          </a:xfrm>
          <a:prstGeom prst="roundRect">
            <a:avLst>
              <a:gd name="adj" fmla="val 1190470"/>
            </a:avLst>
          </a:prstGeom>
          <a:solidFill>
            <a:srgbClr val="28A745"/>
          </a:solidFill>
        </p:spPr>
      </p:sp>
      <p:sp>
        <p:nvSpPr>
          <p:cNvPr id="37" name="Text 27"/>
          <p:cNvSpPr txBox="1"/>
          <p:nvPr/>
        </p:nvSpPr>
        <p:spPr>
          <a:xfrm>
            <a:off x="2637663" y="4725873"/>
            <a:ext cx="3143707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Mobilisation générale pour la santé de nos enfants</a:t>
            </a:r>
            <a:endParaRPr lang="en-US" sz="1200" dirty="0">
              <a:solidFill>
                <a:srgbClr val="FFFFFF">
                  <a:alpha val="90000"/>
                </a:srgbClr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  <p:sp>
        <p:nvSpPr>
          <p:cNvPr id="2" name="Text 27"/>
          <p:cNvSpPr txBox="1"/>
          <p:nvPr/>
        </p:nvSpPr>
        <p:spPr>
          <a:xfrm>
            <a:off x="7194550" y="972820"/>
            <a:ext cx="3721100" cy="49599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chemeClr val="tx1">
                    <a:alpha val="90000"/>
                  </a:schemeClr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M</a:t>
            </a:r>
            <a:r>
              <a:rPr lang="" altLang="en-US" sz="4000" dirty="0">
                <a:solidFill>
                  <a:schemeClr val="tx1">
                    <a:alpha val="90000"/>
                  </a:schemeClr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ERCI</a:t>
            </a:r>
            <a:endParaRPr lang="" altLang="en-US" sz="4000" dirty="0">
              <a:solidFill>
                <a:schemeClr val="tx1">
                  <a:alpha val="90000"/>
                </a:schemeClr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  <a:p>
            <a:pPr marL="0" indent="0" algn="ctr">
              <a:buNone/>
            </a:pPr>
            <a:r>
              <a:rPr lang="" altLang="en-US" sz="4000" dirty="0">
                <a:solidFill>
                  <a:schemeClr val="tx1">
                    <a:alpha val="90000"/>
                  </a:schemeClr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AKSANTI</a:t>
            </a:r>
            <a:endParaRPr lang="" altLang="en-US" sz="4000" dirty="0">
              <a:solidFill>
                <a:schemeClr val="tx1">
                  <a:alpha val="90000"/>
                </a:schemeClr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  <a:p>
            <a:pPr marL="0" indent="0" algn="ctr">
              <a:buNone/>
            </a:pPr>
            <a:r>
              <a:rPr lang="" altLang="en-US" sz="4000" dirty="0">
                <a:solidFill>
                  <a:schemeClr val="tx1">
                    <a:alpha val="90000"/>
                  </a:schemeClr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TUASAKIDILA</a:t>
            </a:r>
            <a:endParaRPr lang="" altLang="en-US" sz="4000" dirty="0">
              <a:solidFill>
                <a:schemeClr val="tx1">
                  <a:alpha val="90000"/>
                </a:schemeClr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  <a:p>
            <a:pPr marL="0" indent="0" algn="ctr">
              <a:buNone/>
            </a:pPr>
            <a:r>
              <a:rPr lang="" altLang="en-US" sz="4000" dirty="0">
                <a:solidFill>
                  <a:schemeClr val="tx1">
                    <a:alpha val="90000"/>
                  </a:schemeClr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MATONDO</a:t>
            </a:r>
            <a:endParaRPr lang="" altLang="en-US" sz="4000" dirty="0">
              <a:solidFill>
                <a:schemeClr val="tx1">
                  <a:alpha val="90000"/>
                </a:schemeClr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  <a:p>
            <a:pPr marL="0" indent="0" algn="ctr">
              <a:buNone/>
            </a:pPr>
            <a:r>
              <a:rPr lang="" altLang="en-US" sz="4000" dirty="0">
                <a:solidFill>
                  <a:schemeClr val="tx1">
                    <a:alpha val="90000"/>
                  </a:schemeClr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MATONDI</a:t>
            </a:r>
            <a:endParaRPr lang="" altLang="en-US" sz="4000" dirty="0">
              <a:solidFill>
                <a:schemeClr val="tx1">
                  <a:alpha val="90000"/>
                </a:schemeClr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  <a:p>
            <a:pPr marL="0" indent="0" algn="ctr">
              <a:buNone/>
            </a:pPr>
            <a:r>
              <a:rPr lang="" altLang="en-US" sz="4000" dirty="0">
                <a:solidFill>
                  <a:schemeClr val="tx1">
                    <a:alpha val="90000"/>
                  </a:schemeClr>
                </a:solidFill>
                <a:latin typeface="Tw Cen MT" panose="020B0602020104020603" charset="0"/>
                <a:ea typeface="Open Sans" pitchFamily="34" charset="-122"/>
                <a:cs typeface="Tw Cen MT" panose="020B0602020104020603" charset="0"/>
              </a:rPr>
              <a:t>LOSAKA EFULA</a:t>
            </a:r>
            <a:endParaRPr lang="" altLang="en-US" sz="4000" dirty="0">
              <a:solidFill>
                <a:schemeClr val="tx1">
                  <a:alpha val="90000"/>
                </a:schemeClr>
              </a:solidFill>
              <a:latin typeface="Tw Cen MT" panose="020B0602020104020603" charset="0"/>
              <a:ea typeface="Open Sans" pitchFamily="34" charset="-122"/>
              <a:cs typeface="Tw Cen MT" panose="020B0602020104020603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6.48795275590544,&quot;left&quot;:45,&quot;top&quot;:133.488031496063,&quot;width&quot;:876.45}"/>
</p:tagLst>
</file>

<file path=ppt/tags/tag2.xml><?xml version="1.0" encoding="utf-8"?>
<p:tagLst xmlns:p="http://schemas.openxmlformats.org/presentationml/2006/main">
  <p:tag name="KSO_WM_DIAGRAM_VIRTUALLY_FRAME" val="{&quot;height&quot;:376.48795275590544,&quot;left&quot;:45,&quot;top&quot;:133.488031496063,&quot;width&quot;:876.45}"/>
</p:tagLst>
</file>

<file path=ppt/tags/tag3.xml><?xml version="1.0" encoding="utf-8"?>
<p:tagLst xmlns:p="http://schemas.openxmlformats.org/presentationml/2006/main">
  <p:tag name="KSO_WM_DIAGRAM_VIRTUALLY_FRAME" val="{&quot;height&quot;:376.48795275590544,&quot;left&quot;:45,&quot;top&quot;:133.488031496063,&quot;width&quot;:876.45}"/>
</p:tagLst>
</file>

<file path=ppt/tags/tag4.xml><?xml version="1.0" encoding="utf-8"?>
<p:tagLst xmlns:p="http://schemas.openxmlformats.org/presentationml/2006/main">
  <p:tag name="KSO_WM_DIAGRAM_VIRTUALLY_FRAME" val="{&quot;height&quot;:376.48795275590544,&quot;left&quot;:45,&quot;top&quot;:133.488031496063,&quot;width&quot;:876.45}"/>
</p:tagLst>
</file>

<file path=ppt/tags/tag5.xml><?xml version="1.0" encoding="utf-8"?>
<p:tagLst xmlns:p="http://schemas.openxmlformats.org/presentationml/2006/main">
  <p:tag name="KSO_WM_DIAGRAM_VIRTUALLY_FRAME" val="{&quot;height&quot;:376.48795275590544,&quot;left&quot;:45,&quot;top&quot;:133.488031496063,&quot;width&quot;:876.45}"/>
</p:tagLst>
</file>

<file path=ppt/tags/tag6.xml><?xml version="1.0" encoding="utf-8"?>
<p:tagLst xmlns:p="http://schemas.openxmlformats.org/presentationml/2006/main">
  <p:tag name="KSO_WM_DIAGRAM_VIRTUALLY_FRAME" val="{&quot;height&quot;:376.48795275590544,&quot;left&quot;:45,&quot;top&quot;:133.488031496063,&quot;width&quot;:876.45}"/>
</p:tagLst>
</file>

<file path=ppt/tags/tag7.xml><?xml version="1.0" encoding="utf-8"?>
<p:tagLst xmlns:p="http://schemas.openxmlformats.org/presentationml/2006/main">
  <p:tag name="KSO_WM_DIAGRAM_VIRTUALLY_FRAME" val="{&quot;height&quot;:376.48795275590544,&quot;left&quot;:45,&quot;top&quot;:133.488031496063,&quot;width&quot;:876.45}"/>
</p:tagLst>
</file>

<file path=ppt/tags/tag8.xml><?xml version="1.0" encoding="utf-8"?>
<p:tagLst xmlns:p="http://schemas.openxmlformats.org/presentationml/2006/main">
  <p:tag name="KSO_WM_DIAGRAM_VIRTUALLY_FRAME" val="{&quot;height&quot;:376.48795275590544,&quot;left&quot;:45,&quot;top&quot;:133.488031496063,&quot;width&quot;:876.45}"/>
</p:tagLst>
</file>

<file path=ppt/tags/tag9.xml><?xml version="1.0" encoding="utf-8"?>
<p:tagLst xmlns:p="http://schemas.openxmlformats.org/presentationml/2006/main">
  <p:tag name="KSO_WM_DIAGRAM_VIRTUALLY_FRAME" val="{&quot;height&quot;:376.48795275590544,&quot;left&quot;:45,&quot;top&quot;:133.488031496063,&quot;width&quot;:876.45}"/>
</p:tagLst>
</file>

<file path=ppt/tags/tag10.xml><?xml version="1.0" encoding="utf-8"?>
<p:tagLst xmlns:p="http://schemas.openxmlformats.org/presentationml/2006/main">
  <p:tag name="KSO_WM_DIAGRAM_VIRTUALLY_FRAME" val="{&quot;height&quot;:376.48795275590544,&quot;left&quot;:45,&quot;top&quot;:133.488031496063,&quot;width&quot;:876.45}"/>
</p:tagLst>
</file>

<file path=ppt/tags/tag11.xml><?xml version="1.0" encoding="utf-8"?>
<p:tagLst xmlns:p="http://schemas.openxmlformats.org/presentationml/2006/main">
  <p:tag name="KSO_WM_DIAGRAM_VIRTUALLY_FRAME" val="{&quot;height&quot;:376.48795275590544,&quot;left&quot;:45,&quot;top&quot;:133.488031496063,&quot;width&quot;:876.45}"/>
</p:tagLst>
</file>

<file path=ppt/tags/tag12.xml><?xml version="1.0" encoding="utf-8"?>
<p:tagLst xmlns:p="http://schemas.openxmlformats.org/presentationml/2006/main">
  <p:tag name="KSO_WM_DIAGRAM_VIRTUALLY_FRAME" val="{&quot;height&quot;:376.48795275590544,&quot;left&quot;:45,&quot;top&quot;:133.488031496063,&quot;width&quot;:876.45}"/>
</p:tagLst>
</file>

<file path=ppt/tags/tag13.xml><?xml version="1.0" encoding="utf-8"?>
<p:tagLst xmlns:p="http://schemas.openxmlformats.org/presentationml/2006/main">
  <p:tag name="KSO_WM_DIAGRAM_VIRTUALLY_FRAME" val="{&quot;height&quot;:376.48795275590544,&quot;left&quot;:45,&quot;top&quot;:133.488031496063,&quot;width&quot;:876.45}"/>
</p:tagLst>
</file>

<file path=ppt/tags/tag14.xml><?xml version="1.0" encoding="utf-8"?>
<p:tagLst xmlns:p="http://schemas.openxmlformats.org/presentationml/2006/main">
  <p:tag name="KSO_WM_DIAGRAM_VIRTUALLY_FRAME" val="{&quot;height&quot;:376.48795275590544,&quot;left&quot;:45,&quot;top&quot;:133.488031496063,&quot;width&quot;:876.45}"/>
</p:tagLst>
</file>

<file path=ppt/tags/tag15.xml><?xml version="1.0" encoding="utf-8"?>
<p:tagLst xmlns:p="http://schemas.openxmlformats.org/presentationml/2006/main">
  <p:tag name="KSO_WM_DIAGRAM_VIRTUALLY_FRAME" val="{&quot;height&quot;:376.48795275590544,&quot;left&quot;:45,&quot;top&quot;:133.488031496063,&quot;width&quot;:876.45}"/>
</p:tagLst>
</file>

<file path=ppt/tags/tag16.xml><?xml version="1.0" encoding="utf-8"?>
<p:tagLst xmlns:p="http://schemas.openxmlformats.org/presentationml/2006/main">
  <p:tag name="KSO_WM_DIAGRAM_VIRTUALLY_FRAME" val="{&quot;height&quot;:376.48795275590544,&quot;left&quot;:45,&quot;top&quot;:133.488031496063,&quot;width&quot;:876.45}"/>
</p:tagLst>
</file>

<file path=ppt/tags/tag17.xml><?xml version="1.0" encoding="utf-8"?>
<p:tagLst xmlns:p="http://schemas.openxmlformats.org/presentationml/2006/main">
  <p:tag name="KSO_WM_DIAGRAM_VIRTUALLY_FRAME" val="{&quot;height&quot;:376.48795275590544,&quot;left&quot;:45,&quot;top&quot;:133.488031496063,&quot;width&quot;:876.45}"/>
</p:tagLst>
</file>

<file path=ppt/tags/tag18.xml><?xml version="1.0" encoding="utf-8"?>
<p:tagLst xmlns:p="http://schemas.openxmlformats.org/presentationml/2006/main">
  <p:tag name="KSO_WM_DIAGRAM_VIRTUALLY_FRAME" val="{&quot;height&quot;:376.48795275590544,&quot;left&quot;:45,&quot;top&quot;:133.488031496063,&quot;width&quot;:876.45}"/>
</p:tagLst>
</file>

<file path=ppt/tags/tag19.xml><?xml version="1.0" encoding="utf-8"?>
<p:tagLst xmlns:p="http://schemas.openxmlformats.org/presentationml/2006/main">
  <p:tag name="KSO_WM_DIAGRAM_VIRTUALLY_FRAME" val="{&quot;height&quot;:376.48795275590544,&quot;left&quot;:45,&quot;top&quot;:133.488031496063,&quot;width&quot;:876.45}"/>
</p:tagLst>
</file>

<file path=ppt/tags/tag20.xml><?xml version="1.0" encoding="utf-8"?>
<p:tagLst xmlns:p="http://schemas.openxmlformats.org/presentationml/2006/main">
  <p:tag name="KSO_WM_DIAGRAM_VIRTUALLY_FRAME" val="{&quot;height&quot;:376.48795275590544,&quot;left&quot;:45,&quot;top&quot;:133.488031496063,&quot;width&quot;:876.45}"/>
</p:tagLst>
</file>

<file path=ppt/tags/tag21.xml><?xml version="1.0" encoding="utf-8"?>
<p:tagLst xmlns:p="http://schemas.openxmlformats.org/presentationml/2006/main">
  <p:tag name="KSO_WM_DIAGRAM_VIRTUALLY_FRAME" val="{&quot;height&quot;:376.48795275590544,&quot;left&quot;:45,&quot;top&quot;:133.488031496063,&quot;width&quot;:876.45}"/>
</p:tagLst>
</file>

<file path=ppt/tags/tag22.xml><?xml version="1.0" encoding="utf-8"?>
<p:tagLst xmlns:p="http://schemas.openxmlformats.org/presentationml/2006/main">
  <p:tag name="KSO_WM_DIAGRAM_VIRTUALLY_FRAME" val="{&quot;height&quot;:376.48795275590544,&quot;left&quot;:45,&quot;top&quot;:133.488031496063,&quot;width&quot;:876.45}"/>
</p:tagLst>
</file>

<file path=ppt/tags/tag23.xml><?xml version="1.0" encoding="utf-8"?>
<p:tagLst xmlns:p="http://schemas.openxmlformats.org/presentationml/2006/main">
  <p:tag name="KSO_WM_DIAGRAM_VIRTUALLY_FRAME" val="{&quot;height&quot;:376.48795275590544,&quot;left&quot;:45,&quot;top&quot;:133.488031496063,&quot;width&quot;:876.45}"/>
</p:tagLst>
</file>

<file path=ppt/tags/tag24.xml><?xml version="1.0" encoding="utf-8"?>
<p:tagLst xmlns:p="http://schemas.openxmlformats.org/presentationml/2006/main">
  <p:tag name="KSO_WM_DIAGRAM_VIRTUALLY_FRAME" val="{&quot;height&quot;:376.48795275590544,&quot;left&quot;:45,&quot;top&quot;:133.488031496063,&quot;width&quot;:876.45}"/>
</p:tagLst>
</file>

<file path=ppt/tags/tag25.xml><?xml version="1.0" encoding="utf-8"?>
<p:tagLst xmlns:p="http://schemas.openxmlformats.org/presentationml/2006/main">
  <p:tag name="KSO_WM_DIAGRAM_VIRTUALLY_FRAME" val="{&quot;height&quot;:469.871968503937,&quot;left&quot;:45,&quot;top&quot;:40.1040157480315,&quot;width&quot;:876.45}"/>
</p:tagLst>
</file>

<file path=ppt/tags/tag26.xml><?xml version="1.0" encoding="utf-8"?>
<p:tagLst xmlns:p="http://schemas.openxmlformats.org/presentationml/2006/main">
  <p:tag name="KSO_WM_DIAGRAM_VIRTUALLY_FRAME" val="{&quot;height&quot;:469.871968503937,&quot;left&quot;:45,&quot;top&quot;:40.1040157480315,&quot;width&quot;:876.45}"/>
</p:tagLst>
</file>

<file path=ppt/tags/tag27.xml><?xml version="1.0" encoding="utf-8"?>
<p:tagLst xmlns:p="http://schemas.openxmlformats.org/presentationml/2006/main">
  <p:tag name="KSO_WM_DIAGRAM_VIRTUALLY_FRAME" val="{&quot;height&quot;:469.871968503937,&quot;left&quot;:45,&quot;top&quot;:40.1040157480315,&quot;width&quot;:876.45}"/>
</p:tagLst>
</file>

<file path=ppt/tags/tag28.xml><?xml version="1.0" encoding="utf-8"?>
<p:tagLst xmlns:p="http://schemas.openxmlformats.org/presentationml/2006/main">
  <p:tag name="KSO_WM_DIAGRAM_VIRTUALLY_FRAME" val="{&quot;height&quot;:469.871968503937,&quot;left&quot;:45,&quot;top&quot;:40.1040157480315,&quot;width&quot;:876.45}"/>
</p:tagLst>
</file>

<file path=ppt/tags/tag29.xml><?xml version="1.0" encoding="utf-8"?>
<p:tagLst xmlns:p="http://schemas.openxmlformats.org/presentationml/2006/main">
  <p:tag name="KSO_WM_DIAGRAM_VIRTUALLY_FRAME" val="{&quot;height&quot;:469.871968503937,&quot;left&quot;:45,&quot;top&quot;:40.1040157480315,&quot;width&quot;:876.45}"/>
</p:tagLst>
</file>

<file path=ppt/tags/tag30.xml><?xml version="1.0" encoding="utf-8"?>
<p:tagLst xmlns:p="http://schemas.openxmlformats.org/presentationml/2006/main">
  <p:tag name="KSO_WM_DIAGRAM_VIRTUALLY_FRAME" val="{&quot;height&quot;:469.871968503937,&quot;left&quot;:45,&quot;top&quot;:40.1040157480315,&quot;width&quot;:876.45}"/>
</p:tagLst>
</file>

<file path=ppt/tags/tag31.xml><?xml version="1.0" encoding="utf-8"?>
<p:tagLst xmlns:p="http://schemas.openxmlformats.org/presentationml/2006/main">
  <p:tag name="KSO_WM_DIAGRAM_VIRTUALLY_FRAME" val="{&quot;height&quot;:469.871968503937,&quot;left&quot;:45,&quot;top&quot;:40.1040157480315,&quot;width&quot;:876.45}"/>
</p:tagLst>
</file>

<file path=ppt/tags/tag32.xml><?xml version="1.0" encoding="utf-8"?>
<p:tagLst xmlns:p="http://schemas.openxmlformats.org/presentationml/2006/main">
  <p:tag name="KSO_WM_DIAGRAM_VIRTUALLY_FRAME" val="{&quot;height&quot;:469.871968503937,&quot;left&quot;:45,&quot;top&quot;:40.1040157480315,&quot;width&quot;:876.45}"/>
</p:tagLst>
</file>

<file path=ppt/tags/tag33.xml><?xml version="1.0" encoding="utf-8"?>
<p:tagLst xmlns:p="http://schemas.openxmlformats.org/presentationml/2006/main">
  <p:tag name="KSO_WM_DIAGRAM_VIRTUALLY_FRAME" val="{&quot;height&quot;:469.871968503937,&quot;left&quot;:45,&quot;top&quot;:40.1040157480315,&quot;width&quot;:876.45}"/>
</p:tagLst>
</file>

<file path=ppt/tags/tag34.xml><?xml version="1.0" encoding="utf-8"?>
<p:tagLst xmlns:p="http://schemas.openxmlformats.org/presentationml/2006/main">
  <p:tag name="KSO_WM_DIAGRAM_VIRTUALLY_FRAME" val="{&quot;height&quot;:469.871968503937,&quot;left&quot;:45,&quot;top&quot;:40.1040157480315,&quot;width&quot;:876.45}"/>
</p:tagLst>
</file>

<file path=ppt/tags/tag35.xml><?xml version="1.0" encoding="utf-8"?>
<p:tagLst xmlns:p="http://schemas.openxmlformats.org/presentationml/2006/main">
  <p:tag name="KSO_WM_DIAGRAM_VIRTUALLY_FRAME" val="{&quot;height&quot;:469.871968503937,&quot;left&quot;:45,&quot;top&quot;:40.1040157480315,&quot;width&quot;:876.45}"/>
</p:tagLst>
</file>

<file path=ppt/tags/tag36.xml><?xml version="1.0" encoding="utf-8"?>
<p:tagLst xmlns:p="http://schemas.openxmlformats.org/presentationml/2006/main">
  <p:tag name="KSO_WM_DIAGRAM_VIRTUALLY_FRAME" val="{&quot;height&quot;:469.871968503937,&quot;left&quot;:45,&quot;top&quot;:40.1040157480315,&quot;width&quot;:876.45}"/>
</p:tagLst>
</file>

<file path=ppt/tags/tag37.xml><?xml version="1.0" encoding="utf-8"?>
<p:tagLst xmlns:p="http://schemas.openxmlformats.org/presentationml/2006/main">
  <p:tag name="KSO_WM_DIAGRAM_VIRTUALLY_FRAME" val="{&quot;height&quot;:469.871968503937,&quot;left&quot;:45,&quot;top&quot;:40.1040157480315,&quot;width&quot;:876.45}"/>
</p:tagLst>
</file>

<file path=ppt/tags/tag38.xml><?xml version="1.0" encoding="utf-8"?>
<p:tagLst xmlns:p="http://schemas.openxmlformats.org/presentationml/2006/main">
  <p:tag name="KSO_WM_DIAGRAM_VIRTUALLY_FRAME" val="{&quot;height&quot;:469.871968503937,&quot;left&quot;:45,&quot;top&quot;:40.1040157480315,&quot;width&quot;:876.45}"/>
</p:tagLst>
</file>

<file path=ppt/tags/tag39.xml><?xml version="1.0" encoding="utf-8"?>
<p:tagLst xmlns:p="http://schemas.openxmlformats.org/presentationml/2006/main">
  <p:tag name="KSO_WM_DIAGRAM_VIRTUALLY_FRAME" val="{&quot;height&quot;:469.871968503937,&quot;left&quot;:45,&quot;top&quot;:40.1040157480315,&quot;width&quot;:876.45}"/>
</p:tagLst>
</file>

<file path=ppt/tags/tag40.xml><?xml version="1.0" encoding="utf-8"?>
<p:tagLst xmlns:p="http://schemas.openxmlformats.org/presentationml/2006/main">
  <p:tag name="KSO_WM_DIAGRAM_VIRTUALLY_FRAME" val="{&quot;height&quot;:469.871968503937,&quot;left&quot;:45,&quot;top&quot;:40.1040157480315,&quot;width&quot;:876.45}"/>
</p:tagLst>
</file>

<file path=ppt/tags/tag41.xml><?xml version="1.0" encoding="utf-8"?>
<p:tagLst xmlns:p="http://schemas.openxmlformats.org/presentationml/2006/main">
  <p:tag name="KSO_WM_DIAGRAM_VIRTUALLY_FRAME" val="{&quot;height&quot;:469.871968503937,&quot;left&quot;:45,&quot;top&quot;:40.1040157480315,&quot;width&quot;:876.45}"/>
</p:tagLst>
</file>

<file path=ppt/tags/tag42.xml><?xml version="1.0" encoding="utf-8"?>
<p:tagLst xmlns:p="http://schemas.openxmlformats.org/presentationml/2006/main">
  <p:tag name="KSO_WM_DIAGRAM_VIRTUALLY_FRAME" val="{&quot;height&quot;:376.48795275590544,&quot;left&quot;:45,&quot;top&quot;:133.488031496063,&quot;width&quot;:876.4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5007</Words>
  <Application>WPS Presentation</Application>
  <PresentationFormat>On-screen Show (16:9)</PresentationFormat>
  <Paragraphs>331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31" baseType="lpstr">
      <vt:lpstr>Arial</vt:lpstr>
      <vt:lpstr>SimSun</vt:lpstr>
      <vt:lpstr>Wingdings</vt:lpstr>
      <vt:lpstr>Montserrat</vt:lpstr>
      <vt:lpstr>Segoe Print</vt:lpstr>
      <vt:lpstr>Montserrat</vt:lpstr>
      <vt:lpstr>Montserrat</vt:lpstr>
      <vt:lpstr>Open Sans</vt:lpstr>
      <vt:lpstr>Open Sans</vt:lpstr>
      <vt:lpstr>Open Sans</vt:lpstr>
      <vt:lpstr>Calibri</vt:lpstr>
      <vt:lpstr>Microsoft YaHei</vt:lpstr>
      <vt:lpstr>Arial Unicode MS</vt:lpstr>
      <vt:lpstr>MingLiU-ExtB</vt:lpstr>
      <vt:lpstr>Tw Cen MT</vt:lpstr>
      <vt:lpstr>Times New Roman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Generated by Gen-Spark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creator>Visual Extract to PPTX Converter</dc:creator>
  <dc:subject>PptxGenJS Presentation</dc:subject>
  <cp:lastModifiedBy>Mymy MWIKA</cp:lastModifiedBy>
  <cp:revision>4</cp:revision>
  <dcterms:created xsi:type="dcterms:W3CDTF">2025-12-20T07:30:00Z</dcterms:created>
  <dcterms:modified xsi:type="dcterms:W3CDTF">2025-12-20T10:56:20Z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334C23E47D4D480595AA8C21D6AEF609_13</vt:lpwstr>
  </property>
  <property fmtid="{D5CDD505-2E9C-101B-9397-08002B2CF9AE}" pid="3" name="KSOProductBuildVer">
    <vt:lpwstr>3084-12.2.0.23155</vt:lpwstr>
  </property>
</Properties>
</file>