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52" r:id="rId3"/>
    <p:sldId id="260" r:id="rId4"/>
    <p:sldId id="443" r:id="rId6"/>
    <p:sldId id="318" r:id="rId7"/>
    <p:sldId id="321" r:id="rId8"/>
    <p:sldId id="303" r:id="rId9"/>
    <p:sldId id="327" r:id="rId10"/>
    <p:sldId id="444" r:id="rId11"/>
    <p:sldId id="433" r:id="rId12"/>
    <p:sldId id="329" r:id="rId13"/>
    <p:sldId id="332" r:id="rId14"/>
    <p:sldId id="447" r:id="rId15"/>
    <p:sldId id="317" r:id="rId16"/>
    <p:sldId id="449" r:id="rId17"/>
    <p:sldId id="333" r:id="rId18"/>
    <p:sldId id="448" r:id="rId19"/>
    <p:sldId id="441" r:id="rId20"/>
    <p:sldId id="445" r:id="rId21"/>
    <p:sldId id="311" r:id="rId22"/>
    <p:sldId id="32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83" autoAdjust="0"/>
    <p:restoredTop sz="95799" autoAdjust="0"/>
  </p:normalViewPr>
  <p:slideViewPr>
    <p:cSldViewPr snapToGrid="0" showGuides="1">
      <p:cViewPr>
        <p:scale>
          <a:sx n="73" d="100"/>
          <a:sy n="73" d="100"/>
        </p:scale>
        <p:origin x="-388" y="-16"/>
      </p:cViewPr>
      <p:guideLst>
        <p:guide orient="horz" pos="21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98DC8-1487-4CFE-8150-6979502253B2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5B4B3-BBC0-4ED2-AD14-A7DAA2712339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F5B4B3-BBC0-4ED2-AD14-A7DAA2712339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fr-CA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C901DA2-3F6C-464E-9702-A7292E03E9EE}" type="datetimeFigureOut">
              <a:rPr lang="fr-FR" smtClean="0"/>
            </a:fld>
            <a:endParaRPr lang="fr-FR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E8CEA22A-1982-4AAE-8554-91D8AD163DC3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6BD1280-86C2-426A-AEFC-6C58FDD0CC12}" type="slidenum">
              <a:rPr lang="fr-FR" smtClean="0"/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fr-CA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fr-CA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B6B6DB42-145F-4815-86D5-84E1E908284C}" type="datetimeFigureOut">
              <a:rPr lang="fr-FR" smtClean="0"/>
            </a:fld>
            <a:endParaRPr lang="fr-FR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6BD1280-86C2-426A-AEFC-6C58FDD0CC12}" type="slidenum">
              <a:rPr lang="fr-FR" smtClean="0"/>
            </a:fld>
            <a:endParaRPr lang="fr-FR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3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3249976" y="-18784"/>
            <a:ext cx="4869455" cy="341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431" y="0"/>
            <a:ext cx="4072569" cy="339143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4021666" cy="3391428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0" y="3410214"/>
            <a:ext cx="121920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6" y="3388268"/>
            <a:ext cx="1486965" cy="24393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035" y="3400822"/>
            <a:ext cx="1486965" cy="231378"/>
          </a:xfrm>
          <a:prstGeom prst="rect">
            <a:avLst/>
          </a:prstGeom>
        </p:spPr>
      </p:pic>
      <p:sp>
        <p:nvSpPr>
          <p:cNvPr id="16" name="Titre 1"/>
          <p:cNvSpPr>
            <a:spLocks noGrp="1"/>
          </p:cNvSpPr>
          <p:nvPr>
            <p:ph type="ctrTitle"/>
          </p:nvPr>
        </p:nvSpPr>
        <p:spPr>
          <a:xfrm>
            <a:off x="-7620" y="3797300"/>
            <a:ext cx="12192000" cy="311277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</a:br>
            <a:r>
              <a:rPr lang="" altLang="fr-FR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R</a:t>
            </a:r>
            <a:r>
              <a:rPr lang="fr-FR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apport synthèse</a:t>
            </a:r>
            <a:br>
              <a:rPr lang="fr-FR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</a:br>
            <a:r>
              <a:rPr lang="fr-FR" sz="4000" b="1" dirty="0">
                <a:solidFill>
                  <a:schemeClr val="tx1">
                    <a:lumMod val="9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REVUE ANNUELLE DU PEV 202</a:t>
            </a:r>
            <a:r>
              <a:rPr lang="" altLang="fr-FR" sz="4000" b="1" dirty="0">
                <a:solidFill>
                  <a:schemeClr val="tx1">
                    <a:lumMod val="9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5</a:t>
            </a:r>
            <a:br>
              <a:rPr lang="fr-FR" sz="4000" b="1" dirty="0">
                <a:solidFill>
                  <a:schemeClr val="tx1">
                    <a:lumMod val="9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C0C0C0"/>
                  </a:outerShdw>
                </a:effectLst>
                <a:sym typeface="+mn-ea"/>
              </a:rPr>
            </a:br>
            <a:r>
              <a:rPr 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Kinshasa,  du 1</a:t>
            </a:r>
            <a:r>
              <a:rPr lang="" alt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5</a:t>
            </a:r>
            <a:r>
              <a:rPr 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 au </a:t>
            </a:r>
            <a:r>
              <a:rPr lang="" alt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20</a:t>
            </a:r>
            <a:r>
              <a:rPr 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 </a:t>
            </a:r>
            <a:r>
              <a:rPr lang="" alt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Décembre</a:t>
            </a:r>
            <a:r>
              <a:rPr 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  202</a:t>
            </a:r>
            <a:r>
              <a:rPr lang="" altLang="fr-BE" sz="40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  <a:t>5</a:t>
            </a:r>
            <a:br>
              <a:rPr lang="fr-BE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sym typeface="+mn-ea"/>
              </a:rPr>
            </a:br>
            <a:br>
              <a:rPr lang="fr-FR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sz="40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fr-FR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endParaRPr lang="fr-FR" sz="4000" b="1" dirty="0">
              <a:solidFill>
                <a:srgbClr val="33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866775"/>
          </a:xfrm>
        </p:spPr>
        <p:txBody>
          <a:bodyPr>
            <a:normAutofit/>
          </a:bodyPr>
          <a:lstStyle/>
          <a:p>
            <a:r>
              <a:rPr lang="fr-FR" sz="43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 de présentation</a:t>
            </a:r>
            <a:endParaRPr lang="fr-FR" sz="4300" b="1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82930" y="1588770"/>
            <a:ext cx="10770870" cy="4562793"/>
          </a:xfrm>
        </p:spPr>
        <p:txBody>
          <a:bodyPr>
            <a:normAutofit/>
          </a:bodyPr>
          <a:lstStyle/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Problèmes identifiés par Thématique</a:t>
            </a: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Objectifs </a:t>
            </a: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marL="742950" indent="-742950">
              <a:lnSpc>
                <a:spcPct val="200000"/>
              </a:lnSpc>
              <a:buFont typeface="+mj-lt"/>
              <a:buAutoNum type="arabicPeriod"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Synthèse PAO 202</a:t>
            </a:r>
            <a:r>
              <a:rPr lang="" alt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5</a:t>
            </a:r>
            <a:endParaRPr lang="fr-FR" sz="3600" b="1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marL="514350" indent="-514350">
              <a:buNone/>
            </a:pPr>
            <a:endParaRPr lang="fr-FR" sz="3600" b="1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idx="1"/>
          </p:nvPr>
        </p:nvSpPr>
        <p:spPr>
          <a:xfrm>
            <a:off x="1282065" y="1891932"/>
            <a:ext cx="10515600" cy="1684421"/>
          </a:xfrm>
          <a:solidFill>
            <a:schemeClr val="tx1"/>
          </a:solidFill>
        </p:spPr>
        <p:txBody>
          <a:bodyPr>
            <a:normAutofit fontScale="975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4000" b="1" dirty="0">
                <a:solidFill>
                  <a:schemeClr val="accent3">
                    <a:lumMod val="90000"/>
                  </a:schemeClr>
                </a:solidFill>
                <a:latin typeface="Calibri" panose="020F0502020204030204"/>
              </a:rPr>
              <a:t>1. Problèmes identifiés</a:t>
            </a:r>
            <a:endParaRPr lang="en-US" sz="4000" b="1" dirty="0">
              <a:solidFill>
                <a:schemeClr val="accent3">
                  <a:lumMod val="90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>
          <a:xfrm>
            <a:off x="239184" y="274639"/>
            <a:ext cx="11713633" cy="706437"/>
          </a:xfrm>
        </p:spPr>
        <p:txBody>
          <a:bodyPr/>
          <a:lstStyle/>
          <a:p>
            <a:r>
              <a:rPr lang="fr-FR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Synthèse des problèmes identifiés par composante (1)</a:t>
            </a:r>
            <a:endParaRPr lang="fr-FR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Espace réservé du texte 2"/>
          <p:cNvSpPr>
            <a:spLocks noGrp="1"/>
          </p:cNvSpPr>
          <p:nvPr>
            <p:ph type="body" idx="1"/>
          </p:nvPr>
        </p:nvSpPr>
        <p:spPr>
          <a:xfrm>
            <a:off x="239182" y="1232159"/>
            <a:ext cx="5757335" cy="647277"/>
          </a:xfrm>
          <a:solidFill>
            <a:schemeClr val="tx1"/>
          </a:solidFill>
        </p:spPr>
        <p:txBody>
          <a:bodyPr anchor="ctr" anchorCtr="0"/>
          <a:lstStyle/>
          <a:p>
            <a:pPr algn="ctr"/>
            <a:r>
              <a:rPr lang="fr-FR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1.Prestation des services</a:t>
            </a:r>
            <a:r>
              <a:rPr lang="fr-FR" alt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alt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Espace réservé du contenu 3"/>
          <p:cNvSpPr>
            <a:spLocks noGrp="1"/>
          </p:cNvSpPr>
          <p:nvPr>
            <p:ph sz="half" idx="2"/>
          </p:nvPr>
        </p:nvSpPr>
        <p:spPr>
          <a:xfrm>
            <a:off x="239184" y="1989139"/>
            <a:ext cx="5757333" cy="45354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alt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altLang="fr-CA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Persistance du nombre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é</a:t>
            </a:r>
            <a:r>
              <a:rPr lang="en-US" altLang="fr-CA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lev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é</a:t>
            </a:r>
            <a:r>
              <a:rPr lang="en-US" altLang="fr-CA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 d'enfants Z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é</a:t>
            </a:r>
            <a:r>
              <a:rPr lang="en-US" altLang="fr-CA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ro doses et sous vaccin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é</a:t>
            </a:r>
            <a:r>
              <a:rPr lang="en-US" altLang="fr-CA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s </a:t>
            </a:r>
            <a:endParaRPr lang="en-US" altLang="fr-CA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Lato"/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buSzPts val="900"/>
              <a:buFont typeface="Arial" panose="020B0604020202020204"/>
              <a:buNone/>
            </a:pPr>
            <a:endParaRPr lang="fr-FR" sz="20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eaLnBrk="1" hangingPunct="1">
              <a:buNone/>
            </a:pPr>
            <a:endParaRPr lang="fr-FR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4101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125539"/>
            <a:ext cx="5757335" cy="719137"/>
          </a:xfrm>
          <a:solidFill>
            <a:schemeClr val="tx1"/>
          </a:solidFill>
        </p:spPr>
        <p:txBody>
          <a:bodyPr anchor="ctr" anchorCtr="0"/>
          <a:lstStyle/>
          <a:p>
            <a:r>
              <a:rPr lang="fr-FR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2.Logistique et Gestion des vaccins</a:t>
            </a:r>
            <a:endParaRPr lang="fr-FR" alt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2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7" y="1772816"/>
            <a:ext cx="5759451" cy="4896544"/>
          </a:xfrm>
        </p:spPr>
        <p:txBody>
          <a:bodyPr>
            <a:normAutofit fontScale="92500" lnSpcReduction="20000"/>
          </a:bodyPr>
          <a:lstStyle/>
          <a:p>
            <a:pPr algn="just"/>
            <a:endParaRPr lang="fr-FR" sz="2400" spc="-20" dirty="0">
              <a:latin typeface="Carlito"/>
              <a:ea typeface="Arial Unicode MS" panose="020B0604020202020204" charset="-122"/>
              <a:cs typeface="Carlito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Persistance des ruptures des vaccins et autres intrants à tous les niveaux de la CA ;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fr-FR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Faible suivi et analyse des données de monitorage de température ; 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20% de matériel chaine de froid non fonctionnel à tous les niveaux ;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Faible visibilité des données du système de gestion  logistique 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fr-FR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Absence des dispositifs normés pour la destruction des déchets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fr-FR" sz="2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80%  des échantillons arrivent au laboratoire à un délai supérieur à 3 jours</a:t>
            </a:r>
            <a:endParaRPr lang="fr-FR" sz="2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  <a:p>
            <a:pPr algn="just"/>
            <a:endParaRPr lang="fr-FR" altLang="fr-FR" sz="2600" dirty="0"/>
          </a:p>
          <a:p>
            <a:pPr marL="457200" lvl="1" indent="0" algn="just">
              <a:buNone/>
              <a:defRPr/>
            </a:pPr>
            <a:endParaRPr lang="fr-FR" alt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06437"/>
          </a:xfrm>
        </p:spPr>
        <p:txBody>
          <a:bodyPr/>
          <a:lstStyle/>
          <a:p>
            <a:r>
              <a:rPr lang="fr-F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Problèmes identifiés par composante(2)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Espace réservé du texte 2"/>
          <p:cNvSpPr>
            <a:spLocks noGrp="1"/>
          </p:cNvSpPr>
          <p:nvPr>
            <p:ph type="body" idx="1"/>
          </p:nvPr>
        </p:nvSpPr>
        <p:spPr>
          <a:xfrm>
            <a:off x="424391" y="1138239"/>
            <a:ext cx="5386917" cy="7064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3.Qualité de données de vaccination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Espace réservé du contenu 3"/>
          <p:cNvSpPr>
            <a:spLocks noGrp="1"/>
          </p:cNvSpPr>
          <p:nvPr>
            <p:ph sz="half" idx="2"/>
          </p:nvPr>
        </p:nvSpPr>
        <p:spPr>
          <a:xfrm>
            <a:off x="239184" y="1989138"/>
            <a:ext cx="5757333" cy="4275184"/>
          </a:xfrm>
        </p:spPr>
        <p:txBody>
          <a:bodyPr>
            <a:noAutofit/>
          </a:bodyPr>
          <a:lstStyle/>
          <a:p>
            <a:pPr>
              <a:defRPr/>
            </a:pPr>
            <a:endParaRPr lang="fr-FR" sz="2000" dirty="0"/>
          </a:p>
          <a:p>
            <a:pPr marL="5715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900"/>
              <a:buNone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1.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Objectifs de projections obsolètes basés sur DHIS2 malgré l’existence de comptage de population effectué par les AS.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900"/>
              <a:buNone/>
            </a:pP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900"/>
              <a:buNone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Faible qualité des données (écart de plus de 10 points entre les données administratives et les données d’enquête, …)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fr-FR" sz="2000" dirty="0"/>
          </a:p>
          <a:p>
            <a:pPr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1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125539"/>
            <a:ext cx="5759451" cy="71913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Communication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2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22429" y="1989137"/>
            <a:ext cx="5930390" cy="4443193"/>
          </a:xfrm>
        </p:spPr>
        <p:txBody>
          <a:bodyPr>
            <a:normAutofit lnSpcReduction="10000"/>
          </a:bodyPr>
          <a:lstStyle/>
          <a:p>
            <a:pPr marL="171450" indent="-171450">
              <a:spcBef>
                <a:spcPts val="0"/>
              </a:spcBef>
              <a:buFont typeface="Noto Sans Symbols"/>
              <a:buChar char="➢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00075" lvl="1" indent="-257175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Faible demande de la vaccination;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00075" lvl="1" indent="-257175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Faible proportion des enfants et femmes enceintes récupérés par les structures de PARTICOM;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00075" lvl="1" indent="-257175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Faible décaissement des fonds pour la MEO des activités de communication à tous les niveaux.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Noto Sans Symbols"/>
              <a:buChar char="➢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AVS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/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Proportion importante d’enfants non vaccinés à cause du refus et d’absences selon le MI et le LQAS.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06437"/>
          </a:xfrm>
        </p:spPr>
        <p:txBody>
          <a:bodyPr/>
          <a:lstStyle/>
          <a:p>
            <a:r>
              <a:rPr lang="fr-F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3.Problèmes identifiés par composante(3)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125539"/>
            <a:ext cx="5386917" cy="719137"/>
          </a:xfrm>
        </p:spPr>
        <p:txBody>
          <a:bodyPr/>
          <a:lstStyle/>
          <a:p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5.AVS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1813034"/>
            <a:ext cx="5386917" cy="4366386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Persistance d’un nombre élevé d’enfants/personnes non vacciné (e) s lors des AVS:</a:t>
            </a: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Plus de 16,5 % de ZS rejetées lors des enquêtes  LQAS/JNV Polio)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de 7,1 % d'enfants non vaccinés lors de MI  de  la campagne de suivi contre la rougeole)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fr-FR" sz="2400" dirty="0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</a:rPr>
              <a:t> </a:t>
            </a:r>
            <a:endParaRPr lang="fr-FR" sz="2400" dirty="0"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defRPr/>
            </a:pPr>
            <a:endParaRPr lang="en-US" altLang="en-US" sz="2000" dirty="0"/>
          </a:p>
        </p:txBody>
      </p:sp>
      <p:sp>
        <p:nvSpPr>
          <p:cNvPr id="512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125539"/>
            <a:ext cx="5389033" cy="719137"/>
          </a:xfrm>
        </p:spPr>
        <p:txBody>
          <a:bodyPr/>
          <a:lstStyle/>
          <a:p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6.Surveillance épidémiologique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001170"/>
            <a:ext cx="5389033" cy="446419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23%  des provinces  n’ ont  pas atteint le taux requis pour les deux indicateurs majeurs de la surveillance PFA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Faible investigation de cas de MAPI grave en routine;  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Faible réalisation des investigations et  ripostes autour de cas de TNN;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Discordance entre les données de SMIR et de la surveillance au cas par cas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06437"/>
          </a:xfrm>
        </p:spPr>
        <p:txBody>
          <a:bodyPr/>
          <a:lstStyle/>
          <a:p>
            <a:r>
              <a:rPr lang="fr-F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3.Problèmes identifiés par composante(3)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138239"/>
            <a:ext cx="5386917" cy="706437"/>
          </a:xfrm>
        </p:spPr>
        <p:txBody>
          <a:bodyPr/>
          <a:lstStyle/>
          <a:p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Gestion du Programme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1813034"/>
            <a:ext cx="5386917" cy="44962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Lourdeur dans le traitement des requêtes et décaissement de fonds du gouvernement et des partenaires</a:t>
            </a:r>
            <a:endParaRPr lang="fr-FR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Inadéquation entre la structure actuelle du PEV et la réforme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000" dirty="0"/>
          </a:p>
          <a:p>
            <a:pPr marL="0" indent="0">
              <a:buNone/>
            </a:pPr>
            <a:endParaRPr lang="fr-FR" sz="4000" dirty="0"/>
          </a:p>
          <a:p>
            <a:pPr marL="0" indent="0">
              <a:buNone/>
            </a:pPr>
            <a:endParaRPr lang="fr-FR" sz="2900" dirty="0"/>
          </a:p>
          <a:p>
            <a:endParaRPr lang="fr-FR" sz="2900" dirty="0"/>
          </a:p>
          <a:p>
            <a:pPr lvl="0"/>
            <a:endParaRPr lang="fr-FR" dirty="0"/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125539"/>
            <a:ext cx="5389033" cy="719137"/>
          </a:xfrm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001170"/>
            <a:ext cx="5389033" cy="4464198"/>
          </a:xfrm>
        </p:spPr>
        <p:txBody>
          <a:bodyPr>
            <a:noAutofit/>
          </a:bodyPr>
          <a:lstStyle/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idx="1"/>
          </p:nvPr>
        </p:nvSpPr>
        <p:spPr>
          <a:xfrm>
            <a:off x="838200" y="2679031"/>
            <a:ext cx="10515600" cy="1556085"/>
          </a:xfrm>
          <a:solidFill>
            <a:schemeClr val="bg2"/>
          </a:solidFill>
        </p:spPr>
        <p:txBody>
          <a:bodyPr>
            <a:normAutofit fontScale="975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4000" b="1" dirty="0">
                <a:solidFill>
                  <a:srgbClr val="0070C0"/>
                </a:solidFill>
                <a:latin typeface="Calibri" panose="020F0502020204030204"/>
              </a:rPr>
              <a:t>2. Objectifs</a:t>
            </a:r>
            <a:endParaRPr lang="fr-FR" sz="4000" b="1" dirty="0">
              <a:solidFill>
                <a:srgbClr val="0070C0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6775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fr-FR" dirty="0">
                <a:solidFill>
                  <a:srgbClr val="7030A0"/>
                </a:solidFill>
              </a:rPr>
            </a:br>
            <a:r>
              <a:rPr lang="fr-FR" sz="5300" b="1" dirty="0">
                <a:solidFill>
                  <a:srgbClr val="0070C0"/>
                </a:solidFill>
              </a:rPr>
              <a:t>2.1. Objectifs de la revue</a:t>
            </a:r>
            <a:br>
              <a:rPr lang="fr-FR" dirty="0">
                <a:solidFill>
                  <a:srgbClr val="0070C0"/>
                </a:solidFill>
              </a:rPr>
            </a:b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0139" y="1308295"/>
            <a:ext cx="11348185" cy="504678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fr-FR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Evaluer la mise en œuvre du plan d’action de la vaccination 2023 ;</a:t>
            </a:r>
            <a:endParaRPr lang="fr-FR" sz="24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fr-FR" sz="2400" b="1" dirty="0"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lang="fr-FR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laborer le draft du plan d’action opérationnel 2024 du PEV;</a:t>
            </a:r>
            <a:endParaRPr lang="fr-FR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 algn="just">
              <a:lnSpc>
                <a:spcPct val="250000"/>
              </a:lnSpc>
              <a:buFont typeface="+mj-lt"/>
              <a:buAutoNum type="arabicPeriod"/>
            </a:pPr>
            <a:r>
              <a:rPr lang="fr-FR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Formuler des recommandations à l’issue de l’atelier.</a:t>
            </a:r>
            <a:endParaRPr lang="fr-FR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fr-FR" sz="2400" dirty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/>
          </a:bodyPr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algn="just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Prestations des services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Réduire de 20% à 15% le nombre d’enfants 0 doses et sous vaccinés d’ici fin 2024;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Augmenter de 43% à 63% la couverture vaccinale en Covid-19 d’ici fin 2024;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Introduire le vaccin anti paludique d’ici fin 2024 en RDC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algn="just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Qualité des données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D’ici fin 2024, réduire de 21 à 10 points l’écart de couverture vaccinale en DTC-HepB-Hib3 entre les données administratives et celles des estimations OMS-Unicef/ Enquêtes de couverture vaccinale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fr-FR" dirty="0">
              <a:highlight>
                <a:srgbClr val="FFFF00"/>
              </a:highlight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endParaRPr lang="fr-FR" dirty="0">
              <a:solidFill>
                <a:srgbClr val="FF0000"/>
              </a:solidFill>
            </a:endParaRPr>
          </a:p>
          <a:p>
            <a:pPr algn="just"/>
            <a:r>
              <a:rPr lang="fr-FR" dirty="0" err="1">
                <a:solidFill>
                  <a:srgbClr val="FF0000"/>
                </a:solidFill>
              </a:rPr>
              <a:t>ualité</a:t>
            </a:r>
            <a:r>
              <a:rPr lang="fr-FR" dirty="0">
                <a:solidFill>
                  <a:srgbClr val="FF0000"/>
                </a:solidFill>
              </a:rPr>
              <a:t> de données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1" y="1379095"/>
            <a:ext cx="11325068" cy="4706912"/>
          </a:xfrm>
        </p:spPr>
        <p:txBody>
          <a:bodyPr>
            <a:normAutofit/>
          </a:bodyPr>
          <a:lstStyle/>
          <a:p>
            <a:pPr algn="just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AVS: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D'ici fin 2024, réduire à moins de 5% la proportion d'enfants/personnes non vaccinés lors des AVS. 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highlight>
                <a:srgbClr val="FFFF00"/>
              </a:highlight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algn="just"/>
            <a:endParaRPr lang="fr-FR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fontAlgn="t">
              <a:lnSpc>
                <a:spcPct val="100000"/>
              </a:lnSpc>
            </a:pPr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Génération de la demande </a:t>
            </a:r>
            <a:endParaRPr lang="fr-FR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t">
              <a:lnSpc>
                <a:spcPct val="100000"/>
              </a:lnSpc>
              <a:buNone/>
            </a:pPr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Routine</a:t>
            </a:r>
            <a:br>
              <a:rPr lang="fr-F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Réduire la proportion des mères trop occupées pour la vaccination de 38,7% à 23%</a:t>
            </a:r>
            <a:br>
              <a:rPr lang="fr-F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fr-FR" sz="2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Reduire</a:t>
            </a: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perception du risque lié à la vaccination dans la communauté de 9,1% % à 5%.</a:t>
            </a:r>
            <a:b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Réduire la proportion des parents et gardiens d'enfants qui ignorent l'importance de la vaccination  de 8,5% à 5% et la nécessité de revenir pour les doses supplémentaires de 6% à 3%</a:t>
            </a:r>
            <a:b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fr-FR" sz="2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Reduire</a:t>
            </a: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14,7% à 10% l'hésitation vaccinale due aux MAPI</a:t>
            </a:r>
            <a:b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algn="l" fontAlgn="t">
              <a:lnSpc>
                <a:spcPct val="100000"/>
              </a:lnSpc>
            </a:pPr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Génération de la demande (Suite)</a:t>
            </a:r>
            <a:endParaRPr lang="fr-FR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fontAlgn="t">
              <a:lnSpc>
                <a:spcPct val="100000"/>
              </a:lnSpc>
              <a:buNone/>
            </a:pPr>
            <a:r>
              <a:rPr lang="fr-FR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AVS (Polio, FJ, Rougeole, Cholera):</a:t>
            </a: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Polio: Réduire le nombre d'enfants non vaccinés à cause de refus de 14,4% à 10% et à cause d'absence de 35% à 25%.</a:t>
            </a: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Rougeole : Réduire le nombre d'enfants non vaccinés à cause de refus de 22%  à 17% et  à </a:t>
            </a:r>
            <a:r>
              <a:rPr lang="fr-FR" sz="20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caude</a:t>
            </a: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d'absence de 24% à 20%.</a:t>
            </a: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Cholera : Réduire le nombre des personnes non vaccinées à cause du refus de 31%  à 25% et à cause d'absence de 50% à 35%</a:t>
            </a: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Surveillance à Base Communautaire</a:t>
            </a: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Accroître de 40% à 60% la notification des cas PFA et des autres MPV par les RECO et les informateurs clés (parents, enseignants, tradithérapeutes...)</a:t>
            </a:r>
            <a:endParaRPr lang="fr-FR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t">
              <a:lnSpc>
                <a:spcPct val="100000"/>
              </a:lnSpc>
            </a:pPr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Contribuer à la réduction de 6,5% à 4% la notification tardive de cas de PFA et des autres MPV par les RECO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2" y="1496291"/>
            <a:ext cx="11645898" cy="4637810"/>
          </a:xfrm>
        </p:spPr>
        <p:txBody>
          <a:bodyPr>
            <a:noAutofit/>
          </a:bodyPr>
          <a:lstStyle/>
          <a:p>
            <a:pPr algn="just"/>
            <a:r>
              <a:rPr lang="fr-FR" b="1" dirty="0"/>
              <a:t>Surveillance</a:t>
            </a:r>
            <a:endParaRPr lang="fr-FR" b="1" dirty="0"/>
          </a:p>
          <a:p>
            <a:pPr marL="0" indent="0" fontAlgn="ctr">
              <a:spcBef>
                <a:spcPts val="0"/>
              </a:spcBef>
              <a:buNone/>
            </a:pPr>
            <a:endParaRPr lang="fr-FR" sz="2400" dirty="0">
              <a:latin typeface="Arial" panose="020B0604020202020204" pitchFamily="34" charset="0"/>
            </a:endParaRPr>
          </a:p>
          <a:p>
            <a:pPr algn="just" fontAlgn="ctr">
              <a:spcBef>
                <a:spcPts val="0"/>
              </a:spcBef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Réduire les provinces n’ayant pas atteint les deux indicateurs au moins de 20% de la population d’ici fin 2024;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algn="just" fontAlgn="ctr">
              <a:spcBef>
                <a:spcPts val="0"/>
              </a:spcBef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Organiser les ripostes autour d’au moins 80% des cas de MPV confirmés d’ici fin 2024;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algn="just" fontAlgn="ctr">
              <a:spcBef>
                <a:spcPts val="0"/>
              </a:spcBef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Investiguer 100% des cas de TNN notifiés d’ici fin 2024;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algn="just" fontAlgn="ctr">
              <a:spcBef>
                <a:spcPts val="0"/>
              </a:spcBef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Organiser 100% d’investigation autour des cas MAPI Graves notifiés d’ici fin 2024.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ctr">
              <a:spcBef>
                <a:spcPts val="0"/>
              </a:spcBef>
              <a:buNone/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marL="0" fontAlgn="ctr">
              <a:spcBef>
                <a:spcPts val="0"/>
              </a:spcBef>
            </a:pPr>
            <a:endParaRPr lang="fr-FR" sz="2200" dirty="0">
              <a:latin typeface="Arial" panose="020B0604020202020204" pitchFamily="34" charset="0"/>
            </a:endParaRPr>
          </a:p>
          <a:p>
            <a:pPr algn="just"/>
            <a:endParaRPr lang="fr-FR" sz="2000" dirty="0">
              <a:latin typeface="Arial" panose="020B0604020202020204" pitchFamily="34" charset="0"/>
            </a:endParaRPr>
          </a:p>
          <a:p>
            <a:pPr lvl="0" algn="just">
              <a:lnSpc>
                <a:spcPct val="120000"/>
              </a:lnSpc>
            </a:pPr>
            <a:endParaRPr lang="fr-FR" sz="2200" dirty="0"/>
          </a:p>
          <a:p>
            <a:pPr marL="0" lvl="0" indent="0" algn="just">
              <a:lnSpc>
                <a:spcPct val="120000"/>
              </a:lnSpc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2.2. Objectifs spécifiques par Thématique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Logistique:</a:t>
            </a:r>
            <a:endParaRPr lang="fr-FR" b="1" dirty="0"/>
          </a:p>
          <a:p>
            <a:pPr marL="0" indent="0">
              <a:buNone/>
            </a:pP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>
            <a:normAutofit fontScale="90000"/>
          </a:bodyPr>
          <a:lstStyle/>
          <a:p>
            <a:r>
              <a:rPr lang="fr-FR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2.2. </a:t>
            </a:r>
            <a:r>
              <a:rPr lang="fr-FR" sz="4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spécifiques par Thématique 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1" y="1379095"/>
            <a:ext cx="11325068" cy="4706912"/>
          </a:xfrm>
        </p:spPr>
        <p:txBody>
          <a:bodyPr>
            <a:normAutofit/>
          </a:bodyPr>
          <a:lstStyle/>
          <a:p>
            <a:pPr lvl="0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 du programme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D'ici fin 2024, le Programme va maintenir le leadership au travers ses organes de coordination à tous les niveaux;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D’ici fin 2024, mener un plaidoyer politique pour accroitre le financement du PEV de 60% à 80%;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D’ici fin 2024, renforcer les capacités des agents au travers un accompagnement de proximité à tous les niveaux.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algn="just"/>
            <a:endParaRPr lang="fr-FR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idx="1"/>
          </p:nvPr>
        </p:nvSpPr>
        <p:spPr>
          <a:xfrm>
            <a:off x="838200" y="2855495"/>
            <a:ext cx="10515600" cy="1700463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4000" b="1" dirty="0">
                <a:solidFill>
                  <a:srgbClr val="0070C0"/>
                </a:solidFill>
                <a:latin typeface="Calibri" panose="020F0502020204030204"/>
              </a:rPr>
              <a:t>4. Synthèse draft du PAO 2024</a:t>
            </a:r>
            <a:endParaRPr lang="fr-FR" sz="4000" b="1" dirty="0">
              <a:solidFill>
                <a:srgbClr val="0070C0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217" y="365125"/>
            <a:ext cx="11360727" cy="866775"/>
          </a:xfrm>
        </p:spPr>
        <p:txBody>
          <a:bodyPr/>
          <a:lstStyle/>
          <a:p>
            <a:r>
              <a:rPr lang="fr-FR" sz="43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Synthèse PAO 2024</a:t>
            </a:r>
            <a:endParaRPr lang="en-US" sz="43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9785" y="1258889"/>
          <a:ext cx="11317573" cy="5068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595"/>
                <a:gridCol w="4946754"/>
                <a:gridCol w="2893102"/>
                <a:gridCol w="2863122"/>
              </a:tblGrid>
              <a:tr h="5180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No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RUBRIQUES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NOMBRE D’ACTIVITES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COUTS ESTIMATIFS</a:t>
                      </a:r>
                      <a:endParaRPr lang="fr-FR" sz="2400" b="1" dirty="0"/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Prestation de service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$  21 129 952,00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Logistique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$ 260 000 000,00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Activités de vaccinations supplementaires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$ 54 018 585, 60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Qualité des données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$ 10,6 000 000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19219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Surveillance des MEV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$ 5 959 240,00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Communication pour</a:t>
                      </a:r>
                      <a:r>
                        <a:rPr lang="en-US" baseline="0" dirty="0"/>
                        <a:t> la vaccination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34 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$ 21 598 878,00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Gestion du Programme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$  1 800 000, 00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802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 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192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$ 364 506 665,6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ubtitle 2"/>
          <p:cNvSpPr txBox="1"/>
          <p:nvPr/>
        </p:nvSpPr>
        <p:spPr bwMode="auto">
          <a:xfrm rot="-5400000">
            <a:off x="-1294607" y="3580607"/>
            <a:ext cx="60944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33" tIns="45667" rIns="91333" bIns="45667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400">
                <a:solidFill>
                  <a:srgbClr val="FFFFFF"/>
                </a:solidFill>
                <a:latin typeface="Calibri" panose="020F0502020204030204" pitchFamily="34" charset="0"/>
              </a:rPr>
              <a:t>Photo:: Christine Nesbitt , UNICEF 2012</a:t>
            </a:r>
            <a:endParaRPr 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819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E2D4CB-E3D7-4286-9DC7-D17EA4C1E91F}" type="slidenum">
              <a:rPr lang="en-US" smtClean="0">
                <a:solidFill>
                  <a:srgbClr val="898989"/>
                </a:solidFill>
              </a:rPr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7963" y="1478648"/>
            <a:ext cx="11507372" cy="4303174"/>
          </a:xfr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Autofit/>
          </a:bodyPr>
          <a:lstStyle/>
          <a:p>
            <a:pPr defTabSz="913130">
              <a:defRPr/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Merci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5876</Words>
  <Application>WPS Presentation</Application>
  <PresentationFormat>Personnalisé</PresentationFormat>
  <Paragraphs>278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SimSun</vt:lpstr>
      <vt:lpstr>Wingdings</vt:lpstr>
      <vt:lpstr>Arial Unicode MS</vt:lpstr>
      <vt:lpstr>Arial Black</vt:lpstr>
      <vt:lpstr>Calibri</vt:lpstr>
      <vt:lpstr>Times New Roman</vt:lpstr>
      <vt:lpstr>Calibri</vt:lpstr>
      <vt:lpstr>Lato</vt:lpstr>
      <vt:lpstr>Segoe Print</vt:lpstr>
      <vt:lpstr>Arial</vt:lpstr>
      <vt:lpstr>Carlito</vt:lpstr>
      <vt:lpstr>Arial Unicode MS</vt:lpstr>
      <vt:lpstr>Noto Sans Symbols</vt:lpstr>
      <vt:lpstr>Franklin Gothic Book</vt:lpstr>
      <vt:lpstr>Microsoft YaHei</vt:lpstr>
      <vt:lpstr>Art_mountaineering</vt:lpstr>
      <vt:lpstr>               Rapport synthèse REVUE ANNUELLE DU PEV 2023 Kinshasa,  du 12 au 17 Février  2024 </vt:lpstr>
      <vt:lpstr>Plan  de présentation</vt:lpstr>
      <vt:lpstr>PowerPoint 演示文稿</vt:lpstr>
      <vt:lpstr>Synthèse des problèmes identifiés par composante (1)</vt:lpstr>
      <vt:lpstr>3. Problèmes identifiés par composante(2)</vt:lpstr>
      <vt:lpstr>3.Problèmes identifiés par composante(3)</vt:lpstr>
      <vt:lpstr>3.Problèmes identifiés par composante(3)</vt:lpstr>
      <vt:lpstr>PowerPoint 演示文稿</vt:lpstr>
      <vt:lpstr> 2.1. Objectifs de la revue </vt:lpstr>
      <vt:lpstr> 2.2. Objectifs spécifiques par Thématique  </vt:lpstr>
      <vt:lpstr> 2.2. Objectifs spécifiques par Thématique </vt:lpstr>
      <vt:lpstr> 2.2. Objectifs spécifiques par Thématique </vt:lpstr>
      <vt:lpstr>  2.2. Objectifs spécifiques par Thématique </vt:lpstr>
      <vt:lpstr>  2.2. Objectifs spécifiques par Thématique </vt:lpstr>
      <vt:lpstr>  2.2. Objectifs spécifiques par Thématique </vt:lpstr>
      <vt:lpstr>2.2. Objectifs spécifiques par Thématique </vt:lpstr>
      <vt:lpstr> 2.2. Objectifs spécifiques par Thématique </vt:lpstr>
      <vt:lpstr>PowerPoint 演示文稿</vt:lpstr>
      <vt:lpstr>Synthèse PAO 2024</vt:lpstr>
      <vt:lpstr>                                  Merci                                     </vt:lpstr>
    </vt:vector>
  </TitlesOfParts>
  <Company>Windows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Valentin MANDE</dc:creator>
  <cp:lastModifiedBy>Mymy MWIKA</cp:lastModifiedBy>
  <cp:revision>729</cp:revision>
  <dcterms:created xsi:type="dcterms:W3CDTF">2017-11-22T23:57:00Z</dcterms:created>
  <dcterms:modified xsi:type="dcterms:W3CDTF">2025-12-19T17:04:56Z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B4FE04B841A4425C94EF03B548AE6B90_13</vt:lpwstr>
  </property>
  <property fmtid="{D5CDD505-2E9C-101B-9397-08002B2CF9AE}" pid="3" name="KSOProductBuildVer">
    <vt:lpwstr>3084-12.2.0.23155</vt:lpwstr>
  </property>
</Properties>
</file>