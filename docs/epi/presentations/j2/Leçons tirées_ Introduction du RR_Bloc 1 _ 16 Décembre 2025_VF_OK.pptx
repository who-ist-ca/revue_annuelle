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20"/>
  </p:notesMasterIdLst>
  <p:sldIdLst>
    <p:sldId id="2147481534" r:id="rId2"/>
    <p:sldId id="476" r:id="rId3"/>
    <p:sldId id="1772" r:id="rId4"/>
    <p:sldId id="16768333" r:id="rId5"/>
    <p:sldId id="2147481543" r:id="rId6"/>
    <p:sldId id="2147474735" r:id="rId7"/>
    <p:sldId id="16768325" r:id="rId8"/>
    <p:sldId id="16768334" r:id="rId9"/>
    <p:sldId id="2147474731" r:id="rId10"/>
    <p:sldId id="1154106661" r:id="rId11"/>
    <p:sldId id="2147481549" r:id="rId12"/>
    <p:sldId id="257" r:id="rId13"/>
    <p:sldId id="258" r:id="rId14"/>
    <p:sldId id="2147481550" r:id="rId15"/>
    <p:sldId id="2147481546" r:id="rId16"/>
    <p:sldId id="2147481547" r:id="rId17"/>
    <p:sldId id="2147481548" r:id="rId18"/>
    <p:sldId id="2147481545" r:id="rId19"/>
  </p:sldIdLst>
  <p:sldSz cx="12192000" cy="6858000"/>
  <p:notesSz cx="6858000" cy="9144000"/>
  <p:embeddedFontLst>
    <p:embeddedFont>
      <p:font typeface="Arial Narrow" panose="020B0606020202030204" pitchFamily="34" charset="0"/>
      <p:regular r:id="rId21"/>
      <p:bold r:id="rId22"/>
      <p:italic r:id="rId23"/>
      <p:boldItalic r:id="rId24"/>
    </p:embeddedFont>
    <p:embeddedFont>
      <p:font typeface="Book Antiqua" panose="02040602050305030304" pitchFamily="18" charset="0"/>
      <p:regular r:id="rId25"/>
      <p:bold r:id="rId26"/>
      <p:italic r:id="rId27"/>
      <p:boldItalic r:id="rId28"/>
    </p:embeddedFont>
    <p:embeddedFont>
      <p:font typeface="Montserrat" panose="02000505000000020004" pitchFamily="2" charset="0"/>
      <p:regular r:id="rId29"/>
      <p:bold r:id="rId30"/>
      <p:italic r:id="rId31"/>
      <p:boldItalic r:id="rId32"/>
    </p:embeddedFont>
    <p:embeddedFont>
      <p:font typeface="Overlock" panose="020B0604020202020204" charset="0"/>
      <p:regular r:id="rId33"/>
      <p:bold r:id="rId34"/>
      <p:italic r:id="rId35"/>
      <p:boldItalic r:id="rId36"/>
    </p:embeddedFont>
    <p:embeddedFont>
      <p:font typeface="Roboto" panose="02000000000000000000" pitchFamily="2" charset="0"/>
      <p:regular r:id="rId37"/>
      <p:bold r:id="rId38"/>
      <p:italic r:id="rId39"/>
      <p:boldItalic r:id="rId40"/>
    </p:embeddedFont>
    <p:embeddedFont>
      <p:font typeface="Source Serif Pro" panose="02040603050405020204" pitchFamily="18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lka Kyana" initials="" lastIdx="2" clrIdx="0"/>
  <p:cmAuthor id="2" name="didie" initials="authorId_didie" lastIdx="0" clrIdx="1"/>
  <p:cmAuthor id="3" name="Annonciata KANYANA" initials="AK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599"/>
    <a:srgbClr val="FFE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F155970-6309-406B-AAD2-5431AB7982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E8916756-1A56-457C-B060-215C4BC8A9C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30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1248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font" Target="fonts/font19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font" Target="fonts/font22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9.fntdata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font" Target="fonts/font20.fntdata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4" Type="http://schemas.openxmlformats.org/officeDocument/2006/relationships/font" Target="fonts/font2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font" Target="fonts/font23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46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41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b110404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2738" y="652463"/>
            <a:ext cx="5805487" cy="3267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52" name="Google Shape;52;g39b110404bb_0_0:notes"/>
          <p:cNvSpPr txBox="1">
            <a:spLocks noGrp="1"/>
          </p:cNvSpPr>
          <p:nvPr>
            <p:ph type="body" idx="1"/>
          </p:nvPr>
        </p:nvSpPr>
        <p:spPr>
          <a:xfrm>
            <a:off x="642938" y="4136571"/>
            <a:ext cx="5143500" cy="39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175" tIns="86175" rIns="86175" bIns="861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b110404bb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39b110404bb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CE720700-6DCE-4403-9393-0E7AD176CA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668588" y="519113"/>
            <a:ext cx="4525962" cy="25463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F88417B1-1280-4925-9505-73680753A21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992188" y="3228975"/>
            <a:ext cx="7942262" cy="30575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altLang="fr-FR"/>
          </a:p>
        </p:txBody>
      </p:sp>
    </p:spTree>
    <p:extLst>
      <p:ext uri="{BB962C8B-B14F-4D97-AF65-F5344CB8AC3E}">
        <p14:creationId xmlns:p14="http://schemas.microsoft.com/office/powerpoint/2010/main" val="3241789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453994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>
          <a:extLst>
            <a:ext uri="{FF2B5EF4-FFF2-40B4-BE49-F238E27FC236}">
              <a16:creationId xmlns:a16="http://schemas.microsoft.com/office/drawing/2014/main" id="{DA7CFBAF-FBFA-F119-5CE0-ACCA728FF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>
            <a:extLst>
              <a:ext uri="{FF2B5EF4-FFF2-40B4-BE49-F238E27FC236}">
                <a16:creationId xmlns:a16="http://schemas.microsoft.com/office/drawing/2014/main" id="{0B42AF9B-C67F-96D4-1CC8-3B4416DC92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7:notes">
            <a:extLst>
              <a:ext uri="{FF2B5EF4-FFF2-40B4-BE49-F238E27FC236}">
                <a16:creationId xmlns:a16="http://schemas.microsoft.com/office/drawing/2014/main" id="{200374AE-696D-E141-436A-3029C806E5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4681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4">
          <a:extLst>
            <a:ext uri="{FF2B5EF4-FFF2-40B4-BE49-F238E27FC236}">
              <a16:creationId xmlns:a16="http://schemas.microsoft.com/office/drawing/2014/main" id="{ACEB9C1F-170A-FCA8-C17E-B42A248C0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345605a55c1_2_1308:notes">
            <a:extLst>
              <a:ext uri="{FF2B5EF4-FFF2-40B4-BE49-F238E27FC236}">
                <a16:creationId xmlns:a16="http://schemas.microsoft.com/office/drawing/2014/main" id="{E090020B-77DF-7F36-CFD2-AF10B7B2AB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486" name="Google Shape;1486;g345605a55c1_2_1308:notes">
            <a:extLst>
              <a:ext uri="{FF2B5EF4-FFF2-40B4-BE49-F238E27FC236}">
                <a16:creationId xmlns:a16="http://schemas.microsoft.com/office/drawing/2014/main" id="{8B8A0E3F-A38A-45BA-A684-6CDB7FA56B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34134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DE424C21-63A8-51A7-724D-8A9DFCB9F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b110404bb_0_78:notes">
            <a:extLst>
              <a:ext uri="{FF2B5EF4-FFF2-40B4-BE49-F238E27FC236}">
                <a16:creationId xmlns:a16="http://schemas.microsoft.com/office/drawing/2014/main" id="{EBB4F3A0-8F27-559B-DD14-E95927C73E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39b110404bb_0_78:notes">
            <a:extLst>
              <a:ext uri="{FF2B5EF4-FFF2-40B4-BE49-F238E27FC236}">
                <a16:creationId xmlns:a16="http://schemas.microsoft.com/office/drawing/2014/main" id="{C2562E03-8AC9-57FF-5A66-6568992438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01264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B2AD3D80-EB0E-90EE-5FC5-CEF664043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b110404bb_0_78:notes">
            <a:extLst>
              <a:ext uri="{FF2B5EF4-FFF2-40B4-BE49-F238E27FC236}">
                <a16:creationId xmlns:a16="http://schemas.microsoft.com/office/drawing/2014/main" id="{FA61DBDF-FE96-6787-3995-1B731318CC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39b110404bb_0_78:notes">
            <a:extLst>
              <a:ext uri="{FF2B5EF4-FFF2-40B4-BE49-F238E27FC236}">
                <a16:creationId xmlns:a16="http://schemas.microsoft.com/office/drawing/2014/main" id="{0B0EF7E4-77FA-E620-60AD-6580094B42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3379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2" name="Google Shape;85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5732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2190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2258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8714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6227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6267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4265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3456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7798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2894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1097280" y="286604"/>
            <a:ext cx="10058400" cy="878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>
            <a:off x="1097280" y="1223907"/>
            <a:ext cx="10058400" cy="501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FFFFFF"/>
                </a:solidFill>
                <a:latin typeface="Overlock" panose="02000506030000020004"/>
                <a:ea typeface="Overlock" panose="02000506030000020004"/>
                <a:cs typeface="Overlock" panose="02000506030000020004"/>
                <a:sym typeface="Overlock" panose="02000506030000020004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FFFFFF"/>
                </a:solidFill>
                <a:latin typeface="Overlock" panose="02000506030000020004"/>
                <a:ea typeface="Overlock" panose="02000506030000020004"/>
                <a:cs typeface="Overlock" panose="02000506030000020004"/>
                <a:sym typeface="Overlock" panose="02000506030000020004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FFFFFF"/>
                </a:solidFill>
                <a:latin typeface="Overlock" panose="02000506030000020004"/>
                <a:ea typeface="Overlock" panose="02000506030000020004"/>
                <a:cs typeface="Overlock" panose="02000506030000020004"/>
                <a:sym typeface="Overlock" panose="02000506030000020004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FFFFFF"/>
                </a:solidFill>
                <a:latin typeface="Overlock" panose="02000506030000020004"/>
                <a:ea typeface="Overlock" panose="02000506030000020004"/>
                <a:cs typeface="Overlock" panose="02000506030000020004"/>
                <a:sym typeface="Overlock" panose="02000506030000020004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FFFFFF"/>
                </a:solidFill>
                <a:latin typeface="Overlock" panose="02000506030000020004"/>
                <a:ea typeface="Overlock" panose="02000506030000020004"/>
                <a:cs typeface="Overlock" panose="02000506030000020004"/>
                <a:sym typeface="Overlock" panose="02000506030000020004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FFFFFF"/>
                </a:solidFill>
                <a:latin typeface="Overlock" panose="02000506030000020004"/>
                <a:ea typeface="Overlock" panose="02000506030000020004"/>
                <a:cs typeface="Overlock" panose="02000506030000020004"/>
                <a:sym typeface="Overlock" panose="02000506030000020004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FFFFFF"/>
                </a:solidFill>
                <a:latin typeface="Overlock" panose="02000506030000020004"/>
                <a:ea typeface="Overlock" panose="02000506030000020004"/>
                <a:cs typeface="Overlock" panose="02000506030000020004"/>
                <a:sym typeface="Overlock" panose="02000506030000020004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FFFFFF"/>
                </a:solidFill>
                <a:latin typeface="Overlock" panose="02000506030000020004"/>
                <a:ea typeface="Overlock" panose="02000506030000020004"/>
                <a:cs typeface="Overlock" panose="02000506030000020004"/>
                <a:sym typeface="Overlock" panose="02000506030000020004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FFFFFF"/>
                </a:solidFill>
                <a:latin typeface="Overlock" panose="02000506030000020004"/>
                <a:ea typeface="Overlock" panose="02000506030000020004"/>
                <a:cs typeface="Overlock" panose="02000506030000020004"/>
                <a:sym typeface="Overlock" panose="020005060300000200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74524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EA449F-DC44-0A06-ED70-34ECE3CC7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EC2BEC-D0F2-FD22-3CB8-8F8B3410D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D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CB6B243-426C-2A3C-7C57-EE4FF8926F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673E0CA-4E8C-6D81-717B-CE0C32ED6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DDCC6-35B5-48AC-9D5A-894FED6A8325}" type="datetimeFigureOut">
              <a:rPr lang="fr-CD" smtClean="0"/>
              <a:t>16/12/2025</a:t>
            </a:fld>
            <a:endParaRPr lang="fr-CD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2160101-3DE3-8DD4-B412-DB7AAA727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0989555-25C3-4614-F274-4FFE75CBB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F9516-48FE-44CE-BD1C-6E58270BDCE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1182552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3606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106382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5" r:id="rId11"/>
    <p:sldLayoutId id="2147483676" r:id="rId12"/>
    <p:sldLayoutId id="2147483677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210333" y="1657164"/>
            <a:ext cx="7961973" cy="1437578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defTabSz="1219170">
              <a:buSzPts val="2400"/>
            </a:pPr>
            <a:r>
              <a:rPr lang="en-GB" sz="40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du  nouveau Vaccin contre la Rougeole-Rubéole en RDC</a:t>
            </a:r>
            <a:endParaRPr sz="4000" b="1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defTabSz="1219170">
              <a:buSzPts val="2400"/>
            </a:pPr>
            <a:endParaRPr lang="en-GB"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defTabSz="1219170">
              <a:buSzPts val="2400"/>
            </a:pPr>
            <a:r>
              <a:rPr lang="en-GB" sz="3600" b="1" u="sng" dirty="0" err="1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Leçons</a:t>
            </a:r>
            <a:r>
              <a:rPr lang="en-GB" sz="3600" b="1" u="sng" dirty="0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600" b="1" u="sng" dirty="0" err="1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tirées</a:t>
            </a:r>
            <a:endParaRPr sz="5400" b="1" u="sng" dirty="0">
              <a:solidFill>
                <a:schemeClr val="accent1">
                  <a:lumMod val="50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defTabSz="1219170">
              <a:buSzPts val="2400"/>
            </a:pPr>
            <a:endParaRPr sz="4267" b="1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3809588" y="1739347"/>
            <a:ext cx="373600" cy="135539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defTabSz="1219170">
              <a:buSzPts val="1300"/>
            </a:pPr>
            <a:endParaRPr sz="17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3802137" y="1649626"/>
            <a:ext cx="373600" cy="1437579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defTabSz="1219170">
              <a:buSzPts val="1300"/>
            </a:pPr>
            <a:endParaRPr sz="1733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1023034" y="6336550"/>
            <a:ext cx="1432600" cy="363677"/>
            <a:chOff x="238125" y="2363000"/>
            <a:chExt cx="7122300" cy="975725"/>
          </a:xfrm>
        </p:grpSpPr>
        <p:sp>
          <p:nvSpPr>
            <p:cNvPr id="58" name="Google Shape;58;p13"/>
            <p:cNvSpPr/>
            <p:nvPr/>
          </p:nvSpPr>
          <p:spPr>
            <a:xfrm>
              <a:off x="238125" y="2363000"/>
              <a:ext cx="695275" cy="955800"/>
            </a:xfrm>
            <a:custGeom>
              <a:avLst/>
              <a:gdLst/>
              <a:ahLst/>
              <a:cxnLst/>
              <a:rect l="l" t="t" r="r" b="b"/>
              <a:pathLst>
                <a:path w="27811" h="38232" extrusionOk="0">
                  <a:moveTo>
                    <a:pt x="13895" y="0"/>
                  </a:moveTo>
                  <a:cubicBezTo>
                    <a:pt x="10626" y="0"/>
                    <a:pt x="7949" y="2656"/>
                    <a:pt x="7949" y="5946"/>
                  </a:cubicBezTo>
                  <a:cubicBezTo>
                    <a:pt x="7949" y="9236"/>
                    <a:pt x="10626" y="11893"/>
                    <a:pt x="13895" y="11893"/>
                  </a:cubicBezTo>
                  <a:cubicBezTo>
                    <a:pt x="17185" y="11893"/>
                    <a:pt x="19862" y="9236"/>
                    <a:pt x="19862" y="5946"/>
                  </a:cubicBezTo>
                  <a:cubicBezTo>
                    <a:pt x="19862" y="2656"/>
                    <a:pt x="17185" y="0"/>
                    <a:pt x="13895" y="0"/>
                  </a:cubicBezTo>
                  <a:close/>
                  <a:moveTo>
                    <a:pt x="7070" y="18738"/>
                  </a:moveTo>
                  <a:lnTo>
                    <a:pt x="7070" y="26380"/>
                  </a:lnTo>
                  <a:cubicBezTo>
                    <a:pt x="5987" y="25706"/>
                    <a:pt x="5252" y="24500"/>
                    <a:pt x="5252" y="23111"/>
                  </a:cubicBezTo>
                  <a:lnTo>
                    <a:pt x="5252" y="21987"/>
                  </a:lnTo>
                  <a:cubicBezTo>
                    <a:pt x="5252" y="20618"/>
                    <a:pt x="5987" y="19412"/>
                    <a:pt x="7070" y="18738"/>
                  </a:cubicBezTo>
                  <a:close/>
                  <a:moveTo>
                    <a:pt x="20557" y="18636"/>
                  </a:moveTo>
                  <a:cubicBezTo>
                    <a:pt x="21742" y="19269"/>
                    <a:pt x="22559" y="20536"/>
                    <a:pt x="22559" y="21987"/>
                  </a:cubicBezTo>
                  <a:lnTo>
                    <a:pt x="22559" y="23131"/>
                  </a:lnTo>
                  <a:cubicBezTo>
                    <a:pt x="22559" y="24562"/>
                    <a:pt x="21742" y="25828"/>
                    <a:pt x="20557" y="26482"/>
                  </a:cubicBezTo>
                  <a:lnTo>
                    <a:pt x="20557" y="18636"/>
                  </a:lnTo>
                  <a:close/>
                  <a:moveTo>
                    <a:pt x="9052" y="12935"/>
                  </a:moveTo>
                  <a:cubicBezTo>
                    <a:pt x="4066" y="12935"/>
                    <a:pt x="0" y="17001"/>
                    <a:pt x="0" y="21987"/>
                  </a:cubicBezTo>
                  <a:lnTo>
                    <a:pt x="0" y="23111"/>
                  </a:lnTo>
                  <a:cubicBezTo>
                    <a:pt x="0" y="27443"/>
                    <a:pt x="3024" y="31060"/>
                    <a:pt x="7070" y="31959"/>
                  </a:cubicBezTo>
                  <a:lnTo>
                    <a:pt x="7070" y="38232"/>
                  </a:lnTo>
                  <a:lnTo>
                    <a:pt x="20557" y="38232"/>
                  </a:lnTo>
                  <a:lnTo>
                    <a:pt x="20557" y="31999"/>
                  </a:lnTo>
                  <a:cubicBezTo>
                    <a:pt x="24684" y="31162"/>
                    <a:pt x="27811" y="27504"/>
                    <a:pt x="27811" y="23111"/>
                  </a:cubicBezTo>
                  <a:lnTo>
                    <a:pt x="27811" y="21987"/>
                  </a:lnTo>
                  <a:cubicBezTo>
                    <a:pt x="27811" y="17001"/>
                    <a:pt x="23744" y="12935"/>
                    <a:pt x="18738" y="12935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238125" y="2791600"/>
              <a:ext cx="695275" cy="547125"/>
            </a:xfrm>
            <a:custGeom>
              <a:avLst/>
              <a:gdLst/>
              <a:ahLst/>
              <a:cxnLst/>
              <a:rect l="l" t="t" r="r" b="b"/>
              <a:pathLst>
                <a:path w="27811" h="21885" extrusionOk="0">
                  <a:moveTo>
                    <a:pt x="13895" y="0"/>
                  </a:moveTo>
                  <a:cubicBezTo>
                    <a:pt x="11443" y="0"/>
                    <a:pt x="9441" y="2003"/>
                    <a:pt x="9441" y="4475"/>
                  </a:cubicBezTo>
                  <a:cubicBezTo>
                    <a:pt x="9441" y="6927"/>
                    <a:pt x="11443" y="8930"/>
                    <a:pt x="13895" y="8930"/>
                  </a:cubicBezTo>
                  <a:cubicBezTo>
                    <a:pt x="16368" y="8930"/>
                    <a:pt x="18370" y="6927"/>
                    <a:pt x="18370" y="4475"/>
                  </a:cubicBezTo>
                  <a:cubicBezTo>
                    <a:pt x="18370" y="2003"/>
                    <a:pt x="16368" y="0"/>
                    <a:pt x="13895" y="0"/>
                  </a:cubicBezTo>
                  <a:close/>
                  <a:moveTo>
                    <a:pt x="0" y="5987"/>
                  </a:moveTo>
                  <a:cubicBezTo>
                    <a:pt x="0" y="10973"/>
                    <a:pt x="4066" y="15039"/>
                    <a:pt x="9052" y="15039"/>
                  </a:cubicBezTo>
                  <a:lnTo>
                    <a:pt x="9686" y="15039"/>
                  </a:lnTo>
                  <a:lnTo>
                    <a:pt x="9686" y="21885"/>
                  </a:lnTo>
                  <a:lnTo>
                    <a:pt x="17941" y="21885"/>
                  </a:lnTo>
                  <a:lnTo>
                    <a:pt x="17941" y="15039"/>
                  </a:lnTo>
                  <a:lnTo>
                    <a:pt x="18738" y="15039"/>
                  </a:lnTo>
                  <a:cubicBezTo>
                    <a:pt x="23744" y="15039"/>
                    <a:pt x="27811" y="10973"/>
                    <a:pt x="27811" y="5987"/>
                  </a:cubicBezTo>
                  <a:lnTo>
                    <a:pt x="22559" y="5987"/>
                  </a:lnTo>
                  <a:cubicBezTo>
                    <a:pt x="22559" y="8092"/>
                    <a:pt x="20843" y="9788"/>
                    <a:pt x="18738" y="9788"/>
                  </a:cubicBezTo>
                  <a:lnTo>
                    <a:pt x="9052" y="9788"/>
                  </a:lnTo>
                  <a:cubicBezTo>
                    <a:pt x="6948" y="9788"/>
                    <a:pt x="5252" y="8092"/>
                    <a:pt x="5252" y="5987"/>
                  </a:cubicBezTo>
                  <a:close/>
                </a:path>
              </a:pathLst>
            </a:custGeom>
            <a:solidFill>
              <a:srgbClr val="64C8FA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1191350" y="2441650"/>
              <a:ext cx="614600" cy="794900"/>
            </a:xfrm>
            <a:custGeom>
              <a:avLst/>
              <a:gdLst/>
              <a:ahLst/>
              <a:cxnLst/>
              <a:rect l="l" t="t" r="r" b="b"/>
              <a:pathLst>
                <a:path w="24584" h="31796" extrusionOk="0">
                  <a:moveTo>
                    <a:pt x="12568" y="5620"/>
                  </a:moveTo>
                  <a:cubicBezTo>
                    <a:pt x="15653" y="5620"/>
                    <a:pt x="17799" y="6969"/>
                    <a:pt x="17799" y="10218"/>
                  </a:cubicBezTo>
                  <a:cubicBezTo>
                    <a:pt x="17799" y="13119"/>
                    <a:pt x="15797" y="14775"/>
                    <a:pt x="12629" y="14775"/>
                  </a:cubicBezTo>
                  <a:lnTo>
                    <a:pt x="6908" y="14775"/>
                  </a:lnTo>
                  <a:lnTo>
                    <a:pt x="6908" y="5620"/>
                  </a:lnTo>
                  <a:close/>
                  <a:moveTo>
                    <a:pt x="1" y="1"/>
                  </a:moveTo>
                  <a:lnTo>
                    <a:pt x="1" y="31796"/>
                  </a:lnTo>
                  <a:lnTo>
                    <a:pt x="6908" y="31796"/>
                  </a:lnTo>
                  <a:lnTo>
                    <a:pt x="6908" y="20333"/>
                  </a:lnTo>
                  <a:lnTo>
                    <a:pt x="13876" y="20333"/>
                  </a:lnTo>
                  <a:cubicBezTo>
                    <a:pt x="21355" y="20333"/>
                    <a:pt x="24583" y="15122"/>
                    <a:pt x="24583" y="10136"/>
                  </a:cubicBezTo>
                  <a:cubicBezTo>
                    <a:pt x="24583" y="3883"/>
                    <a:pt x="20251" y="1"/>
                    <a:pt x="13651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1911675" y="2441650"/>
              <a:ext cx="571650" cy="794900"/>
            </a:xfrm>
            <a:custGeom>
              <a:avLst/>
              <a:gdLst/>
              <a:ahLst/>
              <a:cxnLst/>
              <a:rect l="l" t="t" r="r" b="b"/>
              <a:pathLst>
                <a:path w="22866" h="31796" extrusionOk="0">
                  <a:moveTo>
                    <a:pt x="0" y="1"/>
                  </a:moveTo>
                  <a:lnTo>
                    <a:pt x="0" y="31796"/>
                  </a:lnTo>
                  <a:lnTo>
                    <a:pt x="22866" y="31796"/>
                  </a:lnTo>
                  <a:lnTo>
                    <a:pt x="22866" y="25952"/>
                  </a:lnTo>
                  <a:lnTo>
                    <a:pt x="6907" y="25952"/>
                  </a:lnTo>
                  <a:lnTo>
                    <a:pt x="6907" y="18596"/>
                  </a:lnTo>
                  <a:lnTo>
                    <a:pt x="20598" y="18596"/>
                  </a:lnTo>
                  <a:lnTo>
                    <a:pt x="20598" y="12752"/>
                  </a:lnTo>
                  <a:lnTo>
                    <a:pt x="6907" y="12752"/>
                  </a:lnTo>
                  <a:lnTo>
                    <a:pt x="6907" y="5845"/>
                  </a:lnTo>
                  <a:lnTo>
                    <a:pt x="22743" y="5845"/>
                  </a:lnTo>
                  <a:lnTo>
                    <a:pt x="22743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2542575" y="2441650"/>
              <a:ext cx="692225" cy="798475"/>
            </a:xfrm>
            <a:custGeom>
              <a:avLst/>
              <a:gdLst/>
              <a:ahLst/>
              <a:cxnLst/>
              <a:rect l="l" t="t" r="r" b="b"/>
              <a:pathLst>
                <a:path w="27689" h="31939" extrusionOk="0">
                  <a:moveTo>
                    <a:pt x="0" y="1"/>
                  </a:moveTo>
                  <a:lnTo>
                    <a:pt x="10299" y="31939"/>
                  </a:lnTo>
                  <a:lnTo>
                    <a:pt x="17267" y="31939"/>
                  </a:lnTo>
                  <a:lnTo>
                    <a:pt x="27688" y="1"/>
                  </a:lnTo>
                  <a:lnTo>
                    <a:pt x="20965" y="1"/>
                  </a:lnTo>
                  <a:lnTo>
                    <a:pt x="14181" y="22928"/>
                  </a:lnTo>
                  <a:lnTo>
                    <a:pt x="14038" y="22928"/>
                  </a:lnTo>
                  <a:lnTo>
                    <a:pt x="7315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3487650" y="2440125"/>
              <a:ext cx="140000" cy="188025"/>
            </a:xfrm>
            <a:custGeom>
              <a:avLst/>
              <a:gdLst/>
              <a:ahLst/>
              <a:cxnLst/>
              <a:rect l="l" t="t" r="r" b="b"/>
              <a:pathLst>
                <a:path w="5600" h="7521" extrusionOk="0">
                  <a:moveTo>
                    <a:pt x="2861" y="1186"/>
                  </a:moveTo>
                  <a:cubicBezTo>
                    <a:pt x="3637" y="1186"/>
                    <a:pt x="4230" y="1472"/>
                    <a:pt x="4230" y="2350"/>
                  </a:cubicBezTo>
                  <a:cubicBezTo>
                    <a:pt x="4230" y="3127"/>
                    <a:pt x="3699" y="3515"/>
                    <a:pt x="2881" y="3515"/>
                  </a:cubicBezTo>
                  <a:lnTo>
                    <a:pt x="1390" y="3515"/>
                  </a:lnTo>
                  <a:lnTo>
                    <a:pt x="1390" y="1186"/>
                  </a:lnTo>
                  <a:close/>
                  <a:moveTo>
                    <a:pt x="0" y="1"/>
                  </a:moveTo>
                  <a:lnTo>
                    <a:pt x="0" y="7520"/>
                  </a:lnTo>
                  <a:lnTo>
                    <a:pt x="1390" y="7520"/>
                  </a:lnTo>
                  <a:lnTo>
                    <a:pt x="1390" y="4700"/>
                  </a:lnTo>
                  <a:lnTo>
                    <a:pt x="3127" y="4700"/>
                  </a:lnTo>
                  <a:cubicBezTo>
                    <a:pt x="4823" y="4700"/>
                    <a:pt x="5599" y="3515"/>
                    <a:pt x="5599" y="2371"/>
                  </a:cubicBezTo>
                  <a:cubicBezTo>
                    <a:pt x="5599" y="818"/>
                    <a:pt x="4496" y="1"/>
                    <a:pt x="3045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3650100" y="2490700"/>
              <a:ext cx="86850" cy="137450"/>
            </a:xfrm>
            <a:custGeom>
              <a:avLst/>
              <a:gdLst/>
              <a:ahLst/>
              <a:cxnLst/>
              <a:rect l="l" t="t" r="r" b="b"/>
              <a:pathLst>
                <a:path w="3474" h="5498" extrusionOk="0">
                  <a:moveTo>
                    <a:pt x="3045" y="0"/>
                  </a:moveTo>
                  <a:cubicBezTo>
                    <a:pt x="2391" y="0"/>
                    <a:pt x="1594" y="430"/>
                    <a:pt x="1287" y="1002"/>
                  </a:cubicBezTo>
                  <a:lnTo>
                    <a:pt x="1267" y="1002"/>
                  </a:lnTo>
                  <a:lnTo>
                    <a:pt x="126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7" y="5497"/>
                  </a:lnTo>
                  <a:lnTo>
                    <a:pt x="1287" y="2739"/>
                  </a:lnTo>
                  <a:cubicBezTo>
                    <a:pt x="1287" y="1737"/>
                    <a:pt x="2023" y="1165"/>
                    <a:pt x="2984" y="1165"/>
                  </a:cubicBezTo>
                  <a:cubicBezTo>
                    <a:pt x="3167" y="1165"/>
                    <a:pt x="3310" y="1165"/>
                    <a:pt x="3474" y="1206"/>
                  </a:cubicBezTo>
                  <a:lnTo>
                    <a:pt x="3474" y="21"/>
                  </a:lnTo>
                  <a:cubicBezTo>
                    <a:pt x="3331" y="0"/>
                    <a:pt x="3188" y="0"/>
                    <a:pt x="304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3752775" y="2490700"/>
              <a:ext cx="122625" cy="140500"/>
            </a:xfrm>
            <a:custGeom>
              <a:avLst/>
              <a:gdLst/>
              <a:ahLst/>
              <a:cxnLst/>
              <a:rect l="l" t="t" r="r" b="b"/>
              <a:pathLst>
                <a:path w="4905" h="5620" extrusionOk="0">
                  <a:moveTo>
                    <a:pt x="2432" y="1104"/>
                  </a:moveTo>
                  <a:cubicBezTo>
                    <a:pt x="3106" y="1104"/>
                    <a:pt x="3597" y="1472"/>
                    <a:pt x="3597" y="2126"/>
                  </a:cubicBezTo>
                  <a:lnTo>
                    <a:pt x="3597" y="3474"/>
                  </a:lnTo>
                  <a:cubicBezTo>
                    <a:pt x="3597" y="4251"/>
                    <a:pt x="3025" y="4537"/>
                    <a:pt x="2473" y="4537"/>
                  </a:cubicBezTo>
                  <a:cubicBezTo>
                    <a:pt x="1819" y="4537"/>
                    <a:pt x="1308" y="4149"/>
                    <a:pt x="1308" y="3495"/>
                  </a:cubicBezTo>
                  <a:lnTo>
                    <a:pt x="1308" y="2166"/>
                  </a:lnTo>
                  <a:cubicBezTo>
                    <a:pt x="1308" y="1390"/>
                    <a:pt x="1901" y="1104"/>
                    <a:pt x="2432" y="1104"/>
                  </a:cubicBezTo>
                  <a:close/>
                  <a:moveTo>
                    <a:pt x="2432" y="0"/>
                  </a:moveTo>
                  <a:cubicBezTo>
                    <a:pt x="1247" y="0"/>
                    <a:pt x="0" y="797"/>
                    <a:pt x="0" y="2269"/>
                  </a:cubicBezTo>
                  <a:lnTo>
                    <a:pt x="0" y="3495"/>
                  </a:lnTo>
                  <a:cubicBezTo>
                    <a:pt x="0" y="4884"/>
                    <a:pt x="1165" y="5620"/>
                    <a:pt x="2473" y="5620"/>
                  </a:cubicBezTo>
                  <a:cubicBezTo>
                    <a:pt x="3679" y="5620"/>
                    <a:pt x="4905" y="4823"/>
                    <a:pt x="4905" y="3352"/>
                  </a:cubicBezTo>
                  <a:lnTo>
                    <a:pt x="4905" y="2248"/>
                  </a:lnTo>
                  <a:cubicBezTo>
                    <a:pt x="4905" y="859"/>
                    <a:pt x="3740" y="0"/>
                    <a:pt x="243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3897850" y="2490700"/>
              <a:ext cx="121100" cy="189050"/>
            </a:xfrm>
            <a:custGeom>
              <a:avLst/>
              <a:gdLst/>
              <a:ahLst/>
              <a:cxnLst/>
              <a:rect l="l" t="t" r="r" b="b"/>
              <a:pathLst>
                <a:path w="4844" h="7562" extrusionOk="0">
                  <a:moveTo>
                    <a:pt x="2432" y="1104"/>
                  </a:moveTo>
                  <a:cubicBezTo>
                    <a:pt x="3086" y="1104"/>
                    <a:pt x="3597" y="1472"/>
                    <a:pt x="3597" y="2126"/>
                  </a:cubicBezTo>
                  <a:lnTo>
                    <a:pt x="3597" y="3331"/>
                  </a:lnTo>
                  <a:cubicBezTo>
                    <a:pt x="3597" y="4108"/>
                    <a:pt x="3004" y="4394"/>
                    <a:pt x="2473" y="4394"/>
                  </a:cubicBezTo>
                  <a:cubicBezTo>
                    <a:pt x="1799" y="4394"/>
                    <a:pt x="1308" y="4006"/>
                    <a:pt x="1308" y="3352"/>
                  </a:cubicBezTo>
                  <a:lnTo>
                    <a:pt x="1308" y="2166"/>
                  </a:lnTo>
                  <a:cubicBezTo>
                    <a:pt x="1308" y="1390"/>
                    <a:pt x="1901" y="1104"/>
                    <a:pt x="2432" y="1104"/>
                  </a:cubicBezTo>
                  <a:close/>
                  <a:moveTo>
                    <a:pt x="2105" y="0"/>
                  </a:moveTo>
                  <a:cubicBezTo>
                    <a:pt x="920" y="0"/>
                    <a:pt x="1" y="797"/>
                    <a:pt x="1" y="2269"/>
                  </a:cubicBezTo>
                  <a:lnTo>
                    <a:pt x="1" y="3290"/>
                  </a:lnTo>
                  <a:cubicBezTo>
                    <a:pt x="1" y="4680"/>
                    <a:pt x="818" y="5415"/>
                    <a:pt x="2126" y="5415"/>
                  </a:cubicBezTo>
                  <a:cubicBezTo>
                    <a:pt x="2739" y="5415"/>
                    <a:pt x="3229" y="5191"/>
                    <a:pt x="3577" y="4721"/>
                  </a:cubicBezTo>
                  <a:lnTo>
                    <a:pt x="3597" y="4721"/>
                  </a:lnTo>
                  <a:lnTo>
                    <a:pt x="3597" y="5272"/>
                  </a:lnTo>
                  <a:cubicBezTo>
                    <a:pt x="3597" y="6049"/>
                    <a:pt x="3168" y="6539"/>
                    <a:pt x="2391" y="6539"/>
                  </a:cubicBezTo>
                  <a:cubicBezTo>
                    <a:pt x="1921" y="6539"/>
                    <a:pt x="1554" y="6335"/>
                    <a:pt x="1308" y="5824"/>
                  </a:cubicBezTo>
                  <a:lnTo>
                    <a:pt x="82" y="6253"/>
                  </a:lnTo>
                  <a:cubicBezTo>
                    <a:pt x="348" y="7152"/>
                    <a:pt x="1390" y="7561"/>
                    <a:pt x="2269" y="7561"/>
                  </a:cubicBezTo>
                  <a:cubicBezTo>
                    <a:pt x="4128" y="7561"/>
                    <a:pt x="4844" y="6294"/>
                    <a:pt x="4844" y="5048"/>
                  </a:cubicBezTo>
                  <a:lnTo>
                    <a:pt x="4844" y="103"/>
                  </a:lnTo>
                  <a:lnTo>
                    <a:pt x="3617" y="103"/>
                  </a:lnTo>
                  <a:lnTo>
                    <a:pt x="3617" y="736"/>
                  </a:lnTo>
                  <a:lnTo>
                    <a:pt x="3597" y="736"/>
                  </a:lnTo>
                  <a:cubicBezTo>
                    <a:pt x="3311" y="327"/>
                    <a:pt x="2739" y="0"/>
                    <a:pt x="210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4051100" y="2490700"/>
              <a:ext cx="86875" cy="137450"/>
            </a:xfrm>
            <a:custGeom>
              <a:avLst/>
              <a:gdLst/>
              <a:ahLst/>
              <a:cxnLst/>
              <a:rect l="l" t="t" r="r" b="b"/>
              <a:pathLst>
                <a:path w="3475" h="5498" extrusionOk="0">
                  <a:moveTo>
                    <a:pt x="3046" y="0"/>
                  </a:moveTo>
                  <a:cubicBezTo>
                    <a:pt x="2392" y="0"/>
                    <a:pt x="1595" y="430"/>
                    <a:pt x="1288" y="1002"/>
                  </a:cubicBezTo>
                  <a:lnTo>
                    <a:pt x="1268" y="1002"/>
                  </a:lnTo>
                  <a:lnTo>
                    <a:pt x="1268" y="103"/>
                  </a:lnTo>
                  <a:lnTo>
                    <a:pt x="1" y="103"/>
                  </a:lnTo>
                  <a:lnTo>
                    <a:pt x="1" y="5497"/>
                  </a:lnTo>
                  <a:lnTo>
                    <a:pt x="1288" y="5497"/>
                  </a:lnTo>
                  <a:lnTo>
                    <a:pt x="1288" y="2739"/>
                  </a:lnTo>
                  <a:cubicBezTo>
                    <a:pt x="1288" y="1737"/>
                    <a:pt x="2024" y="1165"/>
                    <a:pt x="2984" y="1165"/>
                  </a:cubicBezTo>
                  <a:cubicBezTo>
                    <a:pt x="3168" y="1165"/>
                    <a:pt x="3311" y="1165"/>
                    <a:pt x="3475" y="1206"/>
                  </a:cubicBezTo>
                  <a:lnTo>
                    <a:pt x="3475" y="21"/>
                  </a:lnTo>
                  <a:cubicBezTo>
                    <a:pt x="3332" y="0"/>
                    <a:pt x="3189" y="0"/>
                    <a:pt x="3046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4149700" y="2490200"/>
              <a:ext cx="120600" cy="140500"/>
            </a:xfrm>
            <a:custGeom>
              <a:avLst/>
              <a:gdLst/>
              <a:ahLst/>
              <a:cxnLst/>
              <a:rect l="l" t="t" r="r" b="b"/>
              <a:pathLst>
                <a:path w="4824" h="5620" extrusionOk="0">
                  <a:moveTo>
                    <a:pt x="3434" y="3269"/>
                  </a:moveTo>
                  <a:lnTo>
                    <a:pt x="3434" y="3515"/>
                  </a:lnTo>
                  <a:cubicBezTo>
                    <a:pt x="3434" y="4107"/>
                    <a:pt x="3270" y="4598"/>
                    <a:pt x="2228" y="4618"/>
                  </a:cubicBezTo>
                  <a:cubicBezTo>
                    <a:pt x="1635" y="4618"/>
                    <a:pt x="1268" y="4373"/>
                    <a:pt x="1268" y="3923"/>
                  </a:cubicBezTo>
                  <a:cubicBezTo>
                    <a:pt x="1268" y="3453"/>
                    <a:pt x="1615" y="3269"/>
                    <a:pt x="2167" y="3269"/>
                  </a:cubicBezTo>
                  <a:close/>
                  <a:moveTo>
                    <a:pt x="2412" y="0"/>
                  </a:moveTo>
                  <a:cubicBezTo>
                    <a:pt x="1390" y="0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31" y="1737"/>
                  </a:lnTo>
                  <a:lnTo>
                    <a:pt x="1431" y="1553"/>
                  </a:lnTo>
                  <a:cubicBezTo>
                    <a:pt x="1431" y="1206"/>
                    <a:pt x="1840" y="1022"/>
                    <a:pt x="2412" y="1022"/>
                  </a:cubicBezTo>
                  <a:cubicBezTo>
                    <a:pt x="3045" y="1022"/>
                    <a:pt x="3434" y="1247"/>
                    <a:pt x="3434" y="1819"/>
                  </a:cubicBezTo>
                  <a:lnTo>
                    <a:pt x="3434" y="2330"/>
                  </a:lnTo>
                  <a:lnTo>
                    <a:pt x="2003" y="2330"/>
                  </a:lnTo>
                  <a:cubicBezTo>
                    <a:pt x="961" y="2330"/>
                    <a:pt x="1" y="2943"/>
                    <a:pt x="1" y="3985"/>
                  </a:cubicBezTo>
                  <a:cubicBezTo>
                    <a:pt x="1" y="5006"/>
                    <a:pt x="757" y="5619"/>
                    <a:pt x="1881" y="5619"/>
                  </a:cubicBezTo>
                  <a:cubicBezTo>
                    <a:pt x="2575" y="5619"/>
                    <a:pt x="2984" y="5517"/>
                    <a:pt x="3474" y="5006"/>
                  </a:cubicBezTo>
                  <a:lnTo>
                    <a:pt x="3495" y="5006"/>
                  </a:lnTo>
                  <a:cubicBezTo>
                    <a:pt x="3495" y="5109"/>
                    <a:pt x="3515" y="5435"/>
                    <a:pt x="3536" y="5517"/>
                  </a:cubicBezTo>
                  <a:lnTo>
                    <a:pt x="4823" y="5517"/>
                  </a:lnTo>
                  <a:cubicBezTo>
                    <a:pt x="4762" y="5395"/>
                    <a:pt x="4721" y="4598"/>
                    <a:pt x="4721" y="4352"/>
                  </a:cubicBezTo>
                  <a:lnTo>
                    <a:pt x="4721" y="1737"/>
                  </a:lnTo>
                  <a:cubicBezTo>
                    <a:pt x="4721" y="409"/>
                    <a:pt x="3617" y="0"/>
                    <a:pt x="241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4300925" y="2490700"/>
              <a:ext cx="197200" cy="137450"/>
            </a:xfrm>
            <a:custGeom>
              <a:avLst/>
              <a:gdLst/>
              <a:ahLst/>
              <a:cxnLst/>
              <a:rect l="l" t="t" r="r" b="b"/>
              <a:pathLst>
                <a:path w="7888" h="5498" extrusionOk="0">
                  <a:moveTo>
                    <a:pt x="2800" y="0"/>
                  </a:moveTo>
                  <a:cubicBezTo>
                    <a:pt x="2166" y="0"/>
                    <a:pt x="163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7" y="5497"/>
                  </a:lnTo>
                  <a:lnTo>
                    <a:pt x="1287" y="2330"/>
                  </a:lnTo>
                  <a:cubicBezTo>
                    <a:pt x="1287" y="1431"/>
                    <a:pt x="1880" y="1124"/>
                    <a:pt x="2330" y="1124"/>
                  </a:cubicBezTo>
                  <a:cubicBezTo>
                    <a:pt x="3106" y="1124"/>
                    <a:pt x="3310" y="1696"/>
                    <a:pt x="3310" y="2371"/>
                  </a:cubicBezTo>
                  <a:lnTo>
                    <a:pt x="3310" y="5497"/>
                  </a:lnTo>
                  <a:lnTo>
                    <a:pt x="4598" y="5497"/>
                  </a:lnTo>
                  <a:lnTo>
                    <a:pt x="4598" y="2371"/>
                  </a:lnTo>
                  <a:cubicBezTo>
                    <a:pt x="4598" y="1676"/>
                    <a:pt x="4904" y="1124"/>
                    <a:pt x="5620" y="1124"/>
                  </a:cubicBezTo>
                  <a:cubicBezTo>
                    <a:pt x="6355" y="1124"/>
                    <a:pt x="6600" y="1615"/>
                    <a:pt x="6600" y="2350"/>
                  </a:cubicBezTo>
                  <a:lnTo>
                    <a:pt x="6600" y="5497"/>
                  </a:lnTo>
                  <a:lnTo>
                    <a:pt x="7888" y="5497"/>
                  </a:lnTo>
                  <a:lnTo>
                    <a:pt x="7888" y="1901"/>
                  </a:lnTo>
                  <a:cubicBezTo>
                    <a:pt x="7888" y="573"/>
                    <a:pt x="7009" y="0"/>
                    <a:pt x="6008" y="0"/>
                  </a:cubicBezTo>
                  <a:cubicBezTo>
                    <a:pt x="5272" y="0"/>
                    <a:pt x="4720" y="307"/>
                    <a:pt x="4332" y="797"/>
                  </a:cubicBezTo>
                  <a:cubicBezTo>
                    <a:pt x="3985" y="287"/>
                    <a:pt x="3515" y="0"/>
                    <a:pt x="2800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4532325" y="2490700"/>
              <a:ext cx="197725" cy="137450"/>
            </a:xfrm>
            <a:custGeom>
              <a:avLst/>
              <a:gdLst/>
              <a:ahLst/>
              <a:cxnLst/>
              <a:rect l="l" t="t" r="r" b="b"/>
              <a:pathLst>
                <a:path w="7909" h="5498" extrusionOk="0">
                  <a:moveTo>
                    <a:pt x="2800" y="0"/>
                  </a:moveTo>
                  <a:cubicBezTo>
                    <a:pt x="2167" y="0"/>
                    <a:pt x="1636" y="246"/>
                    <a:pt x="1268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1" y="103"/>
                  </a:lnTo>
                  <a:lnTo>
                    <a:pt x="1" y="5497"/>
                  </a:lnTo>
                  <a:lnTo>
                    <a:pt x="1288" y="5497"/>
                  </a:lnTo>
                  <a:lnTo>
                    <a:pt x="1288" y="2330"/>
                  </a:lnTo>
                  <a:cubicBezTo>
                    <a:pt x="1288" y="1431"/>
                    <a:pt x="1881" y="1124"/>
                    <a:pt x="2330" y="1124"/>
                  </a:cubicBezTo>
                  <a:cubicBezTo>
                    <a:pt x="3127" y="1124"/>
                    <a:pt x="3311" y="1696"/>
                    <a:pt x="3311" y="2371"/>
                  </a:cubicBezTo>
                  <a:lnTo>
                    <a:pt x="3311" y="5497"/>
                  </a:lnTo>
                  <a:lnTo>
                    <a:pt x="4598" y="5497"/>
                  </a:lnTo>
                  <a:lnTo>
                    <a:pt x="4598" y="2371"/>
                  </a:lnTo>
                  <a:cubicBezTo>
                    <a:pt x="4598" y="1676"/>
                    <a:pt x="4905" y="1124"/>
                    <a:pt x="5641" y="1124"/>
                  </a:cubicBezTo>
                  <a:cubicBezTo>
                    <a:pt x="6356" y="1124"/>
                    <a:pt x="6621" y="1615"/>
                    <a:pt x="6621" y="2350"/>
                  </a:cubicBezTo>
                  <a:lnTo>
                    <a:pt x="6621" y="5497"/>
                  </a:lnTo>
                  <a:lnTo>
                    <a:pt x="7909" y="5497"/>
                  </a:lnTo>
                  <a:lnTo>
                    <a:pt x="7909" y="1901"/>
                  </a:lnTo>
                  <a:cubicBezTo>
                    <a:pt x="7909" y="573"/>
                    <a:pt x="7010" y="0"/>
                    <a:pt x="6008" y="0"/>
                  </a:cubicBezTo>
                  <a:cubicBezTo>
                    <a:pt x="5273" y="0"/>
                    <a:pt x="4721" y="307"/>
                    <a:pt x="4353" y="797"/>
                  </a:cubicBezTo>
                  <a:lnTo>
                    <a:pt x="4333" y="797"/>
                  </a:lnTo>
                  <a:cubicBezTo>
                    <a:pt x="4006" y="287"/>
                    <a:pt x="3515" y="0"/>
                    <a:pt x="2800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4758125" y="2490700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73" y="1083"/>
                  </a:moveTo>
                  <a:cubicBezTo>
                    <a:pt x="3004" y="1083"/>
                    <a:pt x="3515" y="1390"/>
                    <a:pt x="3515" y="2126"/>
                  </a:cubicBezTo>
                  <a:lnTo>
                    <a:pt x="3515" y="2269"/>
                  </a:lnTo>
                  <a:lnTo>
                    <a:pt x="1329" y="2269"/>
                  </a:lnTo>
                  <a:lnTo>
                    <a:pt x="1329" y="2187"/>
                  </a:lnTo>
                  <a:cubicBezTo>
                    <a:pt x="1329" y="1390"/>
                    <a:pt x="1921" y="1083"/>
                    <a:pt x="2473" y="1083"/>
                  </a:cubicBezTo>
                  <a:close/>
                  <a:moveTo>
                    <a:pt x="2473" y="0"/>
                  </a:moveTo>
                  <a:cubicBezTo>
                    <a:pt x="1145" y="0"/>
                    <a:pt x="1" y="838"/>
                    <a:pt x="1" y="2371"/>
                  </a:cubicBezTo>
                  <a:lnTo>
                    <a:pt x="1" y="3413"/>
                  </a:lnTo>
                  <a:cubicBezTo>
                    <a:pt x="1" y="4884"/>
                    <a:pt x="1186" y="5620"/>
                    <a:pt x="2514" y="5620"/>
                  </a:cubicBezTo>
                  <a:cubicBezTo>
                    <a:pt x="3474" y="5620"/>
                    <a:pt x="4333" y="5252"/>
                    <a:pt x="4741" y="4414"/>
                  </a:cubicBezTo>
                  <a:lnTo>
                    <a:pt x="3761" y="3842"/>
                  </a:lnTo>
                  <a:cubicBezTo>
                    <a:pt x="3474" y="4271"/>
                    <a:pt x="3025" y="4537"/>
                    <a:pt x="2575" y="4537"/>
                  </a:cubicBezTo>
                  <a:cubicBezTo>
                    <a:pt x="1901" y="4537"/>
                    <a:pt x="1349" y="4149"/>
                    <a:pt x="1349" y="3454"/>
                  </a:cubicBezTo>
                  <a:lnTo>
                    <a:pt x="1349" y="3168"/>
                  </a:lnTo>
                  <a:lnTo>
                    <a:pt x="4803" y="3168"/>
                  </a:lnTo>
                  <a:lnTo>
                    <a:pt x="4803" y="2126"/>
                  </a:lnTo>
                  <a:cubicBezTo>
                    <a:pt x="4803" y="695"/>
                    <a:pt x="363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487650" y="2756350"/>
              <a:ext cx="131300" cy="188000"/>
            </a:xfrm>
            <a:custGeom>
              <a:avLst/>
              <a:gdLst/>
              <a:ahLst/>
              <a:cxnLst/>
              <a:rect l="l" t="t" r="r" b="b"/>
              <a:pathLst>
                <a:path w="5252" h="7520" extrusionOk="0">
                  <a:moveTo>
                    <a:pt x="0" y="0"/>
                  </a:moveTo>
                  <a:lnTo>
                    <a:pt x="0" y="7520"/>
                  </a:lnTo>
                  <a:lnTo>
                    <a:pt x="5252" y="7520"/>
                  </a:lnTo>
                  <a:lnTo>
                    <a:pt x="5252" y="6294"/>
                  </a:lnTo>
                  <a:lnTo>
                    <a:pt x="1390" y="6294"/>
                  </a:lnTo>
                  <a:lnTo>
                    <a:pt x="1390" y="4312"/>
                  </a:lnTo>
                  <a:lnTo>
                    <a:pt x="4782" y="4312"/>
                  </a:lnTo>
                  <a:lnTo>
                    <a:pt x="4782" y="3065"/>
                  </a:lnTo>
                  <a:lnTo>
                    <a:pt x="1390" y="3065"/>
                  </a:lnTo>
                  <a:lnTo>
                    <a:pt x="1390" y="1226"/>
                  </a:lnTo>
                  <a:lnTo>
                    <a:pt x="5211" y="1226"/>
                  </a:lnTo>
                  <a:lnTo>
                    <a:pt x="5211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650600" y="2756350"/>
              <a:ext cx="58275" cy="189550"/>
            </a:xfrm>
            <a:custGeom>
              <a:avLst/>
              <a:gdLst/>
              <a:ahLst/>
              <a:cxnLst/>
              <a:rect l="l" t="t" r="r" b="b"/>
              <a:pathLst>
                <a:path w="2331" h="7582" extrusionOk="0">
                  <a:moveTo>
                    <a:pt x="1" y="0"/>
                  </a:moveTo>
                  <a:lnTo>
                    <a:pt x="1" y="6069"/>
                  </a:lnTo>
                  <a:cubicBezTo>
                    <a:pt x="1" y="6559"/>
                    <a:pt x="21" y="7581"/>
                    <a:pt x="1308" y="7581"/>
                  </a:cubicBezTo>
                  <a:cubicBezTo>
                    <a:pt x="1635" y="7581"/>
                    <a:pt x="2064" y="7520"/>
                    <a:pt x="2330" y="7438"/>
                  </a:cubicBezTo>
                  <a:lnTo>
                    <a:pt x="2330" y="6457"/>
                  </a:lnTo>
                  <a:cubicBezTo>
                    <a:pt x="2105" y="6478"/>
                    <a:pt x="1983" y="6498"/>
                    <a:pt x="1758" y="6498"/>
                  </a:cubicBezTo>
                  <a:cubicBezTo>
                    <a:pt x="1390" y="6498"/>
                    <a:pt x="1288" y="6294"/>
                    <a:pt x="1288" y="6069"/>
                  </a:cubicBezTo>
                  <a:lnTo>
                    <a:pt x="1288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3723150" y="2806400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3413" y="3250"/>
                  </a:moveTo>
                  <a:lnTo>
                    <a:pt x="3413" y="3515"/>
                  </a:lnTo>
                  <a:cubicBezTo>
                    <a:pt x="3413" y="4108"/>
                    <a:pt x="3249" y="4598"/>
                    <a:pt x="2228" y="4598"/>
                  </a:cubicBezTo>
                  <a:cubicBezTo>
                    <a:pt x="1615" y="4598"/>
                    <a:pt x="1247" y="4373"/>
                    <a:pt x="1247" y="3924"/>
                  </a:cubicBezTo>
                  <a:cubicBezTo>
                    <a:pt x="1247" y="3454"/>
                    <a:pt x="1615" y="3250"/>
                    <a:pt x="2146" y="3250"/>
                  </a:cubicBezTo>
                  <a:close/>
                  <a:moveTo>
                    <a:pt x="2391" y="1"/>
                  </a:moveTo>
                  <a:cubicBezTo>
                    <a:pt x="1390" y="1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10" y="1737"/>
                  </a:lnTo>
                  <a:lnTo>
                    <a:pt x="1410" y="1554"/>
                  </a:lnTo>
                  <a:cubicBezTo>
                    <a:pt x="1410" y="1206"/>
                    <a:pt x="1819" y="1022"/>
                    <a:pt x="2391" y="1022"/>
                  </a:cubicBezTo>
                  <a:cubicBezTo>
                    <a:pt x="3045" y="1022"/>
                    <a:pt x="3413" y="1247"/>
                    <a:pt x="3413" y="1819"/>
                  </a:cubicBezTo>
                  <a:lnTo>
                    <a:pt x="3413" y="2330"/>
                  </a:lnTo>
                  <a:lnTo>
                    <a:pt x="1982" y="2330"/>
                  </a:lnTo>
                  <a:cubicBezTo>
                    <a:pt x="940" y="2330"/>
                    <a:pt x="0" y="2943"/>
                    <a:pt x="0" y="3985"/>
                  </a:cubicBezTo>
                  <a:cubicBezTo>
                    <a:pt x="0" y="5007"/>
                    <a:pt x="756" y="5620"/>
                    <a:pt x="1880" y="5620"/>
                  </a:cubicBezTo>
                  <a:cubicBezTo>
                    <a:pt x="2575" y="5620"/>
                    <a:pt x="2984" y="5518"/>
                    <a:pt x="3454" y="5007"/>
                  </a:cubicBezTo>
                  <a:lnTo>
                    <a:pt x="3474" y="5007"/>
                  </a:lnTo>
                  <a:cubicBezTo>
                    <a:pt x="3494" y="5109"/>
                    <a:pt x="3515" y="5436"/>
                    <a:pt x="3535" y="5518"/>
                  </a:cubicBezTo>
                  <a:lnTo>
                    <a:pt x="4802" y="5518"/>
                  </a:lnTo>
                  <a:cubicBezTo>
                    <a:pt x="4741" y="5395"/>
                    <a:pt x="4700" y="4598"/>
                    <a:pt x="4700" y="4353"/>
                  </a:cubicBezTo>
                  <a:lnTo>
                    <a:pt x="4700" y="1737"/>
                  </a:lnTo>
                  <a:cubicBezTo>
                    <a:pt x="4700" y="409"/>
                    <a:pt x="3597" y="1"/>
                    <a:pt x="2391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3872825" y="2806925"/>
              <a:ext cx="86350" cy="137425"/>
            </a:xfrm>
            <a:custGeom>
              <a:avLst/>
              <a:gdLst/>
              <a:ahLst/>
              <a:cxnLst/>
              <a:rect l="l" t="t" r="r" b="b"/>
              <a:pathLst>
                <a:path w="3454" h="5497" extrusionOk="0">
                  <a:moveTo>
                    <a:pt x="3025" y="0"/>
                  </a:moveTo>
                  <a:cubicBezTo>
                    <a:pt x="2391" y="0"/>
                    <a:pt x="1594" y="429"/>
                    <a:pt x="1267" y="1001"/>
                  </a:cubicBezTo>
                  <a:lnTo>
                    <a:pt x="1247" y="1001"/>
                  </a:lnTo>
                  <a:lnTo>
                    <a:pt x="1247" y="102"/>
                  </a:lnTo>
                  <a:lnTo>
                    <a:pt x="0" y="102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738"/>
                  </a:lnTo>
                  <a:cubicBezTo>
                    <a:pt x="1288" y="1737"/>
                    <a:pt x="2003" y="1165"/>
                    <a:pt x="2984" y="1165"/>
                  </a:cubicBezTo>
                  <a:cubicBezTo>
                    <a:pt x="3147" y="1165"/>
                    <a:pt x="3290" y="1165"/>
                    <a:pt x="3454" y="1206"/>
                  </a:cubicBezTo>
                  <a:lnTo>
                    <a:pt x="3454" y="20"/>
                  </a:lnTo>
                  <a:cubicBezTo>
                    <a:pt x="3331" y="0"/>
                    <a:pt x="3168" y="0"/>
                    <a:pt x="302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3975000" y="2806925"/>
              <a:ext cx="121600" cy="189025"/>
            </a:xfrm>
            <a:custGeom>
              <a:avLst/>
              <a:gdLst/>
              <a:ahLst/>
              <a:cxnLst/>
              <a:rect l="l" t="t" r="r" b="b"/>
              <a:pathLst>
                <a:path w="4864" h="7561" extrusionOk="0">
                  <a:moveTo>
                    <a:pt x="2452" y="1103"/>
                  </a:moveTo>
                  <a:cubicBezTo>
                    <a:pt x="3106" y="1103"/>
                    <a:pt x="3617" y="1471"/>
                    <a:pt x="3617" y="2125"/>
                  </a:cubicBezTo>
                  <a:lnTo>
                    <a:pt x="3617" y="3331"/>
                  </a:lnTo>
                  <a:cubicBezTo>
                    <a:pt x="3617" y="4107"/>
                    <a:pt x="3024" y="4393"/>
                    <a:pt x="2493" y="4393"/>
                  </a:cubicBezTo>
                  <a:cubicBezTo>
                    <a:pt x="1819" y="4393"/>
                    <a:pt x="1308" y="4005"/>
                    <a:pt x="1308" y="3351"/>
                  </a:cubicBezTo>
                  <a:lnTo>
                    <a:pt x="1308" y="2166"/>
                  </a:lnTo>
                  <a:cubicBezTo>
                    <a:pt x="1308" y="1390"/>
                    <a:pt x="1901" y="1103"/>
                    <a:pt x="2452" y="1103"/>
                  </a:cubicBezTo>
                  <a:close/>
                  <a:moveTo>
                    <a:pt x="2125" y="0"/>
                  </a:moveTo>
                  <a:cubicBezTo>
                    <a:pt x="940" y="0"/>
                    <a:pt x="0" y="797"/>
                    <a:pt x="0" y="2268"/>
                  </a:cubicBezTo>
                  <a:lnTo>
                    <a:pt x="0" y="3290"/>
                  </a:lnTo>
                  <a:cubicBezTo>
                    <a:pt x="0" y="4679"/>
                    <a:pt x="838" y="5415"/>
                    <a:pt x="2146" y="5415"/>
                  </a:cubicBezTo>
                  <a:cubicBezTo>
                    <a:pt x="2759" y="5415"/>
                    <a:pt x="3249" y="5190"/>
                    <a:pt x="3597" y="4720"/>
                  </a:cubicBezTo>
                  <a:lnTo>
                    <a:pt x="3617" y="4720"/>
                  </a:lnTo>
                  <a:lnTo>
                    <a:pt x="3617" y="5272"/>
                  </a:lnTo>
                  <a:cubicBezTo>
                    <a:pt x="3617" y="6048"/>
                    <a:pt x="3188" y="6539"/>
                    <a:pt x="2391" y="6539"/>
                  </a:cubicBezTo>
                  <a:cubicBezTo>
                    <a:pt x="1941" y="6539"/>
                    <a:pt x="1574" y="6335"/>
                    <a:pt x="1308" y="5824"/>
                  </a:cubicBezTo>
                  <a:lnTo>
                    <a:pt x="82" y="6253"/>
                  </a:lnTo>
                  <a:cubicBezTo>
                    <a:pt x="368" y="7152"/>
                    <a:pt x="1410" y="7561"/>
                    <a:pt x="2289" y="7561"/>
                  </a:cubicBezTo>
                  <a:cubicBezTo>
                    <a:pt x="4148" y="7561"/>
                    <a:pt x="4864" y="6294"/>
                    <a:pt x="4864" y="5047"/>
                  </a:cubicBezTo>
                  <a:lnTo>
                    <a:pt x="4864" y="102"/>
                  </a:lnTo>
                  <a:lnTo>
                    <a:pt x="3637" y="102"/>
                  </a:lnTo>
                  <a:lnTo>
                    <a:pt x="3637" y="736"/>
                  </a:lnTo>
                  <a:lnTo>
                    <a:pt x="3617" y="736"/>
                  </a:lnTo>
                  <a:cubicBezTo>
                    <a:pt x="3331" y="327"/>
                    <a:pt x="2759" y="0"/>
                    <a:pt x="212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4130300" y="2754800"/>
              <a:ext cx="32200" cy="189550"/>
            </a:xfrm>
            <a:custGeom>
              <a:avLst/>
              <a:gdLst/>
              <a:ahLst/>
              <a:cxnLst/>
              <a:rect l="l" t="t" r="r" b="b"/>
              <a:pathLst>
                <a:path w="1288" h="7582" extrusionOk="0">
                  <a:moveTo>
                    <a:pt x="0" y="1"/>
                  </a:moveTo>
                  <a:lnTo>
                    <a:pt x="0" y="1370"/>
                  </a:lnTo>
                  <a:lnTo>
                    <a:pt x="1288" y="1370"/>
                  </a:lnTo>
                  <a:lnTo>
                    <a:pt x="1288" y="1"/>
                  </a:lnTo>
                  <a:close/>
                  <a:moveTo>
                    <a:pt x="0" y="2187"/>
                  </a:moveTo>
                  <a:lnTo>
                    <a:pt x="0" y="7582"/>
                  </a:lnTo>
                  <a:lnTo>
                    <a:pt x="1288" y="7582"/>
                  </a:lnTo>
                  <a:lnTo>
                    <a:pt x="1288" y="2187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3479475" y="3072550"/>
              <a:ext cx="122625" cy="191075"/>
            </a:xfrm>
            <a:custGeom>
              <a:avLst/>
              <a:gdLst/>
              <a:ahLst/>
              <a:cxnLst/>
              <a:rect l="l" t="t" r="r" b="b"/>
              <a:pathLst>
                <a:path w="4905" h="7643" extrusionOk="0">
                  <a:moveTo>
                    <a:pt x="2432" y="3107"/>
                  </a:moveTo>
                  <a:cubicBezTo>
                    <a:pt x="3106" y="3107"/>
                    <a:pt x="3617" y="3495"/>
                    <a:pt x="3617" y="4149"/>
                  </a:cubicBezTo>
                  <a:lnTo>
                    <a:pt x="3617" y="5477"/>
                  </a:lnTo>
                  <a:cubicBezTo>
                    <a:pt x="3617" y="6253"/>
                    <a:pt x="3024" y="6540"/>
                    <a:pt x="2473" y="6540"/>
                  </a:cubicBezTo>
                  <a:cubicBezTo>
                    <a:pt x="1819" y="6540"/>
                    <a:pt x="1308" y="6151"/>
                    <a:pt x="1308" y="5497"/>
                  </a:cubicBezTo>
                  <a:lnTo>
                    <a:pt x="1308" y="4169"/>
                  </a:lnTo>
                  <a:cubicBezTo>
                    <a:pt x="1308" y="3393"/>
                    <a:pt x="1901" y="3107"/>
                    <a:pt x="2432" y="3107"/>
                  </a:cubicBezTo>
                  <a:close/>
                  <a:moveTo>
                    <a:pt x="3637" y="1"/>
                  </a:moveTo>
                  <a:lnTo>
                    <a:pt x="3637" y="2678"/>
                  </a:lnTo>
                  <a:lnTo>
                    <a:pt x="3597" y="2678"/>
                  </a:lnTo>
                  <a:cubicBezTo>
                    <a:pt x="3331" y="2310"/>
                    <a:pt x="2820" y="2003"/>
                    <a:pt x="2227" y="2003"/>
                  </a:cubicBezTo>
                  <a:cubicBezTo>
                    <a:pt x="1022" y="2003"/>
                    <a:pt x="0" y="2739"/>
                    <a:pt x="0" y="4210"/>
                  </a:cubicBezTo>
                  <a:lnTo>
                    <a:pt x="0" y="5518"/>
                  </a:lnTo>
                  <a:cubicBezTo>
                    <a:pt x="0" y="6887"/>
                    <a:pt x="961" y="7643"/>
                    <a:pt x="2125" y="7643"/>
                  </a:cubicBezTo>
                  <a:cubicBezTo>
                    <a:pt x="2616" y="7643"/>
                    <a:pt x="3351" y="7336"/>
                    <a:pt x="3658" y="6907"/>
                  </a:cubicBezTo>
                  <a:lnTo>
                    <a:pt x="3658" y="7520"/>
                  </a:lnTo>
                  <a:lnTo>
                    <a:pt x="4904" y="7520"/>
                  </a:lnTo>
                  <a:lnTo>
                    <a:pt x="4904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3630675" y="3123125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94" y="1084"/>
                  </a:moveTo>
                  <a:cubicBezTo>
                    <a:pt x="3004" y="1084"/>
                    <a:pt x="3536" y="1390"/>
                    <a:pt x="3536" y="2126"/>
                  </a:cubicBezTo>
                  <a:lnTo>
                    <a:pt x="3536" y="2269"/>
                  </a:lnTo>
                  <a:lnTo>
                    <a:pt x="1349" y="2269"/>
                  </a:lnTo>
                  <a:lnTo>
                    <a:pt x="1349" y="2187"/>
                  </a:lnTo>
                  <a:cubicBezTo>
                    <a:pt x="1349" y="1390"/>
                    <a:pt x="1942" y="1084"/>
                    <a:pt x="2494" y="1084"/>
                  </a:cubicBezTo>
                  <a:close/>
                  <a:moveTo>
                    <a:pt x="2473" y="1"/>
                  </a:moveTo>
                  <a:cubicBezTo>
                    <a:pt x="1145" y="1"/>
                    <a:pt x="1" y="838"/>
                    <a:pt x="1" y="2371"/>
                  </a:cubicBezTo>
                  <a:lnTo>
                    <a:pt x="1" y="3413"/>
                  </a:lnTo>
                  <a:cubicBezTo>
                    <a:pt x="1" y="4884"/>
                    <a:pt x="1206" y="5620"/>
                    <a:pt x="2534" y="5620"/>
                  </a:cubicBezTo>
                  <a:cubicBezTo>
                    <a:pt x="3474" y="5620"/>
                    <a:pt x="4333" y="5252"/>
                    <a:pt x="4741" y="4414"/>
                  </a:cubicBezTo>
                  <a:lnTo>
                    <a:pt x="3761" y="3842"/>
                  </a:lnTo>
                  <a:cubicBezTo>
                    <a:pt x="3474" y="4251"/>
                    <a:pt x="3025" y="4537"/>
                    <a:pt x="2596" y="4537"/>
                  </a:cubicBezTo>
                  <a:cubicBezTo>
                    <a:pt x="1901" y="4537"/>
                    <a:pt x="1349" y="4149"/>
                    <a:pt x="1349" y="3454"/>
                  </a:cubicBezTo>
                  <a:lnTo>
                    <a:pt x="1349" y="3168"/>
                  </a:lnTo>
                  <a:lnTo>
                    <a:pt x="4803" y="3168"/>
                  </a:lnTo>
                  <a:lnTo>
                    <a:pt x="4803" y="2126"/>
                  </a:lnTo>
                  <a:cubicBezTo>
                    <a:pt x="4803" y="695"/>
                    <a:pt x="3658" y="1"/>
                    <a:pt x="247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3828375" y="3072550"/>
              <a:ext cx="158400" cy="188525"/>
            </a:xfrm>
            <a:custGeom>
              <a:avLst/>
              <a:gdLst/>
              <a:ahLst/>
              <a:cxnLst/>
              <a:rect l="l" t="t" r="r" b="b"/>
              <a:pathLst>
                <a:path w="6336" h="7541" extrusionOk="0">
                  <a:moveTo>
                    <a:pt x="1" y="1"/>
                  </a:moveTo>
                  <a:lnTo>
                    <a:pt x="2473" y="7541"/>
                  </a:lnTo>
                  <a:lnTo>
                    <a:pt x="3842" y="7541"/>
                  </a:lnTo>
                  <a:lnTo>
                    <a:pt x="6335" y="1"/>
                  </a:lnTo>
                  <a:lnTo>
                    <a:pt x="4925" y="1"/>
                  </a:lnTo>
                  <a:lnTo>
                    <a:pt x="3229" y="5538"/>
                  </a:lnTo>
                  <a:lnTo>
                    <a:pt x="3209" y="5538"/>
                  </a:lnTo>
                  <a:lnTo>
                    <a:pt x="1513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3982150" y="3122625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3413" y="3249"/>
                  </a:moveTo>
                  <a:lnTo>
                    <a:pt x="3413" y="3515"/>
                  </a:lnTo>
                  <a:cubicBezTo>
                    <a:pt x="3413" y="4107"/>
                    <a:pt x="3249" y="4598"/>
                    <a:pt x="2228" y="4598"/>
                  </a:cubicBezTo>
                  <a:cubicBezTo>
                    <a:pt x="1615" y="4598"/>
                    <a:pt x="1247" y="4373"/>
                    <a:pt x="1247" y="3923"/>
                  </a:cubicBezTo>
                  <a:cubicBezTo>
                    <a:pt x="1247" y="3454"/>
                    <a:pt x="1615" y="3249"/>
                    <a:pt x="2166" y="3249"/>
                  </a:cubicBezTo>
                  <a:close/>
                  <a:moveTo>
                    <a:pt x="2391" y="0"/>
                  </a:moveTo>
                  <a:cubicBezTo>
                    <a:pt x="1390" y="0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10" y="1737"/>
                  </a:lnTo>
                  <a:lnTo>
                    <a:pt x="1410" y="1553"/>
                  </a:lnTo>
                  <a:cubicBezTo>
                    <a:pt x="1410" y="1206"/>
                    <a:pt x="1819" y="1001"/>
                    <a:pt x="2391" y="1001"/>
                  </a:cubicBezTo>
                  <a:cubicBezTo>
                    <a:pt x="3045" y="1001"/>
                    <a:pt x="3413" y="1247"/>
                    <a:pt x="3413" y="1819"/>
                  </a:cubicBezTo>
                  <a:lnTo>
                    <a:pt x="3413" y="2330"/>
                  </a:lnTo>
                  <a:lnTo>
                    <a:pt x="1982" y="2330"/>
                  </a:lnTo>
                  <a:cubicBezTo>
                    <a:pt x="940" y="2330"/>
                    <a:pt x="0" y="2943"/>
                    <a:pt x="0" y="3985"/>
                  </a:cubicBezTo>
                  <a:cubicBezTo>
                    <a:pt x="0" y="5006"/>
                    <a:pt x="756" y="5620"/>
                    <a:pt x="1880" y="5620"/>
                  </a:cubicBezTo>
                  <a:cubicBezTo>
                    <a:pt x="2575" y="5620"/>
                    <a:pt x="2984" y="5517"/>
                    <a:pt x="3454" y="5027"/>
                  </a:cubicBezTo>
                  <a:lnTo>
                    <a:pt x="3474" y="5027"/>
                  </a:lnTo>
                  <a:cubicBezTo>
                    <a:pt x="3495" y="5109"/>
                    <a:pt x="3515" y="5436"/>
                    <a:pt x="3535" y="5517"/>
                  </a:cubicBezTo>
                  <a:lnTo>
                    <a:pt x="4802" y="5517"/>
                  </a:lnTo>
                  <a:cubicBezTo>
                    <a:pt x="4741" y="5395"/>
                    <a:pt x="4700" y="4598"/>
                    <a:pt x="4700" y="4353"/>
                  </a:cubicBezTo>
                  <a:lnTo>
                    <a:pt x="4700" y="1717"/>
                  </a:lnTo>
                  <a:cubicBezTo>
                    <a:pt x="4700" y="409"/>
                    <a:pt x="3597" y="0"/>
                    <a:pt x="2391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4127225" y="3123125"/>
              <a:ext cx="120575" cy="140500"/>
            </a:xfrm>
            <a:custGeom>
              <a:avLst/>
              <a:gdLst/>
              <a:ahLst/>
              <a:cxnLst/>
              <a:rect l="l" t="t" r="r" b="b"/>
              <a:pathLst>
                <a:path w="4823" h="5620" extrusionOk="0">
                  <a:moveTo>
                    <a:pt x="2473" y="1"/>
                  </a:moveTo>
                  <a:cubicBezTo>
                    <a:pt x="1124" y="1"/>
                    <a:pt x="1" y="838"/>
                    <a:pt x="1" y="2371"/>
                  </a:cubicBezTo>
                  <a:lnTo>
                    <a:pt x="1" y="3413"/>
                  </a:lnTo>
                  <a:cubicBezTo>
                    <a:pt x="1" y="4843"/>
                    <a:pt x="1186" y="5620"/>
                    <a:pt x="2514" y="5620"/>
                  </a:cubicBezTo>
                  <a:cubicBezTo>
                    <a:pt x="3679" y="5620"/>
                    <a:pt x="4823" y="4946"/>
                    <a:pt x="4823" y="3515"/>
                  </a:cubicBezTo>
                  <a:lnTo>
                    <a:pt x="4823" y="3454"/>
                  </a:lnTo>
                  <a:lnTo>
                    <a:pt x="3577" y="3454"/>
                  </a:lnTo>
                  <a:lnTo>
                    <a:pt x="3577" y="3515"/>
                  </a:lnTo>
                  <a:cubicBezTo>
                    <a:pt x="3577" y="4251"/>
                    <a:pt x="3025" y="4537"/>
                    <a:pt x="2514" y="4537"/>
                  </a:cubicBezTo>
                  <a:cubicBezTo>
                    <a:pt x="1819" y="4537"/>
                    <a:pt x="1329" y="4149"/>
                    <a:pt x="1329" y="3454"/>
                  </a:cubicBezTo>
                  <a:lnTo>
                    <a:pt x="1329" y="2187"/>
                  </a:lnTo>
                  <a:cubicBezTo>
                    <a:pt x="1329" y="1390"/>
                    <a:pt x="1921" y="1084"/>
                    <a:pt x="2473" y="1084"/>
                  </a:cubicBezTo>
                  <a:cubicBezTo>
                    <a:pt x="3004" y="1084"/>
                    <a:pt x="3577" y="1390"/>
                    <a:pt x="3577" y="2126"/>
                  </a:cubicBezTo>
                  <a:lnTo>
                    <a:pt x="3577" y="2228"/>
                  </a:lnTo>
                  <a:lnTo>
                    <a:pt x="4823" y="2228"/>
                  </a:lnTo>
                  <a:lnTo>
                    <a:pt x="4823" y="2126"/>
                  </a:lnTo>
                  <a:cubicBezTo>
                    <a:pt x="4823" y="695"/>
                    <a:pt x="3638" y="1"/>
                    <a:pt x="247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4265675" y="3123125"/>
              <a:ext cx="121100" cy="140500"/>
            </a:xfrm>
            <a:custGeom>
              <a:avLst/>
              <a:gdLst/>
              <a:ahLst/>
              <a:cxnLst/>
              <a:rect l="l" t="t" r="r" b="b"/>
              <a:pathLst>
                <a:path w="4844" h="5620" extrusionOk="0">
                  <a:moveTo>
                    <a:pt x="2473" y="1"/>
                  </a:moveTo>
                  <a:cubicBezTo>
                    <a:pt x="1145" y="1"/>
                    <a:pt x="0" y="838"/>
                    <a:pt x="0" y="2371"/>
                  </a:cubicBezTo>
                  <a:lnTo>
                    <a:pt x="0" y="3413"/>
                  </a:lnTo>
                  <a:cubicBezTo>
                    <a:pt x="0" y="4843"/>
                    <a:pt x="1185" y="5620"/>
                    <a:pt x="2514" y="5620"/>
                  </a:cubicBezTo>
                  <a:cubicBezTo>
                    <a:pt x="3678" y="5620"/>
                    <a:pt x="4843" y="4946"/>
                    <a:pt x="4843" y="3515"/>
                  </a:cubicBezTo>
                  <a:lnTo>
                    <a:pt x="4843" y="3454"/>
                  </a:lnTo>
                  <a:lnTo>
                    <a:pt x="3576" y="3454"/>
                  </a:lnTo>
                  <a:lnTo>
                    <a:pt x="3576" y="3515"/>
                  </a:lnTo>
                  <a:cubicBezTo>
                    <a:pt x="3576" y="4251"/>
                    <a:pt x="3045" y="4537"/>
                    <a:pt x="2514" y="4537"/>
                  </a:cubicBezTo>
                  <a:cubicBezTo>
                    <a:pt x="1839" y="4537"/>
                    <a:pt x="1328" y="4149"/>
                    <a:pt x="1328" y="3454"/>
                  </a:cubicBezTo>
                  <a:lnTo>
                    <a:pt x="1328" y="2187"/>
                  </a:lnTo>
                  <a:cubicBezTo>
                    <a:pt x="1328" y="1390"/>
                    <a:pt x="1921" y="1084"/>
                    <a:pt x="2473" y="1084"/>
                  </a:cubicBezTo>
                  <a:cubicBezTo>
                    <a:pt x="3004" y="1084"/>
                    <a:pt x="3576" y="1390"/>
                    <a:pt x="3576" y="2126"/>
                  </a:cubicBezTo>
                  <a:lnTo>
                    <a:pt x="3576" y="2228"/>
                  </a:lnTo>
                  <a:lnTo>
                    <a:pt x="4843" y="2228"/>
                  </a:lnTo>
                  <a:lnTo>
                    <a:pt x="4843" y="2126"/>
                  </a:lnTo>
                  <a:cubicBezTo>
                    <a:pt x="4843" y="695"/>
                    <a:pt x="3637" y="1"/>
                    <a:pt x="247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4410750" y="3070500"/>
              <a:ext cx="31700" cy="190075"/>
            </a:xfrm>
            <a:custGeom>
              <a:avLst/>
              <a:gdLst/>
              <a:ahLst/>
              <a:cxnLst/>
              <a:rect l="l" t="t" r="r" b="b"/>
              <a:pathLst>
                <a:path w="1268" h="7603" extrusionOk="0">
                  <a:moveTo>
                    <a:pt x="0" y="1"/>
                  </a:moveTo>
                  <a:lnTo>
                    <a:pt x="0" y="1370"/>
                  </a:lnTo>
                  <a:lnTo>
                    <a:pt x="1267" y="1370"/>
                  </a:lnTo>
                  <a:lnTo>
                    <a:pt x="1267" y="1"/>
                  </a:lnTo>
                  <a:close/>
                  <a:moveTo>
                    <a:pt x="0" y="2208"/>
                  </a:moveTo>
                  <a:lnTo>
                    <a:pt x="0" y="7602"/>
                  </a:lnTo>
                  <a:lnTo>
                    <a:pt x="1267" y="7602"/>
                  </a:lnTo>
                  <a:lnTo>
                    <a:pt x="1267" y="2208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4477675" y="3123125"/>
              <a:ext cx="117000" cy="137450"/>
            </a:xfrm>
            <a:custGeom>
              <a:avLst/>
              <a:gdLst/>
              <a:ahLst/>
              <a:cxnLst/>
              <a:rect l="l" t="t" r="r" b="b"/>
              <a:pathLst>
                <a:path w="4680" h="5498" extrusionOk="0">
                  <a:moveTo>
                    <a:pt x="2800" y="1"/>
                  </a:moveTo>
                  <a:cubicBezTo>
                    <a:pt x="2187" y="1"/>
                    <a:pt x="161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473"/>
                  </a:lnTo>
                  <a:cubicBezTo>
                    <a:pt x="1288" y="1554"/>
                    <a:pt x="1696" y="1124"/>
                    <a:pt x="2391" y="1124"/>
                  </a:cubicBezTo>
                  <a:cubicBezTo>
                    <a:pt x="3045" y="1124"/>
                    <a:pt x="3392" y="1554"/>
                    <a:pt x="3392" y="2371"/>
                  </a:cubicBezTo>
                  <a:lnTo>
                    <a:pt x="3392" y="5497"/>
                  </a:lnTo>
                  <a:lnTo>
                    <a:pt x="4680" y="5497"/>
                  </a:lnTo>
                  <a:lnTo>
                    <a:pt x="4680" y="2044"/>
                  </a:lnTo>
                  <a:cubicBezTo>
                    <a:pt x="4680" y="757"/>
                    <a:pt x="4005" y="1"/>
                    <a:pt x="2800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4619175" y="3122625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3433" y="3249"/>
                  </a:moveTo>
                  <a:lnTo>
                    <a:pt x="3433" y="3515"/>
                  </a:lnTo>
                  <a:cubicBezTo>
                    <a:pt x="3433" y="4107"/>
                    <a:pt x="3250" y="4598"/>
                    <a:pt x="2228" y="4598"/>
                  </a:cubicBezTo>
                  <a:cubicBezTo>
                    <a:pt x="1615" y="4598"/>
                    <a:pt x="1247" y="4373"/>
                    <a:pt x="1247" y="3923"/>
                  </a:cubicBezTo>
                  <a:cubicBezTo>
                    <a:pt x="1247" y="3454"/>
                    <a:pt x="1615" y="3249"/>
                    <a:pt x="2167" y="3249"/>
                  </a:cubicBezTo>
                  <a:close/>
                  <a:moveTo>
                    <a:pt x="2412" y="0"/>
                  </a:moveTo>
                  <a:cubicBezTo>
                    <a:pt x="1390" y="0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31" y="1737"/>
                  </a:lnTo>
                  <a:lnTo>
                    <a:pt x="1431" y="1553"/>
                  </a:lnTo>
                  <a:cubicBezTo>
                    <a:pt x="1431" y="1206"/>
                    <a:pt x="1840" y="1001"/>
                    <a:pt x="2391" y="1001"/>
                  </a:cubicBezTo>
                  <a:cubicBezTo>
                    <a:pt x="3045" y="1001"/>
                    <a:pt x="3433" y="1247"/>
                    <a:pt x="3433" y="1819"/>
                  </a:cubicBezTo>
                  <a:lnTo>
                    <a:pt x="3433" y="2330"/>
                  </a:lnTo>
                  <a:lnTo>
                    <a:pt x="2003" y="2330"/>
                  </a:lnTo>
                  <a:cubicBezTo>
                    <a:pt x="941" y="2330"/>
                    <a:pt x="1" y="2943"/>
                    <a:pt x="1" y="3985"/>
                  </a:cubicBezTo>
                  <a:cubicBezTo>
                    <a:pt x="1" y="5006"/>
                    <a:pt x="757" y="5620"/>
                    <a:pt x="1881" y="5620"/>
                  </a:cubicBezTo>
                  <a:cubicBezTo>
                    <a:pt x="2575" y="5620"/>
                    <a:pt x="2984" y="5517"/>
                    <a:pt x="3454" y="5027"/>
                  </a:cubicBezTo>
                  <a:lnTo>
                    <a:pt x="3474" y="5027"/>
                  </a:lnTo>
                  <a:cubicBezTo>
                    <a:pt x="3495" y="5109"/>
                    <a:pt x="3515" y="5436"/>
                    <a:pt x="3536" y="5517"/>
                  </a:cubicBezTo>
                  <a:lnTo>
                    <a:pt x="4803" y="5517"/>
                  </a:lnTo>
                  <a:cubicBezTo>
                    <a:pt x="4741" y="5395"/>
                    <a:pt x="4721" y="4598"/>
                    <a:pt x="4721" y="4353"/>
                  </a:cubicBezTo>
                  <a:lnTo>
                    <a:pt x="4721" y="1717"/>
                  </a:lnTo>
                  <a:cubicBezTo>
                    <a:pt x="4721" y="409"/>
                    <a:pt x="3597" y="0"/>
                    <a:pt x="241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4756600" y="3084825"/>
              <a:ext cx="79725" cy="177800"/>
            </a:xfrm>
            <a:custGeom>
              <a:avLst/>
              <a:gdLst/>
              <a:ahLst/>
              <a:cxnLst/>
              <a:rect l="l" t="t" r="r" b="b"/>
              <a:pathLst>
                <a:path w="3189" h="7112" extrusionOk="0">
                  <a:moveTo>
                    <a:pt x="736" y="0"/>
                  </a:moveTo>
                  <a:lnTo>
                    <a:pt x="736" y="1635"/>
                  </a:lnTo>
                  <a:lnTo>
                    <a:pt x="0" y="1635"/>
                  </a:lnTo>
                  <a:lnTo>
                    <a:pt x="0" y="2656"/>
                  </a:lnTo>
                  <a:lnTo>
                    <a:pt x="736" y="2656"/>
                  </a:lnTo>
                  <a:lnTo>
                    <a:pt x="736" y="5742"/>
                  </a:lnTo>
                  <a:cubicBezTo>
                    <a:pt x="736" y="6702"/>
                    <a:pt x="1410" y="7111"/>
                    <a:pt x="2248" y="7111"/>
                  </a:cubicBezTo>
                  <a:cubicBezTo>
                    <a:pt x="2432" y="7111"/>
                    <a:pt x="2902" y="7070"/>
                    <a:pt x="3188" y="7009"/>
                  </a:cubicBezTo>
                  <a:lnTo>
                    <a:pt x="3188" y="5905"/>
                  </a:lnTo>
                  <a:cubicBezTo>
                    <a:pt x="2943" y="5946"/>
                    <a:pt x="2779" y="5967"/>
                    <a:pt x="2534" y="5967"/>
                  </a:cubicBezTo>
                  <a:cubicBezTo>
                    <a:pt x="2228" y="5967"/>
                    <a:pt x="2023" y="5844"/>
                    <a:pt x="2023" y="5435"/>
                  </a:cubicBezTo>
                  <a:lnTo>
                    <a:pt x="2023" y="2656"/>
                  </a:lnTo>
                  <a:lnTo>
                    <a:pt x="3188" y="2656"/>
                  </a:lnTo>
                  <a:lnTo>
                    <a:pt x="3188" y="1635"/>
                  </a:lnTo>
                  <a:lnTo>
                    <a:pt x="2023" y="1635"/>
                  </a:lnTo>
                  <a:lnTo>
                    <a:pt x="2023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4857750" y="3070500"/>
              <a:ext cx="32200" cy="190075"/>
            </a:xfrm>
            <a:custGeom>
              <a:avLst/>
              <a:gdLst/>
              <a:ahLst/>
              <a:cxnLst/>
              <a:rect l="l" t="t" r="r" b="b"/>
              <a:pathLst>
                <a:path w="1288" h="7603" extrusionOk="0">
                  <a:moveTo>
                    <a:pt x="0" y="1"/>
                  </a:moveTo>
                  <a:lnTo>
                    <a:pt x="0" y="1370"/>
                  </a:lnTo>
                  <a:lnTo>
                    <a:pt x="1288" y="1370"/>
                  </a:lnTo>
                  <a:lnTo>
                    <a:pt x="1288" y="1"/>
                  </a:lnTo>
                  <a:close/>
                  <a:moveTo>
                    <a:pt x="0" y="2208"/>
                  </a:moveTo>
                  <a:lnTo>
                    <a:pt x="0" y="7602"/>
                  </a:lnTo>
                  <a:lnTo>
                    <a:pt x="1288" y="7602"/>
                  </a:lnTo>
                  <a:lnTo>
                    <a:pt x="1288" y="2208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4918525" y="3123125"/>
              <a:ext cx="122650" cy="140500"/>
            </a:xfrm>
            <a:custGeom>
              <a:avLst/>
              <a:gdLst/>
              <a:ahLst/>
              <a:cxnLst/>
              <a:rect l="l" t="t" r="r" b="b"/>
              <a:pathLst>
                <a:path w="4906" h="5620" extrusionOk="0">
                  <a:moveTo>
                    <a:pt x="2433" y="1104"/>
                  </a:moveTo>
                  <a:cubicBezTo>
                    <a:pt x="3107" y="1104"/>
                    <a:pt x="3597" y="1472"/>
                    <a:pt x="3597" y="2126"/>
                  </a:cubicBezTo>
                  <a:lnTo>
                    <a:pt x="3597" y="3474"/>
                  </a:lnTo>
                  <a:cubicBezTo>
                    <a:pt x="3597" y="4251"/>
                    <a:pt x="3025" y="4537"/>
                    <a:pt x="2473" y="4537"/>
                  </a:cubicBezTo>
                  <a:cubicBezTo>
                    <a:pt x="1820" y="4537"/>
                    <a:pt x="1309" y="4149"/>
                    <a:pt x="1309" y="3495"/>
                  </a:cubicBezTo>
                  <a:lnTo>
                    <a:pt x="1309" y="2167"/>
                  </a:lnTo>
                  <a:cubicBezTo>
                    <a:pt x="1309" y="1390"/>
                    <a:pt x="1901" y="1104"/>
                    <a:pt x="2433" y="1104"/>
                  </a:cubicBezTo>
                  <a:close/>
                  <a:moveTo>
                    <a:pt x="2433" y="1"/>
                  </a:moveTo>
                  <a:cubicBezTo>
                    <a:pt x="1247" y="1"/>
                    <a:pt x="1" y="798"/>
                    <a:pt x="1" y="2269"/>
                  </a:cubicBezTo>
                  <a:lnTo>
                    <a:pt x="1" y="3495"/>
                  </a:lnTo>
                  <a:cubicBezTo>
                    <a:pt x="1" y="4884"/>
                    <a:pt x="1166" y="5620"/>
                    <a:pt x="2473" y="5620"/>
                  </a:cubicBezTo>
                  <a:cubicBezTo>
                    <a:pt x="3679" y="5620"/>
                    <a:pt x="4905" y="4823"/>
                    <a:pt x="4905" y="3352"/>
                  </a:cubicBezTo>
                  <a:lnTo>
                    <a:pt x="4905" y="2248"/>
                  </a:lnTo>
                  <a:cubicBezTo>
                    <a:pt x="4905" y="859"/>
                    <a:pt x="3740" y="1"/>
                    <a:pt x="243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5069750" y="3123125"/>
              <a:ext cx="117525" cy="137450"/>
            </a:xfrm>
            <a:custGeom>
              <a:avLst/>
              <a:gdLst/>
              <a:ahLst/>
              <a:cxnLst/>
              <a:rect l="l" t="t" r="r" b="b"/>
              <a:pathLst>
                <a:path w="4701" h="5498" extrusionOk="0">
                  <a:moveTo>
                    <a:pt x="2800" y="1"/>
                  </a:moveTo>
                  <a:cubicBezTo>
                    <a:pt x="2207" y="1"/>
                    <a:pt x="163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473"/>
                  </a:lnTo>
                  <a:cubicBezTo>
                    <a:pt x="1288" y="1554"/>
                    <a:pt x="1696" y="1124"/>
                    <a:pt x="2412" y="1124"/>
                  </a:cubicBezTo>
                  <a:cubicBezTo>
                    <a:pt x="3066" y="1124"/>
                    <a:pt x="3413" y="1554"/>
                    <a:pt x="3413" y="2371"/>
                  </a:cubicBezTo>
                  <a:lnTo>
                    <a:pt x="3413" y="5497"/>
                  </a:lnTo>
                  <a:lnTo>
                    <a:pt x="4700" y="5497"/>
                  </a:lnTo>
                  <a:lnTo>
                    <a:pt x="4700" y="2044"/>
                  </a:lnTo>
                  <a:cubicBezTo>
                    <a:pt x="4700" y="757"/>
                    <a:pt x="4026" y="1"/>
                    <a:pt x="2800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5706775" y="2440125"/>
              <a:ext cx="147675" cy="188025"/>
            </a:xfrm>
            <a:custGeom>
              <a:avLst/>
              <a:gdLst/>
              <a:ahLst/>
              <a:cxnLst/>
              <a:rect l="l" t="t" r="r" b="b"/>
              <a:pathLst>
                <a:path w="5907" h="7521" extrusionOk="0">
                  <a:moveTo>
                    <a:pt x="2780" y="1186"/>
                  </a:moveTo>
                  <a:cubicBezTo>
                    <a:pt x="3577" y="1186"/>
                    <a:pt x="4149" y="1472"/>
                    <a:pt x="4149" y="2350"/>
                  </a:cubicBezTo>
                  <a:cubicBezTo>
                    <a:pt x="4149" y="3127"/>
                    <a:pt x="3618" y="3515"/>
                    <a:pt x="2800" y="3515"/>
                  </a:cubicBezTo>
                  <a:lnTo>
                    <a:pt x="1411" y="3515"/>
                  </a:lnTo>
                  <a:lnTo>
                    <a:pt x="1411" y="1186"/>
                  </a:lnTo>
                  <a:close/>
                  <a:moveTo>
                    <a:pt x="1" y="1"/>
                  </a:moveTo>
                  <a:lnTo>
                    <a:pt x="1" y="7520"/>
                  </a:lnTo>
                  <a:lnTo>
                    <a:pt x="1411" y="7520"/>
                  </a:lnTo>
                  <a:lnTo>
                    <a:pt x="1411" y="4700"/>
                  </a:lnTo>
                  <a:lnTo>
                    <a:pt x="2616" y="4700"/>
                  </a:lnTo>
                  <a:lnTo>
                    <a:pt x="4374" y="7520"/>
                  </a:lnTo>
                  <a:lnTo>
                    <a:pt x="5906" y="7520"/>
                  </a:lnTo>
                  <a:lnTo>
                    <a:pt x="4047" y="4537"/>
                  </a:lnTo>
                  <a:cubicBezTo>
                    <a:pt x="5048" y="4189"/>
                    <a:pt x="5538" y="3250"/>
                    <a:pt x="5538" y="2371"/>
                  </a:cubicBezTo>
                  <a:cubicBezTo>
                    <a:pt x="5538" y="818"/>
                    <a:pt x="4394" y="1"/>
                    <a:pt x="2984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5868725" y="2425825"/>
              <a:ext cx="120575" cy="205375"/>
            </a:xfrm>
            <a:custGeom>
              <a:avLst/>
              <a:gdLst/>
              <a:ahLst/>
              <a:cxnLst/>
              <a:rect l="l" t="t" r="r" b="b"/>
              <a:pathLst>
                <a:path w="4823" h="8215" extrusionOk="0">
                  <a:moveTo>
                    <a:pt x="2841" y="0"/>
                  </a:moveTo>
                  <a:lnTo>
                    <a:pt x="1942" y="1839"/>
                  </a:lnTo>
                  <a:lnTo>
                    <a:pt x="2943" y="1839"/>
                  </a:lnTo>
                  <a:lnTo>
                    <a:pt x="4291" y="0"/>
                  </a:lnTo>
                  <a:close/>
                  <a:moveTo>
                    <a:pt x="2493" y="3678"/>
                  </a:moveTo>
                  <a:cubicBezTo>
                    <a:pt x="3004" y="3678"/>
                    <a:pt x="3535" y="3985"/>
                    <a:pt x="3535" y="4721"/>
                  </a:cubicBezTo>
                  <a:lnTo>
                    <a:pt x="3535" y="4864"/>
                  </a:lnTo>
                  <a:lnTo>
                    <a:pt x="1349" y="4864"/>
                  </a:lnTo>
                  <a:lnTo>
                    <a:pt x="1349" y="4782"/>
                  </a:lnTo>
                  <a:cubicBezTo>
                    <a:pt x="1349" y="3985"/>
                    <a:pt x="1942" y="3678"/>
                    <a:pt x="2493" y="3678"/>
                  </a:cubicBezTo>
                  <a:close/>
                  <a:moveTo>
                    <a:pt x="2493" y="2595"/>
                  </a:moveTo>
                  <a:cubicBezTo>
                    <a:pt x="1145" y="2595"/>
                    <a:pt x="0" y="3433"/>
                    <a:pt x="0" y="4966"/>
                  </a:cubicBezTo>
                  <a:lnTo>
                    <a:pt x="0" y="6008"/>
                  </a:lnTo>
                  <a:cubicBezTo>
                    <a:pt x="0" y="7479"/>
                    <a:pt x="1206" y="8215"/>
                    <a:pt x="2534" y="8215"/>
                  </a:cubicBezTo>
                  <a:cubicBezTo>
                    <a:pt x="3474" y="8215"/>
                    <a:pt x="4332" y="7847"/>
                    <a:pt x="4761" y="7009"/>
                  </a:cubicBezTo>
                  <a:lnTo>
                    <a:pt x="3760" y="6437"/>
                  </a:lnTo>
                  <a:cubicBezTo>
                    <a:pt x="3474" y="6866"/>
                    <a:pt x="3025" y="7132"/>
                    <a:pt x="2595" y="7132"/>
                  </a:cubicBezTo>
                  <a:cubicBezTo>
                    <a:pt x="1901" y="7132"/>
                    <a:pt x="1349" y="6744"/>
                    <a:pt x="1349" y="6049"/>
                  </a:cubicBezTo>
                  <a:lnTo>
                    <a:pt x="1349" y="5763"/>
                  </a:lnTo>
                  <a:lnTo>
                    <a:pt x="4823" y="5763"/>
                  </a:lnTo>
                  <a:lnTo>
                    <a:pt x="4823" y="4721"/>
                  </a:lnTo>
                  <a:cubicBezTo>
                    <a:pt x="4823" y="3290"/>
                    <a:pt x="3658" y="2595"/>
                    <a:pt x="2493" y="2595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017900" y="2490200"/>
              <a:ext cx="123125" cy="188525"/>
            </a:xfrm>
            <a:custGeom>
              <a:avLst/>
              <a:gdLst/>
              <a:ahLst/>
              <a:cxnLst/>
              <a:rect l="l" t="t" r="r" b="b"/>
              <a:pathLst>
                <a:path w="4925" h="7541" extrusionOk="0">
                  <a:moveTo>
                    <a:pt x="2452" y="1124"/>
                  </a:moveTo>
                  <a:cubicBezTo>
                    <a:pt x="3106" y="1124"/>
                    <a:pt x="3617" y="1492"/>
                    <a:pt x="3617" y="2146"/>
                  </a:cubicBezTo>
                  <a:lnTo>
                    <a:pt x="3617" y="3494"/>
                  </a:lnTo>
                  <a:cubicBezTo>
                    <a:pt x="3617" y="4271"/>
                    <a:pt x="3024" y="4557"/>
                    <a:pt x="2473" y="4557"/>
                  </a:cubicBezTo>
                  <a:cubicBezTo>
                    <a:pt x="1819" y="4557"/>
                    <a:pt x="1287" y="4169"/>
                    <a:pt x="1287" y="3515"/>
                  </a:cubicBezTo>
                  <a:lnTo>
                    <a:pt x="1287" y="2268"/>
                  </a:lnTo>
                  <a:cubicBezTo>
                    <a:pt x="1287" y="1471"/>
                    <a:pt x="1900" y="1124"/>
                    <a:pt x="2452" y="1124"/>
                  </a:cubicBezTo>
                  <a:close/>
                  <a:moveTo>
                    <a:pt x="2800" y="0"/>
                  </a:moveTo>
                  <a:cubicBezTo>
                    <a:pt x="2309" y="0"/>
                    <a:pt x="1696" y="225"/>
                    <a:pt x="1267" y="736"/>
                  </a:cubicBezTo>
                  <a:lnTo>
                    <a:pt x="1267" y="123"/>
                  </a:lnTo>
                  <a:lnTo>
                    <a:pt x="0" y="123"/>
                  </a:lnTo>
                  <a:lnTo>
                    <a:pt x="0" y="7540"/>
                  </a:lnTo>
                  <a:lnTo>
                    <a:pt x="1287" y="7540"/>
                  </a:lnTo>
                  <a:lnTo>
                    <a:pt x="1287" y="4965"/>
                  </a:lnTo>
                  <a:lnTo>
                    <a:pt x="1328" y="4965"/>
                  </a:lnTo>
                  <a:cubicBezTo>
                    <a:pt x="1594" y="5333"/>
                    <a:pt x="2084" y="5640"/>
                    <a:pt x="2697" y="5640"/>
                  </a:cubicBezTo>
                  <a:cubicBezTo>
                    <a:pt x="3903" y="5640"/>
                    <a:pt x="4925" y="4904"/>
                    <a:pt x="4925" y="3453"/>
                  </a:cubicBezTo>
                  <a:lnTo>
                    <a:pt x="4925" y="2146"/>
                  </a:lnTo>
                  <a:cubicBezTo>
                    <a:pt x="4925" y="756"/>
                    <a:pt x="3964" y="0"/>
                    <a:pt x="2800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6167575" y="2493250"/>
              <a:ext cx="117525" cy="137450"/>
            </a:xfrm>
            <a:custGeom>
              <a:avLst/>
              <a:gdLst/>
              <a:ahLst/>
              <a:cxnLst/>
              <a:rect l="l" t="t" r="r" b="b"/>
              <a:pathLst>
                <a:path w="4701" h="5498" extrusionOk="0">
                  <a:moveTo>
                    <a:pt x="0" y="1"/>
                  </a:moveTo>
                  <a:lnTo>
                    <a:pt x="0" y="3434"/>
                  </a:lnTo>
                  <a:cubicBezTo>
                    <a:pt x="0" y="4721"/>
                    <a:pt x="695" y="5497"/>
                    <a:pt x="1901" y="5497"/>
                  </a:cubicBezTo>
                  <a:cubicBezTo>
                    <a:pt x="2514" y="5497"/>
                    <a:pt x="3065" y="5252"/>
                    <a:pt x="3413" y="4721"/>
                  </a:cubicBezTo>
                  <a:lnTo>
                    <a:pt x="3454" y="4721"/>
                  </a:lnTo>
                  <a:lnTo>
                    <a:pt x="3454" y="5395"/>
                  </a:lnTo>
                  <a:lnTo>
                    <a:pt x="4700" y="5395"/>
                  </a:lnTo>
                  <a:lnTo>
                    <a:pt x="4700" y="1"/>
                  </a:lnTo>
                  <a:lnTo>
                    <a:pt x="3413" y="1"/>
                  </a:lnTo>
                  <a:lnTo>
                    <a:pt x="3413" y="3004"/>
                  </a:lnTo>
                  <a:cubicBezTo>
                    <a:pt x="3413" y="3924"/>
                    <a:pt x="3004" y="4373"/>
                    <a:pt x="2309" y="4373"/>
                  </a:cubicBezTo>
                  <a:cubicBezTo>
                    <a:pt x="1655" y="4373"/>
                    <a:pt x="1288" y="3944"/>
                    <a:pt x="1288" y="3127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6318275" y="2440125"/>
              <a:ext cx="122625" cy="191075"/>
            </a:xfrm>
            <a:custGeom>
              <a:avLst/>
              <a:gdLst/>
              <a:ahLst/>
              <a:cxnLst/>
              <a:rect l="l" t="t" r="r" b="b"/>
              <a:pathLst>
                <a:path w="4905" h="7643" extrusionOk="0">
                  <a:moveTo>
                    <a:pt x="2432" y="3127"/>
                  </a:moveTo>
                  <a:cubicBezTo>
                    <a:pt x="3106" y="3127"/>
                    <a:pt x="3597" y="3495"/>
                    <a:pt x="3597" y="4149"/>
                  </a:cubicBezTo>
                  <a:lnTo>
                    <a:pt x="3597" y="5497"/>
                  </a:lnTo>
                  <a:cubicBezTo>
                    <a:pt x="3597" y="6274"/>
                    <a:pt x="3004" y="6560"/>
                    <a:pt x="2473" y="6560"/>
                  </a:cubicBezTo>
                  <a:cubicBezTo>
                    <a:pt x="1798" y="6560"/>
                    <a:pt x="1288" y="6172"/>
                    <a:pt x="1288" y="5518"/>
                  </a:cubicBezTo>
                  <a:lnTo>
                    <a:pt x="1288" y="4271"/>
                  </a:lnTo>
                  <a:cubicBezTo>
                    <a:pt x="1288" y="3495"/>
                    <a:pt x="1901" y="3127"/>
                    <a:pt x="2432" y="3127"/>
                  </a:cubicBezTo>
                  <a:close/>
                  <a:moveTo>
                    <a:pt x="0" y="1"/>
                  </a:moveTo>
                  <a:lnTo>
                    <a:pt x="0" y="7520"/>
                  </a:lnTo>
                  <a:lnTo>
                    <a:pt x="1226" y="7520"/>
                  </a:lnTo>
                  <a:lnTo>
                    <a:pt x="1226" y="6989"/>
                  </a:lnTo>
                  <a:lnTo>
                    <a:pt x="1267" y="6989"/>
                  </a:lnTo>
                  <a:cubicBezTo>
                    <a:pt x="1533" y="7336"/>
                    <a:pt x="2023" y="7643"/>
                    <a:pt x="2636" y="7643"/>
                  </a:cubicBezTo>
                  <a:cubicBezTo>
                    <a:pt x="3842" y="7643"/>
                    <a:pt x="4904" y="6907"/>
                    <a:pt x="4904" y="5456"/>
                  </a:cubicBezTo>
                  <a:lnTo>
                    <a:pt x="4904" y="4149"/>
                  </a:lnTo>
                  <a:cubicBezTo>
                    <a:pt x="4904" y="2759"/>
                    <a:pt x="3964" y="2023"/>
                    <a:pt x="2779" y="2023"/>
                  </a:cubicBezTo>
                  <a:cubicBezTo>
                    <a:pt x="2289" y="2023"/>
                    <a:pt x="1696" y="2207"/>
                    <a:pt x="1288" y="2739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6469475" y="2440125"/>
              <a:ext cx="58775" cy="189550"/>
            </a:xfrm>
            <a:custGeom>
              <a:avLst/>
              <a:gdLst/>
              <a:ahLst/>
              <a:cxnLst/>
              <a:rect l="l" t="t" r="r" b="b"/>
              <a:pathLst>
                <a:path w="2351" h="7582" extrusionOk="0">
                  <a:moveTo>
                    <a:pt x="1" y="1"/>
                  </a:moveTo>
                  <a:lnTo>
                    <a:pt x="1" y="6069"/>
                  </a:lnTo>
                  <a:cubicBezTo>
                    <a:pt x="1" y="6560"/>
                    <a:pt x="42" y="7581"/>
                    <a:pt x="1309" y="7581"/>
                  </a:cubicBezTo>
                  <a:cubicBezTo>
                    <a:pt x="1656" y="7581"/>
                    <a:pt x="2065" y="7520"/>
                    <a:pt x="2351" y="7438"/>
                  </a:cubicBezTo>
                  <a:lnTo>
                    <a:pt x="2351" y="6458"/>
                  </a:lnTo>
                  <a:cubicBezTo>
                    <a:pt x="2105" y="6478"/>
                    <a:pt x="1983" y="6498"/>
                    <a:pt x="1758" y="6498"/>
                  </a:cubicBezTo>
                  <a:cubicBezTo>
                    <a:pt x="1411" y="6498"/>
                    <a:pt x="1288" y="6315"/>
                    <a:pt x="1288" y="6069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6550700" y="2438600"/>
              <a:ext cx="32225" cy="189550"/>
            </a:xfrm>
            <a:custGeom>
              <a:avLst/>
              <a:gdLst/>
              <a:ahLst/>
              <a:cxnLst/>
              <a:rect l="l" t="t" r="r" b="b"/>
              <a:pathLst>
                <a:path w="1289" h="7582" extrusionOk="0">
                  <a:moveTo>
                    <a:pt x="1" y="0"/>
                  </a:moveTo>
                  <a:lnTo>
                    <a:pt x="1" y="1369"/>
                  </a:lnTo>
                  <a:lnTo>
                    <a:pt x="1288" y="1369"/>
                  </a:lnTo>
                  <a:lnTo>
                    <a:pt x="1288" y="0"/>
                  </a:lnTo>
                  <a:close/>
                  <a:moveTo>
                    <a:pt x="1" y="2187"/>
                  </a:moveTo>
                  <a:lnTo>
                    <a:pt x="1" y="7581"/>
                  </a:lnTo>
                  <a:lnTo>
                    <a:pt x="1288" y="7581"/>
                  </a:lnTo>
                  <a:lnTo>
                    <a:pt x="1288" y="2187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6611500" y="2490700"/>
              <a:ext cx="122625" cy="188025"/>
            </a:xfrm>
            <a:custGeom>
              <a:avLst/>
              <a:gdLst/>
              <a:ahLst/>
              <a:cxnLst/>
              <a:rect l="l" t="t" r="r" b="b"/>
              <a:pathLst>
                <a:path w="4905" h="7521" extrusionOk="0">
                  <a:moveTo>
                    <a:pt x="2432" y="1083"/>
                  </a:moveTo>
                  <a:cubicBezTo>
                    <a:pt x="3086" y="1083"/>
                    <a:pt x="3617" y="1472"/>
                    <a:pt x="3617" y="2126"/>
                  </a:cubicBezTo>
                  <a:lnTo>
                    <a:pt x="3617" y="3454"/>
                  </a:lnTo>
                  <a:cubicBezTo>
                    <a:pt x="3617" y="4230"/>
                    <a:pt x="3004" y="4516"/>
                    <a:pt x="2473" y="4516"/>
                  </a:cubicBezTo>
                  <a:cubicBezTo>
                    <a:pt x="1799" y="4516"/>
                    <a:pt x="1308" y="4128"/>
                    <a:pt x="1308" y="3474"/>
                  </a:cubicBezTo>
                  <a:lnTo>
                    <a:pt x="1308" y="2146"/>
                  </a:lnTo>
                  <a:cubicBezTo>
                    <a:pt x="1308" y="1370"/>
                    <a:pt x="1880" y="1083"/>
                    <a:pt x="2432" y="1083"/>
                  </a:cubicBezTo>
                  <a:close/>
                  <a:moveTo>
                    <a:pt x="2207" y="0"/>
                  </a:moveTo>
                  <a:cubicBezTo>
                    <a:pt x="1022" y="0"/>
                    <a:pt x="0" y="716"/>
                    <a:pt x="0" y="2187"/>
                  </a:cubicBezTo>
                  <a:lnTo>
                    <a:pt x="0" y="3495"/>
                  </a:lnTo>
                  <a:cubicBezTo>
                    <a:pt x="0" y="4864"/>
                    <a:pt x="940" y="5620"/>
                    <a:pt x="2126" y="5620"/>
                  </a:cubicBezTo>
                  <a:cubicBezTo>
                    <a:pt x="2596" y="5620"/>
                    <a:pt x="3331" y="5313"/>
                    <a:pt x="3638" y="4884"/>
                  </a:cubicBezTo>
                  <a:lnTo>
                    <a:pt x="3638" y="7520"/>
                  </a:lnTo>
                  <a:lnTo>
                    <a:pt x="4905" y="7520"/>
                  </a:lnTo>
                  <a:lnTo>
                    <a:pt x="4905" y="82"/>
                  </a:lnTo>
                  <a:lnTo>
                    <a:pt x="3617" y="82"/>
                  </a:lnTo>
                  <a:lnTo>
                    <a:pt x="3617" y="654"/>
                  </a:lnTo>
                  <a:lnTo>
                    <a:pt x="3576" y="654"/>
                  </a:lnTo>
                  <a:cubicBezTo>
                    <a:pt x="3311" y="307"/>
                    <a:pt x="2820" y="0"/>
                    <a:pt x="2207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6767300" y="2493250"/>
              <a:ext cx="117025" cy="137450"/>
            </a:xfrm>
            <a:custGeom>
              <a:avLst/>
              <a:gdLst/>
              <a:ahLst/>
              <a:cxnLst/>
              <a:rect l="l" t="t" r="r" b="b"/>
              <a:pathLst>
                <a:path w="4681" h="5498" extrusionOk="0">
                  <a:moveTo>
                    <a:pt x="1" y="1"/>
                  </a:moveTo>
                  <a:lnTo>
                    <a:pt x="1" y="3434"/>
                  </a:lnTo>
                  <a:cubicBezTo>
                    <a:pt x="1" y="4721"/>
                    <a:pt x="675" y="5497"/>
                    <a:pt x="1901" y="5497"/>
                  </a:cubicBezTo>
                  <a:cubicBezTo>
                    <a:pt x="2494" y="5497"/>
                    <a:pt x="3046" y="5252"/>
                    <a:pt x="3413" y="4721"/>
                  </a:cubicBezTo>
                  <a:lnTo>
                    <a:pt x="3434" y="4721"/>
                  </a:lnTo>
                  <a:lnTo>
                    <a:pt x="3434" y="5395"/>
                  </a:lnTo>
                  <a:lnTo>
                    <a:pt x="4680" y="5395"/>
                  </a:lnTo>
                  <a:lnTo>
                    <a:pt x="4680" y="1"/>
                  </a:lnTo>
                  <a:lnTo>
                    <a:pt x="3393" y="1"/>
                  </a:lnTo>
                  <a:lnTo>
                    <a:pt x="3393" y="3004"/>
                  </a:lnTo>
                  <a:cubicBezTo>
                    <a:pt x="3393" y="3924"/>
                    <a:pt x="3005" y="4373"/>
                    <a:pt x="2289" y="4373"/>
                  </a:cubicBezTo>
                  <a:cubicBezTo>
                    <a:pt x="1636" y="4373"/>
                    <a:pt x="1288" y="3944"/>
                    <a:pt x="1288" y="3127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6911375" y="2490700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73" y="1083"/>
                  </a:moveTo>
                  <a:cubicBezTo>
                    <a:pt x="3004" y="1083"/>
                    <a:pt x="3515" y="1390"/>
                    <a:pt x="3515" y="2126"/>
                  </a:cubicBezTo>
                  <a:lnTo>
                    <a:pt x="3515" y="2269"/>
                  </a:lnTo>
                  <a:lnTo>
                    <a:pt x="1349" y="2269"/>
                  </a:lnTo>
                  <a:lnTo>
                    <a:pt x="1349" y="2187"/>
                  </a:lnTo>
                  <a:cubicBezTo>
                    <a:pt x="1349" y="1390"/>
                    <a:pt x="1921" y="1083"/>
                    <a:pt x="2473" y="1083"/>
                  </a:cubicBezTo>
                  <a:close/>
                  <a:moveTo>
                    <a:pt x="2473" y="0"/>
                  </a:moveTo>
                  <a:cubicBezTo>
                    <a:pt x="1145" y="0"/>
                    <a:pt x="0" y="838"/>
                    <a:pt x="0" y="2371"/>
                  </a:cubicBezTo>
                  <a:lnTo>
                    <a:pt x="0" y="3413"/>
                  </a:lnTo>
                  <a:cubicBezTo>
                    <a:pt x="0" y="4884"/>
                    <a:pt x="1185" y="5620"/>
                    <a:pt x="2514" y="5620"/>
                  </a:cubicBezTo>
                  <a:cubicBezTo>
                    <a:pt x="3474" y="5620"/>
                    <a:pt x="4332" y="5252"/>
                    <a:pt x="4741" y="4414"/>
                  </a:cubicBezTo>
                  <a:lnTo>
                    <a:pt x="3760" y="3842"/>
                  </a:lnTo>
                  <a:cubicBezTo>
                    <a:pt x="3474" y="4271"/>
                    <a:pt x="3024" y="4537"/>
                    <a:pt x="2575" y="4537"/>
                  </a:cubicBezTo>
                  <a:cubicBezTo>
                    <a:pt x="1901" y="4537"/>
                    <a:pt x="1349" y="4149"/>
                    <a:pt x="1349" y="3454"/>
                  </a:cubicBezTo>
                  <a:lnTo>
                    <a:pt x="1349" y="3168"/>
                  </a:lnTo>
                  <a:lnTo>
                    <a:pt x="4802" y="3168"/>
                  </a:lnTo>
                  <a:lnTo>
                    <a:pt x="4802" y="2126"/>
                  </a:lnTo>
                  <a:cubicBezTo>
                    <a:pt x="4802" y="695"/>
                    <a:pt x="365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5706775" y="2756350"/>
              <a:ext cx="147675" cy="188000"/>
            </a:xfrm>
            <a:custGeom>
              <a:avLst/>
              <a:gdLst/>
              <a:ahLst/>
              <a:cxnLst/>
              <a:rect l="l" t="t" r="r" b="b"/>
              <a:pathLst>
                <a:path w="5907" h="7520" extrusionOk="0">
                  <a:moveTo>
                    <a:pt x="2841" y="1226"/>
                  </a:moveTo>
                  <a:cubicBezTo>
                    <a:pt x="3720" y="1226"/>
                    <a:pt x="4496" y="1757"/>
                    <a:pt x="4496" y="2656"/>
                  </a:cubicBezTo>
                  <a:lnTo>
                    <a:pt x="4496" y="4822"/>
                  </a:lnTo>
                  <a:cubicBezTo>
                    <a:pt x="4496" y="5905"/>
                    <a:pt x="3618" y="6273"/>
                    <a:pt x="2902" y="6273"/>
                  </a:cubicBezTo>
                  <a:lnTo>
                    <a:pt x="1411" y="6273"/>
                  </a:lnTo>
                  <a:lnTo>
                    <a:pt x="1411" y="1226"/>
                  </a:lnTo>
                  <a:close/>
                  <a:moveTo>
                    <a:pt x="1" y="0"/>
                  </a:moveTo>
                  <a:lnTo>
                    <a:pt x="1" y="7520"/>
                  </a:lnTo>
                  <a:lnTo>
                    <a:pt x="2943" y="7520"/>
                  </a:lnTo>
                  <a:cubicBezTo>
                    <a:pt x="4435" y="7520"/>
                    <a:pt x="5906" y="6519"/>
                    <a:pt x="5906" y="4741"/>
                  </a:cubicBezTo>
                  <a:lnTo>
                    <a:pt x="5906" y="2738"/>
                  </a:lnTo>
                  <a:cubicBezTo>
                    <a:pt x="5906" y="1063"/>
                    <a:pt x="4578" y="0"/>
                    <a:pt x="294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5879450" y="2742025"/>
              <a:ext cx="120075" cy="205400"/>
            </a:xfrm>
            <a:custGeom>
              <a:avLst/>
              <a:gdLst/>
              <a:ahLst/>
              <a:cxnLst/>
              <a:rect l="l" t="t" r="r" b="b"/>
              <a:pathLst>
                <a:path w="4803" h="8216" extrusionOk="0">
                  <a:moveTo>
                    <a:pt x="2820" y="1"/>
                  </a:moveTo>
                  <a:lnTo>
                    <a:pt x="1942" y="1840"/>
                  </a:lnTo>
                  <a:lnTo>
                    <a:pt x="2943" y="1840"/>
                  </a:lnTo>
                  <a:lnTo>
                    <a:pt x="4292" y="1"/>
                  </a:lnTo>
                  <a:close/>
                  <a:moveTo>
                    <a:pt x="2473" y="3679"/>
                  </a:moveTo>
                  <a:cubicBezTo>
                    <a:pt x="3004" y="3679"/>
                    <a:pt x="3515" y="3986"/>
                    <a:pt x="3515" y="4721"/>
                  </a:cubicBezTo>
                  <a:lnTo>
                    <a:pt x="3515" y="4864"/>
                  </a:lnTo>
                  <a:lnTo>
                    <a:pt x="1349" y="4864"/>
                  </a:lnTo>
                  <a:lnTo>
                    <a:pt x="1349" y="4782"/>
                  </a:lnTo>
                  <a:cubicBezTo>
                    <a:pt x="1349" y="3986"/>
                    <a:pt x="1942" y="3679"/>
                    <a:pt x="2473" y="3679"/>
                  </a:cubicBezTo>
                  <a:close/>
                  <a:moveTo>
                    <a:pt x="2473" y="2596"/>
                  </a:moveTo>
                  <a:cubicBezTo>
                    <a:pt x="1145" y="2596"/>
                    <a:pt x="0" y="3434"/>
                    <a:pt x="0" y="4966"/>
                  </a:cubicBezTo>
                  <a:lnTo>
                    <a:pt x="0" y="6009"/>
                  </a:lnTo>
                  <a:cubicBezTo>
                    <a:pt x="0" y="7480"/>
                    <a:pt x="1186" y="8215"/>
                    <a:pt x="2534" y="8215"/>
                  </a:cubicBezTo>
                  <a:cubicBezTo>
                    <a:pt x="3474" y="8215"/>
                    <a:pt x="4332" y="7848"/>
                    <a:pt x="4741" y="7010"/>
                  </a:cubicBezTo>
                  <a:lnTo>
                    <a:pt x="3760" y="6438"/>
                  </a:lnTo>
                  <a:cubicBezTo>
                    <a:pt x="3474" y="6846"/>
                    <a:pt x="3025" y="7132"/>
                    <a:pt x="2596" y="7132"/>
                  </a:cubicBezTo>
                  <a:cubicBezTo>
                    <a:pt x="1901" y="7132"/>
                    <a:pt x="1349" y="6744"/>
                    <a:pt x="1349" y="6049"/>
                  </a:cubicBezTo>
                  <a:lnTo>
                    <a:pt x="1349" y="5763"/>
                  </a:lnTo>
                  <a:lnTo>
                    <a:pt x="4802" y="5763"/>
                  </a:lnTo>
                  <a:lnTo>
                    <a:pt x="4802" y="4721"/>
                  </a:lnTo>
                  <a:cubicBezTo>
                    <a:pt x="4802" y="3291"/>
                    <a:pt x="3658" y="2596"/>
                    <a:pt x="2473" y="2596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6028625" y="2806925"/>
              <a:ext cx="197200" cy="137425"/>
            </a:xfrm>
            <a:custGeom>
              <a:avLst/>
              <a:gdLst/>
              <a:ahLst/>
              <a:cxnLst/>
              <a:rect l="l" t="t" r="r" b="b"/>
              <a:pathLst>
                <a:path w="7888" h="5497" extrusionOk="0">
                  <a:moveTo>
                    <a:pt x="2779" y="0"/>
                  </a:moveTo>
                  <a:cubicBezTo>
                    <a:pt x="2146" y="0"/>
                    <a:pt x="1614" y="266"/>
                    <a:pt x="1247" y="756"/>
                  </a:cubicBezTo>
                  <a:lnTo>
                    <a:pt x="1226" y="756"/>
                  </a:lnTo>
                  <a:lnTo>
                    <a:pt x="1226" y="102"/>
                  </a:lnTo>
                  <a:lnTo>
                    <a:pt x="0" y="102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330"/>
                  </a:lnTo>
                  <a:cubicBezTo>
                    <a:pt x="1288" y="1430"/>
                    <a:pt x="1860" y="1124"/>
                    <a:pt x="2330" y="1124"/>
                  </a:cubicBezTo>
                  <a:cubicBezTo>
                    <a:pt x="3106" y="1124"/>
                    <a:pt x="3310" y="1696"/>
                    <a:pt x="3310" y="2370"/>
                  </a:cubicBezTo>
                  <a:lnTo>
                    <a:pt x="3310" y="5497"/>
                  </a:lnTo>
                  <a:lnTo>
                    <a:pt x="4577" y="5497"/>
                  </a:lnTo>
                  <a:lnTo>
                    <a:pt x="4577" y="2391"/>
                  </a:lnTo>
                  <a:cubicBezTo>
                    <a:pt x="4577" y="1676"/>
                    <a:pt x="4884" y="1124"/>
                    <a:pt x="5620" y="1124"/>
                  </a:cubicBezTo>
                  <a:cubicBezTo>
                    <a:pt x="6355" y="1124"/>
                    <a:pt x="6600" y="1635"/>
                    <a:pt x="6600" y="2350"/>
                  </a:cubicBezTo>
                  <a:lnTo>
                    <a:pt x="6600" y="5497"/>
                  </a:lnTo>
                  <a:lnTo>
                    <a:pt x="7888" y="5497"/>
                  </a:lnTo>
                  <a:lnTo>
                    <a:pt x="7888" y="1900"/>
                  </a:lnTo>
                  <a:cubicBezTo>
                    <a:pt x="7888" y="572"/>
                    <a:pt x="6989" y="0"/>
                    <a:pt x="5987" y="0"/>
                  </a:cubicBezTo>
                  <a:cubicBezTo>
                    <a:pt x="5252" y="0"/>
                    <a:pt x="4720" y="307"/>
                    <a:pt x="4332" y="797"/>
                  </a:cubicBezTo>
                  <a:lnTo>
                    <a:pt x="4312" y="797"/>
                  </a:lnTo>
                  <a:cubicBezTo>
                    <a:pt x="3985" y="286"/>
                    <a:pt x="3494" y="0"/>
                    <a:pt x="2779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6253900" y="2806925"/>
              <a:ext cx="122625" cy="140500"/>
            </a:xfrm>
            <a:custGeom>
              <a:avLst/>
              <a:gdLst/>
              <a:ahLst/>
              <a:cxnLst/>
              <a:rect l="l" t="t" r="r" b="b"/>
              <a:pathLst>
                <a:path w="4905" h="5620" extrusionOk="0">
                  <a:moveTo>
                    <a:pt x="2432" y="1103"/>
                  </a:moveTo>
                  <a:cubicBezTo>
                    <a:pt x="3107" y="1103"/>
                    <a:pt x="3597" y="1471"/>
                    <a:pt x="3597" y="2125"/>
                  </a:cubicBezTo>
                  <a:lnTo>
                    <a:pt x="3597" y="3474"/>
                  </a:lnTo>
                  <a:cubicBezTo>
                    <a:pt x="3597" y="4250"/>
                    <a:pt x="3025" y="4536"/>
                    <a:pt x="2473" y="4536"/>
                  </a:cubicBezTo>
                  <a:cubicBezTo>
                    <a:pt x="1819" y="4536"/>
                    <a:pt x="1308" y="4148"/>
                    <a:pt x="1308" y="3494"/>
                  </a:cubicBezTo>
                  <a:lnTo>
                    <a:pt x="1308" y="2166"/>
                  </a:lnTo>
                  <a:cubicBezTo>
                    <a:pt x="1308" y="1390"/>
                    <a:pt x="1901" y="1103"/>
                    <a:pt x="2432" y="1103"/>
                  </a:cubicBezTo>
                  <a:close/>
                  <a:moveTo>
                    <a:pt x="2432" y="0"/>
                  </a:moveTo>
                  <a:cubicBezTo>
                    <a:pt x="1247" y="0"/>
                    <a:pt x="1" y="797"/>
                    <a:pt x="1" y="2268"/>
                  </a:cubicBezTo>
                  <a:lnTo>
                    <a:pt x="1" y="3494"/>
                  </a:lnTo>
                  <a:cubicBezTo>
                    <a:pt x="1" y="4884"/>
                    <a:pt x="1165" y="5619"/>
                    <a:pt x="2473" y="5619"/>
                  </a:cubicBezTo>
                  <a:cubicBezTo>
                    <a:pt x="3679" y="5619"/>
                    <a:pt x="4905" y="4822"/>
                    <a:pt x="4905" y="3351"/>
                  </a:cubicBezTo>
                  <a:lnTo>
                    <a:pt x="4905" y="2248"/>
                  </a:lnTo>
                  <a:cubicBezTo>
                    <a:pt x="4905" y="858"/>
                    <a:pt x="3740" y="0"/>
                    <a:pt x="243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6398975" y="2806925"/>
              <a:ext cx="121100" cy="140500"/>
            </a:xfrm>
            <a:custGeom>
              <a:avLst/>
              <a:gdLst/>
              <a:ahLst/>
              <a:cxnLst/>
              <a:rect l="l" t="t" r="r" b="b"/>
              <a:pathLst>
                <a:path w="4844" h="5620" extrusionOk="0">
                  <a:moveTo>
                    <a:pt x="2473" y="0"/>
                  </a:moveTo>
                  <a:cubicBezTo>
                    <a:pt x="1145" y="0"/>
                    <a:pt x="1" y="838"/>
                    <a:pt x="1" y="2370"/>
                  </a:cubicBezTo>
                  <a:lnTo>
                    <a:pt x="1" y="3413"/>
                  </a:lnTo>
                  <a:cubicBezTo>
                    <a:pt x="1" y="4843"/>
                    <a:pt x="1186" y="5619"/>
                    <a:pt x="2514" y="5619"/>
                  </a:cubicBezTo>
                  <a:cubicBezTo>
                    <a:pt x="3679" y="5619"/>
                    <a:pt x="4823" y="4945"/>
                    <a:pt x="4823" y="3515"/>
                  </a:cubicBezTo>
                  <a:lnTo>
                    <a:pt x="4823" y="3453"/>
                  </a:lnTo>
                  <a:lnTo>
                    <a:pt x="3577" y="3453"/>
                  </a:lnTo>
                  <a:lnTo>
                    <a:pt x="3577" y="3515"/>
                  </a:lnTo>
                  <a:cubicBezTo>
                    <a:pt x="3577" y="4250"/>
                    <a:pt x="3046" y="4536"/>
                    <a:pt x="2514" y="4536"/>
                  </a:cubicBezTo>
                  <a:cubicBezTo>
                    <a:pt x="1840" y="4536"/>
                    <a:pt x="1329" y="4148"/>
                    <a:pt x="1329" y="3453"/>
                  </a:cubicBezTo>
                  <a:lnTo>
                    <a:pt x="1329" y="2186"/>
                  </a:lnTo>
                  <a:cubicBezTo>
                    <a:pt x="1329" y="1390"/>
                    <a:pt x="1922" y="1083"/>
                    <a:pt x="2473" y="1083"/>
                  </a:cubicBezTo>
                  <a:cubicBezTo>
                    <a:pt x="3005" y="1083"/>
                    <a:pt x="3577" y="1390"/>
                    <a:pt x="3577" y="2125"/>
                  </a:cubicBezTo>
                  <a:lnTo>
                    <a:pt x="3577" y="2227"/>
                  </a:lnTo>
                  <a:lnTo>
                    <a:pt x="4844" y="2227"/>
                  </a:lnTo>
                  <a:lnTo>
                    <a:pt x="4844" y="2125"/>
                  </a:lnTo>
                  <a:cubicBezTo>
                    <a:pt x="4844" y="695"/>
                    <a:pt x="363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6542025" y="2806925"/>
              <a:ext cx="86875" cy="137425"/>
            </a:xfrm>
            <a:custGeom>
              <a:avLst/>
              <a:gdLst/>
              <a:ahLst/>
              <a:cxnLst/>
              <a:rect l="l" t="t" r="r" b="b"/>
              <a:pathLst>
                <a:path w="3475" h="5497" extrusionOk="0">
                  <a:moveTo>
                    <a:pt x="3045" y="0"/>
                  </a:moveTo>
                  <a:cubicBezTo>
                    <a:pt x="2391" y="0"/>
                    <a:pt x="1594" y="429"/>
                    <a:pt x="1288" y="1001"/>
                  </a:cubicBezTo>
                  <a:lnTo>
                    <a:pt x="1267" y="1001"/>
                  </a:lnTo>
                  <a:lnTo>
                    <a:pt x="1267" y="102"/>
                  </a:lnTo>
                  <a:lnTo>
                    <a:pt x="0" y="102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738"/>
                  </a:lnTo>
                  <a:cubicBezTo>
                    <a:pt x="1288" y="1737"/>
                    <a:pt x="2023" y="1165"/>
                    <a:pt x="2984" y="1165"/>
                  </a:cubicBezTo>
                  <a:cubicBezTo>
                    <a:pt x="3168" y="1165"/>
                    <a:pt x="3311" y="1165"/>
                    <a:pt x="3474" y="1206"/>
                  </a:cubicBezTo>
                  <a:lnTo>
                    <a:pt x="3474" y="20"/>
                  </a:lnTo>
                  <a:cubicBezTo>
                    <a:pt x="3331" y="0"/>
                    <a:pt x="3188" y="0"/>
                    <a:pt x="304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6640625" y="2806400"/>
              <a:ext cx="120575" cy="140500"/>
            </a:xfrm>
            <a:custGeom>
              <a:avLst/>
              <a:gdLst/>
              <a:ahLst/>
              <a:cxnLst/>
              <a:rect l="l" t="t" r="r" b="b"/>
              <a:pathLst>
                <a:path w="4823" h="5620" extrusionOk="0">
                  <a:moveTo>
                    <a:pt x="3433" y="3250"/>
                  </a:moveTo>
                  <a:lnTo>
                    <a:pt x="3433" y="3515"/>
                  </a:lnTo>
                  <a:cubicBezTo>
                    <a:pt x="3433" y="4108"/>
                    <a:pt x="3270" y="4598"/>
                    <a:pt x="2227" y="4598"/>
                  </a:cubicBezTo>
                  <a:cubicBezTo>
                    <a:pt x="1635" y="4598"/>
                    <a:pt x="1267" y="4373"/>
                    <a:pt x="1267" y="3924"/>
                  </a:cubicBezTo>
                  <a:cubicBezTo>
                    <a:pt x="1267" y="3454"/>
                    <a:pt x="1614" y="3250"/>
                    <a:pt x="2166" y="3250"/>
                  </a:cubicBezTo>
                  <a:close/>
                  <a:moveTo>
                    <a:pt x="2411" y="1"/>
                  </a:moveTo>
                  <a:cubicBezTo>
                    <a:pt x="1390" y="1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31" y="1737"/>
                  </a:lnTo>
                  <a:lnTo>
                    <a:pt x="1431" y="1554"/>
                  </a:lnTo>
                  <a:cubicBezTo>
                    <a:pt x="1431" y="1206"/>
                    <a:pt x="1839" y="1022"/>
                    <a:pt x="2391" y="1022"/>
                  </a:cubicBezTo>
                  <a:cubicBezTo>
                    <a:pt x="3045" y="1022"/>
                    <a:pt x="3433" y="1247"/>
                    <a:pt x="3433" y="1819"/>
                  </a:cubicBezTo>
                  <a:lnTo>
                    <a:pt x="3433" y="2330"/>
                  </a:lnTo>
                  <a:lnTo>
                    <a:pt x="2003" y="2330"/>
                  </a:lnTo>
                  <a:cubicBezTo>
                    <a:pt x="961" y="2330"/>
                    <a:pt x="0" y="2943"/>
                    <a:pt x="0" y="3985"/>
                  </a:cubicBezTo>
                  <a:cubicBezTo>
                    <a:pt x="0" y="5007"/>
                    <a:pt x="756" y="5620"/>
                    <a:pt x="1880" y="5620"/>
                  </a:cubicBezTo>
                  <a:cubicBezTo>
                    <a:pt x="2575" y="5620"/>
                    <a:pt x="2984" y="5518"/>
                    <a:pt x="3474" y="5007"/>
                  </a:cubicBezTo>
                  <a:lnTo>
                    <a:pt x="3494" y="5007"/>
                  </a:lnTo>
                  <a:cubicBezTo>
                    <a:pt x="3494" y="5109"/>
                    <a:pt x="3515" y="5436"/>
                    <a:pt x="3535" y="5518"/>
                  </a:cubicBezTo>
                  <a:lnTo>
                    <a:pt x="4823" y="5518"/>
                  </a:lnTo>
                  <a:cubicBezTo>
                    <a:pt x="4741" y="5395"/>
                    <a:pt x="4720" y="4598"/>
                    <a:pt x="4720" y="4353"/>
                  </a:cubicBezTo>
                  <a:lnTo>
                    <a:pt x="4720" y="1737"/>
                  </a:lnTo>
                  <a:cubicBezTo>
                    <a:pt x="4720" y="409"/>
                    <a:pt x="3617" y="1"/>
                    <a:pt x="2411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6778550" y="2768600"/>
              <a:ext cx="79200" cy="177800"/>
            </a:xfrm>
            <a:custGeom>
              <a:avLst/>
              <a:gdLst/>
              <a:ahLst/>
              <a:cxnLst/>
              <a:rect l="l" t="t" r="r" b="b"/>
              <a:pathLst>
                <a:path w="3168" h="7112" extrusionOk="0">
                  <a:moveTo>
                    <a:pt x="716" y="1"/>
                  </a:moveTo>
                  <a:lnTo>
                    <a:pt x="716" y="1635"/>
                  </a:lnTo>
                  <a:lnTo>
                    <a:pt x="0" y="1635"/>
                  </a:lnTo>
                  <a:lnTo>
                    <a:pt x="0" y="2657"/>
                  </a:lnTo>
                  <a:lnTo>
                    <a:pt x="716" y="2657"/>
                  </a:lnTo>
                  <a:lnTo>
                    <a:pt x="716" y="5742"/>
                  </a:lnTo>
                  <a:cubicBezTo>
                    <a:pt x="716" y="6703"/>
                    <a:pt x="1390" y="7111"/>
                    <a:pt x="2228" y="7111"/>
                  </a:cubicBezTo>
                  <a:cubicBezTo>
                    <a:pt x="2412" y="7111"/>
                    <a:pt x="2882" y="7071"/>
                    <a:pt x="3168" y="7009"/>
                  </a:cubicBezTo>
                  <a:lnTo>
                    <a:pt x="3168" y="5906"/>
                  </a:lnTo>
                  <a:cubicBezTo>
                    <a:pt x="2922" y="5947"/>
                    <a:pt x="2779" y="5967"/>
                    <a:pt x="2514" y="5967"/>
                  </a:cubicBezTo>
                  <a:cubicBezTo>
                    <a:pt x="2207" y="5967"/>
                    <a:pt x="2003" y="5845"/>
                    <a:pt x="2003" y="5436"/>
                  </a:cubicBezTo>
                  <a:lnTo>
                    <a:pt x="2003" y="2657"/>
                  </a:lnTo>
                  <a:lnTo>
                    <a:pt x="3168" y="2657"/>
                  </a:lnTo>
                  <a:lnTo>
                    <a:pt x="3168" y="1635"/>
                  </a:lnTo>
                  <a:lnTo>
                    <a:pt x="2003" y="1635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6879700" y="2754800"/>
              <a:ext cx="32200" cy="189550"/>
            </a:xfrm>
            <a:custGeom>
              <a:avLst/>
              <a:gdLst/>
              <a:ahLst/>
              <a:cxnLst/>
              <a:rect l="l" t="t" r="r" b="b"/>
              <a:pathLst>
                <a:path w="1288" h="7582" extrusionOk="0">
                  <a:moveTo>
                    <a:pt x="0" y="1"/>
                  </a:moveTo>
                  <a:lnTo>
                    <a:pt x="0" y="1370"/>
                  </a:lnTo>
                  <a:lnTo>
                    <a:pt x="1288" y="1370"/>
                  </a:lnTo>
                  <a:lnTo>
                    <a:pt x="1288" y="1"/>
                  </a:lnTo>
                  <a:close/>
                  <a:moveTo>
                    <a:pt x="0" y="2187"/>
                  </a:moveTo>
                  <a:lnTo>
                    <a:pt x="0" y="7582"/>
                  </a:lnTo>
                  <a:lnTo>
                    <a:pt x="1288" y="7582"/>
                  </a:lnTo>
                  <a:lnTo>
                    <a:pt x="1288" y="2187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6939975" y="2806925"/>
              <a:ext cx="122625" cy="188000"/>
            </a:xfrm>
            <a:custGeom>
              <a:avLst/>
              <a:gdLst/>
              <a:ahLst/>
              <a:cxnLst/>
              <a:rect l="l" t="t" r="r" b="b"/>
              <a:pathLst>
                <a:path w="4905" h="7520" extrusionOk="0">
                  <a:moveTo>
                    <a:pt x="2432" y="1083"/>
                  </a:moveTo>
                  <a:cubicBezTo>
                    <a:pt x="3107" y="1083"/>
                    <a:pt x="3638" y="1471"/>
                    <a:pt x="3638" y="2125"/>
                  </a:cubicBezTo>
                  <a:lnTo>
                    <a:pt x="3638" y="3453"/>
                  </a:lnTo>
                  <a:cubicBezTo>
                    <a:pt x="3638" y="4230"/>
                    <a:pt x="3025" y="4516"/>
                    <a:pt x="2473" y="4516"/>
                  </a:cubicBezTo>
                  <a:cubicBezTo>
                    <a:pt x="1819" y="4516"/>
                    <a:pt x="1308" y="4128"/>
                    <a:pt x="1308" y="3474"/>
                  </a:cubicBezTo>
                  <a:lnTo>
                    <a:pt x="1308" y="2146"/>
                  </a:lnTo>
                  <a:cubicBezTo>
                    <a:pt x="1308" y="1369"/>
                    <a:pt x="1901" y="1083"/>
                    <a:pt x="2432" y="1083"/>
                  </a:cubicBezTo>
                  <a:close/>
                  <a:moveTo>
                    <a:pt x="2228" y="0"/>
                  </a:moveTo>
                  <a:cubicBezTo>
                    <a:pt x="1022" y="0"/>
                    <a:pt x="1" y="715"/>
                    <a:pt x="1" y="2186"/>
                  </a:cubicBezTo>
                  <a:lnTo>
                    <a:pt x="1" y="3494"/>
                  </a:lnTo>
                  <a:cubicBezTo>
                    <a:pt x="1" y="4863"/>
                    <a:pt x="961" y="5619"/>
                    <a:pt x="2126" y="5619"/>
                  </a:cubicBezTo>
                  <a:cubicBezTo>
                    <a:pt x="2616" y="5619"/>
                    <a:pt x="3352" y="5313"/>
                    <a:pt x="3658" y="4884"/>
                  </a:cubicBezTo>
                  <a:lnTo>
                    <a:pt x="3658" y="7520"/>
                  </a:lnTo>
                  <a:lnTo>
                    <a:pt x="4905" y="7520"/>
                  </a:lnTo>
                  <a:lnTo>
                    <a:pt x="4905" y="82"/>
                  </a:lnTo>
                  <a:lnTo>
                    <a:pt x="3638" y="82"/>
                  </a:lnTo>
                  <a:lnTo>
                    <a:pt x="3638" y="654"/>
                  </a:lnTo>
                  <a:lnTo>
                    <a:pt x="3597" y="654"/>
                  </a:lnTo>
                  <a:cubicBezTo>
                    <a:pt x="3331" y="307"/>
                    <a:pt x="2820" y="0"/>
                    <a:pt x="2228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7096300" y="2809475"/>
              <a:ext cx="117000" cy="137425"/>
            </a:xfrm>
            <a:custGeom>
              <a:avLst/>
              <a:gdLst/>
              <a:ahLst/>
              <a:cxnLst/>
              <a:rect l="l" t="t" r="r" b="b"/>
              <a:pathLst>
                <a:path w="4680" h="5497" extrusionOk="0">
                  <a:moveTo>
                    <a:pt x="0" y="0"/>
                  </a:moveTo>
                  <a:lnTo>
                    <a:pt x="0" y="3433"/>
                  </a:lnTo>
                  <a:cubicBezTo>
                    <a:pt x="0" y="4720"/>
                    <a:pt x="675" y="5497"/>
                    <a:pt x="1880" y="5497"/>
                  </a:cubicBezTo>
                  <a:cubicBezTo>
                    <a:pt x="2493" y="5497"/>
                    <a:pt x="3045" y="5252"/>
                    <a:pt x="3413" y="4720"/>
                  </a:cubicBezTo>
                  <a:lnTo>
                    <a:pt x="3433" y="4720"/>
                  </a:lnTo>
                  <a:lnTo>
                    <a:pt x="3433" y="5395"/>
                  </a:lnTo>
                  <a:lnTo>
                    <a:pt x="4680" y="5395"/>
                  </a:lnTo>
                  <a:lnTo>
                    <a:pt x="4680" y="0"/>
                  </a:lnTo>
                  <a:lnTo>
                    <a:pt x="3392" y="0"/>
                  </a:lnTo>
                  <a:lnTo>
                    <a:pt x="3392" y="3004"/>
                  </a:lnTo>
                  <a:cubicBezTo>
                    <a:pt x="3392" y="3924"/>
                    <a:pt x="3004" y="4373"/>
                    <a:pt x="2289" y="4373"/>
                  </a:cubicBezTo>
                  <a:cubicBezTo>
                    <a:pt x="1635" y="4373"/>
                    <a:pt x="1288" y="3944"/>
                    <a:pt x="1288" y="3127"/>
                  </a:cubicBezTo>
                  <a:lnTo>
                    <a:pt x="1288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7240350" y="2806925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73" y="1083"/>
                  </a:moveTo>
                  <a:cubicBezTo>
                    <a:pt x="3005" y="1083"/>
                    <a:pt x="3515" y="1390"/>
                    <a:pt x="3515" y="2125"/>
                  </a:cubicBezTo>
                  <a:lnTo>
                    <a:pt x="3515" y="2268"/>
                  </a:lnTo>
                  <a:lnTo>
                    <a:pt x="1329" y="2268"/>
                  </a:lnTo>
                  <a:lnTo>
                    <a:pt x="1329" y="2186"/>
                  </a:lnTo>
                  <a:cubicBezTo>
                    <a:pt x="1329" y="1390"/>
                    <a:pt x="1922" y="1083"/>
                    <a:pt x="2473" y="1083"/>
                  </a:cubicBezTo>
                  <a:close/>
                  <a:moveTo>
                    <a:pt x="2473" y="0"/>
                  </a:moveTo>
                  <a:cubicBezTo>
                    <a:pt x="1145" y="0"/>
                    <a:pt x="1" y="838"/>
                    <a:pt x="1" y="2370"/>
                  </a:cubicBezTo>
                  <a:lnTo>
                    <a:pt x="1" y="3413"/>
                  </a:lnTo>
                  <a:cubicBezTo>
                    <a:pt x="1" y="4884"/>
                    <a:pt x="1186" y="5619"/>
                    <a:pt x="2514" y="5619"/>
                  </a:cubicBezTo>
                  <a:cubicBezTo>
                    <a:pt x="3475" y="5619"/>
                    <a:pt x="4312" y="5252"/>
                    <a:pt x="4741" y="4414"/>
                  </a:cubicBezTo>
                  <a:lnTo>
                    <a:pt x="3740" y="3842"/>
                  </a:lnTo>
                  <a:cubicBezTo>
                    <a:pt x="3475" y="4250"/>
                    <a:pt x="3005" y="4536"/>
                    <a:pt x="2575" y="4536"/>
                  </a:cubicBezTo>
                  <a:cubicBezTo>
                    <a:pt x="1901" y="4536"/>
                    <a:pt x="1329" y="4148"/>
                    <a:pt x="1329" y="3453"/>
                  </a:cubicBezTo>
                  <a:lnTo>
                    <a:pt x="1329" y="3167"/>
                  </a:lnTo>
                  <a:lnTo>
                    <a:pt x="4803" y="3167"/>
                  </a:lnTo>
                  <a:lnTo>
                    <a:pt x="4803" y="2125"/>
                  </a:lnTo>
                  <a:cubicBezTo>
                    <a:pt x="4803" y="695"/>
                    <a:pt x="363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5699125" y="3072550"/>
              <a:ext cx="122625" cy="191075"/>
            </a:xfrm>
            <a:custGeom>
              <a:avLst/>
              <a:gdLst/>
              <a:ahLst/>
              <a:cxnLst/>
              <a:rect l="l" t="t" r="r" b="b"/>
              <a:pathLst>
                <a:path w="4905" h="7643" extrusionOk="0">
                  <a:moveTo>
                    <a:pt x="2432" y="3107"/>
                  </a:moveTo>
                  <a:cubicBezTo>
                    <a:pt x="3086" y="3107"/>
                    <a:pt x="3617" y="3495"/>
                    <a:pt x="3617" y="4149"/>
                  </a:cubicBezTo>
                  <a:lnTo>
                    <a:pt x="3617" y="5477"/>
                  </a:lnTo>
                  <a:cubicBezTo>
                    <a:pt x="3617" y="6253"/>
                    <a:pt x="3004" y="6540"/>
                    <a:pt x="2473" y="6540"/>
                  </a:cubicBezTo>
                  <a:cubicBezTo>
                    <a:pt x="1819" y="6540"/>
                    <a:pt x="1308" y="6151"/>
                    <a:pt x="1308" y="5497"/>
                  </a:cubicBezTo>
                  <a:lnTo>
                    <a:pt x="1308" y="4169"/>
                  </a:lnTo>
                  <a:cubicBezTo>
                    <a:pt x="1308" y="3393"/>
                    <a:pt x="1901" y="3107"/>
                    <a:pt x="2432" y="3107"/>
                  </a:cubicBezTo>
                  <a:close/>
                  <a:moveTo>
                    <a:pt x="3617" y="1"/>
                  </a:moveTo>
                  <a:lnTo>
                    <a:pt x="3617" y="2678"/>
                  </a:lnTo>
                  <a:lnTo>
                    <a:pt x="3597" y="2678"/>
                  </a:lnTo>
                  <a:cubicBezTo>
                    <a:pt x="3311" y="2310"/>
                    <a:pt x="2820" y="2003"/>
                    <a:pt x="2228" y="2003"/>
                  </a:cubicBezTo>
                  <a:cubicBezTo>
                    <a:pt x="1022" y="2003"/>
                    <a:pt x="0" y="2739"/>
                    <a:pt x="0" y="4210"/>
                  </a:cubicBezTo>
                  <a:lnTo>
                    <a:pt x="0" y="5518"/>
                  </a:lnTo>
                  <a:cubicBezTo>
                    <a:pt x="0" y="6887"/>
                    <a:pt x="940" y="7643"/>
                    <a:pt x="2125" y="7643"/>
                  </a:cubicBezTo>
                  <a:cubicBezTo>
                    <a:pt x="2616" y="7643"/>
                    <a:pt x="3331" y="7336"/>
                    <a:pt x="3637" y="6907"/>
                  </a:cubicBezTo>
                  <a:lnTo>
                    <a:pt x="3658" y="6907"/>
                  </a:lnTo>
                  <a:lnTo>
                    <a:pt x="3658" y="7520"/>
                  </a:lnTo>
                  <a:lnTo>
                    <a:pt x="4904" y="7520"/>
                  </a:lnTo>
                  <a:lnTo>
                    <a:pt x="4904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5854925" y="3125675"/>
              <a:ext cx="117525" cy="137450"/>
            </a:xfrm>
            <a:custGeom>
              <a:avLst/>
              <a:gdLst/>
              <a:ahLst/>
              <a:cxnLst/>
              <a:rect l="l" t="t" r="r" b="b"/>
              <a:pathLst>
                <a:path w="4701" h="5498" extrusionOk="0">
                  <a:moveTo>
                    <a:pt x="1" y="1"/>
                  </a:moveTo>
                  <a:lnTo>
                    <a:pt x="1" y="3434"/>
                  </a:lnTo>
                  <a:cubicBezTo>
                    <a:pt x="1" y="4721"/>
                    <a:pt x="695" y="5498"/>
                    <a:pt x="1901" y="5498"/>
                  </a:cubicBezTo>
                  <a:cubicBezTo>
                    <a:pt x="2494" y="5498"/>
                    <a:pt x="3066" y="5252"/>
                    <a:pt x="3413" y="4721"/>
                  </a:cubicBezTo>
                  <a:lnTo>
                    <a:pt x="3454" y="4721"/>
                  </a:lnTo>
                  <a:lnTo>
                    <a:pt x="3454" y="5395"/>
                  </a:lnTo>
                  <a:lnTo>
                    <a:pt x="4700" y="5395"/>
                  </a:lnTo>
                  <a:lnTo>
                    <a:pt x="4700" y="1"/>
                  </a:lnTo>
                  <a:lnTo>
                    <a:pt x="3413" y="1"/>
                  </a:lnTo>
                  <a:lnTo>
                    <a:pt x="3413" y="3005"/>
                  </a:lnTo>
                  <a:cubicBezTo>
                    <a:pt x="3413" y="3924"/>
                    <a:pt x="3004" y="4374"/>
                    <a:pt x="2310" y="4374"/>
                  </a:cubicBezTo>
                  <a:cubicBezTo>
                    <a:pt x="1656" y="4374"/>
                    <a:pt x="1288" y="3945"/>
                    <a:pt x="1288" y="3127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6067950" y="3069500"/>
              <a:ext cx="147150" cy="194125"/>
            </a:xfrm>
            <a:custGeom>
              <a:avLst/>
              <a:gdLst/>
              <a:ahLst/>
              <a:cxnLst/>
              <a:rect l="l" t="t" r="r" b="b"/>
              <a:pathLst>
                <a:path w="5886" h="7765" extrusionOk="0">
                  <a:moveTo>
                    <a:pt x="3004" y="0"/>
                  </a:moveTo>
                  <a:cubicBezTo>
                    <a:pt x="1370" y="0"/>
                    <a:pt x="1" y="981"/>
                    <a:pt x="1" y="2759"/>
                  </a:cubicBezTo>
                  <a:lnTo>
                    <a:pt x="1" y="5170"/>
                  </a:lnTo>
                  <a:cubicBezTo>
                    <a:pt x="1" y="6845"/>
                    <a:pt x="1431" y="7765"/>
                    <a:pt x="3066" y="7765"/>
                  </a:cubicBezTo>
                  <a:cubicBezTo>
                    <a:pt x="4496" y="7765"/>
                    <a:pt x="5886" y="6968"/>
                    <a:pt x="5886" y="5292"/>
                  </a:cubicBezTo>
                  <a:lnTo>
                    <a:pt x="5886" y="5068"/>
                  </a:lnTo>
                  <a:lnTo>
                    <a:pt x="4557" y="5068"/>
                  </a:lnTo>
                  <a:lnTo>
                    <a:pt x="4557" y="5170"/>
                  </a:lnTo>
                  <a:cubicBezTo>
                    <a:pt x="4557" y="6151"/>
                    <a:pt x="3760" y="6518"/>
                    <a:pt x="3066" y="6518"/>
                  </a:cubicBezTo>
                  <a:cubicBezTo>
                    <a:pt x="2187" y="6518"/>
                    <a:pt x="1411" y="6008"/>
                    <a:pt x="1411" y="5109"/>
                  </a:cubicBezTo>
                  <a:lnTo>
                    <a:pt x="1411" y="2697"/>
                  </a:lnTo>
                  <a:cubicBezTo>
                    <a:pt x="1411" y="1614"/>
                    <a:pt x="2289" y="1247"/>
                    <a:pt x="3004" y="1247"/>
                  </a:cubicBezTo>
                  <a:cubicBezTo>
                    <a:pt x="3699" y="1247"/>
                    <a:pt x="4557" y="1614"/>
                    <a:pt x="4557" y="2595"/>
                  </a:cubicBezTo>
                  <a:lnTo>
                    <a:pt x="4557" y="2718"/>
                  </a:lnTo>
                  <a:lnTo>
                    <a:pt x="5886" y="2718"/>
                  </a:lnTo>
                  <a:lnTo>
                    <a:pt x="5886" y="2473"/>
                  </a:lnTo>
                  <a:cubicBezTo>
                    <a:pt x="5886" y="797"/>
                    <a:pt x="4455" y="0"/>
                    <a:pt x="3004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6239075" y="3123125"/>
              <a:ext cx="122650" cy="140500"/>
            </a:xfrm>
            <a:custGeom>
              <a:avLst/>
              <a:gdLst/>
              <a:ahLst/>
              <a:cxnLst/>
              <a:rect l="l" t="t" r="r" b="b"/>
              <a:pathLst>
                <a:path w="4906" h="5620" extrusionOk="0">
                  <a:moveTo>
                    <a:pt x="2433" y="1104"/>
                  </a:moveTo>
                  <a:cubicBezTo>
                    <a:pt x="3087" y="1104"/>
                    <a:pt x="3597" y="1472"/>
                    <a:pt x="3597" y="2126"/>
                  </a:cubicBezTo>
                  <a:lnTo>
                    <a:pt x="3597" y="3474"/>
                  </a:lnTo>
                  <a:cubicBezTo>
                    <a:pt x="3597" y="4251"/>
                    <a:pt x="3005" y="4537"/>
                    <a:pt x="2474" y="4537"/>
                  </a:cubicBezTo>
                  <a:cubicBezTo>
                    <a:pt x="1799" y="4537"/>
                    <a:pt x="1309" y="4149"/>
                    <a:pt x="1309" y="3495"/>
                  </a:cubicBezTo>
                  <a:lnTo>
                    <a:pt x="1309" y="2167"/>
                  </a:lnTo>
                  <a:cubicBezTo>
                    <a:pt x="1309" y="1390"/>
                    <a:pt x="1901" y="1104"/>
                    <a:pt x="2433" y="1104"/>
                  </a:cubicBezTo>
                  <a:close/>
                  <a:moveTo>
                    <a:pt x="2433" y="1"/>
                  </a:moveTo>
                  <a:cubicBezTo>
                    <a:pt x="1247" y="1"/>
                    <a:pt x="1" y="798"/>
                    <a:pt x="1" y="2269"/>
                  </a:cubicBezTo>
                  <a:lnTo>
                    <a:pt x="1" y="3495"/>
                  </a:lnTo>
                  <a:cubicBezTo>
                    <a:pt x="1" y="4884"/>
                    <a:pt x="1166" y="5620"/>
                    <a:pt x="2474" y="5620"/>
                  </a:cubicBezTo>
                  <a:cubicBezTo>
                    <a:pt x="3659" y="5620"/>
                    <a:pt x="4905" y="4823"/>
                    <a:pt x="4905" y="3352"/>
                  </a:cubicBezTo>
                  <a:lnTo>
                    <a:pt x="4905" y="2248"/>
                  </a:lnTo>
                  <a:cubicBezTo>
                    <a:pt x="4905" y="859"/>
                    <a:pt x="3740" y="1"/>
                    <a:pt x="243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6390300" y="3123125"/>
              <a:ext cx="117000" cy="137450"/>
            </a:xfrm>
            <a:custGeom>
              <a:avLst/>
              <a:gdLst/>
              <a:ahLst/>
              <a:cxnLst/>
              <a:rect l="l" t="t" r="r" b="b"/>
              <a:pathLst>
                <a:path w="4680" h="5498" extrusionOk="0">
                  <a:moveTo>
                    <a:pt x="2800" y="1"/>
                  </a:moveTo>
                  <a:cubicBezTo>
                    <a:pt x="2207" y="1"/>
                    <a:pt x="163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473"/>
                  </a:lnTo>
                  <a:cubicBezTo>
                    <a:pt x="1288" y="1554"/>
                    <a:pt x="1697" y="1124"/>
                    <a:pt x="2391" y="1124"/>
                  </a:cubicBezTo>
                  <a:cubicBezTo>
                    <a:pt x="3045" y="1124"/>
                    <a:pt x="3393" y="1554"/>
                    <a:pt x="3393" y="2371"/>
                  </a:cubicBezTo>
                  <a:lnTo>
                    <a:pt x="3393" y="5497"/>
                  </a:lnTo>
                  <a:lnTo>
                    <a:pt x="4680" y="5497"/>
                  </a:lnTo>
                  <a:lnTo>
                    <a:pt x="4680" y="2044"/>
                  </a:lnTo>
                  <a:cubicBezTo>
                    <a:pt x="4680" y="757"/>
                    <a:pt x="4006" y="1"/>
                    <a:pt x="2800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6534350" y="3123125"/>
              <a:ext cx="121100" cy="189050"/>
            </a:xfrm>
            <a:custGeom>
              <a:avLst/>
              <a:gdLst/>
              <a:ahLst/>
              <a:cxnLst/>
              <a:rect l="l" t="t" r="r" b="b"/>
              <a:pathLst>
                <a:path w="4844" h="7562" extrusionOk="0">
                  <a:moveTo>
                    <a:pt x="2433" y="1104"/>
                  </a:moveTo>
                  <a:cubicBezTo>
                    <a:pt x="3107" y="1104"/>
                    <a:pt x="3597" y="1472"/>
                    <a:pt x="3597" y="2126"/>
                  </a:cubicBezTo>
                  <a:lnTo>
                    <a:pt x="3597" y="3331"/>
                  </a:lnTo>
                  <a:cubicBezTo>
                    <a:pt x="3597" y="4108"/>
                    <a:pt x="3005" y="4394"/>
                    <a:pt x="2473" y="4394"/>
                  </a:cubicBezTo>
                  <a:cubicBezTo>
                    <a:pt x="1820" y="4394"/>
                    <a:pt x="1309" y="4006"/>
                    <a:pt x="1309" y="3352"/>
                  </a:cubicBezTo>
                  <a:lnTo>
                    <a:pt x="1309" y="2167"/>
                  </a:lnTo>
                  <a:cubicBezTo>
                    <a:pt x="1309" y="1390"/>
                    <a:pt x="1901" y="1104"/>
                    <a:pt x="2433" y="1104"/>
                  </a:cubicBezTo>
                  <a:close/>
                  <a:moveTo>
                    <a:pt x="2126" y="1"/>
                  </a:moveTo>
                  <a:cubicBezTo>
                    <a:pt x="920" y="1"/>
                    <a:pt x="1" y="798"/>
                    <a:pt x="1" y="2269"/>
                  </a:cubicBezTo>
                  <a:lnTo>
                    <a:pt x="1" y="3290"/>
                  </a:lnTo>
                  <a:cubicBezTo>
                    <a:pt x="1" y="4680"/>
                    <a:pt x="839" y="5416"/>
                    <a:pt x="2146" y="5416"/>
                  </a:cubicBezTo>
                  <a:cubicBezTo>
                    <a:pt x="2739" y="5416"/>
                    <a:pt x="3229" y="5191"/>
                    <a:pt x="3577" y="4721"/>
                  </a:cubicBezTo>
                  <a:lnTo>
                    <a:pt x="3597" y="4721"/>
                  </a:lnTo>
                  <a:lnTo>
                    <a:pt x="3597" y="5273"/>
                  </a:lnTo>
                  <a:cubicBezTo>
                    <a:pt x="3597" y="6049"/>
                    <a:pt x="3168" y="6539"/>
                    <a:pt x="2392" y="6539"/>
                  </a:cubicBezTo>
                  <a:cubicBezTo>
                    <a:pt x="1922" y="6539"/>
                    <a:pt x="1554" y="6335"/>
                    <a:pt x="1309" y="5824"/>
                  </a:cubicBezTo>
                  <a:lnTo>
                    <a:pt x="83" y="6253"/>
                  </a:lnTo>
                  <a:cubicBezTo>
                    <a:pt x="348" y="7152"/>
                    <a:pt x="1411" y="7561"/>
                    <a:pt x="2269" y="7561"/>
                  </a:cubicBezTo>
                  <a:cubicBezTo>
                    <a:pt x="4149" y="7561"/>
                    <a:pt x="4844" y="6294"/>
                    <a:pt x="4844" y="5048"/>
                  </a:cubicBezTo>
                  <a:lnTo>
                    <a:pt x="4844" y="103"/>
                  </a:lnTo>
                  <a:lnTo>
                    <a:pt x="3618" y="103"/>
                  </a:lnTo>
                  <a:lnTo>
                    <a:pt x="3618" y="736"/>
                  </a:lnTo>
                  <a:lnTo>
                    <a:pt x="3597" y="736"/>
                  </a:lnTo>
                  <a:cubicBezTo>
                    <a:pt x="3311" y="328"/>
                    <a:pt x="2759" y="1"/>
                    <a:pt x="2126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6683025" y="3123125"/>
              <a:ext cx="123125" cy="140500"/>
            </a:xfrm>
            <a:custGeom>
              <a:avLst/>
              <a:gdLst/>
              <a:ahLst/>
              <a:cxnLst/>
              <a:rect l="l" t="t" r="r" b="b"/>
              <a:pathLst>
                <a:path w="4925" h="5620" extrusionOk="0">
                  <a:moveTo>
                    <a:pt x="2432" y="1104"/>
                  </a:moveTo>
                  <a:cubicBezTo>
                    <a:pt x="3106" y="1104"/>
                    <a:pt x="3617" y="1472"/>
                    <a:pt x="3617" y="2126"/>
                  </a:cubicBezTo>
                  <a:lnTo>
                    <a:pt x="3617" y="3474"/>
                  </a:lnTo>
                  <a:cubicBezTo>
                    <a:pt x="3617" y="4251"/>
                    <a:pt x="3024" y="4537"/>
                    <a:pt x="2493" y="4537"/>
                  </a:cubicBezTo>
                  <a:cubicBezTo>
                    <a:pt x="1819" y="4537"/>
                    <a:pt x="1308" y="4149"/>
                    <a:pt x="1308" y="3495"/>
                  </a:cubicBezTo>
                  <a:lnTo>
                    <a:pt x="1308" y="2167"/>
                  </a:lnTo>
                  <a:cubicBezTo>
                    <a:pt x="1308" y="1390"/>
                    <a:pt x="1901" y="1104"/>
                    <a:pt x="2432" y="1104"/>
                  </a:cubicBezTo>
                  <a:close/>
                  <a:moveTo>
                    <a:pt x="2432" y="1"/>
                  </a:moveTo>
                  <a:cubicBezTo>
                    <a:pt x="1247" y="1"/>
                    <a:pt x="0" y="798"/>
                    <a:pt x="0" y="2269"/>
                  </a:cubicBezTo>
                  <a:lnTo>
                    <a:pt x="0" y="3495"/>
                  </a:lnTo>
                  <a:cubicBezTo>
                    <a:pt x="0" y="4884"/>
                    <a:pt x="1185" y="5620"/>
                    <a:pt x="2493" y="5620"/>
                  </a:cubicBezTo>
                  <a:cubicBezTo>
                    <a:pt x="3678" y="5620"/>
                    <a:pt x="4925" y="4823"/>
                    <a:pt x="4925" y="3352"/>
                  </a:cubicBezTo>
                  <a:lnTo>
                    <a:pt x="4925" y="2248"/>
                  </a:lnTo>
                  <a:cubicBezTo>
                    <a:pt x="4925" y="859"/>
                    <a:pt x="3740" y="1"/>
                    <a:pt x="2432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5432975" y="2440125"/>
              <a:ext cx="21475" cy="823500"/>
            </a:xfrm>
            <a:custGeom>
              <a:avLst/>
              <a:gdLst/>
              <a:ahLst/>
              <a:cxnLst/>
              <a:rect l="l" t="t" r="r" b="b"/>
              <a:pathLst>
                <a:path w="859" h="32940" extrusionOk="0">
                  <a:moveTo>
                    <a:pt x="0" y="1"/>
                  </a:moveTo>
                  <a:lnTo>
                    <a:pt x="0" y="32940"/>
                  </a:lnTo>
                  <a:lnTo>
                    <a:pt x="858" y="32940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64C8FA"/>
            </a:solidFill>
            <a:ln>
              <a:noFill/>
            </a:ln>
          </p:spPr>
          <p:txBody>
            <a:bodyPr spcFirstLastPara="1" wrap="square" lIns="66200" tIns="66200" rIns="66200" bIns="66200" anchor="ctr" anchorCtr="0">
              <a:noAutofit/>
            </a:bodyPr>
            <a:lstStyle/>
            <a:p>
              <a:pPr defTabSz="1219170">
                <a:buSzPts val="941"/>
              </a:pPr>
              <a:endParaRPr sz="125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21" name="Google Shape;12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0998" y="6359281"/>
            <a:ext cx="1177385" cy="355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24796" y="6399763"/>
            <a:ext cx="994693" cy="306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41045" y="6379905"/>
            <a:ext cx="1389785" cy="3349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 txBox="1"/>
          <p:nvPr/>
        </p:nvSpPr>
        <p:spPr>
          <a:xfrm>
            <a:off x="3847065" y="4975165"/>
            <a:ext cx="8244312" cy="45134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219170">
              <a:buSzPts val="2200"/>
            </a:pPr>
            <a:r>
              <a:rPr lang="en-GB" sz="2933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 Novembre 2025</a:t>
            </a:r>
            <a:endParaRPr sz="2933" b="1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5" name="Google Shape;125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39517" y="6332716"/>
            <a:ext cx="1178395" cy="302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388686" y="6372154"/>
            <a:ext cx="1705133" cy="302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8198" y="6302727"/>
            <a:ext cx="827286" cy="392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3"/>
          <p:cNvPicPr preferRelativeResize="0"/>
          <p:nvPr/>
        </p:nvPicPr>
        <p:blipFill rotWithShape="1">
          <a:blip r:embed="rId9">
            <a:alphaModFix/>
          </a:blip>
          <a:srcRect l="4649" r="12616"/>
          <a:stretch/>
        </p:blipFill>
        <p:spPr>
          <a:xfrm>
            <a:off x="117033" y="1649633"/>
            <a:ext cx="3659867" cy="2949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8;p1">
            <a:extLst>
              <a:ext uri="{FF2B5EF4-FFF2-40B4-BE49-F238E27FC236}">
                <a16:creationId xmlns:a16="http://schemas.microsoft.com/office/drawing/2014/main" id="{4767118A-3A6E-46AE-80DC-0D4169115C0B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03849" y="6419095"/>
            <a:ext cx="1477646" cy="334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27;p1">
            <a:extLst>
              <a:ext uri="{FF2B5EF4-FFF2-40B4-BE49-F238E27FC236}">
                <a16:creationId xmlns:a16="http://schemas.microsoft.com/office/drawing/2014/main" id="{173164B5-6A2D-4EA9-9AB1-6A88C6554B22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162319" y="6379369"/>
            <a:ext cx="1178394" cy="265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/>
          <p:nvPr/>
        </p:nvSpPr>
        <p:spPr>
          <a:xfrm>
            <a:off x="341600" y="1454233"/>
            <a:ext cx="11392000" cy="46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1333"/>
              </a:spcAft>
            </a:pPr>
            <a:endParaRPr sz="1600"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458592" y="317941"/>
            <a:ext cx="11274800" cy="532451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GB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  <a:sym typeface="Times New Roman"/>
              </a:rPr>
              <a:t>Plan de Présentation</a:t>
            </a:r>
            <a:endParaRPr sz="2800" b="1" dirty="0">
              <a:solidFill>
                <a:srgbClr val="0000FF"/>
              </a:solidFill>
              <a:latin typeface="Book Antiqua" panose="02040602050305030304" pitchFamily="18" charset="0"/>
              <a:ea typeface="MS PGothic" panose="020B0600070205080204" pitchFamily="34" charset="-128"/>
              <a:sym typeface="Times New Roman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endParaRPr sz="1867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11658600" y="6496067"/>
            <a:ext cx="228400" cy="1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/>
            <a:fld id="{00000000-1234-1234-1234-123412341234}" type="slidenum">
              <a:rPr lang="en-GB" sz="1200">
                <a:solidFill>
                  <a:srgbClr val="1C458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pPr algn="r"/>
              <a:t>2</a:t>
            </a:fld>
            <a:endParaRPr sz="1200">
              <a:solidFill>
                <a:srgbClr val="1C4587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cxnSp>
        <p:nvCxnSpPr>
          <p:cNvPr id="137" name="Google Shape;137;p14"/>
          <p:cNvCxnSpPr/>
          <p:nvPr/>
        </p:nvCxnSpPr>
        <p:spPr>
          <a:xfrm>
            <a:off x="267700" y="6427967"/>
            <a:ext cx="116404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" name="Google Shape;138;p14"/>
          <p:cNvSpPr txBox="1"/>
          <p:nvPr/>
        </p:nvSpPr>
        <p:spPr>
          <a:xfrm>
            <a:off x="11658600" y="6496067"/>
            <a:ext cx="228400" cy="1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/>
            <a:fld id="{00000000-1234-1234-1234-123412341234}" type="slidenum">
              <a:rPr lang="en-GB" sz="1200">
                <a:solidFill>
                  <a:srgbClr val="1C458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pPr algn="r"/>
              <a:t>2</a:t>
            </a:fld>
            <a:endParaRPr sz="1200">
              <a:solidFill>
                <a:srgbClr val="1C4587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458400" y="1051561"/>
            <a:ext cx="11274991" cy="452797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18051" indent="-457189">
              <a:lnSpc>
                <a:spcPct val="150000"/>
              </a:lnSpc>
              <a:buClr>
                <a:schemeClr val="dk1"/>
              </a:buClr>
              <a:buSzPts val="1700"/>
              <a:buFont typeface="+mj-lt"/>
              <a:buAutoNum type="arabicPeriod"/>
            </a:pPr>
            <a:r>
              <a:rPr lang="en-GB" sz="2267" dirty="0" err="1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Contexte</a:t>
            </a:r>
            <a:endParaRPr lang="en-GB" sz="2267" dirty="0">
              <a:solidFill>
                <a:schemeClr val="dk1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  <a:p>
            <a:pPr marL="618051" indent="-457189">
              <a:lnSpc>
                <a:spcPct val="150000"/>
              </a:lnSpc>
              <a:buClr>
                <a:schemeClr val="dk1"/>
              </a:buClr>
              <a:buSzPts val="1700"/>
              <a:buFont typeface="+mj-lt"/>
              <a:buAutoNum type="arabicPeriod"/>
            </a:pPr>
            <a:r>
              <a:rPr lang="en-GB" sz="2267" dirty="0" err="1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Approche</a:t>
            </a:r>
            <a:r>
              <a:rPr lang="en-GB" sz="2267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introductive</a:t>
            </a:r>
          </a:p>
          <a:p>
            <a:pPr marL="618051" indent="-457189">
              <a:lnSpc>
                <a:spcPct val="150000"/>
              </a:lnSpc>
              <a:buClr>
                <a:schemeClr val="dk1"/>
              </a:buClr>
              <a:buSzPts val="1700"/>
              <a:buFont typeface="+mj-lt"/>
              <a:buAutoNum type="arabicPeriod"/>
            </a:pPr>
            <a:r>
              <a:rPr lang="en-GB" sz="2267" dirty="0" err="1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Chronogramme</a:t>
            </a:r>
            <a:r>
              <a:rPr lang="en-GB" sz="2267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</a:t>
            </a:r>
            <a:r>
              <a:rPr lang="en-GB" sz="2267" dirty="0" err="1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d’activités</a:t>
            </a:r>
            <a:endParaRPr lang="en-GB" sz="2267" dirty="0">
              <a:solidFill>
                <a:schemeClr val="dk1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  <a:p>
            <a:pPr marL="618051" indent="-457189">
              <a:lnSpc>
                <a:spcPct val="150000"/>
              </a:lnSpc>
              <a:buClr>
                <a:schemeClr val="dk1"/>
              </a:buClr>
              <a:buSzPts val="1700"/>
              <a:buFont typeface="+mj-lt"/>
              <a:buAutoNum type="arabicPeriod"/>
            </a:pPr>
            <a:r>
              <a:rPr lang="en-GB" sz="2267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Processus</a:t>
            </a:r>
          </a:p>
          <a:p>
            <a:pPr marL="618051" indent="-457189">
              <a:lnSpc>
                <a:spcPct val="150000"/>
              </a:lnSpc>
              <a:buClr>
                <a:schemeClr val="dk1"/>
              </a:buClr>
              <a:buSzPts val="1700"/>
              <a:buFont typeface="+mj-lt"/>
              <a:buAutoNum type="arabicPeriod"/>
            </a:pPr>
            <a:r>
              <a:rPr lang="en-GB" sz="2267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Défis</a:t>
            </a:r>
          </a:p>
          <a:p>
            <a:pPr marL="618051" indent="-457189">
              <a:lnSpc>
                <a:spcPct val="150000"/>
              </a:lnSpc>
              <a:buClr>
                <a:schemeClr val="dk1"/>
              </a:buClr>
              <a:buSzPts val="1700"/>
              <a:buFont typeface="+mj-lt"/>
              <a:buAutoNum type="arabicPeriod"/>
            </a:pPr>
            <a:r>
              <a:rPr lang="en-GB" sz="2267" dirty="0" err="1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Leçons</a:t>
            </a:r>
            <a:r>
              <a:rPr lang="en-GB" sz="2267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apprises</a:t>
            </a:r>
          </a:p>
          <a:p>
            <a:pPr marL="618051" indent="-457189">
              <a:lnSpc>
                <a:spcPct val="150000"/>
              </a:lnSpc>
              <a:buClr>
                <a:schemeClr val="dk1"/>
              </a:buClr>
              <a:buSzPts val="1700"/>
              <a:buFont typeface="+mj-lt"/>
              <a:buAutoNum type="arabicPeriod"/>
            </a:pPr>
            <a:r>
              <a:rPr lang="en-GB" sz="2267" dirty="0" err="1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Attentes</a:t>
            </a:r>
            <a:r>
              <a:rPr lang="en-GB" sz="2267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du </a:t>
            </a:r>
            <a:r>
              <a:rPr lang="en-GB" sz="2267" dirty="0" err="1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Niveau</a:t>
            </a:r>
            <a:r>
              <a:rPr lang="en-GB" sz="2267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Central</a:t>
            </a:r>
          </a:p>
          <a:p>
            <a:pPr marL="618051" indent="-457189">
              <a:lnSpc>
                <a:spcPct val="150000"/>
              </a:lnSpc>
              <a:buClr>
                <a:schemeClr val="dk1"/>
              </a:buClr>
              <a:buSzPts val="1700"/>
              <a:buFont typeface="+mj-lt"/>
              <a:buAutoNum type="arabicPeriod"/>
            </a:pPr>
            <a:r>
              <a:rPr lang="en-GB" sz="2267" dirty="0" err="1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Prochaines</a:t>
            </a:r>
            <a:r>
              <a:rPr lang="en-GB" sz="2267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étapes</a:t>
            </a:r>
          </a:p>
          <a:p>
            <a:pPr marL="160862">
              <a:lnSpc>
                <a:spcPct val="150000"/>
              </a:lnSpc>
              <a:buClr>
                <a:schemeClr val="dk1"/>
              </a:buClr>
              <a:buSzPts val="1700"/>
            </a:pPr>
            <a:endParaRPr sz="2267" dirty="0">
              <a:solidFill>
                <a:schemeClr val="dk1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  <a:p>
            <a:pPr marL="609585"/>
            <a:endParaRPr sz="2267" dirty="0">
              <a:solidFill>
                <a:schemeClr val="dk1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CD343FA6-345B-822F-F907-EE5467037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67" y="189186"/>
            <a:ext cx="11391126" cy="647526"/>
          </a:xfrm>
          <a:noFill/>
          <a:ln w="9525" cap="flat">
            <a:solidFill>
              <a:schemeClr val="accent1"/>
            </a:solidFill>
            <a:miter lim="800000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r>
              <a:rPr lang="fr-FR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  <a:t>1. Contexte (1/6): Situation épidémiologique 2012 à S48, 2025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7C5B88E-415B-5402-D942-2CD8D3E44F02}"/>
              </a:ext>
            </a:extLst>
          </p:cNvPr>
          <p:cNvSpPr txBox="1"/>
          <p:nvPr/>
        </p:nvSpPr>
        <p:spPr>
          <a:xfrm>
            <a:off x="440267" y="5611773"/>
            <a:ext cx="113052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verlock"/>
              <a:buChar char="•"/>
            </a:pPr>
            <a:r>
              <a:rPr lang="fr-FR" altLang="fr-FR" sz="1800" dirty="0"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</a:rPr>
              <a:t>Depuis le mois d’août 2010, </a:t>
            </a:r>
            <a:r>
              <a:rPr lang="fr-FR" altLang="fr-FR" sz="1800" dirty="0"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  <a:sym typeface="Overlock"/>
              </a:rPr>
              <a:t>l</a:t>
            </a:r>
            <a:r>
              <a:rPr lang="fr-FR" sz="1800" dirty="0"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  <a:sym typeface="Overlock"/>
              </a:rPr>
              <a:t>a RDC fait face à une résurgence des épidémies de rougeole qui touchant presque toutes les provinces avec des incidences de cas confirmés de plus de 20 cas pour 1 000 000 habitants durant les cinq dernières années;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0947E26F-6477-FD85-87D2-CD0AED0CDE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568842"/>
              </p:ext>
            </p:extLst>
          </p:nvPr>
        </p:nvGraphicFramePr>
        <p:xfrm>
          <a:off x="440267" y="903767"/>
          <a:ext cx="11391135" cy="4641112"/>
        </p:xfrm>
        <a:graphic>
          <a:graphicData uri="http://schemas.openxmlformats.org/drawingml/2006/table">
            <a:tbl>
              <a:tblPr/>
              <a:tblGrid>
                <a:gridCol w="759409">
                  <a:extLst>
                    <a:ext uri="{9D8B030D-6E8A-4147-A177-3AD203B41FA5}">
                      <a16:colId xmlns:a16="http://schemas.microsoft.com/office/drawing/2014/main" val="3825994218"/>
                    </a:ext>
                  </a:extLst>
                </a:gridCol>
                <a:gridCol w="759409">
                  <a:extLst>
                    <a:ext uri="{9D8B030D-6E8A-4147-A177-3AD203B41FA5}">
                      <a16:colId xmlns:a16="http://schemas.microsoft.com/office/drawing/2014/main" val="2722519359"/>
                    </a:ext>
                  </a:extLst>
                </a:gridCol>
                <a:gridCol w="759409">
                  <a:extLst>
                    <a:ext uri="{9D8B030D-6E8A-4147-A177-3AD203B41FA5}">
                      <a16:colId xmlns:a16="http://schemas.microsoft.com/office/drawing/2014/main" val="2790800201"/>
                    </a:ext>
                  </a:extLst>
                </a:gridCol>
                <a:gridCol w="759409">
                  <a:extLst>
                    <a:ext uri="{9D8B030D-6E8A-4147-A177-3AD203B41FA5}">
                      <a16:colId xmlns:a16="http://schemas.microsoft.com/office/drawing/2014/main" val="3623921685"/>
                    </a:ext>
                  </a:extLst>
                </a:gridCol>
                <a:gridCol w="759409">
                  <a:extLst>
                    <a:ext uri="{9D8B030D-6E8A-4147-A177-3AD203B41FA5}">
                      <a16:colId xmlns:a16="http://schemas.microsoft.com/office/drawing/2014/main" val="1551707138"/>
                    </a:ext>
                  </a:extLst>
                </a:gridCol>
                <a:gridCol w="759409">
                  <a:extLst>
                    <a:ext uri="{9D8B030D-6E8A-4147-A177-3AD203B41FA5}">
                      <a16:colId xmlns:a16="http://schemas.microsoft.com/office/drawing/2014/main" val="443015894"/>
                    </a:ext>
                  </a:extLst>
                </a:gridCol>
                <a:gridCol w="759409">
                  <a:extLst>
                    <a:ext uri="{9D8B030D-6E8A-4147-A177-3AD203B41FA5}">
                      <a16:colId xmlns:a16="http://schemas.microsoft.com/office/drawing/2014/main" val="1651543827"/>
                    </a:ext>
                  </a:extLst>
                </a:gridCol>
                <a:gridCol w="759409">
                  <a:extLst>
                    <a:ext uri="{9D8B030D-6E8A-4147-A177-3AD203B41FA5}">
                      <a16:colId xmlns:a16="http://schemas.microsoft.com/office/drawing/2014/main" val="2185643359"/>
                    </a:ext>
                  </a:extLst>
                </a:gridCol>
                <a:gridCol w="759409">
                  <a:extLst>
                    <a:ext uri="{9D8B030D-6E8A-4147-A177-3AD203B41FA5}">
                      <a16:colId xmlns:a16="http://schemas.microsoft.com/office/drawing/2014/main" val="2988559726"/>
                    </a:ext>
                  </a:extLst>
                </a:gridCol>
                <a:gridCol w="759409">
                  <a:extLst>
                    <a:ext uri="{9D8B030D-6E8A-4147-A177-3AD203B41FA5}">
                      <a16:colId xmlns:a16="http://schemas.microsoft.com/office/drawing/2014/main" val="2344451662"/>
                    </a:ext>
                  </a:extLst>
                </a:gridCol>
                <a:gridCol w="759409">
                  <a:extLst>
                    <a:ext uri="{9D8B030D-6E8A-4147-A177-3AD203B41FA5}">
                      <a16:colId xmlns:a16="http://schemas.microsoft.com/office/drawing/2014/main" val="1286011804"/>
                    </a:ext>
                  </a:extLst>
                </a:gridCol>
                <a:gridCol w="759409">
                  <a:extLst>
                    <a:ext uri="{9D8B030D-6E8A-4147-A177-3AD203B41FA5}">
                      <a16:colId xmlns:a16="http://schemas.microsoft.com/office/drawing/2014/main" val="644446920"/>
                    </a:ext>
                  </a:extLst>
                </a:gridCol>
                <a:gridCol w="759409">
                  <a:extLst>
                    <a:ext uri="{9D8B030D-6E8A-4147-A177-3AD203B41FA5}">
                      <a16:colId xmlns:a16="http://schemas.microsoft.com/office/drawing/2014/main" val="2770775197"/>
                    </a:ext>
                  </a:extLst>
                </a:gridCol>
                <a:gridCol w="759409">
                  <a:extLst>
                    <a:ext uri="{9D8B030D-6E8A-4147-A177-3AD203B41FA5}">
                      <a16:colId xmlns:a16="http://schemas.microsoft.com/office/drawing/2014/main" val="3598931784"/>
                    </a:ext>
                  </a:extLst>
                </a:gridCol>
                <a:gridCol w="759409">
                  <a:extLst>
                    <a:ext uri="{9D8B030D-6E8A-4147-A177-3AD203B41FA5}">
                      <a16:colId xmlns:a16="http://schemas.microsoft.com/office/drawing/2014/main" val="255992049"/>
                    </a:ext>
                  </a:extLst>
                </a:gridCol>
              </a:tblGrid>
              <a:tr h="55034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Rubriques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5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2012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5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2013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5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2014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5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2015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5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2016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5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2017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5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2018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5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5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5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2021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5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5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2023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5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5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580575"/>
                  </a:ext>
                </a:extLst>
              </a:tr>
              <a:tr h="5416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CD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Cas (agrégés)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73 794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87 366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33 711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50 889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22 162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45 165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65 098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311 471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80 450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54 471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146 438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311 500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102 539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76 420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6884938"/>
                  </a:ext>
                </a:extLst>
              </a:tr>
              <a:tr h="29034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Décès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2 023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1 393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402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565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278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536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901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6045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1193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768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1 846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5 799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2 231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1 109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0900739"/>
                  </a:ext>
                </a:extLst>
              </a:tr>
              <a:tr h="29034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Létalité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2,70%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1,60%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1,20%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1,10%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1,30%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1,20%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1,30%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1,90%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1,50%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1,40%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1,30%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1,26%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2,20%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1,50%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7087962"/>
                  </a:ext>
                </a:extLst>
              </a:tr>
              <a:tr h="80601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Cas investigués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3 032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2 553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3 133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2 516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2 189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3 319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2 908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5 757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4 429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3 389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6 740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7 655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5994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6 688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7404205"/>
                  </a:ext>
                </a:extLst>
              </a:tr>
              <a:tr h="5416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Cas IgM+ Rougeole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1 191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811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1009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537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406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659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961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2682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1727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1389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2 919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4 242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2564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3 125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200106"/>
                  </a:ext>
                </a:extLst>
              </a:tr>
              <a:tr h="80601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Cas IgM+ Rubéole (**)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460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779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854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442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223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688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291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514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913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582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1 433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619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1" i="0" u="none" strike="noStrike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261**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1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418**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916979"/>
                  </a:ext>
                </a:extLst>
              </a:tr>
              <a:tr h="5416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ZS en épidémie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124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77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97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61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253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133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106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225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316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1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188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CD" sz="1050" b="1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183</a:t>
                      </a:r>
                    </a:p>
                  </a:txBody>
                  <a:tcPr marL="2921" marR="2921" marT="29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864631"/>
                  </a:ext>
                </a:extLst>
              </a:tr>
              <a:tr h="273007">
                <a:tc gridSpan="15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** Le test est réalisé seulement pour les prélèvements négatifs à la rougeole.</a:t>
                      </a:r>
                    </a:p>
                  </a:txBody>
                  <a:tcPr marL="2921" marR="2921" marT="292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30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720524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E5AB3-67A1-9793-4E2D-C085A2C92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re 1">
            <a:extLst>
              <a:ext uri="{FF2B5EF4-FFF2-40B4-BE49-F238E27FC236}">
                <a16:creationId xmlns:a16="http://schemas.microsoft.com/office/drawing/2014/main" id="{E5DAE0EA-E971-AC66-AB50-913ABDECC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67" y="189186"/>
            <a:ext cx="11391126" cy="647526"/>
          </a:xfrm>
          <a:noFill/>
          <a:ln w="9525" cap="flat">
            <a:solidFill>
              <a:schemeClr val="accent1"/>
            </a:solidFill>
            <a:miter lim="800000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r>
              <a:rPr lang="fr-FR" sz="32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  <a:t>1. Contexte (2/6)</a:t>
            </a:r>
          </a:p>
        </p:txBody>
      </p:sp>
      <p:sp>
        <p:nvSpPr>
          <p:cNvPr id="5123" name="Espace réservé du contenu 2">
            <a:extLst>
              <a:ext uri="{FF2B5EF4-FFF2-40B4-BE49-F238E27FC236}">
                <a16:creationId xmlns:a16="http://schemas.microsoft.com/office/drawing/2014/main" id="{03267076-384D-E137-4F75-BBD5D6AA4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267" y="901683"/>
            <a:ext cx="11438347" cy="5898362"/>
          </a:xfrm>
        </p:spPr>
        <p:txBody>
          <a:bodyPr>
            <a:noAutofit/>
          </a:bodyPr>
          <a:lstStyle/>
          <a:p>
            <a:pPr marR="0" lvl="0" algn="just" rtl="0">
              <a:lnSpc>
                <a:spcPct val="17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fr-FR" sz="2000" dirty="0"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  <a:sym typeface="Overlock"/>
              </a:rPr>
              <a:t>Marquées par des épidémies de grandes ampleurs avec des records de cas et décès en 2019 (311 471 cas suspects, 6 045 décès) et 2023 (311 500 cas suspects, 5 799 décès) ;</a:t>
            </a:r>
          </a:p>
          <a:p>
            <a:pPr algn="just">
              <a:lnSpc>
                <a:spcPct val="170000"/>
              </a:lnSpc>
              <a:spcBef>
                <a:spcPts val="2000"/>
              </a:spcBef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fr-FR" sz="2000" dirty="0"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</a:rPr>
              <a:t>En dépit des interventions menées conformément au Plan stratégique d’ élimination de la rougeole 2012-2020  actualisé échéance 2021-2030 (campagne de suivi tous les 3 ans , les ripostes vaccinales dans certaines ZS et PEC des cas de rougeole, </a:t>
            </a:r>
            <a:r>
              <a:rPr lang="fr-FR" sz="2000" dirty="0">
                <a:solidFill>
                  <a:srgbClr val="FF0000"/>
                </a:solidFill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</a:rPr>
              <a:t>Introduction de la seconde dose de VAR dans le calendrier vaccinal entre novembre 2022 et mars 2023 en 2 blocs. </a:t>
            </a:r>
            <a:r>
              <a:rPr lang="fr-FR" sz="2000" dirty="0"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</a:rPr>
              <a:t> </a:t>
            </a:r>
            <a:r>
              <a:rPr lang="fr-FR" sz="2000" dirty="0" err="1"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</a:rPr>
              <a:t>etc</a:t>
            </a:r>
            <a:r>
              <a:rPr lang="fr-FR" sz="2000" dirty="0"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</a:rPr>
              <a:t>), cette notification s’est poursuivie en 2020, 2021, 2022 et 2023</a:t>
            </a:r>
          </a:p>
          <a:p>
            <a:pPr marR="0" lvl="0" algn="just" rtl="0">
              <a:lnSpc>
                <a:spcPct val="17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fr-FR" sz="2000" dirty="0"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</a:rPr>
              <a:t>En outre, durant les cinq dernières années, les analyses de laboratoire réalisées sur certains échantillons négatifs de rougeole révèlent la présence de la circulation de la rubéole dans certaines provinces du pays.</a:t>
            </a:r>
            <a:endParaRPr lang="fr-FR" sz="2000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sz="2000" dirty="0">
              <a:latin typeface="Book Antiqua" panose="02040602050305030304" pitchFamily="18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AB45230A-841E-AF94-6A22-74376F4E3E2A}"/>
              </a:ext>
            </a:extLst>
          </p:cNvPr>
          <p:cNvSpPr txBox="1">
            <a:spLocks/>
          </p:cNvSpPr>
          <p:nvPr/>
        </p:nvSpPr>
        <p:spPr>
          <a:xfrm>
            <a:off x="7840364" y="512949"/>
            <a:ext cx="3991029" cy="5340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fr-FR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dirty="0">
              <a:latin typeface="Book Antiqua" panose="02040602050305030304" pitchFamily="18" charset="0"/>
            </a:endParaRPr>
          </a:p>
        </p:txBody>
      </p:sp>
      <p:sp>
        <p:nvSpPr>
          <p:cNvPr id="3" name="Google Shape;293;g782ed39a13fd13f2_296">
            <a:extLst>
              <a:ext uri="{FF2B5EF4-FFF2-40B4-BE49-F238E27FC236}">
                <a16:creationId xmlns:a16="http://schemas.microsoft.com/office/drawing/2014/main" id="{B65AC201-3FC6-4202-22F3-AFCBC0AB9466}"/>
              </a:ext>
            </a:extLst>
          </p:cNvPr>
          <p:cNvSpPr/>
          <p:nvPr/>
        </p:nvSpPr>
        <p:spPr>
          <a:xfrm>
            <a:off x="54185" y="272241"/>
            <a:ext cx="2356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endParaRPr sz="1867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764382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58D54-4727-20D0-4CE3-6ED66433B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re 1">
            <a:extLst>
              <a:ext uri="{FF2B5EF4-FFF2-40B4-BE49-F238E27FC236}">
                <a16:creationId xmlns:a16="http://schemas.microsoft.com/office/drawing/2014/main" id="{80D94F16-CF57-FC68-AE52-4D34C1C3E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67" y="189186"/>
            <a:ext cx="11391126" cy="479681"/>
          </a:xfrm>
          <a:noFill/>
          <a:ln w="9525" cap="flat">
            <a:solidFill>
              <a:schemeClr val="accent1"/>
            </a:solidFill>
            <a:miter lim="800000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r>
              <a:rPr lang="fr-FR" sz="32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  <a:t>1. Contexte (3/6)</a:t>
            </a:r>
          </a:p>
        </p:txBody>
      </p:sp>
      <p:sp>
        <p:nvSpPr>
          <p:cNvPr id="5123" name="Espace réservé du contenu 2">
            <a:extLst>
              <a:ext uri="{FF2B5EF4-FFF2-40B4-BE49-F238E27FC236}">
                <a16:creationId xmlns:a16="http://schemas.microsoft.com/office/drawing/2014/main" id="{24326EFC-9F9C-082F-BE40-5A4BC4A36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267" y="839898"/>
            <a:ext cx="6595531" cy="5898362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  <a:spcBef>
                <a:spcPts val="2000"/>
              </a:spcBef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fr-FR" sz="2000" dirty="0"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</a:rPr>
              <a:t>Surveillance de la rubéole est réalisée de deux manières : (1) la surveillance basée sur les cas, intégrée à celle de la rougeole, (2) la surveillance du syndrome de la rubéole congénitale (SRC) dans les sites sentinelles introduite dans le système depuis 2019 (9). </a:t>
            </a:r>
          </a:p>
          <a:p>
            <a:pPr marR="0" lvl="0" algn="just" rtl="0">
              <a:lnSpc>
                <a:spcPct val="17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fr-FR" sz="2000" dirty="0"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</a:rPr>
              <a:t>On note une augmentation de cas de rubéole de 514 cas positif en 2019 à 1 433 en 2022; 619 cas en 2023 et 100 cas suspects de syndrome de rubéole congénitale (SRC) dont un (01) testé positif dans les 9 sites de surveillance sentinelle, </a:t>
            </a:r>
            <a:r>
              <a:rPr lang="fr-FR" sz="2000" dirty="0">
                <a:solidFill>
                  <a:srgbClr val="FF0000"/>
                </a:solidFill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</a:rPr>
              <a:t>(Fardeau de la maladie) </a:t>
            </a:r>
            <a:endParaRPr lang="fr-FR" sz="2000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sz="2000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sz="2000" dirty="0">
              <a:latin typeface="Book Antiqua" panose="02040602050305030304" pitchFamily="18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A2DCAFBC-C123-BC27-7782-44B5E1DB8FA1}"/>
              </a:ext>
            </a:extLst>
          </p:cNvPr>
          <p:cNvSpPr txBox="1">
            <a:spLocks/>
          </p:cNvSpPr>
          <p:nvPr/>
        </p:nvSpPr>
        <p:spPr>
          <a:xfrm>
            <a:off x="7840364" y="512949"/>
            <a:ext cx="3991029" cy="5340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fr-FR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dirty="0">
              <a:latin typeface="Book Antiqua" panose="02040602050305030304" pitchFamily="18" charset="0"/>
            </a:endParaRPr>
          </a:p>
        </p:txBody>
      </p:sp>
      <p:sp>
        <p:nvSpPr>
          <p:cNvPr id="3" name="Google Shape;293;g782ed39a13fd13f2_296">
            <a:extLst>
              <a:ext uri="{FF2B5EF4-FFF2-40B4-BE49-F238E27FC236}">
                <a16:creationId xmlns:a16="http://schemas.microsoft.com/office/drawing/2014/main" id="{C0548C10-111F-7591-9E07-23F5C601A0F1}"/>
              </a:ext>
            </a:extLst>
          </p:cNvPr>
          <p:cNvSpPr/>
          <p:nvPr/>
        </p:nvSpPr>
        <p:spPr>
          <a:xfrm>
            <a:off x="54185" y="272241"/>
            <a:ext cx="2356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endParaRPr sz="1867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1349DF84-6E3D-DDBE-1D2B-80BD731EC4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0200" y="1017432"/>
            <a:ext cx="3881193" cy="3334436"/>
          </a:xfrm>
          <a:prstGeom prst="rect">
            <a:avLst/>
          </a:prstGeom>
          <a:noFill/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8386D3AE-C529-BF7C-17FA-F590C85966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4054" y="4377269"/>
            <a:ext cx="4346146" cy="2489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9216CF4-EA2C-EB68-6DE8-E304451BB777}"/>
              </a:ext>
            </a:extLst>
          </p:cNvPr>
          <p:cNvSpPr txBox="1"/>
          <p:nvPr/>
        </p:nvSpPr>
        <p:spPr>
          <a:xfrm>
            <a:off x="7035798" y="656149"/>
            <a:ext cx="23706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Book Antiqua" panose="02040602050305030304" pitchFamily="18" charset="0"/>
              </a:rPr>
              <a:t>Localisation site sentinelle (SRC)</a:t>
            </a:r>
          </a:p>
        </p:txBody>
      </p:sp>
    </p:spTree>
    <p:extLst>
      <p:ext uri="{BB962C8B-B14F-4D97-AF65-F5344CB8AC3E}">
        <p14:creationId xmlns:p14="http://schemas.microsoft.com/office/powerpoint/2010/main" val="1437485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5B637-477E-A251-6F74-DFF44BB8E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re 1">
            <a:extLst>
              <a:ext uri="{FF2B5EF4-FFF2-40B4-BE49-F238E27FC236}">
                <a16:creationId xmlns:a16="http://schemas.microsoft.com/office/drawing/2014/main" id="{6969B380-8C79-BBF1-6B8F-32DE7A11A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67" y="189186"/>
            <a:ext cx="11391126" cy="647526"/>
          </a:xfrm>
          <a:noFill/>
          <a:ln w="9525" cap="flat">
            <a:solidFill>
              <a:schemeClr val="accent1"/>
            </a:solidFill>
            <a:miter lim="800000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r>
              <a:rPr lang="fr-FR" sz="32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  <a:t>1. Contexte (4/6)</a:t>
            </a:r>
          </a:p>
        </p:txBody>
      </p:sp>
      <p:sp>
        <p:nvSpPr>
          <p:cNvPr id="5123" name="Espace réservé du contenu 2">
            <a:extLst>
              <a:ext uri="{FF2B5EF4-FFF2-40B4-BE49-F238E27FC236}">
                <a16:creationId xmlns:a16="http://schemas.microsoft.com/office/drawing/2014/main" id="{C613F0DF-1ECD-7F92-CD9B-C7038193A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267" y="901683"/>
            <a:ext cx="11391126" cy="5767131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  <a:spcBef>
                <a:spcPts val="2000"/>
              </a:spcBef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fr-FR" sz="2000" dirty="0"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  <a:sym typeface="Overlock"/>
              </a:rPr>
              <a:t>Condition éligibilité initiale à l’introduction (CV 80% dans les ZS et maintenu pendant 3 années consécutives </a:t>
            </a:r>
            <a:r>
              <a:rPr lang="fr-FR" sz="2000" dirty="0">
                <a:solidFill>
                  <a:srgbClr val="FF0000"/>
                </a:solidFill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  <a:sym typeface="Overlock"/>
              </a:rPr>
              <a:t>( non atteint);</a:t>
            </a:r>
          </a:p>
          <a:p>
            <a:pPr algn="just">
              <a:lnSpc>
                <a:spcPct val="170000"/>
              </a:lnSpc>
              <a:spcBef>
                <a:spcPts val="2000"/>
              </a:spcBef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fr-FR" sz="2000" dirty="0"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  <a:sym typeface="Overlock"/>
              </a:rPr>
              <a:t>Réalisation d’une campagne de suivi contre la rougeole en 3 blocs des provinces en 2023 et mars 2024 , où </a:t>
            </a:r>
            <a:r>
              <a:rPr lang="fr-FR" sz="2000" b="1" dirty="0"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  <a:sym typeface="Overlock"/>
              </a:rPr>
              <a:t>20 949 774 enfants</a:t>
            </a:r>
            <a:r>
              <a:rPr lang="fr-FR" sz="2000" dirty="0"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  <a:sym typeface="Overlock"/>
              </a:rPr>
              <a:t> de 6 à 59 mois ont été vaccinés sur les </a:t>
            </a:r>
            <a:r>
              <a:rPr lang="fr-FR" sz="2000" b="1" dirty="0"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  <a:sym typeface="Overlock"/>
              </a:rPr>
              <a:t>20 678 454 </a:t>
            </a:r>
            <a:r>
              <a:rPr lang="fr-FR" sz="2000" dirty="0"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  <a:sym typeface="Overlock"/>
              </a:rPr>
              <a:t>attendus soit une CV </a:t>
            </a:r>
            <a:r>
              <a:rPr lang="fr-FR" sz="2000" b="1" dirty="0"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  <a:sym typeface="Overlock"/>
              </a:rPr>
              <a:t>101,31%</a:t>
            </a:r>
          </a:p>
          <a:p>
            <a:pPr algn="just">
              <a:lnSpc>
                <a:spcPct val="170000"/>
              </a:lnSpc>
              <a:spcBef>
                <a:spcPts val="2000"/>
              </a:spcBef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fr-FR" sz="2000" b="1" dirty="0"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  <a:sym typeface="Overlock"/>
              </a:rPr>
              <a:t>Réalisation d’une enquête post campagne dans les 26 provinces</a:t>
            </a:r>
          </a:p>
          <a:p>
            <a:pPr>
              <a:lnSpc>
                <a:spcPct val="170000"/>
              </a:lnSpc>
            </a:pPr>
            <a:endParaRPr lang="fr-FR" sz="2000" b="1" dirty="0">
              <a:latin typeface="Book Antiqua" panose="02040602050305030304" pitchFamily="18" charset="0"/>
              <a:ea typeface="Arial Unicode MS" panose="020B0604020202020204" pitchFamily="34" charset="-128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fr-FR" sz="2000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sz="2000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sz="2000" dirty="0">
              <a:latin typeface="Book Antiqua" panose="02040602050305030304" pitchFamily="18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4AA11D7C-666E-816A-3379-891458D822DE}"/>
              </a:ext>
            </a:extLst>
          </p:cNvPr>
          <p:cNvSpPr txBox="1">
            <a:spLocks/>
          </p:cNvSpPr>
          <p:nvPr/>
        </p:nvSpPr>
        <p:spPr>
          <a:xfrm>
            <a:off x="7806052" y="1144073"/>
            <a:ext cx="3991029" cy="5340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fr-FR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dirty="0">
              <a:latin typeface="Book Antiqua" panose="02040602050305030304" pitchFamily="18" charset="0"/>
            </a:endParaRPr>
          </a:p>
        </p:txBody>
      </p:sp>
      <p:sp>
        <p:nvSpPr>
          <p:cNvPr id="3" name="Google Shape;293;g782ed39a13fd13f2_296">
            <a:extLst>
              <a:ext uri="{FF2B5EF4-FFF2-40B4-BE49-F238E27FC236}">
                <a16:creationId xmlns:a16="http://schemas.microsoft.com/office/drawing/2014/main" id="{33DD7DD5-55F4-5377-E946-6D48FB3A1A2B}"/>
              </a:ext>
            </a:extLst>
          </p:cNvPr>
          <p:cNvSpPr/>
          <p:nvPr/>
        </p:nvSpPr>
        <p:spPr>
          <a:xfrm>
            <a:off x="54185" y="272241"/>
            <a:ext cx="2356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endParaRPr sz="1867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718051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P6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780" y="1142999"/>
            <a:ext cx="11631792" cy="3419061"/>
          </a:xfrm>
          <a:prstGeom prst="rect">
            <a:avLst/>
          </a:prstGeom>
        </p:spPr>
      </p:pic>
      <p:sp>
        <p:nvSpPr>
          <p:cNvPr id="9" name="TextBox 10"/>
          <p:cNvSpPr txBox="1"/>
          <p:nvPr/>
        </p:nvSpPr>
        <p:spPr>
          <a:xfrm>
            <a:off x="240406" y="4777154"/>
            <a:ext cx="11800850" cy="1795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sz="1600" dirty="0">
                <a:latin typeface="Book Antiqua" panose="02040602050305030304" pitchFamily="18" charset="0"/>
              </a:rPr>
              <a:t> CV estimée  à  </a:t>
            </a:r>
            <a:r>
              <a:rPr lang="fr-FR" sz="1600" b="1" dirty="0">
                <a:latin typeface="Book Antiqua" panose="02040602050305030304" pitchFamily="18" charset="0"/>
              </a:rPr>
              <a:t>94,60% </a:t>
            </a:r>
            <a:r>
              <a:rPr lang="fr-FR" sz="1600" dirty="0">
                <a:latin typeface="Book Antiqua" panose="02040602050305030304" pitchFamily="18" charset="0"/>
              </a:rPr>
              <a:t>(cartes ou l’histoire avec un taux de possession de la carte de vaccination de 12,88%) ;</a:t>
            </a:r>
          </a:p>
          <a:p>
            <a:pPr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sz="1600" dirty="0">
                <a:latin typeface="Book Antiqua" panose="02040602050305030304" pitchFamily="18" charset="0"/>
              </a:rPr>
              <a:t> Avec 23/26 provinces avec CV au moins 95 %</a:t>
            </a:r>
            <a:r>
              <a:rPr lang="fr-FR" sz="1600" dirty="0">
                <a:solidFill>
                  <a:schemeClr val="tx1"/>
                </a:solidFill>
                <a:latin typeface="Overlock"/>
                <a:ea typeface="Overlock"/>
                <a:cs typeface="Overlock"/>
                <a:sym typeface="Overlock"/>
              </a:rPr>
              <a:t>u moins 80% :</a:t>
            </a:r>
          </a:p>
          <a:p>
            <a:pPr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sz="1600" dirty="0">
                <a:latin typeface="Book Antiqua" panose="02040602050305030304" pitchFamily="18" charset="0"/>
              </a:rPr>
              <a:t> Atteinte de l’objectif de 95% de couverture vaccinale dans 14 provinces  avec CV variant de  99,10% et 95,59%</a:t>
            </a:r>
          </a:p>
          <a:p>
            <a:pPr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sz="1600" dirty="0">
                <a:latin typeface="Book Antiqua" panose="02040602050305030304" pitchFamily="18" charset="0"/>
              </a:rPr>
              <a:t> 09 provinces avaient leurs couvertures vaccinales entre 94% et 80% ;</a:t>
            </a:r>
          </a:p>
          <a:p>
            <a:pPr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sz="1600" dirty="0">
                <a:latin typeface="Book Antiqua" panose="02040602050305030304" pitchFamily="18" charset="0"/>
              </a:rPr>
              <a:t> Trois provinces avec CV (&lt;80%): Lualaba (65,61%), de l’Ituri (75,27%) et Mongala (78,03%). </a:t>
            </a:r>
          </a:p>
          <a:p>
            <a:pPr algn="just">
              <a:spcBef>
                <a:spcPts val="400"/>
              </a:spcBef>
            </a:pPr>
            <a:r>
              <a:rPr lang="fr-FR" b="1" dirty="0">
                <a:solidFill>
                  <a:srgbClr val="0070C0"/>
                </a:solidFill>
                <a:latin typeface="Overlock"/>
                <a:sym typeface="Overlock"/>
              </a:rPr>
              <a:t>Ce qui rend le pays éligible à l’introduction  u vaccin RR.</a:t>
            </a:r>
            <a:endParaRPr lang="fr-FR" b="1" dirty="0">
              <a:latin typeface="Book Antiqua" panose="02040602050305030304" pitchFamily="18" charset="0"/>
            </a:endParaRPr>
          </a:p>
        </p:txBody>
      </p:sp>
      <p:sp>
        <p:nvSpPr>
          <p:cNvPr id="6" name="Titre 1"/>
          <p:cNvSpPr txBox="1"/>
          <p:nvPr/>
        </p:nvSpPr>
        <p:spPr>
          <a:xfrm>
            <a:off x="377780" y="49696"/>
            <a:ext cx="11663476" cy="637177"/>
          </a:xfrm>
          <a:prstGeom prst="rect">
            <a:avLst/>
          </a:prstGeom>
          <a:ln>
            <a:solidFill>
              <a:schemeClr val="accent1"/>
            </a:solidFill>
            <a:miter lim="800000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altLang="fr-FR" sz="2800" b="1" dirty="0">
              <a:solidFill>
                <a:srgbClr val="0000FF"/>
              </a:solidFill>
              <a:latin typeface="Book Antiqua" panose="02040602050305030304" pitchFamily="18" charset="0"/>
              <a:ea typeface="MS PGothic" panose="020B0600070205080204" pitchFamily="34" charset="-128"/>
            </a:endParaRPr>
          </a:p>
          <a:p>
            <a:r>
              <a:rPr 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  <a:t>1. Contexte: Enquête Post-campagne de suivi dans les 26 provinces (5/6)</a:t>
            </a:r>
            <a:br>
              <a:rPr 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</a:br>
            <a:endParaRPr lang="fr-FR" altLang="fr-FR" sz="2800" b="1" dirty="0">
              <a:solidFill>
                <a:srgbClr val="0000FF"/>
              </a:solidFill>
              <a:latin typeface="Book Antiqua" panose="02040602050305030304" pitchFamily="18" charset="0"/>
              <a:ea typeface="MS PGothic" panose="020B0600070205080204" pitchFamily="34" charset="-128"/>
            </a:endParaRPr>
          </a:p>
        </p:txBody>
      </p:sp>
      <p:sp>
        <p:nvSpPr>
          <p:cNvPr id="2" name="Google Shape;293;g782ed39a13fd13f2_296">
            <a:extLst>
              <a:ext uri="{FF2B5EF4-FFF2-40B4-BE49-F238E27FC236}">
                <a16:creationId xmlns:a16="http://schemas.microsoft.com/office/drawing/2014/main" id="{EB7E1D64-28EA-82E2-2A8D-921A0DCF5D21}"/>
              </a:ext>
            </a:extLst>
          </p:cNvPr>
          <p:cNvSpPr/>
          <p:nvPr/>
        </p:nvSpPr>
        <p:spPr>
          <a:xfrm>
            <a:off x="54185" y="156330"/>
            <a:ext cx="2356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endParaRPr sz="1867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784955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B1BF4-7B0D-6276-274D-0947F00D0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re 1">
            <a:extLst>
              <a:ext uri="{FF2B5EF4-FFF2-40B4-BE49-F238E27FC236}">
                <a16:creationId xmlns:a16="http://schemas.microsoft.com/office/drawing/2014/main" id="{67E1A00A-83B4-DB43-18D4-064A2C4C9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67" y="189186"/>
            <a:ext cx="11391126" cy="647526"/>
          </a:xfrm>
          <a:noFill/>
          <a:ln w="9525" cap="flat">
            <a:solidFill>
              <a:schemeClr val="accent1"/>
            </a:solidFill>
            <a:miter lim="800000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r>
              <a:rPr lang="fr-FR" sz="32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  <a:t>1. Contexte (6/6)</a:t>
            </a:r>
          </a:p>
        </p:txBody>
      </p:sp>
      <p:sp>
        <p:nvSpPr>
          <p:cNvPr id="5123" name="Espace réservé du contenu 2">
            <a:extLst>
              <a:ext uri="{FF2B5EF4-FFF2-40B4-BE49-F238E27FC236}">
                <a16:creationId xmlns:a16="http://schemas.microsoft.com/office/drawing/2014/main" id="{55CE5C31-BDCF-BD85-D50E-597CF01BA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267" y="991673"/>
            <a:ext cx="11391126" cy="5340439"/>
          </a:xfrm>
        </p:spPr>
        <p:txBody>
          <a:bodyPr>
            <a:normAutofit fontScale="92500" lnSpcReduction="20000"/>
          </a:bodyPr>
          <a:lstStyle/>
          <a:p>
            <a:pPr marL="342900" algn="just">
              <a:lnSpc>
                <a:spcPct val="150000"/>
              </a:lnSpc>
              <a:spcBef>
                <a:spcPts val="2000"/>
              </a:spcBef>
              <a:buSzPts val="2000"/>
              <a:buFont typeface="Arial" panose="020B0604020202020204" pitchFamily="34" charset="0"/>
              <a:buChar char="•"/>
            </a:pPr>
            <a:r>
              <a:rPr lang="fr-CD" sz="2400" dirty="0"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  <a:sym typeface="Overlock"/>
              </a:rPr>
              <a:t>Tenant compte de ce contexte, </a:t>
            </a:r>
            <a:r>
              <a:rPr lang="fr-FR" sz="2400" dirty="0"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</a:rPr>
              <a:t>Cela motive l’introduction du vaccin combiné contre la rougeole et la rubéole (RR) en RDC avec l’appui de </a:t>
            </a:r>
            <a:r>
              <a:rPr lang="fr-FR" sz="2400" dirty="0" err="1"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</a:rPr>
              <a:t>Gavi</a:t>
            </a:r>
            <a:r>
              <a:rPr lang="fr-FR" sz="2400" dirty="0"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</a:rPr>
              <a:t> et d’autres partenaires </a:t>
            </a:r>
            <a:r>
              <a:rPr lang="fr-CD" sz="2400" dirty="0"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  <a:sym typeface="Overlock"/>
              </a:rPr>
              <a:t>:</a:t>
            </a:r>
          </a:p>
          <a:p>
            <a:pPr marL="800100" lvl="1" algn="just">
              <a:lnSpc>
                <a:spcPct val="150000"/>
              </a:lnSpc>
              <a:spcBef>
                <a:spcPts val="2000"/>
              </a:spcBef>
              <a:buSzPts val="2000"/>
              <a:buFont typeface="Courier New" panose="02070309020205020404" pitchFamily="49" charset="0"/>
              <a:buChar char="o"/>
            </a:pPr>
            <a:r>
              <a:rPr lang="fr-CD" sz="2467" dirty="0"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  <a:sym typeface="Overlock"/>
              </a:rPr>
              <a:t>Le GTCV a émis l’avis favorable pour l’introduction du vaccin contre RR entre 2025 et 2026, </a:t>
            </a:r>
          </a:p>
          <a:p>
            <a:pPr marL="800100" lvl="1" algn="just">
              <a:lnSpc>
                <a:spcPct val="150000"/>
              </a:lnSpc>
              <a:spcBef>
                <a:spcPts val="2000"/>
              </a:spcBef>
              <a:buSzPts val="2000"/>
              <a:buFont typeface="Courier New" panose="02070309020205020404" pitchFamily="49" charset="0"/>
              <a:buChar char="o"/>
            </a:pPr>
            <a:r>
              <a:rPr lang="fr-CD" sz="2400" dirty="0"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  <a:sym typeface="Overlock"/>
              </a:rPr>
              <a:t>Avis validé par le CCIA stratégique le 24/03/2024 ;</a:t>
            </a:r>
          </a:p>
          <a:p>
            <a:pPr marL="800100" lvl="1" algn="just">
              <a:lnSpc>
                <a:spcPct val="150000"/>
              </a:lnSpc>
              <a:spcBef>
                <a:spcPts val="2000"/>
              </a:spcBef>
              <a:buSzPts val="2000"/>
              <a:buFont typeface="Courier New" panose="02070309020205020404" pitchFamily="49" charset="0"/>
              <a:buChar char="o"/>
            </a:pPr>
            <a:r>
              <a:rPr lang="fr-CD" sz="2400" dirty="0"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  <a:sym typeface="Overlock"/>
              </a:rPr>
              <a:t>Proposition d’introduction du vaccin RR soumise à </a:t>
            </a:r>
            <a:r>
              <a:rPr lang="fr-CD" sz="2400" dirty="0" err="1"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  <a:sym typeface="Overlock"/>
              </a:rPr>
              <a:t>Gavi</a:t>
            </a:r>
            <a:r>
              <a:rPr lang="fr-CD" sz="2400" dirty="0">
                <a:latin typeface="Book Antiqua" panose="02040602050305030304" pitchFamily="18" charset="0"/>
                <a:ea typeface="Arial Unicode MS" panose="020B0604020202020204" pitchFamily="34" charset="-128"/>
                <a:cs typeface="Times New Roman" pitchFamily="18" charset="0"/>
                <a:sym typeface="Overlock"/>
              </a:rPr>
              <a:t> en juin 2024 a été acceptée en juillet 2024 et la lettre d’approbation reçue au pays en septembre 2024 après transmission à GAVI des documents ayant intégré les recommandations du Comité d’Examen Indépendant (CEI )</a:t>
            </a:r>
          </a:p>
          <a:p>
            <a:pPr>
              <a:lnSpc>
                <a:spcPct val="150000"/>
              </a:lnSpc>
            </a:pPr>
            <a:endParaRPr lang="fr-FR" sz="2400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sz="2400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sz="2400" dirty="0">
              <a:latin typeface="Book Antiqua" panose="02040602050305030304" pitchFamily="18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FA4CD053-39F2-55A8-1A1F-03ED8DE0A688}"/>
              </a:ext>
            </a:extLst>
          </p:cNvPr>
          <p:cNvSpPr txBox="1">
            <a:spLocks/>
          </p:cNvSpPr>
          <p:nvPr/>
        </p:nvSpPr>
        <p:spPr>
          <a:xfrm>
            <a:off x="7806052" y="1144073"/>
            <a:ext cx="3991029" cy="5340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fr-FR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dirty="0">
              <a:latin typeface="Book Antiqua" panose="02040602050305030304" pitchFamily="18" charset="0"/>
            </a:endParaRPr>
          </a:p>
        </p:txBody>
      </p:sp>
      <p:sp>
        <p:nvSpPr>
          <p:cNvPr id="3" name="Google Shape;293;g782ed39a13fd13f2_296">
            <a:extLst>
              <a:ext uri="{FF2B5EF4-FFF2-40B4-BE49-F238E27FC236}">
                <a16:creationId xmlns:a16="http://schemas.microsoft.com/office/drawing/2014/main" id="{04E07A8B-54E6-B2B9-2173-84D53DF6D966}"/>
              </a:ext>
            </a:extLst>
          </p:cNvPr>
          <p:cNvSpPr/>
          <p:nvPr/>
        </p:nvSpPr>
        <p:spPr>
          <a:xfrm>
            <a:off x="54185" y="272241"/>
            <a:ext cx="2356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endParaRPr sz="1867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367809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>
          <a:extLst>
            <a:ext uri="{FF2B5EF4-FFF2-40B4-BE49-F238E27FC236}">
              <a16:creationId xmlns:a16="http://schemas.microsoft.com/office/drawing/2014/main" id="{B051C956-4913-5676-F81B-975B5323B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">
            <a:extLst>
              <a:ext uri="{FF2B5EF4-FFF2-40B4-BE49-F238E27FC236}">
                <a16:creationId xmlns:a16="http://schemas.microsoft.com/office/drawing/2014/main" id="{C292081C-EC2E-E80B-EBCB-AB390568464B}"/>
              </a:ext>
            </a:extLst>
          </p:cNvPr>
          <p:cNvSpPr txBox="1"/>
          <p:nvPr/>
        </p:nvSpPr>
        <p:spPr>
          <a:xfrm>
            <a:off x="289786" y="765362"/>
            <a:ext cx="5015994" cy="5980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 rtl="0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2000"/>
            </a:pPr>
            <a:r>
              <a:rPr lang="fr-FR" sz="1800" dirty="0"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1. Campagne de rattrapage ciblant les enfants âgés de 6 mois à 14 ans par bloc des provinces (46% de la population totale) ;  </a:t>
            </a:r>
            <a:r>
              <a:rPr lang="fr-FR" sz="1800" b="1" dirty="0"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Cible pays :  62,308,702 enfants</a:t>
            </a:r>
          </a:p>
          <a:p>
            <a:pPr lvl="0" algn="l" rtl="0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2000"/>
            </a:pPr>
            <a:r>
              <a:rPr lang="fr-FR" sz="1800" dirty="0"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2. Vaccination de routine de 4,672,989 enfants pour la première année (administration en deux doses) : 1</a:t>
            </a:r>
            <a:r>
              <a:rPr lang="fr-FR" sz="1800" baseline="30000" dirty="0"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ère</a:t>
            </a:r>
            <a:r>
              <a:rPr lang="fr-FR" sz="1800" dirty="0"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  dose à 9 mois et 2</a:t>
            </a:r>
            <a:r>
              <a:rPr lang="fr-FR" sz="1800" baseline="30000" dirty="0"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ème</a:t>
            </a:r>
            <a:r>
              <a:rPr lang="fr-FR" sz="1800" dirty="0"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  dose à 15 mois.</a:t>
            </a:r>
          </a:p>
          <a:p>
            <a:pPr>
              <a:lnSpc>
                <a:spcPct val="150000"/>
              </a:lnSpc>
              <a:spcBef>
                <a:spcPts val="1500"/>
              </a:spcBef>
              <a:buSzPts val="2000"/>
            </a:pPr>
            <a:r>
              <a:rPr lang="fr-FR" sz="1800" b="1" i="0" u="none" strike="noStrike" cap="none" dirty="0">
                <a:solidFill>
                  <a:srgbClr val="0070C0"/>
                </a:solidFill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NB:</a:t>
            </a:r>
            <a:r>
              <a:rPr lang="fr-FR" sz="1800" b="1" dirty="0">
                <a:solidFill>
                  <a:srgbClr val="0070C0"/>
                </a:solidFill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 </a:t>
            </a:r>
            <a:r>
              <a:rPr lang="fr-FR" sz="1800" dirty="0"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* </a:t>
            </a:r>
            <a:r>
              <a:rPr lang="fr-FR" sz="1800" dirty="0">
                <a:latin typeface="Arial Narrow"/>
                <a:ea typeface="Arial Narrow"/>
                <a:cs typeface="Arial Narrow"/>
                <a:sym typeface="Arial Narrow"/>
              </a:rPr>
              <a:t>. </a:t>
            </a:r>
            <a:r>
              <a:rPr lang="fr-FR" sz="1800" b="1" dirty="0">
                <a:solidFill>
                  <a:srgbClr val="0070C0"/>
                </a:solidFill>
                <a:latin typeface="Book Antiqua" panose="02040602050305030304" pitchFamily="18" charset="0"/>
                <a:sym typeface="Arial Narrow"/>
              </a:rPr>
              <a:t>Pour des raisons logistiques et le meilleur suivi des préparatifs, le processus introduction sera mis en œuvre en trois blocs de provinces. </a:t>
            </a:r>
            <a:r>
              <a:rPr lang="fr-FR" sz="1800" b="1" dirty="0">
                <a:solidFill>
                  <a:srgbClr val="FF0000"/>
                </a:solidFill>
                <a:latin typeface="Book Antiqua" panose="02040602050305030304" pitchFamily="18" charset="0"/>
                <a:sym typeface="Arial Narrow"/>
              </a:rPr>
              <a:t>(</a:t>
            </a:r>
            <a:r>
              <a:rPr lang="fr-FR" sz="1800" b="1" dirty="0">
                <a:solidFill>
                  <a:srgbClr val="FF0000"/>
                </a:solidFill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Analyse de risque 2024)</a:t>
            </a:r>
          </a:p>
          <a:p>
            <a:pPr>
              <a:lnSpc>
                <a:spcPct val="150000"/>
              </a:lnSpc>
              <a:spcBef>
                <a:spcPts val="1500"/>
              </a:spcBef>
              <a:buSzPts val="2000"/>
            </a:pPr>
            <a:endParaRPr sz="1800" b="1" i="0" u="none" strike="noStrike" cap="none" dirty="0">
              <a:solidFill>
                <a:srgbClr val="0070C0"/>
              </a:solidFill>
              <a:latin typeface="Book Antiqua" panose="02040602050305030304" pitchFamily="18" charset="0"/>
              <a:ea typeface="Overlock"/>
              <a:cs typeface="Overlock"/>
              <a:sym typeface="Overlock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4962C20-52FF-F57D-C5AA-38B31CE9468A}"/>
              </a:ext>
            </a:extLst>
          </p:cNvPr>
          <p:cNvSpPr txBox="1">
            <a:spLocks/>
          </p:cNvSpPr>
          <p:nvPr/>
        </p:nvSpPr>
        <p:spPr>
          <a:xfrm>
            <a:off x="406401" y="87584"/>
            <a:ext cx="11480800" cy="655200"/>
          </a:xfrm>
          <a:prstGeom prst="rect">
            <a:avLst/>
          </a:prstGeom>
          <a:noFill/>
          <a:ln w="9525" cap="flat">
            <a:solidFill>
              <a:schemeClr val="accent1"/>
            </a:solidFill>
            <a:miter lim="800000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  <a:sym typeface="Overlock"/>
              </a:rPr>
              <a:t>2. Approche introductive</a:t>
            </a:r>
            <a:endParaRPr lang="fr-FR" sz="2800" b="1" dirty="0">
              <a:solidFill>
                <a:srgbClr val="0000FF"/>
              </a:solidFill>
              <a:latin typeface="Book Antiqua" panose="02040602050305030304" pitchFamily="18" charset="0"/>
              <a:ea typeface="MS PGothic" panose="020B0600070205080204" pitchFamily="34" charset="-128"/>
            </a:endParaRPr>
          </a:p>
        </p:txBody>
      </p:sp>
      <p:sp>
        <p:nvSpPr>
          <p:cNvPr id="5" name="Google Shape;293;g782ed39a13fd13f2_296">
            <a:extLst>
              <a:ext uri="{FF2B5EF4-FFF2-40B4-BE49-F238E27FC236}">
                <a16:creationId xmlns:a16="http://schemas.microsoft.com/office/drawing/2014/main" id="{1098382E-6C99-973A-5231-40C41D3840A0}"/>
              </a:ext>
            </a:extLst>
          </p:cNvPr>
          <p:cNvSpPr/>
          <p:nvPr/>
        </p:nvSpPr>
        <p:spPr>
          <a:xfrm>
            <a:off x="54185" y="148062"/>
            <a:ext cx="2356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endParaRPr sz="1867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" name="Google Shape;213;p7">
            <a:extLst>
              <a:ext uri="{FF2B5EF4-FFF2-40B4-BE49-F238E27FC236}">
                <a16:creationId xmlns:a16="http://schemas.microsoft.com/office/drawing/2014/main" id="{47B371AA-49F5-AFE3-0E56-DEF0CFD0D9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86222" y="798167"/>
            <a:ext cx="5000979" cy="369146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4;p7">
            <a:extLst>
              <a:ext uri="{FF2B5EF4-FFF2-40B4-BE49-F238E27FC236}">
                <a16:creationId xmlns:a16="http://schemas.microsoft.com/office/drawing/2014/main" id="{7F83C600-A89A-8334-5554-B064D6C2CE88}"/>
              </a:ext>
            </a:extLst>
          </p:cNvPr>
          <p:cNvSpPr txBox="1"/>
          <p:nvPr/>
        </p:nvSpPr>
        <p:spPr>
          <a:xfrm>
            <a:off x="5305779" y="4481680"/>
            <a:ext cx="6596436" cy="229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Wingdings" panose="05000000000000000000" pitchFamily="2" charset="2"/>
              <a:buChar char="v"/>
            </a:pPr>
            <a:r>
              <a:rPr lang="fr-FR" sz="1600" b="1" i="0" u="none" strike="noStrike" cap="none" dirty="0">
                <a:solidFill>
                  <a:srgbClr val="0070C0"/>
                </a:solidFill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Bloc 1 (Sept-Octobre 2025)</a:t>
            </a:r>
            <a:r>
              <a:rPr lang="fr-FR" sz="1600" b="0" i="0" u="none" strike="noStrike" cap="none" dirty="0">
                <a:solidFill>
                  <a:srgbClr val="0070C0"/>
                </a:solidFill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 </a:t>
            </a:r>
            <a:r>
              <a:rPr lang="fr-FR" sz="1600" b="0" i="0" u="none" strike="noStrike" cap="none" dirty="0">
                <a:solidFill>
                  <a:schemeClr val="dk1"/>
                </a:solidFill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: Equateur, </a:t>
            </a:r>
            <a:r>
              <a:rPr lang="fr-FR" sz="1600" b="0" i="0" u="none" strike="noStrike" cap="none" dirty="0" err="1">
                <a:solidFill>
                  <a:schemeClr val="dk1"/>
                </a:solidFill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Tshopo</a:t>
            </a:r>
            <a:r>
              <a:rPr lang="fr-FR" sz="1600" b="0" i="0" u="none" strike="noStrike" cap="none" dirty="0">
                <a:solidFill>
                  <a:schemeClr val="dk1"/>
                </a:solidFill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, Bas Uélé, Haut Uélé, Ituri, Mongala, Nord Ubangi, Sud Ubangi et </a:t>
            </a:r>
            <a:r>
              <a:rPr lang="fr-FR" sz="1600" b="0" i="0" u="none" strike="noStrike" cap="none" dirty="0" err="1">
                <a:solidFill>
                  <a:schemeClr val="dk1"/>
                </a:solidFill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Tshuapa</a:t>
            </a:r>
            <a:r>
              <a:rPr lang="fr-FR" sz="1600" b="0" i="0" u="none" strike="noStrike" cap="none" dirty="0">
                <a:solidFill>
                  <a:schemeClr val="dk1"/>
                </a:solidFill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,</a:t>
            </a:r>
            <a:endParaRPr lang="fr-FR" dirty="0">
              <a:latin typeface="Book Antiqua" panose="02040602050305030304" pitchFamily="18" charset="0"/>
              <a:ea typeface="Overlock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Wingdings" panose="05000000000000000000" pitchFamily="2" charset="2"/>
              <a:buChar char="v"/>
            </a:pPr>
            <a:r>
              <a:rPr lang="fr-FR" sz="1600" b="1" i="0" u="none" strike="noStrike" cap="none" dirty="0">
                <a:solidFill>
                  <a:srgbClr val="0070C0"/>
                </a:solidFill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Bloc 2</a:t>
            </a:r>
            <a:r>
              <a:rPr lang="fr-FR" sz="1600" b="0" i="0" u="none" strike="noStrike" cap="none" dirty="0">
                <a:solidFill>
                  <a:srgbClr val="0070C0"/>
                </a:solidFill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 (</a:t>
            </a:r>
            <a:r>
              <a:rPr lang="fr-FR" sz="1600" b="1" i="0" u="none" strike="noStrike" cap="none" dirty="0">
                <a:solidFill>
                  <a:srgbClr val="0070C0"/>
                </a:solidFill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Février 2026)</a:t>
            </a:r>
            <a:r>
              <a:rPr lang="fr-FR" sz="1600" b="0" i="0" u="none" strike="noStrike" cap="none" dirty="0">
                <a:solidFill>
                  <a:srgbClr val="0070C0"/>
                </a:solidFill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 </a:t>
            </a:r>
            <a:r>
              <a:rPr lang="fr-FR" sz="1600" b="0" i="0" u="none" strike="noStrike" cap="none" dirty="0">
                <a:solidFill>
                  <a:schemeClr val="dk1"/>
                </a:solidFill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: Kasaï, Kasaï central, Kasaï oriental, </a:t>
            </a:r>
            <a:r>
              <a:rPr lang="fr-FR" sz="1600" b="0" i="0" u="none" strike="noStrike" cap="none" dirty="0" err="1">
                <a:solidFill>
                  <a:schemeClr val="dk1"/>
                </a:solidFill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Lomami</a:t>
            </a:r>
            <a:r>
              <a:rPr lang="fr-FR" sz="1600" b="0" i="0" u="none" strike="noStrike" cap="none" dirty="0">
                <a:solidFill>
                  <a:schemeClr val="dk1"/>
                </a:solidFill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, Haut </a:t>
            </a:r>
            <a:r>
              <a:rPr lang="fr-FR" sz="1600" b="0" i="0" u="none" strike="noStrike" cap="none" dirty="0" err="1">
                <a:solidFill>
                  <a:schemeClr val="dk1"/>
                </a:solidFill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Lomami</a:t>
            </a:r>
            <a:r>
              <a:rPr lang="fr-FR" sz="1600" b="0" i="0" u="none" strike="noStrike" cap="none" dirty="0">
                <a:solidFill>
                  <a:schemeClr val="dk1"/>
                </a:solidFill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, Tanganyika, Sankuru, Haut Katanga et Lualaba</a:t>
            </a:r>
            <a:endParaRPr lang="fr-FR" dirty="0">
              <a:latin typeface="Book Antiqua" panose="02040602050305030304" pitchFamily="18" charset="0"/>
              <a:ea typeface="Overlock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Wingdings" panose="05000000000000000000" pitchFamily="2" charset="2"/>
              <a:buChar char="v"/>
            </a:pPr>
            <a:r>
              <a:rPr lang="fr-FR" sz="1600" b="1" i="0" u="none" strike="noStrike" cap="none" dirty="0">
                <a:solidFill>
                  <a:srgbClr val="0070C0"/>
                </a:solidFill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Bloc 3</a:t>
            </a:r>
            <a:r>
              <a:rPr lang="fr-FR" sz="1600" b="0" i="0" u="none" strike="noStrike" cap="none" dirty="0">
                <a:solidFill>
                  <a:srgbClr val="0070C0"/>
                </a:solidFill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 (</a:t>
            </a:r>
            <a:r>
              <a:rPr lang="fr-FR" sz="1600" b="1" i="0" u="none" strike="noStrike" cap="none" dirty="0">
                <a:solidFill>
                  <a:srgbClr val="0070C0"/>
                </a:solidFill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juin 2026)</a:t>
            </a:r>
            <a:r>
              <a:rPr lang="fr-FR" sz="1600" b="0" i="0" u="none" strike="noStrike" cap="none" dirty="0">
                <a:solidFill>
                  <a:srgbClr val="0070C0"/>
                </a:solidFill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 </a:t>
            </a:r>
            <a:r>
              <a:rPr lang="fr-FR" sz="1600" b="0" i="0" u="none" strike="noStrike" cap="none" dirty="0">
                <a:solidFill>
                  <a:schemeClr val="dk1"/>
                </a:solidFill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: Nord Kivu, Sud Kivu, Kwango, Kongo Central, Kinshasa, Maniema, Maï-Ndombe et Kwilu</a:t>
            </a:r>
            <a:endParaRPr lang="fr-FR" dirty="0">
              <a:latin typeface="Book Antiqua" panose="02040602050305030304" pitchFamily="18" charset="0"/>
              <a:ea typeface="Overlock"/>
              <a:sym typeface="Overlock"/>
            </a:endParaRPr>
          </a:p>
        </p:txBody>
      </p:sp>
      <p:sp>
        <p:nvSpPr>
          <p:cNvPr id="6" name="Google Shape;214;p7">
            <a:extLst>
              <a:ext uri="{FF2B5EF4-FFF2-40B4-BE49-F238E27FC236}">
                <a16:creationId xmlns:a16="http://schemas.microsoft.com/office/drawing/2014/main" id="{C86773C9-F3F2-AFD8-9060-1A42307BE6E9}"/>
              </a:ext>
            </a:extLst>
          </p:cNvPr>
          <p:cNvSpPr txBox="1"/>
          <p:nvPr/>
        </p:nvSpPr>
        <p:spPr>
          <a:xfrm>
            <a:off x="5407379" y="920039"/>
            <a:ext cx="1478843" cy="558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</a:pPr>
            <a:r>
              <a:rPr lang="fr-FR" sz="1800" b="1" dirty="0">
                <a:solidFill>
                  <a:srgbClr val="FF0000"/>
                </a:solidFill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Bloc Initial</a:t>
            </a:r>
            <a:endParaRPr lang="fr-FR" sz="1600" dirty="0">
              <a:solidFill>
                <a:srgbClr val="FF0000"/>
              </a:solidFill>
              <a:latin typeface="Book Antiqua" panose="02040602050305030304" pitchFamily="18" charset="0"/>
              <a:ea typeface="Overlock"/>
              <a:sym typeface="Overlock"/>
            </a:endParaRPr>
          </a:p>
        </p:txBody>
      </p:sp>
    </p:spTree>
    <p:extLst>
      <p:ext uri="{BB962C8B-B14F-4D97-AF65-F5344CB8AC3E}">
        <p14:creationId xmlns:p14="http://schemas.microsoft.com/office/powerpoint/2010/main" val="1352155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FE83B207-EAFC-3253-5490-B8BED3917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467" y="52078"/>
            <a:ext cx="11596128" cy="692989"/>
          </a:xfrm>
          <a:noFill/>
          <a:ln w="9525" cap="flat">
            <a:solidFill>
              <a:schemeClr val="accent1"/>
            </a:solidFill>
            <a:miter lim="800000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br>
              <a:rPr lang="fr-FR" sz="26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</a:br>
            <a:r>
              <a:rPr lang="fr-FR" sz="26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  <a:t> Rappel du périmètre d’intervention (Mise à jour au 05 Mai 2025)</a:t>
            </a:r>
            <a:br>
              <a:rPr lang="fr-FR" sz="2600" dirty="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fr-FR" sz="2600" b="1" dirty="0">
              <a:solidFill>
                <a:srgbClr val="FF0000"/>
              </a:solidFill>
              <a:latin typeface="Book Antiqua" panose="02040602050305030304" pitchFamily="18" charset="0"/>
              <a:ea typeface="MS PGothic" panose="020B0600070205080204" pitchFamily="34" charset="-128"/>
            </a:endParaRPr>
          </a:p>
        </p:txBody>
      </p:sp>
      <p:sp>
        <p:nvSpPr>
          <p:cNvPr id="5" name="Google Shape;128;p14">
            <a:extLst>
              <a:ext uri="{FF2B5EF4-FFF2-40B4-BE49-F238E27FC236}">
                <a16:creationId xmlns:a16="http://schemas.microsoft.com/office/drawing/2014/main" id="{85F809C7-A16C-7878-21AB-FE899AA6D4E7}"/>
              </a:ext>
            </a:extLst>
          </p:cNvPr>
          <p:cNvSpPr/>
          <p:nvPr/>
        </p:nvSpPr>
        <p:spPr>
          <a:xfrm>
            <a:off x="139150" y="115897"/>
            <a:ext cx="307739" cy="93189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sz="140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D31372E-80B3-19FE-F6FA-742D0073CD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9222" y="4734765"/>
            <a:ext cx="1122319" cy="1160317"/>
          </a:xfrm>
          <a:prstGeom prst="rect">
            <a:avLst/>
          </a:prstGeom>
        </p:spPr>
      </p:pic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FD689652-B45E-F1FF-8A28-1BC87B23D4ED}"/>
              </a:ext>
            </a:extLst>
          </p:cNvPr>
          <p:cNvSpPr txBox="1">
            <a:spLocks/>
          </p:cNvSpPr>
          <p:nvPr/>
        </p:nvSpPr>
        <p:spPr>
          <a:xfrm>
            <a:off x="744716" y="3996266"/>
            <a:ext cx="4798244" cy="28617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8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 : 1</a:t>
            </a:r>
            <a:r>
              <a:rPr lang="en-GB" sz="1600" dirty="0">
                <a:solidFill>
                  <a:schemeClr val="dk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Times New Roman"/>
                <a:sym typeface="Times New Roman"/>
              </a:rPr>
              <a:t>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Nombre de provinces : 7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Nombre antennes</a:t>
            </a: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13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Nombre des ZS</a:t>
            </a: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128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Cible : </a:t>
            </a:r>
            <a:r>
              <a:rPr lang="en-GB" sz="16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Source Serif Pro" panose="02040603050405020204" pitchFamily="18" charset="0"/>
                <a:cs typeface="Times New Roman" panose="02020603050405020304" pitchFamily="18" charset="0"/>
                <a:sym typeface="Times New Roman"/>
              </a:rPr>
              <a:t>16 972 703 enfants de 6 </a:t>
            </a:r>
            <a:r>
              <a:rPr lang="en-GB" sz="1600" b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Source Serif Pro" panose="02040603050405020204" pitchFamily="18" charset="0"/>
                <a:cs typeface="Times New Roman" panose="02020603050405020304" pitchFamily="18" charset="0"/>
                <a:sym typeface="Times New Roman"/>
              </a:rPr>
              <a:t>mois</a:t>
            </a:r>
            <a:r>
              <a:rPr lang="en-GB" sz="16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Source Serif Pro" panose="02040603050405020204" pitchFamily="18" charset="0"/>
                <a:cs typeface="Times New Roman" panose="02020603050405020304" pitchFamily="18" charset="0"/>
                <a:sym typeface="Times New Roman"/>
              </a:rPr>
              <a:t> à 14 </a:t>
            </a:r>
            <a:r>
              <a:rPr lang="en-GB" sz="1600" b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Source Serif Pro" panose="02040603050405020204" pitchFamily="18" charset="0"/>
                <a:cs typeface="Times New Roman" panose="02020603050405020304" pitchFamily="18" charset="0"/>
                <a:sym typeface="Times New Roman"/>
              </a:rPr>
              <a:t>ans</a:t>
            </a:r>
            <a:endParaRPr lang="en-GB" sz="1600" b="1" kern="0" dirty="0">
              <a:solidFill>
                <a:srgbClr val="000000"/>
              </a:solidFill>
              <a:latin typeface="Times New Roman" panose="02020603050405020304" pitchFamily="18" charset="0"/>
              <a:ea typeface="Source Serif Pro" panose="02040603050405020204" pitchFamily="18" charset="0"/>
              <a:cs typeface="Times New Roman" panose="02020603050405020304" pitchFamily="18" charset="0"/>
              <a:sym typeface="Times New Roman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Source Serif Pro" panose="02040603050405020204" pitchFamily="18" charset="0"/>
                <a:cs typeface="Times New Roman" panose="02020603050405020304" pitchFamily="18" charset="0"/>
                <a:sym typeface="Times New Roman"/>
              </a:rPr>
              <a:t>Sites de vaccination: 19 947</a:t>
            </a:r>
          </a:p>
        </p:txBody>
      </p:sp>
      <p:pic>
        <p:nvPicPr>
          <p:cNvPr id="2" name="Google Shape;150;p15">
            <a:extLst>
              <a:ext uri="{FF2B5EF4-FFF2-40B4-BE49-F238E27FC236}">
                <a16:creationId xmlns:a16="http://schemas.microsoft.com/office/drawing/2014/main" id="{318A1559-74D8-2916-540E-9A36FCD22F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18319" y="851999"/>
            <a:ext cx="4894275" cy="34371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49;p15">
            <a:extLst>
              <a:ext uri="{FF2B5EF4-FFF2-40B4-BE49-F238E27FC236}">
                <a16:creationId xmlns:a16="http://schemas.microsoft.com/office/drawing/2014/main" id="{BA1E75C7-C870-7F81-FF86-3142822C4DD0}"/>
              </a:ext>
            </a:extLst>
          </p:cNvPr>
          <p:cNvSpPr txBox="1"/>
          <p:nvPr/>
        </p:nvSpPr>
        <p:spPr>
          <a:xfrm>
            <a:off x="516466" y="788928"/>
            <a:ext cx="6701853" cy="315444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spcFirstLastPara="1" wrap="square" lIns="85567" tIns="42767" rIns="85567" bIns="42767" anchor="t" anchorCtr="0">
            <a:noAutofit/>
          </a:bodyPr>
          <a:lstStyle/>
          <a:p>
            <a:pPr algn="just">
              <a:lnSpc>
                <a:spcPct val="150000"/>
              </a:lnSpc>
              <a:buClr>
                <a:srgbClr val="0070C0"/>
              </a:buClr>
              <a:buSzPts val="1498"/>
            </a:pPr>
            <a:r>
              <a:rPr lang="fr-FR" b="1" dirty="0">
                <a:solidFill>
                  <a:srgbClr val="FF0000"/>
                </a:solidFill>
                <a:latin typeface="Book Antiqua" panose="02040602050305030304" pitchFamily="18" charset="0"/>
                <a:ea typeface="Overlock"/>
                <a:cs typeface="Overlock"/>
                <a:sym typeface="Overlock"/>
              </a:rPr>
              <a:t>Bloc Actualisé</a:t>
            </a:r>
            <a:endParaRPr lang="en-GB" b="1" dirty="0">
              <a:solidFill>
                <a:srgbClr val="0070C0"/>
              </a:solidFill>
              <a:latin typeface="Book Antiqua" panose="02040602050305030304" pitchFamily="18" charset="0"/>
              <a:ea typeface="Source Serif Pro" panose="02040603050405020204" pitchFamily="18" charset="0"/>
              <a:cs typeface="Times New Roman"/>
              <a:sym typeface="Times New Roman"/>
            </a:endParaRPr>
          </a:p>
          <a:p>
            <a:pPr marL="335857" indent="-335857" algn="just">
              <a:lnSpc>
                <a:spcPct val="150000"/>
              </a:lnSpc>
              <a:buClr>
                <a:srgbClr val="0070C0"/>
              </a:buClr>
              <a:buSzPts val="1498"/>
              <a:buFont typeface="Wingdings" panose="05000000000000000000" pitchFamily="2" charset="2"/>
              <a:buChar char="v"/>
            </a:pPr>
            <a:r>
              <a:rPr lang="en-GB" b="1" dirty="0">
                <a:solidFill>
                  <a:srgbClr val="0070C0"/>
                </a:solidFill>
                <a:latin typeface="Book Antiqua" panose="02040602050305030304" pitchFamily="18" charset="0"/>
                <a:ea typeface="Source Serif Pro" panose="02040603050405020204" pitchFamily="18" charset="0"/>
                <a:cs typeface="Times New Roman"/>
                <a:sym typeface="Times New Roman"/>
              </a:rPr>
              <a:t>Bloc 1 (Novembre 2025) : </a:t>
            </a:r>
            <a:r>
              <a:rPr lang="en-GB" dirty="0">
                <a:solidFill>
                  <a:schemeClr val="dk1"/>
                </a:solidFill>
                <a:latin typeface="Book Antiqua" panose="02040602050305030304" pitchFamily="18" charset="0"/>
                <a:ea typeface="Source Serif Pro" panose="02040603050405020204" pitchFamily="18" charset="0"/>
                <a:cs typeface="Times New Roman"/>
                <a:sym typeface="Times New Roman"/>
              </a:rPr>
              <a:t>Bas Uélé, Haut Katanga, Haut Lomami, Haut Uélé, Ituri, Lualaba et Tanganyika</a:t>
            </a:r>
          </a:p>
          <a:p>
            <a:pPr marL="335857" indent="-335857" algn="just">
              <a:lnSpc>
                <a:spcPct val="150000"/>
              </a:lnSpc>
              <a:buClr>
                <a:srgbClr val="0070C0"/>
              </a:buClr>
              <a:buSzPts val="1498"/>
              <a:buFont typeface="Wingdings" panose="05000000000000000000" pitchFamily="2" charset="2"/>
              <a:buChar char="v"/>
            </a:pPr>
            <a:r>
              <a:rPr lang="en-GB" b="1" dirty="0">
                <a:solidFill>
                  <a:srgbClr val="FF0000"/>
                </a:solidFill>
                <a:latin typeface="Book Antiqua" panose="02040602050305030304" pitchFamily="18" charset="0"/>
                <a:ea typeface="Source Serif Pro" panose="02040603050405020204" pitchFamily="18" charset="0"/>
                <a:cs typeface="Times New Roman"/>
                <a:sym typeface="Times New Roman"/>
              </a:rPr>
              <a:t>Bloc 2 (Février 2026) ??? </a:t>
            </a:r>
            <a:r>
              <a:rPr lang="en-GB" b="1" dirty="0">
                <a:solidFill>
                  <a:srgbClr val="0070C0"/>
                </a:solidFill>
                <a:latin typeface="Book Antiqua" panose="02040602050305030304" pitchFamily="18" charset="0"/>
                <a:ea typeface="Source Serif Pro" panose="02040603050405020204" pitchFamily="18" charset="0"/>
                <a:cs typeface="Times New Roman"/>
                <a:sym typeface="Times New Roman"/>
              </a:rPr>
              <a:t>: </a:t>
            </a:r>
            <a:r>
              <a:rPr lang="en-GB" dirty="0">
                <a:solidFill>
                  <a:schemeClr val="dk1"/>
                </a:solidFill>
                <a:latin typeface="Book Antiqua" panose="02040602050305030304" pitchFamily="18" charset="0"/>
                <a:ea typeface="Source Serif Pro" panose="02040603050405020204" pitchFamily="18" charset="0"/>
                <a:cs typeface="Times New Roman"/>
                <a:sym typeface="Times New Roman"/>
              </a:rPr>
              <a:t>Equateur, Nord Ubangi, Sud Ubangi, Kwango, Kwilu, Kinshasa, Mai Ndombe, Mongala, Sankuru, Tshopo et Tshuapa,</a:t>
            </a:r>
            <a:endParaRPr lang="en-GB" dirty="0">
              <a:latin typeface="Book Antiqua" panose="02040602050305030304" pitchFamily="18" charset="0"/>
              <a:ea typeface="Source Serif Pro" panose="02040603050405020204" pitchFamily="18" charset="0"/>
              <a:cs typeface="Times New Roman"/>
              <a:sym typeface="Times New Roman"/>
            </a:endParaRPr>
          </a:p>
          <a:p>
            <a:pPr marL="335857" indent="-335857" algn="just">
              <a:lnSpc>
                <a:spcPct val="150000"/>
              </a:lnSpc>
              <a:buClr>
                <a:srgbClr val="0070C0"/>
              </a:buClr>
              <a:buSzPts val="1498"/>
              <a:buFont typeface="Wingdings" panose="05000000000000000000" pitchFamily="2" charset="2"/>
              <a:buChar char="v"/>
            </a:pPr>
            <a:r>
              <a:rPr lang="en-GB" b="1" dirty="0">
                <a:solidFill>
                  <a:srgbClr val="FF0000"/>
                </a:solidFill>
                <a:latin typeface="Book Antiqua" panose="02040602050305030304" pitchFamily="18" charset="0"/>
                <a:ea typeface="Source Serif Pro" panose="02040603050405020204" pitchFamily="18" charset="0"/>
                <a:cs typeface="Times New Roman"/>
                <a:sym typeface="Times New Roman"/>
              </a:rPr>
              <a:t>Bloc 3 (Juin 2026) ???: </a:t>
            </a:r>
            <a:r>
              <a:rPr lang="en-GB" dirty="0">
                <a:solidFill>
                  <a:schemeClr val="dk1"/>
                </a:solidFill>
                <a:latin typeface="Book Antiqua" panose="02040602050305030304" pitchFamily="18" charset="0"/>
                <a:ea typeface="Source Serif Pro" panose="02040603050405020204" pitchFamily="18" charset="0"/>
                <a:cs typeface="Times New Roman"/>
                <a:sym typeface="Times New Roman"/>
              </a:rPr>
              <a:t>Nord Kivu, Sud Kivu, Kongo Central, Kasaï, Kasaï Central, Kasaï Oriental, Lomami et Maniema</a:t>
            </a:r>
          </a:p>
          <a:p>
            <a:pPr algn="just">
              <a:lnSpc>
                <a:spcPct val="150000"/>
              </a:lnSpc>
              <a:buClr>
                <a:srgbClr val="0070C0"/>
              </a:buClr>
              <a:buSzPts val="1498"/>
            </a:pPr>
            <a:r>
              <a:rPr lang="en-GB" b="1" i="1" dirty="0">
                <a:solidFill>
                  <a:schemeClr val="dk1"/>
                </a:solidFill>
                <a:latin typeface="Book Antiqua" panose="02040602050305030304" pitchFamily="18" charset="0"/>
                <a:ea typeface="Source Serif Pro" panose="02040603050405020204" pitchFamily="18" charset="0"/>
                <a:cs typeface="Times New Roman"/>
                <a:sym typeface="Times New Roman"/>
              </a:rPr>
              <a:t>NB: Période des bloc 2 et 3 à determiner au cours de la revue </a:t>
            </a:r>
            <a:r>
              <a:rPr lang="en-GB" b="1" i="1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 panose="02040603050405020204" pitchFamily="18" charset="0"/>
                <a:cs typeface="Times New Roman"/>
                <a:sym typeface="Times New Roman"/>
              </a:rPr>
              <a:t>annuelle</a:t>
            </a:r>
            <a:r>
              <a:rPr lang="en-GB" b="1" i="1" dirty="0">
                <a:solidFill>
                  <a:schemeClr val="dk1"/>
                </a:solidFill>
                <a:latin typeface="Book Antiqua" panose="02040602050305030304" pitchFamily="18" charset="0"/>
                <a:ea typeface="Source Serif Pro" panose="02040603050405020204" pitchFamily="18" charset="0"/>
                <a:cs typeface="Times New Roman"/>
                <a:sym typeface="Times New Roman"/>
              </a:rPr>
              <a:t>  du PEV.</a:t>
            </a:r>
          </a:p>
          <a:p>
            <a:pPr algn="just">
              <a:lnSpc>
                <a:spcPct val="150000"/>
              </a:lnSpc>
              <a:buClr>
                <a:srgbClr val="0070C0"/>
              </a:buClr>
              <a:buSzPts val="1498"/>
            </a:pPr>
            <a:r>
              <a:rPr lang="fr-FR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  <a:sym typeface="Overlock"/>
              </a:rPr>
              <a:t>Reconfiguration des Blocs des provinces sur base du contexte épidémiologique</a:t>
            </a:r>
            <a:endParaRPr lang="en-GB" dirty="0">
              <a:solidFill>
                <a:srgbClr val="FF0000"/>
              </a:solidFill>
              <a:latin typeface="Book Antiqua" panose="02040602050305030304" pitchFamily="18" charset="0"/>
              <a:ea typeface="Source Serif Pro" panose="02040603050405020204" pitchFamily="18" charset="0"/>
              <a:cs typeface="Times New Roman"/>
              <a:sym typeface="Times New Roman"/>
            </a:endParaRPr>
          </a:p>
          <a:p>
            <a:pPr algn="just">
              <a:lnSpc>
                <a:spcPct val="150000"/>
              </a:lnSpc>
              <a:buClr>
                <a:srgbClr val="0070C0"/>
              </a:buClr>
              <a:buSzPts val="1498"/>
            </a:pPr>
            <a:endParaRPr lang="en-GB" i="1" dirty="0">
              <a:solidFill>
                <a:schemeClr val="dk1"/>
              </a:solidFill>
              <a:latin typeface="Book Antiqua" panose="02040602050305030304" pitchFamily="18" charset="0"/>
              <a:ea typeface="Source Serif Pro" panose="02040603050405020204" pitchFamily="18" charset="0"/>
              <a:cs typeface="Times New Roman"/>
              <a:sym typeface="Times New Roman"/>
            </a:endParaRP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044D239C-A09B-E939-4FFE-DCC370537C6F}"/>
              </a:ext>
            </a:extLst>
          </p:cNvPr>
          <p:cNvSpPr txBox="1">
            <a:spLocks/>
          </p:cNvSpPr>
          <p:nvPr/>
        </p:nvSpPr>
        <p:spPr>
          <a:xfrm>
            <a:off x="6975835" y="4392890"/>
            <a:ext cx="5136760" cy="24096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8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1600" b="1" dirty="0" err="1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  <a:cs typeface="Arial"/>
                <a:sym typeface="Times New Roman"/>
              </a:rPr>
              <a:t>Lancement</a:t>
            </a:r>
            <a:r>
              <a:rPr lang="en-GB" sz="16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  <a:cs typeface="Arial"/>
                <a:sym typeface="Times New Roman"/>
              </a:rPr>
              <a:t> </a:t>
            </a:r>
            <a:r>
              <a:rPr lang="en-GB" sz="1600" b="1" dirty="0" err="1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  <a:cs typeface="Arial"/>
                <a:sym typeface="Times New Roman"/>
              </a:rPr>
              <a:t>officiel</a:t>
            </a:r>
            <a:r>
              <a:rPr lang="en-GB" sz="16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  <a:cs typeface="Arial"/>
                <a:sym typeface="Times New Roman"/>
              </a:rPr>
              <a:t> le 26 </a:t>
            </a:r>
            <a:r>
              <a:rPr lang="en-GB" sz="1600" b="1" dirty="0" err="1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  <a:cs typeface="Arial"/>
                <a:sym typeface="Times New Roman"/>
              </a:rPr>
              <a:t>novembre</a:t>
            </a:r>
            <a:r>
              <a:rPr lang="en-GB" sz="16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  <a:cs typeface="Arial"/>
                <a:sym typeface="Times New Roman"/>
              </a:rPr>
              <a:t> 2025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>
                <a:latin typeface="Book Antiqua" panose="02040602050305030304" pitchFamily="18" charset="0"/>
                <a:ea typeface="MS PGothic" panose="020B0600070205080204" pitchFamily="34" charset="-128"/>
              </a:rPr>
              <a:t>Présidé par les APA,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>
                <a:latin typeface="Book Antiqua" panose="02040602050305030304" pitchFamily="18" charset="0"/>
                <a:ea typeface="MS PGothic" panose="020B0600070205080204" pitchFamily="34" charset="-128"/>
              </a:rPr>
              <a:t>Synchronisé dans 9/13 antennes excepté (Bunia, </a:t>
            </a:r>
            <a:r>
              <a:rPr lang="fr-FR" sz="1600" dirty="0" err="1">
                <a:latin typeface="Book Antiqua" panose="02040602050305030304" pitchFamily="18" charset="0"/>
                <a:ea typeface="MS PGothic" panose="020B0600070205080204" pitchFamily="34" charset="-128"/>
              </a:rPr>
              <a:t>Aru</a:t>
            </a:r>
            <a:r>
              <a:rPr lang="fr-FR" sz="1600" dirty="0">
                <a:latin typeface="Book Antiqua" panose="02040602050305030304" pitchFamily="18" charset="0"/>
                <a:ea typeface="MS PGothic" panose="020B0600070205080204" pitchFamily="34" charset="-128"/>
              </a:rPr>
              <a:t>, </a:t>
            </a:r>
            <a:r>
              <a:rPr lang="fr-FR" sz="1600" dirty="0" err="1">
                <a:latin typeface="Book Antiqua" panose="02040602050305030304" pitchFamily="18" charset="0"/>
                <a:ea typeface="MS PGothic" panose="020B0600070205080204" pitchFamily="34" charset="-128"/>
              </a:rPr>
              <a:t>Kisenge</a:t>
            </a:r>
            <a:r>
              <a:rPr lang="fr-FR" sz="1600" dirty="0">
                <a:latin typeface="Book Antiqua" panose="02040602050305030304" pitchFamily="18" charset="0"/>
                <a:ea typeface="MS PGothic" panose="020B0600070205080204" pitchFamily="34" charset="-128"/>
              </a:rPr>
              <a:t> et Lubumbashi)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>
                <a:latin typeface="Book Antiqua" panose="02040602050305030304" pitchFamily="18" charset="0"/>
                <a:ea typeface="MS PGothic" panose="020B0600070205080204" pitchFamily="34" charset="-128"/>
              </a:rPr>
              <a:t>Vaccination de </a:t>
            </a:r>
            <a:r>
              <a:rPr lang="fr-FR" sz="1600" b="1" dirty="0">
                <a:solidFill>
                  <a:srgbClr val="000000"/>
                </a:solidFill>
                <a:latin typeface="Book Antiqua" panose="02040602050305030304" pitchFamily="18" charset="0"/>
              </a:rPr>
              <a:t>16 246 421 enfants soit CV 96,72%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1600" dirty="0">
              <a:latin typeface="Book Antiqua" panose="02040602050305030304" pitchFamily="18" charset="0"/>
              <a:ea typeface="MS PGothic" panose="020B0600070205080204" pitchFamily="34" charset="-128"/>
            </a:endParaRPr>
          </a:p>
          <a:p>
            <a:pPr>
              <a:lnSpc>
                <a:spcPct val="150000"/>
              </a:lnSpc>
            </a:pPr>
            <a:endParaRPr lang="fr-FR" sz="1600" b="1" dirty="0">
              <a:solidFill>
                <a:srgbClr val="0000FF"/>
              </a:solidFill>
              <a:latin typeface="Book Antiqua" panose="02040602050305030304" pitchFamily="18" charset="0"/>
              <a:ea typeface="MS PGothic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8803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7">
          <a:extLst>
            <a:ext uri="{FF2B5EF4-FFF2-40B4-BE49-F238E27FC236}">
              <a16:creationId xmlns:a16="http://schemas.microsoft.com/office/drawing/2014/main" id="{E1311457-4B96-C523-205E-CD20C4B8C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155">
            <a:extLst>
              <a:ext uri="{FF2B5EF4-FFF2-40B4-BE49-F238E27FC236}">
                <a16:creationId xmlns:a16="http://schemas.microsoft.com/office/drawing/2014/main" id="{82BA4393-EB37-A029-F43A-30A72C77EBBD}"/>
              </a:ext>
            </a:extLst>
          </p:cNvPr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0" name="Google Shape;1490;p155">
            <a:extLst>
              <a:ext uri="{FF2B5EF4-FFF2-40B4-BE49-F238E27FC236}">
                <a16:creationId xmlns:a16="http://schemas.microsoft.com/office/drawing/2014/main" id="{F25356AB-BAA8-573F-FC79-8BA2956E471E}"/>
              </a:ext>
            </a:extLst>
          </p:cNvPr>
          <p:cNvSpPr txBox="1"/>
          <p:nvPr/>
        </p:nvSpPr>
        <p:spPr>
          <a:xfrm>
            <a:off x="267700" y="6492843"/>
            <a:ext cx="114148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>
              <a:buClr>
                <a:srgbClr val="000000"/>
              </a:buClr>
              <a:buSzPts val="900"/>
            </a:pPr>
            <a:endParaRPr sz="1200" b="1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0D0C0E1-41F7-80CE-00A1-C01EFE60F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787" y="93639"/>
            <a:ext cx="11720848" cy="594851"/>
          </a:xfrm>
          <a:noFill/>
          <a:ln w="9525" cap="flat">
            <a:solidFill>
              <a:schemeClr val="accent1"/>
            </a:solidFill>
            <a:miter lim="800000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br>
              <a:rPr 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</a:br>
            <a:br>
              <a:rPr 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</a:br>
            <a:r>
              <a:rPr 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  <a:t>3. Chronogramme d’activités</a:t>
            </a:r>
            <a:br>
              <a:rPr 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</a:br>
            <a:br>
              <a:rPr 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</a:br>
            <a:endParaRPr lang="fr-FR" sz="2400" b="1" dirty="0">
              <a:solidFill>
                <a:srgbClr val="0000FF"/>
              </a:solidFill>
              <a:latin typeface="Book Antiqua" panose="02040602050305030304" pitchFamily="18" charset="0"/>
              <a:ea typeface="MS PGothic" panose="020B0600070205080204" pitchFamily="34" charset="-128"/>
            </a:endParaRPr>
          </a:p>
        </p:txBody>
      </p:sp>
      <p:sp>
        <p:nvSpPr>
          <p:cNvPr id="4" name="Google Shape;1493;p155">
            <a:extLst>
              <a:ext uri="{FF2B5EF4-FFF2-40B4-BE49-F238E27FC236}">
                <a16:creationId xmlns:a16="http://schemas.microsoft.com/office/drawing/2014/main" id="{8975B141-B82E-A0B8-5686-6DCBF328BE97}"/>
              </a:ext>
            </a:extLst>
          </p:cNvPr>
          <p:cNvSpPr/>
          <p:nvPr/>
        </p:nvSpPr>
        <p:spPr>
          <a:xfrm>
            <a:off x="372843" y="2967023"/>
            <a:ext cx="1481357" cy="12228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3133" tIns="123133" rIns="123133" bIns="123133" anchor="t" anchorCtr="0">
            <a:noAutofit/>
          </a:bodyPr>
          <a:lstStyle/>
          <a:p>
            <a:pPr marL="148340">
              <a:buClr>
                <a:srgbClr val="38761D"/>
              </a:buClr>
              <a:buSzPts val="1111"/>
            </a:pPr>
            <a:r>
              <a:rPr lang="fr-FR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Mise en place du Poste de commandement et ses commissions</a:t>
            </a:r>
          </a:p>
          <a:p>
            <a:pPr marL="148340">
              <a:lnSpc>
                <a:spcPct val="150000"/>
              </a:lnSpc>
              <a:buClr>
                <a:srgbClr val="38761D"/>
              </a:buClr>
              <a:buSzPts val="1111"/>
            </a:pPr>
            <a:endParaRPr lang="fr-FR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48340">
              <a:buClr>
                <a:srgbClr val="38761D"/>
              </a:buClr>
              <a:buSzPts val="1111"/>
            </a:pP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1493;p155">
            <a:extLst>
              <a:ext uri="{FF2B5EF4-FFF2-40B4-BE49-F238E27FC236}">
                <a16:creationId xmlns:a16="http://schemas.microsoft.com/office/drawing/2014/main" id="{AAE6067E-9002-32E1-AD3E-47D387F58CA7}"/>
              </a:ext>
            </a:extLst>
          </p:cNvPr>
          <p:cNvSpPr/>
          <p:nvPr/>
        </p:nvSpPr>
        <p:spPr>
          <a:xfrm>
            <a:off x="9246153" y="2201323"/>
            <a:ext cx="2945847" cy="44761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23133" tIns="123133" rIns="123133" bIns="123133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Début des activités de communication par le point de presse de SE Mr Le MSPHPS au niveau central </a:t>
            </a:r>
            <a:r>
              <a:rPr lang="fr-FR" sz="1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05 novembre 2025 (Polio et RR)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Élaboration et partage des paquets de briefing des acteurs sur l’introduction du vaccin RR;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Disponibilité des fonds de la campagne dans toutes les 7 provinces: </a:t>
            </a:r>
            <a:r>
              <a:rPr lang="fr-FR" sz="1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Novembre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Sélection et briefing des superviseurs du niveau Central du </a:t>
            </a:r>
            <a:r>
              <a:rPr lang="fr-FR" sz="1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 au 16 novembre 2025 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(Présentiel et en ligne) avec participation des provinciaux et 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leur déploiement sur terrain du  </a:t>
            </a:r>
            <a:r>
              <a:rPr lang="fr-FR" sz="1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 au 23 novembre 2025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Suivi du briefing en cascade au niveau des provinces;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 des points de presse en province 23 au 28 novembre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Lancement officiel le 26  novembre  2025</a:t>
            </a:r>
            <a:endParaRPr lang="fr-FR" b="1" dirty="0">
              <a:solidFill>
                <a:srgbClr val="FF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Flèche : droite 2">
            <a:extLst>
              <a:ext uri="{FF2B5EF4-FFF2-40B4-BE49-F238E27FC236}">
                <a16:creationId xmlns:a16="http://schemas.microsoft.com/office/drawing/2014/main" id="{59BB097B-F039-AB0E-18D7-FB753C480BD7}"/>
              </a:ext>
            </a:extLst>
          </p:cNvPr>
          <p:cNvSpPr/>
          <p:nvPr/>
        </p:nvSpPr>
        <p:spPr>
          <a:xfrm>
            <a:off x="448733" y="1676401"/>
            <a:ext cx="11581901" cy="4148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Flèche : bas 4">
            <a:extLst>
              <a:ext uri="{FF2B5EF4-FFF2-40B4-BE49-F238E27FC236}">
                <a16:creationId xmlns:a16="http://schemas.microsoft.com/office/drawing/2014/main" id="{AA0832EF-0E32-976F-0CB0-3B9053255456}"/>
              </a:ext>
            </a:extLst>
          </p:cNvPr>
          <p:cNvSpPr/>
          <p:nvPr/>
        </p:nvSpPr>
        <p:spPr>
          <a:xfrm>
            <a:off x="999066" y="1982199"/>
            <a:ext cx="321733" cy="80911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Google Shape;216;g3a7c2a2f8e1_0_0">
            <a:extLst>
              <a:ext uri="{FF2B5EF4-FFF2-40B4-BE49-F238E27FC236}">
                <a16:creationId xmlns:a16="http://schemas.microsoft.com/office/drawing/2014/main" id="{2B367DCE-EDB4-EF33-0EBE-436E8B7C457D}"/>
              </a:ext>
            </a:extLst>
          </p:cNvPr>
          <p:cNvSpPr/>
          <p:nvPr/>
        </p:nvSpPr>
        <p:spPr>
          <a:xfrm>
            <a:off x="1964277" y="1982199"/>
            <a:ext cx="2319856" cy="233580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Travaux des commissions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Elaboration </a:t>
            </a:r>
            <a:r>
              <a:rPr lang="en-GB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chronogramme</a:t>
            </a: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d’activités</a:t>
            </a:r>
            <a:endParaRPr lang="en-GB" sz="1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Elaboration des plans: de formation, de communication, </a:t>
            </a:r>
            <a:r>
              <a:rPr lang="en-GB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logistique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Elaboration des Directives,</a:t>
            </a:r>
          </a:p>
          <a:p>
            <a:pPr lvl="0">
              <a:buSzPts val="1000"/>
            </a:pPr>
            <a:endParaRPr lang="fr-FR"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SzPts val="1000"/>
            </a:pP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NB: </a:t>
            </a:r>
            <a:r>
              <a:rPr lang="en-GB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Suivi</a:t>
            </a: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 du </a:t>
            </a:r>
            <a:r>
              <a:rPr lang="en-GB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renouvellement</a:t>
            </a: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GB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l’AMM</a:t>
            </a: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 du RR (Expiration </a:t>
            </a:r>
            <a:r>
              <a:rPr lang="en-GB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en</a:t>
            </a: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août</a:t>
            </a: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 2025) </a:t>
            </a:r>
            <a:r>
              <a:rPr lang="en-GB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obtenu</a:t>
            </a: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 le 26 </a:t>
            </a:r>
            <a:r>
              <a:rPr lang="en-GB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septembre</a:t>
            </a: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 2025</a:t>
            </a:r>
          </a:p>
          <a:p>
            <a:pPr lvl="0">
              <a:buSzPts val="1000"/>
            </a:pPr>
            <a:endParaRPr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698A76E4-EA84-6208-AF38-838DE594BA07}"/>
              </a:ext>
            </a:extLst>
          </p:cNvPr>
          <p:cNvSpPr/>
          <p:nvPr/>
        </p:nvSpPr>
        <p:spPr>
          <a:xfrm>
            <a:off x="4419605" y="1982198"/>
            <a:ext cx="321733" cy="24119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Google Shape;216;g3a7c2a2f8e1_0_0">
            <a:extLst>
              <a:ext uri="{FF2B5EF4-FFF2-40B4-BE49-F238E27FC236}">
                <a16:creationId xmlns:a16="http://schemas.microsoft.com/office/drawing/2014/main" id="{CE943107-9FF0-8737-6CD8-3874759603A8}"/>
              </a:ext>
            </a:extLst>
          </p:cNvPr>
          <p:cNvSpPr/>
          <p:nvPr/>
        </p:nvSpPr>
        <p:spPr>
          <a:xfrm>
            <a:off x="2446863" y="4394195"/>
            <a:ext cx="3158068" cy="22833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Validation des </a:t>
            </a:r>
            <a:r>
              <a:rPr lang="en-GB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différents</a:t>
            </a: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  plans (de formation, de communication, </a:t>
            </a:r>
            <a:r>
              <a:rPr lang="en-GB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logistique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.)</a:t>
            </a:r>
          </a:p>
          <a:p>
            <a:pPr marL="171450" indent="-171450">
              <a:buSzPts val="1000"/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Elaboration </a:t>
            </a:r>
            <a:r>
              <a:rPr lang="en-GB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outils</a:t>
            </a: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 de gestion et supports de communication pour la </a:t>
            </a:r>
            <a:r>
              <a:rPr lang="en-GB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campagne</a:t>
            </a: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GB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rattrapage</a:t>
            </a:r>
            <a:endParaRPr lang="en-GB"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GB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Implémentation</a:t>
            </a: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 base des données </a:t>
            </a:r>
            <a:r>
              <a:rPr lang="en-GB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campagne</a:t>
            </a: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 RR dans le DHIS2 </a:t>
            </a:r>
            <a:r>
              <a:rPr lang="en-GB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en</a:t>
            </a: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 atelier à Matadi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GB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Transmission de la quantification et specifications technique à </a:t>
            </a:r>
            <a:r>
              <a:rPr lang="en-GB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l’</a:t>
            </a:r>
            <a:r>
              <a:rPr lang="en-GB" sz="12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Unice</a:t>
            </a:r>
            <a:r>
              <a:rPr lang="en-GB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 pour reproduction</a:t>
            </a:r>
            <a:endParaRPr lang="en-GB"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1493;p155">
            <a:extLst>
              <a:ext uri="{FF2B5EF4-FFF2-40B4-BE49-F238E27FC236}">
                <a16:creationId xmlns:a16="http://schemas.microsoft.com/office/drawing/2014/main" id="{05FC24EE-DB2D-9741-02CC-2AAB168607E8}"/>
              </a:ext>
            </a:extLst>
          </p:cNvPr>
          <p:cNvSpPr/>
          <p:nvPr/>
        </p:nvSpPr>
        <p:spPr>
          <a:xfrm>
            <a:off x="525243" y="1236130"/>
            <a:ext cx="1328957" cy="414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3133" tIns="123133" rIns="123133" bIns="123133" anchor="t" anchorCtr="0">
            <a:noAutofit/>
          </a:bodyPr>
          <a:lstStyle/>
          <a:p>
            <a:pPr marL="148340">
              <a:buClr>
                <a:srgbClr val="38761D"/>
              </a:buClr>
              <a:buSzPts val="1111"/>
            </a:pPr>
            <a:r>
              <a:rPr lang="fr-FR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Février 2025 </a:t>
            </a:r>
            <a:endParaRPr lang="fr-FR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48340">
              <a:buClr>
                <a:srgbClr val="38761D"/>
              </a:buClr>
              <a:buSzPts val="1111"/>
            </a:pP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216;g3a7c2a2f8e1_0_0">
            <a:extLst>
              <a:ext uri="{FF2B5EF4-FFF2-40B4-BE49-F238E27FC236}">
                <a16:creationId xmlns:a16="http://schemas.microsoft.com/office/drawing/2014/main" id="{ACDA0304-2010-B84C-F40F-C896D3616F84}"/>
              </a:ext>
            </a:extLst>
          </p:cNvPr>
          <p:cNvSpPr/>
          <p:nvPr/>
        </p:nvSpPr>
        <p:spPr>
          <a:xfrm>
            <a:off x="2031999" y="1295399"/>
            <a:ext cx="1603967" cy="3534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Février à Avril 2025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216;g3a7c2a2f8e1_0_0">
            <a:extLst>
              <a:ext uri="{FF2B5EF4-FFF2-40B4-BE49-F238E27FC236}">
                <a16:creationId xmlns:a16="http://schemas.microsoft.com/office/drawing/2014/main" id="{1467DA7A-B336-BDA8-F1EF-C6CA832BB9D9}"/>
              </a:ext>
            </a:extLst>
          </p:cNvPr>
          <p:cNvSpPr/>
          <p:nvPr/>
        </p:nvSpPr>
        <p:spPr>
          <a:xfrm>
            <a:off x="3974949" y="1303273"/>
            <a:ext cx="1435250" cy="3534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 </a:t>
            </a:r>
            <a:r>
              <a:rPr lang="en-GB" sz="1200" b="1" dirty="0">
                <a:latin typeface="Times New Roman"/>
                <a:ea typeface="Times New Roman"/>
                <a:cs typeface="Times New Roman"/>
                <a:sym typeface="Times New Roman"/>
              </a:rPr>
              <a:t>à Juillet 2025</a:t>
            </a:r>
            <a:r>
              <a:rPr lang="en-GB" sz="1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</a:p>
        </p:txBody>
      </p:sp>
      <p:sp>
        <p:nvSpPr>
          <p:cNvPr id="18" name="Google Shape;216;g3a7c2a2f8e1_0_0">
            <a:extLst>
              <a:ext uri="{FF2B5EF4-FFF2-40B4-BE49-F238E27FC236}">
                <a16:creationId xmlns:a16="http://schemas.microsoft.com/office/drawing/2014/main" id="{B14E0463-FB77-A1B2-9365-7A9B1785326F}"/>
              </a:ext>
            </a:extLst>
          </p:cNvPr>
          <p:cNvSpPr/>
          <p:nvPr/>
        </p:nvSpPr>
        <p:spPr>
          <a:xfrm>
            <a:off x="6142418" y="1294807"/>
            <a:ext cx="1603967" cy="3534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50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Août</a:t>
            </a:r>
            <a:r>
              <a:rPr lang="en-GB" sz="105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à Octobre 2</a:t>
            </a:r>
            <a:r>
              <a:rPr lang="en-GB" sz="1050" b="1" dirty="0">
                <a:latin typeface="Times New Roman"/>
                <a:ea typeface="Times New Roman"/>
                <a:cs typeface="Times New Roman"/>
                <a:sym typeface="Times New Roman"/>
              </a:rPr>
              <a:t>025</a:t>
            </a:r>
            <a:r>
              <a:rPr lang="en-GB" sz="105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05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</a:p>
        </p:txBody>
      </p:sp>
      <p:sp>
        <p:nvSpPr>
          <p:cNvPr id="19" name="Google Shape;216;g3a7c2a2f8e1_0_0">
            <a:extLst>
              <a:ext uri="{FF2B5EF4-FFF2-40B4-BE49-F238E27FC236}">
                <a16:creationId xmlns:a16="http://schemas.microsoft.com/office/drawing/2014/main" id="{D0DCEA09-459F-4D95-191A-C4CF0777B943}"/>
              </a:ext>
            </a:extLst>
          </p:cNvPr>
          <p:cNvSpPr/>
          <p:nvPr/>
        </p:nvSpPr>
        <p:spPr>
          <a:xfrm>
            <a:off x="5638799" y="2397065"/>
            <a:ext cx="3573486" cy="43672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buSzPts val="1000"/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Elaboration OSP et partage aux provinces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Atelier </a:t>
            </a:r>
            <a:r>
              <a:rPr lang="en-GB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d’orientation</a:t>
            </a: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Mashako</a:t>
            </a: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 3.0 </a:t>
            </a:r>
            <a:r>
              <a:rPr lang="en-GB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couplée</a:t>
            </a: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 à la </a:t>
            </a:r>
            <a:r>
              <a:rPr lang="en-GB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microplanification</a:t>
            </a: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intégrée</a:t>
            </a: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 avec partage du </a:t>
            </a:r>
            <a:r>
              <a:rPr lang="en-GB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canevas</a:t>
            </a: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microplans</a:t>
            </a: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 RR</a:t>
            </a:r>
          </a:p>
          <a:p>
            <a:pPr marL="171450" lvl="2" indent="-171450">
              <a:buSzPts val="1000"/>
              <a:buFont typeface="Arial" panose="020B0604020202020204" pitchFamily="34" charset="0"/>
              <a:buChar char="•"/>
            </a:pPr>
            <a:r>
              <a:rPr lang="en-GB" sz="12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Réception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 </a:t>
            </a:r>
            <a:r>
              <a:rPr lang="en-GB" sz="12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microplans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RR des 7 provinces </a:t>
            </a:r>
          </a:p>
          <a:p>
            <a:pPr marL="171450" lvl="2" indent="-171450">
              <a:buSzPts val="1000"/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Validation des </a:t>
            </a:r>
            <a:r>
              <a:rPr lang="en-GB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microplans</a:t>
            </a: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 7 </a:t>
            </a:r>
            <a:r>
              <a:rPr lang="en-GB" sz="1200" dirty="0">
                <a:latin typeface="Times New Roman"/>
                <a:cs typeface="Times New Roman"/>
                <a:sym typeface="Times New Roman"/>
              </a:rPr>
              <a:t>provinces </a:t>
            </a:r>
            <a:r>
              <a:rPr lang="fr-FR" sz="1200" dirty="0">
                <a:latin typeface="Times New Roman"/>
                <a:cs typeface="Times New Roman"/>
              </a:rPr>
              <a:t>du 15 au 17 Octobre 2025 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fr-FR" sz="1200" dirty="0">
                <a:latin typeface="Times New Roman"/>
                <a:cs typeface="Times New Roman"/>
                <a:sym typeface="Times New Roman"/>
              </a:rPr>
              <a:t>Transmission des requêtes et FT à la CAGF et aux partenaires pour la MAD des fonds le 23 octobre 2025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fr-FR" sz="1200" dirty="0">
                <a:latin typeface="Times New Roman"/>
                <a:cs typeface="Times New Roman"/>
              </a:rPr>
              <a:t>Finalisation du processus de recrutement des assistants techniques OMS, UNICEF, Ginger, </a:t>
            </a:r>
            <a:r>
              <a:rPr lang="fr-FR" sz="1200" dirty="0" err="1">
                <a:latin typeface="Times New Roman"/>
                <a:cs typeface="Times New Roman"/>
              </a:rPr>
              <a:t>Acasus</a:t>
            </a:r>
            <a:r>
              <a:rPr lang="fr-FR" sz="1200" dirty="0">
                <a:latin typeface="Times New Roman"/>
                <a:cs typeface="Times New Roman"/>
              </a:rPr>
              <a:t>, AFENET/CDC, briefing et déploiement sur terrain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des directives d’introduction RR et la lettre d’information des autorités aux provinces.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Réception de la totalité des vaccins RR (10 doses) de la campagne au 22 octobre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Déploiement des intrants du NC vers les provinces du 26 octobre au 03 novembre avec poursuite  (OG , Kit MAPI la veille et en cours de mise en œuvre de la campagne)</a:t>
            </a:r>
          </a:p>
        </p:txBody>
      </p:sp>
      <p:sp>
        <p:nvSpPr>
          <p:cNvPr id="20" name="Flèche : bas 19">
            <a:extLst>
              <a:ext uri="{FF2B5EF4-FFF2-40B4-BE49-F238E27FC236}">
                <a16:creationId xmlns:a16="http://schemas.microsoft.com/office/drawing/2014/main" id="{15BC03DF-F5C0-E9AF-3B4A-DDAC4066F08E}"/>
              </a:ext>
            </a:extLst>
          </p:cNvPr>
          <p:cNvSpPr/>
          <p:nvPr/>
        </p:nvSpPr>
        <p:spPr>
          <a:xfrm>
            <a:off x="7010418" y="1982199"/>
            <a:ext cx="321733" cy="41486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Google Shape;216;g3a7c2a2f8e1_0_0">
            <a:extLst>
              <a:ext uri="{FF2B5EF4-FFF2-40B4-BE49-F238E27FC236}">
                <a16:creationId xmlns:a16="http://schemas.microsoft.com/office/drawing/2014/main" id="{41B50B93-E1A4-8568-1E8C-EC7B88D2432D}"/>
              </a:ext>
            </a:extLst>
          </p:cNvPr>
          <p:cNvSpPr/>
          <p:nvPr/>
        </p:nvSpPr>
        <p:spPr>
          <a:xfrm>
            <a:off x="9893161" y="1303272"/>
            <a:ext cx="1603967" cy="3534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5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Novembre 2</a:t>
            </a:r>
            <a:r>
              <a:rPr lang="en-GB" sz="1050" b="1" dirty="0">
                <a:latin typeface="Times New Roman"/>
                <a:ea typeface="Times New Roman"/>
                <a:cs typeface="Times New Roman"/>
                <a:sym typeface="Times New Roman"/>
              </a:rPr>
              <a:t>025</a:t>
            </a:r>
            <a:r>
              <a:rPr lang="en-GB" sz="105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05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</a:p>
        </p:txBody>
      </p:sp>
      <p:sp>
        <p:nvSpPr>
          <p:cNvPr id="22" name="Flèche : bas 21">
            <a:extLst>
              <a:ext uri="{FF2B5EF4-FFF2-40B4-BE49-F238E27FC236}">
                <a16:creationId xmlns:a16="http://schemas.microsoft.com/office/drawing/2014/main" id="{2BCD0A00-083C-505C-4A57-40FD4893ADD3}"/>
              </a:ext>
            </a:extLst>
          </p:cNvPr>
          <p:cNvSpPr/>
          <p:nvPr/>
        </p:nvSpPr>
        <p:spPr>
          <a:xfrm>
            <a:off x="10591827" y="2032996"/>
            <a:ext cx="321733" cy="2614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A576355-8BF2-67E4-1DBD-383313C1FAE1}"/>
              </a:ext>
            </a:extLst>
          </p:cNvPr>
          <p:cNvSpPr txBox="1"/>
          <p:nvPr/>
        </p:nvSpPr>
        <p:spPr>
          <a:xfrm>
            <a:off x="118533" y="4495800"/>
            <a:ext cx="22013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  <a:t>NB: Amélioration du processus  RR sur base des difficultés rencontrées et Leçons apprises de la CVPFJ Bloc 6 </a:t>
            </a:r>
          </a:p>
        </p:txBody>
      </p:sp>
    </p:spTree>
    <p:extLst>
      <p:ext uri="{BB962C8B-B14F-4D97-AF65-F5344CB8AC3E}">
        <p14:creationId xmlns:p14="http://schemas.microsoft.com/office/powerpoint/2010/main" val="106172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blurRad="1905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19649" cy="75895"/>
          </a:xfrm>
          <a:prstGeom prst="rect">
            <a:avLst/>
          </a:prstGeom>
          <a:solidFill>
            <a:srgbClr val="0077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418734" y="0"/>
            <a:ext cx="2714854" cy="75895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8128102" y="0"/>
            <a:ext cx="1362456" cy="75895"/>
          </a:xfrm>
          <a:prstGeom prst="rect">
            <a:avLst/>
          </a:prstGeom>
          <a:solidFill>
            <a:srgbClr val="CE10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9482328" y="0"/>
            <a:ext cx="2714854" cy="75895"/>
          </a:xfrm>
          <a:prstGeom prst="rect">
            <a:avLst/>
          </a:prstGeom>
          <a:solidFill>
            <a:srgbClr val="009B4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71500" y="975665"/>
            <a:ext cx="1543507" cy="352044"/>
          </a:xfrm>
          <a:prstGeom prst="roundRect">
            <a:avLst>
              <a:gd name="adj" fmla="val 140400"/>
            </a:avLst>
          </a:prstGeom>
          <a:solidFill>
            <a:srgbClr val="E0F2FE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4205" y="1084478"/>
            <a:ext cx="133502" cy="13350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33602" y="1060704"/>
            <a:ext cx="11292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77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POINTS FORTS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71500" y="1508760"/>
            <a:ext cx="4167835" cy="1457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Innovation dans la Remontée des Données</a:t>
            </a:r>
            <a:endParaRPr lang="en-US" sz="3100" dirty="0"/>
          </a:p>
        </p:txBody>
      </p:sp>
      <p:sp>
        <p:nvSpPr>
          <p:cNvPr id="12" name="Shape 9"/>
          <p:cNvSpPr/>
          <p:nvPr/>
        </p:nvSpPr>
        <p:spPr>
          <a:xfrm>
            <a:off x="571500" y="3187598"/>
            <a:ext cx="38405" cy="1371600"/>
          </a:xfrm>
          <a:prstGeom prst="rect">
            <a:avLst/>
          </a:prstGeom>
          <a:solidFill>
            <a:srgbClr val="009B4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 txBox="1"/>
          <p:nvPr/>
        </p:nvSpPr>
        <p:spPr>
          <a:xfrm>
            <a:off x="719023" y="3215945"/>
            <a:ext cx="3744163" cy="1507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Book Antiqua" panose="02040602050305030304" pitchFamily="18" charset="0"/>
                <a:ea typeface="Roboto" pitchFamily="34" charset="-122"/>
                <a:cs typeface="Roboto" pitchFamily="34" charset="-120"/>
              </a:rPr>
              <a:t>La mise en place de l'approche innovante de gestion des données  (second data dans les ZS avec plus </a:t>
            </a:r>
            <a:r>
              <a:rPr lang="en-US" sz="1300" dirty="0" err="1">
                <a:solidFill>
                  <a:srgbClr val="475569"/>
                </a:solidFill>
                <a:latin typeface="Book Antiqua" panose="02040602050305030304" pitchFamily="18" charset="0"/>
                <a:ea typeface="Roboto" pitchFamily="34" charset="-122"/>
                <a:cs typeface="Roboto" pitchFamily="34" charset="-120"/>
              </a:rPr>
              <a:t>d’AS</a:t>
            </a:r>
            <a:r>
              <a:rPr lang="en-US" sz="1300" dirty="0">
                <a:solidFill>
                  <a:srgbClr val="475569"/>
                </a:solidFill>
                <a:latin typeface="Book Antiqua" panose="02040602050305030304" pitchFamily="18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300" dirty="0" err="1">
                <a:solidFill>
                  <a:srgbClr val="475569"/>
                </a:solidFill>
                <a:latin typeface="Book Antiqua" panose="02040602050305030304" pitchFamily="18" charset="0"/>
                <a:ea typeface="Roboto" pitchFamily="34" charset="-122"/>
                <a:cs typeface="Roboto" pitchFamily="34" charset="-120"/>
              </a:rPr>
              <a:t>fourniture</a:t>
            </a:r>
            <a:r>
              <a:rPr lang="en-US" sz="1300" dirty="0">
                <a:solidFill>
                  <a:srgbClr val="475569"/>
                </a:solidFill>
                <a:latin typeface="Book Antiqua" panose="02040602050305030304" pitchFamily="18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dirty="0" err="1">
                <a:solidFill>
                  <a:srgbClr val="475569"/>
                </a:solidFill>
                <a:latin typeface="Book Antiqua" panose="02040602050305030304" pitchFamily="18" charset="0"/>
                <a:ea typeface="Roboto" pitchFamily="34" charset="-122"/>
                <a:cs typeface="Roboto" pitchFamily="34" charset="-120"/>
              </a:rPr>
              <a:t>en</a:t>
            </a:r>
            <a:r>
              <a:rPr lang="en-US" sz="1300" dirty="0">
                <a:solidFill>
                  <a:srgbClr val="475569"/>
                </a:solidFill>
                <a:latin typeface="Book Antiqua" panose="02040602050305030304" pitchFamily="18" charset="0"/>
                <a:ea typeface="Roboto" pitchFamily="34" charset="-122"/>
                <a:cs typeface="Roboto" pitchFamily="34" charset="-120"/>
              </a:rPr>
              <a:t> Mega, moyens de transport au </a:t>
            </a:r>
            <a:r>
              <a:rPr lang="en-US" sz="1300" dirty="0" err="1">
                <a:solidFill>
                  <a:srgbClr val="475569"/>
                </a:solidFill>
                <a:latin typeface="Book Antiqua" panose="02040602050305030304" pitchFamily="18" charset="0"/>
                <a:ea typeface="Roboto" pitchFamily="34" charset="-122"/>
                <a:cs typeface="Roboto" pitchFamily="34" charset="-120"/>
              </a:rPr>
              <a:t>collecteur</a:t>
            </a:r>
            <a:r>
              <a:rPr lang="en-US" sz="1300" dirty="0">
                <a:solidFill>
                  <a:srgbClr val="475569"/>
                </a:solidFill>
                <a:latin typeface="Book Antiqua" panose="02040602050305030304" pitchFamily="18" charset="0"/>
                <a:ea typeface="Roboto" pitchFamily="34" charset="-122"/>
                <a:cs typeface="Roboto" pitchFamily="34" charset="-120"/>
              </a:rPr>
              <a:t> des données a permis d'améliorer significativement la </a:t>
            </a:r>
            <a:r>
              <a:rPr lang="en-US" sz="1300" dirty="0" err="1">
                <a:solidFill>
                  <a:srgbClr val="475569"/>
                </a:solidFill>
                <a:latin typeface="Book Antiqua" panose="02040602050305030304" pitchFamily="18" charset="0"/>
                <a:ea typeface="Roboto" pitchFamily="34" charset="-122"/>
                <a:cs typeface="Roboto" pitchFamily="34" charset="-120"/>
              </a:rPr>
              <a:t>complétude</a:t>
            </a:r>
            <a:r>
              <a:rPr lang="en-US" sz="1300" dirty="0">
                <a:solidFill>
                  <a:srgbClr val="475569"/>
                </a:solidFill>
                <a:latin typeface="Book Antiqua" panose="02040602050305030304" pitchFamily="18" charset="0"/>
                <a:ea typeface="Roboto" pitchFamily="34" charset="-122"/>
                <a:cs typeface="Roboto" pitchFamily="34" charset="-120"/>
              </a:rPr>
              <a:t> , la promptitude et la visualisation des informations sanitaires durant la campagne.</a:t>
            </a:r>
            <a:endParaRPr lang="en-US" sz="1300" dirty="0">
              <a:latin typeface="Book Antiqua" panose="02040602050305030304" pitchFamily="18" charset="0"/>
            </a:endParaRP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t="255" b="254"/>
          <a:stretch/>
        </p:blipFill>
        <p:spPr>
          <a:xfrm>
            <a:off x="571500" y="4939589"/>
            <a:ext cx="638251" cy="757123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348740" y="4939589"/>
            <a:ext cx="9144" cy="381305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01445" y="5053889"/>
            <a:ext cx="152705" cy="15270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0045" y="5015484"/>
            <a:ext cx="109109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819802" y="457200"/>
            <a:ext cx="3305556" cy="2667305"/>
          </a:xfrm>
          <a:prstGeom prst="roundRect">
            <a:avLst>
              <a:gd name="adj" fmla="val 14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4"/>
          <p:cNvSpPr/>
          <p:nvPr/>
        </p:nvSpPr>
        <p:spPr>
          <a:xfrm>
            <a:off x="4819802" y="457200"/>
            <a:ext cx="38405" cy="2648102"/>
          </a:xfrm>
          <a:prstGeom prst="rect">
            <a:avLst/>
          </a:prstGeom>
          <a:solidFill>
            <a:srgbClr val="0077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5"/>
          <p:cNvSpPr/>
          <p:nvPr/>
        </p:nvSpPr>
        <p:spPr>
          <a:xfrm>
            <a:off x="5057546" y="694944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0F2FE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5201107" y="828446"/>
            <a:ext cx="171907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29046" y="814730"/>
            <a:ext cx="183428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Plateforme Unique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5057546" y="1324051"/>
            <a:ext cx="2736799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Utilisation du DHIS2 comme unique plateforme centralisée pour le rapportage des données journalières, éliminant les doublons et les incohérences.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057546" y="2619756"/>
            <a:ext cx="2829154" cy="267005"/>
          </a:xfrm>
          <a:prstGeom prst="roundRect">
            <a:avLst>
              <a:gd name="adj" fmla="val 195695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181905" y="2695651"/>
            <a:ext cx="114300" cy="1143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72100" y="2667305"/>
            <a:ext cx="6574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284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Temps réel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8315554" y="457200"/>
            <a:ext cx="3305556" cy="2667305"/>
          </a:xfrm>
          <a:prstGeom prst="roundRect">
            <a:avLst>
              <a:gd name="adj" fmla="val 14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1"/>
          <p:cNvSpPr/>
          <p:nvPr/>
        </p:nvSpPr>
        <p:spPr>
          <a:xfrm>
            <a:off x="8315554" y="457200"/>
            <a:ext cx="38405" cy="2648102"/>
          </a:xfrm>
          <a:prstGeom prst="rect">
            <a:avLst/>
          </a:prstGeom>
          <a:solidFill>
            <a:srgbClr val="009B4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2"/>
          <p:cNvSpPr/>
          <p:nvPr/>
        </p:nvSpPr>
        <p:spPr>
          <a:xfrm>
            <a:off x="8553298" y="694944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710574" y="828446"/>
            <a:ext cx="142646" cy="19019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124798" y="814730"/>
            <a:ext cx="18242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Preuve Numérique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8553298" y="1324051"/>
            <a:ext cx="2870302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Capture de la photo du rapport journalier de l'aire de santé via l'application Gestion PEV pour une transmission immédiate et verifiable par le </a:t>
            </a:r>
            <a:r>
              <a:rPr lang="en-US" sz="1100" dirty="0" err="1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collecteur</a:t>
            </a:r>
            <a:r>
              <a:rPr lang="en-US" sz="11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des données.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8553298" y="2619756"/>
            <a:ext cx="2829154" cy="267005"/>
          </a:xfrm>
          <a:prstGeom prst="roundRect">
            <a:avLst>
              <a:gd name="adj" fmla="val 195695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8677656" y="2695651"/>
            <a:ext cx="105156" cy="11430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858707" y="2667305"/>
            <a:ext cx="6291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9B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Traçabilité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4819802" y="3314700"/>
            <a:ext cx="3305556" cy="2667305"/>
          </a:xfrm>
          <a:prstGeom prst="roundRect">
            <a:avLst>
              <a:gd name="adj" fmla="val 14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Shape 28"/>
          <p:cNvSpPr/>
          <p:nvPr/>
        </p:nvSpPr>
        <p:spPr>
          <a:xfrm>
            <a:off x="4819802" y="3314700"/>
            <a:ext cx="38405" cy="264810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29"/>
          <p:cNvSpPr/>
          <p:nvPr/>
        </p:nvSpPr>
        <p:spPr>
          <a:xfrm>
            <a:off x="5057546" y="3552444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rcRect l="-1282" r="-1282"/>
          <a:stretch/>
        </p:blipFill>
        <p:spPr>
          <a:xfrm>
            <a:off x="5176418" y="3685946"/>
            <a:ext cx="219456" cy="190195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5629046" y="3672230"/>
            <a:ext cx="15956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Analyse Visuelle</a:t>
            </a:r>
            <a:endParaRPr lang="en-US" sz="1300" dirty="0"/>
          </a:p>
        </p:txBody>
      </p:sp>
      <p:sp>
        <p:nvSpPr>
          <p:cNvPr id="41" name="Text 31"/>
          <p:cNvSpPr txBox="1"/>
          <p:nvPr/>
        </p:nvSpPr>
        <p:spPr>
          <a:xfrm>
            <a:off x="5057546" y="4181551"/>
            <a:ext cx="2765146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Intégration de Power BI avec DHIS2 permettant une analyse dynamique et une visualisation rapide des performances à tous les niveaux de la pyramide sanitaire.</a:t>
            </a:r>
            <a:endParaRPr lang="en-US" sz="1100" dirty="0"/>
          </a:p>
        </p:txBody>
      </p:sp>
      <p:sp>
        <p:nvSpPr>
          <p:cNvPr id="42" name="Shape 32"/>
          <p:cNvSpPr/>
          <p:nvPr/>
        </p:nvSpPr>
        <p:spPr>
          <a:xfrm>
            <a:off x="5057546" y="5477256"/>
            <a:ext cx="2829154" cy="267005"/>
          </a:xfrm>
          <a:prstGeom prst="roundRect">
            <a:avLst>
              <a:gd name="adj" fmla="val 195695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1"/>
          <a:srcRect l="-1911" r="-1911"/>
          <a:stretch/>
        </p:blipFill>
        <p:spPr>
          <a:xfrm>
            <a:off x="5181905" y="5553151"/>
            <a:ext cx="133502" cy="114300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5391302" y="5524805"/>
            <a:ext cx="9912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Aide à la décision</a:t>
            </a:r>
            <a:endParaRPr lang="en-US" sz="900" dirty="0"/>
          </a:p>
        </p:txBody>
      </p:sp>
      <p:sp>
        <p:nvSpPr>
          <p:cNvPr id="45" name="Shape 34"/>
          <p:cNvSpPr/>
          <p:nvPr/>
        </p:nvSpPr>
        <p:spPr>
          <a:xfrm>
            <a:off x="8315554" y="3314700"/>
            <a:ext cx="3305556" cy="2667305"/>
          </a:xfrm>
          <a:prstGeom prst="roundRect">
            <a:avLst>
              <a:gd name="adj" fmla="val 14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6" name="Shape 35"/>
          <p:cNvSpPr/>
          <p:nvPr/>
        </p:nvSpPr>
        <p:spPr>
          <a:xfrm>
            <a:off x="8315554" y="3314700"/>
            <a:ext cx="38405" cy="264810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Shape 36"/>
          <p:cNvSpPr/>
          <p:nvPr/>
        </p:nvSpPr>
        <p:spPr>
          <a:xfrm>
            <a:off x="8553298" y="3552444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3E8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663026" y="3685946"/>
            <a:ext cx="237744" cy="190195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9124798" y="3672230"/>
            <a:ext cx="234817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Renforcement Capacités</a:t>
            </a:r>
            <a:endParaRPr lang="en-US" sz="1300" dirty="0"/>
          </a:p>
        </p:txBody>
      </p:sp>
      <p:sp>
        <p:nvSpPr>
          <p:cNvPr id="50" name="Text 38"/>
          <p:cNvSpPr txBox="1"/>
          <p:nvPr/>
        </p:nvSpPr>
        <p:spPr>
          <a:xfrm>
            <a:off x="8553298" y="4181551"/>
            <a:ext cx="277429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Formation des gestionnaires au chef-lieu, améliorant l'interprétation et la qualité des données remontées depuis les aires de santé.</a:t>
            </a:r>
            <a:endParaRPr lang="en-US" sz="1100" dirty="0"/>
          </a:p>
        </p:txBody>
      </p:sp>
      <p:sp>
        <p:nvSpPr>
          <p:cNvPr id="51" name="Shape 39"/>
          <p:cNvSpPr/>
          <p:nvPr/>
        </p:nvSpPr>
        <p:spPr>
          <a:xfrm>
            <a:off x="8553298" y="5477256"/>
            <a:ext cx="2829154" cy="267005"/>
          </a:xfrm>
          <a:prstGeom prst="roundRect">
            <a:avLst>
              <a:gd name="adj" fmla="val 195695"/>
            </a:avLst>
          </a:prstGeom>
          <a:solidFill>
            <a:srgbClr val="F3E8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2" name="Image 10" descr="preencoded.png"/>
          <p:cNvPicPr>
            <a:picLocks noChangeAspect="1"/>
          </p:cNvPicPr>
          <p:nvPr/>
        </p:nvPicPr>
        <p:blipFill>
          <a:blip r:embed="rId13"/>
          <a:srcRect l="-2571" r="-2571"/>
          <a:stretch/>
        </p:blipFill>
        <p:spPr>
          <a:xfrm>
            <a:off x="8677656" y="5553151"/>
            <a:ext cx="105156" cy="114300"/>
          </a:xfrm>
          <a:prstGeom prst="rect">
            <a:avLst/>
          </a:prstGeom>
        </p:spPr>
      </p:pic>
      <p:sp>
        <p:nvSpPr>
          <p:cNvPr id="53" name="Text 40"/>
          <p:cNvSpPr txBox="1"/>
          <p:nvPr/>
        </p:nvSpPr>
        <p:spPr>
          <a:xfrm>
            <a:off x="8858707" y="5524805"/>
            <a:ext cx="11338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C3AE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Qualité des données</a:t>
            </a:r>
            <a:endParaRPr lang="en-US" sz="900" dirty="0"/>
          </a:p>
        </p:txBody>
      </p:sp>
      <p:sp>
        <p:nvSpPr>
          <p:cNvPr id="54" name="Shape 41"/>
          <p:cNvSpPr/>
          <p:nvPr/>
        </p:nvSpPr>
        <p:spPr>
          <a:xfrm>
            <a:off x="0" y="6362395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" name="Titre 1">
            <a:extLst>
              <a:ext uri="{FF2B5EF4-FFF2-40B4-BE49-F238E27FC236}">
                <a16:creationId xmlns:a16="http://schemas.microsoft.com/office/drawing/2014/main" id="{210640A3-6BCD-1AB5-F839-3DBF758D5C8C}"/>
              </a:ext>
            </a:extLst>
          </p:cNvPr>
          <p:cNvSpPr txBox="1">
            <a:spLocks/>
          </p:cNvSpPr>
          <p:nvPr/>
        </p:nvSpPr>
        <p:spPr>
          <a:xfrm>
            <a:off x="309787" y="6493"/>
            <a:ext cx="11881908" cy="554948"/>
          </a:xfrm>
          <a:prstGeom prst="rect">
            <a:avLst/>
          </a:prstGeom>
          <a:noFill/>
          <a:ln w="9525" cap="flat">
            <a:solidFill>
              <a:schemeClr val="accent1"/>
            </a:solidFill>
            <a:miter lim="800000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br>
              <a:rPr 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</a:br>
            <a:br>
              <a:rPr 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</a:br>
            <a:r>
              <a:rPr 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  <a:t>4. Processus (1/2) </a:t>
            </a:r>
            <a:br>
              <a:rPr 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</a:br>
            <a:br>
              <a:rPr 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</a:br>
            <a:endParaRPr lang="fr-FR" sz="2400" b="1" dirty="0">
              <a:solidFill>
                <a:srgbClr val="0000FF"/>
              </a:solidFill>
              <a:latin typeface="Book Antiqua" panose="02040602050305030304" pitchFamily="18" charset="0"/>
              <a:ea typeface="MS PGothic" panose="020B0600070205080204" pitchFamily="34" charset="-128"/>
            </a:endParaRPr>
          </a:p>
        </p:txBody>
      </p:sp>
      <p:sp>
        <p:nvSpPr>
          <p:cNvPr id="59" name="Google Shape;135;p14">
            <a:extLst>
              <a:ext uri="{FF2B5EF4-FFF2-40B4-BE49-F238E27FC236}">
                <a16:creationId xmlns:a16="http://schemas.microsoft.com/office/drawing/2014/main" id="{BEB00A60-8AAD-E420-BF9F-02DE38D9B65A}"/>
              </a:ext>
            </a:extLst>
          </p:cNvPr>
          <p:cNvSpPr/>
          <p:nvPr/>
        </p:nvSpPr>
        <p:spPr>
          <a:xfrm>
            <a:off x="32100" y="284073"/>
            <a:ext cx="235600" cy="609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endParaRPr sz="1867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486460"/>
            <a:ext cx="12191695" cy="6371539"/>
          </a:xfrm>
          <a:prstGeom prst="rect">
            <a:avLst/>
          </a:prstGeom>
          <a:solidFill>
            <a:srgbClr val="FFFFFF"/>
          </a:solidFill>
          <a:ln/>
          <a:effectLst>
            <a:outerShdw blurRad="1905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742846" cy="75895"/>
          </a:xfrm>
          <a:prstGeom prst="rect">
            <a:avLst/>
          </a:prstGeom>
          <a:solidFill>
            <a:srgbClr val="0077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741932" y="0"/>
            <a:ext cx="1742846" cy="75895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483864" y="0"/>
            <a:ext cx="6972300" cy="75895"/>
          </a:xfrm>
          <a:prstGeom prst="rect">
            <a:avLst/>
          </a:prstGeom>
          <a:solidFill>
            <a:srgbClr val="CE10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0450678" y="0"/>
            <a:ext cx="1742846" cy="75895"/>
          </a:xfrm>
          <a:prstGeom prst="rect">
            <a:avLst/>
          </a:prstGeom>
          <a:solidFill>
            <a:srgbClr val="009B4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71500" y="555041"/>
            <a:ext cx="2057400" cy="371246"/>
          </a:xfrm>
          <a:prstGeom prst="roundRect">
            <a:avLst>
              <a:gd name="adj" fmla="val 12631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3349" y="673913"/>
            <a:ext cx="133502" cy="13350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42746" y="650138"/>
            <a:ext cx="16248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C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ZONES DE VIGILANCE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71500" y="1107338"/>
            <a:ext cx="3888943" cy="138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Difficultés</a:t>
            </a:r>
            <a:r>
              <a:rPr lang="en-US" sz="30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000" b="1" dirty="0" err="1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Rencontrées</a:t>
            </a:r>
            <a:r>
              <a:rPr lang="en-US" sz="30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&amp; Axes d'Amélioration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571500" y="2716682"/>
            <a:ext cx="38405" cy="1371600"/>
          </a:xfrm>
          <a:prstGeom prst="rect">
            <a:avLst/>
          </a:prstGeom>
          <a:solidFill>
            <a:srgbClr val="CE10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 txBox="1"/>
          <p:nvPr/>
        </p:nvSpPr>
        <p:spPr>
          <a:xfrm>
            <a:off x="800100" y="2745943"/>
            <a:ext cx="3300984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L'analyse du Bloc 1 a révélé des goulots d'étranglement critiques aux niveaux logistique, financier et organisationnel qui nécessitent des actions correctives immédiates.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71500" y="4564685"/>
            <a:ext cx="3543300" cy="1324051"/>
          </a:xfrm>
          <a:prstGeom prst="roundRect">
            <a:avLst>
              <a:gd name="adj" fmla="val 5962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571500" y="4564685"/>
            <a:ext cx="38405" cy="1324051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0100" y="4788713"/>
            <a:ext cx="133502" cy="13350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009498" y="4754880"/>
            <a:ext cx="19385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Impact global sur la campagne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800100" y="5088636"/>
            <a:ext cx="21433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Domaines</a:t>
            </a:r>
            <a:endParaRPr lang="en-US" sz="2400" dirty="0"/>
          </a:p>
        </p:txBody>
      </p:sp>
      <p:sp>
        <p:nvSpPr>
          <p:cNvPr id="19" name="Text 15"/>
          <p:cNvSpPr txBox="1"/>
          <p:nvPr/>
        </p:nvSpPr>
        <p:spPr>
          <a:xfrm>
            <a:off x="800100" y="5526634"/>
            <a:ext cx="210312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Nécessitant une révision stratégique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582973" y="840334"/>
            <a:ext cx="7039051" cy="1514246"/>
          </a:xfrm>
          <a:prstGeom prst="roundRect">
            <a:avLst>
              <a:gd name="adj" fmla="val 4557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7"/>
          <p:cNvSpPr/>
          <p:nvPr/>
        </p:nvSpPr>
        <p:spPr>
          <a:xfrm>
            <a:off x="4925873" y="1116482"/>
            <a:ext cx="533095" cy="533095"/>
          </a:xfrm>
          <a:prstGeom prst="ellipse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5050231" y="1269187"/>
            <a:ext cx="286207" cy="228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688482" y="1098194"/>
            <a:ext cx="23746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Qualité de la Formation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10666476" y="1098194"/>
            <a:ext cx="666598" cy="237744"/>
          </a:xfrm>
          <a:prstGeom prst="roundRect">
            <a:avLst>
              <a:gd name="adj" fmla="val 184615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0"/>
          <p:cNvSpPr txBox="1"/>
          <p:nvPr/>
        </p:nvSpPr>
        <p:spPr>
          <a:xfrm>
            <a:off x="10761574" y="1145743"/>
            <a:ext cx="5550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MAJEUR</a:t>
            </a:r>
            <a:endParaRPr lang="en-US" sz="800" dirty="0"/>
          </a:p>
        </p:txBody>
      </p:sp>
      <p:sp>
        <p:nvSpPr>
          <p:cNvPr id="26" name="Text 21"/>
          <p:cNvSpPr txBox="1"/>
          <p:nvPr/>
        </p:nvSpPr>
        <p:spPr>
          <a:xfrm>
            <a:off x="5688482" y="1445666"/>
            <a:ext cx="5402851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formation "à la hâte" due à l'arrivée tardive des </a:t>
            </a:r>
            <a:r>
              <a:rPr lang="en-US" sz="1200" dirty="0" err="1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superviseurs</a:t>
            </a:r>
            <a:r>
              <a:rPr lang="en-US" sz="12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nationaux</a:t>
            </a:r>
            <a:r>
              <a:rPr lang="en-US" sz="12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dans 3 provinces du Nord a compromis la maîtrise parfaite des lignes directrices par les équipes opérationnelles.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4582973" y="2578608"/>
            <a:ext cx="7039051" cy="1285646"/>
          </a:xfrm>
          <a:prstGeom prst="roundRect">
            <a:avLst>
              <a:gd name="adj" fmla="val 6322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3"/>
          <p:cNvSpPr/>
          <p:nvPr/>
        </p:nvSpPr>
        <p:spPr>
          <a:xfrm>
            <a:off x="4925873" y="2854757"/>
            <a:ext cx="533095" cy="533095"/>
          </a:xfrm>
          <a:prstGeom prst="ellipse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5063947" y="3007462"/>
            <a:ext cx="256946" cy="22860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5688482" y="2836469"/>
            <a:ext cx="21177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Logistique &amp; Intrants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10666476" y="2836469"/>
            <a:ext cx="666598" cy="237744"/>
          </a:xfrm>
          <a:prstGeom prst="roundRect">
            <a:avLst>
              <a:gd name="adj" fmla="val 184615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26"/>
          <p:cNvSpPr txBox="1"/>
          <p:nvPr/>
        </p:nvSpPr>
        <p:spPr>
          <a:xfrm>
            <a:off x="10761574" y="2884018"/>
            <a:ext cx="5550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MAJEUR</a:t>
            </a:r>
            <a:endParaRPr lang="en-US" sz="800" dirty="0"/>
          </a:p>
        </p:txBody>
      </p:sp>
      <p:sp>
        <p:nvSpPr>
          <p:cNvPr id="33" name="Text 27"/>
          <p:cNvSpPr txBox="1"/>
          <p:nvPr/>
        </p:nvSpPr>
        <p:spPr>
          <a:xfrm>
            <a:off x="5688482" y="3183941"/>
            <a:ext cx="5591556" cy="618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Livraison fractionnée des vaccins, kits MAPI, </a:t>
            </a:r>
            <a:r>
              <a:rPr lang="en-US" sz="1200" dirty="0" err="1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outils</a:t>
            </a:r>
            <a:r>
              <a:rPr lang="en-US" sz="12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gestion et supports de communication </a:t>
            </a:r>
            <a:r>
              <a:rPr lang="en-US" sz="1200" dirty="0" err="1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entraînant</a:t>
            </a:r>
            <a:r>
              <a:rPr lang="en-US" sz="12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des erreurs de quantités et des surcoûts pour le déploiement vers les zones de santé.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582973" y="4088282"/>
            <a:ext cx="7039051" cy="1514246"/>
          </a:xfrm>
          <a:prstGeom prst="roundRect">
            <a:avLst>
              <a:gd name="adj" fmla="val 4557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29"/>
          <p:cNvSpPr/>
          <p:nvPr/>
        </p:nvSpPr>
        <p:spPr>
          <a:xfrm>
            <a:off x="4925873" y="4364431"/>
            <a:ext cx="533095" cy="533095"/>
          </a:xfrm>
          <a:prstGeom prst="ellipse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5063947" y="4517136"/>
            <a:ext cx="256946" cy="22860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5688482" y="4346143"/>
            <a:ext cx="19741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Paiements des AVS</a:t>
            </a:r>
            <a:endParaRPr lang="en-US" sz="1400" dirty="0"/>
          </a:p>
        </p:txBody>
      </p:sp>
      <p:sp>
        <p:nvSpPr>
          <p:cNvPr id="38" name="Shape 31"/>
          <p:cNvSpPr/>
          <p:nvPr/>
        </p:nvSpPr>
        <p:spPr>
          <a:xfrm>
            <a:off x="10607040" y="4346143"/>
            <a:ext cx="724205" cy="237744"/>
          </a:xfrm>
          <a:prstGeom prst="roundRect">
            <a:avLst>
              <a:gd name="adj" fmla="val 184615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2"/>
          <p:cNvSpPr txBox="1"/>
          <p:nvPr/>
        </p:nvSpPr>
        <p:spPr>
          <a:xfrm>
            <a:off x="10702138" y="4393692"/>
            <a:ext cx="61264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CRITIQUE</a:t>
            </a:r>
            <a:endParaRPr lang="en-US" sz="800" dirty="0"/>
          </a:p>
        </p:txBody>
      </p:sp>
      <p:sp>
        <p:nvSpPr>
          <p:cNvPr id="40" name="Text 33"/>
          <p:cNvSpPr txBox="1"/>
          <p:nvPr/>
        </p:nvSpPr>
        <p:spPr>
          <a:xfrm>
            <a:off x="5688482" y="4693615"/>
            <a:ext cx="5267858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 retard de paiement des Activités de Vaccination Supplémentaires (AVS) antérieures a constitué un risque majeur pour l'adhésion et la motivation des acteurs de terrain.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0" y="6362395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Google Shape;135;p14">
            <a:extLst>
              <a:ext uri="{FF2B5EF4-FFF2-40B4-BE49-F238E27FC236}">
                <a16:creationId xmlns:a16="http://schemas.microsoft.com/office/drawing/2014/main" id="{BBABD417-F9C3-AAF9-D962-433CF9ECD317}"/>
              </a:ext>
            </a:extLst>
          </p:cNvPr>
          <p:cNvSpPr/>
          <p:nvPr/>
        </p:nvSpPr>
        <p:spPr>
          <a:xfrm>
            <a:off x="32100" y="284073"/>
            <a:ext cx="235600" cy="609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endParaRPr sz="1867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" name="Titre 1">
            <a:extLst>
              <a:ext uri="{FF2B5EF4-FFF2-40B4-BE49-F238E27FC236}">
                <a16:creationId xmlns:a16="http://schemas.microsoft.com/office/drawing/2014/main" id="{0BF74F45-EA2D-B0B3-CD21-1B81CC19C312}"/>
              </a:ext>
            </a:extLst>
          </p:cNvPr>
          <p:cNvSpPr txBox="1">
            <a:spLocks/>
          </p:cNvSpPr>
          <p:nvPr/>
        </p:nvSpPr>
        <p:spPr>
          <a:xfrm>
            <a:off x="309787" y="6493"/>
            <a:ext cx="11881908" cy="554948"/>
          </a:xfrm>
          <a:prstGeom prst="rect">
            <a:avLst/>
          </a:prstGeom>
          <a:noFill/>
          <a:ln w="9525" cap="flat">
            <a:solidFill>
              <a:schemeClr val="accent1"/>
            </a:solidFill>
            <a:miter lim="800000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br>
              <a:rPr 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</a:br>
            <a:br>
              <a:rPr 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</a:br>
            <a:r>
              <a:rPr 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  <a:t>4. Processus (2/2) </a:t>
            </a:r>
            <a:br>
              <a:rPr 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</a:br>
            <a:br>
              <a:rPr 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</a:br>
            <a:endParaRPr lang="fr-FR" sz="2400" b="1" dirty="0">
              <a:solidFill>
                <a:srgbClr val="0000FF"/>
              </a:solidFill>
              <a:latin typeface="Book Antiqua" panose="0204060205030503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B0C79-C2A1-1A53-8DA4-0B8BF7DFF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5E575F3F-8D03-DFFD-A803-94CE58B08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183" y="52078"/>
            <a:ext cx="11338560" cy="540105"/>
          </a:xfrm>
          <a:noFill/>
          <a:ln w="9525" cap="flat">
            <a:solidFill>
              <a:schemeClr val="accent1"/>
            </a:solidFill>
            <a:miter lim="800000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br>
              <a:rPr lang="fr-FR" sz="26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</a:br>
            <a:r>
              <a:rPr lang="fr-FR" sz="26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  <a:t> 5. Défis</a:t>
            </a:r>
            <a:br>
              <a:rPr lang="fr-FR" sz="2600" dirty="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fr-FR" sz="2600" b="1" dirty="0">
              <a:solidFill>
                <a:srgbClr val="FF0000"/>
              </a:solidFill>
              <a:latin typeface="Book Antiqua" panose="02040602050305030304" pitchFamily="18" charset="0"/>
              <a:ea typeface="MS PGothic" panose="020B0600070205080204" pitchFamily="34" charset="-128"/>
            </a:endParaRPr>
          </a:p>
        </p:txBody>
      </p:sp>
      <p:sp>
        <p:nvSpPr>
          <p:cNvPr id="5" name="Google Shape;128;p14">
            <a:extLst>
              <a:ext uri="{FF2B5EF4-FFF2-40B4-BE49-F238E27FC236}">
                <a16:creationId xmlns:a16="http://schemas.microsoft.com/office/drawing/2014/main" id="{ABDB9F51-2B43-35FD-1282-597CB8415C6B}"/>
              </a:ext>
            </a:extLst>
          </p:cNvPr>
          <p:cNvSpPr/>
          <p:nvPr/>
        </p:nvSpPr>
        <p:spPr>
          <a:xfrm>
            <a:off x="139150" y="115897"/>
            <a:ext cx="307739" cy="93189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sz="1400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67BF5AAA-55C4-8FEA-0B04-E895D11B18BE}"/>
              </a:ext>
            </a:extLst>
          </p:cNvPr>
          <p:cNvSpPr txBox="1">
            <a:spLocks/>
          </p:cNvSpPr>
          <p:nvPr/>
        </p:nvSpPr>
        <p:spPr>
          <a:xfrm>
            <a:off x="592183" y="722812"/>
            <a:ext cx="6086019" cy="57088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8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0863">
              <a:lnSpc>
                <a:spcPct val="150000"/>
              </a:lnSpc>
              <a:buClr>
                <a:schemeClr val="dk1"/>
              </a:buClr>
              <a:buSzPts val="1700"/>
            </a:pPr>
            <a:r>
              <a:rPr lang="en-GB" sz="1800" b="1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Respect du </a:t>
            </a:r>
            <a:r>
              <a:rPr lang="en-GB" sz="1800" b="1" dirty="0" err="1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chronogramme</a:t>
            </a:r>
            <a:r>
              <a:rPr lang="en-GB" sz="1800" b="1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</a:t>
            </a:r>
            <a:r>
              <a:rPr lang="en-GB" sz="1800" b="1" dirty="0" err="1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d’activités</a:t>
            </a:r>
            <a:r>
              <a:rPr lang="en-GB" sz="1800" b="1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 /</a:t>
            </a:r>
            <a:r>
              <a:rPr lang="en-GB" sz="1800" b="1" dirty="0" err="1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échéances</a:t>
            </a:r>
            <a:r>
              <a:rPr lang="en-GB" sz="1800" b="1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:</a:t>
            </a:r>
          </a:p>
          <a:p>
            <a:pPr marL="618051" indent="-457189">
              <a:lnSpc>
                <a:spcPct val="150000"/>
              </a:lnSpc>
              <a:buClr>
                <a:schemeClr val="dk1"/>
              </a:buClr>
              <a:buSzPts val="1700"/>
              <a:buFont typeface="+mj-lt"/>
              <a:buAutoNum type="arabicPeriod"/>
            </a:pPr>
            <a:r>
              <a:rPr lang="en-GB" sz="1800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Mise à disposition des fonds dans les provinces/</a:t>
            </a:r>
            <a:r>
              <a:rPr lang="en-GB" sz="1800" b="1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ZS</a:t>
            </a:r>
          </a:p>
          <a:p>
            <a:pPr marL="618051" indent="-457189">
              <a:lnSpc>
                <a:spcPct val="150000"/>
              </a:lnSpc>
              <a:buClr>
                <a:schemeClr val="dk1"/>
              </a:buClr>
              <a:buSzPts val="1700"/>
              <a:buFont typeface="+mj-lt"/>
              <a:buAutoNum type="arabicPeriod"/>
            </a:pPr>
            <a:r>
              <a:rPr lang="en-GB" sz="1800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La reproduction des </a:t>
            </a:r>
            <a:r>
              <a:rPr lang="en-GB" sz="1800" dirty="0" err="1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outils</a:t>
            </a:r>
            <a:r>
              <a:rPr lang="en-GB" sz="1800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de gestion et supports de communication (NC)</a:t>
            </a:r>
          </a:p>
          <a:p>
            <a:pPr marL="618051" indent="-457189">
              <a:lnSpc>
                <a:spcPct val="150000"/>
              </a:lnSpc>
              <a:buClr>
                <a:schemeClr val="dk1"/>
              </a:buClr>
              <a:buSzPts val="1700"/>
              <a:buFont typeface="+mj-lt"/>
              <a:buAutoNum type="arabicPeriod"/>
            </a:pPr>
            <a:r>
              <a:rPr lang="en-GB" sz="1800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Distribution </a:t>
            </a:r>
            <a:r>
              <a:rPr lang="en-GB" sz="1800" dirty="0" err="1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d’intrants</a:t>
            </a:r>
            <a:r>
              <a:rPr lang="en-GB" sz="1800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 du </a:t>
            </a:r>
            <a:r>
              <a:rPr lang="en-GB" sz="1800" dirty="0" err="1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niveau</a:t>
            </a:r>
            <a:r>
              <a:rPr lang="en-GB" sz="1800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central vers les provinces/ </a:t>
            </a:r>
            <a:r>
              <a:rPr lang="en-GB" sz="1800" dirty="0" err="1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antennes</a:t>
            </a:r>
            <a:r>
              <a:rPr lang="en-GB" sz="1800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; des </a:t>
            </a:r>
            <a:r>
              <a:rPr lang="en-GB" sz="1800" dirty="0" err="1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antennes</a:t>
            </a:r>
            <a:r>
              <a:rPr lang="en-GB" sz="1800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vers les ZS et des ZS vers les AS (</a:t>
            </a:r>
            <a:r>
              <a:rPr lang="en-GB" sz="1800" dirty="0" err="1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plusieurs</a:t>
            </a:r>
            <a:r>
              <a:rPr lang="en-GB" sz="1800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rotations et </a:t>
            </a:r>
            <a:r>
              <a:rPr lang="en-GB" sz="1800" dirty="0" err="1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arrivées</a:t>
            </a:r>
            <a:r>
              <a:rPr lang="en-GB" sz="1800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tardives</a:t>
            </a:r>
            <a:r>
              <a:rPr lang="en-GB" sz="1800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)</a:t>
            </a:r>
          </a:p>
          <a:p>
            <a:pPr marL="618051" indent="-457189">
              <a:lnSpc>
                <a:spcPct val="150000"/>
              </a:lnSpc>
              <a:buClr>
                <a:schemeClr val="dk1"/>
              </a:buClr>
              <a:buSzPts val="1700"/>
              <a:buFont typeface="+mj-lt"/>
              <a:buAutoNum type="arabicPeriod"/>
            </a:pPr>
            <a:r>
              <a:rPr lang="en-GB" sz="1800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Selection  des </a:t>
            </a:r>
            <a:r>
              <a:rPr lang="en-GB" sz="1800" dirty="0" err="1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transporteurs</a:t>
            </a:r>
            <a:r>
              <a:rPr lang="en-GB" sz="1800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, </a:t>
            </a:r>
            <a:r>
              <a:rPr lang="en-GB" sz="1800" dirty="0" err="1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fournisseurs</a:t>
            </a:r>
            <a:r>
              <a:rPr lang="en-GB" sz="1800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carburant et piles etc) dans les 7 provinces </a:t>
            </a:r>
            <a:r>
              <a:rPr lang="en-GB" sz="1800" dirty="0" err="1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en</a:t>
            </a:r>
            <a:r>
              <a:rPr lang="en-GB" sz="1800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général</a:t>
            </a:r>
            <a:r>
              <a:rPr lang="en-GB" sz="1800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et </a:t>
            </a:r>
            <a:r>
              <a:rPr lang="en-GB" sz="1800" dirty="0" err="1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en</a:t>
            </a:r>
            <a:r>
              <a:rPr lang="en-GB" sz="1800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particulier  les 3 du </a:t>
            </a:r>
            <a:r>
              <a:rPr lang="en-GB" sz="1800" dirty="0" err="1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nord</a:t>
            </a:r>
            <a:r>
              <a:rPr lang="en-GB" sz="1800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(Bas </a:t>
            </a:r>
            <a:r>
              <a:rPr lang="en-GB" sz="1800" dirty="0" err="1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Uélé</a:t>
            </a:r>
            <a:r>
              <a:rPr lang="en-GB" sz="1800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, Haut </a:t>
            </a:r>
            <a:r>
              <a:rPr lang="en-GB" sz="1800" dirty="0" err="1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Uélé</a:t>
            </a:r>
            <a:r>
              <a:rPr lang="en-GB" sz="1800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et </a:t>
            </a:r>
            <a:r>
              <a:rPr lang="en-GB" sz="1800" dirty="0" err="1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Ituri</a:t>
            </a:r>
            <a:r>
              <a:rPr lang="en-GB" sz="1800" dirty="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)</a:t>
            </a:r>
          </a:p>
        </p:txBody>
      </p:sp>
      <p:sp>
        <p:nvSpPr>
          <p:cNvPr id="9" name="Shape 11">
            <a:extLst>
              <a:ext uri="{FF2B5EF4-FFF2-40B4-BE49-F238E27FC236}">
                <a16:creationId xmlns:a16="http://schemas.microsoft.com/office/drawing/2014/main" id="{C67F38AF-868C-AF75-CBE6-D77DD5C3A0EE}"/>
              </a:ext>
            </a:extLst>
          </p:cNvPr>
          <p:cNvSpPr/>
          <p:nvPr/>
        </p:nvSpPr>
        <p:spPr>
          <a:xfrm>
            <a:off x="6853646" y="1280160"/>
            <a:ext cx="5077097" cy="4241073"/>
          </a:xfrm>
          <a:prstGeom prst="roundRect">
            <a:avLst>
              <a:gd name="adj" fmla="val 5962"/>
            </a:avLst>
          </a:prstGeom>
          <a:solidFill>
            <a:srgbClr val="F1F5F9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r>
              <a:rPr lang="fr-FR" sz="1600" b="1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</a:rPr>
              <a:t>NB : Nous étions à jour avec le chronogramme d’activités sauf un retard 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</a:rPr>
              <a:t>Dans la réception des outils de gestion et supports de communication perturbant la distribution d’intrants (principe du </a:t>
            </a:r>
            <a:r>
              <a:rPr lang="fr-FR" sz="1600" b="1" dirty="0" err="1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</a:rPr>
              <a:t>bundling</a:t>
            </a:r>
            <a:r>
              <a:rPr lang="fr-FR" sz="1600" b="1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</a:rPr>
              <a:t>) dans les provinces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</a:rPr>
              <a:t>Déploiement tardif des superviseurs du niveau central pour les destinations Bas Uélé, Haut Uélé et Ituri  (lié aux horaires de vol)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</a:rPr>
              <a:t>La disponibilité des Kits MAPI (la veille et ou au cours de la campagne)</a:t>
            </a:r>
          </a:p>
          <a:p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900959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355B0-5371-D5F1-4A33-DFEEB50EA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re 1">
            <a:extLst>
              <a:ext uri="{FF2B5EF4-FFF2-40B4-BE49-F238E27FC236}">
                <a16:creationId xmlns:a16="http://schemas.microsoft.com/office/drawing/2014/main" id="{0E6C2EBD-98DF-D778-8A92-C21AF1181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67" y="189185"/>
            <a:ext cx="11391126" cy="655199"/>
          </a:xfrm>
          <a:noFill/>
          <a:ln w="9525" cap="flat">
            <a:solidFill>
              <a:schemeClr val="accent1"/>
            </a:solidFill>
            <a:miter lim="800000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r>
              <a:rPr lang="fr-FR" sz="32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  <a:t>6. Leçons apprises</a:t>
            </a:r>
          </a:p>
        </p:txBody>
      </p:sp>
      <p:sp>
        <p:nvSpPr>
          <p:cNvPr id="5123" name="Espace réservé du contenu 2">
            <a:extLst>
              <a:ext uri="{FF2B5EF4-FFF2-40B4-BE49-F238E27FC236}">
                <a16:creationId xmlns:a16="http://schemas.microsoft.com/office/drawing/2014/main" id="{550E4474-9B45-D441-F475-D3311C426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867" y="855133"/>
            <a:ext cx="11289525" cy="5813681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buClr>
                <a:srgbClr val="38761D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latin typeface="Times New Roman" panose="02020603050405020304"/>
                <a:cs typeface="Times New Roman" panose="02020603050405020304"/>
              </a:rPr>
              <a:t>La régularité du fonctionnement des postes de commandements à tous les niveaux a permis le suivi des préparatifs, l'amélioration de la coordination et la mise en œuvre d’une campagne de qualité en dépit de certaines difficultés rencontrées;</a:t>
            </a:r>
          </a:p>
          <a:p>
            <a:pPr>
              <a:lnSpc>
                <a:spcPct val="150000"/>
              </a:lnSpc>
              <a:buClr>
                <a:srgbClr val="38761D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latin typeface="Times New Roman" panose="02020603050405020304"/>
                <a:cs typeface="Times New Roman" panose="02020603050405020304"/>
              </a:rPr>
              <a:t>La mise en place d’un système de remontée des données plus efficace dans DHIS2 avec une formation plus efficace des gestionnaires de données a permis d’atteindre des taux de complétude de près de 100% dans les 7 provinces du bloc 1 (RR);</a:t>
            </a:r>
            <a:endParaRPr lang="fr-FR" sz="2000" dirty="0">
              <a:latin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150000"/>
              </a:lnSpc>
              <a:buClr>
                <a:srgbClr val="38761D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latin typeface="Times New Roman" panose="02020603050405020304"/>
                <a:cs typeface="Times New Roman" panose="02020603050405020304"/>
              </a:rPr>
              <a:t>La réception tardive et fractionnée au niveau central des outils de gestion et supports de communication ont impacté négativement la disponibilité d’intrants en provinces surtout dans les coins d’accès difficile : Bas Uélé, Haut Uélé, Ituri, Antenne </a:t>
            </a:r>
            <a:r>
              <a:rPr lang="fr-FR" sz="2000" dirty="0" err="1">
                <a:latin typeface="Times New Roman" panose="02020603050405020304"/>
                <a:cs typeface="Times New Roman" panose="02020603050405020304"/>
              </a:rPr>
              <a:t>Kisenge</a:t>
            </a:r>
            <a:r>
              <a:rPr lang="fr-FR" sz="2000" dirty="0">
                <a:latin typeface="Times New Roman" panose="02020603050405020304"/>
                <a:cs typeface="Times New Roman" panose="02020603050405020304"/>
              </a:rPr>
              <a:t> (Lualaba).</a:t>
            </a:r>
          </a:p>
          <a:p>
            <a:pPr>
              <a:lnSpc>
                <a:spcPct val="150000"/>
              </a:lnSpc>
            </a:pPr>
            <a:endParaRPr lang="fr-FR" sz="2800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sz="2800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endParaRPr lang="fr-FR" sz="2800" dirty="0">
              <a:latin typeface="Book Antiqua" panose="02040602050305030304" pitchFamily="18" charset="0"/>
            </a:endParaRPr>
          </a:p>
        </p:txBody>
      </p:sp>
      <p:sp>
        <p:nvSpPr>
          <p:cNvPr id="3" name="Google Shape;293;g782ed39a13fd13f2_296">
            <a:extLst>
              <a:ext uri="{FF2B5EF4-FFF2-40B4-BE49-F238E27FC236}">
                <a16:creationId xmlns:a16="http://schemas.microsoft.com/office/drawing/2014/main" id="{3615D7DC-89CB-F2D8-7267-48A32E1CDBAE}"/>
              </a:ext>
            </a:extLst>
          </p:cNvPr>
          <p:cNvSpPr/>
          <p:nvPr/>
        </p:nvSpPr>
        <p:spPr>
          <a:xfrm>
            <a:off x="54185" y="272241"/>
            <a:ext cx="2356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endParaRPr sz="1867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326922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158EF54A-74D9-CAAD-F88B-D0F116368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>
            <a:extLst>
              <a:ext uri="{FF2B5EF4-FFF2-40B4-BE49-F238E27FC236}">
                <a16:creationId xmlns:a16="http://schemas.microsoft.com/office/drawing/2014/main" id="{EECA9866-5B7F-3291-61D2-27C338E9D409}"/>
              </a:ext>
            </a:extLst>
          </p:cNvPr>
          <p:cNvSpPr/>
          <p:nvPr/>
        </p:nvSpPr>
        <p:spPr>
          <a:xfrm>
            <a:off x="341600" y="1454233"/>
            <a:ext cx="11392000" cy="46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1333"/>
              </a:spcAft>
            </a:pPr>
            <a:endParaRPr sz="1600"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sp>
        <p:nvSpPr>
          <p:cNvPr id="135" name="Google Shape;135;p14">
            <a:extLst>
              <a:ext uri="{FF2B5EF4-FFF2-40B4-BE49-F238E27FC236}">
                <a16:creationId xmlns:a16="http://schemas.microsoft.com/office/drawing/2014/main" id="{8BC629BB-4CA1-5A08-51E5-8E8C33179001}"/>
              </a:ext>
            </a:extLst>
          </p:cNvPr>
          <p:cNvSpPr/>
          <p:nvPr/>
        </p:nvSpPr>
        <p:spPr>
          <a:xfrm>
            <a:off x="32100" y="317941"/>
            <a:ext cx="235600" cy="609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endParaRPr sz="1867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4">
            <a:extLst>
              <a:ext uri="{FF2B5EF4-FFF2-40B4-BE49-F238E27FC236}">
                <a16:creationId xmlns:a16="http://schemas.microsoft.com/office/drawing/2014/main" id="{7C2CB445-0D45-E6FE-5D3F-C8B62818BE2E}"/>
              </a:ext>
            </a:extLst>
          </p:cNvPr>
          <p:cNvSpPr txBox="1"/>
          <p:nvPr/>
        </p:nvSpPr>
        <p:spPr>
          <a:xfrm>
            <a:off x="458400" y="1121299"/>
            <a:ext cx="11274800" cy="442606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18063" indent="-457200">
              <a:lnSpc>
                <a:spcPct val="150000"/>
              </a:lnSpc>
              <a:buClr>
                <a:schemeClr val="dk1"/>
              </a:buClr>
              <a:buSzPts val="1700"/>
              <a:buFont typeface="+mj-lt"/>
              <a:buAutoNum type="arabicPeriod"/>
            </a:pP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Transmission des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microplans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des ZS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consolidé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et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validé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au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niveau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provincial  (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cfr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canevas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RR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transmis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officiellement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) : Fin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décembre</a:t>
            </a:r>
            <a:endParaRPr lang="en-GB" sz="2267" dirty="0">
              <a:solidFill>
                <a:schemeClr val="dk1"/>
              </a:solidFill>
              <a:latin typeface="Book Antiqua" panose="02040602050305030304" pitchFamily="18" charset="0"/>
              <a:ea typeface="Source Serif Pro"/>
              <a:cs typeface="Source Serif Pro"/>
              <a:sym typeface="Source Serif Pro"/>
            </a:endParaRPr>
          </a:p>
          <a:p>
            <a:pPr marL="618063" indent="-457200">
              <a:lnSpc>
                <a:spcPct val="150000"/>
              </a:lnSpc>
              <a:buClr>
                <a:schemeClr val="dk1"/>
              </a:buClr>
              <a:buSzPts val="1700"/>
              <a:buFont typeface="+mj-lt"/>
              <a:buAutoNum type="arabicPeriod"/>
            </a:pP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Transmission des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fichiers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reprenant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les populations par AS de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chaque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ZS (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faciliter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l’importation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des données dans le DHIS2)</a:t>
            </a:r>
          </a:p>
          <a:p>
            <a:pPr marL="618063" indent="-457200">
              <a:lnSpc>
                <a:spcPct val="150000"/>
              </a:lnSpc>
              <a:buClr>
                <a:schemeClr val="dk1"/>
              </a:buClr>
              <a:buSzPts val="1700"/>
              <a:buFont typeface="+mj-lt"/>
              <a:buAutoNum type="arabicPeriod"/>
            </a:pP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Inventaire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physique des VAR disponible à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tous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les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niveaux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(determiner le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besoins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pour la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période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avant le Switch VAR /RR et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rapatriement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des doses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restantes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au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niveau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central </a:t>
            </a:r>
          </a:p>
          <a:p>
            <a:pPr marL="618063" indent="-457200">
              <a:lnSpc>
                <a:spcPct val="150000"/>
              </a:lnSpc>
              <a:buClr>
                <a:schemeClr val="dk1"/>
              </a:buClr>
              <a:buSzPts val="1700"/>
              <a:buFont typeface="+mj-lt"/>
              <a:buAutoNum type="arabicPeriod"/>
            </a:pP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Respect du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chronogramme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d’activités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/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échéances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: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Lancement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officiel</a:t>
            </a:r>
            <a:endParaRPr lang="en-GB" sz="2267" dirty="0">
              <a:solidFill>
                <a:schemeClr val="dk1"/>
              </a:solidFill>
              <a:latin typeface="Book Antiqua" panose="02040602050305030304" pitchFamily="18" charset="0"/>
              <a:ea typeface="Source Serif Pro"/>
              <a:cs typeface="Source Serif Pro"/>
              <a:sym typeface="Source Serif Pro"/>
            </a:endParaRPr>
          </a:p>
          <a:p>
            <a:pPr marL="609585"/>
            <a:endParaRPr sz="2267" dirty="0">
              <a:solidFill>
                <a:schemeClr val="dk1"/>
              </a:solidFill>
              <a:latin typeface="Book Antiqua" panose="02040602050305030304" pitchFamily="18" charset="0"/>
              <a:ea typeface="Source Serif Pro"/>
              <a:cs typeface="Source Serif Pro"/>
              <a:sym typeface="Source Serif Pro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B9C7037-6625-8F78-A9C9-60F742A8A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787" y="93639"/>
            <a:ext cx="11423413" cy="655200"/>
          </a:xfrm>
          <a:noFill/>
          <a:ln w="9525" cap="flat">
            <a:solidFill>
              <a:schemeClr val="accent1"/>
            </a:solidFill>
            <a:miter lim="800000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br>
              <a:rPr 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</a:br>
            <a:br>
              <a:rPr 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</a:br>
            <a:r>
              <a:rPr 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  <a:t>7. Les attentes du Niveau Central</a:t>
            </a:r>
            <a:br>
              <a:rPr 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</a:br>
            <a:br>
              <a:rPr 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</a:br>
            <a:endParaRPr lang="fr-FR" sz="2400" b="1" dirty="0">
              <a:solidFill>
                <a:srgbClr val="0000FF"/>
              </a:solidFill>
              <a:latin typeface="Book Antiqua" panose="0204060205030503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25653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EE86B667-9AC3-AF6B-CB78-9C5AB464E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>
            <a:extLst>
              <a:ext uri="{FF2B5EF4-FFF2-40B4-BE49-F238E27FC236}">
                <a16:creationId xmlns:a16="http://schemas.microsoft.com/office/drawing/2014/main" id="{FEF9203E-7A22-3ADC-F40A-44A2515A1030}"/>
              </a:ext>
            </a:extLst>
          </p:cNvPr>
          <p:cNvSpPr/>
          <p:nvPr/>
        </p:nvSpPr>
        <p:spPr>
          <a:xfrm>
            <a:off x="341600" y="1454233"/>
            <a:ext cx="11392000" cy="46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1333"/>
              </a:spcAft>
            </a:pPr>
            <a:endParaRPr sz="1600"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sp>
        <p:nvSpPr>
          <p:cNvPr id="135" name="Google Shape;135;p14">
            <a:extLst>
              <a:ext uri="{FF2B5EF4-FFF2-40B4-BE49-F238E27FC236}">
                <a16:creationId xmlns:a16="http://schemas.microsoft.com/office/drawing/2014/main" id="{F25538B1-F348-D94B-C8E9-366ABC4BBB51}"/>
              </a:ext>
            </a:extLst>
          </p:cNvPr>
          <p:cNvSpPr/>
          <p:nvPr/>
        </p:nvSpPr>
        <p:spPr>
          <a:xfrm>
            <a:off x="32100" y="317941"/>
            <a:ext cx="235600" cy="609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endParaRPr sz="1867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4">
            <a:extLst>
              <a:ext uri="{FF2B5EF4-FFF2-40B4-BE49-F238E27FC236}">
                <a16:creationId xmlns:a16="http://schemas.microsoft.com/office/drawing/2014/main" id="{EFF0168F-1758-BDAF-1788-400B7C93D004}"/>
              </a:ext>
            </a:extLst>
          </p:cNvPr>
          <p:cNvSpPr txBox="1"/>
          <p:nvPr/>
        </p:nvSpPr>
        <p:spPr>
          <a:xfrm>
            <a:off x="458400" y="1121299"/>
            <a:ext cx="11274800" cy="505936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18063" indent="-457200">
              <a:lnSpc>
                <a:spcPct val="150000"/>
              </a:lnSpc>
              <a:buClr>
                <a:schemeClr val="dk1"/>
              </a:buClr>
              <a:buSzPts val="1700"/>
              <a:buFont typeface="+mj-lt"/>
              <a:buAutoNum type="arabicPeriod"/>
            </a:pP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Elaboration du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chronogramme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d’activités</a:t>
            </a:r>
            <a:endParaRPr lang="en-GB" sz="2267" dirty="0">
              <a:solidFill>
                <a:schemeClr val="dk1"/>
              </a:solidFill>
              <a:latin typeface="Book Antiqua" panose="02040602050305030304" pitchFamily="18" charset="0"/>
              <a:ea typeface="Source Serif Pro"/>
              <a:cs typeface="Source Serif Pro"/>
              <a:sym typeface="Source Serif Pro"/>
            </a:endParaRPr>
          </a:p>
          <a:p>
            <a:pPr marL="618063" indent="-457200">
              <a:lnSpc>
                <a:spcPct val="150000"/>
              </a:lnSpc>
              <a:buClr>
                <a:schemeClr val="dk1"/>
              </a:buClr>
              <a:buSzPts val="1700"/>
              <a:buFont typeface="+mj-lt"/>
              <a:buAutoNum type="arabicPeriod"/>
            </a:pP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Validation des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microplans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des provinces</a:t>
            </a:r>
          </a:p>
          <a:p>
            <a:pPr marL="618063" indent="-457200">
              <a:lnSpc>
                <a:spcPct val="150000"/>
              </a:lnSpc>
              <a:buClr>
                <a:schemeClr val="dk1"/>
              </a:buClr>
              <a:buSzPts val="1700"/>
              <a:buFont typeface="+mj-lt"/>
              <a:buAutoNum type="arabicPeriod"/>
            </a:pP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Partage  aux provinces:</a:t>
            </a:r>
          </a:p>
          <a:p>
            <a:pPr marL="160863" lvl="2">
              <a:lnSpc>
                <a:spcPct val="150000"/>
              </a:lnSpc>
              <a:buClr>
                <a:schemeClr val="dk1"/>
              </a:buClr>
              <a:buSzPts val="1700"/>
            </a:pP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          - Du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chronogramme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d’activités</a:t>
            </a:r>
            <a:endParaRPr lang="en-GB" sz="2267" dirty="0">
              <a:solidFill>
                <a:schemeClr val="dk1"/>
              </a:solidFill>
              <a:latin typeface="Book Antiqua" panose="02040602050305030304" pitchFamily="18" charset="0"/>
              <a:ea typeface="Source Serif Pro"/>
              <a:cs typeface="Source Serif Pro"/>
              <a:sym typeface="Source Serif Pro"/>
            </a:endParaRPr>
          </a:p>
          <a:p>
            <a:pPr marL="160863" lvl="2">
              <a:lnSpc>
                <a:spcPct val="150000"/>
              </a:lnSpc>
              <a:buClr>
                <a:schemeClr val="dk1"/>
              </a:buClr>
              <a:buSzPts val="1700"/>
            </a:pP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          - De la note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d’information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et des directives sur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l’introduction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du RR</a:t>
            </a:r>
          </a:p>
          <a:p>
            <a:pPr marL="160863" lvl="2">
              <a:lnSpc>
                <a:spcPct val="150000"/>
              </a:lnSpc>
              <a:buClr>
                <a:schemeClr val="dk1"/>
              </a:buClr>
              <a:buSzPts val="1700"/>
            </a:pP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          - Du plan de mise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en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oeuvre du Switch VAR/RR</a:t>
            </a:r>
          </a:p>
          <a:p>
            <a:pPr marL="160863" lvl="2">
              <a:lnSpc>
                <a:spcPct val="150000"/>
              </a:lnSpc>
              <a:buClr>
                <a:schemeClr val="dk1"/>
              </a:buClr>
              <a:buSzPts val="1700"/>
            </a:pP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           - Du Plan de communication à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contextualiser</a:t>
            </a:r>
            <a:endParaRPr lang="en-GB" sz="2267" dirty="0">
              <a:solidFill>
                <a:schemeClr val="dk1"/>
              </a:solidFill>
              <a:latin typeface="Book Antiqua" panose="02040602050305030304" pitchFamily="18" charset="0"/>
              <a:ea typeface="Source Serif Pro"/>
              <a:cs typeface="Source Serif Pro"/>
              <a:sym typeface="Source Serif Pro"/>
            </a:endParaRPr>
          </a:p>
          <a:p>
            <a:pPr marL="160863" lvl="2">
              <a:lnSpc>
                <a:spcPct val="150000"/>
              </a:lnSpc>
              <a:buClr>
                <a:schemeClr val="dk1"/>
              </a:buClr>
              <a:buSzPts val="1700"/>
            </a:pP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           - Des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microplans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validés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par le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niveau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central</a:t>
            </a:r>
          </a:p>
          <a:p>
            <a:pPr marL="160863" lvl="2">
              <a:lnSpc>
                <a:spcPct val="150000"/>
              </a:lnSpc>
              <a:buClr>
                <a:schemeClr val="dk1"/>
              </a:buClr>
              <a:buSzPts val="1700"/>
            </a:pP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            - Des liens pour </a:t>
            </a:r>
            <a:r>
              <a:rPr lang="en-GB" sz="2267" dirty="0" err="1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l’OSP</a:t>
            </a:r>
            <a:r>
              <a:rPr lang="en-GB" sz="2267" dirty="0">
                <a:solidFill>
                  <a:schemeClr val="dk1"/>
                </a:solidFill>
                <a:latin typeface="Book Antiqua" panose="02040602050305030304" pitchFamily="18" charset="0"/>
                <a:ea typeface="Source Serif Pro"/>
                <a:cs typeface="Source Serif Pro"/>
                <a:sym typeface="Source Serif Pro"/>
              </a:rPr>
              <a:t> etc</a:t>
            </a:r>
          </a:p>
          <a:p>
            <a:pPr marL="609585"/>
            <a:endParaRPr sz="2267" dirty="0">
              <a:solidFill>
                <a:schemeClr val="dk1"/>
              </a:solidFill>
              <a:latin typeface="Book Antiqua" panose="02040602050305030304" pitchFamily="18" charset="0"/>
              <a:ea typeface="Source Serif Pro"/>
              <a:cs typeface="Source Serif Pro"/>
              <a:sym typeface="Source Serif Pro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5CC7B21-01EC-69EF-96DA-CD34249B2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787" y="93639"/>
            <a:ext cx="11423413" cy="655200"/>
          </a:xfrm>
          <a:noFill/>
          <a:ln w="9525" cap="flat">
            <a:solidFill>
              <a:schemeClr val="accent1"/>
            </a:solidFill>
            <a:miter lim="800000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br>
              <a:rPr 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</a:br>
            <a:br>
              <a:rPr 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</a:br>
            <a:r>
              <a:rPr 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  <a:t>8. Prochaines étapes</a:t>
            </a:r>
            <a:br>
              <a:rPr 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</a:br>
            <a:br>
              <a:rPr 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</a:rPr>
            </a:br>
            <a:endParaRPr lang="fr-FR" sz="2400" b="1" dirty="0">
              <a:solidFill>
                <a:srgbClr val="0000FF"/>
              </a:solidFill>
              <a:latin typeface="Book Antiqua" panose="0204060205030503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46995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19"/>
          <p:cNvSpPr txBox="1"/>
          <p:nvPr/>
        </p:nvSpPr>
        <p:spPr>
          <a:xfrm>
            <a:off x="6556077" y="2461403"/>
            <a:ext cx="3964472" cy="1273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00000"/>
              </a:buClr>
              <a:buSzPts val="6600"/>
            </a:pPr>
            <a:r>
              <a:rPr lang="en-GB" sz="8800" b="1" dirty="0">
                <a:solidFill>
                  <a:srgbClr val="083C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Baumans" panose="02000506020000020003"/>
                <a:cs typeface="Times New Roman" panose="02020603050405020304" charset="0"/>
                <a:sym typeface="Baumans" panose="02000506020000020003"/>
              </a:rPr>
              <a:t>Merci </a:t>
            </a:r>
            <a:endParaRPr sz="8800" b="1" dirty="0">
              <a:solidFill>
                <a:srgbClr val="083C9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Baumans" panose="02000506020000020003"/>
              <a:cs typeface="Times New Roman" panose="02020603050405020304" charset="0"/>
              <a:sym typeface="Baumans" panose="02000506020000020003"/>
            </a:endParaRPr>
          </a:p>
        </p:txBody>
      </p:sp>
      <p:pic>
        <p:nvPicPr>
          <p:cNvPr id="855" name="Google Shape;855;p19" descr="Une image contenant texte, graphisme, Graphique, carte&#10;&#10;Le contenu généré par l’IA peut être incorrect.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30198" y="-115047"/>
            <a:ext cx="6678919" cy="6426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1666</TotalTime>
  <Words>2512</Words>
  <Application>Microsoft Office PowerPoint</Application>
  <PresentationFormat>Widescreen</PresentationFormat>
  <Paragraphs>313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1" baseType="lpstr">
      <vt:lpstr>Overlock</vt:lpstr>
      <vt:lpstr>Times New Roman</vt:lpstr>
      <vt:lpstr>Courier New</vt:lpstr>
      <vt:lpstr>Calibri</vt:lpstr>
      <vt:lpstr>Source Serif Pro</vt:lpstr>
      <vt:lpstr>Book Antiqua</vt:lpstr>
      <vt:lpstr>Wingdings</vt:lpstr>
      <vt:lpstr>Aptos</vt:lpstr>
      <vt:lpstr>Arial Narrow</vt:lpstr>
      <vt:lpstr>Montserrat</vt:lpstr>
      <vt:lpstr>Roboto</vt:lpstr>
      <vt:lpstr>Arial</vt:lpstr>
      <vt:lpstr>Simple Light</vt:lpstr>
      <vt:lpstr>PowerPoint Presentation</vt:lpstr>
      <vt:lpstr>PowerPoint Presentation</vt:lpstr>
      <vt:lpstr>1. Contexte (1/6): Situation épidémiologique 2012 à S48, 2025</vt:lpstr>
      <vt:lpstr>1. Contexte (2/6)</vt:lpstr>
      <vt:lpstr>1. Contexte (3/6)</vt:lpstr>
      <vt:lpstr>1. Contexte (4/6)</vt:lpstr>
      <vt:lpstr>P6</vt:lpstr>
      <vt:lpstr>1. Contexte (6/6)</vt:lpstr>
      <vt:lpstr>PowerPoint Presentation</vt:lpstr>
      <vt:lpstr>  Rappel du périmètre d’intervention (Mise à jour au 05 Mai 2025) </vt:lpstr>
      <vt:lpstr>  3. Chronogramme d’activités  </vt:lpstr>
      <vt:lpstr>PowerPoint Presentation</vt:lpstr>
      <vt:lpstr>PowerPoint Presentation</vt:lpstr>
      <vt:lpstr>  5. Défis </vt:lpstr>
      <vt:lpstr>6. Leçons apprises</vt:lpstr>
      <vt:lpstr>  7. Les attentes du Niveau Central  </vt:lpstr>
      <vt:lpstr>  8. Prochaines étapes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Réunion de coordination PEV et partenaires</dc:title>
  <dc:creator>Mr David OLELA</dc:creator>
  <cp:lastModifiedBy>Benedict Nguimbis</cp:lastModifiedBy>
  <cp:revision>138</cp:revision>
  <dcterms:created xsi:type="dcterms:W3CDTF">2025-10-13T18:51:00Z</dcterms:created>
  <dcterms:modified xsi:type="dcterms:W3CDTF">2025-12-16T09:21:16Z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4B7CAC00CC2A4B06B1FE3C0A7C774A5C_13</vt:lpwstr>
  </property>
  <property fmtid="{D5CDD505-2E9C-101B-9397-08002B2CF9AE}" pid="3" name="KSOProductBuildVer">
    <vt:lpwstr>3084-12.2.0.23131</vt:lpwstr>
  </property>
</Properties>
</file>