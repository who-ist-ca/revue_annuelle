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675" r:id="rId3"/>
  </p:sldMasterIdLst>
  <p:notesMasterIdLst>
    <p:notesMasterId r:id="rId38"/>
  </p:notesMasterIdLst>
  <p:sldIdLst>
    <p:sldId id="256" r:id="rId4"/>
    <p:sldId id="257" r:id="rId5"/>
    <p:sldId id="258" r:id="rId6"/>
    <p:sldId id="259" r:id="rId7"/>
    <p:sldId id="304" r:id="rId8"/>
    <p:sldId id="285" r:id="rId9"/>
    <p:sldId id="286" r:id="rId10"/>
    <p:sldId id="287" r:id="rId11"/>
    <p:sldId id="288" r:id="rId12"/>
    <p:sldId id="290" r:id="rId13"/>
    <p:sldId id="291" r:id="rId14"/>
    <p:sldId id="270" r:id="rId15"/>
    <p:sldId id="260" r:id="rId16"/>
    <p:sldId id="271" r:id="rId17"/>
    <p:sldId id="283" r:id="rId18"/>
    <p:sldId id="274" r:id="rId19"/>
    <p:sldId id="273" r:id="rId20"/>
    <p:sldId id="276" r:id="rId21"/>
    <p:sldId id="292" r:id="rId22"/>
    <p:sldId id="294" r:id="rId23"/>
    <p:sldId id="295" r:id="rId24"/>
    <p:sldId id="296" r:id="rId25"/>
    <p:sldId id="298" r:id="rId26"/>
    <p:sldId id="299" r:id="rId27"/>
    <p:sldId id="301" r:id="rId28"/>
    <p:sldId id="302" r:id="rId29"/>
    <p:sldId id="303" r:id="rId30"/>
    <p:sldId id="266" r:id="rId31"/>
    <p:sldId id="272" r:id="rId32"/>
    <p:sldId id="267" r:id="rId33"/>
    <p:sldId id="278" r:id="rId34"/>
    <p:sldId id="279" r:id="rId35"/>
    <p:sldId id="281" r:id="rId36"/>
    <p:sldId id="269" r:id="rId37"/>
  </p:sldIdLst>
  <p:sldSz cx="12192000" cy="6858000"/>
  <p:notesSz cx="6858000" cy="9144000"/>
  <p:embeddedFontLst>
    <p:embeddedFont>
      <p:font typeface="Play" panose="020B0604020202020204" charset="0"/>
      <p:regular r:id="rId39"/>
    </p:embeddedFont>
    <p:embeddedFont>
      <p:font typeface="Arial Narrow" panose="020B0606020202030204" pitchFamily="34" charset="0"/>
      <p:regular r:id="rId40"/>
      <p:bold r:id="rId41"/>
      <p:italic r:id="rId42"/>
      <p:boldItalic r:id="rId43"/>
    </p:embeddedFont>
    <p:embeddedFont>
      <p:font typeface="Trebuchet MS" panose="020B0603020202020204" pitchFamily="34" charset="0"/>
      <p:regular r:id="rId44"/>
      <p:bold r:id="rId45"/>
      <p:italic r:id="rId46"/>
      <p:boldItalic r:id="rId47"/>
    </p:embeddedFont>
    <p:embeddedFont>
      <p:font typeface="Bahnschrift Condensed" panose="020B0502040204020203" pitchFamily="34" charset="0"/>
      <p:regular r:id="rId48"/>
      <p:bold r:id="rId49"/>
    </p:embeddedFont>
    <p:embeddedFont>
      <p:font typeface="Calibri Light" panose="020F0302020204030204" pitchFamily="34" charset="0"/>
      <p:regular r:id="rId50"/>
      <p:italic r:id="rId51"/>
    </p:embeddedFont>
    <p:embeddedFont>
      <p:font typeface="Calibri" panose="020F0502020204030204" pitchFamily="34"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6042B85-2813-40D6-8C08-B53CA4025A3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628BBFD1-A734-4757-B910-67CC1CD15934}" styleName="Table_1">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364" autoAdjust="0"/>
  </p:normalViewPr>
  <p:slideViewPr>
    <p:cSldViewPr snapToGrid="0" showGuides="1">
      <p:cViewPr varScale="1">
        <p:scale>
          <a:sx n="82" d="100"/>
          <a:sy n="82" d="100"/>
        </p:scale>
        <p:origin x="691"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1.fntdata"/><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font" Target="fonts/font17.fntdata"/><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 Id="rId46" Type="http://schemas.openxmlformats.org/officeDocument/2006/relationships/font" Target="fonts/font8.fntdata"/><Relationship Id="rId59"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font" Target="fonts/font3.fntdata"/><Relationship Id="rId54"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font" Target="fonts/font15.fntdata"/><Relationship Id="rId58"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11.fntdata"/><Relationship Id="rId57"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font" Target="fonts/font6.fntdata"/><Relationship Id="rId52" Type="http://schemas.openxmlformats.org/officeDocument/2006/relationships/font" Target="fonts/font14.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font" Target="fonts/font13.fntdata"/><Relationship Id="rId3"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1" Type="http://schemas.openxmlformats.org/officeDocument/2006/relationships/oleObject" Target="file:///C:\Users\pc\Desktop\ANALYSE_%20REVUE_DPS_%20_T3_2025jkaVF.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clustered"/>
        <c:varyColors val="0"/>
        <c:ser>
          <c:idx val="0"/>
          <c:order val="0"/>
          <c:invertIfNegative val="0"/>
          <c:dLbls>
            <c:spPr>
              <a:noFill/>
              <a:ln>
                <a:noFill/>
              </a:ln>
              <a:effectLst/>
            </c:spPr>
            <c:txPr>
              <a:bodyPr/>
              <a:lstStyle/>
              <a:p>
                <a:pPr>
                  <a:defRPr sz="1200" b="1"/>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ZED!$B$6:$B$23</c:f>
              <c:strCache>
                <c:ptCount val="18"/>
                <c:pt idx="0">
                  <c:v>ks Banga Lubaka </c:v>
                </c:pt>
                <c:pt idx="1">
                  <c:v>ks Bulape </c:v>
                </c:pt>
                <c:pt idx="2">
                  <c:v>ks Dekese </c:v>
                </c:pt>
                <c:pt idx="3">
                  <c:v>ks Ilebo </c:v>
                </c:pt>
                <c:pt idx="4">
                  <c:v>ks Kakenge </c:v>
                </c:pt>
                <c:pt idx="5">
                  <c:v>ks Kalonda Ouest </c:v>
                </c:pt>
                <c:pt idx="6">
                  <c:v>ks Kamonia </c:v>
                </c:pt>
                <c:pt idx="7">
                  <c:v>ks Kamwesha </c:v>
                </c:pt>
                <c:pt idx="8">
                  <c:v>ks Kanzala </c:v>
                </c:pt>
                <c:pt idx="9">
                  <c:v>ks Kitangwa </c:v>
                </c:pt>
                <c:pt idx="10">
                  <c:v>ks Luebo </c:v>
                </c:pt>
                <c:pt idx="11">
                  <c:v>ks Mikope </c:v>
                </c:pt>
                <c:pt idx="12">
                  <c:v>ks Mushenge </c:v>
                </c:pt>
                <c:pt idx="13">
                  <c:v>ks Mutena </c:v>
                </c:pt>
                <c:pt idx="14">
                  <c:v>ks Mweka </c:v>
                </c:pt>
                <c:pt idx="15">
                  <c:v>ks Ndjoko Mpunda </c:v>
                </c:pt>
                <c:pt idx="16">
                  <c:v>ks Nyanga </c:v>
                </c:pt>
                <c:pt idx="17">
                  <c:v>ks Tshikapa </c:v>
                </c:pt>
              </c:strCache>
            </c:strRef>
          </c:cat>
          <c:val>
            <c:numRef>
              <c:f>ZED!$C$6:$C$23</c:f>
              <c:numCache>
                <c:formatCode>0</c:formatCode>
                <c:ptCount val="18"/>
                <c:pt idx="0">
                  <c:v>0</c:v>
                </c:pt>
                <c:pt idx="1">
                  <c:v>0</c:v>
                </c:pt>
                <c:pt idx="2">
                  <c:v>627.76241783333535</c:v>
                </c:pt>
                <c:pt idx="3">
                  <c:v>0</c:v>
                </c:pt>
                <c:pt idx="4">
                  <c:v>329.30172008333466</c:v>
                </c:pt>
                <c:pt idx="5">
                  <c:v>762.58327875000032</c:v>
                </c:pt>
                <c:pt idx="6">
                  <c:v>3423.2979070000038</c:v>
                </c:pt>
                <c:pt idx="7">
                  <c:v>0</c:v>
                </c:pt>
                <c:pt idx="8">
                  <c:v>0</c:v>
                </c:pt>
                <c:pt idx="9">
                  <c:v>1670.0531210833342</c:v>
                </c:pt>
                <c:pt idx="10">
                  <c:v>1020.5141744166649</c:v>
                </c:pt>
                <c:pt idx="11">
                  <c:v>830.18243766666637</c:v>
                </c:pt>
                <c:pt idx="12">
                  <c:v>0</c:v>
                </c:pt>
                <c:pt idx="13">
                  <c:v>1378.2136149166654</c:v>
                </c:pt>
                <c:pt idx="14">
                  <c:v>0</c:v>
                </c:pt>
                <c:pt idx="15">
                  <c:v>0</c:v>
                </c:pt>
                <c:pt idx="16">
                  <c:v>0</c:v>
                </c:pt>
                <c:pt idx="17">
                  <c:v>200.27809966666609</c:v>
                </c:pt>
              </c:numCache>
            </c:numRef>
          </c:val>
          <c:extLst>
            <c:ext xmlns:c16="http://schemas.microsoft.com/office/drawing/2014/chart" uri="{C3380CC4-5D6E-409C-BE32-E72D297353CC}">
              <c16:uniqueId val="{00000000-8E34-4751-8F7A-BBB31630069E}"/>
            </c:ext>
          </c:extLst>
        </c:ser>
        <c:dLbls>
          <c:showLegendKey val="0"/>
          <c:showVal val="0"/>
          <c:showCatName val="0"/>
          <c:showSerName val="0"/>
          <c:showPercent val="0"/>
          <c:showBubbleSize val="0"/>
        </c:dLbls>
        <c:gapWidth val="150"/>
        <c:axId val="179661824"/>
        <c:axId val="187742080"/>
      </c:barChart>
      <c:catAx>
        <c:axId val="179661824"/>
        <c:scaling>
          <c:orientation val="minMax"/>
        </c:scaling>
        <c:delete val="0"/>
        <c:axPos val="l"/>
        <c:numFmt formatCode="General" sourceLinked="0"/>
        <c:majorTickMark val="out"/>
        <c:minorTickMark val="none"/>
        <c:tickLblPos val="nextTo"/>
        <c:txPr>
          <a:bodyPr/>
          <a:lstStyle/>
          <a:p>
            <a:pPr>
              <a:defRPr sz="1100" b="1"/>
            </a:pPr>
            <a:endParaRPr lang="en-US"/>
          </a:p>
        </c:txPr>
        <c:crossAx val="187742080"/>
        <c:crosses val="autoZero"/>
        <c:auto val="1"/>
        <c:lblAlgn val="ctr"/>
        <c:lblOffset val="100"/>
        <c:noMultiLvlLbl val="0"/>
      </c:catAx>
      <c:valAx>
        <c:axId val="187742080"/>
        <c:scaling>
          <c:orientation val="minMax"/>
        </c:scaling>
        <c:delete val="0"/>
        <c:axPos val="b"/>
        <c:numFmt formatCode="0" sourceLinked="1"/>
        <c:majorTickMark val="out"/>
        <c:minorTickMark val="none"/>
        <c:tickLblPos val="nextTo"/>
        <c:crossAx val="179661824"/>
        <c:crosses val="autoZero"/>
        <c:crossBetween val="between"/>
      </c:valAx>
    </c:plotArea>
    <c:legend>
      <c:legendPos val="r"/>
      <c:layout/>
      <c:overlay val="0"/>
    </c:legend>
    <c:plotVisOnly val="1"/>
    <c:dispBlanksAs val="gap"/>
    <c:showDLblsOverMax val="0"/>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rPr>
              <a:t>‹N°›</a:t>
            </a:fld>
            <a:endParaRPr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372515474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aabc9d920d_0_191:notes"/>
          <p:cNvSpPr>
            <a:spLocks noGrp="1" noRot="1" noChangeAspect="1"/>
          </p:cNvSpPr>
          <p:nvPr>
            <p:ph type="sldImg" idx="2"/>
          </p:nvPr>
        </p:nvSpPr>
        <p:spPr>
          <a:xfrm>
            <a:off x="312738" y="652463"/>
            <a:ext cx="5805487" cy="32670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lt1"/>
            </a:solidFill>
            <a:prstDash val="solid"/>
            <a:miter lim="8000"/>
            <a:headEnd type="none" w="sm" len="sm"/>
            <a:tailEnd type="none" w="sm" len="sm"/>
          </a:ln>
        </p:spPr>
      </p:sp>
      <p:sp>
        <p:nvSpPr>
          <p:cNvPr id="145" name="Google Shape;145;g3aabc9d920d_0_191:notes"/>
          <p:cNvSpPr txBox="1">
            <a:spLocks noGrp="1"/>
          </p:cNvSpPr>
          <p:nvPr>
            <p:ph type="body" idx="1"/>
          </p:nvPr>
        </p:nvSpPr>
        <p:spPr>
          <a:xfrm>
            <a:off x="642938" y="4136571"/>
            <a:ext cx="5143500" cy="3918900"/>
          </a:xfrm>
          <a:prstGeom prst="rect">
            <a:avLst/>
          </a:prstGeom>
          <a:noFill/>
          <a:ln>
            <a:noFill/>
          </a:ln>
        </p:spPr>
        <p:txBody>
          <a:bodyPr spcFirstLastPara="1" wrap="square" lIns="86275" tIns="86275" rIns="86275" bIns="86275" anchor="t" anchorCtr="0">
            <a:noAutofit/>
          </a:bodyPr>
          <a:lstStyle/>
          <a:p>
            <a:pPr marL="0" lvl="0" indent="0" algn="l" rtl="0">
              <a:lnSpc>
                <a:spcPct val="100000"/>
              </a:lnSpc>
              <a:spcBef>
                <a:spcPts val="0"/>
              </a:spcBef>
              <a:spcAft>
                <a:spcPts val="0"/>
              </a:spcAft>
              <a:buClr>
                <a:schemeClr val="dk1"/>
              </a:buClr>
              <a:buSzPts val="1300"/>
              <a:buFont typeface="Arial" panose="020B0604020202020204"/>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aabc9d920d_0_199: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g3aabc9d920d_0_199: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aabc9d920d_0_20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g3aabc9d920d_0_207: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c9d920d_0_226: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c9d920d_0_226: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aabc9d920d_0_23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g3aabc9d920d_0_234: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aabc9d920d_0_3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g3aabc9d920d_0_3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aabc9d920d_0_428: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 name="Google Shape;243;g3aabc9d920d_0_428: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aabc9d920d_0_428: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 name="Google Shape;243;g3aabc9d920d_0_428: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aabc9d920d_0_43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 name="Google Shape;253;g3aabc9d920d_0_437: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aabc9d920d_0_43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 name="Google Shape;253;g3aabc9d920d_0_437: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3916762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0" name="Espace réservé de l'image des diapositives 1"/>
          <p:cNvSpPr>
            <a:spLocks noGrp="1" noRot="1" noChangeAspect="1"/>
          </p:cNvSpPr>
          <p:nvPr>
            <p:ph type="sldImg"/>
          </p:nvPr>
        </p:nvSpPr>
        <p:spPr/>
      </p:sp>
      <p:sp>
        <p:nvSpPr>
          <p:cNvPr id="1048841" name="Espace réservé des commentaires 2"/>
          <p:cNvSpPr>
            <a:spLocks noGrp="1"/>
          </p:cNvSpPr>
          <p:nvPr>
            <p:ph type="body" idx="1"/>
          </p:nvPr>
        </p:nvSpPr>
        <p:spPr/>
        <p:txBody>
          <a:bodyPr>
            <a:normAutofit/>
          </a:bodyPr>
          <a:lstStyle/>
          <a:p>
            <a:endParaRPr lang="fr-FR" dirty="0"/>
          </a:p>
        </p:txBody>
      </p:sp>
      <p:sp>
        <p:nvSpPr>
          <p:cNvPr id="1048842"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23149A-9D75-4C49-BB85-8D6AE8CA66AD}" type="slidenum">
              <a:rPr kumimoji="0" lang="fr-F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fr-F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791249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aabc9d920d_0_262:notes"/>
          <p:cNvSpPr>
            <a:spLocks noGrp="1" noRot="1" noChangeAspect="1"/>
          </p:cNvSpPr>
          <p:nvPr>
            <p:ph type="sldImg" idx="2"/>
          </p:nvPr>
        </p:nvSpPr>
        <p:spPr>
          <a:xfrm>
            <a:off x="382588"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 name="Google Shape;272;g3aabc9d920d_0_262: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Diapositive de titre">
  <p:cSld name="1_Diapositive de titre">
    <p:spTree>
      <p:nvGrpSpPr>
        <p:cNvPr id="1" name="Shape 15"/>
        <p:cNvGrpSpPr/>
        <p:nvPr/>
      </p:nvGrpSpPr>
      <p:grpSpPr>
        <a:xfrm>
          <a:off x="0" y="0"/>
          <a:ext cx="0" cy="0"/>
          <a:chOff x="0" y="0"/>
          <a:chExt cx="0" cy="0"/>
        </a:xfrm>
      </p:grpSpPr>
      <p:sp>
        <p:nvSpPr>
          <p:cNvPr id="16" name="Google Shape;16;p17"/>
          <p:cNvSpPr txBox="1">
            <a:spLocks noGrp="1"/>
          </p:cNvSpPr>
          <p:nvPr>
            <p:ph type="ctrTitle"/>
          </p:nvPr>
        </p:nvSpPr>
        <p:spPr>
          <a:xfrm>
            <a:off x="3385430" y="3768780"/>
            <a:ext cx="8572500" cy="2341563"/>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A3041"/>
              </a:buClr>
              <a:buSzPts val="3600"/>
              <a:buFont typeface="Play" panose="00000500000000000000"/>
              <a:buNone/>
              <a:defRPr sz="3600">
                <a:solidFill>
                  <a:srgbClr val="0A304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‹N°›</a:t>
            </a:fld>
            <a:endParaRPr lang="en-US"/>
          </a:p>
        </p:txBody>
      </p:sp>
      <p:pic>
        <p:nvPicPr>
          <p:cNvPr id="18" name="Google Shape;18;p17"/>
          <p:cNvPicPr preferRelativeResize="0"/>
          <p:nvPr/>
        </p:nvPicPr>
        <p:blipFill rotWithShape="1">
          <a:blip r:embed="rId2"/>
          <a:srcRect/>
          <a:stretch>
            <a:fillRect/>
          </a:stretch>
        </p:blipFill>
        <p:spPr>
          <a:xfrm>
            <a:off x="-23811" y="0"/>
            <a:ext cx="12215811" cy="371797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19"/>
        <p:cNvGrpSpPr/>
        <p:nvPr/>
      </p:nvGrpSpPr>
      <p:grpSpPr>
        <a:xfrm>
          <a:off x="0" y="0"/>
          <a:ext cx="0" cy="0"/>
          <a:chOff x="0" y="0"/>
          <a:chExt cx="0" cy="0"/>
        </a:xfrm>
      </p:grpSpPr>
      <p:sp>
        <p:nvSpPr>
          <p:cNvPr id="20" name="Google Shape;2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217ECFC4-017E-4140-A831-710F54D5AABA}" type="datetime1">
              <a:rPr lang="en-US" smtClean="0"/>
              <a:t>12/16/2025</a:t>
            </a:fld>
            <a:endParaRPr/>
          </a:p>
        </p:txBody>
      </p:sp>
      <p:sp>
        <p:nvSpPr>
          <p:cNvPr id="23" name="Google Shape;2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fr-FR" smtClean="0"/>
              <a:t>REVUE NATIONALE ANNUELLE PEV DPS KASAÏ</a:t>
            </a:r>
            <a:endParaRPr/>
          </a:p>
        </p:txBody>
      </p:sp>
      <p:sp>
        <p:nvSpPr>
          <p:cNvPr id="24" name="Google Shape;2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25"/>
        <p:cNvGrpSpPr/>
        <p:nvPr/>
      </p:nvGrpSpPr>
      <p:grpSpPr>
        <a:xfrm>
          <a:off x="0" y="0"/>
          <a:ext cx="0" cy="0"/>
          <a:chOff x="0" y="0"/>
          <a:chExt cx="0" cy="0"/>
        </a:xfrm>
      </p:grpSpPr>
      <p:sp>
        <p:nvSpPr>
          <p:cNvPr id="26" name="Google Shape;2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EAFDC73-65EE-45E6-96C5-65A6833B0746}" type="datetime1">
              <a:rPr lang="en-US" smtClean="0"/>
              <a:t>12/16/2025</a:t>
            </a:fld>
            <a:endParaRPr/>
          </a:p>
        </p:txBody>
      </p:sp>
      <p:sp>
        <p:nvSpPr>
          <p:cNvPr id="27" name="Google Shape;2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fr-FR" smtClean="0"/>
              <a:t>REVUE NATIONALE ANNUELLE PEV DPS KASAÏ</a:t>
            </a:r>
            <a:endParaRPr/>
          </a:p>
        </p:txBody>
      </p:sp>
      <p:sp>
        <p:nvSpPr>
          <p:cNvPr id="28" name="Google Shape;2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29"/>
        <p:cNvGrpSpPr/>
        <p:nvPr/>
      </p:nvGrpSpPr>
      <p:grpSpPr>
        <a:xfrm>
          <a:off x="0" y="0"/>
          <a:ext cx="0" cy="0"/>
          <a:chOff x="0" y="0"/>
          <a:chExt cx="0" cy="0"/>
        </a:xfrm>
      </p:grpSpPr>
      <p:sp>
        <p:nvSpPr>
          <p:cNvPr id="30" name="Google Shape;30;p2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panose="00000500000000000000"/>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2" name="Google Shape;3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5DDB04CC-21D0-4C6F-9682-981DF0973C9E}" type="datetime1">
              <a:rPr lang="en-US" smtClean="0"/>
              <a:t>12/16/2025</a:t>
            </a:fld>
            <a:endParaRPr/>
          </a:p>
        </p:txBody>
      </p:sp>
      <p:sp>
        <p:nvSpPr>
          <p:cNvPr id="33" name="Google Shape;3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fr-FR" smtClean="0"/>
              <a:t>REVUE NATIONALE ANNUELLE PEV DPS KASAÏ</a:t>
            </a:r>
            <a:endParaRPr/>
          </a:p>
        </p:txBody>
      </p:sp>
      <p:sp>
        <p:nvSpPr>
          <p:cNvPr id="34" name="Google Shape;3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35"/>
        <p:cNvGrpSpPr/>
        <p:nvPr/>
      </p:nvGrpSpPr>
      <p:grpSpPr>
        <a:xfrm>
          <a:off x="0" y="0"/>
          <a:ext cx="0" cy="0"/>
          <a:chOff x="0" y="0"/>
          <a:chExt cx="0" cy="0"/>
        </a:xfrm>
      </p:grpSpPr>
      <p:sp>
        <p:nvSpPr>
          <p:cNvPr id="36" name="Google Shape;36;p2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panose="00000500000000000000"/>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2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8" name="Google Shape;38;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51F8512-8CF9-40D5-8D2C-7DF86B51EB8F}" type="datetime1">
              <a:rPr lang="en-US" smtClean="0"/>
              <a:t>12/16/2025</a:t>
            </a:fld>
            <a:endParaRPr/>
          </a:p>
        </p:txBody>
      </p:sp>
      <p:sp>
        <p:nvSpPr>
          <p:cNvPr id="39" name="Google Shape;39;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fr-FR" smtClean="0"/>
              <a:t>REVUE NATIONALE ANNUELLE PEV DPS KASAÏ</a:t>
            </a:r>
            <a:endParaRPr/>
          </a:p>
        </p:txBody>
      </p:sp>
      <p:sp>
        <p:nvSpPr>
          <p:cNvPr id="40" name="Google Shape;4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41"/>
        <p:cNvGrpSpPr/>
        <p:nvPr/>
      </p:nvGrpSpPr>
      <p:grpSpPr>
        <a:xfrm>
          <a:off x="0" y="0"/>
          <a:ext cx="0" cy="0"/>
          <a:chOff x="0" y="0"/>
          <a:chExt cx="0" cy="0"/>
        </a:xfrm>
      </p:grpSpPr>
      <p:sp>
        <p:nvSpPr>
          <p:cNvPr id="42" name="Google Shape;42;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2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77CE9F7-10CE-457C-A4C1-4C26C99D8082}" type="datetime1">
              <a:rPr lang="en-US" smtClean="0"/>
              <a:t>12/16/2025</a:t>
            </a:fld>
            <a:endParaRPr/>
          </a:p>
        </p:txBody>
      </p:sp>
      <p:sp>
        <p:nvSpPr>
          <p:cNvPr id="46" name="Google Shape;4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fr-FR" smtClean="0"/>
              <a:t>REVUE NATIONALE ANNUELLE PEV DPS KASAÏ</a:t>
            </a:r>
            <a:endParaRPr/>
          </a:p>
        </p:txBody>
      </p:sp>
      <p:sp>
        <p:nvSpPr>
          <p:cNvPr id="47" name="Google Shape;4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48"/>
        <p:cNvGrpSpPr/>
        <p:nvPr/>
      </p:nvGrpSpPr>
      <p:grpSpPr>
        <a:xfrm>
          <a:off x="0" y="0"/>
          <a:ext cx="0" cy="0"/>
          <a:chOff x="0" y="0"/>
          <a:chExt cx="0" cy="0"/>
        </a:xfrm>
      </p:grpSpPr>
      <p:sp>
        <p:nvSpPr>
          <p:cNvPr id="49" name="Google Shape;49;p2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2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2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2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2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69560557-D2C8-4F65-A73C-09F402DE5DEC}" type="datetime1">
              <a:rPr lang="en-US" smtClean="0"/>
              <a:t>12/16/2025</a:t>
            </a:fld>
            <a:endParaRPr/>
          </a:p>
        </p:txBody>
      </p:sp>
      <p:sp>
        <p:nvSpPr>
          <p:cNvPr id="55" name="Google Shape;55;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fr-FR" smtClean="0"/>
              <a:t>REVUE NATIONALE ANNUELLE PEV DPS KASAÏ</a:t>
            </a:r>
            <a:endParaRPr/>
          </a:p>
        </p:txBody>
      </p:sp>
      <p:sp>
        <p:nvSpPr>
          <p:cNvPr id="56" name="Google Shape;56;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57"/>
        <p:cNvGrpSpPr/>
        <p:nvPr/>
      </p:nvGrpSpPr>
      <p:grpSpPr>
        <a:xfrm>
          <a:off x="0" y="0"/>
          <a:ext cx="0" cy="0"/>
          <a:chOff x="0" y="0"/>
          <a:chExt cx="0" cy="0"/>
        </a:xfrm>
      </p:grpSpPr>
      <p:sp>
        <p:nvSpPr>
          <p:cNvPr id="58" name="Google Shape;58;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496F4833-915F-41F5-9943-1B96F1AE12C7}" type="datetime1">
              <a:rPr lang="en-US" smtClean="0"/>
              <a:t>12/16/2025</a:t>
            </a:fld>
            <a:endParaRPr/>
          </a:p>
        </p:txBody>
      </p:sp>
      <p:sp>
        <p:nvSpPr>
          <p:cNvPr id="60" name="Google Shape;60;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fr-FR" smtClean="0"/>
              <a:t>REVUE NATIONALE ANNUELLE PEV DPS KASAÏ</a:t>
            </a:r>
            <a:endParaRPr/>
          </a:p>
        </p:txBody>
      </p:sp>
      <p:sp>
        <p:nvSpPr>
          <p:cNvPr id="61" name="Google Shape;61;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62"/>
        <p:cNvGrpSpPr/>
        <p:nvPr/>
      </p:nvGrpSpPr>
      <p:grpSpPr>
        <a:xfrm>
          <a:off x="0" y="0"/>
          <a:ext cx="0" cy="0"/>
          <a:chOff x="0" y="0"/>
          <a:chExt cx="0" cy="0"/>
        </a:xfrm>
      </p:grpSpPr>
      <p:sp>
        <p:nvSpPr>
          <p:cNvPr id="63" name="Google Shape;63;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panose="00000500000000000000"/>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2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5" name="Google Shape;65;p2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6" name="Google Shape;66;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237195FE-26AE-40F0-92A3-A92615D7A8FF}" type="datetime1">
              <a:rPr lang="en-US" smtClean="0"/>
              <a:t>12/16/2025</a:t>
            </a:fld>
            <a:endParaRPr/>
          </a:p>
        </p:txBody>
      </p:sp>
      <p:sp>
        <p:nvSpPr>
          <p:cNvPr id="67" name="Google Shape;67;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fr-FR" smtClean="0"/>
              <a:t>REVUE NATIONALE ANNUELLE PEV DPS KASAÏ</a:t>
            </a:r>
            <a:endParaRPr/>
          </a:p>
        </p:txBody>
      </p:sp>
      <p:sp>
        <p:nvSpPr>
          <p:cNvPr id="68" name="Google Shape;68;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69"/>
        <p:cNvGrpSpPr/>
        <p:nvPr/>
      </p:nvGrpSpPr>
      <p:grpSpPr>
        <a:xfrm>
          <a:off x="0" y="0"/>
          <a:ext cx="0" cy="0"/>
          <a:chOff x="0" y="0"/>
          <a:chExt cx="0" cy="0"/>
        </a:xfrm>
      </p:grpSpPr>
      <p:sp>
        <p:nvSpPr>
          <p:cNvPr id="70" name="Google Shape;70;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panose="00000500000000000000"/>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28"/>
          <p:cNvSpPr>
            <a:spLocks noGrp="1"/>
          </p:cNvSpPr>
          <p:nvPr>
            <p:ph type="pic" idx="2"/>
          </p:nvPr>
        </p:nvSpPr>
        <p:spPr>
          <a:xfrm>
            <a:off x="5183188" y="987425"/>
            <a:ext cx="6172200" cy="4873625"/>
          </a:xfrm>
          <a:prstGeom prst="rect">
            <a:avLst/>
          </a:prstGeom>
          <a:noFill/>
          <a:ln>
            <a:noFill/>
          </a:ln>
        </p:spPr>
      </p:sp>
      <p:sp>
        <p:nvSpPr>
          <p:cNvPr id="72" name="Google Shape;72;p2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43243D8B-1543-4BD5-9AA8-A2F56B1B6D70}" type="datetime1">
              <a:rPr lang="en-US" smtClean="0"/>
              <a:t>12/16/2025</a:t>
            </a:fld>
            <a:endParaRPr/>
          </a:p>
        </p:txBody>
      </p:sp>
      <p:sp>
        <p:nvSpPr>
          <p:cNvPr id="74" name="Google Shape;74;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fr-FR" smtClean="0"/>
              <a:t>REVUE NATIONALE ANNUELLE PEV DPS KASAÏ</a:t>
            </a:r>
            <a:endParaRPr/>
          </a:p>
        </p:txBody>
      </p:sp>
      <p:sp>
        <p:nvSpPr>
          <p:cNvPr id="75" name="Google Shape;75;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76"/>
        <p:cNvGrpSpPr/>
        <p:nvPr/>
      </p:nvGrpSpPr>
      <p:grpSpPr>
        <a:xfrm>
          <a:off x="0" y="0"/>
          <a:ext cx="0" cy="0"/>
          <a:chOff x="0" y="0"/>
          <a:chExt cx="0" cy="0"/>
        </a:xfrm>
      </p:grpSpPr>
      <p:sp>
        <p:nvSpPr>
          <p:cNvPr id="77" name="Google Shape;77;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2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F76F757-0D26-45AD-9B52-63C2B3A36919}" type="datetime1">
              <a:rPr lang="en-US" smtClean="0"/>
              <a:t>12/16/2025</a:t>
            </a:fld>
            <a:endParaRPr/>
          </a:p>
        </p:txBody>
      </p:sp>
      <p:sp>
        <p:nvSpPr>
          <p:cNvPr id="80" name="Google Shape;80;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fr-FR" smtClean="0"/>
              <a:t>REVUE NATIONALE ANNUELLE PEV DPS KASAÏ</a:t>
            </a:r>
            <a:endParaRPr/>
          </a:p>
        </p:txBody>
      </p:sp>
      <p:sp>
        <p:nvSpPr>
          <p:cNvPr id="81" name="Google Shape;81;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82"/>
        <p:cNvGrpSpPr/>
        <p:nvPr/>
      </p:nvGrpSpPr>
      <p:grpSpPr>
        <a:xfrm>
          <a:off x="0" y="0"/>
          <a:ext cx="0" cy="0"/>
          <a:chOff x="0" y="0"/>
          <a:chExt cx="0" cy="0"/>
        </a:xfrm>
      </p:grpSpPr>
      <p:sp>
        <p:nvSpPr>
          <p:cNvPr id="83" name="Google Shape;83;p3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3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99F1FFB2-595E-4C72-9EBE-E4EBDD57E598}" type="datetime1">
              <a:rPr lang="en-US" smtClean="0"/>
              <a:t>12/16/2025</a:t>
            </a:fld>
            <a:endParaRPr/>
          </a:p>
        </p:txBody>
      </p:sp>
      <p:sp>
        <p:nvSpPr>
          <p:cNvPr id="86" name="Google Shape;8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fr-FR" smtClean="0"/>
              <a:t>REVUE NATIONALE ANNUELLE PEV DPS KASAÏ</a:t>
            </a:r>
            <a:endParaRPr/>
          </a:p>
        </p:txBody>
      </p:sp>
      <p:sp>
        <p:nvSpPr>
          <p:cNvPr id="87" name="Google Shape;8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2"/>
        <p:cNvGrpSpPr/>
        <p:nvPr/>
      </p:nvGrpSpPr>
      <p:grpSpPr>
        <a:xfrm>
          <a:off x="0" y="0"/>
          <a:ext cx="0" cy="0"/>
          <a:chOff x="0" y="0"/>
          <a:chExt cx="0" cy="0"/>
        </a:xfrm>
      </p:grpSpPr>
      <p:sp>
        <p:nvSpPr>
          <p:cNvPr id="93" name="Google Shape;93;g3aabc9d920d_0_272"/>
          <p:cNvSpPr txBox="1">
            <a:spLocks noGrp="1"/>
          </p:cNvSpPr>
          <p:nvPr>
            <p:ph type="ctrTitle"/>
          </p:nvPr>
        </p:nvSpPr>
        <p:spPr>
          <a:xfrm>
            <a:off x="415611" y="992767"/>
            <a:ext cx="11360700" cy="27369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a:endParaRPr/>
          </a:p>
        </p:txBody>
      </p:sp>
      <p:sp>
        <p:nvSpPr>
          <p:cNvPr id="94" name="Google Shape;94;g3aabc9d920d_0_272"/>
          <p:cNvSpPr txBox="1">
            <a:spLocks noGrp="1"/>
          </p:cNvSpPr>
          <p:nvPr>
            <p:ph type="subTitle" idx="1"/>
          </p:nvPr>
        </p:nvSpPr>
        <p:spPr>
          <a:xfrm>
            <a:off x="415600" y="3778833"/>
            <a:ext cx="11360700" cy="10569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95" name="Google Shape;95;g3aabc9d920d_0_272"/>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6"/>
        <p:cNvGrpSpPr/>
        <p:nvPr/>
      </p:nvGrpSpPr>
      <p:grpSpPr>
        <a:xfrm>
          <a:off x="0" y="0"/>
          <a:ext cx="0" cy="0"/>
          <a:chOff x="0" y="0"/>
          <a:chExt cx="0" cy="0"/>
        </a:xfrm>
      </p:grpSpPr>
      <p:sp>
        <p:nvSpPr>
          <p:cNvPr id="97" name="Google Shape;97;g3aabc9d920d_0_276"/>
          <p:cNvSpPr txBox="1">
            <a:spLocks noGrp="1"/>
          </p:cNvSpPr>
          <p:nvPr>
            <p:ph type="title"/>
          </p:nvPr>
        </p:nvSpPr>
        <p:spPr>
          <a:xfrm>
            <a:off x="415600" y="2867800"/>
            <a:ext cx="11360700" cy="1122300"/>
          </a:xfrm>
          <a:prstGeom prst="rect">
            <a:avLst/>
          </a:prstGeom>
          <a:noFill/>
          <a:ln>
            <a:noFill/>
          </a:ln>
        </p:spPr>
        <p:txBody>
          <a:bodyPr spcFirstLastPara="1" wrap="square" lIns="121900" tIns="121900" rIns="121900" bIns="121900" anchor="ctr" anchorCtr="0">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98" name="Google Shape;98;g3aabc9d920d_0_276"/>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9"/>
        <p:cNvGrpSpPr/>
        <p:nvPr/>
      </p:nvGrpSpPr>
      <p:grpSpPr>
        <a:xfrm>
          <a:off x="0" y="0"/>
          <a:ext cx="0" cy="0"/>
          <a:chOff x="0" y="0"/>
          <a:chExt cx="0" cy="0"/>
        </a:xfrm>
      </p:grpSpPr>
      <p:sp>
        <p:nvSpPr>
          <p:cNvPr id="100" name="Google Shape;100;g3aabc9d920d_0_279"/>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01" name="Google Shape;101;g3aabc9d920d_0_279"/>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102" name="Google Shape;102;g3aabc9d920d_0_279"/>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3"/>
        <p:cNvGrpSpPr/>
        <p:nvPr/>
      </p:nvGrpSpPr>
      <p:grpSpPr>
        <a:xfrm>
          <a:off x="0" y="0"/>
          <a:ext cx="0" cy="0"/>
          <a:chOff x="0" y="0"/>
          <a:chExt cx="0" cy="0"/>
        </a:xfrm>
      </p:grpSpPr>
      <p:sp>
        <p:nvSpPr>
          <p:cNvPr id="104" name="Google Shape;104;g3aabc9d920d_0_283"/>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05" name="Google Shape;105;g3aabc9d920d_0_283"/>
          <p:cNvSpPr txBox="1">
            <a:spLocks noGrp="1"/>
          </p:cNvSpPr>
          <p:nvPr>
            <p:ph type="body" idx="1"/>
          </p:nvPr>
        </p:nvSpPr>
        <p:spPr>
          <a:xfrm>
            <a:off x="4156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106" name="Google Shape;106;g3aabc9d920d_0_283"/>
          <p:cNvSpPr txBox="1">
            <a:spLocks noGrp="1"/>
          </p:cNvSpPr>
          <p:nvPr>
            <p:ph type="body" idx="2"/>
          </p:nvPr>
        </p:nvSpPr>
        <p:spPr>
          <a:xfrm>
            <a:off x="64432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107" name="Google Shape;107;g3aabc9d920d_0_283"/>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8"/>
        <p:cNvGrpSpPr/>
        <p:nvPr/>
      </p:nvGrpSpPr>
      <p:grpSpPr>
        <a:xfrm>
          <a:off x="0" y="0"/>
          <a:ext cx="0" cy="0"/>
          <a:chOff x="0" y="0"/>
          <a:chExt cx="0" cy="0"/>
        </a:xfrm>
      </p:grpSpPr>
      <p:sp>
        <p:nvSpPr>
          <p:cNvPr id="109" name="Google Shape;109;g3aabc9d920d_0_288"/>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10" name="Google Shape;110;g3aabc9d920d_0_288"/>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1"/>
        <p:cNvGrpSpPr/>
        <p:nvPr/>
      </p:nvGrpSpPr>
      <p:grpSpPr>
        <a:xfrm>
          <a:off x="0" y="0"/>
          <a:ext cx="0" cy="0"/>
          <a:chOff x="0" y="0"/>
          <a:chExt cx="0" cy="0"/>
        </a:xfrm>
      </p:grpSpPr>
      <p:sp>
        <p:nvSpPr>
          <p:cNvPr id="112" name="Google Shape;112;g3aabc9d920d_0_291"/>
          <p:cNvSpPr txBox="1">
            <a:spLocks noGrp="1"/>
          </p:cNvSpPr>
          <p:nvPr>
            <p:ph type="title"/>
          </p:nvPr>
        </p:nvSpPr>
        <p:spPr>
          <a:xfrm>
            <a:off x="415600" y="740800"/>
            <a:ext cx="3744000" cy="1007700"/>
          </a:xfrm>
          <a:prstGeom prst="rect">
            <a:avLst/>
          </a:prstGeom>
          <a:noFill/>
          <a:ln>
            <a:noFill/>
          </a:ln>
        </p:spPr>
        <p:txBody>
          <a:bodyPr spcFirstLastPara="1" wrap="square" lIns="121900" tIns="121900" rIns="121900" bIns="121900" anchor="b" anchorCtr="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a:endParaRPr/>
          </a:p>
        </p:txBody>
      </p:sp>
      <p:sp>
        <p:nvSpPr>
          <p:cNvPr id="113" name="Google Shape;113;g3aabc9d920d_0_291"/>
          <p:cNvSpPr txBox="1">
            <a:spLocks noGrp="1"/>
          </p:cNvSpPr>
          <p:nvPr>
            <p:ph type="body" idx="1"/>
          </p:nvPr>
        </p:nvSpPr>
        <p:spPr>
          <a:xfrm>
            <a:off x="415600" y="1852800"/>
            <a:ext cx="3744000" cy="4239300"/>
          </a:xfrm>
          <a:prstGeom prst="rect">
            <a:avLst/>
          </a:prstGeom>
          <a:noFill/>
          <a:ln>
            <a:noFill/>
          </a:ln>
        </p:spPr>
        <p:txBody>
          <a:bodyPr spcFirstLastPara="1" wrap="square" lIns="121900" tIns="121900" rIns="121900" bIns="121900" anchor="t" anchorCtr="0">
            <a:normAutofit/>
          </a:bodyPr>
          <a:lstStyle>
            <a:lvl1pPr marL="457200" lvl="0" indent="-330200" algn="l">
              <a:lnSpc>
                <a:spcPct val="115000"/>
              </a:lnSpc>
              <a:spcBef>
                <a:spcPts val="0"/>
              </a:spcBef>
              <a:spcAft>
                <a:spcPts val="0"/>
              </a:spcAft>
              <a:buSzPts val="1600"/>
              <a:buChar char="●"/>
              <a:defRPr sz="16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114" name="Google Shape;114;g3aabc9d920d_0_291"/>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5"/>
        <p:cNvGrpSpPr/>
        <p:nvPr/>
      </p:nvGrpSpPr>
      <p:grpSpPr>
        <a:xfrm>
          <a:off x="0" y="0"/>
          <a:ext cx="0" cy="0"/>
          <a:chOff x="0" y="0"/>
          <a:chExt cx="0" cy="0"/>
        </a:xfrm>
      </p:grpSpPr>
      <p:sp>
        <p:nvSpPr>
          <p:cNvPr id="116" name="Google Shape;116;g3aabc9d920d_0_295"/>
          <p:cNvSpPr txBox="1">
            <a:spLocks noGrp="1"/>
          </p:cNvSpPr>
          <p:nvPr>
            <p:ph type="title"/>
          </p:nvPr>
        </p:nvSpPr>
        <p:spPr>
          <a:xfrm>
            <a:off x="653667" y="600200"/>
            <a:ext cx="8490300" cy="5454300"/>
          </a:xfrm>
          <a:prstGeom prst="rect">
            <a:avLst/>
          </a:prstGeom>
          <a:noFill/>
          <a:ln>
            <a:noFill/>
          </a:ln>
        </p:spPr>
        <p:txBody>
          <a:bodyPr spcFirstLastPara="1" wrap="square" lIns="121900" tIns="121900" rIns="121900" bIns="121900" anchor="ctr" anchorCtr="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a:endParaRPr/>
          </a:p>
        </p:txBody>
      </p:sp>
      <p:sp>
        <p:nvSpPr>
          <p:cNvPr id="117" name="Google Shape;117;g3aabc9d920d_0_295"/>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8"/>
        <p:cNvGrpSpPr/>
        <p:nvPr/>
      </p:nvGrpSpPr>
      <p:grpSpPr>
        <a:xfrm>
          <a:off x="0" y="0"/>
          <a:ext cx="0" cy="0"/>
          <a:chOff x="0" y="0"/>
          <a:chExt cx="0" cy="0"/>
        </a:xfrm>
      </p:grpSpPr>
      <p:sp>
        <p:nvSpPr>
          <p:cNvPr id="119" name="Google Shape;119;g3aabc9d920d_0_298"/>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0" name="Google Shape;120;g3aabc9d920d_0_298"/>
          <p:cNvSpPr txBox="1">
            <a:spLocks noGrp="1"/>
          </p:cNvSpPr>
          <p:nvPr>
            <p:ph type="title"/>
          </p:nvPr>
        </p:nvSpPr>
        <p:spPr>
          <a:xfrm>
            <a:off x="354000" y="1644233"/>
            <a:ext cx="5393700" cy="19764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121" name="Google Shape;121;g3aabc9d920d_0_298"/>
          <p:cNvSpPr txBox="1">
            <a:spLocks noGrp="1"/>
          </p:cNvSpPr>
          <p:nvPr>
            <p:ph type="subTitle" idx="1"/>
          </p:nvPr>
        </p:nvSpPr>
        <p:spPr>
          <a:xfrm>
            <a:off x="354000" y="3737433"/>
            <a:ext cx="5393700" cy="16467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2" name="Google Shape;122;g3aabc9d920d_0_298"/>
          <p:cNvSpPr txBox="1">
            <a:spLocks noGrp="1"/>
          </p:cNvSpPr>
          <p:nvPr>
            <p:ph type="body" idx="2"/>
          </p:nvPr>
        </p:nvSpPr>
        <p:spPr>
          <a:xfrm>
            <a:off x="6586000" y="965433"/>
            <a:ext cx="5115900" cy="4926900"/>
          </a:xfrm>
          <a:prstGeom prst="rect">
            <a:avLst/>
          </a:prstGeom>
          <a:noFill/>
          <a:ln>
            <a:noFill/>
          </a:ln>
        </p:spPr>
        <p:txBody>
          <a:bodyPr spcFirstLastPara="1" wrap="square" lIns="121900" tIns="121900" rIns="121900" bIns="121900" anchor="ctr"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123" name="Google Shape;123;g3aabc9d920d_0_298"/>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24"/>
        <p:cNvGrpSpPr/>
        <p:nvPr/>
      </p:nvGrpSpPr>
      <p:grpSpPr>
        <a:xfrm>
          <a:off x="0" y="0"/>
          <a:ext cx="0" cy="0"/>
          <a:chOff x="0" y="0"/>
          <a:chExt cx="0" cy="0"/>
        </a:xfrm>
      </p:grpSpPr>
      <p:sp>
        <p:nvSpPr>
          <p:cNvPr id="125" name="Google Shape;125;g3aabc9d920d_0_304"/>
          <p:cNvSpPr txBox="1">
            <a:spLocks noGrp="1"/>
          </p:cNvSpPr>
          <p:nvPr>
            <p:ph type="body" idx="1"/>
          </p:nvPr>
        </p:nvSpPr>
        <p:spPr>
          <a:xfrm>
            <a:off x="415600" y="5640767"/>
            <a:ext cx="7998300" cy="806700"/>
          </a:xfrm>
          <a:prstGeom prst="rect">
            <a:avLst/>
          </a:prstGeom>
          <a:noFill/>
          <a:ln>
            <a:noFill/>
          </a:ln>
        </p:spPr>
        <p:txBody>
          <a:bodyPr spcFirstLastPara="1" wrap="square" lIns="121900" tIns="121900" rIns="121900" bIns="121900" anchor="ctr" anchorCtr="0">
            <a:normAutofit/>
          </a:bodyPr>
          <a:lstStyle>
            <a:lvl1pPr marL="457200" lvl="0" indent="-228600" algn="l">
              <a:lnSpc>
                <a:spcPct val="100000"/>
              </a:lnSpc>
              <a:spcBef>
                <a:spcPts val="0"/>
              </a:spcBef>
              <a:spcAft>
                <a:spcPts val="0"/>
              </a:spcAft>
              <a:buSzPts val="2400"/>
              <a:buNone/>
              <a:defRPr/>
            </a:lvl1pPr>
          </a:lstStyle>
          <a:p>
            <a:endParaRPr/>
          </a:p>
        </p:txBody>
      </p:sp>
      <p:sp>
        <p:nvSpPr>
          <p:cNvPr id="126" name="Google Shape;126;g3aabc9d920d_0_304"/>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27"/>
        <p:cNvGrpSpPr/>
        <p:nvPr/>
      </p:nvGrpSpPr>
      <p:grpSpPr>
        <a:xfrm>
          <a:off x="0" y="0"/>
          <a:ext cx="0" cy="0"/>
          <a:chOff x="0" y="0"/>
          <a:chExt cx="0" cy="0"/>
        </a:xfrm>
      </p:grpSpPr>
      <p:sp>
        <p:nvSpPr>
          <p:cNvPr id="128" name="Google Shape;128;g3aabc9d920d_0_307"/>
          <p:cNvSpPr txBox="1">
            <a:spLocks noGrp="1"/>
          </p:cNvSpPr>
          <p:nvPr>
            <p:ph type="title" hasCustomPrompt="1"/>
          </p:nvPr>
        </p:nvSpPr>
        <p:spPr>
          <a:xfrm>
            <a:off x="415600" y="1474833"/>
            <a:ext cx="11360700" cy="26181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129" name="Google Shape;129;g3aabc9d920d_0_307"/>
          <p:cNvSpPr txBox="1">
            <a:spLocks noGrp="1"/>
          </p:cNvSpPr>
          <p:nvPr>
            <p:ph type="body" idx="1"/>
          </p:nvPr>
        </p:nvSpPr>
        <p:spPr>
          <a:xfrm>
            <a:off x="415600" y="4202967"/>
            <a:ext cx="11360700" cy="1734300"/>
          </a:xfrm>
          <a:prstGeom prst="rect">
            <a:avLst/>
          </a:prstGeom>
          <a:noFill/>
          <a:ln>
            <a:noFill/>
          </a:ln>
        </p:spPr>
        <p:txBody>
          <a:bodyPr spcFirstLastPara="1" wrap="square" lIns="121900" tIns="121900" rIns="121900" bIns="121900" anchor="t" anchorCtr="0">
            <a:normAutofit/>
          </a:bodyPr>
          <a:lstStyle>
            <a:lvl1pPr marL="457200" lvl="0" indent="-381000" algn="ctr">
              <a:lnSpc>
                <a:spcPct val="115000"/>
              </a:lnSpc>
              <a:spcBef>
                <a:spcPts val="0"/>
              </a:spcBef>
              <a:spcAft>
                <a:spcPts val="0"/>
              </a:spcAft>
              <a:buSzPts val="2400"/>
              <a:buChar char="●"/>
              <a:defRPr/>
            </a:lvl1pPr>
            <a:lvl2pPr marL="914400" lvl="1" indent="-349250" algn="ctr">
              <a:lnSpc>
                <a:spcPct val="115000"/>
              </a:lnSpc>
              <a:spcBef>
                <a:spcPts val="0"/>
              </a:spcBef>
              <a:spcAft>
                <a:spcPts val="0"/>
              </a:spcAft>
              <a:buSzPts val="1900"/>
              <a:buChar char="○"/>
              <a:defRPr/>
            </a:lvl2pPr>
            <a:lvl3pPr marL="1371600" lvl="2" indent="-349250" algn="ctr">
              <a:lnSpc>
                <a:spcPct val="115000"/>
              </a:lnSpc>
              <a:spcBef>
                <a:spcPts val="0"/>
              </a:spcBef>
              <a:spcAft>
                <a:spcPts val="0"/>
              </a:spcAft>
              <a:buSzPts val="1900"/>
              <a:buChar char="■"/>
              <a:defRPr/>
            </a:lvl3pPr>
            <a:lvl4pPr marL="1828800" lvl="3" indent="-349250" algn="ctr">
              <a:lnSpc>
                <a:spcPct val="115000"/>
              </a:lnSpc>
              <a:spcBef>
                <a:spcPts val="0"/>
              </a:spcBef>
              <a:spcAft>
                <a:spcPts val="0"/>
              </a:spcAft>
              <a:buSzPts val="1900"/>
              <a:buChar char="●"/>
              <a:defRPr/>
            </a:lvl4pPr>
            <a:lvl5pPr marL="2286000" lvl="4" indent="-349250" algn="ctr">
              <a:lnSpc>
                <a:spcPct val="115000"/>
              </a:lnSpc>
              <a:spcBef>
                <a:spcPts val="0"/>
              </a:spcBef>
              <a:spcAft>
                <a:spcPts val="0"/>
              </a:spcAft>
              <a:buSzPts val="1900"/>
              <a:buChar char="○"/>
              <a:defRPr/>
            </a:lvl5pPr>
            <a:lvl6pPr marL="2743200" lvl="5" indent="-349250" algn="ctr">
              <a:lnSpc>
                <a:spcPct val="115000"/>
              </a:lnSpc>
              <a:spcBef>
                <a:spcPts val="0"/>
              </a:spcBef>
              <a:spcAft>
                <a:spcPts val="0"/>
              </a:spcAft>
              <a:buSzPts val="1900"/>
              <a:buChar char="■"/>
              <a:defRPr/>
            </a:lvl6pPr>
            <a:lvl7pPr marL="3200400" lvl="6" indent="-349250" algn="ctr">
              <a:lnSpc>
                <a:spcPct val="115000"/>
              </a:lnSpc>
              <a:spcBef>
                <a:spcPts val="0"/>
              </a:spcBef>
              <a:spcAft>
                <a:spcPts val="0"/>
              </a:spcAft>
              <a:buSzPts val="1900"/>
              <a:buChar char="●"/>
              <a:defRPr/>
            </a:lvl7pPr>
            <a:lvl8pPr marL="3657600" lvl="7" indent="-349250" algn="ctr">
              <a:lnSpc>
                <a:spcPct val="115000"/>
              </a:lnSpc>
              <a:spcBef>
                <a:spcPts val="0"/>
              </a:spcBef>
              <a:spcAft>
                <a:spcPts val="0"/>
              </a:spcAft>
              <a:buSzPts val="1900"/>
              <a:buChar char="○"/>
              <a:defRPr/>
            </a:lvl8pPr>
            <a:lvl9pPr marL="4114800" lvl="8" indent="-349250" algn="ctr">
              <a:lnSpc>
                <a:spcPct val="115000"/>
              </a:lnSpc>
              <a:spcBef>
                <a:spcPts val="0"/>
              </a:spcBef>
              <a:spcAft>
                <a:spcPts val="0"/>
              </a:spcAft>
              <a:buSzPts val="1900"/>
              <a:buChar char="■"/>
              <a:defRPr/>
            </a:lvl9pPr>
          </a:lstStyle>
          <a:p>
            <a:endParaRPr/>
          </a:p>
        </p:txBody>
      </p:sp>
      <p:sp>
        <p:nvSpPr>
          <p:cNvPr id="130" name="Google Shape;130;g3aabc9d920d_0_307"/>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1"/>
        <p:cNvGrpSpPr/>
        <p:nvPr/>
      </p:nvGrpSpPr>
      <p:grpSpPr>
        <a:xfrm>
          <a:off x="0" y="0"/>
          <a:ext cx="0" cy="0"/>
          <a:chOff x="0" y="0"/>
          <a:chExt cx="0" cy="0"/>
        </a:xfrm>
      </p:grpSpPr>
      <p:sp>
        <p:nvSpPr>
          <p:cNvPr id="132" name="Google Shape;132;g3aabc9d920d_0_311"/>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133"/>
        <p:cNvGrpSpPr/>
        <p:nvPr/>
      </p:nvGrpSpPr>
      <p:grpSpPr>
        <a:xfrm>
          <a:off x="0" y="0"/>
          <a:ext cx="0" cy="0"/>
          <a:chOff x="0" y="0"/>
          <a:chExt cx="0" cy="0"/>
        </a:xfrm>
      </p:grpSpPr>
      <p:sp>
        <p:nvSpPr>
          <p:cNvPr id="134" name="Google Shape;134;g3aabc9d920d_0_313"/>
          <p:cNvSpPr txBox="1">
            <a:spLocks noGrp="1"/>
          </p:cNvSpPr>
          <p:nvPr>
            <p:ph type="body" idx="1"/>
          </p:nvPr>
        </p:nvSpPr>
        <p:spPr>
          <a:xfrm>
            <a:off x="609600" y="457200"/>
            <a:ext cx="4876800" cy="5715300"/>
          </a:xfrm>
          <a:prstGeom prst="rect">
            <a:avLst/>
          </a:prstGeom>
          <a:noFill/>
          <a:ln>
            <a:noFill/>
          </a:ln>
        </p:spPr>
        <p:txBody>
          <a:bodyPr spcFirstLastPara="1" wrap="square" lIns="121900" tIns="60925" rIns="121900" bIns="60925" anchor="ctr" anchorCtr="0">
            <a:normAutofit/>
          </a:bodyPr>
          <a:lstStyle>
            <a:lvl1pPr marL="457200" lvl="0" indent="-381000" algn="l">
              <a:lnSpc>
                <a:spcPct val="115000"/>
              </a:lnSpc>
              <a:spcBef>
                <a:spcPts val="500"/>
              </a:spcBef>
              <a:spcAft>
                <a:spcPts val="0"/>
              </a:spcAft>
              <a:buSzPts val="2400"/>
              <a:buChar char="●"/>
              <a:defRPr/>
            </a:lvl1pPr>
            <a:lvl2pPr marL="914400" lvl="1" indent="-381000" algn="l">
              <a:lnSpc>
                <a:spcPct val="115000"/>
              </a:lnSpc>
              <a:spcBef>
                <a:spcPts val="500"/>
              </a:spcBef>
              <a:spcAft>
                <a:spcPts val="0"/>
              </a:spcAft>
              <a:buSzPts val="2400"/>
              <a:buChar char="○"/>
              <a:defRPr/>
            </a:lvl2pPr>
            <a:lvl3pPr marL="1371600" lvl="2" indent="-381000" algn="l">
              <a:lnSpc>
                <a:spcPct val="115000"/>
              </a:lnSpc>
              <a:spcBef>
                <a:spcPts val="500"/>
              </a:spcBef>
              <a:spcAft>
                <a:spcPts val="0"/>
              </a:spcAft>
              <a:buSzPts val="2400"/>
              <a:buChar char="■"/>
              <a:defRPr/>
            </a:lvl3pPr>
            <a:lvl4pPr marL="1828800" lvl="3" indent="-381000" algn="l">
              <a:lnSpc>
                <a:spcPct val="115000"/>
              </a:lnSpc>
              <a:spcBef>
                <a:spcPts val="500"/>
              </a:spcBef>
              <a:spcAft>
                <a:spcPts val="0"/>
              </a:spcAft>
              <a:buSzPts val="2400"/>
              <a:buChar char="●"/>
              <a:defRPr/>
            </a:lvl4pPr>
            <a:lvl5pPr marL="2286000" lvl="4" indent="-349250" algn="l">
              <a:lnSpc>
                <a:spcPct val="115000"/>
              </a:lnSpc>
              <a:spcBef>
                <a:spcPts val="400"/>
              </a:spcBef>
              <a:spcAft>
                <a:spcPts val="0"/>
              </a:spcAft>
              <a:buSzPts val="1900"/>
              <a:buChar char="○"/>
              <a:defRPr/>
            </a:lvl5pPr>
            <a:lvl6pPr marL="2743200" lvl="5" indent="-349250" algn="l">
              <a:lnSpc>
                <a:spcPct val="115000"/>
              </a:lnSpc>
              <a:spcBef>
                <a:spcPts val="400"/>
              </a:spcBef>
              <a:spcAft>
                <a:spcPts val="0"/>
              </a:spcAft>
              <a:buSzPts val="1900"/>
              <a:buChar char="■"/>
              <a:defRPr/>
            </a:lvl6pPr>
            <a:lvl7pPr marL="3200400" lvl="6" indent="-349250" algn="l">
              <a:lnSpc>
                <a:spcPct val="115000"/>
              </a:lnSpc>
              <a:spcBef>
                <a:spcPts val="400"/>
              </a:spcBef>
              <a:spcAft>
                <a:spcPts val="0"/>
              </a:spcAft>
              <a:buSzPts val="1900"/>
              <a:buChar char="●"/>
              <a:defRPr/>
            </a:lvl7pPr>
            <a:lvl8pPr marL="3657600" lvl="7" indent="-349250" algn="l">
              <a:lnSpc>
                <a:spcPct val="115000"/>
              </a:lnSpc>
              <a:spcBef>
                <a:spcPts val="400"/>
              </a:spcBef>
              <a:spcAft>
                <a:spcPts val="0"/>
              </a:spcAft>
              <a:buSzPts val="1900"/>
              <a:buChar char="○"/>
              <a:defRPr/>
            </a:lvl8pPr>
            <a:lvl9pPr marL="4114800" lvl="8" indent="-349250" algn="l">
              <a:lnSpc>
                <a:spcPct val="115000"/>
              </a:lnSpc>
              <a:spcBef>
                <a:spcPts val="400"/>
              </a:spcBef>
              <a:spcAft>
                <a:spcPts val="0"/>
              </a:spcAft>
              <a:buSzPts val="1900"/>
              <a:buChar char="■"/>
              <a:defRPr/>
            </a:lvl9pPr>
          </a:lstStyle>
          <a:p>
            <a:endParaRPr/>
          </a:p>
        </p:txBody>
      </p:sp>
      <p:sp>
        <p:nvSpPr>
          <p:cNvPr id="135" name="Google Shape;135;g3aabc9d920d_0_313"/>
          <p:cNvSpPr txBox="1">
            <a:spLocks noGrp="1"/>
          </p:cNvSpPr>
          <p:nvPr>
            <p:ph type="title"/>
          </p:nvPr>
        </p:nvSpPr>
        <p:spPr>
          <a:xfrm>
            <a:off x="6502400" y="457200"/>
            <a:ext cx="3759300" cy="5715300"/>
          </a:xfrm>
          <a:prstGeom prst="rect">
            <a:avLst/>
          </a:prstGeom>
          <a:noFill/>
          <a:ln>
            <a:noFill/>
          </a:ln>
        </p:spPr>
        <p:txBody>
          <a:bodyPr spcFirstLastPara="1" wrap="square" lIns="121900" tIns="60925" rIns="121900" bIns="60925" anchor="ctr" anchorCtr="0">
            <a:normAutofit/>
          </a:bodyPr>
          <a:lstStyle>
            <a:lvl1pPr lvl="0" algn="r">
              <a:lnSpc>
                <a:spcPct val="100000"/>
              </a:lnSpc>
              <a:spcBef>
                <a:spcPts val="0"/>
              </a:spcBef>
              <a:spcAft>
                <a:spcPts val="0"/>
              </a:spcAft>
              <a:buClr>
                <a:schemeClr val="dk1"/>
              </a:buClr>
              <a:buSzPts val="24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36" name="Google Shape;136;g3aabc9d920d_0_313"/>
          <p:cNvSpPr txBox="1">
            <a:spLocks noGrp="1"/>
          </p:cNvSpPr>
          <p:nvPr>
            <p:ph type="dt" idx="10"/>
          </p:nvPr>
        </p:nvSpPr>
        <p:spPr>
          <a:xfrm>
            <a:off x="6502401" y="6426201"/>
            <a:ext cx="3759300" cy="126900"/>
          </a:xfrm>
          <a:prstGeom prst="rect">
            <a:avLst/>
          </a:prstGeom>
          <a:noFill/>
          <a:ln>
            <a:noFill/>
          </a:ln>
        </p:spPr>
        <p:txBody>
          <a:bodyPr spcFirstLastPara="1" wrap="square" lIns="121900" tIns="60925" rIns="121900" bIns="60925" anchor="ctr" anchorCtr="0">
            <a:noAutofit/>
          </a:bodyPr>
          <a:lstStyle>
            <a:lvl1pPr marR="0" lvl="0" algn="r">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fld id="{3663FCDC-D99A-493B-B25D-36F95D816818}" type="datetime1">
              <a:rPr lang="en-US" smtClean="0"/>
              <a:t>12/16/2025</a:t>
            </a:fld>
            <a:endParaRPr/>
          </a:p>
        </p:txBody>
      </p:sp>
      <p:sp>
        <p:nvSpPr>
          <p:cNvPr id="137" name="Google Shape;137;g3aabc9d920d_0_313"/>
          <p:cNvSpPr txBox="1">
            <a:spLocks noGrp="1"/>
          </p:cNvSpPr>
          <p:nvPr>
            <p:ph type="sldNum" idx="12"/>
          </p:nvPr>
        </p:nvSpPr>
        <p:spPr>
          <a:xfrm>
            <a:off x="10363200" y="6400800"/>
            <a:ext cx="711300" cy="152400"/>
          </a:xfrm>
          <a:prstGeom prst="rect">
            <a:avLst/>
          </a:prstGeom>
          <a:noFill/>
          <a:ln>
            <a:noFill/>
          </a:ln>
        </p:spPr>
        <p:txBody>
          <a:bodyPr spcFirstLastPara="1" wrap="square" lIns="121900" tIns="60925" rIns="121900" bIns="60925" anchor="ctr" anchorCtr="0">
            <a:normAutofit fontScale="25000" lnSpcReduction="20000"/>
          </a:bodyPr>
          <a:lstStyle>
            <a:lvl1pPr marL="0" marR="0" lvl="0"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ctr" rtl="0">
              <a:spcBef>
                <a:spcPts val="0"/>
              </a:spcBef>
              <a:spcAft>
                <a:spcPts val="0"/>
              </a:spcAft>
              <a:buNone/>
            </a:pPr>
            <a:fld id="{00000000-1234-1234-1234-123412341234}" type="slidenum">
              <a:rPr lang="en-US"/>
              <a:t>‹N°›</a:t>
            </a:fld>
            <a:endParaRPr lang="en-US"/>
          </a:p>
        </p:txBody>
      </p:sp>
      <p:sp>
        <p:nvSpPr>
          <p:cNvPr id="138" name="Google Shape;138;g3aabc9d920d_0_313"/>
          <p:cNvSpPr txBox="1">
            <a:spLocks noGrp="1"/>
          </p:cNvSpPr>
          <p:nvPr>
            <p:ph type="ftr" idx="11"/>
          </p:nvPr>
        </p:nvSpPr>
        <p:spPr>
          <a:xfrm>
            <a:off x="6500284" y="6296248"/>
            <a:ext cx="3761100" cy="152400"/>
          </a:xfrm>
          <a:prstGeom prst="rect">
            <a:avLst/>
          </a:prstGeom>
          <a:noFill/>
          <a:ln>
            <a:noFill/>
          </a:ln>
        </p:spPr>
        <p:txBody>
          <a:bodyPr spcFirstLastPara="1" wrap="square" lIns="121900" tIns="60925" rIns="121900" bIns="60925" anchor="b" anchorCtr="0">
            <a:noAutofit/>
          </a:bodyPr>
          <a:lstStyle>
            <a:lvl1pPr marR="0" lvl="0" algn="r">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fr-FR" smtClean="0"/>
              <a:t>REVUE NATIONALE ANNUELLE PEV DPS KASAÏ</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ustom Layout 2 1 1">
  <p:cSld name="CUSTOM_1_1_1_3_2">
    <p:spTree>
      <p:nvGrpSpPr>
        <p:cNvPr id="1" name="Shape 139"/>
        <p:cNvGrpSpPr/>
        <p:nvPr/>
      </p:nvGrpSpPr>
      <p:grpSpPr>
        <a:xfrm>
          <a:off x="0" y="0"/>
          <a:ext cx="0" cy="0"/>
          <a:chOff x="0" y="0"/>
          <a:chExt cx="0" cy="0"/>
        </a:xfrm>
      </p:grpSpPr>
      <p:sp>
        <p:nvSpPr>
          <p:cNvPr id="140" name="Google Shape;140;g3aabc9d920d_0_319"/>
          <p:cNvSpPr txBox="1"/>
          <p:nvPr/>
        </p:nvSpPr>
        <p:spPr>
          <a:xfrm>
            <a:off x="0" y="0"/>
            <a:ext cx="3495900" cy="6858000"/>
          </a:xfrm>
          <a:prstGeom prst="rect">
            <a:avLst/>
          </a:prstGeom>
          <a:solidFill>
            <a:srgbClr val="D9D2E9"/>
          </a:solidFill>
          <a:ln>
            <a:noFill/>
          </a:ln>
        </p:spPr>
        <p:txBody>
          <a:bodyPr spcFirstLastPara="1" wrap="square" lIns="121900" tIns="121900" rIns="121900" bIns="121900" anchor="t" anchorCtr="0">
            <a:noAutofit/>
          </a:bodyPr>
          <a:lstStyle/>
          <a:p>
            <a:pPr marL="0" lvl="0" indent="0" algn="l" rtl="0">
              <a:spcBef>
                <a:spcPts val="0"/>
              </a:spcBef>
              <a:spcAft>
                <a:spcPts val="0"/>
              </a:spcAft>
              <a:buNone/>
            </a:pPr>
            <a:endParaRPr/>
          </a:p>
        </p:txBody>
      </p:sp>
      <p:sp>
        <p:nvSpPr>
          <p:cNvPr id="141" name="Google Shape;141;g3aabc9d920d_0_319"/>
          <p:cNvSpPr txBox="1">
            <a:spLocks noGrp="1"/>
          </p:cNvSpPr>
          <p:nvPr>
            <p:ph type="sldNum" idx="12"/>
          </p:nvPr>
        </p:nvSpPr>
        <p:spPr>
          <a:xfrm>
            <a:off x="11409045" y="6333134"/>
            <a:ext cx="731700" cy="524700"/>
          </a:xfrm>
          <a:prstGeom prst="rect">
            <a:avLst/>
          </a:prstGeom>
        </p:spPr>
        <p:txBody>
          <a:bodyPr spcFirstLastPara="1" wrap="square" lIns="121900" tIns="121900" rIns="121900" bIns="121900" anchor="t" anchorCtr="0">
            <a:normAutofit/>
          </a:bodyPr>
          <a:lstStyle>
            <a:lvl1pPr lvl="0">
              <a:buNone/>
              <a:defRPr sz="1700"/>
            </a:lvl1pPr>
            <a:lvl2pPr lvl="1">
              <a:buNone/>
              <a:defRPr sz="1700"/>
            </a:lvl2pPr>
            <a:lvl3pPr lvl="2">
              <a:buNone/>
              <a:defRPr sz="1700"/>
            </a:lvl3pPr>
            <a:lvl4pPr lvl="3">
              <a:buNone/>
              <a:defRPr sz="1700"/>
            </a:lvl4pPr>
            <a:lvl5pPr lvl="4">
              <a:buNone/>
              <a:defRPr sz="1700"/>
            </a:lvl5pPr>
            <a:lvl6pPr lvl="5">
              <a:buNone/>
              <a:defRPr sz="1700"/>
            </a:lvl6pPr>
            <a:lvl7pPr lvl="6">
              <a:buNone/>
              <a:defRPr sz="1700"/>
            </a:lvl7pPr>
            <a:lvl8pPr lvl="7">
              <a:buNone/>
              <a:defRPr sz="1700"/>
            </a:lvl8pPr>
            <a:lvl9pPr lvl="8">
              <a:buNone/>
              <a:defRPr sz="1700"/>
            </a:lvl9pPr>
          </a:lstStyle>
          <a:p>
            <a:pPr marL="0" lvl="0" indent="0" algn="r" rtl="0">
              <a:spcBef>
                <a:spcPts val="0"/>
              </a:spcBef>
              <a:spcAft>
                <a:spcPts val="0"/>
              </a:spcAft>
              <a:buNone/>
            </a:pPr>
            <a:fld id="{00000000-1234-1234-1234-123412341234}" type="slidenum">
              <a:rPr lang="en-US"/>
              <a:t>‹N°›</a:t>
            </a:fld>
            <a:endParaRPr lang="en-US"/>
          </a:p>
        </p:txBody>
      </p:sp>
      <p:sp>
        <p:nvSpPr>
          <p:cNvPr id="142" name="Google Shape;142;g3aabc9d920d_0_319"/>
          <p:cNvSpPr txBox="1">
            <a:spLocks noGrp="1"/>
          </p:cNvSpPr>
          <p:nvPr>
            <p:ph type="title"/>
          </p:nvPr>
        </p:nvSpPr>
        <p:spPr>
          <a:xfrm>
            <a:off x="325667" y="2918467"/>
            <a:ext cx="2844900" cy="763500"/>
          </a:xfrm>
          <a:prstGeom prst="rect">
            <a:avLst/>
          </a:prstGeom>
        </p:spPr>
        <p:txBody>
          <a:bodyPr spcFirstLastPara="1" wrap="square" lIns="0" tIns="0" rIns="121900" bIns="0" anchor="t" anchorCtr="0">
            <a:spAutoFit/>
          </a:bodyPr>
          <a:lstStyle>
            <a:lvl1pPr lvl="0">
              <a:spcBef>
                <a:spcPts val="0"/>
              </a:spcBef>
              <a:spcAft>
                <a:spcPts val="0"/>
              </a:spcAft>
              <a:buSzPts val="2700"/>
              <a:buFont typeface="Source Serif Pro"/>
              <a:buNone/>
              <a:defRPr sz="2700">
                <a:latin typeface="Source Serif Pro"/>
                <a:ea typeface="Source Serif Pro"/>
                <a:cs typeface="Source Serif Pro"/>
                <a:sym typeface="Source Serif Pro"/>
              </a:defRPr>
            </a:lvl1pPr>
            <a:lvl2pPr lvl="1">
              <a:spcBef>
                <a:spcPts val="0"/>
              </a:spcBef>
              <a:spcAft>
                <a:spcPts val="0"/>
              </a:spcAft>
              <a:buSzPts val="2700"/>
              <a:buFont typeface="Source Serif Pro"/>
              <a:buNone/>
              <a:defRPr sz="2700">
                <a:latin typeface="Source Serif Pro"/>
                <a:ea typeface="Source Serif Pro"/>
                <a:cs typeface="Source Serif Pro"/>
                <a:sym typeface="Source Serif Pro"/>
              </a:defRPr>
            </a:lvl2pPr>
            <a:lvl3pPr lvl="2">
              <a:spcBef>
                <a:spcPts val="0"/>
              </a:spcBef>
              <a:spcAft>
                <a:spcPts val="0"/>
              </a:spcAft>
              <a:buSzPts val="2700"/>
              <a:buFont typeface="Source Serif Pro"/>
              <a:buNone/>
              <a:defRPr sz="2700">
                <a:latin typeface="Source Serif Pro"/>
                <a:ea typeface="Source Serif Pro"/>
                <a:cs typeface="Source Serif Pro"/>
                <a:sym typeface="Source Serif Pro"/>
              </a:defRPr>
            </a:lvl3pPr>
            <a:lvl4pPr lvl="3">
              <a:spcBef>
                <a:spcPts val="0"/>
              </a:spcBef>
              <a:spcAft>
                <a:spcPts val="0"/>
              </a:spcAft>
              <a:buSzPts val="2700"/>
              <a:buFont typeface="Source Serif Pro"/>
              <a:buNone/>
              <a:defRPr sz="2700">
                <a:latin typeface="Source Serif Pro"/>
                <a:ea typeface="Source Serif Pro"/>
                <a:cs typeface="Source Serif Pro"/>
                <a:sym typeface="Source Serif Pro"/>
              </a:defRPr>
            </a:lvl4pPr>
            <a:lvl5pPr lvl="4">
              <a:spcBef>
                <a:spcPts val="0"/>
              </a:spcBef>
              <a:spcAft>
                <a:spcPts val="0"/>
              </a:spcAft>
              <a:buSzPts val="2700"/>
              <a:buFont typeface="Source Serif Pro"/>
              <a:buNone/>
              <a:defRPr sz="2700">
                <a:latin typeface="Source Serif Pro"/>
                <a:ea typeface="Source Serif Pro"/>
                <a:cs typeface="Source Serif Pro"/>
                <a:sym typeface="Source Serif Pro"/>
              </a:defRPr>
            </a:lvl5pPr>
            <a:lvl6pPr lvl="5">
              <a:spcBef>
                <a:spcPts val="0"/>
              </a:spcBef>
              <a:spcAft>
                <a:spcPts val="0"/>
              </a:spcAft>
              <a:buSzPts val="2700"/>
              <a:buFont typeface="Source Serif Pro"/>
              <a:buNone/>
              <a:defRPr sz="2700">
                <a:latin typeface="Source Serif Pro"/>
                <a:ea typeface="Source Serif Pro"/>
                <a:cs typeface="Source Serif Pro"/>
                <a:sym typeface="Source Serif Pro"/>
              </a:defRPr>
            </a:lvl6pPr>
            <a:lvl7pPr lvl="6">
              <a:spcBef>
                <a:spcPts val="0"/>
              </a:spcBef>
              <a:spcAft>
                <a:spcPts val="0"/>
              </a:spcAft>
              <a:buSzPts val="2700"/>
              <a:buFont typeface="Source Serif Pro"/>
              <a:buNone/>
              <a:defRPr sz="2700">
                <a:latin typeface="Source Serif Pro"/>
                <a:ea typeface="Source Serif Pro"/>
                <a:cs typeface="Source Serif Pro"/>
                <a:sym typeface="Source Serif Pro"/>
              </a:defRPr>
            </a:lvl7pPr>
            <a:lvl8pPr lvl="7">
              <a:spcBef>
                <a:spcPts val="0"/>
              </a:spcBef>
              <a:spcAft>
                <a:spcPts val="0"/>
              </a:spcAft>
              <a:buSzPts val="2700"/>
              <a:buFont typeface="Source Serif Pro"/>
              <a:buNone/>
              <a:defRPr sz="2700">
                <a:latin typeface="Source Serif Pro"/>
                <a:ea typeface="Source Serif Pro"/>
                <a:cs typeface="Source Serif Pro"/>
                <a:sym typeface="Source Serif Pro"/>
              </a:defRPr>
            </a:lvl8pPr>
            <a:lvl9pPr lvl="8">
              <a:spcBef>
                <a:spcPts val="0"/>
              </a:spcBef>
              <a:spcAft>
                <a:spcPts val="0"/>
              </a:spcAft>
              <a:buSzPts val="2700"/>
              <a:buFont typeface="Source Serif Pro"/>
              <a:buNone/>
              <a:defRPr sz="2700">
                <a:latin typeface="Source Serif Pro"/>
                <a:ea typeface="Source Serif Pro"/>
                <a:cs typeface="Source Serif Pro"/>
                <a:sym typeface="Source Serif Pro"/>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1048581"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1048582"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1048583" name="Espace réservé de la date 3"/>
          <p:cNvSpPr>
            <a:spLocks noGrp="1"/>
          </p:cNvSpPr>
          <p:nvPr>
            <p:ph type="dt" sz="half" idx="10"/>
          </p:nvPr>
        </p:nvSpPr>
        <p:spPr/>
        <p:txBody>
          <a:bodyPr/>
          <a:lstStyle/>
          <a:p>
            <a:fld id="{43261E4D-F01D-4FD9-BBBE-DAE4C1CB1631}" type="datetime1">
              <a:rPr lang="en-US" smtClean="0"/>
              <a:t>12/16/2025</a:t>
            </a:fld>
            <a:endParaRPr lang="fr-FR"/>
          </a:p>
        </p:txBody>
      </p:sp>
      <p:sp>
        <p:nvSpPr>
          <p:cNvPr id="1048584" name="Espace réservé du pied de page 4"/>
          <p:cNvSpPr>
            <a:spLocks noGrp="1"/>
          </p:cNvSpPr>
          <p:nvPr>
            <p:ph type="ftr" sz="quarter" idx="11"/>
          </p:nvPr>
        </p:nvSpPr>
        <p:spPr/>
        <p:txBody>
          <a:bodyPr/>
          <a:lstStyle/>
          <a:p>
            <a:r>
              <a:rPr lang="fr-FR" smtClean="0"/>
              <a:t>REVUE NATIONALE ANNUELLE PEV DPS KASAÏ</a:t>
            </a:r>
            <a:endParaRPr lang="fr-FR"/>
          </a:p>
        </p:txBody>
      </p:sp>
      <p:sp>
        <p:nvSpPr>
          <p:cNvPr id="1048585" name="Espace réservé du numéro de diapositive 5"/>
          <p:cNvSpPr>
            <a:spLocks noGrp="1"/>
          </p:cNvSpPr>
          <p:nvPr>
            <p:ph type="sldNum" sz="quarter" idx="12"/>
          </p:nvPr>
        </p:nvSpPr>
        <p:spPr/>
        <p:txBody>
          <a:bodyPr/>
          <a:lstStyle/>
          <a:p>
            <a:fld id="{E2E7D88A-0A00-4DD6-BEE2-4EF1457D8857}" type="slidenum">
              <a:rPr lang="fr-FR" smtClean="0"/>
              <a:t>‹N°›</a:t>
            </a:fld>
            <a:endParaRPr lang="fr-FR"/>
          </a:p>
        </p:txBody>
      </p:sp>
    </p:spTree>
    <p:extLst>
      <p:ext uri="{BB962C8B-B14F-4D97-AF65-F5344CB8AC3E}">
        <p14:creationId xmlns:p14="http://schemas.microsoft.com/office/powerpoint/2010/main" val="3320373676"/>
      </p:ext>
    </p:extLst>
  </p:cSld>
  <p:clrMapOvr>
    <a:masterClrMapping/>
  </p:clrMapOvr>
  <p:transition spd="slow">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1048589" name="Titre 1"/>
          <p:cNvSpPr>
            <a:spLocks noGrp="1"/>
          </p:cNvSpPr>
          <p:nvPr>
            <p:ph type="title"/>
          </p:nvPr>
        </p:nvSpPr>
        <p:spPr/>
        <p:txBody>
          <a:bodyPr/>
          <a:lstStyle/>
          <a:p>
            <a:r>
              <a:rPr lang="fr-FR"/>
              <a:t>Modifiez le style du titre</a:t>
            </a:r>
          </a:p>
        </p:txBody>
      </p:sp>
      <p:sp>
        <p:nvSpPr>
          <p:cNvPr id="1048590"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591" name="Espace réservé de la date 3"/>
          <p:cNvSpPr>
            <a:spLocks noGrp="1"/>
          </p:cNvSpPr>
          <p:nvPr>
            <p:ph type="dt" sz="half" idx="10"/>
          </p:nvPr>
        </p:nvSpPr>
        <p:spPr/>
        <p:txBody>
          <a:bodyPr/>
          <a:lstStyle/>
          <a:p>
            <a:fld id="{7C8667A8-1D60-4122-AA99-C15EAF473285}" type="datetime1">
              <a:rPr lang="en-US" smtClean="0"/>
              <a:t>12/16/2025</a:t>
            </a:fld>
            <a:endParaRPr lang="fr-FR"/>
          </a:p>
        </p:txBody>
      </p:sp>
      <p:sp>
        <p:nvSpPr>
          <p:cNvPr id="1048592" name="Espace réservé du pied de page 4"/>
          <p:cNvSpPr>
            <a:spLocks noGrp="1"/>
          </p:cNvSpPr>
          <p:nvPr>
            <p:ph type="ftr" sz="quarter" idx="11"/>
          </p:nvPr>
        </p:nvSpPr>
        <p:spPr/>
        <p:txBody>
          <a:bodyPr/>
          <a:lstStyle/>
          <a:p>
            <a:r>
              <a:rPr lang="fr-FR" smtClean="0"/>
              <a:t>REVUE NATIONALE ANNUELLE PEV DPS KASAÏ</a:t>
            </a:r>
            <a:endParaRPr lang="fr-FR"/>
          </a:p>
        </p:txBody>
      </p:sp>
      <p:sp>
        <p:nvSpPr>
          <p:cNvPr id="1048593" name="Espace réservé du numéro de diapositive 5"/>
          <p:cNvSpPr>
            <a:spLocks noGrp="1"/>
          </p:cNvSpPr>
          <p:nvPr>
            <p:ph type="sldNum" sz="quarter" idx="12"/>
          </p:nvPr>
        </p:nvSpPr>
        <p:spPr/>
        <p:txBody>
          <a:bodyPr/>
          <a:lstStyle/>
          <a:p>
            <a:fld id="{E2E7D88A-0A00-4DD6-BEE2-4EF1457D8857}" type="slidenum">
              <a:rPr lang="fr-FR" smtClean="0"/>
              <a:t>‹N°›</a:t>
            </a:fld>
            <a:endParaRPr lang="fr-FR"/>
          </a:p>
        </p:txBody>
      </p:sp>
    </p:spTree>
    <p:extLst>
      <p:ext uri="{BB962C8B-B14F-4D97-AF65-F5344CB8AC3E}">
        <p14:creationId xmlns:p14="http://schemas.microsoft.com/office/powerpoint/2010/main" val="838422493"/>
      </p:ext>
    </p:extLst>
  </p:cSld>
  <p:clrMapOvr>
    <a:masterClrMapping/>
  </p:clrMapOvr>
  <p:transition spd="slow">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1048926"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1048927"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1048928" name="Espace réservé de la date 3"/>
          <p:cNvSpPr>
            <a:spLocks noGrp="1"/>
          </p:cNvSpPr>
          <p:nvPr>
            <p:ph type="dt" sz="half" idx="10"/>
          </p:nvPr>
        </p:nvSpPr>
        <p:spPr/>
        <p:txBody>
          <a:bodyPr/>
          <a:lstStyle/>
          <a:p>
            <a:fld id="{88234E20-2E7A-45AF-BEEB-071939ED0943}" type="datetime1">
              <a:rPr lang="en-US" smtClean="0"/>
              <a:t>12/16/2025</a:t>
            </a:fld>
            <a:endParaRPr lang="fr-FR"/>
          </a:p>
        </p:txBody>
      </p:sp>
      <p:sp>
        <p:nvSpPr>
          <p:cNvPr id="1048929" name="Espace réservé du pied de page 4"/>
          <p:cNvSpPr>
            <a:spLocks noGrp="1"/>
          </p:cNvSpPr>
          <p:nvPr>
            <p:ph type="ftr" sz="quarter" idx="11"/>
          </p:nvPr>
        </p:nvSpPr>
        <p:spPr/>
        <p:txBody>
          <a:bodyPr/>
          <a:lstStyle/>
          <a:p>
            <a:r>
              <a:rPr lang="fr-FR" smtClean="0"/>
              <a:t>REVUE NATIONALE ANNUELLE PEV DPS KASAÏ</a:t>
            </a:r>
            <a:endParaRPr lang="fr-FR"/>
          </a:p>
        </p:txBody>
      </p:sp>
      <p:sp>
        <p:nvSpPr>
          <p:cNvPr id="1048930" name="Espace réservé du numéro de diapositive 5"/>
          <p:cNvSpPr>
            <a:spLocks noGrp="1"/>
          </p:cNvSpPr>
          <p:nvPr>
            <p:ph type="sldNum" sz="quarter" idx="12"/>
          </p:nvPr>
        </p:nvSpPr>
        <p:spPr/>
        <p:txBody>
          <a:bodyPr/>
          <a:lstStyle/>
          <a:p>
            <a:fld id="{E2E7D88A-0A00-4DD6-BEE2-4EF1457D8857}" type="slidenum">
              <a:rPr lang="fr-FR" smtClean="0"/>
              <a:t>‹N°›</a:t>
            </a:fld>
            <a:endParaRPr lang="fr-FR"/>
          </a:p>
        </p:txBody>
      </p:sp>
    </p:spTree>
    <p:extLst>
      <p:ext uri="{BB962C8B-B14F-4D97-AF65-F5344CB8AC3E}">
        <p14:creationId xmlns:p14="http://schemas.microsoft.com/office/powerpoint/2010/main" val="313747155"/>
      </p:ext>
    </p:extLst>
  </p:cSld>
  <p:clrMapOvr>
    <a:masterClrMapping/>
  </p:clrMapOvr>
  <p:transition spd="slow">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1048603" name="Titre 1"/>
          <p:cNvSpPr>
            <a:spLocks noGrp="1"/>
          </p:cNvSpPr>
          <p:nvPr>
            <p:ph type="title"/>
          </p:nvPr>
        </p:nvSpPr>
        <p:spPr/>
        <p:txBody>
          <a:bodyPr/>
          <a:lstStyle/>
          <a:p>
            <a:r>
              <a:rPr lang="fr-FR"/>
              <a:t>Modifiez le style du titre</a:t>
            </a:r>
          </a:p>
        </p:txBody>
      </p:sp>
      <p:sp>
        <p:nvSpPr>
          <p:cNvPr id="1048604"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605"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606" name="Espace réservé de la date 4"/>
          <p:cNvSpPr>
            <a:spLocks noGrp="1"/>
          </p:cNvSpPr>
          <p:nvPr>
            <p:ph type="dt" sz="half" idx="10"/>
          </p:nvPr>
        </p:nvSpPr>
        <p:spPr/>
        <p:txBody>
          <a:bodyPr/>
          <a:lstStyle/>
          <a:p>
            <a:fld id="{13C19BBA-ABEC-4911-9692-BDA6677D3023}" type="datetime1">
              <a:rPr lang="en-US" smtClean="0"/>
              <a:t>12/16/2025</a:t>
            </a:fld>
            <a:endParaRPr lang="fr-FR"/>
          </a:p>
        </p:txBody>
      </p:sp>
      <p:sp>
        <p:nvSpPr>
          <p:cNvPr id="1048607" name="Espace réservé du pied de page 5"/>
          <p:cNvSpPr>
            <a:spLocks noGrp="1"/>
          </p:cNvSpPr>
          <p:nvPr>
            <p:ph type="ftr" sz="quarter" idx="11"/>
          </p:nvPr>
        </p:nvSpPr>
        <p:spPr/>
        <p:txBody>
          <a:bodyPr/>
          <a:lstStyle/>
          <a:p>
            <a:r>
              <a:rPr lang="fr-FR" smtClean="0"/>
              <a:t>REVUE NATIONALE ANNUELLE PEV DPS KASAÏ</a:t>
            </a:r>
            <a:endParaRPr lang="fr-FR"/>
          </a:p>
        </p:txBody>
      </p:sp>
      <p:sp>
        <p:nvSpPr>
          <p:cNvPr id="1048608" name="Espace réservé du numéro de diapositive 6"/>
          <p:cNvSpPr>
            <a:spLocks noGrp="1"/>
          </p:cNvSpPr>
          <p:nvPr>
            <p:ph type="sldNum" sz="quarter" idx="12"/>
          </p:nvPr>
        </p:nvSpPr>
        <p:spPr/>
        <p:txBody>
          <a:bodyPr/>
          <a:lstStyle/>
          <a:p>
            <a:fld id="{E2E7D88A-0A00-4DD6-BEE2-4EF1457D8857}" type="slidenum">
              <a:rPr lang="fr-FR" smtClean="0"/>
              <a:t>‹N°›</a:t>
            </a:fld>
            <a:endParaRPr lang="fr-FR"/>
          </a:p>
        </p:txBody>
      </p:sp>
    </p:spTree>
    <p:extLst>
      <p:ext uri="{BB962C8B-B14F-4D97-AF65-F5344CB8AC3E}">
        <p14:creationId xmlns:p14="http://schemas.microsoft.com/office/powerpoint/2010/main" val="3253031534"/>
      </p:ext>
    </p:extLst>
  </p:cSld>
  <p:clrMapOvr>
    <a:masterClrMapping/>
  </p:clrMapOvr>
  <p:transition spd="slow">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48698" name="Titre 1"/>
          <p:cNvSpPr>
            <a:spLocks noGrp="1"/>
          </p:cNvSpPr>
          <p:nvPr>
            <p:ph type="title"/>
          </p:nvPr>
        </p:nvSpPr>
        <p:spPr>
          <a:xfrm>
            <a:off x="839788" y="365125"/>
            <a:ext cx="10515600" cy="1325563"/>
          </a:xfrm>
        </p:spPr>
        <p:txBody>
          <a:bodyPr/>
          <a:lstStyle/>
          <a:p>
            <a:r>
              <a:rPr lang="fr-FR"/>
              <a:t>Modifiez le style du titre</a:t>
            </a:r>
          </a:p>
        </p:txBody>
      </p:sp>
      <p:sp>
        <p:nvSpPr>
          <p:cNvPr id="1048699"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048700"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701"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048702"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703" name="Espace réservé de la date 6"/>
          <p:cNvSpPr>
            <a:spLocks noGrp="1"/>
          </p:cNvSpPr>
          <p:nvPr>
            <p:ph type="dt" sz="half" idx="10"/>
          </p:nvPr>
        </p:nvSpPr>
        <p:spPr/>
        <p:txBody>
          <a:bodyPr/>
          <a:lstStyle/>
          <a:p>
            <a:fld id="{E83FEDE6-5BAD-4192-9651-434CFC4734E9}" type="datetime1">
              <a:rPr lang="en-US" smtClean="0"/>
              <a:t>12/16/2025</a:t>
            </a:fld>
            <a:endParaRPr lang="fr-FR"/>
          </a:p>
        </p:txBody>
      </p:sp>
      <p:sp>
        <p:nvSpPr>
          <p:cNvPr id="1048704" name="Espace réservé du pied de page 7"/>
          <p:cNvSpPr>
            <a:spLocks noGrp="1"/>
          </p:cNvSpPr>
          <p:nvPr>
            <p:ph type="ftr" sz="quarter" idx="11"/>
          </p:nvPr>
        </p:nvSpPr>
        <p:spPr/>
        <p:txBody>
          <a:bodyPr/>
          <a:lstStyle/>
          <a:p>
            <a:r>
              <a:rPr lang="fr-FR" smtClean="0"/>
              <a:t>REVUE NATIONALE ANNUELLE PEV DPS KASAÏ</a:t>
            </a:r>
            <a:endParaRPr lang="fr-FR"/>
          </a:p>
        </p:txBody>
      </p:sp>
      <p:sp>
        <p:nvSpPr>
          <p:cNvPr id="1048705" name="Espace réservé du numéro de diapositive 8"/>
          <p:cNvSpPr>
            <a:spLocks noGrp="1"/>
          </p:cNvSpPr>
          <p:nvPr>
            <p:ph type="sldNum" sz="quarter" idx="12"/>
          </p:nvPr>
        </p:nvSpPr>
        <p:spPr/>
        <p:txBody>
          <a:bodyPr/>
          <a:lstStyle/>
          <a:p>
            <a:fld id="{E2E7D88A-0A00-4DD6-BEE2-4EF1457D8857}" type="slidenum">
              <a:rPr lang="fr-FR" smtClean="0"/>
              <a:t>‹N°›</a:t>
            </a:fld>
            <a:endParaRPr lang="fr-FR"/>
          </a:p>
        </p:txBody>
      </p:sp>
    </p:spTree>
    <p:extLst>
      <p:ext uri="{BB962C8B-B14F-4D97-AF65-F5344CB8AC3E}">
        <p14:creationId xmlns:p14="http://schemas.microsoft.com/office/powerpoint/2010/main" val="1094648663"/>
      </p:ext>
    </p:extLst>
  </p:cSld>
  <p:clrMapOvr>
    <a:masterClrMapping/>
  </p:clrMapOvr>
  <p:transition spd="slow">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1048810" name="Titre 1"/>
          <p:cNvSpPr>
            <a:spLocks noGrp="1"/>
          </p:cNvSpPr>
          <p:nvPr>
            <p:ph type="title"/>
          </p:nvPr>
        </p:nvSpPr>
        <p:spPr/>
        <p:txBody>
          <a:bodyPr/>
          <a:lstStyle/>
          <a:p>
            <a:r>
              <a:rPr lang="fr-FR"/>
              <a:t>Modifiez le style du titre</a:t>
            </a:r>
          </a:p>
        </p:txBody>
      </p:sp>
      <p:sp>
        <p:nvSpPr>
          <p:cNvPr id="1048811" name="Espace réservé de la date 2"/>
          <p:cNvSpPr>
            <a:spLocks noGrp="1"/>
          </p:cNvSpPr>
          <p:nvPr>
            <p:ph type="dt" sz="half" idx="10"/>
          </p:nvPr>
        </p:nvSpPr>
        <p:spPr/>
        <p:txBody>
          <a:bodyPr/>
          <a:lstStyle/>
          <a:p>
            <a:fld id="{317F1771-50C6-4B96-AFB5-68574C6EEDFC}" type="datetime1">
              <a:rPr lang="en-US" smtClean="0"/>
              <a:t>12/16/2025</a:t>
            </a:fld>
            <a:endParaRPr lang="fr-FR"/>
          </a:p>
        </p:txBody>
      </p:sp>
      <p:sp>
        <p:nvSpPr>
          <p:cNvPr id="1048812" name="Espace réservé du pied de page 3"/>
          <p:cNvSpPr>
            <a:spLocks noGrp="1"/>
          </p:cNvSpPr>
          <p:nvPr>
            <p:ph type="ftr" sz="quarter" idx="11"/>
          </p:nvPr>
        </p:nvSpPr>
        <p:spPr/>
        <p:txBody>
          <a:bodyPr/>
          <a:lstStyle/>
          <a:p>
            <a:r>
              <a:rPr lang="fr-FR" smtClean="0"/>
              <a:t>REVUE NATIONALE ANNUELLE PEV DPS KASAÏ</a:t>
            </a:r>
            <a:endParaRPr lang="fr-FR"/>
          </a:p>
        </p:txBody>
      </p:sp>
      <p:sp>
        <p:nvSpPr>
          <p:cNvPr id="1048813" name="Espace réservé du numéro de diapositive 4"/>
          <p:cNvSpPr>
            <a:spLocks noGrp="1"/>
          </p:cNvSpPr>
          <p:nvPr>
            <p:ph type="sldNum" sz="quarter" idx="12"/>
          </p:nvPr>
        </p:nvSpPr>
        <p:spPr/>
        <p:txBody>
          <a:bodyPr/>
          <a:lstStyle/>
          <a:p>
            <a:fld id="{E2E7D88A-0A00-4DD6-BEE2-4EF1457D8857}" type="slidenum">
              <a:rPr lang="fr-FR" smtClean="0"/>
              <a:t>‹N°›</a:t>
            </a:fld>
            <a:endParaRPr lang="fr-FR"/>
          </a:p>
        </p:txBody>
      </p:sp>
    </p:spTree>
    <p:extLst>
      <p:ext uri="{BB962C8B-B14F-4D97-AF65-F5344CB8AC3E}">
        <p14:creationId xmlns:p14="http://schemas.microsoft.com/office/powerpoint/2010/main" val="350667212"/>
      </p:ext>
    </p:extLst>
  </p:cSld>
  <p:clrMapOvr>
    <a:masterClrMapping/>
  </p:clrMapOvr>
  <p:transition spd="slow">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1048677" name="Espace réservé de la date 1"/>
          <p:cNvSpPr>
            <a:spLocks noGrp="1"/>
          </p:cNvSpPr>
          <p:nvPr>
            <p:ph type="dt" sz="half" idx="10"/>
          </p:nvPr>
        </p:nvSpPr>
        <p:spPr/>
        <p:txBody>
          <a:bodyPr/>
          <a:lstStyle/>
          <a:p>
            <a:fld id="{0C316F39-0900-49F1-806C-1C6153D20A42}" type="datetime1">
              <a:rPr lang="en-US" smtClean="0"/>
              <a:t>12/16/2025</a:t>
            </a:fld>
            <a:endParaRPr lang="fr-FR"/>
          </a:p>
        </p:txBody>
      </p:sp>
      <p:sp>
        <p:nvSpPr>
          <p:cNvPr id="1048678" name="Espace réservé du pied de page 2"/>
          <p:cNvSpPr>
            <a:spLocks noGrp="1"/>
          </p:cNvSpPr>
          <p:nvPr>
            <p:ph type="ftr" sz="quarter" idx="11"/>
          </p:nvPr>
        </p:nvSpPr>
        <p:spPr/>
        <p:txBody>
          <a:bodyPr/>
          <a:lstStyle/>
          <a:p>
            <a:r>
              <a:rPr lang="fr-FR" smtClean="0"/>
              <a:t>REVUE NATIONALE ANNUELLE PEV DPS KASAÏ</a:t>
            </a:r>
            <a:endParaRPr lang="fr-FR"/>
          </a:p>
        </p:txBody>
      </p:sp>
      <p:sp>
        <p:nvSpPr>
          <p:cNvPr id="1048679" name="Espace réservé du numéro de diapositive 3"/>
          <p:cNvSpPr>
            <a:spLocks noGrp="1"/>
          </p:cNvSpPr>
          <p:nvPr>
            <p:ph type="sldNum" sz="quarter" idx="12"/>
          </p:nvPr>
        </p:nvSpPr>
        <p:spPr/>
        <p:txBody>
          <a:bodyPr/>
          <a:lstStyle/>
          <a:p>
            <a:fld id="{E2E7D88A-0A00-4DD6-BEE2-4EF1457D8857}" type="slidenum">
              <a:rPr lang="fr-FR" smtClean="0"/>
              <a:t>‹N°›</a:t>
            </a:fld>
            <a:endParaRPr lang="fr-FR"/>
          </a:p>
        </p:txBody>
      </p:sp>
    </p:spTree>
    <p:extLst>
      <p:ext uri="{BB962C8B-B14F-4D97-AF65-F5344CB8AC3E}">
        <p14:creationId xmlns:p14="http://schemas.microsoft.com/office/powerpoint/2010/main" val="3371347877"/>
      </p:ext>
    </p:extLst>
  </p:cSld>
  <p:clrMapOvr>
    <a:masterClrMapping/>
  </p:clrMapOvr>
  <p:transition spd="slow">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1048936"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1048937"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938"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1048939" name="Espace réservé de la date 4"/>
          <p:cNvSpPr>
            <a:spLocks noGrp="1"/>
          </p:cNvSpPr>
          <p:nvPr>
            <p:ph type="dt" sz="half" idx="10"/>
          </p:nvPr>
        </p:nvSpPr>
        <p:spPr/>
        <p:txBody>
          <a:bodyPr/>
          <a:lstStyle/>
          <a:p>
            <a:fld id="{7F757025-9878-4F54-93DC-98341E3914A6}" type="datetime1">
              <a:rPr lang="en-US" smtClean="0"/>
              <a:t>12/16/2025</a:t>
            </a:fld>
            <a:endParaRPr lang="fr-FR"/>
          </a:p>
        </p:txBody>
      </p:sp>
      <p:sp>
        <p:nvSpPr>
          <p:cNvPr id="1048940" name="Espace réservé du pied de page 5"/>
          <p:cNvSpPr>
            <a:spLocks noGrp="1"/>
          </p:cNvSpPr>
          <p:nvPr>
            <p:ph type="ftr" sz="quarter" idx="11"/>
          </p:nvPr>
        </p:nvSpPr>
        <p:spPr/>
        <p:txBody>
          <a:bodyPr/>
          <a:lstStyle/>
          <a:p>
            <a:r>
              <a:rPr lang="fr-FR" smtClean="0"/>
              <a:t>REVUE NATIONALE ANNUELLE PEV DPS KASAÏ</a:t>
            </a:r>
            <a:endParaRPr lang="fr-FR"/>
          </a:p>
        </p:txBody>
      </p:sp>
      <p:sp>
        <p:nvSpPr>
          <p:cNvPr id="1048941" name="Espace réservé du numéro de diapositive 6"/>
          <p:cNvSpPr>
            <a:spLocks noGrp="1"/>
          </p:cNvSpPr>
          <p:nvPr>
            <p:ph type="sldNum" sz="quarter" idx="12"/>
          </p:nvPr>
        </p:nvSpPr>
        <p:spPr/>
        <p:txBody>
          <a:bodyPr/>
          <a:lstStyle/>
          <a:p>
            <a:fld id="{E2E7D88A-0A00-4DD6-BEE2-4EF1457D8857}" type="slidenum">
              <a:rPr lang="fr-FR" smtClean="0"/>
              <a:t>‹N°›</a:t>
            </a:fld>
            <a:endParaRPr lang="fr-FR"/>
          </a:p>
        </p:txBody>
      </p:sp>
    </p:spTree>
    <p:extLst>
      <p:ext uri="{BB962C8B-B14F-4D97-AF65-F5344CB8AC3E}">
        <p14:creationId xmlns:p14="http://schemas.microsoft.com/office/powerpoint/2010/main" val="2991723269"/>
      </p:ext>
    </p:extLst>
  </p:cSld>
  <p:clrMapOvr>
    <a:masterClrMapping/>
  </p:clrMapOvr>
  <p:transition spd="slow">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1048920"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1048921"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1048922"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1048923" name="Espace réservé de la date 4"/>
          <p:cNvSpPr>
            <a:spLocks noGrp="1"/>
          </p:cNvSpPr>
          <p:nvPr>
            <p:ph type="dt" sz="half" idx="10"/>
          </p:nvPr>
        </p:nvSpPr>
        <p:spPr/>
        <p:txBody>
          <a:bodyPr/>
          <a:lstStyle/>
          <a:p>
            <a:fld id="{57376B23-B53F-4ED1-BB16-C4BABA759715}" type="datetime1">
              <a:rPr lang="en-US" smtClean="0"/>
              <a:t>12/16/2025</a:t>
            </a:fld>
            <a:endParaRPr lang="fr-FR"/>
          </a:p>
        </p:txBody>
      </p:sp>
      <p:sp>
        <p:nvSpPr>
          <p:cNvPr id="1048924" name="Espace réservé du pied de page 5"/>
          <p:cNvSpPr>
            <a:spLocks noGrp="1"/>
          </p:cNvSpPr>
          <p:nvPr>
            <p:ph type="ftr" sz="quarter" idx="11"/>
          </p:nvPr>
        </p:nvSpPr>
        <p:spPr/>
        <p:txBody>
          <a:bodyPr/>
          <a:lstStyle/>
          <a:p>
            <a:r>
              <a:rPr lang="fr-FR" smtClean="0"/>
              <a:t>REVUE NATIONALE ANNUELLE PEV DPS KASAÏ</a:t>
            </a:r>
            <a:endParaRPr lang="fr-FR"/>
          </a:p>
        </p:txBody>
      </p:sp>
      <p:sp>
        <p:nvSpPr>
          <p:cNvPr id="1048925" name="Espace réservé du numéro de diapositive 6"/>
          <p:cNvSpPr>
            <a:spLocks noGrp="1"/>
          </p:cNvSpPr>
          <p:nvPr>
            <p:ph type="sldNum" sz="quarter" idx="12"/>
          </p:nvPr>
        </p:nvSpPr>
        <p:spPr/>
        <p:txBody>
          <a:bodyPr/>
          <a:lstStyle/>
          <a:p>
            <a:fld id="{E2E7D88A-0A00-4DD6-BEE2-4EF1457D8857}" type="slidenum">
              <a:rPr lang="fr-FR" smtClean="0"/>
              <a:t>‹N°›</a:t>
            </a:fld>
            <a:endParaRPr lang="fr-FR"/>
          </a:p>
        </p:txBody>
      </p:sp>
    </p:spTree>
    <p:extLst>
      <p:ext uri="{BB962C8B-B14F-4D97-AF65-F5344CB8AC3E}">
        <p14:creationId xmlns:p14="http://schemas.microsoft.com/office/powerpoint/2010/main" val="2664856084"/>
      </p:ext>
    </p:extLst>
  </p:cSld>
  <p:clrMapOvr>
    <a:masterClrMapping/>
  </p:clrMapOvr>
  <p:transition spd="slow">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1048931" name="Titre 1"/>
          <p:cNvSpPr>
            <a:spLocks noGrp="1"/>
          </p:cNvSpPr>
          <p:nvPr>
            <p:ph type="title"/>
          </p:nvPr>
        </p:nvSpPr>
        <p:spPr/>
        <p:txBody>
          <a:bodyPr/>
          <a:lstStyle/>
          <a:p>
            <a:r>
              <a:rPr lang="fr-FR"/>
              <a:t>Modifiez le style du titre</a:t>
            </a:r>
          </a:p>
        </p:txBody>
      </p:sp>
      <p:sp>
        <p:nvSpPr>
          <p:cNvPr id="1048932"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933" name="Espace réservé de la date 3"/>
          <p:cNvSpPr>
            <a:spLocks noGrp="1"/>
          </p:cNvSpPr>
          <p:nvPr>
            <p:ph type="dt" sz="half" idx="10"/>
          </p:nvPr>
        </p:nvSpPr>
        <p:spPr/>
        <p:txBody>
          <a:bodyPr/>
          <a:lstStyle/>
          <a:p>
            <a:fld id="{70229BFA-C54C-40C9-BD4E-ED8AE432C220}" type="datetime1">
              <a:rPr lang="en-US" smtClean="0"/>
              <a:t>12/16/2025</a:t>
            </a:fld>
            <a:endParaRPr lang="fr-FR"/>
          </a:p>
        </p:txBody>
      </p:sp>
      <p:sp>
        <p:nvSpPr>
          <p:cNvPr id="1048934" name="Espace réservé du pied de page 4"/>
          <p:cNvSpPr>
            <a:spLocks noGrp="1"/>
          </p:cNvSpPr>
          <p:nvPr>
            <p:ph type="ftr" sz="quarter" idx="11"/>
          </p:nvPr>
        </p:nvSpPr>
        <p:spPr/>
        <p:txBody>
          <a:bodyPr/>
          <a:lstStyle/>
          <a:p>
            <a:r>
              <a:rPr lang="fr-FR" smtClean="0"/>
              <a:t>REVUE NATIONALE ANNUELLE PEV DPS KASAÏ</a:t>
            </a:r>
            <a:endParaRPr lang="fr-FR"/>
          </a:p>
        </p:txBody>
      </p:sp>
      <p:sp>
        <p:nvSpPr>
          <p:cNvPr id="1048935" name="Espace réservé du numéro de diapositive 5"/>
          <p:cNvSpPr>
            <a:spLocks noGrp="1"/>
          </p:cNvSpPr>
          <p:nvPr>
            <p:ph type="sldNum" sz="quarter" idx="12"/>
          </p:nvPr>
        </p:nvSpPr>
        <p:spPr/>
        <p:txBody>
          <a:bodyPr/>
          <a:lstStyle/>
          <a:p>
            <a:fld id="{E2E7D88A-0A00-4DD6-BEE2-4EF1457D8857}" type="slidenum">
              <a:rPr lang="fr-FR" smtClean="0"/>
              <a:t>‹N°›</a:t>
            </a:fld>
            <a:endParaRPr lang="fr-FR"/>
          </a:p>
        </p:txBody>
      </p:sp>
    </p:spTree>
    <p:extLst>
      <p:ext uri="{BB962C8B-B14F-4D97-AF65-F5344CB8AC3E}">
        <p14:creationId xmlns:p14="http://schemas.microsoft.com/office/powerpoint/2010/main" val="809929976"/>
      </p:ext>
    </p:extLst>
  </p:cSld>
  <p:clrMapOvr>
    <a:masterClrMapping/>
  </p:clrMapOvr>
  <p:transition spd="slow">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1048915"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1048916"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917" name="Espace réservé de la date 3"/>
          <p:cNvSpPr>
            <a:spLocks noGrp="1"/>
          </p:cNvSpPr>
          <p:nvPr>
            <p:ph type="dt" sz="half" idx="10"/>
          </p:nvPr>
        </p:nvSpPr>
        <p:spPr/>
        <p:txBody>
          <a:bodyPr/>
          <a:lstStyle/>
          <a:p>
            <a:fld id="{A7C60315-2A07-432B-9A57-3DEEA01268AE}" type="datetime1">
              <a:rPr lang="en-US" smtClean="0"/>
              <a:t>12/16/2025</a:t>
            </a:fld>
            <a:endParaRPr lang="fr-FR"/>
          </a:p>
        </p:txBody>
      </p:sp>
      <p:sp>
        <p:nvSpPr>
          <p:cNvPr id="1048918" name="Espace réservé du pied de page 4"/>
          <p:cNvSpPr>
            <a:spLocks noGrp="1"/>
          </p:cNvSpPr>
          <p:nvPr>
            <p:ph type="ftr" sz="quarter" idx="11"/>
          </p:nvPr>
        </p:nvSpPr>
        <p:spPr/>
        <p:txBody>
          <a:bodyPr/>
          <a:lstStyle/>
          <a:p>
            <a:r>
              <a:rPr lang="fr-FR" smtClean="0"/>
              <a:t>REVUE NATIONALE ANNUELLE PEV DPS KASAÏ</a:t>
            </a:r>
            <a:endParaRPr lang="fr-FR"/>
          </a:p>
        </p:txBody>
      </p:sp>
      <p:sp>
        <p:nvSpPr>
          <p:cNvPr id="1048919" name="Espace réservé du numéro de diapositive 5"/>
          <p:cNvSpPr>
            <a:spLocks noGrp="1"/>
          </p:cNvSpPr>
          <p:nvPr>
            <p:ph type="sldNum" sz="quarter" idx="12"/>
          </p:nvPr>
        </p:nvSpPr>
        <p:spPr/>
        <p:txBody>
          <a:bodyPr/>
          <a:lstStyle/>
          <a:p>
            <a:fld id="{E2E7D88A-0A00-4DD6-BEE2-4EF1457D8857}" type="slidenum">
              <a:rPr lang="fr-FR" smtClean="0"/>
              <a:t>‹N°›</a:t>
            </a:fld>
            <a:endParaRPr lang="fr-FR"/>
          </a:p>
        </p:txBody>
      </p:sp>
    </p:spTree>
    <p:extLst>
      <p:ext uri="{BB962C8B-B14F-4D97-AF65-F5344CB8AC3E}">
        <p14:creationId xmlns:p14="http://schemas.microsoft.com/office/powerpoint/2010/main" val="328218331"/>
      </p:ext>
    </p:extLst>
  </p:cSld>
  <p:clrMapOvr>
    <a:masterClrMapping/>
  </p:clrMapOvr>
  <p:transition spd="slow">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objOnly">
  <p:cSld name="Contenu">
    <p:spTree>
      <p:nvGrpSpPr>
        <p:cNvPr id="1" name=""/>
        <p:cNvGrpSpPr/>
        <p:nvPr/>
      </p:nvGrpSpPr>
      <p:grpSpPr>
        <a:xfrm>
          <a:off x="0" y="0"/>
          <a:ext cx="0" cy="0"/>
          <a:chOff x="0" y="0"/>
          <a:chExt cx="0" cy="0"/>
        </a:xfrm>
      </p:grpSpPr>
      <p:sp>
        <p:nvSpPr>
          <p:cNvPr id="1048907" name="Espace réservé du contenu 1"/>
          <p:cNvSpPr>
            <a:spLocks noGrp="1"/>
          </p:cNvSpPr>
          <p:nvPr>
            <p:ph/>
          </p:nvPr>
        </p:nvSpPr>
        <p:spPr>
          <a:xfrm>
            <a:off x="609600" y="274639"/>
            <a:ext cx="10972800" cy="58515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908" name="Rectangle 4"/>
          <p:cNvSpPr>
            <a:spLocks noGrp="1" noChangeArrowheads="1"/>
          </p:cNvSpPr>
          <p:nvPr>
            <p:ph type="dt" sz="half" idx="10"/>
          </p:nvPr>
        </p:nvSpPr>
        <p:spPr/>
        <p:txBody>
          <a:bodyPr/>
          <a:lstStyle/>
          <a:p>
            <a:fld id="{C10C48D3-8A46-4C8B-9642-C41D92EB4B05}" type="datetime1">
              <a:rPr lang="en-US" smtClean="0"/>
              <a:t>12/16/2025</a:t>
            </a:fld>
            <a:endParaRPr lang="en-US"/>
          </a:p>
        </p:txBody>
      </p:sp>
      <p:sp>
        <p:nvSpPr>
          <p:cNvPr id="1048909" name="Rectangle 5"/>
          <p:cNvSpPr>
            <a:spLocks noGrp="1" noChangeArrowheads="1"/>
          </p:cNvSpPr>
          <p:nvPr>
            <p:ph type="ftr" sz="quarter" idx="11"/>
          </p:nvPr>
        </p:nvSpPr>
        <p:spPr/>
        <p:txBody>
          <a:bodyPr/>
          <a:lstStyle/>
          <a:p>
            <a:r>
              <a:rPr lang="fr-FR" smtClean="0"/>
              <a:t>REVUE NATIONALE ANNUELLE PEV DPS KASAÏ</a:t>
            </a:r>
            <a:endParaRPr lang="en-US"/>
          </a:p>
        </p:txBody>
      </p:sp>
      <p:sp>
        <p:nvSpPr>
          <p:cNvPr id="1048910" name="Rectangle 6"/>
          <p:cNvSpPr>
            <a:spLocks noGrp="1" noChangeArrowheads="1"/>
          </p:cNvSpPr>
          <p:nvPr>
            <p:ph type="sldNum" sz="quarter" idx="12"/>
          </p:nvPr>
        </p:nvSpPr>
        <p:spPr/>
        <p:txBody>
          <a:bodyPr/>
          <a:lstStyle/>
          <a:p>
            <a:fld id="{21C53F29-358E-4320-838C-749B091AF196}" type="slidenum">
              <a:rPr lang="en-US"/>
              <a:t>‹N°›</a:t>
            </a:fld>
            <a:endParaRPr lang="en-US"/>
          </a:p>
        </p:txBody>
      </p:sp>
    </p:spTree>
    <p:extLst>
      <p:ext uri="{BB962C8B-B14F-4D97-AF65-F5344CB8AC3E}">
        <p14:creationId xmlns:p14="http://schemas.microsoft.com/office/powerpoint/2010/main" val="866445058"/>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panose="00000500000000000000"/>
              <a:buNone/>
              <a:defRPr sz="4400" b="0" i="0" u="none" strike="noStrike" cap="none">
                <a:solidFill>
                  <a:schemeClr val="dk1"/>
                </a:solidFill>
                <a:latin typeface="Play" panose="00000500000000000000"/>
                <a:ea typeface="Play" panose="00000500000000000000"/>
                <a:cs typeface="Play" panose="00000500000000000000"/>
                <a:sym typeface="Play" panose="00000500000000000000"/>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2" name="Google Shape;1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fld id="{80B64DBC-DEF0-4EC4-BDD8-229869E916E3}" type="datetime1">
              <a:rPr lang="en-US" smtClean="0"/>
              <a:t>12/16/2025</a:t>
            </a:fld>
            <a:endParaRPr/>
          </a:p>
        </p:txBody>
      </p:sp>
      <p:sp>
        <p:nvSpPr>
          <p:cNvPr id="13" name="Google Shape;1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r>
              <a:rPr lang="fr-FR" smtClean="0"/>
              <a:t>REVUE NATIONALE ANNUELLE PEV DPS KASAÏ</a:t>
            </a:r>
            <a:endParaRPr/>
          </a:p>
        </p:txBody>
      </p:sp>
      <p:sp>
        <p:nvSpPr>
          <p:cNvPr id="14" name="Google Shape;1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89" name="Google Shape;89;g3aabc9d920d_0_268"/>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marR="0" lvl="0"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0" name="Google Shape;90;g3aabc9d920d_0_268"/>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marR="0" lvl="0" indent="-381000" algn="l">
              <a:lnSpc>
                <a:spcPct val="115000"/>
              </a:lnSpc>
              <a:spcBef>
                <a:spcPts val="0"/>
              </a:spcBef>
              <a:spcAft>
                <a:spcPts val="0"/>
              </a:spcAft>
              <a:buClr>
                <a:schemeClr val="dk2"/>
              </a:buClr>
              <a:buSzPts val="2400"/>
              <a:buFont typeface="Arial" panose="020B0604020202020204"/>
              <a:buChar char="●"/>
              <a:defRPr sz="24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914400" marR="0" lvl="1" indent="-349250" algn="l">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49250" algn="l">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49250" algn="l">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49250" algn="l">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49250" algn="l">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49250" algn="l">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49250" algn="l">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49250" algn="l">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endParaRPr/>
          </a:p>
        </p:txBody>
      </p:sp>
      <p:sp>
        <p:nvSpPr>
          <p:cNvPr id="91" name="Google Shape;91;g3aabc9d920d_0_268"/>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hf sldNum="0"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1048577"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578"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7A403E-9E72-4CE2-BA55-4F2ABAF7D570}" type="datetime1">
              <a:rPr lang="en-US" smtClean="0"/>
              <a:t>12/16/2025</a:t>
            </a:fld>
            <a:endParaRPr lang="fr-FR"/>
          </a:p>
        </p:txBody>
      </p:sp>
      <p:sp>
        <p:nvSpPr>
          <p:cNvPr id="1048579"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smtClean="0"/>
              <a:t>REVUE NATIONALE ANNUELLE PEV DPS KASAÏ</a:t>
            </a:r>
            <a:endParaRPr lang="fr-FR"/>
          </a:p>
        </p:txBody>
      </p:sp>
      <p:sp>
        <p:nvSpPr>
          <p:cNvPr id="1048580"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E7D88A-0A00-4DD6-BEE2-4EF1457D8857}" type="slidenum">
              <a:rPr lang="fr-FR" smtClean="0"/>
              <a:t>‹N°›</a:t>
            </a:fld>
            <a:endParaRPr lang="fr-FR"/>
          </a:p>
        </p:txBody>
      </p:sp>
    </p:spTree>
    <p:extLst>
      <p:ext uri="{BB962C8B-B14F-4D97-AF65-F5344CB8AC3E}">
        <p14:creationId xmlns:p14="http://schemas.microsoft.com/office/powerpoint/2010/main" val="328094521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transition spd="slow">
    <p:fade/>
  </p:transition>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g3aabc9d920d_0_191"/>
          <p:cNvPicPr preferRelativeResize="0"/>
          <p:nvPr/>
        </p:nvPicPr>
        <p:blipFill rotWithShape="1">
          <a:blip r:embed="rId3"/>
          <a:srcRect l="-17785"/>
          <a:stretch>
            <a:fillRect/>
          </a:stretch>
        </p:blipFill>
        <p:spPr>
          <a:xfrm>
            <a:off x="-681739" y="1646127"/>
            <a:ext cx="4525279" cy="3703095"/>
          </a:xfrm>
          <a:prstGeom prst="rect">
            <a:avLst/>
          </a:prstGeom>
          <a:noFill/>
          <a:ln>
            <a:noFill/>
          </a:ln>
        </p:spPr>
      </p:pic>
      <p:sp>
        <p:nvSpPr>
          <p:cNvPr id="148" name="Google Shape;148;g3aabc9d920d_0_191"/>
          <p:cNvSpPr txBox="1"/>
          <p:nvPr/>
        </p:nvSpPr>
        <p:spPr>
          <a:xfrm>
            <a:off x="4210333" y="1516433"/>
            <a:ext cx="7894800" cy="186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200"/>
              <a:buFont typeface="Arial" panose="020B0604020202020204"/>
              <a:buNone/>
            </a:pPr>
            <a:r>
              <a:rPr lang="en-US" sz="43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t>
            </a:r>
            <a:r>
              <a:rPr lang="en-US" sz="4300" b="1"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annuelle</a:t>
            </a:r>
            <a:r>
              <a:rPr lang="en-US" sz="43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2025</a:t>
            </a:r>
            <a:endParaRPr sz="4300" b="1"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3200"/>
              <a:buFont typeface="Arial" panose="020B0604020202020204"/>
              <a:buNone/>
            </a:pPr>
            <a:r>
              <a:rPr lang="en-US" sz="2400" i="1"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Province du </a:t>
            </a:r>
            <a:r>
              <a:rPr lang="en-US" sz="2400" i="1" dirty="0" err="1"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Kasaï</a:t>
            </a:r>
            <a:r>
              <a:rPr lang="en-US" sz="2400" i="1"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400" i="1" dirty="0" err="1"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ayant</a:t>
            </a:r>
            <a:r>
              <a:rPr lang="en-US" sz="2400" i="1"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400" i="1" dirty="0" err="1"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organisé</a:t>
            </a:r>
            <a:r>
              <a:rPr lang="en-US" sz="2400" i="1"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400" i="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des activités </a:t>
            </a:r>
            <a:r>
              <a:rPr lang="en-US" sz="2400" i="1" dirty="0" err="1"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d’approches</a:t>
            </a:r>
            <a:r>
              <a:rPr lang="en-US" sz="2400" i="1"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400" i="1"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innovantes</a:t>
            </a:r>
            <a:r>
              <a:rPr lang="en-US" sz="2400" i="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FAE, IPVS</a:t>
            </a:r>
            <a:r>
              <a:rPr lang="" altLang="en-US" sz="2400" i="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a:t>
            </a:r>
            <a:r>
              <a:rPr lang="en-US" sz="2400" i="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 altLang="en-US" sz="2400" i="1"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et </a:t>
            </a:r>
            <a:r>
              <a:rPr lang="" altLang="en-US" sz="2400" i="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introduction </a:t>
            </a:r>
            <a:r>
              <a:rPr lang="" altLang="en-US" sz="2400" i="1"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du nouveau vaccin (RR,)</a:t>
            </a:r>
            <a:endParaRPr sz="2400" i="1"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3200"/>
              <a:buFont typeface="Arial" panose="020B0604020202020204"/>
              <a:buNone/>
            </a:pPr>
            <a:endParaRPr lang="" altLang="en-US" sz="4300" b="1" i="1"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3200"/>
              <a:buFont typeface="Arial" panose="020B0604020202020204"/>
              <a:buNone/>
            </a:pPr>
            <a:r>
              <a:rPr lang="" altLang="en-US" sz="4300" b="1" i="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P</a:t>
            </a:r>
            <a:r>
              <a:rPr lang="en-US" sz="4300" b="1" i="1"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rovince</a:t>
            </a:r>
            <a:r>
              <a:rPr lang="" altLang="en-US" sz="4300" b="1" i="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 altLang="en-US" sz="4300" b="1" i="1"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du KASAI</a:t>
            </a:r>
            <a:endParaRPr lang="" altLang="en-US" sz="4300" b="1" i="1"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g3aabc9d920d_0_191"/>
          <p:cNvSpPr/>
          <p:nvPr/>
        </p:nvSpPr>
        <p:spPr>
          <a:xfrm>
            <a:off x="3661467" y="1516428"/>
            <a:ext cx="373500" cy="1867200"/>
          </a:xfrm>
          <a:prstGeom prst="rect">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700"/>
              <a:buFont typeface="Arial" panose="020B0604020202020204"/>
              <a:buNone/>
            </a:pPr>
            <a:endParaRPr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g3aabc9d920d_0_191"/>
          <p:cNvSpPr/>
          <p:nvPr/>
        </p:nvSpPr>
        <p:spPr>
          <a:xfrm>
            <a:off x="3659879" y="1516428"/>
            <a:ext cx="373500" cy="1867200"/>
          </a:xfrm>
          <a:prstGeom prst="rect">
            <a:avLst/>
          </a:prstGeom>
          <a:solidFill>
            <a:srgbClr val="1155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700"/>
              <a:buFont typeface="Arial" panose="020B0604020202020204"/>
              <a:buNone/>
            </a:pPr>
            <a:endParaRPr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g3aabc9d920d_0_191"/>
          <p:cNvSpPr txBox="1"/>
          <p:nvPr/>
        </p:nvSpPr>
        <p:spPr>
          <a:xfrm>
            <a:off x="4717875" y="6162200"/>
            <a:ext cx="4525200" cy="39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en-US" sz="2000" b="1">
                <a:solidFill>
                  <a:srgbClr val="1155CC"/>
                </a:solidFill>
                <a:latin typeface="Times New Roman" panose="02020603050405020304"/>
                <a:ea typeface="Times New Roman" panose="02020603050405020304"/>
                <a:cs typeface="Times New Roman" panose="02020603050405020304"/>
                <a:sym typeface="Times New Roman" panose="02020603050405020304"/>
              </a:rPr>
              <a:t>Decembre 2025</a:t>
            </a:r>
            <a:endParaRPr sz="2000" b="1">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aabc9d920d_0_199"/>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Agenda</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7" name="Google Shape;157;g3aabc9d920d_0_199"/>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8" name="Google Shape;158;g3aabc9d920d_0_199"/>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9" name="Google Shape;159;g3aabc9d920d_0_199"/>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2</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sp>
        <p:nvSpPr>
          <p:cNvPr id="160" name="Google Shape;160;g3aabc9d920d_0_199"/>
          <p:cNvSpPr txBox="1"/>
          <p:nvPr/>
        </p:nvSpPr>
        <p:spPr>
          <a:xfrm>
            <a:off x="624113" y="1538514"/>
            <a:ext cx="10656919" cy="4915852"/>
          </a:xfrm>
          <a:prstGeom prst="rect">
            <a:avLst/>
          </a:prstGeom>
          <a:noFill/>
          <a:ln>
            <a:noFill/>
          </a:ln>
        </p:spPr>
        <p:txBody>
          <a:bodyPr spcFirstLastPara="1" wrap="square" lIns="121900" tIns="121900" rIns="121900" bIns="121900" anchor="t" anchorCtr="0">
            <a:spAutoFit/>
          </a:bodyPr>
          <a:lstStyle/>
          <a:p>
            <a:pPr marL="609600" marR="0" lvl="0" indent="-476250" algn="l" rtl="0">
              <a:lnSpc>
                <a:spcPct val="100000"/>
              </a:lnSpc>
              <a:spcBef>
                <a:spcPts val="1300"/>
              </a:spcBef>
              <a:spcAft>
                <a:spcPts val="0"/>
              </a:spcAft>
              <a:buClr>
                <a:schemeClr val="dk1"/>
              </a:buClr>
              <a:buSzPts val="2700"/>
              <a:buFont typeface="Wingdings" panose="05000000000000000000" pitchFamily="2" charset="2"/>
              <a:buChar char="q"/>
            </a:pPr>
            <a:r>
              <a:rPr lang="en-US" sz="27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Présentation de la Province</a:t>
            </a:r>
            <a:endParaRPr sz="27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609600" marR="0" lvl="0" indent="-476250" algn="l" rtl="0">
              <a:lnSpc>
                <a:spcPct val="100000"/>
              </a:lnSpc>
              <a:spcBef>
                <a:spcPts val="1300"/>
              </a:spcBef>
              <a:spcAft>
                <a:spcPts val="0"/>
              </a:spcAft>
              <a:buClr>
                <a:schemeClr val="dk1"/>
              </a:buClr>
              <a:buSzPts val="2700"/>
              <a:buFont typeface="Wingdings" panose="05000000000000000000" pitchFamily="2" charset="2"/>
              <a:buChar char="q"/>
            </a:pPr>
            <a:r>
              <a:rPr lang="en-US" sz="27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Presentation des activités</a:t>
            </a:r>
            <a:endParaRPr sz="27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609600" marR="0" lvl="0" indent="-476250" algn="l" rtl="0">
              <a:lnSpc>
                <a:spcPct val="100000"/>
              </a:lnSpc>
              <a:spcBef>
                <a:spcPts val="1300"/>
              </a:spcBef>
              <a:spcAft>
                <a:spcPts val="0"/>
              </a:spcAft>
              <a:buClr>
                <a:schemeClr val="dk1"/>
              </a:buClr>
              <a:buSzPts val="2700"/>
              <a:buFont typeface="Wingdings" panose="05000000000000000000" pitchFamily="2" charset="2"/>
              <a:buChar char="q"/>
            </a:pPr>
            <a:r>
              <a:rPr lang="en-US" sz="27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Résultats </a:t>
            </a:r>
            <a:r>
              <a:rPr lang="en-US" sz="2700" dirty="0" err="1">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obtenus</a:t>
            </a:r>
            <a:r>
              <a:rPr lang="en-US" sz="27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a:t>
            </a:r>
            <a:r>
              <a:rPr lang="en-US" sz="27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(Zones </a:t>
            </a:r>
            <a:r>
              <a:rPr lang="en-US" sz="2700" dirty="0" err="1">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couvertes</a:t>
            </a:r>
            <a:r>
              <a:rPr lang="en-US" sz="27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impact sur la couverture)</a:t>
            </a:r>
            <a:endParaRPr sz="27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609600" marR="0" lvl="0" indent="-476250" algn="l" rtl="0">
              <a:lnSpc>
                <a:spcPct val="100000"/>
              </a:lnSpc>
              <a:spcBef>
                <a:spcPts val="1300"/>
              </a:spcBef>
              <a:spcAft>
                <a:spcPts val="0"/>
              </a:spcAft>
              <a:buClr>
                <a:schemeClr val="dk1"/>
              </a:buClr>
              <a:buSzPts val="2700"/>
              <a:buFont typeface="Wingdings" panose="05000000000000000000" pitchFamily="2" charset="2"/>
              <a:buChar char="q"/>
            </a:pPr>
            <a:r>
              <a:rPr lang="en-US" sz="2700" dirty="0" err="1">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Facteurs</a:t>
            </a:r>
            <a:r>
              <a:rPr lang="en-US" sz="27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de </a:t>
            </a:r>
            <a:r>
              <a:rPr lang="en-US" sz="2700" dirty="0" err="1">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succès</a:t>
            </a:r>
            <a:endParaRPr sz="27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609600" marR="0" lvl="0" indent="-476250" algn="l" rtl="0">
              <a:lnSpc>
                <a:spcPct val="100000"/>
              </a:lnSpc>
              <a:spcBef>
                <a:spcPts val="1300"/>
              </a:spcBef>
              <a:spcAft>
                <a:spcPts val="0"/>
              </a:spcAft>
              <a:buClr>
                <a:schemeClr val="dk1"/>
              </a:buClr>
              <a:buSzPts val="2700"/>
              <a:buFont typeface="Wingdings" panose="05000000000000000000" pitchFamily="2" charset="2"/>
              <a:buChar char="q"/>
            </a:pPr>
            <a:r>
              <a:rPr lang="en-US" sz="2700" dirty="0" err="1">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Défis</a:t>
            </a:r>
            <a:r>
              <a:rPr lang="en-US" sz="27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a:t>
            </a:r>
            <a:r>
              <a:rPr lang="en-US" sz="2700" dirty="0" err="1">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rencontrés</a:t>
            </a:r>
            <a:endParaRPr sz="27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609600" marR="0" lvl="0" indent="-476250" algn="l" rtl="0">
              <a:lnSpc>
                <a:spcPct val="100000"/>
              </a:lnSpc>
              <a:spcBef>
                <a:spcPts val="1300"/>
              </a:spcBef>
              <a:spcAft>
                <a:spcPts val="0"/>
              </a:spcAft>
              <a:buClr>
                <a:schemeClr val="dk1"/>
              </a:buClr>
              <a:buSzPts val="2700"/>
              <a:buFont typeface="Wingdings" panose="05000000000000000000" pitchFamily="2" charset="2"/>
              <a:buChar char="q"/>
            </a:pPr>
            <a:r>
              <a:rPr lang="en-US" sz="2700" dirty="0" err="1">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Bonnes</a:t>
            </a:r>
            <a:r>
              <a:rPr lang="en-US" sz="27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a:t>
            </a:r>
            <a:r>
              <a:rPr lang="en-US" sz="2700" dirty="0" err="1">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pratiques</a:t>
            </a:r>
            <a:r>
              <a:rPr lang="en-US" sz="27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à </a:t>
            </a:r>
            <a:r>
              <a:rPr lang="en-US" sz="2700" dirty="0" err="1">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capitaliser</a:t>
            </a:r>
            <a:endParaRPr sz="27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609600" marR="0" lvl="0" indent="-476250" algn="l" rtl="0">
              <a:lnSpc>
                <a:spcPct val="100000"/>
              </a:lnSpc>
              <a:spcBef>
                <a:spcPts val="1300"/>
              </a:spcBef>
              <a:spcAft>
                <a:spcPts val="0"/>
              </a:spcAft>
              <a:buClr>
                <a:schemeClr val="dk1"/>
              </a:buClr>
              <a:buSzPts val="2700"/>
              <a:buFont typeface="Wingdings" panose="05000000000000000000" pitchFamily="2" charset="2"/>
              <a:buChar char="q"/>
            </a:pPr>
            <a:r>
              <a:rPr lang="en-US" sz="2700" dirty="0" err="1">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Analyse</a:t>
            </a:r>
            <a:r>
              <a:rPr lang="en-US" sz="27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FFOM</a:t>
            </a:r>
            <a:endParaRPr sz="27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609600" marR="0" lvl="0" indent="-476250" algn="l" rtl="0">
              <a:lnSpc>
                <a:spcPct val="100000"/>
              </a:lnSpc>
              <a:spcBef>
                <a:spcPts val="1300"/>
              </a:spcBef>
              <a:spcAft>
                <a:spcPts val="0"/>
              </a:spcAft>
              <a:buClr>
                <a:schemeClr val="dk1"/>
              </a:buClr>
              <a:buSzPts val="2700"/>
              <a:buFont typeface="Wingdings" panose="05000000000000000000" pitchFamily="2" charset="2"/>
              <a:buChar char="q"/>
            </a:pPr>
            <a:r>
              <a:rPr lang="en-US" sz="2700" dirty="0" err="1">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Recommandations</a:t>
            </a:r>
            <a:r>
              <a:rPr lang="en-US" sz="27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pour 2026</a:t>
            </a:r>
            <a:endParaRPr sz="27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aabc9d920d_0_207"/>
          <p:cNvSpPr txBox="1"/>
          <p:nvPr/>
        </p:nvSpPr>
        <p:spPr>
          <a:xfrm>
            <a:off x="464456" y="290286"/>
            <a:ext cx="11269035" cy="75935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dirty="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rPr>
              <a:t>Profil des </a:t>
            </a:r>
            <a:r>
              <a:rPr lang="en-US" sz="2700" dirty="0" smtClean="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rPr>
              <a:t>Antennes</a:t>
            </a:r>
            <a:endParaRPr sz="2700" b="0" i="0" u="none" strike="noStrike" cap="none" dirty="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endParaRPr>
          </a:p>
        </p:txBody>
      </p:sp>
      <p:sp>
        <p:nvSpPr>
          <p:cNvPr id="166" name="Google Shape;166;g3aabc9d920d_0_207"/>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7" name="Google Shape;167;g3aabc9d920d_0_207"/>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8" name="Google Shape;168;g3aabc9d920d_0_207"/>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3</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69" name="Google Shape;169;g3aabc9d920d_0_207"/>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170" name="Google Shape;170;g3aabc9d920d_0_207"/>
          <p:cNvSpPr/>
          <p:nvPr/>
        </p:nvSpPr>
        <p:spPr>
          <a:xfrm>
            <a:off x="458600" y="1320800"/>
            <a:ext cx="5575200" cy="4767803"/>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0" lvl="0" indent="0" algn="ctr" rtl="0">
              <a:spcBef>
                <a:spcPts val="0"/>
              </a:spcBef>
              <a:spcAft>
                <a:spcPts val="0"/>
              </a:spcAft>
              <a:buNone/>
            </a:pPr>
            <a:r>
              <a:rPr lang="en-US" sz="2000" dirty="0" err="1">
                <a:latin typeface="Arial Narrow" panose="020B0606020202030204" pitchFamily="34" charset="0"/>
                <a:ea typeface="Times New Roman" panose="02020603050405020304"/>
                <a:cs typeface="Times New Roman" panose="02020603050405020304"/>
                <a:sym typeface="Times New Roman" panose="02020603050405020304"/>
              </a:rPr>
              <a:t>Cartographie</a:t>
            </a:r>
            <a:r>
              <a:rPr lang="en-US" sz="2000" dirty="0">
                <a:latin typeface="Arial Narrow" panose="020B0606020202030204" pitchFamily="34" charset="0"/>
                <a:ea typeface="Times New Roman" panose="02020603050405020304"/>
                <a:cs typeface="Times New Roman" panose="02020603050405020304"/>
                <a:sym typeface="Times New Roman" panose="02020603050405020304"/>
              </a:rPr>
              <a:t> de la province avec les antennes</a:t>
            </a:r>
            <a:endParaRPr sz="2000" dirty="0">
              <a:latin typeface="Arial Narrow" panose="020B0606020202030204" pitchFamily="34" charset="0"/>
              <a:ea typeface="Times New Roman" panose="02020603050405020304"/>
              <a:cs typeface="Times New Roman" panose="02020603050405020304"/>
              <a:sym typeface="Times New Roman" panose="02020603050405020304"/>
            </a:endParaRPr>
          </a:p>
        </p:txBody>
      </p:sp>
      <p:sp>
        <p:nvSpPr>
          <p:cNvPr id="171" name="Google Shape;171;g3aabc9d920d_0_207"/>
          <p:cNvSpPr/>
          <p:nvPr/>
        </p:nvSpPr>
        <p:spPr>
          <a:xfrm>
            <a:off x="6158290" y="1320800"/>
            <a:ext cx="5575200" cy="4767803"/>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0" lvl="0" indent="0" algn="ctr" rtl="0">
              <a:spcBef>
                <a:spcPts val="0"/>
              </a:spcBef>
              <a:spcAft>
                <a:spcPts val="0"/>
              </a:spcAft>
              <a:buNone/>
            </a:pPr>
            <a:r>
              <a:rPr lang="en-US" sz="20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Tableau avec les éléments suivants:</a:t>
            </a:r>
            <a:endParaRPr sz="20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endParaRPr sz="20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err="1">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Nombre</a:t>
            </a:r>
            <a:r>
              <a:rPr lang="en-US"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a:t>
            </a:r>
            <a:r>
              <a:rPr lang="en-US" sz="1500" dirty="0" err="1"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d’Antennes</a:t>
            </a:r>
            <a:r>
              <a:rPr lang="en-US"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PEV: 2( MWEKA &amp; TSHIKAPA)</a:t>
            </a:r>
            <a:endParaRPr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err="1">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Nombre</a:t>
            </a:r>
            <a:r>
              <a:rPr lang="en-US"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de ZS: Total </a:t>
            </a:r>
            <a:r>
              <a:rPr lang="en-US"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(18), </a:t>
            </a:r>
            <a:r>
              <a:rPr lang="en-US"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FAE </a:t>
            </a:r>
            <a:r>
              <a:rPr lang="en-US"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(11)</a:t>
            </a:r>
            <a:endParaRPr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err="1">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Nombre</a:t>
            </a:r>
            <a:r>
              <a:rPr lang="en-US"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a:t>
            </a:r>
            <a:r>
              <a:rPr lang="en-US" sz="1500" dirty="0" err="1">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d’AS</a:t>
            </a:r>
            <a:r>
              <a:rPr lang="en-US"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Total </a:t>
            </a:r>
            <a:r>
              <a:rPr lang="en-US"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(500), </a:t>
            </a:r>
            <a:r>
              <a:rPr lang="en-US"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FAE </a:t>
            </a:r>
            <a:r>
              <a:rPr lang="en-US"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(253)</a:t>
            </a:r>
            <a:endParaRPr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err="1">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Nombre</a:t>
            </a:r>
            <a:r>
              <a:rPr lang="en-US"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a:t>
            </a:r>
            <a:r>
              <a:rPr lang="en-US"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d’ESS:839</a:t>
            </a:r>
            <a:endParaRPr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err="1">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Nombre</a:t>
            </a:r>
            <a:r>
              <a:rPr lang="en-US"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a:t>
            </a:r>
            <a:r>
              <a:rPr lang="en-US" sz="1500" dirty="0" err="1">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d’ESS</a:t>
            </a:r>
            <a:r>
              <a:rPr lang="en-US"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qui </a:t>
            </a:r>
            <a:r>
              <a:rPr lang="en-US" sz="1500" dirty="0" err="1">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vaccinent</a:t>
            </a:r>
            <a:r>
              <a:rPr lang="en-US"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Total </a:t>
            </a:r>
            <a:r>
              <a:rPr lang="en-US"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(714), </a:t>
            </a:r>
            <a:r>
              <a:rPr lang="en-US"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FAE </a:t>
            </a:r>
            <a:r>
              <a:rPr lang="en-US"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(351)</a:t>
            </a:r>
            <a:endParaRPr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Pop </a:t>
            </a:r>
            <a:r>
              <a:rPr lang="en-US" sz="1500" dirty="0" err="1">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totale</a:t>
            </a:r>
            <a:r>
              <a:rPr lang="en-US"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6254 384 </a:t>
            </a:r>
            <a:r>
              <a:rPr lang="en-US"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Habitants</a:t>
            </a:r>
            <a:endParaRPr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Pop de 0-11 </a:t>
            </a:r>
            <a:r>
              <a:rPr lang="en-US" sz="1500" dirty="0" err="1">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mois</a:t>
            </a:r>
            <a:r>
              <a:rPr lang="en-US"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250175</a:t>
            </a:r>
            <a:endParaRPr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Pop de 12-23 </a:t>
            </a:r>
            <a:r>
              <a:rPr lang="en-US" sz="1500" dirty="0" err="1">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mois</a:t>
            </a:r>
            <a:r>
              <a:rPr lang="en-US"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237 666</a:t>
            </a:r>
            <a:endParaRPr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Pop de 0-59 </a:t>
            </a:r>
            <a:r>
              <a:rPr lang="en-US"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mois:218278</a:t>
            </a:r>
            <a:endParaRPr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err="1">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Couverture</a:t>
            </a:r>
            <a:r>
              <a:rPr lang="en-US"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en ECF</a:t>
            </a:r>
            <a:r>
              <a:rPr lang="en-US"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67%</a:t>
            </a:r>
            <a:endParaRPr sz="1500" dirty="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Séances de vaccination </a:t>
            </a:r>
            <a:r>
              <a:rPr lang="en-US" sz="1500" dirty="0" err="1"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planifiées</a:t>
            </a:r>
            <a:r>
              <a:rPr lang="en-US"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fixe (13760), </a:t>
            </a:r>
            <a:r>
              <a:rPr lang="en-US" sz="1500" dirty="0" err="1"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avancée</a:t>
            </a:r>
            <a:r>
              <a:rPr lang="en-US"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(5857), porte à porte 2277), point de concentration 2277), OVM (0)</a:t>
            </a:r>
            <a:endParaRPr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Existence du plan de </a:t>
            </a:r>
            <a:r>
              <a:rPr lang="en-US" sz="1500" dirty="0" err="1"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contextualisation</a:t>
            </a:r>
            <a:r>
              <a:rPr lang="en-US"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FAE DPS: 1</a:t>
            </a:r>
            <a:endParaRPr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des ZS </a:t>
            </a:r>
            <a:r>
              <a:rPr lang="en-US" sz="1500" dirty="0" err="1"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ayant</a:t>
            </a:r>
            <a:r>
              <a:rPr lang="en-US"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a:t>
            </a:r>
            <a:r>
              <a:rPr lang="en-US" sz="1500" dirty="0" err="1"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intégré</a:t>
            </a:r>
            <a:r>
              <a:rPr lang="en-US"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rPr>
              <a:t> les activités FAE dans le PAO : 	61,1%</a:t>
            </a:r>
            <a:endParaRPr sz="15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Clr>
                <a:schemeClr val="dk1"/>
              </a:buClr>
              <a:buSzPts val="1100"/>
              <a:buFont typeface="Arial" panose="020B0604020202020204"/>
              <a:buNone/>
            </a:pPr>
            <a:endParaRPr sz="2000" dirty="0" smtClean="0">
              <a:solidFill>
                <a:schemeClr val="dk1"/>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endParaRPr sz="1200" dirty="0">
              <a:latin typeface="Arial Narrow" panose="020B0606020202030204" pitchFamily="34" charset="0"/>
              <a:ea typeface="Times New Roman" panose="02020603050405020304"/>
              <a:cs typeface="Times New Roman" panose="02020603050405020304"/>
              <a:sym typeface="Times New Roman" panose="02020603050405020304"/>
            </a:endParaRPr>
          </a:p>
        </p:txBody>
      </p:sp>
      <p:pic>
        <p:nvPicPr>
          <p:cNvPr id="9" name="Espace réservé du contenu 7" descr="E:\DPS  KASAI IDS 2015.jpg"/>
          <p:cNvPicPr>
            <a:picLocks/>
          </p:cNvPicPr>
          <p:nvPr/>
        </p:nvPicPr>
        <p:blipFill>
          <a:blip r:embed="rId3" cstate="print"/>
          <a:srcRect/>
          <a:stretch>
            <a:fillRect/>
          </a:stretch>
        </p:blipFill>
        <p:spPr bwMode="auto">
          <a:xfrm>
            <a:off x="643574" y="1355480"/>
            <a:ext cx="5651348" cy="477241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c9d920d_0_226"/>
          <p:cNvSpPr txBox="1"/>
          <p:nvPr/>
        </p:nvSpPr>
        <p:spPr>
          <a:xfrm>
            <a:off x="478970" y="261257"/>
            <a:ext cx="11254521" cy="78838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dirty="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rPr>
              <a:t>Presentation des activités</a:t>
            </a:r>
            <a:endParaRPr sz="2700" dirty="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endParaRPr>
          </a:p>
        </p:txBody>
      </p:sp>
      <p:sp>
        <p:nvSpPr>
          <p:cNvPr id="177" name="Google Shape;177;g3aabc9d920d_0_226"/>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c9d920d_0_226"/>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c9d920d_0_226"/>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4</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c9d920d_0_226"/>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8" name="Google Shape;181;g3aabc9d920d_0_226"/>
          <p:cNvGraphicFramePr/>
          <p:nvPr>
            <p:extLst>
              <p:ext uri="{D42A27DB-BD31-4B8C-83A1-F6EECF244321}">
                <p14:modId xmlns:p14="http://schemas.microsoft.com/office/powerpoint/2010/main" val="3540271387"/>
              </p:ext>
            </p:extLst>
          </p:nvPr>
        </p:nvGraphicFramePr>
        <p:xfrm>
          <a:off x="435429" y="1049641"/>
          <a:ext cx="11298071" cy="5088743"/>
        </p:xfrm>
        <a:graphic>
          <a:graphicData uri="http://schemas.openxmlformats.org/drawingml/2006/table">
            <a:tbl>
              <a:tblPr>
                <a:tableStyleId>{2D5ABB26-0587-4C30-8999-92F81FD0307C}</a:tableStyleId>
              </a:tblPr>
              <a:tblGrid>
                <a:gridCol w="1663322">
                  <a:extLst>
                    <a:ext uri="{9D8B030D-6E8A-4147-A177-3AD203B41FA5}">
                      <a16:colId xmlns:a16="http://schemas.microsoft.com/office/drawing/2014/main" val="20000"/>
                    </a:ext>
                  </a:extLst>
                </a:gridCol>
                <a:gridCol w="6395810">
                  <a:extLst>
                    <a:ext uri="{9D8B030D-6E8A-4147-A177-3AD203B41FA5}">
                      <a16:colId xmlns:a16="http://schemas.microsoft.com/office/drawing/2014/main" val="20001"/>
                    </a:ext>
                  </a:extLst>
                </a:gridCol>
                <a:gridCol w="1632973">
                  <a:extLst>
                    <a:ext uri="{9D8B030D-6E8A-4147-A177-3AD203B41FA5}">
                      <a16:colId xmlns:a16="http://schemas.microsoft.com/office/drawing/2014/main" val="20002"/>
                    </a:ext>
                  </a:extLst>
                </a:gridCol>
                <a:gridCol w="1605966">
                  <a:extLst>
                    <a:ext uri="{9D8B030D-6E8A-4147-A177-3AD203B41FA5}">
                      <a16:colId xmlns:a16="http://schemas.microsoft.com/office/drawing/2014/main" val="20003"/>
                    </a:ext>
                  </a:extLst>
                </a:gridCol>
              </a:tblGrid>
              <a:tr h="953330">
                <a:tc>
                  <a:txBody>
                    <a:bodyPr/>
                    <a:lstStyle/>
                    <a:p>
                      <a:pPr marL="0" lvl="0" indent="0" algn="l" rtl="0">
                        <a:spcBef>
                          <a:spcPts val="0"/>
                        </a:spcBef>
                        <a:spcAft>
                          <a:spcPts val="0"/>
                        </a:spcAft>
                        <a:buNone/>
                      </a:pPr>
                      <a:r>
                        <a:rPr lang="en-US" sz="1400" b="1" dirty="0">
                          <a:sym typeface="Times New Roman" panose="02020603050405020304"/>
                        </a:rPr>
                        <a:t>Activités spécifiques ou approches spéciale</a:t>
                      </a:r>
                      <a:r>
                        <a:rPr lang="" altLang="en-US" sz="1400" b="1" dirty="0">
                          <a:sym typeface="Times New Roman" panose="02020603050405020304"/>
                        </a:rPr>
                        <a:t>s</a:t>
                      </a:r>
                      <a:endParaRPr lang="" altLang="en-US" sz="1400" b="1"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nchor="ctr">
                    <a:solidFill>
                      <a:schemeClr val="accent5">
                        <a:lumMod val="40000"/>
                        <a:lumOff val="60000"/>
                      </a:schemeClr>
                    </a:solidFill>
                  </a:tcPr>
                </a:tc>
                <a:tc>
                  <a:txBody>
                    <a:bodyPr/>
                    <a:lstStyle/>
                    <a:p>
                      <a:pPr marL="0" lvl="0" indent="0" algn="l" rtl="0">
                        <a:spcBef>
                          <a:spcPts val="0"/>
                        </a:spcBef>
                        <a:spcAft>
                          <a:spcPts val="0"/>
                        </a:spcAft>
                        <a:buNone/>
                      </a:pPr>
                      <a:r>
                        <a:rPr lang="en-US" sz="1400" b="1">
                          <a:sym typeface="Times New Roman" panose="02020603050405020304"/>
                        </a:rPr>
                        <a:t>Description</a:t>
                      </a:r>
                      <a:endParaRPr sz="1400" b="1">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nchor="ctr">
                    <a:solidFill>
                      <a:schemeClr val="accent5">
                        <a:lumMod val="40000"/>
                        <a:lumOff val="60000"/>
                      </a:schemeClr>
                    </a:solidFill>
                  </a:tcPr>
                </a:tc>
                <a:tc>
                  <a:txBody>
                    <a:bodyPr/>
                    <a:lstStyle/>
                    <a:p>
                      <a:pPr marL="0" lvl="0" indent="0" algn="l" rtl="0">
                        <a:spcBef>
                          <a:spcPts val="0"/>
                        </a:spcBef>
                        <a:spcAft>
                          <a:spcPts val="0"/>
                        </a:spcAft>
                        <a:buNone/>
                      </a:pPr>
                      <a:r>
                        <a:rPr lang="en-US" sz="1400" b="1" dirty="0">
                          <a:sym typeface="Times New Roman" panose="02020603050405020304"/>
                        </a:rPr>
                        <a:t>Objectifs</a:t>
                      </a:r>
                      <a:endParaRPr sz="1400" b="1"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nchor="ctr">
                    <a:solidFill>
                      <a:schemeClr val="accent5">
                        <a:lumMod val="40000"/>
                        <a:lumOff val="60000"/>
                      </a:schemeClr>
                    </a:solidFill>
                  </a:tcPr>
                </a:tc>
                <a:tc>
                  <a:txBody>
                    <a:bodyPr/>
                    <a:lstStyle/>
                    <a:p>
                      <a:pPr marL="0" lvl="0" indent="0" algn="l" rtl="0">
                        <a:spcBef>
                          <a:spcPts val="0"/>
                        </a:spcBef>
                        <a:spcAft>
                          <a:spcPts val="0"/>
                        </a:spcAft>
                        <a:buNone/>
                      </a:pPr>
                      <a:r>
                        <a:rPr lang="en-US" sz="1400" b="1" dirty="0">
                          <a:sym typeface="Times New Roman" panose="02020603050405020304"/>
                        </a:rPr>
                        <a:t>Perimetre d’intervention</a:t>
                      </a:r>
                      <a:endParaRPr sz="1400" b="1"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nchor="ctr">
                    <a:solidFill>
                      <a:schemeClr val="accent5">
                        <a:lumMod val="40000"/>
                        <a:lumOff val="60000"/>
                      </a:schemeClr>
                    </a:solidFill>
                  </a:tcPr>
                </a:tc>
                <a:extLst>
                  <a:ext uri="{0D108BD9-81ED-4DB2-BD59-A6C34878D82A}">
                    <a16:rowId xmlns:a16="http://schemas.microsoft.com/office/drawing/2014/main" val="10000"/>
                  </a:ext>
                </a:extLst>
              </a:tr>
              <a:tr h="933040">
                <a:tc>
                  <a:txBody>
                    <a:bodyPr/>
                    <a:lstStyle/>
                    <a:p>
                      <a:pPr marL="0" lvl="0" indent="0" algn="l" rtl="0">
                        <a:spcBef>
                          <a:spcPts val="0"/>
                        </a:spcBef>
                        <a:spcAft>
                          <a:spcPts val="0"/>
                        </a:spcAft>
                        <a:buNone/>
                      </a:pPr>
                      <a:r>
                        <a:rPr lang="en-US" sz="1400" dirty="0">
                          <a:latin typeface="Arial Narrow" panose="020B0606020202030204" pitchFamily="34" charset="0"/>
                          <a:sym typeface="Times New Roman" panose="02020603050405020304"/>
                        </a:rPr>
                        <a:t>Porte à porte</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fr-FR" sz="1400" dirty="0" smtClean="0">
                          <a:effectLst/>
                          <a:latin typeface="Arial Narrow" panose="020B0606020202030204" pitchFamily="34" charset="0"/>
                        </a:rPr>
                        <a:t>Nous nous sommes fixé l'heure   de la vaccination porte à porte  en fonction de disponibilité des mamans soit gardien des enfants dans leurs maisons tout en respectant les principes de conservation des vaccins </a:t>
                      </a:r>
                    </a:p>
                    <a:p>
                      <a:pPr marL="0" lvl="0" indent="0" algn="l" rtl="0">
                        <a:spcBef>
                          <a:spcPts val="0"/>
                        </a:spcBef>
                        <a:spcAft>
                          <a:spcPts val="0"/>
                        </a:spcAft>
                        <a:buNone/>
                      </a:pP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l" rtl="0">
                        <a:spcBef>
                          <a:spcPts val="0"/>
                        </a:spcBef>
                        <a:spcAft>
                          <a:spcPts val="0"/>
                        </a:spcAft>
                        <a:buNone/>
                      </a:pPr>
                      <a:r>
                        <a:rPr lang="en-US" sz="1400" dirty="0" smtClean="0">
                          <a:latin typeface="Arial Narrow" panose="020B0606020202030204" pitchFamily="34" charset="0"/>
                          <a:sym typeface="Times New Roman" panose="02020603050405020304"/>
                        </a:rPr>
                        <a:t>2277</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l" rtl="0">
                        <a:spcBef>
                          <a:spcPts val="0"/>
                        </a:spcBef>
                        <a:spcAft>
                          <a:spcPts val="0"/>
                        </a:spcAft>
                        <a:buNone/>
                      </a:pP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extLst>
                  <a:ext uri="{0D108BD9-81ED-4DB2-BD59-A6C34878D82A}">
                    <a16:rowId xmlns:a16="http://schemas.microsoft.com/office/drawing/2014/main" val="10001"/>
                  </a:ext>
                </a:extLst>
              </a:tr>
              <a:tr h="660876">
                <a:tc>
                  <a:txBody>
                    <a:bodyPr/>
                    <a:lstStyle/>
                    <a:p>
                      <a:pPr marL="0" lvl="0" indent="0" algn="l" rtl="0">
                        <a:spcBef>
                          <a:spcPts val="0"/>
                        </a:spcBef>
                        <a:spcAft>
                          <a:spcPts val="0"/>
                        </a:spcAft>
                        <a:buNone/>
                      </a:pPr>
                      <a:r>
                        <a:rPr lang="en-US" sz="1400" dirty="0">
                          <a:latin typeface="Arial Narrow" panose="020B0606020202030204" pitchFamily="34" charset="0"/>
                          <a:sym typeface="Times New Roman" panose="02020603050405020304"/>
                        </a:rPr>
                        <a:t>Point de concentration</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algn="just">
                        <a:lnSpc>
                          <a:spcPct val="107000"/>
                        </a:lnSpc>
                        <a:spcAft>
                          <a:spcPts val="0"/>
                        </a:spcAft>
                        <a:tabLst>
                          <a:tab pos="845820" algn="l"/>
                        </a:tabLst>
                      </a:pPr>
                      <a:r>
                        <a:rPr lang="fr-FR" sz="1400" dirty="0" smtClean="0">
                          <a:effectLst/>
                          <a:latin typeface="Arial Narrow" panose="020B0606020202030204" pitchFamily="34" charset="0"/>
                        </a:rPr>
                        <a:t>Nous avons un calendrier de la vaccination  au points de concentration en fonction des jours du marchés , au ports , et gars …</a:t>
                      </a:r>
                      <a:endParaRPr lang="fr-FR" sz="1400" dirty="0">
                        <a:effectLst/>
                        <a:latin typeface="Arial Narrow" panose="020B0606020202030204" pitchFamily="34" charset="0"/>
                        <a:ea typeface="Calibri" panose="020F0502020204030204" pitchFamily="34"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sz="1400" dirty="0" smtClean="0">
                          <a:latin typeface="Arial Narrow" panose="020B0606020202030204" pitchFamily="34" charset="0"/>
                          <a:sym typeface="Times New Roman" panose="02020603050405020304"/>
                        </a:rPr>
                        <a:t>2277</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l" rtl="0">
                        <a:spcBef>
                          <a:spcPts val="0"/>
                        </a:spcBef>
                        <a:spcAft>
                          <a:spcPts val="0"/>
                        </a:spcAft>
                        <a:buNone/>
                      </a:pP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extLst>
                  <a:ext uri="{0D108BD9-81ED-4DB2-BD59-A6C34878D82A}">
                    <a16:rowId xmlns:a16="http://schemas.microsoft.com/office/drawing/2014/main" val="10002"/>
                  </a:ext>
                </a:extLst>
              </a:tr>
              <a:tr h="1071073">
                <a:tc>
                  <a:txBody>
                    <a:bodyPr/>
                    <a:lstStyle/>
                    <a:p>
                      <a:pPr algn="just">
                        <a:lnSpc>
                          <a:spcPct val="107000"/>
                        </a:lnSpc>
                        <a:spcAft>
                          <a:spcPts val="0"/>
                        </a:spcAft>
                        <a:tabLst>
                          <a:tab pos="845820" algn="l"/>
                        </a:tabLst>
                      </a:pPr>
                      <a:r>
                        <a:rPr lang="fr-BE" sz="1400" dirty="0" smtClean="0">
                          <a:effectLst/>
                          <a:latin typeface="Arial Narrow" panose="020B0606020202030204" pitchFamily="34" charset="0"/>
                        </a:rPr>
                        <a:t>Avancée/cartographie des ZS</a:t>
                      </a:r>
                      <a:endParaRPr lang="fr-FR" sz="1400" dirty="0">
                        <a:effectLst/>
                        <a:latin typeface="Arial Narrow" panose="020B0606020202030204" pitchFamily="34" charset="0"/>
                        <a:ea typeface="Calibri" panose="020F0502020204030204" pitchFamily="34" charset="0"/>
                        <a:cs typeface="Times New Roman" panose="02020603050405020304" pitchFamily="18" charset="0"/>
                      </a:endParaRPr>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fr-FR" sz="1400" dirty="0" smtClean="0">
                          <a:effectLst/>
                          <a:latin typeface="Arial Narrow" panose="020B0606020202030204" pitchFamily="34" charset="0"/>
                        </a:rPr>
                        <a:t>Nous avons actualisé la  cartographie des ZS et AS  en fonction des enfants ZD identifié par les CAC  et disponibilité les vaccins et enfin se déplacer vers le lieu de vaccination pour récupérer les enfants ZD et SV .</a:t>
                      </a:r>
                    </a:p>
                    <a:p>
                      <a:pPr marL="0" lvl="0" indent="0" algn="l" rtl="0">
                        <a:spcBef>
                          <a:spcPts val="0"/>
                        </a:spcBef>
                        <a:spcAft>
                          <a:spcPts val="0"/>
                        </a:spcAft>
                        <a:buNone/>
                      </a:pP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l" rtl="0">
                        <a:spcBef>
                          <a:spcPts val="0"/>
                        </a:spcBef>
                        <a:spcAft>
                          <a:spcPts val="0"/>
                        </a:spcAft>
                        <a:buNone/>
                      </a:pPr>
                      <a:r>
                        <a:rPr lang="en-US" sz="1400" dirty="0" smtClean="0">
                          <a:latin typeface="Arial Narrow" panose="020B0606020202030204" pitchFamily="34" charset="0"/>
                          <a:sym typeface="Times New Roman" panose="02020603050405020304"/>
                        </a:rPr>
                        <a:t>5857</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l" rtl="0">
                        <a:spcBef>
                          <a:spcPts val="0"/>
                        </a:spcBef>
                        <a:spcAft>
                          <a:spcPts val="0"/>
                        </a:spcAft>
                        <a:buNone/>
                      </a:pP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extLst>
                  <a:ext uri="{0D108BD9-81ED-4DB2-BD59-A6C34878D82A}">
                    <a16:rowId xmlns:a16="http://schemas.microsoft.com/office/drawing/2014/main" val="10003"/>
                  </a:ext>
                </a:extLst>
              </a:tr>
              <a:tr h="1284214">
                <a:tc>
                  <a:txBody>
                    <a:bodyPr/>
                    <a:lstStyle/>
                    <a:p>
                      <a:pPr marL="0" lvl="0" indent="0" algn="l" rtl="0">
                        <a:spcBef>
                          <a:spcPts val="0"/>
                        </a:spcBef>
                        <a:spcAft>
                          <a:spcPts val="0"/>
                        </a:spcAft>
                        <a:buNone/>
                      </a:pPr>
                      <a:r>
                        <a:rPr lang="en-US" sz="1400" dirty="0">
                          <a:latin typeface="Arial Narrow" panose="020B0606020202030204" pitchFamily="34" charset="0"/>
                          <a:sym typeface="Times New Roman" panose="02020603050405020304"/>
                        </a:rPr>
                        <a:t>Horaire adapté</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fr-FR" sz="1400" u="none" strike="noStrike" kern="1200" cap="none" dirty="0" smtClean="0">
                          <a:effectLst/>
                          <a:latin typeface="Arial Narrow" panose="020B0606020202030204" pitchFamily="34" charset="0"/>
                          <a:sym typeface="Arial" panose="020B0604020202020204"/>
                        </a:rPr>
                        <a:t>Nous avons planifié les séances de vaccination en harmonisant  l'horaire de séance  en fonction de disponibilité des mamans soit gardien des enfants en précisant le lieu ou site de vaccination et les six contacts que l'enfant doit se présenté au service de vaccination</a:t>
                      </a:r>
                    </a:p>
                    <a:p>
                      <a:pPr marL="0" lvl="0" indent="0" algn="l" rtl="0">
                        <a:spcBef>
                          <a:spcPts val="0"/>
                        </a:spcBef>
                        <a:spcAft>
                          <a:spcPts val="0"/>
                        </a:spcAft>
                        <a:buNone/>
                      </a:pP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l" rtl="0">
                        <a:spcBef>
                          <a:spcPts val="0"/>
                        </a:spcBef>
                        <a:spcAft>
                          <a:spcPts val="0"/>
                        </a:spcAft>
                        <a:buNone/>
                      </a:pPr>
                      <a:r>
                        <a:rPr lang="en-US" sz="1400" dirty="0" smtClean="0">
                          <a:latin typeface="Arial Narrow" panose="020B0606020202030204" pitchFamily="34" charset="0"/>
                          <a:sym typeface="Times New Roman" panose="02020603050405020304"/>
                        </a:rPr>
                        <a:t>13760</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l" rtl="0">
                        <a:spcBef>
                          <a:spcPts val="0"/>
                        </a:spcBef>
                        <a:spcAft>
                          <a:spcPts val="0"/>
                        </a:spcAft>
                        <a:buNone/>
                      </a:pP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15600" y="593367"/>
            <a:ext cx="11360700" cy="763500"/>
          </a:xfrm>
          <a:solidFill>
            <a:schemeClr val="accent5">
              <a:lumMod val="40000"/>
              <a:lumOff val="60000"/>
            </a:schemeClr>
          </a:solidFill>
          <a:ln>
            <a:solidFill>
              <a:schemeClr val="accent6">
                <a:lumMod val="75000"/>
              </a:schemeClr>
            </a:solidFill>
          </a:ln>
        </p:spPr>
        <p:txBody>
          <a:bodyPr>
            <a:normAutofit/>
          </a:bodyPr>
          <a:lstStyle/>
          <a:p>
            <a:r>
              <a:rPr lang="fr-CD" sz="2800" dirty="0">
                <a:latin typeface="Arial Narrow" panose="020B0606020202030204" pitchFamily="34" charset="0"/>
              </a:rPr>
              <a:t>1</a:t>
            </a:r>
            <a:r>
              <a:rPr lang="fr-CD" sz="2800" dirty="0" smtClean="0">
                <a:latin typeface="Arial Narrow" panose="020B0606020202030204" pitchFamily="34" charset="0"/>
              </a:rPr>
              <a:t>. COMPLETUDE &amp; PROMPTITUDE DES RAPPORTS JANV-OCT 2025</a:t>
            </a:r>
            <a:endParaRPr lang="en-US" sz="2800" dirty="0">
              <a:latin typeface="Arial Narrow" panose="020B0606020202030204" pitchFamily="34" charset="0"/>
            </a:endParaRPr>
          </a:p>
        </p:txBody>
      </p:sp>
      <p:sp>
        <p:nvSpPr>
          <p:cNvPr id="3" name="Espace réservé du texte 2"/>
          <p:cNvSpPr>
            <a:spLocks noGrp="1"/>
          </p:cNvSpPr>
          <p:nvPr>
            <p:ph type="body" idx="1"/>
          </p:nvPr>
        </p:nvSpPr>
        <p:spPr/>
        <p:txBody>
          <a:bodyPr/>
          <a:lstStyle/>
          <a:p>
            <a:pPr marL="76200" indent="0">
              <a:buNone/>
            </a:pPr>
            <a:r>
              <a:rPr lang="fr-CD" dirty="0"/>
              <a:t>.</a:t>
            </a:r>
            <a:endParaRPr lang="en-US" dirty="0"/>
          </a:p>
        </p:txBody>
      </p:sp>
      <p:graphicFrame>
        <p:nvGraphicFramePr>
          <p:cNvPr id="4" name="Tableau 3"/>
          <p:cNvGraphicFramePr>
            <a:graphicFrameLocks noGrp="1"/>
          </p:cNvGraphicFramePr>
          <p:nvPr>
            <p:extLst>
              <p:ext uri="{D42A27DB-BD31-4B8C-83A1-F6EECF244321}">
                <p14:modId xmlns:p14="http://schemas.microsoft.com/office/powerpoint/2010/main" val="994066814"/>
              </p:ext>
            </p:extLst>
          </p:nvPr>
        </p:nvGraphicFramePr>
        <p:xfrm>
          <a:off x="419877" y="1567550"/>
          <a:ext cx="11356426" cy="4635976"/>
        </p:xfrm>
        <a:graphic>
          <a:graphicData uri="http://schemas.openxmlformats.org/drawingml/2006/table">
            <a:tbl>
              <a:tblPr>
                <a:tableStyleId>{5C22544A-7EE6-4342-B048-85BDC9FD1C3A}</a:tableStyleId>
              </a:tblPr>
              <a:tblGrid>
                <a:gridCol w="1951492">
                  <a:extLst>
                    <a:ext uri="{9D8B030D-6E8A-4147-A177-3AD203B41FA5}">
                      <a16:colId xmlns:a16="http://schemas.microsoft.com/office/drawing/2014/main" val="2551479241"/>
                    </a:ext>
                  </a:extLst>
                </a:gridCol>
                <a:gridCol w="1567489">
                  <a:extLst>
                    <a:ext uri="{9D8B030D-6E8A-4147-A177-3AD203B41FA5}">
                      <a16:colId xmlns:a16="http://schemas.microsoft.com/office/drawing/2014/main" val="1422107859"/>
                    </a:ext>
                  </a:extLst>
                </a:gridCol>
                <a:gridCol w="1567489">
                  <a:extLst>
                    <a:ext uri="{9D8B030D-6E8A-4147-A177-3AD203B41FA5}">
                      <a16:colId xmlns:a16="http://schemas.microsoft.com/office/drawing/2014/main" val="3790397456"/>
                    </a:ext>
                  </a:extLst>
                </a:gridCol>
                <a:gridCol w="1567489">
                  <a:extLst>
                    <a:ext uri="{9D8B030D-6E8A-4147-A177-3AD203B41FA5}">
                      <a16:colId xmlns:a16="http://schemas.microsoft.com/office/drawing/2014/main" val="3478904875"/>
                    </a:ext>
                  </a:extLst>
                </a:gridCol>
                <a:gridCol w="1567489">
                  <a:extLst>
                    <a:ext uri="{9D8B030D-6E8A-4147-A177-3AD203B41FA5}">
                      <a16:colId xmlns:a16="http://schemas.microsoft.com/office/drawing/2014/main" val="910700665"/>
                    </a:ext>
                  </a:extLst>
                </a:gridCol>
                <a:gridCol w="1567489">
                  <a:extLst>
                    <a:ext uri="{9D8B030D-6E8A-4147-A177-3AD203B41FA5}">
                      <a16:colId xmlns:a16="http://schemas.microsoft.com/office/drawing/2014/main" val="490091563"/>
                    </a:ext>
                  </a:extLst>
                </a:gridCol>
                <a:gridCol w="1567489">
                  <a:extLst>
                    <a:ext uri="{9D8B030D-6E8A-4147-A177-3AD203B41FA5}">
                      <a16:colId xmlns:a16="http://schemas.microsoft.com/office/drawing/2014/main" val="2366402011"/>
                    </a:ext>
                  </a:extLst>
                </a:gridCol>
              </a:tblGrid>
              <a:tr h="175613">
                <a:tc rowSpan="2">
                  <a:txBody>
                    <a:bodyPr/>
                    <a:lstStyle/>
                    <a:p>
                      <a:pPr algn="ctr" fontAlgn="b"/>
                      <a:r>
                        <a:rPr lang="en-US" sz="1100" b="1" u="none" strike="noStrike">
                          <a:effectLst/>
                          <a:latin typeface="Arial Narrow" panose="020B0606020202030204" pitchFamily="34" charset="0"/>
                        </a:rPr>
                        <a:t>ZONE DE SANTE</a:t>
                      </a:r>
                      <a:endParaRPr lang="en-US" sz="1100" b="1" i="0" u="none" strike="noStrike">
                        <a:solidFill>
                          <a:srgbClr val="000000"/>
                        </a:solidFill>
                        <a:effectLst/>
                        <a:latin typeface="Arial Narrow" panose="020B0606020202030204" pitchFamily="34" charset="0"/>
                      </a:endParaRPr>
                    </a:p>
                  </a:txBody>
                  <a:tcPr marL="7620" marR="7620" marT="7620" marB="0" anchor="b">
                    <a:noFill/>
                  </a:tcPr>
                </a:tc>
                <a:tc gridSpan="3">
                  <a:txBody>
                    <a:bodyPr/>
                    <a:lstStyle/>
                    <a:p>
                      <a:pPr algn="ctr" fontAlgn="b"/>
                      <a:r>
                        <a:rPr lang="en-US" sz="1100" b="1" u="none" strike="noStrike" dirty="0">
                          <a:effectLst/>
                          <a:latin typeface="Arial Narrow" panose="020B0606020202030204" pitchFamily="34" charset="0"/>
                        </a:rPr>
                        <a:t>Complétude</a:t>
                      </a:r>
                      <a:endParaRPr lang="en-US" sz="1100" b="1" i="0" u="none" strike="noStrike" dirty="0">
                        <a:solidFill>
                          <a:srgbClr val="000000"/>
                        </a:solidFill>
                        <a:effectLst/>
                        <a:latin typeface="Arial Narrow" panose="020B0606020202030204" pitchFamily="34" charset="0"/>
                      </a:endParaRPr>
                    </a:p>
                  </a:txBody>
                  <a:tcPr marL="7620" marR="7620" marT="7620" marB="0" anchor="b">
                    <a:noFill/>
                  </a:tcPr>
                </a:tc>
                <a:tc hMerge="1">
                  <a:txBody>
                    <a:bodyPr/>
                    <a:lstStyle/>
                    <a:p>
                      <a:endParaRPr lang="en-US"/>
                    </a:p>
                  </a:txBody>
                  <a:tcPr/>
                </a:tc>
                <a:tc hMerge="1">
                  <a:txBody>
                    <a:bodyPr/>
                    <a:lstStyle/>
                    <a:p>
                      <a:endParaRPr lang="en-US"/>
                    </a:p>
                  </a:txBody>
                  <a:tcPr/>
                </a:tc>
                <a:tc gridSpan="3">
                  <a:txBody>
                    <a:bodyPr/>
                    <a:lstStyle/>
                    <a:p>
                      <a:pPr algn="ctr" fontAlgn="b"/>
                      <a:r>
                        <a:rPr lang="en-US" sz="1100" b="1" u="none" strike="noStrike" dirty="0">
                          <a:effectLst/>
                          <a:latin typeface="Arial Narrow" panose="020B0606020202030204" pitchFamily="34" charset="0"/>
                        </a:rPr>
                        <a:t>Promptitude</a:t>
                      </a:r>
                      <a:endParaRPr lang="en-US" sz="1100" b="1" i="0" u="none" strike="noStrike" dirty="0">
                        <a:solidFill>
                          <a:srgbClr val="000000"/>
                        </a:solidFill>
                        <a:effectLst/>
                        <a:latin typeface="Arial Narrow" panose="020B0606020202030204" pitchFamily="34" charset="0"/>
                      </a:endParaRPr>
                    </a:p>
                  </a:txBody>
                  <a:tcPr marL="7620" marR="7620" marT="7620" marB="0" anchor="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59031562"/>
                  </a:ext>
                </a:extLst>
              </a:tr>
              <a:tr h="331085">
                <a:tc vMerge="1">
                  <a:txBody>
                    <a:bodyPr/>
                    <a:lstStyle/>
                    <a:p>
                      <a:endParaRPr lang="en-US"/>
                    </a:p>
                  </a:txBody>
                  <a:tcPr/>
                </a:tc>
                <a:tc>
                  <a:txBody>
                    <a:bodyPr/>
                    <a:lstStyle/>
                    <a:p>
                      <a:pPr algn="l" fontAlgn="b"/>
                      <a:r>
                        <a:rPr lang="en-US" sz="1100" b="1" u="none" strike="noStrike" dirty="0">
                          <a:effectLst/>
                          <a:latin typeface="Arial Narrow" panose="020B0606020202030204" pitchFamily="34" charset="0"/>
                        </a:rPr>
                        <a:t>ATTENDU</a:t>
                      </a:r>
                      <a:endParaRPr lang="en-US" sz="1100" b="1" i="0" u="none" strike="noStrike" dirty="0">
                        <a:solidFill>
                          <a:srgbClr val="000000"/>
                        </a:solidFill>
                        <a:effectLst/>
                        <a:latin typeface="Arial Narrow" panose="020B0606020202030204" pitchFamily="34" charset="0"/>
                      </a:endParaRPr>
                    </a:p>
                  </a:txBody>
                  <a:tcPr marL="7620" marR="7620" marT="7620" marB="0" anchor="b">
                    <a:noFill/>
                  </a:tcPr>
                </a:tc>
                <a:tc>
                  <a:txBody>
                    <a:bodyPr/>
                    <a:lstStyle/>
                    <a:p>
                      <a:pPr algn="l" fontAlgn="b"/>
                      <a:r>
                        <a:rPr lang="en-US" sz="1100" b="1" u="none" strike="noStrike" dirty="0">
                          <a:effectLst/>
                          <a:latin typeface="Arial Narrow" panose="020B0606020202030204" pitchFamily="34" charset="0"/>
                        </a:rPr>
                        <a:t>RECU</a:t>
                      </a:r>
                      <a:endParaRPr lang="en-US" sz="1100" b="1" i="0" u="none" strike="noStrike" dirty="0">
                        <a:solidFill>
                          <a:srgbClr val="000000"/>
                        </a:solidFill>
                        <a:effectLst/>
                        <a:latin typeface="Arial Narrow" panose="020B0606020202030204" pitchFamily="34" charset="0"/>
                      </a:endParaRPr>
                    </a:p>
                  </a:txBody>
                  <a:tcPr marL="7620" marR="7620" marT="7620" marB="0" anchor="b">
                    <a:noFill/>
                  </a:tcPr>
                </a:tc>
                <a:tc>
                  <a:txBody>
                    <a:bodyPr/>
                    <a:lstStyle/>
                    <a:p>
                      <a:pPr algn="l" fontAlgn="b"/>
                      <a:r>
                        <a:rPr lang="en-US" sz="1100" b="1" u="none" strike="noStrike" dirty="0">
                          <a:effectLst/>
                          <a:latin typeface="Arial Narrow" panose="020B0606020202030204" pitchFamily="34" charset="0"/>
                        </a:rPr>
                        <a:t>PROPORTION</a:t>
                      </a:r>
                      <a:endParaRPr lang="en-US" sz="1100" b="1" i="0" u="none" strike="noStrike" dirty="0">
                        <a:solidFill>
                          <a:srgbClr val="000000"/>
                        </a:solidFill>
                        <a:effectLst/>
                        <a:latin typeface="Arial Narrow" panose="020B0606020202030204" pitchFamily="34" charset="0"/>
                      </a:endParaRPr>
                    </a:p>
                  </a:txBody>
                  <a:tcPr marL="7620" marR="7620" marT="7620" marB="0" anchor="b">
                    <a:noFill/>
                  </a:tcPr>
                </a:tc>
                <a:tc>
                  <a:txBody>
                    <a:bodyPr/>
                    <a:lstStyle/>
                    <a:p>
                      <a:pPr algn="l" fontAlgn="b"/>
                      <a:r>
                        <a:rPr lang="en-US" sz="1100" b="1" u="none" strike="noStrike" dirty="0">
                          <a:effectLst/>
                          <a:latin typeface="Arial Narrow" panose="020B0606020202030204" pitchFamily="34" charset="0"/>
                        </a:rPr>
                        <a:t>ATTENDU</a:t>
                      </a:r>
                      <a:endParaRPr lang="en-US" sz="1100" b="1" i="0" u="none" strike="noStrike" dirty="0">
                        <a:solidFill>
                          <a:srgbClr val="000000"/>
                        </a:solidFill>
                        <a:effectLst/>
                        <a:latin typeface="Arial Narrow" panose="020B0606020202030204" pitchFamily="34" charset="0"/>
                      </a:endParaRPr>
                    </a:p>
                  </a:txBody>
                  <a:tcPr marL="7620" marR="7620" marT="7620" marB="0" anchor="b">
                    <a:noFill/>
                  </a:tcPr>
                </a:tc>
                <a:tc>
                  <a:txBody>
                    <a:bodyPr/>
                    <a:lstStyle/>
                    <a:p>
                      <a:pPr algn="l" fontAlgn="b"/>
                      <a:r>
                        <a:rPr lang="en-US" sz="1100" b="1" u="none" strike="noStrike">
                          <a:effectLst/>
                          <a:latin typeface="Arial Narrow" panose="020B0606020202030204" pitchFamily="34" charset="0"/>
                        </a:rPr>
                        <a:t>RECU</a:t>
                      </a:r>
                      <a:endParaRPr lang="en-US" sz="1100" b="1"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l" fontAlgn="b"/>
                      <a:r>
                        <a:rPr lang="en-US" sz="1100" b="1" u="none" strike="noStrike" dirty="0">
                          <a:effectLst/>
                          <a:latin typeface="Arial Narrow" panose="020B0606020202030204" pitchFamily="34" charset="0"/>
                        </a:rPr>
                        <a:t>PROPORTION</a:t>
                      </a:r>
                      <a:endParaRPr lang="en-US" sz="1100" b="1" i="0" u="none" strike="noStrike" dirty="0">
                        <a:solidFill>
                          <a:srgbClr val="000000"/>
                        </a:solidFill>
                        <a:effectLst/>
                        <a:latin typeface="Arial Narrow" panose="020B0606020202030204" pitchFamily="34" charset="0"/>
                      </a:endParaRPr>
                    </a:p>
                  </a:txBody>
                  <a:tcPr marL="7620" marR="7620" marT="7620" marB="0" anchor="b">
                    <a:noFill/>
                  </a:tcPr>
                </a:tc>
                <a:extLst>
                  <a:ext uri="{0D108BD9-81ED-4DB2-BD59-A6C34878D82A}">
                    <a16:rowId xmlns:a16="http://schemas.microsoft.com/office/drawing/2014/main" val="4206798481"/>
                  </a:ext>
                </a:extLst>
              </a:tr>
              <a:tr h="331085">
                <a:tc>
                  <a:txBody>
                    <a:bodyPr/>
                    <a:lstStyle/>
                    <a:p>
                      <a:pPr algn="l" fontAlgn="b"/>
                      <a:r>
                        <a:rPr lang="en-US" sz="1100" u="none" strike="noStrike">
                          <a:effectLst/>
                          <a:latin typeface="Arial Narrow" panose="020B0606020202030204" pitchFamily="34" charset="0"/>
                        </a:rPr>
                        <a:t>BANGA LUBAKA</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extLst>
                  <a:ext uri="{0D108BD9-81ED-4DB2-BD59-A6C34878D82A}">
                    <a16:rowId xmlns:a16="http://schemas.microsoft.com/office/drawing/2014/main" val="1746840459"/>
                  </a:ext>
                </a:extLst>
              </a:tr>
              <a:tr h="175613">
                <a:tc>
                  <a:txBody>
                    <a:bodyPr/>
                    <a:lstStyle/>
                    <a:p>
                      <a:pPr algn="l" fontAlgn="b"/>
                      <a:r>
                        <a:rPr lang="en-US" sz="1100" u="none" strike="noStrike">
                          <a:effectLst/>
                          <a:latin typeface="Arial Narrow" panose="020B0606020202030204" pitchFamily="34" charset="0"/>
                        </a:rPr>
                        <a:t>BULAPE</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dirty="0">
                          <a:effectLst/>
                          <a:latin typeface="Arial Narrow" panose="020B0606020202030204" pitchFamily="34" charset="0"/>
                        </a:rPr>
                        <a:t>8</a:t>
                      </a:r>
                      <a:endParaRPr lang="en-US" sz="1100" b="0" i="0" u="none" strike="noStrike" dirty="0">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80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extLst>
                  <a:ext uri="{0D108BD9-81ED-4DB2-BD59-A6C34878D82A}">
                    <a16:rowId xmlns:a16="http://schemas.microsoft.com/office/drawing/2014/main" val="2631053007"/>
                  </a:ext>
                </a:extLst>
              </a:tr>
              <a:tr h="175613">
                <a:tc>
                  <a:txBody>
                    <a:bodyPr/>
                    <a:lstStyle/>
                    <a:p>
                      <a:pPr algn="l" fontAlgn="b"/>
                      <a:r>
                        <a:rPr lang="en-US" sz="1100" u="none" strike="noStrike">
                          <a:effectLst/>
                          <a:latin typeface="Arial Narrow" panose="020B0606020202030204" pitchFamily="34" charset="0"/>
                        </a:rPr>
                        <a:t>DEKESE</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9</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dirty="0">
                          <a:effectLst/>
                          <a:latin typeface="Arial Narrow" panose="020B0606020202030204" pitchFamily="34" charset="0"/>
                        </a:rPr>
                        <a:t>90</a:t>
                      </a:r>
                      <a:endParaRPr lang="en-US" sz="1100" b="0" i="0" u="none" strike="noStrike" dirty="0">
                        <a:solidFill>
                          <a:srgbClr val="000000"/>
                        </a:solidFill>
                        <a:effectLst/>
                        <a:latin typeface="Arial Narrow" panose="020B0606020202030204" pitchFamily="34" charset="0"/>
                      </a:endParaRPr>
                    </a:p>
                  </a:txBody>
                  <a:tcPr marL="7620" marR="7620" marT="7620" marB="0" anchor="b">
                    <a:noFill/>
                  </a:tcPr>
                </a:tc>
                <a:extLst>
                  <a:ext uri="{0D108BD9-81ED-4DB2-BD59-A6C34878D82A}">
                    <a16:rowId xmlns:a16="http://schemas.microsoft.com/office/drawing/2014/main" val="3303297356"/>
                  </a:ext>
                </a:extLst>
              </a:tr>
              <a:tr h="175613">
                <a:tc>
                  <a:txBody>
                    <a:bodyPr/>
                    <a:lstStyle/>
                    <a:p>
                      <a:pPr algn="l" fontAlgn="b"/>
                      <a:r>
                        <a:rPr lang="en-US" sz="1100" u="none" strike="noStrike">
                          <a:effectLst/>
                          <a:latin typeface="Arial Narrow" panose="020B0606020202030204" pitchFamily="34" charset="0"/>
                        </a:rPr>
                        <a:t>ILEBO</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extLst>
                  <a:ext uri="{0D108BD9-81ED-4DB2-BD59-A6C34878D82A}">
                    <a16:rowId xmlns:a16="http://schemas.microsoft.com/office/drawing/2014/main" val="3632165422"/>
                  </a:ext>
                </a:extLst>
              </a:tr>
              <a:tr h="175613">
                <a:tc>
                  <a:txBody>
                    <a:bodyPr/>
                    <a:lstStyle/>
                    <a:p>
                      <a:pPr algn="l" fontAlgn="b"/>
                      <a:r>
                        <a:rPr lang="en-US" sz="1100" u="none" strike="noStrike">
                          <a:effectLst/>
                          <a:latin typeface="Arial Narrow" panose="020B0606020202030204" pitchFamily="34" charset="0"/>
                        </a:rPr>
                        <a:t>KAKENGE</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extLst>
                  <a:ext uri="{0D108BD9-81ED-4DB2-BD59-A6C34878D82A}">
                    <a16:rowId xmlns:a16="http://schemas.microsoft.com/office/drawing/2014/main" val="4205638673"/>
                  </a:ext>
                </a:extLst>
              </a:tr>
              <a:tr h="331085">
                <a:tc>
                  <a:txBody>
                    <a:bodyPr/>
                    <a:lstStyle/>
                    <a:p>
                      <a:pPr algn="l" fontAlgn="b"/>
                      <a:r>
                        <a:rPr lang="en-US" sz="1100" u="none" strike="noStrike">
                          <a:effectLst/>
                          <a:latin typeface="Arial Narrow" panose="020B0606020202030204" pitchFamily="34" charset="0"/>
                        </a:rPr>
                        <a:t>KALONDA-OUEST</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extLst>
                  <a:ext uri="{0D108BD9-81ED-4DB2-BD59-A6C34878D82A}">
                    <a16:rowId xmlns:a16="http://schemas.microsoft.com/office/drawing/2014/main" val="2383656094"/>
                  </a:ext>
                </a:extLst>
              </a:tr>
              <a:tr h="175613">
                <a:tc>
                  <a:txBody>
                    <a:bodyPr/>
                    <a:lstStyle/>
                    <a:p>
                      <a:pPr algn="l" fontAlgn="b"/>
                      <a:r>
                        <a:rPr lang="en-US" sz="1100" u="none" strike="noStrike">
                          <a:effectLst/>
                          <a:latin typeface="Arial Narrow" panose="020B0606020202030204" pitchFamily="34" charset="0"/>
                        </a:rPr>
                        <a:t>KAMONIA</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extLst>
                  <a:ext uri="{0D108BD9-81ED-4DB2-BD59-A6C34878D82A}">
                    <a16:rowId xmlns:a16="http://schemas.microsoft.com/office/drawing/2014/main" val="348007302"/>
                  </a:ext>
                </a:extLst>
              </a:tr>
              <a:tr h="331085">
                <a:tc>
                  <a:txBody>
                    <a:bodyPr/>
                    <a:lstStyle/>
                    <a:p>
                      <a:pPr algn="l" fontAlgn="b"/>
                      <a:r>
                        <a:rPr lang="en-US" sz="1100" u="none" strike="noStrike">
                          <a:effectLst/>
                          <a:latin typeface="Arial Narrow" panose="020B0606020202030204" pitchFamily="34" charset="0"/>
                        </a:rPr>
                        <a:t>KAMWESHA</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extLst>
                  <a:ext uri="{0D108BD9-81ED-4DB2-BD59-A6C34878D82A}">
                    <a16:rowId xmlns:a16="http://schemas.microsoft.com/office/drawing/2014/main" val="818109010"/>
                  </a:ext>
                </a:extLst>
              </a:tr>
              <a:tr h="175613">
                <a:tc>
                  <a:txBody>
                    <a:bodyPr/>
                    <a:lstStyle/>
                    <a:p>
                      <a:pPr algn="l" fontAlgn="b"/>
                      <a:r>
                        <a:rPr lang="en-US" sz="1100" u="none" strike="noStrike">
                          <a:effectLst/>
                          <a:latin typeface="Arial Narrow" panose="020B0606020202030204" pitchFamily="34" charset="0"/>
                        </a:rPr>
                        <a:t>KANZALA</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dirty="0">
                          <a:effectLst/>
                          <a:latin typeface="Arial Narrow" panose="020B0606020202030204" pitchFamily="34" charset="0"/>
                        </a:rPr>
                        <a:t>10</a:t>
                      </a:r>
                      <a:endParaRPr lang="en-US" sz="1100" b="0" i="0" u="none" strike="noStrike" dirty="0">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extLst>
                  <a:ext uri="{0D108BD9-81ED-4DB2-BD59-A6C34878D82A}">
                    <a16:rowId xmlns:a16="http://schemas.microsoft.com/office/drawing/2014/main" val="1171331093"/>
                  </a:ext>
                </a:extLst>
              </a:tr>
              <a:tr h="175613">
                <a:tc>
                  <a:txBody>
                    <a:bodyPr/>
                    <a:lstStyle/>
                    <a:p>
                      <a:pPr algn="l" fontAlgn="b"/>
                      <a:r>
                        <a:rPr lang="en-US" sz="1100" u="none" strike="noStrike">
                          <a:effectLst/>
                          <a:latin typeface="Arial Narrow" panose="020B0606020202030204" pitchFamily="34" charset="0"/>
                        </a:rPr>
                        <a:t>KITANGUA</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extLst>
                  <a:ext uri="{0D108BD9-81ED-4DB2-BD59-A6C34878D82A}">
                    <a16:rowId xmlns:a16="http://schemas.microsoft.com/office/drawing/2014/main" val="1598765485"/>
                  </a:ext>
                </a:extLst>
              </a:tr>
              <a:tr h="175613">
                <a:tc>
                  <a:txBody>
                    <a:bodyPr/>
                    <a:lstStyle/>
                    <a:p>
                      <a:pPr algn="l" fontAlgn="b"/>
                      <a:r>
                        <a:rPr lang="en-US" sz="1100" u="none" strike="noStrike">
                          <a:effectLst/>
                          <a:latin typeface="Arial Narrow" panose="020B0606020202030204" pitchFamily="34" charset="0"/>
                        </a:rPr>
                        <a:t>LUEBO</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extLst>
                  <a:ext uri="{0D108BD9-81ED-4DB2-BD59-A6C34878D82A}">
                    <a16:rowId xmlns:a16="http://schemas.microsoft.com/office/drawing/2014/main" val="3757792769"/>
                  </a:ext>
                </a:extLst>
              </a:tr>
              <a:tr h="175613">
                <a:tc>
                  <a:txBody>
                    <a:bodyPr/>
                    <a:lstStyle/>
                    <a:p>
                      <a:pPr algn="l" fontAlgn="b"/>
                      <a:r>
                        <a:rPr lang="en-US" sz="1100" u="none" strike="noStrike">
                          <a:effectLst/>
                          <a:latin typeface="Arial Narrow" panose="020B0606020202030204" pitchFamily="34" charset="0"/>
                        </a:rPr>
                        <a:t>MIKOPE</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dirty="0">
                          <a:effectLst/>
                          <a:latin typeface="Arial Narrow" panose="020B0606020202030204" pitchFamily="34" charset="0"/>
                        </a:rPr>
                        <a:t>9</a:t>
                      </a:r>
                      <a:endParaRPr lang="en-US" sz="1100" b="0" i="0" u="none" strike="noStrike" dirty="0">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90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extLst>
                  <a:ext uri="{0D108BD9-81ED-4DB2-BD59-A6C34878D82A}">
                    <a16:rowId xmlns:a16="http://schemas.microsoft.com/office/drawing/2014/main" val="497163731"/>
                  </a:ext>
                </a:extLst>
              </a:tr>
              <a:tr h="331085">
                <a:tc>
                  <a:txBody>
                    <a:bodyPr/>
                    <a:lstStyle/>
                    <a:p>
                      <a:pPr algn="l" fontAlgn="b"/>
                      <a:r>
                        <a:rPr lang="en-US" sz="1100" u="none" strike="noStrike">
                          <a:effectLst/>
                          <a:latin typeface="Arial Narrow" panose="020B0606020202030204" pitchFamily="34" charset="0"/>
                        </a:rPr>
                        <a:t>MUSHENGE</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dirty="0">
                          <a:effectLst/>
                          <a:latin typeface="Arial Narrow" panose="020B0606020202030204" pitchFamily="34" charset="0"/>
                        </a:rPr>
                        <a:t>9</a:t>
                      </a:r>
                      <a:endParaRPr lang="en-US" sz="1100" b="0" i="0" u="none" strike="noStrike" dirty="0">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dirty="0">
                          <a:effectLst/>
                          <a:latin typeface="Arial Narrow" panose="020B0606020202030204" pitchFamily="34" charset="0"/>
                        </a:rPr>
                        <a:t>90</a:t>
                      </a:r>
                      <a:endParaRPr lang="en-US" sz="1100" b="0" i="0" u="none" strike="noStrike" dirty="0">
                        <a:solidFill>
                          <a:srgbClr val="000000"/>
                        </a:solidFill>
                        <a:effectLst/>
                        <a:latin typeface="Arial Narrow" panose="020B0606020202030204" pitchFamily="34" charset="0"/>
                      </a:endParaRPr>
                    </a:p>
                  </a:txBody>
                  <a:tcPr marL="7620" marR="7620" marT="7620" marB="0" anchor="b">
                    <a:noFill/>
                  </a:tcPr>
                </a:tc>
                <a:extLst>
                  <a:ext uri="{0D108BD9-81ED-4DB2-BD59-A6C34878D82A}">
                    <a16:rowId xmlns:a16="http://schemas.microsoft.com/office/drawing/2014/main" val="2909414451"/>
                  </a:ext>
                </a:extLst>
              </a:tr>
              <a:tr h="175613">
                <a:tc>
                  <a:txBody>
                    <a:bodyPr/>
                    <a:lstStyle/>
                    <a:p>
                      <a:pPr algn="l" fontAlgn="b"/>
                      <a:r>
                        <a:rPr lang="en-US" sz="1100" u="none" strike="noStrike">
                          <a:effectLst/>
                          <a:latin typeface="Arial Narrow" panose="020B0606020202030204" pitchFamily="34" charset="0"/>
                        </a:rPr>
                        <a:t>MUTENA</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dirty="0">
                          <a:effectLst/>
                          <a:latin typeface="Arial Narrow" panose="020B0606020202030204" pitchFamily="34" charset="0"/>
                        </a:rPr>
                        <a:t>9</a:t>
                      </a:r>
                      <a:endParaRPr lang="en-US" sz="1100" b="0" i="0" u="none" strike="noStrike" dirty="0">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dirty="0">
                          <a:effectLst/>
                          <a:latin typeface="Arial Narrow" panose="020B0606020202030204" pitchFamily="34" charset="0"/>
                        </a:rPr>
                        <a:t>90</a:t>
                      </a:r>
                      <a:endParaRPr lang="en-US" sz="1100" b="0" i="0" u="none" strike="noStrike" dirty="0">
                        <a:solidFill>
                          <a:srgbClr val="000000"/>
                        </a:solidFill>
                        <a:effectLst/>
                        <a:latin typeface="Arial Narrow" panose="020B0606020202030204" pitchFamily="34" charset="0"/>
                      </a:endParaRPr>
                    </a:p>
                  </a:txBody>
                  <a:tcPr marL="7620" marR="7620" marT="7620" marB="0" anchor="b">
                    <a:noFill/>
                  </a:tcPr>
                </a:tc>
                <a:extLst>
                  <a:ext uri="{0D108BD9-81ED-4DB2-BD59-A6C34878D82A}">
                    <a16:rowId xmlns:a16="http://schemas.microsoft.com/office/drawing/2014/main" val="2371531775"/>
                  </a:ext>
                </a:extLst>
              </a:tr>
              <a:tr h="175613">
                <a:tc>
                  <a:txBody>
                    <a:bodyPr/>
                    <a:lstStyle/>
                    <a:p>
                      <a:pPr algn="l" fontAlgn="b"/>
                      <a:r>
                        <a:rPr lang="en-US" sz="1100" u="none" strike="noStrike">
                          <a:effectLst/>
                          <a:latin typeface="Arial Narrow" panose="020B0606020202030204" pitchFamily="34" charset="0"/>
                        </a:rPr>
                        <a:t>MWEKA</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extLst>
                  <a:ext uri="{0D108BD9-81ED-4DB2-BD59-A6C34878D82A}">
                    <a16:rowId xmlns:a16="http://schemas.microsoft.com/office/drawing/2014/main" val="2896492730"/>
                  </a:ext>
                </a:extLst>
              </a:tr>
              <a:tr h="331085">
                <a:tc>
                  <a:txBody>
                    <a:bodyPr/>
                    <a:lstStyle/>
                    <a:p>
                      <a:pPr algn="l" fontAlgn="b"/>
                      <a:r>
                        <a:rPr lang="en-US" sz="1100" u="none" strike="noStrike">
                          <a:effectLst/>
                          <a:latin typeface="Arial Narrow" panose="020B0606020202030204" pitchFamily="34" charset="0"/>
                        </a:rPr>
                        <a:t>NDJOKO PUNDA</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extLst>
                  <a:ext uri="{0D108BD9-81ED-4DB2-BD59-A6C34878D82A}">
                    <a16:rowId xmlns:a16="http://schemas.microsoft.com/office/drawing/2014/main" val="4151846810"/>
                  </a:ext>
                </a:extLst>
              </a:tr>
              <a:tr h="175613">
                <a:tc>
                  <a:txBody>
                    <a:bodyPr/>
                    <a:lstStyle/>
                    <a:p>
                      <a:pPr algn="l" fontAlgn="b"/>
                      <a:r>
                        <a:rPr lang="en-US" sz="1100" u="none" strike="noStrike">
                          <a:effectLst/>
                          <a:latin typeface="Arial Narrow" panose="020B0606020202030204" pitchFamily="34" charset="0"/>
                        </a:rPr>
                        <a:t>NYANGA</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extLst>
                  <a:ext uri="{0D108BD9-81ED-4DB2-BD59-A6C34878D82A}">
                    <a16:rowId xmlns:a16="http://schemas.microsoft.com/office/drawing/2014/main" val="2033615695"/>
                  </a:ext>
                </a:extLst>
              </a:tr>
              <a:tr h="175613">
                <a:tc>
                  <a:txBody>
                    <a:bodyPr/>
                    <a:lstStyle/>
                    <a:p>
                      <a:pPr algn="l" fontAlgn="b"/>
                      <a:r>
                        <a:rPr lang="en-US" sz="1100" u="none" strike="noStrike">
                          <a:effectLst/>
                          <a:latin typeface="Arial Narrow" panose="020B0606020202030204" pitchFamily="34" charset="0"/>
                        </a:rPr>
                        <a:t>TSHIKAPA</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100" u="none" strike="noStrike">
                          <a:effectLst/>
                          <a:latin typeface="Arial Narrow" panose="020B0606020202030204" pitchFamily="34" charset="0"/>
                        </a:rPr>
                        <a:t>100</a:t>
                      </a:r>
                      <a:endParaRPr lang="en-US" sz="1100" b="0" i="0" u="none" strike="noStrike">
                        <a:solidFill>
                          <a:srgbClr val="000000"/>
                        </a:solidFill>
                        <a:effectLst/>
                        <a:latin typeface="Arial Narrow" panose="020B0606020202030204" pitchFamily="34" charset="0"/>
                      </a:endParaRPr>
                    </a:p>
                  </a:txBody>
                  <a:tcPr marL="7620" marR="7620" marT="7620" marB="0" anchor="b">
                    <a:noFill/>
                  </a:tcPr>
                </a:tc>
                <a:extLst>
                  <a:ext uri="{0D108BD9-81ED-4DB2-BD59-A6C34878D82A}">
                    <a16:rowId xmlns:a16="http://schemas.microsoft.com/office/drawing/2014/main" val="2423810490"/>
                  </a:ext>
                </a:extLst>
              </a:tr>
              <a:tr h="190884">
                <a:tc>
                  <a:txBody>
                    <a:bodyPr/>
                    <a:lstStyle/>
                    <a:p>
                      <a:pPr algn="l" fontAlgn="b"/>
                      <a:r>
                        <a:rPr lang="en-US" sz="1200" b="1" u="none" strike="noStrike">
                          <a:effectLst/>
                          <a:latin typeface="Arial Narrow" panose="020B0606020202030204" pitchFamily="34" charset="0"/>
                        </a:rPr>
                        <a:t>DPS</a:t>
                      </a:r>
                      <a:endParaRPr lang="en-US" sz="1200" b="1"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200" b="1" u="none" strike="noStrike">
                          <a:effectLst/>
                          <a:latin typeface="Arial Narrow" panose="020B0606020202030204" pitchFamily="34" charset="0"/>
                        </a:rPr>
                        <a:t>180</a:t>
                      </a:r>
                      <a:endParaRPr lang="en-US" sz="1200" b="1"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200" b="1" u="none" strike="noStrike">
                          <a:effectLst/>
                          <a:latin typeface="Arial Narrow" panose="020B0606020202030204" pitchFamily="34" charset="0"/>
                        </a:rPr>
                        <a:t>180</a:t>
                      </a:r>
                      <a:endParaRPr lang="en-US" sz="1200" b="1"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200" b="1" u="none" strike="noStrike">
                          <a:effectLst/>
                          <a:latin typeface="Arial Narrow" panose="020B0606020202030204" pitchFamily="34" charset="0"/>
                        </a:rPr>
                        <a:t>100</a:t>
                      </a:r>
                      <a:endParaRPr lang="en-US" sz="1200" b="1"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200" b="1" u="none" strike="noStrike">
                          <a:effectLst/>
                          <a:latin typeface="Arial Narrow" panose="020B0606020202030204" pitchFamily="34" charset="0"/>
                        </a:rPr>
                        <a:t>180</a:t>
                      </a:r>
                      <a:endParaRPr lang="en-US" sz="1200" b="1"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200" b="1" u="none" strike="noStrike">
                          <a:effectLst/>
                          <a:latin typeface="Arial Narrow" panose="020B0606020202030204" pitchFamily="34" charset="0"/>
                        </a:rPr>
                        <a:t>174</a:t>
                      </a:r>
                      <a:endParaRPr lang="en-US" sz="1200" b="1" i="0" u="none" strike="noStrike">
                        <a:solidFill>
                          <a:srgbClr val="000000"/>
                        </a:solidFill>
                        <a:effectLst/>
                        <a:latin typeface="Arial Narrow" panose="020B0606020202030204" pitchFamily="34" charset="0"/>
                      </a:endParaRPr>
                    </a:p>
                  </a:txBody>
                  <a:tcPr marL="7620" marR="7620" marT="7620" marB="0" anchor="b">
                    <a:noFill/>
                  </a:tcPr>
                </a:tc>
                <a:tc>
                  <a:txBody>
                    <a:bodyPr/>
                    <a:lstStyle/>
                    <a:p>
                      <a:pPr algn="r" fontAlgn="b"/>
                      <a:r>
                        <a:rPr lang="en-US" sz="1200" b="1" u="none" strike="noStrike" dirty="0">
                          <a:effectLst/>
                          <a:latin typeface="Arial Narrow" panose="020B0606020202030204" pitchFamily="34" charset="0"/>
                        </a:rPr>
                        <a:t>97</a:t>
                      </a:r>
                      <a:endParaRPr lang="en-US" sz="1200" b="1" i="0" u="none" strike="noStrike" dirty="0">
                        <a:solidFill>
                          <a:srgbClr val="000000"/>
                        </a:solidFill>
                        <a:effectLst/>
                        <a:latin typeface="Arial Narrow" panose="020B0606020202030204" pitchFamily="34" charset="0"/>
                      </a:endParaRPr>
                    </a:p>
                  </a:txBody>
                  <a:tcPr marL="7620" marR="7620" marT="7620" marB="0" anchor="b">
                    <a:noFill/>
                  </a:tcPr>
                </a:tc>
                <a:extLst>
                  <a:ext uri="{0D108BD9-81ED-4DB2-BD59-A6C34878D82A}">
                    <a16:rowId xmlns:a16="http://schemas.microsoft.com/office/drawing/2014/main" val="230436268"/>
                  </a:ext>
                </a:extLst>
              </a:tr>
            </a:tbl>
          </a:graphicData>
        </a:graphic>
      </p:graphicFrame>
    </p:spTree>
    <p:extLst>
      <p:ext uri="{BB962C8B-B14F-4D97-AF65-F5344CB8AC3E}">
        <p14:creationId xmlns:p14="http://schemas.microsoft.com/office/powerpoint/2010/main" val="3617775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274875" y="702156"/>
            <a:ext cx="11357145" cy="935260"/>
          </a:xfrm>
          <a:solidFill>
            <a:schemeClr val="accent5">
              <a:lumMod val="40000"/>
              <a:lumOff val="60000"/>
            </a:schemeClr>
          </a:solidFill>
          <a:ln>
            <a:solidFill>
              <a:srgbClr val="00B050"/>
            </a:solidFill>
          </a:ln>
        </p:spPr>
        <p:txBody>
          <a:bodyPr>
            <a:normAutofit/>
          </a:bodyPr>
          <a:lstStyle/>
          <a:p>
            <a:pPr marL="514350" lvl="0" indent="-514350" algn="l">
              <a:lnSpc>
                <a:spcPct val="150000"/>
              </a:lnSpc>
              <a:spcBef>
                <a:spcPts val="1000"/>
              </a:spcBef>
            </a:pPr>
            <a:r>
              <a:rPr lang="fr-FR" sz="2800" b="1" dirty="0" smtClean="0">
                <a:latin typeface="Arial Narrow" panose="020B0606020202030204" pitchFamily="34" charset="0"/>
                <a:ea typeface="Arial Narrow"/>
                <a:cs typeface="Arial Narrow"/>
                <a:sym typeface="Arial Narrow"/>
              </a:rPr>
              <a:t>2. </a:t>
            </a:r>
            <a:r>
              <a:rPr lang="fr-FR" sz="2800" b="1" dirty="0" smtClean="0">
                <a:latin typeface="Arial Narrow" panose="020B0606020202030204" pitchFamily="34" charset="0"/>
                <a:ea typeface="Arial Narrow"/>
                <a:cs typeface="Arial Narrow"/>
                <a:sym typeface="Arial Narrow"/>
              </a:rPr>
              <a:t>REALISATION </a:t>
            </a:r>
            <a:r>
              <a:rPr lang="fr-FR" sz="2800" b="1" dirty="0" smtClean="0">
                <a:latin typeface="Arial Narrow" panose="020B0606020202030204" pitchFamily="34" charset="0"/>
                <a:ea typeface="Arial Narrow"/>
                <a:cs typeface="Arial Narrow"/>
                <a:sym typeface="Arial Narrow"/>
              </a:rPr>
              <a:t>DE SEANCES DE VACCINATION </a:t>
            </a:r>
            <a:r>
              <a:rPr lang="fr-FR" sz="2800" b="1" dirty="0" smtClean="0">
                <a:latin typeface="Arial Narrow" panose="020B0606020202030204" pitchFamily="34" charset="0"/>
              </a:rPr>
              <a:t>JANVIER A OCTOBRE 2025</a:t>
            </a:r>
            <a:endParaRPr lang="fr-FR" sz="2800" b="1" dirty="0">
              <a:latin typeface="Arial Narrow" panose="020B0606020202030204" pitchFamily="34" charset="0"/>
              <a:ea typeface="Arial Narrow"/>
              <a:cs typeface="Arial Narrow"/>
              <a:sym typeface="Arial Narrow"/>
            </a:endParaRPr>
          </a:p>
        </p:txBody>
      </p:sp>
      <p:sp>
        <p:nvSpPr>
          <p:cNvPr id="2" name="Espace réservé du contenu 1"/>
          <p:cNvSpPr>
            <a:spLocks noGrp="1"/>
          </p:cNvSpPr>
          <p:nvPr>
            <p:ph idx="1"/>
          </p:nvPr>
        </p:nvSpPr>
        <p:spPr/>
        <p:txBody>
          <a:bodyPr/>
          <a:lstStyle/>
          <a:p>
            <a:pPr marL="0" indent="0">
              <a:buNone/>
            </a:pPr>
            <a:endParaRPr lang="fr-FR" dirty="0" smtClean="0"/>
          </a:p>
          <a:p>
            <a:endParaRPr lang="fr-FR" dirty="0" smtClean="0"/>
          </a:p>
          <a:p>
            <a:endParaRPr lang="fr-FR"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875" y="1828801"/>
            <a:ext cx="11357144" cy="4380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Espace réservé de la date 3"/>
          <p:cNvSpPr>
            <a:spLocks noGrp="1"/>
          </p:cNvSpPr>
          <p:nvPr>
            <p:ph type="dt" idx="10"/>
          </p:nvPr>
        </p:nvSpPr>
        <p:spPr/>
        <p:txBody>
          <a:bodyPr/>
          <a:lstStyle/>
          <a:p>
            <a:fld id="{EFA40336-2772-4230-A209-5DF469CDC7FA}" type="datetime1">
              <a:rPr lang="en-US" smtClean="0"/>
              <a:t>12/16/2025</a:t>
            </a:fld>
            <a:endParaRPr lang="en-US"/>
          </a:p>
        </p:txBody>
      </p:sp>
      <p:sp>
        <p:nvSpPr>
          <p:cNvPr id="5" name="Espace réservé du pied de page 4"/>
          <p:cNvSpPr>
            <a:spLocks noGrp="1"/>
          </p:cNvSpPr>
          <p:nvPr>
            <p:ph type="ftr" idx="11"/>
          </p:nvPr>
        </p:nvSpPr>
        <p:spPr/>
        <p:txBody>
          <a:bodyPr/>
          <a:lstStyle/>
          <a:p>
            <a:r>
              <a:rPr lang="fr-FR" smtClean="0"/>
              <a:t>REVUE NATIONALE ANNUELLE PEV DPS KASAÏ</a:t>
            </a:r>
            <a:endParaRPr lang="fr-FR"/>
          </a:p>
        </p:txBody>
      </p:sp>
    </p:spTree>
    <p:extLst>
      <p:ext uri="{BB962C8B-B14F-4D97-AF65-F5344CB8AC3E}">
        <p14:creationId xmlns:p14="http://schemas.microsoft.com/office/powerpoint/2010/main" val="11612752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223284" y="493487"/>
            <a:ext cx="11589488" cy="841828"/>
          </a:xfrm>
          <a:solidFill>
            <a:schemeClr val="accent5">
              <a:lumMod val="40000"/>
              <a:lumOff val="60000"/>
            </a:schemeClr>
          </a:solidFill>
          <a:ln>
            <a:solidFill>
              <a:srgbClr val="00B050"/>
            </a:solidFill>
          </a:ln>
        </p:spPr>
        <p:txBody>
          <a:bodyPr>
            <a:noAutofit/>
          </a:bodyPr>
          <a:lstStyle/>
          <a:p>
            <a:pPr marL="514350" lvl="0" indent="-514350" algn="l">
              <a:lnSpc>
                <a:spcPct val="150000"/>
              </a:lnSpc>
              <a:spcBef>
                <a:spcPts val="1000"/>
              </a:spcBef>
            </a:pPr>
            <a:r>
              <a:rPr lang="fr-FR" sz="3200" b="1" dirty="0">
                <a:latin typeface="Arial Narrow" panose="020B0606020202030204" pitchFamily="34" charset="0"/>
                <a:ea typeface="Arial Narrow"/>
                <a:cs typeface="Arial Narrow"/>
                <a:sym typeface="Arial Narrow"/>
              </a:rPr>
              <a:t>3</a:t>
            </a:r>
            <a:r>
              <a:rPr lang="fr-FR" sz="3200" b="1" dirty="0" smtClean="0">
                <a:latin typeface="Arial Narrow" panose="020B0606020202030204" pitchFamily="34" charset="0"/>
                <a:ea typeface="Arial Narrow"/>
                <a:cs typeface="Arial Narrow"/>
                <a:sym typeface="Arial Narrow"/>
              </a:rPr>
              <a:t>. </a:t>
            </a:r>
            <a:r>
              <a:rPr lang="fr-FR" sz="2800" b="1" dirty="0" smtClean="0">
                <a:latin typeface="Arial Narrow" panose="020B0606020202030204" pitchFamily="34" charset="0"/>
                <a:ea typeface="Arial Narrow"/>
                <a:cs typeface="Arial Narrow"/>
                <a:sym typeface="Arial Narrow"/>
              </a:rPr>
              <a:t>C.V</a:t>
            </a:r>
            <a:r>
              <a:rPr lang="fr-FR" sz="3200" b="1" dirty="0" smtClean="0">
                <a:latin typeface="Arial Narrow" panose="020B0606020202030204" pitchFamily="34" charset="0"/>
                <a:ea typeface="Arial Narrow"/>
                <a:cs typeface="Arial Narrow"/>
                <a:sym typeface="Arial Narrow"/>
              </a:rPr>
              <a:t> </a:t>
            </a:r>
            <a:r>
              <a:rPr lang="fr-FR" sz="3200" b="1" cap="none" dirty="0" smtClean="0">
                <a:latin typeface="Arial Narrow" panose="020B0606020202030204" pitchFamily="34" charset="0"/>
                <a:ea typeface="Arial Narrow"/>
                <a:cs typeface="Arial Narrow"/>
                <a:sym typeface="Arial Narrow"/>
              </a:rPr>
              <a:t>de routine </a:t>
            </a:r>
            <a:r>
              <a:rPr lang="fr-FR" sz="3200" b="1" cap="none" dirty="0">
                <a:latin typeface="Arial Narrow" panose="020B0606020202030204" pitchFamily="34" charset="0"/>
                <a:ea typeface="Arial Narrow"/>
                <a:cs typeface="Arial Narrow"/>
                <a:sym typeface="Arial Narrow"/>
              </a:rPr>
              <a:t>P</a:t>
            </a:r>
            <a:r>
              <a:rPr lang="fr-FR" sz="3200" b="1" cap="none" dirty="0" smtClean="0">
                <a:latin typeface="Arial Narrow" panose="020B0606020202030204" pitchFamily="34" charset="0"/>
                <a:ea typeface="Arial Narrow"/>
                <a:cs typeface="Arial Narrow"/>
                <a:sym typeface="Arial Narrow"/>
              </a:rPr>
              <a:t>ar ZS </a:t>
            </a:r>
            <a:r>
              <a:rPr lang="fr-FR" sz="3200" b="1" dirty="0" smtClean="0">
                <a:latin typeface="Arial Narrow" panose="020B0606020202030204" pitchFamily="34" charset="0"/>
              </a:rPr>
              <a:t>JANVIER A OCTOBRE 2025</a:t>
            </a:r>
            <a:endParaRPr lang="fr-FR" sz="3200" b="1" dirty="0">
              <a:latin typeface="Arial Narrow" panose="020B0606020202030204" pitchFamily="34" charset="0"/>
              <a:ea typeface="Arial Narrow"/>
              <a:cs typeface="Arial Narrow"/>
              <a:sym typeface="Arial Narrow"/>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284" y="1669312"/>
            <a:ext cx="11589488" cy="497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Espace réservé de la date 1"/>
          <p:cNvSpPr>
            <a:spLocks noGrp="1"/>
          </p:cNvSpPr>
          <p:nvPr>
            <p:ph type="dt" idx="10"/>
          </p:nvPr>
        </p:nvSpPr>
        <p:spPr/>
        <p:txBody>
          <a:bodyPr/>
          <a:lstStyle/>
          <a:p>
            <a:fld id="{4F8AFB93-E1EF-477E-B5DF-F7730E354F44}" type="datetime1">
              <a:rPr lang="en-US" smtClean="0"/>
              <a:t>12/16/2025</a:t>
            </a:fld>
            <a:endParaRPr lang="en-US"/>
          </a:p>
        </p:txBody>
      </p:sp>
      <p:sp>
        <p:nvSpPr>
          <p:cNvPr id="4" name="Espace réservé du pied de page 3"/>
          <p:cNvSpPr>
            <a:spLocks noGrp="1"/>
          </p:cNvSpPr>
          <p:nvPr>
            <p:ph type="ftr" idx="11"/>
          </p:nvPr>
        </p:nvSpPr>
        <p:spPr/>
        <p:txBody>
          <a:bodyPr/>
          <a:lstStyle/>
          <a:p>
            <a:r>
              <a:rPr lang="fr-FR" smtClean="0"/>
              <a:t>REVUE NATIONALE ANNUELLE PEV DPS KASAÏ</a:t>
            </a:r>
            <a:endParaRPr lang="fr-FR"/>
          </a:p>
        </p:txBody>
      </p:sp>
    </p:spTree>
    <p:extLst>
      <p:ext uri="{BB962C8B-B14F-4D97-AF65-F5344CB8AC3E}">
        <p14:creationId xmlns:p14="http://schemas.microsoft.com/office/powerpoint/2010/main" val="19088953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446567" y="268514"/>
            <a:ext cx="11259879" cy="718457"/>
          </a:xfrm>
          <a:solidFill>
            <a:schemeClr val="accent5">
              <a:lumMod val="40000"/>
              <a:lumOff val="60000"/>
            </a:schemeClr>
          </a:solidFill>
          <a:ln>
            <a:solidFill>
              <a:srgbClr val="00B050"/>
            </a:solidFill>
          </a:ln>
        </p:spPr>
        <p:txBody>
          <a:bodyPr>
            <a:noAutofit/>
          </a:bodyPr>
          <a:lstStyle/>
          <a:p>
            <a:pPr marL="514350" lvl="0" indent="-514350" algn="l">
              <a:lnSpc>
                <a:spcPct val="150000"/>
              </a:lnSpc>
              <a:spcBef>
                <a:spcPts val="1000"/>
              </a:spcBef>
            </a:pPr>
            <a:r>
              <a:rPr lang="fr-FR" sz="2400" b="1" dirty="0" smtClean="0">
                <a:latin typeface="Arial Narrow"/>
                <a:ea typeface="Arial Narrow"/>
                <a:cs typeface="Arial Narrow"/>
                <a:sym typeface="Arial Narrow"/>
              </a:rPr>
              <a:t>5.1. </a:t>
            </a:r>
            <a:r>
              <a:rPr lang="fr-FR" sz="2400" b="1" dirty="0" smtClean="0">
                <a:latin typeface="Arial Narrow"/>
                <a:ea typeface="Arial Narrow"/>
                <a:cs typeface="Arial Narrow"/>
                <a:sym typeface="Arial Narrow"/>
              </a:rPr>
              <a:t>Proportion d’Enfants complètement vaccines  DE JANVIER A OCTOBRE 2025</a:t>
            </a:r>
            <a:endParaRPr lang="fr-FR" sz="2400" b="1" dirty="0">
              <a:latin typeface="Arial Narrow"/>
              <a:ea typeface="Arial Narrow"/>
              <a:cs typeface="Arial Narrow"/>
              <a:sym typeface="Arial Narrow"/>
            </a:endParaRPr>
          </a:p>
        </p:txBody>
      </p:sp>
      <p:sp>
        <p:nvSpPr>
          <p:cNvPr id="2" name="Espace réservé du contenu 1"/>
          <p:cNvSpPr>
            <a:spLocks noGrp="1"/>
          </p:cNvSpPr>
          <p:nvPr>
            <p:ph idx="1"/>
          </p:nvPr>
        </p:nvSpPr>
        <p:spPr/>
        <p:txBody>
          <a:bodyPr/>
          <a:lstStyle/>
          <a:p>
            <a:pPr marL="0" indent="0">
              <a:buNone/>
            </a:pPr>
            <a:endParaRPr lang="fr-FR" dirty="0" smtClean="0"/>
          </a:p>
          <a:p>
            <a:endParaRPr lang="fr-FR" dirty="0" smtClean="0"/>
          </a:p>
          <a:p>
            <a:endParaRPr lang="fr-FR"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567" y="1733106"/>
            <a:ext cx="11259879" cy="4508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Espace réservé de la date 3"/>
          <p:cNvSpPr>
            <a:spLocks noGrp="1"/>
          </p:cNvSpPr>
          <p:nvPr>
            <p:ph type="dt" idx="10"/>
          </p:nvPr>
        </p:nvSpPr>
        <p:spPr/>
        <p:txBody>
          <a:bodyPr/>
          <a:lstStyle/>
          <a:p>
            <a:fld id="{53AD516D-56E0-4D47-A02B-FB985694AF90}" type="datetime1">
              <a:rPr lang="en-US" smtClean="0"/>
              <a:t>12/16/2025</a:t>
            </a:fld>
            <a:endParaRPr lang="en-US"/>
          </a:p>
        </p:txBody>
      </p:sp>
      <p:sp>
        <p:nvSpPr>
          <p:cNvPr id="5" name="Espace réservé du pied de page 4"/>
          <p:cNvSpPr>
            <a:spLocks noGrp="1"/>
          </p:cNvSpPr>
          <p:nvPr>
            <p:ph type="ftr" idx="11"/>
          </p:nvPr>
        </p:nvSpPr>
        <p:spPr/>
        <p:txBody>
          <a:bodyPr/>
          <a:lstStyle/>
          <a:p>
            <a:r>
              <a:rPr lang="fr-FR" smtClean="0"/>
              <a:t>REVUE NATIONALE ANNUELLE PEV DPS KASAÏ</a:t>
            </a:r>
            <a:endParaRPr lang="fr-FR"/>
          </a:p>
        </p:txBody>
      </p:sp>
    </p:spTree>
    <p:extLst>
      <p:ext uri="{BB962C8B-B14F-4D97-AF65-F5344CB8AC3E}">
        <p14:creationId xmlns:p14="http://schemas.microsoft.com/office/powerpoint/2010/main" val="33363416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15600" y="593367"/>
            <a:ext cx="11360700" cy="763500"/>
          </a:xfrm>
          <a:solidFill>
            <a:schemeClr val="accent5">
              <a:lumMod val="40000"/>
              <a:lumOff val="60000"/>
            </a:schemeClr>
          </a:solidFill>
          <a:ln>
            <a:solidFill>
              <a:srgbClr val="00B050"/>
            </a:solidFill>
          </a:ln>
        </p:spPr>
        <p:txBody>
          <a:bodyPr>
            <a:normAutofit/>
          </a:bodyPr>
          <a:lstStyle/>
          <a:p>
            <a:r>
              <a:rPr lang="fr-FR" sz="2800" b="1" dirty="0" smtClean="0">
                <a:latin typeface="Arial Narrow"/>
                <a:ea typeface="Arial Narrow"/>
                <a:cs typeface="Arial Narrow"/>
                <a:sym typeface="Arial Narrow"/>
              </a:rPr>
              <a:t>5.2. Enfants </a:t>
            </a:r>
            <a:r>
              <a:rPr lang="fr-FR" sz="2800" b="1" dirty="0">
                <a:latin typeface="Arial Narrow"/>
                <a:ea typeface="Arial Narrow"/>
                <a:cs typeface="Arial Narrow"/>
                <a:sym typeface="Arial Narrow"/>
              </a:rPr>
              <a:t>zéro dose AU T3 2025</a:t>
            </a:r>
            <a:endParaRPr lang="fr-FR" sz="2800" b="1" dirty="0"/>
          </a:p>
        </p:txBody>
      </p:sp>
      <p:sp>
        <p:nvSpPr>
          <p:cNvPr id="3" name="Espace réservé du texte 2"/>
          <p:cNvSpPr>
            <a:spLocks noGrp="1"/>
          </p:cNvSpPr>
          <p:nvPr>
            <p:ph type="body" idx="1"/>
          </p:nvPr>
        </p:nvSpPr>
        <p:spPr/>
        <p:txBody>
          <a:bodyPr/>
          <a:lstStyle/>
          <a:p>
            <a:pPr marL="76200" indent="0">
              <a:buNone/>
            </a:pPr>
            <a:r>
              <a:rPr lang="fr-FR" dirty="0" smtClean="0"/>
              <a:t>.</a:t>
            </a:r>
            <a:endParaRPr lang="fr-FR" dirty="0"/>
          </a:p>
        </p:txBody>
      </p:sp>
      <p:graphicFrame>
        <p:nvGraphicFramePr>
          <p:cNvPr id="4" name="Graphique 3"/>
          <p:cNvGraphicFramePr>
            <a:graphicFrameLocks/>
          </p:cNvGraphicFramePr>
          <p:nvPr>
            <p:extLst>
              <p:ext uri="{D42A27DB-BD31-4B8C-83A1-F6EECF244321}">
                <p14:modId xmlns:p14="http://schemas.microsoft.com/office/powerpoint/2010/main" val="2165111375"/>
              </p:ext>
            </p:extLst>
          </p:nvPr>
        </p:nvGraphicFramePr>
        <p:xfrm>
          <a:off x="522514" y="1988456"/>
          <a:ext cx="11215830" cy="433791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728076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11200" y="457200"/>
            <a:ext cx="10769599" cy="805543"/>
          </a:xfrm>
          <a:solidFill>
            <a:schemeClr val="accent5">
              <a:lumMod val="40000"/>
              <a:lumOff val="60000"/>
            </a:schemeClr>
          </a:solidFill>
          <a:ln>
            <a:solidFill>
              <a:srgbClr val="00B050"/>
            </a:solidFill>
          </a:ln>
        </p:spPr>
        <p:txBody>
          <a:bodyPr>
            <a:normAutofit/>
          </a:bodyPr>
          <a:lstStyle/>
          <a:p>
            <a:pPr algn="l"/>
            <a:r>
              <a:rPr lang="fr-FR" sz="2800" b="1" dirty="0" smtClean="0">
                <a:latin typeface="Arial Narrow" panose="020B0606020202030204" pitchFamily="34" charset="0"/>
              </a:rPr>
              <a:t>5</a:t>
            </a:r>
            <a:r>
              <a:rPr lang="fr-FR" sz="2800" b="1" dirty="0" smtClean="0">
                <a:latin typeface="Arial Narrow" panose="020B0606020202030204" pitchFamily="34" charset="0"/>
              </a:rPr>
              <a:t>.3.  </a:t>
            </a:r>
            <a:r>
              <a:rPr lang="fr-FR" sz="2800" b="1" dirty="0" smtClean="0">
                <a:latin typeface="Arial Narrow" panose="020B0606020202030204" pitchFamily="34" charset="0"/>
              </a:rPr>
              <a:t>LES ENFANTS SOUS VACCINES DE JANVIER A OCTOBRE 2025</a:t>
            </a:r>
            <a:endParaRPr lang="fr-FR" sz="2800" b="1" dirty="0">
              <a:latin typeface="Arial Narrow" panose="020B0606020202030204" pitchFamily="34"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199" y="1741715"/>
            <a:ext cx="10769599" cy="4455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Espace réservé de la date 2"/>
          <p:cNvSpPr>
            <a:spLocks noGrp="1"/>
          </p:cNvSpPr>
          <p:nvPr>
            <p:ph type="dt" idx="10"/>
          </p:nvPr>
        </p:nvSpPr>
        <p:spPr/>
        <p:txBody>
          <a:bodyPr/>
          <a:lstStyle/>
          <a:p>
            <a:fld id="{44725271-FBFF-457E-A831-841B87EEB62F}" type="datetime1">
              <a:rPr lang="en-US" smtClean="0"/>
              <a:t>12/16/2025</a:t>
            </a:fld>
            <a:endParaRPr lang="en-US"/>
          </a:p>
        </p:txBody>
      </p:sp>
      <p:sp>
        <p:nvSpPr>
          <p:cNvPr id="5" name="Espace réservé du pied de page 4"/>
          <p:cNvSpPr>
            <a:spLocks noGrp="1"/>
          </p:cNvSpPr>
          <p:nvPr>
            <p:ph type="ftr" idx="11"/>
          </p:nvPr>
        </p:nvSpPr>
        <p:spPr/>
        <p:txBody>
          <a:bodyPr/>
          <a:lstStyle/>
          <a:p>
            <a:r>
              <a:rPr lang="fr-FR" smtClean="0"/>
              <a:t>REVUE NATIONALE ANNUELLE PEV DPS KASAÏ</a:t>
            </a:r>
            <a:endParaRPr lang="fr-FR"/>
          </a:p>
        </p:txBody>
      </p:sp>
    </p:spTree>
    <p:extLst>
      <p:ext uri="{BB962C8B-B14F-4D97-AF65-F5344CB8AC3E}">
        <p14:creationId xmlns:p14="http://schemas.microsoft.com/office/powerpoint/2010/main" val="13738549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81192" y="290286"/>
            <a:ext cx="11029616" cy="989521"/>
          </a:xfrm>
        </p:spPr>
        <p:txBody>
          <a:bodyPr>
            <a:noAutofit/>
          </a:bodyPr>
          <a:lstStyle/>
          <a:p>
            <a:pPr algn="l"/>
            <a:r>
              <a:rPr lang="fr-FR" sz="2400" b="1" dirty="0">
                <a:solidFill>
                  <a:schemeClr val="tx1"/>
                </a:solidFill>
                <a:latin typeface="Arial Narrow" panose="020B0606020202030204" pitchFamily="34" charset="0"/>
              </a:rPr>
              <a:t>6</a:t>
            </a:r>
            <a:r>
              <a:rPr lang="fr-FR" sz="2400" b="1" dirty="0" smtClean="0">
                <a:solidFill>
                  <a:schemeClr val="tx1"/>
                </a:solidFill>
                <a:latin typeface="Arial Narrow" panose="020B0606020202030204" pitchFamily="34" charset="0"/>
              </a:rPr>
              <a:t>. </a:t>
            </a:r>
            <a:r>
              <a:rPr lang="fr-FR" sz="2400" b="1" dirty="0" smtClean="0">
                <a:solidFill>
                  <a:schemeClr val="tx1"/>
                </a:solidFill>
                <a:latin typeface="Arial Narrow" panose="020B0606020202030204" pitchFamily="34" charset="0"/>
              </a:rPr>
              <a:t>NOMBRE DE JOURS DE RUPTURE DES VACCINS ET AUTRES DE JANVIER A OCTOBRE 2025</a:t>
            </a:r>
            <a:endParaRPr lang="fr-FR" sz="2400" b="1" dirty="0">
              <a:solidFill>
                <a:schemeClr val="tx1"/>
              </a:solidFill>
              <a:latin typeface="Arial Narrow" panose="020B0606020202030204" pitchFamily="34" charset="0"/>
            </a:endParaRP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1195274562"/>
              </p:ext>
            </p:extLst>
          </p:nvPr>
        </p:nvGraphicFramePr>
        <p:xfrm>
          <a:off x="478971" y="1279803"/>
          <a:ext cx="11362962" cy="5411276"/>
        </p:xfrm>
        <a:graphic>
          <a:graphicData uri="http://schemas.openxmlformats.org/drawingml/2006/table">
            <a:tbl>
              <a:tblPr>
                <a:tableStyleId>{5C22544A-7EE6-4342-B048-85BDC9FD1C3A}</a:tableStyleId>
              </a:tblPr>
              <a:tblGrid>
                <a:gridCol w="5321195">
                  <a:extLst>
                    <a:ext uri="{9D8B030D-6E8A-4147-A177-3AD203B41FA5}">
                      <a16:colId xmlns:a16="http://schemas.microsoft.com/office/drawing/2014/main" val="20000"/>
                    </a:ext>
                  </a:extLst>
                </a:gridCol>
                <a:gridCol w="6041767">
                  <a:extLst>
                    <a:ext uri="{9D8B030D-6E8A-4147-A177-3AD203B41FA5}">
                      <a16:colId xmlns:a16="http://schemas.microsoft.com/office/drawing/2014/main" val="20001"/>
                    </a:ext>
                  </a:extLst>
                </a:gridCol>
              </a:tblGrid>
              <a:tr h="284804">
                <a:tc>
                  <a:txBody>
                    <a:bodyPr/>
                    <a:lstStyle/>
                    <a:p>
                      <a:pPr algn="l" fontAlgn="b"/>
                      <a:r>
                        <a:rPr lang="fr-FR" sz="1800" b="1" u="none" strike="noStrike" dirty="0">
                          <a:effectLst/>
                          <a:latin typeface="Arial Narrow" panose="020B0606020202030204" pitchFamily="34" charset="0"/>
                        </a:rPr>
                        <a:t>ANTIGENES</a:t>
                      </a:r>
                      <a:endParaRPr lang="fr-FR" sz="1800" b="1" i="0" u="none" strike="noStrike" dirty="0">
                        <a:solidFill>
                          <a:srgbClr val="000000"/>
                        </a:solidFill>
                        <a:effectLst/>
                        <a:latin typeface="Arial Narrow" panose="020B0606020202030204" pitchFamily="34" charset="0"/>
                      </a:endParaRPr>
                    </a:p>
                  </a:txBody>
                  <a:tcPr marL="3227" marR="3227" marT="3227" marB="0" anchor="b"/>
                </a:tc>
                <a:tc>
                  <a:txBody>
                    <a:bodyPr/>
                    <a:lstStyle/>
                    <a:p>
                      <a:pPr algn="ctr" fontAlgn="b"/>
                      <a:r>
                        <a:rPr lang="fr-FR" sz="1800" b="1" i="0" u="none" strike="noStrike" dirty="0" smtClean="0">
                          <a:solidFill>
                            <a:srgbClr val="000000"/>
                          </a:solidFill>
                          <a:effectLst/>
                          <a:latin typeface="Arial Narrow" panose="020B0606020202030204" pitchFamily="34" charset="0"/>
                        </a:rPr>
                        <a:t>JOURS</a:t>
                      </a:r>
                      <a:endParaRPr lang="fr-FR" sz="1800" b="1" i="0" u="none" strike="noStrike" dirty="0">
                        <a:solidFill>
                          <a:srgbClr val="000000"/>
                        </a:solidFill>
                        <a:effectLst/>
                        <a:latin typeface="Arial Narrow" panose="020B0606020202030204" pitchFamily="34" charset="0"/>
                      </a:endParaRPr>
                    </a:p>
                  </a:txBody>
                  <a:tcPr marL="3227" marR="3227" marT="3227" marB="0" anchor="b"/>
                </a:tc>
                <a:extLst>
                  <a:ext uri="{0D108BD9-81ED-4DB2-BD59-A6C34878D82A}">
                    <a16:rowId xmlns:a16="http://schemas.microsoft.com/office/drawing/2014/main" val="10000"/>
                  </a:ext>
                </a:extLst>
              </a:tr>
              <a:tr h="284804">
                <a:tc>
                  <a:txBody>
                    <a:bodyPr/>
                    <a:lstStyle/>
                    <a:p>
                      <a:pPr algn="l" fontAlgn="b"/>
                      <a:r>
                        <a:rPr lang="fr-FR" sz="1800" u="none" strike="noStrike" dirty="0">
                          <a:effectLst/>
                          <a:latin typeface="Arial Narrow" panose="020B0606020202030204" pitchFamily="34" charset="0"/>
                        </a:rPr>
                        <a:t>BCG</a:t>
                      </a:r>
                      <a:endParaRPr lang="fr-FR" sz="1800" b="0" i="0" u="none" strike="noStrike" dirty="0">
                        <a:solidFill>
                          <a:srgbClr val="000000"/>
                        </a:solidFill>
                        <a:effectLst/>
                        <a:latin typeface="Arial Narrow" panose="020B0606020202030204" pitchFamily="34" charset="0"/>
                      </a:endParaRPr>
                    </a:p>
                  </a:txBody>
                  <a:tcPr marL="3227" marR="3227" marT="3227" marB="0" anchor="b"/>
                </a:tc>
                <a:tc>
                  <a:txBody>
                    <a:bodyPr/>
                    <a:lstStyle/>
                    <a:p>
                      <a:pPr algn="ctr" fontAlgn="b"/>
                      <a:r>
                        <a:rPr lang="fr-FR" sz="1800" b="0" i="0" u="none" strike="noStrike" dirty="0" smtClean="0">
                          <a:solidFill>
                            <a:schemeClr val="dk1"/>
                          </a:solidFill>
                          <a:effectLst/>
                          <a:latin typeface="Arial Narrow" panose="020B0606020202030204" pitchFamily="34" charset="0"/>
                        </a:rPr>
                        <a:t>61</a:t>
                      </a:r>
                      <a:endParaRPr lang="fr-FR" sz="1800" b="0" i="0" u="none" strike="noStrike" dirty="0">
                        <a:solidFill>
                          <a:srgbClr val="000000"/>
                        </a:solidFill>
                        <a:effectLst/>
                        <a:latin typeface="Arial Narrow" panose="020B0606020202030204" pitchFamily="34" charset="0"/>
                      </a:endParaRPr>
                    </a:p>
                  </a:txBody>
                  <a:tcPr marL="3227" marR="3227" marT="3227" marB="0" anchor="b"/>
                </a:tc>
                <a:extLst>
                  <a:ext uri="{0D108BD9-81ED-4DB2-BD59-A6C34878D82A}">
                    <a16:rowId xmlns:a16="http://schemas.microsoft.com/office/drawing/2014/main" val="10001"/>
                  </a:ext>
                </a:extLst>
              </a:tr>
              <a:tr h="284804">
                <a:tc>
                  <a:txBody>
                    <a:bodyPr/>
                    <a:lstStyle/>
                    <a:p>
                      <a:pPr algn="l" fontAlgn="b"/>
                      <a:r>
                        <a:rPr lang="fr-FR" sz="1800" u="none" strike="noStrike">
                          <a:effectLst/>
                          <a:latin typeface="Arial Narrow" panose="020B0606020202030204" pitchFamily="34" charset="0"/>
                        </a:rPr>
                        <a:t>VPO</a:t>
                      </a:r>
                      <a:endParaRPr lang="fr-FR" sz="1800" b="0" i="0" u="none" strike="noStrike">
                        <a:solidFill>
                          <a:srgbClr val="000000"/>
                        </a:solidFill>
                        <a:effectLst/>
                        <a:latin typeface="Arial Narrow" panose="020B0606020202030204" pitchFamily="34" charset="0"/>
                      </a:endParaRPr>
                    </a:p>
                  </a:txBody>
                  <a:tcPr marL="3227" marR="3227" marT="3227" marB="0" anchor="b"/>
                </a:tc>
                <a:tc>
                  <a:txBody>
                    <a:bodyPr/>
                    <a:lstStyle/>
                    <a:p>
                      <a:pPr algn="ctr" fontAlgn="b"/>
                      <a:r>
                        <a:rPr lang="fr-FR" sz="1800" b="0" i="0" u="none" strike="noStrike" dirty="0" smtClean="0">
                          <a:solidFill>
                            <a:srgbClr val="000000"/>
                          </a:solidFill>
                          <a:effectLst/>
                          <a:latin typeface="Arial Narrow" panose="020B0606020202030204" pitchFamily="34" charset="0"/>
                        </a:rPr>
                        <a:t>22</a:t>
                      </a:r>
                      <a:endParaRPr lang="fr-FR" sz="1800" b="0" i="0" u="none" strike="noStrike" dirty="0">
                        <a:solidFill>
                          <a:srgbClr val="000000"/>
                        </a:solidFill>
                        <a:effectLst/>
                        <a:latin typeface="Arial Narrow" panose="020B0606020202030204" pitchFamily="34" charset="0"/>
                      </a:endParaRPr>
                    </a:p>
                  </a:txBody>
                  <a:tcPr marL="3227" marR="3227" marT="3227" marB="0" anchor="b"/>
                </a:tc>
                <a:extLst>
                  <a:ext uri="{0D108BD9-81ED-4DB2-BD59-A6C34878D82A}">
                    <a16:rowId xmlns:a16="http://schemas.microsoft.com/office/drawing/2014/main" val="10002"/>
                  </a:ext>
                </a:extLst>
              </a:tr>
              <a:tr h="284804">
                <a:tc>
                  <a:txBody>
                    <a:bodyPr/>
                    <a:lstStyle/>
                    <a:p>
                      <a:pPr algn="l" fontAlgn="b"/>
                      <a:r>
                        <a:rPr lang="fr-FR" sz="1800" u="none" strike="noStrike" dirty="0">
                          <a:effectLst/>
                          <a:latin typeface="Arial Narrow" panose="020B0606020202030204" pitchFamily="34" charset="0"/>
                        </a:rPr>
                        <a:t>DTC</a:t>
                      </a:r>
                      <a:endParaRPr lang="fr-FR" sz="1800" b="0" i="0" u="none" strike="noStrike" dirty="0">
                        <a:solidFill>
                          <a:srgbClr val="000000"/>
                        </a:solidFill>
                        <a:effectLst/>
                        <a:latin typeface="Arial Narrow" panose="020B0606020202030204" pitchFamily="34" charset="0"/>
                      </a:endParaRPr>
                    </a:p>
                  </a:txBody>
                  <a:tcPr marL="3227" marR="3227" marT="3227" marB="0" anchor="b"/>
                </a:tc>
                <a:tc>
                  <a:txBody>
                    <a:bodyPr/>
                    <a:lstStyle/>
                    <a:p>
                      <a:pPr algn="ctr" fontAlgn="b"/>
                      <a:r>
                        <a:rPr lang="fr-FR" sz="1800" b="0" i="0" u="none" strike="noStrike" dirty="0" smtClean="0">
                          <a:solidFill>
                            <a:schemeClr val="dk1"/>
                          </a:solidFill>
                          <a:effectLst/>
                          <a:latin typeface="Arial Narrow" panose="020B0606020202030204" pitchFamily="34" charset="0"/>
                        </a:rPr>
                        <a:t>0</a:t>
                      </a:r>
                      <a:endParaRPr lang="fr-FR" sz="1800" b="0" i="0" u="none" strike="noStrike" dirty="0">
                        <a:solidFill>
                          <a:srgbClr val="000000"/>
                        </a:solidFill>
                        <a:effectLst/>
                        <a:latin typeface="Arial Narrow" panose="020B0606020202030204" pitchFamily="34" charset="0"/>
                      </a:endParaRPr>
                    </a:p>
                  </a:txBody>
                  <a:tcPr marL="3227" marR="3227" marT="3227" marB="0" anchor="b"/>
                </a:tc>
                <a:extLst>
                  <a:ext uri="{0D108BD9-81ED-4DB2-BD59-A6C34878D82A}">
                    <a16:rowId xmlns:a16="http://schemas.microsoft.com/office/drawing/2014/main" val="10003"/>
                  </a:ext>
                </a:extLst>
              </a:tr>
              <a:tr h="284804">
                <a:tc>
                  <a:txBody>
                    <a:bodyPr/>
                    <a:lstStyle/>
                    <a:p>
                      <a:pPr algn="l" fontAlgn="b"/>
                      <a:r>
                        <a:rPr lang="fr-FR" sz="1800" u="none" strike="noStrike" dirty="0">
                          <a:effectLst/>
                          <a:latin typeface="Arial Narrow" panose="020B0606020202030204" pitchFamily="34" charset="0"/>
                        </a:rPr>
                        <a:t>PCV-13</a:t>
                      </a:r>
                      <a:endParaRPr lang="fr-FR" sz="1800" b="0" i="0" u="none" strike="noStrike" dirty="0">
                        <a:solidFill>
                          <a:srgbClr val="000000"/>
                        </a:solidFill>
                        <a:effectLst/>
                        <a:latin typeface="Arial Narrow" panose="020B0606020202030204" pitchFamily="34" charset="0"/>
                      </a:endParaRPr>
                    </a:p>
                  </a:txBody>
                  <a:tcPr marL="3227" marR="3227" marT="3227" marB="0" anchor="b"/>
                </a:tc>
                <a:tc>
                  <a:txBody>
                    <a:bodyPr/>
                    <a:lstStyle/>
                    <a:p>
                      <a:pPr algn="ctr" fontAlgn="b"/>
                      <a:r>
                        <a:rPr lang="fr-FR" sz="1800" u="none" strike="noStrike" dirty="0" smtClean="0">
                          <a:effectLst/>
                          <a:latin typeface="Arial Narrow" panose="020B0606020202030204" pitchFamily="34" charset="0"/>
                        </a:rPr>
                        <a:t>0</a:t>
                      </a:r>
                      <a:endParaRPr lang="fr-FR" sz="1800" b="0" i="0" u="none" strike="noStrike" dirty="0">
                        <a:solidFill>
                          <a:srgbClr val="000000"/>
                        </a:solidFill>
                        <a:effectLst/>
                        <a:latin typeface="Arial Narrow" panose="020B0606020202030204" pitchFamily="34" charset="0"/>
                      </a:endParaRPr>
                    </a:p>
                  </a:txBody>
                  <a:tcPr marL="3227" marR="3227" marT="3227" marB="0" anchor="b"/>
                </a:tc>
                <a:extLst>
                  <a:ext uri="{0D108BD9-81ED-4DB2-BD59-A6C34878D82A}">
                    <a16:rowId xmlns:a16="http://schemas.microsoft.com/office/drawing/2014/main" val="10004"/>
                  </a:ext>
                </a:extLst>
              </a:tr>
              <a:tr h="284804">
                <a:tc>
                  <a:txBody>
                    <a:bodyPr/>
                    <a:lstStyle/>
                    <a:p>
                      <a:pPr algn="l" fontAlgn="b"/>
                      <a:r>
                        <a:rPr lang="fr-FR" sz="1800" u="none" strike="noStrike">
                          <a:effectLst/>
                          <a:latin typeface="Arial Narrow" panose="020B0606020202030204" pitchFamily="34" charset="0"/>
                        </a:rPr>
                        <a:t>VPI</a:t>
                      </a:r>
                      <a:endParaRPr lang="fr-FR" sz="1800" b="0" i="0" u="none" strike="noStrike">
                        <a:solidFill>
                          <a:srgbClr val="000000"/>
                        </a:solidFill>
                        <a:effectLst/>
                        <a:latin typeface="Arial Narrow" panose="020B0606020202030204" pitchFamily="34" charset="0"/>
                      </a:endParaRPr>
                    </a:p>
                  </a:txBody>
                  <a:tcPr marL="3227" marR="3227" marT="3227" marB="0" anchor="b"/>
                </a:tc>
                <a:tc>
                  <a:txBody>
                    <a:bodyPr/>
                    <a:lstStyle/>
                    <a:p>
                      <a:pPr algn="ctr" fontAlgn="b"/>
                      <a:r>
                        <a:rPr lang="fr-FR" sz="1800" b="0" i="0" u="none" strike="noStrike" dirty="0" smtClean="0">
                          <a:solidFill>
                            <a:schemeClr val="dk1"/>
                          </a:solidFill>
                          <a:effectLst/>
                          <a:latin typeface="Arial Narrow" panose="020B0606020202030204" pitchFamily="34" charset="0"/>
                        </a:rPr>
                        <a:t>0</a:t>
                      </a:r>
                      <a:endParaRPr lang="fr-FR" sz="1800" b="0" i="0" u="none" strike="noStrike" dirty="0">
                        <a:solidFill>
                          <a:srgbClr val="000000"/>
                        </a:solidFill>
                        <a:effectLst/>
                        <a:latin typeface="Arial Narrow" panose="020B0606020202030204" pitchFamily="34" charset="0"/>
                      </a:endParaRPr>
                    </a:p>
                  </a:txBody>
                  <a:tcPr marL="3227" marR="3227" marT="3227" marB="0" anchor="b"/>
                </a:tc>
                <a:extLst>
                  <a:ext uri="{0D108BD9-81ED-4DB2-BD59-A6C34878D82A}">
                    <a16:rowId xmlns:a16="http://schemas.microsoft.com/office/drawing/2014/main" val="10005"/>
                  </a:ext>
                </a:extLst>
              </a:tr>
              <a:tr h="284804">
                <a:tc>
                  <a:txBody>
                    <a:bodyPr/>
                    <a:lstStyle/>
                    <a:p>
                      <a:pPr algn="l" fontAlgn="b"/>
                      <a:r>
                        <a:rPr lang="fr-FR" sz="1800" u="none" strike="noStrike" dirty="0">
                          <a:effectLst/>
                          <a:latin typeface="Arial Narrow" panose="020B0606020202030204" pitchFamily="34" charset="0"/>
                        </a:rPr>
                        <a:t>ROTA</a:t>
                      </a:r>
                      <a:endParaRPr lang="fr-FR" sz="1800" b="0" i="0" u="none" strike="noStrike" dirty="0">
                        <a:solidFill>
                          <a:srgbClr val="000000"/>
                        </a:solidFill>
                        <a:effectLst/>
                        <a:latin typeface="Arial Narrow" panose="020B0606020202030204" pitchFamily="34" charset="0"/>
                      </a:endParaRPr>
                    </a:p>
                  </a:txBody>
                  <a:tcPr marL="3227" marR="3227" marT="3227" marB="0" anchor="b"/>
                </a:tc>
                <a:tc>
                  <a:txBody>
                    <a:bodyPr/>
                    <a:lstStyle/>
                    <a:p>
                      <a:pPr algn="ctr" fontAlgn="b"/>
                      <a:r>
                        <a:rPr lang="fr-FR" sz="1800" b="0" i="0" u="none" strike="noStrike" dirty="0" smtClean="0">
                          <a:solidFill>
                            <a:srgbClr val="000000"/>
                          </a:solidFill>
                          <a:effectLst/>
                          <a:latin typeface="Arial Narrow" panose="020B0606020202030204" pitchFamily="34" charset="0"/>
                        </a:rPr>
                        <a:t>31</a:t>
                      </a:r>
                      <a:endParaRPr lang="fr-FR" sz="1800" b="0" i="0" u="none" strike="noStrike" dirty="0">
                        <a:solidFill>
                          <a:srgbClr val="000000"/>
                        </a:solidFill>
                        <a:effectLst/>
                        <a:latin typeface="Arial Narrow" panose="020B0606020202030204" pitchFamily="34" charset="0"/>
                      </a:endParaRPr>
                    </a:p>
                  </a:txBody>
                  <a:tcPr marL="3227" marR="3227" marT="3227" marB="0" anchor="b"/>
                </a:tc>
                <a:extLst>
                  <a:ext uri="{0D108BD9-81ED-4DB2-BD59-A6C34878D82A}">
                    <a16:rowId xmlns:a16="http://schemas.microsoft.com/office/drawing/2014/main" val="10006"/>
                  </a:ext>
                </a:extLst>
              </a:tr>
              <a:tr h="284804">
                <a:tc>
                  <a:txBody>
                    <a:bodyPr/>
                    <a:lstStyle/>
                    <a:p>
                      <a:pPr algn="l" fontAlgn="b"/>
                      <a:r>
                        <a:rPr lang="fr-FR" sz="1800" u="none" strike="noStrike" dirty="0" err="1">
                          <a:effectLst/>
                          <a:latin typeface="Arial Narrow" panose="020B0606020202030204" pitchFamily="34" charset="0"/>
                        </a:rPr>
                        <a:t>Dil</a:t>
                      </a:r>
                      <a:r>
                        <a:rPr lang="fr-FR" sz="1800" u="none" strike="noStrike" dirty="0">
                          <a:effectLst/>
                          <a:latin typeface="Arial Narrow" panose="020B0606020202030204" pitchFamily="34" charset="0"/>
                        </a:rPr>
                        <a:t> Rota</a:t>
                      </a:r>
                      <a:endParaRPr lang="fr-FR" sz="1800" b="0" i="0" u="none" strike="noStrike" dirty="0">
                        <a:solidFill>
                          <a:srgbClr val="000000"/>
                        </a:solidFill>
                        <a:effectLst/>
                        <a:latin typeface="Arial Narrow" panose="020B0606020202030204" pitchFamily="34" charset="0"/>
                      </a:endParaRPr>
                    </a:p>
                  </a:txBody>
                  <a:tcPr marL="3227" marR="3227" marT="3227" marB="0" anchor="b"/>
                </a:tc>
                <a:tc>
                  <a:txBody>
                    <a:bodyPr/>
                    <a:lstStyle/>
                    <a:p>
                      <a:pPr algn="ctr" fontAlgn="b"/>
                      <a:r>
                        <a:rPr lang="fr-FR" sz="1800" b="0" i="0" u="none" strike="noStrike" dirty="0" smtClean="0">
                          <a:solidFill>
                            <a:srgbClr val="000000"/>
                          </a:solidFill>
                          <a:effectLst/>
                          <a:latin typeface="Arial Narrow" panose="020B0606020202030204" pitchFamily="34" charset="0"/>
                        </a:rPr>
                        <a:t>31</a:t>
                      </a:r>
                      <a:endParaRPr lang="fr-FR" sz="1800" b="0" i="0" u="none" strike="noStrike" dirty="0">
                        <a:solidFill>
                          <a:srgbClr val="000000"/>
                        </a:solidFill>
                        <a:effectLst/>
                        <a:latin typeface="Arial Narrow" panose="020B0606020202030204" pitchFamily="34" charset="0"/>
                      </a:endParaRPr>
                    </a:p>
                  </a:txBody>
                  <a:tcPr marL="3227" marR="3227" marT="3227" marB="0" anchor="b"/>
                </a:tc>
                <a:extLst>
                  <a:ext uri="{0D108BD9-81ED-4DB2-BD59-A6C34878D82A}">
                    <a16:rowId xmlns:a16="http://schemas.microsoft.com/office/drawing/2014/main" val="10007"/>
                  </a:ext>
                </a:extLst>
              </a:tr>
              <a:tr h="284804">
                <a:tc>
                  <a:txBody>
                    <a:bodyPr/>
                    <a:lstStyle/>
                    <a:p>
                      <a:pPr algn="l" fontAlgn="b"/>
                      <a:r>
                        <a:rPr lang="fr-FR" sz="1800" u="none" strike="noStrike">
                          <a:effectLst/>
                          <a:latin typeface="Arial Narrow" panose="020B0606020202030204" pitchFamily="34" charset="0"/>
                        </a:rPr>
                        <a:t>VAR</a:t>
                      </a:r>
                      <a:endParaRPr lang="fr-FR" sz="1800" b="0" i="0" u="none" strike="noStrike">
                        <a:solidFill>
                          <a:srgbClr val="000000"/>
                        </a:solidFill>
                        <a:effectLst/>
                        <a:latin typeface="Arial Narrow" panose="020B0606020202030204" pitchFamily="34" charset="0"/>
                      </a:endParaRPr>
                    </a:p>
                  </a:txBody>
                  <a:tcPr marL="3227" marR="3227" marT="3227" marB="0" anchor="b"/>
                </a:tc>
                <a:tc>
                  <a:txBody>
                    <a:bodyPr/>
                    <a:lstStyle/>
                    <a:p>
                      <a:pPr algn="ctr" fontAlgn="b"/>
                      <a:r>
                        <a:rPr lang="fr-FR" sz="1800" b="0" i="0" u="none" strike="noStrike" dirty="0" smtClean="0">
                          <a:solidFill>
                            <a:schemeClr val="dk1"/>
                          </a:solidFill>
                          <a:effectLst/>
                          <a:latin typeface="Arial Narrow" panose="020B0606020202030204" pitchFamily="34" charset="0"/>
                        </a:rPr>
                        <a:t>31</a:t>
                      </a:r>
                      <a:endParaRPr lang="fr-FR" sz="1800" b="0" i="0" u="none" strike="noStrike" dirty="0">
                        <a:solidFill>
                          <a:srgbClr val="000000"/>
                        </a:solidFill>
                        <a:effectLst/>
                        <a:latin typeface="Arial Narrow" panose="020B0606020202030204" pitchFamily="34" charset="0"/>
                      </a:endParaRPr>
                    </a:p>
                  </a:txBody>
                  <a:tcPr marL="3227" marR="3227" marT="3227" marB="0" anchor="b"/>
                </a:tc>
                <a:extLst>
                  <a:ext uri="{0D108BD9-81ED-4DB2-BD59-A6C34878D82A}">
                    <a16:rowId xmlns:a16="http://schemas.microsoft.com/office/drawing/2014/main" val="10008"/>
                  </a:ext>
                </a:extLst>
              </a:tr>
              <a:tr h="284804">
                <a:tc>
                  <a:txBody>
                    <a:bodyPr/>
                    <a:lstStyle/>
                    <a:p>
                      <a:pPr algn="l" fontAlgn="b"/>
                      <a:r>
                        <a:rPr lang="fr-FR" sz="1800" u="none" strike="noStrike" dirty="0" err="1">
                          <a:effectLst/>
                          <a:latin typeface="Arial Narrow" panose="020B0606020202030204" pitchFamily="34" charset="0"/>
                        </a:rPr>
                        <a:t>Dil</a:t>
                      </a:r>
                      <a:r>
                        <a:rPr lang="fr-FR" sz="1800" u="none" strike="noStrike" dirty="0">
                          <a:effectLst/>
                          <a:latin typeface="Arial Narrow" panose="020B0606020202030204" pitchFamily="34" charset="0"/>
                        </a:rPr>
                        <a:t> VAR</a:t>
                      </a:r>
                      <a:endParaRPr lang="fr-FR" sz="1800" b="0" i="0" u="none" strike="noStrike" dirty="0">
                        <a:solidFill>
                          <a:srgbClr val="000000"/>
                        </a:solidFill>
                        <a:effectLst/>
                        <a:latin typeface="Arial Narrow" panose="020B0606020202030204" pitchFamily="34" charset="0"/>
                      </a:endParaRPr>
                    </a:p>
                  </a:txBody>
                  <a:tcPr marL="3227" marR="3227" marT="3227" marB="0" anchor="b"/>
                </a:tc>
                <a:tc>
                  <a:txBody>
                    <a:bodyPr/>
                    <a:lstStyle/>
                    <a:p>
                      <a:pPr algn="ctr" fontAlgn="b"/>
                      <a:r>
                        <a:rPr lang="fr-FR" sz="1800" b="0" i="0" u="none" strike="noStrike" dirty="0" smtClean="0">
                          <a:solidFill>
                            <a:schemeClr val="dk1"/>
                          </a:solidFill>
                          <a:effectLst/>
                          <a:latin typeface="Arial Narrow" panose="020B0606020202030204" pitchFamily="34" charset="0"/>
                        </a:rPr>
                        <a:t>31</a:t>
                      </a:r>
                      <a:endParaRPr lang="fr-FR" sz="1800" b="0" i="0" u="none" strike="noStrike" dirty="0">
                        <a:solidFill>
                          <a:srgbClr val="000000"/>
                        </a:solidFill>
                        <a:effectLst/>
                        <a:latin typeface="Arial Narrow" panose="020B0606020202030204" pitchFamily="34" charset="0"/>
                      </a:endParaRPr>
                    </a:p>
                  </a:txBody>
                  <a:tcPr marL="3227" marR="3227" marT="3227" marB="0" anchor="b"/>
                </a:tc>
                <a:extLst>
                  <a:ext uri="{0D108BD9-81ED-4DB2-BD59-A6C34878D82A}">
                    <a16:rowId xmlns:a16="http://schemas.microsoft.com/office/drawing/2014/main" val="10009"/>
                  </a:ext>
                </a:extLst>
              </a:tr>
              <a:tr h="284804">
                <a:tc>
                  <a:txBody>
                    <a:bodyPr/>
                    <a:lstStyle/>
                    <a:p>
                      <a:pPr algn="l" fontAlgn="b"/>
                      <a:r>
                        <a:rPr lang="fr-FR" sz="1800" u="none" strike="noStrike" dirty="0">
                          <a:effectLst/>
                          <a:latin typeface="Arial Narrow" panose="020B0606020202030204" pitchFamily="34" charset="0"/>
                        </a:rPr>
                        <a:t>VAA</a:t>
                      </a:r>
                      <a:endParaRPr lang="fr-FR" sz="1800" b="0" i="0" u="none" strike="noStrike" dirty="0">
                        <a:solidFill>
                          <a:srgbClr val="000000"/>
                        </a:solidFill>
                        <a:effectLst/>
                        <a:latin typeface="Arial Narrow" panose="020B0606020202030204" pitchFamily="34" charset="0"/>
                      </a:endParaRPr>
                    </a:p>
                  </a:txBody>
                  <a:tcPr marL="3227" marR="3227" marT="3227" marB="0" anchor="b"/>
                </a:tc>
                <a:tc>
                  <a:txBody>
                    <a:bodyPr/>
                    <a:lstStyle/>
                    <a:p>
                      <a:pPr algn="ctr" fontAlgn="b"/>
                      <a:r>
                        <a:rPr lang="fr-FR" sz="1800" b="0" i="0" u="none" strike="noStrike" dirty="0" smtClean="0">
                          <a:solidFill>
                            <a:schemeClr val="dk1"/>
                          </a:solidFill>
                          <a:effectLst/>
                          <a:latin typeface="Arial Narrow" panose="020B0606020202030204" pitchFamily="34" charset="0"/>
                        </a:rPr>
                        <a:t>31</a:t>
                      </a:r>
                      <a:endParaRPr lang="fr-FR" sz="1800" b="0" i="0" u="none" strike="noStrike" dirty="0">
                        <a:solidFill>
                          <a:srgbClr val="000000"/>
                        </a:solidFill>
                        <a:effectLst/>
                        <a:latin typeface="Arial Narrow" panose="020B0606020202030204" pitchFamily="34" charset="0"/>
                      </a:endParaRPr>
                    </a:p>
                  </a:txBody>
                  <a:tcPr marL="3227" marR="3227" marT="3227" marB="0" anchor="b"/>
                </a:tc>
                <a:extLst>
                  <a:ext uri="{0D108BD9-81ED-4DB2-BD59-A6C34878D82A}">
                    <a16:rowId xmlns:a16="http://schemas.microsoft.com/office/drawing/2014/main" val="10010"/>
                  </a:ext>
                </a:extLst>
              </a:tr>
              <a:tr h="284804">
                <a:tc>
                  <a:txBody>
                    <a:bodyPr/>
                    <a:lstStyle/>
                    <a:p>
                      <a:pPr algn="l" fontAlgn="b"/>
                      <a:r>
                        <a:rPr lang="fr-FR" sz="1800" u="none" strike="noStrike" dirty="0" err="1">
                          <a:effectLst/>
                          <a:latin typeface="Arial Narrow" panose="020B0606020202030204" pitchFamily="34" charset="0"/>
                        </a:rPr>
                        <a:t>Dil</a:t>
                      </a:r>
                      <a:r>
                        <a:rPr lang="fr-FR" sz="1800" u="none" strike="noStrike" dirty="0">
                          <a:effectLst/>
                          <a:latin typeface="Arial Narrow" panose="020B0606020202030204" pitchFamily="34" charset="0"/>
                        </a:rPr>
                        <a:t> VAA</a:t>
                      </a:r>
                      <a:endParaRPr lang="fr-FR" sz="1800" b="0" i="0" u="none" strike="noStrike" dirty="0">
                        <a:solidFill>
                          <a:srgbClr val="000000"/>
                        </a:solidFill>
                        <a:effectLst/>
                        <a:latin typeface="Arial Narrow" panose="020B0606020202030204" pitchFamily="34" charset="0"/>
                      </a:endParaRPr>
                    </a:p>
                  </a:txBody>
                  <a:tcPr marL="3227" marR="3227" marT="3227" marB="0" anchor="b"/>
                </a:tc>
                <a:tc>
                  <a:txBody>
                    <a:bodyPr/>
                    <a:lstStyle/>
                    <a:p>
                      <a:pPr algn="ctr" fontAlgn="b"/>
                      <a:r>
                        <a:rPr lang="fr-FR" sz="1800" b="0" i="0" u="none" strike="noStrike" dirty="0" smtClean="0">
                          <a:solidFill>
                            <a:schemeClr val="dk1"/>
                          </a:solidFill>
                          <a:effectLst/>
                          <a:latin typeface="Arial Narrow" panose="020B0606020202030204" pitchFamily="34" charset="0"/>
                        </a:rPr>
                        <a:t>31</a:t>
                      </a:r>
                      <a:endParaRPr lang="fr-FR" sz="1800" b="0" i="0" u="none" strike="noStrike" dirty="0">
                        <a:solidFill>
                          <a:srgbClr val="000000"/>
                        </a:solidFill>
                        <a:effectLst/>
                        <a:latin typeface="Arial Narrow" panose="020B0606020202030204" pitchFamily="34" charset="0"/>
                      </a:endParaRPr>
                    </a:p>
                  </a:txBody>
                  <a:tcPr marL="3227" marR="3227" marT="3227" marB="0" anchor="b"/>
                </a:tc>
                <a:extLst>
                  <a:ext uri="{0D108BD9-81ED-4DB2-BD59-A6C34878D82A}">
                    <a16:rowId xmlns:a16="http://schemas.microsoft.com/office/drawing/2014/main" val="10011"/>
                  </a:ext>
                </a:extLst>
              </a:tr>
              <a:tr h="284804">
                <a:tc>
                  <a:txBody>
                    <a:bodyPr/>
                    <a:lstStyle/>
                    <a:p>
                      <a:pPr algn="l" fontAlgn="b"/>
                      <a:r>
                        <a:rPr lang="fr-FR" sz="1800" u="none" strike="noStrike" dirty="0">
                          <a:effectLst/>
                          <a:latin typeface="Arial Narrow" panose="020B0606020202030204" pitchFamily="34" charset="0"/>
                        </a:rPr>
                        <a:t>Td</a:t>
                      </a:r>
                      <a:endParaRPr lang="fr-FR" sz="1800" b="0" i="0" u="none" strike="noStrike" dirty="0">
                        <a:solidFill>
                          <a:srgbClr val="000000"/>
                        </a:solidFill>
                        <a:effectLst/>
                        <a:latin typeface="Arial Narrow" panose="020B0606020202030204" pitchFamily="34" charset="0"/>
                      </a:endParaRPr>
                    </a:p>
                  </a:txBody>
                  <a:tcPr marL="3227" marR="3227" marT="3227" marB="0" anchor="b"/>
                </a:tc>
                <a:tc>
                  <a:txBody>
                    <a:bodyPr/>
                    <a:lstStyle/>
                    <a:p>
                      <a:pPr algn="ctr" fontAlgn="b"/>
                      <a:r>
                        <a:rPr lang="fr-FR" sz="1800" u="none" strike="noStrike" dirty="0">
                          <a:effectLst/>
                          <a:latin typeface="Arial Narrow" panose="020B0606020202030204" pitchFamily="34" charset="0"/>
                        </a:rPr>
                        <a:t>0</a:t>
                      </a:r>
                      <a:endParaRPr lang="fr-FR" sz="1800" b="0" i="0" u="none" strike="noStrike" dirty="0">
                        <a:solidFill>
                          <a:srgbClr val="000000"/>
                        </a:solidFill>
                        <a:effectLst/>
                        <a:latin typeface="Arial Narrow" panose="020B0606020202030204" pitchFamily="34" charset="0"/>
                      </a:endParaRPr>
                    </a:p>
                  </a:txBody>
                  <a:tcPr marL="3227" marR="3227" marT="3227" marB="0" anchor="b"/>
                </a:tc>
                <a:extLst>
                  <a:ext uri="{0D108BD9-81ED-4DB2-BD59-A6C34878D82A}">
                    <a16:rowId xmlns:a16="http://schemas.microsoft.com/office/drawing/2014/main" val="10012"/>
                  </a:ext>
                </a:extLst>
              </a:tr>
              <a:tr h="284804">
                <a:tc>
                  <a:txBody>
                    <a:bodyPr/>
                    <a:lstStyle/>
                    <a:p>
                      <a:pPr algn="l" fontAlgn="b"/>
                      <a:r>
                        <a:rPr lang="fr-FR" sz="1800" u="none" strike="noStrike" dirty="0">
                          <a:effectLst/>
                          <a:latin typeface="Arial Narrow" panose="020B0606020202030204" pitchFamily="34" charset="0"/>
                        </a:rPr>
                        <a:t>0,05ml</a:t>
                      </a:r>
                      <a:endParaRPr lang="fr-FR" sz="1800" b="0" i="0" u="none" strike="noStrike" dirty="0">
                        <a:solidFill>
                          <a:srgbClr val="000000"/>
                        </a:solidFill>
                        <a:effectLst/>
                        <a:latin typeface="Arial Narrow" panose="020B0606020202030204" pitchFamily="34" charset="0"/>
                      </a:endParaRPr>
                    </a:p>
                  </a:txBody>
                  <a:tcPr marL="3227" marR="3227" marT="3227" marB="0" anchor="b"/>
                </a:tc>
                <a:tc>
                  <a:txBody>
                    <a:bodyPr/>
                    <a:lstStyle/>
                    <a:p>
                      <a:pPr algn="ctr" fontAlgn="b"/>
                      <a:r>
                        <a:rPr lang="fr-FR" sz="1800" b="0" i="0" u="none" strike="noStrike" dirty="0" smtClean="0">
                          <a:solidFill>
                            <a:schemeClr val="dk1"/>
                          </a:solidFill>
                          <a:effectLst/>
                          <a:latin typeface="Arial Narrow" panose="020B0606020202030204" pitchFamily="34" charset="0"/>
                        </a:rPr>
                        <a:t>61</a:t>
                      </a:r>
                      <a:endParaRPr lang="fr-FR" sz="1800" b="0" i="0" u="none" strike="noStrike" dirty="0">
                        <a:solidFill>
                          <a:srgbClr val="000000"/>
                        </a:solidFill>
                        <a:effectLst/>
                        <a:latin typeface="Arial Narrow" panose="020B0606020202030204" pitchFamily="34" charset="0"/>
                      </a:endParaRPr>
                    </a:p>
                  </a:txBody>
                  <a:tcPr marL="3227" marR="3227" marT="3227" marB="0" anchor="b"/>
                </a:tc>
                <a:extLst>
                  <a:ext uri="{0D108BD9-81ED-4DB2-BD59-A6C34878D82A}">
                    <a16:rowId xmlns:a16="http://schemas.microsoft.com/office/drawing/2014/main" val="10013"/>
                  </a:ext>
                </a:extLst>
              </a:tr>
              <a:tr h="284804">
                <a:tc>
                  <a:txBody>
                    <a:bodyPr/>
                    <a:lstStyle/>
                    <a:p>
                      <a:pPr algn="l" fontAlgn="b"/>
                      <a:r>
                        <a:rPr lang="fr-FR" sz="1800" u="none" strike="noStrike" dirty="0">
                          <a:effectLst/>
                          <a:latin typeface="Arial Narrow" panose="020B0606020202030204" pitchFamily="34" charset="0"/>
                        </a:rPr>
                        <a:t>0,5ml</a:t>
                      </a:r>
                      <a:endParaRPr lang="fr-FR" sz="1800" b="0" i="0" u="none" strike="noStrike" dirty="0">
                        <a:solidFill>
                          <a:srgbClr val="000000"/>
                        </a:solidFill>
                        <a:effectLst/>
                        <a:latin typeface="Arial Narrow" panose="020B0606020202030204" pitchFamily="34" charset="0"/>
                      </a:endParaRPr>
                    </a:p>
                  </a:txBody>
                  <a:tcPr marL="3227" marR="3227" marT="3227" marB="0" anchor="b"/>
                </a:tc>
                <a:tc>
                  <a:txBody>
                    <a:bodyPr/>
                    <a:lstStyle/>
                    <a:p>
                      <a:pPr algn="ctr" fontAlgn="b"/>
                      <a:r>
                        <a:rPr lang="fr-FR" sz="1800" u="none" strike="noStrike" dirty="0" smtClean="0">
                          <a:effectLst/>
                          <a:latin typeface="Arial Narrow" panose="020B0606020202030204" pitchFamily="34" charset="0"/>
                        </a:rPr>
                        <a:t>0</a:t>
                      </a:r>
                      <a:endParaRPr lang="fr-FR" sz="1800" b="0" i="0" u="none" strike="noStrike" dirty="0">
                        <a:solidFill>
                          <a:srgbClr val="000000"/>
                        </a:solidFill>
                        <a:effectLst/>
                        <a:latin typeface="Arial Narrow" panose="020B0606020202030204" pitchFamily="34" charset="0"/>
                      </a:endParaRPr>
                    </a:p>
                  </a:txBody>
                  <a:tcPr marL="3227" marR="3227" marT="3227" marB="0" anchor="b"/>
                </a:tc>
                <a:extLst>
                  <a:ext uri="{0D108BD9-81ED-4DB2-BD59-A6C34878D82A}">
                    <a16:rowId xmlns:a16="http://schemas.microsoft.com/office/drawing/2014/main" val="10014"/>
                  </a:ext>
                </a:extLst>
              </a:tr>
              <a:tr h="284804">
                <a:tc>
                  <a:txBody>
                    <a:bodyPr/>
                    <a:lstStyle/>
                    <a:p>
                      <a:pPr algn="l" fontAlgn="b"/>
                      <a:r>
                        <a:rPr lang="fr-FR" sz="1800" u="none" strike="noStrike" dirty="0">
                          <a:effectLst/>
                          <a:latin typeface="Arial Narrow" panose="020B0606020202030204" pitchFamily="34" charset="0"/>
                        </a:rPr>
                        <a:t>2ml</a:t>
                      </a:r>
                      <a:endParaRPr lang="fr-FR" sz="1800" b="0" i="0" u="none" strike="noStrike" dirty="0">
                        <a:solidFill>
                          <a:srgbClr val="000000"/>
                        </a:solidFill>
                        <a:effectLst/>
                        <a:latin typeface="Arial Narrow" panose="020B0606020202030204" pitchFamily="34" charset="0"/>
                      </a:endParaRPr>
                    </a:p>
                  </a:txBody>
                  <a:tcPr marL="3227" marR="3227" marT="3227" marB="0" anchor="b"/>
                </a:tc>
                <a:tc>
                  <a:txBody>
                    <a:bodyPr/>
                    <a:lstStyle/>
                    <a:p>
                      <a:pPr algn="ctr" fontAlgn="b"/>
                      <a:r>
                        <a:rPr lang="fr-FR" sz="1800" u="none" strike="noStrike" dirty="0">
                          <a:effectLst/>
                          <a:latin typeface="Arial Narrow" panose="020B0606020202030204" pitchFamily="34" charset="0"/>
                        </a:rPr>
                        <a:t>0</a:t>
                      </a:r>
                      <a:endParaRPr lang="fr-FR" sz="1800" b="0" i="0" u="none" strike="noStrike" dirty="0">
                        <a:solidFill>
                          <a:srgbClr val="000000"/>
                        </a:solidFill>
                        <a:effectLst/>
                        <a:latin typeface="Arial Narrow" panose="020B0606020202030204" pitchFamily="34" charset="0"/>
                      </a:endParaRPr>
                    </a:p>
                  </a:txBody>
                  <a:tcPr marL="3227" marR="3227" marT="3227" marB="0" anchor="b"/>
                </a:tc>
                <a:extLst>
                  <a:ext uri="{0D108BD9-81ED-4DB2-BD59-A6C34878D82A}">
                    <a16:rowId xmlns:a16="http://schemas.microsoft.com/office/drawing/2014/main" val="10015"/>
                  </a:ext>
                </a:extLst>
              </a:tr>
              <a:tr h="284804">
                <a:tc>
                  <a:txBody>
                    <a:bodyPr/>
                    <a:lstStyle/>
                    <a:p>
                      <a:pPr algn="l" fontAlgn="b"/>
                      <a:r>
                        <a:rPr lang="fr-FR" sz="1800" u="none" strike="noStrike" dirty="0">
                          <a:effectLst/>
                          <a:latin typeface="Arial Narrow" panose="020B0606020202030204" pitchFamily="34" charset="0"/>
                        </a:rPr>
                        <a:t>5ml</a:t>
                      </a:r>
                      <a:endParaRPr lang="fr-FR" sz="1800" b="0" i="0" u="none" strike="noStrike" dirty="0">
                        <a:solidFill>
                          <a:srgbClr val="000000"/>
                        </a:solidFill>
                        <a:effectLst/>
                        <a:latin typeface="Arial Narrow" panose="020B0606020202030204" pitchFamily="34" charset="0"/>
                      </a:endParaRPr>
                    </a:p>
                  </a:txBody>
                  <a:tcPr marL="3227" marR="3227" marT="3227" marB="0" anchor="b"/>
                </a:tc>
                <a:tc>
                  <a:txBody>
                    <a:bodyPr/>
                    <a:lstStyle/>
                    <a:p>
                      <a:pPr algn="ctr" fontAlgn="b"/>
                      <a:r>
                        <a:rPr lang="fr-FR" sz="1800" u="none" strike="noStrike" dirty="0">
                          <a:effectLst/>
                          <a:latin typeface="Arial Narrow" panose="020B0606020202030204" pitchFamily="34" charset="0"/>
                        </a:rPr>
                        <a:t>0</a:t>
                      </a:r>
                      <a:endParaRPr lang="fr-FR" sz="1800" b="0" i="0" u="none" strike="noStrike" dirty="0">
                        <a:solidFill>
                          <a:srgbClr val="000000"/>
                        </a:solidFill>
                        <a:effectLst/>
                        <a:latin typeface="Arial Narrow" panose="020B0606020202030204" pitchFamily="34" charset="0"/>
                      </a:endParaRPr>
                    </a:p>
                  </a:txBody>
                  <a:tcPr marL="3227" marR="3227" marT="3227" marB="0" anchor="b"/>
                </a:tc>
                <a:extLst>
                  <a:ext uri="{0D108BD9-81ED-4DB2-BD59-A6C34878D82A}">
                    <a16:rowId xmlns:a16="http://schemas.microsoft.com/office/drawing/2014/main" val="10016"/>
                  </a:ext>
                </a:extLst>
              </a:tr>
              <a:tr h="284804">
                <a:tc>
                  <a:txBody>
                    <a:bodyPr/>
                    <a:lstStyle/>
                    <a:p>
                      <a:pPr algn="l" fontAlgn="b"/>
                      <a:r>
                        <a:rPr lang="fr-FR" sz="1800" u="none" strike="noStrike">
                          <a:effectLst/>
                          <a:latin typeface="Arial Narrow" panose="020B0606020202030204" pitchFamily="34" charset="0"/>
                        </a:rPr>
                        <a:t>6ml</a:t>
                      </a:r>
                      <a:endParaRPr lang="fr-FR" sz="1800" b="0" i="0" u="none" strike="noStrike">
                        <a:solidFill>
                          <a:srgbClr val="000000"/>
                        </a:solidFill>
                        <a:effectLst/>
                        <a:latin typeface="Arial Narrow" panose="020B0606020202030204" pitchFamily="34" charset="0"/>
                      </a:endParaRPr>
                    </a:p>
                  </a:txBody>
                  <a:tcPr marL="3227" marR="3227" marT="3227" marB="0" anchor="b"/>
                </a:tc>
                <a:tc>
                  <a:txBody>
                    <a:bodyPr/>
                    <a:lstStyle/>
                    <a:p>
                      <a:pPr algn="ctr" fontAlgn="b"/>
                      <a:r>
                        <a:rPr lang="fr-FR" sz="1800" u="none" strike="noStrike" dirty="0">
                          <a:effectLst/>
                          <a:latin typeface="Arial Narrow" panose="020B0606020202030204" pitchFamily="34" charset="0"/>
                        </a:rPr>
                        <a:t>0</a:t>
                      </a:r>
                      <a:endParaRPr lang="fr-FR" sz="1800" b="0" i="0" u="none" strike="noStrike" dirty="0">
                        <a:solidFill>
                          <a:srgbClr val="000000"/>
                        </a:solidFill>
                        <a:effectLst/>
                        <a:latin typeface="Arial Narrow" panose="020B0606020202030204" pitchFamily="34" charset="0"/>
                      </a:endParaRPr>
                    </a:p>
                  </a:txBody>
                  <a:tcPr marL="3227" marR="3227" marT="3227" marB="0" anchor="b"/>
                </a:tc>
                <a:extLst>
                  <a:ext uri="{0D108BD9-81ED-4DB2-BD59-A6C34878D82A}">
                    <a16:rowId xmlns:a16="http://schemas.microsoft.com/office/drawing/2014/main" val="10017"/>
                  </a:ext>
                </a:extLst>
              </a:tr>
              <a:tr h="284804">
                <a:tc>
                  <a:txBody>
                    <a:bodyPr/>
                    <a:lstStyle/>
                    <a:p>
                      <a:pPr algn="l" fontAlgn="b"/>
                      <a:r>
                        <a:rPr lang="fr-FR" sz="1800" u="none" strike="noStrike" dirty="0">
                          <a:effectLst/>
                          <a:latin typeface="Arial Narrow" panose="020B0606020202030204" pitchFamily="34" charset="0"/>
                        </a:rPr>
                        <a:t>BS</a:t>
                      </a:r>
                      <a:endParaRPr lang="fr-FR" sz="1800" b="0" i="0" u="none" strike="noStrike" dirty="0">
                        <a:solidFill>
                          <a:srgbClr val="000000"/>
                        </a:solidFill>
                        <a:effectLst/>
                        <a:latin typeface="Arial Narrow" panose="020B0606020202030204" pitchFamily="34" charset="0"/>
                      </a:endParaRPr>
                    </a:p>
                  </a:txBody>
                  <a:tcPr marL="3227" marR="3227" marT="3227" marB="0" anchor="b"/>
                </a:tc>
                <a:tc>
                  <a:txBody>
                    <a:bodyPr/>
                    <a:lstStyle/>
                    <a:p>
                      <a:pPr algn="ctr" fontAlgn="b"/>
                      <a:r>
                        <a:rPr lang="fr-FR" sz="1800" u="none" strike="noStrike" dirty="0" smtClean="0">
                          <a:effectLst/>
                          <a:latin typeface="Arial Narrow" panose="020B0606020202030204" pitchFamily="34" charset="0"/>
                        </a:rPr>
                        <a:t>0</a:t>
                      </a:r>
                      <a:endParaRPr lang="fr-FR" sz="1800" b="0" i="0" u="none" strike="noStrike" dirty="0">
                        <a:solidFill>
                          <a:srgbClr val="000000"/>
                        </a:solidFill>
                        <a:effectLst/>
                        <a:latin typeface="Arial Narrow" panose="020B0606020202030204" pitchFamily="34" charset="0"/>
                      </a:endParaRPr>
                    </a:p>
                  </a:txBody>
                  <a:tcPr marL="3227" marR="3227" marT="3227" marB="0" anchor="b"/>
                </a:tc>
                <a:extLst>
                  <a:ext uri="{0D108BD9-81ED-4DB2-BD59-A6C34878D82A}">
                    <a16:rowId xmlns:a16="http://schemas.microsoft.com/office/drawing/2014/main" val="10018"/>
                  </a:ext>
                </a:extLst>
              </a:tr>
            </a:tbl>
          </a:graphicData>
        </a:graphic>
      </p:graphicFrame>
      <p:sp>
        <p:nvSpPr>
          <p:cNvPr id="3" name="Espace réservé de la date 2"/>
          <p:cNvSpPr>
            <a:spLocks noGrp="1"/>
          </p:cNvSpPr>
          <p:nvPr>
            <p:ph type="dt" idx="10"/>
          </p:nvPr>
        </p:nvSpPr>
        <p:spPr/>
        <p:txBody>
          <a:bodyPr/>
          <a:lstStyle/>
          <a:p>
            <a:fld id="{DDCC485D-4E7D-457E-A069-A61FA67B8550}" type="datetime1">
              <a:rPr lang="en-US" smtClean="0"/>
              <a:t>12/16/2025</a:t>
            </a:fld>
            <a:endParaRPr lang="en-US"/>
          </a:p>
        </p:txBody>
      </p:sp>
      <p:sp>
        <p:nvSpPr>
          <p:cNvPr id="6" name="Espace réservé du pied de page 5"/>
          <p:cNvSpPr>
            <a:spLocks noGrp="1"/>
          </p:cNvSpPr>
          <p:nvPr>
            <p:ph type="ftr" idx="11"/>
          </p:nvPr>
        </p:nvSpPr>
        <p:spPr/>
        <p:txBody>
          <a:bodyPr/>
          <a:lstStyle/>
          <a:p>
            <a:r>
              <a:rPr lang="fr-FR" smtClean="0"/>
              <a:t>REVUE NATIONALE ANNUELLE PEV DPS KASAÏ</a:t>
            </a:r>
            <a:endParaRPr lang="fr-FR"/>
          </a:p>
        </p:txBody>
      </p:sp>
    </p:spTree>
    <p:extLst>
      <p:ext uri="{BB962C8B-B14F-4D97-AF65-F5344CB8AC3E}">
        <p14:creationId xmlns:p14="http://schemas.microsoft.com/office/powerpoint/2010/main" val="31425689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aabc9d920d_0_234"/>
          <p:cNvSpPr txBox="1"/>
          <p:nvPr/>
        </p:nvSpPr>
        <p:spPr>
          <a:xfrm>
            <a:off x="464456" y="261257"/>
            <a:ext cx="11269035" cy="78838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 sz="2700" dirty="0" smtClean="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rPr>
              <a:t>7. Résultats </a:t>
            </a:r>
            <a:r>
              <a:rPr lang="" sz="2700" dirty="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rPr>
              <a:t>obtenus: couverture </a:t>
            </a:r>
            <a:r>
              <a:rPr lang="" sz="2700" dirty="0" smtClean="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rPr>
              <a:t>vaccinale de 2024 à Octobre 2025</a:t>
            </a:r>
            <a:endParaRPr sz="2700" dirty="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smtClean="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endParaRPr>
          </a:p>
        </p:txBody>
      </p:sp>
      <p:sp>
        <p:nvSpPr>
          <p:cNvPr id="237" name="Google Shape;237;g3aabc9d920d_0_234"/>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8" name="Google Shape;238;g3aabc9d920d_0_234"/>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9" name="Google Shape;239;g3aabc9d920d_0_234"/>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12</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240" name="Google Shape;240;g3aabc9d920d_0_234"/>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771" y="824995"/>
            <a:ext cx="11271687" cy="5380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g3aabc9d920d_0_390"/>
          <p:cNvSpPr txBox="1"/>
          <p:nvPr/>
        </p:nvSpPr>
        <p:spPr>
          <a:xfrm>
            <a:off x="493486" y="290286"/>
            <a:ext cx="11240006" cy="75935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dirty="0" smtClean="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rPr>
              <a:t>7.1. </a:t>
            </a:r>
            <a:r>
              <a:rPr lang="en-US" sz="2700" dirty="0" err="1" smtClean="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rPr>
              <a:t>Résultats</a:t>
            </a:r>
            <a:r>
              <a:rPr lang="en-US" sz="2700" dirty="0" smtClean="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rPr>
              <a:t> </a:t>
            </a:r>
            <a:r>
              <a:rPr lang="en-US" sz="2700" dirty="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rPr>
              <a:t>obtenus: FAE </a:t>
            </a:r>
            <a:r>
              <a:rPr lang="en-US" sz="2700" dirty="0" smtClean="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rPr>
              <a:t>2024-2025 (1/2)</a:t>
            </a:r>
            <a:endParaRPr sz="2700" dirty="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Arial Narrow" panose="020B0606020202030204" pitchFamily="34" charset="0"/>
              <a:ea typeface="Times New Roman" panose="02020603050405020304"/>
              <a:cs typeface="Times New Roman" panose="02020603050405020304"/>
              <a:sym typeface="Times New Roman" panose="02020603050405020304"/>
            </a:endParaRPr>
          </a:p>
        </p:txBody>
      </p:sp>
      <p:sp>
        <p:nvSpPr>
          <p:cNvPr id="187" name="Google Shape;187;g3aabc9d920d_0_3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8" name="Google Shape;188;g3aabc9d920d_0_3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9" name="Google Shape;189;g3aabc9d920d_0_3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13</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90" name="Google Shape;190;g3aabc9d920d_0_3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191" name="Google Shape;191;g3aabc9d920d_0_390"/>
          <p:cNvGraphicFramePr/>
          <p:nvPr>
            <p:extLst>
              <p:ext uri="{D42A27DB-BD31-4B8C-83A1-F6EECF244321}">
                <p14:modId xmlns:p14="http://schemas.microsoft.com/office/powerpoint/2010/main" val="243211527"/>
              </p:ext>
            </p:extLst>
          </p:nvPr>
        </p:nvGraphicFramePr>
        <p:xfrm>
          <a:off x="435432" y="1189861"/>
          <a:ext cx="11298168" cy="5051261"/>
        </p:xfrm>
        <a:graphic>
          <a:graphicData uri="http://schemas.openxmlformats.org/drawingml/2006/table">
            <a:tbl>
              <a:tblPr>
                <a:tableStyleId>{2D5ABB26-0587-4C30-8999-92F81FD0307C}</a:tableStyleId>
              </a:tblPr>
              <a:tblGrid>
                <a:gridCol w="2009588">
                  <a:extLst>
                    <a:ext uri="{9D8B030D-6E8A-4147-A177-3AD203B41FA5}">
                      <a16:colId xmlns:a16="http://schemas.microsoft.com/office/drawing/2014/main" val="20000"/>
                    </a:ext>
                  </a:extLst>
                </a:gridCol>
                <a:gridCol w="814954">
                  <a:extLst>
                    <a:ext uri="{9D8B030D-6E8A-4147-A177-3AD203B41FA5}">
                      <a16:colId xmlns:a16="http://schemas.microsoft.com/office/drawing/2014/main" val="20001"/>
                    </a:ext>
                  </a:extLst>
                </a:gridCol>
                <a:gridCol w="1412271">
                  <a:extLst>
                    <a:ext uri="{9D8B030D-6E8A-4147-A177-3AD203B41FA5}">
                      <a16:colId xmlns:a16="http://schemas.microsoft.com/office/drawing/2014/main" val="20002"/>
                    </a:ext>
                  </a:extLst>
                </a:gridCol>
                <a:gridCol w="1412271">
                  <a:extLst>
                    <a:ext uri="{9D8B030D-6E8A-4147-A177-3AD203B41FA5}">
                      <a16:colId xmlns:a16="http://schemas.microsoft.com/office/drawing/2014/main" val="20003"/>
                    </a:ext>
                  </a:extLst>
                </a:gridCol>
                <a:gridCol w="1412271">
                  <a:extLst>
                    <a:ext uri="{9D8B030D-6E8A-4147-A177-3AD203B41FA5}">
                      <a16:colId xmlns:a16="http://schemas.microsoft.com/office/drawing/2014/main" val="20004"/>
                    </a:ext>
                  </a:extLst>
                </a:gridCol>
                <a:gridCol w="1412271">
                  <a:extLst>
                    <a:ext uri="{9D8B030D-6E8A-4147-A177-3AD203B41FA5}">
                      <a16:colId xmlns:a16="http://schemas.microsoft.com/office/drawing/2014/main" val="20005"/>
                    </a:ext>
                  </a:extLst>
                </a:gridCol>
                <a:gridCol w="1412271">
                  <a:extLst>
                    <a:ext uri="{9D8B030D-6E8A-4147-A177-3AD203B41FA5}">
                      <a16:colId xmlns:a16="http://schemas.microsoft.com/office/drawing/2014/main" val="20006"/>
                    </a:ext>
                  </a:extLst>
                </a:gridCol>
                <a:gridCol w="1412271">
                  <a:extLst>
                    <a:ext uri="{9D8B030D-6E8A-4147-A177-3AD203B41FA5}">
                      <a16:colId xmlns:a16="http://schemas.microsoft.com/office/drawing/2014/main" val="20007"/>
                    </a:ext>
                  </a:extLst>
                </a:gridCol>
              </a:tblGrid>
              <a:tr h="486316">
                <a:tc rowSpan="2">
                  <a:txBody>
                    <a:bodyPr/>
                    <a:lstStyle/>
                    <a:p>
                      <a:pPr marL="0" lvl="0" indent="0" algn="l" rtl="0">
                        <a:spcBef>
                          <a:spcPts val="0"/>
                        </a:spcBef>
                        <a:spcAft>
                          <a:spcPts val="0"/>
                        </a:spcAft>
                        <a:buNone/>
                      </a:pPr>
                      <a:r>
                        <a:rPr lang="en-US" sz="1400" b="1" dirty="0">
                          <a:latin typeface="Arial Narrow" panose="020B0606020202030204" pitchFamily="34" charset="0"/>
                          <a:sym typeface="Times New Roman" panose="02020603050405020304"/>
                        </a:rPr>
                        <a:t>Intervention</a:t>
                      </a:r>
                      <a:endParaRPr sz="1400" b="1"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nchor="ctr">
                    <a:solidFill>
                      <a:schemeClr val="accent5">
                        <a:lumMod val="40000"/>
                        <a:lumOff val="60000"/>
                      </a:schemeClr>
                    </a:solidFill>
                  </a:tcPr>
                </a:tc>
                <a:tc rowSpan="2">
                  <a:txBody>
                    <a:bodyPr/>
                    <a:lstStyle/>
                    <a:p>
                      <a:pPr marL="0" lvl="0" indent="0" algn="l" rtl="0">
                        <a:spcBef>
                          <a:spcPts val="0"/>
                        </a:spcBef>
                        <a:spcAft>
                          <a:spcPts val="0"/>
                        </a:spcAft>
                        <a:buNone/>
                      </a:pPr>
                      <a:r>
                        <a:rPr lang="en-US" sz="1400" b="1">
                          <a:latin typeface="Arial Narrow" panose="020B0606020202030204" pitchFamily="34" charset="0"/>
                          <a:sym typeface="Times New Roman" panose="02020603050405020304"/>
                        </a:rPr>
                        <a:t>Nombre ZS couvertes</a:t>
                      </a:r>
                      <a:endParaRPr sz="1400" b="1">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nchor="ctr">
                    <a:solidFill>
                      <a:schemeClr val="accent5">
                        <a:lumMod val="40000"/>
                        <a:lumOff val="60000"/>
                      </a:schemeClr>
                    </a:solidFill>
                  </a:tcPr>
                </a:tc>
                <a:tc gridSpan="2">
                  <a:txBody>
                    <a:bodyPr/>
                    <a:lstStyle/>
                    <a:p>
                      <a:pPr marL="0" marR="0" lvl="0" indent="0" algn="ctr" rtl="0">
                        <a:spcBef>
                          <a:spcPts val="0"/>
                        </a:spcBef>
                        <a:spcAft>
                          <a:spcPts val="0"/>
                        </a:spcAft>
                        <a:buClr>
                          <a:schemeClr val="dk1"/>
                        </a:buClr>
                        <a:buSzPts val="1800"/>
                        <a:buFont typeface="Arial" panose="020B0604020202020204"/>
                        <a:buNone/>
                      </a:pPr>
                      <a:r>
                        <a:rPr lang="en-US" sz="1400" b="1" u="none" strike="noStrike" cap="none" dirty="0" err="1">
                          <a:latin typeface="Arial Narrow" panose="020B0606020202030204" pitchFamily="34" charset="0"/>
                          <a:sym typeface="Times New Roman" panose="02020603050405020304"/>
                        </a:rPr>
                        <a:t>Nombre</a:t>
                      </a:r>
                      <a:r>
                        <a:rPr lang="en-US" sz="1400" b="1" u="none" strike="noStrike" cap="none" dirty="0">
                          <a:latin typeface="Arial Narrow" panose="020B0606020202030204" pitchFamily="34" charset="0"/>
                          <a:sym typeface="Times New Roman" panose="02020603050405020304"/>
                        </a:rPr>
                        <a:t> enfant </a:t>
                      </a:r>
                      <a:r>
                        <a:rPr lang="en-US" sz="1400" b="1" u="none" strike="noStrike" cap="none" dirty="0" err="1">
                          <a:latin typeface="Arial Narrow" panose="020B0606020202030204" pitchFamily="34" charset="0"/>
                          <a:sym typeface="Times New Roman" panose="02020603050405020304"/>
                        </a:rPr>
                        <a:t>identifié</a:t>
                      </a:r>
                      <a:endParaRPr sz="1400" b="1" u="none" strike="noStrike" cap="none"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50" marR="91450" marT="45725" marB="45725" anchor="ctr">
                    <a:solidFill>
                      <a:schemeClr val="accent5">
                        <a:lumMod val="40000"/>
                        <a:lumOff val="60000"/>
                      </a:schemeClr>
                    </a:solidFill>
                  </a:tcPr>
                </a:tc>
                <a:tc hMerge="1">
                  <a:txBody>
                    <a:bodyPr/>
                    <a:lstStyle/>
                    <a:p>
                      <a:endParaRPr lang="fr-FR"/>
                    </a:p>
                  </a:txBody>
                  <a:tcPr/>
                </a:tc>
                <a:tc gridSpan="2">
                  <a:txBody>
                    <a:bodyPr/>
                    <a:lstStyle/>
                    <a:p>
                      <a:pPr marL="0" marR="0" lvl="0" indent="0" algn="ctr" rtl="0">
                        <a:spcBef>
                          <a:spcPts val="0"/>
                        </a:spcBef>
                        <a:spcAft>
                          <a:spcPts val="0"/>
                        </a:spcAft>
                        <a:buClr>
                          <a:schemeClr val="dk1"/>
                        </a:buClr>
                        <a:buSzPts val="1800"/>
                        <a:buFont typeface="Arial" panose="020B0604020202020204"/>
                        <a:buNone/>
                      </a:pPr>
                      <a:r>
                        <a:rPr lang="en-US" sz="1400" b="1" u="none" strike="noStrike" cap="none" dirty="0" err="1">
                          <a:latin typeface="Arial Narrow" panose="020B0606020202030204" pitchFamily="34" charset="0"/>
                          <a:sym typeface="Times New Roman" panose="02020603050405020304"/>
                        </a:rPr>
                        <a:t>Nombre</a:t>
                      </a:r>
                      <a:r>
                        <a:rPr lang="en-US" sz="1400" b="1" u="none" strike="noStrike" cap="none" dirty="0">
                          <a:latin typeface="Arial Narrow" panose="020B0606020202030204" pitchFamily="34" charset="0"/>
                          <a:sym typeface="Times New Roman" panose="02020603050405020304"/>
                        </a:rPr>
                        <a:t> Enfant </a:t>
                      </a:r>
                      <a:r>
                        <a:rPr lang="en-US" sz="1400" b="1" u="none" strike="noStrike" cap="none" dirty="0" err="1">
                          <a:latin typeface="Arial Narrow" panose="020B0606020202030204" pitchFamily="34" charset="0"/>
                          <a:sym typeface="Times New Roman" panose="02020603050405020304"/>
                        </a:rPr>
                        <a:t>récupéré</a:t>
                      </a:r>
                      <a:endParaRPr sz="1400" b="1" u="none" strike="noStrike" cap="none"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50" marR="91450" marT="45725" marB="45725" anchor="ctr">
                    <a:solidFill>
                      <a:schemeClr val="accent5">
                        <a:lumMod val="40000"/>
                        <a:lumOff val="60000"/>
                      </a:schemeClr>
                    </a:solidFill>
                  </a:tcPr>
                </a:tc>
                <a:tc hMerge="1">
                  <a:txBody>
                    <a:bodyPr/>
                    <a:lstStyle/>
                    <a:p>
                      <a:endParaRPr lang="fr-FR"/>
                    </a:p>
                  </a:txBody>
                  <a:tcPr/>
                </a:tc>
                <a:tc gridSpan="2">
                  <a:txBody>
                    <a:bodyPr/>
                    <a:lstStyle/>
                    <a:p>
                      <a:pPr marL="0" marR="0" lvl="0" indent="0" algn="ctr" rtl="0">
                        <a:spcBef>
                          <a:spcPts val="0"/>
                        </a:spcBef>
                        <a:spcAft>
                          <a:spcPts val="0"/>
                        </a:spcAft>
                        <a:buClr>
                          <a:schemeClr val="dk1"/>
                        </a:buClr>
                        <a:buSzPts val="1800"/>
                        <a:buFont typeface="Arial" panose="020B0604020202020204"/>
                        <a:buNone/>
                      </a:pPr>
                      <a:r>
                        <a:rPr lang="en-US" sz="1400" b="1" u="none" strike="noStrike" cap="none" dirty="0">
                          <a:latin typeface="Arial Narrow" panose="020B0606020202030204" pitchFamily="34" charset="0"/>
                          <a:sym typeface="Times New Roman" panose="02020603050405020304"/>
                        </a:rPr>
                        <a:t>Contribution dans la CV</a:t>
                      </a:r>
                      <a:endParaRPr sz="1400" b="1" u="none" strike="noStrike" cap="none"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50" marR="91450" marT="45725" marB="45725" anchor="ctr">
                    <a:solidFill>
                      <a:schemeClr val="accent5">
                        <a:lumMod val="40000"/>
                        <a:lumOff val="60000"/>
                      </a:schemeClr>
                    </a:solidFill>
                  </a:tcPr>
                </a:tc>
                <a:tc hMerge="1">
                  <a:txBody>
                    <a:bodyPr/>
                    <a:lstStyle/>
                    <a:p>
                      <a:endParaRPr lang="fr-FR"/>
                    </a:p>
                  </a:txBody>
                  <a:tcPr/>
                </a:tc>
                <a:extLst>
                  <a:ext uri="{0D108BD9-81ED-4DB2-BD59-A6C34878D82A}">
                    <a16:rowId xmlns:a16="http://schemas.microsoft.com/office/drawing/2014/main" val="10000"/>
                  </a:ext>
                </a:extLst>
              </a:tr>
              <a:tr h="810428">
                <a:tc vMerge="1">
                  <a:txBody>
                    <a:bodyPr/>
                    <a:lstStyle/>
                    <a:p>
                      <a:endParaRPr lang="fr-FR"/>
                    </a:p>
                  </a:txBody>
                  <a:tcPr/>
                </a:tc>
                <a:tc vMerge="1">
                  <a:txBody>
                    <a:bodyPr/>
                    <a:lstStyle/>
                    <a:p>
                      <a:endParaRPr lang="fr-FR"/>
                    </a:p>
                  </a:txBody>
                  <a:tcPr/>
                </a:tc>
                <a:tc>
                  <a:txBody>
                    <a:bodyPr/>
                    <a:lstStyle/>
                    <a:p>
                      <a:pPr marL="0" marR="0" lvl="0" indent="0" algn="l" rtl="0">
                        <a:spcBef>
                          <a:spcPts val="0"/>
                        </a:spcBef>
                        <a:spcAft>
                          <a:spcPts val="0"/>
                        </a:spcAft>
                        <a:buClr>
                          <a:schemeClr val="dk1"/>
                        </a:buClr>
                        <a:buSzPts val="1800"/>
                        <a:buFont typeface="Arial" panose="020B0604020202020204"/>
                        <a:buNone/>
                      </a:pPr>
                      <a:r>
                        <a:rPr lang="en-US" sz="1400" b="1" u="none" strike="noStrike" cap="none">
                          <a:latin typeface="Arial Narrow" panose="020B0606020202030204" pitchFamily="34" charset="0"/>
                          <a:sym typeface="Times New Roman" panose="02020603050405020304"/>
                        </a:rPr>
                        <a:t>ZD</a:t>
                      </a:r>
                      <a:endParaRPr sz="1400" b="1" u="none" strike="noStrike" cap="none">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50" marR="91450" marT="45725" marB="45725" anchor="ctr">
                    <a:solidFill>
                      <a:schemeClr val="accent5">
                        <a:lumMod val="40000"/>
                        <a:lumOff val="60000"/>
                      </a:schemeClr>
                    </a:solidFill>
                  </a:tcPr>
                </a:tc>
                <a:tc>
                  <a:txBody>
                    <a:bodyPr/>
                    <a:lstStyle/>
                    <a:p>
                      <a:pPr marL="0" marR="0" lvl="0" indent="0" algn="l" rtl="0">
                        <a:spcBef>
                          <a:spcPts val="0"/>
                        </a:spcBef>
                        <a:spcAft>
                          <a:spcPts val="0"/>
                        </a:spcAft>
                        <a:buClr>
                          <a:schemeClr val="dk1"/>
                        </a:buClr>
                        <a:buSzPts val="1800"/>
                        <a:buFont typeface="Arial" panose="020B0604020202020204"/>
                        <a:buNone/>
                      </a:pPr>
                      <a:r>
                        <a:rPr lang="en-US" sz="1400" b="1" u="none" strike="noStrike" cap="none">
                          <a:latin typeface="Arial Narrow" panose="020B0606020202030204" pitchFamily="34" charset="0"/>
                          <a:sym typeface="Times New Roman" panose="02020603050405020304"/>
                        </a:rPr>
                        <a:t>SV</a:t>
                      </a:r>
                      <a:endParaRPr sz="1400" b="1" u="none" strike="noStrike" cap="none">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50" marR="91450" marT="45725" marB="45725" anchor="ctr">
                    <a:solidFill>
                      <a:schemeClr val="accent5">
                        <a:lumMod val="40000"/>
                        <a:lumOff val="60000"/>
                      </a:schemeClr>
                    </a:solidFill>
                  </a:tcPr>
                </a:tc>
                <a:tc>
                  <a:txBody>
                    <a:bodyPr/>
                    <a:lstStyle/>
                    <a:p>
                      <a:pPr marL="0" marR="0" lvl="0" indent="0" algn="l" rtl="0">
                        <a:spcBef>
                          <a:spcPts val="0"/>
                        </a:spcBef>
                        <a:spcAft>
                          <a:spcPts val="0"/>
                        </a:spcAft>
                        <a:buClr>
                          <a:schemeClr val="dk1"/>
                        </a:buClr>
                        <a:buSzPts val="1800"/>
                        <a:buFont typeface="Arial" panose="020B0604020202020204"/>
                        <a:buNone/>
                      </a:pPr>
                      <a:r>
                        <a:rPr lang="en-US" sz="1400" b="1" u="none" strike="noStrike" cap="none">
                          <a:latin typeface="Arial Narrow" panose="020B0606020202030204" pitchFamily="34" charset="0"/>
                          <a:sym typeface="Times New Roman" panose="02020603050405020304"/>
                        </a:rPr>
                        <a:t>ZD</a:t>
                      </a:r>
                      <a:endParaRPr sz="1400" b="1" u="none" strike="noStrike" cap="none">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50" marR="91450" marT="45725" marB="45725" anchor="ctr">
                    <a:solidFill>
                      <a:schemeClr val="accent5">
                        <a:lumMod val="40000"/>
                        <a:lumOff val="60000"/>
                      </a:schemeClr>
                    </a:solidFill>
                  </a:tcPr>
                </a:tc>
                <a:tc>
                  <a:txBody>
                    <a:bodyPr/>
                    <a:lstStyle/>
                    <a:p>
                      <a:pPr marL="0" marR="0" lvl="0" indent="0" algn="l" rtl="0">
                        <a:spcBef>
                          <a:spcPts val="0"/>
                        </a:spcBef>
                        <a:spcAft>
                          <a:spcPts val="0"/>
                        </a:spcAft>
                        <a:buClr>
                          <a:schemeClr val="dk1"/>
                        </a:buClr>
                        <a:buSzPts val="1800"/>
                        <a:buFont typeface="Arial" panose="020B0604020202020204"/>
                        <a:buNone/>
                      </a:pPr>
                      <a:r>
                        <a:rPr lang="en-US" sz="1400" b="1" u="none" strike="noStrike" cap="none" dirty="0">
                          <a:latin typeface="Arial Narrow" panose="020B0606020202030204" pitchFamily="34" charset="0"/>
                          <a:sym typeface="Times New Roman" panose="02020603050405020304"/>
                        </a:rPr>
                        <a:t>SV</a:t>
                      </a:r>
                      <a:endParaRPr sz="1400" b="1" u="none" strike="noStrike" cap="none"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50" marR="91450" marT="45725" marB="45725" anchor="ctr">
                    <a:solidFill>
                      <a:schemeClr val="accent5">
                        <a:lumMod val="40000"/>
                        <a:lumOff val="60000"/>
                      </a:schemeClr>
                    </a:solidFill>
                  </a:tcPr>
                </a:tc>
                <a:tc>
                  <a:txBody>
                    <a:bodyPr/>
                    <a:lstStyle/>
                    <a:p>
                      <a:pPr marL="0" marR="0" lvl="0" indent="0" algn="l" rtl="0">
                        <a:spcBef>
                          <a:spcPts val="0"/>
                        </a:spcBef>
                        <a:spcAft>
                          <a:spcPts val="0"/>
                        </a:spcAft>
                        <a:buClr>
                          <a:schemeClr val="dk1"/>
                        </a:buClr>
                        <a:buSzPts val="1800"/>
                        <a:buFont typeface="Arial" panose="020B0604020202020204"/>
                        <a:buNone/>
                      </a:pPr>
                      <a:r>
                        <a:rPr lang="en-US" sz="1400" b="1" u="none" strike="noStrike" cap="none">
                          <a:latin typeface="Arial Narrow" panose="020B0606020202030204" pitchFamily="34" charset="0"/>
                          <a:sym typeface="Times New Roman" panose="02020603050405020304"/>
                        </a:rPr>
                        <a:t>DTC1</a:t>
                      </a:r>
                      <a:endParaRPr sz="1400" b="1" u="none" strike="noStrike" cap="none">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50" marR="91450" marT="45725" marB="45725" anchor="ctr">
                    <a:solidFill>
                      <a:schemeClr val="accent5">
                        <a:lumMod val="40000"/>
                        <a:lumOff val="60000"/>
                      </a:schemeClr>
                    </a:solidFill>
                  </a:tcPr>
                </a:tc>
                <a:tc>
                  <a:txBody>
                    <a:bodyPr/>
                    <a:lstStyle/>
                    <a:p>
                      <a:pPr marL="0" marR="0" lvl="0" indent="0" algn="l" rtl="0">
                        <a:spcBef>
                          <a:spcPts val="0"/>
                        </a:spcBef>
                        <a:spcAft>
                          <a:spcPts val="0"/>
                        </a:spcAft>
                        <a:buClr>
                          <a:schemeClr val="dk1"/>
                        </a:buClr>
                        <a:buSzPts val="1800"/>
                        <a:buFont typeface="Arial" panose="020B0604020202020204"/>
                        <a:buNone/>
                      </a:pPr>
                      <a:r>
                        <a:rPr lang="en-US" sz="1400" b="1" u="none" strike="noStrike" cap="none" dirty="0">
                          <a:latin typeface="Arial Narrow" panose="020B0606020202030204" pitchFamily="34" charset="0"/>
                          <a:sym typeface="Times New Roman" panose="02020603050405020304"/>
                        </a:rPr>
                        <a:t>DTC3</a:t>
                      </a:r>
                      <a:endParaRPr sz="1400" b="1" u="none" strike="noStrike" cap="none"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50" marR="91450" marT="45725" marB="45725" anchor="ctr">
                    <a:solidFill>
                      <a:schemeClr val="accent5">
                        <a:lumMod val="40000"/>
                        <a:lumOff val="60000"/>
                      </a:schemeClr>
                    </a:solidFill>
                  </a:tcPr>
                </a:tc>
                <a:extLst>
                  <a:ext uri="{0D108BD9-81ED-4DB2-BD59-A6C34878D82A}">
                    <a16:rowId xmlns:a16="http://schemas.microsoft.com/office/drawing/2014/main" val="10001"/>
                  </a:ext>
                </a:extLst>
              </a:tr>
              <a:tr h="487547">
                <a:tc>
                  <a:txBody>
                    <a:bodyPr/>
                    <a:lstStyle/>
                    <a:p>
                      <a:pPr algn="l" fontAlgn="b"/>
                      <a:r>
                        <a:rPr lang="fr-FR" sz="1400" u="none" strike="noStrike" dirty="0">
                          <a:effectLst/>
                          <a:latin typeface="Arial Narrow" panose="020B0606020202030204" pitchFamily="34" charset="0"/>
                        </a:rPr>
                        <a:t>Fixe/horaire adapté</a:t>
                      </a:r>
                      <a:endParaRPr lang="fr-FR" sz="1400" b="0" i="0" u="none" strike="noStrike" dirty="0">
                        <a:solidFill>
                          <a:schemeClr val="tx1"/>
                        </a:solidFill>
                        <a:effectLst/>
                        <a:latin typeface="Arial Narrow" panose="020B0606020202030204" pitchFamily="34" charset="0"/>
                      </a:endParaRPr>
                    </a:p>
                  </a:txBody>
                  <a:tcPr marL="6350" marR="6350" marT="6350" marB="0" anchor="b"/>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11</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30503</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47396</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26031</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31604</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marR="0" lvl="0" indent="0" algn="ctr" rtl="0" fontAlgn="b">
                        <a:lnSpc>
                          <a:spcPct val="100000"/>
                        </a:lnSpc>
                        <a:spcBef>
                          <a:spcPts val="0"/>
                        </a:spcBef>
                        <a:spcAft>
                          <a:spcPts val="0"/>
                        </a:spcAft>
                        <a:buClr>
                          <a:srgbClr val="000000"/>
                        </a:buClr>
                        <a:buFont typeface="Arial" panose="020B0604020202020204"/>
                        <a:buNone/>
                      </a:pPr>
                      <a:r>
                        <a:rPr lang="fr-FR" sz="1400" u="none" strike="noStrike" cap="none" dirty="0">
                          <a:latin typeface="Arial Narrow" panose="020B0606020202030204" pitchFamily="34" charset="0"/>
                          <a:sym typeface="Arial" panose="020B0604020202020204"/>
                        </a:rPr>
                        <a:t>85,3</a:t>
                      </a:r>
                      <a:endParaRPr lang="fr-FR" sz="1400" b="0" i="0" u="none" strike="noStrike" cap="none" dirty="0">
                        <a:solidFill>
                          <a:srgbClr val="000000"/>
                        </a:solidFill>
                        <a:latin typeface="Arial Narrow" panose="020B0606020202030204" pitchFamily="34" charset="0"/>
                        <a:ea typeface="Times New Roman" panose="02020603050405020304"/>
                        <a:cs typeface="Times New Roman" panose="02020603050405020304"/>
                        <a:sym typeface="Arial" panose="020B0604020202020204"/>
                      </a:endParaRPr>
                    </a:p>
                  </a:txBody>
                  <a:tcPr marL="6350" marR="6350" marT="6350" marB="0" anchor="b"/>
                </a:tc>
                <a:tc>
                  <a:txBody>
                    <a:bodyPr/>
                    <a:lstStyle/>
                    <a:p>
                      <a:pPr marL="0" marR="0" lvl="0" indent="0" algn="ctr" rtl="0" fontAlgn="b">
                        <a:lnSpc>
                          <a:spcPct val="100000"/>
                        </a:lnSpc>
                        <a:spcBef>
                          <a:spcPts val="0"/>
                        </a:spcBef>
                        <a:spcAft>
                          <a:spcPts val="0"/>
                        </a:spcAft>
                        <a:buClr>
                          <a:srgbClr val="000000"/>
                        </a:buClr>
                        <a:buFont typeface="Arial" panose="020B0604020202020204"/>
                        <a:buNone/>
                      </a:pPr>
                      <a:r>
                        <a:rPr lang="fr-FR" sz="1400" u="none" strike="noStrike" cap="none">
                          <a:latin typeface="Arial Narrow" panose="020B0606020202030204" pitchFamily="34" charset="0"/>
                          <a:sym typeface="Arial" panose="020B0604020202020204"/>
                        </a:rPr>
                        <a:t>66,7</a:t>
                      </a:r>
                      <a:endParaRPr lang="fr-FR" sz="1400" b="0" i="0" u="none" strike="noStrike" cap="none">
                        <a:solidFill>
                          <a:srgbClr val="000000"/>
                        </a:solidFill>
                        <a:latin typeface="Arial Narrow" panose="020B0606020202030204" pitchFamily="34" charset="0"/>
                        <a:ea typeface="Times New Roman" panose="02020603050405020304"/>
                        <a:cs typeface="Times New Roman" panose="02020603050405020304"/>
                        <a:sym typeface="Arial" panose="020B0604020202020204"/>
                      </a:endParaRPr>
                    </a:p>
                  </a:txBody>
                  <a:tcPr marL="6350" marR="6350" marT="6350" marB="0" anchor="b"/>
                </a:tc>
                <a:extLst>
                  <a:ext uri="{0D108BD9-81ED-4DB2-BD59-A6C34878D82A}">
                    <a16:rowId xmlns:a16="http://schemas.microsoft.com/office/drawing/2014/main" val="10002"/>
                  </a:ext>
                </a:extLst>
              </a:tr>
              <a:tr h="511807">
                <a:tc>
                  <a:txBody>
                    <a:bodyPr/>
                    <a:lstStyle/>
                    <a:p>
                      <a:pPr algn="l" fontAlgn="b"/>
                      <a:r>
                        <a:rPr lang="fr-FR" sz="1400" u="none" strike="noStrike" dirty="0">
                          <a:effectLst/>
                          <a:latin typeface="Arial Narrow" panose="020B0606020202030204" pitchFamily="34" charset="0"/>
                        </a:rPr>
                        <a:t>Avancée/cartographie des ZS</a:t>
                      </a:r>
                      <a:endParaRPr lang="fr-FR" sz="1400" b="0" i="0" u="none" strike="noStrike" dirty="0">
                        <a:solidFill>
                          <a:schemeClr val="tx1"/>
                        </a:solidFill>
                        <a:effectLst/>
                        <a:latin typeface="Arial Narrow" panose="020B0606020202030204" pitchFamily="34" charset="0"/>
                      </a:endParaRPr>
                    </a:p>
                  </a:txBody>
                  <a:tcPr marL="6350" marR="6350" marT="6350" marB="0" anchor="b"/>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11</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22877</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35547</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19523</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23703</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marR="0" lvl="0" indent="0" algn="ctr" rtl="0" fontAlgn="b">
                        <a:lnSpc>
                          <a:spcPct val="100000"/>
                        </a:lnSpc>
                        <a:spcBef>
                          <a:spcPts val="0"/>
                        </a:spcBef>
                        <a:spcAft>
                          <a:spcPts val="0"/>
                        </a:spcAft>
                        <a:buClr>
                          <a:srgbClr val="000000"/>
                        </a:buClr>
                        <a:buFont typeface="Arial" panose="020B0604020202020204"/>
                        <a:buNone/>
                      </a:pPr>
                      <a:r>
                        <a:rPr lang="fr-FR" sz="1400" u="none" strike="noStrike" cap="none" dirty="0">
                          <a:latin typeface="Arial Narrow" panose="020B0606020202030204" pitchFamily="34" charset="0"/>
                          <a:sym typeface="Arial" panose="020B0604020202020204"/>
                        </a:rPr>
                        <a:t>85,3</a:t>
                      </a:r>
                      <a:endParaRPr lang="fr-FR" sz="1400" b="0" i="0" u="none" strike="noStrike" cap="none" dirty="0">
                        <a:solidFill>
                          <a:srgbClr val="000000"/>
                        </a:solidFill>
                        <a:latin typeface="Arial Narrow" panose="020B0606020202030204" pitchFamily="34" charset="0"/>
                        <a:ea typeface="Times New Roman" panose="02020603050405020304"/>
                        <a:cs typeface="Times New Roman" panose="02020603050405020304"/>
                        <a:sym typeface="Arial" panose="020B0604020202020204"/>
                      </a:endParaRPr>
                    </a:p>
                  </a:txBody>
                  <a:tcPr marL="6350" marR="6350" marT="6350" marB="0" anchor="b"/>
                </a:tc>
                <a:tc>
                  <a:txBody>
                    <a:bodyPr/>
                    <a:lstStyle/>
                    <a:p>
                      <a:pPr marL="0" marR="0" lvl="0" indent="0" algn="ctr" rtl="0" fontAlgn="b">
                        <a:lnSpc>
                          <a:spcPct val="100000"/>
                        </a:lnSpc>
                        <a:spcBef>
                          <a:spcPts val="0"/>
                        </a:spcBef>
                        <a:spcAft>
                          <a:spcPts val="0"/>
                        </a:spcAft>
                        <a:buClr>
                          <a:srgbClr val="000000"/>
                        </a:buClr>
                        <a:buFont typeface="Arial" panose="020B0604020202020204"/>
                        <a:buNone/>
                      </a:pPr>
                      <a:r>
                        <a:rPr lang="fr-FR" sz="1400" u="none" strike="noStrike" cap="none">
                          <a:latin typeface="Arial Narrow" panose="020B0606020202030204" pitchFamily="34" charset="0"/>
                          <a:sym typeface="Arial" panose="020B0604020202020204"/>
                        </a:rPr>
                        <a:t>66,7</a:t>
                      </a:r>
                      <a:endParaRPr lang="fr-FR" sz="1400" b="0" i="0" u="none" strike="noStrike" cap="none">
                        <a:solidFill>
                          <a:srgbClr val="000000"/>
                        </a:solidFill>
                        <a:latin typeface="Arial Narrow" panose="020B0606020202030204" pitchFamily="34" charset="0"/>
                        <a:ea typeface="Times New Roman" panose="02020603050405020304"/>
                        <a:cs typeface="Times New Roman" panose="02020603050405020304"/>
                        <a:sym typeface="Arial" panose="020B0604020202020204"/>
                      </a:endParaRPr>
                    </a:p>
                  </a:txBody>
                  <a:tcPr marL="6350" marR="6350" marT="6350" marB="0" anchor="b"/>
                </a:tc>
                <a:extLst>
                  <a:ext uri="{0D108BD9-81ED-4DB2-BD59-A6C34878D82A}">
                    <a16:rowId xmlns:a16="http://schemas.microsoft.com/office/drawing/2014/main" val="10003"/>
                  </a:ext>
                </a:extLst>
              </a:tr>
              <a:tr h="487547">
                <a:tc>
                  <a:txBody>
                    <a:bodyPr/>
                    <a:lstStyle/>
                    <a:p>
                      <a:pPr algn="l" fontAlgn="b"/>
                      <a:r>
                        <a:rPr lang="fr-FR" sz="1400" u="none" strike="noStrike" dirty="0">
                          <a:effectLst/>
                          <a:latin typeface="Arial Narrow" panose="020B0606020202030204" pitchFamily="34" charset="0"/>
                        </a:rPr>
                        <a:t>Porte à porte</a:t>
                      </a:r>
                      <a:endParaRPr lang="fr-FR" sz="1400" b="0" i="0" u="none" strike="noStrike" dirty="0">
                        <a:solidFill>
                          <a:schemeClr val="tx1"/>
                        </a:solidFill>
                        <a:effectLst/>
                        <a:latin typeface="Arial Narrow" panose="020B0606020202030204" pitchFamily="34" charset="0"/>
                      </a:endParaRPr>
                    </a:p>
                  </a:txBody>
                  <a:tcPr marL="6350" marR="6350" marT="6350" marB="0" anchor="b"/>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11</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15252</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23698</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13015</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15802</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marR="0" lvl="0" indent="0" algn="ctr" rtl="0" fontAlgn="b">
                        <a:lnSpc>
                          <a:spcPct val="100000"/>
                        </a:lnSpc>
                        <a:spcBef>
                          <a:spcPts val="0"/>
                        </a:spcBef>
                        <a:spcAft>
                          <a:spcPts val="0"/>
                        </a:spcAft>
                        <a:buClr>
                          <a:srgbClr val="000000"/>
                        </a:buClr>
                        <a:buFont typeface="Arial" panose="020B0604020202020204"/>
                        <a:buNone/>
                      </a:pPr>
                      <a:r>
                        <a:rPr lang="fr-FR" sz="1400" u="none" strike="noStrike" cap="none" dirty="0">
                          <a:latin typeface="Arial Narrow" panose="020B0606020202030204" pitchFamily="34" charset="0"/>
                          <a:sym typeface="Arial" panose="020B0604020202020204"/>
                        </a:rPr>
                        <a:t>85,3</a:t>
                      </a:r>
                      <a:endParaRPr lang="fr-FR" sz="1400" b="0" i="0" u="none" strike="noStrike" cap="none" dirty="0">
                        <a:solidFill>
                          <a:srgbClr val="000000"/>
                        </a:solidFill>
                        <a:latin typeface="Arial Narrow" panose="020B0606020202030204" pitchFamily="34" charset="0"/>
                        <a:ea typeface="Times New Roman" panose="02020603050405020304"/>
                        <a:cs typeface="Times New Roman" panose="02020603050405020304"/>
                        <a:sym typeface="Arial" panose="020B0604020202020204"/>
                      </a:endParaRPr>
                    </a:p>
                  </a:txBody>
                  <a:tcPr marL="6350" marR="6350" marT="6350" marB="0" anchor="b"/>
                </a:tc>
                <a:tc>
                  <a:txBody>
                    <a:bodyPr/>
                    <a:lstStyle/>
                    <a:p>
                      <a:pPr marL="0" marR="0" lvl="0" indent="0" algn="ctr" rtl="0" fontAlgn="b">
                        <a:lnSpc>
                          <a:spcPct val="100000"/>
                        </a:lnSpc>
                        <a:spcBef>
                          <a:spcPts val="0"/>
                        </a:spcBef>
                        <a:spcAft>
                          <a:spcPts val="0"/>
                        </a:spcAft>
                        <a:buClr>
                          <a:srgbClr val="000000"/>
                        </a:buClr>
                        <a:buFont typeface="Arial" panose="020B0604020202020204"/>
                        <a:buNone/>
                      </a:pPr>
                      <a:r>
                        <a:rPr lang="fr-FR" sz="1400" u="none" strike="noStrike" cap="none">
                          <a:latin typeface="Arial Narrow" panose="020B0606020202030204" pitchFamily="34" charset="0"/>
                          <a:sym typeface="Arial" panose="020B0604020202020204"/>
                        </a:rPr>
                        <a:t>66,7</a:t>
                      </a:r>
                      <a:endParaRPr lang="fr-FR" sz="1400" b="0" i="0" u="none" strike="noStrike" cap="none">
                        <a:solidFill>
                          <a:srgbClr val="000000"/>
                        </a:solidFill>
                        <a:latin typeface="Arial Narrow" panose="020B0606020202030204" pitchFamily="34" charset="0"/>
                        <a:ea typeface="Times New Roman" panose="02020603050405020304"/>
                        <a:cs typeface="Times New Roman" panose="02020603050405020304"/>
                        <a:sym typeface="Arial" panose="020B0604020202020204"/>
                      </a:endParaRPr>
                    </a:p>
                  </a:txBody>
                  <a:tcPr marL="6350" marR="6350" marT="6350" marB="0" anchor="b"/>
                </a:tc>
                <a:extLst>
                  <a:ext uri="{0D108BD9-81ED-4DB2-BD59-A6C34878D82A}">
                    <a16:rowId xmlns:a16="http://schemas.microsoft.com/office/drawing/2014/main" val="10004"/>
                  </a:ext>
                </a:extLst>
              </a:tr>
              <a:tr h="487547">
                <a:tc>
                  <a:txBody>
                    <a:bodyPr/>
                    <a:lstStyle/>
                    <a:p>
                      <a:pPr algn="l" fontAlgn="b"/>
                      <a:r>
                        <a:rPr lang="fr-FR" sz="1400" u="none" strike="noStrike" dirty="0">
                          <a:effectLst/>
                          <a:latin typeface="Arial Narrow" panose="020B0606020202030204" pitchFamily="34" charset="0"/>
                        </a:rPr>
                        <a:t>Point de concentration</a:t>
                      </a:r>
                      <a:endParaRPr lang="fr-FR" sz="1400" b="0" i="0" u="none" strike="noStrike" dirty="0">
                        <a:solidFill>
                          <a:schemeClr val="tx1"/>
                        </a:solidFill>
                        <a:effectLst/>
                        <a:latin typeface="Arial Narrow" panose="020B0606020202030204" pitchFamily="34" charset="0"/>
                      </a:endParaRPr>
                    </a:p>
                  </a:txBody>
                  <a:tcPr marL="6350" marR="6350" marT="6350" marB="0" anchor="b"/>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11</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7626</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111849</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6508</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7901</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marR="0" lvl="0" indent="0" algn="ctr" rtl="0" fontAlgn="b">
                        <a:lnSpc>
                          <a:spcPct val="100000"/>
                        </a:lnSpc>
                        <a:spcBef>
                          <a:spcPts val="0"/>
                        </a:spcBef>
                        <a:spcAft>
                          <a:spcPts val="0"/>
                        </a:spcAft>
                        <a:buClr>
                          <a:srgbClr val="000000"/>
                        </a:buClr>
                        <a:buFont typeface="Arial" panose="020B0604020202020204"/>
                        <a:buNone/>
                      </a:pPr>
                      <a:r>
                        <a:rPr lang="fr-FR" sz="1400" u="none" strike="noStrike" cap="none" dirty="0">
                          <a:latin typeface="Arial Narrow" panose="020B0606020202030204" pitchFamily="34" charset="0"/>
                          <a:sym typeface="Arial" panose="020B0604020202020204"/>
                        </a:rPr>
                        <a:t>85,3</a:t>
                      </a:r>
                      <a:endParaRPr lang="fr-FR" sz="1400" b="0" i="0" u="none" strike="noStrike" cap="none" dirty="0">
                        <a:solidFill>
                          <a:srgbClr val="000000"/>
                        </a:solidFill>
                        <a:latin typeface="Arial Narrow" panose="020B0606020202030204" pitchFamily="34" charset="0"/>
                        <a:ea typeface="Times New Roman" panose="02020603050405020304"/>
                        <a:cs typeface="Times New Roman" panose="02020603050405020304"/>
                        <a:sym typeface="Arial" panose="020B0604020202020204"/>
                      </a:endParaRPr>
                    </a:p>
                  </a:txBody>
                  <a:tcPr marL="6350" marR="6350" marT="6350" marB="0" anchor="b"/>
                </a:tc>
                <a:tc>
                  <a:txBody>
                    <a:bodyPr/>
                    <a:lstStyle/>
                    <a:p>
                      <a:pPr marL="0" marR="0" lvl="0" indent="0" algn="ctr" rtl="0" fontAlgn="b">
                        <a:lnSpc>
                          <a:spcPct val="100000"/>
                        </a:lnSpc>
                        <a:spcBef>
                          <a:spcPts val="0"/>
                        </a:spcBef>
                        <a:spcAft>
                          <a:spcPts val="0"/>
                        </a:spcAft>
                        <a:buClr>
                          <a:srgbClr val="000000"/>
                        </a:buClr>
                        <a:buFont typeface="Arial" panose="020B0604020202020204"/>
                        <a:buNone/>
                      </a:pPr>
                      <a:r>
                        <a:rPr lang="fr-FR" sz="1400" u="none" strike="noStrike" cap="none" dirty="0">
                          <a:latin typeface="Arial Narrow" panose="020B0606020202030204" pitchFamily="34" charset="0"/>
                          <a:sym typeface="Arial" panose="020B0604020202020204"/>
                        </a:rPr>
                        <a:t>7,1</a:t>
                      </a:r>
                      <a:endParaRPr lang="fr-FR" sz="1400" b="0" i="0" u="none" strike="noStrike" cap="none" dirty="0">
                        <a:solidFill>
                          <a:srgbClr val="000000"/>
                        </a:solidFill>
                        <a:latin typeface="Arial Narrow" panose="020B0606020202030204" pitchFamily="34" charset="0"/>
                        <a:ea typeface="Times New Roman" panose="02020603050405020304"/>
                        <a:cs typeface="Times New Roman" panose="02020603050405020304"/>
                        <a:sym typeface="Arial" panose="020B0604020202020204"/>
                      </a:endParaRPr>
                    </a:p>
                  </a:txBody>
                  <a:tcPr marL="6350" marR="6350" marT="6350" marB="0" anchor="b"/>
                </a:tc>
                <a:extLst>
                  <a:ext uri="{0D108BD9-81ED-4DB2-BD59-A6C34878D82A}">
                    <a16:rowId xmlns:a16="http://schemas.microsoft.com/office/drawing/2014/main" val="10005"/>
                  </a:ext>
                </a:extLst>
              </a:tr>
              <a:tr h="763959">
                <a:tc>
                  <a:txBody>
                    <a:bodyPr/>
                    <a:lstStyle/>
                    <a:p>
                      <a:pPr algn="l" fontAlgn="b"/>
                      <a:r>
                        <a:rPr lang="fr-FR" sz="1400" u="none" strike="noStrike" dirty="0">
                          <a:effectLst/>
                          <a:latin typeface="Arial Narrow" panose="020B0606020202030204" pitchFamily="34" charset="0"/>
                        </a:rPr>
                        <a:t>Vaccination à tout contact pour la réduction des OVM</a:t>
                      </a:r>
                      <a:endParaRPr lang="fr-FR" sz="1400" b="0" i="0" u="none" strike="noStrike" dirty="0">
                        <a:solidFill>
                          <a:schemeClr val="tx1"/>
                        </a:solidFill>
                        <a:effectLst/>
                        <a:latin typeface="Arial Narrow" panose="020B0606020202030204" pitchFamily="34" charset="0"/>
                      </a:endParaRPr>
                    </a:p>
                  </a:txBody>
                  <a:tcPr marL="6350" marR="6350" marT="6350" marB="0" anchor="b"/>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11</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0</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0</a:t>
                      </a:r>
                      <a:endParaRPr lang="fr-F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0</a:t>
                      </a:r>
                      <a:endParaRPr lang="fr-F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0</a:t>
                      </a:r>
                      <a:endParaRPr lang="fr-F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smtClean="0">
                          <a:latin typeface="Arial Narrow" panose="020B0606020202030204" pitchFamily="34" charset="0"/>
                          <a:sym typeface="Times New Roman" panose="02020603050405020304"/>
                        </a:rPr>
                        <a:t>0</a:t>
                      </a:r>
                      <a:endParaRPr lang="fr-F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smtClean="0">
                          <a:latin typeface="Arial Narrow" panose="020B0606020202030204" pitchFamily="34" charset="0"/>
                          <a:sym typeface="Times New Roman" panose="02020603050405020304"/>
                        </a:rPr>
                        <a:t>0</a:t>
                      </a:r>
                      <a:endParaRPr lang="fr-F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extLst>
                  <a:ext uri="{0D108BD9-81ED-4DB2-BD59-A6C34878D82A}">
                    <a16:rowId xmlns:a16="http://schemas.microsoft.com/office/drawing/2014/main" val="10006"/>
                  </a:ext>
                </a:extLst>
              </a:tr>
              <a:tr h="1016110">
                <a:tc>
                  <a:txBody>
                    <a:bodyPr/>
                    <a:lstStyle/>
                    <a:p>
                      <a:pPr algn="l" fontAlgn="b"/>
                      <a:r>
                        <a:rPr lang="fr-FR" sz="1400" u="none" strike="noStrike" dirty="0">
                          <a:effectLst/>
                          <a:latin typeface="Arial Narrow" panose="020B0606020202030204" pitchFamily="34" charset="0"/>
                        </a:rPr>
                        <a:t>Autres à préciser (Initiatives locales de récupération des EZD et SV)</a:t>
                      </a:r>
                      <a:endParaRPr lang="fr-FR" sz="1400" b="0" i="0" u="none" strike="noStrike" dirty="0">
                        <a:solidFill>
                          <a:schemeClr val="tx1"/>
                        </a:solidFill>
                        <a:effectLst/>
                        <a:latin typeface="Arial Narrow" panose="020B0606020202030204" pitchFamily="34" charset="0"/>
                      </a:endParaRPr>
                    </a:p>
                  </a:txBody>
                  <a:tcPr marL="6350" marR="6350" marT="6350" marB="0" anchor="b"/>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0</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0</a:t>
                      </a:r>
                      <a:endParaRP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smtClean="0">
                          <a:latin typeface="Arial Narrow" panose="020B0606020202030204" pitchFamily="34" charset="0"/>
                          <a:sym typeface="Times New Roman" panose="02020603050405020304"/>
                        </a:rPr>
                        <a:t>0</a:t>
                      </a:r>
                      <a:endParaRPr lang="fr-F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0</a:t>
                      </a:r>
                      <a:endParaRPr lang="fr-F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0</a:t>
                      </a:r>
                      <a:endParaRPr lang="fr-F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0</a:t>
                      </a:r>
                      <a:endParaRPr lang="fr-F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ctr" rtl="0">
                        <a:spcBef>
                          <a:spcPts val="0"/>
                        </a:spcBef>
                        <a:spcAft>
                          <a:spcPts val="0"/>
                        </a:spcAft>
                        <a:buNone/>
                      </a:pPr>
                      <a:r>
                        <a:rPr lang="fr-FR" sz="1400" dirty="0" smtClean="0">
                          <a:latin typeface="Arial Narrow" panose="020B0606020202030204" pitchFamily="34" charset="0"/>
                          <a:sym typeface="Times New Roman" panose="02020603050405020304"/>
                        </a:rPr>
                        <a:t>0</a:t>
                      </a:r>
                      <a:endParaRPr lang="fr-FR" sz="1400" dirty="0">
                        <a:latin typeface="Arial Narrow" panose="020B0606020202030204" pitchFamily="34" charset="0"/>
                        <a:ea typeface="Times New Roman" panose="02020603050405020304"/>
                        <a:cs typeface="Times New Roman" panose="02020603050405020304"/>
                        <a:sym typeface="Times New Roman" panose="02020603050405020304"/>
                      </a:endParaRPr>
                    </a:p>
                  </a:txBody>
                  <a:tcPr marL="91425" marR="91425" marT="91425" marB="91425"/>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lvl="0"/>
            <a:r>
              <a:rPr lang="en-US" sz="40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7.1. </a:t>
            </a:r>
            <a:r>
              <a:rPr lang="en-US" sz="4000" dirty="0" err="1"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Résultats</a:t>
            </a:r>
            <a:r>
              <a:rPr lang="en-US" sz="40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40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obtenus: FAE </a:t>
            </a:r>
            <a:r>
              <a:rPr lang="en-US" sz="40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2024-2025(2/2)</a:t>
            </a:r>
            <a:r>
              <a:rPr lang="en-US" sz="40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r>
            <a:br>
              <a:rPr lang="en-US" sz="40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br>
            <a:endParaRPr lang="fr-FR" dirty="0"/>
          </a:p>
        </p:txBody>
      </p:sp>
      <p:graphicFrame>
        <p:nvGraphicFramePr>
          <p:cNvPr id="4" name="Table 8">
            <a:extLst>
              <a:ext uri="{FF2B5EF4-FFF2-40B4-BE49-F238E27FC236}">
                <a16:creationId xmlns:a16="http://schemas.microsoft.com/office/drawing/2014/main" id="{A7E6897A-53FA-90E3-CA29-51CE15620B78}"/>
              </a:ext>
            </a:extLst>
          </p:cNvPr>
          <p:cNvGraphicFramePr>
            <a:graphicFrameLocks noGrp="1"/>
          </p:cNvGraphicFramePr>
          <p:nvPr>
            <p:extLst>
              <p:ext uri="{D42A27DB-BD31-4B8C-83A1-F6EECF244321}">
                <p14:modId xmlns:p14="http://schemas.microsoft.com/office/powerpoint/2010/main" val="3513812894"/>
              </p:ext>
            </p:extLst>
          </p:nvPr>
        </p:nvGraphicFramePr>
        <p:xfrm>
          <a:off x="246743" y="1683659"/>
          <a:ext cx="11534158" cy="4741931"/>
        </p:xfrm>
        <a:graphic>
          <a:graphicData uri="http://schemas.openxmlformats.org/drawingml/2006/table">
            <a:tbl>
              <a:tblPr>
                <a:tableStyleId>{2D5ABB26-0587-4C30-8999-92F81FD0307C}</a:tableStyleId>
              </a:tblPr>
              <a:tblGrid>
                <a:gridCol w="3517679">
                  <a:extLst>
                    <a:ext uri="{9D8B030D-6E8A-4147-A177-3AD203B41FA5}">
                      <a16:colId xmlns:a16="http://schemas.microsoft.com/office/drawing/2014/main" val="413449366"/>
                    </a:ext>
                  </a:extLst>
                </a:gridCol>
                <a:gridCol w="2081891">
                  <a:extLst>
                    <a:ext uri="{9D8B030D-6E8A-4147-A177-3AD203B41FA5}">
                      <a16:colId xmlns:a16="http://schemas.microsoft.com/office/drawing/2014/main" val="2669374710"/>
                    </a:ext>
                  </a:extLst>
                </a:gridCol>
                <a:gridCol w="1363998">
                  <a:extLst>
                    <a:ext uri="{9D8B030D-6E8A-4147-A177-3AD203B41FA5}">
                      <a16:colId xmlns:a16="http://schemas.microsoft.com/office/drawing/2014/main" val="3747185192"/>
                    </a:ext>
                  </a:extLst>
                </a:gridCol>
                <a:gridCol w="1603296">
                  <a:extLst>
                    <a:ext uri="{9D8B030D-6E8A-4147-A177-3AD203B41FA5}">
                      <a16:colId xmlns:a16="http://schemas.microsoft.com/office/drawing/2014/main" val="2278548722"/>
                    </a:ext>
                  </a:extLst>
                </a:gridCol>
                <a:gridCol w="1603296">
                  <a:extLst>
                    <a:ext uri="{9D8B030D-6E8A-4147-A177-3AD203B41FA5}">
                      <a16:colId xmlns:a16="http://schemas.microsoft.com/office/drawing/2014/main" val="3517584529"/>
                    </a:ext>
                  </a:extLst>
                </a:gridCol>
                <a:gridCol w="1363998">
                  <a:extLst>
                    <a:ext uri="{9D8B030D-6E8A-4147-A177-3AD203B41FA5}">
                      <a16:colId xmlns:a16="http://schemas.microsoft.com/office/drawing/2014/main" val="2420723100"/>
                    </a:ext>
                  </a:extLst>
                </a:gridCol>
              </a:tblGrid>
              <a:tr h="520877">
                <a:tc rowSpan="2">
                  <a:txBody>
                    <a:bodyPr/>
                    <a:lstStyle/>
                    <a:p>
                      <a:pPr algn="l" fontAlgn="ctr"/>
                      <a:r>
                        <a:rPr lang="fr-FR" sz="1800" b="1" u="none" strike="noStrike" dirty="0">
                          <a:effectLst/>
                          <a:latin typeface="Arial Narrow" panose="020B0606020202030204" pitchFamily="34" charset="0"/>
                        </a:rPr>
                        <a:t>Stratégies </a:t>
                      </a:r>
                      <a:endParaRPr lang="fr-FR" sz="1800" b="1" i="0" u="none" strike="noStrike" dirty="0">
                        <a:solidFill>
                          <a:schemeClr val="tx1"/>
                        </a:solidFill>
                        <a:effectLst/>
                        <a:latin typeface="Arial Narrow" panose="020B0606020202030204" pitchFamily="34" charset="0"/>
                      </a:endParaRPr>
                    </a:p>
                  </a:txBody>
                  <a:tcPr marL="6350" marR="6350" marT="6350" marB="0" anchor="ctr">
                    <a:solidFill>
                      <a:schemeClr val="accent5">
                        <a:lumMod val="40000"/>
                        <a:lumOff val="60000"/>
                      </a:schemeClr>
                    </a:solidFill>
                  </a:tcPr>
                </a:tc>
                <a:tc rowSpan="2">
                  <a:txBody>
                    <a:bodyPr/>
                    <a:lstStyle/>
                    <a:p>
                      <a:pPr algn="l" fontAlgn="t"/>
                      <a:r>
                        <a:rPr lang="fr-FR" sz="1800" b="1" u="none" strike="noStrike" dirty="0">
                          <a:effectLst/>
                          <a:latin typeface="Arial Narrow" panose="020B0606020202030204" pitchFamily="34" charset="0"/>
                        </a:rPr>
                        <a:t>% de ZS mettant en œuvre la </a:t>
                      </a:r>
                      <a:r>
                        <a:rPr lang="fr-FR" sz="1800" b="1" u="none" strike="noStrike" dirty="0" smtClean="0">
                          <a:effectLst/>
                          <a:latin typeface="Arial Narrow" panose="020B0606020202030204" pitchFamily="34" charset="0"/>
                        </a:rPr>
                        <a:t>stratégie</a:t>
                      </a:r>
                    </a:p>
                    <a:p>
                      <a:pPr algn="l" fontAlgn="t"/>
                      <a:r>
                        <a:rPr lang="fr-FR" sz="1800" b="1" u="none" strike="noStrike" dirty="0" smtClean="0">
                          <a:effectLst/>
                          <a:latin typeface="Arial Narrow" panose="020B0606020202030204" pitchFamily="34" charset="0"/>
                        </a:rPr>
                        <a:t> </a:t>
                      </a:r>
                      <a:endParaRPr lang="fr-FR" sz="1800" b="1" i="0" u="none" strike="noStrike" dirty="0">
                        <a:solidFill>
                          <a:schemeClr val="tx1"/>
                        </a:solidFill>
                        <a:effectLst/>
                        <a:latin typeface="Arial Narrow" panose="020B0606020202030204" pitchFamily="34" charset="0"/>
                      </a:endParaRPr>
                    </a:p>
                  </a:txBody>
                  <a:tcPr marL="6350" marR="6350" marT="6350" marB="0">
                    <a:solidFill>
                      <a:schemeClr val="accent5">
                        <a:lumMod val="40000"/>
                        <a:lumOff val="60000"/>
                      </a:schemeClr>
                    </a:solidFill>
                  </a:tcPr>
                </a:tc>
                <a:tc rowSpan="2">
                  <a:txBody>
                    <a:bodyPr/>
                    <a:lstStyle/>
                    <a:p>
                      <a:pPr algn="l" fontAlgn="t"/>
                      <a:r>
                        <a:rPr lang="fr-FR" sz="1800" b="1" u="none" strike="noStrike" dirty="0">
                          <a:effectLst/>
                          <a:latin typeface="Arial Narrow" panose="020B0606020202030204" pitchFamily="34" charset="0"/>
                        </a:rPr>
                        <a:t>%  d'AS mettant en œuvre la stratégie</a:t>
                      </a:r>
                      <a:endParaRPr lang="fr-FR" sz="1800" b="1" i="0" u="none" strike="noStrike" dirty="0">
                        <a:solidFill>
                          <a:schemeClr val="tx1"/>
                        </a:solidFill>
                        <a:effectLst/>
                        <a:latin typeface="Arial Narrow" panose="020B0606020202030204" pitchFamily="34" charset="0"/>
                      </a:endParaRPr>
                    </a:p>
                  </a:txBody>
                  <a:tcPr marL="6350" marR="6350" marT="6350" marB="0">
                    <a:solidFill>
                      <a:schemeClr val="accent5">
                        <a:lumMod val="40000"/>
                        <a:lumOff val="60000"/>
                      </a:schemeClr>
                    </a:solidFill>
                  </a:tcPr>
                </a:tc>
                <a:tc gridSpan="2">
                  <a:txBody>
                    <a:bodyPr/>
                    <a:lstStyle/>
                    <a:p>
                      <a:pPr algn="l" fontAlgn="t"/>
                      <a:r>
                        <a:rPr lang="fr-FR" sz="1800" b="1" u="none" strike="noStrike" dirty="0">
                          <a:effectLst/>
                          <a:latin typeface="Arial Narrow" panose="020B0606020202030204" pitchFamily="34" charset="0"/>
                        </a:rPr>
                        <a:t>Nombre d'enfants vaccinés </a:t>
                      </a:r>
                      <a:endParaRPr lang="fr-FR" sz="1800" b="1" i="0" u="none" strike="noStrike" dirty="0">
                        <a:solidFill>
                          <a:schemeClr val="tx1"/>
                        </a:solidFill>
                        <a:effectLst/>
                        <a:latin typeface="Arial Narrow" panose="020B0606020202030204" pitchFamily="34" charset="0"/>
                      </a:endParaRPr>
                    </a:p>
                  </a:txBody>
                  <a:tcPr marL="6350" marR="6350" marT="6350" marB="0">
                    <a:solidFill>
                      <a:schemeClr val="accent5">
                        <a:lumMod val="40000"/>
                        <a:lumOff val="60000"/>
                      </a:schemeClr>
                    </a:solidFill>
                  </a:tcPr>
                </a:tc>
                <a:tc hMerge="1">
                  <a:txBody>
                    <a:bodyPr/>
                    <a:lstStyle/>
                    <a:p>
                      <a:endParaRPr lang="fr-FR"/>
                    </a:p>
                  </a:txBody>
                  <a:tcPr/>
                </a:tc>
                <a:tc rowSpan="2">
                  <a:txBody>
                    <a:bodyPr/>
                    <a:lstStyle/>
                    <a:p>
                      <a:pPr algn="l" fontAlgn="t"/>
                      <a:r>
                        <a:rPr lang="fr-FR" sz="1800" b="1" u="none" strike="noStrike" dirty="0">
                          <a:effectLst/>
                          <a:latin typeface="Arial Narrow" panose="020B0606020202030204" pitchFamily="34" charset="0"/>
                        </a:rPr>
                        <a:t>Total</a:t>
                      </a:r>
                      <a:endParaRPr lang="fr-FR" sz="1800" b="1" i="0" u="none" strike="noStrike" dirty="0">
                        <a:solidFill>
                          <a:schemeClr val="tx1"/>
                        </a:solidFill>
                        <a:effectLst/>
                        <a:latin typeface="Arial Narrow" panose="020B0606020202030204" pitchFamily="34" charset="0"/>
                      </a:endParaRPr>
                    </a:p>
                  </a:txBody>
                  <a:tcPr marL="6350" marR="6350" marT="6350" marB="0">
                    <a:solidFill>
                      <a:schemeClr val="accent5">
                        <a:lumMod val="40000"/>
                        <a:lumOff val="60000"/>
                      </a:schemeClr>
                    </a:solidFill>
                  </a:tcPr>
                </a:tc>
                <a:extLst>
                  <a:ext uri="{0D108BD9-81ED-4DB2-BD59-A6C34878D82A}">
                    <a16:rowId xmlns:a16="http://schemas.microsoft.com/office/drawing/2014/main" val="3515120511"/>
                  </a:ext>
                </a:extLst>
              </a:tr>
              <a:tr h="829060">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algn="l" fontAlgn="t"/>
                      <a:r>
                        <a:rPr lang="fr-FR" sz="1800" b="1" u="none" strike="noStrike" dirty="0" smtClean="0">
                          <a:effectLst/>
                          <a:latin typeface="Arial Narrow" panose="020B0606020202030204" pitchFamily="34" charset="0"/>
                        </a:rPr>
                        <a:t>Janvier </a:t>
                      </a:r>
                      <a:r>
                        <a:rPr lang="fr-FR" sz="1800" b="1" u="none" strike="noStrike" dirty="0">
                          <a:effectLst/>
                          <a:latin typeface="Arial Narrow" panose="020B0606020202030204" pitchFamily="34" charset="0"/>
                        </a:rPr>
                        <a:t>à décembre </a:t>
                      </a:r>
                      <a:r>
                        <a:rPr lang="fr-FR" sz="1800" b="1" u="none" strike="noStrike" dirty="0" smtClean="0">
                          <a:effectLst/>
                          <a:latin typeface="Arial Narrow" panose="020B0606020202030204" pitchFamily="34" charset="0"/>
                        </a:rPr>
                        <a:t>2024</a:t>
                      </a:r>
                      <a:endParaRPr lang="fr-FR" sz="1800" b="1" i="0" u="none" strike="noStrike" dirty="0">
                        <a:solidFill>
                          <a:schemeClr val="tx1"/>
                        </a:solidFill>
                        <a:effectLst/>
                        <a:latin typeface="Arial Narrow" panose="020B0606020202030204" pitchFamily="34" charset="0"/>
                      </a:endParaRPr>
                    </a:p>
                  </a:txBody>
                  <a:tcPr marL="6350" marR="6350" marT="6350" marB="0">
                    <a:solidFill>
                      <a:schemeClr val="accent5">
                        <a:lumMod val="40000"/>
                        <a:lumOff val="60000"/>
                      </a:schemeClr>
                    </a:solidFill>
                  </a:tcPr>
                </a:tc>
                <a:tc>
                  <a:txBody>
                    <a:bodyPr/>
                    <a:lstStyle/>
                    <a:p>
                      <a:pPr algn="l" fontAlgn="t"/>
                      <a:r>
                        <a:rPr lang="fr-FR" sz="1800" b="1" u="none" strike="noStrike" dirty="0">
                          <a:effectLst/>
                          <a:latin typeface="Arial Narrow" panose="020B0606020202030204" pitchFamily="34" charset="0"/>
                        </a:rPr>
                        <a:t>Janvier à </a:t>
                      </a:r>
                      <a:r>
                        <a:rPr lang="fr-FR" sz="1800" b="1" u="none" strike="noStrike" dirty="0" smtClean="0">
                          <a:effectLst/>
                          <a:latin typeface="Arial Narrow" panose="020B0606020202030204" pitchFamily="34" charset="0"/>
                        </a:rPr>
                        <a:t>Octobre 2025</a:t>
                      </a:r>
                      <a:endParaRPr lang="fr-FR" sz="1800" b="1" i="0" u="none" strike="noStrike" dirty="0">
                        <a:solidFill>
                          <a:schemeClr val="tx1"/>
                        </a:solidFill>
                        <a:effectLst/>
                        <a:latin typeface="Arial Narrow" panose="020B0606020202030204" pitchFamily="34" charset="0"/>
                      </a:endParaRPr>
                    </a:p>
                  </a:txBody>
                  <a:tcPr marL="6350" marR="6350" marT="6350" marB="0">
                    <a:solidFill>
                      <a:schemeClr val="accent5">
                        <a:lumMod val="40000"/>
                        <a:lumOff val="60000"/>
                      </a:schemeClr>
                    </a:solidFill>
                  </a:tcPr>
                </a:tc>
                <a:tc vMerge="1">
                  <a:txBody>
                    <a:bodyPr/>
                    <a:lstStyle/>
                    <a:p>
                      <a:endParaRPr lang="fr-FR"/>
                    </a:p>
                  </a:txBody>
                  <a:tcPr/>
                </a:tc>
                <a:extLst>
                  <a:ext uri="{0D108BD9-81ED-4DB2-BD59-A6C34878D82A}">
                    <a16:rowId xmlns:a16="http://schemas.microsoft.com/office/drawing/2014/main" val="4243806648"/>
                  </a:ext>
                </a:extLst>
              </a:tr>
              <a:tr h="389943">
                <a:tc>
                  <a:txBody>
                    <a:bodyPr/>
                    <a:lstStyle/>
                    <a:p>
                      <a:pPr algn="l" fontAlgn="b"/>
                      <a:r>
                        <a:rPr lang="fr-FR" sz="1800" u="none" strike="noStrike" dirty="0">
                          <a:effectLst/>
                          <a:latin typeface="Arial Narrow" panose="020B0606020202030204" pitchFamily="34" charset="0"/>
                        </a:rPr>
                        <a:t>Fixe/horaire adapté</a:t>
                      </a:r>
                      <a:endParaRPr lang="fr-FR" sz="1800" b="0" i="0" u="none" strike="noStrike" dirty="0">
                        <a:solidFill>
                          <a:schemeClr val="tx1"/>
                        </a:solidFill>
                        <a:effectLst/>
                        <a:latin typeface="Arial Narrow" panose="020B0606020202030204" pitchFamily="34" charset="0"/>
                      </a:endParaRPr>
                    </a:p>
                  </a:txBody>
                  <a:tcPr marL="6350" marR="6350" marT="6350" marB="0" anchor="b"/>
                </a:tc>
                <a:tc>
                  <a:txBody>
                    <a:bodyPr/>
                    <a:lstStyle/>
                    <a:p>
                      <a:pPr algn="ctr" fontAlgn="ctr"/>
                      <a:r>
                        <a:rPr lang="fr-FR" sz="1800" u="none" strike="noStrike">
                          <a:effectLst/>
                          <a:latin typeface="Arial Narrow" panose="020B0606020202030204" pitchFamily="34" charset="0"/>
                        </a:rPr>
                        <a:t>61%</a:t>
                      </a:r>
                      <a:endParaRPr lang="fr-FR" sz="1800" b="0" i="0" u="none" strike="noStrike">
                        <a:solidFill>
                          <a:srgbClr val="000000"/>
                        </a:solidFill>
                        <a:effectLst/>
                        <a:latin typeface="Arial Narrow" panose="020B0606020202030204" pitchFamily="34" charset="0"/>
                      </a:endParaRPr>
                    </a:p>
                  </a:txBody>
                  <a:tcPr marL="6350" marR="6350" marT="6350" marB="0" anchor="ctr"/>
                </a:tc>
                <a:tc>
                  <a:txBody>
                    <a:bodyPr/>
                    <a:lstStyle/>
                    <a:p>
                      <a:pPr algn="ctr" fontAlgn="ctr"/>
                      <a:r>
                        <a:rPr lang="fr-FR" sz="1800" u="none" strike="noStrike" dirty="0" smtClean="0">
                          <a:effectLst/>
                          <a:latin typeface="Arial Narrow" panose="020B0606020202030204" pitchFamily="34" charset="0"/>
                        </a:rPr>
                        <a:t>50,6%</a:t>
                      </a:r>
                      <a:endParaRPr lang="fr-FR" sz="1800" b="0" i="0" u="none" strike="noStrike" dirty="0">
                        <a:solidFill>
                          <a:srgbClr val="000000"/>
                        </a:solidFill>
                        <a:effectLst/>
                        <a:latin typeface="Arial Narrow" panose="020B0606020202030204" pitchFamily="34" charset="0"/>
                      </a:endParaRPr>
                    </a:p>
                  </a:txBody>
                  <a:tcPr marL="6350" marR="6350" marT="6350" marB="0" anchor="ctr"/>
                </a:tc>
                <a:tc>
                  <a:txBody>
                    <a:bodyPr/>
                    <a:lstStyle/>
                    <a:p>
                      <a:pPr algn="ctr" rtl="0" fontAlgn="ctr"/>
                      <a:r>
                        <a:rPr lang="fr-FR" sz="1800" u="none" strike="noStrike">
                          <a:effectLst/>
                          <a:latin typeface="Arial Narrow" panose="020B0606020202030204" pitchFamily="34" charset="0"/>
                        </a:rPr>
                        <a:t>157236</a:t>
                      </a:r>
                      <a:endParaRPr lang="fr-FR" sz="1800" b="0" i="0" u="none" strike="noStrike">
                        <a:solidFill>
                          <a:srgbClr val="000000"/>
                        </a:solidFill>
                        <a:effectLst/>
                        <a:latin typeface="Arial Narrow" panose="020B0606020202030204" pitchFamily="34" charset="0"/>
                      </a:endParaRPr>
                    </a:p>
                  </a:txBody>
                  <a:tcPr marL="6350" marR="6350" marT="6350" marB="0" anchor="ctr"/>
                </a:tc>
                <a:tc>
                  <a:txBody>
                    <a:bodyPr/>
                    <a:lstStyle/>
                    <a:p>
                      <a:pPr algn="ctr" rtl="0" fontAlgn="ctr"/>
                      <a:r>
                        <a:rPr lang="fr-FR" sz="1800" u="none" strike="noStrike">
                          <a:effectLst/>
                          <a:latin typeface="Arial Narrow" panose="020B0606020202030204" pitchFamily="34" charset="0"/>
                        </a:rPr>
                        <a:t>57635</a:t>
                      </a:r>
                      <a:endParaRPr lang="fr-FR" sz="1800" b="0" i="0" u="none" strike="noStrike">
                        <a:solidFill>
                          <a:srgbClr val="000000"/>
                        </a:solidFill>
                        <a:effectLst/>
                        <a:latin typeface="Arial Narrow" panose="020B0606020202030204" pitchFamily="34" charset="0"/>
                      </a:endParaRPr>
                    </a:p>
                  </a:txBody>
                  <a:tcPr marL="6350" marR="6350" marT="6350" marB="0" anchor="ctr"/>
                </a:tc>
                <a:tc>
                  <a:txBody>
                    <a:bodyPr/>
                    <a:lstStyle/>
                    <a:p>
                      <a:pPr algn="ctr" rtl="0" fontAlgn="ctr"/>
                      <a:r>
                        <a:rPr lang="fr-FR" sz="1800" u="none" strike="noStrike">
                          <a:effectLst/>
                          <a:latin typeface="Arial Narrow" panose="020B0606020202030204" pitchFamily="34" charset="0"/>
                        </a:rPr>
                        <a:t>214871</a:t>
                      </a:r>
                      <a:endParaRPr lang="fr-FR" sz="1800" b="0" i="0" u="none" strike="noStrike">
                        <a:solidFill>
                          <a:srgbClr val="000000"/>
                        </a:solidFill>
                        <a:effectLst/>
                        <a:latin typeface="Arial Narrow" panose="020B0606020202030204" pitchFamily="34" charset="0"/>
                      </a:endParaRPr>
                    </a:p>
                  </a:txBody>
                  <a:tcPr marL="6350" marR="6350" marT="6350" marB="0" anchor="ctr"/>
                </a:tc>
                <a:extLst>
                  <a:ext uri="{0D108BD9-81ED-4DB2-BD59-A6C34878D82A}">
                    <a16:rowId xmlns:a16="http://schemas.microsoft.com/office/drawing/2014/main" val="236704736"/>
                  </a:ext>
                </a:extLst>
              </a:tr>
              <a:tr h="389943">
                <a:tc>
                  <a:txBody>
                    <a:bodyPr/>
                    <a:lstStyle/>
                    <a:p>
                      <a:pPr algn="l" fontAlgn="b"/>
                      <a:r>
                        <a:rPr lang="fr-FR" sz="1800" u="none" strike="noStrike" dirty="0">
                          <a:effectLst/>
                          <a:latin typeface="Arial Narrow" panose="020B0606020202030204" pitchFamily="34" charset="0"/>
                        </a:rPr>
                        <a:t>Avancée/cartographie des ZS</a:t>
                      </a:r>
                      <a:endParaRPr lang="fr-FR" sz="1800" b="0" i="0" u="none" strike="noStrike" dirty="0">
                        <a:solidFill>
                          <a:schemeClr val="tx1"/>
                        </a:solidFill>
                        <a:effectLst/>
                        <a:latin typeface="Arial Narrow" panose="020B0606020202030204" pitchFamily="34" charset="0"/>
                      </a:endParaRPr>
                    </a:p>
                  </a:txBody>
                  <a:tcPr marL="6350" marR="6350" marT="6350" marB="0" anchor="b"/>
                </a:tc>
                <a:tc>
                  <a:txBody>
                    <a:bodyPr/>
                    <a:lstStyle/>
                    <a:p>
                      <a:pPr algn="ctr" fontAlgn="ctr"/>
                      <a:r>
                        <a:rPr lang="fr-FR" sz="1800" u="none" strike="noStrike">
                          <a:effectLst/>
                          <a:latin typeface="Arial Narrow" panose="020B0606020202030204" pitchFamily="34" charset="0"/>
                        </a:rPr>
                        <a:t>61%</a:t>
                      </a:r>
                      <a:endParaRPr lang="fr-FR" sz="1800" b="0" i="0" u="none" strike="noStrike">
                        <a:solidFill>
                          <a:srgbClr val="000000"/>
                        </a:solidFill>
                        <a:effectLst/>
                        <a:latin typeface="Arial Narrow" panose="020B0606020202030204" pitchFamily="34" charset="0"/>
                      </a:endParaRPr>
                    </a:p>
                  </a:txBody>
                  <a:tcPr marL="6350" marR="6350" marT="6350" marB="0" anchor="ctr"/>
                </a:tc>
                <a:tc>
                  <a:txBody>
                    <a:bodyPr/>
                    <a:lstStyle/>
                    <a:p>
                      <a:pPr algn="ctr" fontAlgn="ctr"/>
                      <a:r>
                        <a:rPr lang="fr-FR" sz="1800" u="none" strike="noStrike" smtClean="0">
                          <a:effectLst/>
                          <a:latin typeface="Arial Narrow" panose="020B0606020202030204" pitchFamily="34" charset="0"/>
                        </a:rPr>
                        <a:t>50,6%</a:t>
                      </a:r>
                      <a:endParaRPr lang="fr-FR" sz="1800" b="0" i="0" u="none" strike="noStrike" dirty="0">
                        <a:solidFill>
                          <a:srgbClr val="000000"/>
                        </a:solidFill>
                        <a:effectLst/>
                        <a:latin typeface="Arial Narrow" panose="020B0606020202030204" pitchFamily="34" charset="0"/>
                      </a:endParaRPr>
                    </a:p>
                  </a:txBody>
                  <a:tcPr marL="6350" marR="6350" marT="6350" marB="0" anchor="ctr"/>
                </a:tc>
                <a:tc>
                  <a:txBody>
                    <a:bodyPr/>
                    <a:lstStyle/>
                    <a:p>
                      <a:pPr algn="ctr" rtl="0" fontAlgn="ctr"/>
                      <a:r>
                        <a:rPr lang="fr-FR" sz="1800" u="none" strike="noStrike">
                          <a:effectLst/>
                          <a:latin typeface="Arial Narrow" panose="020B0606020202030204" pitchFamily="34" charset="0"/>
                        </a:rPr>
                        <a:t>78329</a:t>
                      </a:r>
                      <a:endParaRPr lang="fr-FR" sz="1800" b="0" i="0" u="none" strike="noStrike">
                        <a:solidFill>
                          <a:srgbClr val="000000"/>
                        </a:solidFill>
                        <a:effectLst/>
                        <a:latin typeface="Arial Narrow" panose="020B0606020202030204" pitchFamily="34" charset="0"/>
                      </a:endParaRPr>
                    </a:p>
                  </a:txBody>
                  <a:tcPr marL="6350" marR="6350" marT="6350" marB="0" anchor="ctr"/>
                </a:tc>
                <a:tc>
                  <a:txBody>
                    <a:bodyPr/>
                    <a:lstStyle/>
                    <a:p>
                      <a:pPr algn="ctr" rtl="0" fontAlgn="ctr"/>
                      <a:r>
                        <a:rPr lang="fr-FR" sz="1800" u="none" strike="noStrike">
                          <a:effectLst/>
                          <a:latin typeface="Arial Narrow" panose="020B0606020202030204" pitchFamily="34" charset="0"/>
                        </a:rPr>
                        <a:t>43226</a:t>
                      </a:r>
                      <a:endParaRPr lang="fr-FR" sz="1800" b="0" i="0" u="none" strike="noStrike">
                        <a:solidFill>
                          <a:srgbClr val="000000"/>
                        </a:solidFill>
                        <a:effectLst/>
                        <a:latin typeface="Arial Narrow" panose="020B0606020202030204" pitchFamily="34" charset="0"/>
                      </a:endParaRPr>
                    </a:p>
                  </a:txBody>
                  <a:tcPr marL="6350" marR="6350" marT="6350" marB="0" anchor="ctr"/>
                </a:tc>
                <a:tc>
                  <a:txBody>
                    <a:bodyPr/>
                    <a:lstStyle/>
                    <a:p>
                      <a:pPr algn="ctr" rtl="0" fontAlgn="ctr"/>
                      <a:r>
                        <a:rPr lang="fr-FR" sz="1800" u="none" strike="noStrike">
                          <a:effectLst/>
                          <a:latin typeface="Arial Narrow" panose="020B0606020202030204" pitchFamily="34" charset="0"/>
                        </a:rPr>
                        <a:t>121555</a:t>
                      </a:r>
                      <a:endParaRPr lang="fr-FR" sz="1800" b="0" i="0" u="none" strike="noStrike">
                        <a:solidFill>
                          <a:srgbClr val="000000"/>
                        </a:solidFill>
                        <a:effectLst/>
                        <a:latin typeface="Arial Narrow" panose="020B0606020202030204" pitchFamily="34" charset="0"/>
                      </a:endParaRPr>
                    </a:p>
                  </a:txBody>
                  <a:tcPr marL="6350" marR="6350" marT="6350" marB="0" anchor="ctr"/>
                </a:tc>
                <a:extLst>
                  <a:ext uri="{0D108BD9-81ED-4DB2-BD59-A6C34878D82A}">
                    <a16:rowId xmlns:a16="http://schemas.microsoft.com/office/drawing/2014/main" val="755063897"/>
                  </a:ext>
                </a:extLst>
              </a:tr>
              <a:tr h="389943">
                <a:tc>
                  <a:txBody>
                    <a:bodyPr/>
                    <a:lstStyle/>
                    <a:p>
                      <a:pPr algn="l" fontAlgn="b"/>
                      <a:r>
                        <a:rPr lang="fr-FR" sz="1800" u="none" strike="noStrike" dirty="0">
                          <a:effectLst/>
                          <a:latin typeface="Arial Narrow" panose="020B0606020202030204" pitchFamily="34" charset="0"/>
                        </a:rPr>
                        <a:t>Porte à porte</a:t>
                      </a:r>
                      <a:endParaRPr lang="fr-FR" sz="1800" b="0" i="0" u="none" strike="noStrike" dirty="0">
                        <a:solidFill>
                          <a:schemeClr val="tx1"/>
                        </a:solidFill>
                        <a:effectLst/>
                        <a:latin typeface="Arial Narrow" panose="020B0606020202030204" pitchFamily="34" charset="0"/>
                      </a:endParaRPr>
                    </a:p>
                  </a:txBody>
                  <a:tcPr marL="6350" marR="6350" marT="6350" marB="0" anchor="b"/>
                </a:tc>
                <a:tc>
                  <a:txBody>
                    <a:bodyPr/>
                    <a:lstStyle/>
                    <a:p>
                      <a:pPr algn="ctr" fontAlgn="ctr"/>
                      <a:r>
                        <a:rPr lang="fr-FR" sz="1800" u="none" strike="noStrike">
                          <a:effectLst/>
                          <a:latin typeface="Arial Narrow" panose="020B0606020202030204" pitchFamily="34" charset="0"/>
                        </a:rPr>
                        <a:t>61%</a:t>
                      </a:r>
                      <a:endParaRPr lang="fr-FR" sz="1800" b="0" i="0" u="none" strike="noStrike">
                        <a:solidFill>
                          <a:srgbClr val="000000"/>
                        </a:solidFill>
                        <a:effectLst/>
                        <a:latin typeface="Arial Narrow" panose="020B0606020202030204" pitchFamily="34" charset="0"/>
                      </a:endParaRPr>
                    </a:p>
                  </a:txBody>
                  <a:tcPr marL="6350" marR="6350" marT="6350" marB="0" anchor="ctr"/>
                </a:tc>
                <a:tc>
                  <a:txBody>
                    <a:bodyPr/>
                    <a:lstStyle/>
                    <a:p>
                      <a:pPr algn="ctr" fontAlgn="ctr"/>
                      <a:r>
                        <a:rPr lang="fr-FR" sz="1800" u="none" strike="noStrike" smtClean="0">
                          <a:effectLst/>
                          <a:latin typeface="Arial Narrow" panose="020B0606020202030204" pitchFamily="34" charset="0"/>
                        </a:rPr>
                        <a:t>50,6%</a:t>
                      </a:r>
                      <a:endParaRPr lang="fr-FR" sz="1800" b="0" i="0" u="none" strike="noStrike" dirty="0">
                        <a:solidFill>
                          <a:srgbClr val="000000"/>
                        </a:solidFill>
                        <a:effectLst/>
                        <a:latin typeface="Arial Narrow" panose="020B0606020202030204" pitchFamily="34" charset="0"/>
                      </a:endParaRPr>
                    </a:p>
                  </a:txBody>
                  <a:tcPr marL="6350" marR="6350" marT="6350" marB="0" anchor="ctr"/>
                </a:tc>
                <a:tc>
                  <a:txBody>
                    <a:bodyPr/>
                    <a:lstStyle/>
                    <a:p>
                      <a:pPr algn="ctr" rtl="0" fontAlgn="ctr"/>
                      <a:r>
                        <a:rPr lang="fr-FR" sz="1800" u="none" strike="noStrike">
                          <a:effectLst/>
                          <a:latin typeface="Arial Narrow" panose="020B0606020202030204" pitchFamily="34" charset="0"/>
                        </a:rPr>
                        <a:t>2781</a:t>
                      </a:r>
                      <a:endParaRPr lang="fr-FR" sz="1800" b="0" i="0" u="none" strike="noStrike">
                        <a:solidFill>
                          <a:srgbClr val="000000"/>
                        </a:solidFill>
                        <a:effectLst/>
                        <a:latin typeface="Arial Narrow" panose="020B0606020202030204" pitchFamily="34" charset="0"/>
                      </a:endParaRPr>
                    </a:p>
                  </a:txBody>
                  <a:tcPr marL="6350" marR="6350" marT="6350" marB="0" anchor="ctr"/>
                </a:tc>
                <a:tc>
                  <a:txBody>
                    <a:bodyPr/>
                    <a:lstStyle/>
                    <a:p>
                      <a:pPr algn="ctr" rtl="0" fontAlgn="ctr"/>
                      <a:r>
                        <a:rPr lang="fr-FR" sz="1800" u="none" strike="noStrike">
                          <a:effectLst/>
                          <a:latin typeface="Arial Narrow" panose="020B0606020202030204" pitchFamily="34" charset="0"/>
                        </a:rPr>
                        <a:t>28817</a:t>
                      </a:r>
                      <a:endParaRPr lang="fr-FR" sz="1800" b="0" i="0" u="none" strike="noStrike">
                        <a:solidFill>
                          <a:srgbClr val="000000"/>
                        </a:solidFill>
                        <a:effectLst/>
                        <a:latin typeface="Arial Narrow" panose="020B0606020202030204" pitchFamily="34" charset="0"/>
                      </a:endParaRPr>
                    </a:p>
                  </a:txBody>
                  <a:tcPr marL="6350" marR="6350" marT="6350" marB="0" anchor="ctr"/>
                </a:tc>
                <a:tc>
                  <a:txBody>
                    <a:bodyPr/>
                    <a:lstStyle/>
                    <a:p>
                      <a:pPr algn="ctr" rtl="0" fontAlgn="ctr"/>
                      <a:r>
                        <a:rPr lang="fr-FR" sz="1800" u="none" strike="noStrike">
                          <a:effectLst/>
                          <a:latin typeface="Arial Narrow" panose="020B0606020202030204" pitchFamily="34" charset="0"/>
                        </a:rPr>
                        <a:t>31598</a:t>
                      </a:r>
                      <a:endParaRPr lang="fr-FR" sz="1800" b="0" i="0" u="none" strike="noStrike">
                        <a:solidFill>
                          <a:srgbClr val="000000"/>
                        </a:solidFill>
                        <a:effectLst/>
                        <a:latin typeface="Arial Narrow" panose="020B0606020202030204" pitchFamily="34" charset="0"/>
                      </a:endParaRPr>
                    </a:p>
                  </a:txBody>
                  <a:tcPr marL="6350" marR="6350" marT="6350" marB="0" anchor="ctr"/>
                </a:tc>
                <a:extLst>
                  <a:ext uri="{0D108BD9-81ED-4DB2-BD59-A6C34878D82A}">
                    <a16:rowId xmlns:a16="http://schemas.microsoft.com/office/drawing/2014/main" val="858947758"/>
                  </a:ext>
                </a:extLst>
              </a:tr>
              <a:tr h="389943">
                <a:tc>
                  <a:txBody>
                    <a:bodyPr/>
                    <a:lstStyle/>
                    <a:p>
                      <a:pPr algn="l" fontAlgn="b"/>
                      <a:r>
                        <a:rPr lang="fr-FR" sz="1800" u="none" strike="noStrike" dirty="0">
                          <a:effectLst/>
                          <a:latin typeface="Arial Narrow" panose="020B0606020202030204" pitchFamily="34" charset="0"/>
                        </a:rPr>
                        <a:t>Point de concentration</a:t>
                      </a:r>
                      <a:endParaRPr lang="fr-FR" sz="1800" b="0" i="0" u="none" strike="noStrike" dirty="0">
                        <a:solidFill>
                          <a:schemeClr val="tx1"/>
                        </a:solidFill>
                        <a:effectLst/>
                        <a:latin typeface="Arial Narrow" panose="020B0606020202030204" pitchFamily="34" charset="0"/>
                      </a:endParaRPr>
                    </a:p>
                  </a:txBody>
                  <a:tcPr marL="6350" marR="6350" marT="6350" marB="0" anchor="b"/>
                </a:tc>
                <a:tc>
                  <a:txBody>
                    <a:bodyPr/>
                    <a:lstStyle/>
                    <a:p>
                      <a:pPr algn="ctr" fontAlgn="ctr"/>
                      <a:r>
                        <a:rPr lang="fr-FR" sz="1800" u="none" strike="noStrike">
                          <a:effectLst/>
                          <a:latin typeface="Arial Narrow" panose="020B0606020202030204" pitchFamily="34" charset="0"/>
                        </a:rPr>
                        <a:t>61%</a:t>
                      </a:r>
                      <a:endParaRPr lang="fr-FR" sz="1800" b="0" i="0" u="none" strike="noStrike">
                        <a:solidFill>
                          <a:srgbClr val="000000"/>
                        </a:solidFill>
                        <a:effectLst/>
                        <a:latin typeface="Arial Narrow" panose="020B0606020202030204" pitchFamily="34" charset="0"/>
                      </a:endParaRPr>
                    </a:p>
                  </a:txBody>
                  <a:tcPr marL="6350" marR="6350" marT="6350" marB="0" anchor="ctr"/>
                </a:tc>
                <a:tc>
                  <a:txBody>
                    <a:bodyPr/>
                    <a:lstStyle/>
                    <a:p>
                      <a:pPr algn="ctr" fontAlgn="ctr"/>
                      <a:r>
                        <a:rPr lang="fr-FR" sz="1800" u="none" strike="noStrike" dirty="0" smtClean="0">
                          <a:effectLst/>
                          <a:latin typeface="Arial Narrow" panose="020B0606020202030204" pitchFamily="34" charset="0"/>
                        </a:rPr>
                        <a:t>50,6%</a:t>
                      </a:r>
                      <a:endParaRPr lang="fr-FR" sz="1800" b="0" i="0" u="none" strike="noStrike" dirty="0">
                        <a:solidFill>
                          <a:srgbClr val="000000"/>
                        </a:solidFill>
                        <a:effectLst/>
                        <a:latin typeface="Arial Narrow" panose="020B0606020202030204" pitchFamily="34" charset="0"/>
                      </a:endParaRPr>
                    </a:p>
                  </a:txBody>
                  <a:tcPr marL="6350" marR="6350" marT="6350" marB="0" anchor="ctr"/>
                </a:tc>
                <a:tc>
                  <a:txBody>
                    <a:bodyPr/>
                    <a:lstStyle/>
                    <a:p>
                      <a:pPr algn="ctr" rtl="0" fontAlgn="ctr"/>
                      <a:r>
                        <a:rPr lang="fr-FR" sz="1800" u="none" strike="noStrike">
                          <a:effectLst/>
                          <a:latin typeface="Arial Narrow" panose="020B0606020202030204" pitchFamily="34" charset="0"/>
                        </a:rPr>
                        <a:t>52091</a:t>
                      </a:r>
                      <a:endParaRPr lang="fr-FR" sz="1800" b="0" i="0" u="none" strike="noStrike">
                        <a:solidFill>
                          <a:srgbClr val="000000"/>
                        </a:solidFill>
                        <a:effectLst/>
                        <a:latin typeface="Arial Narrow" panose="020B0606020202030204" pitchFamily="34" charset="0"/>
                      </a:endParaRPr>
                    </a:p>
                  </a:txBody>
                  <a:tcPr marL="6350" marR="6350" marT="6350" marB="0" anchor="ctr"/>
                </a:tc>
                <a:tc>
                  <a:txBody>
                    <a:bodyPr/>
                    <a:lstStyle/>
                    <a:p>
                      <a:pPr algn="ctr" rtl="0" fontAlgn="ctr"/>
                      <a:r>
                        <a:rPr lang="fr-FR" sz="1800" u="none" strike="noStrike">
                          <a:effectLst/>
                          <a:latin typeface="Arial Narrow" panose="020B0606020202030204" pitchFamily="34" charset="0"/>
                        </a:rPr>
                        <a:t>14409</a:t>
                      </a:r>
                      <a:endParaRPr lang="fr-FR" sz="1800" b="0" i="0" u="none" strike="noStrike">
                        <a:solidFill>
                          <a:srgbClr val="000000"/>
                        </a:solidFill>
                        <a:effectLst/>
                        <a:latin typeface="Arial Narrow" panose="020B0606020202030204" pitchFamily="34" charset="0"/>
                      </a:endParaRPr>
                    </a:p>
                  </a:txBody>
                  <a:tcPr marL="6350" marR="6350" marT="6350" marB="0" anchor="ctr"/>
                </a:tc>
                <a:tc>
                  <a:txBody>
                    <a:bodyPr/>
                    <a:lstStyle/>
                    <a:p>
                      <a:pPr algn="ctr" rtl="0" fontAlgn="ctr"/>
                      <a:r>
                        <a:rPr lang="fr-FR" sz="1800" u="none" strike="noStrike">
                          <a:effectLst/>
                          <a:latin typeface="Arial Narrow" panose="020B0606020202030204" pitchFamily="34" charset="0"/>
                        </a:rPr>
                        <a:t>66500</a:t>
                      </a:r>
                      <a:endParaRPr lang="fr-FR" sz="1800" b="0" i="0" u="none" strike="noStrike">
                        <a:solidFill>
                          <a:srgbClr val="000000"/>
                        </a:solidFill>
                        <a:effectLst/>
                        <a:latin typeface="Arial Narrow" panose="020B0606020202030204" pitchFamily="34" charset="0"/>
                      </a:endParaRPr>
                    </a:p>
                  </a:txBody>
                  <a:tcPr marL="6350" marR="6350" marT="6350" marB="0" anchor="ctr"/>
                </a:tc>
                <a:extLst>
                  <a:ext uri="{0D108BD9-81ED-4DB2-BD59-A6C34878D82A}">
                    <a16:rowId xmlns:a16="http://schemas.microsoft.com/office/drawing/2014/main" val="817228055"/>
                  </a:ext>
                </a:extLst>
              </a:tr>
              <a:tr h="558328">
                <a:tc>
                  <a:txBody>
                    <a:bodyPr/>
                    <a:lstStyle/>
                    <a:p>
                      <a:pPr algn="l" fontAlgn="b"/>
                      <a:r>
                        <a:rPr lang="fr-FR" sz="1800" u="none" strike="noStrike" dirty="0">
                          <a:effectLst/>
                          <a:latin typeface="Arial Narrow" panose="020B0606020202030204" pitchFamily="34" charset="0"/>
                        </a:rPr>
                        <a:t>Vaccination à tout contact pour la réduction des OVM</a:t>
                      </a:r>
                      <a:endParaRPr lang="fr-FR" sz="1800" b="0" i="0" u="none" strike="noStrike" dirty="0">
                        <a:solidFill>
                          <a:schemeClr val="tx1"/>
                        </a:solidFill>
                        <a:effectLst/>
                        <a:latin typeface="Arial Narrow" panose="020B0606020202030204" pitchFamily="34" charset="0"/>
                      </a:endParaRPr>
                    </a:p>
                  </a:txBody>
                  <a:tcPr marL="6350" marR="6350" marT="6350" marB="0" anchor="b"/>
                </a:tc>
                <a:tc>
                  <a:txBody>
                    <a:bodyPr/>
                    <a:lstStyle/>
                    <a:p>
                      <a:pPr algn="ctr" fontAlgn="ctr"/>
                      <a:r>
                        <a:rPr lang="fr-FR" sz="1800" u="none" strike="noStrike">
                          <a:effectLst/>
                          <a:latin typeface="Arial Narrow" panose="020B0606020202030204" pitchFamily="34" charset="0"/>
                        </a:rPr>
                        <a:t>0%</a:t>
                      </a:r>
                      <a:endParaRPr lang="fr-FR" sz="1800" b="0" i="0" u="none" strike="noStrike">
                        <a:solidFill>
                          <a:srgbClr val="000000"/>
                        </a:solidFill>
                        <a:effectLst/>
                        <a:latin typeface="Arial Narrow" panose="020B0606020202030204" pitchFamily="34" charset="0"/>
                      </a:endParaRPr>
                    </a:p>
                  </a:txBody>
                  <a:tcPr marL="6350" marR="6350" marT="6350" marB="0" anchor="ctr"/>
                </a:tc>
                <a:tc>
                  <a:txBody>
                    <a:bodyPr/>
                    <a:lstStyle/>
                    <a:p>
                      <a:pPr algn="ctr" fontAlgn="ctr"/>
                      <a:r>
                        <a:rPr lang="fr-FR" sz="1800" u="none" strike="noStrike" dirty="0">
                          <a:effectLst/>
                          <a:latin typeface="Arial Narrow" panose="020B0606020202030204" pitchFamily="34" charset="0"/>
                        </a:rPr>
                        <a:t>0%</a:t>
                      </a:r>
                      <a:endParaRPr lang="fr-FR" sz="1800" b="0" i="0" u="none" strike="noStrike" dirty="0">
                        <a:solidFill>
                          <a:srgbClr val="000000"/>
                        </a:solidFill>
                        <a:effectLst/>
                        <a:latin typeface="Arial Narrow" panose="020B0606020202030204" pitchFamily="34" charset="0"/>
                      </a:endParaRPr>
                    </a:p>
                  </a:txBody>
                  <a:tcPr marL="6350" marR="6350" marT="6350" marB="0" anchor="ctr"/>
                </a:tc>
                <a:tc>
                  <a:txBody>
                    <a:bodyPr/>
                    <a:lstStyle/>
                    <a:p>
                      <a:pPr algn="ctr" rtl="0" fontAlgn="ctr"/>
                      <a:r>
                        <a:rPr lang="fr-FR" sz="1800" u="none" strike="noStrike" dirty="0">
                          <a:effectLst/>
                          <a:latin typeface="Arial Narrow" panose="020B0606020202030204" pitchFamily="34" charset="0"/>
                        </a:rPr>
                        <a:t>0</a:t>
                      </a:r>
                      <a:endParaRPr lang="fr-FR" sz="1800" b="0" i="0" u="none" strike="noStrike" dirty="0">
                        <a:solidFill>
                          <a:srgbClr val="000000"/>
                        </a:solidFill>
                        <a:effectLst/>
                        <a:latin typeface="Arial Narrow" panose="020B0606020202030204" pitchFamily="34" charset="0"/>
                      </a:endParaRPr>
                    </a:p>
                  </a:txBody>
                  <a:tcPr marL="6350" marR="6350" marT="6350" marB="0" anchor="ctr"/>
                </a:tc>
                <a:tc>
                  <a:txBody>
                    <a:bodyPr/>
                    <a:lstStyle/>
                    <a:p>
                      <a:pPr algn="ctr" rtl="0" fontAlgn="ctr"/>
                      <a:r>
                        <a:rPr lang="fr-FR" sz="1800" u="none" strike="noStrike">
                          <a:effectLst/>
                          <a:latin typeface="Arial Narrow" panose="020B0606020202030204" pitchFamily="34" charset="0"/>
                        </a:rPr>
                        <a:t>0</a:t>
                      </a:r>
                      <a:endParaRPr lang="fr-FR" sz="1800" b="0" i="0" u="none" strike="noStrike">
                        <a:solidFill>
                          <a:srgbClr val="000000"/>
                        </a:solidFill>
                        <a:effectLst/>
                        <a:latin typeface="Arial Narrow" panose="020B0606020202030204" pitchFamily="34" charset="0"/>
                      </a:endParaRPr>
                    </a:p>
                  </a:txBody>
                  <a:tcPr marL="6350" marR="6350" marT="6350" marB="0" anchor="ctr"/>
                </a:tc>
                <a:tc>
                  <a:txBody>
                    <a:bodyPr/>
                    <a:lstStyle/>
                    <a:p>
                      <a:pPr algn="ctr" rtl="0" fontAlgn="ctr"/>
                      <a:r>
                        <a:rPr lang="fr-FR" sz="1800" u="none" strike="noStrike" dirty="0">
                          <a:effectLst/>
                          <a:latin typeface="Arial Narrow" panose="020B0606020202030204" pitchFamily="34" charset="0"/>
                        </a:rPr>
                        <a:t>0</a:t>
                      </a:r>
                      <a:endParaRPr lang="fr-FR" sz="1800" b="0" i="0" u="none" strike="noStrike" dirty="0">
                        <a:solidFill>
                          <a:srgbClr val="000000"/>
                        </a:solidFill>
                        <a:effectLst/>
                        <a:latin typeface="Arial Narrow" panose="020B0606020202030204" pitchFamily="34" charset="0"/>
                      </a:endParaRPr>
                    </a:p>
                  </a:txBody>
                  <a:tcPr marL="6350" marR="6350" marT="6350" marB="0" anchor="ctr"/>
                </a:tc>
                <a:extLst>
                  <a:ext uri="{0D108BD9-81ED-4DB2-BD59-A6C34878D82A}">
                    <a16:rowId xmlns:a16="http://schemas.microsoft.com/office/drawing/2014/main" val="284020343"/>
                  </a:ext>
                </a:extLst>
              </a:tr>
              <a:tr h="829060">
                <a:tc>
                  <a:txBody>
                    <a:bodyPr/>
                    <a:lstStyle/>
                    <a:p>
                      <a:pPr algn="l" fontAlgn="b"/>
                      <a:r>
                        <a:rPr lang="fr-FR" sz="1800" u="none" strike="noStrike" dirty="0">
                          <a:effectLst/>
                          <a:latin typeface="Arial Narrow" panose="020B0606020202030204" pitchFamily="34" charset="0"/>
                        </a:rPr>
                        <a:t>Autres à préciser (Initiatives locales de récupération des EZD et SV)</a:t>
                      </a:r>
                      <a:endParaRPr lang="fr-FR" sz="1800" b="0" i="0" u="none" strike="noStrike" dirty="0">
                        <a:solidFill>
                          <a:schemeClr val="tx1"/>
                        </a:solidFill>
                        <a:effectLst/>
                        <a:latin typeface="Arial Narrow" panose="020B0606020202030204" pitchFamily="34" charset="0"/>
                      </a:endParaRPr>
                    </a:p>
                  </a:txBody>
                  <a:tcPr marL="6350" marR="6350" marT="6350" marB="0" anchor="b"/>
                </a:tc>
                <a:tc>
                  <a:txBody>
                    <a:bodyPr/>
                    <a:lstStyle/>
                    <a:p>
                      <a:pPr algn="ctr" fontAlgn="ctr"/>
                      <a:r>
                        <a:rPr lang="fr-FR" sz="1800" u="none" strike="noStrike" dirty="0">
                          <a:effectLst/>
                          <a:latin typeface="Arial Narrow" panose="020B0606020202030204" pitchFamily="34" charset="0"/>
                        </a:rPr>
                        <a:t> </a:t>
                      </a:r>
                      <a:endParaRPr lang="fr-FR" sz="1800" b="0" i="0" u="none" strike="noStrike" dirty="0">
                        <a:solidFill>
                          <a:srgbClr val="000000"/>
                        </a:solidFill>
                        <a:effectLst/>
                        <a:latin typeface="Arial Narrow" panose="020B0606020202030204" pitchFamily="34" charset="0"/>
                      </a:endParaRPr>
                    </a:p>
                  </a:txBody>
                  <a:tcPr marL="6350" marR="6350" marT="6350" marB="0" anchor="ctr"/>
                </a:tc>
                <a:tc>
                  <a:txBody>
                    <a:bodyPr/>
                    <a:lstStyle/>
                    <a:p>
                      <a:pPr algn="ctr" fontAlgn="ctr"/>
                      <a:r>
                        <a:rPr lang="fr-FR" sz="1800" u="none" strike="noStrike" dirty="0">
                          <a:effectLst/>
                          <a:latin typeface="Arial Narrow" panose="020B0606020202030204" pitchFamily="34" charset="0"/>
                        </a:rPr>
                        <a:t> </a:t>
                      </a:r>
                      <a:endParaRPr lang="fr-FR" sz="1800" b="0" i="0" u="none" strike="noStrike" dirty="0">
                        <a:solidFill>
                          <a:srgbClr val="000000"/>
                        </a:solidFill>
                        <a:effectLst/>
                        <a:latin typeface="Arial Narrow" panose="020B0606020202030204" pitchFamily="34" charset="0"/>
                      </a:endParaRPr>
                    </a:p>
                  </a:txBody>
                  <a:tcPr marL="6350" marR="6350" marT="6350" marB="0" anchor="ctr"/>
                </a:tc>
                <a:tc>
                  <a:txBody>
                    <a:bodyPr/>
                    <a:lstStyle/>
                    <a:p>
                      <a:pPr algn="ctr" fontAlgn="ctr"/>
                      <a:endParaRPr lang="fr-FR" sz="1800" b="0" i="0" u="none" strike="noStrike" dirty="0">
                        <a:solidFill>
                          <a:srgbClr val="000000"/>
                        </a:solidFill>
                        <a:effectLst/>
                        <a:latin typeface="Arial Narrow" panose="020B0606020202030204" pitchFamily="34" charset="0"/>
                      </a:endParaRPr>
                    </a:p>
                  </a:txBody>
                  <a:tcPr marL="6350" marR="6350" marT="6350" marB="0" anchor="ctr"/>
                </a:tc>
                <a:tc>
                  <a:txBody>
                    <a:bodyPr/>
                    <a:lstStyle/>
                    <a:p>
                      <a:pPr algn="ctr" fontAlgn="ctr"/>
                      <a:endParaRPr lang="fr-FR" sz="1800" b="0" i="0" u="none" strike="noStrike" dirty="0">
                        <a:solidFill>
                          <a:srgbClr val="000000"/>
                        </a:solidFill>
                        <a:effectLst/>
                        <a:latin typeface="Arial Narrow" panose="020B0606020202030204" pitchFamily="34" charset="0"/>
                      </a:endParaRPr>
                    </a:p>
                  </a:txBody>
                  <a:tcPr marL="6350" marR="6350" marT="6350" marB="0" anchor="ctr"/>
                </a:tc>
                <a:tc>
                  <a:txBody>
                    <a:bodyPr/>
                    <a:lstStyle/>
                    <a:p>
                      <a:pPr algn="ctr" fontAlgn="ctr"/>
                      <a:endParaRPr lang="fr-FR" sz="1800" b="0" i="0" u="none" strike="noStrike" dirty="0">
                        <a:solidFill>
                          <a:srgbClr val="000000"/>
                        </a:solidFill>
                        <a:effectLst/>
                        <a:latin typeface="Arial Narrow" panose="020B0606020202030204" pitchFamily="34" charset="0"/>
                      </a:endParaRPr>
                    </a:p>
                  </a:txBody>
                  <a:tcPr marL="6350" marR="6350" marT="6350" marB="0" anchor="ctr"/>
                </a:tc>
                <a:extLst>
                  <a:ext uri="{0D108BD9-81ED-4DB2-BD59-A6C34878D82A}">
                    <a16:rowId xmlns:a16="http://schemas.microsoft.com/office/drawing/2014/main" val="2747659257"/>
                  </a:ext>
                </a:extLst>
              </a:tr>
              <a:tr h="444834">
                <a:tc>
                  <a:txBody>
                    <a:bodyPr/>
                    <a:lstStyle/>
                    <a:p>
                      <a:pPr algn="l" fontAlgn="b"/>
                      <a:r>
                        <a:rPr lang="fr-FR" sz="1800" u="none" strike="noStrike">
                          <a:effectLst/>
                          <a:latin typeface="Arial Narrow" panose="020B0606020202030204" pitchFamily="34" charset="0"/>
                        </a:rPr>
                        <a:t>Total </a:t>
                      </a:r>
                      <a:endParaRPr lang="fr-FR" sz="1800" b="1" i="0" u="none" strike="noStrike">
                        <a:solidFill>
                          <a:schemeClr val="tx1"/>
                        </a:solidFill>
                        <a:effectLst/>
                        <a:latin typeface="Arial Narrow" panose="020B0606020202030204" pitchFamily="34" charset="0"/>
                      </a:endParaRPr>
                    </a:p>
                  </a:txBody>
                  <a:tcPr marL="6350" marR="6350" marT="6350" marB="0" anchor="b"/>
                </a:tc>
                <a:tc>
                  <a:txBody>
                    <a:bodyPr/>
                    <a:lstStyle/>
                    <a:p>
                      <a:pPr algn="ctr" fontAlgn="ctr"/>
                      <a:r>
                        <a:rPr lang="fr-FR" sz="1800" u="none" strike="noStrike">
                          <a:effectLst/>
                          <a:latin typeface="Arial Narrow" panose="020B0606020202030204" pitchFamily="34" charset="0"/>
                        </a:rPr>
                        <a:t> </a:t>
                      </a:r>
                      <a:endParaRPr lang="fr-FR" sz="1800" b="0" i="0" u="none" strike="noStrike">
                        <a:solidFill>
                          <a:srgbClr val="000000"/>
                        </a:solidFill>
                        <a:effectLst/>
                        <a:latin typeface="Arial Narrow" panose="020B0606020202030204" pitchFamily="34" charset="0"/>
                      </a:endParaRPr>
                    </a:p>
                  </a:txBody>
                  <a:tcPr marL="6350" marR="6350" marT="6350" marB="0" anchor="ctr"/>
                </a:tc>
                <a:tc>
                  <a:txBody>
                    <a:bodyPr/>
                    <a:lstStyle/>
                    <a:p>
                      <a:pPr algn="ctr" fontAlgn="ctr"/>
                      <a:r>
                        <a:rPr lang="fr-FR" sz="1800" u="none" strike="noStrike">
                          <a:effectLst/>
                          <a:latin typeface="Arial Narrow" panose="020B0606020202030204" pitchFamily="34" charset="0"/>
                        </a:rPr>
                        <a:t> </a:t>
                      </a:r>
                      <a:endParaRPr lang="fr-FR" sz="1800" b="0" i="0" u="none" strike="noStrike">
                        <a:solidFill>
                          <a:srgbClr val="000000"/>
                        </a:solidFill>
                        <a:effectLst/>
                        <a:latin typeface="Arial Narrow" panose="020B0606020202030204" pitchFamily="34" charset="0"/>
                      </a:endParaRPr>
                    </a:p>
                  </a:txBody>
                  <a:tcPr marL="6350" marR="6350" marT="6350" marB="0" anchor="ctr"/>
                </a:tc>
                <a:tc>
                  <a:txBody>
                    <a:bodyPr/>
                    <a:lstStyle/>
                    <a:p>
                      <a:pPr algn="ctr" rtl="0" fontAlgn="ctr"/>
                      <a:r>
                        <a:rPr lang="fr-FR" sz="1800" u="none" strike="noStrike" dirty="0">
                          <a:effectLst/>
                          <a:latin typeface="Arial Narrow" panose="020B0606020202030204" pitchFamily="34" charset="0"/>
                        </a:rPr>
                        <a:t>290 436</a:t>
                      </a:r>
                      <a:endParaRPr lang="fr-FR" sz="1800" b="0" i="0" u="none" strike="noStrike" dirty="0">
                        <a:solidFill>
                          <a:srgbClr val="000000"/>
                        </a:solidFill>
                        <a:effectLst/>
                        <a:latin typeface="Arial Narrow" panose="020B0606020202030204" pitchFamily="34" charset="0"/>
                      </a:endParaRPr>
                    </a:p>
                  </a:txBody>
                  <a:tcPr marL="6350" marR="6350" marT="6350" marB="0" anchor="ctr"/>
                </a:tc>
                <a:tc>
                  <a:txBody>
                    <a:bodyPr/>
                    <a:lstStyle/>
                    <a:p>
                      <a:pPr algn="ctr" rtl="0" fontAlgn="ctr"/>
                      <a:r>
                        <a:rPr lang="fr-FR" sz="1800" u="none" strike="noStrike">
                          <a:effectLst/>
                          <a:latin typeface="Arial Narrow" panose="020B0606020202030204" pitchFamily="34" charset="0"/>
                        </a:rPr>
                        <a:t>144087</a:t>
                      </a:r>
                      <a:endParaRPr lang="fr-FR" sz="1800" b="0" i="0" u="none" strike="noStrike">
                        <a:solidFill>
                          <a:srgbClr val="000000"/>
                        </a:solidFill>
                        <a:effectLst/>
                        <a:latin typeface="Arial Narrow" panose="020B0606020202030204" pitchFamily="34" charset="0"/>
                      </a:endParaRPr>
                    </a:p>
                  </a:txBody>
                  <a:tcPr marL="6350" marR="6350" marT="6350" marB="0" anchor="ctr"/>
                </a:tc>
                <a:tc>
                  <a:txBody>
                    <a:bodyPr/>
                    <a:lstStyle/>
                    <a:p>
                      <a:pPr algn="ctr" rtl="0" fontAlgn="ctr"/>
                      <a:r>
                        <a:rPr lang="fr-FR" sz="1800" u="none" strike="noStrike" dirty="0">
                          <a:effectLst/>
                          <a:latin typeface="Arial Narrow" panose="020B0606020202030204" pitchFamily="34" charset="0"/>
                        </a:rPr>
                        <a:t>434 523</a:t>
                      </a:r>
                      <a:endParaRPr lang="fr-FR" sz="1800" b="0" i="0" u="none" strike="noStrike" dirty="0">
                        <a:solidFill>
                          <a:srgbClr val="000000"/>
                        </a:solidFill>
                        <a:effectLst/>
                        <a:latin typeface="Arial Narrow" panose="020B0606020202030204" pitchFamily="34" charset="0"/>
                      </a:endParaRPr>
                    </a:p>
                  </a:txBody>
                  <a:tcPr marL="6350" marR="6350" marT="6350" marB="0" anchor="ctr"/>
                </a:tc>
                <a:extLst>
                  <a:ext uri="{0D108BD9-81ED-4DB2-BD59-A6C34878D82A}">
                    <a16:rowId xmlns:a16="http://schemas.microsoft.com/office/drawing/2014/main" val="4157798712"/>
                  </a:ext>
                </a:extLst>
              </a:tr>
            </a:tbl>
          </a:graphicData>
        </a:graphic>
      </p:graphicFrame>
    </p:spTree>
    <p:extLst>
      <p:ext uri="{BB962C8B-B14F-4D97-AF65-F5344CB8AC3E}">
        <p14:creationId xmlns:p14="http://schemas.microsoft.com/office/powerpoint/2010/main" val="22484136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15600" y="2170176"/>
            <a:ext cx="11360700" cy="1304543"/>
          </a:xfrm>
        </p:spPr>
        <p:style>
          <a:lnRef idx="2">
            <a:schemeClr val="dk1"/>
          </a:lnRef>
          <a:fillRef idx="1">
            <a:schemeClr val="lt1"/>
          </a:fillRef>
          <a:effectRef idx="0">
            <a:schemeClr val="dk1"/>
          </a:effectRef>
          <a:fontRef idx="minor">
            <a:schemeClr val="dk1"/>
          </a:fontRef>
        </p:style>
        <p:txBody>
          <a:bodyPr>
            <a:normAutofit fontScale="90000"/>
          </a:bodyPr>
          <a:lstStyle/>
          <a:p>
            <a:pPr lvl="0"/>
            <a:r>
              <a:rPr lang="en-US" sz="36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RÉSULTATS OBTENUS</a:t>
            </a:r>
            <a:r>
              <a:rPr lang="en-US" sz="40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36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IPVS Juillet- </a:t>
            </a:r>
            <a:r>
              <a:rPr lang="en-US" sz="3600" dirty="0" err="1"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Août</a:t>
            </a:r>
            <a:r>
              <a:rPr lang="en-US" sz="36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 et Septembre2025</a:t>
            </a:r>
            <a:r>
              <a:rPr lang="en-US" sz="36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r>
            <a:br>
              <a:rPr lang="en-US" sz="36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br>
            <a:endParaRPr lang="fr-FR" dirty="0"/>
          </a:p>
        </p:txBody>
      </p:sp>
    </p:spTree>
    <p:extLst>
      <p:ext uri="{BB962C8B-B14F-4D97-AF65-F5344CB8AC3E}">
        <p14:creationId xmlns:p14="http://schemas.microsoft.com/office/powerpoint/2010/main" val="313646243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39412" cy="752475"/>
          </a:xfrm>
        </p:spPr>
        <p:style>
          <a:lnRef idx="1">
            <a:schemeClr val="dk1"/>
          </a:lnRef>
          <a:fillRef idx="2">
            <a:schemeClr val="dk1"/>
          </a:fillRef>
          <a:effectRef idx="1">
            <a:schemeClr val="dk1"/>
          </a:effectRef>
          <a:fontRef idx="minor">
            <a:schemeClr val="dk1"/>
          </a:fontRef>
        </p:style>
        <p:txBody>
          <a:bodyPr>
            <a:normAutofit/>
          </a:bodyPr>
          <a:lstStyle/>
          <a:p>
            <a:r>
              <a:rPr lang="fr-FR" sz="3600" dirty="0" smtClean="0">
                <a:latin typeface="Bahnschrift Condensed" panose="020B0502040204020203" pitchFamily="34" charset="0"/>
              </a:rPr>
              <a:t>8. 1. DECOMPTE </a:t>
            </a:r>
            <a:r>
              <a:rPr lang="fr-FR" sz="3600" dirty="0">
                <a:latin typeface="Bahnschrift Condensed" panose="020B0502040204020203" pitchFamily="34" charset="0"/>
              </a:rPr>
              <a:t>ZEROS DOSE</a:t>
            </a:r>
          </a:p>
        </p:txBody>
      </p:sp>
      <p:sp>
        <p:nvSpPr>
          <p:cNvPr id="7" name="Espace réservé de la date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E0DE19D-2DAB-4D58-BB62-AE86CD84422E}"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12/16/2025</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Espace réservé du pied de page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t>REVUE NATIONALE ANNUELLE PEV DPS KASAÏ</a:t>
            </a:r>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3" name="Tableau 2"/>
          <p:cNvGraphicFramePr>
            <a:graphicFrameLocks noGrp="1"/>
          </p:cNvGraphicFramePr>
          <p:nvPr>
            <p:extLst>
              <p:ext uri="{D42A27DB-BD31-4B8C-83A1-F6EECF244321}">
                <p14:modId xmlns:p14="http://schemas.microsoft.com/office/powerpoint/2010/main" val="730433656"/>
              </p:ext>
            </p:extLst>
          </p:nvPr>
        </p:nvGraphicFramePr>
        <p:xfrm>
          <a:off x="905162" y="1173022"/>
          <a:ext cx="10446330" cy="5430520"/>
        </p:xfrm>
        <a:graphic>
          <a:graphicData uri="http://schemas.openxmlformats.org/drawingml/2006/table">
            <a:tbl>
              <a:tblPr/>
              <a:tblGrid>
                <a:gridCol w="1297680">
                  <a:extLst>
                    <a:ext uri="{9D8B030D-6E8A-4147-A177-3AD203B41FA5}">
                      <a16:colId xmlns:a16="http://schemas.microsoft.com/office/drawing/2014/main" val="3094666778"/>
                    </a:ext>
                  </a:extLst>
                </a:gridCol>
                <a:gridCol w="951633">
                  <a:extLst>
                    <a:ext uri="{9D8B030D-6E8A-4147-A177-3AD203B41FA5}">
                      <a16:colId xmlns:a16="http://schemas.microsoft.com/office/drawing/2014/main" val="3500964411"/>
                    </a:ext>
                  </a:extLst>
                </a:gridCol>
                <a:gridCol w="908376">
                  <a:extLst>
                    <a:ext uri="{9D8B030D-6E8A-4147-A177-3AD203B41FA5}">
                      <a16:colId xmlns:a16="http://schemas.microsoft.com/office/drawing/2014/main" val="3463542662"/>
                    </a:ext>
                  </a:extLst>
                </a:gridCol>
                <a:gridCol w="865121">
                  <a:extLst>
                    <a:ext uri="{9D8B030D-6E8A-4147-A177-3AD203B41FA5}">
                      <a16:colId xmlns:a16="http://schemas.microsoft.com/office/drawing/2014/main" val="3346604022"/>
                    </a:ext>
                  </a:extLst>
                </a:gridCol>
                <a:gridCol w="886748">
                  <a:extLst>
                    <a:ext uri="{9D8B030D-6E8A-4147-A177-3AD203B41FA5}">
                      <a16:colId xmlns:a16="http://schemas.microsoft.com/office/drawing/2014/main" val="736641492"/>
                    </a:ext>
                  </a:extLst>
                </a:gridCol>
                <a:gridCol w="865121">
                  <a:extLst>
                    <a:ext uri="{9D8B030D-6E8A-4147-A177-3AD203B41FA5}">
                      <a16:colId xmlns:a16="http://schemas.microsoft.com/office/drawing/2014/main" val="2543263577"/>
                    </a:ext>
                  </a:extLst>
                </a:gridCol>
                <a:gridCol w="930004">
                  <a:extLst>
                    <a:ext uri="{9D8B030D-6E8A-4147-A177-3AD203B41FA5}">
                      <a16:colId xmlns:a16="http://schemas.microsoft.com/office/drawing/2014/main" val="1592733424"/>
                    </a:ext>
                  </a:extLst>
                </a:gridCol>
                <a:gridCol w="951633">
                  <a:extLst>
                    <a:ext uri="{9D8B030D-6E8A-4147-A177-3AD203B41FA5}">
                      <a16:colId xmlns:a16="http://schemas.microsoft.com/office/drawing/2014/main" val="3912811190"/>
                    </a:ext>
                  </a:extLst>
                </a:gridCol>
                <a:gridCol w="930004">
                  <a:extLst>
                    <a:ext uri="{9D8B030D-6E8A-4147-A177-3AD203B41FA5}">
                      <a16:colId xmlns:a16="http://schemas.microsoft.com/office/drawing/2014/main" val="2164919624"/>
                    </a:ext>
                  </a:extLst>
                </a:gridCol>
                <a:gridCol w="800237">
                  <a:extLst>
                    <a:ext uri="{9D8B030D-6E8A-4147-A177-3AD203B41FA5}">
                      <a16:colId xmlns:a16="http://schemas.microsoft.com/office/drawing/2014/main" val="2862861342"/>
                    </a:ext>
                  </a:extLst>
                </a:gridCol>
                <a:gridCol w="1059773">
                  <a:extLst>
                    <a:ext uri="{9D8B030D-6E8A-4147-A177-3AD203B41FA5}">
                      <a16:colId xmlns:a16="http://schemas.microsoft.com/office/drawing/2014/main" val="1271352091"/>
                    </a:ext>
                  </a:extLst>
                </a:gridCol>
              </a:tblGrid>
              <a:tr h="477680">
                <a:tc>
                  <a:txBody>
                    <a:bodyPr/>
                    <a:lstStyle/>
                    <a:p>
                      <a:pPr algn="ctr" rtl="0" fontAlgn="ctr"/>
                      <a:r>
                        <a:rPr lang="fr-FR" sz="1400" b="0" i="0" u="none" strike="noStrike">
                          <a:solidFill>
                            <a:srgbClr val="000000"/>
                          </a:solidFill>
                          <a:effectLst>
                            <a:outerShdw blurRad="50800" dist="38100" algn="tr" rotWithShape="0">
                              <a:prstClr val="black">
                                <a:alpha val="40000"/>
                              </a:prstClr>
                            </a:outerShdw>
                          </a:effectLst>
                          <a:latin typeface="Bahnschrift Condensed" panose="020B0502040204020203" pitchFamily="34" charset="0"/>
                        </a:rPr>
                        <a:t>ZONES DE SANTE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ctr"/>
                      <a:r>
                        <a:rPr lang="fr-FR" sz="1400" b="0" i="0" u="none" strike="noStrike">
                          <a:solidFill>
                            <a:srgbClr val="000000"/>
                          </a:solidFill>
                          <a:effectLst>
                            <a:outerShdw blurRad="50800" dist="38100" algn="tr" rotWithShape="0">
                              <a:prstClr val="black">
                                <a:alpha val="40000"/>
                              </a:prstClr>
                            </a:outerShdw>
                          </a:effectLst>
                          <a:latin typeface="Bahnschrift Condensed" panose="020B0502040204020203" pitchFamily="34" charset="0"/>
                        </a:rPr>
                        <a:t>ZD IDENTIFIES Phase 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ctr"/>
                      <a:r>
                        <a:rPr lang="fr-FR" sz="1400" b="0" i="0" u="none" strike="noStrike">
                          <a:solidFill>
                            <a:srgbClr val="000000"/>
                          </a:solidFill>
                          <a:effectLst>
                            <a:outerShdw blurRad="50800" dist="38100" algn="tr" rotWithShape="0">
                              <a:prstClr val="black">
                                <a:alpha val="40000"/>
                              </a:prstClr>
                            </a:outerShdw>
                          </a:effectLst>
                          <a:latin typeface="Bahnschrift Condensed" panose="020B0502040204020203" pitchFamily="34" charset="0"/>
                        </a:rPr>
                        <a:t>EZD IDENTIFIES Phase II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ctr"/>
                      <a:r>
                        <a:rPr lang="fr-FR" sz="1400" b="0" i="0" u="none" strike="noStrike">
                          <a:solidFill>
                            <a:srgbClr val="000000"/>
                          </a:solidFill>
                          <a:effectLst>
                            <a:outerShdw blurRad="50800" dist="38100" algn="tr" rotWithShape="0">
                              <a:prstClr val="black">
                                <a:alpha val="40000"/>
                              </a:prstClr>
                            </a:outerShdw>
                          </a:effectLst>
                          <a:latin typeface="Bahnschrift Condensed" panose="020B0502040204020203" pitchFamily="34" charset="0"/>
                        </a:rPr>
                        <a:t>EZD IDENTIFIES Phase III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ctr"/>
                      <a:r>
                        <a:rPr lang="fr-FR" sz="1400" b="0" i="0" u="none" strike="noStrike">
                          <a:solidFill>
                            <a:srgbClr val="000000"/>
                          </a:solidFill>
                          <a:effectLst>
                            <a:outerShdw blurRad="50800" dist="38100" algn="tr" rotWithShape="0">
                              <a:prstClr val="black">
                                <a:alpha val="40000"/>
                              </a:prstClr>
                            </a:outerShdw>
                          </a:effectLst>
                          <a:latin typeface="Bahnschrift Condensed" panose="020B0502040204020203" pitchFamily="34" charset="0"/>
                        </a:rPr>
                        <a:t>Total ZD IDENTIFIES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ctr"/>
                      <a:r>
                        <a:rPr lang="fr-FR" sz="1400" b="0" i="0" u="none" strike="noStrike">
                          <a:solidFill>
                            <a:srgbClr val="000000"/>
                          </a:solidFill>
                          <a:effectLst/>
                          <a:latin typeface="Bahnschrift Condensed" panose="020B0502040204020203" pitchFamily="34" charset="0"/>
                        </a:rPr>
                        <a:t>EZD VACCINES PHASE 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ctr"/>
                      <a:r>
                        <a:rPr lang="fr-FR" sz="1400" b="0" i="0" u="none" strike="noStrike">
                          <a:solidFill>
                            <a:srgbClr val="000000"/>
                          </a:solidFill>
                          <a:effectLst/>
                          <a:latin typeface="Bahnschrift Condensed" panose="020B0502040204020203" pitchFamily="34" charset="0"/>
                        </a:rPr>
                        <a:t>EZD VACCINES PHASE II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ctr"/>
                      <a:r>
                        <a:rPr lang="fr-FR" sz="1400" b="0" i="0" u="none" strike="noStrike">
                          <a:solidFill>
                            <a:srgbClr val="000000"/>
                          </a:solidFill>
                          <a:effectLst/>
                          <a:latin typeface="Bahnschrift Condensed" panose="020B0502040204020203" pitchFamily="34" charset="0"/>
                        </a:rPr>
                        <a:t>EZD VACCINES PHASE III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ctr"/>
                      <a:r>
                        <a:rPr lang="en-US" sz="1400" b="0" i="0" u="none" strike="noStrike">
                          <a:solidFill>
                            <a:srgbClr val="000000"/>
                          </a:solidFill>
                          <a:effectLst/>
                          <a:latin typeface="Bahnschrift Condensed" panose="020B0502040204020203" pitchFamily="34" charset="0"/>
                        </a:rPr>
                        <a:t>Total EZD VACCINES PHASE III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ctr"/>
                      <a:r>
                        <a:rPr lang="fr-FR" sz="1400" b="0" i="0" u="none" strike="noStrike">
                          <a:solidFill>
                            <a:srgbClr val="000000"/>
                          </a:solidFill>
                          <a:effectLst/>
                          <a:latin typeface="Bahnschrift Condensed" panose="020B0502040204020203" pitchFamily="34" charset="0"/>
                        </a:rPr>
                        <a:t>solde EZD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ctr"/>
                      <a:r>
                        <a:rPr lang="fr-FR" sz="1400" b="0" i="0" u="none" strike="noStrike">
                          <a:solidFill>
                            <a:srgbClr val="000000"/>
                          </a:solidFill>
                          <a:effectLst/>
                          <a:latin typeface="Bahnschrift Condensed" panose="020B0502040204020203" pitchFamily="34" charset="0"/>
                        </a:rPr>
                        <a:t>SOLDE ZERO DOSES PHASE2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1248824870"/>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Banga Lubaka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884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72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45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1001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770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853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148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04080995"/>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Bulape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535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204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960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148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231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799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161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932809"/>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Dekese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389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389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278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1056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291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201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102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594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462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3564407958"/>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Ilebo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309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365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395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1069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236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477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398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1111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smtClean="0">
                          <a:solidFill>
                            <a:srgbClr val="000000"/>
                          </a:solidFill>
                          <a:effectLst/>
                          <a:latin typeface="Bahnschrift Condensed" panose="020B0502040204020203" pitchFamily="34" charset="0"/>
                        </a:rPr>
                        <a:t>2</a:t>
                      </a:r>
                      <a:endParaRPr lang="fr-FR" sz="16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smtClean="0">
                          <a:solidFill>
                            <a:srgbClr val="000000"/>
                          </a:solidFill>
                          <a:effectLst/>
                          <a:latin typeface="Bahnschrift Condensed" panose="020B0502040204020203" pitchFamily="34" charset="0"/>
                        </a:rPr>
                        <a:t>0%</a:t>
                      </a:r>
                      <a:endParaRPr lang="fr-FR" sz="16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978824"/>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Kakenge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991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1171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560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2722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843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1335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542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2720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8230897"/>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Kalonda Ouest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1201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776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691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2668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967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822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648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2437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231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7139053"/>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Kamonia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731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1314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570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2615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669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1887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728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461042002"/>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Kamwesha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2898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dirty="0">
                          <a:solidFill>
                            <a:srgbClr val="000000"/>
                          </a:solidFill>
                          <a:effectLst/>
                          <a:latin typeface="Bahnschrift Condensed" panose="020B0502040204020203"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2861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5759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2862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1735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2866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7463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smtClean="0">
                          <a:solidFill>
                            <a:srgbClr val="000000"/>
                          </a:solidFill>
                          <a:effectLst/>
                          <a:latin typeface="Bahnschrift Condensed" panose="020B0502040204020203" pitchFamily="34" charset="0"/>
                        </a:rPr>
                        <a:t>1</a:t>
                      </a:r>
                      <a:endParaRPr lang="fr-FR" sz="16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smtClean="0">
                          <a:solidFill>
                            <a:srgbClr val="000000"/>
                          </a:solidFill>
                          <a:effectLst/>
                          <a:latin typeface="Bahnschrift Condensed" panose="020B0502040204020203" pitchFamily="34" charset="0"/>
                        </a:rPr>
                        <a:t>0%</a:t>
                      </a:r>
                      <a:endParaRPr lang="fr-FR" sz="16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12778750"/>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Kanzala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333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877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249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1459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342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248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910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549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2300438291"/>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Kitangwa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1151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1000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2151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1000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1000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2000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151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a:solidFill>
                            <a:srgbClr val="000000"/>
                          </a:solidFill>
                          <a:effectLst/>
                          <a:latin typeface="Bahnschrift Condensed" panose="020B0502040204020203"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0061677"/>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Luebo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635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644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290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1569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549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378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296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1223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346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1093487353"/>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Mikope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537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627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1193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436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496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961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232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3162058"/>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Mushenge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189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122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311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189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2657841838"/>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Mutena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2037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1268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1079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4384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1818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825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1079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3722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662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3815413"/>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Mweka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667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603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186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1456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484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243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186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913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543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4066559021"/>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Ndjoko Mpunda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565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152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65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782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443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99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607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175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2480130205"/>
                  </a:ext>
                </a:extLst>
              </a:tr>
              <a:tr h="236394">
                <a:tc>
                  <a:txBody>
                    <a:bodyPr/>
                    <a:lstStyle/>
                    <a:p>
                      <a:pPr algn="l" fontAlgn="ctr"/>
                      <a:r>
                        <a:rPr lang="fr-FR" sz="1600" b="0" i="0" u="none" strike="noStrike" dirty="0">
                          <a:solidFill>
                            <a:srgbClr val="000000"/>
                          </a:solidFill>
                          <a:effectLst/>
                          <a:latin typeface="Bahnschrift Condensed" panose="020B0502040204020203" pitchFamily="34" charset="0"/>
                        </a:rPr>
                        <a:t> Nyanga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ctr"/>
                      <a:r>
                        <a:rPr lang="fr-FR" sz="1600" b="0" i="0" u="none" strike="noStrike" dirty="0">
                          <a:solidFill>
                            <a:srgbClr val="000000"/>
                          </a:solidFill>
                          <a:effectLst/>
                          <a:latin typeface="Bahnschrift Condensed" panose="020B0502040204020203" pitchFamily="34" charset="0"/>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rtl="0" fontAlgn="b"/>
                      <a:r>
                        <a:rPr lang="fr-FR" sz="1600" b="0" i="0" u="none" strike="noStrike" dirty="0">
                          <a:solidFill>
                            <a:srgbClr val="000000"/>
                          </a:solidFill>
                          <a:effectLst/>
                          <a:latin typeface="Bahnschrift Condensed" panose="020B0502040204020203"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rtl="0" fontAlgn="b"/>
                      <a:r>
                        <a:rPr lang="fr-FR" sz="1600" b="0" i="0" u="none" strike="noStrike" dirty="0">
                          <a:solidFill>
                            <a:srgbClr val="000000"/>
                          </a:solidFill>
                          <a:effectLst/>
                          <a:latin typeface="Bahnschrift Condensed" panose="020B0502040204020203"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rtl="0"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fr-FR" sz="1600" b="0" i="0" u="none" strike="noStrike" dirty="0" smtClean="0">
                          <a:solidFill>
                            <a:srgbClr val="000000"/>
                          </a:solidFill>
                          <a:effectLst/>
                          <a:latin typeface="Bahnschrift Condensed" panose="020B0502040204020203" pitchFamily="34" charset="0"/>
                        </a:rPr>
                        <a:t>0</a:t>
                      </a:r>
                      <a:endParaRPr lang="fr-FR" sz="16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2576064754"/>
                  </a:ext>
                </a:extLst>
              </a:tr>
              <a:tr h="236394">
                <a:tc>
                  <a:txBody>
                    <a:bodyPr/>
                    <a:lstStyle/>
                    <a:p>
                      <a:pPr algn="l" fontAlgn="ctr"/>
                      <a:r>
                        <a:rPr lang="fr-FR" sz="1600" b="0" i="0" u="none" strike="noStrike" dirty="0">
                          <a:solidFill>
                            <a:srgbClr val="000000"/>
                          </a:solidFill>
                          <a:effectLst/>
                          <a:latin typeface="Bahnschrift Condensed" panose="020B0502040204020203" pitchFamily="34" charset="0"/>
                        </a:rPr>
                        <a:t> Tshikapa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dirty="0">
                          <a:solidFill>
                            <a:srgbClr val="000000"/>
                          </a:solidFill>
                          <a:effectLst/>
                          <a:latin typeface="Bahnschrift Condensed" panose="020B0502040204020203" pitchFamily="34" charset="0"/>
                        </a:rPr>
                        <a:t>2467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396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38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2901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2467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385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2890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a:solidFill>
                            <a:srgbClr val="000000"/>
                          </a:solidFill>
                          <a:effectLst/>
                          <a:latin typeface="Bahnschrift Condensed" panose="020B0502040204020203" pitchFamily="34" charset="0"/>
                        </a:rPr>
                        <a:t>11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7027152"/>
                  </a:ext>
                </a:extLst>
              </a:tr>
              <a:tr h="236394">
                <a:tc>
                  <a:txBody>
                    <a:bodyPr/>
                    <a:lstStyle/>
                    <a:p>
                      <a:pPr algn="l" fontAlgn="ctr"/>
                      <a:r>
                        <a:rPr lang="fr-FR" sz="1800" b="1" i="0" u="none" strike="noStrike">
                          <a:solidFill>
                            <a:srgbClr val="000000"/>
                          </a:solidFill>
                          <a:effectLst/>
                          <a:latin typeface="Bahnschrift Condensed" panose="020B0502040204020203" pitchFamily="34" charset="0"/>
                        </a:rPr>
                        <a:t>Total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800" b="1" i="0" u="none" strike="noStrike">
                          <a:solidFill>
                            <a:srgbClr val="000000"/>
                          </a:solidFill>
                          <a:effectLst/>
                          <a:latin typeface="Bahnschrift Condensed" panose="020B0502040204020203" pitchFamily="34" charset="0"/>
                        </a:rPr>
                        <a:t>16519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b"/>
                      <a:r>
                        <a:rPr lang="fr-FR" sz="1800" b="0" i="0" u="none" strike="noStrike">
                          <a:solidFill>
                            <a:srgbClr val="000000"/>
                          </a:solidFill>
                          <a:effectLst/>
                          <a:latin typeface="Bahnschrift Condensed" panose="020B0502040204020203" pitchFamily="34" charset="0"/>
                        </a:rPr>
                        <a:t>9980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b"/>
                      <a:r>
                        <a:rPr lang="fr-FR" sz="1800" b="0" i="0" u="none" strike="noStrike">
                          <a:solidFill>
                            <a:srgbClr val="000000"/>
                          </a:solidFill>
                          <a:effectLst/>
                          <a:latin typeface="Bahnschrift Condensed" panose="020B0502040204020203" pitchFamily="34" charset="0"/>
                        </a:rPr>
                        <a:t>7557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b"/>
                      <a:r>
                        <a:rPr lang="fr-FR" sz="1800" b="0" i="0" u="none" strike="noStrike">
                          <a:solidFill>
                            <a:srgbClr val="000000"/>
                          </a:solidFill>
                          <a:effectLst/>
                          <a:latin typeface="Bahnschrift Condensed" panose="020B0502040204020203" pitchFamily="34" charset="0"/>
                        </a:rPr>
                        <a:t>34056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800" b="1" i="0" u="none" strike="noStrike">
                          <a:solidFill>
                            <a:srgbClr val="000000"/>
                          </a:solidFill>
                          <a:effectLst/>
                          <a:latin typeface="Bahnschrift Condensed" panose="020B0502040204020203" pitchFamily="34" charset="0"/>
                        </a:rPr>
                        <a:t>14695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800" b="0" i="0" u="none" strike="noStrike">
                          <a:solidFill>
                            <a:srgbClr val="000000"/>
                          </a:solidFill>
                          <a:effectLst/>
                          <a:latin typeface="Bahnschrift Condensed" panose="020B0502040204020203" pitchFamily="34" charset="0"/>
                        </a:rPr>
                        <a:t>9253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800" b="0" i="0" u="none" strike="noStrike">
                          <a:solidFill>
                            <a:srgbClr val="000000"/>
                          </a:solidFill>
                          <a:effectLst/>
                          <a:latin typeface="Bahnschrift Condensed" panose="020B0502040204020203" pitchFamily="34" charset="0"/>
                        </a:rPr>
                        <a:t>7392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600" b="0" i="0" u="none" strike="noStrike">
                          <a:solidFill>
                            <a:srgbClr val="000000"/>
                          </a:solidFill>
                          <a:effectLst/>
                          <a:latin typeface="Bahnschrift Condensed" panose="020B0502040204020203" pitchFamily="34" charset="0"/>
                        </a:rPr>
                        <a:t>31340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600" b="0" i="0" u="none" strike="noStrike" dirty="0" smtClean="0">
                          <a:solidFill>
                            <a:srgbClr val="000000"/>
                          </a:solidFill>
                          <a:effectLst/>
                          <a:latin typeface="Bahnschrift Condensed" panose="020B0502040204020203" pitchFamily="34" charset="0"/>
                        </a:rPr>
                        <a:t>4465</a:t>
                      </a:r>
                      <a:endParaRPr lang="fr-FR" sz="16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600" b="0" i="0" u="none" strike="noStrike" dirty="0" smtClean="0">
                          <a:solidFill>
                            <a:srgbClr val="000000"/>
                          </a:solidFill>
                          <a:effectLst/>
                          <a:latin typeface="Bahnschrift Condensed" panose="020B0502040204020203" pitchFamily="34" charset="0"/>
                        </a:rPr>
                        <a:t>13%</a:t>
                      </a:r>
                      <a:endParaRPr lang="fr-FR" sz="16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2441530663"/>
                  </a:ext>
                </a:extLst>
              </a:tr>
            </a:tbl>
          </a:graphicData>
        </a:graphic>
      </p:graphicFrame>
    </p:spTree>
    <p:extLst>
      <p:ext uri="{BB962C8B-B14F-4D97-AF65-F5344CB8AC3E}">
        <p14:creationId xmlns:p14="http://schemas.microsoft.com/office/powerpoint/2010/main" val="1537418078"/>
      </p:ext>
    </p:extLst>
  </p:cSld>
  <p:clrMapOvr>
    <a:masterClrMapping/>
  </p:clrMapOvr>
  <p:transition spd="slow">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6"/>
            <a:ext cx="10515600" cy="743238"/>
          </a:xfrm>
        </p:spPr>
        <p:style>
          <a:lnRef idx="1">
            <a:schemeClr val="dk1"/>
          </a:lnRef>
          <a:fillRef idx="2">
            <a:schemeClr val="dk1"/>
          </a:fillRef>
          <a:effectRef idx="1">
            <a:schemeClr val="dk1"/>
          </a:effectRef>
          <a:fontRef idx="minor">
            <a:schemeClr val="dk1"/>
          </a:fontRef>
        </p:style>
        <p:txBody>
          <a:bodyPr>
            <a:normAutofit/>
          </a:bodyPr>
          <a:lstStyle/>
          <a:p>
            <a:r>
              <a:rPr lang="fr-FR" sz="4000" dirty="0" smtClean="0">
                <a:latin typeface="Bahnschrift Condensed" panose="020B0502040204020203" pitchFamily="34" charset="0"/>
              </a:rPr>
              <a:t>8.2. DECOMPTE </a:t>
            </a:r>
            <a:r>
              <a:rPr lang="fr-FR" sz="4000" dirty="0">
                <a:latin typeface="Bahnschrift Condensed" panose="020B0502040204020203" pitchFamily="34" charset="0"/>
              </a:rPr>
              <a:t>SOUS VACCINES</a:t>
            </a:r>
          </a:p>
        </p:txBody>
      </p:sp>
      <p:sp>
        <p:nvSpPr>
          <p:cNvPr id="7" name="Espace réservé de la date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4647C4A-A3D1-4D5E-A445-B39B70E67DFE}"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12/16/2025</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Espace réservé du pied de page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t>REVUE NATIONALE ANNUELLE PEV DPS KASAÏ</a:t>
            </a:r>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3" name="Tableau 2"/>
          <p:cNvGraphicFramePr>
            <a:graphicFrameLocks noGrp="1"/>
          </p:cNvGraphicFramePr>
          <p:nvPr>
            <p:extLst>
              <p:ext uri="{D42A27DB-BD31-4B8C-83A1-F6EECF244321}">
                <p14:modId xmlns:p14="http://schemas.microsoft.com/office/powerpoint/2010/main" val="2504323232"/>
              </p:ext>
            </p:extLst>
          </p:nvPr>
        </p:nvGraphicFramePr>
        <p:xfrm>
          <a:off x="886692" y="1154550"/>
          <a:ext cx="10427852" cy="5430520"/>
        </p:xfrm>
        <a:graphic>
          <a:graphicData uri="http://schemas.openxmlformats.org/drawingml/2006/table">
            <a:tbl>
              <a:tblPr/>
              <a:tblGrid>
                <a:gridCol w="1152249">
                  <a:extLst>
                    <a:ext uri="{9D8B030D-6E8A-4147-A177-3AD203B41FA5}">
                      <a16:colId xmlns:a16="http://schemas.microsoft.com/office/drawing/2014/main" val="3302373688"/>
                    </a:ext>
                  </a:extLst>
                </a:gridCol>
                <a:gridCol w="1152249">
                  <a:extLst>
                    <a:ext uri="{9D8B030D-6E8A-4147-A177-3AD203B41FA5}">
                      <a16:colId xmlns:a16="http://schemas.microsoft.com/office/drawing/2014/main" val="4181504691"/>
                    </a:ext>
                  </a:extLst>
                </a:gridCol>
                <a:gridCol w="748962">
                  <a:extLst>
                    <a:ext uri="{9D8B030D-6E8A-4147-A177-3AD203B41FA5}">
                      <a16:colId xmlns:a16="http://schemas.microsoft.com/office/drawing/2014/main" val="873234819"/>
                    </a:ext>
                  </a:extLst>
                </a:gridCol>
                <a:gridCol w="844983">
                  <a:extLst>
                    <a:ext uri="{9D8B030D-6E8A-4147-A177-3AD203B41FA5}">
                      <a16:colId xmlns:a16="http://schemas.microsoft.com/office/drawing/2014/main" val="2728475662"/>
                    </a:ext>
                  </a:extLst>
                </a:gridCol>
                <a:gridCol w="902594">
                  <a:extLst>
                    <a:ext uri="{9D8B030D-6E8A-4147-A177-3AD203B41FA5}">
                      <a16:colId xmlns:a16="http://schemas.microsoft.com/office/drawing/2014/main" val="2422714100"/>
                    </a:ext>
                  </a:extLst>
                </a:gridCol>
                <a:gridCol w="844983">
                  <a:extLst>
                    <a:ext uri="{9D8B030D-6E8A-4147-A177-3AD203B41FA5}">
                      <a16:colId xmlns:a16="http://schemas.microsoft.com/office/drawing/2014/main" val="496234366"/>
                    </a:ext>
                  </a:extLst>
                </a:gridCol>
                <a:gridCol w="825778">
                  <a:extLst>
                    <a:ext uri="{9D8B030D-6E8A-4147-A177-3AD203B41FA5}">
                      <a16:colId xmlns:a16="http://schemas.microsoft.com/office/drawing/2014/main" val="3953732995"/>
                    </a:ext>
                  </a:extLst>
                </a:gridCol>
                <a:gridCol w="825778">
                  <a:extLst>
                    <a:ext uri="{9D8B030D-6E8A-4147-A177-3AD203B41FA5}">
                      <a16:colId xmlns:a16="http://schemas.microsoft.com/office/drawing/2014/main" val="2176217506"/>
                    </a:ext>
                  </a:extLst>
                </a:gridCol>
                <a:gridCol w="825778">
                  <a:extLst>
                    <a:ext uri="{9D8B030D-6E8A-4147-A177-3AD203B41FA5}">
                      <a16:colId xmlns:a16="http://schemas.microsoft.com/office/drawing/2014/main" val="1701719543"/>
                    </a:ext>
                  </a:extLst>
                </a:gridCol>
                <a:gridCol w="1152249">
                  <a:extLst>
                    <a:ext uri="{9D8B030D-6E8A-4147-A177-3AD203B41FA5}">
                      <a16:colId xmlns:a16="http://schemas.microsoft.com/office/drawing/2014/main" val="3876175591"/>
                    </a:ext>
                  </a:extLst>
                </a:gridCol>
                <a:gridCol w="1152249">
                  <a:extLst>
                    <a:ext uri="{9D8B030D-6E8A-4147-A177-3AD203B41FA5}">
                      <a16:colId xmlns:a16="http://schemas.microsoft.com/office/drawing/2014/main" val="1778370390"/>
                    </a:ext>
                  </a:extLst>
                </a:gridCol>
              </a:tblGrid>
              <a:tr h="478567">
                <a:tc>
                  <a:txBody>
                    <a:bodyPr/>
                    <a:lstStyle/>
                    <a:p>
                      <a:pPr algn="ctr" rtl="0" fontAlgn="ctr"/>
                      <a:r>
                        <a:rPr lang="fr-FR" sz="1400" b="0" i="0" u="none" strike="noStrike">
                          <a:solidFill>
                            <a:srgbClr val="000000"/>
                          </a:solidFill>
                          <a:effectLst>
                            <a:outerShdw blurRad="50800" dist="38100" algn="tr" rotWithShape="0">
                              <a:prstClr val="black">
                                <a:alpha val="40000"/>
                              </a:prstClr>
                            </a:outerShdw>
                          </a:effectLst>
                          <a:latin typeface="Bahnschrift Condensed" panose="020B0502040204020203" pitchFamily="34" charset="0"/>
                        </a:rPr>
                        <a:t>ZONES DE SANTE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ctr"/>
                      <a:r>
                        <a:rPr lang="fr-FR" sz="1400" b="0" i="0" u="none" strike="noStrike">
                          <a:solidFill>
                            <a:srgbClr val="000000"/>
                          </a:solidFill>
                          <a:effectLst>
                            <a:outerShdw blurRad="50800" dist="38100" algn="tr" rotWithShape="0">
                              <a:prstClr val="black">
                                <a:alpha val="40000"/>
                              </a:prstClr>
                            </a:outerShdw>
                          </a:effectLst>
                          <a:latin typeface="Bahnschrift Condensed" panose="020B0502040204020203" pitchFamily="34" charset="0"/>
                        </a:rPr>
                        <a:t>ESV IDENTIFIES Phase 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ctr"/>
                      <a:r>
                        <a:rPr lang="fr-FR" sz="1400" b="0" i="0" u="none" strike="noStrike">
                          <a:solidFill>
                            <a:srgbClr val="000000"/>
                          </a:solidFill>
                          <a:effectLst>
                            <a:outerShdw blurRad="50800" dist="38100" algn="tr" rotWithShape="0">
                              <a:prstClr val="black">
                                <a:alpha val="40000"/>
                              </a:prstClr>
                            </a:outerShdw>
                          </a:effectLst>
                          <a:latin typeface="Bahnschrift Condensed" panose="020B0502040204020203" pitchFamily="34" charset="0"/>
                        </a:rPr>
                        <a:t>ESV IDENTIFIES Phase II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ctr"/>
                      <a:r>
                        <a:rPr lang="fr-FR" sz="1400" b="0" i="0" u="none" strike="noStrike">
                          <a:solidFill>
                            <a:srgbClr val="000000"/>
                          </a:solidFill>
                          <a:effectLst>
                            <a:outerShdw blurRad="50800" dist="38100" algn="tr" rotWithShape="0">
                              <a:prstClr val="black">
                                <a:alpha val="40000"/>
                              </a:prstClr>
                            </a:outerShdw>
                          </a:effectLst>
                          <a:latin typeface="Bahnschrift Condensed" panose="020B0502040204020203" pitchFamily="34" charset="0"/>
                        </a:rPr>
                        <a:t>ESV IDENTIFIES Phase III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ctr"/>
                      <a:r>
                        <a:rPr lang="fr-FR" sz="1400" b="0" i="0" u="none" strike="noStrike">
                          <a:solidFill>
                            <a:srgbClr val="000000"/>
                          </a:solidFill>
                          <a:effectLst>
                            <a:outerShdw blurRad="50800" dist="38100" algn="tr" rotWithShape="0">
                              <a:prstClr val="black">
                                <a:alpha val="40000"/>
                              </a:prstClr>
                            </a:outerShdw>
                          </a:effectLst>
                          <a:latin typeface="Bahnschrift Condensed" panose="020B0502040204020203" pitchFamily="34" charset="0"/>
                        </a:rPr>
                        <a:t>Total ESV IDENTIFIES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ctr"/>
                      <a:r>
                        <a:rPr lang="fr-FR" sz="1400" b="0" i="0" u="none" strike="noStrike">
                          <a:solidFill>
                            <a:srgbClr val="000000"/>
                          </a:solidFill>
                          <a:effectLst/>
                          <a:latin typeface="Bahnschrift Condensed" panose="020B0502040204020203" pitchFamily="34" charset="0"/>
                        </a:rPr>
                        <a:t>ESV VACCINES PHASE 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ctr"/>
                      <a:r>
                        <a:rPr lang="fr-FR" sz="1400" b="0" i="0" u="none" strike="noStrike">
                          <a:solidFill>
                            <a:srgbClr val="000000"/>
                          </a:solidFill>
                          <a:effectLst/>
                          <a:latin typeface="Bahnschrift Condensed" panose="020B0502040204020203" pitchFamily="34" charset="0"/>
                        </a:rPr>
                        <a:t>ESV VACCINES PHASE II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ctr"/>
                      <a:r>
                        <a:rPr lang="fr-FR" sz="1400" b="0" i="0" u="none" strike="noStrike">
                          <a:solidFill>
                            <a:srgbClr val="000000"/>
                          </a:solidFill>
                          <a:effectLst/>
                          <a:latin typeface="Bahnschrift Condensed" panose="020B0502040204020203" pitchFamily="34" charset="0"/>
                        </a:rPr>
                        <a:t>ESV VACCINES PHASE III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ctr"/>
                      <a:r>
                        <a:rPr lang="fr-FR" sz="1400" b="0" i="0" u="none" strike="noStrike">
                          <a:solidFill>
                            <a:srgbClr val="000000"/>
                          </a:solidFill>
                          <a:effectLst/>
                          <a:latin typeface="Bahnschrift Condensed" panose="020B0502040204020203" pitchFamily="34" charset="0"/>
                        </a:rPr>
                        <a:t>Total ESV vaccinés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ctr"/>
                      <a:r>
                        <a:rPr lang="fr-FR" sz="1400" b="0" i="0" u="none" strike="noStrike">
                          <a:solidFill>
                            <a:srgbClr val="000000"/>
                          </a:solidFill>
                          <a:effectLst/>
                          <a:latin typeface="Bahnschrift Condensed" panose="020B0502040204020203" pitchFamily="34" charset="0"/>
                        </a:rPr>
                        <a:t>SOLDE ESV DOSES PHASE2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ctr"/>
                      <a:r>
                        <a:rPr lang="fr-FR" sz="1400" b="0" i="0" u="none" strike="noStrike">
                          <a:solidFill>
                            <a:srgbClr val="000000"/>
                          </a:solidFill>
                          <a:effectLst/>
                          <a:latin typeface="Bahnschrift Condensed" panose="020B0502040204020203" pitchFamily="34" charset="0"/>
                        </a:rPr>
                        <a:t>Proportion Soldes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2882167030"/>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Banga Lubaka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932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628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915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2475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887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576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868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2331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144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38732901"/>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Bulape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448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294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317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1059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183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156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749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620500068"/>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Dekese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239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239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245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723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217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486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237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4206580141"/>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Ilebo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274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458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737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1469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237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401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757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1395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74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0147020"/>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Kakenge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1143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1624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904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3671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1078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1847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824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smtClean="0">
                          <a:solidFill>
                            <a:srgbClr val="000000"/>
                          </a:solidFill>
                          <a:effectLst/>
                          <a:latin typeface="Bahnschrift Condensed" panose="020B0502040204020203" pitchFamily="34" charset="0"/>
                        </a:rPr>
                        <a:t>3670</a:t>
                      </a:r>
                      <a:endParaRPr lang="fr-FR" sz="16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smtClean="0">
                          <a:solidFill>
                            <a:srgbClr val="000000"/>
                          </a:solidFill>
                          <a:effectLst/>
                          <a:latin typeface="Bahnschrift Condensed" panose="020B0502040204020203" pitchFamily="34" charset="0"/>
                        </a:rPr>
                        <a:t>1</a:t>
                      </a:r>
                      <a:endParaRPr lang="fr-FR" sz="16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smtClean="0">
                          <a:solidFill>
                            <a:schemeClr val="tx1"/>
                          </a:solidFill>
                          <a:effectLst/>
                          <a:latin typeface="Bahnschrift Condensed" panose="020B0502040204020203" pitchFamily="34" charset="0"/>
                        </a:rPr>
                        <a:t>0%</a:t>
                      </a:r>
                      <a:endParaRPr lang="fr-FR" sz="1600" b="0" i="0" u="none" strike="noStrike" dirty="0">
                        <a:solidFill>
                          <a:schemeClr val="tx1"/>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34457589"/>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Kalonda Ouest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1029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1275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931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3235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992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1256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506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2754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481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4980844"/>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Kamonia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664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1634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510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2808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a:solidFill>
                            <a:srgbClr val="000000"/>
                          </a:solidFill>
                          <a:effectLst/>
                          <a:latin typeface="Bahnschrift Condensed" panose="020B0502040204020203" pitchFamily="34" charset="0"/>
                        </a:rPr>
                        <a:t>612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700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606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1918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890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959882948"/>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Kamwesha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2787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2766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5553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2752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1802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2707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smtClean="0">
                          <a:solidFill>
                            <a:srgbClr val="000000"/>
                          </a:solidFill>
                          <a:effectLst/>
                          <a:latin typeface="Bahnschrift Condensed" panose="020B0502040204020203" pitchFamily="34" charset="0"/>
                        </a:rPr>
                        <a:t>5551</a:t>
                      </a:r>
                      <a:endParaRPr lang="fr-FR" sz="16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smtClean="0">
                          <a:solidFill>
                            <a:srgbClr val="000000"/>
                          </a:solidFill>
                          <a:effectLst/>
                          <a:latin typeface="Bahnschrift Condensed" panose="020B0502040204020203" pitchFamily="34" charset="0"/>
                        </a:rPr>
                        <a:t>2</a:t>
                      </a:r>
                      <a:endParaRPr lang="fr-FR" sz="16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smtClean="0">
                          <a:solidFill>
                            <a:schemeClr val="tx1"/>
                          </a:solidFill>
                          <a:effectLst/>
                          <a:latin typeface="Bahnschrift Condensed" panose="020B0502040204020203" pitchFamily="34" charset="0"/>
                        </a:rPr>
                        <a:t>0%</a:t>
                      </a:r>
                      <a:endParaRPr lang="fr-FR" sz="1600" b="0" i="0" u="none" strike="noStrike" dirty="0">
                        <a:solidFill>
                          <a:schemeClr val="tx1"/>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9435534"/>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Kanzala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484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1259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397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2140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408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660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1486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654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21767092"/>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Kitangwa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1282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1152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1169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3603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1152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1152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1169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3473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130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2728976"/>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Luebo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544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865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431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1840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460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288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570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1318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522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732564958"/>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Mikope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470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822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382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1674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392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631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382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1405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269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9329743"/>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Mushenge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214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887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560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1661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214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416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597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1227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434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7318244"/>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Mutena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2594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1210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1013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4817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2411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750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842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4003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814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91056535"/>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Mweka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669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668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352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1689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571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585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481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1637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94556299"/>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Ndjoko Mpunda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524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505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234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1263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197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209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833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430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126278845"/>
                  </a:ext>
                </a:extLst>
              </a:tr>
              <a:tr h="236833">
                <a:tc>
                  <a:txBody>
                    <a:bodyPr/>
                    <a:lstStyle/>
                    <a:p>
                      <a:pPr algn="l" fontAlgn="ctr"/>
                      <a:r>
                        <a:rPr lang="fr-FR" sz="1600" b="0" i="0" u="none" strike="noStrike" dirty="0">
                          <a:solidFill>
                            <a:srgbClr val="000000"/>
                          </a:solidFill>
                          <a:effectLst/>
                          <a:latin typeface="Bahnschrift Condensed" panose="020B0502040204020203" pitchFamily="34" charset="0"/>
                        </a:rPr>
                        <a:t> Nyanga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ctr"/>
                      <a:r>
                        <a:rPr lang="fr-FR" sz="1600" b="0" i="0" u="none" strike="noStrike" dirty="0">
                          <a:solidFill>
                            <a:srgbClr val="000000"/>
                          </a:solidFill>
                          <a:effectLst/>
                          <a:latin typeface="Bahnschrift Condensed" panose="020B0502040204020203" pitchFamily="34" charset="0"/>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rtl="0" fontAlgn="b"/>
                      <a:r>
                        <a:rPr lang="fr-FR" sz="1600" b="0" i="0" u="none" strike="noStrike" dirty="0">
                          <a:solidFill>
                            <a:srgbClr val="000000"/>
                          </a:solidFill>
                          <a:effectLst/>
                          <a:latin typeface="Bahnschrift Condensed" panose="020B0502040204020203"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rtl="0" fontAlgn="b"/>
                      <a:r>
                        <a:rPr lang="fr-FR" sz="1600" b="0" i="0" u="none" strike="noStrike" dirty="0">
                          <a:solidFill>
                            <a:srgbClr val="000000"/>
                          </a:solidFill>
                          <a:effectLst/>
                          <a:latin typeface="Bahnschrift Condensed" panose="020B0502040204020203"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rtl="0"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fr-FR" sz="1600" b="0" i="0" u="none" strike="noStrike" dirty="0" smtClean="0">
                          <a:solidFill>
                            <a:srgbClr val="000000"/>
                          </a:solidFill>
                          <a:effectLst/>
                          <a:latin typeface="Bahnschrift Condensed" panose="020B0502040204020203" pitchFamily="34" charset="0"/>
                        </a:rPr>
                        <a:t>0</a:t>
                      </a:r>
                      <a:endParaRPr lang="fr-FR" sz="16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4235623451"/>
                  </a:ext>
                </a:extLst>
              </a:tr>
              <a:tr h="236833">
                <a:tc>
                  <a:txBody>
                    <a:bodyPr/>
                    <a:lstStyle/>
                    <a:p>
                      <a:pPr algn="l" fontAlgn="ctr"/>
                      <a:r>
                        <a:rPr lang="fr-FR" sz="1600" b="0" i="0" u="none" strike="noStrike" dirty="0">
                          <a:solidFill>
                            <a:srgbClr val="000000"/>
                          </a:solidFill>
                          <a:effectLst/>
                          <a:latin typeface="Bahnschrift Condensed" panose="020B0502040204020203" pitchFamily="34" charset="0"/>
                        </a:rPr>
                        <a:t> Tshikapa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2756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2774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1012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6542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2423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2714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968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6105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437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42385929"/>
                  </a:ext>
                </a:extLst>
              </a:tr>
              <a:tr h="236833">
                <a:tc>
                  <a:txBody>
                    <a:bodyPr/>
                    <a:lstStyle/>
                    <a:p>
                      <a:pPr algn="l" fontAlgn="ctr"/>
                      <a:r>
                        <a:rPr lang="fr-FR" sz="1800" b="1" i="0" u="none" strike="noStrike">
                          <a:solidFill>
                            <a:srgbClr val="000000"/>
                          </a:solidFill>
                          <a:effectLst/>
                          <a:latin typeface="Bahnschrift Condensed" panose="020B0502040204020203" pitchFamily="34" charset="0"/>
                        </a:rPr>
                        <a:t>Total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800" b="1" i="0" u="none" strike="noStrike">
                          <a:solidFill>
                            <a:srgbClr val="000000"/>
                          </a:solidFill>
                          <a:effectLst/>
                          <a:latin typeface="Bahnschrift Condensed" panose="020B0502040204020203" pitchFamily="34" charset="0"/>
                        </a:rPr>
                        <a:t>17053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b"/>
                      <a:r>
                        <a:rPr lang="fr-FR" sz="1800" b="0" i="0" u="none" strike="noStrike">
                          <a:solidFill>
                            <a:srgbClr val="000000"/>
                          </a:solidFill>
                          <a:effectLst/>
                          <a:latin typeface="Bahnschrift Condensed" panose="020B0502040204020203" pitchFamily="34" charset="0"/>
                        </a:rPr>
                        <a:t>16294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b"/>
                      <a:r>
                        <a:rPr lang="fr-FR" sz="1800" b="0" i="0" u="none" strike="noStrike">
                          <a:solidFill>
                            <a:srgbClr val="000000"/>
                          </a:solidFill>
                          <a:effectLst/>
                          <a:latin typeface="Bahnschrift Condensed" panose="020B0502040204020203" pitchFamily="34" charset="0"/>
                        </a:rPr>
                        <a:t>12875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b"/>
                      <a:r>
                        <a:rPr lang="fr-FR" sz="1800" b="0" i="0" u="none" strike="noStrike">
                          <a:solidFill>
                            <a:srgbClr val="000000"/>
                          </a:solidFill>
                          <a:effectLst/>
                          <a:latin typeface="Bahnschrift Condensed" panose="020B0502040204020203" pitchFamily="34" charset="0"/>
                        </a:rPr>
                        <a:t>46222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800" b="1" i="0" u="none" strike="noStrike">
                          <a:solidFill>
                            <a:srgbClr val="000000"/>
                          </a:solidFill>
                          <a:effectLst/>
                          <a:latin typeface="Bahnschrift Condensed" panose="020B0502040204020203" pitchFamily="34" charset="0"/>
                        </a:rPr>
                        <a:t>15643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800" b="0" i="0" u="none" strike="noStrike">
                          <a:solidFill>
                            <a:srgbClr val="000000"/>
                          </a:solidFill>
                          <a:effectLst/>
                          <a:latin typeface="Bahnschrift Condensed" panose="020B0502040204020203" pitchFamily="34" charset="0"/>
                        </a:rPr>
                        <a:t>14385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800" b="0" i="0" u="none" strike="noStrike">
                          <a:solidFill>
                            <a:srgbClr val="000000"/>
                          </a:solidFill>
                          <a:effectLst/>
                          <a:latin typeface="Bahnschrift Condensed" panose="020B0502040204020203" pitchFamily="34" charset="0"/>
                        </a:rPr>
                        <a:t>11134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800" b="0" i="0" u="none" strike="noStrike">
                          <a:solidFill>
                            <a:srgbClr val="000000"/>
                          </a:solidFill>
                          <a:effectLst/>
                          <a:latin typeface="Bahnschrift Condensed" panose="020B0502040204020203" pitchFamily="34" charset="0"/>
                        </a:rPr>
                        <a:t>42130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800" b="0" i="0" u="none" strike="noStrike">
                          <a:solidFill>
                            <a:srgbClr val="000000"/>
                          </a:solidFill>
                          <a:effectLst/>
                          <a:latin typeface="Bahnschrift Condensed" panose="020B0502040204020203" pitchFamily="34" charset="0"/>
                        </a:rPr>
                        <a:t>4092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800" b="0" i="0" u="none" strike="noStrike" dirty="0">
                          <a:solidFill>
                            <a:srgbClr val="000000"/>
                          </a:solidFill>
                          <a:effectLst/>
                          <a:latin typeface="Bahnschrift Condensed" panose="020B0502040204020203" pitchFamily="34" charset="0"/>
                        </a:rPr>
                        <a:t>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81374691"/>
                  </a:ext>
                </a:extLst>
              </a:tr>
            </a:tbl>
          </a:graphicData>
        </a:graphic>
      </p:graphicFrame>
    </p:spTree>
    <p:extLst>
      <p:ext uri="{BB962C8B-B14F-4D97-AF65-F5344CB8AC3E}">
        <p14:creationId xmlns:p14="http://schemas.microsoft.com/office/powerpoint/2010/main" val="596515023"/>
      </p:ext>
    </p:extLst>
  </p:cSld>
  <p:clrMapOvr>
    <a:masterClrMapping/>
  </p:clrMapOvr>
  <p:transition spd="slow">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6"/>
            <a:ext cx="10515600" cy="604692"/>
          </a:xfrm>
        </p:spPr>
        <p:style>
          <a:lnRef idx="1">
            <a:schemeClr val="dk1"/>
          </a:lnRef>
          <a:fillRef idx="2">
            <a:schemeClr val="dk1"/>
          </a:fillRef>
          <a:effectRef idx="1">
            <a:schemeClr val="dk1"/>
          </a:effectRef>
          <a:fontRef idx="minor">
            <a:schemeClr val="dk1"/>
          </a:fontRef>
        </p:style>
        <p:txBody>
          <a:bodyPr>
            <a:normAutofit/>
          </a:bodyPr>
          <a:lstStyle/>
          <a:p>
            <a:r>
              <a:rPr lang="fr-FR" sz="3200" dirty="0">
                <a:latin typeface="Bahnschrift Condensed" panose="020B0502040204020203" pitchFamily="34" charset="0"/>
              </a:rPr>
              <a:t> </a:t>
            </a:r>
            <a:r>
              <a:rPr lang="fr-FR" sz="3200" dirty="0" smtClean="0">
                <a:latin typeface="Bahnschrift Condensed" panose="020B0502040204020203" pitchFamily="34" charset="0"/>
              </a:rPr>
              <a:t>                       </a:t>
            </a:r>
            <a:r>
              <a:rPr lang="fr-FR" sz="3200" dirty="0" smtClean="0">
                <a:latin typeface="Bahnschrift Condensed" panose="020B0502040204020203" pitchFamily="34" charset="0"/>
              </a:rPr>
              <a:t>8.3. </a:t>
            </a:r>
            <a:r>
              <a:rPr lang="fr-FR" sz="3200" dirty="0" smtClean="0">
                <a:latin typeface="Bahnschrift Condensed" panose="020B0502040204020203" pitchFamily="34" charset="0"/>
              </a:rPr>
              <a:t>SYNTHESE DE VACCINES PAR ANTIGENES</a:t>
            </a:r>
            <a:endParaRPr lang="fr-FR" sz="3200" dirty="0">
              <a:latin typeface="Bahnschrift Condensed" panose="020B0502040204020203" pitchFamily="34" charset="0"/>
            </a:endParaRPr>
          </a:p>
        </p:txBody>
      </p:sp>
      <p:sp>
        <p:nvSpPr>
          <p:cNvPr id="7" name="Espace réservé de la date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F47B455-2E27-4BBE-8236-9A9A27796618}"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12/16/2025</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Espace réservé du pied de page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t>REVUE NATIONALE ANNUELLE PEV DPS KASAÏ</a:t>
            </a:r>
            <a:endParaRPr kumimoji="0" lang="fr-F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graphicFrame>
        <p:nvGraphicFramePr>
          <p:cNvPr id="4" name="Tableau 3"/>
          <p:cNvGraphicFramePr>
            <a:graphicFrameLocks noGrp="1"/>
          </p:cNvGraphicFramePr>
          <p:nvPr>
            <p:extLst/>
          </p:nvPr>
        </p:nvGraphicFramePr>
        <p:xfrm>
          <a:off x="838201" y="1034477"/>
          <a:ext cx="10515600" cy="4967454"/>
        </p:xfrm>
        <a:graphic>
          <a:graphicData uri="http://schemas.openxmlformats.org/drawingml/2006/table">
            <a:tbl>
              <a:tblPr/>
              <a:tblGrid>
                <a:gridCol w="581361">
                  <a:extLst>
                    <a:ext uri="{9D8B030D-6E8A-4147-A177-3AD203B41FA5}">
                      <a16:colId xmlns:a16="http://schemas.microsoft.com/office/drawing/2014/main" val="821448162"/>
                    </a:ext>
                  </a:extLst>
                </a:gridCol>
                <a:gridCol w="1682532">
                  <a:extLst>
                    <a:ext uri="{9D8B030D-6E8A-4147-A177-3AD203B41FA5}">
                      <a16:colId xmlns:a16="http://schemas.microsoft.com/office/drawing/2014/main" val="3701987039"/>
                    </a:ext>
                  </a:extLst>
                </a:gridCol>
                <a:gridCol w="1961396">
                  <a:extLst>
                    <a:ext uri="{9D8B030D-6E8A-4147-A177-3AD203B41FA5}">
                      <a16:colId xmlns:a16="http://schemas.microsoft.com/office/drawing/2014/main" val="3965934215"/>
                    </a:ext>
                  </a:extLst>
                </a:gridCol>
                <a:gridCol w="1387141">
                  <a:extLst>
                    <a:ext uri="{9D8B030D-6E8A-4147-A177-3AD203B41FA5}">
                      <a16:colId xmlns:a16="http://schemas.microsoft.com/office/drawing/2014/main" val="3281471045"/>
                    </a:ext>
                  </a:extLst>
                </a:gridCol>
                <a:gridCol w="1634390">
                  <a:extLst>
                    <a:ext uri="{9D8B030D-6E8A-4147-A177-3AD203B41FA5}">
                      <a16:colId xmlns:a16="http://schemas.microsoft.com/office/drawing/2014/main" val="3172171198"/>
                    </a:ext>
                  </a:extLst>
                </a:gridCol>
                <a:gridCol w="1634390">
                  <a:extLst>
                    <a:ext uri="{9D8B030D-6E8A-4147-A177-3AD203B41FA5}">
                      <a16:colId xmlns:a16="http://schemas.microsoft.com/office/drawing/2014/main" val="1071505691"/>
                    </a:ext>
                  </a:extLst>
                </a:gridCol>
                <a:gridCol w="1634390">
                  <a:extLst>
                    <a:ext uri="{9D8B030D-6E8A-4147-A177-3AD203B41FA5}">
                      <a16:colId xmlns:a16="http://schemas.microsoft.com/office/drawing/2014/main" val="704118151"/>
                    </a:ext>
                  </a:extLst>
                </a:gridCol>
              </a:tblGrid>
              <a:tr h="521881">
                <a:tc rowSpan="2">
                  <a:txBody>
                    <a:bodyPr/>
                    <a:lstStyle/>
                    <a:p>
                      <a:pPr algn="ctr" rtl="0" fontAlgn="ctr"/>
                      <a:endParaRPr lang="fr-FR" sz="16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rtl="0" fontAlgn="ctr"/>
                      <a:r>
                        <a:rPr lang="fr-FR" sz="1600" b="0" i="0" u="none" strike="noStrike" dirty="0" smtClean="0">
                          <a:solidFill>
                            <a:srgbClr val="000000"/>
                          </a:solidFill>
                          <a:effectLst/>
                          <a:latin typeface="Bahnschrift Condensed" panose="020B0502040204020203" pitchFamily="34" charset="0"/>
                        </a:rPr>
                        <a:t>ANTIGENES</a:t>
                      </a:r>
                      <a:endParaRPr lang="fr-FR" sz="16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gridSpan="3">
                  <a:txBody>
                    <a:bodyPr/>
                    <a:lstStyle/>
                    <a:p>
                      <a:pPr algn="ctr" rtl="0" fontAlgn="ctr"/>
                      <a:r>
                        <a:rPr lang="fr-FR" sz="1800" b="0" i="0" u="none" strike="noStrike" dirty="0">
                          <a:solidFill>
                            <a:srgbClr val="000000"/>
                          </a:solidFill>
                          <a:effectLst/>
                          <a:latin typeface="Bahnschrift Condensed" panose="020B0502040204020203" pitchFamily="34" charset="0"/>
                        </a:rPr>
                        <a:t>ENFANTS VACCINES EN </a:t>
                      </a:r>
                      <a:r>
                        <a:rPr lang="fr-FR" sz="1800" b="0" i="0" u="none" strike="noStrike" baseline="0" dirty="0" smtClean="0">
                          <a:solidFill>
                            <a:srgbClr val="000000"/>
                          </a:solidFill>
                          <a:effectLst/>
                          <a:latin typeface="Bahnschrift Condensed" panose="020B0502040204020203" pitchFamily="34" charset="0"/>
                        </a:rPr>
                        <a:t> 3 PASSAGES /IPVS</a:t>
                      </a:r>
                      <a:endParaRPr lang="fr-FR" sz="18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fr-FR"/>
                    </a:p>
                  </a:txBody>
                  <a:tcPr/>
                </a:tc>
                <a:tc hMerge="1">
                  <a:txBody>
                    <a:bodyPr/>
                    <a:lstStyle/>
                    <a:p>
                      <a:endParaRPr lang="fr-FR"/>
                    </a:p>
                  </a:txBody>
                  <a:tcPr/>
                </a:tc>
                <a:tc gridSpan="2">
                  <a:txBody>
                    <a:bodyPr/>
                    <a:lstStyle/>
                    <a:p>
                      <a:pPr algn="ctr" rtl="0" fontAlgn="ctr"/>
                      <a:r>
                        <a:rPr lang="fr-FR" sz="1800" b="0" i="0" u="none" strike="noStrike" dirty="0" smtClean="0">
                          <a:solidFill>
                            <a:srgbClr val="000000"/>
                          </a:solidFill>
                          <a:effectLst/>
                          <a:latin typeface="Bahnschrift Condensed" panose="020B0502040204020203" pitchFamily="34" charset="0"/>
                        </a:rPr>
                        <a:t>REPARTITION</a:t>
                      </a:r>
                      <a:r>
                        <a:rPr lang="fr-FR" sz="1800" b="0" i="0" u="none" strike="noStrike" baseline="0" dirty="0" smtClean="0">
                          <a:solidFill>
                            <a:srgbClr val="000000"/>
                          </a:solidFill>
                          <a:effectLst/>
                          <a:latin typeface="Bahnschrift Condensed" panose="020B0502040204020203" pitchFamily="34" charset="0"/>
                        </a:rPr>
                        <a:t> PAR SEXE</a:t>
                      </a:r>
                      <a:endParaRPr lang="fr-FR" sz="18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algn="ctr" rtl="0" fontAlgn="ctr"/>
                      <a:endParaRPr lang="fr-FR" sz="18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545950410"/>
                  </a:ext>
                </a:extLst>
              </a:tr>
              <a:tr h="521881">
                <a:tc vMerge="1">
                  <a:txBody>
                    <a:bodyPr/>
                    <a:lstStyle/>
                    <a:p>
                      <a:endParaRPr lang="fr-FR"/>
                    </a:p>
                  </a:txBody>
                  <a:tcPr/>
                </a:tc>
                <a:tc vMerge="1">
                  <a:txBody>
                    <a:bodyPr/>
                    <a:lstStyle/>
                    <a:p>
                      <a:endParaRPr lang="fr-FR"/>
                    </a:p>
                  </a:txBody>
                  <a:tcPr/>
                </a:tc>
                <a:tc>
                  <a:txBody>
                    <a:bodyPr/>
                    <a:lstStyle/>
                    <a:p>
                      <a:pPr algn="ctr" rtl="0" fontAlgn="ctr"/>
                      <a:r>
                        <a:rPr lang="fr-FR" sz="1800" b="0" i="0" u="none" strike="noStrike" dirty="0">
                          <a:solidFill>
                            <a:srgbClr val="000000"/>
                          </a:solidFill>
                          <a:effectLst/>
                          <a:latin typeface="Bahnschrift Condensed" panose="020B0502040204020203" pitchFamily="34" charset="0"/>
                        </a:rPr>
                        <a:t>12-23 MOIS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fr-FR" sz="1800" b="0" i="0" u="none" strike="noStrike" dirty="0">
                          <a:solidFill>
                            <a:srgbClr val="000000"/>
                          </a:solidFill>
                          <a:effectLst/>
                          <a:latin typeface="Bahnschrift Condensed" panose="020B0502040204020203" pitchFamily="34" charset="0"/>
                        </a:rPr>
                        <a:t>24-59 MOIS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fr-FR" sz="1800" b="0" i="0" u="none" strike="noStrike" dirty="0">
                          <a:solidFill>
                            <a:srgbClr val="000000"/>
                          </a:solidFill>
                          <a:effectLst/>
                          <a:latin typeface="Bahnschrift Condensed" panose="020B0502040204020203" pitchFamily="34" charset="0"/>
                        </a:rPr>
                        <a:t>TOTAL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fr-FR" sz="1800" b="0" i="0" u="none" strike="noStrike" dirty="0" smtClean="0">
                          <a:solidFill>
                            <a:srgbClr val="000000"/>
                          </a:solidFill>
                          <a:effectLst/>
                          <a:latin typeface="Bahnschrift Condensed" panose="020B0502040204020203" pitchFamily="34" charset="0"/>
                        </a:rPr>
                        <a:t>M</a:t>
                      </a:r>
                      <a:endParaRPr lang="fr-FR" sz="18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fr-FR" sz="1800" b="0" i="0" u="none" strike="noStrike" dirty="0" smtClean="0">
                          <a:solidFill>
                            <a:srgbClr val="000000"/>
                          </a:solidFill>
                          <a:effectLst/>
                          <a:latin typeface="Bahnschrift Condensed" panose="020B0502040204020203" pitchFamily="34" charset="0"/>
                        </a:rPr>
                        <a:t>F</a:t>
                      </a:r>
                      <a:endParaRPr lang="fr-FR" sz="18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81933830"/>
                  </a:ext>
                </a:extLst>
              </a:tr>
              <a:tr h="459221">
                <a:tc>
                  <a:txBody>
                    <a:bodyPr/>
                    <a:lstStyle/>
                    <a:p>
                      <a:pPr algn="ctr" fontAlgn="b"/>
                      <a:r>
                        <a:rPr lang="fr-FR" sz="2400" b="0" i="0" u="none" strike="noStrike" dirty="0" smtClean="0">
                          <a:solidFill>
                            <a:srgbClr val="000000"/>
                          </a:solidFill>
                          <a:effectLst/>
                          <a:latin typeface="Bahnschrift Condensed" panose="020B0502040204020203" pitchFamily="34" charset="0"/>
                        </a:rPr>
                        <a:t>1</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a:solidFill>
                            <a:srgbClr val="000000"/>
                          </a:solidFill>
                          <a:effectLst/>
                          <a:latin typeface="Bahnschrift Condensed" panose="020B0502040204020203" pitchFamily="34" charset="0"/>
                        </a:rPr>
                        <a:t> </a:t>
                      </a:r>
                      <a:r>
                        <a:rPr lang="fr-FR" sz="2400" b="0" i="0" u="none" strike="noStrike" dirty="0" smtClean="0">
                          <a:solidFill>
                            <a:srgbClr val="000000"/>
                          </a:solidFill>
                          <a:effectLst/>
                          <a:latin typeface="Bahnschrift Condensed" panose="020B0502040204020203" pitchFamily="34" charset="0"/>
                        </a:rPr>
                        <a:t>PENTA-1 </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2000" b="0" i="0" u="none" strike="noStrike" dirty="0" smtClean="0">
                          <a:solidFill>
                            <a:srgbClr val="000000"/>
                          </a:solidFill>
                          <a:effectLst/>
                          <a:latin typeface="Bahnschrift Condensed" panose="020B0502040204020203" pitchFamily="34" charset="0"/>
                        </a:rPr>
                        <a:t>6658</a:t>
                      </a:r>
                      <a:endParaRPr lang="fr-FR" sz="20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2000" b="0" i="0" u="none" strike="noStrike" dirty="0" smtClean="0">
                          <a:solidFill>
                            <a:srgbClr val="000000"/>
                          </a:solidFill>
                          <a:effectLst/>
                          <a:latin typeface="Bahnschrift Condensed" panose="020B0502040204020203" pitchFamily="34" charset="0"/>
                        </a:rPr>
                        <a:t>8037</a:t>
                      </a:r>
                      <a:endParaRPr lang="fr-FR" sz="20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14695</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7201</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7494</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35991798"/>
                  </a:ext>
                </a:extLst>
              </a:tr>
              <a:tr h="559538">
                <a:tc>
                  <a:txBody>
                    <a:bodyPr/>
                    <a:lstStyle/>
                    <a:p>
                      <a:pPr algn="ctr" fontAlgn="b"/>
                      <a:r>
                        <a:rPr lang="fr-FR" sz="2400" b="0" i="0" u="none" strike="noStrike" dirty="0" smtClean="0">
                          <a:solidFill>
                            <a:srgbClr val="000000"/>
                          </a:solidFill>
                          <a:effectLst/>
                          <a:latin typeface="Bahnschrift Condensed" panose="020B0502040204020203" pitchFamily="34" charset="0"/>
                        </a:rPr>
                        <a:t>2</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PENTA-3</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000" b="1" i="0" u="none" strike="noStrike" dirty="0" smtClean="0">
                          <a:solidFill>
                            <a:srgbClr val="000000"/>
                          </a:solidFill>
                          <a:effectLst/>
                          <a:latin typeface="Calibri" panose="020F0502020204030204" pitchFamily="34" charset="0"/>
                        </a:rPr>
                        <a:t>6031</a:t>
                      </a:r>
                      <a:endParaRPr lang="fr-FR" sz="2000" b="1"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000" b="1" i="0" u="none" strike="noStrike" dirty="0" smtClean="0">
                          <a:solidFill>
                            <a:srgbClr val="000000"/>
                          </a:solidFill>
                          <a:effectLst/>
                          <a:latin typeface="Calibri" panose="020F0502020204030204" pitchFamily="34" charset="0"/>
                        </a:rPr>
                        <a:t>6658</a:t>
                      </a:r>
                      <a:endParaRPr lang="fr-FR" sz="2000" b="1"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12689</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6218</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6471</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9033196"/>
                  </a:ext>
                </a:extLst>
              </a:tr>
              <a:tr h="559538">
                <a:tc>
                  <a:txBody>
                    <a:bodyPr/>
                    <a:lstStyle/>
                    <a:p>
                      <a:pPr algn="ctr" fontAlgn="b"/>
                      <a:r>
                        <a:rPr lang="fr-FR" sz="2400" b="0" i="0" u="none" strike="noStrike" dirty="0" smtClean="0">
                          <a:solidFill>
                            <a:srgbClr val="000000"/>
                          </a:solidFill>
                          <a:effectLst/>
                          <a:latin typeface="Bahnschrift Condensed" panose="020B0502040204020203" pitchFamily="34" charset="0"/>
                        </a:rPr>
                        <a:t>3</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VPI-</a:t>
                      </a:r>
                      <a:r>
                        <a:rPr lang="fr-FR" sz="2400" b="0" i="0" u="none" strike="noStrike" baseline="0" dirty="0" smtClean="0">
                          <a:solidFill>
                            <a:srgbClr val="000000"/>
                          </a:solidFill>
                          <a:effectLst/>
                          <a:latin typeface="Bahnschrift Condensed" panose="020B0502040204020203" pitchFamily="34" charset="0"/>
                        </a:rPr>
                        <a:t> 1</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2000" b="0" i="0" u="none" strike="noStrike" dirty="0" smtClean="0">
                          <a:solidFill>
                            <a:srgbClr val="000000"/>
                          </a:solidFill>
                          <a:effectLst/>
                          <a:latin typeface="Bahnschrift Condensed" panose="020B0502040204020203" pitchFamily="34" charset="0"/>
                        </a:rPr>
                        <a:t>13821</a:t>
                      </a:r>
                      <a:endParaRPr lang="fr-FR" sz="20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2000" b="0" i="0" u="none" strike="noStrike" dirty="0" smtClean="0">
                          <a:solidFill>
                            <a:srgbClr val="000000"/>
                          </a:solidFill>
                          <a:effectLst/>
                          <a:latin typeface="Bahnschrift Condensed" panose="020B0502040204020203" pitchFamily="34" charset="0"/>
                        </a:rPr>
                        <a:t>0</a:t>
                      </a:r>
                      <a:endParaRPr lang="fr-FR" sz="20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13821</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6773</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7049</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17337965"/>
                  </a:ext>
                </a:extLst>
              </a:tr>
              <a:tr h="559538">
                <a:tc>
                  <a:txBody>
                    <a:bodyPr/>
                    <a:lstStyle/>
                    <a:p>
                      <a:pPr algn="ctr" fontAlgn="b"/>
                      <a:r>
                        <a:rPr lang="fr-FR" sz="2400" b="0" i="0" u="none" strike="noStrike" dirty="0" smtClean="0">
                          <a:solidFill>
                            <a:srgbClr val="000000"/>
                          </a:solidFill>
                          <a:effectLst/>
                          <a:latin typeface="Bahnschrift Condensed" panose="020B0502040204020203" pitchFamily="34" charset="0"/>
                        </a:rPr>
                        <a:t>4</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VPI-2</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2000" b="0" i="0" u="none" strike="noStrike" dirty="0" smtClean="0">
                          <a:solidFill>
                            <a:srgbClr val="000000"/>
                          </a:solidFill>
                          <a:effectLst/>
                          <a:latin typeface="Bahnschrift Condensed" panose="020B0502040204020203" pitchFamily="34" charset="0"/>
                        </a:rPr>
                        <a:t>0</a:t>
                      </a:r>
                      <a:endParaRPr lang="fr-FR" sz="20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2000" b="0" i="0" u="none" strike="noStrike" dirty="0" smtClean="0">
                          <a:solidFill>
                            <a:srgbClr val="000000"/>
                          </a:solidFill>
                          <a:effectLst/>
                          <a:latin typeface="Bahnschrift Condensed" panose="020B0502040204020203" pitchFamily="34" charset="0"/>
                        </a:rPr>
                        <a:t>14127</a:t>
                      </a:r>
                      <a:endParaRPr lang="fr-FR" sz="20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14127</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6922</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7205</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4511739"/>
                  </a:ext>
                </a:extLst>
              </a:tr>
              <a:tr h="559538">
                <a:tc>
                  <a:txBody>
                    <a:bodyPr/>
                    <a:lstStyle/>
                    <a:p>
                      <a:pPr algn="ctr" fontAlgn="b"/>
                      <a:r>
                        <a:rPr lang="fr-FR" sz="2400" b="0" i="0" u="none" strike="noStrike" dirty="0" smtClean="0">
                          <a:solidFill>
                            <a:srgbClr val="000000"/>
                          </a:solidFill>
                          <a:effectLst/>
                          <a:latin typeface="Bahnschrift Condensed" panose="020B0502040204020203" pitchFamily="34" charset="0"/>
                        </a:rPr>
                        <a:t>5</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VAR-1</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2000" b="0" i="0" u="none" strike="noStrike" dirty="0" smtClean="0">
                          <a:solidFill>
                            <a:srgbClr val="000000"/>
                          </a:solidFill>
                          <a:effectLst/>
                          <a:latin typeface="Bahnschrift Condensed" panose="020B0502040204020203" pitchFamily="34" charset="0"/>
                        </a:rPr>
                        <a:t>14037</a:t>
                      </a:r>
                      <a:endParaRPr lang="fr-FR" sz="20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2000" b="0" i="0" u="none" strike="noStrike" dirty="0" smtClean="0">
                          <a:solidFill>
                            <a:srgbClr val="000000"/>
                          </a:solidFill>
                          <a:effectLst/>
                          <a:latin typeface="Bahnschrift Condensed" panose="020B0502040204020203" pitchFamily="34" charset="0"/>
                        </a:rPr>
                        <a:t>0</a:t>
                      </a:r>
                      <a:endParaRPr lang="fr-FR" sz="20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14037</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6878</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7159</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8971665"/>
                  </a:ext>
                </a:extLst>
              </a:tr>
              <a:tr h="559538">
                <a:tc>
                  <a:txBody>
                    <a:bodyPr/>
                    <a:lstStyle/>
                    <a:p>
                      <a:pPr algn="ctr" fontAlgn="b"/>
                      <a:r>
                        <a:rPr lang="fr-FR" sz="2400" b="0" i="0" u="none" strike="noStrike" dirty="0" smtClean="0">
                          <a:solidFill>
                            <a:srgbClr val="000000"/>
                          </a:solidFill>
                          <a:effectLst/>
                          <a:latin typeface="Bahnschrift Condensed" panose="020B0502040204020203" pitchFamily="34" charset="0"/>
                        </a:rPr>
                        <a:t>6</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VAR-2</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2000" b="0" i="0" u="none" strike="noStrike" dirty="0" smtClean="0">
                          <a:solidFill>
                            <a:srgbClr val="000000"/>
                          </a:solidFill>
                          <a:effectLst/>
                          <a:latin typeface="Bahnschrift Condensed" panose="020B0502040204020203" pitchFamily="34" charset="0"/>
                        </a:rPr>
                        <a:t>0</a:t>
                      </a:r>
                      <a:endParaRPr lang="fr-FR" sz="20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2000" b="0" i="0" u="none" strike="noStrike" dirty="0" smtClean="0">
                          <a:solidFill>
                            <a:srgbClr val="000000"/>
                          </a:solidFill>
                          <a:effectLst/>
                          <a:latin typeface="Bahnschrift Condensed" panose="020B0502040204020203" pitchFamily="34" charset="0"/>
                        </a:rPr>
                        <a:t>18971</a:t>
                      </a:r>
                      <a:endParaRPr lang="fr-FR" sz="20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18971</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9296</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9675</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7668075"/>
                  </a:ext>
                </a:extLst>
              </a:tr>
              <a:tr h="666781">
                <a:tc>
                  <a:txBody>
                    <a:bodyPr/>
                    <a:lstStyle/>
                    <a:p>
                      <a:endParaRPr lang="fr-FR" dirty="0"/>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r>
                        <a:rPr lang="fr-FR" dirty="0" smtClean="0"/>
                        <a:t>PROVINCE DU KASAI</a:t>
                      </a:r>
                      <a:endParaRPr lang="fr-FR" dirty="0"/>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b"/>
                      <a:r>
                        <a:rPr lang="fr-FR" sz="1800" b="0" i="0" u="none" strike="noStrike" dirty="0" smtClean="0">
                          <a:solidFill>
                            <a:srgbClr val="000000"/>
                          </a:solidFill>
                          <a:effectLst/>
                          <a:latin typeface="Bahnschrift Condensed" panose="020B0502040204020203" pitchFamily="34" charset="0"/>
                        </a:rPr>
                        <a:t>40538</a:t>
                      </a:r>
                      <a:endParaRPr lang="fr-FR" sz="18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b"/>
                      <a:r>
                        <a:rPr lang="fr-FR" sz="1800" b="0" i="0" u="none" strike="noStrike" dirty="0" smtClean="0">
                          <a:solidFill>
                            <a:srgbClr val="000000"/>
                          </a:solidFill>
                          <a:effectLst/>
                          <a:latin typeface="Bahnschrift Condensed" panose="020B0502040204020203" pitchFamily="34" charset="0"/>
                        </a:rPr>
                        <a:t>47793</a:t>
                      </a:r>
                      <a:endParaRPr lang="fr-FR" sz="18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b"/>
                      <a:r>
                        <a:rPr lang="fr-FR" sz="1800" b="0" i="0" u="none" strike="noStrike" dirty="0" smtClean="0">
                          <a:solidFill>
                            <a:srgbClr val="000000"/>
                          </a:solidFill>
                          <a:effectLst/>
                          <a:latin typeface="Bahnschrift Condensed" panose="020B0502040204020203" pitchFamily="34" charset="0"/>
                        </a:rPr>
                        <a:t>88331</a:t>
                      </a:r>
                      <a:endParaRPr lang="fr-FR" sz="18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b"/>
                      <a:r>
                        <a:rPr lang="fr-FR" sz="1800" b="0" i="0" u="none" strike="noStrike" dirty="0" smtClean="0">
                          <a:solidFill>
                            <a:srgbClr val="000000"/>
                          </a:solidFill>
                          <a:effectLst/>
                          <a:latin typeface="Bahnschrift Condensed" panose="020B0502040204020203" pitchFamily="34" charset="0"/>
                        </a:rPr>
                        <a:t>43288</a:t>
                      </a:r>
                      <a:endParaRPr lang="fr-FR" sz="18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b"/>
                      <a:r>
                        <a:rPr lang="fr-FR" sz="1800" b="0" i="0" u="none" strike="noStrike" dirty="0" smtClean="0">
                          <a:solidFill>
                            <a:srgbClr val="000000"/>
                          </a:solidFill>
                          <a:effectLst/>
                          <a:latin typeface="Bahnschrift Condensed" panose="020B0502040204020203" pitchFamily="34" charset="0"/>
                        </a:rPr>
                        <a:t>45053</a:t>
                      </a:r>
                      <a:endParaRPr lang="fr-FR" sz="18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10745310"/>
                  </a:ext>
                </a:extLst>
              </a:tr>
            </a:tbl>
          </a:graphicData>
        </a:graphic>
      </p:graphicFrame>
    </p:spTree>
    <p:extLst>
      <p:ext uri="{BB962C8B-B14F-4D97-AF65-F5344CB8AC3E}">
        <p14:creationId xmlns:p14="http://schemas.microsoft.com/office/powerpoint/2010/main" val="3426640158"/>
      </p:ext>
    </p:extLst>
  </p:cSld>
  <p:clrMapOvr>
    <a:masterClrMapping/>
  </p:clrMapOvr>
  <p:transition spd="slow">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41830" y="2815771"/>
            <a:ext cx="10505620" cy="928915"/>
          </a:xfrm>
          <a:solidFill>
            <a:schemeClr val="accent5">
              <a:lumMod val="40000"/>
              <a:lumOff val="60000"/>
            </a:schemeClr>
          </a:solidFill>
          <a:ln w="28575">
            <a:solidFill>
              <a:srgbClr val="00B050"/>
            </a:solidFill>
          </a:ln>
        </p:spPr>
        <p:txBody>
          <a:bodyPr>
            <a:normAutofit/>
          </a:bodyPr>
          <a:lstStyle/>
          <a:p>
            <a:pPr algn="ctr"/>
            <a:r>
              <a:rPr lang="fr-FR" sz="3600" dirty="0" smtClean="0">
                <a:latin typeface="Arial Narrow" panose="020B0606020202030204" pitchFamily="34" charset="0"/>
              </a:rPr>
              <a:t>Surveillance de maladies </a:t>
            </a:r>
            <a:r>
              <a:rPr lang="fr-FR" sz="3600" dirty="0">
                <a:latin typeface="Arial Narrow" panose="020B0606020202030204" pitchFamily="34" charset="0"/>
              </a:rPr>
              <a:t>à</a:t>
            </a:r>
            <a:r>
              <a:rPr lang="fr-FR" sz="3600" dirty="0" smtClean="0">
                <a:latin typeface="Arial Narrow" panose="020B0606020202030204" pitchFamily="34" charset="0"/>
              </a:rPr>
              <a:t> prévention vaccinales</a:t>
            </a:r>
            <a:endParaRPr lang="fr-FR" sz="3600" dirty="0">
              <a:latin typeface="Arial Narrow" panose="020B0606020202030204" pitchFamily="34" charset="0"/>
            </a:endParaRPr>
          </a:p>
        </p:txBody>
      </p:sp>
      <p:sp>
        <p:nvSpPr>
          <p:cNvPr id="3" name="Espace réservé de la date 2"/>
          <p:cNvSpPr>
            <a:spLocks noGrp="1"/>
          </p:cNvSpPr>
          <p:nvPr>
            <p:ph type="dt" sz="half" idx="10"/>
          </p:nvPr>
        </p:nvSpPr>
        <p:spPr/>
        <p:txBody>
          <a:bodyPr/>
          <a:lstStyle/>
          <a:p>
            <a:fld id="{7551B688-D98D-4515-9BBF-EA2E976AE9D5}" type="datetime1">
              <a:rPr lang="en-US" smtClean="0"/>
              <a:t>12/16/2025</a:t>
            </a:fld>
            <a:endParaRPr lang="fr-FR"/>
          </a:p>
        </p:txBody>
      </p:sp>
      <p:sp>
        <p:nvSpPr>
          <p:cNvPr id="5" name="Espace réservé du pied de page 4"/>
          <p:cNvSpPr>
            <a:spLocks noGrp="1"/>
          </p:cNvSpPr>
          <p:nvPr>
            <p:ph type="ftr" sz="quarter" idx="11"/>
          </p:nvPr>
        </p:nvSpPr>
        <p:spPr/>
        <p:txBody>
          <a:bodyPr/>
          <a:lstStyle/>
          <a:p>
            <a:r>
              <a:rPr lang="fr-FR" smtClean="0"/>
              <a:t>REVUE NATIONALE ANNUELLE PEV DPS KASAÏ</a:t>
            </a:r>
            <a:endParaRPr lang="fr-FR"/>
          </a:p>
        </p:txBody>
      </p:sp>
    </p:spTree>
    <p:extLst>
      <p:ext uri="{BB962C8B-B14F-4D97-AF65-F5344CB8AC3E}">
        <p14:creationId xmlns:p14="http://schemas.microsoft.com/office/powerpoint/2010/main" val="446962104"/>
      </p:ext>
    </p:extLst>
  </p:cSld>
  <p:clrMapOvr>
    <a:masterClrMapping/>
  </p:clrMapOvr>
  <p:transition spd="slow">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04037" y="365126"/>
            <a:ext cx="11221906" cy="941160"/>
          </a:xfrm>
          <a:solidFill>
            <a:schemeClr val="accent4">
              <a:lumMod val="40000"/>
              <a:lumOff val="60000"/>
            </a:schemeClr>
          </a:solidFill>
          <a:ln>
            <a:solidFill>
              <a:srgbClr val="00B050"/>
            </a:solidFill>
          </a:ln>
        </p:spPr>
        <p:txBody>
          <a:bodyPr>
            <a:normAutofit/>
          </a:bodyPr>
          <a:lstStyle/>
          <a:p>
            <a:r>
              <a:rPr lang="fr-FR" sz="2800" dirty="0" smtClean="0">
                <a:latin typeface="Arial Narrow" panose="020B0606020202030204" pitchFamily="34" charset="0"/>
              </a:rPr>
              <a:t>    </a:t>
            </a:r>
            <a:r>
              <a:rPr lang="fr-FR" sz="2800" dirty="0" smtClean="0">
                <a:solidFill>
                  <a:schemeClr val="tx1"/>
                </a:solidFill>
                <a:latin typeface="Arial Narrow" panose="020B0606020202030204" pitchFamily="34" charset="0"/>
              </a:rPr>
              <a:t>9</a:t>
            </a:r>
            <a:r>
              <a:rPr lang="fr-FR" sz="2800" dirty="0" smtClean="0">
                <a:solidFill>
                  <a:schemeClr val="tx1"/>
                </a:solidFill>
                <a:latin typeface="Arial Narrow" panose="020B0606020202030204" pitchFamily="34" charset="0"/>
              </a:rPr>
              <a:t>.1. </a:t>
            </a:r>
            <a:r>
              <a:rPr lang="fr-FR" sz="2800" dirty="0" smtClean="0">
                <a:solidFill>
                  <a:schemeClr val="tx1"/>
                </a:solidFill>
                <a:latin typeface="Arial Narrow" panose="020B0606020202030204" pitchFamily="34" charset="0"/>
              </a:rPr>
              <a:t>NOTIFICATION DE CAS DE  PFA  DE JANVIER A OCTOBRE 2025</a:t>
            </a:r>
            <a:endParaRPr lang="fr-FR" sz="2800" dirty="0">
              <a:solidFill>
                <a:schemeClr val="tx1"/>
              </a:solidFill>
              <a:latin typeface="Arial Narrow" panose="020B0606020202030204" pitchFamily="34"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037" y="1775636"/>
            <a:ext cx="11334307" cy="467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Espace réservé de la date 3"/>
          <p:cNvSpPr>
            <a:spLocks noGrp="1"/>
          </p:cNvSpPr>
          <p:nvPr>
            <p:ph type="dt" idx="10"/>
          </p:nvPr>
        </p:nvSpPr>
        <p:spPr/>
        <p:txBody>
          <a:bodyPr/>
          <a:lstStyle/>
          <a:p>
            <a:fld id="{B4DAF42B-CBF8-4808-857A-452070328DFC}" type="datetime1">
              <a:rPr lang="en-US" smtClean="0"/>
              <a:t>12/16/2025</a:t>
            </a:fld>
            <a:endParaRPr lang="en-US"/>
          </a:p>
        </p:txBody>
      </p:sp>
      <p:sp>
        <p:nvSpPr>
          <p:cNvPr id="5" name="Espace réservé du pied de page 4"/>
          <p:cNvSpPr>
            <a:spLocks noGrp="1"/>
          </p:cNvSpPr>
          <p:nvPr>
            <p:ph type="ftr" idx="11"/>
          </p:nvPr>
        </p:nvSpPr>
        <p:spPr/>
        <p:txBody>
          <a:bodyPr/>
          <a:lstStyle/>
          <a:p>
            <a:r>
              <a:rPr lang="fr-FR" smtClean="0"/>
              <a:t>REVUE NATIONALE ANNUELLE PEV DPS KASAÏ</a:t>
            </a:r>
            <a:endParaRPr lang="fr-FR"/>
          </a:p>
        </p:txBody>
      </p:sp>
    </p:spTree>
    <p:extLst>
      <p:ext uri="{BB962C8B-B14F-4D97-AF65-F5344CB8AC3E}">
        <p14:creationId xmlns:p14="http://schemas.microsoft.com/office/powerpoint/2010/main" val="14263336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66059" y="406400"/>
            <a:ext cx="11044916" cy="1074057"/>
          </a:xfrm>
          <a:solidFill>
            <a:schemeClr val="accent4">
              <a:lumMod val="40000"/>
              <a:lumOff val="60000"/>
            </a:schemeClr>
          </a:solidFill>
          <a:ln>
            <a:solidFill>
              <a:srgbClr val="00B050"/>
            </a:solidFill>
          </a:ln>
        </p:spPr>
        <p:txBody>
          <a:bodyPr>
            <a:normAutofit/>
          </a:bodyPr>
          <a:lstStyle/>
          <a:p>
            <a:r>
              <a:rPr lang="fr-FR" sz="2800" b="1" dirty="0" smtClean="0">
                <a:solidFill>
                  <a:schemeClr val="tx1"/>
                </a:solidFill>
                <a:latin typeface="Arial Narrow" panose="020B0606020202030204" pitchFamily="34" charset="0"/>
              </a:rPr>
              <a:t>8</a:t>
            </a:r>
            <a:r>
              <a:rPr lang="fr-FR" sz="2800" b="1" cap="none" dirty="0" smtClean="0">
                <a:solidFill>
                  <a:schemeClr val="tx1"/>
                </a:solidFill>
                <a:latin typeface="Arial Narrow" panose="020B0606020202030204" pitchFamily="34" charset="0"/>
              </a:rPr>
              <a:t>.2. </a:t>
            </a:r>
            <a:r>
              <a:rPr lang="fr-FR" sz="2800" b="1" cap="none" dirty="0" smtClean="0">
                <a:solidFill>
                  <a:schemeClr val="tx1"/>
                </a:solidFill>
                <a:latin typeface="Arial Narrow" panose="020B0606020202030204" pitchFamily="34" charset="0"/>
              </a:rPr>
              <a:t>Les </a:t>
            </a:r>
            <a:r>
              <a:rPr lang="fr-FR" sz="2800" b="1" cap="none" dirty="0">
                <a:solidFill>
                  <a:schemeClr val="tx1"/>
                </a:solidFill>
                <a:latin typeface="Arial Narrow" panose="020B0606020202030204" pitchFamily="34" charset="0"/>
              </a:rPr>
              <a:t>cVDPV </a:t>
            </a:r>
            <a:r>
              <a:rPr lang="fr-FR" sz="2800" b="1" cap="none" dirty="0" smtClean="0">
                <a:solidFill>
                  <a:schemeClr val="tx1"/>
                </a:solidFill>
                <a:latin typeface="Arial Narrow" panose="020B0606020202030204" pitchFamily="34" charset="0"/>
              </a:rPr>
              <a:t>confirmés de 2023 à 2024</a:t>
            </a:r>
            <a:endParaRPr lang="fr-FR" sz="2800" b="1" dirty="0">
              <a:solidFill>
                <a:schemeClr val="tx1"/>
              </a:solidFill>
              <a:latin typeface="Arial Narrow" panose="020B0606020202030204" pitchFamily="34" charset="0"/>
            </a:endParaRP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1311682012"/>
              </p:ext>
            </p:extLst>
          </p:nvPr>
        </p:nvGraphicFramePr>
        <p:xfrm>
          <a:off x="566058" y="1988457"/>
          <a:ext cx="11044917" cy="4118950"/>
        </p:xfrm>
        <a:graphic>
          <a:graphicData uri="http://schemas.openxmlformats.org/drawingml/2006/table">
            <a:tbl>
              <a:tblPr firstRow="1" bandRow="1">
                <a:tableStyleId>{5C22544A-7EE6-4342-B048-85BDC9FD1C3A}</a:tableStyleId>
              </a:tblPr>
              <a:tblGrid>
                <a:gridCol w="1146628">
                  <a:extLst>
                    <a:ext uri="{9D8B030D-6E8A-4147-A177-3AD203B41FA5}">
                      <a16:colId xmlns:a16="http://schemas.microsoft.com/office/drawing/2014/main" val="20000"/>
                    </a:ext>
                  </a:extLst>
                </a:gridCol>
                <a:gridCol w="6216650">
                  <a:extLst>
                    <a:ext uri="{9D8B030D-6E8A-4147-A177-3AD203B41FA5}">
                      <a16:colId xmlns:a16="http://schemas.microsoft.com/office/drawing/2014/main" val="20001"/>
                    </a:ext>
                  </a:extLst>
                </a:gridCol>
                <a:gridCol w="3681639">
                  <a:extLst>
                    <a:ext uri="{9D8B030D-6E8A-4147-A177-3AD203B41FA5}">
                      <a16:colId xmlns:a16="http://schemas.microsoft.com/office/drawing/2014/main" val="20002"/>
                    </a:ext>
                  </a:extLst>
                </a:gridCol>
              </a:tblGrid>
              <a:tr h="732350">
                <a:tc>
                  <a:txBody>
                    <a:bodyPr/>
                    <a:lstStyle/>
                    <a:p>
                      <a:endParaRPr lang="fr-FR" sz="2400" dirty="0">
                        <a:latin typeface="Arial Narrow" panose="020B0606020202030204" pitchFamily="34" charset="0"/>
                      </a:endParaRPr>
                    </a:p>
                  </a:txBody>
                  <a:tcPr/>
                </a:tc>
                <a:tc>
                  <a:txBody>
                    <a:bodyPr/>
                    <a:lstStyle/>
                    <a:p>
                      <a:r>
                        <a:rPr lang="fr-FR" sz="2400" dirty="0" smtClean="0">
                          <a:latin typeface="Arial Narrow" panose="020B0606020202030204" pitchFamily="34" charset="0"/>
                        </a:rPr>
                        <a:t>Zonés de santé </a:t>
                      </a:r>
                      <a:endParaRPr lang="fr-FR" sz="2400" dirty="0">
                        <a:latin typeface="Arial Narrow" panose="020B0606020202030204" pitchFamily="34" charset="0"/>
                      </a:endParaRPr>
                    </a:p>
                  </a:txBody>
                  <a:tcPr/>
                </a:tc>
                <a:tc>
                  <a:txBody>
                    <a:bodyPr/>
                    <a:lstStyle/>
                    <a:p>
                      <a:r>
                        <a:rPr lang="fr-FR" sz="2400" dirty="0" smtClean="0">
                          <a:latin typeface="Arial Narrow" panose="020B0606020202030204" pitchFamily="34" charset="0"/>
                        </a:rPr>
                        <a:t>Cas confirmés</a:t>
                      </a:r>
                      <a:endParaRPr lang="fr-FR" sz="2400" dirty="0">
                        <a:latin typeface="Arial Narrow" panose="020B0606020202030204" pitchFamily="34" charset="0"/>
                      </a:endParaRPr>
                    </a:p>
                  </a:txBody>
                  <a:tcPr/>
                </a:tc>
                <a:extLst>
                  <a:ext uri="{0D108BD9-81ED-4DB2-BD59-A6C34878D82A}">
                    <a16:rowId xmlns:a16="http://schemas.microsoft.com/office/drawing/2014/main" val="10000"/>
                  </a:ext>
                </a:extLst>
              </a:tr>
              <a:tr h="732350">
                <a:tc>
                  <a:txBody>
                    <a:bodyPr/>
                    <a:lstStyle/>
                    <a:p>
                      <a:r>
                        <a:rPr lang="fr-FR" sz="2400" dirty="0" smtClean="0">
                          <a:latin typeface="Arial Narrow" panose="020B0606020202030204" pitchFamily="34" charset="0"/>
                        </a:rPr>
                        <a:t>1</a:t>
                      </a:r>
                      <a:endParaRPr lang="fr-FR" sz="2400" dirty="0">
                        <a:latin typeface="Arial Narrow" panose="020B0606020202030204" pitchFamily="34" charset="0"/>
                      </a:endParaRPr>
                    </a:p>
                  </a:txBody>
                  <a:tcPr/>
                </a:tc>
                <a:tc>
                  <a:txBody>
                    <a:bodyPr/>
                    <a:lstStyle/>
                    <a:p>
                      <a:r>
                        <a:rPr lang="fr-FR" sz="2400" dirty="0" err="1" smtClean="0">
                          <a:latin typeface="Arial Narrow" panose="020B0606020202030204" pitchFamily="34" charset="0"/>
                        </a:rPr>
                        <a:t>Kalonda</a:t>
                      </a:r>
                      <a:r>
                        <a:rPr lang="fr-FR" sz="2400" dirty="0" smtClean="0">
                          <a:latin typeface="Arial Narrow" panose="020B0606020202030204" pitchFamily="34" charset="0"/>
                        </a:rPr>
                        <a:t> Ouest</a:t>
                      </a:r>
                      <a:endParaRPr lang="fr-FR" sz="2400" dirty="0">
                        <a:latin typeface="Arial Narrow" panose="020B0606020202030204" pitchFamily="34" charset="0"/>
                      </a:endParaRPr>
                    </a:p>
                  </a:txBody>
                  <a:tcPr/>
                </a:tc>
                <a:tc>
                  <a:txBody>
                    <a:bodyPr/>
                    <a:lstStyle/>
                    <a:p>
                      <a:pPr algn="ctr"/>
                      <a:r>
                        <a:rPr lang="fr-FR" sz="2400" dirty="0" smtClean="0">
                          <a:latin typeface="Arial Narrow" panose="020B0606020202030204" pitchFamily="34" charset="0"/>
                        </a:rPr>
                        <a:t>3</a:t>
                      </a:r>
                      <a:endParaRPr lang="fr-FR" sz="2400" dirty="0">
                        <a:latin typeface="Arial Narrow" panose="020B0606020202030204" pitchFamily="34" charset="0"/>
                      </a:endParaRPr>
                    </a:p>
                  </a:txBody>
                  <a:tcPr/>
                </a:tc>
                <a:extLst>
                  <a:ext uri="{0D108BD9-81ED-4DB2-BD59-A6C34878D82A}">
                    <a16:rowId xmlns:a16="http://schemas.microsoft.com/office/drawing/2014/main" val="10001"/>
                  </a:ext>
                </a:extLst>
              </a:tr>
              <a:tr h="732350">
                <a:tc>
                  <a:txBody>
                    <a:bodyPr/>
                    <a:lstStyle/>
                    <a:p>
                      <a:r>
                        <a:rPr lang="fr-FR" sz="2400" dirty="0" smtClean="0">
                          <a:latin typeface="Arial Narrow" panose="020B0606020202030204" pitchFamily="34" charset="0"/>
                        </a:rPr>
                        <a:t>2</a:t>
                      </a:r>
                      <a:endParaRPr lang="fr-FR" sz="2400" dirty="0">
                        <a:latin typeface="Arial Narrow" panose="020B0606020202030204" pitchFamily="34" charset="0"/>
                      </a:endParaRPr>
                    </a:p>
                  </a:txBody>
                  <a:tcPr/>
                </a:tc>
                <a:tc>
                  <a:txBody>
                    <a:bodyPr/>
                    <a:lstStyle/>
                    <a:p>
                      <a:r>
                        <a:rPr lang="fr-FR" sz="2400" dirty="0" err="1" smtClean="0">
                          <a:latin typeface="Arial Narrow" panose="020B0606020202030204" pitchFamily="34" charset="0"/>
                        </a:rPr>
                        <a:t>Kamwesha</a:t>
                      </a:r>
                      <a:endParaRPr lang="fr-FR" sz="2400" dirty="0">
                        <a:latin typeface="Arial Narrow" panose="020B0606020202030204" pitchFamily="34" charset="0"/>
                      </a:endParaRPr>
                    </a:p>
                  </a:txBody>
                  <a:tcPr/>
                </a:tc>
                <a:tc>
                  <a:txBody>
                    <a:bodyPr/>
                    <a:lstStyle/>
                    <a:p>
                      <a:pPr algn="ctr"/>
                      <a:r>
                        <a:rPr lang="fr-FR" sz="2400" dirty="0" smtClean="0">
                          <a:latin typeface="Arial Narrow" panose="020B0606020202030204" pitchFamily="34" charset="0"/>
                        </a:rPr>
                        <a:t>1</a:t>
                      </a:r>
                      <a:endParaRPr lang="fr-FR" sz="2400" dirty="0">
                        <a:latin typeface="Arial Narrow" panose="020B0606020202030204" pitchFamily="34" charset="0"/>
                      </a:endParaRPr>
                    </a:p>
                  </a:txBody>
                  <a:tcPr/>
                </a:tc>
                <a:extLst>
                  <a:ext uri="{0D108BD9-81ED-4DB2-BD59-A6C34878D82A}">
                    <a16:rowId xmlns:a16="http://schemas.microsoft.com/office/drawing/2014/main" val="10002"/>
                  </a:ext>
                </a:extLst>
              </a:tr>
              <a:tr h="732350">
                <a:tc>
                  <a:txBody>
                    <a:bodyPr/>
                    <a:lstStyle/>
                    <a:p>
                      <a:r>
                        <a:rPr lang="fr-FR" sz="2400" dirty="0" smtClean="0">
                          <a:latin typeface="Arial Narrow" panose="020B0606020202030204" pitchFamily="34" charset="0"/>
                        </a:rPr>
                        <a:t>3</a:t>
                      </a:r>
                      <a:endParaRPr lang="fr-FR" sz="2400" dirty="0">
                        <a:latin typeface="Arial Narrow" panose="020B0606020202030204" pitchFamily="34" charset="0"/>
                      </a:endParaRPr>
                    </a:p>
                  </a:txBody>
                  <a:tcPr/>
                </a:tc>
                <a:tc>
                  <a:txBody>
                    <a:bodyPr/>
                    <a:lstStyle/>
                    <a:p>
                      <a:r>
                        <a:rPr lang="fr-FR" sz="2400" dirty="0" err="1" smtClean="0">
                          <a:latin typeface="Arial Narrow" panose="020B0606020202030204" pitchFamily="34" charset="0"/>
                        </a:rPr>
                        <a:t>Nyanga</a:t>
                      </a:r>
                      <a:endParaRPr lang="fr-FR" sz="2400" dirty="0">
                        <a:latin typeface="Arial Narrow" panose="020B0606020202030204" pitchFamily="34" charset="0"/>
                      </a:endParaRPr>
                    </a:p>
                  </a:txBody>
                  <a:tcPr/>
                </a:tc>
                <a:tc>
                  <a:txBody>
                    <a:bodyPr/>
                    <a:lstStyle/>
                    <a:p>
                      <a:pPr algn="ctr"/>
                      <a:r>
                        <a:rPr lang="fr-FR" sz="2400" dirty="0" smtClean="0">
                          <a:latin typeface="Arial Narrow" panose="020B0606020202030204" pitchFamily="34" charset="0"/>
                        </a:rPr>
                        <a:t>1</a:t>
                      </a:r>
                      <a:endParaRPr lang="fr-FR" sz="2400" dirty="0">
                        <a:latin typeface="Arial Narrow" panose="020B0606020202030204" pitchFamily="34" charset="0"/>
                      </a:endParaRPr>
                    </a:p>
                  </a:txBody>
                  <a:tcPr/>
                </a:tc>
                <a:extLst>
                  <a:ext uri="{0D108BD9-81ED-4DB2-BD59-A6C34878D82A}">
                    <a16:rowId xmlns:a16="http://schemas.microsoft.com/office/drawing/2014/main" val="10003"/>
                  </a:ext>
                </a:extLst>
              </a:tr>
              <a:tr h="732350">
                <a:tc>
                  <a:txBody>
                    <a:bodyPr/>
                    <a:lstStyle/>
                    <a:p>
                      <a:r>
                        <a:rPr lang="fr-FR" sz="2400" dirty="0" smtClean="0">
                          <a:latin typeface="Arial Narrow" panose="020B0606020202030204" pitchFamily="34" charset="0"/>
                        </a:rPr>
                        <a:t>4</a:t>
                      </a:r>
                      <a:endParaRPr lang="fr-FR" sz="2400" dirty="0">
                        <a:latin typeface="Arial Narrow" panose="020B0606020202030204" pitchFamily="34" charset="0"/>
                      </a:endParaRPr>
                    </a:p>
                  </a:txBody>
                  <a:tcPr/>
                </a:tc>
                <a:tc>
                  <a:txBody>
                    <a:bodyPr/>
                    <a:lstStyle/>
                    <a:p>
                      <a:r>
                        <a:rPr lang="fr-FR" sz="2400" dirty="0" err="1" smtClean="0">
                          <a:latin typeface="Arial Narrow" panose="020B0606020202030204" pitchFamily="34" charset="0"/>
                        </a:rPr>
                        <a:t>Dekese</a:t>
                      </a:r>
                      <a:endParaRPr lang="fr-FR" sz="2400" dirty="0">
                        <a:latin typeface="Arial Narrow" panose="020B0606020202030204" pitchFamily="34" charset="0"/>
                      </a:endParaRPr>
                    </a:p>
                  </a:txBody>
                  <a:tcPr/>
                </a:tc>
                <a:tc>
                  <a:txBody>
                    <a:bodyPr/>
                    <a:lstStyle/>
                    <a:p>
                      <a:pPr algn="ctr"/>
                      <a:r>
                        <a:rPr lang="fr-FR" sz="2400" dirty="0" smtClean="0">
                          <a:latin typeface="Arial Narrow" panose="020B0606020202030204" pitchFamily="34" charset="0"/>
                        </a:rPr>
                        <a:t>1</a:t>
                      </a:r>
                      <a:endParaRPr lang="fr-FR" sz="2400" dirty="0">
                        <a:latin typeface="Arial Narrow" panose="020B0606020202030204" pitchFamily="34" charset="0"/>
                      </a:endParaRPr>
                    </a:p>
                  </a:txBody>
                  <a:tcPr/>
                </a:tc>
                <a:extLst>
                  <a:ext uri="{0D108BD9-81ED-4DB2-BD59-A6C34878D82A}">
                    <a16:rowId xmlns:a16="http://schemas.microsoft.com/office/drawing/2014/main" val="10004"/>
                  </a:ext>
                </a:extLst>
              </a:tr>
              <a:tr h="286135">
                <a:tc gridSpan="2">
                  <a:txBody>
                    <a:bodyPr/>
                    <a:lstStyle/>
                    <a:p>
                      <a:r>
                        <a:rPr lang="fr-FR" sz="2400" b="1" dirty="0" smtClean="0">
                          <a:latin typeface="Arial Narrow" panose="020B0606020202030204" pitchFamily="34" charset="0"/>
                        </a:rPr>
                        <a:t>Total</a:t>
                      </a:r>
                      <a:endParaRPr lang="fr-FR" sz="2400" b="1" dirty="0">
                        <a:latin typeface="Arial Narrow" panose="020B0606020202030204" pitchFamily="34" charset="0"/>
                      </a:endParaRPr>
                    </a:p>
                  </a:txBody>
                  <a:tcPr/>
                </a:tc>
                <a:tc hMerge="1">
                  <a:txBody>
                    <a:bodyPr/>
                    <a:lstStyle/>
                    <a:p>
                      <a:endParaRPr lang="fr-FR" dirty="0"/>
                    </a:p>
                  </a:txBody>
                  <a:tcPr/>
                </a:tc>
                <a:tc>
                  <a:txBody>
                    <a:bodyPr/>
                    <a:lstStyle/>
                    <a:p>
                      <a:pPr algn="ctr"/>
                      <a:r>
                        <a:rPr lang="fr-FR" sz="2400" b="1" dirty="0" smtClean="0">
                          <a:latin typeface="Arial Narrow" panose="020B0606020202030204" pitchFamily="34" charset="0"/>
                        </a:rPr>
                        <a:t>6</a:t>
                      </a:r>
                      <a:endParaRPr lang="fr-FR" sz="2400" b="1" dirty="0">
                        <a:latin typeface="Arial Narrow" panose="020B0606020202030204" pitchFamily="34" charset="0"/>
                      </a:endParaRPr>
                    </a:p>
                  </a:txBody>
                  <a:tcPr/>
                </a:tc>
                <a:extLst>
                  <a:ext uri="{0D108BD9-81ED-4DB2-BD59-A6C34878D82A}">
                    <a16:rowId xmlns:a16="http://schemas.microsoft.com/office/drawing/2014/main" val="10005"/>
                  </a:ext>
                </a:extLst>
              </a:tr>
            </a:tbl>
          </a:graphicData>
        </a:graphic>
      </p:graphicFrame>
      <p:sp>
        <p:nvSpPr>
          <p:cNvPr id="3" name="Espace réservé de la date 2"/>
          <p:cNvSpPr>
            <a:spLocks noGrp="1"/>
          </p:cNvSpPr>
          <p:nvPr>
            <p:ph type="dt" idx="10"/>
          </p:nvPr>
        </p:nvSpPr>
        <p:spPr/>
        <p:txBody>
          <a:bodyPr/>
          <a:lstStyle/>
          <a:p>
            <a:fld id="{5CD54678-A1F9-4E89-89A6-4730B3653D98}" type="datetime1">
              <a:rPr lang="en-US" smtClean="0"/>
              <a:t>12/16/2025</a:t>
            </a:fld>
            <a:endParaRPr lang="en-US"/>
          </a:p>
        </p:txBody>
      </p:sp>
      <p:sp>
        <p:nvSpPr>
          <p:cNvPr id="6" name="Espace réservé du pied de page 5"/>
          <p:cNvSpPr>
            <a:spLocks noGrp="1"/>
          </p:cNvSpPr>
          <p:nvPr>
            <p:ph type="ftr" idx="11"/>
          </p:nvPr>
        </p:nvSpPr>
        <p:spPr/>
        <p:txBody>
          <a:bodyPr/>
          <a:lstStyle/>
          <a:p>
            <a:r>
              <a:rPr lang="fr-FR" smtClean="0"/>
              <a:t>REVUE NATIONALE ANNUELLE PEV DPS KASAÏ</a:t>
            </a:r>
            <a:endParaRPr lang="fr-FR"/>
          </a:p>
        </p:txBody>
      </p:sp>
    </p:spTree>
    <p:extLst>
      <p:ext uri="{BB962C8B-B14F-4D97-AF65-F5344CB8AC3E}">
        <p14:creationId xmlns:p14="http://schemas.microsoft.com/office/powerpoint/2010/main" val="327442204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81025" y="333830"/>
            <a:ext cx="11123294" cy="1059542"/>
          </a:xfrm>
          <a:solidFill>
            <a:schemeClr val="accent4">
              <a:lumMod val="40000"/>
              <a:lumOff val="60000"/>
            </a:schemeClr>
          </a:solidFill>
          <a:ln>
            <a:solidFill>
              <a:srgbClr val="00B050"/>
            </a:solidFill>
          </a:ln>
        </p:spPr>
        <p:txBody>
          <a:bodyPr>
            <a:normAutofit/>
          </a:bodyPr>
          <a:lstStyle/>
          <a:p>
            <a:r>
              <a:rPr lang="fr-FR" sz="2800" b="1" dirty="0">
                <a:solidFill>
                  <a:schemeClr val="bg2">
                    <a:lumMod val="90000"/>
                  </a:schemeClr>
                </a:solidFill>
                <a:latin typeface="Arial Narrow" panose="020B0606020202030204" pitchFamily="34" charset="0"/>
              </a:rPr>
              <a:t>8</a:t>
            </a:r>
            <a:r>
              <a:rPr lang="fr-FR" sz="2800" b="1" dirty="0" smtClean="0">
                <a:solidFill>
                  <a:schemeClr val="bg2">
                    <a:lumMod val="90000"/>
                  </a:schemeClr>
                </a:solidFill>
                <a:latin typeface="Arial Narrow" panose="020B0606020202030204" pitchFamily="34" charset="0"/>
              </a:rPr>
              <a:t>.3</a:t>
            </a:r>
            <a:r>
              <a:rPr lang="fr-FR" sz="2800" b="1" dirty="0" smtClean="0">
                <a:solidFill>
                  <a:schemeClr val="bg2">
                    <a:lumMod val="90000"/>
                  </a:schemeClr>
                </a:solidFill>
                <a:latin typeface="Arial Narrow" panose="020B0606020202030204" pitchFamily="34" charset="0"/>
              </a:rPr>
              <a:t>. </a:t>
            </a:r>
            <a:r>
              <a:rPr lang="fr-FR" sz="2800" b="1" dirty="0">
                <a:solidFill>
                  <a:schemeClr val="bg2">
                    <a:lumMod val="90000"/>
                  </a:schemeClr>
                </a:solidFill>
                <a:latin typeface="Arial Narrow" panose="020B0606020202030204" pitchFamily="34" charset="0"/>
              </a:rPr>
              <a:t>NOTIFICATION </a:t>
            </a:r>
            <a:r>
              <a:rPr lang="fr-FR" sz="2800" b="1" dirty="0" smtClean="0">
                <a:solidFill>
                  <a:schemeClr val="bg2">
                    <a:lumMod val="90000"/>
                  </a:schemeClr>
                </a:solidFill>
                <a:latin typeface="Arial Narrow" panose="020B0606020202030204" pitchFamily="34" charset="0"/>
              </a:rPr>
              <a:t>DES AUTRES  MPV DE JANVIER A OCTOBRE 2025</a:t>
            </a:r>
            <a:endParaRPr lang="fr-FR" sz="2800" b="1" dirty="0">
              <a:latin typeface="Arial Narrow" panose="020B0606020202030204" pitchFamily="34" charset="0"/>
            </a:endParaRPr>
          </a:p>
        </p:txBody>
      </p:sp>
      <p:graphicFrame>
        <p:nvGraphicFramePr>
          <p:cNvPr id="8" name="Espace réservé du contenu 7"/>
          <p:cNvGraphicFramePr>
            <a:graphicFrameLocks noGrp="1"/>
          </p:cNvGraphicFramePr>
          <p:nvPr>
            <p:ph sz="half" idx="2"/>
            <p:extLst>
              <p:ext uri="{D42A27DB-BD31-4B8C-83A1-F6EECF244321}">
                <p14:modId xmlns:p14="http://schemas.microsoft.com/office/powerpoint/2010/main" val="1160583428"/>
              </p:ext>
            </p:extLst>
          </p:nvPr>
        </p:nvGraphicFramePr>
        <p:xfrm>
          <a:off x="581024" y="1828799"/>
          <a:ext cx="11123295" cy="4673604"/>
        </p:xfrm>
        <a:graphic>
          <a:graphicData uri="http://schemas.openxmlformats.org/drawingml/2006/table">
            <a:tbl>
              <a:tblPr firstRow="1" bandRow="1">
                <a:tableStyleId>{5C22544A-7EE6-4342-B048-85BDC9FD1C3A}</a:tableStyleId>
              </a:tblPr>
              <a:tblGrid>
                <a:gridCol w="939585">
                  <a:extLst>
                    <a:ext uri="{9D8B030D-6E8A-4147-A177-3AD203B41FA5}">
                      <a16:colId xmlns:a16="http://schemas.microsoft.com/office/drawing/2014/main" val="20000"/>
                    </a:ext>
                  </a:extLst>
                </a:gridCol>
                <a:gridCol w="3509733">
                  <a:extLst>
                    <a:ext uri="{9D8B030D-6E8A-4147-A177-3AD203B41FA5}">
                      <a16:colId xmlns:a16="http://schemas.microsoft.com/office/drawing/2014/main" val="20001"/>
                    </a:ext>
                  </a:extLst>
                </a:gridCol>
                <a:gridCol w="2224659">
                  <a:extLst>
                    <a:ext uri="{9D8B030D-6E8A-4147-A177-3AD203B41FA5}">
                      <a16:colId xmlns:a16="http://schemas.microsoft.com/office/drawing/2014/main" val="20002"/>
                    </a:ext>
                  </a:extLst>
                </a:gridCol>
                <a:gridCol w="2224659">
                  <a:extLst>
                    <a:ext uri="{9D8B030D-6E8A-4147-A177-3AD203B41FA5}">
                      <a16:colId xmlns:a16="http://schemas.microsoft.com/office/drawing/2014/main" val="20003"/>
                    </a:ext>
                  </a:extLst>
                </a:gridCol>
                <a:gridCol w="2224659">
                  <a:extLst>
                    <a:ext uri="{9D8B030D-6E8A-4147-A177-3AD203B41FA5}">
                      <a16:colId xmlns:a16="http://schemas.microsoft.com/office/drawing/2014/main" val="20004"/>
                    </a:ext>
                  </a:extLst>
                </a:gridCol>
              </a:tblGrid>
              <a:tr h="778934">
                <a:tc>
                  <a:txBody>
                    <a:bodyPr/>
                    <a:lstStyle/>
                    <a:p>
                      <a:r>
                        <a:rPr lang="fr-FR" sz="2400" dirty="0" smtClean="0">
                          <a:latin typeface="Arial Narrow" panose="020B0606020202030204" pitchFamily="34" charset="0"/>
                        </a:rPr>
                        <a:t>N°</a:t>
                      </a:r>
                      <a:endParaRPr lang="fr-FR" sz="2400" dirty="0">
                        <a:latin typeface="Arial Narrow" panose="020B0606020202030204" pitchFamily="34" charset="0"/>
                      </a:endParaRPr>
                    </a:p>
                  </a:txBody>
                  <a:tcPr/>
                </a:tc>
                <a:tc>
                  <a:txBody>
                    <a:bodyPr/>
                    <a:lstStyle/>
                    <a:p>
                      <a:r>
                        <a:rPr lang="fr-FR" sz="2400" dirty="0" smtClean="0">
                          <a:latin typeface="Arial Narrow" panose="020B0606020202030204" pitchFamily="34" charset="0"/>
                        </a:rPr>
                        <a:t>MALADIES</a:t>
                      </a:r>
                      <a:endParaRPr lang="fr-FR" sz="2400" dirty="0">
                        <a:latin typeface="Arial Narrow" panose="020B0606020202030204" pitchFamily="34" charset="0"/>
                      </a:endParaRPr>
                    </a:p>
                  </a:txBody>
                  <a:tcPr/>
                </a:tc>
                <a:tc>
                  <a:txBody>
                    <a:bodyPr/>
                    <a:lstStyle/>
                    <a:p>
                      <a:r>
                        <a:rPr lang="fr-FR" sz="2400" dirty="0" smtClean="0">
                          <a:latin typeface="Arial Narrow" panose="020B0606020202030204" pitchFamily="34" charset="0"/>
                        </a:rPr>
                        <a:t>Cas notifiés</a:t>
                      </a:r>
                      <a:endParaRPr lang="fr-FR" sz="2400" dirty="0">
                        <a:latin typeface="Arial Narrow" panose="020B0606020202030204" pitchFamily="34" charset="0"/>
                      </a:endParaRPr>
                    </a:p>
                  </a:txBody>
                  <a:tcPr/>
                </a:tc>
                <a:tc>
                  <a:txBody>
                    <a:bodyPr/>
                    <a:lstStyle/>
                    <a:p>
                      <a:r>
                        <a:rPr lang="fr-FR" sz="2400" dirty="0" smtClean="0">
                          <a:latin typeface="Arial Narrow" panose="020B0606020202030204" pitchFamily="34" charset="0"/>
                        </a:rPr>
                        <a:t>Cas investigués</a:t>
                      </a:r>
                      <a:endParaRPr lang="fr-FR" sz="2400" dirty="0">
                        <a:latin typeface="Arial Narrow" panose="020B0606020202030204" pitchFamily="34" charset="0"/>
                      </a:endParaRPr>
                    </a:p>
                  </a:txBody>
                  <a:tcPr/>
                </a:tc>
                <a:tc>
                  <a:txBody>
                    <a:bodyPr/>
                    <a:lstStyle/>
                    <a:p>
                      <a:r>
                        <a:rPr lang="fr-FR" sz="2400" dirty="0" err="1" smtClean="0">
                          <a:latin typeface="Arial Narrow" panose="020B0606020202030204" pitchFamily="34" charset="0"/>
                        </a:rPr>
                        <a:t>Decès</a:t>
                      </a:r>
                      <a:endParaRPr lang="fr-FR" sz="2400" dirty="0">
                        <a:latin typeface="Arial Narrow" panose="020B0606020202030204" pitchFamily="34" charset="0"/>
                      </a:endParaRPr>
                    </a:p>
                  </a:txBody>
                  <a:tcPr/>
                </a:tc>
                <a:extLst>
                  <a:ext uri="{0D108BD9-81ED-4DB2-BD59-A6C34878D82A}">
                    <a16:rowId xmlns:a16="http://schemas.microsoft.com/office/drawing/2014/main" val="10000"/>
                  </a:ext>
                </a:extLst>
              </a:tr>
              <a:tr h="778934">
                <a:tc>
                  <a:txBody>
                    <a:bodyPr/>
                    <a:lstStyle/>
                    <a:p>
                      <a:r>
                        <a:rPr lang="fr-FR" sz="2400" dirty="0" smtClean="0">
                          <a:latin typeface="Arial Narrow" panose="020B0606020202030204" pitchFamily="34" charset="0"/>
                        </a:rPr>
                        <a:t>1</a:t>
                      </a:r>
                      <a:endParaRPr lang="fr-FR" sz="2400" dirty="0">
                        <a:latin typeface="Arial Narrow" panose="020B0606020202030204" pitchFamily="34" charset="0"/>
                      </a:endParaRPr>
                    </a:p>
                  </a:txBody>
                  <a:tcPr/>
                </a:tc>
                <a:tc>
                  <a:txBody>
                    <a:bodyPr/>
                    <a:lstStyle/>
                    <a:p>
                      <a:r>
                        <a:rPr lang="fr-FR" sz="2400" dirty="0" smtClean="0">
                          <a:latin typeface="Arial Narrow" panose="020B0606020202030204" pitchFamily="34" charset="0"/>
                        </a:rPr>
                        <a:t>Rougeoles</a:t>
                      </a:r>
                      <a:endParaRPr lang="fr-FR" sz="2400" dirty="0">
                        <a:latin typeface="Arial Narrow" panose="020B0606020202030204" pitchFamily="34" charset="0"/>
                      </a:endParaRPr>
                    </a:p>
                  </a:txBody>
                  <a:tcPr/>
                </a:tc>
                <a:tc>
                  <a:txBody>
                    <a:bodyPr/>
                    <a:lstStyle/>
                    <a:p>
                      <a:pPr algn="ctr"/>
                      <a:r>
                        <a:rPr lang="fr-FR" sz="2400" dirty="0" smtClean="0">
                          <a:latin typeface="Arial Narrow" panose="020B0606020202030204" pitchFamily="34" charset="0"/>
                        </a:rPr>
                        <a:t>74</a:t>
                      </a:r>
                      <a:endParaRPr lang="fr-FR" sz="2400" dirty="0">
                        <a:latin typeface="Arial Narrow" panose="020B0606020202030204" pitchFamily="34" charset="0"/>
                      </a:endParaRPr>
                    </a:p>
                  </a:txBody>
                  <a:tcPr/>
                </a:tc>
                <a:tc>
                  <a:txBody>
                    <a:bodyPr/>
                    <a:lstStyle/>
                    <a:p>
                      <a:pPr algn="ctr"/>
                      <a:r>
                        <a:rPr lang="fr-FR" sz="2400" dirty="0" smtClean="0">
                          <a:latin typeface="Arial Narrow" panose="020B0606020202030204" pitchFamily="34" charset="0"/>
                        </a:rPr>
                        <a:t>74</a:t>
                      </a:r>
                      <a:endParaRPr lang="fr-FR" sz="2400" dirty="0">
                        <a:latin typeface="Arial Narrow" panose="020B0606020202030204" pitchFamily="34" charset="0"/>
                      </a:endParaRPr>
                    </a:p>
                  </a:txBody>
                  <a:tcPr/>
                </a:tc>
                <a:tc>
                  <a:txBody>
                    <a:bodyPr/>
                    <a:lstStyle/>
                    <a:p>
                      <a:pPr algn="ctr"/>
                      <a:r>
                        <a:rPr lang="fr-FR" sz="2400" dirty="0" smtClean="0">
                          <a:latin typeface="Arial Narrow" panose="020B0606020202030204" pitchFamily="34" charset="0"/>
                        </a:rPr>
                        <a:t>2</a:t>
                      </a:r>
                      <a:endParaRPr lang="fr-FR" sz="2400" dirty="0">
                        <a:latin typeface="Arial Narrow" panose="020B0606020202030204" pitchFamily="34" charset="0"/>
                      </a:endParaRPr>
                    </a:p>
                  </a:txBody>
                  <a:tcPr/>
                </a:tc>
                <a:extLst>
                  <a:ext uri="{0D108BD9-81ED-4DB2-BD59-A6C34878D82A}">
                    <a16:rowId xmlns:a16="http://schemas.microsoft.com/office/drawing/2014/main" val="10001"/>
                  </a:ext>
                </a:extLst>
              </a:tr>
              <a:tr h="778934">
                <a:tc>
                  <a:txBody>
                    <a:bodyPr/>
                    <a:lstStyle/>
                    <a:p>
                      <a:r>
                        <a:rPr lang="fr-FR" sz="2400" dirty="0" smtClean="0">
                          <a:latin typeface="Arial Narrow" panose="020B0606020202030204" pitchFamily="34" charset="0"/>
                        </a:rPr>
                        <a:t>2</a:t>
                      </a:r>
                      <a:endParaRPr lang="fr-FR" sz="2400" dirty="0">
                        <a:latin typeface="Arial Narrow" panose="020B0606020202030204" pitchFamily="34" charset="0"/>
                      </a:endParaRPr>
                    </a:p>
                  </a:txBody>
                  <a:tcPr/>
                </a:tc>
                <a:tc>
                  <a:txBody>
                    <a:bodyPr/>
                    <a:lstStyle/>
                    <a:p>
                      <a:r>
                        <a:rPr lang="fr-FR" sz="2400" dirty="0" smtClean="0">
                          <a:latin typeface="Arial Narrow" panose="020B0606020202030204" pitchFamily="34" charset="0"/>
                        </a:rPr>
                        <a:t>Fièvre Jaune</a:t>
                      </a:r>
                      <a:endParaRPr lang="fr-FR" sz="2400" dirty="0">
                        <a:latin typeface="Arial Narrow" panose="020B0606020202030204" pitchFamily="34" charset="0"/>
                      </a:endParaRPr>
                    </a:p>
                  </a:txBody>
                  <a:tcPr/>
                </a:tc>
                <a:tc>
                  <a:txBody>
                    <a:bodyPr/>
                    <a:lstStyle/>
                    <a:p>
                      <a:pPr algn="ctr"/>
                      <a:r>
                        <a:rPr lang="fr-FR" sz="2400" dirty="0" smtClean="0">
                          <a:latin typeface="Arial Narrow" panose="020B0606020202030204" pitchFamily="34" charset="0"/>
                        </a:rPr>
                        <a:t>21</a:t>
                      </a:r>
                      <a:endParaRPr lang="fr-FR" sz="2400" dirty="0">
                        <a:latin typeface="Arial Narrow" panose="020B0606020202030204" pitchFamily="34" charset="0"/>
                      </a:endParaRPr>
                    </a:p>
                  </a:txBody>
                  <a:tcPr/>
                </a:tc>
                <a:tc>
                  <a:txBody>
                    <a:bodyPr/>
                    <a:lstStyle/>
                    <a:p>
                      <a:pPr algn="ctr"/>
                      <a:r>
                        <a:rPr lang="fr-FR" sz="2400" dirty="0" smtClean="0">
                          <a:latin typeface="Arial Narrow" panose="020B0606020202030204" pitchFamily="34" charset="0"/>
                        </a:rPr>
                        <a:t>21</a:t>
                      </a:r>
                      <a:endParaRPr lang="fr-FR" sz="2400" dirty="0">
                        <a:latin typeface="Arial Narrow" panose="020B0606020202030204" pitchFamily="34" charset="0"/>
                      </a:endParaRPr>
                    </a:p>
                  </a:txBody>
                  <a:tcPr/>
                </a:tc>
                <a:tc>
                  <a:txBody>
                    <a:bodyPr/>
                    <a:lstStyle/>
                    <a:p>
                      <a:pPr algn="ctr"/>
                      <a:r>
                        <a:rPr lang="fr-FR" sz="2400" dirty="0" smtClean="0">
                          <a:latin typeface="Arial Narrow" panose="020B0606020202030204" pitchFamily="34" charset="0"/>
                        </a:rPr>
                        <a:t>0</a:t>
                      </a:r>
                      <a:endParaRPr lang="fr-FR" sz="2400" dirty="0">
                        <a:latin typeface="Arial Narrow" panose="020B0606020202030204" pitchFamily="34" charset="0"/>
                      </a:endParaRPr>
                    </a:p>
                  </a:txBody>
                  <a:tcPr/>
                </a:tc>
                <a:extLst>
                  <a:ext uri="{0D108BD9-81ED-4DB2-BD59-A6C34878D82A}">
                    <a16:rowId xmlns:a16="http://schemas.microsoft.com/office/drawing/2014/main" val="10002"/>
                  </a:ext>
                </a:extLst>
              </a:tr>
              <a:tr h="778934">
                <a:tc>
                  <a:txBody>
                    <a:bodyPr/>
                    <a:lstStyle/>
                    <a:p>
                      <a:r>
                        <a:rPr lang="fr-FR" sz="2400" dirty="0" smtClean="0">
                          <a:latin typeface="Arial Narrow" panose="020B0606020202030204" pitchFamily="34" charset="0"/>
                        </a:rPr>
                        <a:t>3</a:t>
                      </a:r>
                      <a:endParaRPr lang="fr-FR" sz="2400" dirty="0">
                        <a:latin typeface="Arial Narrow" panose="020B0606020202030204" pitchFamily="34" charset="0"/>
                      </a:endParaRPr>
                    </a:p>
                  </a:txBody>
                  <a:tcPr/>
                </a:tc>
                <a:tc>
                  <a:txBody>
                    <a:bodyPr/>
                    <a:lstStyle/>
                    <a:p>
                      <a:r>
                        <a:rPr lang="fr-FR" sz="2400" dirty="0" smtClean="0">
                          <a:latin typeface="Arial Narrow" panose="020B0606020202030204" pitchFamily="34" charset="0"/>
                        </a:rPr>
                        <a:t>TNN</a:t>
                      </a:r>
                      <a:endParaRPr lang="fr-FR" sz="2400" dirty="0">
                        <a:latin typeface="Arial Narrow" panose="020B0606020202030204" pitchFamily="34" charset="0"/>
                      </a:endParaRPr>
                    </a:p>
                  </a:txBody>
                  <a:tcPr/>
                </a:tc>
                <a:tc>
                  <a:txBody>
                    <a:bodyPr/>
                    <a:lstStyle/>
                    <a:p>
                      <a:pPr algn="ctr"/>
                      <a:r>
                        <a:rPr lang="fr-FR" sz="2400" dirty="0" smtClean="0">
                          <a:latin typeface="Arial Narrow" panose="020B0606020202030204" pitchFamily="34" charset="0"/>
                        </a:rPr>
                        <a:t>9</a:t>
                      </a:r>
                      <a:endParaRPr lang="fr-FR" sz="2400" dirty="0">
                        <a:latin typeface="Arial Narrow" panose="020B0606020202030204" pitchFamily="34" charset="0"/>
                      </a:endParaRPr>
                    </a:p>
                  </a:txBody>
                  <a:tcPr/>
                </a:tc>
                <a:tc>
                  <a:txBody>
                    <a:bodyPr/>
                    <a:lstStyle/>
                    <a:p>
                      <a:pPr algn="ctr"/>
                      <a:r>
                        <a:rPr lang="fr-FR" sz="2400" dirty="0" smtClean="0">
                          <a:latin typeface="Arial Narrow" panose="020B0606020202030204" pitchFamily="34" charset="0"/>
                        </a:rPr>
                        <a:t>9</a:t>
                      </a:r>
                      <a:endParaRPr lang="fr-FR" sz="2400" dirty="0">
                        <a:latin typeface="Arial Narrow" panose="020B0606020202030204" pitchFamily="34" charset="0"/>
                      </a:endParaRPr>
                    </a:p>
                  </a:txBody>
                  <a:tcPr/>
                </a:tc>
                <a:tc>
                  <a:txBody>
                    <a:bodyPr/>
                    <a:lstStyle/>
                    <a:p>
                      <a:pPr algn="ctr"/>
                      <a:r>
                        <a:rPr lang="fr-FR" sz="2400" dirty="0" smtClean="0">
                          <a:latin typeface="Arial Narrow" panose="020B0606020202030204" pitchFamily="34" charset="0"/>
                        </a:rPr>
                        <a:t>4</a:t>
                      </a:r>
                      <a:endParaRPr lang="fr-FR" sz="2400" dirty="0">
                        <a:latin typeface="Arial Narrow" panose="020B0606020202030204" pitchFamily="34" charset="0"/>
                      </a:endParaRPr>
                    </a:p>
                  </a:txBody>
                  <a:tcPr/>
                </a:tc>
                <a:extLst>
                  <a:ext uri="{0D108BD9-81ED-4DB2-BD59-A6C34878D82A}">
                    <a16:rowId xmlns:a16="http://schemas.microsoft.com/office/drawing/2014/main" val="73666381"/>
                  </a:ext>
                </a:extLst>
              </a:tr>
              <a:tr h="778934">
                <a:tc>
                  <a:txBody>
                    <a:bodyPr/>
                    <a:lstStyle/>
                    <a:p>
                      <a:r>
                        <a:rPr lang="fr-FR" sz="2400" dirty="0" smtClean="0">
                          <a:latin typeface="Arial Narrow" panose="020B0606020202030204" pitchFamily="34" charset="0"/>
                        </a:rPr>
                        <a:t>4</a:t>
                      </a:r>
                      <a:endParaRPr lang="fr-FR" sz="2400" dirty="0">
                        <a:latin typeface="Arial Narrow" panose="020B0606020202030204" pitchFamily="34" charset="0"/>
                      </a:endParaRPr>
                    </a:p>
                  </a:txBody>
                  <a:tcPr/>
                </a:tc>
                <a:tc>
                  <a:txBody>
                    <a:bodyPr/>
                    <a:lstStyle/>
                    <a:p>
                      <a:pPr marR="0" algn="l" rtl="0">
                        <a:lnSpc>
                          <a:spcPct val="100000"/>
                        </a:lnSpc>
                        <a:spcBef>
                          <a:spcPts val="0"/>
                        </a:spcBef>
                        <a:spcAft>
                          <a:spcPts val="0"/>
                        </a:spcAft>
                        <a:buClr>
                          <a:srgbClr val="000000"/>
                        </a:buClr>
                        <a:buFont typeface="Arial" panose="020B0604020202020204"/>
                      </a:pPr>
                      <a:r>
                        <a:rPr lang="fr-FR" sz="2400" b="0" i="0" u="none" strike="noStrike" cap="none" dirty="0" smtClean="0">
                          <a:solidFill>
                            <a:schemeClr val="dk1"/>
                          </a:solidFill>
                          <a:latin typeface="Arial Narrow" panose="020B0606020202030204" pitchFamily="34" charset="0"/>
                          <a:ea typeface="+mn-ea"/>
                          <a:cs typeface="+mn-cs"/>
                          <a:sym typeface="Arial" panose="020B0604020202020204"/>
                        </a:rPr>
                        <a:t>MVE</a:t>
                      </a:r>
                      <a:endParaRPr lang="fr-FR" sz="2400" b="0" i="0" u="none" strike="noStrike" cap="none" dirty="0">
                        <a:solidFill>
                          <a:schemeClr val="dk1"/>
                        </a:solidFill>
                        <a:latin typeface="Arial Narrow" panose="020B0606020202030204" pitchFamily="34" charset="0"/>
                        <a:ea typeface="+mn-ea"/>
                        <a:cs typeface="+mn-cs"/>
                        <a:sym typeface="Arial" panose="020B0604020202020204"/>
                      </a:endParaRPr>
                    </a:p>
                  </a:txBody>
                  <a:tcPr/>
                </a:tc>
                <a:tc>
                  <a:txBody>
                    <a:bodyPr/>
                    <a:lstStyle/>
                    <a:p>
                      <a:pPr marR="0" algn="ctr" rtl="0">
                        <a:lnSpc>
                          <a:spcPct val="100000"/>
                        </a:lnSpc>
                        <a:spcBef>
                          <a:spcPts val="0"/>
                        </a:spcBef>
                        <a:spcAft>
                          <a:spcPts val="0"/>
                        </a:spcAft>
                        <a:buClr>
                          <a:srgbClr val="000000"/>
                        </a:buClr>
                        <a:buFont typeface="Arial" panose="020B0604020202020204"/>
                      </a:pPr>
                      <a:r>
                        <a:rPr lang="fr-FR" sz="2400" b="0" i="0" u="none" strike="noStrike" cap="none" dirty="0" smtClean="0">
                          <a:solidFill>
                            <a:schemeClr val="dk1"/>
                          </a:solidFill>
                          <a:latin typeface="Arial Narrow" panose="020B0606020202030204" pitchFamily="34" charset="0"/>
                          <a:ea typeface="+mn-ea"/>
                          <a:cs typeface="+mn-cs"/>
                          <a:sym typeface="Arial" panose="020B0604020202020204"/>
                        </a:rPr>
                        <a:t>63</a:t>
                      </a:r>
                      <a:endParaRPr lang="fr-FR" sz="2400" b="0" i="0" u="none" strike="noStrike" cap="none" dirty="0">
                        <a:solidFill>
                          <a:schemeClr val="dk1"/>
                        </a:solidFill>
                        <a:latin typeface="Arial Narrow" panose="020B0606020202030204" pitchFamily="34" charset="0"/>
                        <a:ea typeface="+mn-ea"/>
                        <a:cs typeface="+mn-cs"/>
                        <a:sym typeface="Arial" panose="020B0604020202020204"/>
                      </a:endParaRPr>
                    </a:p>
                  </a:txBody>
                  <a:tcPr/>
                </a:tc>
                <a:tc>
                  <a:txBody>
                    <a:bodyPr/>
                    <a:lstStyle/>
                    <a:p>
                      <a:pPr marR="0" algn="ctr" rtl="0">
                        <a:lnSpc>
                          <a:spcPct val="100000"/>
                        </a:lnSpc>
                        <a:spcBef>
                          <a:spcPts val="0"/>
                        </a:spcBef>
                        <a:spcAft>
                          <a:spcPts val="0"/>
                        </a:spcAft>
                        <a:buClr>
                          <a:srgbClr val="000000"/>
                        </a:buClr>
                        <a:buFont typeface="Arial" panose="020B0604020202020204"/>
                      </a:pPr>
                      <a:r>
                        <a:rPr lang="fr-FR" sz="2400" b="0" i="0" u="none" strike="noStrike" cap="none" dirty="0" smtClean="0">
                          <a:solidFill>
                            <a:schemeClr val="dk1"/>
                          </a:solidFill>
                          <a:latin typeface="Arial Narrow" panose="020B0606020202030204" pitchFamily="34" charset="0"/>
                          <a:ea typeface="+mn-ea"/>
                          <a:cs typeface="+mn-cs"/>
                          <a:sym typeface="Arial" panose="020B0604020202020204"/>
                        </a:rPr>
                        <a:t>63</a:t>
                      </a:r>
                      <a:endParaRPr lang="fr-FR" sz="2400" b="0" i="0" u="none" strike="noStrike" cap="none" dirty="0">
                        <a:solidFill>
                          <a:schemeClr val="dk1"/>
                        </a:solidFill>
                        <a:latin typeface="Arial Narrow" panose="020B0606020202030204" pitchFamily="34" charset="0"/>
                        <a:ea typeface="+mn-ea"/>
                        <a:cs typeface="+mn-cs"/>
                        <a:sym typeface="Arial" panose="020B0604020202020204"/>
                      </a:endParaRPr>
                    </a:p>
                  </a:txBody>
                  <a:tcPr/>
                </a:tc>
                <a:tc>
                  <a:txBody>
                    <a:bodyPr/>
                    <a:lstStyle/>
                    <a:p>
                      <a:pPr marR="0" algn="ctr" rtl="0">
                        <a:lnSpc>
                          <a:spcPct val="100000"/>
                        </a:lnSpc>
                        <a:spcBef>
                          <a:spcPts val="0"/>
                        </a:spcBef>
                        <a:spcAft>
                          <a:spcPts val="0"/>
                        </a:spcAft>
                        <a:buClr>
                          <a:srgbClr val="000000"/>
                        </a:buClr>
                        <a:buFont typeface="Arial" panose="020B0604020202020204"/>
                      </a:pPr>
                      <a:r>
                        <a:rPr lang="fr-FR" sz="2400" b="0" i="0" u="none" strike="noStrike" cap="none" dirty="0" smtClean="0">
                          <a:solidFill>
                            <a:schemeClr val="dk1"/>
                          </a:solidFill>
                          <a:latin typeface="Arial Narrow" panose="020B0606020202030204" pitchFamily="34" charset="0"/>
                          <a:ea typeface="+mn-ea"/>
                          <a:cs typeface="+mn-cs"/>
                          <a:sym typeface="Arial" panose="020B0604020202020204"/>
                        </a:rPr>
                        <a:t>45</a:t>
                      </a:r>
                      <a:endParaRPr lang="fr-FR" sz="2400" b="0" i="0" u="none" strike="noStrike" cap="none" dirty="0">
                        <a:solidFill>
                          <a:schemeClr val="dk1"/>
                        </a:solidFill>
                        <a:latin typeface="Arial Narrow" panose="020B0606020202030204" pitchFamily="34" charset="0"/>
                        <a:ea typeface="+mn-ea"/>
                        <a:cs typeface="+mn-cs"/>
                        <a:sym typeface="Arial" panose="020B0604020202020204"/>
                      </a:endParaRPr>
                    </a:p>
                  </a:txBody>
                  <a:tcPr/>
                </a:tc>
                <a:extLst>
                  <a:ext uri="{0D108BD9-81ED-4DB2-BD59-A6C34878D82A}">
                    <a16:rowId xmlns:a16="http://schemas.microsoft.com/office/drawing/2014/main" val="10003"/>
                  </a:ext>
                </a:extLst>
              </a:tr>
              <a:tr h="778934">
                <a:tc>
                  <a:txBody>
                    <a:bodyPr/>
                    <a:lstStyle/>
                    <a:p>
                      <a:endParaRPr lang="fr-FR" sz="2400" dirty="0">
                        <a:latin typeface="Arial Narrow" panose="020B0606020202030204" pitchFamily="34" charset="0"/>
                      </a:endParaRPr>
                    </a:p>
                  </a:txBody>
                  <a:tcPr/>
                </a:tc>
                <a:tc>
                  <a:txBody>
                    <a:bodyPr/>
                    <a:lstStyle/>
                    <a:p>
                      <a:r>
                        <a:rPr lang="fr-FR" sz="2400" dirty="0" smtClean="0">
                          <a:latin typeface="Arial Narrow" panose="020B0606020202030204" pitchFamily="34" charset="0"/>
                        </a:rPr>
                        <a:t>Total</a:t>
                      </a:r>
                      <a:endParaRPr lang="fr-FR" sz="2400" dirty="0">
                        <a:latin typeface="Arial Narrow" panose="020B0606020202030204" pitchFamily="34" charset="0"/>
                      </a:endParaRPr>
                    </a:p>
                  </a:txBody>
                  <a:tcPr/>
                </a:tc>
                <a:tc>
                  <a:txBody>
                    <a:bodyPr/>
                    <a:lstStyle/>
                    <a:p>
                      <a:pPr algn="ctr"/>
                      <a:r>
                        <a:rPr lang="fr-FR" sz="2400" dirty="0" smtClean="0">
                          <a:latin typeface="Arial Narrow" panose="020B0606020202030204" pitchFamily="34" charset="0"/>
                        </a:rPr>
                        <a:t>167</a:t>
                      </a:r>
                      <a:endParaRPr lang="fr-FR" sz="2400" dirty="0">
                        <a:latin typeface="Arial Narrow" panose="020B0606020202030204" pitchFamily="34" charset="0"/>
                      </a:endParaRPr>
                    </a:p>
                  </a:txBody>
                  <a:tcPr/>
                </a:tc>
                <a:tc>
                  <a:txBody>
                    <a:bodyPr/>
                    <a:lstStyle/>
                    <a:p>
                      <a:pPr algn="ctr"/>
                      <a:r>
                        <a:rPr lang="fr-FR" sz="2400" dirty="0" smtClean="0">
                          <a:latin typeface="Arial Narrow" panose="020B0606020202030204" pitchFamily="34" charset="0"/>
                        </a:rPr>
                        <a:t>167</a:t>
                      </a:r>
                      <a:endParaRPr lang="fr-FR" sz="2400" dirty="0">
                        <a:latin typeface="Arial Narrow" panose="020B0606020202030204" pitchFamily="34" charset="0"/>
                      </a:endParaRPr>
                    </a:p>
                  </a:txBody>
                  <a:tcPr/>
                </a:tc>
                <a:tc>
                  <a:txBody>
                    <a:bodyPr/>
                    <a:lstStyle/>
                    <a:p>
                      <a:pPr algn="ctr"/>
                      <a:r>
                        <a:rPr lang="fr-FR" sz="2400" dirty="0" smtClean="0">
                          <a:latin typeface="Arial Narrow" panose="020B0606020202030204" pitchFamily="34" charset="0"/>
                        </a:rPr>
                        <a:t>60</a:t>
                      </a:r>
                      <a:endParaRPr lang="fr-FR" sz="2400" dirty="0">
                        <a:latin typeface="Arial Narrow" panose="020B0606020202030204" pitchFamily="34" charset="0"/>
                      </a:endParaRPr>
                    </a:p>
                  </a:txBody>
                  <a:tcPr/>
                </a:tc>
                <a:extLst>
                  <a:ext uri="{0D108BD9-81ED-4DB2-BD59-A6C34878D82A}">
                    <a16:rowId xmlns:a16="http://schemas.microsoft.com/office/drawing/2014/main" val="10004"/>
                  </a:ext>
                </a:extLst>
              </a:tr>
            </a:tbl>
          </a:graphicData>
        </a:graphic>
      </p:graphicFrame>
      <p:sp>
        <p:nvSpPr>
          <p:cNvPr id="3" name="Espace réservé de la date 2"/>
          <p:cNvSpPr>
            <a:spLocks noGrp="1"/>
          </p:cNvSpPr>
          <p:nvPr>
            <p:ph type="dt" idx="10"/>
          </p:nvPr>
        </p:nvSpPr>
        <p:spPr/>
        <p:txBody>
          <a:bodyPr/>
          <a:lstStyle/>
          <a:p>
            <a:fld id="{C76D88C3-623D-4BC4-82D8-0EEA1DF5CBF7}" type="datetime1">
              <a:rPr lang="en-US" smtClean="0"/>
              <a:t>12/16/2025</a:t>
            </a:fld>
            <a:endParaRPr lang="en-US"/>
          </a:p>
        </p:txBody>
      </p:sp>
      <p:sp>
        <p:nvSpPr>
          <p:cNvPr id="4" name="Espace réservé du pied de page 3"/>
          <p:cNvSpPr>
            <a:spLocks noGrp="1"/>
          </p:cNvSpPr>
          <p:nvPr>
            <p:ph type="ftr" idx="11"/>
          </p:nvPr>
        </p:nvSpPr>
        <p:spPr/>
        <p:txBody>
          <a:bodyPr/>
          <a:lstStyle/>
          <a:p>
            <a:r>
              <a:rPr lang="fr-FR" smtClean="0"/>
              <a:t>REVUE NATIONALE ANNUELLE PEV DPS KASAÏ</a:t>
            </a:r>
            <a:endParaRPr lang="fr-FR"/>
          </a:p>
        </p:txBody>
      </p:sp>
    </p:spTree>
    <p:extLst>
      <p:ext uri="{BB962C8B-B14F-4D97-AF65-F5344CB8AC3E}">
        <p14:creationId xmlns:p14="http://schemas.microsoft.com/office/powerpoint/2010/main" val="286222654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449943" y="729658"/>
            <a:ext cx="11155567" cy="988332"/>
          </a:xfrm>
        </p:spPr>
        <p:txBody>
          <a:bodyPr>
            <a:normAutofit/>
          </a:bodyPr>
          <a:lstStyle/>
          <a:p>
            <a:r>
              <a:rPr lang="fr-FR" sz="3600" b="1" dirty="0" smtClean="0">
                <a:latin typeface="Arial Narrow" panose="020B0606020202030204" pitchFamily="34" charset="0"/>
              </a:rPr>
              <a:t>10. P</a:t>
            </a:r>
            <a:r>
              <a:rPr lang="fr-FR" sz="3600" b="1" cap="none" dirty="0" smtClean="0">
                <a:latin typeface="Arial Narrow" panose="020B0606020202030204" pitchFamily="34" charset="0"/>
              </a:rPr>
              <a:t>roblèmes </a:t>
            </a:r>
            <a:r>
              <a:rPr lang="fr-FR" sz="3600" b="1" cap="none" dirty="0" smtClean="0">
                <a:latin typeface="Arial Narrow" panose="020B0606020202030204" pitchFamily="34" charset="0"/>
              </a:rPr>
              <a:t>identifi</a:t>
            </a:r>
            <a:r>
              <a:rPr lang="fr-FR" sz="3600" b="1" cap="none" dirty="0">
                <a:latin typeface="Arial Narrow" panose="020B0606020202030204" pitchFamily="34" charset="0"/>
              </a:rPr>
              <a:t>é</a:t>
            </a:r>
            <a:r>
              <a:rPr lang="fr-FR" sz="3600" b="1" cap="none" dirty="0" smtClean="0">
                <a:latin typeface="Arial Narrow" panose="020B0606020202030204" pitchFamily="34" charset="0"/>
              </a:rPr>
              <a:t>s et solutions proposées(1/4)</a:t>
            </a:r>
            <a:endParaRPr lang="fr-FR" sz="3600" b="1" dirty="0">
              <a:latin typeface="Arial Narrow" panose="020B0606020202030204" pitchFamily="34" charset="0"/>
            </a:endParaRPr>
          </a:p>
        </p:txBody>
      </p:sp>
      <p:graphicFrame>
        <p:nvGraphicFramePr>
          <p:cNvPr id="4" name="Espace réservé du contenu 4"/>
          <p:cNvGraphicFramePr>
            <a:graphicFrameLocks/>
          </p:cNvGraphicFramePr>
          <p:nvPr>
            <p:extLst>
              <p:ext uri="{D42A27DB-BD31-4B8C-83A1-F6EECF244321}">
                <p14:modId xmlns:p14="http://schemas.microsoft.com/office/powerpoint/2010/main" val="1381349323"/>
              </p:ext>
            </p:extLst>
          </p:nvPr>
        </p:nvGraphicFramePr>
        <p:xfrm>
          <a:off x="406402" y="1959429"/>
          <a:ext cx="11279259" cy="4206286"/>
        </p:xfrm>
        <a:graphic>
          <a:graphicData uri="http://schemas.openxmlformats.org/drawingml/2006/table">
            <a:tbl>
              <a:tblPr firstRow="1" bandRow="1">
                <a:tableStyleId>{5C22544A-7EE6-4342-B048-85BDC9FD1C3A}</a:tableStyleId>
              </a:tblPr>
              <a:tblGrid>
                <a:gridCol w="1588072">
                  <a:extLst>
                    <a:ext uri="{9D8B030D-6E8A-4147-A177-3AD203B41FA5}">
                      <a16:colId xmlns:a16="http://schemas.microsoft.com/office/drawing/2014/main" val="20000"/>
                    </a:ext>
                  </a:extLst>
                </a:gridCol>
                <a:gridCol w="2403034">
                  <a:extLst>
                    <a:ext uri="{9D8B030D-6E8A-4147-A177-3AD203B41FA5}">
                      <a16:colId xmlns:a16="http://schemas.microsoft.com/office/drawing/2014/main" val="20001"/>
                    </a:ext>
                  </a:extLst>
                </a:gridCol>
                <a:gridCol w="1454845">
                  <a:extLst>
                    <a:ext uri="{9D8B030D-6E8A-4147-A177-3AD203B41FA5}">
                      <a16:colId xmlns:a16="http://schemas.microsoft.com/office/drawing/2014/main" val="20002"/>
                    </a:ext>
                  </a:extLst>
                </a:gridCol>
                <a:gridCol w="1939792">
                  <a:extLst>
                    <a:ext uri="{9D8B030D-6E8A-4147-A177-3AD203B41FA5}">
                      <a16:colId xmlns:a16="http://schemas.microsoft.com/office/drawing/2014/main" val="20003"/>
                    </a:ext>
                  </a:extLst>
                </a:gridCol>
                <a:gridCol w="1130243">
                  <a:extLst>
                    <a:ext uri="{9D8B030D-6E8A-4147-A177-3AD203B41FA5}">
                      <a16:colId xmlns:a16="http://schemas.microsoft.com/office/drawing/2014/main" val="20004"/>
                    </a:ext>
                  </a:extLst>
                </a:gridCol>
                <a:gridCol w="1175201">
                  <a:extLst>
                    <a:ext uri="{9D8B030D-6E8A-4147-A177-3AD203B41FA5}">
                      <a16:colId xmlns:a16="http://schemas.microsoft.com/office/drawing/2014/main" val="20005"/>
                    </a:ext>
                  </a:extLst>
                </a:gridCol>
                <a:gridCol w="1588072">
                  <a:extLst>
                    <a:ext uri="{9D8B030D-6E8A-4147-A177-3AD203B41FA5}">
                      <a16:colId xmlns:a16="http://schemas.microsoft.com/office/drawing/2014/main" val="20006"/>
                    </a:ext>
                  </a:extLst>
                </a:gridCol>
              </a:tblGrid>
              <a:tr h="760881">
                <a:tc>
                  <a:txBody>
                    <a:bodyPr/>
                    <a:lstStyle/>
                    <a:p>
                      <a:r>
                        <a:rPr lang="fr-FR" sz="2400" dirty="0" smtClean="0">
                          <a:latin typeface="Arial Narrow" panose="020B0606020202030204" pitchFamily="34" charset="0"/>
                        </a:rPr>
                        <a:t>Domaine</a:t>
                      </a:r>
                      <a:endParaRPr lang="fr-FR" sz="2400" dirty="0">
                        <a:latin typeface="Arial Narrow" panose="020B0606020202030204" pitchFamily="34" charset="0"/>
                      </a:endParaRPr>
                    </a:p>
                  </a:txBody>
                  <a:tcPr marL="91449" marR="91449" marT="45728" marB="45728">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r>
                        <a:rPr lang="fr-FR" sz="2400" dirty="0" smtClean="0">
                          <a:latin typeface="Arial Narrow" panose="020B0606020202030204" pitchFamily="34" charset="0"/>
                        </a:rPr>
                        <a:t>Problème</a:t>
                      </a:r>
                      <a:endParaRPr lang="fr-FR" sz="2400" dirty="0">
                        <a:latin typeface="Arial Narrow" panose="020B0606020202030204" pitchFamily="34" charset="0"/>
                      </a:endParaRPr>
                    </a:p>
                  </a:txBody>
                  <a:tcPr marL="91449" marR="91449" marT="45728" marB="45728">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r>
                        <a:rPr lang="fr-FR" sz="2400" dirty="0" smtClean="0">
                          <a:latin typeface="Arial Narrow" panose="020B0606020202030204" pitchFamily="34" charset="0"/>
                        </a:rPr>
                        <a:t>Causes</a:t>
                      </a:r>
                      <a:endParaRPr lang="fr-FR" sz="2400" dirty="0">
                        <a:latin typeface="Arial Narrow" panose="020B0606020202030204" pitchFamily="34" charset="0"/>
                      </a:endParaRPr>
                    </a:p>
                  </a:txBody>
                  <a:tcPr marL="91449" marR="91449" marT="45728" marB="45728">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r>
                        <a:rPr lang="fr-FR" sz="2400" dirty="0" smtClean="0">
                          <a:latin typeface="Arial Narrow" panose="020B0606020202030204" pitchFamily="34" charset="0"/>
                        </a:rPr>
                        <a:t>Action</a:t>
                      </a:r>
                      <a:endParaRPr lang="fr-FR" sz="2400" dirty="0">
                        <a:latin typeface="Arial Narrow" panose="020B0606020202030204" pitchFamily="34" charset="0"/>
                      </a:endParaRPr>
                    </a:p>
                  </a:txBody>
                  <a:tcPr marL="91449" marR="91449" marT="45728" marB="45728">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r>
                        <a:rPr lang="fr-FR" sz="2400" dirty="0" smtClean="0">
                          <a:latin typeface="Arial Narrow" panose="020B0606020202030204" pitchFamily="34" charset="0"/>
                        </a:rPr>
                        <a:t>Responsable</a:t>
                      </a:r>
                      <a:endParaRPr lang="fr-FR" sz="2400" dirty="0">
                        <a:latin typeface="Arial Narrow" panose="020B0606020202030204" pitchFamily="34" charset="0"/>
                      </a:endParaRPr>
                    </a:p>
                  </a:txBody>
                  <a:tcPr marL="91449" marR="91449" marT="45728" marB="45728">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r>
                        <a:rPr lang="fr-FR" sz="2400" dirty="0" smtClean="0">
                          <a:latin typeface="Arial Narrow" panose="020B0606020202030204" pitchFamily="34" charset="0"/>
                        </a:rPr>
                        <a:t>Echéance</a:t>
                      </a:r>
                      <a:endParaRPr lang="fr-FR" sz="2400" dirty="0">
                        <a:latin typeface="Arial Narrow" panose="020B0606020202030204" pitchFamily="34" charset="0"/>
                      </a:endParaRPr>
                    </a:p>
                  </a:txBody>
                  <a:tcPr marL="91449" marR="91449" marT="45728" marB="45728">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r>
                        <a:rPr lang="fr-FR" sz="2400" dirty="0" smtClean="0">
                          <a:latin typeface="Arial Narrow" panose="020B0606020202030204" pitchFamily="34" charset="0"/>
                        </a:rPr>
                        <a:t>Source</a:t>
                      </a:r>
                      <a:r>
                        <a:rPr lang="fr-FR" sz="2400" baseline="0" dirty="0" smtClean="0">
                          <a:latin typeface="Arial Narrow" panose="020B0606020202030204" pitchFamily="34" charset="0"/>
                        </a:rPr>
                        <a:t> de vérification</a:t>
                      </a:r>
                      <a:endParaRPr lang="fr-FR" sz="2400" dirty="0">
                        <a:latin typeface="Arial Narrow" panose="020B0606020202030204" pitchFamily="34" charset="0"/>
                      </a:endParaRPr>
                    </a:p>
                  </a:txBody>
                  <a:tcPr marL="91449" marR="91449" marT="45728" marB="45728">
                    <a:lnB w="12700" cap="flat" cmpd="sng" algn="ctr">
                      <a:solidFill>
                        <a:schemeClr val="tx1"/>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0000"/>
                  </a:ext>
                </a:extLst>
              </a:tr>
              <a:tr h="3329615">
                <a:tc>
                  <a:txBody>
                    <a:bodyPr/>
                    <a:lstStyle/>
                    <a:p>
                      <a:r>
                        <a:rPr lang="fr-FR" sz="2400" i="1" kern="1200" dirty="0" smtClean="0">
                          <a:solidFill>
                            <a:schemeClr val="tx1"/>
                          </a:solidFill>
                          <a:effectLst/>
                          <a:latin typeface="Arial Narrow" panose="020B0606020202030204" pitchFamily="34" charset="0"/>
                          <a:ea typeface="+mn-ea"/>
                          <a:cs typeface="+mn-cs"/>
                        </a:rPr>
                        <a:t>COORDINATION ET FINANCEMENT</a:t>
                      </a:r>
                      <a:endParaRPr lang="fr-FR" sz="2400" i="1" kern="1200" dirty="0">
                        <a:solidFill>
                          <a:schemeClr val="tx1"/>
                        </a:solidFill>
                        <a:effectLst/>
                        <a:latin typeface="Arial Narrow" panose="020B0606020202030204" pitchFamily="34" charset="0"/>
                        <a:ea typeface="+mn-ea"/>
                        <a:cs typeface="+mn-cs"/>
                      </a:endParaRPr>
                    </a:p>
                  </a:txBody>
                  <a:tcPr marL="91441" marR="91441"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fr-FR" sz="2400" kern="1200" dirty="0" smtClean="0">
                          <a:solidFill>
                            <a:schemeClr val="tx1"/>
                          </a:solidFill>
                          <a:latin typeface="Arial Narrow" panose="020B0606020202030204" pitchFamily="34" charset="0"/>
                          <a:ea typeface="+mn-ea"/>
                          <a:cs typeface="+mn-cs"/>
                        </a:rPr>
                        <a:t>Faible tenue des réunions de </a:t>
                      </a:r>
                      <a:r>
                        <a:rPr lang="fr-FR" sz="2400" kern="1200" dirty="0" smtClean="0">
                          <a:solidFill>
                            <a:schemeClr val="tx1"/>
                          </a:solidFill>
                          <a:latin typeface="Arial Narrow" panose="020B0606020202030204" pitchFamily="34" charset="0"/>
                          <a:ea typeface="+mn-ea"/>
                          <a:cs typeface="+mn-cs"/>
                        </a:rPr>
                        <a:t>CCPeV   </a:t>
                      </a:r>
                      <a:r>
                        <a:rPr lang="fr-FR" sz="2400" kern="1200" dirty="0" smtClean="0">
                          <a:solidFill>
                            <a:schemeClr val="tx1"/>
                          </a:solidFill>
                          <a:latin typeface="Arial Narrow" panose="020B0606020202030204" pitchFamily="34" charset="0"/>
                          <a:ea typeface="+mn-ea"/>
                          <a:cs typeface="+mn-cs"/>
                        </a:rPr>
                        <a:t>(40%), </a:t>
                      </a:r>
                      <a:endParaRPr lang="fr-FR" sz="2400" kern="1200" dirty="0">
                        <a:solidFill>
                          <a:schemeClr val="tx1"/>
                        </a:solidFill>
                        <a:latin typeface="Arial Narrow" panose="020B0606020202030204" pitchFamily="34" charset="0"/>
                        <a:ea typeface="+mn-ea"/>
                        <a:cs typeface="+mn-cs"/>
                      </a:endParaRPr>
                    </a:p>
                  </a:txBody>
                  <a:tcPr marL="91441" marR="91441"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2400" kern="1200" dirty="0" smtClean="0">
                          <a:solidFill>
                            <a:schemeClr val="tx1"/>
                          </a:solidFill>
                          <a:latin typeface="Arial Narrow" panose="020B0606020202030204" pitchFamily="34" charset="0"/>
                          <a:ea typeface="+mn-ea"/>
                          <a:cs typeface="+mn-cs"/>
                        </a:rPr>
                        <a:t>Chevauchement</a:t>
                      </a:r>
                      <a:r>
                        <a:rPr lang="fr-FR" sz="2400" kern="1200" baseline="0" dirty="0" smtClean="0">
                          <a:solidFill>
                            <a:schemeClr val="tx1"/>
                          </a:solidFill>
                          <a:latin typeface="Arial Narrow" panose="020B0606020202030204" pitchFamily="34" charset="0"/>
                          <a:ea typeface="+mn-ea"/>
                          <a:cs typeface="+mn-cs"/>
                        </a:rPr>
                        <a:t> des activités</a:t>
                      </a:r>
                      <a:endParaRPr lang="fr-FR" sz="2400" kern="1200" dirty="0">
                        <a:solidFill>
                          <a:schemeClr val="tx1"/>
                        </a:solidFill>
                        <a:latin typeface="Arial Narrow" panose="020B0606020202030204" pitchFamily="34" charset="0"/>
                        <a:ea typeface="+mn-ea"/>
                        <a:cs typeface="+mn-cs"/>
                      </a:endParaRPr>
                    </a:p>
                  </a:txBody>
                  <a:tcPr marL="91441" marR="91441"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indent="-342900" algn="l" defTabSz="4572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fr-FR" sz="2400" kern="1200" dirty="0" smtClean="0">
                          <a:solidFill>
                            <a:schemeClr val="tx1"/>
                          </a:solidFill>
                          <a:latin typeface="Arial Narrow" panose="020B0606020202030204" pitchFamily="34" charset="0"/>
                          <a:ea typeface="+mn-ea"/>
                          <a:cs typeface="+mn-cs"/>
                        </a:rPr>
                        <a:t>Planifier rationnellement les activités</a:t>
                      </a:r>
                    </a:p>
                    <a:p>
                      <a:pPr marL="342900" marR="0" indent="-342900" algn="l" defTabSz="4572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fr-FR" sz="2400" kern="1200" dirty="0" smtClean="0">
                          <a:solidFill>
                            <a:schemeClr val="tx1"/>
                          </a:solidFill>
                          <a:latin typeface="Arial Narrow" panose="020B0606020202030204" pitchFamily="34" charset="0"/>
                          <a:ea typeface="+mn-ea"/>
                          <a:cs typeface="+mn-cs"/>
                        </a:rPr>
                        <a:t>Tenir régulièrement les réunions de CCIA , </a:t>
                      </a:r>
                      <a:endParaRPr lang="fr-FR" sz="2400" kern="1200" dirty="0">
                        <a:solidFill>
                          <a:schemeClr val="tx1"/>
                        </a:solidFill>
                        <a:latin typeface="Arial Narrow" panose="020B0606020202030204" pitchFamily="34" charset="0"/>
                        <a:ea typeface="+mn-ea"/>
                        <a:cs typeface="+mn-cs"/>
                      </a:endParaRPr>
                    </a:p>
                  </a:txBody>
                  <a:tcPr marL="91441" marR="91441"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2400" kern="1200" dirty="0" smtClean="0">
                          <a:solidFill>
                            <a:schemeClr val="tx1"/>
                          </a:solidFill>
                          <a:latin typeface="Arial Narrow" panose="020B0606020202030204" pitchFamily="34" charset="0"/>
                          <a:ea typeface="+mn-ea"/>
                          <a:cs typeface="+mn-cs"/>
                        </a:rPr>
                        <a:t>CD/MCA</a:t>
                      </a:r>
                    </a:p>
                    <a:p>
                      <a:endParaRPr lang="fr-FR" sz="2400" kern="1200" dirty="0" smtClean="0">
                        <a:solidFill>
                          <a:schemeClr val="tx1"/>
                        </a:solidFill>
                        <a:latin typeface="Arial Narrow" panose="020B0606020202030204" pitchFamily="34" charset="0"/>
                        <a:ea typeface="+mn-ea"/>
                        <a:cs typeface="+mn-cs"/>
                      </a:endParaRPr>
                    </a:p>
                    <a:p>
                      <a:endParaRPr lang="fr-FR" sz="2400" kern="1200" dirty="0" smtClean="0">
                        <a:solidFill>
                          <a:schemeClr val="tx1"/>
                        </a:solidFill>
                        <a:latin typeface="Arial Narrow" panose="020B0606020202030204" pitchFamily="34" charset="0"/>
                        <a:ea typeface="+mn-ea"/>
                        <a:cs typeface="+mn-cs"/>
                      </a:endParaRPr>
                    </a:p>
                    <a:p>
                      <a:endParaRPr lang="fr-FR" sz="2400" kern="1200" dirty="0" smtClean="0">
                        <a:solidFill>
                          <a:schemeClr val="tx1"/>
                        </a:solidFill>
                        <a:latin typeface="Arial Narrow" panose="020B0606020202030204" pitchFamily="34" charset="0"/>
                        <a:ea typeface="+mn-ea"/>
                        <a:cs typeface="+mn-cs"/>
                      </a:endParaRPr>
                    </a:p>
                    <a:p>
                      <a:endParaRPr lang="fr-FR" sz="2400" kern="1200" dirty="0" smtClean="0">
                        <a:solidFill>
                          <a:schemeClr val="tx1"/>
                        </a:solidFill>
                        <a:latin typeface="Arial Narrow" panose="020B0606020202030204" pitchFamily="34" charset="0"/>
                        <a:ea typeface="+mn-ea"/>
                        <a:cs typeface="+mn-cs"/>
                      </a:endParaRPr>
                    </a:p>
                    <a:p>
                      <a:endParaRPr lang="fr-FR" sz="2400" kern="1200" dirty="0" smtClean="0">
                        <a:solidFill>
                          <a:schemeClr val="tx1"/>
                        </a:solidFill>
                        <a:latin typeface="Arial Narrow" panose="020B0606020202030204" pitchFamily="34" charset="0"/>
                        <a:ea typeface="+mn-ea"/>
                        <a:cs typeface="+mn-cs"/>
                      </a:endParaRPr>
                    </a:p>
                    <a:p>
                      <a:endParaRPr lang="fr-FR" sz="2400" kern="1200" dirty="0" smtClean="0">
                        <a:solidFill>
                          <a:schemeClr val="tx1"/>
                        </a:solidFill>
                        <a:latin typeface="Arial Narrow" panose="020B0606020202030204" pitchFamily="34" charset="0"/>
                        <a:ea typeface="+mn-ea"/>
                        <a:cs typeface="+mn-cs"/>
                      </a:endParaRPr>
                    </a:p>
                    <a:p>
                      <a:endParaRPr lang="fr-FR" sz="2400" kern="1200" dirty="0" smtClean="0">
                        <a:solidFill>
                          <a:schemeClr val="tx1"/>
                        </a:solidFill>
                        <a:latin typeface="Arial Narrow" panose="020B0606020202030204" pitchFamily="34" charset="0"/>
                        <a:ea typeface="+mn-ea"/>
                        <a:cs typeface="+mn-cs"/>
                      </a:endParaRPr>
                    </a:p>
                  </a:txBody>
                  <a:tcPr marL="91441" marR="91441"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2400" kern="1200" dirty="0" smtClean="0">
                          <a:solidFill>
                            <a:schemeClr val="tx1"/>
                          </a:solidFill>
                          <a:latin typeface="Arial Narrow" panose="020B0606020202030204" pitchFamily="34" charset="0"/>
                          <a:ea typeface="+mn-ea"/>
                          <a:cs typeface="+mn-cs"/>
                        </a:rPr>
                        <a:t>Mensuelle</a:t>
                      </a:r>
                      <a:endParaRPr lang="fr-FR" sz="2400" kern="1200" dirty="0">
                        <a:solidFill>
                          <a:schemeClr val="tx1"/>
                        </a:solidFill>
                        <a:latin typeface="Arial Narrow" panose="020B0606020202030204" pitchFamily="34" charset="0"/>
                        <a:ea typeface="+mn-ea"/>
                        <a:cs typeface="+mn-cs"/>
                      </a:endParaRPr>
                    </a:p>
                  </a:txBody>
                  <a:tcPr marL="91441" marR="91441"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2400" kern="1200" dirty="0" smtClean="0">
                          <a:solidFill>
                            <a:schemeClr val="tx1"/>
                          </a:solidFill>
                          <a:latin typeface="Arial Narrow" panose="020B0606020202030204" pitchFamily="34" charset="0"/>
                          <a:ea typeface="+mn-ea"/>
                          <a:cs typeface="+mn-cs"/>
                        </a:rPr>
                        <a:t>Rapports des réunions</a:t>
                      </a:r>
                    </a:p>
                    <a:p>
                      <a:r>
                        <a:rPr lang="fr-FR" sz="2400" kern="1200" dirty="0" smtClean="0">
                          <a:solidFill>
                            <a:schemeClr val="tx1"/>
                          </a:solidFill>
                          <a:latin typeface="Arial Narrow" panose="020B0606020202030204" pitchFamily="34" charset="0"/>
                          <a:ea typeface="+mn-ea"/>
                          <a:cs typeface="+mn-cs"/>
                        </a:rPr>
                        <a:t>CCPeV </a:t>
                      </a:r>
                      <a:r>
                        <a:rPr lang="fr-FR" sz="2400" kern="1200" dirty="0" smtClean="0">
                          <a:solidFill>
                            <a:schemeClr val="tx1"/>
                          </a:solidFill>
                          <a:latin typeface="Arial Narrow" panose="020B0606020202030204" pitchFamily="34" charset="0"/>
                          <a:ea typeface="+mn-ea"/>
                          <a:cs typeface="+mn-cs"/>
                        </a:rPr>
                        <a:t>, Listes de présences</a:t>
                      </a:r>
                    </a:p>
                    <a:p>
                      <a:endParaRPr lang="fr-FR" sz="2400" kern="1200" dirty="0" smtClean="0">
                        <a:solidFill>
                          <a:schemeClr val="tx1"/>
                        </a:solidFill>
                        <a:latin typeface="Arial Narrow" panose="020B0606020202030204" pitchFamily="34" charset="0"/>
                        <a:ea typeface="+mn-ea"/>
                        <a:cs typeface="+mn-cs"/>
                      </a:endParaRPr>
                    </a:p>
                  </a:txBody>
                  <a:tcPr marL="91441" marR="91441"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2" name="Espace réservé de la date 1"/>
          <p:cNvSpPr>
            <a:spLocks noGrp="1"/>
          </p:cNvSpPr>
          <p:nvPr>
            <p:ph type="dt" idx="10"/>
          </p:nvPr>
        </p:nvSpPr>
        <p:spPr/>
        <p:txBody>
          <a:bodyPr/>
          <a:lstStyle/>
          <a:p>
            <a:fld id="{3DB1255B-4B87-47C8-9454-057631E8B4D8}" type="datetime1">
              <a:rPr lang="en-US" smtClean="0"/>
              <a:t>12/16/2025</a:t>
            </a:fld>
            <a:endParaRPr lang="en-US"/>
          </a:p>
        </p:txBody>
      </p:sp>
      <p:sp>
        <p:nvSpPr>
          <p:cNvPr id="5" name="Espace réservé du pied de page 4"/>
          <p:cNvSpPr>
            <a:spLocks noGrp="1"/>
          </p:cNvSpPr>
          <p:nvPr>
            <p:ph type="ftr" idx="11"/>
          </p:nvPr>
        </p:nvSpPr>
        <p:spPr/>
        <p:txBody>
          <a:bodyPr/>
          <a:lstStyle/>
          <a:p>
            <a:r>
              <a:rPr lang="fr-FR" smtClean="0"/>
              <a:t>REVUE NATIONALE ANNUELLE PEV DPS KASAÏ</a:t>
            </a:r>
            <a:endParaRPr lang="fr-FR"/>
          </a:p>
        </p:txBody>
      </p:sp>
    </p:spTree>
    <p:extLst>
      <p:ext uri="{BB962C8B-B14F-4D97-AF65-F5344CB8AC3E}">
        <p14:creationId xmlns:p14="http://schemas.microsoft.com/office/powerpoint/2010/main" val="241645570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827314" y="365125"/>
            <a:ext cx="10526486" cy="1325563"/>
          </a:xfrm>
        </p:spPr>
        <p:txBody>
          <a:bodyPr>
            <a:normAutofit/>
          </a:bodyPr>
          <a:lstStyle/>
          <a:p>
            <a:r>
              <a:rPr lang="fr-FR" sz="3600" b="1" dirty="0" smtClean="0"/>
              <a:t>          </a:t>
            </a:r>
            <a:endParaRPr lang="fr-FR" sz="3600" b="1" dirty="0"/>
          </a:p>
        </p:txBody>
      </p:sp>
      <p:graphicFrame>
        <p:nvGraphicFramePr>
          <p:cNvPr id="4" name="Espace réservé du contenu 4"/>
          <p:cNvGraphicFramePr>
            <a:graphicFrameLocks/>
          </p:cNvGraphicFramePr>
          <p:nvPr>
            <p:extLst>
              <p:ext uri="{D42A27DB-BD31-4B8C-83A1-F6EECF244321}">
                <p14:modId xmlns:p14="http://schemas.microsoft.com/office/powerpoint/2010/main" val="833367480"/>
              </p:ext>
            </p:extLst>
          </p:nvPr>
        </p:nvGraphicFramePr>
        <p:xfrm>
          <a:off x="478972" y="1524001"/>
          <a:ext cx="11268527" cy="5081776"/>
        </p:xfrm>
        <a:graphic>
          <a:graphicData uri="http://schemas.openxmlformats.org/drawingml/2006/table">
            <a:tbl>
              <a:tblPr firstRow="1" bandRow="1">
                <a:tableStyleId>{5C22544A-7EE6-4342-B048-85BDC9FD1C3A}</a:tableStyleId>
              </a:tblPr>
              <a:tblGrid>
                <a:gridCol w="1378275">
                  <a:extLst>
                    <a:ext uri="{9D8B030D-6E8A-4147-A177-3AD203B41FA5}">
                      <a16:colId xmlns:a16="http://schemas.microsoft.com/office/drawing/2014/main" val="20000"/>
                    </a:ext>
                  </a:extLst>
                </a:gridCol>
                <a:gridCol w="1540376">
                  <a:extLst>
                    <a:ext uri="{9D8B030D-6E8A-4147-A177-3AD203B41FA5}">
                      <a16:colId xmlns:a16="http://schemas.microsoft.com/office/drawing/2014/main" val="20001"/>
                    </a:ext>
                  </a:extLst>
                </a:gridCol>
                <a:gridCol w="2152465">
                  <a:extLst>
                    <a:ext uri="{9D8B030D-6E8A-4147-A177-3AD203B41FA5}">
                      <a16:colId xmlns:a16="http://schemas.microsoft.com/office/drawing/2014/main" val="20002"/>
                    </a:ext>
                  </a:extLst>
                </a:gridCol>
                <a:gridCol w="2711541">
                  <a:extLst>
                    <a:ext uri="{9D8B030D-6E8A-4147-A177-3AD203B41FA5}">
                      <a16:colId xmlns:a16="http://schemas.microsoft.com/office/drawing/2014/main" val="20003"/>
                    </a:ext>
                  </a:extLst>
                </a:gridCol>
                <a:gridCol w="1134935">
                  <a:extLst>
                    <a:ext uri="{9D8B030D-6E8A-4147-A177-3AD203B41FA5}">
                      <a16:colId xmlns:a16="http://schemas.microsoft.com/office/drawing/2014/main" val="20004"/>
                    </a:ext>
                  </a:extLst>
                </a:gridCol>
                <a:gridCol w="972802">
                  <a:extLst>
                    <a:ext uri="{9D8B030D-6E8A-4147-A177-3AD203B41FA5}">
                      <a16:colId xmlns:a16="http://schemas.microsoft.com/office/drawing/2014/main" val="20005"/>
                    </a:ext>
                  </a:extLst>
                </a:gridCol>
                <a:gridCol w="1378133">
                  <a:extLst>
                    <a:ext uri="{9D8B030D-6E8A-4147-A177-3AD203B41FA5}">
                      <a16:colId xmlns:a16="http://schemas.microsoft.com/office/drawing/2014/main" val="20006"/>
                    </a:ext>
                  </a:extLst>
                </a:gridCol>
              </a:tblGrid>
              <a:tr h="753660">
                <a:tc>
                  <a:txBody>
                    <a:bodyPr/>
                    <a:lstStyle/>
                    <a:p>
                      <a:r>
                        <a:rPr lang="fr-FR" sz="1600" dirty="0" smtClean="0">
                          <a:latin typeface="Arial Narrow" panose="020B0606020202030204" pitchFamily="34" charset="0"/>
                        </a:rPr>
                        <a:t>Domaine</a:t>
                      </a:r>
                      <a:endParaRPr lang="fr-FR" sz="1600" dirty="0">
                        <a:latin typeface="Arial Narrow" panose="020B0606020202030204" pitchFamily="34" charset="0"/>
                      </a:endParaRPr>
                    </a:p>
                  </a:txBody>
                  <a:tcPr marL="91446" marR="91446" marT="45709" marB="45709">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r>
                        <a:rPr lang="fr-FR" sz="1600" dirty="0" smtClean="0">
                          <a:latin typeface="Arial Narrow" panose="020B0606020202030204" pitchFamily="34" charset="0"/>
                        </a:rPr>
                        <a:t>Problème</a:t>
                      </a:r>
                      <a:endParaRPr lang="fr-FR" sz="1600" dirty="0">
                        <a:latin typeface="Arial Narrow" panose="020B0606020202030204" pitchFamily="34" charset="0"/>
                      </a:endParaRPr>
                    </a:p>
                  </a:txBody>
                  <a:tcPr marL="91446" marR="91446" marT="45709" marB="45709">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r>
                        <a:rPr lang="fr-FR" sz="1600" dirty="0" smtClean="0">
                          <a:latin typeface="Arial Narrow" panose="020B0606020202030204" pitchFamily="34" charset="0"/>
                        </a:rPr>
                        <a:t>causes</a:t>
                      </a:r>
                      <a:endParaRPr lang="fr-FR" sz="1600" dirty="0">
                        <a:latin typeface="Arial Narrow" panose="020B0606020202030204" pitchFamily="34" charset="0"/>
                      </a:endParaRPr>
                    </a:p>
                  </a:txBody>
                  <a:tcPr marL="91446" marR="91446" marT="45709" marB="45709">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r>
                        <a:rPr lang="fr-FR" sz="1600" dirty="0" smtClean="0">
                          <a:latin typeface="Arial Narrow" panose="020B0606020202030204" pitchFamily="34" charset="0"/>
                        </a:rPr>
                        <a:t>Action</a:t>
                      </a:r>
                      <a:endParaRPr lang="fr-FR" sz="1600" dirty="0">
                        <a:latin typeface="Arial Narrow" panose="020B0606020202030204" pitchFamily="34" charset="0"/>
                      </a:endParaRPr>
                    </a:p>
                  </a:txBody>
                  <a:tcPr marL="91446" marR="91446" marT="45709" marB="45709">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r>
                        <a:rPr lang="fr-FR" sz="1600" dirty="0" smtClean="0">
                          <a:latin typeface="Arial Narrow" panose="020B0606020202030204" pitchFamily="34" charset="0"/>
                        </a:rPr>
                        <a:t>Responsable</a:t>
                      </a:r>
                      <a:endParaRPr lang="fr-FR" sz="1600" dirty="0">
                        <a:latin typeface="Arial Narrow" panose="020B0606020202030204" pitchFamily="34" charset="0"/>
                      </a:endParaRPr>
                    </a:p>
                  </a:txBody>
                  <a:tcPr marL="91446" marR="91446" marT="45709" marB="45709">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r>
                        <a:rPr lang="fr-FR" sz="1600" dirty="0" smtClean="0">
                          <a:latin typeface="Arial Narrow" panose="020B0606020202030204" pitchFamily="34" charset="0"/>
                        </a:rPr>
                        <a:t>Echéance</a:t>
                      </a:r>
                      <a:endParaRPr lang="fr-FR" sz="1600" dirty="0">
                        <a:latin typeface="Arial Narrow" panose="020B0606020202030204" pitchFamily="34" charset="0"/>
                      </a:endParaRPr>
                    </a:p>
                  </a:txBody>
                  <a:tcPr marL="91446" marR="91446" marT="45709" marB="45709">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r>
                        <a:rPr lang="fr-FR" sz="1600" dirty="0" smtClean="0">
                          <a:latin typeface="Arial Narrow" panose="020B0606020202030204" pitchFamily="34" charset="0"/>
                        </a:rPr>
                        <a:t>Source</a:t>
                      </a:r>
                      <a:r>
                        <a:rPr lang="fr-FR" sz="1600" baseline="0" dirty="0" smtClean="0">
                          <a:latin typeface="Arial Narrow" panose="020B0606020202030204" pitchFamily="34" charset="0"/>
                        </a:rPr>
                        <a:t> de vérification</a:t>
                      </a:r>
                      <a:endParaRPr lang="fr-FR" sz="1600" dirty="0">
                        <a:latin typeface="Arial Narrow" panose="020B0606020202030204" pitchFamily="34" charset="0"/>
                      </a:endParaRPr>
                    </a:p>
                  </a:txBody>
                  <a:tcPr marL="91446" marR="91446" marT="45709" marB="45709">
                    <a:lnB w="12700" cap="flat" cmpd="sng" algn="ctr">
                      <a:solidFill>
                        <a:schemeClr val="tx1"/>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0000"/>
                  </a:ext>
                </a:extLst>
              </a:tr>
              <a:tr h="3303177">
                <a:tc rowSpan="2">
                  <a:txBody>
                    <a:bodyPr/>
                    <a:lstStyle/>
                    <a:p>
                      <a:pPr algn="l"/>
                      <a:r>
                        <a:rPr lang="fr-FR" sz="1600" i="1" dirty="0" smtClean="0">
                          <a:solidFill>
                            <a:schemeClr val="tx1"/>
                          </a:solidFill>
                          <a:latin typeface="Arial Narrow" panose="020B0606020202030204" pitchFamily="34" charset="0"/>
                        </a:rPr>
                        <a:t>PRESTATIONS DE SERVICES</a:t>
                      </a:r>
                      <a:endParaRPr lang="fr-FR" sz="1600" i="1" dirty="0">
                        <a:solidFill>
                          <a:schemeClr val="tx1"/>
                        </a:solidFill>
                        <a:latin typeface="Arial Narrow" panose="020B0606020202030204" pitchFamily="34" charset="0"/>
                      </a:endParaRPr>
                    </a:p>
                  </a:txBody>
                  <a:tcPr marL="91446" marR="91446"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rowSpan="2">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fr-FR" sz="1600" kern="1200" baseline="0" dirty="0" smtClean="0">
                          <a:solidFill>
                            <a:schemeClr val="tx1"/>
                          </a:solidFill>
                          <a:latin typeface="Arial Narrow" panose="020B0606020202030204" pitchFamily="34" charset="0"/>
                          <a:ea typeface="+mn-ea"/>
                          <a:cs typeface="+mn-cs"/>
                        </a:rPr>
                        <a:t>Nombre important d’ enfants non vaccinés en Zéro dose (10242) et sous vaccinés </a:t>
                      </a:r>
                      <a:r>
                        <a:rPr lang="fr-FR" sz="1600" kern="1200" baseline="0" dirty="0" smtClean="0">
                          <a:solidFill>
                            <a:schemeClr val="tx1"/>
                          </a:solidFill>
                          <a:latin typeface="Arial Narrow" panose="020B0606020202030204" pitchFamily="34" charset="0"/>
                          <a:ea typeface="+mn-ea"/>
                          <a:cs typeface="+mn-cs"/>
                        </a:rPr>
                        <a:t>11294 </a:t>
                      </a:r>
                      <a:r>
                        <a:rPr lang="fr-FR" sz="1600" kern="1200" baseline="0" dirty="0" smtClean="0">
                          <a:solidFill>
                            <a:schemeClr val="tx1"/>
                          </a:solidFill>
                          <a:latin typeface="Arial Narrow" panose="020B0606020202030204" pitchFamily="34" charset="0"/>
                          <a:ea typeface="+mn-ea"/>
                          <a:cs typeface="+mn-cs"/>
                        </a:rPr>
                        <a:t>(DTC3)</a:t>
                      </a:r>
                    </a:p>
                  </a:txBody>
                  <a:tcPr marL="91446" marR="91446" marT="45709" marB="457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FR" sz="1600" kern="1200" baseline="0" dirty="0" smtClean="0">
                        <a:solidFill>
                          <a:schemeClr val="tx1"/>
                        </a:solidFill>
                        <a:latin typeface="Arial Narrow" panose="020B0606020202030204"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fr-FR" sz="1600" kern="1200" baseline="0" dirty="0" smtClean="0">
                        <a:solidFill>
                          <a:schemeClr val="tx1"/>
                        </a:solidFill>
                        <a:latin typeface="Arial Narrow" panose="020B0606020202030204"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fr-FR" sz="1600" kern="1200" baseline="0" dirty="0" smtClean="0">
                        <a:solidFill>
                          <a:schemeClr val="tx1"/>
                        </a:solidFill>
                        <a:latin typeface="Arial Narrow" panose="020B0606020202030204" pitchFamily="34" charset="0"/>
                        <a:ea typeface="+mn-ea"/>
                        <a:cs typeface="+mn-cs"/>
                      </a:endParaRPr>
                    </a:p>
                    <a:p>
                      <a:endParaRPr lang="fr-FR" sz="1600" kern="1200" baseline="0" dirty="0" smtClean="0">
                        <a:solidFill>
                          <a:schemeClr val="tx1"/>
                        </a:solidFill>
                        <a:latin typeface="Arial Narrow" panose="020B0606020202030204" pitchFamily="34" charset="0"/>
                        <a:ea typeface="+mn-ea"/>
                        <a:cs typeface="+mn-cs"/>
                      </a:endParaRPr>
                    </a:p>
                    <a:p>
                      <a:endParaRPr lang="fr-FR" sz="1600" kern="1200" baseline="0" dirty="0" smtClean="0">
                        <a:solidFill>
                          <a:schemeClr val="tx1"/>
                        </a:solidFill>
                        <a:latin typeface="Arial Narrow" panose="020B0606020202030204" pitchFamily="34" charset="0"/>
                        <a:ea typeface="+mn-ea"/>
                        <a:cs typeface="+mn-cs"/>
                      </a:endParaRPr>
                    </a:p>
                    <a:p>
                      <a:endParaRPr lang="fr-FR" sz="1600" kern="1200" baseline="0" dirty="0" smtClean="0">
                        <a:solidFill>
                          <a:schemeClr val="tx1"/>
                        </a:solidFill>
                        <a:latin typeface="Arial Narrow" panose="020B0606020202030204" pitchFamily="34" charset="0"/>
                        <a:ea typeface="+mn-ea"/>
                        <a:cs typeface="+mn-cs"/>
                      </a:endParaRPr>
                    </a:p>
                    <a:p>
                      <a:pPr algn="just"/>
                      <a:r>
                        <a:rPr lang="fr-FR" sz="1600" kern="1200" baseline="0" dirty="0" smtClean="0">
                          <a:solidFill>
                            <a:schemeClr val="tx1"/>
                          </a:solidFill>
                          <a:latin typeface="Arial Narrow" panose="020B0606020202030204" pitchFamily="34" charset="0"/>
                          <a:ea typeface="+mn-ea"/>
                          <a:cs typeface="+mn-cs"/>
                        </a:rPr>
                        <a:t>Quelques CAC insuffisamment impliquées dans </a:t>
                      </a:r>
                      <a:r>
                        <a:rPr lang="fr-FR" sz="1600" kern="1200" baseline="0" dirty="0" smtClean="0">
                          <a:solidFill>
                            <a:schemeClr val="tx1"/>
                          </a:solidFill>
                          <a:latin typeface="Arial Narrow" panose="020B0606020202030204" pitchFamily="34" charset="0"/>
                          <a:ea typeface="+mn-ea"/>
                          <a:cs typeface="+mn-cs"/>
                        </a:rPr>
                        <a:t>la récupération de zéro dose et les sous vaccinés</a:t>
                      </a:r>
                    </a:p>
                  </a:txBody>
                  <a:tcPr marL="91446" marR="91446"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600" kern="1200" baseline="0" dirty="0" smtClean="0">
                          <a:solidFill>
                            <a:schemeClr val="tx1"/>
                          </a:solidFill>
                          <a:latin typeface="Arial Narrow" panose="020B0606020202030204" pitchFamily="34" charset="0"/>
                          <a:ea typeface="+mn-ea"/>
                          <a:cs typeface="+mn-cs"/>
                        </a:rPr>
                        <a:t> </a:t>
                      </a:r>
                    </a:p>
                    <a:p>
                      <a:pPr algn="l" fontAlgn="ctr"/>
                      <a:endParaRPr lang="fr-FR" sz="1600" kern="1200" baseline="0" dirty="0" smtClean="0">
                        <a:solidFill>
                          <a:schemeClr val="tx1"/>
                        </a:solidFill>
                        <a:latin typeface="Arial Narrow" panose="020B0606020202030204" pitchFamily="34" charset="0"/>
                        <a:ea typeface="+mn-ea"/>
                        <a:cs typeface="+mn-cs"/>
                      </a:endParaRPr>
                    </a:p>
                    <a:p>
                      <a:pPr algn="l" fontAlgn="ctr"/>
                      <a:endParaRPr lang="fr-FR" sz="1600" kern="1200" baseline="0" dirty="0" smtClean="0">
                        <a:solidFill>
                          <a:schemeClr val="tx1"/>
                        </a:solidFill>
                        <a:latin typeface="Arial Narrow" panose="020B0606020202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kern="1200" baseline="0" dirty="0" smtClean="0">
                        <a:solidFill>
                          <a:schemeClr val="tx1"/>
                        </a:solidFill>
                        <a:latin typeface="Arial Narrow" panose="020B0606020202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kern="1200" baseline="0" dirty="0" smtClean="0">
                        <a:solidFill>
                          <a:schemeClr val="tx1"/>
                        </a:solidFill>
                        <a:latin typeface="Arial Narrow" panose="020B0606020202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kern="1200" baseline="0" dirty="0" smtClean="0">
                        <a:solidFill>
                          <a:schemeClr val="tx1"/>
                        </a:solidFill>
                        <a:latin typeface="Arial Narrow" panose="020B0606020202030204" pitchFamily="34" charset="0"/>
                        <a:ea typeface="+mn-ea"/>
                        <a:cs typeface="+mn-cs"/>
                      </a:endParaRPr>
                    </a:p>
                    <a:p>
                      <a:pPr algn="l" fontAlgn="ctr"/>
                      <a:endParaRPr lang="fr-FR" sz="1600" kern="1200" baseline="0" dirty="0" smtClean="0">
                        <a:solidFill>
                          <a:schemeClr val="tx1"/>
                        </a:solidFill>
                        <a:effectLst/>
                        <a:latin typeface="Arial Narrow" panose="020B0606020202030204" pitchFamily="34" charset="0"/>
                        <a:ea typeface="+mn-ea"/>
                        <a:cs typeface="+mn-cs"/>
                      </a:endParaRPr>
                    </a:p>
                    <a:p>
                      <a:pPr algn="just"/>
                      <a:r>
                        <a:rPr lang="fr-FR" sz="1600" kern="1200" baseline="0" dirty="0" smtClean="0">
                          <a:solidFill>
                            <a:schemeClr val="tx1"/>
                          </a:solidFill>
                          <a:latin typeface="Arial Narrow" panose="020B0606020202030204" pitchFamily="34" charset="0"/>
                          <a:ea typeface="+mn-ea"/>
                          <a:cs typeface="+mn-cs"/>
                        </a:rPr>
                        <a:t>Impliquer les CAC dans la récupération de zéro dose et les sous vaccinés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fr-FR" sz="1600" kern="1200" baseline="0" dirty="0" smtClean="0">
                        <a:solidFill>
                          <a:schemeClr val="tx1"/>
                        </a:solidFill>
                        <a:latin typeface="Arial Narrow" panose="020B0606020202030204" pitchFamily="34" charset="0"/>
                        <a:ea typeface="+mn-ea"/>
                        <a:cs typeface="+mn-cs"/>
                      </a:endParaRPr>
                    </a:p>
                    <a:p>
                      <a:endParaRPr lang="fr-FR" sz="1600" kern="1200" baseline="0" dirty="0" smtClean="0">
                        <a:solidFill>
                          <a:schemeClr val="tx1"/>
                        </a:solidFill>
                        <a:latin typeface="Arial Narrow" panose="020B0606020202030204" pitchFamily="34" charset="0"/>
                        <a:ea typeface="+mn-ea"/>
                        <a:cs typeface="+mn-cs"/>
                      </a:endParaRPr>
                    </a:p>
                    <a:p>
                      <a:endParaRPr lang="fr-FR" sz="1600" kern="1200" baseline="0" dirty="0" smtClean="0">
                        <a:solidFill>
                          <a:schemeClr val="tx1"/>
                        </a:solidFill>
                        <a:latin typeface="Arial Narrow" panose="020B0606020202030204" pitchFamily="34" charset="0"/>
                        <a:ea typeface="+mn-ea"/>
                        <a:cs typeface="+mn-cs"/>
                      </a:endParaRPr>
                    </a:p>
                    <a:p>
                      <a:endParaRPr lang="fr-FR" sz="1600" kern="1200" baseline="0" dirty="0" smtClean="0">
                        <a:solidFill>
                          <a:schemeClr val="tx1"/>
                        </a:solidFill>
                        <a:latin typeface="Arial Narrow" panose="020B0606020202030204" pitchFamily="34" charset="0"/>
                        <a:ea typeface="+mn-ea"/>
                        <a:cs typeface="+mn-cs"/>
                      </a:endParaRPr>
                    </a:p>
                    <a:p>
                      <a:endParaRPr lang="fr-FR" sz="1600" kern="1200" baseline="0" dirty="0" smtClean="0">
                        <a:solidFill>
                          <a:schemeClr val="tx1"/>
                        </a:solidFill>
                        <a:latin typeface="Arial Narrow" panose="020B0606020202030204" pitchFamily="34" charset="0"/>
                        <a:ea typeface="+mn-ea"/>
                        <a:cs typeface="+mn-cs"/>
                      </a:endParaRPr>
                    </a:p>
                    <a:p>
                      <a:endParaRPr lang="fr-FR" sz="1600" kern="1200" baseline="0" dirty="0" smtClean="0">
                        <a:solidFill>
                          <a:schemeClr val="tx1"/>
                        </a:solidFill>
                        <a:latin typeface="Arial Narrow" panose="020B0606020202030204" pitchFamily="34" charset="0"/>
                        <a:ea typeface="+mn-ea"/>
                        <a:cs typeface="+mn-cs"/>
                      </a:endParaRPr>
                    </a:p>
                    <a:p>
                      <a:endParaRPr lang="fr-FR" sz="1600" kern="1200" baseline="0" dirty="0" smtClean="0">
                        <a:solidFill>
                          <a:schemeClr val="tx1"/>
                        </a:solidFill>
                        <a:latin typeface="Arial Narrow" panose="020B0606020202030204" pitchFamily="34" charset="0"/>
                        <a:ea typeface="+mn-ea"/>
                        <a:cs typeface="+mn-cs"/>
                      </a:endParaRPr>
                    </a:p>
                    <a:p>
                      <a:endParaRPr lang="fr-FR" sz="1600" kern="1200" baseline="0" dirty="0" smtClean="0">
                        <a:solidFill>
                          <a:schemeClr val="tx1"/>
                        </a:solidFill>
                        <a:latin typeface="Arial Narrow" panose="020B0606020202030204" pitchFamily="34" charset="0"/>
                        <a:ea typeface="+mn-ea"/>
                        <a:cs typeface="+mn-cs"/>
                      </a:endParaRPr>
                    </a:p>
                    <a:p>
                      <a:r>
                        <a:rPr lang="fr-FR" sz="1600" kern="1200" baseline="0" dirty="0" smtClean="0">
                          <a:solidFill>
                            <a:schemeClr val="tx1"/>
                          </a:solidFill>
                          <a:latin typeface="Arial Narrow" panose="020B0606020202030204" pitchFamily="34" charset="0"/>
                          <a:ea typeface="+mn-ea"/>
                          <a:cs typeface="+mn-cs"/>
                        </a:rPr>
                        <a:t>IT/CODESA</a:t>
                      </a:r>
                    </a:p>
                    <a:p>
                      <a:endParaRPr lang="fr-FR" sz="1600" kern="1200" baseline="0" dirty="0" smtClean="0">
                        <a:solidFill>
                          <a:schemeClr val="tx1"/>
                        </a:solidFill>
                        <a:latin typeface="Arial Narrow" panose="020B0606020202030204" pitchFamily="34" charset="0"/>
                        <a:ea typeface="+mn-ea"/>
                        <a:cs typeface="+mn-cs"/>
                      </a:endParaRPr>
                    </a:p>
                    <a:p>
                      <a:endParaRPr lang="fr-FR" sz="1600" kern="1200" baseline="0" dirty="0" smtClean="0">
                        <a:solidFill>
                          <a:schemeClr val="tx1"/>
                        </a:solidFill>
                        <a:latin typeface="Arial Narrow" panose="020B0606020202030204" pitchFamily="34" charset="0"/>
                        <a:ea typeface="+mn-ea"/>
                        <a:cs typeface="+mn-cs"/>
                      </a:endParaRPr>
                    </a:p>
                    <a:p>
                      <a:endParaRPr lang="fr-FR" sz="1600" kern="1200" baseline="0" dirty="0" smtClean="0">
                        <a:solidFill>
                          <a:schemeClr val="tx1"/>
                        </a:solidFill>
                        <a:latin typeface="Arial Narrow" panose="020B0606020202030204" pitchFamily="34" charset="0"/>
                        <a:ea typeface="+mn-ea"/>
                        <a:cs typeface="+mn-cs"/>
                      </a:endParaRPr>
                    </a:p>
                    <a:p>
                      <a:endParaRPr lang="fr-FR" sz="1600" kern="1200" baseline="0" dirty="0" smtClean="0">
                        <a:solidFill>
                          <a:schemeClr val="tx1"/>
                        </a:solidFill>
                        <a:latin typeface="Arial Narrow" panose="020B0606020202030204" pitchFamily="34" charset="0"/>
                        <a:ea typeface="+mn-ea"/>
                        <a:cs typeface="+mn-cs"/>
                      </a:endParaRPr>
                    </a:p>
                    <a:p>
                      <a:endParaRPr lang="fr-FR" sz="1600" kern="1200" baseline="0" dirty="0">
                        <a:solidFill>
                          <a:schemeClr val="tx1"/>
                        </a:solidFill>
                        <a:latin typeface="Arial Narrow" panose="020B0606020202030204" pitchFamily="34" charset="0"/>
                        <a:ea typeface="+mn-ea"/>
                        <a:cs typeface="+mn-cs"/>
                      </a:endParaRPr>
                    </a:p>
                  </a:txBody>
                  <a:tcPr marL="91446" marR="91446"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FR" sz="1600" kern="1200" baseline="0" dirty="0" smtClean="0">
                        <a:solidFill>
                          <a:schemeClr val="tx1"/>
                        </a:solidFill>
                        <a:latin typeface="Arial Narrow" panose="020B0606020202030204" pitchFamily="34" charset="0"/>
                        <a:ea typeface="+mn-ea"/>
                        <a:cs typeface="+mn-cs"/>
                      </a:endParaRPr>
                    </a:p>
                    <a:p>
                      <a:endParaRPr lang="fr-FR" sz="1600" kern="1200" baseline="0" dirty="0" smtClean="0">
                        <a:solidFill>
                          <a:schemeClr val="tx1"/>
                        </a:solidFill>
                        <a:latin typeface="Arial Narrow" panose="020B0606020202030204" pitchFamily="34" charset="0"/>
                        <a:ea typeface="+mn-ea"/>
                        <a:cs typeface="+mn-cs"/>
                      </a:endParaRPr>
                    </a:p>
                    <a:p>
                      <a:endParaRPr lang="fr-FR" sz="1600" kern="1200" baseline="0" dirty="0" smtClean="0">
                        <a:solidFill>
                          <a:schemeClr val="tx1"/>
                        </a:solidFill>
                        <a:latin typeface="Arial Narrow" panose="020B0606020202030204" pitchFamily="34" charset="0"/>
                        <a:ea typeface="+mn-ea"/>
                        <a:cs typeface="+mn-cs"/>
                      </a:endParaRPr>
                    </a:p>
                    <a:p>
                      <a:endParaRPr lang="fr-FR" sz="1600" kern="1200" baseline="0" dirty="0" smtClean="0">
                        <a:solidFill>
                          <a:schemeClr val="tx1"/>
                        </a:solidFill>
                        <a:latin typeface="Arial Narrow" panose="020B0606020202030204" pitchFamily="34" charset="0"/>
                        <a:ea typeface="+mn-ea"/>
                        <a:cs typeface="+mn-cs"/>
                      </a:endParaRPr>
                    </a:p>
                    <a:p>
                      <a:endParaRPr lang="fr-FR" sz="1600" kern="1200" baseline="0" dirty="0" smtClean="0">
                        <a:solidFill>
                          <a:schemeClr val="tx1"/>
                        </a:solidFill>
                        <a:latin typeface="Arial Narrow" panose="020B0606020202030204" pitchFamily="34" charset="0"/>
                        <a:ea typeface="+mn-ea"/>
                        <a:cs typeface="+mn-cs"/>
                      </a:endParaRPr>
                    </a:p>
                    <a:p>
                      <a:endParaRPr lang="fr-FR" sz="1600" kern="1200" baseline="0" dirty="0" smtClean="0">
                        <a:solidFill>
                          <a:schemeClr val="tx1"/>
                        </a:solidFill>
                        <a:latin typeface="Arial Narrow" panose="020B0606020202030204" pitchFamily="34" charset="0"/>
                        <a:ea typeface="+mn-ea"/>
                        <a:cs typeface="+mn-cs"/>
                      </a:endParaRPr>
                    </a:p>
                    <a:p>
                      <a:endParaRPr lang="fr-FR" sz="1600" kern="1200" baseline="0" dirty="0" smtClean="0">
                        <a:solidFill>
                          <a:schemeClr val="tx1"/>
                        </a:solidFill>
                        <a:latin typeface="Arial Narrow" panose="020B0606020202030204" pitchFamily="34" charset="0"/>
                        <a:ea typeface="+mn-ea"/>
                        <a:cs typeface="+mn-cs"/>
                      </a:endParaRPr>
                    </a:p>
                    <a:p>
                      <a:endParaRPr lang="fr-FR" sz="1600" kern="1200" baseline="0" dirty="0" smtClean="0">
                        <a:solidFill>
                          <a:schemeClr val="tx1"/>
                        </a:solidFill>
                        <a:latin typeface="Arial Narrow" panose="020B0606020202030204" pitchFamily="34" charset="0"/>
                        <a:ea typeface="+mn-ea"/>
                        <a:cs typeface="+mn-cs"/>
                      </a:endParaRPr>
                    </a:p>
                    <a:p>
                      <a:endParaRPr lang="fr-FR" sz="1600" kern="1200" baseline="0" dirty="0" smtClean="0">
                        <a:solidFill>
                          <a:schemeClr val="tx1"/>
                        </a:solidFill>
                        <a:latin typeface="Arial Narrow" panose="020B0606020202030204" pitchFamily="34" charset="0"/>
                        <a:ea typeface="+mn-ea"/>
                        <a:cs typeface="+mn-cs"/>
                      </a:endParaRPr>
                    </a:p>
                    <a:p>
                      <a:r>
                        <a:rPr lang="fr-FR" sz="1600" kern="1200" baseline="0" dirty="0" smtClean="0">
                          <a:solidFill>
                            <a:schemeClr val="tx1"/>
                          </a:solidFill>
                          <a:latin typeface="Arial Narrow" panose="020B0606020202030204" pitchFamily="34" charset="0"/>
                          <a:ea typeface="+mn-ea"/>
                          <a:cs typeface="+mn-cs"/>
                        </a:rPr>
                        <a:t>Continue</a:t>
                      </a:r>
                    </a:p>
                    <a:p>
                      <a:endParaRPr lang="fr-FR" sz="1600" kern="1200" baseline="0" dirty="0" smtClean="0">
                        <a:solidFill>
                          <a:schemeClr val="tx1"/>
                        </a:solidFill>
                        <a:latin typeface="Arial Narrow" panose="020B0606020202030204" pitchFamily="34" charset="0"/>
                        <a:ea typeface="+mn-ea"/>
                        <a:cs typeface="+mn-cs"/>
                      </a:endParaRPr>
                    </a:p>
                  </a:txBody>
                  <a:tcPr marL="91446" marR="91446"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endParaRPr lang="fr-FR" sz="1600" kern="1200" baseline="0" dirty="0" smtClean="0">
                        <a:solidFill>
                          <a:schemeClr val="tx1"/>
                        </a:solidFill>
                        <a:latin typeface="Arial Narrow" panose="020B0606020202030204" pitchFamily="34" charset="0"/>
                        <a:ea typeface="+mn-ea"/>
                        <a:cs typeface="+mn-cs"/>
                      </a:endParaRPr>
                    </a:p>
                    <a:p>
                      <a:pPr marL="0" algn="l" defTabSz="914400" rtl="0" eaLnBrk="1" latinLnBrk="0" hangingPunct="1"/>
                      <a:endParaRPr lang="fr-FR" sz="1600" kern="1200" baseline="0" dirty="0" smtClean="0">
                        <a:solidFill>
                          <a:schemeClr val="tx1"/>
                        </a:solidFill>
                        <a:latin typeface="Arial Narrow" panose="020B0606020202030204" pitchFamily="34" charset="0"/>
                        <a:ea typeface="+mn-ea"/>
                        <a:cs typeface="+mn-cs"/>
                      </a:endParaRPr>
                    </a:p>
                    <a:p>
                      <a:pPr marL="0" algn="l" defTabSz="914400" rtl="0" eaLnBrk="1" latinLnBrk="0" hangingPunct="1"/>
                      <a:endParaRPr lang="fr-FR" sz="1600" kern="1200" baseline="0" dirty="0" smtClean="0">
                        <a:solidFill>
                          <a:schemeClr val="tx1"/>
                        </a:solidFill>
                        <a:latin typeface="Arial Narrow" panose="020B0606020202030204" pitchFamily="34" charset="0"/>
                        <a:ea typeface="+mn-ea"/>
                        <a:cs typeface="+mn-cs"/>
                      </a:endParaRPr>
                    </a:p>
                    <a:p>
                      <a:pPr marL="0" algn="l" defTabSz="914400" rtl="0" eaLnBrk="1" latinLnBrk="0" hangingPunct="1"/>
                      <a:endParaRPr lang="fr-FR" sz="1600" kern="1200" baseline="0" dirty="0" smtClean="0">
                        <a:solidFill>
                          <a:schemeClr val="tx1"/>
                        </a:solidFill>
                        <a:latin typeface="Arial Narrow" panose="020B0606020202030204"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fr-FR" sz="1600" kern="1200" baseline="0" dirty="0" smtClean="0">
                        <a:solidFill>
                          <a:schemeClr val="tx1"/>
                        </a:solidFill>
                        <a:latin typeface="Arial Narrow" panose="020B0606020202030204"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fr-FR" sz="1600" kern="1200" baseline="0" dirty="0" smtClean="0">
                        <a:solidFill>
                          <a:schemeClr val="tx1"/>
                        </a:solidFill>
                        <a:latin typeface="Arial Narrow" panose="020B0606020202030204"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fr-FR" sz="1600" kern="1200" baseline="0" dirty="0" smtClean="0">
                          <a:solidFill>
                            <a:schemeClr val="tx1"/>
                          </a:solidFill>
                          <a:latin typeface="Arial Narrow" panose="020B0606020202030204" pitchFamily="34" charset="0"/>
                          <a:ea typeface="+mn-ea"/>
                          <a:cs typeface="+mn-cs"/>
                        </a:rPr>
                        <a:t>Rapport de CODESA/CAC</a:t>
                      </a:r>
                    </a:p>
                    <a:p>
                      <a:pPr marL="0" marR="0" indent="0" algn="l" defTabSz="914400" rtl="0" eaLnBrk="1" fontAlgn="auto" latinLnBrk="0" hangingPunct="1">
                        <a:lnSpc>
                          <a:spcPct val="100000"/>
                        </a:lnSpc>
                        <a:spcBef>
                          <a:spcPts val="0"/>
                        </a:spcBef>
                        <a:spcAft>
                          <a:spcPts val="0"/>
                        </a:spcAft>
                        <a:buClrTx/>
                        <a:buSzTx/>
                        <a:buFontTx/>
                        <a:buNone/>
                        <a:tabLst/>
                        <a:defRPr/>
                      </a:pPr>
                      <a:endParaRPr lang="fr-FR" sz="1600" kern="1200" baseline="0" dirty="0" smtClean="0">
                        <a:solidFill>
                          <a:schemeClr val="tx1"/>
                        </a:solidFill>
                        <a:latin typeface="Arial Narrow" panose="020B0606020202030204" pitchFamily="34" charset="0"/>
                        <a:ea typeface="+mn-ea"/>
                        <a:cs typeface="+mn-cs"/>
                      </a:endParaRPr>
                    </a:p>
                    <a:p>
                      <a:pPr marL="0" algn="l" defTabSz="914400" rtl="0" eaLnBrk="1" latinLnBrk="0" hangingPunct="1"/>
                      <a:r>
                        <a:rPr lang="fr-FR" sz="1600" kern="1200" baseline="0" dirty="0" smtClean="0">
                          <a:solidFill>
                            <a:schemeClr val="tx1"/>
                          </a:solidFill>
                          <a:latin typeface="Arial Narrow" panose="020B0606020202030204" pitchFamily="34" charset="0"/>
                          <a:ea typeface="+mn-ea"/>
                          <a:cs typeface="+mn-cs"/>
                        </a:rPr>
                        <a:t>DHIS2</a:t>
                      </a:r>
                    </a:p>
                  </a:txBody>
                  <a:tcPr marL="91446" marR="91446"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775513">
                <a:tc vMerge="1">
                  <a:txBody>
                    <a:bodyPr/>
                    <a:lstStyle/>
                    <a:p>
                      <a:endParaRPr lang="fr-FR"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FR" sz="1200" kern="1200" baseline="0" dirty="0" smtClean="0">
                        <a:solidFill>
                          <a:srgbClr val="FF5050"/>
                        </a:solidFill>
                        <a:latin typeface="+mn-lt"/>
                        <a:ea typeface="+mn-ea"/>
                        <a:cs typeface="+mn-cs"/>
                      </a:endParaRPr>
                    </a:p>
                  </a:txBody>
                  <a:tcPr marL="91446" marR="91446" marT="45705" marB="457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1600" kern="1200" baseline="0" dirty="0" smtClean="0">
                          <a:solidFill>
                            <a:schemeClr val="tx1"/>
                          </a:solidFill>
                          <a:latin typeface="Arial Narrow" panose="020B0606020202030204" pitchFamily="34" charset="0"/>
                          <a:ea typeface="+mn-ea"/>
                          <a:cs typeface="+mn-cs"/>
                        </a:rPr>
                        <a:t>Faible sensibilisation des parents pour la vaccination</a:t>
                      </a:r>
                      <a:endParaRPr lang="fr-FR" sz="1600" kern="1200" baseline="0" dirty="0">
                        <a:solidFill>
                          <a:schemeClr val="tx1"/>
                        </a:solidFill>
                        <a:latin typeface="Arial Narrow" panose="020B0606020202030204" pitchFamily="34" charset="0"/>
                        <a:ea typeface="+mn-ea"/>
                        <a:cs typeface="+mn-cs"/>
                      </a:endParaRPr>
                    </a:p>
                  </a:txBody>
                  <a:tcPr marL="91446" marR="91446"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1600" kern="1200" baseline="0" dirty="0" smtClean="0">
                          <a:solidFill>
                            <a:schemeClr val="tx1"/>
                          </a:solidFill>
                          <a:latin typeface="Arial Narrow" panose="020B0606020202030204" pitchFamily="34" charset="0"/>
                          <a:ea typeface="+mn-ea"/>
                          <a:cs typeface="+mn-cs"/>
                        </a:rPr>
                        <a:t>Augmenter les séances de sensibilisions sur la vaccination</a:t>
                      </a:r>
                      <a:endParaRPr lang="fr-FR" sz="1600" kern="1200" baseline="0" dirty="0">
                        <a:solidFill>
                          <a:schemeClr val="tx1"/>
                        </a:solidFill>
                        <a:latin typeface="Arial Narrow" panose="020B0606020202030204" pitchFamily="34" charset="0"/>
                        <a:ea typeface="+mn-ea"/>
                        <a:cs typeface="+mn-cs"/>
                      </a:endParaRPr>
                    </a:p>
                  </a:txBody>
                  <a:tcPr marL="91446" marR="91446"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1600" kern="1200" baseline="0" dirty="0" smtClean="0">
                          <a:solidFill>
                            <a:schemeClr val="tx1"/>
                          </a:solidFill>
                          <a:latin typeface="Arial Narrow" panose="020B0606020202030204" pitchFamily="34" charset="0"/>
                          <a:ea typeface="+mn-ea"/>
                          <a:cs typeface="+mn-cs"/>
                        </a:rPr>
                        <a:t>/IT/RECO</a:t>
                      </a:r>
                      <a:endParaRPr lang="fr-FR" sz="1600" kern="1200" baseline="0" dirty="0">
                        <a:solidFill>
                          <a:schemeClr val="tx1"/>
                        </a:solidFill>
                        <a:latin typeface="Arial Narrow" panose="020B0606020202030204" pitchFamily="34" charset="0"/>
                        <a:ea typeface="+mn-ea"/>
                        <a:cs typeface="+mn-cs"/>
                      </a:endParaRPr>
                    </a:p>
                  </a:txBody>
                  <a:tcPr marL="91446" marR="91446"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1600" kern="1200" baseline="0" dirty="0" smtClean="0">
                          <a:solidFill>
                            <a:schemeClr val="tx1"/>
                          </a:solidFill>
                          <a:latin typeface="Arial Narrow" panose="020B0606020202030204" pitchFamily="34" charset="0"/>
                          <a:ea typeface="+mn-ea"/>
                          <a:cs typeface="+mn-cs"/>
                        </a:rPr>
                        <a:t>Continue</a:t>
                      </a:r>
                      <a:endParaRPr lang="fr-FR" sz="1600" kern="1200" baseline="0" dirty="0">
                        <a:solidFill>
                          <a:schemeClr val="tx1"/>
                        </a:solidFill>
                        <a:latin typeface="Arial Narrow" panose="020B0606020202030204" pitchFamily="34" charset="0"/>
                        <a:ea typeface="+mn-ea"/>
                        <a:cs typeface="+mn-cs"/>
                      </a:endParaRPr>
                    </a:p>
                  </a:txBody>
                  <a:tcPr marL="91446" marR="91446"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fr-FR" sz="1600" kern="1200" baseline="0" dirty="0" smtClean="0">
                          <a:solidFill>
                            <a:schemeClr val="tx1"/>
                          </a:solidFill>
                          <a:latin typeface="Arial Narrow" panose="020B0606020202030204" pitchFamily="34" charset="0"/>
                          <a:ea typeface="+mn-ea"/>
                          <a:cs typeface="+mn-cs"/>
                        </a:rPr>
                        <a:t>Rapport de sensibilisation</a:t>
                      </a:r>
                      <a:endParaRPr lang="fr-FR" sz="1600" kern="1200" baseline="0" dirty="0">
                        <a:solidFill>
                          <a:schemeClr val="tx1"/>
                        </a:solidFill>
                        <a:latin typeface="Arial Narrow" panose="020B0606020202030204" pitchFamily="34" charset="0"/>
                        <a:ea typeface="+mn-ea"/>
                        <a:cs typeface="+mn-cs"/>
                      </a:endParaRPr>
                    </a:p>
                  </a:txBody>
                  <a:tcPr marL="91446" marR="91446"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8" name="Titre 6"/>
          <p:cNvSpPr txBox="1">
            <a:spLocks/>
          </p:cNvSpPr>
          <p:nvPr/>
        </p:nvSpPr>
        <p:spPr>
          <a:xfrm>
            <a:off x="449943" y="729658"/>
            <a:ext cx="11155567" cy="66371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lay" panose="00000500000000000000"/>
              <a:buNone/>
              <a:defRPr sz="4400" b="0" i="0" u="none" strike="noStrike" cap="none">
                <a:solidFill>
                  <a:schemeClr val="dk1"/>
                </a:solidFill>
                <a:latin typeface="Play" panose="00000500000000000000"/>
                <a:ea typeface="Play" panose="00000500000000000000"/>
                <a:cs typeface="Play" panose="00000500000000000000"/>
                <a:sym typeface="Play" panose="00000500000000000000"/>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fr-FR" sz="3600" b="1" dirty="0" smtClean="0">
                <a:latin typeface="Arial Narrow" panose="020B0606020202030204" pitchFamily="34" charset="0"/>
              </a:rPr>
              <a:t>10. Problèmes </a:t>
            </a:r>
            <a:r>
              <a:rPr lang="fr-FR" sz="3600" b="1" dirty="0" smtClean="0">
                <a:latin typeface="Arial Narrow" panose="020B0606020202030204" pitchFamily="34" charset="0"/>
              </a:rPr>
              <a:t>identifiés et solutions proposées(2/4)</a:t>
            </a:r>
            <a:endParaRPr lang="fr-FR" sz="3600" b="1" dirty="0">
              <a:latin typeface="Arial Narrow" panose="020B0606020202030204" pitchFamily="34" charset="0"/>
            </a:endParaRPr>
          </a:p>
        </p:txBody>
      </p:sp>
      <p:sp>
        <p:nvSpPr>
          <p:cNvPr id="2" name="Espace réservé de la date 1"/>
          <p:cNvSpPr>
            <a:spLocks noGrp="1"/>
          </p:cNvSpPr>
          <p:nvPr>
            <p:ph type="dt" idx="10"/>
          </p:nvPr>
        </p:nvSpPr>
        <p:spPr/>
        <p:txBody>
          <a:bodyPr/>
          <a:lstStyle/>
          <a:p>
            <a:fld id="{0A273866-DF25-4798-9810-F26BC011DBFA}" type="datetime1">
              <a:rPr lang="en-US" smtClean="0"/>
              <a:t>12/16/2025</a:t>
            </a:fld>
            <a:endParaRPr lang="en-US"/>
          </a:p>
        </p:txBody>
      </p:sp>
      <p:sp>
        <p:nvSpPr>
          <p:cNvPr id="5" name="Espace réservé du pied de page 4"/>
          <p:cNvSpPr>
            <a:spLocks noGrp="1"/>
          </p:cNvSpPr>
          <p:nvPr>
            <p:ph type="ftr" idx="11"/>
          </p:nvPr>
        </p:nvSpPr>
        <p:spPr/>
        <p:txBody>
          <a:bodyPr/>
          <a:lstStyle/>
          <a:p>
            <a:r>
              <a:rPr lang="fr-FR" smtClean="0"/>
              <a:t>REVUE NATIONALE ANNUELLE PEV DPS KASAÏ</a:t>
            </a:r>
            <a:endParaRPr lang="fr-FR"/>
          </a:p>
        </p:txBody>
      </p:sp>
    </p:spTree>
    <p:extLst>
      <p:ext uri="{BB962C8B-B14F-4D97-AF65-F5344CB8AC3E}">
        <p14:creationId xmlns:p14="http://schemas.microsoft.com/office/powerpoint/2010/main" val="39805984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575894" y="391887"/>
            <a:ext cx="11029616" cy="812799"/>
          </a:xfrm>
        </p:spPr>
        <p:txBody>
          <a:bodyPr>
            <a:normAutofit/>
          </a:bodyPr>
          <a:lstStyle/>
          <a:p>
            <a:r>
              <a:rPr lang="fr-FR" sz="3600" b="1" dirty="0">
                <a:latin typeface="Arial Narrow" panose="020B0606020202030204" pitchFamily="34" charset="0"/>
              </a:rPr>
              <a:t>  </a:t>
            </a:r>
            <a:r>
              <a:rPr lang="fr-FR" sz="3600" b="1" dirty="0" smtClean="0">
                <a:latin typeface="Arial Narrow" panose="020B0606020202030204" pitchFamily="34" charset="0"/>
              </a:rPr>
              <a:t>10</a:t>
            </a:r>
            <a:r>
              <a:rPr lang="fr-FR" sz="3600" b="1" dirty="0" smtClean="0">
                <a:latin typeface="Arial Narrow" panose="020B0606020202030204" pitchFamily="34" charset="0"/>
              </a:rPr>
              <a:t>. </a:t>
            </a:r>
            <a:r>
              <a:rPr lang="fr-FR" sz="3600" b="1" dirty="0">
                <a:latin typeface="Arial Narrow" panose="020B0606020202030204" pitchFamily="34" charset="0"/>
              </a:rPr>
              <a:t>P</a:t>
            </a:r>
            <a:r>
              <a:rPr lang="fr-FR" sz="3600" b="1" cap="none" dirty="0">
                <a:latin typeface="Arial Narrow" panose="020B0606020202030204" pitchFamily="34" charset="0"/>
              </a:rPr>
              <a:t>roblèmes identifiés et solutions </a:t>
            </a:r>
            <a:r>
              <a:rPr lang="fr-FR" sz="3600" b="1" cap="none" dirty="0" smtClean="0">
                <a:latin typeface="Arial Narrow" panose="020B0606020202030204" pitchFamily="34" charset="0"/>
              </a:rPr>
              <a:t>proposées(3/4</a:t>
            </a:r>
            <a:r>
              <a:rPr lang="fr-FR" sz="3600" b="1" cap="none" dirty="0">
                <a:latin typeface="Arial Narrow" panose="020B0606020202030204" pitchFamily="34" charset="0"/>
              </a:rPr>
              <a:t>)</a:t>
            </a:r>
            <a:endParaRPr lang="fr-FR" sz="3600" b="1" dirty="0">
              <a:latin typeface="Arial Narrow" panose="020B0606020202030204" pitchFamily="34" charset="0"/>
            </a:endParaRPr>
          </a:p>
        </p:txBody>
      </p:sp>
      <p:graphicFrame>
        <p:nvGraphicFramePr>
          <p:cNvPr id="5" name="Espace réservé du contenu 4"/>
          <p:cNvGraphicFramePr>
            <a:graphicFrameLocks/>
          </p:cNvGraphicFramePr>
          <p:nvPr>
            <p:extLst>
              <p:ext uri="{D42A27DB-BD31-4B8C-83A1-F6EECF244321}">
                <p14:modId xmlns:p14="http://schemas.microsoft.com/office/powerpoint/2010/main" val="284709172"/>
              </p:ext>
            </p:extLst>
          </p:nvPr>
        </p:nvGraphicFramePr>
        <p:xfrm>
          <a:off x="329608" y="1047861"/>
          <a:ext cx="11557592" cy="5485051"/>
        </p:xfrm>
        <a:graphic>
          <a:graphicData uri="http://schemas.openxmlformats.org/drawingml/2006/table">
            <a:tbl>
              <a:tblPr firstRow="1" bandRow="1">
                <a:tableStyleId>{5C22544A-7EE6-4342-B048-85BDC9FD1C3A}</a:tableStyleId>
              </a:tblPr>
              <a:tblGrid>
                <a:gridCol w="1624563">
                  <a:extLst>
                    <a:ext uri="{9D8B030D-6E8A-4147-A177-3AD203B41FA5}">
                      <a16:colId xmlns:a16="http://schemas.microsoft.com/office/drawing/2014/main" val="20000"/>
                    </a:ext>
                  </a:extLst>
                </a:gridCol>
                <a:gridCol w="2101182">
                  <a:extLst>
                    <a:ext uri="{9D8B030D-6E8A-4147-A177-3AD203B41FA5}">
                      <a16:colId xmlns:a16="http://schemas.microsoft.com/office/drawing/2014/main" val="20001"/>
                    </a:ext>
                  </a:extLst>
                </a:gridCol>
                <a:gridCol w="1719150">
                  <a:extLst>
                    <a:ext uri="{9D8B030D-6E8A-4147-A177-3AD203B41FA5}">
                      <a16:colId xmlns:a16="http://schemas.microsoft.com/office/drawing/2014/main" val="20002"/>
                    </a:ext>
                  </a:extLst>
                </a:gridCol>
                <a:gridCol w="2483216">
                  <a:extLst>
                    <a:ext uri="{9D8B030D-6E8A-4147-A177-3AD203B41FA5}">
                      <a16:colId xmlns:a16="http://schemas.microsoft.com/office/drawing/2014/main" val="20003"/>
                    </a:ext>
                  </a:extLst>
                </a:gridCol>
                <a:gridCol w="1050591">
                  <a:extLst>
                    <a:ext uri="{9D8B030D-6E8A-4147-A177-3AD203B41FA5}">
                      <a16:colId xmlns:a16="http://schemas.microsoft.com/office/drawing/2014/main" val="20004"/>
                    </a:ext>
                  </a:extLst>
                </a:gridCol>
                <a:gridCol w="914008">
                  <a:extLst>
                    <a:ext uri="{9D8B030D-6E8A-4147-A177-3AD203B41FA5}">
                      <a16:colId xmlns:a16="http://schemas.microsoft.com/office/drawing/2014/main" val="20005"/>
                    </a:ext>
                  </a:extLst>
                </a:gridCol>
                <a:gridCol w="1664882">
                  <a:extLst>
                    <a:ext uri="{9D8B030D-6E8A-4147-A177-3AD203B41FA5}">
                      <a16:colId xmlns:a16="http://schemas.microsoft.com/office/drawing/2014/main" val="20006"/>
                    </a:ext>
                  </a:extLst>
                </a:gridCol>
              </a:tblGrid>
              <a:tr h="364873">
                <a:tc>
                  <a:txBody>
                    <a:bodyPr/>
                    <a:lstStyle/>
                    <a:p>
                      <a:r>
                        <a:rPr lang="fr-FR" sz="1600" dirty="0" smtClean="0"/>
                        <a:t>Domaine</a:t>
                      </a:r>
                      <a:endParaRPr lang="fr-FR" sz="1600" dirty="0"/>
                    </a:p>
                  </a:txBody>
                  <a:tcPr marL="91456" marR="91456" marT="45665" marB="45665">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r>
                        <a:rPr lang="fr-FR" sz="1600" dirty="0" smtClean="0"/>
                        <a:t>Problème</a:t>
                      </a:r>
                      <a:endParaRPr lang="fr-FR" sz="1600" dirty="0"/>
                    </a:p>
                  </a:txBody>
                  <a:tcPr marL="91456" marR="91456" marT="45665" marB="4566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r>
                        <a:rPr lang="fr-FR" sz="1600" dirty="0" smtClean="0"/>
                        <a:t>causes</a:t>
                      </a:r>
                      <a:endParaRPr lang="fr-FR" sz="1600" dirty="0"/>
                    </a:p>
                  </a:txBody>
                  <a:tcPr marL="91456" marR="91456" marT="45665" marB="4566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r>
                        <a:rPr lang="fr-FR" sz="1600" dirty="0" smtClean="0"/>
                        <a:t>Action</a:t>
                      </a:r>
                      <a:endParaRPr lang="fr-FR" sz="1600" dirty="0"/>
                    </a:p>
                  </a:txBody>
                  <a:tcPr marL="91456" marR="91456" marT="45665" marB="4566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r>
                        <a:rPr lang="fr-FR" sz="1600" dirty="0" err="1" smtClean="0"/>
                        <a:t>Resp</a:t>
                      </a:r>
                      <a:endParaRPr lang="fr-FR" sz="1600" dirty="0"/>
                    </a:p>
                  </a:txBody>
                  <a:tcPr marL="91456" marR="91456" marT="45665" marB="4566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r>
                        <a:rPr lang="fr-FR" sz="1600" dirty="0" err="1" smtClean="0"/>
                        <a:t>Echéan</a:t>
                      </a:r>
                      <a:endParaRPr lang="fr-FR" sz="1600" dirty="0"/>
                    </a:p>
                  </a:txBody>
                  <a:tcPr marL="91456" marR="91456" marT="45665" marB="4566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r>
                        <a:rPr lang="fr-FR" sz="1600" dirty="0" smtClean="0"/>
                        <a:t>Source</a:t>
                      </a:r>
                      <a:r>
                        <a:rPr lang="fr-FR" sz="1600" baseline="0" dirty="0" smtClean="0"/>
                        <a:t> ver</a:t>
                      </a:r>
                      <a:endParaRPr lang="fr-FR" sz="1600" dirty="0"/>
                    </a:p>
                  </a:txBody>
                  <a:tcPr marL="91456" marR="91456" marT="45665" marB="45665">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0000"/>
                  </a:ext>
                </a:extLst>
              </a:tr>
              <a:tr h="1177052">
                <a:tc rowSpan="4">
                  <a:txBody>
                    <a:bodyPr/>
                    <a:lstStyle/>
                    <a:p>
                      <a:r>
                        <a:rPr lang="fr-FR" sz="1200" u="none" baseline="0" dirty="0" smtClean="0">
                          <a:solidFill>
                            <a:schemeClr val="tx1"/>
                          </a:solidFill>
                          <a:effectLst/>
                        </a:rPr>
                        <a:t>3. DISPONIBILITE DES VACCINS, INTRANTS  ET MATERIELS DE CF</a:t>
                      </a:r>
                      <a:endParaRPr lang="fr-FR" sz="1200" u="none" dirty="0">
                        <a:solidFill>
                          <a:schemeClr val="tx1"/>
                        </a:solidFill>
                        <a:effectLst/>
                      </a:endParaRPr>
                    </a:p>
                  </a:txBody>
                  <a:tcPr marL="91456" marR="91456" marT="45665" marB="45665"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fr-FR" sz="1400" u="none" kern="1200" baseline="0" dirty="0" smtClean="0">
                          <a:solidFill>
                            <a:schemeClr val="tx1"/>
                          </a:solidFill>
                          <a:effectLst/>
                          <a:latin typeface="+mn-lt"/>
                          <a:ea typeface="+mn-ea"/>
                          <a:cs typeface="+mn-cs"/>
                        </a:rPr>
                        <a:t>61 jours de rupture de certains Ag </a:t>
                      </a:r>
                      <a:r>
                        <a:rPr lang="fr-FR" sz="1400" u="none" kern="1200" baseline="0" dirty="0" smtClean="0">
                          <a:solidFill>
                            <a:schemeClr val="tx1"/>
                          </a:solidFill>
                          <a:effectLst/>
                          <a:latin typeface="+mn-lt"/>
                          <a:ea typeface="+mn-ea"/>
                          <a:cs typeface="+mn-cs"/>
                        </a:rPr>
                        <a:t>et autres intrants PEV</a:t>
                      </a:r>
                      <a:endParaRPr lang="fr-FR" sz="1400" u="none" kern="1200" baseline="0" dirty="0">
                        <a:solidFill>
                          <a:schemeClr val="tx1"/>
                        </a:solidFill>
                        <a:effectLst/>
                        <a:latin typeface="+mn-lt"/>
                        <a:ea typeface="+mn-ea"/>
                        <a:cs typeface="+mn-cs"/>
                      </a:endParaRPr>
                    </a:p>
                  </a:txBody>
                  <a:tcPr marL="91456" marR="91456" marT="45665" marB="4566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1400" u="none" kern="1200" baseline="0" dirty="0" smtClean="0">
                          <a:solidFill>
                            <a:schemeClr val="tx1"/>
                          </a:solidFill>
                          <a:effectLst/>
                          <a:latin typeface="+mn-lt"/>
                          <a:ea typeface="+mn-ea"/>
                          <a:cs typeface="+mn-cs"/>
                        </a:rPr>
                        <a:t>Approvisionnement insuffisant en vaccins et autres intrants</a:t>
                      </a:r>
                    </a:p>
                  </a:txBody>
                  <a:tcPr marL="91456" marR="91456" marT="45665" marB="4566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kern="1200" dirty="0" smtClean="0">
                          <a:solidFill>
                            <a:schemeClr val="tx1"/>
                          </a:solidFill>
                          <a:effectLst/>
                          <a:latin typeface="+mn-lt"/>
                          <a:ea typeface="+mn-ea"/>
                          <a:cs typeface="+mn-cs"/>
                        </a:rPr>
                        <a:t>-</a:t>
                      </a:r>
                      <a:r>
                        <a:rPr lang="fr-FR" sz="1400" u="none" kern="1200" baseline="0" dirty="0" smtClean="0">
                          <a:solidFill>
                            <a:schemeClr val="tx1"/>
                          </a:solidFill>
                          <a:effectLst/>
                          <a:latin typeface="+mn-lt"/>
                          <a:ea typeface="+mn-ea"/>
                          <a:cs typeface="+mn-cs"/>
                        </a:rPr>
                        <a:t>Approvisionner régulièrement en quantité suffisante </a:t>
                      </a:r>
                    </a:p>
                    <a:p>
                      <a:r>
                        <a:rPr lang="fr-FR" sz="1400" u="none" kern="1200" baseline="0" dirty="0" smtClean="0">
                          <a:solidFill>
                            <a:schemeClr val="tx1"/>
                          </a:solidFill>
                          <a:effectLst/>
                          <a:latin typeface="+mn-lt"/>
                          <a:ea typeface="+mn-ea"/>
                          <a:cs typeface="+mn-cs"/>
                        </a:rPr>
                        <a:t> en  vaccins et autres intrants, </a:t>
                      </a:r>
                      <a:endParaRPr lang="fr-FR" sz="1400" u="none" kern="1200" baseline="0" dirty="0">
                        <a:solidFill>
                          <a:schemeClr val="tx1"/>
                        </a:solidFill>
                        <a:effectLst/>
                        <a:latin typeface="+mn-lt"/>
                        <a:ea typeface="+mn-ea"/>
                        <a:cs typeface="+mn-cs"/>
                      </a:endParaRPr>
                    </a:p>
                  </a:txBody>
                  <a:tcPr marL="91456" marR="91456" marT="45665" marB="4566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fr-FR" sz="1400" u="none" kern="1200" baseline="0" dirty="0" smtClean="0">
                          <a:solidFill>
                            <a:schemeClr val="tx1"/>
                          </a:solidFill>
                          <a:effectLst/>
                          <a:latin typeface="+mn-lt"/>
                          <a:ea typeface="+mn-ea"/>
                          <a:cs typeface="+mn-cs"/>
                        </a:rPr>
                        <a:t>CD Logistique</a:t>
                      </a:r>
                      <a:endParaRPr lang="fr-FR" sz="1400" u="none" kern="1200" baseline="0" dirty="0">
                        <a:solidFill>
                          <a:schemeClr val="tx1"/>
                        </a:solidFill>
                        <a:effectLst/>
                        <a:latin typeface="+mn-lt"/>
                        <a:ea typeface="+mn-ea"/>
                        <a:cs typeface="+mn-cs"/>
                      </a:endParaRPr>
                    </a:p>
                  </a:txBody>
                  <a:tcPr marL="91456" marR="91456" marT="45665" marB="4566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fr-FR" sz="1400" u="none" kern="1200" baseline="0" dirty="0" smtClean="0">
                          <a:solidFill>
                            <a:schemeClr val="tx1"/>
                          </a:solidFill>
                          <a:effectLst/>
                          <a:latin typeface="+mn-lt"/>
                          <a:ea typeface="+mn-ea"/>
                          <a:cs typeface="+mn-cs"/>
                        </a:rPr>
                        <a:t>Trimestrielle</a:t>
                      </a:r>
                      <a:endParaRPr lang="fr-FR" sz="1400" u="none" kern="1200" baseline="0" dirty="0">
                        <a:solidFill>
                          <a:schemeClr val="tx1"/>
                        </a:solidFill>
                        <a:effectLst/>
                        <a:latin typeface="+mn-lt"/>
                        <a:ea typeface="+mn-ea"/>
                        <a:cs typeface="+mn-cs"/>
                      </a:endParaRPr>
                    </a:p>
                  </a:txBody>
                  <a:tcPr marL="91456" marR="91456" marT="45665" marB="4566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fr-FR" sz="1400" u="none" kern="1200" baseline="0" dirty="0" smtClean="0">
                          <a:solidFill>
                            <a:schemeClr val="tx1"/>
                          </a:solidFill>
                          <a:effectLst/>
                          <a:latin typeface="+mn-lt"/>
                          <a:ea typeface="+mn-ea"/>
                          <a:cs typeface="+mn-cs"/>
                        </a:rPr>
                        <a:t>Commande</a:t>
                      </a:r>
                    </a:p>
                    <a:p>
                      <a:pPr marL="0" algn="l" defTabSz="914400" rtl="0" eaLnBrk="1" latinLnBrk="0" hangingPunct="1"/>
                      <a:r>
                        <a:rPr lang="fr-FR" sz="1400" u="none" kern="1200" baseline="0" dirty="0" smtClean="0">
                          <a:solidFill>
                            <a:schemeClr val="tx1"/>
                          </a:solidFill>
                          <a:effectLst/>
                          <a:latin typeface="+mn-lt"/>
                          <a:ea typeface="+mn-ea"/>
                          <a:cs typeface="+mn-cs"/>
                        </a:rPr>
                        <a:t>BL , PV réception et Taux de </a:t>
                      </a:r>
                      <a:r>
                        <a:rPr lang="fr-FR" sz="1400" u="none" kern="1200" baseline="0" dirty="0" err="1" smtClean="0">
                          <a:solidFill>
                            <a:schemeClr val="tx1"/>
                          </a:solidFill>
                          <a:effectLst/>
                          <a:latin typeface="+mn-lt"/>
                          <a:ea typeface="+mn-ea"/>
                          <a:cs typeface="+mn-cs"/>
                        </a:rPr>
                        <a:t>satisf,action</a:t>
                      </a:r>
                      <a:r>
                        <a:rPr lang="fr-FR" sz="1400" u="none" kern="1200" baseline="0" dirty="0" smtClean="0">
                          <a:solidFill>
                            <a:schemeClr val="tx1"/>
                          </a:solidFill>
                          <a:effectLst/>
                          <a:latin typeface="+mn-lt"/>
                          <a:ea typeface="+mn-ea"/>
                          <a:cs typeface="+mn-cs"/>
                        </a:rPr>
                        <a:t> </a:t>
                      </a:r>
                      <a:r>
                        <a:rPr lang="fr-FR" sz="1400" u="none" kern="1200" baseline="0" dirty="0" err="1" smtClean="0">
                          <a:solidFill>
                            <a:schemeClr val="tx1"/>
                          </a:solidFill>
                          <a:effectLst/>
                          <a:latin typeface="+mn-lt"/>
                          <a:ea typeface="+mn-ea"/>
                          <a:cs typeface="+mn-cs"/>
                        </a:rPr>
                        <a:t>Nbre</a:t>
                      </a:r>
                      <a:r>
                        <a:rPr lang="fr-FR" sz="1400" u="none" kern="1200" baseline="0" dirty="0" smtClean="0">
                          <a:solidFill>
                            <a:schemeClr val="tx1"/>
                          </a:solidFill>
                          <a:effectLst/>
                          <a:latin typeface="+mn-lt"/>
                          <a:ea typeface="+mn-ea"/>
                          <a:cs typeface="+mn-cs"/>
                        </a:rPr>
                        <a:t> jours rupture</a:t>
                      </a:r>
                      <a:endParaRPr lang="fr-FR" sz="1400" u="none" kern="1200" baseline="0" dirty="0">
                        <a:solidFill>
                          <a:schemeClr val="tx1"/>
                        </a:solidFill>
                        <a:effectLst/>
                        <a:latin typeface="+mn-lt"/>
                        <a:ea typeface="+mn-ea"/>
                        <a:cs typeface="+mn-cs"/>
                      </a:endParaRPr>
                    </a:p>
                  </a:txBody>
                  <a:tcPr marL="91456" marR="91456" marT="45665" marB="45665">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324217">
                <a:tc vMerge="1">
                  <a:txBody>
                    <a:bodyPr/>
                    <a:lstStyle/>
                    <a:p>
                      <a:endParaRPr lang="fr-FR"/>
                    </a:p>
                  </a:txBody>
                  <a:tcPr/>
                </a:tc>
                <a:tc>
                  <a:txBody>
                    <a:bodyPr/>
                    <a:lstStyle/>
                    <a:p>
                      <a:r>
                        <a:rPr lang="fr-FR" sz="1400" u="none" kern="1200" baseline="0" dirty="0" smtClean="0">
                          <a:solidFill>
                            <a:schemeClr val="tx1"/>
                          </a:solidFill>
                          <a:effectLst/>
                          <a:latin typeface="+mn-lt"/>
                          <a:ea typeface="+mn-ea"/>
                          <a:cs typeface="+mn-cs"/>
                        </a:rPr>
                        <a:t>Stockage des intrants secs dans des conditions peu satisfaisantes</a:t>
                      </a:r>
                      <a:endParaRPr lang="fr-FR" sz="1400" u="none" kern="1200" baseline="0" dirty="0">
                        <a:solidFill>
                          <a:schemeClr val="tx1"/>
                        </a:solidFill>
                        <a:effectLst/>
                        <a:latin typeface="+mn-lt"/>
                        <a:ea typeface="+mn-ea"/>
                        <a:cs typeface="+mn-cs"/>
                      </a:endParaRPr>
                    </a:p>
                  </a:txBody>
                  <a:tcPr marL="91450" marR="91450" marT="45676" marB="456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1400" u="none" kern="1200" baseline="0" dirty="0" smtClean="0">
                          <a:solidFill>
                            <a:schemeClr val="tx1"/>
                          </a:solidFill>
                          <a:effectLst/>
                          <a:latin typeface="+mn-lt"/>
                          <a:ea typeface="+mn-ea"/>
                          <a:cs typeface="+mn-cs"/>
                        </a:rPr>
                        <a:t>Absence des mobiliers appropriés à l’entreposage des intrants secs (palettes ; armoire)</a:t>
                      </a:r>
                    </a:p>
                  </a:txBody>
                  <a:tcPr marL="91450" marR="91450" marT="45676" marB="456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u="none" kern="1200" baseline="0" dirty="0" smtClean="0">
                          <a:solidFill>
                            <a:schemeClr val="tx1"/>
                          </a:solidFill>
                          <a:effectLst/>
                          <a:latin typeface="+mn-lt"/>
                          <a:ea typeface="+mn-ea"/>
                          <a:cs typeface="+mn-cs"/>
                        </a:rPr>
                        <a:t>-Plaidoyer auprès de l’exécutif provincial et partenaires locaux pour l’obtention de réhabilitation et équipement (palettes ; armoire et autres</a:t>
                      </a:r>
                      <a:endParaRPr lang="fr-FR" sz="1400" u="none" kern="1200" baseline="0" dirty="0">
                        <a:solidFill>
                          <a:schemeClr val="tx1"/>
                        </a:solidFill>
                        <a:effectLst/>
                        <a:latin typeface="+mn-lt"/>
                        <a:ea typeface="+mn-ea"/>
                        <a:cs typeface="+mn-cs"/>
                      </a:endParaRPr>
                    </a:p>
                  </a:txBody>
                  <a:tcPr marL="91450" marR="91450" marT="45676" marB="456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1200" u="none" dirty="0" smtClean="0">
                          <a:solidFill>
                            <a:schemeClr val="tx1"/>
                          </a:solidFill>
                          <a:effectLst/>
                        </a:rPr>
                        <a:t>CD/MCA</a:t>
                      </a:r>
                      <a:endParaRPr lang="fr-FR" sz="1200" u="none" dirty="0">
                        <a:solidFill>
                          <a:schemeClr val="tx1"/>
                        </a:solidFill>
                        <a:effectLst/>
                      </a:endParaRPr>
                    </a:p>
                  </a:txBody>
                  <a:tcPr marL="91450" marR="91450" marT="45676" marB="456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1200" u="none" dirty="0" smtClean="0">
                          <a:solidFill>
                            <a:schemeClr val="tx1"/>
                          </a:solidFill>
                          <a:effectLst/>
                        </a:rPr>
                        <a:t>D’ici fin</a:t>
                      </a:r>
                      <a:r>
                        <a:rPr lang="fr-FR" sz="1200" u="none" baseline="0" dirty="0" smtClean="0">
                          <a:solidFill>
                            <a:schemeClr val="tx1"/>
                          </a:solidFill>
                          <a:effectLst/>
                        </a:rPr>
                        <a:t> T2 2026</a:t>
                      </a:r>
                      <a:endParaRPr lang="fr-FR" sz="1200" u="none" dirty="0">
                        <a:solidFill>
                          <a:schemeClr val="tx1"/>
                        </a:solidFill>
                        <a:effectLst/>
                      </a:endParaRPr>
                    </a:p>
                  </a:txBody>
                  <a:tcPr marL="91450" marR="91450" marT="45676" marB="456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u="none" kern="1200" baseline="0" dirty="0" smtClean="0">
                          <a:solidFill>
                            <a:schemeClr val="tx1"/>
                          </a:solidFill>
                          <a:effectLst/>
                          <a:latin typeface="+mn-lt"/>
                          <a:ea typeface="+mn-ea"/>
                          <a:cs typeface="+mn-cs"/>
                        </a:rPr>
                        <a:t>Disponibilité d’un entrepôt respectant les normes </a:t>
                      </a:r>
                    </a:p>
                    <a:p>
                      <a:endParaRPr lang="fr-FR" sz="1400" u="none" kern="1200" baseline="0" dirty="0">
                        <a:solidFill>
                          <a:schemeClr val="tx1"/>
                        </a:solidFill>
                        <a:effectLst/>
                        <a:latin typeface="+mn-lt"/>
                        <a:ea typeface="+mn-ea"/>
                        <a:cs typeface="+mn-cs"/>
                      </a:endParaRPr>
                    </a:p>
                  </a:txBody>
                  <a:tcPr marL="91450" marR="91450" marT="45676" marB="456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706210">
                <a:tc vMerge="1">
                  <a:txBody>
                    <a:bodyPr/>
                    <a:lstStyle/>
                    <a:p>
                      <a:endParaRPr lang="fr-FR" sz="1200" u="none" dirty="0">
                        <a:effectLst/>
                      </a:endParaRPr>
                    </a:p>
                  </a:txBody>
                  <a:tcPr marL="91450" marR="91450" marT="45698" marB="456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1400" u="none" kern="1200" baseline="0" dirty="0" smtClean="0">
                          <a:solidFill>
                            <a:schemeClr val="tx1"/>
                          </a:solidFill>
                          <a:effectLst/>
                          <a:latin typeface="+mn-lt"/>
                          <a:ea typeface="+mn-ea"/>
                          <a:cs typeface="+mn-cs"/>
                        </a:rPr>
                        <a:t> 309 MCF/500 AS   ) soit 61,8% de couverture </a:t>
                      </a:r>
                      <a:endParaRPr lang="fr-FR" sz="1400" u="none" dirty="0">
                        <a:solidFill>
                          <a:schemeClr val="tx1"/>
                        </a:solidFill>
                        <a:effectLst/>
                      </a:endParaRPr>
                    </a:p>
                  </a:txBody>
                  <a:tcPr marL="91450" marR="91450" marT="45676" marB="456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1400" u="none" baseline="0" dirty="0" smtClean="0">
                          <a:solidFill>
                            <a:schemeClr val="tx1"/>
                          </a:solidFill>
                          <a:effectLst/>
                        </a:rPr>
                        <a:t>Faible dotation  </a:t>
                      </a:r>
                      <a:r>
                        <a:rPr lang="fr-FR" sz="1400" u="none" baseline="0" dirty="0" err="1" smtClean="0">
                          <a:solidFill>
                            <a:schemeClr val="tx1"/>
                          </a:solidFill>
                          <a:effectLst/>
                        </a:rPr>
                        <a:t>Mcf</a:t>
                      </a:r>
                      <a:r>
                        <a:rPr lang="fr-FR" sz="1400" u="none" baseline="0" dirty="0" smtClean="0">
                          <a:solidFill>
                            <a:schemeClr val="tx1"/>
                          </a:solidFill>
                          <a:effectLst/>
                        </a:rPr>
                        <a:t> dans les FOSA</a:t>
                      </a:r>
                    </a:p>
                  </a:txBody>
                  <a:tcPr marL="91450" marR="91450" marT="45676" marB="456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u="none" kern="1200" dirty="0" smtClean="0">
                          <a:solidFill>
                            <a:schemeClr val="tx1"/>
                          </a:solidFill>
                          <a:effectLst/>
                          <a:latin typeface="+mn-lt"/>
                          <a:ea typeface="+mn-ea"/>
                          <a:cs typeface="+mn-cs"/>
                        </a:rPr>
                        <a:t>Doter les FOSA</a:t>
                      </a:r>
                      <a:r>
                        <a:rPr lang="fr-FR" sz="1200" u="none" kern="1200" baseline="0" dirty="0" smtClean="0">
                          <a:solidFill>
                            <a:schemeClr val="tx1"/>
                          </a:solidFill>
                          <a:effectLst/>
                          <a:latin typeface="+mn-lt"/>
                          <a:ea typeface="+mn-ea"/>
                          <a:cs typeface="+mn-cs"/>
                        </a:rPr>
                        <a:t> </a:t>
                      </a:r>
                      <a:r>
                        <a:rPr lang="fr-FR" sz="1200" u="none" kern="1200" baseline="0" smtClean="0">
                          <a:solidFill>
                            <a:schemeClr val="tx1"/>
                          </a:solidFill>
                          <a:effectLst/>
                          <a:latin typeface="+mn-lt"/>
                          <a:ea typeface="+mn-ea"/>
                          <a:cs typeface="+mn-cs"/>
                        </a:rPr>
                        <a:t>en </a:t>
                      </a:r>
                      <a:r>
                        <a:rPr lang="fr-FR" sz="1200" u="none" baseline="0" smtClean="0">
                          <a:solidFill>
                            <a:schemeClr val="tx1"/>
                          </a:solidFill>
                          <a:effectLst/>
                        </a:rPr>
                        <a:t>MCF </a:t>
                      </a:r>
                      <a:r>
                        <a:rPr lang="fr-FR" sz="1200" u="none" kern="1200" dirty="0" smtClean="0">
                          <a:solidFill>
                            <a:schemeClr val="tx1"/>
                          </a:solidFill>
                          <a:effectLst/>
                          <a:latin typeface="+mn-lt"/>
                          <a:ea typeface="+mn-ea"/>
                          <a:cs typeface="+mn-cs"/>
                        </a:rPr>
                        <a:t>solaires homologués dans 100 %</a:t>
                      </a:r>
                      <a:r>
                        <a:rPr lang="fr-FR" sz="1200" u="none" kern="1200" baseline="0" dirty="0" smtClean="0">
                          <a:solidFill>
                            <a:schemeClr val="tx1"/>
                          </a:solidFill>
                          <a:effectLst/>
                          <a:latin typeface="+mn-lt"/>
                          <a:ea typeface="+mn-ea"/>
                          <a:cs typeface="+mn-cs"/>
                        </a:rPr>
                        <a:t> </a:t>
                      </a:r>
                      <a:r>
                        <a:rPr lang="fr-FR" sz="1200" u="none" kern="1200" dirty="0" smtClean="0">
                          <a:solidFill>
                            <a:schemeClr val="tx1"/>
                          </a:solidFill>
                          <a:effectLst/>
                          <a:latin typeface="+mn-lt"/>
                          <a:ea typeface="+mn-ea"/>
                          <a:cs typeface="+mn-cs"/>
                        </a:rPr>
                        <a:t>des AS .</a:t>
                      </a:r>
                      <a:endParaRPr lang="fr-FR" sz="1200" u="none" dirty="0">
                        <a:solidFill>
                          <a:schemeClr val="tx1"/>
                        </a:solidFill>
                        <a:effectLst/>
                      </a:endParaRPr>
                    </a:p>
                  </a:txBody>
                  <a:tcPr marL="91450" marR="91450" marT="45676" marB="456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1200" u="none" dirty="0" smtClean="0">
                          <a:solidFill>
                            <a:schemeClr val="tx1"/>
                          </a:solidFill>
                          <a:effectLst/>
                        </a:rPr>
                        <a:t>PTF</a:t>
                      </a:r>
                    </a:p>
                    <a:p>
                      <a:r>
                        <a:rPr lang="fr-FR" sz="1200" u="none" dirty="0" smtClean="0">
                          <a:solidFill>
                            <a:schemeClr val="tx1"/>
                          </a:solidFill>
                          <a:effectLst/>
                        </a:rPr>
                        <a:t>DPS</a:t>
                      </a:r>
                      <a:endParaRPr lang="fr-FR" sz="1200" u="none" dirty="0">
                        <a:solidFill>
                          <a:schemeClr val="tx1"/>
                        </a:solidFill>
                        <a:effectLst/>
                      </a:endParaRPr>
                    </a:p>
                  </a:txBody>
                  <a:tcPr marL="91450" marR="91450" marT="45676" marB="456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1200" u="none" dirty="0" smtClean="0">
                          <a:solidFill>
                            <a:schemeClr val="tx1"/>
                          </a:solidFill>
                          <a:effectLst/>
                        </a:rPr>
                        <a:t>D’ici fin T2</a:t>
                      </a:r>
                      <a:r>
                        <a:rPr lang="fr-FR" sz="1200" u="none" baseline="0" dirty="0" smtClean="0">
                          <a:solidFill>
                            <a:schemeClr val="tx1"/>
                          </a:solidFill>
                          <a:effectLst/>
                        </a:rPr>
                        <a:t> 2026</a:t>
                      </a:r>
                      <a:endParaRPr lang="fr-FR" sz="1200" u="none" dirty="0">
                        <a:solidFill>
                          <a:schemeClr val="tx1"/>
                        </a:solidFill>
                        <a:effectLst/>
                      </a:endParaRPr>
                    </a:p>
                  </a:txBody>
                  <a:tcPr marL="91450" marR="91450" marT="45676" marB="456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1200" u="none" dirty="0" smtClean="0">
                          <a:solidFill>
                            <a:schemeClr val="tx1"/>
                          </a:solidFill>
                          <a:effectLst/>
                        </a:rPr>
                        <a:t>BL et PV de réception  et PV d’installation des </a:t>
                      </a:r>
                      <a:r>
                        <a:rPr lang="fr-FR" sz="1200" u="none" baseline="0" dirty="0" err="1" smtClean="0">
                          <a:solidFill>
                            <a:schemeClr val="tx1"/>
                          </a:solidFill>
                          <a:effectLst/>
                        </a:rPr>
                        <a:t>Mcf</a:t>
                      </a:r>
                      <a:r>
                        <a:rPr lang="fr-FR" sz="1200" u="none" baseline="0" dirty="0" smtClean="0">
                          <a:solidFill>
                            <a:schemeClr val="tx1"/>
                          </a:solidFill>
                          <a:effectLst/>
                        </a:rPr>
                        <a:t> </a:t>
                      </a:r>
                      <a:endParaRPr lang="fr-FR" sz="1200" u="none" dirty="0">
                        <a:solidFill>
                          <a:schemeClr val="tx1"/>
                        </a:solidFill>
                        <a:effectLst/>
                      </a:endParaRPr>
                    </a:p>
                  </a:txBody>
                  <a:tcPr marL="91450" marR="91450" marT="45676" marB="456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118215">
                <a:tc vMerge="1">
                  <a:txBody>
                    <a:bodyPr/>
                    <a:lstStyle/>
                    <a:p>
                      <a:endParaRPr lang="fr-F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kern="1200" dirty="0" smtClean="0">
                          <a:solidFill>
                            <a:schemeClr val="tx1"/>
                          </a:solidFill>
                          <a:effectLst/>
                          <a:latin typeface="+mn-lt"/>
                          <a:ea typeface="+mn-ea"/>
                          <a:cs typeface="+mn-cs"/>
                        </a:rPr>
                        <a:t>60 </a:t>
                      </a:r>
                      <a:r>
                        <a:rPr lang="fr-FR" sz="1400" u="none" baseline="0" dirty="0" err="1" smtClean="0">
                          <a:solidFill>
                            <a:schemeClr val="tx1"/>
                          </a:solidFill>
                          <a:effectLst/>
                        </a:rPr>
                        <a:t>Mcf</a:t>
                      </a:r>
                      <a:r>
                        <a:rPr lang="fr-FR" sz="1400" u="none" baseline="0" dirty="0" smtClean="0">
                          <a:solidFill>
                            <a:schemeClr val="tx1"/>
                          </a:solidFill>
                          <a:effectLst/>
                        </a:rPr>
                        <a:t>  </a:t>
                      </a:r>
                      <a:r>
                        <a:rPr lang="fr-FR" sz="1400" kern="1200" dirty="0" smtClean="0">
                          <a:solidFill>
                            <a:schemeClr val="tx1"/>
                          </a:solidFill>
                          <a:effectLst/>
                          <a:latin typeface="+mn-lt"/>
                          <a:ea typeface="+mn-ea"/>
                          <a:cs typeface="+mn-cs"/>
                        </a:rPr>
                        <a:t>/309 soit  19,4% non fonctionnels</a:t>
                      </a:r>
                      <a:r>
                        <a:rPr lang="fr-FR" sz="1400" kern="1200" baseline="0" dirty="0" smtClean="0">
                          <a:solidFill>
                            <a:schemeClr val="tx1"/>
                          </a:solidFill>
                          <a:effectLst/>
                          <a:latin typeface="+mn-lt"/>
                          <a:ea typeface="+mn-ea"/>
                          <a:cs typeface="+mn-cs"/>
                        </a:rPr>
                        <a:t> au niveau de  18 ZS et Antennes 1 CF à l’Antenne PEV Tshikapa</a:t>
                      </a:r>
                      <a:endParaRPr lang="fr-FR" sz="1400" dirty="0">
                        <a:solidFill>
                          <a:schemeClr val="tx1"/>
                        </a:solidFill>
                      </a:endParaRPr>
                    </a:p>
                  </a:txBody>
                  <a:tcPr marL="91450" marR="91450" marT="45676" marB="456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solidFill>
                            <a:schemeClr val="tx1"/>
                          </a:solidFill>
                        </a:rPr>
                        <a:t>Panne de MCF</a:t>
                      </a:r>
                      <a:endParaRPr lang="fr-FR" sz="1400" dirty="0">
                        <a:solidFill>
                          <a:schemeClr val="tx1"/>
                        </a:solidFill>
                      </a:endParaRPr>
                    </a:p>
                  </a:txBody>
                  <a:tcPr marL="91450" marR="91450" marT="45676" marB="456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r>
                        <a:rPr lang="fr-FR" sz="1200" kern="1200" dirty="0" smtClean="0">
                          <a:solidFill>
                            <a:schemeClr val="tx1"/>
                          </a:solidFill>
                          <a:effectLst/>
                          <a:latin typeface="+mn-lt"/>
                          <a:ea typeface="+mn-ea"/>
                          <a:cs typeface="+mn-cs"/>
                        </a:rPr>
                        <a:t>Assurer la maintenance curative  des </a:t>
                      </a:r>
                      <a:r>
                        <a:rPr lang="fr-FR" sz="1200" kern="1200" baseline="0" dirty="0" smtClean="0">
                          <a:solidFill>
                            <a:schemeClr val="tx1"/>
                          </a:solidFill>
                          <a:effectLst/>
                          <a:latin typeface="+mn-lt"/>
                          <a:ea typeface="+mn-ea"/>
                          <a:cs typeface="+mn-cs"/>
                        </a:rPr>
                        <a:t> MCF </a:t>
                      </a:r>
                      <a:r>
                        <a:rPr lang="fr-FR" sz="1200" kern="1200" dirty="0" smtClean="0">
                          <a:solidFill>
                            <a:schemeClr val="tx1"/>
                          </a:solidFill>
                          <a:effectLst/>
                          <a:latin typeface="+mn-lt"/>
                          <a:ea typeface="+mn-ea"/>
                          <a:cs typeface="+mn-cs"/>
                        </a:rPr>
                        <a:t>solaires(60) en panne dans </a:t>
                      </a:r>
                      <a:r>
                        <a:rPr lang="fr-FR" sz="1200" kern="1200" baseline="0" dirty="0" smtClean="0">
                          <a:solidFill>
                            <a:schemeClr val="tx1"/>
                          </a:solidFill>
                          <a:effectLst/>
                          <a:latin typeface="+mn-lt"/>
                          <a:ea typeface="+mn-ea"/>
                          <a:cs typeface="+mn-cs"/>
                        </a:rPr>
                        <a:t>18ZS + 1 CF</a:t>
                      </a:r>
                      <a:endParaRPr lang="fr-FR" sz="1200" kern="1200" dirty="0">
                        <a:solidFill>
                          <a:schemeClr val="tx1"/>
                        </a:solidFill>
                        <a:effectLst/>
                        <a:latin typeface="+mn-lt"/>
                        <a:ea typeface="+mn-ea"/>
                        <a:cs typeface="+mn-cs"/>
                      </a:endParaRPr>
                    </a:p>
                  </a:txBody>
                  <a:tcPr marL="91450" marR="91450" marT="45676" marB="456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1200" dirty="0" smtClean="0">
                          <a:solidFill>
                            <a:schemeClr val="tx1"/>
                          </a:solidFill>
                        </a:rPr>
                        <a:t>Ingénier/PTF</a:t>
                      </a:r>
                      <a:endParaRPr lang="fr-FR" sz="1200" dirty="0">
                        <a:solidFill>
                          <a:schemeClr val="tx1"/>
                        </a:solidFill>
                      </a:endParaRPr>
                    </a:p>
                  </a:txBody>
                  <a:tcPr marL="91450" marR="91450" marT="45676" marB="456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smtClean="0">
                          <a:solidFill>
                            <a:schemeClr val="tx1"/>
                          </a:solidFill>
                        </a:rPr>
                        <a:t>D’ici fin T1</a:t>
                      </a:r>
                      <a:r>
                        <a:rPr lang="fr-FR" sz="1200" baseline="0" dirty="0" smtClean="0">
                          <a:solidFill>
                            <a:schemeClr val="tx1"/>
                          </a:solidFill>
                        </a:rPr>
                        <a:t> 2026</a:t>
                      </a:r>
                      <a:endParaRPr lang="fr-FR" sz="1200" dirty="0" smtClean="0">
                        <a:solidFill>
                          <a:schemeClr val="tx1"/>
                        </a:solidFill>
                      </a:endParaRPr>
                    </a:p>
                    <a:p>
                      <a:endParaRPr lang="fr-FR" sz="1200" dirty="0">
                        <a:solidFill>
                          <a:schemeClr val="tx1"/>
                        </a:solidFill>
                      </a:endParaRPr>
                    </a:p>
                  </a:txBody>
                  <a:tcPr marL="91450" marR="91450" marT="45676" marB="456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1200" dirty="0" smtClean="0">
                          <a:solidFill>
                            <a:schemeClr val="tx1"/>
                          </a:solidFill>
                        </a:rPr>
                        <a:t>Rapport de maintenance des MCF des ZS et Antenne</a:t>
                      </a:r>
                      <a:endParaRPr lang="fr-FR" sz="1200" dirty="0">
                        <a:solidFill>
                          <a:schemeClr val="tx1"/>
                        </a:solidFill>
                      </a:endParaRPr>
                    </a:p>
                  </a:txBody>
                  <a:tcPr marL="91450" marR="91450" marT="45676" marB="456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617923">
                <a:tc>
                  <a:txBody>
                    <a:bodyPr/>
                    <a:lstStyle/>
                    <a:p>
                      <a:endParaRPr lang="fr-FR" sz="1200" u="none" dirty="0">
                        <a:solidFill>
                          <a:schemeClr val="tx1"/>
                        </a:solidFill>
                        <a:effectLst/>
                      </a:endParaRPr>
                    </a:p>
                  </a:txBody>
                  <a:tcPr marL="91456" marR="91456" marT="45665" marB="45665"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solidFill>
                            <a:schemeClr val="tx1"/>
                          </a:solidFill>
                        </a:rPr>
                        <a:t>3 véhicule et 6</a:t>
                      </a:r>
                      <a:r>
                        <a:rPr lang="fr-FR" sz="1400" baseline="0" dirty="0" smtClean="0">
                          <a:solidFill>
                            <a:schemeClr val="tx1"/>
                          </a:solidFill>
                        </a:rPr>
                        <a:t> </a:t>
                      </a:r>
                      <a:r>
                        <a:rPr lang="fr-FR" sz="1400" dirty="0" smtClean="0">
                          <a:solidFill>
                            <a:schemeClr val="tx1"/>
                          </a:solidFill>
                        </a:rPr>
                        <a:t>motos non fonctionnels</a:t>
                      </a:r>
                      <a:endParaRPr lang="fr-FR" sz="1400" dirty="0">
                        <a:solidFill>
                          <a:schemeClr val="tx1"/>
                        </a:solidFill>
                      </a:endParaRPr>
                    </a:p>
                  </a:txBody>
                  <a:tcPr marL="91450" marR="91450" marT="45676" marB="456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solidFill>
                            <a:schemeClr val="tx1"/>
                          </a:solidFill>
                        </a:rPr>
                        <a:t>Panne( vétuste ) </a:t>
                      </a:r>
                      <a:endParaRPr lang="fr-FR" sz="1400" dirty="0">
                        <a:solidFill>
                          <a:schemeClr val="tx1"/>
                        </a:solidFill>
                      </a:endParaRPr>
                    </a:p>
                  </a:txBody>
                  <a:tcPr marL="91450" marR="91450" marT="45676" marB="456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r>
                        <a:rPr lang="fr-FR" sz="1200" kern="1200" dirty="0" smtClean="0">
                          <a:solidFill>
                            <a:schemeClr val="tx1"/>
                          </a:solidFill>
                          <a:effectLst/>
                          <a:latin typeface="+mn-lt"/>
                          <a:ea typeface="+mn-ea"/>
                          <a:cs typeface="+mn-cs"/>
                        </a:rPr>
                        <a:t>Plaidoyer au ministère de ITPR pour les  déclasser </a:t>
                      </a:r>
                      <a:endParaRPr lang="fr-FR" sz="1200" kern="1200" dirty="0">
                        <a:solidFill>
                          <a:schemeClr val="tx1"/>
                        </a:solidFill>
                        <a:effectLst/>
                        <a:latin typeface="+mn-lt"/>
                        <a:ea typeface="+mn-ea"/>
                        <a:cs typeface="+mn-cs"/>
                      </a:endParaRPr>
                    </a:p>
                  </a:txBody>
                  <a:tcPr marL="91450" marR="91450" marT="45676" marB="456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1200" dirty="0" smtClean="0">
                          <a:solidFill>
                            <a:schemeClr val="tx1"/>
                          </a:solidFill>
                        </a:rPr>
                        <a:t>CD/MCA</a:t>
                      </a:r>
                      <a:endParaRPr lang="fr-FR" sz="1200" dirty="0">
                        <a:solidFill>
                          <a:schemeClr val="tx1"/>
                        </a:solidFill>
                      </a:endParaRPr>
                    </a:p>
                  </a:txBody>
                  <a:tcPr marL="91450" marR="91450" marT="45676" marB="456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fr-FR" sz="1200" dirty="0" smtClean="0">
                          <a:solidFill>
                            <a:schemeClr val="tx1"/>
                          </a:solidFill>
                        </a:rPr>
                        <a:t>D’ici fin T1</a:t>
                      </a:r>
                      <a:r>
                        <a:rPr lang="fr-FR" sz="1200" baseline="0" dirty="0" smtClean="0">
                          <a:solidFill>
                            <a:schemeClr val="tx1"/>
                          </a:solidFill>
                        </a:rPr>
                        <a:t> 2026</a:t>
                      </a:r>
                      <a:endParaRPr lang="fr-FR" sz="1200" dirty="0" smtClean="0">
                        <a:solidFill>
                          <a:schemeClr val="tx1"/>
                        </a:solidFill>
                      </a:endParaRPr>
                    </a:p>
                    <a:p>
                      <a:endParaRPr lang="fr-FR" sz="1200" dirty="0">
                        <a:solidFill>
                          <a:schemeClr val="tx1"/>
                        </a:solidFill>
                      </a:endParaRPr>
                    </a:p>
                  </a:txBody>
                  <a:tcPr marL="91450" marR="91450" marT="45676" marB="456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1200" dirty="0" smtClean="0">
                          <a:solidFill>
                            <a:schemeClr val="tx1"/>
                          </a:solidFill>
                        </a:rPr>
                        <a:t>Lettre de plaidoyer</a:t>
                      </a:r>
                      <a:endParaRPr lang="fr-FR" sz="1200" dirty="0">
                        <a:solidFill>
                          <a:schemeClr val="tx1"/>
                        </a:solidFill>
                      </a:endParaRPr>
                    </a:p>
                  </a:txBody>
                  <a:tcPr marL="91450" marR="91450" marT="45676" marB="456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2" name="Espace réservé de la date 1"/>
          <p:cNvSpPr>
            <a:spLocks noGrp="1"/>
          </p:cNvSpPr>
          <p:nvPr>
            <p:ph type="dt" idx="10"/>
          </p:nvPr>
        </p:nvSpPr>
        <p:spPr/>
        <p:txBody>
          <a:bodyPr/>
          <a:lstStyle/>
          <a:p>
            <a:fld id="{F0E1D33C-97A5-45B5-810C-1C2477A20D16}" type="datetime1">
              <a:rPr lang="en-US" smtClean="0"/>
              <a:t>12/16/2025</a:t>
            </a:fld>
            <a:endParaRPr lang="en-US"/>
          </a:p>
        </p:txBody>
      </p:sp>
      <p:sp>
        <p:nvSpPr>
          <p:cNvPr id="4" name="Espace réservé du pied de page 3"/>
          <p:cNvSpPr>
            <a:spLocks noGrp="1"/>
          </p:cNvSpPr>
          <p:nvPr>
            <p:ph type="ftr" idx="11"/>
          </p:nvPr>
        </p:nvSpPr>
        <p:spPr/>
        <p:txBody>
          <a:bodyPr/>
          <a:lstStyle/>
          <a:p>
            <a:r>
              <a:rPr lang="fr-FR" smtClean="0"/>
              <a:t>REVUE NATIONALE ANNUELLE PEV DPS KASAÏ</a:t>
            </a:r>
            <a:endParaRPr lang="fr-FR"/>
          </a:p>
        </p:txBody>
      </p:sp>
    </p:spTree>
    <p:extLst>
      <p:ext uri="{BB962C8B-B14F-4D97-AF65-F5344CB8AC3E}">
        <p14:creationId xmlns:p14="http://schemas.microsoft.com/office/powerpoint/2010/main" val="249940638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489098" y="320778"/>
            <a:ext cx="11323674" cy="724252"/>
          </a:xfrm>
        </p:spPr>
        <p:txBody>
          <a:bodyPr>
            <a:normAutofit/>
          </a:bodyPr>
          <a:lstStyle/>
          <a:p>
            <a:r>
              <a:rPr lang="fr-FR" sz="3600" b="1" dirty="0" smtClean="0">
                <a:latin typeface="Arial Narrow" panose="020B0606020202030204" pitchFamily="34" charset="0"/>
              </a:rPr>
              <a:t>10</a:t>
            </a:r>
            <a:r>
              <a:rPr lang="fr-FR" sz="3600" b="1" dirty="0" smtClean="0">
                <a:latin typeface="Arial Narrow" panose="020B0606020202030204" pitchFamily="34" charset="0"/>
              </a:rPr>
              <a:t>. </a:t>
            </a:r>
            <a:r>
              <a:rPr lang="fr-FR" sz="3600" b="1" dirty="0">
                <a:latin typeface="Arial Narrow" panose="020B0606020202030204" pitchFamily="34" charset="0"/>
              </a:rPr>
              <a:t>P</a:t>
            </a:r>
            <a:r>
              <a:rPr lang="fr-FR" sz="3600" b="1" cap="none" dirty="0">
                <a:latin typeface="Arial Narrow" panose="020B0606020202030204" pitchFamily="34" charset="0"/>
              </a:rPr>
              <a:t>roblèmes identifiés et solutions </a:t>
            </a:r>
            <a:r>
              <a:rPr lang="fr-FR" sz="3600" b="1" cap="none" dirty="0" smtClean="0">
                <a:latin typeface="Arial Narrow" panose="020B0606020202030204" pitchFamily="34" charset="0"/>
              </a:rPr>
              <a:t>proposées(4/4</a:t>
            </a:r>
            <a:r>
              <a:rPr lang="fr-FR" sz="3600" b="1" cap="none" dirty="0">
                <a:latin typeface="Arial Narrow" panose="020B0606020202030204" pitchFamily="34" charset="0"/>
              </a:rPr>
              <a:t>)</a:t>
            </a:r>
            <a:endParaRPr lang="fr-FR" sz="3600" b="1" dirty="0">
              <a:latin typeface="Arial Narrow" panose="020B0606020202030204" pitchFamily="34" charset="0"/>
            </a:endParaRPr>
          </a:p>
        </p:txBody>
      </p:sp>
      <p:graphicFrame>
        <p:nvGraphicFramePr>
          <p:cNvPr id="6" name="Espace réservé du contenu 4"/>
          <p:cNvGraphicFramePr>
            <a:graphicFrameLocks/>
          </p:cNvGraphicFramePr>
          <p:nvPr>
            <p:extLst>
              <p:ext uri="{D42A27DB-BD31-4B8C-83A1-F6EECF244321}">
                <p14:modId xmlns:p14="http://schemas.microsoft.com/office/powerpoint/2010/main" val="3891123315"/>
              </p:ext>
            </p:extLst>
          </p:nvPr>
        </p:nvGraphicFramePr>
        <p:xfrm>
          <a:off x="478971" y="928914"/>
          <a:ext cx="11333801" cy="5923167"/>
        </p:xfrm>
        <a:graphic>
          <a:graphicData uri="http://schemas.openxmlformats.org/drawingml/2006/table">
            <a:tbl>
              <a:tblPr firstRow="1" bandRow="1">
                <a:tableStyleId>{5C22544A-7EE6-4342-B048-85BDC9FD1C3A}</a:tableStyleId>
              </a:tblPr>
              <a:tblGrid>
                <a:gridCol w="892629">
                  <a:extLst>
                    <a:ext uri="{9D8B030D-6E8A-4147-A177-3AD203B41FA5}">
                      <a16:colId xmlns:a16="http://schemas.microsoft.com/office/drawing/2014/main" val="20000"/>
                    </a:ext>
                  </a:extLst>
                </a:gridCol>
                <a:gridCol w="1091682">
                  <a:extLst>
                    <a:ext uri="{9D8B030D-6E8A-4147-A177-3AD203B41FA5}">
                      <a16:colId xmlns:a16="http://schemas.microsoft.com/office/drawing/2014/main" val="20001"/>
                    </a:ext>
                  </a:extLst>
                </a:gridCol>
                <a:gridCol w="3063022">
                  <a:extLst>
                    <a:ext uri="{9D8B030D-6E8A-4147-A177-3AD203B41FA5}">
                      <a16:colId xmlns:a16="http://schemas.microsoft.com/office/drawing/2014/main" val="20002"/>
                    </a:ext>
                  </a:extLst>
                </a:gridCol>
                <a:gridCol w="2682024">
                  <a:extLst>
                    <a:ext uri="{9D8B030D-6E8A-4147-A177-3AD203B41FA5}">
                      <a16:colId xmlns:a16="http://schemas.microsoft.com/office/drawing/2014/main" val="20003"/>
                    </a:ext>
                  </a:extLst>
                </a:gridCol>
                <a:gridCol w="1257364">
                  <a:extLst>
                    <a:ext uri="{9D8B030D-6E8A-4147-A177-3AD203B41FA5}">
                      <a16:colId xmlns:a16="http://schemas.microsoft.com/office/drawing/2014/main" val="20004"/>
                    </a:ext>
                  </a:extLst>
                </a:gridCol>
                <a:gridCol w="1197006">
                  <a:extLst>
                    <a:ext uri="{9D8B030D-6E8A-4147-A177-3AD203B41FA5}">
                      <a16:colId xmlns:a16="http://schemas.microsoft.com/office/drawing/2014/main" val="20005"/>
                    </a:ext>
                  </a:extLst>
                </a:gridCol>
                <a:gridCol w="1150074">
                  <a:extLst>
                    <a:ext uri="{9D8B030D-6E8A-4147-A177-3AD203B41FA5}">
                      <a16:colId xmlns:a16="http://schemas.microsoft.com/office/drawing/2014/main" val="20006"/>
                    </a:ext>
                  </a:extLst>
                </a:gridCol>
              </a:tblGrid>
              <a:tr h="781323">
                <a:tc>
                  <a:txBody>
                    <a:bodyPr/>
                    <a:lstStyle/>
                    <a:p>
                      <a:r>
                        <a:rPr lang="fr-FR" sz="1800" dirty="0" smtClean="0">
                          <a:solidFill>
                            <a:schemeClr val="bg1"/>
                          </a:solidFill>
                          <a:latin typeface="Arial Narrow" panose="020B0606020202030204" pitchFamily="34" charset="0"/>
                        </a:rPr>
                        <a:t>Domaine</a:t>
                      </a:r>
                      <a:endParaRPr lang="fr-FR" sz="1800" dirty="0">
                        <a:solidFill>
                          <a:schemeClr val="bg1"/>
                        </a:solidFill>
                        <a:latin typeface="Arial Narrow" panose="020B0606020202030204" pitchFamily="34" charset="0"/>
                      </a:endParaRPr>
                    </a:p>
                  </a:txBody>
                  <a:tcPr marT="45702" marB="45702">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r>
                        <a:rPr lang="fr-FR" sz="1800" dirty="0" smtClean="0">
                          <a:solidFill>
                            <a:schemeClr val="bg1"/>
                          </a:solidFill>
                          <a:latin typeface="Arial Narrow" panose="020B0606020202030204" pitchFamily="34" charset="0"/>
                        </a:rPr>
                        <a:t>Problème</a:t>
                      </a:r>
                      <a:endParaRPr lang="fr-FR" sz="1800" dirty="0">
                        <a:solidFill>
                          <a:schemeClr val="bg1"/>
                        </a:solidFill>
                        <a:latin typeface="Arial Narrow" panose="020B0606020202030204" pitchFamily="34" charset="0"/>
                      </a:endParaRPr>
                    </a:p>
                  </a:txBody>
                  <a:tcPr marT="45702" marB="45702">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r>
                        <a:rPr lang="fr-FR" sz="1800" dirty="0" smtClean="0">
                          <a:solidFill>
                            <a:schemeClr val="bg1"/>
                          </a:solidFill>
                          <a:latin typeface="Arial Narrow" panose="020B0606020202030204" pitchFamily="34" charset="0"/>
                        </a:rPr>
                        <a:t>Causes</a:t>
                      </a:r>
                      <a:endParaRPr lang="fr-FR" sz="1800" dirty="0">
                        <a:solidFill>
                          <a:schemeClr val="bg1"/>
                        </a:solidFill>
                        <a:latin typeface="Arial Narrow" panose="020B0606020202030204" pitchFamily="34" charset="0"/>
                      </a:endParaRPr>
                    </a:p>
                  </a:txBody>
                  <a:tcPr marT="45702" marB="45702">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r>
                        <a:rPr lang="fr-FR" sz="1800" dirty="0" smtClean="0">
                          <a:solidFill>
                            <a:schemeClr val="bg1"/>
                          </a:solidFill>
                          <a:latin typeface="Arial Narrow" panose="020B0606020202030204" pitchFamily="34" charset="0"/>
                        </a:rPr>
                        <a:t>Action</a:t>
                      </a:r>
                      <a:endParaRPr lang="fr-FR" sz="1800" dirty="0">
                        <a:solidFill>
                          <a:schemeClr val="bg1"/>
                        </a:solidFill>
                        <a:latin typeface="Arial Narrow" panose="020B0606020202030204" pitchFamily="34" charset="0"/>
                      </a:endParaRPr>
                    </a:p>
                  </a:txBody>
                  <a:tcPr marT="45702" marB="45702">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r>
                        <a:rPr lang="fr-FR" sz="1800" dirty="0" smtClean="0">
                          <a:solidFill>
                            <a:schemeClr val="bg1"/>
                          </a:solidFill>
                          <a:latin typeface="Arial Narrow" panose="020B0606020202030204" pitchFamily="34" charset="0"/>
                        </a:rPr>
                        <a:t>Responsable</a:t>
                      </a:r>
                      <a:endParaRPr lang="fr-FR" sz="1800" dirty="0">
                        <a:solidFill>
                          <a:schemeClr val="bg1"/>
                        </a:solidFill>
                        <a:latin typeface="Arial Narrow" panose="020B0606020202030204" pitchFamily="34" charset="0"/>
                      </a:endParaRPr>
                    </a:p>
                  </a:txBody>
                  <a:tcPr marT="45702" marB="45702">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r>
                        <a:rPr lang="fr-FR" sz="1800" dirty="0" smtClean="0">
                          <a:solidFill>
                            <a:schemeClr val="bg1"/>
                          </a:solidFill>
                          <a:latin typeface="Arial Narrow" panose="020B0606020202030204" pitchFamily="34" charset="0"/>
                        </a:rPr>
                        <a:t>Echéance</a:t>
                      </a:r>
                      <a:endParaRPr lang="fr-FR" sz="1800" dirty="0">
                        <a:solidFill>
                          <a:schemeClr val="bg1"/>
                        </a:solidFill>
                        <a:latin typeface="Arial Narrow" panose="020B0606020202030204" pitchFamily="34" charset="0"/>
                      </a:endParaRPr>
                    </a:p>
                  </a:txBody>
                  <a:tcPr marT="45702" marB="45702">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r>
                        <a:rPr lang="fr-FR" sz="1800" dirty="0" smtClean="0">
                          <a:solidFill>
                            <a:schemeClr val="bg1"/>
                          </a:solidFill>
                          <a:latin typeface="Arial Narrow" panose="020B0606020202030204" pitchFamily="34" charset="0"/>
                        </a:rPr>
                        <a:t>Source</a:t>
                      </a:r>
                      <a:r>
                        <a:rPr lang="fr-FR" sz="1800" baseline="0" dirty="0" smtClean="0">
                          <a:solidFill>
                            <a:schemeClr val="bg1"/>
                          </a:solidFill>
                          <a:latin typeface="Arial Narrow" panose="020B0606020202030204" pitchFamily="34" charset="0"/>
                        </a:rPr>
                        <a:t> de </a:t>
                      </a:r>
                      <a:r>
                        <a:rPr lang="fr-FR" sz="1800" baseline="0" dirty="0" err="1" smtClean="0">
                          <a:solidFill>
                            <a:schemeClr val="bg1"/>
                          </a:solidFill>
                          <a:latin typeface="Arial Narrow" panose="020B0606020202030204" pitchFamily="34" charset="0"/>
                        </a:rPr>
                        <a:t>verification</a:t>
                      </a:r>
                      <a:endParaRPr lang="fr-FR" sz="1800" dirty="0">
                        <a:solidFill>
                          <a:schemeClr val="bg1"/>
                        </a:solidFill>
                        <a:latin typeface="Arial Narrow" panose="020B0606020202030204" pitchFamily="34" charset="0"/>
                      </a:endParaRPr>
                    </a:p>
                  </a:txBody>
                  <a:tcPr marT="45702" marB="45702">
                    <a:lnB w="12700" cap="flat" cmpd="sng" algn="ctr">
                      <a:solidFill>
                        <a:schemeClr val="tx1"/>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0000"/>
                  </a:ext>
                </a:extLst>
              </a:tr>
              <a:tr h="1250147">
                <a:tc rowSpan="5">
                  <a:txBody>
                    <a:bodyPr/>
                    <a:lstStyle/>
                    <a:p>
                      <a:r>
                        <a:rPr lang="fr-FR" sz="1800" dirty="0" smtClean="0">
                          <a:solidFill>
                            <a:schemeClr val="tx1"/>
                          </a:solidFill>
                          <a:latin typeface="Arial Narrow" panose="020B0606020202030204" pitchFamily="34" charset="0"/>
                        </a:rPr>
                        <a:t>4.SUIVI ET EVALUATION</a:t>
                      </a:r>
                      <a:endParaRPr lang="fr-FR" sz="1800" dirty="0">
                        <a:solidFill>
                          <a:schemeClr val="tx1"/>
                        </a:solidFill>
                        <a:latin typeface="Arial Narrow" panose="020B0606020202030204" pitchFamily="34" charset="0"/>
                      </a:endParaRPr>
                    </a:p>
                  </a:txBody>
                  <a:tcPr marL="91431" marR="91431" marT="45709" marB="457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algn="l"/>
                      <a:r>
                        <a:rPr lang="fr-FR" sz="1800" dirty="0" smtClean="0">
                          <a:solidFill>
                            <a:schemeClr val="tx1"/>
                          </a:solidFill>
                          <a:latin typeface="Arial Narrow" panose="020B0606020202030204" pitchFamily="34" charset="0"/>
                        </a:rPr>
                        <a:t>Incohérence </a:t>
                      </a:r>
                      <a:r>
                        <a:rPr lang="fr-FR" sz="1800" baseline="0" dirty="0" smtClean="0">
                          <a:solidFill>
                            <a:schemeClr val="tx1"/>
                          </a:solidFill>
                          <a:latin typeface="Arial Narrow" panose="020B0606020202030204" pitchFamily="34" charset="0"/>
                        </a:rPr>
                        <a:t>des </a:t>
                      </a:r>
                      <a:r>
                        <a:rPr lang="fr-FR" sz="1800" baseline="0" dirty="0" smtClean="0">
                          <a:solidFill>
                            <a:schemeClr val="tx1"/>
                          </a:solidFill>
                          <a:latin typeface="Arial Narrow" panose="020B0606020202030204" pitchFamily="34" charset="0"/>
                        </a:rPr>
                        <a:t>données PEV transmises par </a:t>
                      </a:r>
                      <a:r>
                        <a:rPr lang="fr-FR" sz="1800" baseline="0" dirty="0" smtClean="0">
                          <a:solidFill>
                            <a:schemeClr val="tx1"/>
                          </a:solidFill>
                          <a:latin typeface="Arial Narrow" panose="020B0606020202030204" pitchFamily="34" charset="0"/>
                        </a:rPr>
                        <a:t>certaines </a:t>
                      </a:r>
                      <a:r>
                        <a:rPr lang="fr-FR" sz="1800" baseline="0" dirty="0" smtClean="0">
                          <a:solidFill>
                            <a:schemeClr val="tx1"/>
                          </a:solidFill>
                          <a:latin typeface="Arial Narrow" panose="020B0606020202030204" pitchFamily="34" charset="0"/>
                        </a:rPr>
                        <a:t>ZS </a:t>
                      </a:r>
                    </a:p>
                    <a:p>
                      <a:pPr algn="l"/>
                      <a:endParaRPr lang="fr-FR" sz="1800" baseline="0" dirty="0" smtClean="0">
                        <a:solidFill>
                          <a:schemeClr val="tx1"/>
                        </a:solidFill>
                        <a:latin typeface="Arial Narrow" panose="020B0606020202030204" pitchFamily="34" charset="0"/>
                      </a:endParaRPr>
                    </a:p>
                    <a:p>
                      <a:pPr algn="l"/>
                      <a:endParaRPr lang="fr-FR" sz="1800" baseline="0" dirty="0" smtClean="0">
                        <a:solidFill>
                          <a:schemeClr val="tx1"/>
                        </a:solidFill>
                        <a:latin typeface="Arial Narrow" panose="020B0606020202030204" pitchFamily="34" charset="0"/>
                      </a:endParaRPr>
                    </a:p>
                    <a:p>
                      <a:pPr algn="l"/>
                      <a:endParaRPr lang="fr-FR" sz="1800" baseline="0" dirty="0" smtClean="0">
                        <a:solidFill>
                          <a:schemeClr val="tx1"/>
                        </a:solidFill>
                        <a:latin typeface="Arial Narrow" panose="020B0606020202030204" pitchFamily="34" charset="0"/>
                      </a:endParaRPr>
                    </a:p>
                    <a:p>
                      <a:pPr algn="l"/>
                      <a:endParaRPr lang="fr-FR" sz="1800" baseline="0" dirty="0" smtClean="0">
                        <a:solidFill>
                          <a:schemeClr val="tx1"/>
                        </a:solidFill>
                        <a:latin typeface="Arial Narrow" panose="020B0606020202030204" pitchFamily="34" charset="0"/>
                      </a:endParaRPr>
                    </a:p>
                    <a:p>
                      <a:pPr algn="l"/>
                      <a:endParaRPr lang="fr-FR" sz="1800" baseline="0" dirty="0" smtClean="0">
                        <a:solidFill>
                          <a:schemeClr val="tx1"/>
                        </a:solidFill>
                        <a:latin typeface="Arial Narrow" panose="020B0606020202030204" pitchFamily="34" charset="0"/>
                      </a:endParaRPr>
                    </a:p>
                    <a:p>
                      <a:pPr algn="l"/>
                      <a:endParaRPr lang="fr-FR" sz="1800" baseline="0" dirty="0" smtClean="0">
                        <a:solidFill>
                          <a:schemeClr val="tx1"/>
                        </a:solidFill>
                        <a:latin typeface="Arial Narrow" panose="020B0606020202030204" pitchFamily="34" charset="0"/>
                      </a:endParaRPr>
                    </a:p>
                    <a:p>
                      <a:pPr algn="l"/>
                      <a:endParaRPr lang="fr-FR" sz="1800" kern="1200" dirty="0" smtClean="0">
                        <a:solidFill>
                          <a:schemeClr val="tx1"/>
                        </a:solidFill>
                        <a:latin typeface="Arial Narrow" panose="020B0606020202030204" pitchFamily="34" charset="0"/>
                        <a:ea typeface="+mn-ea"/>
                        <a:cs typeface="+mn-cs"/>
                      </a:endParaRPr>
                    </a:p>
                  </a:txBody>
                  <a:tcPr marL="91431" marR="91431" marT="45709" marB="457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dirty="0" smtClean="0">
                          <a:solidFill>
                            <a:schemeClr val="tx1"/>
                          </a:solidFill>
                          <a:latin typeface="Arial Narrow" panose="020B0606020202030204" pitchFamily="34" charset="0"/>
                        </a:rPr>
                        <a:t>Faible tenue  des réunions</a:t>
                      </a:r>
                      <a:r>
                        <a:rPr lang="fr-FR" sz="1800" baseline="0" dirty="0" smtClean="0">
                          <a:solidFill>
                            <a:schemeClr val="tx1"/>
                          </a:solidFill>
                          <a:latin typeface="Arial Narrow" panose="020B0606020202030204" pitchFamily="34" charset="0"/>
                        </a:rPr>
                        <a:t>  d’analyse des données à tous les niveaux (ZS, AS)</a:t>
                      </a:r>
                      <a:endParaRPr lang="fr-FR" sz="1800" dirty="0" smtClean="0">
                        <a:solidFill>
                          <a:schemeClr val="tx1"/>
                        </a:solidFill>
                        <a:latin typeface="Arial Narrow" panose="020B0606020202030204" pitchFamily="34" charset="0"/>
                      </a:endParaRPr>
                    </a:p>
                  </a:txBody>
                  <a:tcPr marL="91431" marR="91431"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1800" kern="1200" dirty="0" smtClean="0">
                          <a:solidFill>
                            <a:schemeClr val="tx1"/>
                          </a:solidFill>
                          <a:effectLst/>
                          <a:latin typeface="Arial Narrow" panose="020B0606020202030204" pitchFamily="34" charset="0"/>
                          <a:ea typeface="+mn-ea"/>
                          <a:cs typeface="+mn-cs"/>
                        </a:rPr>
                        <a:t>Organiser au</a:t>
                      </a:r>
                      <a:r>
                        <a:rPr lang="fr-FR" sz="1800" kern="1200" baseline="0" dirty="0" smtClean="0">
                          <a:solidFill>
                            <a:schemeClr val="tx1"/>
                          </a:solidFill>
                          <a:effectLst/>
                          <a:latin typeface="Arial Narrow" panose="020B0606020202030204" pitchFamily="34" charset="0"/>
                          <a:ea typeface="+mn-ea"/>
                          <a:cs typeface="+mn-cs"/>
                        </a:rPr>
                        <a:t> rythme  régulier  l</a:t>
                      </a:r>
                      <a:r>
                        <a:rPr lang="fr-FR" sz="1800" kern="1200" dirty="0" smtClean="0">
                          <a:solidFill>
                            <a:schemeClr val="tx1"/>
                          </a:solidFill>
                          <a:effectLst/>
                          <a:latin typeface="Arial Narrow" panose="020B0606020202030204" pitchFamily="34" charset="0"/>
                          <a:ea typeface="+mn-ea"/>
                          <a:cs typeface="+mn-cs"/>
                        </a:rPr>
                        <a:t>es réunions d’analyse et de validation des données</a:t>
                      </a:r>
                      <a:r>
                        <a:rPr lang="fr-FR" sz="1800" kern="1200" baseline="0" dirty="0" smtClean="0">
                          <a:solidFill>
                            <a:schemeClr val="tx1"/>
                          </a:solidFill>
                          <a:effectLst/>
                          <a:latin typeface="Arial Narrow" panose="020B0606020202030204" pitchFamily="34" charset="0"/>
                          <a:ea typeface="+mn-ea"/>
                          <a:cs typeface="+mn-cs"/>
                        </a:rPr>
                        <a:t> a</a:t>
                      </a:r>
                      <a:r>
                        <a:rPr lang="fr-FR" sz="1800" kern="1200" dirty="0" smtClean="0">
                          <a:solidFill>
                            <a:schemeClr val="tx1"/>
                          </a:solidFill>
                          <a:effectLst/>
                          <a:latin typeface="Arial Narrow" panose="020B0606020202030204" pitchFamily="34" charset="0"/>
                          <a:ea typeface="+mn-ea"/>
                          <a:cs typeface="+mn-cs"/>
                        </a:rPr>
                        <a:t>u niveau de ZS/AS avant la transmission</a:t>
                      </a:r>
                    </a:p>
                  </a:txBody>
                  <a:tcPr marL="91431" marR="91431"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1800" dirty="0" smtClean="0">
                          <a:solidFill>
                            <a:schemeClr val="tx1"/>
                          </a:solidFill>
                          <a:latin typeface="Arial Narrow" panose="020B0606020202030204" pitchFamily="34" charset="0"/>
                        </a:rPr>
                        <a:t>ECZ </a:t>
                      </a:r>
                    </a:p>
                    <a:p>
                      <a:r>
                        <a:rPr lang="fr-FR" sz="1800" dirty="0" smtClean="0">
                          <a:solidFill>
                            <a:schemeClr val="tx1"/>
                          </a:solidFill>
                          <a:latin typeface="Arial Narrow" panose="020B0606020202030204" pitchFamily="34" charset="0"/>
                        </a:rPr>
                        <a:t>IT</a:t>
                      </a:r>
                    </a:p>
                    <a:p>
                      <a:r>
                        <a:rPr lang="fr-FR" sz="1800" dirty="0" smtClean="0">
                          <a:solidFill>
                            <a:schemeClr val="tx1"/>
                          </a:solidFill>
                          <a:latin typeface="Arial Narrow" panose="020B0606020202030204" pitchFamily="34" charset="0"/>
                        </a:rPr>
                        <a:t>CODESA</a:t>
                      </a:r>
                      <a:endParaRPr lang="fr-FR" sz="1800" dirty="0">
                        <a:solidFill>
                          <a:schemeClr val="tx1"/>
                        </a:solidFill>
                        <a:latin typeface="Arial Narrow" panose="020B0606020202030204" pitchFamily="34" charset="0"/>
                      </a:endParaRPr>
                    </a:p>
                  </a:txBody>
                  <a:tcPr marL="91431" marR="91431"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1800" kern="1200" dirty="0" smtClean="0">
                          <a:solidFill>
                            <a:schemeClr val="tx1"/>
                          </a:solidFill>
                          <a:effectLst/>
                          <a:latin typeface="Arial Narrow" panose="020B0606020202030204" pitchFamily="34" charset="0"/>
                          <a:ea typeface="+mn-ea"/>
                          <a:cs typeface="+mn-cs"/>
                        </a:rPr>
                        <a:t>Fin de chaque mois</a:t>
                      </a:r>
                      <a:endParaRPr lang="fr-FR" sz="1800" kern="1200" dirty="0">
                        <a:solidFill>
                          <a:schemeClr val="tx1"/>
                        </a:solidFill>
                        <a:effectLst/>
                        <a:latin typeface="Arial Narrow" panose="020B0606020202030204" pitchFamily="34" charset="0"/>
                        <a:ea typeface="+mn-ea"/>
                        <a:cs typeface="+mn-cs"/>
                      </a:endParaRPr>
                    </a:p>
                  </a:txBody>
                  <a:tcPr marL="91431" marR="91431"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1800" kern="1200" dirty="0" smtClean="0">
                          <a:solidFill>
                            <a:schemeClr val="tx1"/>
                          </a:solidFill>
                          <a:effectLst/>
                          <a:latin typeface="Arial Narrow" panose="020B0606020202030204" pitchFamily="34" charset="0"/>
                          <a:ea typeface="+mn-ea"/>
                          <a:cs typeface="+mn-cs"/>
                        </a:rPr>
                        <a:t>Rapports et liste des présence</a:t>
                      </a:r>
                      <a:endParaRPr lang="fr-FR" sz="1800" kern="1200" dirty="0">
                        <a:solidFill>
                          <a:schemeClr val="tx1"/>
                        </a:solidFill>
                        <a:effectLst/>
                        <a:latin typeface="Arial Narrow" panose="020B0606020202030204" pitchFamily="34" charset="0"/>
                        <a:ea typeface="+mn-ea"/>
                        <a:cs typeface="+mn-cs"/>
                      </a:endParaRPr>
                    </a:p>
                  </a:txBody>
                  <a:tcPr marL="91431" marR="91431"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46929">
                <a:tc vMerge="1">
                  <a:txBody>
                    <a:bodyPr/>
                    <a:lstStyle/>
                    <a:p>
                      <a:endParaRPr lang="fr-FR"/>
                    </a:p>
                  </a:txBody>
                  <a:tcPr/>
                </a:tc>
                <a:tc vMerge="1">
                  <a:txBody>
                    <a:bodyPr/>
                    <a:lstStyle/>
                    <a:p>
                      <a:pPr algn="ctr"/>
                      <a:endParaRPr lang="fr-FR" sz="1400" dirty="0"/>
                    </a:p>
                  </a:txBody>
                  <a:tcPr marT="45736" marB="45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1800" dirty="0" smtClean="0">
                          <a:solidFill>
                            <a:schemeClr val="tx1"/>
                          </a:solidFill>
                          <a:latin typeface="Arial Narrow" panose="020B0606020202030204" pitchFamily="34" charset="0"/>
                        </a:rPr>
                        <a:t>Non organisation de DQS dans les FOSA</a:t>
                      </a:r>
                    </a:p>
                  </a:txBody>
                  <a:tcPr marL="91431" marR="91431" marT="45709" marB="457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kern="1200" dirty="0" smtClean="0">
                          <a:solidFill>
                            <a:schemeClr val="tx1"/>
                          </a:solidFill>
                          <a:effectLst/>
                          <a:latin typeface="Arial Narrow" panose="020B0606020202030204" pitchFamily="34" charset="0"/>
                          <a:ea typeface="+mn-ea"/>
                          <a:cs typeface="+mn-cs"/>
                        </a:rPr>
                        <a:t>Organiser</a:t>
                      </a:r>
                      <a:r>
                        <a:rPr lang="fr-FR" sz="1800" kern="1200" baseline="0" dirty="0" smtClean="0">
                          <a:solidFill>
                            <a:schemeClr val="tx1"/>
                          </a:solidFill>
                          <a:effectLst/>
                          <a:latin typeface="Arial Narrow" panose="020B0606020202030204" pitchFamily="34" charset="0"/>
                          <a:ea typeface="+mn-ea"/>
                          <a:cs typeface="+mn-cs"/>
                        </a:rPr>
                        <a:t> l</a:t>
                      </a:r>
                      <a:r>
                        <a:rPr lang="fr-FR" sz="1800" kern="1200" dirty="0" smtClean="0">
                          <a:solidFill>
                            <a:schemeClr val="tx1"/>
                          </a:solidFill>
                          <a:effectLst/>
                          <a:latin typeface="Arial Narrow" panose="020B0606020202030204" pitchFamily="34" charset="0"/>
                          <a:ea typeface="+mn-ea"/>
                          <a:cs typeface="+mn-cs"/>
                        </a:rPr>
                        <a:t>e DQS dans les AS et BCZ à problème</a:t>
                      </a:r>
                    </a:p>
                  </a:txBody>
                  <a:tcPr marL="91431" marR="91431"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r>
                        <a:rPr lang="fr-FR" sz="1800" dirty="0" smtClean="0">
                          <a:solidFill>
                            <a:schemeClr val="tx1"/>
                          </a:solidFill>
                          <a:latin typeface="Arial Narrow" panose="020B0606020202030204" pitchFamily="34" charset="0"/>
                        </a:rPr>
                        <a:t>EPP</a:t>
                      </a:r>
                    </a:p>
                    <a:p>
                      <a:r>
                        <a:rPr lang="fr-FR" sz="1800" dirty="0" smtClean="0">
                          <a:solidFill>
                            <a:schemeClr val="tx1"/>
                          </a:solidFill>
                          <a:latin typeface="Arial Narrow" panose="020B0606020202030204" pitchFamily="34" charset="0"/>
                        </a:rPr>
                        <a:t>ECZ</a:t>
                      </a:r>
                      <a:endParaRPr lang="fr-FR" sz="1800" dirty="0">
                        <a:solidFill>
                          <a:schemeClr val="tx1"/>
                        </a:solidFill>
                        <a:latin typeface="Arial Narrow" panose="020B0606020202030204" pitchFamily="34" charset="0"/>
                      </a:endParaRPr>
                    </a:p>
                  </a:txBody>
                  <a:tcPr marL="91431" marR="91431"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r>
                        <a:rPr lang="fr-FR" sz="1800" kern="1200" dirty="0" smtClean="0">
                          <a:solidFill>
                            <a:schemeClr val="tx1"/>
                          </a:solidFill>
                          <a:effectLst/>
                          <a:latin typeface="Arial Narrow" panose="020B0606020202030204" pitchFamily="34" charset="0"/>
                          <a:ea typeface="+mn-ea"/>
                          <a:cs typeface="+mn-cs"/>
                        </a:rPr>
                        <a:t>Chaque trimestre</a:t>
                      </a:r>
                      <a:endParaRPr lang="fr-FR" sz="1800" kern="1200" dirty="0">
                        <a:solidFill>
                          <a:schemeClr val="tx1"/>
                        </a:solidFill>
                        <a:effectLst/>
                        <a:latin typeface="Arial Narrow" panose="020B0606020202030204" pitchFamily="34" charset="0"/>
                        <a:ea typeface="+mn-ea"/>
                        <a:cs typeface="+mn-cs"/>
                      </a:endParaRPr>
                    </a:p>
                  </a:txBody>
                  <a:tcPr marL="91431" marR="91431"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r>
                        <a:rPr lang="fr-FR" sz="1800" kern="1200" dirty="0" smtClean="0">
                          <a:solidFill>
                            <a:schemeClr val="tx1"/>
                          </a:solidFill>
                          <a:effectLst/>
                          <a:latin typeface="Arial Narrow" panose="020B0606020202030204" pitchFamily="34" charset="0"/>
                          <a:ea typeface="+mn-ea"/>
                          <a:cs typeface="+mn-cs"/>
                        </a:rPr>
                        <a:t>Rapports</a:t>
                      </a:r>
                    </a:p>
                    <a:p>
                      <a:r>
                        <a:rPr lang="fr-FR" sz="1800" kern="1200" dirty="0" smtClean="0">
                          <a:solidFill>
                            <a:schemeClr val="tx1"/>
                          </a:solidFill>
                          <a:effectLst/>
                          <a:latin typeface="Arial Narrow" panose="020B0606020202030204" pitchFamily="34" charset="0"/>
                          <a:ea typeface="+mn-ea"/>
                          <a:cs typeface="+mn-cs"/>
                        </a:rPr>
                        <a:t>De DQS</a:t>
                      </a:r>
                      <a:endParaRPr lang="fr-FR" sz="1800" kern="1200" dirty="0">
                        <a:solidFill>
                          <a:schemeClr val="tx1"/>
                        </a:solidFill>
                        <a:effectLst/>
                        <a:latin typeface="Arial Narrow" panose="020B0606020202030204" pitchFamily="34" charset="0"/>
                        <a:ea typeface="+mn-ea"/>
                        <a:cs typeface="+mn-cs"/>
                      </a:endParaRPr>
                    </a:p>
                  </a:txBody>
                  <a:tcPr marL="91431" marR="91431"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0">
                <a:tc vMerge="1">
                  <a:txBody>
                    <a:bodyPr/>
                    <a:lstStyle/>
                    <a:p>
                      <a:endParaRPr lang="fr-FR"/>
                    </a:p>
                  </a:txBody>
                  <a:tcPr/>
                </a:tc>
                <a:tc vMerge="1">
                  <a:txBody>
                    <a:bodyPr/>
                    <a:lstStyle/>
                    <a:p>
                      <a:endParaRPr lang="fr-FR"/>
                    </a:p>
                  </a:txBody>
                  <a:tcPr/>
                </a:tc>
                <a:tc row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kern="1200" dirty="0" smtClean="0">
                          <a:solidFill>
                            <a:schemeClr val="tx1"/>
                          </a:solidFill>
                          <a:latin typeface="Arial Narrow" panose="020B0606020202030204" pitchFamily="34" charset="0"/>
                          <a:ea typeface="+mn-ea"/>
                          <a:cs typeface="+mn-cs"/>
                        </a:rPr>
                        <a:t>Insuffisance dans l’accompagnement des IT par le ECZS</a:t>
                      </a:r>
                    </a:p>
                    <a:p>
                      <a:pPr marL="0" marR="0" indent="0" algn="l" defTabSz="914400" rtl="0" eaLnBrk="1" fontAlgn="auto" latinLnBrk="0" hangingPunct="1">
                        <a:lnSpc>
                          <a:spcPct val="100000"/>
                        </a:lnSpc>
                        <a:spcBef>
                          <a:spcPts val="0"/>
                        </a:spcBef>
                        <a:spcAft>
                          <a:spcPts val="0"/>
                        </a:spcAft>
                        <a:buClrTx/>
                        <a:buSzTx/>
                        <a:buFontTx/>
                        <a:buNone/>
                        <a:tabLst/>
                        <a:defRPr/>
                      </a:pPr>
                      <a:endParaRPr lang="fr-FR" sz="1800" kern="1200" dirty="0" smtClean="0">
                        <a:solidFill>
                          <a:schemeClr val="tx1"/>
                        </a:solidFill>
                        <a:latin typeface="Arial Narrow" panose="020B0606020202030204"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fr-FR" sz="1800" kern="1200" dirty="0" smtClean="0">
                        <a:solidFill>
                          <a:schemeClr val="tx1"/>
                        </a:solidFill>
                        <a:latin typeface="Arial Narrow" panose="020B0606020202030204"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fr-FR" sz="1800" kern="1200" dirty="0" smtClean="0">
                        <a:solidFill>
                          <a:schemeClr val="tx1"/>
                        </a:solidFill>
                        <a:latin typeface="Arial Narrow" panose="020B0606020202030204"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fr-FR" sz="1800" kern="1200" dirty="0" smtClean="0">
                          <a:solidFill>
                            <a:schemeClr val="tx1"/>
                          </a:solidFill>
                          <a:latin typeface="Arial Narrow" panose="020B0606020202030204" pitchFamily="34" charset="0"/>
                          <a:ea typeface="+mn-ea"/>
                          <a:cs typeface="+mn-cs"/>
                        </a:rPr>
                        <a:t>Faible proportion de supervisions formatives en quantité et  qualité avec l’application Gestion PEV(25%)</a:t>
                      </a:r>
                    </a:p>
                  </a:txBody>
                  <a:tcPr marL="91431" marR="91431"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extLst>
                  <a:ext uri="{0D108BD9-81ED-4DB2-BD59-A6C34878D82A}">
                    <a16:rowId xmlns:a16="http://schemas.microsoft.com/office/drawing/2014/main" val="10003"/>
                  </a:ext>
                </a:extLst>
              </a:tr>
              <a:tr h="1250147">
                <a:tc vMerge="1">
                  <a:txBody>
                    <a:bodyPr/>
                    <a:lstStyle/>
                    <a:p>
                      <a:endParaRPr lang="fr-FR"/>
                    </a:p>
                  </a:txBody>
                  <a:tcPr/>
                </a:tc>
                <a:tc vMerge="1">
                  <a:txBody>
                    <a:bodyPr/>
                    <a:lstStyle/>
                    <a:p>
                      <a:endParaRPr lang="fr-FR"/>
                    </a:p>
                  </a:txBody>
                  <a:tcPr/>
                </a:tc>
                <a:tc vMerge="1">
                  <a:txBody>
                    <a:bodyPr/>
                    <a:lstStyle/>
                    <a:p>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kern="1200" dirty="0" smtClean="0">
                          <a:solidFill>
                            <a:schemeClr val="tx1"/>
                          </a:solidFill>
                          <a:effectLst/>
                          <a:latin typeface="Arial Narrow" panose="020B0606020202030204" pitchFamily="34" charset="0"/>
                          <a:ea typeface="+mn-ea"/>
                          <a:cs typeface="+mn-cs"/>
                        </a:rPr>
                        <a:t>Briefer et conscientiser tous les IS qui accompagnent les AS sur la supervision des structures et de séances de vaccination</a:t>
                      </a:r>
                      <a:endParaRPr lang="fr-FR" sz="1800" kern="1200" dirty="0">
                        <a:solidFill>
                          <a:schemeClr val="tx1"/>
                        </a:solidFill>
                        <a:effectLst/>
                        <a:latin typeface="Arial Narrow" panose="020B0606020202030204" pitchFamily="34" charset="0"/>
                        <a:ea typeface="+mn-ea"/>
                        <a:cs typeface="+mn-cs"/>
                      </a:endParaRPr>
                    </a:p>
                  </a:txBody>
                  <a:tcPr marL="91431" marR="91431"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fr-FR" sz="1800" dirty="0" smtClean="0">
                        <a:solidFill>
                          <a:schemeClr val="tx1"/>
                        </a:solidFill>
                        <a:latin typeface="Arial Narrow" panose="020B0606020202030204" pitchFamily="34" charset="0"/>
                      </a:endParaRPr>
                    </a:p>
                    <a:p>
                      <a:endParaRPr lang="fr-FR" sz="1800" dirty="0" smtClean="0">
                        <a:solidFill>
                          <a:schemeClr val="tx1"/>
                        </a:solidFill>
                        <a:latin typeface="Arial Narrow" panose="020B0606020202030204" pitchFamily="34" charset="0"/>
                      </a:endParaRPr>
                    </a:p>
                    <a:p>
                      <a:r>
                        <a:rPr lang="fr-FR" sz="1800" dirty="0" smtClean="0">
                          <a:solidFill>
                            <a:schemeClr val="tx1"/>
                          </a:solidFill>
                          <a:latin typeface="Arial Narrow" panose="020B0606020202030204" pitchFamily="34" charset="0"/>
                        </a:rPr>
                        <a:t>ECZ</a:t>
                      </a:r>
                      <a:endParaRPr lang="fr-FR" sz="1800" dirty="0">
                        <a:solidFill>
                          <a:schemeClr val="tx1"/>
                        </a:solidFill>
                        <a:latin typeface="Arial Narrow" panose="020B0606020202030204" pitchFamily="34" charset="0"/>
                      </a:endParaRPr>
                    </a:p>
                  </a:txBody>
                  <a:tcPr marL="91431" marR="91431"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fr-FR" sz="1800" kern="1200" dirty="0" smtClean="0">
                        <a:solidFill>
                          <a:schemeClr val="tx1"/>
                        </a:solidFill>
                        <a:effectLst/>
                        <a:latin typeface="Arial Narrow" panose="020B0606020202030204" pitchFamily="34" charset="0"/>
                        <a:ea typeface="+mn-ea"/>
                        <a:cs typeface="+mn-cs"/>
                      </a:endParaRPr>
                    </a:p>
                    <a:p>
                      <a:endParaRPr lang="fr-FR" sz="1800" kern="1200" dirty="0" smtClean="0">
                        <a:solidFill>
                          <a:schemeClr val="tx1"/>
                        </a:solidFill>
                        <a:effectLst/>
                        <a:latin typeface="Arial Narrow" panose="020B0606020202030204" pitchFamily="34" charset="0"/>
                        <a:ea typeface="+mn-ea"/>
                        <a:cs typeface="+mn-cs"/>
                      </a:endParaRPr>
                    </a:p>
                    <a:p>
                      <a:r>
                        <a:rPr lang="fr-FR" sz="1800" kern="1200" dirty="0" smtClean="0">
                          <a:solidFill>
                            <a:schemeClr val="tx1"/>
                          </a:solidFill>
                          <a:effectLst/>
                          <a:latin typeface="Arial Narrow" panose="020B0606020202030204" pitchFamily="34" charset="0"/>
                          <a:ea typeface="+mn-ea"/>
                          <a:cs typeface="+mn-cs"/>
                        </a:rPr>
                        <a:t>Chaque mois</a:t>
                      </a:r>
                      <a:endParaRPr lang="fr-FR" sz="1800" kern="1200" dirty="0">
                        <a:solidFill>
                          <a:schemeClr val="tx1"/>
                        </a:solidFill>
                        <a:effectLst/>
                        <a:latin typeface="Arial Narrow" panose="020B0606020202030204" pitchFamily="34" charset="0"/>
                        <a:ea typeface="+mn-ea"/>
                        <a:cs typeface="+mn-cs"/>
                      </a:endParaRPr>
                    </a:p>
                  </a:txBody>
                  <a:tcPr marL="91431" marR="91431"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fr-FR" sz="1800" kern="1200" dirty="0" smtClean="0">
                        <a:solidFill>
                          <a:schemeClr val="tx1"/>
                        </a:solidFill>
                        <a:effectLst/>
                        <a:latin typeface="Arial Narrow" panose="020B0606020202030204" pitchFamily="34" charset="0"/>
                        <a:ea typeface="+mn-ea"/>
                        <a:cs typeface="+mn-cs"/>
                      </a:endParaRPr>
                    </a:p>
                    <a:p>
                      <a:endParaRPr lang="fr-FR" sz="1800" kern="1200" dirty="0" smtClean="0">
                        <a:solidFill>
                          <a:schemeClr val="tx1"/>
                        </a:solidFill>
                        <a:effectLst/>
                        <a:latin typeface="Arial Narrow" panose="020B0606020202030204" pitchFamily="34" charset="0"/>
                        <a:ea typeface="+mn-ea"/>
                        <a:cs typeface="+mn-cs"/>
                      </a:endParaRPr>
                    </a:p>
                    <a:p>
                      <a:r>
                        <a:rPr lang="fr-FR" sz="1800" kern="1200" dirty="0" smtClean="0">
                          <a:solidFill>
                            <a:schemeClr val="tx1"/>
                          </a:solidFill>
                          <a:effectLst/>
                          <a:latin typeface="Arial Narrow" panose="020B0606020202030204" pitchFamily="34" charset="0"/>
                          <a:ea typeface="+mn-ea"/>
                          <a:cs typeface="+mn-cs"/>
                        </a:rPr>
                        <a:t>Rapport de supervision</a:t>
                      </a:r>
                      <a:endParaRPr lang="fr-FR" sz="1800" kern="1200" dirty="0">
                        <a:solidFill>
                          <a:schemeClr val="tx1"/>
                        </a:solidFill>
                        <a:effectLst/>
                        <a:latin typeface="Arial Narrow" panose="020B0606020202030204" pitchFamily="34" charset="0"/>
                        <a:ea typeface="+mn-ea"/>
                        <a:cs typeface="+mn-cs"/>
                      </a:endParaRPr>
                    </a:p>
                  </a:txBody>
                  <a:tcPr marL="91431" marR="91431"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172031">
                <a:tc vMerge="1">
                  <a:txBody>
                    <a:bodyPr/>
                    <a:lstStyle/>
                    <a:p>
                      <a:endParaRPr lang="fr-FR" dirty="0"/>
                    </a:p>
                  </a:txBody>
                  <a:tcPr>
                    <a:solidFill>
                      <a:schemeClr val="accent5">
                        <a:lumMod val="40000"/>
                        <a:lumOff val="60000"/>
                      </a:schemeClr>
                    </a:solidFill>
                  </a:tcPr>
                </a:tc>
                <a:tc vMerge="1">
                  <a:txBody>
                    <a:bodyPr/>
                    <a:lstStyle/>
                    <a:p>
                      <a:pPr algn="ctr"/>
                      <a:endParaRPr lang="fr-FR" sz="1400" dirty="0"/>
                    </a:p>
                  </a:txBody>
                  <a:tcPr anchor="ctr"/>
                </a:tc>
                <a:tc vMerge="1">
                  <a:txBody>
                    <a:bodyPr/>
                    <a:lstStyle/>
                    <a:p>
                      <a:endParaRPr lang="en-US"/>
                    </a:p>
                  </a:txBody>
                  <a:tcPr/>
                </a:tc>
                <a:tc>
                  <a:txBody>
                    <a:bodyPr/>
                    <a:lstStyle/>
                    <a:p>
                      <a:pPr algn="l" fontAlgn="t"/>
                      <a:r>
                        <a:rPr lang="fr-FR" sz="1800" b="0" i="0" u="none" strike="noStrike" dirty="0">
                          <a:solidFill>
                            <a:schemeClr val="tx1"/>
                          </a:solidFill>
                          <a:effectLst/>
                          <a:latin typeface="Arial Narrow" panose="020B0606020202030204" pitchFamily="34" charset="0"/>
                        </a:rPr>
                        <a:t>Organiser </a:t>
                      </a:r>
                      <a:r>
                        <a:rPr lang="fr-FR" sz="1800" b="0" i="0" u="none" strike="noStrike" dirty="0" smtClean="0">
                          <a:solidFill>
                            <a:schemeClr val="tx1"/>
                          </a:solidFill>
                          <a:effectLst/>
                          <a:latin typeface="Arial Narrow" panose="020B0606020202030204" pitchFamily="34" charset="0"/>
                        </a:rPr>
                        <a:t>une mission </a:t>
                      </a:r>
                      <a:r>
                        <a:rPr lang="fr-FR" sz="1800" b="0" i="0" u="none" strike="noStrike" dirty="0">
                          <a:solidFill>
                            <a:schemeClr val="tx1"/>
                          </a:solidFill>
                          <a:effectLst/>
                          <a:latin typeface="Arial Narrow" panose="020B0606020202030204" pitchFamily="34" charset="0"/>
                        </a:rPr>
                        <a:t>de </a:t>
                      </a:r>
                      <a:r>
                        <a:rPr lang="fr-FR" sz="1800" b="0" i="0" u="none" strike="noStrike" dirty="0" smtClean="0">
                          <a:solidFill>
                            <a:schemeClr val="tx1"/>
                          </a:solidFill>
                          <a:effectLst/>
                          <a:latin typeface="Arial Narrow" panose="020B0606020202030204" pitchFamily="34" charset="0"/>
                        </a:rPr>
                        <a:t>supervision thématique de </a:t>
                      </a:r>
                      <a:r>
                        <a:rPr lang="fr-FR" sz="1800" b="0" i="0" u="none" strike="noStrike" dirty="0">
                          <a:solidFill>
                            <a:schemeClr val="tx1"/>
                          </a:solidFill>
                          <a:effectLst/>
                          <a:latin typeface="Arial Narrow" panose="020B0606020202030204" pitchFamily="34" charset="0"/>
                        </a:rPr>
                        <a:t>DPS vers les </a:t>
                      </a:r>
                      <a:r>
                        <a:rPr lang="fr-FR" sz="1800" b="0" i="0" u="none" strike="noStrike" dirty="0" smtClean="0">
                          <a:solidFill>
                            <a:schemeClr val="tx1"/>
                          </a:solidFill>
                          <a:effectLst/>
                          <a:latin typeface="Arial Narrow" panose="020B0606020202030204" pitchFamily="34" charset="0"/>
                        </a:rPr>
                        <a:t>ZS (18) </a:t>
                      </a:r>
                      <a:r>
                        <a:rPr lang="fr-FR" sz="1800" b="0" i="0" u="none" strike="noStrike" dirty="0">
                          <a:solidFill>
                            <a:schemeClr val="tx1"/>
                          </a:solidFill>
                          <a:effectLst/>
                          <a:latin typeface="Arial Narrow" panose="020B0606020202030204" pitchFamily="34" charset="0"/>
                        </a:rPr>
                        <a:t>avec les applications gestion PEV( MCA,LOG et EPP)</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1800" dirty="0" smtClean="0">
                          <a:solidFill>
                            <a:schemeClr val="tx1"/>
                          </a:solidFill>
                          <a:latin typeface="Arial Narrow" panose="020B0606020202030204" pitchFamily="34" charset="0"/>
                        </a:rPr>
                        <a:t>DPS</a:t>
                      </a:r>
                      <a:endParaRPr lang="fr-FR" sz="1800" dirty="0">
                        <a:solidFill>
                          <a:schemeClr val="tx1"/>
                        </a:solidFill>
                        <a:latin typeface="Arial Narrow" panose="020B0606020202030204" pitchFamily="34" charset="0"/>
                      </a:endParaRPr>
                    </a:p>
                  </a:txBody>
                  <a:tcPr marL="91431" marR="91431"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sz="1800" kern="1200" dirty="0" smtClean="0">
                          <a:solidFill>
                            <a:schemeClr val="tx1"/>
                          </a:solidFill>
                          <a:effectLst/>
                          <a:latin typeface="Arial Narrow" panose="020B0606020202030204" pitchFamily="34" charset="0"/>
                          <a:ea typeface="+mn-ea"/>
                          <a:cs typeface="+mn-cs"/>
                        </a:rPr>
                        <a:t>Chaque mois</a:t>
                      </a:r>
                      <a:endParaRPr lang="fr-FR" sz="1800" kern="1200" dirty="0">
                        <a:solidFill>
                          <a:schemeClr val="tx1"/>
                        </a:solidFill>
                        <a:effectLst/>
                        <a:latin typeface="Arial Narrow" panose="020B0606020202030204" pitchFamily="34" charset="0"/>
                        <a:ea typeface="+mn-ea"/>
                        <a:cs typeface="+mn-cs"/>
                      </a:endParaRPr>
                    </a:p>
                  </a:txBody>
                  <a:tcPr marL="91431" marR="91431"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kern="1200" dirty="0" smtClean="0">
                          <a:solidFill>
                            <a:schemeClr val="tx1"/>
                          </a:solidFill>
                          <a:effectLst/>
                          <a:latin typeface="Arial Narrow" panose="020B0606020202030204" pitchFamily="34" charset="0"/>
                          <a:ea typeface="+mn-ea"/>
                          <a:cs typeface="+mn-cs"/>
                        </a:rPr>
                        <a:t>Rapport de supervision</a:t>
                      </a:r>
                    </a:p>
                    <a:p>
                      <a:endParaRPr lang="fr-FR" sz="1800" kern="1200" dirty="0">
                        <a:solidFill>
                          <a:schemeClr val="tx1"/>
                        </a:solidFill>
                        <a:effectLst/>
                        <a:latin typeface="Arial Narrow" panose="020B0606020202030204" pitchFamily="34" charset="0"/>
                        <a:ea typeface="+mn-ea"/>
                        <a:cs typeface="+mn-cs"/>
                      </a:endParaRPr>
                    </a:p>
                  </a:txBody>
                  <a:tcPr marL="91431" marR="91431" marT="45709" marB="457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2" name="Espace réservé de la date 1"/>
          <p:cNvSpPr>
            <a:spLocks noGrp="1"/>
          </p:cNvSpPr>
          <p:nvPr>
            <p:ph type="dt" idx="10"/>
          </p:nvPr>
        </p:nvSpPr>
        <p:spPr/>
        <p:txBody>
          <a:bodyPr/>
          <a:lstStyle/>
          <a:p>
            <a:fld id="{10E27C12-CC11-4B04-9028-2499563BDA59}" type="datetime1">
              <a:rPr lang="en-US" smtClean="0"/>
              <a:t>12/16/2025</a:t>
            </a:fld>
            <a:endParaRPr lang="en-US"/>
          </a:p>
        </p:txBody>
      </p:sp>
      <p:sp>
        <p:nvSpPr>
          <p:cNvPr id="4" name="Espace réservé du pied de page 3"/>
          <p:cNvSpPr>
            <a:spLocks noGrp="1"/>
          </p:cNvSpPr>
          <p:nvPr>
            <p:ph type="ftr" idx="11"/>
          </p:nvPr>
        </p:nvSpPr>
        <p:spPr/>
        <p:txBody>
          <a:bodyPr/>
          <a:lstStyle/>
          <a:p>
            <a:r>
              <a:rPr lang="fr-FR" smtClean="0"/>
              <a:t>REVUE NATIONALE ANNUELLE PEV DPS KASAÏ</a:t>
            </a:r>
            <a:endParaRPr lang="fr-FR"/>
          </a:p>
        </p:txBody>
      </p:sp>
    </p:spTree>
    <p:extLst>
      <p:ext uri="{BB962C8B-B14F-4D97-AF65-F5344CB8AC3E}">
        <p14:creationId xmlns:p14="http://schemas.microsoft.com/office/powerpoint/2010/main" val="160018217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812800" y="333829"/>
            <a:ext cx="10541000" cy="885371"/>
          </a:xfrm>
        </p:spPr>
        <p:txBody>
          <a:bodyPr>
            <a:normAutofit/>
          </a:bodyPr>
          <a:lstStyle/>
          <a:p>
            <a:r>
              <a:rPr lang="fr-FR" sz="3600" b="1" dirty="0" smtClean="0">
                <a:latin typeface="Arial Narrow" panose="020B0606020202030204" pitchFamily="34" charset="0"/>
              </a:rPr>
              <a:t>11</a:t>
            </a:r>
            <a:r>
              <a:rPr lang="fr-FR" sz="3600" b="1" dirty="0" smtClean="0">
                <a:latin typeface="Arial Narrow" panose="020B0606020202030204" pitchFamily="34" charset="0"/>
              </a:rPr>
              <a:t>. </a:t>
            </a:r>
            <a:r>
              <a:rPr lang="fr-FR" sz="3600" b="1" dirty="0" smtClean="0">
                <a:latin typeface="Arial Narrow" panose="020B0606020202030204" pitchFamily="34" charset="0"/>
              </a:rPr>
              <a:t>Défis  POUR L’ANNE  2026</a:t>
            </a:r>
            <a:endParaRPr lang="fr-FR" sz="3600" b="1" dirty="0">
              <a:latin typeface="Arial Narrow" panose="020B0606020202030204" pitchFamily="34" charset="0"/>
            </a:endParaRPr>
          </a:p>
        </p:txBody>
      </p:sp>
      <p:sp>
        <p:nvSpPr>
          <p:cNvPr id="13" name="Espace réservé du contenu 12"/>
          <p:cNvSpPr>
            <a:spLocks noGrp="1"/>
          </p:cNvSpPr>
          <p:nvPr>
            <p:ph idx="1"/>
          </p:nvPr>
        </p:nvSpPr>
        <p:spPr>
          <a:xfrm>
            <a:off x="362856" y="1582057"/>
            <a:ext cx="11247951" cy="4818743"/>
          </a:xfrm>
        </p:spPr>
        <p:txBody>
          <a:bodyPr>
            <a:noAutofit/>
          </a:bodyPr>
          <a:lstStyle/>
          <a:p>
            <a:pPr marL="342900" indent="-342900">
              <a:lnSpc>
                <a:spcPct val="200000"/>
              </a:lnSpc>
              <a:buAutoNum type="arabicPeriod"/>
            </a:pPr>
            <a:r>
              <a:rPr lang="fr-FR" sz="2800" dirty="0" smtClean="0">
                <a:solidFill>
                  <a:schemeClr val="tx1"/>
                </a:solidFill>
                <a:latin typeface="Arial Narrow" panose="020B0606020202030204" pitchFamily="34" charset="0"/>
              </a:rPr>
              <a:t>Récupération de 10242  enfants Zéro dose, et </a:t>
            </a:r>
            <a:r>
              <a:rPr lang="fr-FR" sz="2800" dirty="0" smtClean="0">
                <a:solidFill>
                  <a:schemeClr val="tx1"/>
                </a:solidFill>
                <a:latin typeface="Arial Narrow" panose="020B0606020202030204" pitchFamily="34" charset="0"/>
              </a:rPr>
              <a:t>11294 ESV</a:t>
            </a:r>
            <a:endParaRPr lang="fr-FR" sz="2800" dirty="0" smtClean="0">
              <a:solidFill>
                <a:schemeClr val="tx1"/>
              </a:solidFill>
              <a:latin typeface="Arial Narrow" panose="020B0606020202030204" pitchFamily="34" charset="0"/>
            </a:endParaRPr>
          </a:p>
          <a:p>
            <a:pPr marL="342900" indent="-342900">
              <a:lnSpc>
                <a:spcPct val="200000"/>
              </a:lnSpc>
              <a:buAutoNum type="arabicPeriod"/>
            </a:pPr>
            <a:r>
              <a:rPr lang="fr-FR" sz="2800" dirty="0" smtClean="0">
                <a:solidFill>
                  <a:schemeClr val="tx1"/>
                </a:solidFill>
                <a:latin typeface="Arial Narrow" panose="020B0606020202030204" pitchFamily="34" charset="0"/>
              </a:rPr>
              <a:t>Supervision de qualité de  toutes les zones de santé</a:t>
            </a:r>
          </a:p>
          <a:p>
            <a:pPr marL="342900" indent="-342900">
              <a:lnSpc>
                <a:spcPct val="200000"/>
              </a:lnSpc>
              <a:buAutoNum type="arabicPeriod"/>
            </a:pPr>
            <a:r>
              <a:rPr lang="fr-FR" sz="2800" dirty="0" smtClean="0">
                <a:solidFill>
                  <a:schemeClr val="tx1"/>
                </a:solidFill>
                <a:latin typeface="Arial Narrow" panose="020B0606020202030204" pitchFamily="34" charset="0"/>
              </a:rPr>
              <a:t>Tenue régulière </a:t>
            </a:r>
            <a:r>
              <a:rPr lang="fr-FR" sz="2800" dirty="0">
                <a:solidFill>
                  <a:schemeClr val="tx1"/>
                </a:solidFill>
                <a:latin typeface="Arial Narrow" panose="020B0606020202030204" pitchFamily="34" charset="0"/>
              </a:rPr>
              <a:t>d</a:t>
            </a:r>
            <a:r>
              <a:rPr lang="fr-FR" sz="2800" dirty="0" smtClean="0">
                <a:solidFill>
                  <a:schemeClr val="tx1"/>
                </a:solidFill>
                <a:latin typeface="Arial Narrow" panose="020B0606020202030204" pitchFamily="34" charset="0"/>
              </a:rPr>
              <a:t>es réunions de coordination </a:t>
            </a:r>
            <a:endParaRPr lang="fr-FR" sz="2800" dirty="0">
              <a:solidFill>
                <a:schemeClr val="tx1"/>
              </a:solidFill>
              <a:latin typeface="Arial Narrow" panose="020B0606020202030204" pitchFamily="34" charset="0"/>
            </a:endParaRPr>
          </a:p>
        </p:txBody>
      </p:sp>
      <p:sp>
        <p:nvSpPr>
          <p:cNvPr id="3" name="Espace réservé de la date 2"/>
          <p:cNvSpPr>
            <a:spLocks noGrp="1"/>
          </p:cNvSpPr>
          <p:nvPr>
            <p:ph type="dt" idx="10"/>
          </p:nvPr>
        </p:nvSpPr>
        <p:spPr/>
        <p:txBody>
          <a:bodyPr/>
          <a:lstStyle/>
          <a:p>
            <a:fld id="{54E36790-E31D-4535-8512-35DF3E117E42}" type="datetime1">
              <a:rPr lang="en-US" smtClean="0"/>
              <a:t>12/16/2025</a:t>
            </a:fld>
            <a:endParaRPr lang="en-US"/>
          </a:p>
        </p:txBody>
      </p:sp>
      <p:sp>
        <p:nvSpPr>
          <p:cNvPr id="4" name="Espace réservé du pied de page 3"/>
          <p:cNvSpPr>
            <a:spLocks noGrp="1"/>
          </p:cNvSpPr>
          <p:nvPr>
            <p:ph type="ftr" idx="11"/>
          </p:nvPr>
        </p:nvSpPr>
        <p:spPr/>
        <p:txBody>
          <a:bodyPr/>
          <a:lstStyle/>
          <a:p>
            <a:r>
              <a:rPr lang="fr-FR" smtClean="0"/>
              <a:t>REVUE NATIONALE ANNUELLE PEV DPS KASAÏ</a:t>
            </a:r>
            <a:endParaRPr lang="fr-FR"/>
          </a:p>
        </p:txBody>
      </p:sp>
    </p:spTree>
    <p:extLst>
      <p:ext uri="{BB962C8B-B14F-4D97-AF65-F5344CB8AC3E}">
        <p14:creationId xmlns:p14="http://schemas.microsoft.com/office/powerpoint/2010/main" val="178821865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g3aabc9d920d_0_428"/>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11</a:t>
            </a:r>
            <a:r>
              <a:rPr lang="en-US" sz="27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.Analyses FFOM (1/4)</a:t>
            </a: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6" name="Google Shape;246;g3aabc9d920d_0_428"/>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7" name="Google Shape;247;g3aabc9d920d_0_428"/>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8" name="Google Shape;248;g3aabc9d920d_0_428"/>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28</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249" name="Google Shape;249;g3aabc9d920d_0_428"/>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50" name="Google Shape;250;g3aabc9d920d_0_428"/>
          <p:cNvGraphicFramePr/>
          <p:nvPr>
            <p:extLst>
              <p:ext uri="{D42A27DB-BD31-4B8C-83A1-F6EECF244321}">
                <p14:modId xmlns:p14="http://schemas.microsoft.com/office/powerpoint/2010/main" val="1628186275"/>
              </p:ext>
            </p:extLst>
          </p:nvPr>
        </p:nvGraphicFramePr>
        <p:xfrm>
          <a:off x="458586" y="1049652"/>
          <a:ext cx="11274925" cy="4665360"/>
        </p:xfrm>
        <a:graphic>
          <a:graphicData uri="http://schemas.openxmlformats.org/drawingml/2006/table">
            <a:tbl>
              <a:tblPr>
                <a:noFill/>
                <a:tableStyleId>{628BBFD1-A734-4757-B910-67CC1CD15934}</a:tableStyleId>
              </a:tblPr>
              <a:tblGrid>
                <a:gridCol w="790792">
                  <a:extLst>
                    <a:ext uri="{9D8B030D-6E8A-4147-A177-3AD203B41FA5}">
                      <a16:colId xmlns:a16="http://schemas.microsoft.com/office/drawing/2014/main" val="20000"/>
                    </a:ext>
                  </a:extLst>
                </a:gridCol>
                <a:gridCol w="3995458">
                  <a:extLst>
                    <a:ext uri="{9D8B030D-6E8A-4147-A177-3AD203B41FA5}">
                      <a16:colId xmlns:a16="http://schemas.microsoft.com/office/drawing/2014/main" val="20001"/>
                    </a:ext>
                  </a:extLst>
                </a:gridCol>
                <a:gridCol w="3790522">
                  <a:extLst>
                    <a:ext uri="{9D8B030D-6E8A-4147-A177-3AD203B41FA5}">
                      <a16:colId xmlns:a16="http://schemas.microsoft.com/office/drawing/2014/main" val="20002"/>
                    </a:ext>
                  </a:extLst>
                </a:gridCol>
                <a:gridCol w="1376127">
                  <a:extLst>
                    <a:ext uri="{9D8B030D-6E8A-4147-A177-3AD203B41FA5}">
                      <a16:colId xmlns:a16="http://schemas.microsoft.com/office/drawing/2014/main" val="20003"/>
                    </a:ext>
                  </a:extLst>
                </a:gridCol>
                <a:gridCol w="1322026">
                  <a:extLst>
                    <a:ext uri="{9D8B030D-6E8A-4147-A177-3AD203B41FA5}">
                      <a16:colId xmlns:a16="http://schemas.microsoft.com/office/drawing/2014/main" val="20004"/>
                    </a:ext>
                  </a:extLst>
                </a:gridCol>
              </a:tblGrid>
              <a:tr h="532425">
                <a:tc>
                  <a:txBody>
                    <a:bodyPr/>
                    <a:lstStyle/>
                    <a:p>
                      <a:pPr marL="0" marR="0" lvl="0" indent="0" algn="ctr" rtl="0">
                        <a:spcBef>
                          <a:spcPts val="0"/>
                        </a:spcBef>
                        <a:spcAft>
                          <a:spcPts val="0"/>
                        </a:spcAft>
                        <a:buNone/>
                      </a:pPr>
                      <a:r>
                        <a:rPr lang="en-US" sz="1800" b="1" i="0" u="none" strike="noStrike" cap="none"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Activités spécifiques</a:t>
                      </a:r>
                      <a:endParaRPr sz="1800" b="1" i="0" u="none" strike="noStrike" cap="none" dirty="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80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Forces</a:t>
                      </a:r>
                      <a:endParaRPr sz="180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80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Faiblesses</a:t>
                      </a:r>
                      <a:endParaRPr sz="180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80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Opportunités</a:t>
                      </a:r>
                      <a:endParaRPr sz="180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80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Menaces</a:t>
                      </a:r>
                      <a:endParaRPr sz="180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70C0"/>
                    </a:solidFill>
                  </a:tcPr>
                </a:tc>
                <a:extLst>
                  <a:ext uri="{0D108BD9-81ED-4DB2-BD59-A6C34878D82A}">
                    <a16:rowId xmlns:a16="http://schemas.microsoft.com/office/drawing/2014/main" val="10000"/>
                  </a:ext>
                </a:extLst>
              </a:tr>
              <a:tr h="501100">
                <a:tc rowSpan="4">
                  <a:txBody>
                    <a:bodyPr/>
                    <a:lstStyle/>
                    <a:p>
                      <a:pPr marL="0" marR="0" lvl="0" indent="0" algn="l" rtl="0">
                        <a:spcBef>
                          <a:spcPts val="0"/>
                        </a:spcBef>
                        <a:spcAft>
                          <a:spcPts val="0"/>
                        </a:spcAft>
                        <a:buNone/>
                      </a:pPr>
                      <a:r>
                        <a:rPr lang="en-US" sz="1600" i="1"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1. FAE</a:t>
                      </a:r>
                      <a:endParaRPr sz="1600" i="1"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D9D9"/>
                    </a:solidFill>
                  </a:tcPr>
                </a:tc>
                <a:tc>
                  <a:txBody>
                    <a:bodyPr/>
                    <a:lstStyle/>
                    <a:p>
                      <a:pPr algn="l" fontAlgn="t"/>
                      <a:r>
                        <a:rPr lang="fr-FR" sz="1200" b="0" i="0" u="none" strike="noStrike" dirty="0">
                          <a:solidFill>
                            <a:srgbClr val="000000"/>
                          </a:solidFill>
                          <a:effectLst/>
                          <a:latin typeface="Aptos Narrow"/>
                        </a:rPr>
                        <a:t>Organisation des activités de vaccination dans les structures sanitaires avec des horaires adaptés aux disponibilités des mères et les adolescentes (WE, jours fériés)</a:t>
                      </a:r>
                    </a:p>
                  </a:txBody>
                  <a:tcPr marL="6350" marR="6350" marT="635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algn="l" fontAlgn="t"/>
                      <a:r>
                        <a:rPr lang="fr-FR" sz="1200" b="0" i="0" u="none" strike="noStrike" dirty="0">
                          <a:solidFill>
                            <a:srgbClr val="000000"/>
                          </a:solidFill>
                          <a:effectLst/>
                          <a:latin typeface="Aptos Narrow"/>
                        </a:rPr>
                        <a:t>Non Organisation  des activités de vaccination à tout contact pour la réduction des occasions de vaccination manquées (OVM) au cours des activités curatives et préventives dans les Etablissements des soins</a:t>
                      </a:r>
                    </a:p>
                  </a:txBody>
                  <a:tcPr marL="6350" marR="6350" marT="635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dirty="0">
                          <a:solidFill>
                            <a:srgbClr val="000000"/>
                          </a:solidFill>
                          <a:effectLst/>
                          <a:latin typeface="Aptos Narrow"/>
                          <a:ea typeface="Arial" panose="020B0604020202020204"/>
                          <a:cs typeface="Arial" panose="020B0604020202020204"/>
                          <a:sym typeface="Times New Roman" panose="02020603050405020304"/>
                        </a:rPr>
                        <a:t> </a:t>
                      </a:r>
                      <a:r>
                        <a:rPr lang="en-US" sz="1200" b="0" i="0" u="none" strike="noStrike" cap="none" dirty="0" err="1" smtClean="0">
                          <a:solidFill>
                            <a:srgbClr val="000000"/>
                          </a:solidFill>
                          <a:effectLst/>
                          <a:latin typeface="Aptos Narrow"/>
                          <a:ea typeface="Arial" panose="020B0604020202020204"/>
                          <a:cs typeface="Arial" panose="020B0604020202020204"/>
                          <a:sym typeface="Times New Roman" panose="02020603050405020304"/>
                        </a:rPr>
                        <a:t>Organisation</a:t>
                      </a:r>
                      <a:r>
                        <a:rPr lang="en-US" sz="1200" b="0" i="0" u="none" strike="noStrike" cap="none" dirty="0" smtClean="0">
                          <a:solidFill>
                            <a:srgbClr val="000000"/>
                          </a:solidFill>
                          <a:effectLst/>
                          <a:latin typeface="Aptos Narrow"/>
                          <a:ea typeface="Arial" panose="020B0604020202020204"/>
                          <a:cs typeface="Arial" panose="020B0604020202020204"/>
                          <a:sym typeface="Times New Roman" panose="02020603050405020304"/>
                        </a:rPr>
                        <a:t> de </a:t>
                      </a:r>
                      <a:r>
                        <a:rPr lang="en-US" sz="1200" b="0" i="0" u="none" strike="noStrike" cap="none" dirty="0" err="1" smtClean="0">
                          <a:solidFill>
                            <a:srgbClr val="000000"/>
                          </a:solidFill>
                          <a:effectLst/>
                          <a:latin typeface="Aptos Narrow"/>
                          <a:ea typeface="Arial" panose="020B0604020202020204"/>
                          <a:cs typeface="Arial" panose="020B0604020202020204"/>
                          <a:sym typeface="Times New Roman" panose="02020603050405020304"/>
                        </a:rPr>
                        <a:t>trois</a:t>
                      </a:r>
                      <a:r>
                        <a:rPr lang="en-US" sz="1200" b="0" i="0" u="none" strike="noStrike" cap="none" dirty="0" smtClean="0">
                          <a:solidFill>
                            <a:srgbClr val="000000"/>
                          </a:solidFill>
                          <a:effectLst/>
                          <a:latin typeface="Aptos Narrow"/>
                          <a:ea typeface="Arial" panose="020B0604020202020204"/>
                          <a:cs typeface="Arial" panose="020B0604020202020204"/>
                          <a:sym typeface="Times New Roman" panose="02020603050405020304"/>
                        </a:rPr>
                        <a:t> passages </a:t>
                      </a:r>
                      <a:r>
                        <a:rPr lang="en-US" sz="1200" b="0" i="0" u="none" strike="noStrike" cap="none" dirty="0" err="1" smtClean="0">
                          <a:solidFill>
                            <a:srgbClr val="000000"/>
                          </a:solidFill>
                          <a:effectLst/>
                          <a:latin typeface="Aptos Narrow"/>
                          <a:ea typeface="Arial" panose="020B0604020202020204"/>
                          <a:cs typeface="Arial" panose="020B0604020202020204"/>
                          <a:sym typeface="Times New Roman" panose="02020603050405020304"/>
                        </a:rPr>
                        <a:t>d’IPVS</a:t>
                      </a:r>
                      <a:endParaRPr sz="1200" b="0" i="0" u="none" strike="noStrike" cap="none" dirty="0">
                        <a:solidFill>
                          <a:srgbClr val="000000"/>
                        </a:solidFill>
                        <a:effectLst/>
                        <a:latin typeface="Aptos Narrow"/>
                        <a:ea typeface="Arial" panose="020B0604020202020204"/>
                        <a:cs typeface="Arial" panose="020B0604020202020204"/>
                        <a:sym typeface="Times New Roman" panose="02020603050405020304"/>
                      </a:endParaRPr>
                    </a:p>
                  </a:txBody>
                  <a:tcPr marL="7000" marR="7000" marT="7000" marB="0">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fr-FR" sz="1200" b="0" i="0" u="none" strike="noStrike" cap="none" dirty="0" smtClean="0">
                          <a:solidFill>
                            <a:srgbClr val="000000"/>
                          </a:solidFill>
                          <a:effectLst/>
                          <a:latin typeface="Aptos Narrow"/>
                          <a:ea typeface="Arial" panose="020B0604020202020204"/>
                          <a:cs typeface="Arial" panose="020B0604020202020204"/>
                          <a:sym typeface="Times New Roman" panose="02020603050405020304"/>
                        </a:rPr>
                        <a:t>La fin du projet FAE</a:t>
                      </a:r>
                      <a:endParaRPr sz="1200" b="0" i="0" u="none" strike="noStrike" cap="none" dirty="0">
                        <a:solidFill>
                          <a:srgbClr val="000000"/>
                        </a:solidFill>
                        <a:effectLst/>
                        <a:latin typeface="Aptos Narrow"/>
                        <a:ea typeface="Arial" panose="020B0604020202020204"/>
                        <a:cs typeface="Arial" panose="020B0604020202020204"/>
                        <a:sym typeface="Times New Roman" panose="020206030504050203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01100">
                <a:tc vMerge="1">
                  <a:txBody>
                    <a:bodyPr/>
                    <a:lstStyle/>
                    <a:p>
                      <a:endParaRPr lang="fr-FR"/>
                    </a:p>
                  </a:txBody>
                  <a:tcPr/>
                </a:tc>
                <a:tc>
                  <a:txBody>
                    <a:bodyPr/>
                    <a:lstStyle/>
                    <a:p>
                      <a:pPr algn="l" fontAlgn="t"/>
                      <a:r>
                        <a:rPr lang="fr-FR" sz="1200" b="0" i="0" u="none" strike="noStrike" dirty="0">
                          <a:solidFill>
                            <a:srgbClr val="000000"/>
                          </a:solidFill>
                          <a:effectLst/>
                          <a:latin typeface="Aptos Narrow"/>
                        </a:rPr>
                        <a:t>Organisation des stratégies avancées de vaccination selon la cartographie des EZD du CS dans les sites éloignés à forte concentration ZD (mise en place de l'approche fluviale et transfrontalière, corridor de mobilité, réalisation des séances en avancée en utilisant du matériel garantissant la qualité du vaccin pour des longues distances tel que indigo)</a:t>
                      </a:r>
                    </a:p>
                  </a:txBody>
                  <a:tcPr marL="6350" marR="6350" marT="635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algn="l" fontAlgn="t"/>
                      <a:r>
                        <a:rPr lang="fr-FR" sz="1200" b="0" i="0" u="none" strike="noStrike" dirty="0">
                          <a:solidFill>
                            <a:schemeClr val="tx1"/>
                          </a:solidFill>
                          <a:effectLst/>
                          <a:latin typeface="Aptos Narrow"/>
                        </a:rPr>
                        <a:t>Faible Organisation des supervisions mensuelles des aires de santé à forte concentration d’EZD à l’aide des outils NTIC et évaluer le nombre d’EZD atteints en chiffre absolu selon leur âge et leur sexe.</a:t>
                      </a:r>
                    </a:p>
                  </a:txBody>
                  <a:tcPr marL="6350" marR="6350" marT="635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dirty="0">
                          <a:solidFill>
                            <a:srgbClr val="000000"/>
                          </a:solidFill>
                          <a:effectLst/>
                          <a:latin typeface="Aptos Narrow"/>
                          <a:ea typeface="Arial" panose="020B0604020202020204"/>
                          <a:cs typeface="Arial" panose="020B0604020202020204"/>
                          <a:sym typeface="Times New Roman" panose="02020603050405020304"/>
                        </a:rPr>
                        <a:t> </a:t>
                      </a:r>
                      <a:r>
                        <a:rPr lang="fr-FR" sz="1200" b="0" i="0" u="none" strike="noStrike" cap="none" dirty="0" smtClean="0">
                          <a:solidFill>
                            <a:srgbClr val="000000"/>
                          </a:solidFill>
                          <a:effectLst/>
                          <a:latin typeface="Aptos Narrow"/>
                          <a:ea typeface="Arial" panose="020B0604020202020204"/>
                          <a:cs typeface="Arial" panose="020B0604020202020204"/>
                          <a:sym typeface="Times New Roman" panose="02020603050405020304"/>
                        </a:rPr>
                        <a:t>La récupération des EZD et SV pendant les JNV</a:t>
                      </a:r>
                      <a:endParaRPr sz="1200" b="0" i="0" u="none" strike="noStrike" cap="none" dirty="0">
                        <a:solidFill>
                          <a:srgbClr val="000000"/>
                        </a:solidFill>
                        <a:effectLst/>
                        <a:latin typeface="Aptos Narrow"/>
                        <a:ea typeface="Arial" panose="020B0604020202020204"/>
                        <a:cs typeface="Arial" panose="020B0604020202020204"/>
                        <a:sym typeface="Times New Roman" panose="02020603050405020304"/>
                      </a:endParaRPr>
                    </a:p>
                  </a:txBody>
                  <a:tcPr marL="7000" marR="7000" marT="7000" marB="0">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sz="1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01100">
                <a:tc vMerge="1">
                  <a:txBody>
                    <a:bodyPr/>
                    <a:lstStyle/>
                    <a:p>
                      <a:endParaRPr lang="fr-FR"/>
                    </a:p>
                  </a:txBody>
                  <a:tcPr/>
                </a:tc>
                <a:tc>
                  <a:txBody>
                    <a:bodyPr/>
                    <a:lstStyle/>
                    <a:p>
                      <a:pPr algn="l" fontAlgn="t"/>
                      <a:r>
                        <a:rPr lang="fr-FR" sz="1200" b="0" i="0" u="none" strike="noStrike" dirty="0">
                          <a:solidFill>
                            <a:srgbClr val="000000"/>
                          </a:solidFill>
                          <a:effectLst/>
                          <a:latin typeface="Aptos Narrow"/>
                        </a:rPr>
                        <a:t>Organisation des activités de vaccination dans les points de concentration (marchés fréquentés par les femmes et les adolescentes, carrefours, ports, rassemblements ponctuels des femmes ayant des enfants de moins de 5 ans dans les églises…)</a:t>
                      </a:r>
                    </a:p>
                  </a:txBody>
                  <a:tcPr marL="6350" marR="6350" marT="635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tcPr>
                </a:tc>
                <a:tc>
                  <a:txBody>
                    <a:bodyPr/>
                    <a:lstStyle/>
                    <a:p>
                      <a:pPr algn="l" fontAlgn="b"/>
                      <a:r>
                        <a:rPr lang="fr-FR" sz="1200" b="0" i="0" u="none" strike="noStrike" dirty="0">
                          <a:solidFill>
                            <a:schemeClr val="tx1"/>
                          </a:solidFill>
                          <a:effectLst/>
                          <a:latin typeface="Aptos Narrow"/>
                        </a:rPr>
                        <a:t> </a:t>
                      </a: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sz="160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sz="160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01100">
                <a:tc vMerge="1">
                  <a:txBody>
                    <a:bodyPr/>
                    <a:lstStyle/>
                    <a:p>
                      <a:endParaRPr lang="fr-FR"/>
                    </a:p>
                  </a:txBody>
                  <a:tcPr/>
                </a:tc>
                <a:tc>
                  <a:txBody>
                    <a:bodyPr/>
                    <a:lstStyle/>
                    <a:p>
                      <a:pPr algn="l" fontAlgn="t"/>
                      <a:r>
                        <a:rPr lang="fr-FR" sz="1600" b="0" i="0" u="none" strike="noStrike" dirty="0">
                          <a:solidFill>
                            <a:srgbClr val="000000"/>
                          </a:solidFill>
                          <a:effectLst/>
                          <a:latin typeface="Aptos Narrow"/>
                        </a:rPr>
                        <a:t> </a:t>
                      </a:r>
                      <a:r>
                        <a:rPr lang="fr-FR" sz="1200" b="0" i="0" u="none" strike="noStrike" cap="none" dirty="0">
                          <a:solidFill>
                            <a:srgbClr val="000000"/>
                          </a:solidFill>
                          <a:effectLst/>
                          <a:latin typeface="Aptos Narrow"/>
                          <a:ea typeface="Arial" panose="020B0604020202020204"/>
                          <a:cs typeface="Arial" panose="020B0604020202020204"/>
                          <a:sym typeface="Arial" panose="020B0604020202020204"/>
                        </a:rPr>
                        <a:t>Identification des besoins en formation sur la Gestion PEV, le genre et l'équité avec un focus sur l'identification et la vaccination des enfants ZD</a:t>
                      </a:r>
                    </a:p>
                  </a:txBody>
                  <a:tcPr marL="6350" marR="6350" marT="635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algn="l" fontAlgn="t"/>
                      <a:r>
                        <a:rPr lang="fr-FR" sz="1200" b="0" i="0" u="none" strike="noStrike" cap="none" dirty="0" smtClean="0">
                          <a:solidFill>
                            <a:schemeClr val="tx1"/>
                          </a:solidFill>
                          <a:effectLst/>
                          <a:latin typeface="Aptos Narrow"/>
                          <a:ea typeface="Arial" panose="020B0604020202020204"/>
                          <a:cs typeface="Arial" panose="020B0604020202020204"/>
                          <a:sym typeface="Arial" panose="020B0604020202020204"/>
                        </a:rPr>
                        <a:t>Plus de 90% des prestataires non formés  </a:t>
                      </a:r>
                      <a:r>
                        <a:rPr lang="fr-FR" sz="1200" b="0" i="0" u="none" strike="noStrike" cap="none" dirty="0">
                          <a:solidFill>
                            <a:schemeClr val="tx1"/>
                          </a:solidFill>
                          <a:effectLst/>
                          <a:latin typeface="Aptos Narrow"/>
                          <a:ea typeface="Arial" panose="020B0604020202020204"/>
                          <a:cs typeface="Arial" panose="020B0604020202020204"/>
                          <a:sym typeface="Arial" panose="020B0604020202020204"/>
                        </a:rPr>
                        <a:t>en Gestion PEV plus stratégies de vaccination, Genre et Equité à l'aide des supports vidéo organisée</a:t>
                      </a:r>
                    </a:p>
                  </a:txBody>
                  <a:tcPr marL="6350" marR="6350" marT="635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sz="160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sz="160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g3aabc9d920d_0_428"/>
          <p:cNvSpPr txBox="1"/>
          <p:nvPr/>
        </p:nvSpPr>
        <p:spPr>
          <a:xfrm>
            <a:off x="458592" y="299280"/>
            <a:ext cx="11274900" cy="731700"/>
          </a:xfrm>
          <a:prstGeom prst="rect">
            <a:avLst/>
          </a:prstGeom>
          <a:noFill/>
          <a:ln>
            <a:noFill/>
          </a:ln>
        </p:spPr>
        <p:txBody>
          <a:bodyPr spcFirstLastPara="1" wrap="square" lIns="0" tIns="0" rIns="0" bIns="0" anchor="t" anchorCtr="0">
            <a:noAutofit/>
          </a:bodyPr>
          <a:lstStyle/>
          <a:p>
            <a:pPr>
              <a:buClr>
                <a:schemeClr val="dk1"/>
              </a:buClr>
              <a:buSzPts val="1500"/>
            </a:pPr>
            <a:r>
              <a:rPr lang="en-US" sz="27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11</a:t>
            </a:r>
            <a:r>
              <a:rPr lang="en-US" sz="27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 Analyses</a:t>
            </a:r>
            <a:r>
              <a:rPr lang="en-US" sz="27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FFOM </a:t>
            </a:r>
            <a:r>
              <a:rPr lang="en-US" sz="27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(2/4</a:t>
            </a:r>
            <a:r>
              <a:rPr lang="en-US"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a:t>
            </a: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6" name="Google Shape;246;g3aabc9d920d_0_428"/>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7" name="Google Shape;247;g3aabc9d920d_0_428"/>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8" name="Google Shape;248;g3aabc9d920d_0_428"/>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29</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249" name="Google Shape;249;g3aabc9d920d_0_428"/>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50" name="Google Shape;250;g3aabc9d920d_0_428"/>
          <p:cNvGraphicFramePr/>
          <p:nvPr>
            <p:extLst>
              <p:ext uri="{D42A27DB-BD31-4B8C-83A1-F6EECF244321}">
                <p14:modId xmlns:p14="http://schemas.microsoft.com/office/powerpoint/2010/main" val="3759543456"/>
              </p:ext>
            </p:extLst>
          </p:nvPr>
        </p:nvGraphicFramePr>
        <p:xfrm>
          <a:off x="362857" y="812799"/>
          <a:ext cx="11370661" cy="5341258"/>
        </p:xfrm>
        <a:graphic>
          <a:graphicData uri="http://schemas.openxmlformats.org/drawingml/2006/table">
            <a:tbl>
              <a:tblPr>
                <a:tableStyleId>{2D5ABB26-0587-4C30-8999-92F81FD0307C}</a:tableStyleId>
              </a:tblPr>
              <a:tblGrid>
                <a:gridCol w="1208366">
                  <a:extLst>
                    <a:ext uri="{9D8B030D-6E8A-4147-A177-3AD203B41FA5}">
                      <a16:colId xmlns:a16="http://schemas.microsoft.com/office/drawing/2014/main" val="20000"/>
                    </a:ext>
                  </a:extLst>
                </a:gridCol>
                <a:gridCol w="4336917">
                  <a:extLst>
                    <a:ext uri="{9D8B030D-6E8A-4147-A177-3AD203B41FA5}">
                      <a16:colId xmlns:a16="http://schemas.microsoft.com/office/drawing/2014/main" val="20001"/>
                    </a:ext>
                  </a:extLst>
                </a:gridCol>
                <a:gridCol w="3433001">
                  <a:extLst>
                    <a:ext uri="{9D8B030D-6E8A-4147-A177-3AD203B41FA5}">
                      <a16:colId xmlns:a16="http://schemas.microsoft.com/office/drawing/2014/main" val="20002"/>
                    </a:ext>
                  </a:extLst>
                </a:gridCol>
                <a:gridCol w="1086511">
                  <a:extLst>
                    <a:ext uri="{9D8B030D-6E8A-4147-A177-3AD203B41FA5}">
                      <a16:colId xmlns:a16="http://schemas.microsoft.com/office/drawing/2014/main" val="20003"/>
                    </a:ext>
                  </a:extLst>
                </a:gridCol>
                <a:gridCol w="1305866">
                  <a:extLst>
                    <a:ext uri="{9D8B030D-6E8A-4147-A177-3AD203B41FA5}">
                      <a16:colId xmlns:a16="http://schemas.microsoft.com/office/drawing/2014/main" val="20004"/>
                    </a:ext>
                  </a:extLst>
                </a:gridCol>
              </a:tblGrid>
              <a:tr h="642129">
                <a:tc>
                  <a:txBody>
                    <a:bodyPr/>
                    <a:lstStyle/>
                    <a:p>
                      <a:pPr marL="0" marR="0" lvl="0" indent="0" algn="l" rtl="0">
                        <a:spcBef>
                          <a:spcPts val="0"/>
                        </a:spcBef>
                        <a:spcAft>
                          <a:spcPts val="0"/>
                        </a:spcAft>
                        <a:buNone/>
                      </a:pPr>
                      <a:r>
                        <a:rPr lang="en-US" sz="2000" b="1" u="none" strike="noStrike" cap="none" dirty="0">
                          <a:latin typeface="Arial Narrow" panose="020B0606020202030204" pitchFamily="34" charset="0"/>
                          <a:sym typeface="Times New Roman" panose="02020603050405020304"/>
                        </a:rPr>
                        <a:t>Activités spécifiques</a:t>
                      </a:r>
                      <a:endParaRPr sz="2000" b="1" i="0" u="none" strike="noStrike" cap="none" dirty="0">
                        <a:solidFill>
                          <a:srgbClr val="FFFFFF"/>
                        </a:solidFill>
                        <a:latin typeface="Arial Narrow" panose="020B0606020202030204" pitchFamily="34" charset="0"/>
                        <a:ea typeface="Times New Roman" panose="02020603050405020304"/>
                        <a:cs typeface="Times New Roman" panose="02020603050405020304"/>
                        <a:sym typeface="Times New Roman" panose="02020603050405020304"/>
                      </a:endParaRPr>
                    </a:p>
                  </a:txBody>
                  <a:tcPr marL="7000" marR="7000" marT="7000" marB="0" anchor="ctr">
                    <a:solidFill>
                      <a:schemeClr val="accent5">
                        <a:lumMod val="60000"/>
                        <a:lumOff val="40000"/>
                      </a:schemeClr>
                    </a:solidFill>
                  </a:tcPr>
                </a:tc>
                <a:tc>
                  <a:txBody>
                    <a:bodyPr/>
                    <a:lstStyle/>
                    <a:p>
                      <a:pPr marL="0" marR="0" lvl="0" indent="0" algn="l" rtl="0">
                        <a:spcBef>
                          <a:spcPts val="0"/>
                        </a:spcBef>
                        <a:spcAft>
                          <a:spcPts val="0"/>
                        </a:spcAft>
                        <a:buNone/>
                      </a:pPr>
                      <a:r>
                        <a:rPr lang="en-US" sz="2000" b="1" u="none" strike="noStrike" cap="none">
                          <a:latin typeface="Arial Narrow" panose="020B0606020202030204" pitchFamily="34" charset="0"/>
                          <a:sym typeface="Times New Roman" panose="02020603050405020304"/>
                        </a:rPr>
                        <a:t>Forces</a:t>
                      </a:r>
                      <a:endParaRPr sz="2000" b="1" i="0" u="none" strike="noStrike" cap="none">
                        <a:solidFill>
                          <a:srgbClr val="FFFFFF"/>
                        </a:solidFill>
                        <a:latin typeface="Arial Narrow" panose="020B0606020202030204" pitchFamily="34" charset="0"/>
                        <a:ea typeface="Times New Roman" panose="02020603050405020304"/>
                        <a:cs typeface="Times New Roman" panose="02020603050405020304"/>
                        <a:sym typeface="Times New Roman" panose="02020603050405020304"/>
                      </a:endParaRPr>
                    </a:p>
                  </a:txBody>
                  <a:tcPr marL="7000" marR="7000" marT="7000" marB="0" anchor="ctr">
                    <a:solidFill>
                      <a:schemeClr val="accent5">
                        <a:lumMod val="60000"/>
                        <a:lumOff val="40000"/>
                      </a:schemeClr>
                    </a:solidFill>
                  </a:tcPr>
                </a:tc>
                <a:tc>
                  <a:txBody>
                    <a:bodyPr/>
                    <a:lstStyle/>
                    <a:p>
                      <a:pPr marL="0" marR="0" lvl="0" indent="0" algn="l" rtl="0">
                        <a:spcBef>
                          <a:spcPts val="0"/>
                        </a:spcBef>
                        <a:spcAft>
                          <a:spcPts val="0"/>
                        </a:spcAft>
                        <a:buNone/>
                      </a:pPr>
                      <a:r>
                        <a:rPr lang="en-US" sz="2000" b="1" u="none" strike="noStrike" cap="none">
                          <a:latin typeface="Arial Narrow" panose="020B0606020202030204" pitchFamily="34" charset="0"/>
                          <a:sym typeface="Times New Roman" panose="02020603050405020304"/>
                        </a:rPr>
                        <a:t>Faiblesses</a:t>
                      </a:r>
                      <a:endParaRPr sz="2000" b="1" i="0" u="none" strike="noStrike" cap="none">
                        <a:solidFill>
                          <a:srgbClr val="FFFFFF"/>
                        </a:solidFill>
                        <a:latin typeface="Arial Narrow" panose="020B0606020202030204" pitchFamily="34" charset="0"/>
                        <a:ea typeface="Times New Roman" panose="02020603050405020304"/>
                        <a:cs typeface="Times New Roman" panose="02020603050405020304"/>
                        <a:sym typeface="Times New Roman" panose="02020603050405020304"/>
                      </a:endParaRPr>
                    </a:p>
                  </a:txBody>
                  <a:tcPr marL="7000" marR="7000" marT="7000" marB="0" anchor="ctr">
                    <a:solidFill>
                      <a:schemeClr val="accent5">
                        <a:lumMod val="60000"/>
                        <a:lumOff val="40000"/>
                      </a:schemeClr>
                    </a:solidFill>
                  </a:tcPr>
                </a:tc>
                <a:tc>
                  <a:txBody>
                    <a:bodyPr/>
                    <a:lstStyle/>
                    <a:p>
                      <a:pPr marL="0" marR="0" lvl="0" indent="0" algn="l" rtl="0">
                        <a:spcBef>
                          <a:spcPts val="0"/>
                        </a:spcBef>
                        <a:spcAft>
                          <a:spcPts val="0"/>
                        </a:spcAft>
                        <a:buNone/>
                      </a:pPr>
                      <a:r>
                        <a:rPr lang="en-US" sz="2000" b="1" u="none" strike="noStrike" cap="none">
                          <a:latin typeface="Arial Narrow" panose="020B0606020202030204" pitchFamily="34" charset="0"/>
                          <a:sym typeface="Times New Roman" panose="02020603050405020304"/>
                        </a:rPr>
                        <a:t>Opportunités</a:t>
                      </a:r>
                      <a:endParaRPr sz="2000" b="1" i="0" u="none" strike="noStrike" cap="none">
                        <a:solidFill>
                          <a:srgbClr val="FFFFFF"/>
                        </a:solidFill>
                        <a:latin typeface="Arial Narrow" panose="020B0606020202030204" pitchFamily="34" charset="0"/>
                        <a:ea typeface="Times New Roman" panose="02020603050405020304"/>
                        <a:cs typeface="Times New Roman" panose="02020603050405020304"/>
                        <a:sym typeface="Times New Roman" panose="02020603050405020304"/>
                      </a:endParaRPr>
                    </a:p>
                  </a:txBody>
                  <a:tcPr marL="7000" marR="7000" marT="7000" marB="0" anchor="ctr">
                    <a:solidFill>
                      <a:schemeClr val="accent5">
                        <a:lumMod val="60000"/>
                        <a:lumOff val="40000"/>
                      </a:schemeClr>
                    </a:solidFill>
                  </a:tcPr>
                </a:tc>
                <a:tc>
                  <a:txBody>
                    <a:bodyPr/>
                    <a:lstStyle/>
                    <a:p>
                      <a:pPr marL="0" marR="0" lvl="0" indent="0" algn="l" rtl="0">
                        <a:spcBef>
                          <a:spcPts val="0"/>
                        </a:spcBef>
                        <a:spcAft>
                          <a:spcPts val="0"/>
                        </a:spcAft>
                        <a:buNone/>
                      </a:pPr>
                      <a:r>
                        <a:rPr lang="en-US" sz="2000" b="1" u="none" strike="noStrike" cap="none" dirty="0">
                          <a:latin typeface="Arial Narrow" panose="020B0606020202030204" pitchFamily="34" charset="0"/>
                          <a:sym typeface="Times New Roman" panose="02020603050405020304"/>
                        </a:rPr>
                        <a:t>Menaces</a:t>
                      </a:r>
                      <a:endParaRPr sz="2000" b="1" i="0" u="none" strike="noStrike" cap="none" dirty="0">
                        <a:solidFill>
                          <a:srgbClr val="FFFFFF"/>
                        </a:solidFill>
                        <a:latin typeface="Arial Narrow" panose="020B0606020202030204" pitchFamily="34" charset="0"/>
                        <a:ea typeface="Times New Roman" panose="02020603050405020304"/>
                        <a:cs typeface="Times New Roman" panose="02020603050405020304"/>
                        <a:sym typeface="Times New Roman" panose="02020603050405020304"/>
                      </a:endParaRPr>
                    </a:p>
                  </a:txBody>
                  <a:tcPr marL="7000" marR="7000" marT="7000" marB="0" anchor="ctr">
                    <a:solidFill>
                      <a:schemeClr val="accent5">
                        <a:lumMod val="60000"/>
                        <a:lumOff val="40000"/>
                      </a:schemeClr>
                    </a:solidFill>
                  </a:tcPr>
                </a:tc>
                <a:extLst>
                  <a:ext uri="{0D108BD9-81ED-4DB2-BD59-A6C34878D82A}">
                    <a16:rowId xmlns:a16="http://schemas.microsoft.com/office/drawing/2014/main" val="10000"/>
                  </a:ext>
                </a:extLst>
              </a:tr>
              <a:tr h="1117581">
                <a:tc rowSpan="5">
                  <a:txBody>
                    <a:bodyPr/>
                    <a:lstStyle/>
                    <a:p>
                      <a:pPr marL="0" marR="0" lvl="0" indent="0" algn="l" rtl="0">
                        <a:spcBef>
                          <a:spcPts val="0"/>
                        </a:spcBef>
                        <a:spcAft>
                          <a:spcPts val="0"/>
                        </a:spcAft>
                        <a:buNone/>
                      </a:pPr>
                      <a:r>
                        <a:rPr lang="en-US" sz="1800" u="none" strike="noStrike" cap="none" dirty="0">
                          <a:latin typeface="Arial Narrow" panose="020B0606020202030204" pitchFamily="34" charset="0"/>
                          <a:sym typeface="Times New Roman" panose="02020603050405020304"/>
                        </a:rPr>
                        <a:t>1. FAE</a:t>
                      </a:r>
                      <a:endParaRPr sz="1800" i="1" u="none" strike="noStrike" cap="none" dirty="0">
                        <a:solidFill>
                          <a:srgbClr val="000000"/>
                        </a:solidFill>
                        <a:latin typeface="Arial Narrow" panose="020B0606020202030204" pitchFamily="34" charset="0"/>
                        <a:ea typeface="Times New Roman" panose="02020603050405020304"/>
                        <a:cs typeface="Times New Roman" panose="02020603050405020304"/>
                        <a:sym typeface="Times New Roman" panose="02020603050405020304"/>
                      </a:endParaRPr>
                    </a:p>
                  </a:txBody>
                  <a:tcPr marL="7000" marR="7000" marT="7000" marB="0">
                    <a:solidFill>
                      <a:schemeClr val="bg1">
                        <a:lumMod val="85000"/>
                      </a:schemeClr>
                    </a:solidFill>
                  </a:tcPr>
                </a:tc>
                <a:tc>
                  <a:txBody>
                    <a:bodyPr/>
                    <a:lstStyle/>
                    <a:p>
                      <a:pPr algn="l" fontAlgn="t"/>
                      <a:r>
                        <a:rPr lang="fr-FR" sz="1400" u="none" strike="noStrike" dirty="0">
                          <a:effectLst/>
                          <a:latin typeface="Arial Narrow" panose="020B0606020202030204" pitchFamily="34" charset="0"/>
                        </a:rPr>
                        <a:t> Distribution directe des vaccins et autres intrants de vaccination dans les aires de santé à accès difficile selon l'approche de la nouvelle Génération de la Chaine d’Approvisionnement (NGCA) à un rythme trimestriel (au niveau des points de transit et/ou aires de santé spécifique)</a:t>
                      </a:r>
                      <a:endParaRPr lang="fr-FR" sz="1400" b="0" i="0" u="none" strike="noStrike" dirty="0">
                        <a:solidFill>
                          <a:srgbClr val="000000"/>
                        </a:solidFill>
                        <a:effectLst/>
                        <a:latin typeface="Arial Narrow" panose="020B0606020202030204" pitchFamily="34" charset="0"/>
                      </a:endParaRPr>
                    </a:p>
                  </a:txBody>
                  <a:tcPr marL="6350" marR="6350" marT="6350" marB="0"/>
                </a:tc>
                <a:tc>
                  <a:txBody>
                    <a:bodyPr/>
                    <a:lstStyle/>
                    <a:p>
                      <a:pPr algn="l" fontAlgn="t"/>
                      <a:r>
                        <a:rPr lang="fr-FR" sz="1400" u="none" strike="noStrike" dirty="0">
                          <a:effectLst/>
                          <a:latin typeface="Arial Narrow" panose="020B0606020202030204" pitchFamily="34" charset="0"/>
                        </a:rPr>
                        <a:t>Manque des moyens de transport et le carburant autour des </a:t>
                      </a:r>
                      <a:r>
                        <a:rPr lang="fr-FR" sz="1400" u="none" strike="noStrike" dirty="0" smtClean="0">
                          <a:effectLst/>
                          <a:latin typeface="Arial Narrow" panose="020B0606020202030204" pitchFamily="34" charset="0"/>
                        </a:rPr>
                        <a:t>ESS </a:t>
                      </a:r>
                      <a:r>
                        <a:rPr lang="fr-FR" sz="1400" u="none" strike="noStrike" dirty="0">
                          <a:effectLst/>
                          <a:latin typeface="Arial Narrow" panose="020B0606020202030204" pitchFamily="34" charset="0"/>
                        </a:rPr>
                        <a:t>pour la vaccination des EZD vivant au-delà de 5 Km des </a:t>
                      </a:r>
                      <a:r>
                        <a:rPr lang="fr-FR" sz="1400" u="none" strike="noStrike" dirty="0" smtClean="0">
                          <a:effectLst/>
                          <a:latin typeface="Arial Narrow" panose="020B0606020202030204" pitchFamily="34" charset="0"/>
                        </a:rPr>
                        <a:t>ESS</a:t>
                      </a:r>
                      <a:endParaRPr lang="fr-FR" sz="1400" b="0" i="0" u="none" strike="noStrike" dirty="0">
                        <a:solidFill>
                          <a:srgbClr val="000000"/>
                        </a:solidFill>
                        <a:effectLst/>
                        <a:latin typeface="Arial Narrow" panose="020B0606020202030204" pitchFamily="34" charset="0"/>
                      </a:endParaRPr>
                    </a:p>
                  </a:txBody>
                  <a:tcPr marL="6350" marR="6350" marT="6350" marB="0"/>
                </a:tc>
                <a:tc>
                  <a:txBody>
                    <a:bodyPr/>
                    <a:lstStyle/>
                    <a:p>
                      <a:pPr marL="0" marR="0" lvl="0" indent="0" algn="l" rtl="0">
                        <a:spcBef>
                          <a:spcPts val="0"/>
                        </a:spcBef>
                        <a:spcAft>
                          <a:spcPts val="0"/>
                        </a:spcAft>
                        <a:buNone/>
                      </a:pPr>
                      <a:r>
                        <a:rPr lang="en-US" sz="1800" u="none" strike="noStrike" cap="none">
                          <a:latin typeface="Arial Narrow" panose="020B0606020202030204" pitchFamily="34" charset="0"/>
                          <a:sym typeface="Times New Roman" panose="02020603050405020304"/>
                        </a:rPr>
                        <a:t> </a:t>
                      </a:r>
                      <a:endParaRPr sz="1800" b="1" i="0" u="none" strike="noStrike" cap="none">
                        <a:solidFill>
                          <a:srgbClr val="000000"/>
                        </a:solidFill>
                        <a:latin typeface="Arial Narrow" panose="020B0606020202030204" pitchFamily="34" charset="0"/>
                        <a:ea typeface="Times New Roman" panose="02020603050405020304"/>
                        <a:cs typeface="Times New Roman" panose="02020603050405020304"/>
                        <a:sym typeface="Times New Roman" panose="02020603050405020304"/>
                      </a:endParaRPr>
                    </a:p>
                  </a:txBody>
                  <a:tcPr marL="7000" marR="7000" marT="7000" marB="0"/>
                </a:tc>
                <a:tc>
                  <a:txBody>
                    <a:bodyPr/>
                    <a:lstStyle/>
                    <a:p>
                      <a:pPr marL="0" marR="0" lvl="0" indent="0" algn="l" rtl="0">
                        <a:spcBef>
                          <a:spcPts val="0"/>
                        </a:spcBef>
                        <a:spcAft>
                          <a:spcPts val="0"/>
                        </a:spcAft>
                        <a:buNone/>
                      </a:pPr>
                      <a:r>
                        <a:rPr lang="en-US" sz="1400" u="none" strike="noStrike" cap="none" dirty="0">
                          <a:effectLst/>
                          <a:latin typeface="Arial Narrow" panose="020B0606020202030204" pitchFamily="34" charset="0"/>
                          <a:sym typeface="Times New Roman" panose="02020603050405020304"/>
                        </a:rPr>
                        <a:t> </a:t>
                      </a:r>
                      <a:r>
                        <a:rPr lang="en-US" sz="1400" u="none" strike="noStrike" cap="none" dirty="0" smtClean="0">
                          <a:effectLst/>
                          <a:latin typeface="Arial Narrow" panose="020B0606020202030204" pitchFamily="34" charset="0"/>
                          <a:sym typeface="Times New Roman" panose="02020603050405020304"/>
                        </a:rPr>
                        <a:t>la non integration des 7/18ZS dans le projet FAE</a:t>
                      </a:r>
                      <a:endParaRPr sz="1400" b="0" i="0" u="none" strike="noStrike" cap="none" dirty="0">
                        <a:solidFill>
                          <a:srgbClr val="000000"/>
                        </a:solidFill>
                        <a:effectLst/>
                        <a:latin typeface="Arial Narrow" panose="020B0606020202030204" pitchFamily="34" charset="0"/>
                        <a:ea typeface="Arial" panose="020B0604020202020204"/>
                        <a:cs typeface="Arial" panose="020B0604020202020204"/>
                        <a:sym typeface="Times New Roman" panose="02020603050405020304"/>
                      </a:endParaRPr>
                    </a:p>
                  </a:txBody>
                  <a:tcPr marL="7000" marR="7000" marT="7000" marB="0"/>
                </a:tc>
                <a:extLst>
                  <a:ext uri="{0D108BD9-81ED-4DB2-BD59-A6C34878D82A}">
                    <a16:rowId xmlns:a16="http://schemas.microsoft.com/office/drawing/2014/main" val="10001"/>
                  </a:ext>
                </a:extLst>
              </a:tr>
              <a:tr h="895387">
                <a:tc vMerge="1">
                  <a:txBody>
                    <a:bodyPr/>
                    <a:lstStyle/>
                    <a:p>
                      <a:endParaRPr lang="fr-FR"/>
                    </a:p>
                  </a:txBody>
                  <a:tcPr/>
                </a:tc>
                <a:tc>
                  <a:txBody>
                    <a:bodyPr/>
                    <a:lstStyle/>
                    <a:p>
                      <a:pPr algn="l" fontAlgn="t"/>
                      <a:r>
                        <a:rPr lang="fr-FR" sz="1400" u="none" strike="noStrike" dirty="0">
                          <a:effectLst/>
                          <a:latin typeface="Arial Narrow" panose="020B0606020202030204" pitchFamily="34" charset="0"/>
                        </a:rPr>
                        <a:t>Organisation des réunions trimestrielles provinciales de suivi des activités EZD (logistiques, indicateurs, managériales etc</a:t>
                      </a:r>
                      <a:r>
                        <a:rPr lang="fr-FR" sz="1400" u="none" strike="noStrike" dirty="0" smtClean="0">
                          <a:effectLst/>
                          <a:latin typeface="Arial Narrow" panose="020B0606020202030204" pitchFamily="34" charset="0"/>
                        </a:rPr>
                        <a:t>.)</a:t>
                      </a:r>
                    </a:p>
                    <a:p>
                      <a:pPr algn="l" fontAlgn="t"/>
                      <a:r>
                        <a:rPr lang="fr-FR" sz="1400" b="0" i="0" u="none" strike="noStrike" dirty="0" smtClean="0">
                          <a:solidFill>
                            <a:srgbClr val="000000"/>
                          </a:solidFill>
                          <a:effectLst/>
                          <a:latin typeface="Arial Narrow" panose="020B0606020202030204" pitchFamily="34" charset="0"/>
                        </a:rPr>
                        <a:t>Récupération grâce au FAE et IPVS de 87% d’EZD et 86% d’ESV</a:t>
                      </a:r>
                      <a:endParaRPr lang="fr-FR" sz="1400" b="0" i="0" u="none" strike="noStrike" dirty="0">
                        <a:solidFill>
                          <a:srgbClr val="000000"/>
                        </a:solidFill>
                        <a:effectLst/>
                        <a:latin typeface="Arial Narrow" panose="020B0606020202030204" pitchFamily="34" charset="0"/>
                      </a:endParaRPr>
                    </a:p>
                  </a:txBody>
                  <a:tcPr marL="6350" marR="6350" marT="6350" marB="0"/>
                </a:tc>
                <a:tc>
                  <a:txBody>
                    <a:bodyPr/>
                    <a:lstStyle/>
                    <a:p>
                      <a:pPr algn="l" fontAlgn="t"/>
                      <a:r>
                        <a:rPr lang="fr-FR" sz="1400" u="none" strike="noStrike" dirty="0">
                          <a:effectLst/>
                          <a:latin typeface="Arial Narrow" panose="020B0606020202030204" pitchFamily="34" charset="0"/>
                        </a:rPr>
                        <a:t>La  non mise à jour des outils de gestion de données du PEV en intégrant les rubriques en lien avec l'identification, la récupération et le suivi des enfants zéro dose et sous vacciné</a:t>
                      </a:r>
                      <a:endParaRPr lang="fr-FR" sz="1400" b="0" i="0" u="none" strike="noStrike" dirty="0">
                        <a:solidFill>
                          <a:srgbClr val="000000"/>
                        </a:solidFill>
                        <a:effectLst/>
                        <a:latin typeface="Arial Narrow" panose="020B0606020202030204" pitchFamily="34" charset="0"/>
                      </a:endParaRPr>
                    </a:p>
                  </a:txBody>
                  <a:tcPr marL="6350" marR="6350" marT="6350" marB="0"/>
                </a:tc>
                <a:tc>
                  <a:txBody>
                    <a:bodyPr/>
                    <a:lstStyle/>
                    <a:p>
                      <a:pPr marL="0" marR="0" lvl="0" indent="0" algn="l" rtl="0">
                        <a:spcBef>
                          <a:spcPts val="0"/>
                        </a:spcBef>
                        <a:spcAft>
                          <a:spcPts val="0"/>
                        </a:spcAft>
                        <a:buNone/>
                      </a:pPr>
                      <a:r>
                        <a:rPr lang="en-US" sz="1800" u="none" strike="noStrike" cap="none">
                          <a:latin typeface="Arial Narrow" panose="020B0606020202030204" pitchFamily="34" charset="0"/>
                          <a:sym typeface="Times New Roman" panose="02020603050405020304"/>
                        </a:rPr>
                        <a:t> </a:t>
                      </a:r>
                      <a:endParaRPr sz="1800" b="1" i="0" u="none" strike="noStrike" cap="none">
                        <a:solidFill>
                          <a:srgbClr val="000000"/>
                        </a:solidFill>
                        <a:latin typeface="Arial Narrow" panose="020B0606020202030204" pitchFamily="34" charset="0"/>
                        <a:ea typeface="Times New Roman" panose="02020603050405020304"/>
                        <a:cs typeface="Times New Roman" panose="02020603050405020304"/>
                        <a:sym typeface="Times New Roman" panose="02020603050405020304"/>
                      </a:endParaRPr>
                    </a:p>
                  </a:txBody>
                  <a:tcPr marL="7000" marR="7000" marT="7000" marB="0"/>
                </a:tc>
                <a:tc>
                  <a:txBody>
                    <a:bodyPr/>
                    <a:lstStyle/>
                    <a:p>
                      <a:pPr marL="0" marR="0" lvl="0" indent="0" algn="l" rtl="0">
                        <a:spcBef>
                          <a:spcPts val="0"/>
                        </a:spcBef>
                        <a:spcAft>
                          <a:spcPts val="0"/>
                        </a:spcAft>
                        <a:buNone/>
                      </a:pPr>
                      <a:r>
                        <a:rPr lang="en-US" sz="1800" u="none" strike="noStrike" cap="none" dirty="0">
                          <a:latin typeface="Arial Narrow" panose="020B0606020202030204" pitchFamily="34" charset="0"/>
                          <a:sym typeface="Times New Roman" panose="02020603050405020304"/>
                        </a:rPr>
                        <a:t> </a:t>
                      </a:r>
                      <a:endParaRPr sz="1800" b="1" i="0" u="none" strike="noStrike" cap="none" dirty="0">
                        <a:solidFill>
                          <a:srgbClr val="000000"/>
                        </a:solidFill>
                        <a:latin typeface="Arial Narrow" panose="020B0606020202030204" pitchFamily="34" charset="0"/>
                        <a:ea typeface="Times New Roman" panose="02020603050405020304"/>
                        <a:cs typeface="Times New Roman" panose="02020603050405020304"/>
                        <a:sym typeface="Times New Roman" panose="02020603050405020304"/>
                      </a:endParaRPr>
                    </a:p>
                  </a:txBody>
                  <a:tcPr marL="7000" marR="7000" marT="7000" marB="0"/>
                </a:tc>
                <a:extLst>
                  <a:ext uri="{0D108BD9-81ED-4DB2-BD59-A6C34878D82A}">
                    <a16:rowId xmlns:a16="http://schemas.microsoft.com/office/drawing/2014/main" val="10002"/>
                  </a:ext>
                </a:extLst>
              </a:tr>
              <a:tr h="673193">
                <a:tc vMerge="1">
                  <a:txBody>
                    <a:bodyPr/>
                    <a:lstStyle/>
                    <a:p>
                      <a:endParaRPr lang="fr-FR"/>
                    </a:p>
                  </a:txBody>
                  <a:tcPr/>
                </a:tc>
                <a:tc>
                  <a:txBody>
                    <a:bodyPr/>
                    <a:lstStyle/>
                    <a:p>
                      <a:pPr algn="l" fontAlgn="t"/>
                      <a:r>
                        <a:rPr lang="fr-FR" sz="1400" u="none" strike="noStrike">
                          <a:effectLst/>
                          <a:latin typeface="Arial Narrow" panose="020B0606020202030204" pitchFamily="34" charset="0"/>
                        </a:rPr>
                        <a:t>Appui des réunions systématiques de monitorage mensuel des données EZD et des bonnes pratiques aux niveau des Aires de santé et des Bureaux Centraux</a:t>
                      </a:r>
                      <a:endParaRPr lang="fr-FR" sz="1400" b="0" i="0" u="none" strike="noStrike">
                        <a:solidFill>
                          <a:srgbClr val="000000"/>
                        </a:solidFill>
                        <a:effectLst/>
                        <a:latin typeface="Arial Narrow" panose="020B0606020202030204" pitchFamily="34" charset="0"/>
                      </a:endParaRPr>
                    </a:p>
                  </a:txBody>
                  <a:tcPr marL="6350" marR="6350" marT="6350" marB="0"/>
                </a:tc>
                <a:tc>
                  <a:txBody>
                    <a:bodyPr/>
                    <a:lstStyle/>
                    <a:p>
                      <a:pPr algn="l" fontAlgn="t"/>
                      <a:r>
                        <a:rPr lang="fr-FR" sz="1400" u="none" strike="noStrike" dirty="0">
                          <a:effectLst/>
                          <a:latin typeface="Arial Narrow" panose="020B0606020202030204" pitchFamily="34" charset="0"/>
                        </a:rPr>
                        <a:t>Non organisation  des enquêtes DQS </a:t>
                      </a:r>
                      <a:r>
                        <a:rPr lang="fr-FR" sz="1400" u="none" strike="noStrike" dirty="0" smtClean="0">
                          <a:effectLst/>
                          <a:latin typeface="Arial Narrow" panose="020B0606020202030204" pitchFamily="34" charset="0"/>
                        </a:rPr>
                        <a:t>allégés </a:t>
                      </a:r>
                      <a:r>
                        <a:rPr lang="fr-FR" sz="1400" u="none" strike="noStrike" dirty="0">
                          <a:effectLst/>
                          <a:latin typeface="Arial Narrow" panose="020B0606020202030204" pitchFamily="34" charset="0"/>
                        </a:rPr>
                        <a:t>durant les supervisions à un rythme trimestriel afin d’évaluer l’atteinte des enfants ZD</a:t>
                      </a:r>
                      <a:endParaRPr lang="fr-FR" sz="1400" b="0" i="0" u="none" strike="noStrike" dirty="0">
                        <a:solidFill>
                          <a:srgbClr val="000000"/>
                        </a:solidFill>
                        <a:effectLst/>
                        <a:latin typeface="Arial Narrow" panose="020B0606020202030204" pitchFamily="34" charset="0"/>
                      </a:endParaRPr>
                    </a:p>
                  </a:txBody>
                  <a:tcPr marL="6350" marR="6350" marT="6350" marB="0"/>
                </a:tc>
                <a:tc>
                  <a:txBody>
                    <a:bodyPr/>
                    <a:lstStyle/>
                    <a:p>
                      <a:pPr marL="0" marR="0" lvl="0" indent="0" algn="l" rtl="0">
                        <a:spcBef>
                          <a:spcPts val="0"/>
                        </a:spcBef>
                        <a:spcAft>
                          <a:spcPts val="0"/>
                        </a:spcAft>
                        <a:buNone/>
                      </a:pPr>
                      <a:r>
                        <a:rPr lang="en-US" sz="1800" u="none" strike="noStrike" cap="none">
                          <a:latin typeface="Arial Narrow" panose="020B0606020202030204" pitchFamily="34" charset="0"/>
                          <a:sym typeface="Times New Roman" panose="02020603050405020304"/>
                        </a:rPr>
                        <a:t> </a:t>
                      </a:r>
                      <a:endParaRPr sz="1800" i="0" u="none" strike="noStrike" cap="none">
                        <a:solidFill>
                          <a:srgbClr val="000000"/>
                        </a:solidFill>
                        <a:latin typeface="Arial Narrow" panose="020B0606020202030204" pitchFamily="34" charset="0"/>
                        <a:ea typeface="Times New Roman" panose="02020603050405020304"/>
                        <a:cs typeface="Times New Roman" panose="02020603050405020304"/>
                        <a:sym typeface="Times New Roman" panose="02020603050405020304"/>
                      </a:endParaRPr>
                    </a:p>
                  </a:txBody>
                  <a:tcPr marL="7000" marR="7000" marT="7000" marB="0"/>
                </a:tc>
                <a:tc>
                  <a:txBody>
                    <a:bodyPr/>
                    <a:lstStyle/>
                    <a:p>
                      <a:pPr marL="0" marR="0" lvl="0" indent="0" algn="l" rtl="0">
                        <a:spcBef>
                          <a:spcPts val="0"/>
                        </a:spcBef>
                        <a:spcAft>
                          <a:spcPts val="0"/>
                        </a:spcAft>
                        <a:buNone/>
                      </a:pPr>
                      <a:r>
                        <a:rPr lang="en-US" sz="1800" u="none" strike="noStrike" cap="none">
                          <a:latin typeface="Arial Narrow" panose="020B0606020202030204" pitchFamily="34" charset="0"/>
                          <a:sym typeface="Times New Roman" panose="02020603050405020304"/>
                        </a:rPr>
                        <a:t> </a:t>
                      </a:r>
                      <a:endParaRPr sz="1800" i="0" u="none" strike="noStrike" cap="none">
                        <a:solidFill>
                          <a:srgbClr val="000000"/>
                        </a:solidFill>
                        <a:latin typeface="Arial Narrow" panose="020B0606020202030204" pitchFamily="34" charset="0"/>
                        <a:ea typeface="Times New Roman" panose="02020603050405020304"/>
                        <a:cs typeface="Times New Roman" panose="02020603050405020304"/>
                        <a:sym typeface="Times New Roman" panose="02020603050405020304"/>
                      </a:endParaRPr>
                    </a:p>
                  </a:txBody>
                  <a:tcPr marL="7000" marR="7000" marT="7000" marB="0"/>
                </a:tc>
                <a:extLst>
                  <a:ext uri="{0D108BD9-81ED-4DB2-BD59-A6C34878D82A}">
                    <a16:rowId xmlns:a16="http://schemas.microsoft.com/office/drawing/2014/main" val="10003"/>
                  </a:ext>
                </a:extLst>
              </a:tr>
              <a:tr h="1117581">
                <a:tc vMerge="1">
                  <a:txBody>
                    <a:bodyPr/>
                    <a:lstStyle/>
                    <a:p>
                      <a:endParaRPr lang="fr-FR"/>
                    </a:p>
                  </a:txBody>
                  <a:tcPr/>
                </a:tc>
                <a:tc>
                  <a:txBody>
                    <a:bodyPr/>
                    <a:lstStyle/>
                    <a:p>
                      <a:pPr algn="l" fontAlgn="t"/>
                      <a:r>
                        <a:rPr lang="fr-FR" sz="1400" u="none" strike="noStrike" dirty="0" smtClean="0">
                          <a:effectLst/>
                          <a:latin typeface="Arial Narrow" panose="020B0606020202030204" pitchFamily="34" charset="0"/>
                        </a:rPr>
                        <a:t>. Accompagnement</a:t>
                      </a:r>
                      <a:r>
                        <a:rPr lang="fr-FR" sz="1400" u="none" strike="noStrike" baseline="0" dirty="0" smtClean="0">
                          <a:effectLst/>
                          <a:latin typeface="Arial Narrow" panose="020B0606020202030204" pitchFamily="34" charset="0"/>
                        </a:rPr>
                        <a:t> d</a:t>
                      </a:r>
                      <a:r>
                        <a:rPr lang="fr-FR" sz="1400" u="none" strike="noStrike" dirty="0" smtClean="0">
                          <a:effectLst/>
                          <a:latin typeface="Arial Narrow" panose="020B0606020202030204" pitchFamily="34" charset="0"/>
                        </a:rPr>
                        <a:t>es CAC </a:t>
                      </a:r>
                      <a:r>
                        <a:rPr lang="fr-FR" sz="1400" u="none" strike="noStrike" dirty="0">
                          <a:effectLst/>
                          <a:latin typeface="Arial Narrow" panose="020B0606020202030204" pitchFamily="34" charset="0"/>
                        </a:rPr>
                        <a:t>pour l’identification porte à porte des nouveaux nés et des EZD et sous vaccinés selon la stratégie porte à porte à l’aide de l’outil ODK et des téléphones/tablettes (Expérience de distribution MIILD dans les ménages)</a:t>
                      </a:r>
                      <a:endParaRPr lang="fr-FR" sz="1400" b="0" i="0" u="none" strike="noStrike" dirty="0">
                        <a:solidFill>
                          <a:srgbClr val="000000"/>
                        </a:solidFill>
                        <a:effectLst/>
                        <a:latin typeface="Arial Narrow" panose="020B0606020202030204" pitchFamily="34" charset="0"/>
                      </a:endParaRPr>
                    </a:p>
                  </a:txBody>
                  <a:tcPr marL="6350" marR="6350" marT="6350" marB="0"/>
                </a:tc>
                <a:tc>
                  <a:txBody>
                    <a:bodyPr/>
                    <a:lstStyle/>
                    <a:p>
                      <a:pPr algn="l" fontAlgn="t"/>
                      <a:r>
                        <a:rPr lang="fr-FR" sz="1400" u="none" strike="noStrike" dirty="0" smtClean="0">
                          <a:effectLst/>
                          <a:latin typeface="Arial Narrow" panose="020B0606020202030204" pitchFamily="34" charset="0"/>
                        </a:rPr>
                        <a:t>Non réalisation</a:t>
                      </a:r>
                      <a:r>
                        <a:rPr lang="fr-FR" sz="1400" u="none" strike="noStrike" baseline="0" dirty="0" smtClean="0">
                          <a:effectLst/>
                          <a:latin typeface="Arial Narrow" panose="020B0606020202030204" pitchFamily="34" charset="0"/>
                        </a:rPr>
                        <a:t> de </a:t>
                      </a:r>
                      <a:r>
                        <a:rPr lang="fr-FR" sz="1400" u="none" strike="noStrike" dirty="0" smtClean="0">
                          <a:effectLst/>
                          <a:latin typeface="Arial Narrow" panose="020B0606020202030204" pitchFamily="34" charset="0"/>
                        </a:rPr>
                        <a:t> </a:t>
                      </a:r>
                      <a:r>
                        <a:rPr lang="fr-FR" sz="1400" u="none" strike="noStrike" dirty="0">
                          <a:effectLst/>
                          <a:latin typeface="Arial Narrow" panose="020B0606020202030204" pitchFamily="34" charset="0"/>
                        </a:rPr>
                        <a:t>diagnostic genre au cours des 6 premiers mois en vue d'identifier des stratégies sexospécifiques adaptées à intégrer dans les activités d'identification et de vaccination d'enfants ZD</a:t>
                      </a:r>
                      <a:endParaRPr lang="fr-FR" sz="1400" b="0" i="0" u="none" strike="noStrike" dirty="0">
                        <a:solidFill>
                          <a:schemeClr val="tx1"/>
                        </a:solidFill>
                        <a:effectLst/>
                        <a:latin typeface="Arial Narrow" panose="020B0606020202030204" pitchFamily="34" charset="0"/>
                      </a:endParaRPr>
                    </a:p>
                  </a:txBody>
                  <a:tcPr marL="6350" marR="6350" marT="6350" marB="0"/>
                </a:tc>
                <a:tc>
                  <a:txBody>
                    <a:bodyPr/>
                    <a:lstStyle/>
                    <a:p>
                      <a:pPr marL="0" marR="0" lvl="0" indent="0" algn="l" rtl="0">
                        <a:spcBef>
                          <a:spcPts val="0"/>
                        </a:spcBef>
                        <a:spcAft>
                          <a:spcPts val="0"/>
                        </a:spcAft>
                        <a:buNone/>
                      </a:pPr>
                      <a:endParaRPr sz="1800" i="0" u="none" strike="noStrike" cap="none">
                        <a:solidFill>
                          <a:srgbClr val="000000"/>
                        </a:solidFill>
                        <a:latin typeface="Arial Narrow" panose="020B0606020202030204" pitchFamily="34" charset="0"/>
                        <a:ea typeface="Times New Roman" panose="02020603050405020304"/>
                        <a:cs typeface="Times New Roman" panose="02020603050405020304"/>
                        <a:sym typeface="Times New Roman" panose="02020603050405020304"/>
                      </a:endParaRPr>
                    </a:p>
                  </a:txBody>
                  <a:tcPr marL="7000" marR="7000" marT="7000" marB="0"/>
                </a:tc>
                <a:tc>
                  <a:txBody>
                    <a:bodyPr/>
                    <a:lstStyle/>
                    <a:p>
                      <a:pPr marL="0" marR="0" lvl="0" indent="0" algn="l" rtl="0">
                        <a:spcBef>
                          <a:spcPts val="0"/>
                        </a:spcBef>
                        <a:spcAft>
                          <a:spcPts val="0"/>
                        </a:spcAft>
                        <a:buNone/>
                      </a:pPr>
                      <a:endParaRPr sz="1800" i="0" u="none" strike="noStrike" cap="none" dirty="0">
                        <a:solidFill>
                          <a:srgbClr val="000000"/>
                        </a:solidFill>
                        <a:latin typeface="Arial Narrow" panose="020B0606020202030204" pitchFamily="34" charset="0"/>
                        <a:ea typeface="Times New Roman" panose="02020603050405020304"/>
                        <a:cs typeface="Times New Roman" panose="02020603050405020304"/>
                        <a:sym typeface="Times New Roman" panose="02020603050405020304"/>
                      </a:endParaRPr>
                    </a:p>
                  </a:txBody>
                  <a:tcPr marL="7000" marR="7000" marT="7000" marB="0"/>
                </a:tc>
                <a:extLst>
                  <a:ext uri="{0D108BD9-81ED-4DB2-BD59-A6C34878D82A}">
                    <a16:rowId xmlns:a16="http://schemas.microsoft.com/office/drawing/2014/main" val="10004"/>
                  </a:ext>
                </a:extLst>
              </a:tr>
              <a:tr h="895387">
                <a:tc vMerge="1">
                  <a:txBody>
                    <a:bodyPr/>
                    <a:lstStyle/>
                    <a:p>
                      <a:endParaRPr lang="fr-FR"/>
                    </a:p>
                  </a:txBody>
                  <a:tcPr/>
                </a:tc>
                <a:tc>
                  <a:txBody>
                    <a:bodyPr/>
                    <a:lstStyle/>
                    <a:p>
                      <a:pPr algn="l" fontAlgn="t"/>
                      <a:r>
                        <a:rPr lang="fr-FR" sz="1400" u="none" strike="noStrike" dirty="0" smtClean="0">
                          <a:effectLst/>
                          <a:latin typeface="Arial Narrow" panose="020B0606020202030204" pitchFamily="34" charset="0"/>
                        </a:rPr>
                        <a:t>. Appui</a:t>
                      </a:r>
                      <a:r>
                        <a:rPr lang="fr-FR" sz="1400" u="none" strike="noStrike" baseline="0" dirty="0" smtClean="0">
                          <a:effectLst/>
                          <a:latin typeface="Arial Narrow" panose="020B0606020202030204" pitchFamily="34" charset="0"/>
                        </a:rPr>
                        <a:t> de </a:t>
                      </a:r>
                      <a:r>
                        <a:rPr lang="fr-FR" sz="1400" u="none" strike="noStrike" dirty="0" smtClean="0">
                          <a:effectLst/>
                          <a:latin typeface="Arial Narrow" panose="020B0606020202030204" pitchFamily="34" charset="0"/>
                        </a:rPr>
                        <a:t> </a:t>
                      </a:r>
                      <a:r>
                        <a:rPr lang="fr-FR" sz="1400" u="none" strike="noStrike" dirty="0">
                          <a:effectLst/>
                          <a:latin typeface="Arial Narrow" panose="020B0606020202030204" pitchFamily="34" charset="0"/>
                        </a:rPr>
                        <a:t>processus d'élaboration des plans de communication spécifiques adaptés aux EZD et aux communautés manquées en se basant sur la technique de l’approche centrée sur les bénéficiaires au niveau zonal (HCD).</a:t>
                      </a:r>
                      <a:endParaRPr lang="fr-FR" sz="1400" b="0" i="0" u="none" strike="noStrike" dirty="0">
                        <a:solidFill>
                          <a:srgbClr val="000000"/>
                        </a:solidFill>
                        <a:effectLst/>
                        <a:latin typeface="Arial Narrow" panose="020B0606020202030204" pitchFamily="34" charset="0"/>
                      </a:endParaRPr>
                    </a:p>
                  </a:txBody>
                  <a:tcPr marL="6350" marR="6350" marT="6350" marB="0"/>
                </a:tc>
                <a:tc>
                  <a:txBody>
                    <a:bodyPr/>
                    <a:lstStyle/>
                    <a:p>
                      <a:pPr algn="l" fontAlgn="t"/>
                      <a:endParaRPr lang="fr-FR" sz="1400" b="0" i="0" u="none" strike="noStrike" dirty="0">
                        <a:solidFill>
                          <a:srgbClr val="000000"/>
                        </a:solidFill>
                        <a:effectLst/>
                        <a:latin typeface="Arial Narrow" panose="020B0606020202030204" pitchFamily="34" charset="0"/>
                      </a:endParaRPr>
                    </a:p>
                  </a:txBody>
                  <a:tcPr marL="6350" marR="6350" marT="6350" marB="0"/>
                </a:tc>
                <a:tc>
                  <a:txBody>
                    <a:bodyPr/>
                    <a:lstStyle/>
                    <a:p>
                      <a:pPr marL="0" marR="0" lvl="0" indent="0" algn="l" rtl="0">
                        <a:spcBef>
                          <a:spcPts val="0"/>
                        </a:spcBef>
                        <a:spcAft>
                          <a:spcPts val="0"/>
                        </a:spcAft>
                        <a:buNone/>
                      </a:pPr>
                      <a:endParaRPr sz="1800" i="0" u="none" strike="noStrike" cap="none">
                        <a:solidFill>
                          <a:srgbClr val="000000"/>
                        </a:solidFill>
                        <a:latin typeface="Arial Narrow" panose="020B0606020202030204" pitchFamily="34" charset="0"/>
                        <a:ea typeface="Times New Roman" panose="02020603050405020304"/>
                        <a:cs typeface="Times New Roman" panose="02020603050405020304"/>
                        <a:sym typeface="Times New Roman" panose="02020603050405020304"/>
                      </a:endParaRPr>
                    </a:p>
                  </a:txBody>
                  <a:tcPr marL="7000" marR="7000" marT="7000" marB="0"/>
                </a:tc>
                <a:tc>
                  <a:txBody>
                    <a:bodyPr/>
                    <a:lstStyle/>
                    <a:p>
                      <a:pPr marL="0" marR="0" lvl="0" indent="0" algn="l" rtl="0">
                        <a:spcBef>
                          <a:spcPts val="0"/>
                        </a:spcBef>
                        <a:spcAft>
                          <a:spcPts val="0"/>
                        </a:spcAft>
                        <a:buNone/>
                      </a:pPr>
                      <a:endParaRPr sz="1800" i="0" u="none" strike="noStrike" cap="none" dirty="0">
                        <a:solidFill>
                          <a:srgbClr val="000000"/>
                        </a:solidFill>
                        <a:latin typeface="Arial Narrow" panose="020B0606020202030204" pitchFamily="34" charset="0"/>
                        <a:ea typeface="Times New Roman" panose="02020603050405020304"/>
                        <a:cs typeface="Times New Roman" panose="02020603050405020304"/>
                        <a:sym typeface="Times New Roman" panose="02020603050405020304"/>
                      </a:endParaRPr>
                    </a:p>
                  </a:txBody>
                  <a:tcPr marL="7000" marR="7000" marT="700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2574756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g3aabc9d920d_0_437"/>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a:buClr>
                <a:schemeClr val="dk1"/>
              </a:buClr>
              <a:buSzPts val="1500"/>
            </a:pPr>
            <a:r>
              <a:rPr lang="en-US" sz="27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11</a:t>
            </a:r>
            <a:r>
              <a:rPr lang="en-US" sz="27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 Analyses</a:t>
            </a:r>
            <a:r>
              <a:rPr lang="en-US" sz="27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 FFOM(3/4</a:t>
            </a:r>
            <a:r>
              <a:rPr lang="en-US"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a:t>
            </a: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6" name="Google Shape;256;g3aabc9d920d_0_437"/>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7" name="Google Shape;257;g3aabc9d920d_0_437"/>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8" name="Google Shape;258;g3aabc9d920d_0_437"/>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30</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259" name="Google Shape;259;g3aabc9d920d_0_437"/>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60" name="Google Shape;260;g3aabc9d920d_0_437"/>
          <p:cNvGraphicFramePr/>
          <p:nvPr>
            <p:extLst>
              <p:ext uri="{D42A27DB-BD31-4B8C-83A1-F6EECF244321}">
                <p14:modId xmlns:p14="http://schemas.microsoft.com/office/powerpoint/2010/main" val="3231939870"/>
              </p:ext>
            </p:extLst>
          </p:nvPr>
        </p:nvGraphicFramePr>
        <p:xfrm>
          <a:off x="508000" y="740229"/>
          <a:ext cx="11448584" cy="5529209"/>
        </p:xfrm>
        <a:graphic>
          <a:graphicData uri="http://schemas.openxmlformats.org/drawingml/2006/table">
            <a:tbl>
              <a:tblPr>
                <a:tableStyleId>{2D5ABB26-0587-4C30-8999-92F81FD0307C}</a:tableStyleId>
              </a:tblPr>
              <a:tblGrid>
                <a:gridCol w="1667804">
                  <a:extLst>
                    <a:ext uri="{9D8B030D-6E8A-4147-A177-3AD203B41FA5}">
                      <a16:colId xmlns:a16="http://schemas.microsoft.com/office/drawing/2014/main" val="20000"/>
                    </a:ext>
                  </a:extLst>
                </a:gridCol>
                <a:gridCol w="3192165">
                  <a:extLst>
                    <a:ext uri="{9D8B030D-6E8A-4147-A177-3AD203B41FA5}">
                      <a16:colId xmlns:a16="http://schemas.microsoft.com/office/drawing/2014/main" val="20001"/>
                    </a:ext>
                  </a:extLst>
                </a:gridCol>
                <a:gridCol w="2665786">
                  <a:extLst>
                    <a:ext uri="{9D8B030D-6E8A-4147-A177-3AD203B41FA5}">
                      <a16:colId xmlns:a16="http://schemas.microsoft.com/office/drawing/2014/main" val="20002"/>
                    </a:ext>
                  </a:extLst>
                </a:gridCol>
                <a:gridCol w="2097872">
                  <a:extLst>
                    <a:ext uri="{9D8B030D-6E8A-4147-A177-3AD203B41FA5}">
                      <a16:colId xmlns:a16="http://schemas.microsoft.com/office/drawing/2014/main" val="20003"/>
                    </a:ext>
                  </a:extLst>
                </a:gridCol>
                <a:gridCol w="1824957">
                  <a:extLst>
                    <a:ext uri="{9D8B030D-6E8A-4147-A177-3AD203B41FA5}">
                      <a16:colId xmlns:a16="http://schemas.microsoft.com/office/drawing/2014/main" val="20004"/>
                    </a:ext>
                  </a:extLst>
                </a:gridCol>
              </a:tblGrid>
              <a:tr h="557220">
                <a:tc>
                  <a:txBody>
                    <a:bodyPr/>
                    <a:lstStyle/>
                    <a:p>
                      <a:pPr marL="0" marR="0" lvl="0" indent="0" algn="l" rtl="0">
                        <a:spcBef>
                          <a:spcPts val="0"/>
                        </a:spcBef>
                        <a:spcAft>
                          <a:spcPts val="0"/>
                        </a:spcAft>
                        <a:buNone/>
                      </a:pPr>
                      <a:r>
                        <a:rPr lang="en-US" sz="1800" b="1" u="none" strike="noStrike" cap="none" dirty="0">
                          <a:latin typeface="Arial Narrow" panose="020B0606020202030204" pitchFamily="34" charset="0"/>
                          <a:sym typeface="Arial" panose="020B0604020202020204"/>
                        </a:rPr>
                        <a:t>Activités spécifiques</a:t>
                      </a:r>
                      <a:endParaRPr sz="1800" b="1" i="0" u="none" strike="noStrike" cap="none" dirty="0">
                        <a:solidFill>
                          <a:srgbClr val="FFFFFF"/>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nchor="ctr">
                    <a:solidFill>
                      <a:schemeClr val="accent5">
                        <a:lumMod val="60000"/>
                        <a:lumOff val="40000"/>
                      </a:schemeClr>
                    </a:solidFill>
                  </a:tcPr>
                </a:tc>
                <a:tc>
                  <a:txBody>
                    <a:bodyPr/>
                    <a:lstStyle/>
                    <a:p>
                      <a:pPr marL="0" marR="0" lvl="0" indent="0" algn="l" rtl="0">
                        <a:spcBef>
                          <a:spcPts val="0"/>
                        </a:spcBef>
                        <a:spcAft>
                          <a:spcPts val="0"/>
                        </a:spcAft>
                        <a:buNone/>
                      </a:pPr>
                      <a:r>
                        <a:rPr lang="en-US" sz="1800" b="1" u="none" strike="noStrike" cap="none">
                          <a:latin typeface="Arial Narrow" panose="020B0606020202030204" pitchFamily="34" charset="0"/>
                          <a:sym typeface="Arial" panose="020B0604020202020204"/>
                        </a:rPr>
                        <a:t>Forces</a:t>
                      </a:r>
                      <a:endParaRPr sz="1800" b="1" i="0" u="none" strike="noStrike" cap="none">
                        <a:solidFill>
                          <a:srgbClr val="FFFFFF"/>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nchor="ctr">
                    <a:solidFill>
                      <a:schemeClr val="accent5">
                        <a:lumMod val="60000"/>
                        <a:lumOff val="40000"/>
                      </a:schemeClr>
                    </a:solidFill>
                  </a:tcPr>
                </a:tc>
                <a:tc>
                  <a:txBody>
                    <a:bodyPr/>
                    <a:lstStyle/>
                    <a:p>
                      <a:pPr marL="0" marR="0" lvl="0" indent="0" algn="l" rtl="0">
                        <a:spcBef>
                          <a:spcPts val="0"/>
                        </a:spcBef>
                        <a:spcAft>
                          <a:spcPts val="0"/>
                        </a:spcAft>
                        <a:buNone/>
                      </a:pPr>
                      <a:r>
                        <a:rPr lang="en-US" sz="1800" b="1" u="none" strike="noStrike" cap="none">
                          <a:latin typeface="Arial Narrow" panose="020B0606020202030204" pitchFamily="34" charset="0"/>
                          <a:sym typeface="Arial" panose="020B0604020202020204"/>
                        </a:rPr>
                        <a:t>Faiblesses</a:t>
                      </a:r>
                      <a:endParaRPr sz="1800" b="1" i="0" u="none" strike="noStrike" cap="none">
                        <a:solidFill>
                          <a:srgbClr val="FFFFFF"/>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nchor="ctr">
                    <a:solidFill>
                      <a:schemeClr val="accent5">
                        <a:lumMod val="60000"/>
                        <a:lumOff val="40000"/>
                      </a:schemeClr>
                    </a:solidFill>
                  </a:tcPr>
                </a:tc>
                <a:tc>
                  <a:txBody>
                    <a:bodyPr/>
                    <a:lstStyle/>
                    <a:p>
                      <a:pPr marL="0" marR="0" lvl="0" indent="0" algn="l" rtl="0">
                        <a:spcBef>
                          <a:spcPts val="0"/>
                        </a:spcBef>
                        <a:spcAft>
                          <a:spcPts val="0"/>
                        </a:spcAft>
                        <a:buNone/>
                      </a:pPr>
                      <a:r>
                        <a:rPr lang="en-US" sz="1800" b="1" u="none" strike="noStrike" cap="none">
                          <a:latin typeface="Arial Narrow" panose="020B0606020202030204" pitchFamily="34" charset="0"/>
                          <a:sym typeface="Arial" panose="020B0604020202020204"/>
                        </a:rPr>
                        <a:t>Opportunités</a:t>
                      </a:r>
                      <a:endParaRPr sz="1800" b="1" i="0" u="none" strike="noStrike" cap="none">
                        <a:solidFill>
                          <a:srgbClr val="FFFFFF"/>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nchor="ctr">
                    <a:solidFill>
                      <a:schemeClr val="accent5">
                        <a:lumMod val="60000"/>
                        <a:lumOff val="40000"/>
                      </a:schemeClr>
                    </a:solidFill>
                  </a:tcPr>
                </a:tc>
                <a:tc>
                  <a:txBody>
                    <a:bodyPr/>
                    <a:lstStyle/>
                    <a:p>
                      <a:pPr marL="0" marR="0" lvl="0" indent="0" algn="l" rtl="0">
                        <a:spcBef>
                          <a:spcPts val="0"/>
                        </a:spcBef>
                        <a:spcAft>
                          <a:spcPts val="0"/>
                        </a:spcAft>
                        <a:buNone/>
                      </a:pPr>
                      <a:r>
                        <a:rPr lang="en-US" sz="1800" b="1" u="none" strike="noStrike" cap="none" dirty="0">
                          <a:latin typeface="Arial Narrow" panose="020B0606020202030204" pitchFamily="34" charset="0"/>
                          <a:sym typeface="Arial" panose="020B0604020202020204"/>
                        </a:rPr>
                        <a:t>Menaces</a:t>
                      </a:r>
                      <a:endParaRPr sz="1800" b="1" i="0" u="none" strike="noStrike" cap="none" dirty="0">
                        <a:solidFill>
                          <a:srgbClr val="FFFFFF"/>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nchor="ctr">
                    <a:solidFill>
                      <a:schemeClr val="accent5">
                        <a:lumMod val="60000"/>
                        <a:lumOff val="40000"/>
                      </a:schemeClr>
                    </a:solidFill>
                  </a:tcPr>
                </a:tc>
                <a:extLst>
                  <a:ext uri="{0D108BD9-81ED-4DB2-BD59-A6C34878D82A}">
                    <a16:rowId xmlns:a16="http://schemas.microsoft.com/office/drawing/2014/main" val="10000"/>
                  </a:ext>
                </a:extLst>
              </a:tr>
              <a:tr h="1828726">
                <a:tc rowSpan="4">
                  <a:txBody>
                    <a:bodyPr/>
                    <a:lstStyle/>
                    <a:p>
                      <a:pPr marL="0" marR="0" lvl="0" indent="0" algn="l" rtl="0">
                        <a:spcBef>
                          <a:spcPts val="0"/>
                        </a:spcBef>
                        <a:spcAft>
                          <a:spcPts val="0"/>
                        </a:spcAft>
                        <a:buNone/>
                      </a:pPr>
                      <a:r>
                        <a:rPr lang="en-US" sz="1600" u="none" strike="noStrike" cap="none" dirty="0" smtClean="0">
                          <a:latin typeface="Arial Narrow" panose="020B0606020202030204" pitchFamily="34" charset="0"/>
                          <a:sym typeface="Arial" panose="020B0604020202020204"/>
                        </a:rPr>
                        <a:t>2. IPVS</a:t>
                      </a:r>
                      <a:endParaRPr lang="en-US" sz="1600" b="0" i="1" u="none" strike="noStrike" cap="none" dirty="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u="none" strike="noStrike" cap="none" dirty="0" smtClean="0">
                          <a:latin typeface="Arial Narrow" panose="020B0606020202030204" pitchFamily="34" charset="0"/>
                          <a:sym typeface="Arial" panose="020B0604020202020204"/>
                        </a:rPr>
                        <a:t>Une bonne e</a:t>
                      </a:r>
                      <a:r>
                        <a:rPr lang="fr-FR" sz="1600" u="none" strike="noStrike" cap="none" noProof="0" dirty="0" smtClean="0">
                          <a:latin typeface="Arial Narrow" panose="020B0606020202030204" pitchFamily="34" charset="0"/>
                          <a:sym typeface="Arial" panose="020B0604020202020204"/>
                        </a:rPr>
                        <a:t>estimation des besoins en vaccins réalisées pendant les 3 passages tenant compte des besoins des IPVS et aussi de la Routine ;</a:t>
                      </a:r>
                    </a:p>
                    <a:p>
                      <a:pPr marL="0" marR="0" lvl="0" indent="0" algn="l" rtl="0">
                        <a:spcBef>
                          <a:spcPts val="0"/>
                        </a:spcBef>
                        <a:spcAft>
                          <a:spcPts val="0"/>
                        </a:spcAft>
                        <a:buNone/>
                      </a:pPr>
                      <a:endParaRPr sz="1600" b="1" i="0" u="none" strike="noStrike" cap="none" dirty="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tc>
                  <a:txBody>
                    <a:bodyPr/>
                    <a:lstStyle/>
                    <a:p>
                      <a:pPr marL="0" marR="0" lvl="0" indent="0" algn="l" rtl="0">
                        <a:spcBef>
                          <a:spcPts val="0"/>
                        </a:spcBef>
                        <a:spcAft>
                          <a:spcPts val="0"/>
                        </a:spcAft>
                        <a:buNone/>
                      </a:pPr>
                      <a:r>
                        <a:rPr lang="fr-FR" sz="1600" dirty="0" smtClean="0">
                          <a:latin typeface="Arial Narrow" panose="020B0606020202030204" pitchFamily="34" charset="0"/>
                        </a:rPr>
                        <a:t>Faible disponibilité en vaccins de routine pour la récupération des enfants observée dans certains sites de l’Antenne PEV de Tshikapa (surtout pour le BCG et le Rota) au passage II , puis VAA et PCV-13 au 3é passage</a:t>
                      </a:r>
                      <a:endParaRPr sz="1600" b="1" i="0" u="none" strike="noStrike" cap="none" dirty="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tc>
                  <a:txBody>
                    <a:bodyPr/>
                    <a:lstStyle/>
                    <a:p>
                      <a:pPr marL="0" marR="0" lvl="0" indent="0" algn="l" rtl="0">
                        <a:spcBef>
                          <a:spcPts val="0"/>
                        </a:spcBef>
                        <a:spcAft>
                          <a:spcPts val="0"/>
                        </a:spcAft>
                        <a:buNone/>
                      </a:pPr>
                      <a:r>
                        <a:rPr lang="en-US" sz="1600" u="none" strike="noStrike" cap="none">
                          <a:latin typeface="Arial Narrow" panose="020B0606020202030204" pitchFamily="34" charset="0"/>
                          <a:sym typeface="Arial" panose="020B0604020202020204"/>
                        </a:rPr>
                        <a:t> </a:t>
                      </a:r>
                      <a:endParaRPr sz="1600" b="1" i="0" u="none" strike="noStrike" cap="none">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tc>
                  <a:txBody>
                    <a:bodyPr/>
                    <a:lstStyle/>
                    <a:p>
                      <a:pPr marL="0" marR="0" lvl="0" indent="0" algn="l" rtl="0">
                        <a:spcBef>
                          <a:spcPts val="0"/>
                        </a:spcBef>
                        <a:spcAft>
                          <a:spcPts val="0"/>
                        </a:spcAft>
                        <a:buNone/>
                      </a:pPr>
                      <a:r>
                        <a:rPr lang="fr-FR" sz="1600" u="none" strike="noStrike" cap="none" dirty="0" smtClean="0">
                          <a:latin typeface="Arial Narrow" panose="020B0606020202030204" pitchFamily="34" charset="0"/>
                          <a:sym typeface="Arial" panose="020B0604020202020204"/>
                        </a:rPr>
                        <a:t>La non prise en compte de la ZS de NYANGA malgré le plaidoyer</a:t>
                      </a:r>
                      <a:endParaRPr sz="1600" b="0" i="0" u="none" strike="noStrike" cap="none" dirty="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extLst>
                  <a:ext uri="{0D108BD9-81ED-4DB2-BD59-A6C34878D82A}">
                    <a16:rowId xmlns:a16="http://schemas.microsoft.com/office/drawing/2014/main" val="10001"/>
                  </a:ext>
                </a:extLst>
              </a:tr>
              <a:tr h="1283444">
                <a:tc vMerge="1">
                  <a:txBody>
                    <a:bodyPr/>
                    <a:lstStyle/>
                    <a:p>
                      <a:endParaRPr lang="fr-FR"/>
                    </a:p>
                  </a:txBody>
                  <a:tcPr/>
                </a:tc>
                <a:tc>
                  <a:txBody>
                    <a:bodyPr/>
                    <a:lstStyle/>
                    <a:p>
                      <a:r>
                        <a:rPr lang="fr-FR" sz="1600" dirty="0" smtClean="0">
                          <a:latin typeface="Arial Narrow" panose="020B0606020202030204" pitchFamily="34" charset="0"/>
                        </a:rPr>
                        <a:t>Suivi journalier de</a:t>
                      </a:r>
                      <a:r>
                        <a:rPr lang="fr-FR" sz="1600" baseline="0" dirty="0" smtClean="0">
                          <a:latin typeface="Arial Narrow" panose="020B0606020202030204" pitchFamily="34" charset="0"/>
                        </a:rPr>
                        <a:t> la</a:t>
                      </a:r>
                      <a:r>
                        <a:rPr lang="fr-FR" sz="1600" dirty="0" smtClean="0">
                          <a:latin typeface="Arial Narrow" panose="020B0606020202030204" pitchFamily="34" charset="0"/>
                        </a:rPr>
                        <a:t> disponibilité pendant</a:t>
                      </a:r>
                      <a:r>
                        <a:rPr lang="fr-FR" sz="1600" baseline="0" dirty="0" smtClean="0">
                          <a:latin typeface="Arial Narrow" panose="020B0606020202030204" pitchFamily="34" charset="0"/>
                        </a:rPr>
                        <a:t> </a:t>
                      </a:r>
                      <a:r>
                        <a:rPr lang="fr-FR" sz="1600" dirty="0" smtClean="0">
                          <a:latin typeface="Arial Narrow" panose="020B0606020202030204" pitchFamily="34" charset="0"/>
                        </a:rPr>
                        <a:t>MEO avec des réapprovisionnements réalisés dans certaines AS. </a:t>
                      </a:r>
                      <a:endParaRPr lang="fr-FR" sz="1600" dirty="0">
                        <a:latin typeface="Arial Narrow" panose="020B0606020202030204" pitchFamily="34" charset="0"/>
                      </a:endParaRPr>
                    </a:p>
                  </a:txBody>
                  <a:tcPr marL="7000" marR="7000" marT="7000" marB="0"/>
                </a:tc>
                <a:tc>
                  <a:txBody>
                    <a:bodyPr/>
                    <a:lstStyle/>
                    <a:p>
                      <a:pPr algn="just">
                        <a:lnSpc>
                          <a:spcPct val="100000"/>
                        </a:lnSpc>
                      </a:pPr>
                      <a:r>
                        <a:rPr lang="fr-FR" sz="1600" dirty="0" smtClean="0">
                          <a:latin typeface="Arial Narrow" panose="020B0606020202030204" pitchFamily="34" charset="0"/>
                        </a:rPr>
                        <a:t>Faible couverture des AS en réfrigérateur PQS fonctionnel (53% pour l’Antenne PEV de Tshikapa et 57% pour l’Antenne PEV de Mweka);</a:t>
                      </a:r>
                      <a:endParaRPr lang="fr-FR" sz="1600" dirty="0" smtClean="0">
                        <a:latin typeface="Arial Narrow" panose="020B0606020202030204" pitchFamily="34" charset="0"/>
                        <a:cs typeface="Arial" panose="020B0604020202020204" pitchFamily="34" charset="0"/>
                      </a:endParaRPr>
                    </a:p>
                  </a:txBody>
                  <a:tcPr marL="7000" marR="7000" marT="7000" marB="0"/>
                </a:tc>
                <a:tc>
                  <a:txBody>
                    <a:bodyPr/>
                    <a:lstStyle/>
                    <a:p>
                      <a:pPr marL="0" marR="0" lvl="0" indent="0" algn="l" rtl="0">
                        <a:spcBef>
                          <a:spcPts val="0"/>
                        </a:spcBef>
                        <a:spcAft>
                          <a:spcPts val="0"/>
                        </a:spcAft>
                        <a:buNone/>
                      </a:pPr>
                      <a:r>
                        <a:rPr lang="en-US" sz="1600" u="none" strike="noStrike" cap="none">
                          <a:latin typeface="Arial Narrow" panose="020B0606020202030204" pitchFamily="34" charset="0"/>
                          <a:sym typeface="Arial" panose="020B0604020202020204"/>
                        </a:rPr>
                        <a:t> </a:t>
                      </a:r>
                      <a:endParaRPr sz="1600" b="1" i="0" u="none" strike="noStrike" cap="none">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tc>
                  <a:txBody>
                    <a:bodyPr/>
                    <a:lstStyle/>
                    <a:p>
                      <a:pPr marL="0" marR="0" lvl="0" indent="0" algn="l" rtl="0">
                        <a:spcBef>
                          <a:spcPts val="0"/>
                        </a:spcBef>
                        <a:spcAft>
                          <a:spcPts val="0"/>
                        </a:spcAft>
                        <a:buNone/>
                      </a:pPr>
                      <a:r>
                        <a:rPr lang="en-US" sz="1600" u="none" strike="noStrike" cap="none" dirty="0">
                          <a:latin typeface="Arial Narrow" panose="020B0606020202030204" pitchFamily="34" charset="0"/>
                          <a:sym typeface="Arial" panose="020B0604020202020204"/>
                        </a:rPr>
                        <a:t> </a:t>
                      </a:r>
                      <a:endParaRPr sz="1600" b="1" i="0" u="none" strike="noStrike" cap="none" dirty="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extLst>
                  <a:ext uri="{0D108BD9-81ED-4DB2-BD59-A6C34878D82A}">
                    <a16:rowId xmlns:a16="http://schemas.microsoft.com/office/drawing/2014/main" val="10002"/>
                  </a:ext>
                </a:extLst>
              </a:tr>
              <a:tr h="699089">
                <a:tc vMerge="1">
                  <a:txBody>
                    <a:bodyPr/>
                    <a:lstStyle/>
                    <a:p>
                      <a:endParaRPr lang="fr-FR"/>
                    </a:p>
                  </a:txBody>
                  <a:tcPr/>
                </a:tc>
                <a:tc>
                  <a:txBody>
                    <a:bodyPr/>
                    <a:lstStyle/>
                    <a:p>
                      <a:pPr lvl="0"/>
                      <a:r>
                        <a:rPr lang="fr-FR" sz="1600" dirty="0" smtClean="0">
                          <a:latin typeface="Arial Narrow" panose="020B0606020202030204" pitchFamily="34" charset="0"/>
                        </a:rPr>
                        <a:t>Bonne disponibilité du Penta, VAR et VPI pour couvrir les IPVS;</a:t>
                      </a:r>
                    </a:p>
                  </a:txBody>
                  <a:tcPr marL="7000" marR="7000" marT="7000" marB="0"/>
                </a:tc>
                <a:tc>
                  <a:txBody>
                    <a:bodyPr/>
                    <a:lstStyle/>
                    <a:p>
                      <a:pPr marL="0" marR="0" lvl="0" indent="0" algn="l" rtl="0">
                        <a:spcBef>
                          <a:spcPts val="0"/>
                        </a:spcBef>
                        <a:spcAft>
                          <a:spcPts val="0"/>
                        </a:spcAft>
                        <a:buNone/>
                      </a:pPr>
                      <a:r>
                        <a:rPr lang="en-US" sz="1600" u="none" strike="noStrike" cap="none" dirty="0">
                          <a:latin typeface="Arial Narrow" panose="020B0606020202030204" pitchFamily="34" charset="0"/>
                          <a:sym typeface="Arial" panose="020B0604020202020204"/>
                        </a:rPr>
                        <a:t> </a:t>
                      </a:r>
                      <a:endParaRPr sz="1600" b="0" i="0" u="none" strike="noStrike" cap="none" dirty="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tc>
                  <a:txBody>
                    <a:bodyPr/>
                    <a:lstStyle/>
                    <a:p>
                      <a:pPr marL="0" marR="0" lvl="0" indent="0" algn="l" rtl="0">
                        <a:spcBef>
                          <a:spcPts val="0"/>
                        </a:spcBef>
                        <a:spcAft>
                          <a:spcPts val="0"/>
                        </a:spcAft>
                        <a:buNone/>
                      </a:pPr>
                      <a:r>
                        <a:rPr lang="en-US" sz="1600" u="none" strike="noStrike" cap="none">
                          <a:latin typeface="Arial Narrow" panose="020B0606020202030204" pitchFamily="34" charset="0"/>
                          <a:sym typeface="Arial" panose="020B0604020202020204"/>
                        </a:rPr>
                        <a:t> </a:t>
                      </a:r>
                      <a:endParaRPr sz="1600" b="0" i="0" u="none" strike="noStrike" cap="none">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tc>
                  <a:txBody>
                    <a:bodyPr/>
                    <a:lstStyle/>
                    <a:p>
                      <a:pPr marL="0" marR="0" lvl="0" indent="0" algn="l" rtl="0">
                        <a:spcBef>
                          <a:spcPts val="0"/>
                        </a:spcBef>
                        <a:spcAft>
                          <a:spcPts val="0"/>
                        </a:spcAft>
                        <a:buNone/>
                      </a:pPr>
                      <a:r>
                        <a:rPr lang="en-US" sz="1600" u="none" strike="noStrike" cap="none">
                          <a:latin typeface="Arial Narrow" panose="020B0606020202030204" pitchFamily="34" charset="0"/>
                          <a:sym typeface="Arial" panose="020B0604020202020204"/>
                        </a:rPr>
                        <a:t> </a:t>
                      </a:r>
                      <a:endParaRPr sz="1600" b="0" i="0" u="none" strike="noStrike" cap="none">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extLst>
                  <a:ext uri="{0D108BD9-81ED-4DB2-BD59-A6C34878D82A}">
                    <a16:rowId xmlns:a16="http://schemas.microsoft.com/office/drawing/2014/main" val="10003"/>
                  </a:ext>
                </a:extLst>
              </a:tr>
              <a:tr h="1160730">
                <a:tc vMerge="1">
                  <a:txBody>
                    <a:bodyPr/>
                    <a:lstStyle/>
                    <a:p>
                      <a:endParaRPr lang="fr-FR"/>
                    </a:p>
                  </a:txBody>
                  <a:tcPr/>
                </a:tc>
                <a:tc>
                  <a:txBody>
                    <a:bodyPr/>
                    <a:lstStyle/>
                    <a:p>
                      <a:pPr lvl="0"/>
                      <a:r>
                        <a:rPr lang="fr-FR" sz="1600" dirty="0" smtClean="0">
                          <a:latin typeface="Arial Narrow" panose="020B0606020202030204" pitchFamily="34" charset="0"/>
                        </a:rPr>
                        <a:t>Les missions d’approvisionnement des 18 BCZ et des sites de stockage des AS réalisées avant le début de chaque passage ;</a:t>
                      </a:r>
                    </a:p>
                  </a:txBody>
                  <a:tcPr marL="7000" marR="7000" marT="7000" marB="0"/>
                </a:tc>
                <a:tc>
                  <a:txBody>
                    <a:bodyPr/>
                    <a:lstStyle/>
                    <a:p>
                      <a:pPr marL="0" marR="0" lvl="0" indent="0" algn="l" rtl="0">
                        <a:spcBef>
                          <a:spcPts val="0"/>
                        </a:spcBef>
                        <a:spcAft>
                          <a:spcPts val="0"/>
                        </a:spcAft>
                        <a:buNone/>
                      </a:pPr>
                      <a:r>
                        <a:rPr lang="en-US" sz="1600" u="none" strike="noStrike" cap="none" dirty="0">
                          <a:latin typeface="Arial Narrow" panose="020B0606020202030204" pitchFamily="34" charset="0"/>
                          <a:sym typeface="Arial" panose="020B0604020202020204"/>
                        </a:rPr>
                        <a:t> </a:t>
                      </a:r>
                      <a:endParaRPr sz="1600" b="0" i="0" u="none" strike="noStrike" cap="none" dirty="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tc>
                  <a:txBody>
                    <a:bodyPr/>
                    <a:lstStyle/>
                    <a:p>
                      <a:pPr marL="0" marR="0" lvl="0" indent="0" algn="l" rtl="0">
                        <a:spcBef>
                          <a:spcPts val="0"/>
                        </a:spcBef>
                        <a:spcAft>
                          <a:spcPts val="0"/>
                        </a:spcAft>
                        <a:buNone/>
                      </a:pPr>
                      <a:r>
                        <a:rPr lang="en-US" sz="1600" u="none" strike="noStrike" cap="none">
                          <a:latin typeface="Arial Narrow" panose="020B0606020202030204" pitchFamily="34" charset="0"/>
                          <a:sym typeface="Arial" panose="020B0604020202020204"/>
                        </a:rPr>
                        <a:t> </a:t>
                      </a:r>
                      <a:endParaRPr sz="1600" b="0" i="0" u="none" strike="noStrike" cap="none">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tc>
                  <a:txBody>
                    <a:bodyPr/>
                    <a:lstStyle/>
                    <a:p>
                      <a:pPr marL="0" marR="0" lvl="0" indent="0" algn="l" rtl="0">
                        <a:spcBef>
                          <a:spcPts val="0"/>
                        </a:spcBef>
                        <a:spcAft>
                          <a:spcPts val="0"/>
                        </a:spcAft>
                        <a:buNone/>
                      </a:pPr>
                      <a:r>
                        <a:rPr lang="en-US" sz="1600" u="none" strike="noStrike" cap="none" dirty="0">
                          <a:latin typeface="Arial Narrow" panose="020B0606020202030204" pitchFamily="34" charset="0"/>
                          <a:sym typeface="Arial" panose="020B0604020202020204"/>
                        </a:rPr>
                        <a:t> </a:t>
                      </a:r>
                      <a:endParaRPr sz="1600" b="0" i="0" u="none" strike="noStrike" cap="none" dirty="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g3aabc9d920d_0_437"/>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a:buClr>
                <a:schemeClr val="dk1"/>
              </a:buClr>
              <a:buSzPts val="1500"/>
            </a:pPr>
            <a:r>
              <a:rPr lang="en-US" sz="27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11</a:t>
            </a:r>
            <a:r>
              <a:rPr lang="en-US" sz="27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Analyses </a:t>
            </a:r>
            <a:r>
              <a:rPr lang="en-US" sz="27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FFOM (4/4</a:t>
            </a:r>
            <a:r>
              <a:rPr lang="en-US"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a:t>
            </a: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6" name="Google Shape;256;g3aabc9d920d_0_437"/>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7" name="Google Shape;257;g3aabc9d920d_0_437"/>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8" name="Google Shape;258;g3aabc9d920d_0_437"/>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31</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259" name="Google Shape;259;g3aabc9d920d_0_437"/>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60" name="Google Shape;260;g3aabc9d920d_0_437"/>
          <p:cNvGraphicFramePr/>
          <p:nvPr>
            <p:extLst>
              <p:ext uri="{D42A27DB-BD31-4B8C-83A1-F6EECF244321}">
                <p14:modId xmlns:p14="http://schemas.microsoft.com/office/powerpoint/2010/main" val="3716679798"/>
              </p:ext>
            </p:extLst>
          </p:nvPr>
        </p:nvGraphicFramePr>
        <p:xfrm>
          <a:off x="458599" y="783771"/>
          <a:ext cx="11428301" cy="5740621"/>
        </p:xfrm>
        <a:graphic>
          <a:graphicData uri="http://schemas.openxmlformats.org/drawingml/2006/table">
            <a:tbl>
              <a:tblPr>
                <a:tableStyleId>{93296810-A885-4BE3-A3E7-6D5BEEA58F35}</a:tableStyleId>
              </a:tblPr>
              <a:tblGrid>
                <a:gridCol w="1776601">
                  <a:extLst>
                    <a:ext uri="{9D8B030D-6E8A-4147-A177-3AD203B41FA5}">
                      <a16:colId xmlns:a16="http://schemas.microsoft.com/office/drawing/2014/main" val="20000"/>
                    </a:ext>
                  </a:extLst>
                </a:gridCol>
                <a:gridCol w="3074758">
                  <a:extLst>
                    <a:ext uri="{9D8B030D-6E8A-4147-A177-3AD203B41FA5}">
                      <a16:colId xmlns:a16="http://schemas.microsoft.com/office/drawing/2014/main" val="20001"/>
                    </a:ext>
                  </a:extLst>
                </a:gridCol>
                <a:gridCol w="2661063">
                  <a:extLst>
                    <a:ext uri="{9D8B030D-6E8A-4147-A177-3AD203B41FA5}">
                      <a16:colId xmlns:a16="http://schemas.microsoft.com/office/drawing/2014/main" val="20002"/>
                    </a:ext>
                  </a:extLst>
                </a:gridCol>
                <a:gridCol w="2094155">
                  <a:extLst>
                    <a:ext uri="{9D8B030D-6E8A-4147-A177-3AD203B41FA5}">
                      <a16:colId xmlns:a16="http://schemas.microsoft.com/office/drawing/2014/main" val="20003"/>
                    </a:ext>
                  </a:extLst>
                </a:gridCol>
                <a:gridCol w="1821724">
                  <a:extLst>
                    <a:ext uri="{9D8B030D-6E8A-4147-A177-3AD203B41FA5}">
                      <a16:colId xmlns:a16="http://schemas.microsoft.com/office/drawing/2014/main" val="20004"/>
                    </a:ext>
                  </a:extLst>
                </a:gridCol>
              </a:tblGrid>
              <a:tr h="557529">
                <a:tc>
                  <a:txBody>
                    <a:bodyPr/>
                    <a:lstStyle/>
                    <a:p>
                      <a:pPr marL="0" marR="0" lvl="0" indent="0" algn="l" rtl="0">
                        <a:spcBef>
                          <a:spcPts val="0"/>
                        </a:spcBef>
                        <a:spcAft>
                          <a:spcPts val="0"/>
                        </a:spcAft>
                        <a:buNone/>
                      </a:pPr>
                      <a:r>
                        <a:rPr lang="en-US" sz="1800" b="1" u="none" strike="noStrike" cap="none" dirty="0">
                          <a:latin typeface="Arial Narrow" panose="020B0606020202030204" pitchFamily="34" charset="0"/>
                          <a:sym typeface="Arial" panose="020B0604020202020204"/>
                        </a:rPr>
                        <a:t>Activités spécifiques</a:t>
                      </a:r>
                      <a:endParaRPr sz="1800" b="1" i="0" u="none" strike="noStrike" cap="none" dirty="0">
                        <a:solidFill>
                          <a:srgbClr val="FFFFFF"/>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nchor="ctr">
                    <a:solidFill>
                      <a:schemeClr val="accent5">
                        <a:lumMod val="60000"/>
                        <a:lumOff val="40000"/>
                      </a:schemeClr>
                    </a:solidFill>
                  </a:tcPr>
                </a:tc>
                <a:tc>
                  <a:txBody>
                    <a:bodyPr/>
                    <a:lstStyle/>
                    <a:p>
                      <a:pPr marL="0" marR="0" lvl="0" indent="0" algn="l" rtl="0">
                        <a:spcBef>
                          <a:spcPts val="0"/>
                        </a:spcBef>
                        <a:spcAft>
                          <a:spcPts val="0"/>
                        </a:spcAft>
                        <a:buNone/>
                      </a:pPr>
                      <a:r>
                        <a:rPr lang="en-US" sz="1800" b="1" u="none" strike="noStrike" cap="none">
                          <a:latin typeface="Arial Narrow" panose="020B0606020202030204" pitchFamily="34" charset="0"/>
                          <a:sym typeface="Arial" panose="020B0604020202020204"/>
                        </a:rPr>
                        <a:t>Forces</a:t>
                      </a:r>
                      <a:endParaRPr sz="1800" b="1" i="0" u="none" strike="noStrike" cap="none">
                        <a:solidFill>
                          <a:srgbClr val="FFFFFF"/>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nchor="ctr">
                    <a:solidFill>
                      <a:schemeClr val="accent5">
                        <a:lumMod val="60000"/>
                        <a:lumOff val="40000"/>
                      </a:schemeClr>
                    </a:solidFill>
                  </a:tcPr>
                </a:tc>
                <a:tc>
                  <a:txBody>
                    <a:bodyPr/>
                    <a:lstStyle/>
                    <a:p>
                      <a:pPr marL="0" marR="0" lvl="0" indent="0" algn="l" rtl="0">
                        <a:spcBef>
                          <a:spcPts val="0"/>
                        </a:spcBef>
                        <a:spcAft>
                          <a:spcPts val="0"/>
                        </a:spcAft>
                        <a:buNone/>
                      </a:pPr>
                      <a:r>
                        <a:rPr lang="en-US" sz="1800" b="1" u="none" strike="noStrike" cap="none">
                          <a:latin typeface="Arial Narrow" panose="020B0606020202030204" pitchFamily="34" charset="0"/>
                          <a:sym typeface="Arial" panose="020B0604020202020204"/>
                        </a:rPr>
                        <a:t>Faiblesses</a:t>
                      </a:r>
                      <a:endParaRPr sz="1800" b="1" i="0" u="none" strike="noStrike" cap="none">
                        <a:solidFill>
                          <a:srgbClr val="FFFFFF"/>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nchor="ctr">
                    <a:solidFill>
                      <a:schemeClr val="accent5">
                        <a:lumMod val="60000"/>
                        <a:lumOff val="40000"/>
                      </a:schemeClr>
                    </a:solidFill>
                  </a:tcPr>
                </a:tc>
                <a:tc>
                  <a:txBody>
                    <a:bodyPr/>
                    <a:lstStyle/>
                    <a:p>
                      <a:pPr marL="0" marR="0" lvl="0" indent="0" algn="l" rtl="0">
                        <a:spcBef>
                          <a:spcPts val="0"/>
                        </a:spcBef>
                        <a:spcAft>
                          <a:spcPts val="0"/>
                        </a:spcAft>
                        <a:buNone/>
                      </a:pPr>
                      <a:r>
                        <a:rPr lang="en-US" sz="1800" b="1" u="none" strike="noStrike" cap="none">
                          <a:latin typeface="Arial Narrow" panose="020B0606020202030204" pitchFamily="34" charset="0"/>
                          <a:sym typeface="Arial" panose="020B0604020202020204"/>
                        </a:rPr>
                        <a:t>Opportunités</a:t>
                      </a:r>
                      <a:endParaRPr sz="1800" b="1" i="0" u="none" strike="noStrike" cap="none">
                        <a:solidFill>
                          <a:srgbClr val="FFFFFF"/>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nchor="ctr">
                    <a:solidFill>
                      <a:schemeClr val="accent5">
                        <a:lumMod val="60000"/>
                        <a:lumOff val="40000"/>
                      </a:schemeClr>
                    </a:solidFill>
                  </a:tcPr>
                </a:tc>
                <a:tc>
                  <a:txBody>
                    <a:bodyPr/>
                    <a:lstStyle/>
                    <a:p>
                      <a:pPr marL="0" marR="0" lvl="0" indent="0" algn="l" rtl="0">
                        <a:spcBef>
                          <a:spcPts val="0"/>
                        </a:spcBef>
                        <a:spcAft>
                          <a:spcPts val="0"/>
                        </a:spcAft>
                        <a:buNone/>
                      </a:pPr>
                      <a:r>
                        <a:rPr lang="en-US" sz="1800" b="1" u="none" strike="noStrike" cap="none" dirty="0">
                          <a:latin typeface="Arial Narrow" panose="020B0606020202030204" pitchFamily="34" charset="0"/>
                          <a:sym typeface="Arial" panose="020B0604020202020204"/>
                        </a:rPr>
                        <a:t>Menaces</a:t>
                      </a:r>
                      <a:endParaRPr sz="1800" b="1" i="0" u="none" strike="noStrike" cap="none" dirty="0">
                        <a:solidFill>
                          <a:srgbClr val="FFFFFF"/>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nchor="ctr">
                    <a:solidFill>
                      <a:schemeClr val="accent5">
                        <a:lumMod val="60000"/>
                        <a:lumOff val="40000"/>
                      </a:schemeClr>
                    </a:solidFill>
                  </a:tcPr>
                </a:tc>
                <a:extLst>
                  <a:ext uri="{0D108BD9-81ED-4DB2-BD59-A6C34878D82A}">
                    <a16:rowId xmlns:a16="http://schemas.microsoft.com/office/drawing/2014/main" val="10000"/>
                  </a:ext>
                </a:extLst>
              </a:tr>
              <a:tr h="1097146">
                <a:tc rowSpan="4">
                  <a:txBody>
                    <a:bodyPr/>
                    <a:lstStyle/>
                    <a:p>
                      <a:pPr marL="0" marR="0" lvl="0" indent="0" algn="l" rtl="0">
                        <a:spcBef>
                          <a:spcPts val="0"/>
                        </a:spcBef>
                        <a:spcAft>
                          <a:spcPts val="0"/>
                        </a:spcAft>
                        <a:buNone/>
                      </a:pPr>
                      <a:r>
                        <a:rPr lang="en-US" sz="1600" u="none" strike="noStrike" cap="none" dirty="0" smtClean="0">
                          <a:latin typeface="Arial Narrow" panose="020B0606020202030204" pitchFamily="34" charset="0"/>
                          <a:sym typeface="Arial" panose="020B0604020202020204"/>
                        </a:rPr>
                        <a:t>2. IPVS</a:t>
                      </a:r>
                      <a:endParaRPr lang="en-US" sz="1600" b="0" i="1" u="none" strike="noStrike" cap="none" dirty="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tc>
                  <a:txBody>
                    <a:bodyPr/>
                    <a:lstStyle/>
                    <a:p>
                      <a:r>
                        <a:rPr lang="fr-FR" sz="1600" dirty="0" smtClean="0">
                          <a:latin typeface="Arial Narrow" panose="020B0606020202030204" pitchFamily="34" charset="0"/>
                        </a:rPr>
                        <a:t>Bonne implication des CAC dans l’identification et récupération des EZD et ESV;</a:t>
                      </a:r>
                      <a:endParaRPr lang="fr-FR" sz="1600" dirty="0">
                        <a:latin typeface="Arial Narrow" panose="020B0606020202030204" pitchFamily="34" charset="0"/>
                      </a:endParaRPr>
                    </a:p>
                  </a:txBody>
                  <a:tcPr marL="7000" marR="7000" marT="7000" marB="0"/>
                </a:tc>
                <a:tc>
                  <a:txBody>
                    <a:bodyPr/>
                    <a:lstStyle/>
                    <a:p>
                      <a:pPr marR="0" algn="l" rtl="0">
                        <a:lnSpc>
                          <a:spcPct val="100000"/>
                        </a:lnSpc>
                        <a:spcBef>
                          <a:spcPts val="0"/>
                        </a:spcBef>
                        <a:spcAft>
                          <a:spcPts val="0"/>
                        </a:spcAft>
                        <a:buClr>
                          <a:srgbClr val="000000"/>
                        </a:buClr>
                        <a:buFont typeface="Arial" panose="020B0604020202020204"/>
                      </a:pPr>
                      <a:r>
                        <a:rPr lang="fr-FR" sz="1600" u="none" strike="noStrike" cap="none" dirty="0" smtClean="0">
                          <a:latin typeface="Arial Narrow" panose="020B0606020202030204" pitchFamily="34" charset="0"/>
                          <a:sym typeface="Arial" panose="020B0604020202020204"/>
                        </a:rPr>
                        <a:t>Nombre des CAC planifiés insuffisants couvrir tous les ménages dans certaines AS;</a:t>
                      </a:r>
                      <a:endParaRPr lang="fr-FR" sz="1600" b="0" i="0" u="none" strike="noStrike" cap="none" dirty="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tc>
                  <a:txBody>
                    <a:bodyPr/>
                    <a:lstStyle/>
                    <a:p>
                      <a:pPr marL="0" marR="0" lvl="0" indent="0" algn="l" rtl="0">
                        <a:lnSpc>
                          <a:spcPct val="100000"/>
                        </a:lnSpc>
                        <a:spcBef>
                          <a:spcPts val="0"/>
                        </a:spcBef>
                        <a:spcAft>
                          <a:spcPts val="0"/>
                        </a:spcAft>
                        <a:buClr>
                          <a:srgbClr val="000000"/>
                        </a:buClr>
                        <a:buFont typeface="Arial" panose="020B0604020202020204"/>
                        <a:buNone/>
                      </a:pPr>
                      <a:endParaRPr sz="1600" b="0" i="0" u="none" strike="noStrike" cap="none">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tc>
                  <a:txBody>
                    <a:bodyPr/>
                    <a:lstStyle/>
                    <a:p>
                      <a:pPr marL="0" marR="0" lvl="0" indent="0" algn="l" rtl="0">
                        <a:spcBef>
                          <a:spcPts val="0"/>
                        </a:spcBef>
                        <a:spcAft>
                          <a:spcPts val="0"/>
                        </a:spcAft>
                        <a:buNone/>
                      </a:pPr>
                      <a:r>
                        <a:rPr lang="fr-FR" sz="1600" u="none" strike="noStrike" cap="none" dirty="0" smtClean="0">
                          <a:latin typeface="Arial Narrow" panose="020B0606020202030204" pitchFamily="34" charset="0"/>
                          <a:sym typeface="Arial" panose="020B0604020202020204"/>
                        </a:rPr>
                        <a:t>La non prise en compte de la ZS de NYANGA malgré le plaidoyer</a:t>
                      </a:r>
                      <a:endParaRPr lang="fr-FR" sz="1600" b="0" i="0" u="none" strike="noStrike" cap="none" dirty="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extLst>
                  <a:ext uri="{0D108BD9-81ED-4DB2-BD59-A6C34878D82A}">
                    <a16:rowId xmlns:a16="http://schemas.microsoft.com/office/drawing/2014/main" val="10001"/>
                  </a:ext>
                </a:extLst>
              </a:tr>
              <a:tr h="715854">
                <a:tc vMerge="1">
                  <a:txBody>
                    <a:bodyPr/>
                    <a:lstStyle/>
                    <a:p>
                      <a:endParaRPr lang="fr-FR"/>
                    </a:p>
                  </a:txBody>
                  <a:tcPr/>
                </a:tc>
                <a:tc>
                  <a:txBody>
                    <a:bodyPr/>
                    <a:lstStyle/>
                    <a:p>
                      <a:r>
                        <a:rPr lang="fr-FR" sz="1600" dirty="0" smtClean="0">
                          <a:latin typeface="Arial Narrow" panose="020B0606020202030204" pitchFamily="34" charset="0"/>
                        </a:rPr>
                        <a:t>Bonne fonctionnalité de la task-force communication</a:t>
                      </a:r>
                      <a:endParaRPr lang="fr-FR" sz="1600" dirty="0">
                        <a:latin typeface="Arial Narrow" panose="020B0606020202030204" pitchFamily="34" charset="0"/>
                      </a:endParaRPr>
                    </a:p>
                  </a:txBody>
                  <a:tcPr marL="7000" marR="7000" marT="7000" marB="0"/>
                </a:tc>
                <a:tc>
                  <a:txBody>
                    <a:bodyPr/>
                    <a:lstStyle/>
                    <a:p>
                      <a:pPr marR="0" algn="l" rtl="0">
                        <a:lnSpc>
                          <a:spcPct val="100000"/>
                        </a:lnSpc>
                        <a:spcBef>
                          <a:spcPts val="0"/>
                        </a:spcBef>
                        <a:spcAft>
                          <a:spcPts val="0"/>
                        </a:spcAft>
                        <a:buClr>
                          <a:srgbClr val="000000"/>
                        </a:buClr>
                        <a:buFont typeface="Arial" panose="020B0604020202020204"/>
                      </a:pPr>
                      <a:endParaRPr lang="fr-FR" sz="1600" b="0" i="0" u="none" strike="noStrike" cap="none" dirty="0" smtClean="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tc>
                  <a:txBody>
                    <a:bodyPr/>
                    <a:lstStyle/>
                    <a:p>
                      <a:pPr marL="0" marR="0" lvl="0" indent="0" algn="l" rtl="0">
                        <a:lnSpc>
                          <a:spcPct val="100000"/>
                        </a:lnSpc>
                        <a:spcBef>
                          <a:spcPts val="0"/>
                        </a:spcBef>
                        <a:spcAft>
                          <a:spcPts val="0"/>
                        </a:spcAft>
                        <a:buClr>
                          <a:srgbClr val="000000"/>
                        </a:buClr>
                        <a:buFont typeface="Arial" panose="020B0604020202020204"/>
                        <a:buNone/>
                      </a:pPr>
                      <a:endParaRPr sz="1600" b="0" i="0" u="none" strike="noStrike" cap="none" dirty="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tc>
                  <a:txBody>
                    <a:bodyPr/>
                    <a:lstStyle/>
                    <a:p>
                      <a:pPr marL="0" marR="0" lvl="0" indent="0" algn="l" rtl="0">
                        <a:spcBef>
                          <a:spcPts val="0"/>
                        </a:spcBef>
                        <a:spcAft>
                          <a:spcPts val="0"/>
                        </a:spcAft>
                        <a:buNone/>
                      </a:pPr>
                      <a:r>
                        <a:rPr lang="en-US" sz="1600" u="none" strike="noStrike" cap="none" dirty="0">
                          <a:latin typeface="Arial Narrow" panose="020B0606020202030204" pitchFamily="34" charset="0"/>
                          <a:sym typeface="Arial" panose="020B0604020202020204"/>
                        </a:rPr>
                        <a:t> </a:t>
                      </a:r>
                      <a:endParaRPr sz="1600" b="1" i="0" u="none" strike="noStrike" cap="none" dirty="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extLst>
                  <a:ext uri="{0D108BD9-81ED-4DB2-BD59-A6C34878D82A}">
                    <a16:rowId xmlns:a16="http://schemas.microsoft.com/office/drawing/2014/main" val="10002"/>
                  </a:ext>
                </a:extLst>
              </a:tr>
              <a:tr h="982360">
                <a:tc vMerge="1">
                  <a:txBody>
                    <a:bodyPr/>
                    <a:lstStyle/>
                    <a:p>
                      <a:endParaRPr lang="fr-FR"/>
                    </a:p>
                  </a:txBody>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fr-FR" sz="1600" u="none" strike="noStrike" cap="none" dirty="0" smtClean="0">
                          <a:latin typeface="Arial Narrow" panose="020B0606020202030204" pitchFamily="34" charset="0"/>
                          <a:sym typeface="Arial" panose="020B0604020202020204"/>
                        </a:rPr>
                        <a:t>Appui technique, et logistique du niveau central dans la mise en œuvre des IPVS</a:t>
                      </a:r>
                      <a:endParaRPr lang="fr-FR" sz="1600" b="0" i="0" u="none" strike="noStrike" cap="none" dirty="0" smtClean="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tc>
                  <a:txBody>
                    <a:bodyPr/>
                    <a:lstStyle/>
                    <a:p>
                      <a:pPr marL="0" marR="0" lvl="0" indent="0" algn="l" rtl="0">
                        <a:lnSpc>
                          <a:spcPct val="100000"/>
                        </a:lnSpc>
                        <a:spcBef>
                          <a:spcPts val="0"/>
                        </a:spcBef>
                        <a:spcAft>
                          <a:spcPts val="0"/>
                        </a:spcAft>
                        <a:buClr>
                          <a:srgbClr val="000000"/>
                        </a:buClr>
                        <a:buFont typeface="Arial" panose="020B0604020202020204"/>
                        <a:buNone/>
                      </a:pPr>
                      <a:r>
                        <a:rPr lang="fr-FR" sz="1600" u="none" strike="noStrike" cap="none" dirty="0" smtClean="0">
                          <a:latin typeface="Arial Narrow" panose="020B0606020202030204" pitchFamily="34" charset="0"/>
                          <a:sym typeface="Arial" panose="020B0604020202020204"/>
                        </a:rPr>
                        <a:t>Faible promptitude dans le rapportage des données des IPVS dans le masque en ligne</a:t>
                      </a:r>
                      <a:endParaRPr sz="1600" b="0" i="0" u="none" strike="noStrike" cap="none" dirty="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tc>
                  <a:txBody>
                    <a:bodyPr/>
                    <a:lstStyle/>
                    <a:p>
                      <a:pPr marL="0" marR="0" lvl="0" indent="0" algn="l" rtl="0">
                        <a:lnSpc>
                          <a:spcPct val="100000"/>
                        </a:lnSpc>
                        <a:spcBef>
                          <a:spcPts val="0"/>
                        </a:spcBef>
                        <a:spcAft>
                          <a:spcPts val="0"/>
                        </a:spcAft>
                        <a:buClr>
                          <a:srgbClr val="000000"/>
                        </a:buClr>
                        <a:buFont typeface="Arial" panose="020B0604020202020204"/>
                        <a:buNone/>
                      </a:pPr>
                      <a:endParaRPr sz="1600" b="0" i="0" u="none" strike="noStrike" cap="none" dirty="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tc>
                  <a:txBody>
                    <a:bodyPr/>
                    <a:lstStyle/>
                    <a:p>
                      <a:pPr marL="0" marR="0" lvl="0" indent="0" algn="l" rtl="0">
                        <a:spcBef>
                          <a:spcPts val="0"/>
                        </a:spcBef>
                        <a:spcAft>
                          <a:spcPts val="0"/>
                        </a:spcAft>
                        <a:buNone/>
                      </a:pPr>
                      <a:r>
                        <a:rPr lang="en-US" sz="1600" u="none" strike="noStrike" cap="none">
                          <a:latin typeface="Arial Narrow" panose="020B0606020202030204" pitchFamily="34" charset="0"/>
                          <a:sym typeface="Arial" panose="020B0604020202020204"/>
                        </a:rPr>
                        <a:t> </a:t>
                      </a:r>
                      <a:endParaRPr sz="1600" b="0" i="0" u="none" strike="noStrike" cap="none">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extLst>
                  <a:ext uri="{0D108BD9-81ED-4DB2-BD59-A6C34878D82A}">
                    <a16:rowId xmlns:a16="http://schemas.microsoft.com/office/drawing/2014/main" val="10003"/>
                  </a:ext>
                </a:extLst>
              </a:tr>
              <a:tr h="1226200">
                <a:tc vMerge="1">
                  <a:txBody>
                    <a:bodyPr/>
                    <a:lstStyle/>
                    <a:p>
                      <a:endParaRPr lang="fr-FR"/>
                    </a:p>
                  </a:txBody>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fr-FR" sz="1600" u="none" strike="noStrike" cap="none" dirty="0" smtClean="0">
                          <a:latin typeface="Arial Narrow" panose="020B0606020202030204" pitchFamily="34" charset="0"/>
                          <a:sym typeface="Arial" panose="020B0604020202020204"/>
                        </a:rPr>
                        <a:t>Analyses journalières des données avec le feed-back aux ZS</a:t>
                      </a:r>
                      <a:endParaRPr lang="fr-FR" sz="1600" b="0" i="0" u="none" strike="noStrike" cap="none" dirty="0" smtClean="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tc>
                  <a:txBody>
                    <a:bodyPr/>
                    <a:lstStyle/>
                    <a:p>
                      <a:pPr marR="0" lvl="0" algn="l" rtl="0">
                        <a:lnSpc>
                          <a:spcPct val="100000"/>
                        </a:lnSpc>
                        <a:spcBef>
                          <a:spcPts val="0"/>
                        </a:spcBef>
                        <a:spcAft>
                          <a:spcPts val="0"/>
                        </a:spcAft>
                        <a:buClr>
                          <a:srgbClr val="000000"/>
                        </a:buClr>
                        <a:buFont typeface="Arial" panose="020B0604020202020204"/>
                      </a:pPr>
                      <a:r>
                        <a:rPr lang="fr-FR" sz="1600" u="none" strike="noStrike" cap="none" dirty="0" smtClean="0">
                          <a:latin typeface="Arial Narrow" panose="020B0606020202030204" pitchFamily="34" charset="0"/>
                          <a:sym typeface="Arial" panose="020B0604020202020204"/>
                        </a:rPr>
                        <a:t>Les données IPVS logé dans le masque de saisie sont différentes de celles  saisies  sur DHIS2 pour toutes les ZS ;</a:t>
                      </a:r>
                      <a:endParaRPr lang="fr-FR" sz="1600" b="0" i="0" u="none" strike="noStrike" cap="none" dirty="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tc>
                  <a:txBody>
                    <a:bodyPr/>
                    <a:lstStyle/>
                    <a:p>
                      <a:pPr marL="0" marR="0" lvl="0" indent="0" algn="l" rtl="0">
                        <a:lnSpc>
                          <a:spcPct val="100000"/>
                        </a:lnSpc>
                        <a:spcBef>
                          <a:spcPts val="0"/>
                        </a:spcBef>
                        <a:spcAft>
                          <a:spcPts val="0"/>
                        </a:spcAft>
                        <a:buClr>
                          <a:srgbClr val="000000"/>
                        </a:buClr>
                        <a:buFont typeface="Arial" panose="020B0604020202020204"/>
                        <a:buNone/>
                      </a:pPr>
                      <a:endParaRPr sz="1600" b="0" i="0" u="none" strike="noStrike" cap="none" dirty="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tc>
                  <a:txBody>
                    <a:bodyPr/>
                    <a:lstStyle/>
                    <a:p>
                      <a:pPr marL="0" marR="0" lvl="0" indent="0" algn="l" rtl="0">
                        <a:spcBef>
                          <a:spcPts val="0"/>
                        </a:spcBef>
                        <a:spcAft>
                          <a:spcPts val="0"/>
                        </a:spcAft>
                        <a:buNone/>
                      </a:pPr>
                      <a:r>
                        <a:rPr lang="en-US" sz="1600" u="none" strike="noStrike" cap="none" dirty="0">
                          <a:latin typeface="Arial Narrow" panose="020B0606020202030204" pitchFamily="34" charset="0"/>
                          <a:sym typeface="Arial" panose="020B0604020202020204"/>
                        </a:rPr>
                        <a:t> </a:t>
                      </a:r>
                      <a:endParaRPr sz="1600" b="0" i="0" u="none" strike="noStrike" cap="none" dirty="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extLst>
                  <a:ext uri="{0D108BD9-81ED-4DB2-BD59-A6C34878D82A}">
                    <a16:rowId xmlns:a16="http://schemas.microsoft.com/office/drawing/2014/main" val="10004"/>
                  </a:ext>
                </a:extLst>
              </a:tr>
              <a:tr h="1161532">
                <a:tc>
                  <a:txBody>
                    <a:bodyPr/>
                    <a:lstStyle/>
                    <a:p>
                      <a:pPr marL="0" marR="0" lvl="0" indent="0" algn="l" rtl="0">
                        <a:spcBef>
                          <a:spcPts val="0"/>
                        </a:spcBef>
                        <a:spcAft>
                          <a:spcPts val="0"/>
                        </a:spcAft>
                        <a:buNone/>
                      </a:pPr>
                      <a:endParaRPr lang="en-US" sz="1600" b="0" i="1" u="none" strike="noStrike" cap="none" dirty="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tc>
                  <a:txBody>
                    <a:bodyPr/>
                    <a:lstStyle/>
                    <a:p>
                      <a:pPr marL="0" marR="0" lvl="0" indent="0" algn="l" rtl="0">
                        <a:lnSpc>
                          <a:spcPct val="100000"/>
                        </a:lnSpc>
                        <a:spcBef>
                          <a:spcPts val="0"/>
                        </a:spcBef>
                        <a:spcAft>
                          <a:spcPts val="0"/>
                        </a:spcAft>
                        <a:buClr>
                          <a:srgbClr val="000000"/>
                        </a:buClr>
                        <a:buFont typeface="Arial" panose="020B0604020202020204"/>
                        <a:buNone/>
                      </a:pPr>
                      <a:r>
                        <a:rPr lang="fr-FR" sz="1600" u="none" strike="noStrike" cap="none" dirty="0" smtClean="0">
                          <a:latin typeface="Arial Narrow" panose="020B0606020202030204" pitchFamily="34" charset="0"/>
                          <a:sym typeface="Arial" panose="020B0604020202020204"/>
                        </a:rPr>
                        <a:t>Le masque de saisie rendu disponible dès le début de chaque passage</a:t>
                      </a:r>
                      <a:endParaRPr lang="fr-FR" sz="1600" b="0" i="0" u="none" strike="noStrike" cap="none" dirty="0" smtClean="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tc>
                  <a:txBody>
                    <a:bodyPr/>
                    <a:lstStyle/>
                    <a:p>
                      <a:pPr marL="0" marR="0" lvl="0" indent="0" algn="l" rtl="0">
                        <a:lnSpc>
                          <a:spcPct val="100000"/>
                        </a:lnSpc>
                        <a:spcBef>
                          <a:spcPts val="0"/>
                        </a:spcBef>
                        <a:spcAft>
                          <a:spcPts val="0"/>
                        </a:spcAft>
                        <a:buClr>
                          <a:srgbClr val="000000"/>
                        </a:buClr>
                        <a:buFont typeface="Arial" panose="020B0604020202020204"/>
                        <a:buNone/>
                      </a:pPr>
                      <a:r>
                        <a:rPr lang="fr-FR" sz="1600" u="none" strike="noStrike" cap="none" dirty="0" smtClean="0">
                          <a:latin typeface="Arial Narrow" panose="020B0606020202030204" pitchFamily="34" charset="0"/>
                          <a:sym typeface="Arial" panose="020B0604020202020204"/>
                        </a:rPr>
                        <a:t>Les soldes des EZD et ESV non encore vacciné  dans certaines ZS</a:t>
                      </a:r>
                      <a:endParaRPr sz="1600" b="0" i="0" u="none" strike="noStrike" cap="none" dirty="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tc>
                  <a:txBody>
                    <a:bodyPr/>
                    <a:lstStyle/>
                    <a:p>
                      <a:pPr marL="0" marR="0" lvl="0" indent="0" algn="l" rtl="0">
                        <a:lnSpc>
                          <a:spcPct val="100000"/>
                        </a:lnSpc>
                        <a:spcBef>
                          <a:spcPts val="0"/>
                        </a:spcBef>
                        <a:spcAft>
                          <a:spcPts val="0"/>
                        </a:spcAft>
                        <a:buClr>
                          <a:srgbClr val="000000"/>
                        </a:buClr>
                        <a:buFont typeface="Arial" panose="020B0604020202020204"/>
                        <a:buNone/>
                      </a:pPr>
                      <a:endParaRPr sz="1600" b="0" i="0" u="none" strike="noStrike" cap="none" dirty="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tc>
                  <a:txBody>
                    <a:bodyPr/>
                    <a:lstStyle/>
                    <a:p>
                      <a:pPr marL="0" marR="0" lvl="0" indent="0" algn="l" rtl="0">
                        <a:spcBef>
                          <a:spcPts val="0"/>
                        </a:spcBef>
                        <a:spcAft>
                          <a:spcPts val="0"/>
                        </a:spcAft>
                        <a:buNone/>
                      </a:pPr>
                      <a:endParaRPr sz="1600" b="0" i="0" u="none" strike="noStrike" cap="none" dirty="0">
                        <a:solidFill>
                          <a:srgbClr val="000000"/>
                        </a:solidFill>
                        <a:latin typeface="Arial Narrow" panose="020B0606020202030204" pitchFamily="34" charset="0"/>
                        <a:ea typeface="Arial" panose="020B0604020202020204"/>
                        <a:cs typeface="Arial" panose="020B0604020202020204"/>
                        <a:sym typeface="Arial" panose="020B0604020202020204"/>
                      </a:endParaRPr>
                    </a:p>
                  </a:txBody>
                  <a:tcPr marL="7000" marR="7000" marT="7000" marB="0"/>
                </a:tc>
                <a:extLst>
                  <a:ext uri="{0D108BD9-81ED-4DB2-BD59-A6C34878D82A}">
                    <a16:rowId xmlns:a16="http://schemas.microsoft.com/office/drawing/2014/main" val="4150481606"/>
                  </a:ext>
                </a:extLst>
              </a:tr>
            </a:tbl>
          </a:graphicData>
        </a:graphic>
      </p:graphicFrame>
    </p:spTree>
    <p:extLst>
      <p:ext uri="{BB962C8B-B14F-4D97-AF65-F5344CB8AC3E}">
        <p14:creationId xmlns:p14="http://schemas.microsoft.com/office/powerpoint/2010/main" val="235828370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2" name="Titre 1"/>
          <p:cNvSpPr>
            <a:spLocks noGrp="1"/>
          </p:cNvSpPr>
          <p:nvPr>
            <p:ph type="title"/>
          </p:nvPr>
        </p:nvSpPr>
        <p:spPr>
          <a:xfrm>
            <a:off x="281178" y="253122"/>
            <a:ext cx="11400421" cy="688239"/>
          </a:xfrm>
          <a:solidFill>
            <a:schemeClr val="accent6">
              <a:lumMod val="40000"/>
              <a:lumOff val="60000"/>
            </a:schemeClr>
          </a:solidFill>
          <a:ln>
            <a:solidFill>
              <a:schemeClr val="accent1"/>
            </a:solidFill>
          </a:ln>
        </p:spPr>
        <p:style>
          <a:lnRef idx="1">
            <a:schemeClr val="dk1"/>
          </a:lnRef>
          <a:fillRef idx="2">
            <a:schemeClr val="dk1"/>
          </a:fillRef>
          <a:effectRef idx="1">
            <a:schemeClr val="dk1"/>
          </a:effectRef>
          <a:fontRef idx="minor">
            <a:schemeClr val="dk1"/>
          </a:fontRef>
        </p:style>
        <p:txBody>
          <a:bodyPr>
            <a:noAutofit/>
          </a:bodyPr>
          <a:lstStyle/>
          <a:p>
            <a:pPr algn="ctr"/>
            <a:r>
              <a:rPr lang="fr-FR" b="1" dirty="0" smtClean="0">
                <a:effectLst>
                  <a:outerShdw blurRad="38100" dist="38100" dir="2700000" algn="tl">
                    <a:srgbClr val="000000">
                      <a:alpha val="43137"/>
                    </a:srgbClr>
                  </a:outerShdw>
                </a:effectLst>
              </a:rPr>
              <a:t>12. MEILLEURS </a:t>
            </a:r>
            <a:r>
              <a:rPr lang="fr-FR" b="1" dirty="0" smtClean="0">
                <a:effectLst>
                  <a:outerShdw blurRad="38100" dist="38100" dir="2700000" algn="tl">
                    <a:srgbClr val="000000">
                      <a:alpha val="43137"/>
                    </a:srgbClr>
                  </a:outerShdw>
                </a:effectLst>
              </a:rPr>
              <a:t>PRATIQUES</a:t>
            </a:r>
            <a:endParaRPr lang="fr-FR" b="1" dirty="0">
              <a:effectLst>
                <a:outerShdw blurRad="38100" dist="38100" dir="2700000" algn="tl">
                  <a:srgbClr val="000000">
                    <a:alpha val="43137"/>
                  </a:srgbClr>
                </a:outerShdw>
              </a:effectLst>
            </a:endParaRPr>
          </a:p>
        </p:txBody>
      </p:sp>
      <p:sp>
        <p:nvSpPr>
          <p:cNvPr id="1048833" name="Espace réservé du texte 2"/>
          <p:cNvSpPr>
            <a:spLocks noGrp="1"/>
          </p:cNvSpPr>
          <p:nvPr>
            <p:ph type="body" idx="1"/>
          </p:nvPr>
        </p:nvSpPr>
        <p:spPr>
          <a:xfrm>
            <a:off x="281177" y="1053794"/>
            <a:ext cx="5539519" cy="576262"/>
          </a:xfrm>
          <a:ln/>
        </p:spPr>
        <p:style>
          <a:lnRef idx="1">
            <a:schemeClr val="dk1"/>
          </a:lnRef>
          <a:fillRef idx="2">
            <a:schemeClr val="dk1"/>
          </a:fillRef>
          <a:effectRef idx="1">
            <a:schemeClr val="dk1"/>
          </a:effectRef>
          <a:fontRef idx="minor">
            <a:schemeClr val="dk1"/>
          </a:fontRef>
        </p:style>
        <p:txBody>
          <a:bodyPr>
            <a:normAutofit/>
          </a:bodyPr>
          <a:lstStyle/>
          <a:p>
            <a:pPr algn="ctr"/>
            <a:r>
              <a:rPr lang="fr-FR" sz="3200" dirty="0" smtClean="0">
                <a:effectLst>
                  <a:outerShdw blurRad="38100" dist="38100" dir="2700000" algn="tl">
                    <a:srgbClr val="000000">
                      <a:alpha val="43137"/>
                    </a:srgbClr>
                  </a:outerShdw>
                </a:effectLst>
                <a:latin typeface="+mj-lt"/>
              </a:rPr>
              <a:t>TECHNIQUE</a:t>
            </a:r>
            <a:endParaRPr lang="fr-FR" sz="3200" dirty="0">
              <a:effectLst>
                <a:outerShdw blurRad="38100" dist="38100" dir="2700000" algn="tl">
                  <a:srgbClr val="000000">
                    <a:alpha val="43137"/>
                  </a:srgbClr>
                </a:outerShdw>
              </a:effectLst>
              <a:latin typeface="+mj-lt"/>
            </a:endParaRPr>
          </a:p>
        </p:txBody>
      </p:sp>
      <p:sp>
        <p:nvSpPr>
          <p:cNvPr id="1048835" name="Espace réservé du texte 4"/>
          <p:cNvSpPr>
            <a:spLocks noGrp="1"/>
          </p:cNvSpPr>
          <p:nvPr>
            <p:ph type="body" sz="quarter" idx="3"/>
          </p:nvPr>
        </p:nvSpPr>
        <p:spPr>
          <a:xfrm>
            <a:off x="6027174" y="1053794"/>
            <a:ext cx="5654425" cy="576262"/>
          </a:xfrm>
          <a:ln/>
        </p:spPr>
        <p:style>
          <a:lnRef idx="1">
            <a:schemeClr val="dk1"/>
          </a:lnRef>
          <a:fillRef idx="2">
            <a:schemeClr val="dk1"/>
          </a:fillRef>
          <a:effectRef idx="1">
            <a:schemeClr val="dk1"/>
          </a:effectRef>
          <a:fontRef idx="minor">
            <a:schemeClr val="dk1"/>
          </a:fontRef>
        </p:style>
        <p:txBody>
          <a:bodyPr>
            <a:normAutofit/>
          </a:bodyPr>
          <a:lstStyle/>
          <a:p>
            <a:pPr algn="ctr"/>
            <a:r>
              <a:rPr lang="fr-FR" sz="3200" dirty="0" smtClean="0">
                <a:effectLst>
                  <a:outerShdw blurRad="38100" dist="38100" dir="2700000" algn="tl">
                    <a:srgbClr val="000000">
                      <a:alpha val="43137"/>
                    </a:srgbClr>
                  </a:outerShdw>
                </a:effectLst>
                <a:latin typeface="+mj-lt"/>
              </a:rPr>
              <a:t>LOGISTIQUE</a:t>
            </a:r>
            <a:endParaRPr lang="fr-FR" sz="3200" dirty="0">
              <a:effectLst>
                <a:outerShdw blurRad="38100" dist="38100" dir="2700000" algn="tl">
                  <a:srgbClr val="000000">
                    <a:alpha val="43137"/>
                  </a:srgbClr>
                </a:outerShdw>
              </a:effectLst>
              <a:latin typeface="+mj-lt"/>
            </a:endParaRPr>
          </a:p>
        </p:txBody>
      </p:sp>
      <p:sp>
        <p:nvSpPr>
          <p:cNvPr id="1048837" name="Espace réservé de la date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7D81D17-B288-4076-AA91-1112FA4F1B12}"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12/16/2025</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2" name="Espace réservé du contenu 3">
            <a:extLst>
              <a:ext uri="{FF2B5EF4-FFF2-40B4-BE49-F238E27FC236}">
                <a16:creationId xmlns:a16="http://schemas.microsoft.com/office/drawing/2014/main" id="{2928A480-C652-4A98-A06E-4783A4C5F5F7}"/>
              </a:ext>
            </a:extLst>
          </p:cNvPr>
          <p:cNvSpPr>
            <a:spLocks noGrp="1"/>
          </p:cNvSpPr>
          <p:nvPr>
            <p:ph sz="half" idx="2"/>
          </p:nvPr>
        </p:nvSpPr>
        <p:spPr>
          <a:xfrm>
            <a:off x="277090" y="1742489"/>
            <a:ext cx="5543605" cy="4160537"/>
          </a:xfrm>
          <a:ln w="28575">
            <a:solidFill>
              <a:schemeClr val="accent1"/>
            </a:solidFill>
          </a:ln>
        </p:spPr>
        <p:txBody>
          <a:bodyPr>
            <a:normAutofit/>
          </a:bodyPr>
          <a:lstStyle/>
          <a:p>
            <a:pPr algn="just" fontAlgn="base">
              <a:lnSpc>
                <a:spcPct val="148000"/>
              </a:lnSpc>
              <a:spcAft>
                <a:spcPts val="905"/>
              </a:spcAft>
              <a:buClr>
                <a:srgbClr val="000000"/>
              </a:buClr>
              <a:buSzPts val="1200"/>
              <a:buFont typeface="Wingdings" panose="05000000000000000000" pitchFamily="2" charset="2"/>
              <a:buChar char="ü"/>
            </a:pPr>
            <a:endParaRPr lang="fr-FR" sz="2400" dirty="0" smtClean="0">
              <a:solidFill>
                <a:srgbClr val="000000"/>
              </a:solidFill>
              <a:uFill>
                <a:solidFill>
                  <a:srgbClr val="000000"/>
                </a:solidFill>
              </a:uFill>
              <a:latin typeface="Arial Narrow" panose="020B0606020202030204" pitchFamily="34" charset="0"/>
              <a:ea typeface="Arial" panose="020B0604020202020204" pitchFamily="34" charset="0"/>
              <a:cs typeface="Arial" panose="020B0604020202020204" pitchFamily="34" charset="0"/>
            </a:endParaRPr>
          </a:p>
          <a:p>
            <a:pPr lvl="0" algn="just" fontAlgn="base">
              <a:lnSpc>
                <a:spcPct val="148000"/>
              </a:lnSpc>
              <a:spcAft>
                <a:spcPts val="905"/>
              </a:spcAft>
              <a:buClr>
                <a:srgbClr val="000000"/>
              </a:buClr>
              <a:buSzPts val="1200"/>
              <a:buFont typeface="Wingdings" panose="05000000000000000000" pitchFamily="2" charset="2"/>
              <a:buChar char="ü"/>
            </a:pPr>
            <a:endParaRPr lang="fr-FR" sz="2400" dirty="0" smtClean="0">
              <a:solidFill>
                <a:srgbClr val="000000"/>
              </a:solidFill>
              <a:uFill>
                <a:solidFill>
                  <a:srgbClr val="000000"/>
                </a:solidFill>
              </a:uFill>
              <a:latin typeface="Arial Narrow" panose="020B0606020202030204" pitchFamily="34" charset="0"/>
              <a:ea typeface="Arial" panose="020B0604020202020204" pitchFamily="34" charset="0"/>
              <a:cs typeface="Arial" panose="020B0604020202020204" pitchFamily="34" charset="0"/>
            </a:endParaRPr>
          </a:p>
          <a:p>
            <a:pPr lvl="0" algn="just" fontAlgn="base">
              <a:lnSpc>
                <a:spcPct val="148000"/>
              </a:lnSpc>
              <a:spcAft>
                <a:spcPts val="905"/>
              </a:spcAft>
              <a:buClr>
                <a:srgbClr val="000000"/>
              </a:buClr>
              <a:buSzPts val="1200"/>
              <a:buFont typeface="Wingdings" panose="05000000000000000000" pitchFamily="2" charset="2"/>
              <a:buChar char="ü"/>
            </a:pPr>
            <a:endParaRPr lang="fr-FR" sz="2400" dirty="0" smtClean="0">
              <a:solidFill>
                <a:srgbClr val="000000"/>
              </a:solidFill>
              <a:uFill>
                <a:solidFill>
                  <a:srgbClr val="000000"/>
                </a:solidFill>
              </a:uFill>
              <a:latin typeface="Arial Narrow" panose="020B0606020202030204" pitchFamily="34" charset="0"/>
              <a:ea typeface="Arial" panose="020B0604020202020204" pitchFamily="34" charset="0"/>
              <a:cs typeface="Arial" panose="020B0604020202020204" pitchFamily="34" charset="0"/>
            </a:endParaRPr>
          </a:p>
          <a:p>
            <a:pPr marL="0" indent="0">
              <a:buNone/>
            </a:pPr>
            <a:endParaRPr lang="fr-FR" sz="2400" dirty="0">
              <a:latin typeface="Arial" panose="020B0604020202020204" pitchFamily="34" charset="0"/>
              <a:cs typeface="Arial" panose="020B0604020202020204" pitchFamily="34" charset="0"/>
            </a:endParaRPr>
          </a:p>
        </p:txBody>
      </p:sp>
      <p:sp>
        <p:nvSpPr>
          <p:cNvPr id="13" name="Espace réservé du contenu 5">
            <a:extLst>
              <a:ext uri="{FF2B5EF4-FFF2-40B4-BE49-F238E27FC236}">
                <a16:creationId xmlns:a16="http://schemas.microsoft.com/office/drawing/2014/main" id="{2DA71682-57A7-4BA0-9361-EF7A2E30A560}"/>
              </a:ext>
            </a:extLst>
          </p:cNvPr>
          <p:cNvSpPr>
            <a:spLocks noGrp="1"/>
          </p:cNvSpPr>
          <p:nvPr>
            <p:ph sz="quarter" idx="4"/>
          </p:nvPr>
        </p:nvSpPr>
        <p:spPr>
          <a:xfrm>
            <a:off x="6027174" y="1764145"/>
            <a:ext cx="5654425" cy="4135653"/>
          </a:xfrm>
          <a:ln w="28575">
            <a:solidFill>
              <a:schemeClr val="accent1"/>
            </a:solidFill>
          </a:ln>
        </p:spPr>
        <p:txBody>
          <a:bodyPr>
            <a:noAutofit/>
          </a:bodyPr>
          <a:lstStyle/>
          <a:p>
            <a:pPr marL="285750" indent="-285750"/>
            <a:r>
              <a:rPr lang="fr-FR" sz="1800" dirty="0" smtClean="0">
                <a:solidFill>
                  <a:srgbClr val="000000"/>
                </a:solidFill>
                <a:latin typeface="Arial Narrow" panose="020B0606020202030204" pitchFamily="34" charset="0"/>
                <a:ea typeface="Arial" panose="020B0604020202020204"/>
                <a:cs typeface="Arial" panose="020B0604020202020204"/>
                <a:sym typeface="Arial" panose="020B0604020202020204"/>
              </a:rPr>
              <a:t>Regroupement </a:t>
            </a:r>
            <a:r>
              <a:rPr lang="fr-FR" sz="1800" dirty="0">
                <a:solidFill>
                  <a:srgbClr val="000000"/>
                </a:solidFill>
                <a:latin typeface="Arial Narrow" panose="020B0606020202030204" pitchFamily="34" charset="0"/>
                <a:ea typeface="Arial" panose="020B0604020202020204"/>
                <a:cs typeface="Arial" panose="020B0604020202020204"/>
                <a:sym typeface="Arial" panose="020B0604020202020204"/>
              </a:rPr>
              <a:t>des AS filles autour des AS leaders qui ont des  MCF homologués et fonctionnels;  </a:t>
            </a:r>
          </a:p>
          <a:p>
            <a:pPr marL="285750" indent="-285750"/>
            <a:r>
              <a:rPr lang="fr-FR" sz="1800" dirty="0">
                <a:solidFill>
                  <a:srgbClr val="000000"/>
                </a:solidFill>
                <a:latin typeface="Arial Narrow" panose="020B0606020202030204" pitchFamily="34" charset="0"/>
                <a:ea typeface="Arial" panose="020B0604020202020204"/>
                <a:cs typeface="Arial" panose="020B0604020202020204"/>
                <a:sym typeface="Arial" panose="020B0604020202020204"/>
              </a:rPr>
              <a:t>Pré positionnement des glacières  dans les ZS ayant un déficit </a:t>
            </a:r>
            <a:r>
              <a:rPr lang="fr-FR" sz="1800" dirty="0" smtClean="0">
                <a:solidFill>
                  <a:srgbClr val="000000"/>
                </a:solidFill>
                <a:latin typeface="Arial Narrow" panose="020B0606020202030204" pitchFamily="34" charset="0"/>
                <a:ea typeface="Arial" panose="020B0604020202020204"/>
                <a:cs typeface="Arial" panose="020B0604020202020204"/>
                <a:sym typeface="Arial" panose="020B0604020202020204"/>
              </a:rPr>
              <a:t>en </a:t>
            </a:r>
            <a:r>
              <a:rPr lang="fr-FR" sz="1800" dirty="0">
                <a:solidFill>
                  <a:srgbClr val="000000"/>
                </a:solidFill>
                <a:latin typeface="Arial Narrow" panose="020B0606020202030204" pitchFamily="34" charset="0"/>
                <a:ea typeface="Arial" panose="020B0604020202020204"/>
                <a:cs typeface="Arial" panose="020B0604020202020204"/>
                <a:sym typeface="Arial" panose="020B0604020202020204"/>
              </a:rPr>
              <a:t>MCF;</a:t>
            </a:r>
          </a:p>
          <a:p>
            <a:pPr marL="285750" indent="-285750"/>
            <a:r>
              <a:rPr lang="fr-FR" sz="1800" dirty="0">
                <a:solidFill>
                  <a:srgbClr val="000000"/>
                </a:solidFill>
                <a:latin typeface="Arial Narrow" panose="020B0606020202030204" pitchFamily="34" charset="0"/>
                <a:ea typeface="Arial" panose="020B0604020202020204"/>
                <a:cs typeface="Arial" panose="020B0604020202020204"/>
                <a:sym typeface="Arial" panose="020B0604020202020204"/>
              </a:rPr>
              <a:t>Recyclages des accumulateurs et redéploiement dans les ZS;</a:t>
            </a:r>
          </a:p>
          <a:p>
            <a:pPr marL="285750" indent="-285750"/>
            <a:r>
              <a:rPr lang="fr-FR" sz="1800" dirty="0" smtClean="0">
                <a:solidFill>
                  <a:srgbClr val="000000"/>
                </a:solidFill>
                <a:latin typeface="Arial Narrow" panose="020B0606020202030204" pitchFamily="34" charset="0"/>
                <a:ea typeface="Arial" panose="020B0604020202020204"/>
                <a:cs typeface="Arial" panose="020B0604020202020204"/>
                <a:sym typeface="Arial" panose="020B0604020202020204"/>
              </a:rPr>
              <a:t>Tenue </a:t>
            </a:r>
            <a:r>
              <a:rPr lang="fr-FR" sz="1800" dirty="0">
                <a:solidFill>
                  <a:srgbClr val="000000"/>
                </a:solidFill>
                <a:latin typeface="Arial Narrow" panose="020B0606020202030204" pitchFamily="34" charset="0"/>
                <a:ea typeface="Arial" panose="020B0604020202020204"/>
                <a:cs typeface="Arial" panose="020B0604020202020204"/>
                <a:sym typeface="Arial" panose="020B0604020202020204"/>
              </a:rPr>
              <a:t>à jour et correctement des outils de gestion.</a:t>
            </a:r>
          </a:p>
          <a:p>
            <a:pPr marL="285750" indent="-285750"/>
            <a:r>
              <a:rPr lang="fr-FR" sz="1800" dirty="0" smtClean="0">
                <a:solidFill>
                  <a:srgbClr val="000000"/>
                </a:solidFill>
                <a:latin typeface="Arial Narrow" panose="020B0606020202030204" pitchFamily="34" charset="0"/>
                <a:ea typeface="Arial" panose="020B0604020202020204"/>
                <a:cs typeface="Arial" panose="020B0604020202020204"/>
                <a:sym typeface="Arial" panose="020B0604020202020204"/>
              </a:rPr>
              <a:t>La </a:t>
            </a:r>
            <a:r>
              <a:rPr lang="fr-FR" sz="1800" dirty="0">
                <a:solidFill>
                  <a:srgbClr val="000000"/>
                </a:solidFill>
                <a:latin typeface="Arial Narrow" panose="020B0606020202030204" pitchFamily="34" charset="0"/>
                <a:ea typeface="Arial" panose="020B0604020202020204"/>
                <a:cs typeface="Arial" panose="020B0604020202020204"/>
                <a:sym typeface="Arial" panose="020B0604020202020204"/>
              </a:rPr>
              <a:t>quantité des vaccins reçus pour les IPVS a permis de récupérer les enfants ( ZD et SV), sans faire recours aux doses supplémentaires.</a:t>
            </a:r>
          </a:p>
          <a:p>
            <a:pPr marL="0" lvl="0" indent="0">
              <a:buNone/>
            </a:pPr>
            <a:endParaRPr lang="fr-FR" sz="2000" dirty="0" smtClean="0"/>
          </a:p>
          <a:p>
            <a:pPr lvl="0"/>
            <a:endParaRPr lang="fr-FR" sz="2000" dirty="0"/>
          </a:p>
          <a:p>
            <a:pPr lvl="0"/>
            <a:endParaRPr lang="fr-FR" sz="2000" dirty="0" smtClean="0"/>
          </a:p>
          <a:p>
            <a:pPr marL="0" indent="0">
              <a:buNone/>
            </a:pPr>
            <a:r>
              <a:rPr lang="fr-FR" sz="1800" dirty="0" smtClean="0">
                <a:solidFill>
                  <a:prstClr val="black"/>
                </a:solidFill>
                <a:latin typeface="Arial Narrow" panose="020B0606020202030204" pitchFamily="34" charset="0"/>
              </a:rPr>
              <a:t> </a:t>
            </a:r>
          </a:p>
        </p:txBody>
      </p:sp>
      <p:sp>
        <p:nvSpPr>
          <p:cNvPr id="2" name="Espace réservé du pied de page 1"/>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t>REVUE NATIONALE ANNUELLE PEV DPS KASAÏ</a:t>
            </a:r>
            <a:endParaRPr kumimoji="0" lang="fr-F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p:nvPr/>
        </p:nvSpPr>
        <p:spPr>
          <a:xfrm>
            <a:off x="383822" y="1764145"/>
            <a:ext cx="5398142" cy="2862322"/>
          </a:xfrm>
          <a:prstGeom prst="rect">
            <a:avLst/>
          </a:prstGeom>
        </p:spPr>
        <p:txBody>
          <a:bodyPr wrap="square">
            <a:spAutoFit/>
          </a:bodyPr>
          <a:lstStyle/>
          <a:p>
            <a:r>
              <a:rPr lang="fr-FR" sz="1800" dirty="0">
                <a:latin typeface="Arial Narrow" panose="020B0606020202030204" pitchFamily="34" charset="0"/>
              </a:rPr>
              <a:t>Renforcement du PEV de routine par:</a:t>
            </a:r>
          </a:p>
          <a:p>
            <a:pPr marL="285750" indent="-285750">
              <a:buFont typeface="Arial" panose="020B0604020202020204" pitchFamily="34" charset="0"/>
              <a:buChar char="•"/>
            </a:pPr>
            <a:r>
              <a:rPr lang="fr-FR" sz="1800" dirty="0">
                <a:latin typeface="Arial Narrow" panose="020B0606020202030204" pitchFamily="34" charset="0"/>
              </a:rPr>
              <a:t>Renforcement de capacité des cadres de la DPS, des ZS dans le suivi des activités de la vaccination et la recherches des enfants en conflit avec le calendrier vaccinal;  </a:t>
            </a:r>
            <a:endParaRPr lang="fr-FR" sz="1800" dirty="0" smtClean="0">
              <a:latin typeface="Arial Narrow" panose="020B0606020202030204" pitchFamily="34" charset="0"/>
            </a:endParaRPr>
          </a:p>
          <a:p>
            <a:endParaRPr lang="fr-FR" sz="1800" dirty="0">
              <a:latin typeface="Arial Narrow" panose="020B0606020202030204" pitchFamily="34" charset="0"/>
            </a:endParaRPr>
          </a:p>
          <a:p>
            <a:pPr marL="285750" indent="-285750">
              <a:buFont typeface="Arial" panose="020B0604020202020204" pitchFamily="34" charset="0"/>
              <a:buChar char="•"/>
            </a:pPr>
            <a:r>
              <a:rPr lang="fr-FR" sz="1800" dirty="0">
                <a:latin typeface="Arial Narrow" panose="020B0606020202030204" pitchFamily="34" charset="0"/>
              </a:rPr>
              <a:t>Mise à jour </a:t>
            </a:r>
            <a:r>
              <a:rPr lang="fr-FR" sz="1800" dirty="0" smtClean="0">
                <a:latin typeface="Arial Narrow" panose="020B0606020202030204" pitchFamily="34" charset="0"/>
              </a:rPr>
              <a:t>permanant </a:t>
            </a:r>
            <a:r>
              <a:rPr lang="fr-FR" sz="1800" dirty="0">
                <a:latin typeface="Arial Narrow" panose="020B0606020202030204" pitchFamily="34" charset="0"/>
              </a:rPr>
              <a:t>des listes des enfants à </a:t>
            </a:r>
            <a:r>
              <a:rPr lang="fr-FR" sz="1800" dirty="0" smtClean="0">
                <a:latin typeface="Arial Narrow" panose="020B0606020202030204" pitchFamily="34" charset="0"/>
              </a:rPr>
              <a:t>récupérer;</a:t>
            </a:r>
          </a:p>
          <a:p>
            <a:endParaRPr lang="fr-FR" sz="1800" dirty="0">
              <a:latin typeface="Arial Narrow" panose="020B0606020202030204" pitchFamily="34" charset="0"/>
            </a:endParaRPr>
          </a:p>
          <a:p>
            <a:pPr marL="285750" indent="-285750">
              <a:buFont typeface="Arial" panose="020B0604020202020204" pitchFamily="34" charset="0"/>
              <a:buChar char="•"/>
            </a:pPr>
            <a:r>
              <a:rPr lang="fr-FR" sz="1800" dirty="0">
                <a:latin typeface="Arial Narrow" panose="020B0606020202030204" pitchFamily="34" charset="0"/>
              </a:rPr>
              <a:t>Redynamisation des activités des relais communautaires au travers des visites à </a:t>
            </a:r>
            <a:r>
              <a:rPr lang="fr-FR" sz="1800" dirty="0" smtClean="0">
                <a:latin typeface="Arial Narrow" panose="020B0606020202030204" pitchFamily="34" charset="0"/>
              </a:rPr>
              <a:t>domicile;</a:t>
            </a:r>
            <a:endParaRPr lang="fr-FR" sz="1800" dirty="0">
              <a:latin typeface="Arial Narrow" panose="020B0606020202030204" pitchFamily="34" charset="0"/>
            </a:endParaRPr>
          </a:p>
        </p:txBody>
      </p:sp>
    </p:spTree>
    <p:extLst>
      <p:ext uri="{BB962C8B-B14F-4D97-AF65-F5344CB8AC3E}">
        <p14:creationId xmlns:p14="http://schemas.microsoft.com/office/powerpoint/2010/main" val="1439741160"/>
      </p:ext>
    </p:extLst>
  </p:cSld>
  <p:clrMapOvr>
    <a:masterClrMapping/>
  </p:clrMapOvr>
  <p:transition spd="slow">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EF1CEA2C-B1BD-4FD1-A716-95FE9ED2672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515C3EC-6DF3-42D7-8A00-320FF05A5F7E}"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12/16/2025</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Espace réservé du pied de page 4">
            <a:extLst>
              <a:ext uri="{FF2B5EF4-FFF2-40B4-BE49-F238E27FC236}">
                <a16:creationId xmlns:a16="http://schemas.microsoft.com/office/drawing/2014/main" id="{B240382B-22D7-4E5B-BFC7-CC1C82EE7218}"/>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t>REVUE NATIONALE ANNUELLE PEV DPS KASAÏ</a:t>
            </a:r>
            <a:endParaRPr kumimoji="0" lang="fr-F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graphicFrame>
        <p:nvGraphicFramePr>
          <p:cNvPr id="7" name="Espace réservé du contenu 6">
            <a:extLst>
              <a:ext uri="{FF2B5EF4-FFF2-40B4-BE49-F238E27FC236}">
                <a16:creationId xmlns:a16="http://schemas.microsoft.com/office/drawing/2014/main" id="{E4F91DEA-1599-4134-942D-85D25E9B9218}"/>
              </a:ext>
            </a:extLst>
          </p:cNvPr>
          <p:cNvGraphicFramePr>
            <a:graphicFrameLocks noGrp="1"/>
          </p:cNvGraphicFramePr>
          <p:nvPr>
            <p:ph idx="1"/>
            <p:extLst>
              <p:ext uri="{D42A27DB-BD31-4B8C-83A1-F6EECF244321}">
                <p14:modId xmlns:p14="http://schemas.microsoft.com/office/powerpoint/2010/main" val="3006346776"/>
              </p:ext>
            </p:extLst>
          </p:nvPr>
        </p:nvGraphicFramePr>
        <p:xfrm>
          <a:off x="145143" y="928914"/>
          <a:ext cx="11709728" cy="4798668"/>
        </p:xfrm>
        <a:graphic>
          <a:graphicData uri="http://schemas.openxmlformats.org/drawingml/2006/table">
            <a:tbl>
              <a:tblPr firstRow="1" bandRow="1">
                <a:tableStyleId>{2D5ABB26-0587-4C30-8999-92F81FD0307C}</a:tableStyleId>
              </a:tblPr>
              <a:tblGrid>
                <a:gridCol w="580571">
                  <a:extLst>
                    <a:ext uri="{9D8B030D-6E8A-4147-A177-3AD203B41FA5}">
                      <a16:colId xmlns:a16="http://schemas.microsoft.com/office/drawing/2014/main" val="20000"/>
                    </a:ext>
                  </a:extLst>
                </a:gridCol>
                <a:gridCol w="4255744">
                  <a:extLst>
                    <a:ext uri="{9D8B030D-6E8A-4147-A177-3AD203B41FA5}">
                      <a16:colId xmlns:a16="http://schemas.microsoft.com/office/drawing/2014/main" val="20001"/>
                    </a:ext>
                  </a:extLst>
                </a:gridCol>
                <a:gridCol w="2377796">
                  <a:extLst>
                    <a:ext uri="{9D8B030D-6E8A-4147-A177-3AD203B41FA5}">
                      <a16:colId xmlns:a16="http://schemas.microsoft.com/office/drawing/2014/main" val="20002"/>
                    </a:ext>
                  </a:extLst>
                </a:gridCol>
                <a:gridCol w="2754164">
                  <a:extLst>
                    <a:ext uri="{9D8B030D-6E8A-4147-A177-3AD203B41FA5}">
                      <a16:colId xmlns:a16="http://schemas.microsoft.com/office/drawing/2014/main" val="20003"/>
                    </a:ext>
                  </a:extLst>
                </a:gridCol>
                <a:gridCol w="1741453">
                  <a:extLst>
                    <a:ext uri="{9D8B030D-6E8A-4147-A177-3AD203B41FA5}">
                      <a16:colId xmlns:a16="http://schemas.microsoft.com/office/drawing/2014/main" val="20004"/>
                    </a:ext>
                  </a:extLst>
                </a:gridCol>
              </a:tblGrid>
              <a:tr h="636716">
                <a:tc>
                  <a:txBody>
                    <a:bodyPr/>
                    <a:lstStyle/>
                    <a:p>
                      <a:pPr marL="0" marR="0" lvl="0" indent="0" algn="l" rtl="0">
                        <a:lnSpc>
                          <a:spcPct val="100000"/>
                        </a:lnSpc>
                        <a:spcBef>
                          <a:spcPts val="0"/>
                        </a:spcBef>
                        <a:spcAft>
                          <a:spcPts val="0"/>
                        </a:spcAft>
                        <a:buClr>
                          <a:srgbClr val="000000"/>
                        </a:buClr>
                        <a:buFont typeface="Arial" panose="020B0604020202020204"/>
                        <a:buNone/>
                      </a:pPr>
                      <a:r>
                        <a:rPr lang="fr-FR" sz="1800" b="1" i="0" u="none" strike="noStrike" cap="none" dirty="0">
                          <a:solidFill>
                            <a:schemeClr val="dk1"/>
                          </a:solidFill>
                          <a:latin typeface="Arial Narrow" panose="020B0606020202030204" pitchFamily="34" charset="0"/>
                          <a:ea typeface="+mn-ea"/>
                          <a:cs typeface="+mn-cs"/>
                          <a:sym typeface="Arial" panose="020B0604020202020204"/>
                        </a:rPr>
                        <a:t>N°</a:t>
                      </a:r>
                    </a:p>
                  </a:txBody>
                  <a:tcPr>
                    <a:solidFill>
                      <a:schemeClr val="accent6">
                        <a:lumMod val="40000"/>
                        <a:lumOff val="60000"/>
                      </a:schemeClr>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fr-FR" sz="1800" b="1" i="0" u="none" strike="noStrike" cap="none" dirty="0">
                          <a:solidFill>
                            <a:schemeClr val="dk1"/>
                          </a:solidFill>
                          <a:latin typeface="Arial Narrow" panose="020B0606020202030204" pitchFamily="34" charset="0"/>
                          <a:ea typeface="+mn-ea"/>
                          <a:cs typeface="+mn-cs"/>
                          <a:sym typeface="Arial" panose="020B0604020202020204"/>
                        </a:rPr>
                        <a:t>RECOMMMANDATIONS</a:t>
                      </a:r>
                    </a:p>
                  </a:txBody>
                  <a:tcPr>
                    <a:solidFill>
                      <a:schemeClr val="accent6">
                        <a:lumMod val="40000"/>
                        <a:lumOff val="60000"/>
                      </a:schemeClr>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fr-FR" sz="1800" b="1" i="0" u="none" strike="noStrike" cap="none" dirty="0">
                          <a:solidFill>
                            <a:schemeClr val="dk1"/>
                          </a:solidFill>
                          <a:latin typeface="Arial Narrow" panose="020B0606020202030204" pitchFamily="34" charset="0"/>
                          <a:ea typeface="+mn-ea"/>
                          <a:cs typeface="+mn-cs"/>
                          <a:sym typeface="Arial" panose="020B0604020202020204"/>
                        </a:rPr>
                        <a:t>RESPONSABLE</a:t>
                      </a:r>
                    </a:p>
                  </a:txBody>
                  <a:tcPr>
                    <a:solidFill>
                      <a:schemeClr val="accent6">
                        <a:lumMod val="40000"/>
                        <a:lumOff val="60000"/>
                      </a:schemeClr>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fr-FR" sz="1800" b="1" i="0" u="none" strike="noStrike" cap="none" dirty="0">
                          <a:solidFill>
                            <a:schemeClr val="dk1"/>
                          </a:solidFill>
                          <a:latin typeface="Arial Narrow" panose="020B0606020202030204" pitchFamily="34" charset="0"/>
                          <a:ea typeface="+mn-ea"/>
                          <a:cs typeface="+mn-cs"/>
                          <a:sym typeface="Arial" panose="020B0604020202020204"/>
                        </a:rPr>
                        <a:t>ECHEANCE</a:t>
                      </a:r>
                    </a:p>
                  </a:txBody>
                  <a:tcPr>
                    <a:solidFill>
                      <a:schemeClr val="accent6">
                        <a:lumMod val="40000"/>
                        <a:lumOff val="60000"/>
                      </a:schemeClr>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fr-FR" sz="1800" b="1" i="0" u="none" strike="noStrike" cap="none" dirty="0" smtClean="0">
                          <a:solidFill>
                            <a:schemeClr val="dk1"/>
                          </a:solidFill>
                          <a:latin typeface="Arial Narrow" panose="020B0606020202030204" pitchFamily="34" charset="0"/>
                          <a:ea typeface="+mn-ea"/>
                          <a:cs typeface="+mn-cs"/>
                          <a:sym typeface="Arial" panose="020B0604020202020204"/>
                        </a:rPr>
                        <a:t>SOURCE DE VERIFICATION</a:t>
                      </a:r>
                      <a:endParaRPr lang="fr-FR" sz="1800" b="1" i="0" u="none" strike="noStrike" cap="none" dirty="0">
                        <a:solidFill>
                          <a:schemeClr val="dk1"/>
                        </a:solidFill>
                        <a:latin typeface="Arial Narrow" panose="020B0606020202030204" pitchFamily="34" charset="0"/>
                        <a:ea typeface="+mn-ea"/>
                        <a:cs typeface="+mn-cs"/>
                        <a:sym typeface="Arial" panose="020B0604020202020204"/>
                      </a:endParaRPr>
                    </a:p>
                  </a:txBody>
                  <a:tcPr>
                    <a:solidFill>
                      <a:schemeClr val="accent6">
                        <a:lumMod val="40000"/>
                        <a:lumOff val="60000"/>
                      </a:schemeClr>
                    </a:solidFill>
                  </a:tcPr>
                </a:tc>
                <a:extLst>
                  <a:ext uri="{0D108BD9-81ED-4DB2-BD59-A6C34878D82A}">
                    <a16:rowId xmlns:a16="http://schemas.microsoft.com/office/drawing/2014/main" val="10000"/>
                  </a:ext>
                </a:extLst>
              </a:tr>
              <a:tr h="1050801">
                <a:tc>
                  <a:txBody>
                    <a:bodyPr/>
                    <a:lstStyle/>
                    <a:p>
                      <a:pPr algn="l"/>
                      <a:r>
                        <a:rPr lang="fr-FR" sz="1400" dirty="0" smtClean="0">
                          <a:latin typeface="Arial Narrow" panose="020B0606020202030204" pitchFamily="34" charset="0"/>
                        </a:rPr>
                        <a:t>1</a:t>
                      </a:r>
                      <a:endParaRPr lang="fr-FR" sz="1400" dirty="0">
                        <a:solidFill>
                          <a:schemeClr val="tx1"/>
                        </a:solidFill>
                        <a:latin typeface="Arial Narrow" panose="020B0606020202030204" pitchFamily="34" charset="0"/>
                      </a:endParaRPr>
                    </a:p>
                  </a:txBody>
                  <a:tcPr anchor="ctr"/>
                </a:tc>
                <a:tc>
                  <a:txBody>
                    <a:bodyPr/>
                    <a:lstStyle/>
                    <a:p>
                      <a:pPr marL="225425" marR="13970" indent="-457200" algn="l">
                        <a:lnSpc>
                          <a:spcPct val="115000"/>
                        </a:lnSpc>
                        <a:spcAft>
                          <a:spcPts val="0"/>
                        </a:spcAft>
                      </a:pPr>
                      <a:r>
                        <a:rPr lang="fr-FR" sz="1800" baseline="0" dirty="0" smtClean="0">
                          <a:effectLst/>
                          <a:latin typeface="Arial Narrow" panose="020B0606020202030204" pitchFamily="34" charset="0"/>
                        </a:rPr>
                        <a:t>Concilier la gestion de tous les  antigènes et autres  intrants spécifiques lors des 3 passages des IPVS</a:t>
                      </a:r>
                      <a:endParaRPr lang="fr-FR" sz="1800" b="0" dirty="0">
                        <a:solidFill>
                          <a:srgbClr val="000000"/>
                        </a:solidFill>
                        <a:effectLst/>
                        <a:latin typeface="Arial Narrow" panose="020B0606020202030204" pitchFamily="34" charset="0"/>
                        <a:ea typeface="Trebuchet MS" panose="020B0603020202020204" pitchFamily="34" charset="0"/>
                        <a:cs typeface="Trebuchet MS" panose="020B0603020202020204" pitchFamily="34" charset="0"/>
                      </a:endParaRPr>
                    </a:p>
                  </a:txBody>
                  <a:tcPr marL="67310" marR="24130" marT="0" marB="0"/>
                </a:tc>
                <a:tc>
                  <a:txBody>
                    <a:bodyPr/>
                    <a:lstStyle/>
                    <a:p>
                      <a:pPr marL="1270" indent="-457200" algn="l">
                        <a:lnSpc>
                          <a:spcPct val="115000"/>
                        </a:lnSpc>
                        <a:spcAft>
                          <a:spcPts val="0"/>
                        </a:spcAft>
                      </a:pPr>
                      <a:r>
                        <a:rPr lang="fr-FR" sz="1600" dirty="0" smtClean="0">
                          <a:effectLst/>
                          <a:latin typeface="Arial Narrow" panose="020B0606020202030204" pitchFamily="34" charset="0"/>
                        </a:rPr>
                        <a:t>MCA/LOG</a:t>
                      </a:r>
                      <a:endParaRPr lang="fr-FR" sz="1600" b="0" dirty="0">
                        <a:solidFill>
                          <a:srgbClr val="000000"/>
                        </a:solidFill>
                        <a:effectLst/>
                        <a:latin typeface="Arial Narrow" panose="020B0606020202030204" pitchFamily="34" charset="0"/>
                        <a:ea typeface="Trebuchet MS" panose="020B0603020202020204" pitchFamily="34" charset="0"/>
                        <a:cs typeface="Trebuchet MS" panose="020B0603020202020204" pitchFamily="34" charset="0"/>
                      </a:endParaRPr>
                    </a:p>
                  </a:txBody>
                  <a:tcPr marL="67310" marR="24130" marT="0" marB="0" anchor="b"/>
                </a:tc>
                <a:tc>
                  <a:txBody>
                    <a:bodyPr/>
                    <a:lstStyle/>
                    <a:p>
                      <a:pPr marL="225425" indent="-6350" algn="l">
                        <a:lnSpc>
                          <a:spcPct val="115000"/>
                        </a:lnSpc>
                        <a:spcAft>
                          <a:spcPts val="0"/>
                        </a:spcAft>
                      </a:pPr>
                      <a:r>
                        <a:rPr lang="fr-FR" sz="1600" dirty="0" smtClean="0">
                          <a:effectLst/>
                          <a:latin typeface="Arial Narrow" panose="020B0606020202030204" pitchFamily="34" charset="0"/>
                        </a:rPr>
                        <a:t>Immédiat</a:t>
                      </a:r>
                      <a:endParaRPr lang="fr-FR" sz="1600" b="0" dirty="0">
                        <a:solidFill>
                          <a:srgbClr val="000000"/>
                        </a:solidFill>
                        <a:effectLst/>
                        <a:latin typeface="Arial Narrow" panose="020B0606020202030204" pitchFamily="34" charset="0"/>
                        <a:ea typeface="Trebuchet MS" panose="020B0603020202020204" pitchFamily="34" charset="0"/>
                        <a:cs typeface="Trebuchet MS" panose="020B0603020202020204" pitchFamily="34" charset="0"/>
                      </a:endParaRPr>
                    </a:p>
                  </a:txBody>
                  <a:tcPr marL="67310" marR="24130" marT="0" marB="0" anchor="b"/>
                </a:tc>
                <a:tc>
                  <a:txBody>
                    <a:bodyPr/>
                    <a:lstStyle/>
                    <a:p>
                      <a:pPr algn="l"/>
                      <a:r>
                        <a:rPr lang="fr-FR" sz="1800" dirty="0" smtClean="0">
                          <a:effectLst/>
                          <a:latin typeface="Arial Narrow" panose="020B0606020202030204" pitchFamily="34" charset="0"/>
                        </a:rPr>
                        <a:t>Rapport final de gestion conciliée validé et archivé</a:t>
                      </a:r>
                      <a:endParaRPr lang="fr-FR" sz="1800" b="0" dirty="0">
                        <a:solidFill>
                          <a:schemeClr val="tx1"/>
                        </a:solidFill>
                        <a:effectLst/>
                        <a:latin typeface="Arial Narrow" panose="020B0606020202030204" pitchFamily="34" charset="0"/>
                        <a:cs typeface="Arial" panose="020B0604020202020204" pitchFamily="34" charset="0"/>
                      </a:endParaRPr>
                    </a:p>
                  </a:txBody>
                  <a:tcPr/>
                </a:tc>
                <a:extLst>
                  <a:ext uri="{0D108BD9-81ED-4DB2-BD59-A6C34878D82A}">
                    <a16:rowId xmlns:a16="http://schemas.microsoft.com/office/drawing/2014/main" val="10001"/>
                  </a:ext>
                </a:extLst>
              </a:tr>
              <a:tr h="1050801">
                <a:tc>
                  <a:txBody>
                    <a:bodyPr/>
                    <a:lstStyle/>
                    <a:p>
                      <a:pPr algn="l"/>
                      <a:r>
                        <a:rPr lang="fr-FR" sz="1400" dirty="0" smtClean="0">
                          <a:latin typeface="Arial Narrow" panose="020B0606020202030204" pitchFamily="34" charset="0"/>
                        </a:rPr>
                        <a:t>2</a:t>
                      </a:r>
                      <a:endParaRPr lang="fr-FR" sz="1400" dirty="0">
                        <a:solidFill>
                          <a:schemeClr val="tx1"/>
                        </a:solidFill>
                        <a:latin typeface="Arial Narrow" panose="020B0606020202030204" pitchFamily="34" charset="0"/>
                      </a:endParaRPr>
                    </a:p>
                  </a:txBody>
                  <a:tcPr anchor="ctr"/>
                </a:tc>
                <a:tc>
                  <a:txBody>
                    <a:bodyPr/>
                    <a:lstStyle/>
                    <a:p>
                      <a:pPr marL="225425" indent="-457200" algn="l">
                        <a:lnSpc>
                          <a:spcPct val="115000"/>
                        </a:lnSpc>
                        <a:spcAft>
                          <a:spcPts val="0"/>
                        </a:spcAft>
                      </a:pPr>
                      <a:r>
                        <a:rPr lang="fr-FR" sz="1800" dirty="0" smtClean="0">
                          <a:effectLst/>
                          <a:latin typeface="Arial Narrow" panose="020B0606020202030204" pitchFamily="34" charset="0"/>
                        </a:rPr>
                        <a:t>Augmenter</a:t>
                      </a:r>
                      <a:r>
                        <a:rPr lang="fr-FR" sz="1800" baseline="0" dirty="0" smtClean="0">
                          <a:effectLst/>
                          <a:latin typeface="Arial Narrow" panose="020B0606020202030204" pitchFamily="34" charset="0"/>
                        </a:rPr>
                        <a:t> le taux de satisfaction de 33,4 à 80% dans l’approvisionnement de vaccins et autres intrants dans l’Antenne PEV Tshikapa</a:t>
                      </a:r>
                      <a:endParaRPr lang="fr-FR" sz="1800" b="0" dirty="0">
                        <a:solidFill>
                          <a:srgbClr val="000000"/>
                        </a:solidFill>
                        <a:effectLst/>
                        <a:latin typeface="Arial Narrow" panose="020B0606020202030204" pitchFamily="34" charset="0"/>
                        <a:ea typeface="Trebuchet MS" panose="020B0603020202020204" pitchFamily="34" charset="0"/>
                        <a:cs typeface="Trebuchet MS" panose="020B0603020202020204" pitchFamily="34" charset="0"/>
                      </a:endParaRPr>
                    </a:p>
                  </a:txBody>
                  <a:tcPr marL="67310" marR="24130" marT="0" marB="0" anchor="b"/>
                </a:tc>
                <a:tc>
                  <a:txBody>
                    <a:bodyPr/>
                    <a:lstStyle/>
                    <a:p>
                      <a:pPr marL="1270" indent="-457200" algn="l">
                        <a:lnSpc>
                          <a:spcPct val="115000"/>
                        </a:lnSpc>
                        <a:spcAft>
                          <a:spcPts val="0"/>
                        </a:spcAft>
                      </a:pPr>
                      <a:r>
                        <a:rPr lang="fr-FR" sz="1600" dirty="0" smtClean="0">
                          <a:effectLst/>
                          <a:latin typeface="Arial Narrow" panose="020B0606020202030204" pitchFamily="34" charset="0"/>
                        </a:rPr>
                        <a:t>CD</a:t>
                      </a:r>
                      <a:r>
                        <a:rPr lang="fr-FR" sz="1600" baseline="0" dirty="0" smtClean="0">
                          <a:effectLst/>
                          <a:latin typeface="Arial Narrow" panose="020B0606020202030204" pitchFamily="34" charset="0"/>
                        </a:rPr>
                        <a:t> LOGISTIQUE</a:t>
                      </a:r>
                      <a:endParaRPr lang="fr-FR" sz="1600" b="0" dirty="0">
                        <a:solidFill>
                          <a:srgbClr val="000000"/>
                        </a:solidFill>
                        <a:effectLst/>
                        <a:latin typeface="Arial Narrow" panose="020B0606020202030204" pitchFamily="34" charset="0"/>
                        <a:ea typeface="Trebuchet MS" panose="020B0603020202020204" pitchFamily="34" charset="0"/>
                        <a:cs typeface="Trebuchet MS" panose="020B0603020202020204" pitchFamily="34" charset="0"/>
                      </a:endParaRPr>
                    </a:p>
                  </a:txBody>
                  <a:tcPr marL="67310" marR="24130" marT="0" marB="0" anchor="b"/>
                </a:tc>
                <a:tc>
                  <a:txBody>
                    <a:bodyPr/>
                    <a:lstStyle/>
                    <a:p>
                      <a:pPr marL="225425" indent="-6350" algn="l">
                        <a:lnSpc>
                          <a:spcPct val="115000"/>
                        </a:lnSpc>
                        <a:spcAft>
                          <a:spcPts val="0"/>
                        </a:spcAft>
                      </a:pPr>
                      <a:r>
                        <a:rPr lang="fr-FR" sz="1600" dirty="0" smtClean="0">
                          <a:effectLst/>
                          <a:latin typeface="Arial Narrow" panose="020B0606020202030204" pitchFamily="34" charset="0"/>
                        </a:rPr>
                        <a:t>T4 2025</a:t>
                      </a:r>
                      <a:endParaRPr lang="fr-FR" sz="1600" b="0" dirty="0">
                        <a:solidFill>
                          <a:srgbClr val="000000"/>
                        </a:solidFill>
                        <a:effectLst/>
                        <a:latin typeface="Arial Narrow" panose="020B0606020202030204" pitchFamily="34" charset="0"/>
                        <a:ea typeface="Trebuchet MS" panose="020B0603020202020204" pitchFamily="34" charset="0"/>
                        <a:cs typeface="Trebuchet MS" panose="020B0603020202020204" pitchFamily="34" charset="0"/>
                      </a:endParaRPr>
                    </a:p>
                  </a:txBody>
                  <a:tcPr marL="67310" marR="24130" marT="0" marB="0" anchor="b"/>
                </a:tc>
                <a:tc>
                  <a:txBody>
                    <a:bodyPr/>
                    <a:lstStyle/>
                    <a:p>
                      <a:pPr algn="l"/>
                      <a:r>
                        <a:rPr lang="fr-FR" sz="1800" dirty="0" smtClean="0">
                          <a:effectLst/>
                          <a:latin typeface="Arial Narrow" panose="020B0606020202030204" pitchFamily="34" charset="0"/>
                        </a:rPr>
                        <a:t>PV</a:t>
                      </a:r>
                      <a:r>
                        <a:rPr lang="fr-FR" sz="1800" baseline="0" dirty="0" smtClean="0">
                          <a:effectLst/>
                          <a:latin typeface="Arial Narrow" panose="020B0606020202030204" pitchFamily="34" charset="0"/>
                        </a:rPr>
                        <a:t> de réception au T4</a:t>
                      </a:r>
                      <a:endParaRPr lang="fr-FR" sz="1800" b="0" dirty="0">
                        <a:solidFill>
                          <a:schemeClr val="tx1"/>
                        </a:solidFill>
                        <a:effectLst/>
                        <a:latin typeface="Arial Narrow" panose="020B0606020202030204" pitchFamily="34" charset="0"/>
                        <a:cs typeface="Arial" panose="020B0604020202020204" pitchFamily="34" charset="0"/>
                      </a:endParaRPr>
                    </a:p>
                  </a:txBody>
                  <a:tcPr/>
                </a:tc>
                <a:extLst>
                  <a:ext uri="{0D108BD9-81ED-4DB2-BD59-A6C34878D82A}">
                    <a16:rowId xmlns:a16="http://schemas.microsoft.com/office/drawing/2014/main" val="10005"/>
                  </a:ext>
                </a:extLst>
              </a:tr>
              <a:tr h="759273">
                <a:tc>
                  <a:txBody>
                    <a:bodyPr/>
                    <a:lstStyle/>
                    <a:p>
                      <a:pPr algn="l"/>
                      <a:r>
                        <a:rPr lang="fr-FR" sz="1400" dirty="0" smtClean="0">
                          <a:latin typeface="Arial Narrow" panose="020B0606020202030204" pitchFamily="34" charset="0"/>
                        </a:rPr>
                        <a:t>3</a:t>
                      </a:r>
                      <a:endParaRPr lang="fr-FR" sz="1400" dirty="0">
                        <a:solidFill>
                          <a:schemeClr val="tx1"/>
                        </a:solidFill>
                        <a:latin typeface="Arial Narrow" panose="020B0606020202030204" pitchFamily="34" charset="0"/>
                      </a:endParaRPr>
                    </a:p>
                  </a:txBody>
                  <a:tcPr anchor="ctr"/>
                </a:tc>
                <a:tc>
                  <a:txBody>
                    <a:bodyPr/>
                    <a:lstStyle/>
                    <a:p>
                      <a:pPr marL="0" marR="0" lvl="0" indent="-457200" algn="l" defTabSz="914400" rtl="0" eaLnBrk="1" fontAlgn="b" latinLnBrk="0" hangingPunct="1">
                        <a:lnSpc>
                          <a:spcPct val="100000"/>
                        </a:lnSpc>
                        <a:spcBef>
                          <a:spcPts val="0"/>
                        </a:spcBef>
                        <a:spcAft>
                          <a:spcPts val="0"/>
                        </a:spcAft>
                        <a:buClrTx/>
                        <a:buSzTx/>
                        <a:buFontTx/>
                        <a:buNone/>
                        <a:tabLst/>
                        <a:defRPr/>
                      </a:pPr>
                      <a:r>
                        <a:rPr lang="fr-FR" sz="1800" u="none" strike="noStrike" baseline="0" dirty="0" smtClean="0">
                          <a:effectLst/>
                          <a:latin typeface="Arial Narrow" panose="020B0606020202030204" pitchFamily="34" charset="0"/>
                        </a:rPr>
                        <a:t>Doter les Antennes du Kasaï en matières  de Matériels de CDF homologués</a:t>
                      </a:r>
                      <a:endParaRPr lang="fr-FR" sz="1800" b="0" u="none" strike="noStrike" baseline="0" dirty="0">
                        <a:effectLst/>
                        <a:latin typeface="Arial Narrow" panose="020B0606020202030204" pitchFamily="34" charset="0"/>
                        <a:cs typeface="Arial" panose="020B0604020202020204" pitchFamily="34" charset="0"/>
                      </a:endParaRPr>
                    </a:p>
                  </a:txBody>
                  <a:tcPr marL="9525" marR="9525" marT="9525" marB="0" anchor="ctr"/>
                </a:tc>
                <a:tc>
                  <a:txBody>
                    <a:bodyPr/>
                    <a:lstStyle/>
                    <a:p>
                      <a:pPr marL="0" marR="0" indent="-457200" algn="l" defTabSz="914400" rtl="0" eaLnBrk="1" fontAlgn="b" latinLnBrk="0" hangingPunct="1">
                        <a:lnSpc>
                          <a:spcPct val="100000"/>
                        </a:lnSpc>
                        <a:spcBef>
                          <a:spcPts val="0"/>
                        </a:spcBef>
                        <a:spcAft>
                          <a:spcPts val="0"/>
                        </a:spcAft>
                        <a:buClrTx/>
                        <a:buSzTx/>
                        <a:buFontTx/>
                        <a:buNone/>
                        <a:tabLst/>
                        <a:defRPr/>
                      </a:pPr>
                      <a:r>
                        <a:rPr lang="fr-FR" sz="1800" u="none" strike="noStrike" baseline="0" dirty="0" smtClean="0">
                          <a:effectLst/>
                          <a:latin typeface="Arial Narrow" panose="020B0606020202030204" pitchFamily="34" charset="0"/>
                        </a:rPr>
                        <a:t> DIRECTION PEV/ PTF</a:t>
                      </a:r>
                      <a:endParaRPr lang="fr-FR" sz="1800" b="0" i="0" u="none" strike="noStrike" dirty="0">
                        <a:solidFill>
                          <a:srgbClr val="000000"/>
                        </a:solidFill>
                        <a:effectLst/>
                        <a:latin typeface="Arial Narrow" panose="020B0606020202030204" pitchFamily="34" charset="0"/>
                      </a:endParaRPr>
                    </a:p>
                  </a:txBody>
                  <a:tcPr marL="9525" marR="9525" marT="9525" marB="0" anchor="ctr"/>
                </a:tc>
                <a:tc>
                  <a:txBody>
                    <a:bodyPr/>
                    <a:lstStyle/>
                    <a:p>
                      <a:pPr algn="l" fontAlgn="b">
                        <a:buClrTx/>
                        <a:buSzTx/>
                        <a:buFontTx/>
                      </a:pPr>
                      <a:r>
                        <a:rPr lang="fr-FR" sz="1600" u="none" strike="noStrike" baseline="0" dirty="0" smtClean="0">
                          <a:effectLst/>
                          <a:latin typeface="Arial Narrow" panose="020B0606020202030204" pitchFamily="34" charset="0"/>
                        </a:rPr>
                        <a:t> T1 2026</a:t>
                      </a:r>
                      <a:endParaRPr lang="fr-FR" sz="1600" b="0" i="0" u="none" strike="noStrike" dirty="0">
                        <a:effectLst/>
                        <a:latin typeface="Arial Narrow" panose="020B0606020202030204" pitchFamily="34" charset="0"/>
                      </a:endParaRPr>
                    </a:p>
                  </a:txBody>
                  <a:tcPr marL="9525" marR="9525" marT="9525" marB="0" anchor="ctr"/>
                </a:tc>
                <a:tc>
                  <a:txBody>
                    <a:bodyPr/>
                    <a:lstStyle/>
                    <a:p>
                      <a:pPr algn="l"/>
                      <a:r>
                        <a:rPr lang="fr-FR" sz="1800" dirty="0" smtClean="0">
                          <a:effectLst/>
                          <a:latin typeface="Arial Narrow" panose="020B0606020202030204" pitchFamily="34" charset="0"/>
                        </a:rPr>
                        <a:t>PV</a:t>
                      </a:r>
                      <a:r>
                        <a:rPr lang="fr-FR" sz="1800" baseline="0" dirty="0" smtClean="0">
                          <a:effectLst/>
                          <a:latin typeface="Arial Narrow" panose="020B0606020202030204" pitchFamily="34" charset="0"/>
                        </a:rPr>
                        <a:t> de réception de MCF</a:t>
                      </a:r>
                      <a:endParaRPr lang="fr-FR" sz="1800" b="0" dirty="0">
                        <a:solidFill>
                          <a:schemeClr val="tx1"/>
                        </a:solidFill>
                        <a:effectLst/>
                        <a:latin typeface="Arial Narrow" panose="020B0606020202030204" pitchFamily="34" charset="0"/>
                        <a:cs typeface="Arial" panose="020B0604020202020204" pitchFamily="34" charset="0"/>
                      </a:endParaRPr>
                    </a:p>
                  </a:txBody>
                  <a:tcPr/>
                </a:tc>
                <a:extLst>
                  <a:ext uri="{0D108BD9-81ED-4DB2-BD59-A6C34878D82A}">
                    <a16:rowId xmlns:a16="http://schemas.microsoft.com/office/drawing/2014/main" val="10006"/>
                  </a:ext>
                </a:extLst>
              </a:tr>
              <a:tr h="1297713">
                <a:tc>
                  <a:txBody>
                    <a:bodyPr/>
                    <a:lstStyle/>
                    <a:p>
                      <a:pPr algn="l"/>
                      <a:r>
                        <a:rPr lang="fr-FR" sz="1400" dirty="0" smtClean="0">
                          <a:latin typeface="Arial Narrow" panose="020B0606020202030204" pitchFamily="34" charset="0"/>
                        </a:rPr>
                        <a:t>4</a:t>
                      </a:r>
                      <a:endParaRPr lang="fr-FR" sz="1400" dirty="0">
                        <a:solidFill>
                          <a:schemeClr val="tx1"/>
                        </a:solidFill>
                        <a:latin typeface="Arial Narrow" panose="020B0606020202030204" pitchFamily="34" charset="0"/>
                      </a:endParaRPr>
                    </a:p>
                  </a:txBody>
                  <a:tcPr anchor="ctr"/>
                </a:tc>
                <a:tc>
                  <a:txBody>
                    <a:bodyPr/>
                    <a:lstStyle/>
                    <a:p>
                      <a:pPr marL="225425" indent="-6350" algn="l">
                        <a:lnSpc>
                          <a:spcPct val="115000"/>
                        </a:lnSpc>
                        <a:spcAft>
                          <a:spcPts val="0"/>
                        </a:spcAft>
                      </a:pPr>
                      <a:r>
                        <a:rPr lang="fr-FR" sz="1800" dirty="0" smtClean="0">
                          <a:effectLst/>
                          <a:latin typeface="Arial Narrow" panose="020B0606020202030204" pitchFamily="34" charset="0"/>
                        </a:rPr>
                        <a:t>Poursuivre le solde de</a:t>
                      </a:r>
                      <a:r>
                        <a:rPr lang="fr-FR" sz="1800" baseline="0" dirty="0" smtClean="0">
                          <a:effectLst/>
                          <a:latin typeface="Arial Narrow" panose="020B0606020202030204" pitchFamily="34" charset="0"/>
                        </a:rPr>
                        <a:t> la récupération des proportions des EZD et ESV identifiés dans les ZS</a:t>
                      </a:r>
                      <a:endParaRPr lang="fr-FR" sz="1800" b="0" dirty="0" smtClean="0">
                        <a:solidFill>
                          <a:srgbClr val="000000"/>
                        </a:solidFill>
                        <a:effectLst/>
                        <a:latin typeface="Arial Narrow" panose="020B0606020202030204" pitchFamily="34" charset="0"/>
                        <a:ea typeface="Trebuchet MS" panose="020B0603020202020204" pitchFamily="34" charset="0"/>
                        <a:cs typeface="Trebuchet MS" panose="020B0603020202020204" pitchFamily="34" charset="0"/>
                      </a:endParaRPr>
                    </a:p>
                  </a:txBody>
                  <a:tcPr marL="67310" marR="24130" marT="0" marB="0" anchor="b"/>
                </a:tc>
                <a:tc>
                  <a:txBody>
                    <a:bodyPr/>
                    <a:lstStyle/>
                    <a:p>
                      <a:pPr marL="1270" indent="-6350" algn="l">
                        <a:lnSpc>
                          <a:spcPct val="115000"/>
                        </a:lnSpc>
                        <a:spcAft>
                          <a:spcPts val="0"/>
                        </a:spcAft>
                      </a:pPr>
                      <a:r>
                        <a:rPr lang="fr-FR" sz="1600" dirty="0" smtClean="0">
                          <a:effectLst/>
                          <a:latin typeface="Arial Narrow" panose="020B0606020202030204" pitchFamily="34" charset="0"/>
                        </a:rPr>
                        <a:t>MCZ/IT</a:t>
                      </a:r>
                      <a:endParaRPr lang="fr-FR" sz="1600" b="0" dirty="0">
                        <a:solidFill>
                          <a:srgbClr val="000000"/>
                        </a:solidFill>
                        <a:effectLst/>
                        <a:latin typeface="Arial Narrow" panose="020B0606020202030204" pitchFamily="34" charset="0"/>
                        <a:ea typeface="Trebuchet MS" panose="020B0603020202020204" pitchFamily="34" charset="0"/>
                        <a:cs typeface="Trebuchet MS" panose="020B0603020202020204" pitchFamily="34" charset="0"/>
                      </a:endParaRPr>
                    </a:p>
                  </a:txBody>
                  <a:tcPr marL="67310" marR="24130" marT="0" marB="0" anchor="b"/>
                </a:tc>
                <a:tc>
                  <a:txBody>
                    <a:bodyPr/>
                    <a:lstStyle/>
                    <a:p>
                      <a:pPr marL="225425" indent="-6350" algn="l">
                        <a:lnSpc>
                          <a:spcPct val="115000"/>
                        </a:lnSpc>
                        <a:spcAft>
                          <a:spcPts val="0"/>
                        </a:spcAft>
                      </a:pPr>
                      <a:r>
                        <a:rPr lang="fr-FR" sz="1600" dirty="0" smtClean="0">
                          <a:effectLst/>
                          <a:latin typeface="Arial Narrow" panose="020B0606020202030204" pitchFamily="34" charset="0"/>
                        </a:rPr>
                        <a:t>CONTINUE</a:t>
                      </a:r>
                      <a:endParaRPr lang="fr-FR" sz="1600" b="0" dirty="0">
                        <a:solidFill>
                          <a:srgbClr val="000000"/>
                        </a:solidFill>
                        <a:effectLst/>
                        <a:latin typeface="Arial Narrow" panose="020B0606020202030204" pitchFamily="34" charset="0"/>
                        <a:ea typeface="Trebuchet MS" panose="020B0603020202020204" pitchFamily="34" charset="0"/>
                        <a:cs typeface="Trebuchet MS" panose="020B0603020202020204" pitchFamily="34" charset="0"/>
                      </a:endParaRPr>
                    </a:p>
                  </a:txBody>
                  <a:tcPr marL="67310" marR="24130" marT="0" marB="0" anchor="b"/>
                </a:tc>
                <a:tc>
                  <a:txBody>
                    <a:bodyPr/>
                    <a:lstStyle/>
                    <a:p>
                      <a:pPr algn="l"/>
                      <a:r>
                        <a:rPr lang="fr-FR" sz="1800" dirty="0" smtClean="0">
                          <a:effectLst/>
                          <a:latin typeface="Arial Narrow" panose="020B0606020202030204" pitchFamily="34" charset="0"/>
                        </a:rPr>
                        <a:t>Rapport</a:t>
                      </a:r>
                      <a:r>
                        <a:rPr lang="fr-FR" sz="1800" baseline="0" dirty="0" smtClean="0">
                          <a:effectLst/>
                          <a:latin typeface="Arial Narrow" panose="020B0606020202030204" pitchFamily="34" charset="0"/>
                        </a:rPr>
                        <a:t> </a:t>
                      </a:r>
                      <a:endParaRPr lang="fr-FR" sz="1800" b="0" dirty="0">
                        <a:solidFill>
                          <a:schemeClr val="tx1"/>
                        </a:solidFill>
                        <a:effectLst/>
                        <a:latin typeface="Arial Narrow" panose="020B0606020202030204" pitchFamily="34" charset="0"/>
                        <a:cs typeface="Arial" panose="020B0604020202020204" pitchFamily="34" charset="0"/>
                      </a:endParaRPr>
                    </a:p>
                  </a:txBody>
                  <a:tcPr/>
                </a:tc>
                <a:extLst>
                  <a:ext uri="{0D108BD9-81ED-4DB2-BD59-A6C34878D82A}">
                    <a16:rowId xmlns:a16="http://schemas.microsoft.com/office/drawing/2014/main" val="1239498162"/>
                  </a:ext>
                </a:extLst>
              </a:tr>
            </a:tbl>
          </a:graphicData>
        </a:graphic>
      </p:graphicFrame>
      <p:sp>
        <p:nvSpPr>
          <p:cNvPr id="8" name="Titre 1">
            <a:extLst>
              <a:ext uri="{FF2B5EF4-FFF2-40B4-BE49-F238E27FC236}">
                <a16:creationId xmlns:a16="http://schemas.microsoft.com/office/drawing/2014/main" id="{7F0EB9C8-2D16-4CF7-9024-738948BC4288}"/>
              </a:ext>
            </a:extLst>
          </p:cNvPr>
          <p:cNvSpPr>
            <a:spLocks noGrp="1"/>
          </p:cNvSpPr>
          <p:nvPr>
            <p:ph type="title"/>
          </p:nvPr>
        </p:nvSpPr>
        <p:spPr>
          <a:xfrm>
            <a:off x="132065" y="108621"/>
            <a:ext cx="11733905" cy="639524"/>
          </a:xfrm>
          <a:ln/>
        </p:spPr>
        <p:style>
          <a:lnRef idx="1">
            <a:schemeClr val="dk1"/>
          </a:lnRef>
          <a:fillRef idx="2">
            <a:schemeClr val="dk1"/>
          </a:fillRef>
          <a:effectRef idx="1">
            <a:schemeClr val="dk1"/>
          </a:effectRef>
          <a:fontRef idx="minor">
            <a:schemeClr val="dk1"/>
          </a:fontRef>
        </p:style>
        <p:txBody>
          <a:bodyPr>
            <a:normAutofit fontScale="90000"/>
          </a:bodyPr>
          <a:lstStyle/>
          <a:p>
            <a:pPr algn="ctr"/>
            <a:r>
              <a:rPr lang="fr-FR" b="1" dirty="0" smtClean="0"/>
              <a:t>12</a:t>
            </a:r>
            <a:r>
              <a:rPr lang="fr-FR" b="1" dirty="0" smtClean="0"/>
              <a:t>. </a:t>
            </a:r>
            <a:r>
              <a:rPr lang="fr-FR" b="1" dirty="0" smtClean="0"/>
              <a:t>SYNTHESE </a:t>
            </a:r>
            <a:r>
              <a:rPr lang="fr-FR" b="1" dirty="0"/>
              <a:t>RECOMMANDATIONS </a:t>
            </a:r>
          </a:p>
        </p:txBody>
      </p:sp>
    </p:spTree>
    <p:extLst>
      <p:ext uri="{BB962C8B-B14F-4D97-AF65-F5344CB8AC3E}">
        <p14:creationId xmlns:p14="http://schemas.microsoft.com/office/powerpoint/2010/main" val="3668794341"/>
      </p:ext>
    </p:extLst>
  </p:cSld>
  <p:clrMapOvr>
    <a:masterClrMapping/>
  </p:clrMapOvr>
  <p:transition spd="slow">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g3aabc9d920d_0_262"/>
          <p:cNvSpPr txBox="1"/>
          <p:nvPr/>
        </p:nvSpPr>
        <p:spPr>
          <a:xfrm>
            <a:off x="733100" y="1202135"/>
            <a:ext cx="10707600" cy="3576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en-US" sz="3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rPr>
              <a:t>Merci</a:t>
            </a:r>
            <a:endParaRPr sz="3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5" name="Google Shape;275;g3aabc9d920d_0_262"/>
          <p:cNvSpPr/>
          <p:nvPr/>
        </p:nvSpPr>
        <p:spPr>
          <a:xfrm>
            <a:off x="1588" y="2654952"/>
            <a:ext cx="4500900" cy="6549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endParaRPr sz="15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6" name="Google Shape;276;g3aabc9d920d_0_262"/>
          <p:cNvSpPr/>
          <p:nvPr/>
        </p:nvSpPr>
        <p:spPr>
          <a:xfrm>
            <a:off x="7689667" y="2654952"/>
            <a:ext cx="4501500" cy="6549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endParaRPr sz="15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4049</TotalTime>
  <Words>3498</Words>
  <Application>Microsoft Office PowerPoint</Application>
  <PresentationFormat>Grand écran</PresentationFormat>
  <Paragraphs>1291</Paragraphs>
  <Slides>34</Slides>
  <Notes>12</Notes>
  <HiddenSlides>0</HiddenSlides>
  <MMClips>0</MMClips>
  <ScaleCrop>false</ScaleCrop>
  <HeadingPairs>
    <vt:vector size="6" baseType="variant">
      <vt:variant>
        <vt:lpstr>Polices utilisées</vt:lpstr>
      </vt:variant>
      <vt:variant>
        <vt:i4>12</vt:i4>
      </vt:variant>
      <vt:variant>
        <vt:lpstr>Thème</vt:lpstr>
      </vt:variant>
      <vt:variant>
        <vt:i4>3</vt:i4>
      </vt:variant>
      <vt:variant>
        <vt:lpstr>Titres des diapositives</vt:lpstr>
      </vt:variant>
      <vt:variant>
        <vt:i4>34</vt:i4>
      </vt:variant>
    </vt:vector>
  </HeadingPairs>
  <TitlesOfParts>
    <vt:vector size="49" baseType="lpstr">
      <vt:lpstr>Courier New</vt:lpstr>
      <vt:lpstr>Wingdings</vt:lpstr>
      <vt:lpstr>Arial</vt:lpstr>
      <vt:lpstr>Play</vt:lpstr>
      <vt:lpstr>Times New Roman</vt:lpstr>
      <vt:lpstr>Source Serif Pro</vt:lpstr>
      <vt:lpstr>Arial Narrow</vt:lpstr>
      <vt:lpstr>Trebuchet MS</vt:lpstr>
      <vt:lpstr>Bahnschrift Condensed</vt:lpstr>
      <vt:lpstr>Aptos Narrow</vt:lpstr>
      <vt:lpstr>Calibri Light</vt:lpstr>
      <vt:lpstr>Calibri</vt:lpstr>
      <vt:lpstr>Thème Office</vt:lpstr>
      <vt:lpstr>Simple Light</vt:lpstr>
      <vt:lpstr>1_Thème Office</vt:lpstr>
      <vt:lpstr>Présentation PowerPoint</vt:lpstr>
      <vt:lpstr>Présentation PowerPoint</vt:lpstr>
      <vt:lpstr>Présentation PowerPoint</vt:lpstr>
      <vt:lpstr>Présentation PowerPoint</vt:lpstr>
      <vt:lpstr>1. COMPLETUDE &amp; PROMPTITUDE DES RAPPORTS JANV-OCT 2025</vt:lpstr>
      <vt:lpstr>2. REALISATION DE SEANCES DE VACCINATION JANVIER A OCTOBRE 2025</vt:lpstr>
      <vt:lpstr>3. C.V de routine Par ZS JANVIER A OCTOBRE 2025</vt:lpstr>
      <vt:lpstr>5.1. Proportion d’Enfants complètement vaccines  DE JANVIER A OCTOBRE 2025</vt:lpstr>
      <vt:lpstr>5.2. Enfants zéro dose AU T3 2025</vt:lpstr>
      <vt:lpstr>5.3.  LES ENFANTS SOUS VACCINES DE JANVIER A OCTOBRE 2025</vt:lpstr>
      <vt:lpstr>6. NOMBRE DE JOURS DE RUPTURE DES VACCINS ET AUTRES DE JANVIER A OCTOBRE 2025</vt:lpstr>
      <vt:lpstr>Présentation PowerPoint</vt:lpstr>
      <vt:lpstr>Présentation PowerPoint</vt:lpstr>
      <vt:lpstr>7.1. Résultats obtenus: FAE 2024-2025(2/2) </vt:lpstr>
      <vt:lpstr>RÉSULTATS OBTENUS:  IPVS Juillet- Août et Septembre2025 </vt:lpstr>
      <vt:lpstr>8. 1. DECOMPTE ZEROS DOSE</vt:lpstr>
      <vt:lpstr>8.2. DECOMPTE SOUS VACCINES</vt:lpstr>
      <vt:lpstr>                        8.3. SYNTHESE DE VACCINES PAR ANTIGENES</vt:lpstr>
      <vt:lpstr>Surveillance de maladies à prévention vaccinales</vt:lpstr>
      <vt:lpstr>    9.1. NOTIFICATION DE CAS DE  PFA  DE JANVIER A OCTOBRE 2025</vt:lpstr>
      <vt:lpstr>8.2. Les cVDPV confirmés de 2023 à 2024</vt:lpstr>
      <vt:lpstr>8.3. NOTIFICATION DES AUTRES  MPV DE JANVIER A OCTOBRE 2025</vt:lpstr>
      <vt:lpstr>10. Problèmes identifiés et solutions proposées(1/4)</vt:lpstr>
      <vt:lpstr>          </vt:lpstr>
      <vt:lpstr>  10. Problèmes identifiés et solutions proposées(3/4)</vt:lpstr>
      <vt:lpstr>10. Problèmes identifiés et solutions proposées(4/4)</vt:lpstr>
      <vt:lpstr>11. Défis  POUR L’ANNE  2026</vt:lpstr>
      <vt:lpstr>Présentation PowerPoint</vt:lpstr>
      <vt:lpstr>Présentation PowerPoint</vt:lpstr>
      <vt:lpstr>Présentation PowerPoint</vt:lpstr>
      <vt:lpstr>Présentation PowerPoint</vt:lpstr>
      <vt:lpstr>12. MEILLEURS PRATIQUES</vt:lpstr>
      <vt:lpstr>12. SYNTHESE RECOMMANDATIONS </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Aimé CIKOMOLA</dc:creator>
  <cp:lastModifiedBy>BCZ</cp:lastModifiedBy>
  <cp:revision>82</cp:revision>
  <dcterms:created xsi:type="dcterms:W3CDTF">2025-11-28T20:10:05Z</dcterms:created>
  <dcterms:modified xsi:type="dcterms:W3CDTF">2025-12-16T10:48:20Z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93DF6B1B20AE4EE791A0860C13F9B9CC_13</vt:lpwstr>
  </property>
  <property fmtid="{D5CDD505-2E9C-101B-9397-08002B2CF9AE}" pid="3" name="KSOProductBuildVer">
    <vt:lpwstr>3084-12.2.0.23155</vt:lpwstr>
  </property>
</Properties>
</file>