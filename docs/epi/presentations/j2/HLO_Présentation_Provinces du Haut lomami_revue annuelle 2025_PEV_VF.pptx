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5" r:id="rId3"/>
    <p:sldMasterId id="2147483689" r:id="rId4"/>
  </p:sldMasterIdLst>
  <p:notesMasterIdLst>
    <p:notesMasterId r:id="rId24"/>
  </p:notesMasterIdLst>
  <p:sldIdLst>
    <p:sldId id="285" r:id="rId5"/>
    <p:sldId id="257" r:id="rId6"/>
    <p:sldId id="286" r:id="rId7"/>
    <p:sldId id="259" r:id="rId8"/>
    <p:sldId id="287" r:id="rId9"/>
    <p:sldId id="261" r:id="rId10"/>
    <p:sldId id="26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71" r:id="rId20"/>
    <p:sldId id="282" r:id="rId21"/>
    <p:sldId id="284" r:id="rId22"/>
    <p:sldId id="269" r:id="rId23"/>
  </p:sldIdLst>
  <p:sldSz cx="12192000" cy="6858000"/>
  <p:notesSz cx="6858000" cy="9144000"/>
  <p:embeddedFontLst>
    <p:embeddedFont>
      <p:font typeface="Play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Arial Narrow" panose="020B0606020202030204" pitchFamily="34" charset="0"/>
      <p:regular r:id="rId30"/>
      <p:bold r:id="rId31"/>
      <p:italic r:id="rId32"/>
      <p:boldItalic r:id="rId33"/>
    </p:embeddedFont>
    <p:embeddedFont>
      <p:font typeface="Calibri Light" panose="020F0302020204030204" pitchFamily="34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Feuil1!$C$7:$D$7</c:f>
              <c:strCache>
                <c:ptCount val="2"/>
                <c:pt idx="0">
                  <c:v>VAR2</c:v>
                </c:pt>
                <c:pt idx="1">
                  <c:v>IPVS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Feuil1!$E$6:$U$6</c15:sqref>
                  </c15:fullRef>
                </c:ext>
              </c:extLst>
              <c:f>(Feuil1!$F$6,Feuil1!$I$6,Feuil1!$N$6:$S$6,Feuil1!$U$6)</c:f>
              <c:strCache>
                <c:ptCount val="9"/>
                <c:pt idx="0">
                  <c:v>Bukama</c:v>
                </c:pt>
                <c:pt idx="1">
                  <c:v>Kabongo</c:v>
                </c:pt>
                <c:pt idx="2">
                  <c:v>Kinkondja</c:v>
                </c:pt>
                <c:pt idx="3">
                  <c:v>Kitenge</c:v>
                </c:pt>
                <c:pt idx="4">
                  <c:v>Lwamba</c:v>
                </c:pt>
                <c:pt idx="5">
                  <c:v>Malemba</c:v>
                </c:pt>
                <c:pt idx="6">
                  <c:v>Mukanga</c:v>
                </c:pt>
                <c:pt idx="7">
                  <c:v>Mulongo</c:v>
                </c:pt>
                <c:pt idx="8">
                  <c:v>Haut Lomami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Feuil1!$E$7:$U$7</c15:sqref>
                  </c15:fullRef>
                </c:ext>
              </c:extLst>
              <c:f>(Feuil1!$F$7,Feuil1!$I$7,Feuil1!$N$7:$S$7,Feuil1!$U$7)</c:f>
              <c:numCache>
                <c:formatCode>0%</c:formatCode>
                <c:ptCount val="9"/>
                <c:pt idx="0">
                  <c:v>0.14014199890770071</c:v>
                </c:pt>
                <c:pt idx="1">
                  <c:v>7.4277100178155406E-2</c:v>
                </c:pt>
                <c:pt idx="2">
                  <c:v>5.8519437551695613E-2</c:v>
                </c:pt>
                <c:pt idx="3">
                  <c:v>0.19194811757769731</c:v>
                </c:pt>
                <c:pt idx="4">
                  <c:v>0.15314380576883171</c:v>
                </c:pt>
                <c:pt idx="5">
                  <c:v>0.25972006220839816</c:v>
                </c:pt>
                <c:pt idx="6">
                  <c:v>0.13143328229890472</c:v>
                </c:pt>
                <c:pt idx="7">
                  <c:v>0.49246302616609783</c:v>
                </c:pt>
                <c:pt idx="8">
                  <c:v>0.16632302405498281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36-458E-83B4-EBE56F5CBACC}"/>
            </c:ext>
          </c:extLst>
        </c:ser>
        <c:ser>
          <c:idx val="1"/>
          <c:order val="1"/>
          <c:tx>
            <c:strRef>
              <c:f>Feuil1!$C$8:$D$8</c:f>
              <c:strCache>
                <c:ptCount val="2"/>
                <c:pt idx="0">
                  <c:v>VAR2</c:v>
                </c:pt>
                <c:pt idx="1">
                  <c:v>Autres strategie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Feuil1!$E$6:$U$6</c15:sqref>
                  </c15:fullRef>
                </c:ext>
              </c:extLst>
              <c:f>(Feuil1!$F$6,Feuil1!$I$6,Feuil1!$N$6:$S$6,Feuil1!$U$6)</c:f>
              <c:strCache>
                <c:ptCount val="9"/>
                <c:pt idx="0">
                  <c:v>Bukama</c:v>
                </c:pt>
                <c:pt idx="1">
                  <c:v>Kabongo</c:v>
                </c:pt>
                <c:pt idx="2">
                  <c:v>Kinkondja</c:v>
                </c:pt>
                <c:pt idx="3">
                  <c:v>Kitenge</c:v>
                </c:pt>
                <c:pt idx="4">
                  <c:v>Lwamba</c:v>
                </c:pt>
                <c:pt idx="5">
                  <c:v>Malemba</c:v>
                </c:pt>
                <c:pt idx="6">
                  <c:v>Mukanga</c:v>
                </c:pt>
                <c:pt idx="7">
                  <c:v>Mulongo</c:v>
                </c:pt>
                <c:pt idx="8">
                  <c:v>Haut Lomami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Feuil1!$E$8:$U$8</c15:sqref>
                  </c15:fullRef>
                </c:ext>
              </c:extLst>
              <c:f>(Feuil1!$F$8,Feuil1!$I$8,Feuil1!$N$8:$S$8,Feuil1!$U$8)</c:f>
              <c:numCache>
                <c:formatCode>0%</c:formatCode>
                <c:ptCount val="9"/>
                <c:pt idx="0">
                  <c:v>0.85985800109229926</c:v>
                </c:pt>
                <c:pt idx="1">
                  <c:v>0.92572289982184464</c:v>
                </c:pt>
                <c:pt idx="2">
                  <c:v>0.94148056244830436</c:v>
                </c:pt>
                <c:pt idx="3">
                  <c:v>0.80805188242230264</c:v>
                </c:pt>
                <c:pt idx="4">
                  <c:v>0.84685619423116831</c:v>
                </c:pt>
                <c:pt idx="5">
                  <c:v>0.74027993779160184</c:v>
                </c:pt>
                <c:pt idx="6">
                  <c:v>0.86856671770109528</c:v>
                </c:pt>
                <c:pt idx="7">
                  <c:v>0.50753697383390217</c:v>
                </c:pt>
                <c:pt idx="8">
                  <c:v>0.83367697594501722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36-458E-83B4-EBE56F5CB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9359712"/>
        <c:axId val="489369696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Feuil1!$C$9:$D$9</c15:sqref>
                        </c15:formulaRef>
                      </c:ext>
                    </c:extLst>
                    <c:strCache>
                      <c:ptCount val="2"/>
                      <c:pt idx="0">
                        <c:v>VAR1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ullRef>
                          <c15:sqref>Feuil1!$E$6:$U$6</c15:sqref>
                        </c15:fullRef>
                        <c15:formulaRef>
                          <c15:sqref>(Feuil1!$F$6,Feuil1!$I$6,Feuil1!$N$6:$S$6,Feuil1!$U$6)</c15:sqref>
                        </c15:formulaRef>
                      </c:ext>
                    </c:extLst>
                    <c:strCache>
                      <c:ptCount val="9"/>
                      <c:pt idx="0">
                        <c:v>Bukama</c:v>
                      </c:pt>
                      <c:pt idx="1">
                        <c:v>Kabongo</c:v>
                      </c:pt>
                      <c:pt idx="2">
                        <c:v>Kinkondja</c:v>
                      </c:pt>
                      <c:pt idx="3">
                        <c:v>Kitenge</c:v>
                      </c:pt>
                      <c:pt idx="4">
                        <c:v>Lwamba</c:v>
                      </c:pt>
                      <c:pt idx="5">
                        <c:v>Malemba</c:v>
                      </c:pt>
                      <c:pt idx="6">
                        <c:v>Mukanga</c:v>
                      </c:pt>
                      <c:pt idx="7">
                        <c:v>Mulongo</c:v>
                      </c:pt>
                      <c:pt idx="8">
                        <c:v>Haut Lomami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ullRef>
                          <c15:sqref>Feuil1!$E$9:$U$9</c15:sqref>
                        </c15:fullRef>
                        <c15:formulaRef>
                          <c15:sqref>(Feuil1!$F$9,Feuil1!$I$9,Feuil1!$N$9:$S$9,Feuil1!$U$9)</c15:sqref>
                        </c15:formulaRef>
                      </c:ext>
                    </c:extLst>
                    <c:numCache>
                      <c:formatCode>0%</c:formatCode>
                      <c:ptCount val="9"/>
                      <c:pt idx="0">
                        <c:v>8.3886093321134489E-2</c:v>
                      </c:pt>
                      <c:pt idx="1">
                        <c:v>8.7388924851409408E-2</c:v>
                      </c:pt>
                      <c:pt idx="2">
                        <c:v>5.8367933567550302E-2</c:v>
                      </c:pt>
                      <c:pt idx="3">
                        <c:v>0.20197971204188481</c:v>
                      </c:pt>
                      <c:pt idx="4">
                        <c:v>7.4718380151147873E-2</c:v>
                      </c:pt>
                      <c:pt idx="5">
                        <c:v>0.26178826818646161</c:v>
                      </c:pt>
                      <c:pt idx="6">
                        <c:v>0.10091659028414299</c:v>
                      </c:pt>
                      <c:pt idx="7">
                        <c:v>0.28573447325655338</c:v>
                      </c:pt>
                      <c:pt idx="8">
                        <c:v>0.13251226549606493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FF36-458E-83B4-EBE56F5CBACC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Feuil1!$C$10:$D$10</c15:sqref>
                        </c15:formulaRef>
                      </c:ext>
                    </c:extLst>
                    <c:strCache>
                      <c:ptCount val="2"/>
                      <c:pt idx="0">
                        <c:v>VAR1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Feuil1!$E$6:$U$6</c15:sqref>
                        </c15:fullRef>
                        <c15:formulaRef>
                          <c15:sqref>(Feuil1!$F$6,Feuil1!$I$6,Feuil1!$N$6:$S$6,Feuil1!$U$6)</c15:sqref>
                        </c15:formulaRef>
                      </c:ext>
                    </c:extLst>
                    <c:strCache>
                      <c:ptCount val="9"/>
                      <c:pt idx="0">
                        <c:v>Bukama</c:v>
                      </c:pt>
                      <c:pt idx="1">
                        <c:v>Kabongo</c:v>
                      </c:pt>
                      <c:pt idx="2">
                        <c:v>Kinkondja</c:v>
                      </c:pt>
                      <c:pt idx="3">
                        <c:v>Kitenge</c:v>
                      </c:pt>
                      <c:pt idx="4">
                        <c:v>Lwamba</c:v>
                      </c:pt>
                      <c:pt idx="5">
                        <c:v>Malemba</c:v>
                      </c:pt>
                      <c:pt idx="6">
                        <c:v>Mukanga</c:v>
                      </c:pt>
                      <c:pt idx="7">
                        <c:v>Mulongo</c:v>
                      </c:pt>
                      <c:pt idx="8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Feuil1!$E$10:$U$10</c15:sqref>
                        </c15:fullRef>
                        <c15:formulaRef>
                          <c15:sqref>(Feuil1!$F$10,Feuil1!$I$10,Feuil1!$N$10:$S$10,Feuil1!$U$10)</c15:sqref>
                        </c15:formulaRef>
                      </c:ext>
                    </c:extLst>
                    <c:numCache>
                      <c:formatCode>0%</c:formatCode>
                      <c:ptCount val="9"/>
                      <c:pt idx="0">
                        <c:v>0.9161139066788655</c:v>
                      </c:pt>
                      <c:pt idx="1">
                        <c:v>0.91261107514859063</c:v>
                      </c:pt>
                      <c:pt idx="2">
                        <c:v>0.94163206643244968</c:v>
                      </c:pt>
                      <c:pt idx="3">
                        <c:v>0.79802028795811519</c:v>
                      </c:pt>
                      <c:pt idx="4">
                        <c:v>0.92528161984885215</c:v>
                      </c:pt>
                      <c:pt idx="5">
                        <c:v>0.73821173181353839</c:v>
                      </c:pt>
                      <c:pt idx="6">
                        <c:v>0.89908340971585698</c:v>
                      </c:pt>
                      <c:pt idx="7">
                        <c:v>0.71426552674344657</c:v>
                      </c:pt>
                      <c:pt idx="8">
                        <c:v>0.86748773450393513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FF36-458E-83B4-EBE56F5CBACC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Feuil1!$C$11:$D$11</c15:sqref>
                        </c15:formulaRef>
                      </c:ext>
                    </c:extLst>
                    <c:strCache>
                      <c:ptCount val="2"/>
                      <c:pt idx="0">
                        <c:v>Penta 3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Feuil1!$E$6:$U$6</c15:sqref>
                        </c15:fullRef>
                        <c15:formulaRef>
                          <c15:sqref>(Feuil1!$F$6,Feuil1!$I$6,Feuil1!$N$6:$S$6,Feuil1!$U$6)</c15:sqref>
                        </c15:formulaRef>
                      </c:ext>
                    </c:extLst>
                    <c:strCache>
                      <c:ptCount val="9"/>
                      <c:pt idx="0">
                        <c:v>Bukama</c:v>
                      </c:pt>
                      <c:pt idx="1">
                        <c:v>Kabongo</c:v>
                      </c:pt>
                      <c:pt idx="2">
                        <c:v>Kinkondja</c:v>
                      </c:pt>
                      <c:pt idx="3">
                        <c:v>Kitenge</c:v>
                      </c:pt>
                      <c:pt idx="4">
                        <c:v>Lwamba</c:v>
                      </c:pt>
                      <c:pt idx="5">
                        <c:v>Malemba</c:v>
                      </c:pt>
                      <c:pt idx="6">
                        <c:v>Mukanga</c:v>
                      </c:pt>
                      <c:pt idx="7">
                        <c:v>Mulongo</c:v>
                      </c:pt>
                      <c:pt idx="8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Feuil1!$E$11:$U$11</c15:sqref>
                        </c15:fullRef>
                        <c15:formulaRef>
                          <c15:sqref>(Feuil1!$F$11,Feuil1!$I$11,Feuil1!$N$11:$S$11,Feuil1!$U$11)</c15:sqref>
                        </c15:formulaRef>
                      </c:ext>
                    </c:extLst>
                    <c:numCache>
                      <c:formatCode>0%</c:formatCode>
                      <c:ptCount val="9"/>
                      <c:pt idx="0">
                        <c:v>7.1596658430403581E-2</c:v>
                      </c:pt>
                      <c:pt idx="1">
                        <c:v>8.68945868945869E-2</c:v>
                      </c:pt>
                      <c:pt idx="2">
                        <c:v>5.2989866171578866E-2</c:v>
                      </c:pt>
                      <c:pt idx="3">
                        <c:v>0.19709672411116286</c:v>
                      </c:pt>
                      <c:pt idx="4">
                        <c:v>8.5624732867929904E-2</c:v>
                      </c:pt>
                      <c:pt idx="5">
                        <c:v>0.24185654896595274</c:v>
                      </c:pt>
                      <c:pt idx="6">
                        <c:v>9.124305852199914E-2</c:v>
                      </c:pt>
                      <c:pt idx="7">
                        <c:v>0.25829797853755926</c:v>
                      </c:pt>
                      <c:pt idx="8">
                        <c:v>0.12087460974213272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FF36-458E-83B4-EBE56F5CBACC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Feuil1!$C$12:$D$12</c15:sqref>
                        </c15:formulaRef>
                      </c:ext>
                    </c:extLst>
                    <c:strCache>
                      <c:ptCount val="2"/>
                      <c:pt idx="0">
                        <c:v>Penta 3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Feuil1!$E$6:$U$6</c15:sqref>
                        </c15:fullRef>
                        <c15:formulaRef>
                          <c15:sqref>(Feuil1!$F$6,Feuil1!$I$6,Feuil1!$N$6:$S$6,Feuil1!$U$6)</c15:sqref>
                        </c15:formulaRef>
                      </c:ext>
                    </c:extLst>
                    <c:strCache>
                      <c:ptCount val="9"/>
                      <c:pt idx="0">
                        <c:v>Bukama</c:v>
                      </c:pt>
                      <c:pt idx="1">
                        <c:v>Kabongo</c:v>
                      </c:pt>
                      <c:pt idx="2">
                        <c:v>Kinkondja</c:v>
                      </c:pt>
                      <c:pt idx="3">
                        <c:v>Kitenge</c:v>
                      </c:pt>
                      <c:pt idx="4">
                        <c:v>Lwamba</c:v>
                      </c:pt>
                      <c:pt idx="5">
                        <c:v>Malemba</c:v>
                      </c:pt>
                      <c:pt idx="6">
                        <c:v>Mukanga</c:v>
                      </c:pt>
                      <c:pt idx="7">
                        <c:v>Mulongo</c:v>
                      </c:pt>
                      <c:pt idx="8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Feuil1!$E$12:$U$12</c15:sqref>
                        </c15:fullRef>
                        <c15:formulaRef>
                          <c15:sqref>(Feuil1!$F$12,Feuil1!$I$12,Feuil1!$N$12:$S$12,Feuil1!$U$12)</c15:sqref>
                        </c15:formulaRef>
                      </c:ext>
                    </c:extLst>
                    <c:numCache>
                      <c:formatCode>0%</c:formatCode>
                      <c:ptCount val="9"/>
                      <c:pt idx="0">
                        <c:v>0.92840334156959647</c:v>
                      </c:pt>
                      <c:pt idx="1">
                        <c:v>0.91310541310541304</c:v>
                      </c:pt>
                      <c:pt idx="2">
                        <c:v>0.94701013382842114</c:v>
                      </c:pt>
                      <c:pt idx="3">
                        <c:v>0.80290327588883714</c:v>
                      </c:pt>
                      <c:pt idx="4">
                        <c:v>0.91437526713207007</c:v>
                      </c:pt>
                      <c:pt idx="5">
                        <c:v>0.75814345103404723</c:v>
                      </c:pt>
                      <c:pt idx="6">
                        <c:v>0.9087569414780009</c:v>
                      </c:pt>
                      <c:pt idx="7">
                        <c:v>0.7417020214624408</c:v>
                      </c:pt>
                      <c:pt idx="8">
                        <c:v>0.87912539025786729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FF36-458E-83B4-EBE56F5CBACC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Feuil1!$C$13:$D$13</c15:sqref>
                        </c15:formulaRef>
                      </c:ext>
                    </c:extLst>
                    <c:strCache>
                      <c:ptCount val="2"/>
                      <c:pt idx="0">
                        <c:v>Penta 1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Feuil1!$E$6:$U$6</c15:sqref>
                        </c15:fullRef>
                        <c15:formulaRef>
                          <c15:sqref>(Feuil1!$F$6,Feuil1!$I$6,Feuil1!$N$6:$S$6,Feuil1!$U$6)</c15:sqref>
                        </c15:formulaRef>
                      </c:ext>
                    </c:extLst>
                    <c:strCache>
                      <c:ptCount val="9"/>
                      <c:pt idx="0">
                        <c:v>Bukama</c:v>
                      </c:pt>
                      <c:pt idx="1">
                        <c:v>Kabongo</c:v>
                      </c:pt>
                      <c:pt idx="2">
                        <c:v>Kinkondja</c:v>
                      </c:pt>
                      <c:pt idx="3">
                        <c:v>Kitenge</c:v>
                      </c:pt>
                      <c:pt idx="4">
                        <c:v>Lwamba</c:v>
                      </c:pt>
                      <c:pt idx="5">
                        <c:v>Malemba</c:v>
                      </c:pt>
                      <c:pt idx="6">
                        <c:v>Mukanga</c:v>
                      </c:pt>
                      <c:pt idx="7">
                        <c:v>Mulongo</c:v>
                      </c:pt>
                      <c:pt idx="8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Feuil1!$E$13:$U$13</c15:sqref>
                        </c15:fullRef>
                        <c15:formulaRef>
                          <c15:sqref>(Feuil1!$F$13,Feuil1!$I$13,Feuil1!$N$13:$S$13,Feuil1!$U$13)</c15:sqref>
                        </c15:formulaRef>
                      </c:ext>
                    </c:extLst>
                    <c:numCache>
                      <c:formatCode>0%</c:formatCode>
                      <c:ptCount val="9"/>
                      <c:pt idx="0">
                        <c:v>4.1822378544735105E-2</c:v>
                      </c:pt>
                      <c:pt idx="1">
                        <c:v>0.12019930578882544</c:v>
                      </c:pt>
                      <c:pt idx="2">
                        <c:v>4.3157894736842103E-2</c:v>
                      </c:pt>
                      <c:pt idx="3">
                        <c:v>0.21206857488105127</c:v>
                      </c:pt>
                      <c:pt idx="4">
                        <c:v>5.7463401286085646E-2</c:v>
                      </c:pt>
                      <c:pt idx="5">
                        <c:v>0.22708018154311649</c:v>
                      </c:pt>
                      <c:pt idx="6">
                        <c:v>8.9134891348913489E-2</c:v>
                      </c:pt>
                      <c:pt idx="7">
                        <c:v>0.18727718360071302</c:v>
                      </c:pt>
                      <c:pt idx="8">
                        <c:v>0.1101126472094214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FF36-458E-83B4-EBE56F5CBACC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Feuil1!$C$14:$D$14</c15:sqref>
                        </c15:formulaRef>
                      </c:ext>
                    </c:extLst>
                    <c:strCache>
                      <c:ptCount val="2"/>
                      <c:pt idx="0">
                        <c:v>Penta 1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Feuil1!$E$6:$U$6</c15:sqref>
                        </c15:fullRef>
                        <c15:formulaRef>
                          <c15:sqref>(Feuil1!$F$6,Feuil1!$I$6,Feuil1!$N$6:$S$6,Feuil1!$U$6)</c15:sqref>
                        </c15:formulaRef>
                      </c:ext>
                    </c:extLst>
                    <c:strCache>
                      <c:ptCount val="9"/>
                      <c:pt idx="0">
                        <c:v>Bukama</c:v>
                      </c:pt>
                      <c:pt idx="1">
                        <c:v>Kabongo</c:v>
                      </c:pt>
                      <c:pt idx="2">
                        <c:v>Kinkondja</c:v>
                      </c:pt>
                      <c:pt idx="3">
                        <c:v>Kitenge</c:v>
                      </c:pt>
                      <c:pt idx="4">
                        <c:v>Lwamba</c:v>
                      </c:pt>
                      <c:pt idx="5">
                        <c:v>Malemba</c:v>
                      </c:pt>
                      <c:pt idx="6">
                        <c:v>Mukanga</c:v>
                      </c:pt>
                      <c:pt idx="7">
                        <c:v>Mulongo</c:v>
                      </c:pt>
                      <c:pt idx="8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ullRef>
                          <c15:sqref>Feuil1!$E$14:$U$14</c15:sqref>
                        </c15:fullRef>
                        <c15:formulaRef>
                          <c15:sqref>(Feuil1!$F$14,Feuil1!$I$14,Feuil1!$N$14:$S$14,Feuil1!$U$14)</c15:sqref>
                        </c15:formulaRef>
                      </c:ext>
                    </c:extLst>
                    <c:numCache>
                      <c:formatCode>0%</c:formatCode>
                      <c:ptCount val="9"/>
                      <c:pt idx="0">
                        <c:v>0.95817762145526486</c:v>
                      </c:pt>
                      <c:pt idx="1">
                        <c:v>0.87980069421117457</c:v>
                      </c:pt>
                      <c:pt idx="2">
                        <c:v>0.95684210526315794</c:v>
                      </c:pt>
                      <c:pt idx="3">
                        <c:v>0.78793142511894876</c:v>
                      </c:pt>
                      <c:pt idx="4">
                        <c:v>0.94253659871391438</c:v>
                      </c:pt>
                      <c:pt idx="5">
                        <c:v>0.77291981845688351</c:v>
                      </c:pt>
                      <c:pt idx="6">
                        <c:v>0.9108651086510865</c:v>
                      </c:pt>
                      <c:pt idx="7">
                        <c:v>0.81272281639928701</c:v>
                      </c:pt>
                      <c:pt idx="8">
                        <c:v>0.88988735279057862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FF36-458E-83B4-EBE56F5CBACC}"/>
                  </c:ext>
                </c:extLst>
              </c15:ser>
            </c15:filteredBarSeries>
          </c:ext>
        </c:extLst>
      </c:barChart>
      <c:catAx>
        <c:axId val="48935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89369696"/>
        <c:crosses val="autoZero"/>
        <c:auto val="1"/>
        <c:lblAlgn val="ctr"/>
        <c:lblOffset val="100"/>
        <c:noMultiLvlLbl val="0"/>
      </c:catAx>
      <c:valAx>
        <c:axId val="48936969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489359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2"/>
          <c:order val="2"/>
          <c:tx>
            <c:strRef>
              <c:f>Feuil1!$C$9:$D$9</c:f>
              <c:strCache>
                <c:ptCount val="2"/>
                <c:pt idx="0">
                  <c:v>VAR1</c:v>
                </c:pt>
                <c:pt idx="1">
                  <c:v>IPVS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rgbClr val="00B0F0"/>
              </a:solidFill>
            </a:ln>
            <a:effectLst/>
          </c:spPr>
          <c:invertIfNegative val="0"/>
          <c:cat>
            <c:strRef>
              <c:f>Feuil1!$E$6:$U$6</c:f>
              <c:strCache>
                <c:ptCount val="17"/>
                <c:pt idx="0">
                  <c:v>Baka</c:v>
                </c:pt>
                <c:pt idx="1">
                  <c:v>Bukama</c:v>
                </c:pt>
                <c:pt idx="2">
                  <c:v>Butumba</c:v>
                </c:pt>
                <c:pt idx="3">
                  <c:v>Kabondo</c:v>
                </c:pt>
                <c:pt idx="4">
                  <c:v>Kabongo</c:v>
                </c:pt>
                <c:pt idx="5">
                  <c:v>Kamina</c:v>
                </c:pt>
                <c:pt idx="6">
                  <c:v>Kaniama</c:v>
                </c:pt>
                <c:pt idx="7">
                  <c:v>Kayamba</c:v>
                </c:pt>
                <c:pt idx="8">
                  <c:v>Kinda</c:v>
                </c:pt>
                <c:pt idx="9">
                  <c:v>Kinkondja</c:v>
                </c:pt>
                <c:pt idx="10">
                  <c:v>Kitenge</c:v>
                </c:pt>
                <c:pt idx="11">
                  <c:v>Lwamba</c:v>
                </c:pt>
                <c:pt idx="12">
                  <c:v>Malemba</c:v>
                </c:pt>
                <c:pt idx="13">
                  <c:v>Mukanga</c:v>
                </c:pt>
                <c:pt idx="14">
                  <c:v>Mulongo</c:v>
                </c:pt>
                <c:pt idx="15">
                  <c:v>Songa</c:v>
                </c:pt>
                <c:pt idx="16">
                  <c:v>Haut Lomami</c:v>
                </c:pt>
              </c:strCache>
            </c:strRef>
          </c:cat>
          <c:val>
            <c:numRef>
              <c:f>Feuil1!$E$9:$U$9</c:f>
              <c:numCache>
                <c:formatCode>0%</c:formatCode>
                <c:ptCount val="17"/>
                <c:pt idx="0">
                  <c:v>4.5841519318926003E-3</c:v>
                </c:pt>
                <c:pt idx="1">
                  <c:v>8.3886093321134489E-2</c:v>
                </c:pt>
                <c:pt idx="2">
                  <c:v>0.13523790951638065</c:v>
                </c:pt>
                <c:pt idx="3">
                  <c:v>0.14858803986710964</c:v>
                </c:pt>
                <c:pt idx="4">
                  <c:v>8.7388924851409408E-2</c:v>
                </c:pt>
                <c:pt idx="5">
                  <c:v>0.10381068619473827</c:v>
                </c:pt>
                <c:pt idx="6">
                  <c:v>4.9274694911351599E-2</c:v>
                </c:pt>
                <c:pt idx="7">
                  <c:v>7.1444619186699615E-2</c:v>
                </c:pt>
                <c:pt idx="8">
                  <c:v>0.12166405023547881</c:v>
                </c:pt>
                <c:pt idx="9">
                  <c:v>5.8367933567550302E-2</c:v>
                </c:pt>
                <c:pt idx="10">
                  <c:v>0.20197971204188481</c:v>
                </c:pt>
                <c:pt idx="11">
                  <c:v>7.4718380151147873E-2</c:v>
                </c:pt>
                <c:pt idx="12">
                  <c:v>0.26178826818646161</c:v>
                </c:pt>
                <c:pt idx="13">
                  <c:v>0.10091659028414299</c:v>
                </c:pt>
                <c:pt idx="14">
                  <c:v>0.28573447325655338</c:v>
                </c:pt>
                <c:pt idx="15">
                  <c:v>9.2887029288702933E-2</c:v>
                </c:pt>
                <c:pt idx="16">
                  <c:v>0.13251226549606493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F9-473C-B38C-7A02E472CAE5}"/>
            </c:ext>
          </c:extLst>
        </c:ser>
        <c:ser>
          <c:idx val="3"/>
          <c:order val="3"/>
          <c:tx>
            <c:strRef>
              <c:f>Feuil1!$C$10:$D$10</c:f>
              <c:strCache>
                <c:ptCount val="2"/>
                <c:pt idx="0">
                  <c:v>VAR1</c:v>
                </c:pt>
                <c:pt idx="1">
                  <c:v>Autres strategie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Feuil1!$E$6:$U$6</c:f>
              <c:strCache>
                <c:ptCount val="17"/>
                <c:pt idx="0">
                  <c:v>Baka</c:v>
                </c:pt>
                <c:pt idx="1">
                  <c:v>Bukama</c:v>
                </c:pt>
                <c:pt idx="2">
                  <c:v>Butumba</c:v>
                </c:pt>
                <c:pt idx="3">
                  <c:v>Kabondo</c:v>
                </c:pt>
                <c:pt idx="4">
                  <c:v>Kabongo</c:v>
                </c:pt>
                <c:pt idx="5">
                  <c:v>Kamina</c:v>
                </c:pt>
                <c:pt idx="6">
                  <c:v>Kaniama</c:v>
                </c:pt>
                <c:pt idx="7">
                  <c:v>Kayamba</c:v>
                </c:pt>
                <c:pt idx="8">
                  <c:v>Kinda</c:v>
                </c:pt>
                <c:pt idx="9">
                  <c:v>Kinkondja</c:v>
                </c:pt>
                <c:pt idx="10">
                  <c:v>Kitenge</c:v>
                </c:pt>
                <c:pt idx="11">
                  <c:v>Lwamba</c:v>
                </c:pt>
                <c:pt idx="12">
                  <c:v>Malemba</c:v>
                </c:pt>
                <c:pt idx="13">
                  <c:v>Mukanga</c:v>
                </c:pt>
                <c:pt idx="14">
                  <c:v>Mulongo</c:v>
                </c:pt>
                <c:pt idx="15">
                  <c:v>Songa</c:v>
                </c:pt>
                <c:pt idx="16">
                  <c:v>Haut Lomami</c:v>
                </c:pt>
              </c:strCache>
            </c:strRef>
          </c:cat>
          <c:val>
            <c:numRef>
              <c:f>Feuil1!$E$10:$U$10</c:f>
              <c:numCache>
                <c:formatCode>0%</c:formatCode>
                <c:ptCount val="17"/>
                <c:pt idx="0">
                  <c:v>0.99541584806810735</c:v>
                </c:pt>
                <c:pt idx="1">
                  <c:v>0.9161139066788655</c:v>
                </c:pt>
                <c:pt idx="2">
                  <c:v>0.86476209048361929</c:v>
                </c:pt>
                <c:pt idx="3">
                  <c:v>0.85141196013289033</c:v>
                </c:pt>
                <c:pt idx="4">
                  <c:v>0.91261107514859063</c:v>
                </c:pt>
                <c:pt idx="5">
                  <c:v>0.89618931380526168</c:v>
                </c:pt>
                <c:pt idx="6">
                  <c:v>0.95072530508864839</c:v>
                </c:pt>
                <c:pt idx="7">
                  <c:v>0.92855538081330036</c:v>
                </c:pt>
                <c:pt idx="8">
                  <c:v>0.87833594976452123</c:v>
                </c:pt>
                <c:pt idx="9">
                  <c:v>0.94163206643244968</c:v>
                </c:pt>
                <c:pt idx="10">
                  <c:v>0.79802028795811519</c:v>
                </c:pt>
                <c:pt idx="11">
                  <c:v>0.92528161984885215</c:v>
                </c:pt>
                <c:pt idx="12">
                  <c:v>0.73821173181353839</c:v>
                </c:pt>
                <c:pt idx="13">
                  <c:v>0.89908340971585698</c:v>
                </c:pt>
                <c:pt idx="14">
                  <c:v>0.71426552674344657</c:v>
                </c:pt>
                <c:pt idx="15">
                  <c:v>0.90711297071129704</c:v>
                </c:pt>
                <c:pt idx="16">
                  <c:v>0.86748773450393513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F9-473C-B38C-7A02E472C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9359712"/>
        <c:axId val="4893696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Feuil1!$C$7:$D$7</c15:sqref>
                        </c15:formulaRef>
                      </c:ext>
                    </c:extLst>
                    <c:strCache>
                      <c:ptCount val="2"/>
                      <c:pt idx="0">
                        <c:v>VAR2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Feuil1!$E$7:$U$7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4.3066322136089581E-3</c:v>
                      </c:pt>
                      <c:pt idx="1">
                        <c:v>0.14014199890770071</c:v>
                      </c:pt>
                      <c:pt idx="2">
                        <c:v>0.19017288444040037</c:v>
                      </c:pt>
                      <c:pt idx="3">
                        <c:v>0.19112731692494683</c:v>
                      </c:pt>
                      <c:pt idx="4">
                        <c:v>7.4277100178155406E-2</c:v>
                      </c:pt>
                      <c:pt idx="5">
                        <c:v>0.13848616917192921</c:v>
                      </c:pt>
                      <c:pt idx="6">
                        <c:v>5.8376885908687504E-2</c:v>
                      </c:pt>
                      <c:pt idx="7">
                        <c:v>0.1182087586433981</c:v>
                      </c:pt>
                      <c:pt idx="8">
                        <c:v>0.19730051607780866</c:v>
                      </c:pt>
                      <c:pt idx="9">
                        <c:v>5.8519437551695613E-2</c:v>
                      </c:pt>
                      <c:pt idx="10">
                        <c:v>0.19194811757769731</c:v>
                      </c:pt>
                      <c:pt idx="11">
                        <c:v>0.15314380576883171</c:v>
                      </c:pt>
                      <c:pt idx="12">
                        <c:v>0.25972006220839816</c:v>
                      </c:pt>
                      <c:pt idx="13">
                        <c:v>0.13143328229890472</c:v>
                      </c:pt>
                      <c:pt idx="14">
                        <c:v>0.49246302616609783</c:v>
                      </c:pt>
                      <c:pt idx="15">
                        <c:v>0.1712513913181746</c:v>
                      </c:pt>
                      <c:pt idx="16">
                        <c:v>0.16632302405498281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4F9-473C-B38C-7A02E472CAE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Feuil1!$C$8:$D$8</c15:sqref>
                        </c15:formulaRef>
                      </c:ext>
                    </c:extLst>
                    <c:strCache>
                      <c:ptCount val="2"/>
                      <c:pt idx="0">
                        <c:v>VAR2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Feuil1!$E$8:$U$8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0.99569336778639106</c:v>
                      </c:pt>
                      <c:pt idx="1">
                        <c:v>0.85985800109229926</c:v>
                      </c:pt>
                      <c:pt idx="2">
                        <c:v>0.80982711555959963</c:v>
                      </c:pt>
                      <c:pt idx="3">
                        <c:v>0.80887268307505322</c:v>
                      </c:pt>
                      <c:pt idx="4">
                        <c:v>0.92572289982184464</c:v>
                      </c:pt>
                      <c:pt idx="5">
                        <c:v>0.86151383082807076</c:v>
                      </c:pt>
                      <c:pt idx="6">
                        <c:v>0.9416231140913125</c:v>
                      </c:pt>
                      <c:pt idx="7">
                        <c:v>0.88179124135660192</c:v>
                      </c:pt>
                      <c:pt idx="8">
                        <c:v>0.80269948392219137</c:v>
                      </c:pt>
                      <c:pt idx="9">
                        <c:v>0.94148056244830436</c:v>
                      </c:pt>
                      <c:pt idx="10">
                        <c:v>0.80805188242230264</c:v>
                      </c:pt>
                      <c:pt idx="11">
                        <c:v>0.84685619423116831</c:v>
                      </c:pt>
                      <c:pt idx="12">
                        <c:v>0.74027993779160184</c:v>
                      </c:pt>
                      <c:pt idx="13">
                        <c:v>0.86856671770109528</c:v>
                      </c:pt>
                      <c:pt idx="14">
                        <c:v>0.50753697383390217</c:v>
                      </c:pt>
                      <c:pt idx="15">
                        <c:v>0.82874860868182543</c:v>
                      </c:pt>
                      <c:pt idx="16">
                        <c:v>0.83367697594501722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4F9-473C-B38C-7A02E472CAE5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Feuil1!$C$11:$D$11</c15:sqref>
                        </c15:formulaRef>
                      </c:ext>
                    </c:extLst>
                    <c:strCache>
                      <c:ptCount val="2"/>
                      <c:pt idx="0">
                        <c:v>Penta 3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Feuil1!$E$11:$U$11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5.9840425531914893E-3</c:v>
                      </c:pt>
                      <c:pt idx="1">
                        <c:v>7.1596658430403581E-2</c:v>
                      </c:pt>
                      <c:pt idx="2">
                        <c:v>0.11490440889582521</c:v>
                      </c:pt>
                      <c:pt idx="3">
                        <c:v>0.12960857560500244</c:v>
                      </c:pt>
                      <c:pt idx="4">
                        <c:v>8.68945868945869E-2</c:v>
                      </c:pt>
                      <c:pt idx="5">
                        <c:v>7.6307230422817118E-2</c:v>
                      </c:pt>
                      <c:pt idx="6">
                        <c:v>5.1467923160565421E-2</c:v>
                      </c:pt>
                      <c:pt idx="7">
                        <c:v>4.9650043744531934E-2</c:v>
                      </c:pt>
                      <c:pt idx="8">
                        <c:v>0.1042337212181233</c:v>
                      </c:pt>
                      <c:pt idx="9">
                        <c:v>5.2989866171578866E-2</c:v>
                      </c:pt>
                      <c:pt idx="10">
                        <c:v>0.19709672411116286</c:v>
                      </c:pt>
                      <c:pt idx="11">
                        <c:v>8.5624732867929904E-2</c:v>
                      </c:pt>
                      <c:pt idx="12">
                        <c:v>0.24185654896595274</c:v>
                      </c:pt>
                      <c:pt idx="13">
                        <c:v>9.124305852199914E-2</c:v>
                      </c:pt>
                      <c:pt idx="14">
                        <c:v>0.25829797853755926</c:v>
                      </c:pt>
                      <c:pt idx="15">
                        <c:v>7.5484926384669318E-2</c:v>
                      </c:pt>
                      <c:pt idx="16">
                        <c:v>0.12087460974213272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4F9-473C-B38C-7A02E472CAE5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Feuil1!$C$12:$D$12</c15:sqref>
                        </c15:formulaRef>
                      </c:ext>
                    </c:extLst>
                    <c:strCache>
                      <c:ptCount val="2"/>
                      <c:pt idx="0">
                        <c:v>Penta 3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Feuil1!$E$12:$U$12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0.99401595744680848</c:v>
                      </c:pt>
                      <c:pt idx="1">
                        <c:v>0.92840334156959647</c:v>
                      </c:pt>
                      <c:pt idx="2">
                        <c:v>0.88509559110417479</c:v>
                      </c:pt>
                      <c:pt idx="3">
                        <c:v>0.8703914243949975</c:v>
                      </c:pt>
                      <c:pt idx="4">
                        <c:v>0.91310541310541304</c:v>
                      </c:pt>
                      <c:pt idx="5">
                        <c:v>0.92369276957718283</c:v>
                      </c:pt>
                      <c:pt idx="6">
                        <c:v>0.94853207683943452</c:v>
                      </c:pt>
                      <c:pt idx="7">
                        <c:v>0.95034995625546803</c:v>
                      </c:pt>
                      <c:pt idx="8">
                        <c:v>0.89576627878187676</c:v>
                      </c:pt>
                      <c:pt idx="9">
                        <c:v>0.94701013382842114</c:v>
                      </c:pt>
                      <c:pt idx="10">
                        <c:v>0.80290327588883714</c:v>
                      </c:pt>
                      <c:pt idx="11">
                        <c:v>0.91437526713207007</c:v>
                      </c:pt>
                      <c:pt idx="12">
                        <c:v>0.75814345103404723</c:v>
                      </c:pt>
                      <c:pt idx="13">
                        <c:v>0.9087569414780009</c:v>
                      </c:pt>
                      <c:pt idx="14">
                        <c:v>0.7417020214624408</c:v>
                      </c:pt>
                      <c:pt idx="15">
                        <c:v>0.9245150736153307</c:v>
                      </c:pt>
                      <c:pt idx="16">
                        <c:v>0.87912539025786729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34F9-473C-B38C-7A02E472CAE5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Feuil1!$C$13:$D$13</c15:sqref>
                        </c15:formulaRef>
                      </c:ext>
                    </c:extLst>
                    <c:strCache>
                      <c:ptCount val="2"/>
                      <c:pt idx="0">
                        <c:v>Penta 1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Feuil1!$E$13:$U$13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7.8636959370904317E-3</c:v>
                      </c:pt>
                      <c:pt idx="1">
                        <c:v>4.1822378544735105E-2</c:v>
                      </c:pt>
                      <c:pt idx="2">
                        <c:v>8.7445573294629902E-2</c:v>
                      </c:pt>
                      <c:pt idx="3">
                        <c:v>0.12227575131910989</c:v>
                      </c:pt>
                      <c:pt idx="4">
                        <c:v>0.12019930578882544</c:v>
                      </c:pt>
                      <c:pt idx="5">
                        <c:v>8.8074297312257827E-2</c:v>
                      </c:pt>
                      <c:pt idx="6">
                        <c:v>3.9354883175959747E-2</c:v>
                      </c:pt>
                      <c:pt idx="7">
                        <c:v>5.7065217391304345E-2</c:v>
                      </c:pt>
                      <c:pt idx="8">
                        <c:v>5.3483462350457422E-2</c:v>
                      </c:pt>
                      <c:pt idx="9">
                        <c:v>4.3157894736842103E-2</c:v>
                      </c:pt>
                      <c:pt idx="10">
                        <c:v>0.21206857488105127</c:v>
                      </c:pt>
                      <c:pt idx="11">
                        <c:v>5.7463401286085646E-2</c:v>
                      </c:pt>
                      <c:pt idx="12">
                        <c:v>0.22708018154311649</c:v>
                      </c:pt>
                      <c:pt idx="13">
                        <c:v>8.9134891348913489E-2</c:v>
                      </c:pt>
                      <c:pt idx="14">
                        <c:v>0.18727718360071302</c:v>
                      </c:pt>
                      <c:pt idx="15">
                        <c:v>8.0128560345783001E-2</c:v>
                      </c:pt>
                      <c:pt idx="16">
                        <c:v>0.1101126472094214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34F9-473C-B38C-7A02E472CAE5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Feuil1!$C$14:$D$14</c15:sqref>
                        </c15:formulaRef>
                      </c:ext>
                    </c:extLst>
                    <c:strCache>
                      <c:ptCount val="2"/>
                      <c:pt idx="0">
                        <c:v>Penta 1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Feuil1!$E$14:$U$14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0.99213630406290954</c:v>
                      </c:pt>
                      <c:pt idx="1">
                        <c:v>0.95817762145526486</c:v>
                      </c:pt>
                      <c:pt idx="2">
                        <c:v>0.91255442670537013</c:v>
                      </c:pt>
                      <c:pt idx="3">
                        <c:v>0.87772424868089005</c:v>
                      </c:pt>
                      <c:pt idx="4">
                        <c:v>0.87980069421117457</c:v>
                      </c:pt>
                      <c:pt idx="5">
                        <c:v>0.9119257026877422</c:v>
                      </c:pt>
                      <c:pt idx="6">
                        <c:v>0.9606451168240403</c:v>
                      </c:pt>
                      <c:pt idx="7">
                        <c:v>0.94293478260869568</c:v>
                      </c:pt>
                      <c:pt idx="8">
                        <c:v>0.94651653764954258</c:v>
                      </c:pt>
                      <c:pt idx="9">
                        <c:v>0.95684210526315794</c:v>
                      </c:pt>
                      <c:pt idx="10">
                        <c:v>0.78793142511894876</c:v>
                      </c:pt>
                      <c:pt idx="11">
                        <c:v>0.94253659871391438</c:v>
                      </c:pt>
                      <c:pt idx="12">
                        <c:v>0.77291981845688351</c:v>
                      </c:pt>
                      <c:pt idx="13">
                        <c:v>0.9108651086510865</c:v>
                      </c:pt>
                      <c:pt idx="14">
                        <c:v>0.81272281639928701</c:v>
                      </c:pt>
                      <c:pt idx="15">
                        <c:v>0.91987143965421703</c:v>
                      </c:pt>
                      <c:pt idx="16">
                        <c:v>0.88988735279057862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4F9-473C-B38C-7A02E472CAE5}"/>
                  </c:ext>
                </c:extLst>
              </c15:ser>
            </c15:filteredBarSeries>
          </c:ext>
        </c:extLst>
      </c:barChart>
      <c:catAx>
        <c:axId val="48935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89369696"/>
        <c:crosses val="autoZero"/>
        <c:auto val="1"/>
        <c:lblAlgn val="ctr"/>
        <c:lblOffset val="100"/>
        <c:noMultiLvlLbl val="0"/>
      </c:catAx>
      <c:valAx>
        <c:axId val="48936969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89359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3040177027716878E-2"/>
          <c:y val="0.83838473315835516"/>
          <c:w val="0.8892920895384796"/>
          <c:h val="0.119948600174978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4"/>
          <c:order val="4"/>
          <c:tx>
            <c:strRef>
              <c:f>Feuil1!$C$11:$D$11</c:f>
              <c:strCache>
                <c:ptCount val="2"/>
                <c:pt idx="0">
                  <c:v>Penta 3</c:v>
                </c:pt>
                <c:pt idx="1">
                  <c:v>IPVS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Feuil1!$E$6:$U$6</c:f>
              <c:strCache>
                <c:ptCount val="17"/>
                <c:pt idx="0">
                  <c:v>Baka</c:v>
                </c:pt>
                <c:pt idx="1">
                  <c:v>Bukama</c:v>
                </c:pt>
                <c:pt idx="2">
                  <c:v>Butumba</c:v>
                </c:pt>
                <c:pt idx="3">
                  <c:v>Kabondo</c:v>
                </c:pt>
                <c:pt idx="4">
                  <c:v>Kabongo</c:v>
                </c:pt>
                <c:pt idx="5">
                  <c:v>Kamina</c:v>
                </c:pt>
                <c:pt idx="6">
                  <c:v>Kaniama</c:v>
                </c:pt>
                <c:pt idx="7">
                  <c:v>Kayamba</c:v>
                </c:pt>
                <c:pt idx="8">
                  <c:v>Kinda</c:v>
                </c:pt>
                <c:pt idx="9">
                  <c:v>Kinkondja</c:v>
                </c:pt>
                <c:pt idx="10">
                  <c:v>Kitenge</c:v>
                </c:pt>
                <c:pt idx="11">
                  <c:v>Lwamba</c:v>
                </c:pt>
                <c:pt idx="12">
                  <c:v>Malemba</c:v>
                </c:pt>
                <c:pt idx="13">
                  <c:v>Mukanga</c:v>
                </c:pt>
                <c:pt idx="14">
                  <c:v>Mulongo</c:v>
                </c:pt>
                <c:pt idx="15">
                  <c:v>Songa</c:v>
                </c:pt>
                <c:pt idx="16">
                  <c:v>Haut Lomami</c:v>
                </c:pt>
              </c:strCache>
            </c:strRef>
          </c:cat>
          <c:val>
            <c:numRef>
              <c:f>Feuil1!$E$11:$U$11</c:f>
              <c:numCache>
                <c:formatCode>0%</c:formatCode>
                <c:ptCount val="17"/>
                <c:pt idx="0">
                  <c:v>5.9840425531914893E-3</c:v>
                </c:pt>
                <c:pt idx="1">
                  <c:v>7.1596658430403581E-2</c:v>
                </c:pt>
                <c:pt idx="2">
                  <c:v>0.11490440889582521</c:v>
                </c:pt>
                <c:pt idx="3">
                  <c:v>0.12960857560500244</c:v>
                </c:pt>
                <c:pt idx="4">
                  <c:v>8.68945868945869E-2</c:v>
                </c:pt>
                <c:pt idx="5">
                  <c:v>7.6307230422817118E-2</c:v>
                </c:pt>
                <c:pt idx="6">
                  <c:v>5.1467923160565421E-2</c:v>
                </c:pt>
                <c:pt idx="7">
                  <c:v>4.9650043744531934E-2</c:v>
                </c:pt>
                <c:pt idx="8">
                  <c:v>0.1042337212181233</c:v>
                </c:pt>
                <c:pt idx="9">
                  <c:v>5.2989866171578866E-2</c:v>
                </c:pt>
                <c:pt idx="10">
                  <c:v>0.19709672411116286</c:v>
                </c:pt>
                <c:pt idx="11">
                  <c:v>8.5624732867929904E-2</c:v>
                </c:pt>
                <c:pt idx="12">
                  <c:v>0.24185654896595274</c:v>
                </c:pt>
                <c:pt idx="13">
                  <c:v>9.124305852199914E-2</c:v>
                </c:pt>
                <c:pt idx="14">
                  <c:v>0.25829797853755926</c:v>
                </c:pt>
                <c:pt idx="15">
                  <c:v>7.5484926384669318E-2</c:v>
                </c:pt>
                <c:pt idx="16">
                  <c:v>0.12087460974213272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07-4CC2-AAD5-1C25E29FA566}"/>
            </c:ext>
          </c:extLst>
        </c:ser>
        <c:ser>
          <c:idx val="5"/>
          <c:order val="5"/>
          <c:tx>
            <c:strRef>
              <c:f>Feuil1!$C$12:$D$12</c:f>
              <c:strCache>
                <c:ptCount val="2"/>
                <c:pt idx="0">
                  <c:v>Penta 3</c:v>
                </c:pt>
                <c:pt idx="1">
                  <c:v>Autres strategie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Feuil1!$E$6:$U$6</c:f>
              <c:strCache>
                <c:ptCount val="17"/>
                <c:pt idx="0">
                  <c:v>Baka</c:v>
                </c:pt>
                <c:pt idx="1">
                  <c:v>Bukama</c:v>
                </c:pt>
                <c:pt idx="2">
                  <c:v>Butumba</c:v>
                </c:pt>
                <c:pt idx="3">
                  <c:v>Kabondo</c:v>
                </c:pt>
                <c:pt idx="4">
                  <c:v>Kabongo</c:v>
                </c:pt>
                <c:pt idx="5">
                  <c:v>Kamina</c:v>
                </c:pt>
                <c:pt idx="6">
                  <c:v>Kaniama</c:v>
                </c:pt>
                <c:pt idx="7">
                  <c:v>Kayamba</c:v>
                </c:pt>
                <c:pt idx="8">
                  <c:v>Kinda</c:v>
                </c:pt>
                <c:pt idx="9">
                  <c:v>Kinkondja</c:v>
                </c:pt>
                <c:pt idx="10">
                  <c:v>Kitenge</c:v>
                </c:pt>
                <c:pt idx="11">
                  <c:v>Lwamba</c:v>
                </c:pt>
                <c:pt idx="12">
                  <c:v>Malemba</c:v>
                </c:pt>
                <c:pt idx="13">
                  <c:v>Mukanga</c:v>
                </c:pt>
                <c:pt idx="14">
                  <c:v>Mulongo</c:v>
                </c:pt>
                <c:pt idx="15">
                  <c:v>Songa</c:v>
                </c:pt>
                <c:pt idx="16">
                  <c:v>Haut Lomami</c:v>
                </c:pt>
              </c:strCache>
            </c:strRef>
          </c:cat>
          <c:val>
            <c:numRef>
              <c:f>Feuil1!$E$12:$U$12</c:f>
              <c:numCache>
                <c:formatCode>0%</c:formatCode>
                <c:ptCount val="17"/>
                <c:pt idx="0">
                  <c:v>0.99401595744680848</c:v>
                </c:pt>
                <c:pt idx="1">
                  <c:v>0.92840334156959647</c:v>
                </c:pt>
                <c:pt idx="2">
                  <c:v>0.88509559110417479</c:v>
                </c:pt>
                <c:pt idx="3">
                  <c:v>0.8703914243949975</c:v>
                </c:pt>
                <c:pt idx="4">
                  <c:v>0.91310541310541304</c:v>
                </c:pt>
                <c:pt idx="5">
                  <c:v>0.92369276957718283</c:v>
                </c:pt>
                <c:pt idx="6">
                  <c:v>0.94853207683943452</c:v>
                </c:pt>
                <c:pt idx="7">
                  <c:v>0.95034995625546803</c:v>
                </c:pt>
                <c:pt idx="8">
                  <c:v>0.89576627878187676</c:v>
                </c:pt>
                <c:pt idx="9">
                  <c:v>0.94701013382842114</c:v>
                </c:pt>
                <c:pt idx="10">
                  <c:v>0.80290327588883714</c:v>
                </c:pt>
                <c:pt idx="11">
                  <c:v>0.91437526713207007</c:v>
                </c:pt>
                <c:pt idx="12">
                  <c:v>0.75814345103404723</c:v>
                </c:pt>
                <c:pt idx="13">
                  <c:v>0.9087569414780009</c:v>
                </c:pt>
                <c:pt idx="14">
                  <c:v>0.7417020214624408</c:v>
                </c:pt>
                <c:pt idx="15">
                  <c:v>0.9245150736153307</c:v>
                </c:pt>
                <c:pt idx="16">
                  <c:v>0.87912539025786729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07-4CC2-AAD5-1C25E29FA5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9359712"/>
        <c:axId val="4893696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Feuil1!$C$7:$D$7</c15:sqref>
                        </c15:formulaRef>
                      </c:ext>
                    </c:extLst>
                    <c:strCache>
                      <c:ptCount val="2"/>
                      <c:pt idx="0">
                        <c:v>VAR2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Feuil1!$E$7:$U$7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4.3066322136089581E-3</c:v>
                      </c:pt>
                      <c:pt idx="1">
                        <c:v>0.14014199890770071</c:v>
                      </c:pt>
                      <c:pt idx="2">
                        <c:v>0.19017288444040037</c:v>
                      </c:pt>
                      <c:pt idx="3">
                        <c:v>0.19112731692494683</c:v>
                      </c:pt>
                      <c:pt idx="4">
                        <c:v>7.4277100178155406E-2</c:v>
                      </c:pt>
                      <c:pt idx="5">
                        <c:v>0.13848616917192921</c:v>
                      </c:pt>
                      <c:pt idx="6">
                        <c:v>5.8376885908687504E-2</c:v>
                      </c:pt>
                      <c:pt idx="7">
                        <c:v>0.1182087586433981</c:v>
                      </c:pt>
                      <c:pt idx="8">
                        <c:v>0.19730051607780866</c:v>
                      </c:pt>
                      <c:pt idx="9">
                        <c:v>5.8519437551695613E-2</c:v>
                      </c:pt>
                      <c:pt idx="10">
                        <c:v>0.19194811757769731</c:v>
                      </c:pt>
                      <c:pt idx="11">
                        <c:v>0.15314380576883171</c:v>
                      </c:pt>
                      <c:pt idx="12">
                        <c:v>0.25972006220839816</c:v>
                      </c:pt>
                      <c:pt idx="13">
                        <c:v>0.13143328229890472</c:v>
                      </c:pt>
                      <c:pt idx="14">
                        <c:v>0.49246302616609783</c:v>
                      </c:pt>
                      <c:pt idx="15">
                        <c:v>0.1712513913181746</c:v>
                      </c:pt>
                      <c:pt idx="16">
                        <c:v>0.16632302405498281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1D07-4CC2-AAD5-1C25E29FA566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Feuil1!$C$8:$D$8</c15:sqref>
                        </c15:formulaRef>
                      </c:ext>
                    </c:extLst>
                    <c:strCache>
                      <c:ptCount val="2"/>
                      <c:pt idx="0">
                        <c:v>VAR2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Feuil1!$E$8:$U$8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0.99569336778639106</c:v>
                      </c:pt>
                      <c:pt idx="1">
                        <c:v>0.85985800109229926</c:v>
                      </c:pt>
                      <c:pt idx="2">
                        <c:v>0.80982711555959963</c:v>
                      </c:pt>
                      <c:pt idx="3">
                        <c:v>0.80887268307505322</c:v>
                      </c:pt>
                      <c:pt idx="4">
                        <c:v>0.92572289982184464</c:v>
                      </c:pt>
                      <c:pt idx="5">
                        <c:v>0.86151383082807076</c:v>
                      </c:pt>
                      <c:pt idx="6">
                        <c:v>0.9416231140913125</c:v>
                      </c:pt>
                      <c:pt idx="7">
                        <c:v>0.88179124135660192</c:v>
                      </c:pt>
                      <c:pt idx="8">
                        <c:v>0.80269948392219137</c:v>
                      </c:pt>
                      <c:pt idx="9">
                        <c:v>0.94148056244830436</c:v>
                      </c:pt>
                      <c:pt idx="10">
                        <c:v>0.80805188242230264</c:v>
                      </c:pt>
                      <c:pt idx="11">
                        <c:v>0.84685619423116831</c:v>
                      </c:pt>
                      <c:pt idx="12">
                        <c:v>0.74027993779160184</c:v>
                      </c:pt>
                      <c:pt idx="13">
                        <c:v>0.86856671770109528</c:v>
                      </c:pt>
                      <c:pt idx="14">
                        <c:v>0.50753697383390217</c:v>
                      </c:pt>
                      <c:pt idx="15">
                        <c:v>0.82874860868182543</c:v>
                      </c:pt>
                      <c:pt idx="16">
                        <c:v>0.83367697594501722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D07-4CC2-AAD5-1C25E29FA56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Feuil1!$C$9:$D$9</c15:sqref>
                        </c15:formulaRef>
                      </c:ext>
                    </c:extLst>
                    <c:strCache>
                      <c:ptCount val="2"/>
                      <c:pt idx="0">
                        <c:v>VAR1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Feuil1!$E$9:$U$9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4.5841519318926003E-3</c:v>
                      </c:pt>
                      <c:pt idx="1">
                        <c:v>8.3886093321134489E-2</c:v>
                      </c:pt>
                      <c:pt idx="2">
                        <c:v>0.13523790951638065</c:v>
                      </c:pt>
                      <c:pt idx="3">
                        <c:v>0.14858803986710964</c:v>
                      </c:pt>
                      <c:pt idx="4">
                        <c:v>8.7388924851409408E-2</c:v>
                      </c:pt>
                      <c:pt idx="5">
                        <c:v>0.10381068619473827</c:v>
                      </c:pt>
                      <c:pt idx="6">
                        <c:v>4.9274694911351599E-2</c:v>
                      </c:pt>
                      <c:pt idx="7">
                        <c:v>7.1444619186699615E-2</c:v>
                      </c:pt>
                      <c:pt idx="8">
                        <c:v>0.12166405023547881</c:v>
                      </c:pt>
                      <c:pt idx="9">
                        <c:v>5.8367933567550302E-2</c:v>
                      </c:pt>
                      <c:pt idx="10">
                        <c:v>0.20197971204188481</c:v>
                      </c:pt>
                      <c:pt idx="11">
                        <c:v>7.4718380151147873E-2</c:v>
                      </c:pt>
                      <c:pt idx="12">
                        <c:v>0.26178826818646161</c:v>
                      </c:pt>
                      <c:pt idx="13">
                        <c:v>0.10091659028414299</c:v>
                      </c:pt>
                      <c:pt idx="14">
                        <c:v>0.28573447325655338</c:v>
                      </c:pt>
                      <c:pt idx="15">
                        <c:v>9.2887029288702933E-2</c:v>
                      </c:pt>
                      <c:pt idx="16">
                        <c:v>0.13251226549606493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D07-4CC2-AAD5-1C25E29FA566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Feuil1!$C$10:$D$10</c15:sqref>
                        </c15:formulaRef>
                      </c:ext>
                    </c:extLst>
                    <c:strCache>
                      <c:ptCount val="2"/>
                      <c:pt idx="0">
                        <c:v>VAR1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Feuil1!$E$10:$U$10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0.99541584806810735</c:v>
                      </c:pt>
                      <c:pt idx="1">
                        <c:v>0.9161139066788655</c:v>
                      </c:pt>
                      <c:pt idx="2">
                        <c:v>0.86476209048361929</c:v>
                      </c:pt>
                      <c:pt idx="3">
                        <c:v>0.85141196013289033</c:v>
                      </c:pt>
                      <c:pt idx="4">
                        <c:v>0.91261107514859063</c:v>
                      </c:pt>
                      <c:pt idx="5">
                        <c:v>0.89618931380526168</c:v>
                      </c:pt>
                      <c:pt idx="6">
                        <c:v>0.95072530508864839</c:v>
                      </c:pt>
                      <c:pt idx="7">
                        <c:v>0.92855538081330036</c:v>
                      </c:pt>
                      <c:pt idx="8">
                        <c:v>0.87833594976452123</c:v>
                      </c:pt>
                      <c:pt idx="9">
                        <c:v>0.94163206643244968</c:v>
                      </c:pt>
                      <c:pt idx="10">
                        <c:v>0.79802028795811519</c:v>
                      </c:pt>
                      <c:pt idx="11">
                        <c:v>0.92528161984885215</c:v>
                      </c:pt>
                      <c:pt idx="12">
                        <c:v>0.73821173181353839</c:v>
                      </c:pt>
                      <c:pt idx="13">
                        <c:v>0.89908340971585698</c:v>
                      </c:pt>
                      <c:pt idx="14">
                        <c:v>0.71426552674344657</c:v>
                      </c:pt>
                      <c:pt idx="15">
                        <c:v>0.90711297071129704</c:v>
                      </c:pt>
                      <c:pt idx="16">
                        <c:v>0.86748773450393513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D07-4CC2-AAD5-1C25E29FA566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Feuil1!$C$13:$D$13</c15:sqref>
                        </c15:formulaRef>
                      </c:ext>
                    </c:extLst>
                    <c:strCache>
                      <c:ptCount val="2"/>
                      <c:pt idx="0">
                        <c:v>Penta 1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Feuil1!$E$13:$U$13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7.8636959370904317E-3</c:v>
                      </c:pt>
                      <c:pt idx="1">
                        <c:v>4.1822378544735105E-2</c:v>
                      </c:pt>
                      <c:pt idx="2">
                        <c:v>8.7445573294629902E-2</c:v>
                      </c:pt>
                      <c:pt idx="3">
                        <c:v>0.12227575131910989</c:v>
                      </c:pt>
                      <c:pt idx="4">
                        <c:v>0.12019930578882544</c:v>
                      </c:pt>
                      <c:pt idx="5">
                        <c:v>8.8074297312257827E-2</c:v>
                      </c:pt>
                      <c:pt idx="6">
                        <c:v>3.9354883175959747E-2</c:v>
                      </c:pt>
                      <c:pt idx="7">
                        <c:v>5.7065217391304345E-2</c:v>
                      </c:pt>
                      <c:pt idx="8">
                        <c:v>5.3483462350457422E-2</c:v>
                      </c:pt>
                      <c:pt idx="9">
                        <c:v>4.3157894736842103E-2</c:v>
                      </c:pt>
                      <c:pt idx="10">
                        <c:v>0.21206857488105127</c:v>
                      </c:pt>
                      <c:pt idx="11">
                        <c:v>5.7463401286085646E-2</c:v>
                      </c:pt>
                      <c:pt idx="12">
                        <c:v>0.22708018154311649</c:v>
                      </c:pt>
                      <c:pt idx="13">
                        <c:v>8.9134891348913489E-2</c:v>
                      </c:pt>
                      <c:pt idx="14">
                        <c:v>0.18727718360071302</c:v>
                      </c:pt>
                      <c:pt idx="15">
                        <c:v>8.0128560345783001E-2</c:v>
                      </c:pt>
                      <c:pt idx="16">
                        <c:v>0.1101126472094214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1D07-4CC2-AAD5-1C25E29FA566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Feuil1!$C$14:$D$14</c15:sqref>
                        </c15:formulaRef>
                      </c:ext>
                    </c:extLst>
                    <c:strCache>
                      <c:ptCount val="2"/>
                      <c:pt idx="0">
                        <c:v>Penta 1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Feuil1!$E$14:$U$14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0.99213630406290954</c:v>
                      </c:pt>
                      <c:pt idx="1">
                        <c:v>0.95817762145526486</c:v>
                      </c:pt>
                      <c:pt idx="2">
                        <c:v>0.91255442670537013</c:v>
                      </c:pt>
                      <c:pt idx="3">
                        <c:v>0.87772424868089005</c:v>
                      </c:pt>
                      <c:pt idx="4">
                        <c:v>0.87980069421117457</c:v>
                      </c:pt>
                      <c:pt idx="5">
                        <c:v>0.9119257026877422</c:v>
                      </c:pt>
                      <c:pt idx="6">
                        <c:v>0.9606451168240403</c:v>
                      </c:pt>
                      <c:pt idx="7">
                        <c:v>0.94293478260869568</c:v>
                      </c:pt>
                      <c:pt idx="8">
                        <c:v>0.94651653764954258</c:v>
                      </c:pt>
                      <c:pt idx="9">
                        <c:v>0.95684210526315794</c:v>
                      </c:pt>
                      <c:pt idx="10">
                        <c:v>0.78793142511894876</c:v>
                      </c:pt>
                      <c:pt idx="11">
                        <c:v>0.94253659871391438</c:v>
                      </c:pt>
                      <c:pt idx="12">
                        <c:v>0.77291981845688351</c:v>
                      </c:pt>
                      <c:pt idx="13">
                        <c:v>0.9108651086510865</c:v>
                      </c:pt>
                      <c:pt idx="14">
                        <c:v>0.81272281639928701</c:v>
                      </c:pt>
                      <c:pt idx="15">
                        <c:v>0.91987143965421703</c:v>
                      </c:pt>
                      <c:pt idx="16">
                        <c:v>0.88988735279057862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1D07-4CC2-AAD5-1C25E29FA566}"/>
                  </c:ext>
                </c:extLst>
              </c15:ser>
            </c15:filteredBarSeries>
          </c:ext>
        </c:extLst>
      </c:barChart>
      <c:catAx>
        <c:axId val="48935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fr-FR"/>
          </a:p>
        </c:txPr>
        <c:crossAx val="489369696"/>
        <c:crosses val="autoZero"/>
        <c:auto val="1"/>
        <c:lblAlgn val="ctr"/>
        <c:lblOffset val="100"/>
        <c:noMultiLvlLbl val="0"/>
      </c:catAx>
      <c:valAx>
        <c:axId val="48936969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89359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6"/>
          <c:order val="6"/>
          <c:tx>
            <c:strRef>
              <c:f>Feuil1!$C$13:$D$13</c:f>
              <c:strCache>
                <c:ptCount val="2"/>
                <c:pt idx="0">
                  <c:v>Penta 1</c:v>
                </c:pt>
                <c:pt idx="1">
                  <c:v>IPVS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Feuil1!$E$6:$U$6</c:f>
              <c:strCache>
                <c:ptCount val="17"/>
                <c:pt idx="0">
                  <c:v>Baka</c:v>
                </c:pt>
                <c:pt idx="1">
                  <c:v>Bukama</c:v>
                </c:pt>
                <c:pt idx="2">
                  <c:v>Butumba</c:v>
                </c:pt>
                <c:pt idx="3">
                  <c:v>Kabondo</c:v>
                </c:pt>
                <c:pt idx="4">
                  <c:v>Kabongo</c:v>
                </c:pt>
                <c:pt idx="5">
                  <c:v>Kamina</c:v>
                </c:pt>
                <c:pt idx="6">
                  <c:v>Kaniama</c:v>
                </c:pt>
                <c:pt idx="7">
                  <c:v>Kayamba</c:v>
                </c:pt>
                <c:pt idx="8">
                  <c:v>Kinda</c:v>
                </c:pt>
                <c:pt idx="9">
                  <c:v>Kinkondja</c:v>
                </c:pt>
                <c:pt idx="10">
                  <c:v>Kitenge</c:v>
                </c:pt>
                <c:pt idx="11">
                  <c:v>Lwamba</c:v>
                </c:pt>
                <c:pt idx="12">
                  <c:v>Malemba</c:v>
                </c:pt>
                <c:pt idx="13">
                  <c:v>Mukanga</c:v>
                </c:pt>
                <c:pt idx="14">
                  <c:v>Mulongo</c:v>
                </c:pt>
                <c:pt idx="15">
                  <c:v>Songa</c:v>
                </c:pt>
                <c:pt idx="16">
                  <c:v>Haut Lomami</c:v>
                </c:pt>
              </c:strCache>
            </c:strRef>
          </c:cat>
          <c:val>
            <c:numRef>
              <c:f>Feuil1!$E$13:$U$13</c:f>
              <c:numCache>
                <c:formatCode>0%</c:formatCode>
                <c:ptCount val="17"/>
                <c:pt idx="0">
                  <c:v>7.8636959370904317E-3</c:v>
                </c:pt>
                <c:pt idx="1">
                  <c:v>4.1822378544735105E-2</c:v>
                </c:pt>
                <c:pt idx="2">
                  <c:v>8.7445573294629902E-2</c:v>
                </c:pt>
                <c:pt idx="3">
                  <c:v>0.12227575131910989</c:v>
                </c:pt>
                <c:pt idx="4">
                  <c:v>0.12019930578882544</c:v>
                </c:pt>
                <c:pt idx="5">
                  <c:v>8.8074297312257827E-2</c:v>
                </c:pt>
                <c:pt idx="6">
                  <c:v>3.9354883175959747E-2</c:v>
                </c:pt>
                <c:pt idx="7">
                  <c:v>5.7065217391304345E-2</c:v>
                </c:pt>
                <c:pt idx="8">
                  <c:v>5.3483462350457422E-2</c:v>
                </c:pt>
                <c:pt idx="9">
                  <c:v>4.3157894736842103E-2</c:v>
                </c:pt>
                <c:pt idx="10">
                  <c:v>0.21206857488105127</c:v>
                </c:pt>
                <c:pt idx="11">
                  <c:v>5.7463401286085646E-2</c:v>
                </c:pt>
                <c:pt idx="12">
                  <c:v>0.22708018154311649</c:v>
                </c:pt>
                <c:pt idx="13">
                  <c:v>8.9134891348913489E-2</c:v>
                </c:pt>
                <c:pt idx="14">
                  <c:v>0.18727718360071302</c:v>
                </c:pt>
                <c:pt idx="15">
                  <c:v>8.0128560345783001E-2</c:v>
                </c:pt>
                <c:pt idx="16">
                  <c:v>0.1101126472094214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B-4F12-B75F-4850032415F3}"/>
            </c:ext>
          </c:extLst>
        </c:ser>
        <c:ser>
          <c:idx val="7"/>
          <c:order val="7"/>
          <c:tx>
            <c:strRef>
              <c:f>Feuil1!$C$14:$D$14</c:f>
              <c:strCache>
                <c:ptCount val="2"/>
                <c:pt idx="0">
                  <c:v>Penta 1</c:v>
                </c:pt>
                <c:pt idx="1">
                  <c:v>Autres strategie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Feuil1!$E$6:$U$6</c:f>
              <c:strCache>
                <c:ptCount val="17"/>
                <c:pt idx="0">
                  <c:v>Baka</c:v>
                </c:pt>
                <c:pt idx="1">
                  <c:v>Bukama</c:v>
                </c:pt>
                <c:pt idx="2">
                  <c:v>Butumba</c:v>
                </c:pt>
                <c:pt idx="3">
                  <c:v>Kabondo</c:v>
                </c:pt>
                <c:pt idx="4">
                  <c:v>Kabongo</c:v>
                </c:pt>
                <c:pt idx="5">
                  <c:v>Kamina</c:v>
                </c:pt>
                <c:pt idx="6">
                  <c:v>Kaniama</c:v>
                </c:pt>
                <c:pt idx="7">
                  <c:v>Kayamba</c:v>
                </c:pt>
                <c:pt idx="8">
                  <c:v>Kinda</c:v>
                </c:pt>
                <c:pt idx="9">
                  <c:v>Kinkondja</c:v>
                </c:pt>
                <c:pt idx="10">
                  <c:v>Kitenge</c:v>
                </c:pt>
                <c:pt idx="11">
                  <c:v>Lwamba</c:v>
                </c:pt>
                <c:pt idx="12">
                  <c:v>Malemba</c:v>
                </c:pt>
                <c:pt idx="13">
                  <c:v>Mukanga</c:v>
                </c:pt>
                <c:pt idx="14">
                  <c:v>Mulongo</c:v>
                </c:pt>
                <c:pt idx="15">
                  <c:v>Songa</c:v>
                </c:pt>
                <c:pt idx="16">
                  <c:v>Haut Lomami</c:v>
                </c:pt>
              </c:strCache>
            </c:strRef>
          </c:cat>
          <c:val>
            <c:numRef>
              <c:f>Feuil1!$E$14:$U$14</c:f>
              <c:numCache>
                <c:formatCode>0%</c:formatCode>
                <c:ptCount val="17"/>
                <c:pt idx="0">
                  <c:v>0.99213630406290954</c:v>
                </c:pt>
                <c:pt idx="1">
                  <c:v>0.95817762145526486</c:v>
                </c:pt>
                <c:pt idx="2">
                  <c:v>0.91255442670537013</c:v>
                </c:pt>
                <c:pt idx="3">
                  <c:v>0.87772424868089005</c:v>
                </c:pt>
                <c:pt idx="4">
                  <c:v>0.87980069421117457</c:v>
                </c:pt>
                <c:pt idx="5">
                  <c:v>0.9119257026877422</c:v>
                </c:pt>
                <c:pt idx="6">
                  <c:v>0.9606451168240403</c:v>
                </c:pt>
                <c:pt idx="7">
                  <c:v>0.94293478260869568</c:v>
                </c:pt>
                <c:pt idx="8">
                  <c:v>0.94651653764954258</c:v>
                </c:pt>
                <c:pt idx="9">
                  <c:v>0.95684210526315794</c:v>
                </c:pt>
                <c:pt idx="10">
                  <c:v>0.78793142511894876</c:v>
                </c:pt>
                <c:pt idx="11">
                  <c:v>0.94253659871391438</c:v>
                </c:pt>
                <c:pt idx="12">
                  <c:v>0.77291981845688351</c:v>
                </c:pt>
                <c:pt idx="13">
                  <c:v>0.9108651086510865</c:v>
                </c:pt>
                <c:pt idx="14">
                  <c:v>0.81272281639928701</c:v>
                </c:pt>
                <c:pt idx="15">
                  <c:v>0.91987143965421703</c:v>
                </c:pt>
                <c:pt idx="16">
                  <c:v>0.88988735279057862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AB-4F12-B75F-485003241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9359712"/>
        <c:axId val="4893696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Feuil1!$C$7:$D$7</c15:sqref>
                        </c15:formulaRef>
                      </c:ext>
                    </c:extLst>
                    <c:strCache>
                      <c:ptCount val="2"/>
                      <c:pt idx="0">
                        <c:v>VAR2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400" b="1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Feuil1!$E$7:$U$7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4.3066322136089581E-3</c:v>
                      </c:pt>
                      <c:pt idx="1">
                        <c:v>0.14014199890770071</c:v>
                      </c:pt>
                      <c:pt idx="2">
                        <c:v>0.19017288444040037</c:v>
                      </c:pt>
                      <c:pt idx="3">
                        <c:v>0.19112731692494683</c:v>
                      </c:pt>
                      <c:pt idx="4">
                        <c:v>7.4277100178155406E-2</c:v>
                      </c:pt>
                      <c:pt idx="5">
                        <c:v>0.13848616917192921</c:v>
                      </c:pt>
                      <c:pt idx="6">
                        <c:v>5.8376885908687504E-2</c:v>
                      </c:pt>
                      <c:pt idx="7">
                        <c:v>0.1182087586433981</c:v>
                      </c:pt>
                      <c:pt idx="8">
                        <c:v>0.19730051607780866</c:v>
                      </c:pt>
                      <c:pt idx="9">
                        <c:v>5.8519437551695613E-2</c:v>
                      </c:pt>
                      <c:pt idx="10">
                        <c:v>0.19194811757769731</c:v>
                      </c:pt>
                      <c:pt idx="11">
                        <c:v>0.15314380576883171</c:v>
                      </c:pt>
                      <c:pt idx="12">
                        <c:v>0.25972006220839816</c:v>
                      </c:pt>
                      <c:pt idx="13">
                        <c:v>0.13143328229890472</c:v>
                      </c:pt>
                      <c:pt idx="14">
                        <c:v>0.49246302616609783</c:v>
                      </c:pt>
                      <c:pt idx="15">
                        <c:v>0.1712513913181746</c:v>
                      </c:pt>
                      <c:pt idx="16">
                        <c:v>0.16632302405498281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5FAB-4F12-B75F-4850032415F3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Feuil1!$C$8:$D$8</c15:sqref>
                        </c15:formulaRef>
                      </c:ext>
                    </c:extLst>
                    <c:strCache>
                      <c:ptCount val="2"/>
                      <c:pt idx="0">
                        <c:v>VAR2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400" b="1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Feuil1!$E$8:$U$8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0.99569336778639106</c:v>
                      </c:pt>
                      <c:pt idx="1">
                        <c:v>0.85985800109229926</c:v>
                      </c:pt>
                      <c:pt idx="2">
                        <c:v>0.80982711555959963</c:v>
                      </c:pt>
                      <c:pt idx="3">
                        <c:v>0.80887268307505322</c:v>
                      </c:pt>
                      <c:pt idx="4">
                        <c:v>0.92572289982184464</c:v>
                      </c:pt>
                      <c:pt idx="5">
                        <c:v>0.86151383082807076</c:v>
                      </c:pt>
                      <c:pt idx="6">
                        <c:v>0.9416231140913125</c:v>
                      </c:pt>
                      <c:pt idx="7">
                        <c:v>0.88179124135660192</c:v>
                      </c:pt>
                      <c:pt idx="8">
                        <c:v>0.80269948392219137</c:v>
                      </c:pt>
                      <c:pt idx="9">
                        <c:v>0.94148056244830436</c:v>
                      </c:pt>
                      <c:pt idx="10">
                        <c:v>0.80805188242230264</c:v>
                      </c:pt>
                      <c:pt idx="11">
                        <c:v>0.84685619423116831</c:v>
                      </c:pt>
                      <c:pt idx="12">
                        <c:v>0.74027993779160184</c:v>
                      </c:pt>
                      <c:pt idx="13">
                        <c:v>0.86856671770109528</c:v>
                      </c:pt>
                      <c:pt idx="14">
                        <c:v>0.50753697383390217</c:v>
                      </c:pt>
                      <c:pt idx="15">
                        <c:v>0.82874860868182543</c:v>
                      </c:pt>
                      <c:pt idx="16">
                        <c:v>0.83367697594501722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FAB-4F12-B75F-4850032415F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Feuil1!$C$9:$D$9</c15:sqref>
                        </c15:formulaRef>
                      </c:ext>
                    </c:extLst>
                    <c:strCache>
                      <c:ptCount val="2"/>
                      <c:pt idx="0">
                        <c:v>VAR1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Feuil1!$E$9:$U$9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4.5841519318926003E-3</c:v>
                      </c:pt>
                      <c:pt idx="1">
                        <c:v>8.3886093321134489E-2</c:v>
                      </c:pt>
                      <c:pt idx="2">
                        <c:v>0.13523790951638065</c:v>
                      </c:pt>
                      <c:pt idx="3">
                        <c:v>0.14858803986710964</c:v>
                      </c:pt>
                      <c:pt idx="4">
                        <c:v>8.7388924851409408E-2</c:v>
                      </c:pt>
                      <c:pt idx="5">
                        <c:v>0.10381068619473827</c:v>
                      </c:pt>
                      <c:pt idx="6">
                        <c:v>4.9274694911351599E-2</c:v>
                      </c:pt>
                      <c:pt idx="7">
                        <c:v>7.1444619186699615E-2</c:v>
                      </c:pt>
                      <c:pt idx="8">
                        <c:v>0.12166405023547881</c:v>
                      </c:pt>
                      <c:pt idx="9">
                        <c:v>5.8367933567550302E-2</c:v>
                      </c:pt>
                      <c:pt idx="10">
                        <c:v>0.20197971204188481</c:v>
                      </c:pt>
                      <c:pt idx="11">
                        <c:v>7.4718380151147873E-2</c:v>
                      </c:pt>
                      <c:pt idx="12">
                        <c:v>0.26178826818646161</c:v>
                      </c:pt>
                      <c:pt idx="13">
                        <c:v>0.10091659028414299</c:v>
                      </c:pt>
                      <c:pt idx="14">
                        <c:v>0.28573447325655338</c:v>
                      </c:pt>
                      <c:pt idx="15">
                        <c:v>9.2887029288702933E-2</c:v>
                      </c:pt>
                      <c:pt idx="16">
                        <c:v>0.13251226549606493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5FAB-4F12-B75F-4850032415F3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Feuil1!$C$10:$D$10</c15:sqref>
                        </c15:formulaRef>
                      </c:ext>
                    </c:extLst>
                    <c:strCache>
                      <c:ptCount val="2"/>
                      <c:pt idx="0">
                        <c:v>VAR1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Feuil1!$E$10:$U$10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0.99541584806810735</c:v>
                      </c:pt>
                      <c:pt idx="1">
                        <c:v>0.9161139066788655</c:v>
                      </c:pt>
                      <c:pt idx="2">
                        <c:v>0.86476209048361929</c:v>
                      </c:pt>
                      <c:pt idx="3">
                        <c:v>0.85141196013289033</c:v>
                      </c:pt>
                      <c:pt idx="4">
                        <c:v>0.91261107514859063</c:v>
                      </c:pt>
                      <c:pt idx="5">
                        <c:v>0.89618931380526168</c:v>
                      </c:pt>
                      <c:pt idx="6">
                        <c:v>0.95072530508864839</c:v>
                      </c:pt>
                      <c:pt idx="7">
                        <c:v>0.92855538081330036</c:v>
                      </c:pt>
                      <c:pt idx="8">
                        <c:v>0.87833594976452123</c:v>
                      </c:pt>
                      <c:pt idx="9">
                        <c:v>0.94163206643244968</c:v>
                      </c:pt>
                      <c:pt idx="10">
                        <c:v>0.79802028795811519</c:v>
                      </c:pt>
                      <c:pt idx="11">
                        <c:v>0.92528161984885215</c:v>
                      </c:pt>
                      <c:pt idx="12">
                        <c:v>0.73821173181353839</c:v>
                      </c:pt>
                      <c:pt idx="13">
                        <c:v>0.89908340971585698</c:v>
                      </c:pt>
                      <c:pt idx="14">
                        <c:v>0.71426552674344657</c:v>
                      </c:pt>
                      <c:pt idx="15">
                        <c:v>0.90711297071129704</c:v>
                      </c:pt>
                      <c:pt idx="16">
                        <c:v>0.86748773450393513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5FAB-4F12-B75F-4850032415F3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Feuil1!$C$11:$D$11</c15:sqref>
                        </c15:formulaRef>
                      </c:ext>
                    </c:extLst>
                    <c:strCache>
                      <c:ptCount val="2"/>
                      <c:pt idx="0">
                        <c:v>Penta 3</c:v>
                      </c:pt>
                      <c:pt idx="1">
                        <c:v>IPVS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Feuil1!$E$11:$U$11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5.9840425531914893E-3</c:v>
                      </c:pt>
                      <c:pt idx="1">
                        <c:v>7.1596658430403581E-2</c:v>
                      </c:pt>
                      <c:pt idx="2">
                        <c:v>0.11490440889582521</c:v>
                      </c:pt>
                      <c:pt idx="3">
                        <c:v>0.12960857560500244</c:v>
                      </c:pt>
                      <c:pt idx="4">
                        <c:v>8.68945868945869E-2</c:v>
                      </c:pt>
                      <c:pt idx="5">
                        <c:v>7.6307230422817118E-2</c:v>
                      </c:pt>
                      <c:pt idx="6">
                        <c:v>5.1467923160565421E-2</c:v>
                      </c:pt>
                      <c:pt idx="7">
                        <c:v>4.9650043744531934E-2</c:v>
                      </c:pt>
                      <c:pt idx="8">
                        <c:v>0.1042337212181233</c:v>
                      </c:pt>
                      <c:pt idx="9">
                        <c:v>5.2989866171578866E-2</c:v>
                      </c:pt>
                      <c:pt idx="10">
                        <c:v>0.19709672411116286</c:v>
                      </c:pt>
                      <c:pt idx="11">
                        <c:v>8.5624732867929904E-2</c:v>
                      </c:pt>
                      <c:pt idx="12">
                        <c:v>0.24185654896595274</c:v>
                      </c:pt>
                      <c:pt idx="13">
                        <c:v>9.124305852199914E-2</c:v>
                      </c:pt>
                      <c:pt idx="14">
                        <c:v>0.25829797853755926</c:v>
                      </c:pt>
                      <c:pt idx="15">
                        <c:v>7.5484926384669318E-2</c:v>
                      </c:pt>
                      <c:pt idx="16">
                        <c:v>0.12087460974213272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5FAB-4F12-B75F-4850032415F3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Feuil1!$C$12:$D$12</c15:sqref>
                        </c15:formulaRef>
                      </c:ext>
                    </c:extLst>
                    <c:strCache>
                      <c:ptCount val="2"/>
                      <c:pt idx="0">
                        <c:v>Penta 3</c:v>
                      </c:pt>
                      <c:pt idx="1">
                        <c:v>Autres strategie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Feuil1!$E$6:$U$6</c15:sqref>
                        </c15:formulaRef>
                      </c:ext>
                    </c:extLst>
                    <c:strCache>
                      <c:ptCount val="17"/>
                      <c:pt idx="0">
                        <c:v>Baka</c:v>
                      </c:pt>
                      <c:pt idx="1">
                        <c:v>Bukama</c:v>
                      </c:pt>
                      <c:pt idx="2">
                        <c:v>Butumba</c:v>
                      </c:pt>
                      <c:pt idx="3">
                        <c:v>Kabondo</c:v>
                      </c:pt>
                      <c:pt idx="4">
                        <c:v>Kabongo</c:v>
                      </c:pt>
                      <c:pt idx="5">
                        <c:v>Kamina</c:v>
                      </c:pt>
                      <c:pt idx="6">
                        <c:v>Kaniama</c:v>
                      </c:pt>
                      <c:pt idx="7">
                        <c:v>Kayamba</c:v>
                      </c:pt>
                      <c:pt idx="8">
                        <c:v>Kinda</c:v>
                      </c:pt>
                      <c:pt idx="9">
                        <c:v>Kinkondja</c:v>
                      </c:pt>
                      <c:pt idx="10">
                        <c:v>Kitenge</c:v>
                      </c:pt>
                      <c:pt idx="11">
                        <c:v>Lwamba</c:v>
                      </c:pt>
                      <c:pt idx="12">
                        <c:v>Malemba</c:v>
                      </c:pt>
                      <c:pt idx="13">
                        <c:v>Mukanga</c:v>
                      </c:pt>
                      <c:pt idx="14">
                        <c:v>Mulongo</c:v>
                      </c:pt>
                      <c:pt idx="15">
                        <c:v>Songa</c:v>
                      </c:pt>
                      <c:pt idx="16">
                        <c:v>Haut Lomami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Feuil1!$E$12:$U$12</c15:sqref>
                        </c15:formulaRef>
                      </c:ext>
                    </c:extLst>
                    <c:numCache>
                      <c:formatCode>0%</c:formatCode>
                      <c:ptCount val="17"/>
                      <c:pt idx="0">
                        <c:v>0.99401595744680848</c:v>
                      </c:pt>
                      <c:pt idx="1">
                        <c:v>0.92840334156959647</c:v>
                      </c:pt>
                      <c:pt idx="2">
                        <c:v>0.88509559110417479</c:v>
                      </c:pt>
                      <c:pt idx="3">
                        <c:v>0.8703914243949975</c:v>
                      </c:pt>
                      <c:pt idx="4">
                        <c:v>0.91310541310541304</c:v>
                      </c:pt>
                      <c:pt idx="5">
                        <c:v>0.92369276957718283</c:v>
                      </c:pt>
                      <c:pt idx="6">
                        <c:v>0.94853207683943452</c:v>
                      </c:pt>
                      <c:pt idx="7">
                        <c:v>0.95034995625546803</c:v>
                      </c:pt>
                      <c:pt idx="8">
                        <c:v>0.89576627878187676</c:v>
                      </c:pt>
                      <c:pt idx="9">
                        <c:v>0.94701013382842114</c:v>
                      </c:pt>
                      <c:pt idx="10">
                        <c:v>0.80290327588883714</c:v>
                      </c:pt>
                      <c:pt idx="11">
                        <c:v>0.91437526713207007</c:v>
                      </c:pt>
                      <c:pt idx="12">
                        <c:v>0.75814345103404723</c:v>
                      </c:pt>
                      <c:pt idx="13">
                        <c:v>0.9087569414780009</c:v>
                      </c:pt>
                      <c:pt idx="14">
                        <c:v>0.7417020214624408</c:v>
                      </c:pt>
                      <c:pt idx="15">
                        <c:v>0.9245150736153307</c:v>
                      </c:pt>
                      <c:pt idx="16">
                        <c:v>0.87912539025786729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5FAB-4F12-B75F-4850032415F3}"/>
                  </c:ext>
                </c:extLst>
              </c15:ser>
            </c15:filteredBarSeries>
          </c:ext>
        </c:extLst>
      </c:barChart>
      <c:catAx>
        <c:axId val="48935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fr-FR"/>
          </a:p>
        </c:txPr>
        <c:crossAx val="489369696"/>
        <c:crosses val="autoZero"/>
        <c:auto val="1"/>
        <c:lblAlgn val="ctr"/>
        <c:lblOffset val="100"/>
        <c:noMultiLvlLbl val="0"/>
      </c:catAx>
      <c:valAx>
        <c:axId val="48936969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fr-FR"/>
          </a:p>
        </c:txPr>
        <c:crossAx val="489359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>
          <a:latin typeface="Arial Narrow" panose="020B0606020202030204" pitchFamily="34" charset="0"/>
        </a:defRPr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600" cy="3267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7334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271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bc9d920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aabc9d920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b31b6f9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aeb31b6f9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529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eb31b6f9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aeb31b6f9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815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7c44efbea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a7c44efbea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200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7c44efbea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3a7c44efbea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2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7c44efbea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a7c44efbea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8235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7c44efbea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3a7c44efbea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173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7c44efbea_0_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a7c44efbea_0_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825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7c44efbea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g3a7c44efbea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7173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bc9d920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3" name="Google Shape;253;g3aabc9d920d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981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7c44efbea_0_10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g3a7c44efbea_0_10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2446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7274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79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15731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82425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46724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4337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206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19729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95270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48598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3687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01718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41139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Titre et contenu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8217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 Layout 2 1 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06398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743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965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68217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5432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2902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9148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4113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8417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8252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947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02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00149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58C65-1792-4B9E-A4E1-990E674EF21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B9FF4-C5B8-4E98-A910-8ED5E7D451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33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9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"/>
          <p:cNvPicPr preferRelativeResize="0"/>
          <p:nvPr/>
        </p:nvPicPr>
        <p:blipFill rotWithShape="1">
          <a:blip r:embed="rId3">
            <a:alphaModFix/>
          </a:blip>
          <a:srcRect l="-17785"/>
          <a:stretch/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4300" b="1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Revue annuelle 2025</a:t>
            </a:r>
            <a:endParaRPr kumimoji="0" sz="43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anevas de provinces ayant organisés des activités spécifiques ou approches innovantes: FAE, IPVS, stratégies spéciales et introduction des nouveaux vaccins (VAP, RR, etc)</a:t>
            </a:r>
            <a:endParaRPr kumimoji="0" sz="2400" b="0" i="1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endParaRPr kumimoji="0" sz="4300" b="1" i="1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4300" b="1" i="1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Province du Haut Lomami</a:t>
            </a:r>
            <a:endParaRPr kumimoji="0" sz="4300" b="1" i="1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Decembre 2025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582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566533" y="1550500"/>
            <a:ext cx="107145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la Province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(zones couvertes, impact sur la couverture)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de succès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capitaliser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pour 2026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Profil des antennes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p3"/>
          <p:cNvSpPr/>
          <p:nvPr/>
        </p:nvSpPr>
        <p:spPr>
          <a:xfrm>
            <a:off x="458600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Cartographie de la province avec les antennes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3" name="Google Shape;143;p3"/>
          <p:cNvGraphicFramePr/>
          <p:nvPr>
            <p:extLst>
              <p:ext uri="{D42A27DB-BD31-4B8C-83A1-F6EECF244321}">
                <p14:modId xmlns:p14="http://schemas.microsoft.com/office/powerpoint/2010/main" val="2403426009"/>
              </p:ext>
            </p:extLst>
          </p:nvPr>
        </p:nvGraphicFramePr>
        <p:xfrm>
          <a:off x="6204649" y="1114515"/>
          <a:ext cx="5607905" cy="54067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6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17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d’antennes PEV: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7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 ZS:                          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lang="en-US" sz="1600" b="1" baseline="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600" b="1" baseline="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dont</a:t>
                      </a:r>
                      <a:r>
                        <a:rPr lang="en-US" sz="1600" b="1" baseline="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 </a:t>
                      </a:r>
                      <a:r>
                        <a:rPr lang="en-US" sz="1600" b="1" baseline="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ayant</a:t>
                      </a:r>
                      <a:r>
                        <a:rPr lang="en-US" sz="1600" b="1" baseline="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b="1" baseline="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eu</a:t>
                      </a:r>
                      <a:r>
                        <a:rPr lang="en-US" sz="1600" b="1" baseline="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les IPVS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17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d’AS: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395 </a:t>
                      </a:r>
                      <a:r>
                        <a:rPr lang="en-US" sz="1600" b="1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dont</a:t>
                      </a: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169 avec IPVS 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d’ESS: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624 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4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d’ESS qui vaccinent: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420 </a:t>
                      </a:r>
                      <a:r>
                        <a:rPr lang="en-US" sz="1600" b="1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dont</a:t>
                      </a: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169 avec IPVS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1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totale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altLang="fr-FR" sz="16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5</a:t>
                      </a:r>
                      <a:r>
                        <a:rPr lang="fr-FR" sz="16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025396</a:t>
                      </a: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7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de 0-11 mois: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33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 panose="02020603050405020304"/>
                        <a:buNone/>
                      </a:pPr>
                      <a:r>
                        <a:rPr lang="en-US" sz="16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 panose="02020603050405020304"/>
                        </a:rPr>
                        <a:t>                                         201016</a:t>
                      </a:r>
                      <a:endParaRPr lang="en-US" sz="16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7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de 12-23 mois: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1333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 panose="02020603050405020304"/>
                        <a:buNone/>
                      </a:pPr>
                      <a:r>
                        <a:rPr lang="en-US" sz="16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 panose="02020603050405020304"/>
                        </a:rPr>
                        <a:t>                                         175386</a:t>
                      </a:r>
                      <a:endParaRPr lang="en-US" sz="16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17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de 0-59 mois: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1333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 panose="02020603050405020304"/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               </a:t>
                      </a:r>
                      <a:r>
                        <a:rPr lang="en-US" sz="16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 panose="02020603050405020304"/>
                        </a:rPr>
                        <a:t>949800</a:t>
                      </a:r>
                      <a:endParaRPr lang="en-US" sz="16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17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Couverture en ECF: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507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Séances de vaccination planifiées: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 (…),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avancée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(…),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porte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à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porte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(…), point de concentration (…), OVM (…)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87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Existence du plan de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contextualisation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IPV 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DPS: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Oui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446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 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 ZS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ayant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intégré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les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activités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 IPVS 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dans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le PAO :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8/16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0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40" y="1114516"/>
            <a:ext cx="5759671" cy="53134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59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1430158157"/>
              </p:ext>
            </p:extLst>
          </p:nvPr>
        </p:nvGraphicFramePr>
        <p:xfrm>
          <a:off x="458592" y="987211"/>
          <a:ext cx="11274900" cy="542508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81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5628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 ou approches spéciale</a:t>
                      </a:r>
                      <a:r>
                        <a:rPr lang="" alt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24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IPVS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de RR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62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de VAP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 en VAP 1, 62% en VAP 2 et 60% en VAP 3 et 50% en VAP 4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16 ZS et 395 AS soit 100%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7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Récupération lors des</a:t>
                      </a:r>
                      <a:r>
                        <a:rPr lang="fr-FR" sz="2400" baseline="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AVS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80% d’enfants identifiés</a:t>
                      </a: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16 ZS et 395 AS soit 100%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653" y="135143"/>
            <a:ext cx="12073812" cy="5555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500"/>
              <a:buFont typeface="Arial" panose="020B0604020202020204"/>
            </a:pPr>
            <a:r>
              <a:rPr lang="fr-FR" sz="2200" dirty="0" err="1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Arial" panose="020B0604020202020204"/>
              </a:rPr>
              <a:t>Resultats</a:t>
            </a:r>
            <a:r>
              <a:rPr lang="fr-FR" sz="22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Arial" panose="020B0604020202020204"/>
              </a:rPr>
              <a:t>: Plus de trois sur les dix </a:t>
            </a:r>
            <a:r>
              <a:rPr lang="fr-FR" sz="22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Arial" panose="020B0604020202020204"/>
              </a:rPr>
              <a:t>enfants </a:t>
            </a:r>
            <a:r>
              <a:rPr lang="fr-FR" sz="22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Arial" panose="020B0604020202020204"/>
              </a:rPr>
              <a:t>vaccinés en 2025 ont bénéficié de la vaccination à l’occasion des </a:t>
            </a:r>
            <a:r>
              <a:rPr lang="fr-FR" sz="2200" dirty="0" smtClean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Arial" panose="020B0604020202020204"/>
              </a:rPr>
              <a:t>IPVS</a:t>
            </a:r>
            <a:endParaRPr lang="fr-FR" sz="22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Arial" panose="020B0604020202020204"/>
            </a:endParaRPr>
          </a:p>
        </p:txBody>
      </p:sp>
      <p:graphicFrame>
        <p:nvGraphicFramePr>
          <p:cNvPr id="5" name="Graphique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7779609"/>
              </p:ext>
            </p:extLst>
          </p:nvPr>
        </p:nvGraphicFramePr>
        <p:xfrm>
          <a:off x="447366" y="560439"/>
          <a:ext cx="55896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Graphique 5"/>
          <p:cNvGraphicFramePr>
            <a:graphicFrameLocks/>
          </p:cNvGraphicFramePr>
          <p:nvPr>
            <p:extLst/>
          </p:nvPr>
        </p:nvGraphicFramePr>
        <p:xfrm>
          <a:off x="6427839" y="560439"/>
          <a:ext cx="5488858" cy="2743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Graphique 6"/>
          <p:cNvGraphicFramePr>
            <a:graphicFrameLocks/>
          </p:cNvGraphicFramePr>
          <p:nvPr>
            <p:extLst/>
          </p:nvPr>
        </p:nvGraphicFramePr>
        <p:xfrm>
          <a:off x="447366" y="3303639"/>
          <a:ext cx="5589639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Graphique 7"/>
          <p:cNvGraphicFramePr>
            <a:graphicFrameLocks/>
          </p:cNvGraphicFramePr>
          <p:nvPr>
            <p:extLst/>
          </p:nvPr>
        </p:nvGraphicFramePr>
        <p:xfrm>
          <a:off x="6427839" y="3303639"/>
          <a:ext cx="5488858" cy="3352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2" name="Connecteur droit 11"/>
          <p:cNvCxnSpPr/>
          <p:nvPr/>
        </p:nvCxnSpPr>
        <p:spPr>
          <a:xfrm>
            <a:off x="127819" y="3303638"/>
            <a:ext cx="11788878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5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58592" y="317941"/>
            <a:ext cx="11274900" cy="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en-US" sz="2800" dirty="0" err="1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8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dirty="0" err="1" smtClean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800" dirty="0" smtClean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des </a:t>
            </a:r>
            <a:r>
              <a:rPr lang="en-US" sz="2800" dirty="0" err="1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trois</a:t>
            </a:r>
            <a:r>
              <a:rPr lang="en-US" sz="28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 passages des </a:t>
            </a:r>
            <a:r>
              <a:rPr lang="en-US" sz="2800" dirty="0" smtClean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IPVS                                                       (2/3)</a:t>
            </a: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b="0" i="0" u="none" strike="noStrike" cap="none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0" name="Google Shape;200;g3aabc9d920d_0_40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01" name="Google Shape;201;g3aabc9d920d_0_401"/>
          <p:cNvGraphicFramePr/>
          <p:nvPr>
            <p:extLst>
              <p:ext uri="{D42A27DB-BD31-4B8C-83A1-F6EECF244321}">
                <p14:modId xmlns:p14="http://schemas.microsoft.com/office/powerpoint/2010/main" val="349000711"/>
              </p:ext>
            </p:extLst>
          </p:nvPr>
        </p:nvGraphicFramePr>
        <p:xfrm>
          <a:off x="450350" y="927441"/>
          <a:ext cx="11275000" cy="468624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12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7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7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7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6282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18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Cibles </a:t>
                      </a:r>
                      <a:endParaRPr sz="18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</a:t>
                      </a:r>
                      <a:r>
                        <a:rPr lang="en-US" sz="18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identifiés</a:t>
                      </a:r>
                      <a:r>
                        <a:rPr lang="en-US" sz="18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12 - 23 </a:t>
                      </a:r>
                      <a:r>
                        <a:rPr lang="en-US" sz="1800" b="1" dirty="0" err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mois</a:t>
                      </a:r>
                      <a:endParaRPr sz="18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recuperés 12 - 23 mois</a:t>
                      </a:r>
                      <a:endParaRPr sz="18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1</a:t>
                      </a:r>
                      <a:endParaRPr sz="18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2</a:t>
                      </a:r>
                      <a:endParaRPr sz="1800" b="1" u="none" strike="noStrike" cap="none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3</a:t>
                      </a:r>
                      <a:endParaRPr sz="18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1</a:t>
                      </a:r>
                      <a:endParaRPr sz="18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2</a:t>
                      </a:r>
                      <a:endParaRPr sz="18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1</a:t>
                      </a:r>
                      <a:endParaRPr sz="18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2</a:t>
                      </a:r>
                      <a:endParaRPr sz="18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Bukama</a:t>
                      </a: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 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16031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1381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937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908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1009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603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1368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536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Kabongo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17284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4910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614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936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965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1526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1232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819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Kinkondja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12820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3187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2697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2321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2324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2680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2948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2238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2227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Kitenge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12990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2859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1246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1245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1181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1866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1556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2009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1927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Lwamba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6490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2355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653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649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699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876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1296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628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913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Malemba-Nkulu</a:t>
                      </a: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 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16630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5265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2233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2198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2319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601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2253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1522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Mukanga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9524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2820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1263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1770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1587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1102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2116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1551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Mulongo</a:t>
                      </a:r>
                      <a:endParaRPr lang="fr-FR" sz="18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14699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12212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2640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2513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2519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3031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5096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2810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3414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smtClean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</a:t>
                      </a:r>
                      <a:endParaRPr sz="1800" b="1" i="0" u="none" strike="noStrike" cap="non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106468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 smtClean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34989</a:t>
                      </a:r>
                      <a:endParaRPr lang="fr-FR" sz="1800" b="1" i="0" u="none" strike="noStrike" cap="non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12096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12218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12574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11724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18159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10979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12909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450350" y="5636103"/>
            <a:ext cx="112831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latin typeface="Arial Narrow" panose="020B0606020202030204" pitchFamily="34" charset="0"/>
              </a:rPr>
              <a:t>Environ 1/3 d’enfants de 12 à 23 mois n’étaient pas à jour avec leur calendrier vaccinal parmi lesquels près de 2/3 avaient reçu l’antigène de sortie à l’occasion des IPVS; la majorité d’enfants étant concentrés dans la ZS de </a:t>
            </a:r>
            <a:r>
              <a:rPr lang="fr-FR" sz="2200" dirty="0" err="1" smtClean="0">
                <a:latin typeface="Arial Narrow" panose="020B0606020202030204" pitchFamily="34" charset="0"/>
              </a:rPr>
              <a:t>Mulongo</a:t>
            </a:r>
            <a:r>
              <a:rPr lang="fr-FR" sz="2200" dirty="0" smtClean="0">
                <a:latin typeface="Arial Narrow" panose="020B0606020202030204" pitchFamily="34" charset="0"/>
              </a:rPr>
              <a:t>. Plus de ½ d’EZD récupérés l’ont été dans 3 ZS: </a:t>
            </a:r>
            <a:r>
              <a:rPr lang="fr-FR" sz="2200" dirty="0" err="1" smtClean="0">
                <a:latin typeface="Arial Narrow" panose="020B0606020202030204" pitchFamily="34" charset="0"/>
              </a:rPr>
              <a:t>Mulongo</a:t>
            </a:r>
            <a:r>
              <a:rPr lang="fr-FR" sz="2200" dirty="0" smtClean="0">
                <a:latin typeface="Arial Narrow" panose="020B0606020202030204" pitchFamily="34" charset="0"/>
              </a:rPr>
              <a:t>, </a:t>
            </a:r>
            <a:r>
              <a:rPr lang="fr-FR" sz="2200" dirty="0" err="1" smtClean="0">
                <a:latin typeface="Arial Narrow" panose="020B0606020202030204" pitchFamily="34" charset="0"/>
              </a:rPr>
              <a:t>Malemba-Nkulu</a:t>
            </a:r>
            <a:r>
              <a:rPr lang="fr-FR" sz="2200" dirty="0" smtClean="0">
                <a:latin typeface="Arial Narrow" panose="020B0606020202030204" pitchFamily="34" charset="0"/>
              </a:rPr>
              <a:t> et </a:t>
            </a:r>
            <a:r>
              <a:rPr lang="fr-FR" sz="2200" dirty="0" err="1" smtClean="0">
                <a:latin typeface="Arial Narrow" panose="020B0606020202030204" pitchFamily="34" charset="0"/>
              </a:rPr>
              <a:t>Kikonja</a:t>
            </a:r>
            <a:endParaRPr lang="fr-FR" sz="22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abc9d920d_0_410"/>
          <p:cNvSpPr txBox="1"/>
          <p:nvPr/>
        </p:nvSpPr>
        <p:spPr>
          <a:xfrm>
            <a:off x="267700" y="315083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en-US" sz="2800" dirty="0" err="1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8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dirty="0" err="1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8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 des </a:t>
            </a:r>
            <a:r>
              <a:rPr lang="en-US" sz="2800" dirty="0" err="1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trois</a:t>
            </a:r>
            <a:r>
              <a:rPr lang="en-US" sz="2800" dirty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 passages des IPVS </a:t>
            </a:r>
            <a:r>
              <a:rPr lang="en-US" sz="2800" dirty="0" smtClean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/>
              </a:rPr>
              <a:t>                                                      (</a:t>
            </a:r>
            <a:r>
              <a:rPr lang="fr-FR" sz="2800" dirty="0" smtClean="0">
                <a:solidFill>
                  <a:srgbClr val="1155CC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2/3)</a:t>
            </a: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b="0" i="0" u="none" strike="noStrike" cap="none" dirty="0">
              <a:solidFill>
                <a:srgbClr val="1155CC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c9d920d_0_4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8" name="Google Shape;208;g3aabc9d920d_0_4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9" name="Google Shape;209;g3aabc9d920d_0_4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10" name="Google Shape;210;g3aabc9d920d_0_41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11" name="Google Shape;211;g3aabc9d920d_0_410"/>
          <p:cNvGraphicFramePr/>
          <p:nvPr>
            <p:extLst>
              <p:ext uri="{D42A27DB-BD31-4B8C-83A1-F6EECF244321}">
                <p14:modId xmlns:p14="http://schemas.microsoft.com/office/powerpoint/2010/main" val="114200978"/>
              </p:ext>
            </p:extLst>
          </p:nvPr>
        </p:nvGraphicFramePr>
        <p:xfrm>
          <a:off x="407504" y="859342"/>
          <a:ext cx="11274896" cy="438906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42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7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4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40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43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6093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2000" b="1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Cibles </a:t>
                      </a:r>
                      <a:endParaRPr sz="20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identifiés 24 - 59 mois</a:t>
                      </a:r>
                      <a:endParaRPr sz="20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Enfants recuperés 24 - 59 mois</a:t>
                      </a:r>
                      <a:endParaRPr sz="20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0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1</a:t>
                      </a:r>
                      <a:endParaRPr sz="2000" b="1" u="none" strike="noStrike" cap="none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000" b="1" dirty="0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2</a:t>
                      </a:r>
                      <a:endParaRPr sz="2000" b="1" u="none" strike="noStrike" cap="none" dirty="0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 3</a:t>
                      </a:r>
                      <a:endParaRPr sz="2000" b="1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1</a:t>
                      </a:r>
                      <a:endParaRPr sz="20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VAR 2</a:t>
                      </a:r>
                      <a:endParaRPr sz="20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1</a:t>
                      </a:r>
                      <a:endParaRPr sz="20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000" b="1"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VPI 2</a:t>
                      </a:r>
                      <a:endParaRPr sz="2000" b="1" u="none" strike="noStrike" cap="none"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39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Bukama</a:t>
                      </a: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 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52411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</a:t>
                      </a:r>
                      <a:r>
                        <a:rPr lang="fr-FR" sz="2000" b="1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014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190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205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300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2804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344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786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39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Kabongo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56507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4812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404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198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252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382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217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234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201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39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Kinkondja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41911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9590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1801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1328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1545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3024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7280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2269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4540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39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Kitenge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42467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</a:t>
                      </a:r>
                      <a:r>
                        <a:rPr lang="fr-FR" sz="2000" b="1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392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850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997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1647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1454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1633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1556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1556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39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Lwamba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21219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9352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377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373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471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675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3482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432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1317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92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Malemba-Nkulu</a:t>
                      </a: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 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54368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5576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326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678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333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3030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430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2151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839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Mukanga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31136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1937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569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871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1063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954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1771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690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1241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839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Mulongo</a:t>
                      </a:r>
                      <a:endParaRPr lang="fr-FR" sz="2000" b="1" i="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48056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27199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815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1268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1657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2152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11218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1662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4731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711"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smtClean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</a:t>
                      </a:r>
                      <a:endParaRPr sz="2000" b="1" i="0" u="none" strike="noStrike" cap="non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348075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 smtClean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63872</a:t>
                      </a:r>
                      <a:endParaRPr lang="fr-FR" sz="2000" b="1" i="0" u="none" strike="noStrike" cap="non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5301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5551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7518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9274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31435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7617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2000" b="1" i="0" u="none" strike="noStrike" cap="non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16523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458592" y="5316501"/>
            <a:ext cx="11274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401216" y="5224836"/>
            <a:ext cx="113322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latin typeface="Arial Narrow" panose="020B0606020202030204" pitchFamily="34" charset="0"/>
              </a:rPr>
              <a:t>Presque 1/5 enfants de 24 à 59 mois étaient en conflit avec leur calendrier vaccinal </a:t>
            </a:r>
            <a:r>
              <a:rPr lang="fr-FR" sz="2000" dirty="0">
                <a:latin typeface="Arial Narrow" panose="020B0606020202030204" pitchFamily="34" charset="0"/>
              </a:rPr>
              <a:t>dans les </a:t>
            </a:r>
            <a:r>
              <a:rPr lang="fr-FR" sz="2000" dirty="0" smtClean="0">
                <a:latin typeface="Arial Narrow" panose="020B0606020202030204" pitchFamily="34" charset="0"/>
              </a:rPr>
              <a:t>8 ZS </a:t>
            </a:r>
            <a:r>
              <a:rPr lang="fr-FR" sz="2000" dirty="0">
                <a:latin typeface="Arial Narrow" panose="020B0606020202030204" pitchFamily="34" charset="0"/>
              </a:rPr>
              <a:t>ciblées par les </a:t>
            </a:r>
            <a:r>
              <a:rPr lang="fr-FR" sz="2000" dirty="0" smtClean="0">
                <a:latin typeface="Arial Narrow" panose="020B0606020202030204" pitchFamily="34" charset="0"/>
              </a:rPr>
              <a:t>IPVS, les ¾  de ces enfants étant concentrés dans 3 ZS (</a:t>
            </a:r>
            <a:r>
              <a:rPr lang="fr-FR" sz="2000" dirty="0" err="1" smtClean="0">
                <a:latin typeface="Arial Narrow" panose="020B0606020202030204" pitchFamily="34" charset="0"/>
              </a:rPr>
              <a:t>Mulongo</a:t>
            </a:r>
            <a:r>
              <a:rPr lang="fr-FR" sz="2000" dirty="0" smtClean="0">
                <a:latin typeface="Arial Narrow" panose="020B0606020202030204" pitchFamily="34" charset="0"/>
              </a:rPr>
              <a:t> ayant près de 1/2 , </a:t>
            </a:r>
            <a:r>
              <a:rPr lang="fr-FR" sz="2000" dirty="0" err="1" smtClean="0">
                <a:latin typeface="Arial Narrow" panose="020B0606020202030204" pitchFamily="34" charset="0"/>
              </a:rPr>
              <a:t>Kikondja</a:t>
            </a:r>
            <a:r>
              <a:rPr lang="fr-FR" sz="2000" dirty="0" smtClean="0">
                <a:latin typeface="Arial Narrow" panose="020B0606020202030204" pitchFamily="34" charset="0"/>
              </a:rPr>
              <a:t> et </a:t>
            </a:r>
            <a:r>
              <a:rPr lang="fr-FR" sz="2000" dirty="0" err="1" smtClean="0">
                <a:latin typeface="Arial Narrow" panose="020B0606020202030204" pitchFamily="34" charset="0"/>
              </a:rPr>
              <a:t>Lwamba</a:t>
            </a:r>
            <a:r>
              <a:rPr lang="fr-FR" sz="2000" dirty="0" smtClean="0">
                <a:latin typeface="Arial Narrow" panose="020B0606020202030204" pitchFamily="34" charset="0"/>
              </a:rPr>
              <a:t> gardant le ¼ du lot). Alors que plus de 30% d’EZD </a:t>
            </a:r>
            <a:r>
              <a:rPr lang="fr-FR" sz="2000" dirty="0" err="1" smtClean="0">
                <a:latin typeface="Arial Narrow" panose="020B0606020202030204" pitchFamily="34" charset="0"/>
              </a:rPr>
              <a:t>recuperés</a:t>
            </a:r>
            <a:r>
              <a:rPr lang="fr-FR" sz="2000" dirty="0" smtClean="0">
                <a:latin typeface="Arial Narrow" panose="020B0606020202030204" pitchFamily="34" charset="0"/>
              </a:rPr>
              <a:t> soient dans la ZS de </a:t>
            </a:r>
            <a:r>
              <a:rPr lang="fr-FR" sz="2000" dirty="0" err="1" smtClean="0">
                <a:latin typeface="Arial Narrow" panose="020B0606020202030204" pitchFamily="34" charset="0"/>
              </a:rPr>
              <a:t>Kinkondja</a:t>
            </a:r>
            <a:r>
              <a:rPr lang="fr-FR" sz="2000" dirty="0">
                <a:latin typeface="Arial Narrow" panose="020B0606020202030204" pitchFamily="34" charset="0"/>
              </a:rPr>
              <a:t> </a:t>
            </a:r>
            <a:r>
              <a:rPr lang="fr-FR" sz="2000" dirty="0" smtClean="0">
                <a:latin typeface="Arial Narrow" panose="020B0606020202030204" pitchFamily="34" charset="0"/>
              </a:rPr>
              <a:t>et 30% autres </a:t>
            </a:r>
            <a:r>
              <a:rPr lang="fr-FR" sz="2000" dirty="0" err="1" smtClean="0">
                <a:latin typeface="Arial Narrow" panose="020B0606020202030204" pitchFamily="34" charset="0"/>
              </a:rPr>
              <a:t>etant</a:t>
            </a:r>
            <a:r>
              <a:rPr lang="fr-FR" sz="2000" dirty="0" smtClean="0">
                <a:latin typeface="Arial Narrow" panose="020B0606020202030204" pitchFamily="34" charset="0"/>
              </a:rPr>
              <a:t> dans celle de </a:t>
            </a:r>
            <a:r>
              <a:rPr lang="fr-FR" sz="2000" dirty="0" err="1" smtClean="0">
                <a:latin typeface="Arial Narrow" panose="020B0606020202030204" pitchFamily="34" charset="0"/>
              </a:rPr>
              <a:t>Kitenge</a:t>
            </a:r>
            <a:r>
              <a:rPr lang="fr-FR" sz="2000" dirty="0" smtClean="0">
                <a:latin typeface="Arial Narrow" panose="020B0606020202030204" pitchFamily="34" charset="0"/>
              </a:rPr>
              <a:t> et </a:t>
            </a:r>
            <a:r>
              <a:rPr lang="fr-FR" sz="2000" dirty="0" err="1" smtClean="0">
                <a:latin typeface="Arial Narrow" panose="020B0606020202030204" pitchFamily="34" charset="0"/>
              </a:rPr>
              <a:t>Mulongo</a:t>
            </a:r>
            <a:r>
              <a:rPr lang="fr-FR" sz="2000" dirty="0" smtClean="0">
                <a:latin typeface="Arial Narrow" panose="020B0606020202030204" pitchFamily="34" charset="0"/>
              </a:rPr>
              <a:t>, environs la </a:t>
            </a:r>
            <a:r>
              <a:rPr lang="fr-FR" sz="2000" dirty="0" err="1" smtClean="0">
                <a:latin typeface="Arial Narrow" panose="020B0606020202030204" pitchFamily="34" charset="0"/>
              </a:rPr>
              <a:t>moité</a:t>
            </a:r>
            <a:r>
              <a:rPr lang="fr-FR" sz="2000" dirty="0" smtClean="0">
                <a:latin typeface="Arial Narrow" panose="020B0606020202030204" pitchFamily="34" charset="0"/>
              </a:rPr>
              <a:t> des enfants identifiés ont </a:t>
            </a:r>
            <a:r>
              <a:rPr lang="fr-FR" sz="2000" dirty="0" err="1" smtClean="0">
                <a:latin typeface="Arial Narrow" panose="020B0606020202030204" pitchFamily="34" charset="0"/>
              </a:rPr>
              <a:t>recus</a:t>
            </a:r>
            <a:r>
              <a:rPr lang="fr-FR" sz="2000" dirty="0" smtClean="0">
                <a:latin typeface="Arial Narrow" panose="020B0606020202030204" pitchFamily="34" charset="0"/>
              </a:rPr>
              <a:t> la </a:t>
            </a:r>
            <a:r>
              <a:rPr lang="fr-FR" sz="2000" dirty="0" err="1" smtClean="0">
                <a:latin typeface="Arial Narrow" panose="020B0606020202030204" pitchFamily="34" charset="0"/>
              </a:rPr>
              <a:t>deuxieme</a:t>
            </a:r>
            <a:r>
              <a:rPr lang="fr-FR" sz="2000" dirty="0" smtClean="0">
                <a:latin typeface="Arial Narrow" panose="020B0606020202030204" pitchFamily="34" charset="0"/>
              </a:rPr>
              <a:t> dose de VAR à l’occasion des IPVS, la ZS de </a:t>
            </a:r>
            <a:r>
              <a:rPr lang="fr-FR" sz="2000" dirty="0" err="1" smtClean="0">
                <a:latin typeface="Arial Narrow" panose="020B0606020202030204" pitchFamily="34" charset="0"/>
              </a:rPr>
              <a:t>Mulongo</a:t>
            </a:r>
            <a:r>
              <a:rPr lang="fr-FR" sz="2000" dirty="0" smtClean="0">
                <a:latin typeface="Arial Narrow" panose="020B0606020202030204" pitchFamily="34" charset="0"/>
              </a:rPr>
              <a:t> </a:t>
            </a:r>
            <a:r>
              <a:rPr lang="fr-FR" sz="2000" dirty="0" err="1" smtClean="0">
                <a:latin typeface="Arial Narrow" panose="020B0606020202030204" pitchFamily="34" charset="0"/>
              </a:rPr>
              <a:t>etant</a:t>
            </a:r>
            <a:r>
              <a:rPr lang="fr-FR" sz="2000" dirty="0" smtClean="0">
                <a:latin typeface="Arial Narrow" panose="020B0606020202030204" pitchFamily="34" charset="0"/>
              </a:rPr>
              <a:t> celle qui </a:t>
            </a:r>
            <a:r>
              <a:rPr lang="fr-FR" sz="2000" dirty="0" err="1" smtClean="0">
                <a:latin typeface="Arial Narrow" panose="020B0606020202030204" pitchFamily="34" charset="0"/>
              </a:rPr>
              <a:t>recupéré</a:t>
            </a:r>
            <a:r>
              <a:rPr lang="fr-FR" sz="2000" dirty="0" smtClean="0">
                <a:latin typeface="Arial Narrow" panose="020B0606020202030204" pitchFamily="34" charset="0"/>
              </a:rPr>
              <a:t> plus de 1/3.</a:t>
            </a:r>
            <a:endParaRPr lang="fr-FR" sz="20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b31b6f97_0_13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Résultats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cumulés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des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trois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passages des IPVS pour la tranche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d’âge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de 0 à 59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mois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aeb31b6f97_0_1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aeb31b6f97_0_1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aeb31b6f97_0_1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g3aeb31b6f97_0_1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g3aeb31b6f97_0_13"/>
          <p:cNvSpPr txBox="1"/>
          <p:nvPr/>
        </p:nvSpPr>
        <p:spPr>
          <a:xfrm>
            <a:off x="267700" y="6492831"/>
            <a:ext cx="3813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GestionPEV, Suivi Électronique des vaccinateurs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4" name="Google Shape;184;g3aeb31b6f97_0_13"/>
          <p:cNvGraphicFramePr/>
          <p:nvPr/>
        </p:nvGraphicFramePr>
        <p:xfrm>
          <a:off x="526300" y="1231300"/>
          <a:ext cx="11139400" cy="44478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68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73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Zone de santé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attendus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vaccinés*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BCG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 1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 2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Penta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Penta 3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VPO 1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VPO 3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VPI 1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VPI 2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0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Bukama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15,723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14,770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2,218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2,686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4,339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2,204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1,770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1,838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1,579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1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Kitenge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15,576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14,717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2,990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3,227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3,049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2,236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2,936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1,047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2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Kabongo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14,342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13,741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3,038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2,987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2,171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2,355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2,621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2,252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2,621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3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Mukanga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22,497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19,470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3,280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4,447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2,443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2,492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1,861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1,698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4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Mulongo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19,767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18,826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3,731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3,312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2,673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3,477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1,968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5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Lwamba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8,699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6,979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1,290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2,076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648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6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Kinkondja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24,730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21,983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4,889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5,937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3,148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2,724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1,999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7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Malemba Nkulu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26,362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25,724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6,215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5,869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7,435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3,553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3,226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3,161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999999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1,152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T w="53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8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147,696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136,210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23,548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28,392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32,766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19,260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20,480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16,029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16,322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6,512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4,568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T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8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4:9:1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4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aeb31b6f97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350" y="1411775"/>
            <a:ext cx="3410712" cy="422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aeb31b6f97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972" y="1474675"/>
            <a:ext cx="3410713" cy="4224529"/>
          </a:xfrm>
          <a:prstGeom prst="rect">
            <a:avLst/>
          </a:prstGeom>
          <a:noFill/>
          <a:ln w="148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1" name="Google Shape;211;g3aeb31b6f97_0_2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96% des communautés cibles ont été atteintes par les trois passages des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IPVS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g3aeb31b6f97_0_2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aeb31b6f97_0_2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aeb31b6f97_0_2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g3aeb31b6f97_0_2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" name="Google Shape;216;g3aeb31b6f97_0_22"/>
          <p:cNvSpPr txBox="1"/>
          <p:nvPr/>
        </p:nvSpPr>
        <p:spPr>
          <a:xfrm>
            <a:off x="267700" y="6289643"/>
            <a:ext cx="11414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451F6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aeb31b6f97_0_22"/>
          <p:cNvSpPr txBox="1"/>
          <p:nvPr/>
        </p:nvSpPr>
        <p:spPr>
          <a:xfrm>
            <a:off x="267700" y="6289643"/>
            <a:ext cx="11414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451F6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aeb31b6f97_0_22"/>
          <p:cNvSpPr txBox="1"/>
          <p:nvPr/>
        </p:nvSpPr>
        <p:spPr>
          <a:xfrm>
            <a:off x="267700" y="6492831"/>
            <a:ext cx="3813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GestionPEV, Suivi Électronique des vaccinateurs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g3aeb31b6f97_0_22"/>
          <p:cNvSpPr/>
          <p:nvPr/>
        </p:nvSpPr>
        <p:spPr>
          <a:xfrm>
            <a:off x="6816953" y="6518445"/>
            <a:ext cx="319500" cy="164100"/>
          </a:xfrm>
          <a:prstGeom prst="rect">
            <a:avLst/>
          </a:prstGeom>
          <a:solidFill>
            <a:srgbClr val="4A815E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aeb31b6f97_0_22"/>
          <p:cNvSpPr txBox="1"/>
          <p:nvPr/>
        </p:nvSpPr>
        <p:spPr>
          <a:xfrm>
            <a:off x="7091735" y="6373200"/>
            <a:ext cx="1610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Couvert 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par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IPVS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aeb31b6f97_0_22"/>
          <p:cNvSpPr/>
          <p:nvPr/>
        </p:nvSpPr>
        <p:spPr>
          <a:xfrm>
            <a:off x="8746292" y="6518445"/>
            <a:ext cx="319500" cy="164100"/>
          </a:xfrm>
          <a:prstGeom prst="rect">
            <a:avLst/>
          </a:prstGeom>
          <a:solidFill>
            <a:srgbClr val="E27375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aeb31b6f97_0_22"/>
          <p:cNvSpPr txBox="1"/>
          <p:nvPr/>
        </p:nvSpPr>
        <p:spPr>
          <a:xfrm>
            <a:off x="9057333" y="6377168"/>
            <a:ext cx="1426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Non couvert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aeb31b6f97_0_22"/>
          <p:cNvSpPr/>
          <p:nvPr/>
        </p:nvSpPr>
        <p:spPr>
          <a:xfrm>
            <a:off x="10154916" y="6518445"/>
            <a:ext cx="319500" cy="164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aeb31b6f97_0_22"/>
          <p:cNvSpPr txBox="1"/>
          <p:nvPr/>
        </p:nvSpPr>
        <p:spPr>
          <a:xfrm>
            <a:off x="10465956" y="6377168"/>
            <a:ext cx="1426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Non priorisé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aeb31b6f97_0_22"/>
          <p:cNvSpPr/>
          <p:nvPr/>
        </p:nvSpPr>
        <p:spPr>
          <a:xfrm>
            <a:off x="4061689" y="3442885"/>
            <a:ext cx="244800" cy="412500"/>
          </a:xfrm>
          <a:prstGeom prst="chevron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aeb31b6f97_0_22"/>
          <p:cNvSpPr/>
          <p:nvPr/>
        </p:nvSpPr>
        <p:spPr>
          <a:xfrm>
            <a:off x="4389973" y="1477468"/>
            <a:ext cx="895500" cy="459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128025" tIns="128025" rIns="128025" bIns="1280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89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%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aeb31b6f97_0_22"/>
          <p:cNvSpPr/>
          <p:nvPr/>
        </p:nvSpPr>
        <p:spPr>
          <a:xfrm>
            <a:off x="4491695" y="5104814"/>
            <a:ext cx="1539900" cy="5184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IPVS - Tour 2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aeb31b6f97_0_22"/>
          <p:cNvSpPr/>
          <p:nvPr/>
        </p:nvSpPr>
        <p:spPr>
          <a:xfrm>
            <a:off x="8031156" y="3442885"/>
            <a:ext cx="244800" cy="412500"/>
          </a:xfrm>
          <a:prstGeom prst="chevron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aeb31b6f97_0_22"/>
          <p:cNvSpPr/>
          <p:nvPr/>
        </p:nvSpPr>
        <p:spPr>
          <a:xfrm>
            <a:off x="8409614" y="5104814"/>
            <a:ext cx="1539900" cy="5184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IPVS - Tour 3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aeb31b6f97_0_22"/>
          <p:cNvPicPr preferRelativeResize="0"/>
          <p:nvPr/>
        </p:nvPicPr>
        <p:blipFill rotWithShape="1">
          <a:blip r:embed="rId5">
            <a:alphaModFix/>
          </a:blip>
          <a:srcRect l="1323" r="2067"/>
          <a:stretch/>
        </p:blipFill>
        <p:spPr>
          <a:xfrm>
            <a:off x="565500" y="1397875"/>
            <a:ext cx="3412350" cy="4225351"/>
          </a:xfrm>
          <a:prstGeom prst="rect">
            <a:avLst/>
          </a:prstGeom>
          <a:solidFill>
            <a:srgbClr val="FFFFFF"/>
          </a:solidFill>
          <a:ln w="7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1" name="Google Shape;231;g3aeb31b6f97_0_22"/>
          <p:cNvSpPr/>
          <p:nvPr/>
        </p:nvSpPr>
        <p:spPr>
          <a:xfrm>
            <a:off x="8304373" y="1411778"/>
            <a:ext cx="895500" cy="459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128025" tIns="128025" rIns="128025" bIns="1280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96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%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aeb31b6f97_0_22"/>
          <p:cNvSpPr/>
          <p:nvPr/>
        </p:nvSpPr>
        <p:spPr>
          <a:xfrm>
            <a:off x="537300" y="1416275"/>
            <a:ext cx="895500" cy="459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29325" tIns="129325" rIns="129325" bIns="1293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57%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3" name="Google Shape;233;g3aeb31b6f97_0_22"/>
          <p:cNvSpPr/>
          <p:nvPr/>
        </p:nvSpPr>
        <p:spPr>
          <a:xfrm>
            <a:off x="566883" y="5104814"/>
            <a:ext cx="1539900" cy="5184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IPVS - Tour 1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268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7c44efbea_0_565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Problèmes rencontrés lors des précédents IPVS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g3a7c44efbea_0_56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a7c44efbea_0_565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g3a7c44efbea_0_565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g3a7c44efbea_0_565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g3a7c44efbea_0_565"/>
          <p:cNvSpPr/>
          <p:nvPr/>
        </p:nvSpPr>
        <p:spPr>
          <a:xfrm>
            <a:off x="1400525" y="1746116"/>
            <a:ext cx="9763200" cy="40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Utilisation limitée des microplans </a:t>
            </a:r>
            <a:endParaRPr kumimoji="0" sz="1913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Les données géospatiales ne sont pas exploitées pour orienter la planification</a:t>
            </a:r>
            <a:endParaRPr kumimoji="0" sz="16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Aucune adaptation aux barrières de la demande</a:t>
            </a:r>
            <a:endParaRPr kumimoji="0" sz="1913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Manque de communication sur les dates et sites des IPVS</a:t>
            </a:r>
            <a:endParaRPr kumimoji="0" sz="16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Non-exploitation des données existantes sur les barrières de la demande</a:t>
            </a:r>
            <a:endParaRPr kumimoji="0" sz="16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Manque d’adaptation de l’offre de services</a:t>
            </a:r>
            <a:endParaRPr kumimoji="0" sz="191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Les aires de santé n’opèrent qu’un seul site de vaccination durant les IPVS</a:t>
            </a:r>
            <a:endParaRPr kumimoji="0" sz="16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</a:ext>
              </a:extLst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Les communautés difficiles d’accès sont souvent manquées</a:t>
            </a:r>
            <a:endParaRPr kumimoji="0" sz="1657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Manque de suivi et de coordination</a:t>
            </a:r>
            <a:endParaRPr kumimoji="0" sz="1913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Absence de suivi systématique des communautés couvertes</a:t>
            </a:r>
            <a:endParaRPr kumimoji="0" sz="16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</a:ext>
              </a:extLst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Absence de mécanisme pour analyser et résoudre les problèmes entre les cycles</a:t>
            </a:r>
            <a:endParaRPr kumimoji="0" sz="16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Les activités de vaccination de routine entre les passages ne sont pas optimisées</a:t>
            </a:r>
            <a:endParaRPr kumimoji="0" sz="1913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9949" marR="0" lvl="0" indent="-307299" algn="l" defTabSz="914400" rtl="0" eaLnBrk="1" fontAlgn="auto" latinLnBrk="0" hangingPunct="1">
              <a:lnSpc>
                <a:spcPct val="100000"/>
              </a:lnSpc>
              <a:spcBef>
                <a:spcPts val="383"/>
              </a:spcBef>
              <a:spcAft>
                <a:spcPts val="383"/>
              </a:spcAft>
              <a:buClr>
                <a:srgbClr val="000000"/>
              </a:buClr>
              <a:buSzPts val="1658"/>
              <a:buFont typeface="Times New Roman"/>
              <a:buChar char="❏"/>
              <a:tabLst/>
              <a:defRPr/>
            </a:pPr>
            <a:r>
              <a:rPr kumimoji="0" lang="en-US" sz="16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Aucune utilisation des données des IPVS (ex. communautés manquées) pour renforcer les activités de routine entre les cycles</a:t>
            </a:r>
            <a:endParaRPr kumimoji="0" sz="1785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4" name="Google Shape;264;g3a7c44efbea_0_565"/>
          <p:cNvGrpSpPr/>
          <p:nvPr/>
        </p:nvGrpSpPr>
        <p:grpSpPr>
          <a:xfrm>
            <a:off x="855990" y="1334483"/>
            <a:ext cx="337184" cy="411630"/>
            <a:chOff x="867091" y="4631994"/>
            <a:chExt cx="293509" cy="366904"/>
          </a:xfrm>
        </p:grpSpPr>
        <p:sp>
          <p:nvSpPr>
            <p:cNvPr id="265" name="Google Shape;265;g3a7c44efbea_0_565"/>
            <p:cNvSpPr/>
            <p:nvPr/>
          </p:nvSpPr>
          <p:spPr>
            <a:xfrm>
              <a:off x="1092101" y="4638532"/>
              <a:ext cx="62817" cy="69321"/>
            </a:xfrm>
            <a:custGeom>
              <a:avLst/>
              <a:gdLst/>
              <a:ahLst/>
              <a:cxnLst/>
              <a:rect l="l" t="t" r="r" b="b"/>
              <a:pathLst>
                <a:path w="1835" h="2025" extrusionOk="0">
                  <a:moveTo>
                    <a:pt x="0" y="0"/>
                  </a:moveTo>
                  <a:lnTo>
                    <a:pt x="0" y="2025"/>
                  </a:lnTo>
                  <a:lnTo>
                    <a:pt x="1834" y="2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87450" tIns="87450" rIns="87450" bIns="874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3"/>
                <a:buFont typeface="Arial"/>
                <a:buNone/>
                <a:tabLst/>
                <a:defRPr/>
              </a:pPr>
              <a:endParaRPr kumimoji="0" sz="140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3a7c44efbea_0_565"/>
            <p:cNvSpPr/>
            <p:nvPr/>
          </p:nvSpPr>
          <p:spPr>
            <a:xfrm>
              <a:off x="867091" y="4631994"/>
              <a:ext cx="293509" cy="366904"/>
            </a:xfrm>
            <a:custGeom>
              <a:avLst/>
              <a:gdLst/>
              <a:ahLst/>
              <a:cxnLst/>
              <a:rect l="l" t="t" r="r" b="b"/>
              <a:pathLst>
                <a:path w="8574" h="10718" extrusionOk="0">
                  <a:moveTo>
                    <a:pt x="1482" y="1070"/>
                  </a:moveTo>
                  <a:cubicBezTo>
                    <a:pt x="1496" y="1070"/>
                    <a:pt x="1510" y="1071"/>
                    <a:pt x="1525" y="1073"/>
                  </a:cubicBezTo>
                  <a:lnTo>
                    <a:pt x="2501" y="1073"/>
                  </a:lnTo>
                  <a:cubicBezTo>
                    <a:pt x="2882" y="1096"/>
                    <a:pt x="2882" y="1644"/>
                    <a:pt x="2501" y="1692"/>
                  </a:cubicBezTo>
                  <a:lnTo>
                    <a:pt x="1525" y="1692"/>
                  </a:lnTo>
                  <a:cubicBezTo>
                    <a:pt x="1510" y="1693"/>
                    <a:pt x="1496" y="1694"/>
                    <a:pt x="1482" y="1694"/>
                  </a:cubicBezTo>
                  <a:cubicBezTo>
                    <a:pt x="1086" y="1694"/>
                    <a:pt x="1086" y="1070"/>
                    <a:pt x="1482" y="1070"/>
                  </a:cubicBezTo>
                  <a:close/>
                  <a:moveTo>
                    <a:pt x="3709" y="2142"/>
                  </a:moveTo>
                  <a:cubicBezTo>
                    <a:pt x="4107" y="2142"/>
                    <a:pt x="4107" y="2789"/>
                    <a:pt x="3709" y="2789"/>
                  </a:cubicBezTo>
                  <a:cubicBezTo>
                    <a:pt x="3696" y="2789"/>
                    <a:pt x="3682" y="2789"/>
                    <a:pt x="3668" y="2787"/>
                  </a:cubicBezTo>
                  <a:lnTo>
                    <a:pt x="1525" y="2787"/>
                  </a:lnTo>
                  <a:cubicBezTo>
                    <a:pt x="1511" y="2789"/>
                    <a:pt x="1497" y="2789"/>
                    <a:pt x="1484" y="2789"/>
                  </a:cubicBezTo>
                  <a:cubicBezTo>
                    <a:pt x="1086" y="2789"/>
                    <a:pt x="1086" y="2142"/>
                    <a:pt x="1484" y="2142"/>
                  </a:cubicBezTo>
                  <a:cubicBezTo>
                    <a:pt x="1497" y="2142"/>
                    <a:pt x="1511" y="2143"/>
                    <a:pt x="1525" y="2144"/>
                  </a:cubicBezTo>
                  <a:lnTo>
                    <a:pt x="3668" y="2144"/>
                  </a:lnTo>
                  <a:cubicBezTo>
                    <a:pt x="3682" y="2143"/>
                    <a:pt x="3696" y="2142"/>
                    <a:pt x="3709" y="2142"/>
                  </a:cubicBezTo>
                  <a:close/>
                  <a:moveTo>
                    <a:pt x="4830" y="4285"/>
                  </a:moveTo>
                  <a:cubicBezTo>
                    <a:pt x="5226" y="4285"/>
                    <a:pt x="5226" y="4909"/>
                    <a:pt x="4830" y="4909"/>
                  </a:cubicBezTo>
                  <a:cubicBezTo>
                    <a:pt x="4816" y="4909"/>
                    <a:pt x="4802" y="4908"/>
                    <a:pt x="4787" y="4907"/>
                  </a:cubicBezTo>
                  <a:lnTo>
                    <a:pt x="1549" y="4907"/>
                  </a:lnTo>
                  <a:cubicBezTo>
                    <a:pt x="1533" y="4908"/>
                    <a:pt x="1518" y="4909"/>
                    <a:pt x="1504" y="4909"/>
                  </a:cubicBezTo>
                  <a:cubicBezTo>
                    <a:pt x="1087" y="4909"/>
                    <a:pt x="1087" y="4285"/>
                    <a:pt x="1504" y="4285"/>
                  </a:cubicBezTo>
                  <a:cubicBezTo>
                    <a:pt x="1518" y="4285"/>
                    <a:pt x="1533" y="4286"/>
                    <a:pt x="1549" y="4287"/>
                  </a:cubicBezTo>
                  <a:lnTo>
                    <a:pt x="4787" y="4287"/>
                  </a:lnTo>
                  <a:cubicBezTo>
                    <a:pt x="4802" y="4286"/>
                    <a:pt x="4816" y="4285"/>
                    <a:pt x="4830" y="4285"/>
                  </a:cubicBezTo>
                  <a:close/>
                  <a:moveTo>
                    <a:pt x="7481" y="3775"/>
                  </a:moveTo>
                  <a:cubicBezTo>
                    <a:pt x="7562" y="3775"/>
                    <a:pt x="7645" y="3811"/>
                    <a:pt x="7716" y="3883"/>
                  </a:cubicBezTo>
                  <a:cubicBezTo>
                    <a:pt x="7836" y="4002"/>
                    <a:pt x="7836" y="4192"/>
                    <a:pt x="7716" y="4311"/>
                  </a:cubicBezTo>
                  <a:lnTo>
                    <a:pt x="6812" y="5192"/>
                  </a:lnTo>
                  <a:cubicBezTo>
                    <a:pt x="6764" y="5264"/>
                    <a:pt x="6669" y="5288"/>
                    <a:pt x="6597" y="5288"/>
                  </a:cubicBezTo>
                  <a:cubicBezTo>
                    <a:pt x="6502" y="5288"/>
                    <a:pt x="6430" y="5264"/>
                    <a:pt x="6383" y="5192"/>
                  </a:cubicBezTo>
                  <a:lnTo>
                    <a:pt x="5954" y="4788"/>
                  </a:lnTo>
                  <a:cubicBezTo>
                    <a:pt x="5835" y="4669"/>
                    <a:pt x="5835" y="4478"/>
                    <a:pt x="5954" y="4359"/>
                  </a:cubicBezTo>
                  <a:lnTo>
                    <a:pt x="6002" y="4335"/>
                  </a:lnTo>
                  <a:cubicBezTo>
                    <a:pt x="6061" y="4276"/>
                    <a:pt x="6139" y="4246"/>
                    <a:pt x="6216" y="4246"/>
                  </a:cubicBezTo>
                  <a:cubicBezTo>
                    <a:pt x="6294" y="4246"/>
                    <a:pt x="6371" y="4276"/>
                    <a:pt x="6430" y="4335"/>
                  </a:cubicBezTo>
                  <a:lnTo>
                    <a:pt x="6621" y="4526"/>
                  </a:lnTo>
                  <a:lnTo>
                    <a:pt x="7264" y="3883"/>
                  </a:lnTo>
                  <a:cubicBezTo>
                    <a:pt x="7324" y="3811"/>
                    <a:pt x="7401" y="3775"/>
                    <a:pt x="7481" y="3775"/>
                  </a:cubicBezTo>
                  <a:close/>
                  <a:moveTo>
                    <a:pt x="4828" y="6405"/>
                  </a:moveTo>
                  <a:cubicBezTo>
                    <a:pt x="5226" y="6405"/>
                    <a:pt x="5226" y="7052"/>
                    <a:pt x="4828" y="7052"/>
                  </a:cubicBezTo>
                  <a:cubicBezTo>
                    <a:pt x="4815" y="7052"/>
                    <a:pt x="4801" y="7051"/>
                    <a:pt x="4787" y="7050"/>
                  </a:cubicBezTo>
                  <a:lnTo>
                    <a:pt x="1549" y="7050"/>
                  </a:lnTo>
                  <a:cubicBezTo>
                    <a:pt x="1534" y="7051"/>
                    <a:pt x="1519" y="7052"/>
                    <a:pt x="1505" y="7052"/>
                  </a:cubicBezTo>
                  <a:cubicBezTo>
                    <a:pt x="1087" y="7052"/>
                    <a:pt x="1087" y="6405"/>
                    <a:pt x="1505" y="6405"/>
                  </a:cubicBezTo>
                  <a:cubicBezTo>
                    <a:pt x="1519" y="6405"/>
                    <a:pt x="1534" y="6405"/>
                    <a:pt x="1549" y="6407"/>
                  </a:cubicBezTo>
                  <a:lnTo>
                    <a:pt x="4787" y="6407"/>
                  </a:lnTo>
                  <a:cubicBezTo>
                    <a:pt x="4801" y="6405"/>
                    <a:pt x="4815" y="6405"/>
                    <a:pt x="4828" y="6405"/>
                  </a:cubicBezTo>
                  <a:close/>
                  <a:moveTo>
                    <a:pt x="7493" y="5895"/>
                  </a:moveTo>
                  <a:cubicBezTo>
                    <a:pt x="7574" y="5895"/>
                    <a:pt x="7657" y="5931"/>
                    <a:pt x="7716" y="6002"/>
                  </a:cubicBezTo>
                  <a:cubicBezTo>
                    <a:pt x="7836" y="6121"/>
                    <a:pt x="7836" y="6312"/>
                    <a:pt x="7716" y="6431"/>
                  </a:cubicBezTo>
                  <a:lnTo>
                    <a:pt x="6835" y="7336"/>
                  </a:lnTo>
                  <a:cubicBezTo>
                    <a:pt x="6764" y="7383"/>
                    <a:pt x="6692" y="7431"/>
                    <a:pt x="6597" y="7431"/>
                  </a:cubicBezTo>
                  <a:cubicBezTo>
                    <a:pt x="6526" y="7431"/>
                    <a:pt x="6454" y="7383"/>
                    <a:pt x="6383" y="7336"/>
                  </a:cubicBezTo>
                  <a:lnTo>
                    <a:pt x="5978" y="6931"/>
                  </a:lnTo>
                  <a:cubicBezTo>
                    <a:pt x="5859" y="6788"/>
                    <a:pt x="5859" y="6597"/>
                    <a:pt x="5978" y="6478"/>
                  </a:cubicBezTo>
                  <a:lnTo>
                    <a:pt x="6002" y="6478"/>
                  </a:lnTo>
                  <a:cubicBezTo>
                    <a:pt x="6061" y="6407"/>
                    <a:pt x="6139" y="6371"/>
                    <a:pt x="6216" y="6371"/>
                  </a:cubicBezTo>
                  <a:cubicBezTo>
                    <a:pt x="6294" y="6371"/>
                    <a:pt x="6371" y="6407"/>
                    <a:pt x="6430" y="6478"/>
                  </a:cubicBezTo>
                  <a:lnTo>
                    <a:pt x="6621" y="6645"/>
                  </a:lnTo>
                  <a:lnTo>
                    <a:pt x="7288" y="6002"/>
                  </a:lnTo>
                  <a:cubicBezTo>
                    <a:pt x="7335" y="5931"/>
                    <a:pt x="7413" y="5895"/>
                    <a:pt x="7493" y="5895"/>
                  </a:cubicBezTo>
                  <a:close/>
                  <a:moveTo>
                    <a:pt x="4830" y="8477"/>
                  </a:moveTo>
                  <a:cubicBezTo>
                    <a:pt x="5226" y="8477"/>
                    <a:pt x="5226" y="9100"/>
                    <a:pt x="4830" y="9100"/>
                  </a:cubicBezTo>
                  <a:cubicBezTo>
                    <a:pt x="4816" y="9100"/>
                    <a:pt x="4802" y="9100"/>
                    <a:pt x="4787" y="9098"/>
                  </a:cubicBezTo>
                  <a:lnTo>
                    <a:pt x="1549" y="9098"/>
                  </a:lnTo>
                  <a:cubicBezTo>
                    <a:pt x="1533" y="9100"/>
                    <a:pt x="1518" y="9100"/>
                    <a:pt x="1504" y="9100"/>
                  </a:cubicBezTo>
                  <a:cubicBezTo>
                    <a:pt x="1087" y="9100"/>
                    <a:pt x="1087" y="8477"/>
                    <a:pt x="1504" y="8477"/>
                  </a:cubicBezTo>
                  <a:cubicBezTo>
                    <a:pt x="1518" y="8477"/>
                    <a:pt x="1533" y="8477"/>
                    <a:pt x="1549" y="8479"/>
                  </a:cubicBezTo>
                  <a:lnTo>
                    <a:pt x="4787" y="8479"/>
                  </a:lnTo>
                  <a:cubicBezTo>
                    <a:pt x="4802" y="8477"/>
                    <a:pt x="4816" y="8477"/>
                    <a:pt x="4830" y="8477"/>
                  </a:cubicBezTo>
                  <a:close/>
                  <a:moveTo>
                    <a:pt x="7483" y="7970"/>
                  </a:moveTo>
                  <a:cubicBezTo>
                    <a:pt x="7722" y="7970"/>
                    <a:pt x="7929" y="8285"/>
                    <a:pt x="7693" y="8503"/>
                  </a:cubicBezTo>
                  <a:lnTo>
                    <a:pt x="7716" y="8503"/>
                  </a:lnTo>
                  <a:lnTo>
                    <a:pt x="6812" y="9384"/>
                  </a:lnTo>
                  <a:cubicBezTo>
                    <a:pt x="6764" y="9455"/>
                    <a:pt x="6669" y="9479"/>
                    <a:pt x="6597" y="9479"/>
                  </a:cubicBezTo>
                  <a:cubicBezTo>
                    <a:pt x="6502" y="9479"/>
                    <a:pt x="6430" y="9455"/>
                    <a:pt x="6383" y="9384"/>
                  </a:cubicBezTo>
                  <a:lnTo>
                    <a:pt x="5954" y="8979"/>
                  </a:lnTo>
                  <a:cubicBezTo>
                    <a:pt x="5835" y="8860"/>
                    <a:pt x="5835" y="8669"/>
                    <a:pt x="5954" y="8550"/>
                  </a:cubicBezTo>
                  <a:cubicBezTo>
                    <a:pt x="6014" y="8479"/>
                    <a:pt x="6097" y="8443"/>
                    <a:pt x="6180" y="8443"/>
                  </a:cubicBezTo>
                  <a:cubicBezTo>
                    <a:pt x="6264" y="8443"/>
                    <a:pt x="6347" y="8479"/>
                    <a:pt x="6407" y="8550"/>
                  </a:cubicBezTo>
                  <a:lnTo>
                    <a:pt x="6597" y="8717"/>
                  </a:lnTo>
                  <a:lnTo>
                    <a:pt x="7264" y="8074"/>
                  </a:lnTo>
                  <a:cubicBezTo>
                    <a:pt x="7332" y="8000"/>
                    <a:pt x="7409" y="7970"/>
                    <a:pt x="7483" y="7970"/>
                  </a:cubicBezTo>
                  <a:close/>
                  <a:moveTo>
                    <a:pt x="906" y="1"/>
                  </a:moveTo>
                  <a:cubicBezTo>
                    <a:pt x="405" y="1"/>
                    <a:pt x="1" y="406"/>
                    <a:pt x="1" y="906"/>
                  </a:cubicBezTo>
                  <a:lnTo>
                    <a:pt x="1" y="9836"/>
                  </a:lnTo>
                  <a:cubicBezTo>
                    <a:pt x="1" y="10313"/>
                    <a:pt x="405" y="10717"/>
                    <a:pt x="906" y="10717"/>
                  </a:cubicBezTo>
                  <a:lnTo>
                    <a:pt x="7669" y="10717"/>
                  </a:lnTo>
                  <a:cubicBezTo>
                    <a:pt x="8169" y="10717"/>
                    <a:pt x="8574" y="10313"/>
                    <a:pt x="8574" y="9836"/>
                  </a:cubicBezTo>
                  <a:lnTo>
                    <a:pt x="8574" y="2835"/>
                  </a:lnTo>
                  <a:lnTo>
                    <a:pt x="6264" y="2835"/>
                  </a:lnTo>
                  <a:cubicBezTo>
                    <a:pt x="6073" y="2835"/>
                    <a:pt x="5954" y="2692"/>
                    <a:pt x="5954" y="2525"/>
                  </a:cubicBezTo>
                  <a:lnTo>
                    <a:pt x="5954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87450" tIns="87450" rIns="87450" bIns="874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3"/>
                <a:buFont typeface="Arial"/>
                <a:buNone/>
                <a:tabLst/>
                <a:defRPr/>
              </a:pPr>
              <a:endParaRPr kumimoji="0" sz="140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g3a7c44efbea_0_565"/>
          <p:cNvGrpSpPr/>
          <p:nvPr/>
        </p:nvGrpSpPr>
        <p:grpSpPr>
          <a:xfrm>
            <a:off x="813731" y="2146537"/>
            <a:ext cx="421931" cy="344504"/>
            <a:chOff x="3860400" y="3254050"/>
            <a:chExt cx="296175" cy="241825"/>
          </a:xfrm>
        </p:grpSpPr>
        <p:sp>
          <p:nvSpPr>
            <p:cNvPr id="268" name="Google Shape;268;g3a7c44efbea_0_565"/>
            <p:cNvSpPr/>
            <p:nvPr/>
          </p:nvSpPr>
          <p:spPr>
            <a:xfrm>
              <a:off x="4112425" y="3358025"/>
              <a:ext cx="44150" cy="18125"/>
            </a:xfrm>
            <a:custGeom>
              <a:avLst/>
              <a:gdLst/>
              <a:ahLst/>
              <a:cxnLst/>
              <a:rect l="l" t="t" r="r" b="b"/>
              <a:pathLst>
                <a:path w="176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a7c44efbea_0_565"/>
            <p:cNvSpPr/>
            <p:nvPr/>
          </p:nvSpPr>
          <p:spPr>
            <a:xfrm>
              <a:off x="4102200" y="3393475"/>
              <a:ext cx="37050" cy="33875"/>
            </a:xfrm>
            <a:custGeom>
              <a:avLst/>
              <a:gdLst/>
              <a:ahLst/>
              <a:cxnLst/>
              <a:rect l="l" t="t" r="r" b="b"/>
              <a:pathLst>
                <a:path w="1482" h="1355" extrusionOk="0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a7c44efbea_0_565"/>
            <p:cNvSpPr/>
            <p:nvPr/>
          </p:nvSpPr>
          <p:spPr>
            <a:xfrm>
              <a:off x="4103775" y="33060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a7c44efbea_0_565"/>
            <p:cNvSpPr/>
            <p:nvPr/>
          </p:nvSpPr>
          <p:spPr>
            <a:xfrm>
              <a:off x="3860400" y="3306025"/>
              <a:ext cx="105550" cy="104800"/>
            </a:xfrm>
            <a:custGeom>
              <a:avLst/>
              <a:gdLst/>
              <a:ahLst/>
              <a:cxnLst/>
              <a:rect l="l" t="t" r="r" b="b"/>
              <a:pathLst>
                <a:path w="4222" h="4192" extrusionOk="0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a7c44efbea_0_565"/>
            <p:cNvSpPr/>
            <p:nvPr/>
          </p:nvSpPr>
          <p:spPr>
            <a:xfrm>
              <a:off x="4050225" y="3254050"/>
              <a:ext cx="35450" cy="208750"/>
            </a:xfrm>
            <a:custGeom>
              <a:avLst/>
              <a:gdLst/>
              <a:ahLst/>
              <a:cxnLst/>
              <a:rect l="l" t="t" r="r" b="b"/>
              <a:pathLst>
                <a:path w="1418" h="8350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a7c44efbea_0_565"/>
            <p:cNvSpPr/>
            <p:nvPr/>
          </p:nvSpPr>
          <p:spPr>
            <a:xfrm>
              <a:off x="3912375" y="3426550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a7c44efbea_0_565"/>
            <p:cNvSpPr/>
            <p:nvPr/>
          </p:nvSpPr>
          <p:spPr>
            <a:xfrm>
              <a:off x="3982475" y="3275325"/>
              <a:ext cx="52000" cy="163850"/>
            </a:xfrm>
            <a:custGeom>
              <a:avLst/>
              <a:gdLst/>
              <a:ahLst/>
              <a:cxnLst/>
              <a:rect l="l" t="t" r="r" b="b"/>
              <a:pathLst>
                <a:path w="2080" h="6554" extrusionOk="0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g3a7c44efbea_0_565"/>
          <p:cNvGrpSpPr/>
          <p:nvPr/>
        </p:nvGrpSpPr>
        <p:grpSpPr>
          <a:xfrm>
            <a:off x="888055" y="4321927"/>
            <a:ext cx="277172" cy="424879"/>
            <a:chOff x="-23930925" y="3149300"/>
            <a:chExt cx="192200" cy="294625"/>
          </a:xfrm>
        </p:grpSpPr>
        <p:sp>
          <p:nvSpPr>
            <p:cNvPr id="276" name="Google Shape;276;g3a7c44efbea_0_565"/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a7c44efbea_0_565"/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a7c44efbea_0_565"/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a7c44efbea_0_565"/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g3a7c44efbea_0_565"/>
          <p:cNvGrpSpPr/>
          <p:nvPr/>
        </p:nvGrpSpPr>
        <p:grpSpPr>
          <a:xfrm>
            <a:off x="847038" y="3195001"/>
            <a:ext cx="355271" cy="392540"/>
            <a:chOff x="1643531" y="2880653"/>
            <a:chExt cx="326716" cy="360923"/>
          </a:xfrm>
        </p:grpSpPr>
        <p:sp>
          <p:nvSpPr>
            <p:cNvPr id="281" name="Google Shape;281;g3a7c44efbea_0_565"/>
            <p:cNvSpPr/>
            <p:nvPr/>
          </p:nvSpPr>
          <p:spPr>
            <a:xfrm>
              <a:off x="1741296" y="2980436"/>
              <a:ext cx="132828" cy="132828"/>
            </a:xfrm>
            <a:custGeom>
              <a:avLst/>
              <a:gdLst/>
              <a:ahLst/>
              <a:cxnLst/>
              <a:rect l="l" t="t" r="r" b="b"/>
              <a:pathLst>
                <a:path w="3883" h="3883" extrusionOk="0">
                  <a:moveTo>
                    <a:pt x="1644" y="1"/>
                  </a:moveTo>
                  <a:lnTo>
                    <a:pt x="1644" y="1334"/>
                  </a:lnTo>
                  <a:cubicBezTo>
                    <a:pt x="1644" y="1501"/>
                    <a:pt x="1501" y="1644"/>
                    <a:pt x="1334" y="1644"/>
                  </a:cubicBezTo>
                  <a:lnTo>
                    <a:pt x="0" y="1644"/>
                  </a:lnTo>
                  <a:lnTo>
                    <a:pt x="0" y="2263"/>
                  </a:lnTo>
                  <a:lnTo>
                    <a:pt x="1334" y="2263"/>
                  </a:lnTo>
                  <a:cubicBezTo>
                    <a:pt x="1501" y="2263"/>
                    <a:pt x="1644" y="2382"/>
                    <a:pt x="1644" y="2549"/>
                  </a:cubicBezTo>
                  <a:lnTo>
                    <a:pt x="1644" y="3882"/>
                  </a:lnTo>
                  <a:lnTo>
                    <a:pt x="2263" y="3882"/>
                  </a:lnTo>
                  <a:lnTo>
                    <a:pt x="2263" y="2549"/>
                  </a:lnTo>
                  <a:cubicBezTo>
                    <a:pt x="2263" y="2382"/>
                    <a:pt x="2382" y="2263"/>
                    <a:pt x="2548" y="2263"/>
                  </a:cubicBezTo>
                  <a:lnTo>
                    <a:pt x="3882" y="2263"/>
                  </a:lnTo>
                  <a:lnTo>
                    <a:pt x="3882" y="1644"/>
                  </a:lnTo>
                  <a:lnTo>
                    <a:pt x="2525" y="1644"/>
                  </a:lnTo>
                  <a:cubicBezTo>
                    <a:pt x="2358" y="1644"/>
                    <a:pt x="2239" y="1501"/>
                    <a:pt x="2239" y="1334"/>
                  </a:cubicBezTo>
                  <a:lnTo>
                    <a:pt x="2239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a7c44efbea_0_565"/>
            <p:cNvSpPr/>
            <p:nvPr/>
          </p:nvSpPr>
          <p:spPr>
            <a:xfrm>
              <a:off x="1643531" y="2880653"/>
              <a:ext cx="326716" cy="360923"/>
            </a:xfrm>
            <a:custGeom>
              <a:avLst/>
              <a:gdLst/>
              <a:ahLst/>
              <a:cxnLst/>
              <a:rect l="l" t="t" r="r" b="b"/>
              <a:pathLst>
                <a:path w="9551" h="10551" extrusionOk="0">
                  <a:moveTo>
                    <a:pt x="5430" y="2298"/>
                  </a:moveTo>
                  <a:cubicBezTo>
                    <a:pt x="5597" y="2298"/>
                    <a:pt x="5716" y="2441"/>
                    <a:pt x="5716" y="2608"/>
                  </a:cubicBezTo>
                  <a:lnTo>
                    <a:pt x="5716" y="3918"/>
                  </a:lnTo>
                  <a:lnTo>
                    <a:pt x="7050" y="3918"/>
                  </a:lnTo>
                  <a:cubicBezTo>
                    <a:pt x="7216" y="3918"/>
                    <a:pt x="7359" y="4061"/>
                    <a:pt x="7359" y="4227"/>
                  </a:cubicBezTo>
                  <a:lnTo>
                    <a:pt x="7359" y="5490"/>
                  </a:lnTo>
                  <a:cubicBezTo>
                    <a:pt x="7359" y="5656"/>
                    <a:pt x="7216" y="5775"/>
                    <a:pt x="7050" y="5775"/>
                  </a:cubicBezTo>
                  <a:lnTo>
                    <a:pt x="5716" y="5775"/>
                  </a:lnTo>
                  <a:lnTo>
                    <a:pt x="5716" y="7109"/>
                  </a:lnTo>
                  <a:cubicBezTo>
                    <a:pt x="5716" y="7276"/>
                    <a:pt x="5597" y="7395"/>
                    <a:pt x="5430" y="7395"/>
                  </a:cubicBezTo>
                  <a:lnTo>
                    <a:pt x="4192" y="7395"/>
                  </a:lnTo>
                  <a:cubicBezTo>
                    <a:pt x="4025" y="7395"/>
                    <a:pt x="3882" y="7276"/>
                    <a:pt x="3882" y="7109"/>
                  </a:cubicBezTo>
                  <a:lnTo>
                    <a:pt x="3882" y="5775"/>
                  </a:lnTo>
                  <a:lnTo>
                    <a:pt x="2573" y="5775"/>
                  </a:lnTo>
                  <a:cubicBezTo>
                    <a:pt x="2406" y="5775"/>
                    <a:pt x="2263" y="5656"/>
                    <a:pt x="2263" y="5490"/>
                  </a:cubicBezTo>
                  <a:lnTo>
                    <a:pt x="2263" y="4251"/>
                  </a:lnTo>
                  <a:cubicBezTo>
                    <a:pt x="2263" y="4085"/>
                    <a:pt x="2406" y="3942"/>
                    <a:pt x="2573" y="3942"/>
                  </a:cubicBezTo>
                  <a:lnTo>
                    <a:pt x="3882" y="3942"/>
                  </a:lnTo>
                  <a:lnTo>
                    <a:pt x="3882" y="2608"/>
                  </a:lnTo>
                  <a:cubicBezTo>
                    <a:pt x="3882" y="2441"/>
                    <a:pt x="4025" y="2298"/>
                    <a:pt x="4192" y="2298"/>
                  </a:cubicBezTo>
                  <a:close/>
                  <a:moveTo>
                    <a:pt x="4787" y="0"/>
                  </a:moveTo>
                  <a:cubicBezTo>
                    <a:pt x="4740" y="0"/>
                    <a:pt x="4692" y="12"/>
                    <a:pt x="4644" y="36"/>
                  </a:cubicBezTo>
                  <a:lnTo>
                    <a:pt x="572" y="2037"/>
                  </a:lnTo>
                  <a:cubicBezTo>
                    <a:pt x="215" y="2203"/>
                    <a:pt x="1" y="2584"/>
                    <a:pt x="48" y="2965"/>
                  </a:cubicBezTo>
                  <a:cubicBezTo>
                    <a:pt x="167" y="4156"/>
                    <a:pt x="477" y="5323"/>
                    <a:pt x="953" y="6418"/>
                  </a:cubicBezTo>
                  <a:cubicBezTo>
                    <a:pt x="1715" y="8133"/>
                    <a:pt x="3001" y="9562"/>
                    <a:pt x="4644" y="10514"/>
                  </a:cubicBezTo>
                  <a:cubicBezTo>
                    <a:pt x="4680" y="10538"/>
                    <a:pt x="4728" y="10550"/>
                    <a:pt x="4778" y="10550"/>
                  </a:cubicBezTo>
                  <a:cubicBezTo>
                    <a:pt x="4829" y="10550"/>
                    <a:pt x="4883" y="10538"/>
                    <a:pt x="4930" y="10514"/>
                  </a:cubicBezTo>
                  <a:cubicBezTo>
                    <a:pt x="6550" y="9562"/>
                    <a:pt x="7836" y="8133"/>
                    <a:pt x="8598" y="6418"/>
                  </a:cubicBezTo>
                  <a:cubicBezTo>
                    <a:pt x="9098" y="5323"/>
                    <a:pt x="9407" y="4156"/>
                    <a:pt x="9526" y="2965"/>
                  </a:cubicBezTo>
                  <a:cubicBezTo>
                    <a:pt x="9550" y="2584"/>
                    <a:pt x="9360" y="2203"/>
                    <a:pt x="9002" y="2037"/>
                  </a:cubicBezTo>
                  <a:lnTo>
                    <a:pt x="9026" y="2037"/>
                  </a:lnTo>
                  <a:lnTo>
                    <a:pt x="4930" y="36"/>
                  </a:lnTo>
                  <a:cubicBezTo>
                    <a:pt x="4883" y="12"/>
                    <a:pt x="4835" y="0"/>
                    <a:pt x="4787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g3a7c44efbea_0_565"/>
          <p:cNvGrpSpPr/>
          <p:nvPr/>
        </p:nvGrpSpPr>
        <p:grpSpPr>
          <a:xfrm>
            <a:off x="844401" y="5392348"/>
            <a:ext cx="425996" cy="425960"/>
            <a:chOff x="-25094250" y="3547050"/>
            <a:chExt cx="295400" cy="295375"/>
          </a:xfrm>
        </p:grpSpPr>
        <p:sp>
          <p:nvSpPr>
            <p:cNvPr id="284" name="Google Shape;284;g3a7c44efbea_0_565"/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a7c44efbea_0_565"/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a7c44efbea_0_565"/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a7c44efbea_0_565"/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a7c44efbea_0_565"/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116600" tIns="116600" rIns="116600" bIns="1166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4215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7c44efbea_0_5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Bonnes pratiques mises en œuvre au cours des IPVS 2025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g3a7c44efbea_0_5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3a7c44efbea_0_5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3a7c44efbea_0_5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g3a7c44efbea_0_59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g3a7c44efbea_0_599"/>
          <p:cNvSpPr txBox="1"/>
          <p:nvPr/>
        </p:nvSpPr>
        <p:spPr>
          <a:xfrm>
            <a:off x="1230591" y="2263780"/>
            <a:ext cx="84219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25" tIns="110925" rIns="110925" bIns="1109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13"/>
              </a:spcBef>
              <a:spcAft>
                <a:spcPts val="1213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Une planification détaillée </a:t>
            </a:r>
            <a:r>
              <a:rPr kumimoji="0" lang="en-US" sz="157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 été élaborée en s’appuyant sur les données existantes au niveau communautaire (y compris les microplans STOP, GRID3, les microplans de terrain, etc.</a:t>
            </a:r>
            <a:endParaRPr kumimoji="0" sz="157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9" name="Google Shape;299;g3a7c44efbea_0_599"/>
          <p:cNvGrpSpPr/>
          <p:nvPr/>
        </p:nvGrpSpPr>
        <p:grpSpPr>
          <a:xfrm>
            <a:off x="833027" y="2493273"/>
            <a:ext cx="249600" cy="312015"/>
            <a:chOff x="867091" y="4631994"/>
            <a:chExt cx="293509" cy="366904"/>
          </a:xfrm>
        </p:grpSpPr>
        <p:sp>
          <p:nvSpPr>
            <p:cNvPr id="300" name="Google Shape;300;g3a7c44efbea_0_599"/>
            <p:cNvSpPr/>
            <p:nvPr/>
          </p:nvSpPr>
          <p:spPr>
            <a:xfrm>
              <a:off x="1092101" y="4638532"/>
              <a:ext cx="62817" cy="69321"/>
            </a:xfrm>
            <a:custGeom>
              <a:avLst/>
              <a:gdLst/>
              <a:ahLst/>
              <a:cxnLst/>
              <a:rect l="l" t="t" r="r" b="b"/>
              <a:pathLst>
                <a:path w="1835" h="2025" extrusionOk="0">
                  <a:moveTo>
                    <a:pt x="0" y="0"/>
                  </a:moveTo>
                  <a:lnTo>
                    <a:pt x="0" y="2025"/>
                  </a:lnTo>
                  <a:lnTo>
                    <a:pt x="1834" y="2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83200" tIns="83200" rIns="83200" bIns="832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a7c44efbea_0_599"/>
            <p:cNvSpPr/>
            <p:nvPr/>
          </p:nvSpPr>
          <p:spPr>
            <a:xfrm>
              <a:off x="867091" y="4631994"/>
              <a:ext cx="293509" cy="366904"/>
            </a:xfrm>
            <a:custGeom>
              <a:avLst/>
              <a:gdLst/>
              <a:ahLst/>
              <a:cxnLst/>
              <a:rect l="l" t="t" r="r" b="b"/>
              <a:pathLst>
                <a:path w="8574" h="10718" extrusionOk="0">
                  <a:moveTo>
                    <a:pt x="1482" y="1070"/>
                  </a:moveTo>
                  <a:cubicBezTo>
                    <a:pt x="1496" y="1070"/>
                    <a:pt x="1510" y="1071"/>
                    <a:pt x="1525" y="1073"/>
                  </a:cubicBezTo>
                  <a:lnTo>
                    <a:pt x="2501" y="1073"/>
                  </a:lnTo>
                  <a:cubicBezTo>
                    <a:pt x="2882" y="1096"/>
                    <a:pt x="2882" y="1644"/>
                    <a:pt x="2501" y="1692"/>
                  </a:cubicBezTo>
                  <a:lnTo>
                    <a:pt x="1525" y="1692"/>
                  </a:lnTo>
                  <a:cubicBezTo>
                    <a:pt x="1510" y="1693"/>
                    <a:pt x="1496" y="1694"/>
                    <a:pt x="1482" y="1694"/>
                  </a:cubicBezTo>
                  <a:cubicBezTo>
                    <a:pt x="1086" y="1694"/>
                    <a:pt x="1086" y="1070"/>
                    <a:pt x="1482" y="1070"/>
                  </a:cubicBezTo>
                  <a:close/>
                  <a:moveTo>
                    <a:pt x="3709" y="2142"/>
                  </a:moveTo>
                  <a:cubicBezTo>
                    <a:pt x="4107" y="2142"/>
                    <a:pt x="4107" y="2789"/>
                    <a:pt x="3709" y="2789"/>
                  </a:cubicBezTo>
                  <a:cubicBezTo>
                    <a:pt x="3696" y="2789"/>
                    <a:pt x="3682" y="2789"/>
                    <a:pt x="3668" y="2787"/>
                  </a:cubicBezTo>
                  <a:lnTo>
                    <a:pt x="1525" y="2787"/>
                  </a:lnTo>
                  <a:cubicBezTo>
                    <a:pt x="1511" y="2789"/>
                    <a:pt x="1497" y="2789"/>
                    <a:pt x="1484" y="2789"/>
                  </a:cubicBezTo>
                  <a:cubicBezTo>
                    <a:pt x="1086" y="2789"/>
                    <a:pt x="1086" y="2142"/>
                    <a:pt x="1484" y="2142"/>
                  </a:cubicBezTo>
                  <a:cubicBezTo>
                    <a:pt x="1497" y="2142"/>
                    <a:pt x="1511" y="2143"/>
                    <a:pt x="1525" y="2144"/>
                  </a:cubicBezTo>
                  <a:lnTo>
                    <a:pt x="3668" y="2144"/>
                  </a:lnTo>
                  <a:cubicBezTo>
                    <a:pt x="3682" y="2143"/>
                    <a:pt x="3696" y="2142"/>
                    <a:pt x="3709" y="2142"/>
                  </a:cubicBezTo>
                  <a:close/>
                  <a:moveTo>
                    <a:pt x="4830" y="4285"/>
                  </a:moveTo>
                  <a:cubicBezTo>
                    <a:pt x="5226" y="4285"/>
                    <a:pt x="5226" y="4909"/>
                    <a:pt x="4830" y="4909"/>
                  </a:cubicBezTo>
                  <a:cubicBezTo>
                    <a:pt x="4816" y="4909"/>
                    <a:pt x="4802" y="4908"/>
                    <a:pt x="4787" y="4907"/>
                  </a:cubicBezTo>
                  <a:lnTo>
                    <a:pt x="1549" y="4907"/>
                  </a:lnTo>
                  <a:cubicBezTo>
                    <a:pt x="1533" y="4908"/>
                    <a:pt x="1518" y="4909"/>
                    <a:pt x="1504" y="4909"/>
                  </a:cubicBezTo>
                  <a:cubicBezTo>
                    <a:pt x="1087" y="4909"/>
                    <a:pt x="1087" y="4285"/>
                    <a:pt x="1504" y="4285"/>
                  </a:cubicBezTo>
                  <a:cubicBezTo>
                    <a:pt x="1518" y="4285"/>
                    <a:pt x="1533" y="4286"/>
                    <a:pt x="1549" y="4287"/>
                  </a:cubicBezTo>
                  <a:lnTo>
                    <a:pt x="4787" y="4287"/>
                  </a:lnTo>
                  <a:cubicBezTo>
                    <a:pt x="4802" y="4286"/>
                    <a:pt x="4816" y="4285"/>
                    <a:pt x="4830" y="4285"/>
                  </a:cubicBezTo>
                  <a:close/>
                  <a:moveTo>
                    <a:pt x="7481" y="3775"/>
                  </a:moveTo>
                  <a:cubicBezTo>
                    <a:pt x="7562" y="3775"/>
                    <a:pt x="7645" y="3811"/>
                    <a:pt x="7716" y="3883"/>
                  </a:cubicBezTo>
                  <a:cubicBezTo>
                    <a:pt x="7836" y="4002"/>
                    <a:pt x="7836" y="4192"/>
                    <a:pt x="7716" y="4311"/>
                  </a:cubicBezTo>
                  <a:lnTo>
                    <a:pt x="6812" y="5192"/>
                  </a:lnTo>
                  <a:cubicBezTo>
                    <a:pt x="6764" y="5264"/>
                    <a:pt x="6669" y="5288"/>
                    <a:pt x="6597" y="5288"/>
                  </a:cubicBezTo>
                  <a:cubicBezTo>
                    <a:pt x="6502" y="5288"/>
                    <a:pt x="6430" y="5264"/>
                    <a:pt x="6383" y="5192"/>
                  </a:cubicBezTo>
                  <a:lnTo>
                    <a:pt x="5954" y="4788"/>
                  </a:lnTo>
                  <a:cubicBezTo>
                    <a:pt x="5835" y="4669"/>
                    <a:pt x="5835" y="4478"/>
                    <a:pt x="5954" y="4359"/>
                  </a:cubicBezTo>
                  <a:lnTo>
                    <a:pt x="6002" y="4335"/>
                  </a:lnTo>
                  <a:cubicBezTo>
                    <a:pt x="6061" y="4276"/>
                    <a:pt x="6139" y="4246"/>
                    <a:pt x="6216" y="4246"/>
                  </a:cubicBezTo>
                  <a:cubicBezTo>
                    <a:pt x="6294" y="4246"/>
                    <a:pt x="6371" y="4276"/>
                    <a:pt x="6430" y="4335"/>
                  </a:cubicBezTo>
                  <a:lnTo>
                    <a:pt x="6621" y="4526"/>
                  </a:lnTo>
                  <a:lnTo>
                    <a:pt x="7264" y="3883"/>
                  </a:lnTo>
                  <a:cubicBezTo>
                    <a:pt x="7324" y="3811"/>
                    <a:pt x="7401" y="3775"/>
                    <a:pt x="7481" y="3775"/>
                  </a:cubicBezTo>
                  <a:close/>
                  <a:moveTo>
                    <a:pt x="4828" y="6405"/>
                  </a:moveTo>
                  <a:cubicBezTo>
                    <a:pt x="5226" y="6405"/>
                    <a:pt x="5226" y="7052"/>
                    <a:pt x="4828" y="7052"/>
                  </a:cubicBezTo>
                  <a:cubicBezTo>
                    <a:pt x="4815" y="7052"/>
                    <a:pt x="4801" y="7051"/>
                    <a:pt x="4787" y="7050"/>
                  </a:cubicBezTo>
                  <a:lnTo>
                    <a:pt x="1549" y="7050"/>
                  </a:lnTo>
                  <a:cubicBezTo>
                    <a:pt x="1534" y="7051"/>
                    <a:pt x="1519" y="7052"/>
                    <a:pt x="1505" y="7052"/>
                  </a:cubicBezTo>
                  <a:cubicBezTo>
                    <a:pt x="1087" y="7052"/>
                    <a:pt x="1087" y="6405"/>
                    <a:pt x="1505" y="6405"/>
                  </a:cubicBezTo>
                  <a:cubicBezTo>
                    <a:pt x="1519" y="6405"/>
                    <a:pt x="1534" y="6405"/>
                    <a:pt x="1549" y="6407"/>
                  </a:cubicBezTo>
                  <a:lnTo>
                    <a:pt x="4787" y="6407"/>
                  </a:lnTo>
                  <a:cubicBezTo>
                    <a:pt x="4801" y="6405"/>
                    <a:pt x="4815" y="6405"/>
                    <a:pt x="4828" y="6405"/>
                  </a:cubicBezTo>
                  <a:close/>
                  <a:moveTo>
                    <a:pt x="7493" y="5895"/>
                  </a:moveTo>
                  <a:cubicBezTo>
                    <a:pt x="7574" y="5895"/>
                    <a:pt x="7657" y="5931"/>
                    <a:pt x="7716" y="6002"/>
                  </a:cubicBezTo>
                  <a:cubicBezTo>
                    <a:pt x="7836" y="6121"/>
                    <a:pt x="7836" y="6312"/>
                    <a:pt x="7716" y="6431"/>
                  </a:cubicBezTo>
                  <a:lnTo>
                    <a:pt x="6835" y="7336"/>
                  </a:lnTo>
                  <a:cubicBezTo>
                    <a:pt x="6764" y="7383"/>
                    <a:pt x="6692" y="7431"/>
                    <a:pt x="6597" y="7431"/>
                  </a:cubicBezTo>
                  <a:cubicBezTo>
                    <a:pt x="6526" y="7431"/>
                    <a:pt x="6454" y="7383"/>
                    <a:pt x="6383" y="7336"/>
                  </a:cubicBezTo>
                  <a:lnTo>
                    <a:pt x="5978" y="6931"/>
                  </a:lnTo>
                  <a:cubicBezTo>
                    <a:pt x="5859" y="6788"/>
                    <a:pt x="5859" y="6597"/>
                    <a:pt x="5978" y="6478"/>
                  </a:cubicBezTo>
                  <a:lnTo>
                    <a:pt x="6002" y="6478"/>
                  </a:lnTo>
                  <a:cubicBezTo>
                    <a:pt x="6061" y="6407"/>
                    <a:pt x="6139" y="6371"/>
                    <a:pt x="6216" y="6371"/>
                  </a:cubicBezTo>
                  <a:cubicBezTo>
                    <a:pt x="6294" y="6371"/>
                    <a:pt x="6371" y="6407"/>
                    <a:pt x="6430" y="6478"/>
                  </a:cubicBezTo>
                  <a:lnTo>
                    <a:pt x="6621" y="6645"/>
                  </a:lnTo>
                  <a:lnTo>
                    <a:pt x="7288" y="6002"/>
                  </a:lnTo>
                  <a:cubicBezTo>
                    <a:pt x="7335" y="5931"/>
                    <a:pt x="7413" y="5895"/>
                    <a:pt x="7493" y="5895"/>
                  </a:cubicBezTo>
                  <a:close/>
                  <a:moveTo>
                    <a:pt x="4830" y="8477"/>
                  </a:moveTo>
                  <a:cubicBezTo>
                    <a:pt x="5226" y="8477"/>
                    <a:pt x="5226" y="9100"/>
                    <a:pt x="4830" y="9100"/>
                  </a:cubicBezTo>
                  <a:cubicBezTo>
                    <a:pt x="4816" y="9100"/>
                    <a:pt x="4802" y="9100"/>
                    <a:pt x="4787" y="9098"/>
                  </a:cubicBezTo>
                  <a:lnTo>
                    <a:pt x="1549" y="9098"/>
                  </a:lnTo>
                  <a:cubicBezTo>
                    <a:pt x="1533" y="9100"/>
                    <a:pt x="1518" y="9100"/>
                    <a:pt x="1504" y="9100"/>
                  </a:cubicBezTo>
                  <a:cubicBezTo>
                    <a:pt x="1087" y="9100"/>
                    <a:pt x="1087" y="8477"/>
                    <a:pt x="1504" y="8477"/>
                  </a:cubicBezTo>
                  <a:cubicBezTo>
                    <a:pt x="1518" y="8477"/>
                    <a:pt x="1533" y="8477"/>
                    <a:pt x="1549" y="8479"/>
                  </a:cubicBezTo>
                  <a:lnTo>
                    <a:pt x="4787" y="8479"/>
                  </a:lnTo>
                  <a:cubicBezTo>
                    <a:pt x="4802" y="8477"/>
                    <a:pt x="4816" y="8477"/>
                    <a:pt x="4830" y="8477"/>
                  </a:cubicBezTo>
                  <a:close/>
                  <a:moveTo>
                    <a:pt x="7483" y="7970"/>
                  </a:moveTo>
                  <a:cubicBezTo>
                    <a:pt x="7722" y="7970"/>
                    <a:pt x="7929" y="8285"/>
                    <a:pt x="7693" y="8503"/>
                  </a:cubicBezTo>
                  <a:lnTo>
                    <a:pt x="7716" y="8503"/>
                  </a:lnTo>
                  <a:lnTo>
                    <a:pt x="6812" y="9384"/>
                  </a:lnTo>
                  <a:cubicBezTo>
                    <a:pt x="6764" y="9455"/>
                    <a:pt x="6669" y="9479"/>
                    <a:pt x="6597" y="9479"/>
                  </a:cubicBezTo>
                  <a:cubicBezTo>
                    <a:pt x="6502" y="9479"/>
                    <a:pt x="6430" y="9455"/>
                    <a:pt x="6383" y="9384"/>
                  </a:cubicBezTo>
                  <a:lnTo>
                    <a:pt x="5954" y="8979"/>
                  </a:lnTo>
                  <a:cubicBezTo>
                    <a:pt x="5835" y="8860"/>
                    <a:pt x="5835" y="8669"/>
                    <a:pt x="5954" y="8550"/>
                  </a:cubicBezTo>
                  <a:cubicBezTo>
                    <a:pt x="6014" y="8479"/>
                    <a:pt x="6097" y="8443"/>
                    <a:pt x="6180" y="8443"/>
                  </a:cubicBezTo>
                  <a:cubicBezTo>
                    <a:pt x="6264" y="8443"/>
                    <a:pt x="6347" y="8479"/>
                    <a:pt x="6407" y="8550"/>
                  </a:cubicBezTo>
                  <a:lnTo>
                    <a:pt x="6597" y="8717"/>
                  </a:lnTo>
                  <a:lnTo>
                    <a:pt x="7264" y="8074"/>
                  </a:lnTo>
                  <a:cubicBezTo>
                    <a:pt x="7332" y="8000"/>
                    <a:pt x="7409" y="7970"/>
                    <a:pt x="7483" y="7970"/>
                  </a:cubicBezTo>
                  <a:close/>
                  <a:moveTo>
                    <a:pt x="906" y="1"/>
                  </a:moveTo>
                  <a:cubicBezTo>
                    <a:pt x="405" y="1"/>
                    <a:pt x="1" y="406"/>
                    <a:pt x="1" y="906"/>
                  </a:cubicBezTo>
                  <a:lnTo>
                    <a:pt x="1" y="9836"/>
                  </a:lnTo>
                  <a:cubicBezTo>
                    <a:pt x="1" y="10313"/>
                    <a:pt x="405" y="10717"/>
                    <a:pt x="906" y="10717"/>
                  </a:cubicBezTo>
                  <a:lnTo>
                    <a:pt x="7669" y="10717"/>
                  </a:lnTo>
                  <a:cubicBezTo>
                    <a:pt x="8169" y="10717"/>
                    <a:pt x="8574" y="10313"/>
                    <a:pt x="8574" y="9836"/>
                  </a:cubicBezTo>
                  <a:lnTo>
                    <a:pt x="8574" y="2835"/>
                  </a:lnTo>
                  <a:lnTo>
                    <a:pt x="6264" y="2835"/>
                  </a:lnTo>
                  <a:cubicBezTo>
                    <a:pt x="6073" y="2835"/>
                    <a:pt x="5954" y="2692"/>
                    <a:pt x="5954" y="2525"/>
                  </a:cubicBezTo>
                  <a:lnTo>
                    <a:pt x="5954" y="1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83200" tIns="83200" rIns="83200" bIns="832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" name="Google Shape;302;g3a7c44efbea_0_599"/>
          <p:cNvGrpSpPr/>
          <p:nvPr/>
        </p:nvGrpSpPr>
        <p:grpSpPr>
          <a:xfrm>
            <a:off x="757129" y="3362613"/>
            <a:ext cx="401347" cy="327697"/>
            <a:chOff x="3860400" y="3254050"/>
            <a:chExt cx="296175" cy="241825"/>
          </a:xfrm>
        </p:grpSpPr>
        <p:sp>
          <p:nvSpPr>
            <p:cNvPr id="303" name="Google Shape;303;g3a7c44efbea_0_599"/>
            <p:cNvSpPr/>
            <p:nvPr/>
          </p:nvSpPr>
          <p:spPr>
            <a:xfrm>
              <a:off x="4112425" y="3358025"/>
              <a:ext cx="44150" cy="18125"/>
            </a:xfrm>
            <a:custGeom>
              <a:avLst/>
              <a:gdLst/>
              <a:ahLst/>
              <a:cxnLst/>
              <a:rect l="l" t="t" r="r" b="b"/>
              <a:pathLst>
                <a:path w="176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a7c44efbea_0_599"/>
            <p:cNvSpPr/>
            <p:nvPr/>
          </p:nvSpPr>
          <p:spPr>
            <a:xfrm>
              <a:off x="4102200" y="3393475"/>
              <a:ext cx="37050" cy="33875"/>
            </a:xfrm>
            <a:custGeom>
              <a:avLst/>
              <a:gdLst/>
              <a:ahLst/>
              <a:cxnLst/>
              <a:rect l="l" t="t" r="r" b="b"/>
              <a:pathLst>
                <a:path w="1482" h="1355" extrusionOk="0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a7c44efbea_0_599"/>
            <p:cNvSpPr/>
            <p:nvPr/>
          </p:nvSpPr>
          <p:spPr>
            <a:xfrm>
              <a:off x="4103775" y="33060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a7c44efbea_0_599"/>
            <p:cNvSpPr/>
            <p:nvPr/>
          </p:nvSpPr>
          <p:spPr>
            <a:xfrm>
              <a:off x="3860400" y="3306025"/>
              <a:ext cx="105550" cy="104800"/>
            </a:xfrm>
            <a:custGeom>
              <a:avLst/>
              <a:gdLst/>
              <a:ahLst/>
              <a:cxnLst/>
              <a:rect l="l" t="t" r="r" b="b"/>
              <a:pathLst>
                <a:path w="4222" h="4192" extrusionOk="0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a7c44efbea_0_599"/>
            <p:cNvSpPr/>
            <p:nvPr/>
          </p:nvSpPr>
          <p:spPr>
            <a:xfrm>
              <a:off x="4050225" y="3254050"/>
              <a:ext cx="35450" cy="208750"/>
            </a:xfrm>
            <a:custGeom>
              <a:avLst/>
              <a:gdLst/>
              <a:ahLst/>
              <a:cxnLst/>
              <a:rect l="l" t="t" r="r" b="b"/>
              <a:pathLst>
                <a:path w="1418" h="8350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a7c44efbea_0_599"/>
            <p:cNvSpPr/>
            <p:nvPr/>
          </p:nvSpPr>
          <p:spPr>
            <a:xfrm>
              <a:off x="3912375" y="3426550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a7c44efbea_0_599"/>
            <p:cNvSpPr/>
            <p:nvPr/>
          </p:nvSpPr>
          <p:spPr>
            <a:xfrm>
              <a:off x="3982475" y="3275325"/>
              <a:ext cx="52000" cy="163850"/>
            </a:xfrm>
            <a:custGeom>
              <a:avLst/>
              <a:gdLst/>
              <a:ahLst/>
              <a:cxnLst/>
              <a:rect l="l" t="t" r="r" b="b"/>
              <a:pathLst>
                <a:path w="2080" h="6554" extrusionOk="0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g3a7c44efbea_0_599"/>
          <p:cNvSpPr txBox="1"/>
          <p:nvPr/>
        </p:nvSpPr>
        <p:spPr>
          <a:xfrm>
            <a:off x="1230591" y="3135623"/>
            <a:ext cx="84219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25" tIns="110925" rIns="110925" bIns="1109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13"/>
              </a:spcBef>
              <a:spcAft>
                <a:spcPts val="1213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Génération de la demande </a:t>
            </a:r>
            <a:r>
              <a:rPr kumimoji="0" lang="en-US" sz="157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adaptée selon les données des AS sur les barrières et difficultés (p. ex. conviction, CAC non fonctionnels) </a:t>
            </a: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et suivie efficacement.</a:t>
            </a:r>
            <a:endParaRPr kumimoji="0" sz="157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1" name="Google Shape;311;g3a7c44efbea_0_599"/>
          <p:cNvGrpSpPr/>
          <p:nvPr/>
        </p:nvGrpSpPr>
        <p:grpSpPr>
          <a:xfrm>
            <a:off x="824993" y="4998822"/>
            <a:ext cx="263679" cy="404196"/>
            <a:chOff x="-23930925" y="3149300"/>
            <a:chExt cx="192200" cy="294625"/>
          </a:xfrm>
        </p:grpSpPr>
        <p:sp>
          <p:nvSpPr>
            <p:cNvPr id="312" name="Google Shape;312;g3a7c44efbea_0_599"/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a7c44efbea_0_599"/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a7c44efbea_0_599"/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a7c44efbea_0_599"/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g3a7c44efbea_0_599"/>
          <p:cNvSpPr txBox="1"/>
          <p:nvPr/>
        </p:nvSpPr>
        <p:spPr>
          <a:xfrm>
            <a:off x="1230591" y="4886981"/>
            <a:ext cx="83430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25" tIns="110925" rIns="110925" bIns="1109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13"/>
              </a:spcBef>
              <a:spcAft>
                <a:spcPts val="1213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Système de suivi au niveau des aires de santé </a:t>
            </a:r>
            <a:r>
              <a:rPr kumimoji="0" lang="en-US" sz="157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mis en place pour garantir la couverture de toutes les communautés.</a:t>
            </a:r>
            <a:endParaRPr kumimoji="0" sz="157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7" name="Google Shape;317;g3a7c44efbea_0_599"/>
          <p:cNvGrpSpPr/>
          <p:nvPr/>
        </p:nvGrpSpPr>
        <p:grpSpPr>
          <a:xfrm>
            <a:off x="757135" y="4190914"/>
            <a:ext cx="401347" cy="401347"/>
            <a:chOff x="3497300" y="3227275"/>
            <a:chExt cx="296175" cy="296175"/>
          </a:xfrm>
        </p:grpSpPr>
        <p:sp>
          <p:nvSpPr>
            <p:cNvPr id="318" name="Google Shape;318;g3a7c44efbea_0_599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a7c44efbea_0_599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a7c44efbea_0_599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a7c44efbea_0_599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a7c44efbea_0_599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a7c44efbea_0_599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a7c44efbea_0_599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a7c44efbea_0_599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g3a7c44efbea_0_599"/>
          <p:cNvSpPr txBox="1"/>
          <p:nvPr/>
        </p:nvSpPr>
        <p:spPr>
          <a:xfrm>
            <a:off x="1230600" y="4007468"/>
            <a:ext cx="86892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25" tIns="110925" rIns="110925" bIns="1109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13"/>
              </a:spcBef>
              <a:spcAft>
                <a:spcPts val="1213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Prestation de services renforcée, </a:t>
            </a:r>
            <a:r>
              <a:rPr kumimoji="0" lang="en-US" sz="157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incluant la couverture des villages difficiles d’accès et l’adaptation des horaires, </a:t>
            </a: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avec une distribution des vaccins au dernier kilomètre en quantité et en temps adéquats.</a:t>
            </a:r>
            <a:endParaRPr kumimoji="0" sz="1577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7" name="Google Shape;327;g3a7c44efbea_0_599"/>
          <p:cNvGrpSpPr/>
          <p:nvPr/>
        </p:nvGrpSpPr>
        <p:grpSpPr>
          <a:xfrm>
            <a:off x="756547" y="5654075"/>
            <a:ext cx="402431" cy="373127"/>
            <a:chOff x="6543825" y="3202075"/>
            <a:chExt cx="296975" cy="275350"/>
          </a:xfrm>
        </p:grpSpPr>
        <p:sp>
          <p:nvSpPr>
            <p:cNvPr id="328" name="Google Shape;328;g3a7c44efbea_0_599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a7c44efbea_0_599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a7c44efbea_0_599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a7c44efbea_0_599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a7c44efbea_0_599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a7c44efbea_0_599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a7c44efbea_0_599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g3a7c44efbea_0_599"/>
          <p:cNvSpPr txBox="1"/>
          <p:nvPr/>
        </p:nvSpPr>
        <p:spPr>
          <a:xfrm>
            <a:off x="1230600" y="5627643"/>
            <a:ext cx="85647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25" tIns="110925" rIns="110925" bIns="1109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13"/>
              </a:spcBef>
              <a:spcAft>
                <a:spcPts val="1213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Des paquets de données</a:t>
            </a:r>
            <a:r>
              <a:rPr kumimoji="0" lang="en-US" sz="157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ont été mis en place pour renforcer les activités de vaccination de routine entre les séances ainsi que les IPVS.</a:t>
            </a:r>
            <a:endParaRPr kumimoji="0" sz="157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6" name="Google Shape;336;g3a7c44efbea_0_599"/>
          <p:cNvGrpSpPr/>
          <p:nvPr/>
        </p:nvGrpSpPr>
        <p:grpSpPr>
          <a:xfrm>
            <a:off x="754164" y="1557965"/>
            <a:ext cx="405259" cy="405225"/>
            <a:chOff x="-25094250" y="3547050"/>
            <a:chExt cx="295400" cy="295375"/>
          </a:xfrm>
        </p:grpSpPr>
        <p:sp>
          <p:nvSpPr>
            <p:cNvPr id="337" name="Google Shape;337;g3a7c44efbea_0_599"/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a7c44efbea_0_599"/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a7c44efbea_0_599"/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a7c44efbea_0_599"/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3a7c44efbea_0_599"/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1255CC"/>
            </a:solidFill>
            <a:ln>
              <a:noFill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42" name="Google Shape;342;g3a7c44efbea_0_599"/>
          <p:cNvSpPr txBox="1"/>
          <p:nvPr/>
        </p:nvSpPr>
        <p:spPr>
          <a:xfrm>
            <a:off x="1230591" y="1366435"/>
            <a:ext cx="84219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25" tIns="110925" rIns="110925" bIns="1109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13"/>
              </a:spcBef>
              <a:spcAft>
                <a:spcPts val="1213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7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Coordination mise en place s’appuyant sur la checklist d’évaluation de la préparation des zones de santé,</a:t>
            </a:r>
            <a:r>
              <a:rPr kumimoji="0" lang="en-US" sz="157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incluant la planification, la demande, la logistique, le système de suivi, la formation, etc.</a:t>
            </a:r>
            <a:endParaRPr kumimoji="0" sz="157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3" name="Google Shape;343;g3a7c44efbea_0_599"/>
          <p:cNvCxnSpPr/>
          <p:nvPr/>
        </p:nvCxnSpPr>
        <p:spPr>
          <a:xfrm>
            <a:off x="1200961" y="2166068"/>
            <a:ext cx="9825000" cy="7500"/>
          </a:xfrm>
          <a:prstGeom prst="straightConnector1">
            <a:avLst/>
          </a:prstGeom>
          <a:noFill/>
          <a:ln w="115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g3a7c44efbea_0_599"/>
          <p:cNvCxnSpPr/>
          <p:nvPr/>
        </p:nvCxnSpPr>
        <p:spPr>
          <a:xfrm>
            <a:off x="1200961" y="3062058"/>
            <a:ext cx="9825000" cy="7500"/>
          </a:xfrm>
          <a:prstGeom prst="straightConnector1">
            <a:avLst/>
          </a:prstGeom>
          <a:noFill/>
          <a:ln w="115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g3a7c44efbea_0_599"/>
          <p:cNvCxnSpPr/>
          <p:nvPr/>
        </p:nvCxnSpPr>
        <p:spPr>
          <a:xfrm>
            <a:off x="1200961" y="3963962"/>
            <a:ext cx="9825000" cy="7500"/>
          </a:xfrm>
          <a:prstGeom prst="straightConnector1">
            <a:avLst/>
          </a:prstGeom>
          <a:noFill/>
          <a:ln w="115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g3a7c44efbea_0_599"/>
          <p:cNvCxnSpPr/>
          <p:nvPr/>
        </p:nvCxnSpPr>
        <p:spPr>
          <a:xfrm>
            <a:off x="1200961" y="4849330"/>
            <a:ext cx="9825000" cy="7500"/>
          </a:xfrm>
          <a:prstGeom prst="straightConnector1">
            <a:avLst/>
          </a:prstGeom>
          <a:noFill/>
          <a:ln w="115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g3a7c44efbea_0_599"/>
          <p:cNvCxnSpPr/>
          <p:nvPr/>
        </p:nvCxnSpPr>
        <p:spPr>
          <a:xfrm>
            <a:off x="1200961" y="5610971"/>
            <a:ext cx="9825000" cy="7500"/>
          </a:xfrm>
          <a:prstGeom prst="straightConnector1">
            <a:avLst/>
          </a:prstGeom>
          <a:noFill/>
          <a:ln w="115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g3a7c44efbea_0_599"/>
          <p:cNvSpPr/>
          <p:nvPr/>
        </p:nvSpPr>
        <p:spPr>
          <a:xfrm>
            <a:off x="9216076" y="1048523"/>
            <a:ext cx="19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25" tIns="110925" rIns="110925" bIns="11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5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erif Pro"/>
                <a:ea typeface="Source Serif Pro"/>
                <a:cs typeface="Source Serif Pro"/>
                <a:sym typeface="Source Serif Pro"/>
              </a:rPr>
              <a:t>Niveau de réussite*</a:t>
            </a:r>
            <a:endParaRPr kumimoji="0" sz="1455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349" name="Google Shape;349;g3a7c44efbea_0_599"/>
          <p:cNvSpPr/>
          <p:nvPr/>
        </p:nvSpPr>
        <p:spPr>
          <a:xfrm>
            <a:off x="10108808" y="1544462"/>
            <a:ext cx="405300" cy="405000"/>
          </a:xfrm>
          <a:prstGeom prst="ellipse">
            <a:avLst/>
          </a:prstGeom>
          <a:solidFill>
            <a:srgbClr val="EEEEEE"/>
          </a:solidFill>
          <a:ln w="115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25" tIns="110925" rIns="110925" bIns="11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98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0" name="Google Shape;350;g3a7c44efbea_0_599"/>
          <p:cNvSpPr/>
          <p:nvPr/>
        </p:nvSpPr>
        <p:spPr>
          <a:xfrm>
            <a:off x="10108808" y="1544280"/>
            <a:ext cx="405300" cy="405300"/>
          </a:xfrm>
          <a:prstGeom prst="pie">
            <a:avLst>
              <a:gd name="adj1" fmla="val 16235166"/>
              <a:gd name="adj2" fmla="val 16200000"/>
            </a:avLst>
          </a:prstGeom>
          <a:solidFill>
            <a:srgbClr val="1255CC"/>
          </a:solidFill>
          <a:ln w="115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25" tIns="110925" rIns="110925" bIns="11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98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51" name="Google Shape;351;g3a7c44efbea_0_599"/>
          <p:cNvGrpSpPr/>
          <p:nvPr/>
        </p:nvGrpSpPr>
        <p:grpSpPr>
          <a:xfrm>
            <a:off x="10109018" y="2415206"/>
            <a:ext cx="405451" cy="405451"/>
            <a:chOff x="7996050" y="1904738"/>
            <a:chExt cx="334200" cy="334200"/>
          </a:xfrm>
        </p:grpSpPr>
        <p:sp>
          <p:nvSpPr>
            <p:cNvPr id="352" name="Google Shape;352;g3a7c44efbea_0_599"/>
            <p:cNvSpPr/>
            <p:nvPr/>
          </p:nvSpPr>
          <p:spPr>
            <a:xfrm>
              <a:off x="7996050" y="1904888"/>
              <a:ext cx="334200" cy="333900"/>
            </a:xfrm>
            <a:prstGeom prst="ellipse">
              <a:avLst/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a7c44efbea_0_599"/>
            <p:cNvSpPr/>
            <p:nvPr/>
          </p:nvSpPr>
          <p:spPr>
            <a:xfrm>
              <a:off x="7996050" y="1904738"/>
              <a:ext cx="334200" cy="334200"/>
            </a:xfrm>
            <a:prstGeom prst="pie">
              <a:avLst>
                <a:gd name="adj1" fmla="val 16235166"/>
                <a:gd name="adj2" fmla="val 16200000"/>
              </a:avLst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g3a7c44efbea_0_599"/>
          <p:cNvGrpSpPr/>
          <p:nvPr/>
        </p:nvGrpSpPr>
        <p:grpSpPr>
          <a:xfrm>
            <a:off x="10109018" y="3331183"/>
            <a:ext cx="405451" cy="405451"/>
            <a:chOff x="7996050" y="1904738"/>
            <a:chExt cx="334200" cy="334200"/>
          </a:xfrm>
        </p:grpSpPr>
        <p:sp>
          <p:nvSpPr>
            <p:cNvPr id="355" name="Google Shape;355;g3a7c44efbea_0_599"/>
            <p:cNvSpPr/>
            <p:nvPr/>
          </p:nvSpPr>
          <p:spPr>
            <a:xfrm>
              <a:off x="7996050" y="1904888"/>
              <a:ext cx="334200" cy="333900"/>
            </a:xfrm>
            <a:prstGeom prst="ellipse">
              <a:avLst/>
            </a:prstGeom>
            <a:solidFill>
              <a:srgbClr val="EEEEEE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a7c44efbea_0_599"/>
            <p:cNvSpPr/>
            <p:nvPr/>
          </p:nvSpPr>
          <p:spPr>
            <a:xfrm>
              <a:off x="7996050" y="1904738"/>
              <a:ext cx="334200" cy="334200"/>
            </a:xfrm>
            <a:prstGeom prst="pie">
              <a:avLst>
                <a:gd name="adj1" fmla="val 16235166"/>
                <a:gd name="adj2" fmla="val 10550001"/>
              </a:avLst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g3a7c44efbea_0_599"/>
          <p:cNvGrpSpPr/>
          <p:nvPr/>
        </p:nvGrpSpPr>
        <p:grpSpPr>
          <a:xfrm>
            <a:off x="10109018" y="4194933"/>
            <a:ext cx="405451" cy="405451"/>
            <a:chOff x="7996050" y="1904750"/>
            <a:chExt cx="334200" cy="334200"/>
          </a:xfrm>
        </p:grpSpPr>
        <p:sp>
          <p:nvSpPr>
            <p:cNvPr id="358" name="Google Shape;358;g3a7c44efbea_0_599"/>
            <p:cNvSpPr/>
            <p:nvPr/>
          </p:nvSpPr>
          <p:spPr>
            <a:xfrm>
              <a:off x="7996050" y="1904888"/>
              <a:ext cx="334200" cy="333900"/>
            </a:xfrm>
            <a:prstGeom prst="ellipse">
              <a:avLst/>
            </a:prstGeom>
            <a:solidFill>
              <a:srgbClr val="EEEEEE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a7c44efbea_0_599"/>
            <p:cNvSpPr/>
            <p:nvPr/>
          </p:nvSpPr>
          <p:spPr>
            <a:xfrm>
              <a:off x="7996050" y="1904750"/>
              <a:ext cx="334200" cy="334200"/>
            </a:xfrm>
            <a:prstGeom prst="pie">
              <a:avLst>
                <a:gd name="adj1" fmla="val 16235166"/>
                <a:gd name="adj2" fmla="val 14205504"/>
              </a:avLst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g3a7c44efbea_0_599"/>
          <p:cNvGrpSpPr/>
          <p:nvPr/>
        </p:nvGrpSpPr>
        <p:grpSpPr>
          <a:xfrm>
            <a:off x="10109018" y="5024858"/>
            <a:ext cx="405451" cy="405451"/>
            <a:chOff x="7996050" y="1904738"/>
            <a:chExt cx="334200" cy="334200"/>
          </a:xfrm>
        </p:grpSpPr>
        <p:sp>
          <p:nvSpPr>
            <p:cNvPr id="361" name="Google Shape;361;g3a7c44efbea_0_599"/>
            <p:cNvSpPr/>
            <p:nvPr/>
          </p:nvSpPr>
          <p:spPr>
            <a:xfrm>
              <a:off x="7996050" y="1904888"/>
              <a:ext cx="334200" cy="333900"/>
            </a:xfrm>
            <a:prstGeom prst="ellipse">
              <a:avLst/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a7c44efbea_0_599"/>
            <p:cNvSpPr/>
            <p:nvPr/>
          </p:nvSpPr>
          <p:spPr>
            <a:xfrm>
              <a:off x="7996050" y="1904738"/>
              <a:ext cx="334200" cy="334200"/>
            </a:xfrm>
            <a:prstGeom prst="pie">
              <a:avLst>
                <a:gd name="adj1" fmla="val 16235166"/>
                <a:gd name="adj2" fmla="val 16200000"/>
              </a:avLst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g3a7c44efbea_0_599"/>
          <p:cNvGrpSpPr/>
          <p:nvPr/>
        </p:nvGrpSpPr>
        <p:grpSpPr>
          <a:xfrm>
            <a:off x="10109018" y="5666820"/>
            <a:ext cx="405451" cy="405451"/>
            <a:chOff x="7996050" y="1904738"/>
            <a:chExt cx="334200" cy="334200"/>
          </a:xfrm>
        </p:grpSpPr>
        <p:sp>
          <p:nvSpPr>
            <p:cNvPr id="364" name="Google Shape;364;g3a7c44efbea_0_599"/>
            <p:cNvSpPr/>
            <p:nvPr/>
          </p:nvSpPr>
          <p:spPr>
            <a:xfrm>
              <a:off x="7996050" y="1904888"/>
              <a:ext cx="334200" cy="333900"/>
            </a:xfrm>
            <a:prstGeom prst="ellipse">
              <a:avLst/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a7c44efbea_0_599"/>
            <p:cNvSpPr/>
            <p:nvPr/>
          </p:nvSpPr>
          <p:spPr>
            <a:xfrm>
              <a:off x="7996050" y="1904738"/>
              <a:ext cx="334200" cy="334200"/>
            </a:xfrm>
            <a:prstGeom prst="pie">
              <a:avLst>
                <a:gd name="adj1" fmla="val 16235166"/>
                <a:gd name="adj2" fmla="val 16200000"/>
              </a:avLst>
            </a:prstGeom>
            <a:solidFill>
              <a:srgbClr val="1255CC"/>
            </a:solidFill>
            <a:ln w="115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925" tIns="110925" rIns="110925" bIns="1109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98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705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g3a7c44efbea_0_675"/>
          <p:cNvGrpSpPr/>
          <p:nvPr/>
        </p:nvGrpSpPr>
        <p:grpSpPr>
          <a:xfrm>
            <a:off x="460149" y="6277406"/>
            <a:ext cx="3141647" cy="430392"/>
            <a:chOff x="238125" y="2363000"/>
            <a:chExt cx="7122300" cy="975725"/>
          </a:xfrm>
        </p:grpSpPr>
        <p:sp>
          <p:nvSpPr>
            <p:cNvPr id="371" name="Google Shape;371;g3a7c44efbea_0_675"/>
            <p:cNvSpPr/>
            <p:nvPr/>
          </p:nvSpPr>
          <p:spPr>
            <a:xfrm>
              <a:off x="238125" y="2363000"/>
              <a:ext cx="695275" cy="955800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" name="Google Shape;372;g3a7c44efbea_0_675"/>
            <p:cNvSpPr/>
            <p:nvPr/>
          </p:nvSpPr>
          <p:spPr>
            <a:xfrm>
              <a:off x="238125" y="2791600"/>
              <a:ext cx="695275" cy="547125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3" name="Google Shape;373;g3a7c44efbea_0_675"/>
            <p:cNvSpPr/>
            <p:nvPr/>
          </p:nvSpPr>
          <p:spPr>
            <a:xfrm>
              <a:off x="1191350" y="2441650"/>
              <a:ext cx="614600" cy="794900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4" name="Google Shape;374;g3a7c44efbea_0_675"/>
            <p:cNvSpPr/>
            <p:nvPr/>
          </p:nvSpPr>
          <p:spPr>
            <a:xfrm>
              <a:off x="1911675" y="2441650"/>
              <a:ext cx="571650" cy="794900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5" name="Google Shape;375;g3a7c44efbea_0_675"/>
            <p:cNvSpPr/>
            <p:nvPr/>
          </p:nvSpPr>
          <p:spPr>
            <a:xfrm>
              <a:off x="2542575" y="2441650"/>
              <a:ext cx="692225" cy="798475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" name="Google Shape;376;g3a7c44efbea_0_675"/>
            <p:cNvSpPr/>
            <p:nvPr/>
          </p:nvSpPr>
          <p:spPr>
            <a:xfrm>
              <a:off x="3487650" y="2440125"/>
              <a:ext cx="140000" cy="188025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g3a7c44efbea_0_675"/>
            <p:cNvSpPr/>
            <p:nvPr/>
          </p:nvSpPr>
          <p:spPr>
            <a:xfrm>
              <a:off x="3650100" y="2490700"/>
              <a:ext cx="86850" cy="137450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g3a7c44efbea_0_675"/>
            <p:cNvSpPr/>
            <p:nvPr/>
          </p:nvSpPr>
          <p:spPr>
            <a:xfrm>
              <a:off x="3752775" y="2490700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9" name="Google Shape;379;g3a7c44efbea_0_675"/>
            <p:cNvSpPr/>
            <p:nvPr/>
          </p:nvSpPr>
          <p:spPr>
            <a:xfrm>
              <a:off x="3897850" y="2490700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g3a7c44efbea_0_675"/>
            <p:cNvSpPr/>
            <p:nvPr/>
          </p:nvSpPr>
          <p:spPr>
            <a:xfrm>
              <a:off x="4051100" y="2490700"/>
              <a:ext cx="86875" cy="137450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g3a7c44efbea_0_675"/>
            <p:cNvSpPr/>
            <p:nvPr/>
          </p:nvSpPr>
          <p:spPr>
            <a:xfrm>
              <a:off x="4149700" y="2490200"/>
              <a:ext cx="120600" cy="14050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g3a7c44efbea_0_675"/>
            <p:cNvSpPr/>
            <p:nvPr/>
          </p:nvSpPr>
          <p:spPr>
            <a:xfrm>
              <a:off x="4300925" y="2490700"/>
              <a:ext cx="197200" cy="137450"/>
            </a:xfrm>
            <a:custGeom>
              <a:avLst/>
              <a:gdLst/>
              <a:ahLst/>
              <a:cxnLst/>
              <a:rect l="l" t="t" r="r" b="b"/>
              <a:pathLst>
                <a:path w="7888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3" name="Google Shape;383;g3a7c44efbea_0_675"/>
            <p:cNvSpPr/>
            <p:nvPr/>
          </p:nvSpPr>
          <p:spPr>
            <a:xfrm>
              <a:off x="4532325" y="2490700"/>
              <a:ext cx="197725" cy="137450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4" name="Google Shape;384;g3a7c44efbea_0_675"/>
            <p:cNvSpPr/>
            <p:nvPr/>
          </p:nvSpPr>
          <p:spPr>
            <a:xfrm>
              <a:off x="475812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5" name="Google Shape;385;g3a7c44efbea_0_675"/>
            <p:cNvSpPr/>
            <p:nvPr/>
          </p:nvSpPr>
          <p:spPr>
            <a:xfrm>
              <a:off x="3487650" y="2756350"/>
              <a:ext cx="131300" cy="188000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g3a7c44efbea_0_675"/>
            <p:cNvSpPr/>
            <p:nvPr/>
          </p:nvSpPr>
          <p:spPr>
            <a:xfrm>
              <a:off x="3650600" y="2756350"/>
              <a:ext cx="58275" cy="189550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" name="Google Shape;387;g3a7c44efbea_0_675"/>
            <p:cNvSpPr/>
            <p:nvPr/>
          </p:nvSpPr>
          <p:spPr>
            <a:xfrm>
              <a:off x="3723150" y="28064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g3a7c44efbea_0_675"/>
            <p:cNvSpPr/>
            <p:nvPr/>
          </p:nvSpPr>
          <p:spPr>
            <a:xfrm>
              <a:off x="3872825" y="2806925"/>
              <a:ext cx="86350" cy="137425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g3a7c44efbea_0_675"/>
            <p:cNvSpPr/>
            <p:nvPr/>
          </p:nvSpPr>
          <p:spPr>
            <a:xfrm>
              <a:off x="3975000" y="2806925"/>
              <a:ext cx="121600" cy="189025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" name="Google Shape;390;g3a7c44efbea_0_675"/>
            <p:cNvSpPr/>
            <p:nvPr/>
          </p:nvSpPr>
          <p:spPr>
            <a:xfrm>
              <a:off x="41303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" name="Google Shape;391;g3a7c44efbea_0_675"/>
            <p:cNvSpPr/>
            <p:nvPr/>
          </p:nvSpPr>
          <p:spPr>
            <a:xfrm>
              <a:off x="347947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" name="Google Shape;392;g3a7c44efbea_0_675"/>
            <p:cNvSpPr/>
            <p:nvPr/>
          </p:nvSpPr>
          <p:spPr>
            <a:xfrm>
              <a:off x="3630675" y="31231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3" name="Google Shape;393;g3a7c44efbea_0_675"/>
            <p:cNvSpPr/>
            <p:nvPr/>
          </p:nvSpPr>
          <p:spPr>
            <a:xfrm>
              <a:off x="3828375" y="3072550"/>
              <a:ext cx="158400" cy="188525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" name="Google Shape;394;g3a7c44efbea_0_675"/>
            <p:cNvSpPr/>
            <p:nvPr/>
          </p:nvSpPr>
          <p:spPr>
            <a:xfrm>
              <a:off x="3982150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5" name="Google Shape;395;g3a7c44efbea_0_675"/>
            <p:cNvSpPr/>
            <p:nvPr/>
          </p:nvSpPr>
          <p:spPr>
            <a:xfrm>
              <a:off x="4127225" y="3123125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6" name="Google Shape;396;g3a7c44efbea_0_675"/>
            <p:cNvSpPr/>
            <p:nvPr/>
          </p:nvSpPr>
          <p:spPr>
            <a:xfrm>
              <a:off x="4265675" y="31231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" name="Google Shape;397;g3a7c44efbea_0_675"/>
            <p:cNvSpPr/>
            <p:nvPr/>
          </p:nvSpPr>
          <p:spPr>
            <a:xfrm>
              <a:off x="4410750" y="3070500"/>
              <a:ext cx="31700" cy="19007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g3a7c44efbea_0_675"/>
            <p:cNvSpPr/>
            <p:nvPr/>
          </p:nvSpPr>
          <p:spPr>
            <a:xfrm>
              <a:off x="4477675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9" name="Google Shape;399;g3a7c44efbea_0_675"/>
            <p:cNvSpPr/>
            <p:nvPr/>
          </p:nvSpPr>
          <p:spPr>
            <a:xfrm>
              <a:off x="4619175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g3a7c44efbea_0_675"/>
            <p:cNvSpPr/>
            <p:nvPr/>
          </p:nvSpPr>
          <p:spPr>
            <a:xfrm>
              <a:off x="4756600" y="3084825"/>
              <a:ext cx="79725" cy="177800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g3a7c44efbea_0_675"/>
            <p:cNvSpPr/>
            <p:nvPr/>
          </p:nvSpPr>
          <p:spPr>
            <a:xfrm>
              <a:off x="4857750" y="3070500"/>
              <a:ext cx="32200" cy="19007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" name="Google Shape;402;g3a7c44efbea_0_675"/>
            <p:cNvSpPr/>
            <p:nvPr/>
          </p:nvSpPr>
          <p:spPr>
            <a:xfrm>
              <a:off x="491852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" name="Google Shape;403;g3a7c44efbea_0_675"/>
            <p:cNvSpPr/>
            <p:nvPr/>
          </p:nvSpPr>
          <p:spPr>
            <a:xfrm>
              <a:off x="5069750" y="312312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" name="Google Shape;404;g3a7c44efbea_0_675"/>
            <p:cNvSpPr/>
            <p:nvPr/>
          </p:nvSpPr>
          <p:spPr>
            <a:xfrm>
              <a:off x="5706775" y="2440125"/>
              <a:ext cx="147675" cy="188025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g3a7c44efbea_0_675"/>
            <p:cNvSpPr/>
            <p:nvPr/>
          </p:nvSpPr>
          <p:spPr>
            <a:xfrm>
              <a:off x="5868725" y="2425825"/>
              <a:ext cx="120575" cy="205375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g3a7c44efbea_0_675"/>
            <p:cNvSpPr/>
            <p:nvPr/>
          </p:nvSpPr>
          <p:spPr>
            <a:xfrm>
              <a:off x="6017900" y="2490200"/>
              <a:ext cx="123125" cy="188525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g3a7c44efbea_0_675"/>
            <p:cNvSpPr/>
            <p:nvPr/>
          </p:nvSpPr>
          <p:spPr>
            <a:xfrm>
              <a:off x="6167575" y="2493250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" name="Google Shape;408;g3a7c44efbea_0_675"/>
            <p:cNvSpPr/>
            <p:nvPr/>
          </p:nvSpPr>
          <p:spPr>
            <a:xfrm>
              <a:off x="6318275" y="2440125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g3a7c44efbea_0_675"/>
            <p:cNvSpPr/>
            <p:nvPr/>
          </p:nvSpPr>
          <p:spPr>
            <a:xfrm>
              <a:off x="6469475" y="2440125"/>
              <a:ext cx="58775" cy="189550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g3a7c44efbea_0_675"/>
            <p:cNvSpPr/>
            <p:nvPr/>
          </p:nvSpPr>
          <p:spPr>
            <a:xfrm>
              <a:off x="6550700" y="2438600"/>
              <a:ext cx="32225" cy="189550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g3a7c44efbea_0_675"/>
            <p:cNvSpPr/>
            <p:nvPr/>
          </p:nvSpPr>
          <p:spPr>
            <a:xfrm>
              <a:off x="6611500" y="2490700"/>
              <a:ext cx="122625" cy="188025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g3a7c44efbea_0_675"/>
            <p:cNvSpPr/>
            <p:nvPr/>
          </p:nvSpPr>
          <p:spPr>
            <a:xfrm>
              <a:off x="6767300" y="2493250"/>
              <a:ext cx="117025" cy="137450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g3a7c44efbea_0_675"/>
            <p:cNvSpPr/>
            <p:nvPr/>
          </p:nvSpPr>
          <p:spPr>
            <a:xfrm>
              <a:off x="691137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g3a7c44efbea_0_675"/>
            <p:cNvSpPr/>
            <p:nvPr/>
          </p:nvSpPr>
          <p:spPr>
            <a:xfrm>
              <a:off x="5706775" y="2756350"/>
              <a:ext cx="147675" cy="188000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5" name="Google Shape;415;g3a7c44efbea_0_675"/>
            <p:cNvSpPr/>
            <p:nvPr/>
          </p:nvSpPr>
          <p:spPr>
            <a:xfrm>
              <a:off x="5879450" y="2742025"/>
              <a:ext cx="120075" cy="205400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6" name="Google Shape;416;g3a7c44efbea_0_675"/>
            <p:cNvSpPr/>
            <p:nvPr/>
          </p:nvSpPr>
          <p:spPr>
            <a:xfrm>
              <a:off x="6028625" y="2806925"/>
              <a:ext cx="197200" cy="137425"/>
            </a:xfrm>
            <a:custGeom>
              <a:avLst/>
              <a:gdLst/>
              <a:ahLst/>
              <a:cxnLst/>
              <a:rect l="l" t="t" r="r" b="b"/>
              <a:pathLst>
                <a:path w="7888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g3a7c44efbea_0_675"/>
            <p:cNvSpPr/>
            <p:nvPr/>
          </p:nvSpPr>
          <p:spPr>
            <a:xfrm>
              <a:off x="6253900" y="2806925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g3a7c44efbea_0_675"/>
            <p:cNvSpPr/>
            <p:nvPr/>
          </p:nvSpPr>
          <p:spPr>
            <a:xfrm>
              <a:off x="6398975" y="28069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g3a7c44efbea_0_675"/>
            <p:cNvSpPr/>
            <p:nvPr/>
          </p:nvSpPr>
          <p:spPr>
            <a:xfrm>
              <a:off x="6542025" y="2806925"/>
              <a:ext cx="86875" cy="137425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g3a7c44efbea_0_675"/>
            <p:cNvSpPr/>
            <p:nvPr/>
          </p:nvSpPr>
          <p:spPr>
            <a:xfrm>
              <a:off x="6640625" y="2806400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1" name="Google Shape;421;g3a7c44efbea_0_675"/>
            <p:cNvSpPr/>
            <p:nvPr/>
          </p:nvSpPr>
          <p:spPr>
            <a:xfrm>
              <a:off x="6778550" y="2768600"/>
              <a:ext cx="79200" cy="177800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2" name="Google Shape;422;g3a7c44efbea_0_675"/>
            <p:cNvSpPr/>
            <p:nvPr/>
          </p:nvSpPr>
          <p:spPr>
            <a:xfrm>
              <a:off x="68797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g3a7c44efbea_0_675"/>
            <p:cNvSpPr/>
            <p:nvPr/>
          </p:nvSpPr>
          <p:spPr>
            <a:xfrm>
              <a:off x="6939975" y="2806925"/>
              <a:ext cx="122625" cy="188000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4" name="Google Shape;424;g3a7c44efbea_0_675"/>
            <p:cNvSpPr/>
            <p:nvPr/>
          </p:nvSpPr>
          <p:spPr>
            <a:xfrm>
              <a:off x="7096300" y="2809475"/>
              <a:ext cx="117000" cy="137425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5" name="Google Shape;425;g3a7c44efbea_0_675"/>
            <p:cNvSpPr/>
            <p:nvPr/>
          </p:nvSpPr>
          <p:spPr>
            <a:xfrm>
              <a:off x="7240350" y="28069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g3a7c44efbea_0_675"/>
            <p:cNvSpPr/>
            <p:nvPr/>
          </p:nvSpPr>
          <p:spPr>
            <a:xfrm>
              <a:off x="569912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7" name="Google Shape;427;g3a7c44efbea_0_675"/>
            <p:cNvSpPr/>
            <p:nvPr/>
          </p:nvSpPr>
          <p:spPr>
            <a:xfrm>
              <a:off x="5854925" y="312567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8" name="Google Shape;428;g3a7c44efbea_0_675"/>
            <p:cNvSpPr/>
            <p:nvPr/>
          </p:nvSpPr>
          <p:spPr>
            <a:xfrm>
              <a:off x="6067950" y="3069500"/>
              <a:ext cx="147150" cy="19412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9" name="Google Shape;429;g3a7c44efbea_0_675"/>
            <p:cNvSpPr/>
            <p:nvPr/>
          </p:nvSpPr>
          <p:spPr>
            <a:xfrm>
              <a:off x="623907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0" name="Google Shape;430;g3a7c44efbea_0_675"/>
            <p:cNvSpPr/>
            <p:nvPr/>
          </p:nvSpPr>
          <p:spPr>
            <a:xfrm>
              <a:off x="6390300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1" name="Google Shape;431;g3a7c44efbea_0_675"/>
            <p:cNvSpPr/>
            <p:nvPr/>
          </p:nvSpPr>
          <p:spPr>
            <a:xfrm>
              <a:off x="6534350" y="3123125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2" name="Google Shape;432;g3a7c44efbea_0_675"/>
            <p:cNvSpPr/>
            <p:nvPr/>
          </p:nvSpPr>
          <p:spPr>
            <a:xfrm>
              <a:off x="6683025" y="3123125"/>
              <a:ext cx="123125" cy="140500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3" name="Google Shape;433;g3a7c44efbea_0_675"/>
            <p:cNvSpPr/>
            <p:nvPr/>
          </p:nvSpPr>
          <p:spPr>
            <a:xfrm>
              <a:off x="5432975" y="2440125"/>
              <a:ext cx="21475" cy="823500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34" name="Google Shape;434;g3a7c44efbea_0_675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1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Bonne pratique cartographie </a:t>
            </a: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| Des cartes ont été développé pour les IPVS en faisant correspondre les données géospatiales aux connaissances sur le terrain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g3a7c44efbea_0_67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g3a7c44efbea_0_675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C4587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C4587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a7c44efbea_0_675"/>
          <p:cNvSpPr/>
          <p:nvPr/>
        </p:nvSpPr>
        <p:spPr>
          <a:xfrm>
            <a:off x="6194523" y="1371512"/>
            <a:ext cx="5574900" cy="4727700"/>
          </a:xfrm>
          <a:prstGeom prst="chevron">
            <a:avLst>
              <a:gd name="adj" fmla="val 5308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120225" tIns="71000" rIns="120225" bIns="1202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Étape 3 </a:t>
            </a:r>
            <a:r>
              <a:rPr kumimoji="0" lang="en-US" sz="15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Résultats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a7c44efbea_0_675"/>
          <p:cNvSpPr/>
          <p:nvPr/>
        </p:nvSpPr>
        <p:spPr>
          <a:xfrm>
            <a:off x="4007359" y="1371512"/>
            <a:ext cx="2348100" cy="4727700"/>
          </a:xfrm>
          <a:prstGeom prst="chevron">
            <a:avLst>
              <a:gd name="adj" fmla="val 9934"/>
            </a:avLst>
          </a:prstGeom>
          <a:solidFill>
            <a:srgbClr val="EFE3D3"/>
          </a:solidFill>
          <a:ln>
            <a:noFill/>
          </a:ln>
        </p:spPr>
        <p:txBody>
          <a:bodyPr spcFirstLastPara="1" wrap="square" lIns="0" tIns="71000" rIns="120225" bIns="1202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Étape 2 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– Processus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a7c44efbea_0_675"/>
          <p:cNvSpPr/>
          <p:nvPr/>
        </p:nvSpPr>
        <p:spPr>
          <a:xfrm>
            <a:off x="4007359" y="5301260"/>
            <a:ext cx="7782900" cy="87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0225" tIns="120225" rIns="120225" bIns="1202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a7c44efbea_0_675"/>
          <p:cNvSpPr/>
          <p:nvPr/>
        </p:nvSpPr>
        <p:spPr>
          <a:xfrm>
            <a:off x="402137" y="1366055"/>
            <a:ext cx="3727500" cy="4727700"/>
          </a:xfrm>
          <a:prstGeom prst="homePlate">
            <a:avLst>
              <a:gd name="adj" fmla="val 6926"/>
            </a:avLst>
          </a:prstGeom>
          <a:solidFill>
            <a:srgbClr val="EFE3D3"/>
          </a:solidFill>
          <a:ln>
            <a:noFill/>
          </a:ln>
        </p:spPr>
        <p:txBody>
          <a:bodyPr spcFirstLastPara="1" wrap="square" lIns="95475" tIns="56375" rIns="95475" bIns="9547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Étape 1 – 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Exploiter toutes les sources existantes (entrées)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g3a7c44efbea_0_6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536" y="3939097"/>
            <a:ext cx="1359080" cy="1045007"/>
          </a:xfrm>
          <a:prstGeom prst="rect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59684" dist="19895" dir="5400000" algn="bl" rotWithShape="0">
              <a:srgbClr val="000000">
                <a:alpha val="49020"/>
              </a:srgbClr>
            </a:outerShdw>
          </a:effectLst>
        </p:spPr>
      </p:pic>
      <p:pic>
        <p:nvPicPr>
          <p:cNvPr id="442" name="Google Shape;442;g3a7c44efbea_0_675"/>
          <p:cNvPicPr preferRelativeResize="0"/>
          <p:nvPr/>
        </p:nvPicPr>
        <p:blipFill rotWithShape="1">
          <a:blip r:embed="rId4">
            <a:alphaModFix/>
          </a:blip>
          <a:srcRect l="9329" r="12208"/>
          <a:stretch/>
        </p:blipFill>
        <p:spPr>
          <a:xfrm>
            <a:off x="2356913" y="2267327"/>
            <a:ext cx="1359085" cy="1150843"/>
          </a:xfrm>
          <a:prstGeom prst="rect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59684" dist="19895" dir="5400000" algn="bl" rotWithShape="0">
              <a:srgbClr val="000000">
                <a:alpha val="49020"/>
              </a:srgbClr>
            </a:outerShdw>
          </a:effectLst>
        </p:spPr>
      </p:pic>
      <p:pic>
        <p:nvPicPr>
          <p:cNvPr id="443" name="Google Shape;443;g3a7c44efbea_0_6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6540" y="2267321"/>
            <a:ext cx="1359079" cy="1150853"/>
          </a:xfrm>
          <a:prstGeom prst="rect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59684" dist="19895" dir="5400000" algn="bl" rotWithShape="0">
              <a:srgbClr val="000000">
                <a:alpha val="49020"/>
              </a:srgbClr>
            </a:outerShdw>
          </a:effectLst>
        </p:spPr>
      </p:pic>
      <p:sp>
        <p:nvSpPr>
          <p:cNvPr id="444" name="Google Shape;444;g3a7c44efbea_0_675"/>
          <p:cNvSpPr/>
          <p:nvPr/>
        </p:nvSpPr>
        <p:spPr>
          <a:xfrm>
            <a:off x="405900" y="3524988"/>
            <a:ext cx="15960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95475" rIns="95475" bIns="954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Microplans géospatiaux VT et données démographiques</a:t>
            </a:r>
            <a:endParaRPr kumimoji="0" sz="11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a7c44efbea_0_675"/>
          <p:cNvSpPr/>
          <p:nvPr/>
        </p:nvSpPr>
        <p:spPr>
          <a:xfrm>
            <a:off x="2212315" y="3448525"/>
            <a:ext cx="15960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95475" rIns="95475" bIns="954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Communautés spéciales STOP</a:t>
            </a:r>
            <a:endParaRPr kumimoji="0" sz="11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a7c44efbea_0_675"/>
          <p:cNvSpPr/>
          <p:nvPr/>
        </p:nvSpPr>
        <p:spPr>
          <a:xfrm>
            <a:off x="405900" y="5130676"/>
            <a:ext cx="15960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95475" rIns="95475" bIns="954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Cartographie des agents de santé communautaires via l'enquête SANRU</a:t>
            </a:r>
            <a:endParaRPr kumimoji="0" sz="11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a7c44efbea_0_675"/>
          <p:cNvSpPr/>
          <p:nvPr/>
        </p:nvSpPr>
        <p:spPr>
          <a:xfrm>
            <a:off x="2193209" y="5218596"/>
            <a:ext cx="15960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95475" rIns="95475" bIns="954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Microplan intégré 2025 </a:t>
            </a:r>
            <a:endParaRPr kumimoji="0" sz="11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*</a:t>
            </a:r>
            <a:endParaRPr kumimoji="0" sz="11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g3a7c44efbea_0_67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65945" y="3964439"/>
            <a:ext cx="1163950" cy="1112526"/>
          </a:xfrm>
          <a:prstGeom prst="rect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59684" dist="19895" dir="5400000" algn="bl" rotWithShape="0">
              <a:srgbClr val="000000">
                <a:alpha val="49020"/>
              </a:srgbClr>
            </a:outerShdw>
          </a:effectLst>
        </p:spPr>
      </p:pic>
      <p:sp>
        <p:nvSpPr>
          <p:cNvPr id="449" name="Google Shape;449;g3a7c44efbea_0_675"/>
          <p:cNvSpPr/>
          <p:nvPr/>
        </p:nvSpPr>
        <p:spPr>
          <a:xfrm>
            <a:off x="4007359" y="5397545"/>
            <a:ext cx="7646100" cy="6963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0225" tIns="120225" rIns="120225" bIns="1202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Boucle de rétroaction après chaque cycle IPVS pour identifier et améliorer le microplan 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g3a7c44efbea_0_675"/>
          <p:cNvGrpSpPr/>
          <p:nvPr/>
        </p:nvGrpSpPr>
        <p:grpSpPr>
          <a:xfrm>
            <a:off x="4905123" y="5231349"/>
            <a:ext cx="491145" cy="233253"/>
            <a:chOff x="9118400" y="-834719"/>
            <a:chExt cx="1351900" cy="638700"/>
          </a:xfrm>
        </p:grpSpPr>
        <p:sp>
          <p:nvSpPr>
            <p:cNvPr id="451" name="Google Shape;451;g3a7c44efbea_0_675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a7c44efbea_0_675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g3a7c44efbea_0_675"/>
          <p:cNvGrpSpPr/>
          <p:nvPr/>
        </p:nvGrpSpPr>
        <p:grpSpPr>
          <a:xfrm>
            <a:off x="8482127" y="5257999"/>
            <a:ext cx="491145" cy="233253"/>
            <a:chOff x="9118400" y="-834719"/>
            <a:chExt cx="1351900" cy="638700"/>
          </a:xfrm>
        </p:grpSpPr>
        <p:sp>
          <p:nvSpPr>
            <p:cNvPr id="454" name="Google Shape;454;g3a7c44efbea_0_675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3a7c44efbea_0_675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g3a7c44efbea_0_675"/>
          <p:cNvSpPr/>
          <p:nvPr/>
        </p:nvSpPr>
        <p:spPr>
          <a:xfrm>
            <a:off x="4508373" y="2805696"/>
            <a:ext cx="133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25" tIns="120225" rIns="120225" bIns="1202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n-US" sz="13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Nettoyage et agrégation des données</a:t>
            </a:r>
            <a:endParaRPr kumimoji="0" sz="13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a7c44efbea_0_675"/>
          <p:cNvSpPr/>
          <p:nvPr/>
        </p:nvSpPr>
        <p:spPr>
          <a:xfrm>
            <a:off x="4467675" y="4620276"/>
            <a:ext cx="149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25" tIns="120225" rIns="120225" bIns="1202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n-US" sz="13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Validation avec les MCA et les MCZ</a:t>
            </a:r>
            <a:endParaRPr kumimoji="0" sz="13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g3a7c44efbea_0_675"/>
          <p:cNvGrpSpPr/>
          <p:nvPr/>
        </p:nvGrpSpPr>
        <p:grpSpPr>
          <a:xfrm>
            <a:off x="4897569" y="2046597"/>
            <a:ext cx="711667" cy="696269"/>
            <a:chOff x="4787908" y="2867784"/>
            <a:chExt cx="379434" cy="366612"/>
          </a:xfrm>
        </p:grpSpPr>
        <p:sp>
          <p:nvSpPr>
            <p:cNvPr id="459" name="Google Shape;459;g3a7c44efbea_0_675"/>
            <p:cNvSpPr/>
            <p:nvPr/>
          </p:nvSpPr>
          <p:spPr>
            <a:xfrm>
              <a:off x="4787908" y="2867784"/>
              <a:ext cx="265436" cy="366612"/>
            </a:xfrm>
            <a:custGeom>
              <a:avLst/>
              <a:gdLst/>
              <a:ahLst/>
              <a:cxnLst/>
              <a:rect l="l" t="t" r="r" b="b"/>
              <a:pathLst>
                <a:path w="7763" h="10722" extrusionOk="0">
                  <a:moveTo>
                    <a:pt x="6232" y="1239"/>
                  </a:moveTo>
                  <a:cubicBezTo>
                    <a:pt x="6629" y="1239"/>
                    <a:pt x="6629" y="1887"/>
                    <a:pt x="6232" y="1887"/>
                  </a:cubicBezTo>
                  <a:cubicBezTo>
                    <a:pt x="6219" y="1887"/>
                    <a:pt x="6205" y="1886"/>
                    <a:pt x="6191" y="1885"/>
                  </a:cubicBezTo>
                  <a:lnTo>
                    <a:pt x="1571" y="1885"/>
                  </a:lnTo>
                  <a:cubicBezTo>
                    <a:pt x="1190" y="1837"/>
                    <a:pt x="1190" y="1289"/>
                    <a:pt x="1571" y="1242"/>
                  </a:cubicBezTo>
                  <a:lnTo>
                    <a:pt x="6191" y="1242"/>
                  </a:lnTo>
                  <a:cubicBezTo>
                    <a:pt x="6205" y="1240"/>
                    <a:pt x="6219" y="1239"/>
                    <a:pt x="6232" y="1239"/>
                  </a:cubicBezTo>
                  <a:close/>
                  <a:moveTo>
                    <a:pt x="6233" y="2501"/>
                  </a:moveTo>
                  <a:cubicBezTo>
                    <a:pt x="6629" y="2501"/>
                    <a:pt x="6629" y="3125"/>
                    <a:pt x="6233" y="3125"/>
                  </a:cubicBezTo>
                  <a:cubicBezTo>
                    <a:pt x="6219" y="3125"/>
                    <a:pt x="6205" y="3124"/>
                    <a:pt x="6191" y="3123"/>
                  </a:cubicBezTo>
                  <a:lnTo>
                    <a:pt x="1571" y="3123"/>
                  </a:lnTo>
                  <a:cubicBezTo>
                    <a:pt x="1190" y="3099"/>
                    <a:pt x="1190" y="2551"/>
                    <a:pt x="1571" y="2504"/>
                  </a:cubicBezTo>
                  <a:lnTo>
                    <a:pt x="6191" y="2504"/>
                  </a:lnTo>
                  <a:cubicBezTo>
                    <a:pt x="6205" y="2502"/>
                    <a:pt x="6219" y="2501"/>
                    <a:pt x="6233" y="2501"/>
                  </a:cubicBezTo>
                  <a:close/>
                  <a:moveTo>
                    <a:pt x="6233" y="3764"/>
                  </a:moveTo>
                  <a:cubicBezTo>
                    <a:pt x="6629" y="3764"/>
                    <a:pt x="6629" y="4387"/>
                    <a:pt x="6233" y="4387"/>
                  </a:cubicBezTo>
                  <a:cubicBezTo>
                    <a:pt x="6219" y="4387"/>
                    <a:pt x="6205" y="4387"/>
                    <a:pt x="6191" y="4385"/>
                  </a:cubicBezTo>
                  <a:lnTo>
                    <a:pt x="1571" y="4385"/>
                  </a:lnTo>
                  <a:cubicBezTo>
                    <a:pt x="1190" y="4361"/>
                    <a:pt x="1190" y="3790"/>
                    <a:pt x="1571" y="3766"/>
                  </a:cubicBezTo>
                  <a:lnTo>
                    <a:pt x="6191" y="3766"/>
                  </a:lnTo>
                  <a:cubicBezTo>
                    <a:pt x="6205" y="3764"/>
                    <a:pt x="6219" y="3764"/>
                    <a:pt x="6233" y="3764"/>
                  </a:cubicBezTo>
                  <a:close/>
                  <a:moveTo>
                    <a:pt x="3711" y="5240"/>
                  </a:moveTo>
                  <a:cubicBezTo>
                    <a:pt x="4128" y="5240"/>
                    <a:pt x="4128" y="5864"/>
                    <a:pt x="3711" y="5864"/>
                  </a:cubicBezTo>
                  <a:cubicBezTo>
                    <a:pt x="3697" y="5864"/>
                    <a:pt x="3682" y="5863"/>
                    <a:pt x="3666" y="5862"/>
                  </a:cubicBezTo>
                  <a:lnTo>
                    <a:pt x="1595" y="5862"/>
                  </a:lnTo>
                  <a:cubicBezTo>
                    <a:pt x="1213" y="5814"/>
                    <a:pt x="1213" y="5266"/>
                    <a:pt x="1595" y="5242"/>
                  </a:cubicBezTo>
                  <a:lnTo>
                    <a:pt x="3666" y="5242"/>
                  </a:lnTo>
                  <a:cubicBezTo>
                    <a:pt x="3682" y="5241"/>
                    <a:pt x="3697" y="5240"/>
                    <a:pt x="3711" y="5240"/>
                  </a:cubicBezTo>
                  <a:close/>
                  <a:moveTo>
                    <a:pt x="2411" y="7111"/>
                  </a:moveTo>
                  <a:cubicBezTo>
                    <a:pt x="3006" y="7111"/>
                    <a:pt x="3571" y="7575"/>
                    <a:pt x="3571" y="8267"/>
                  </a:cubicBezTo>
                  <a:cubicBezTo>
                    <a:pt x="3571" y="8910"/>
                    <a:pt x="3047" y="9410"/>
                    <a:pt x="2428" y="9410"/>
                  </a:cubicBezTo>
                  <a:cubicBezTo>
                    <a:pt x="1380" y="9410"/>
                    <a:pt x="880" y="8172"/>
                    <a:pt x="1595" y="7457"/>
                  </a:cubicBezTo>
                  <a:cubicBezTo>
                    <a:pt x="1834" y="7218"/>
                    <a:pt x="2126" y="7111"/>
                    <a:pt x="2411" y="7111"/>
                  </a:cubicBezTo>
                  <a:close/>
                  <a:moveTo>
                    <a:pt x="291" y="1"/>
                  </a:moveTo>
                  <a:cubicBezTo>
                    <a:pt x="122" y="1"/>
                    <a:pt x="1" y="136"/>
                    <a:pt x="23" y="313"/>
                  </a:cubicBezTo>
                  <a:lnTo>
                    <a:pt x="23" y="10410"/>
                  </a:lnTo>
                  <a:cubicBezTo>
                    <a:pt x="0" y="10566"/>
                    <a:pt x="124" y="10722"/>
                    <a:pt x="296" y="10722"/>
                  </a:cubicBezTo>
                  <a:cubicBezTo>
                    <a:pt x="308" y="10722"/>
                    <a:pt x="320" y="10721"/>
                    <a:pt x="332" y="10720"/>
                  </a:cubicBezTo>
                  <a:lnTo>
                    <a:pt x="7453" y="10720"/>
                  </a:lnTo>
                  <a:cubicBezTo>
                    <a:pt x="7596" y="10720"/>
                    <a:pt x="7715" y="10624"/>
                    <a:pt x="7762" y="10482"/>
                  </a:cubicBezTo>
                  <a:lnTo>
                    <a:pt x="4619" y="8672"/>
                  </a:lnTo>
                  <a:cubicBezTo>
                    <a:pt x="4166" y="8410"/>
                    <a:pt x="4000" y="7838"/>
                    <a:pt x="4262" y="7386"/>
                  </a:cubicBezTo>
                  <a:lnTo>
                    <a:pt x="4667" y="6695"/>
                  </a:lnTo>
                  <a:cubicBezTo>
                    <a:pt x="4146" y="5789"/>
                    <a:pt x="4859" y="4804"/>
                    <a:pt x="5744" y="4804"/>
                  </a:cubicBezTo>
                  <a:cubicBezTo>
                    <a:pt x="5951" y="4804"/>
                    <a:pt x="6168" y="4858"/>
                    <a:pt x="6381" y="4980"/>
                  </a:cubicBezTo>
                  <a:lnTo>
                    <a:pt x="6977" y="5338"/>
                  </a:lnTo>
                  <a:lnTo>
                    <a:pt x="7739" y="3671"/>
                  </a:lnTo>
                  <a:lnTo>
                    <a:pt x="7739" y="313"/>
                  </a:lnTo>
                  <a:cubicBezTo>
                    <a:pt x="7739" y="146"/>
                    <a:pt x="7620" y="3"/>
                    <a:pt x="7453" y="3"/>
                  </a:cubicBezTo>
                  <a:lnTo>
                    <a:pt x="332" y="3"/>
                  </a:lnTo>
                  <a:cubicBezTo>
                    <a:pt x="318" y="2"/>
                    <a:pt x="305" y="1"/>
                    <a:pt x="29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a7c44efbea_0_675"/>
            <p:cNvSpPr/>
            <p:nvPr/>
          </p:nvSpPr>
          <p:spPr>
            <a:xfrm>
              <a:off x="4846480" y="3132502"/>
              <a:ext cx="42365" cy="35526"/>
            </a:xfrm>
            <a:custGeom>
              <a:avLst/>
              <a:gdLst/>
              <a:ahLst/>
              <a:cxnLst/>
              <a:rect l="l" t="t" r="r" b="b"/>
              <a:pathLst>
                <a:path w="1239" h="1039" extrusionOk="0">
                  <a:moveTo>
                    <a:pt x="715" y="1"/>
                  </a:moveTo>
                  <a:cubicBezTo>
                    <a:pt x="239" y="1"/>
                    <a:pt x="1" y="549"/>
                    <a:pt x="334" y="882"/>
                  </a:cubicBezTo>
                  <a:cubicBezTo>
                    <a:pt x="442" y="990"/>
                    <a:pt x="576" y="1038"/>
                    <a:pt x="706" y="1038"/>
                  </a:cubicBezTo>
                  <a:cubicBezTo>
                    <a:pt x="978" y="1038"/>
                    <a:pt x="1239" y="830"/>
                    <a:pt x="1239" y="525"/>
                  </a:cubicBezTo>
                  <a:cubicBezTo>
                    <a:pt x="1239" y="239"/>
                    <a:pt x="1001" y="1"/>
                    <a:pt x="715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a7c44efbea_0_675"/>
            <p:cNvSpPr/>
            <p:nvPr/>
          </p:nvSpPr>
          <p:spPr>
            <a:xfrm>
              <a:off x="4952955" y="3053449"/>
              <a:ext cx="181186" cy="111468"/>
            </a:xfrm>
            <a:custGeom>
              <a:avLst/>
              <a:gdLst/>
              <a:ahLst/>
              <a:cxnLst/>
              <a:rect l="l" t="t" r="r" b="b"/>
              <a:pathLst>
                <a:path w="5299" h="3260" extrusionOk="0">
                  <a:moveTo>
                    <a:pt x="906" y="0"/>
                  </a:moveTo>
                  <a:cubicBezTo>
                    <a:pt x="343" y="0"/>
                    <a:pt x="1" y="829"/>
                    <a:pt x="602" y="1170"/>
                  </a:cubicBezTo>
                  <a:lnTo>
                    <a:pt x="4055" y="3170"/>
                  </a:lnTo>
                  <a:cubicBezTo>
                    <a:pt x="4169" y="3233"/>
                    <a:pt x="4280" y="3260"/>
                    <a:pt x="4383" y="3260"/>
                  </a:cubicBezTo>
                  <a:cubicBezTo>
                    <a:pt x="4952" y="3260"/>
                    <a:pt x="5298" y="2437"/>
                    <a:pt x="4674" y="2075"/>
                  </a:cubicBezTo>
                  <a:lnTo>
                    <a:pt x="1245" y="98"/>
                  </a:lnTo>
                  <a:cubicBezTo>
                    <a:pt x="1127" y="30"/>
                    <a:pt x="1013" y="0"/>
                    <a:pt x="906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a7c44efbea_0_675"/>
            <p:cNvSpPr/>
            <p:nvPr/>
          </p:nvSpPr>
          <p:spPr>
            <a:xfrm>
              <a:off x="5045993" y="2939896"/>
              <a:ext cx="121349" cy="143814"/>
            </a:xfrm>
            <a:custGeom>
              <a:avLst/>
              <a:gdLst/>
              <a:ahLst/>
              <a:cxnLst/>
              <a:rect l="l" t="t" r="r" b="b"/>
              <a:pathLst>
                <a:path w="3549" h="4206" extrusionOk="0">
                  <a:moveTo>
                    <a:pt x="2188" y="0"/>
                  </a:moveTo>
                  <a:cubicBezTo>
                    <a:pt x="1864" y="0"/>
                    <a:pt x="1542" y="169"/>
                    <a:pt x="1358" y="585"/>
                  </a:cubicBezTo>
                  <a:lnTo>
                    <a:pt x="0" y="3538"/>
                  </a:lnTo>
                  <a:lnTo>
                    <a:pt x="1119" y="4205"/>
                  </a:lnTo>
                  <a:lnTo>
                    <a:pt x="3001" y="1514"/>
                  </a:lnTo>
                  <a:cubicBezTo>
                    <a:pt x="3549" y="741"/>
                    <a:pt x="2865" y="0"/>
                    <a:pt x="2188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a7c44efbea_0_675"/>
            <p:cNvSpPr/>
            <p:nvPr/>
          </p:nvSpPr>
          <p:spPr>
            <a:xfrm>
              <a:off x="4949912" y="3112158"/>
              <a:ext cx="130308" cy="92115"/>
            </a:xfrm>
            <a:custGeom>
              <a:avLst/>
              <a:gdLst/>
              <a:ahLst/>
              <a:cxnLst/>
              <a:rect l="l" t="t" r="r" b="b"/>
              <a:pathLst>
                <a:path w="3811" h="2694" extrusionOk="0">
                  <a:moveTo>
                    <a:pt x="381" y="1"/>
                  </a:moveTo>
                  <a:lnTo>
                    <a:pt x="71" y="548"/>
                  </a:lnTo>
                  <a:cubicBezTo>
                    <a:pt x="0" y="691"/>
                    <a:pt x="48" y="882"/>
                    <a:pt x="191" y="977"/>
                  </a:cubicBezTo>
                  <a:lnTo>
                    <a:pt x="3096" y="2644"/>
                  </a:lnTo>
                  <a:cubicBezTo>
                    <a:pt x="3147" y="2678"/>
                    <a:pt x="3203" y="2694"/>
                    <a:pt x="3259" y="2694"/>
                  </a:cubicBezTo>
                  <a:cubicBezTo>
                    <a:pt x="3362" y="2694"/>
                    <a:pt x="3463" y="2641"/>
                    <a:pt x="3525" y="2549"/>
                  </a:cubicBezTo>
                  <a:lnTo>
                    <a:pt x="3810" y="200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Google Shape;464;g3a7c44efbea_0_675"/>
          <p:cNvGrpSpPr/>
          <p:nvPr/>
        </p:nvGrpSpPr>
        <p:grpSpPr>
          <a:xfrm>
            <a:off x="4983108" y="3535165"/>
            <a:ext cx="711672" cy="696210"/>
            <a:chOff x="4787840" y="4628321"/>
            <a:chExt cx="367295" cy="367296"/>
          </a:xfrm>
        </p:grpSpPr>
        <p:sp>
          <p:nvSpPr>
            <p:cNvPr id="465" name="Google Shape;465;g3a7c44efbea_0_675"/>
            <p:cNvSpPr/>
            <p:nvPr/>
          </p:nvSpPr>
          <p:spPr>
            <a:xfrm>
              <a:off x="4947450" y="4628321"/>
              <a:ext cx="207685" cy="179203"/>
            </a:xfrm>
            <a:custGeom>
              <a:avLst/>
              <a:gdLst/>
              <a:ahLst/>
              <a:cxnLst/>
              <a:rect l="l" t="t" r="r" b="b"/>
              <a:pathLst>
                <a:path w="6074" h="5241" extrusionOk="0">
                  <a:moveTo>
                    <a:pt x="2299" y="2549"/>
                  </a:moveTo>
                  <a:cubicBezTo>
                    <a:pt x="2448" y="2549"/>
                    <a:pt x="2596" y="2644"/>
                    <a:pt x="2620" y="2835"/>
                  </a:cubicBezTo>
                  <a:lnTo>
                    <a:pt x="2620" y="3668"/>
                  </a:lnTo>
                  <a:cubicBezTo>
                    <a:pt x="2632" y="3895"/>
                    <a:pt x="2459" y="4008"/>
                    <a:pt x="2290" y="4008"/>
                  </a:cubicBezTo>
                  <a:cubicBezTo>
                    <a:pt x="2120" y="4008"/>
                    <a:pt x="1953" y="3895"/>
                    <a:pt x="1977" y="3668"/>
                  </a:cubicBezTo>
                  <a:lnTo>
                    <a:pt x="1977" y="2835"/>
                  </a:lnTo>
                  <a:cubicBezTo>
                    <a:pt x="2001" y="2644"/>
                    <a:pt x="2150" y="2549"/>
                    <a:pt x="2299" y="2549"/>
                  </a:cubicBezTo>
                  <a:close/>
                  <a:moveTo>
                    <a:pt x="3549" y="1906"/>
                  </a:moveTo>
                  <a:cubicBezTo>
                    <a:pt x="3698" y="1906"/>
                    <a:pt x="3847" y="2001"/>
                    <a:pt x="3859" y="2192"/>
                  </a:cubicBezTo>
                  <a:lnTo>
                    <a:pt x="3859" y="3668"/>
                  </a:lnTo>
                  <a:cubicBezTo>
                    <a:pt x="3882" y="3895"/>
                    <a:pt x="3716" y="4008"/>
                    <a:pt x="3549" y="4008"/>
                  </a:cubicBezTo>
                  <a:cubicBezTo>
                    <a:pt x="3382" y="4008"/>
                    <a:pt x="3216" y="3895"/>
                    <a:pt x="3239" y="3668"/>
                  </a:cubicBezTo>
                  <a:lnTo>
                    <a:pt x="3239" y="2192"/>
                  </a:lnTo>
                  <a:cubicBezTo>
                    <a:pt x="3251" y="2001"/>
                    <a:pt x="3400" y="1906"/>
                    <a:pt x="3549" y="1906"/>
                  </a:cubicBezTo>
                  <a:close/>
                  <a:moveTo>
                    <a:pt x="4802" y="1287"/>
                  </a:moveTo>
                  <a:cubicBezTo>
                    <a:pt x="4948" y="1287"/>
                    <a:pt x="5097" y="1382"/>
                    <a:pt x="5121" y="1573"/>
                  </a:cubicBezTo>
                  <a:lnTo>
                    <a:pt x="5121" y="3668"/>
                  </a:lnTo>
                  <a:cubicBezTo>
                    <a:pt x="5145" y="3895"/>
                    <a:pt x="4978" y="4008"/>
                    <a:pt x="4811" y="4008"/>
                  </a:cubicBezTo>
                  <a:cubicBezTo>
                    <a:pt x="4644" y="4008"/>
                    <a:pt x="4478" y="3895"/>
                    <a:pt x="4502" y="3668"/>
                  </a:cubicBezTo>
                  <a:lnTo>
                    <a:pt x="4502" y="1573"/>
                  </a:lnTo>
                  <a:cubicBezTo>
                    <a:pt x="4513" y="1382"/>
                    <a:pt x="4656" y="1287"/>
                    <a:pt x="4802" y="1287"/>
                  </a:cubicBezTo>
                  <a:close/>
                  <a:moveTo>
                    <a:pt x="310" y="1"/>
                  </a:moveTo>
                  <a:cubicBezTo>
                    <a:pt x="143" y="1"/>
                    <a:pt x="1" y="144"/>
                    <a:pt x="1" y="310"/>
                  </a:cubicBezTo>
                  <a:lnTo>
                    <a:pt x="1" y="1477"/>
                  </a:lnTo>
                  <a:lnTo>
                    <a:pt x="382" y="1477"/>
                  </a:lnTo>
                  <a:cubicBezTo>
                    <a:pt x="2049" y="1477"/>
                    <a:pt x="2049" y="3978"/>
                    <a:pt x="382" y="3978"/>
                  </a:cubicBezTo>
                  <a:lnTo>
                    <a:pt x="1" y="3978"/>
                  </a:lnTo>
                  <a:lnTo>
                    <a:pt x="1" y="4930"/>
                  </a:lnTo>
                  <a:cubicBezTo>
                    <a:pt x="1" y="5097"/>
                    <a:pt x="143" y="5216"/>
                    <a:pt x="310" y="5240"/>
                  </a:cubicBezTo>
                  <a:lnTo>
                    <a:pt x="5764" y="5240"/>
                  </a:lnTo>
                  <a:cubicBezTo>
                    <a:pt x="5930" y="5216"/>
                    <a:pt x="6073" y="5097"/>
                    <a:pt x="6073" y="4930"/>
                  </a:cubicBezTo>
                  <a:lnTo>
                    <a:pt x="6073" y="310"/>
                  </a:lnTo>
                  <a:cubicBezTo>
                    <a:pt x="6073" y="144"/>
                    <a:pt x="5930" y="1"/>
                    <a:pt x="5764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a7c44efbea_0_675"/>
            <p:cNvSpPr/>
            <p:nvPr/>
          </p:nvSpPr>
          <p:spPr>
            <a:xfrm>
              <a:off x="4944612" y="4858779"/>
              <a:ext cx="54161" cy="67599"/>
            </a:xfrm>
            <a:custGeom>
              <a:avLst/>
              <a:gdLst/>
              <a:ahLst/>
              <a:cxnLst/>
              <a:rect l="l" t="t" r="r" b="b"/>
              <a:pathLst>
                <a:path w="1584" h="1977" extrusionOk="0">
                  <a:moveTo>
                    <a:pt x="798" y="0"/>
                  </a:moveTo>
                  <a:cubicBezTo>
                    <a:pt x="346" y="0"/>
                    <a:pt x="12" y="358"/>
                    <a:pt x="12" y="786"/>
                  </a:cubicBezTo>
                  <a:lnTo>
                    <a:pt x="12" y="1191"/>
                  </a:lnTo>
                  <a:cubicBezTo>
                    <a:pt x="0" y="1715"/>
                    <a:pt x="387" y="1977"/>
                    <a:pt x="780" y="1977"/>
                  </a:cubicBezTo>
                  <a:cubicBezTo>
                    <a:pt x="1173" y="1977"/>
                    <a:pt x="1572" y="1715"/>
                    <a:pt x="1584" y="1191"/>
                  </a:cubicBezTo>
                  <a:lnTo>
                    <a:pt x="1584" y="786"/>
                  </a:lnTo>
                  <a:cubicBezTo>
                    <a:pt x="1584" y="358"/>
                    <a:pt x="1227" y="0"/>
                    <a:pt x="798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3a7c44efbea_0_675"/>
            <p:cNvSpPr/>
            <p:nvPr/>
          </p:nvSpPr>
          <p:spPr>
            <a:xfrm>
              <a:off x="4917327" y="4931233"/>
              <a:ext cx="106715" cy="64384"/>
            </a:xfrm>
            <a:custGeom>
              <a:avLst/>
              <a:gdLst/>
              <a:ahLst/>
              <a:cxnLst/>
              <a:rect l="l" t="t" r="r" b="b"/>
              <a:pathLst>
                <a:path w="3121" h="1883" extrusionOk="0">
                  <a:moveTo>
                    <a:pt x="2644" y="1"/>
                  </a:moveTo>
                  <a:cubicBezTo>
                    <a:pt x="2648" y="5"/>
                    <a:pt x="2652" y="9"/>
                    <a:pt x="2657" y="14"/>
                  </a:cubicBezTo>
                  <a:lnTo>
                    <a:pt x="2657" y="14"/>
                  </a:lnTo>
                  <a:cubicBezTo>
                    <a:pt x="2660" y="9"/>
                    <a:pt x="2664" y="5"/>
                    <a:pt x="2668" y="1"/>
                  </a:cubicBezTo>
                  <a:close/>
                  <a:moveTo>
                    <a:pt x="501" y="1"/>
                  </a:moveTo>
                  <a:cubicBezTo>
                    <a:pt x="191" y="287"/>
                    <a:pt x="24" y="691"/>
                    <a:pt x="24" y="1120"/>
                  </a:cubicBezTo>
                  <a:lnTo>
                    <a:pt x="24" y="1573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2834" y="1882"/>
                  </a:lnTo>
                  <a:cubicBezTo>
                    <a:pt x="3001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21"/>
                    <a:pt x="2958" y="322"/>
                    <a:pt x="2657" y="14"/>
                  </a:cubicBezTo>
                  <a:lnTo>
                    <a:pt x="2657" y="14"/>
                  </a:lnTo>
                  <a:cubicBezTo>
                    <a:pt x="2372" y="339"/>
                    <a:pt x="1978" y="501"/>
                    <a:pt x="1584" y="501"/>
                  </a:cubicBezTo>
                  <a:cubicBezTo>
                    <a:pt x="1185" y="501"/>
                    <a:pt x="786" y="334"/>
                    <a:pt x="50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a7c44efbea_0_675"/>
            <p:cNvSpPr/>
            <p:nvPr/>
          </p:nvSpPr>
          <p:spPr>
            <a:xfrm>
              <a:off x="4814305" y="4858779"/>
              <a:ext cx="55426" cy="69445"/>
            </a:xfrm>
            <a:custGeom>
              <a:avLst/>
              <a:gdLst/>
              <a:ahLst/>
              <a:cxnLst/>
              <a:rect l="l" t="t" r="r" b="b"/>
              <a:pathLst>
                <a:path w="1621" h="2031" extrusionOk="0">
                  <a:moveTo>
                    <a:pt x="799" y="0"/>
                  </a:moveTo>
                  <a:cubicBezTo>
                    <a:pt x="370" y="0"/>
                    <a:pt x="13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1" y="2031"/>
                  </a:cubicBezTo>
                  <a:cubicBezTo>
                    <a:pt x="1215" y="2031"/>
                    <a:pt x="1620" y="1751"/>
                    <a:pt x="1585" y="1191"/>
                  </a:cubicBezTo>
                  <a:lnTo>
                    <a:pt x="1585" y="786"/>
                  </a:lnTo>
                  <a:cubicBezTo>
                    <a:pt x="1585" y="358"/>
                    <a:pt x="1251" y="0"/>
                    <a:pt x="799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a7c44efbea_0_675"/>
            <p:cNvSpPr/>
            <p:nvPr/>
          </p:nvSpPr>
          <p:spPr>
            <a:xfrm>
              <a:off x="478784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501" y="1"/>
                  </a:moveTo>
                  <a:cubicBezTo>
                    <a:pt x="191" y="287"/>
                    <a:pt x="1" y="691"/>
                    <a:pt x="25" y="1120"/>
                  </a:cubicBezTo>
                  <a:lnTo>
                    <a:pt x="25" y="1573"/>
                  </a:lnTo>
                  <a:cubicBezTo>
                    <a:pt x="1" y="1739"/>
                    <a:pt x="144" y="1882"/>
                    <a:pt x="334" y="1882"/>
                  </a:cubicBezTo>
                  <a:lnTo>
                    <a:pt x="2835" y="1882"/>
                  </a:lnTo>
                  <a:cubicBezTo>
                    <a:pt x="3002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78" y="310"/>
                    <a:pt x="2668" y="1"/>
                  </a:cubicBezTo>
                  <a:cubicBezTo>
                    <a:pt x="2382" y="334"/>
                    <a:pt x="1984" y="501"/>
                    <a:pt x="1585" y="501"/>
                  </a:cubicBezTo>
                  <a:cubicBezTo>
                    <a:pt x="1186" y="501"/>
                    <a:pt x="787" y="334"/>
                    <a:pt x="50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a7c44efbea_0_675"/>
            <p:cNvSpPr/>
            <p:nvPr/>
          </p:nvSpPr>
          <p:spPr>
            <a:xfrm>
              <a:off x="5073245" y="4858779"/>
              <a:ext cx="55836" cy="69445"/>
            </a:xfrm>
            <a:custGeom>
              <a:avLst/>
              <a:gdLst/>
              <a:ahLst/>
              <a:cxnLst/>
              <a:rect l="l" t="t" r="r" b="b"/>
              <a:pathLst>
                <a:path w="1633" h="2031" extrusionOk="0">
                  <a:moveTo>
                    <a:pt x="823" y="0"/>
                  </a:moveTo>
                  <a:cubicBezTo>
                    <a:pt x="370" y="0"/>
                    <a:pt x="37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4" y="2031"/>
                  </a:cubicBezTo>
                  <a:cubicBezTo>
                    <a:pt x="1221" y="2031"/>
                    <a:pt x="1632" y="1751"/>
                    <a:pt x="1608" y="1191"/>
                  </a:cubicBezTo>
                  <a:lnTo>
                    <a:pt x="1608" y="786"/>
                  </a:lnTo>
                  <a:cubicBezTo>
                    <a:pt x="1608" y="358"/>
                    <a:pt x="1251" y="0"/>
                    <a:pt x="823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3a7c44efbea_0_675"/>
            <p:cNvSpPr/>
            <p:nvPr/>
          </p:nvSpPr>
          <p:spPr>
            <a:xfrm>
              <a:off x="504760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477" y="1"/>
                  </a:moveTo>
                  <a:cubicBezTo>
                    <a:pt x="167" y="287"/>
                    <a:pt x="1" y="691"/>
                    <a:pt x="1" y="1120"/>
                  </a:cubicBezTo>
                  <a:lnTo>
                    <a:pt x="1" y="1573"/>
                  </a:lnTo>
                  <a:cubicBezTo>
                    <a:pt x="1" y="1739"/>
                    <a:pt x="144" y="1882"/>
                    <a:pt x="310" y="1882"/>
                  </a:cubicBezTo>
                  <a:lnTo>
                    <a:pt x="2835" y="1882"/>
                  </a:lnTo>
                  <a:cubicBezTo>
                    <a:pt x="3001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54" y="310"/>
                    <a:pt x="2644" y="1"/>
                  </a:cubicBezTo>
                  <a:cubicBezTo>
                    <a:pt x="2358" y="334"/>
                    <a:pt x="1960" y="501"/>
                    <a:pt x="1561" y="501"/>
                  </a:cubicBezTo>
                  <a:cubicBezTo>
                    <a:pt x="1162" y="501"/>
                    <a:pt x="763" y="334"/>
                    <a:pt x="477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3a7c44efbea_0_675"/>
            <p:cNvSpPr/>
            <p:nvPr/>
          </p:nvSpPr>
          <p:spPr>
            <a:xfrm>
              <a:off x="4822066" y="4628321"/>
              <a:ext cx="68419" cy="82301"/>
            </a:xfrm>
            <a:custGeom>
              <a:avLst/>
              <a:gdLst/>
              <a:ahLst/>
              <a:cxnLst/>
              <a:rect l="l" t="t" r="r" b="b"/>
              <a:pathLst>
                <a:path w="2001" h="2407" extrusionOk="0">
                  <a:moveTo>
                    <a:pt x="1000" y="1"/>
                  </a:moveTo>
                  <a:cubicBezTo>
                    <a:pt x="453" y="1"/>
                    <a:pt x="0" y="453"/>
                    <a:pt x="0" y="1001"/>
                  </a:cubicBezTo>
                  <a:lnTo>
                    <a:pt x="0" y="1406"/>
                  </a:lnTo>
                  <a:cubicBezTo>
                    <a:pt x="0" y="2073"/>
                    <a:pt x="500" y="2406"/>
                    <a:pt x="1000" y="2406"/>
                  </a:cubicBezTo>
                  <a:cubicBezTo>
                    <a:pt x="1500" y="2406"/>
                    <a:pt x="2001" y="2073"/>
                    <a:pt x="2001" y="1406"/>
                  </a:cubicBezTo>
                  <a:lnTo>
                    <a:pt x="2001" y="1001"/>
                  </a:lnTo>
                  <a:cubicBezTo>
                    <a:pt x="2001" y="453"/>
                    <a:pt x="1548" y="1"/>
                    <a:pt x="1000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a7c44efbea_0_675"/>
            <p:cNvSpPr/>
            <p:nvPr/>
          </p:nvSpPr>
          <p:spPr>
            <a:xfrm>
              <a:off x="4787840" y="4699989"/>
              <a:ext cx="201189" cy="136018"/>
            </a:xfrm>
            <a:custGeom>
              <a:avLst/>
              <a:gdLst/>
              <a:ahLst/>
              <a:cxnLst/>
              <a:rect l="l" t="t" r="r" b="b"/>
              <a:pathLst>
                <a:path w="5884" h="3978" extrusionOk="0">
                  <a:moveTo>
                    <a:pt x="3478" y="1"/>
                  </a:moveTo>
                  <a:cubicBezTo>
                    <a:pt x="3195" y="606"/>
                    <a:pt x="2601" y="930"/>
                    <a:pt x="2000" y="930"/>
                  </a:cubicBezTo>
                  <a:cubicBezTo>
                    <a:pt x="1537" y="930"/>
                    <a:pt x="1071" y="738"/>
                    <a:pt x="739" y="334"/>
                  </a:cubicBezTo>
                  <a:cubicBezTo>
                    <a:pt x="287" y="667"/>
                    <a:pt x="1" y="1215"/>
                    <a:pt x="25" y="1787"/>
                  </a:cubicBezTo>
                  <a:lnTo>
                    <a:pt x="25" y="3668"/>
                  </a:lnTo>
                  <a:cubicBezTo>
                    <a:pt x="1" y="3835"/>
                    <a:pt x="144" y="3978"/>
                    <a:pt x="334" y="3978"/>
                  </a:cubicBezTo>
                  <a:lnTo>
                    <a:pt x="3264" y="3978"/>
                  </a:lnTo>
                  <a:cubicBezTo>
                    <a:pt x="3430" y="3978"/>
                    <a:pt x="3573" y="3835"/>
                    <a:pt x="3573" y="3668"/>
                  </a:cubicBezTo>
                  <a:lnTo>
                    <a:pt x="3573" y="1263"/>
                  </a:lnTo>
                  <a:lnTo>
                    <a:pt x="5050" y="1263"/>
                  </a:lnTo>
                  <a:cubicBezTo>
                    <a:pt x="5883" y="1263"/>
                    <a:pt x="5883" y="1"/>
                    <a:pt x="5050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120225" tIns="120225" rIns="120225" bIns="1202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  <a:tabLst/>
                <a:defRPr/>
              </a:pPr>
              <a:endPara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74" name="Google Shape;474;g3a7c44efbea_0_675"/>
          <p:cNvPicPr preferRelativeResize="0"/>
          <p:nvPr/>
        </p:nvPicPr>
        <p:blipFill rotWithShape="1">
          <a:blip r:embed="rId7">
            <a:alphaModFix/>
          </a:blip>
          <a:srcRect r="6638"/>
          <a:stretch/>
        </p:blipFill>
        <p:spPr>
          <a:xfrm>
            <a:off x="4405372" y="3522237"/>
            <a:ext cx="1656509" cy="878507"/>
          </a:xfrm>
          <a:prstGeom prst="rect">
            <a:avLst/>
          </a:prstGeom>
          <a:noFill/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75148" dist="25049" dir="5400000" algn="bl" rotWithShape="0">
              <a:srgbClr val="000000">
                <a:alpha val="49020"/>
              </a:srgbClr>
            </a:outerShdw>
          </a:effectLst>
        </p:spPr>
      </p:pic>
      <p:pic>
        <p:nvPicPr>
          <p:cNvPr id="475" name="Google Shape;475;g3a7c44efbea_0_67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26132" y="2748439"/>
            <a:ext cx="2302353" cy="1487993"/>
          </a:xfrm>
          <a:prstGeom prst="rect">
            <a:avLst/>
          </a:prstGeom>
          <a:noFill/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75148" dist="25049" dir="5400000" algn="bl" rotWithShape="0">
              <a:srgbClr val="000000">
                <a:alpha val="49020"/>
              </a:srgbClr>
            </a:outerShdw>
          </a:effectLst>
        </p:spPr>
      </p:pic>
      <p:pic>
        <p:nvPicPr>
          <p:cNvPr id="476" name="Google Shape;476;g3a7c44efbea_0_675"/>
          <p:cNvPicPr preferRelativeResize="0"/>
          <p:nvPr/>
        </p:nvPicPr>
        <p:blipFill rotWithShape="1">
          <a:blip r:embed="rId9">
            <a:alphaModFix/>
          </a:blip>
          <a:srcRect l="2434" t="3915" r="4981" b="8885"/>
          <a:stretch/>
        </p:blipFill>
        <p:spPr>
          <a:xfrm>
            <a:off x="7404267" y="2131533"/>
            <a:ext cx="2302363" cy="1540544"/>
          </a:xfrm>
          <a:prstGeom prst="rect">
            <a:avLst/>
          </a:prstGeom>
          <a:noFill/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75148" dist="25049" dir="5400000" algn="bl" rotWithShape="0">
              <a:srgbClr val="000000">
                <a:alpha val="49020"/>
              </a:srgbClr>
            </a:outerShdw>
          </a:effectLst>
        </p:spPr>
      </p:pic>
      <p:sp>
        <p:nvSpPr>
          <p:cNvPr id="477" name="Google Shape;477;g3a7c44efbea_0_675"/>
          <p:cNvSpPr/>
          <p:nvPr/>
        </p:nvSpPr>
        <p:spPr>
          <a:xfrm>
            <a:off x="7404268" y="4506956"/>
            <a:ext cx="2701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25" tIns="120225" rIns="120225" bIns="1202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n-US" sz="13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Microplans au niveau des zones sanitaires avec des détails sur chaque communauté (y compris les adaptations nécessaires)</a:t>
            </a:r>
            <a:endParaRPr kumimoji="0" sz="13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a7c44efbea_0_67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1276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7c44efbea_0_78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1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Bonne pratique intégration |</a:t>
            </a: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Les MCZs utilisent un tableau de bord pour suivre la couverture communautaire après l’IPVS et corriger le tir entre les tours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g3a7c44efbea_0_78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g3a7c44efbea_0_787"/>
          <p:cNvSpPr/>
          <p:nvPr/>
        </p:nvSpPr>
        <p:spPr>
          <a:xfrm>
            <a:off x="951375" y="2612500"/>
            <a:ext cx="4276500" cy="4049400"/>
          </a:xfrm>
          <a:prstGeom prst="rect">
            <a:avLst/>
          </a:prstGeom>
          <a:solidFill>
            <a:srgbClr val="EFEFEF"/>
          </a:solidFill>
          <a:ln w="1270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  <a:effectLst>
            <a:outerShdw blurRad="70857" dist="23619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113375" tIns="156225" rIns="113375" bIns="11337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Fournir des données à la routine: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Communautés oubliées ou sous-vaccinées durant les IPVS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Équipes de vaccination dont la participation aux IPVS est incomplète et qui ont besoin de journées de rattrapage avec le tour 2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6" name="Google Shape;486;g3a7c44efbea_0_78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C4587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C4587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g3a7c44efbea_0_787"/>
          <p:cNvCxnSpPr>
            <a:stCxn id="488" idx="3"/>
            <a:endCxn id="489" idx="1"/>
          </p:cNvCxnSpPr>
          <p:nvPr/>
        </p:nvCxnSpPr>
        <p:spPr>
          <a:xfrm>
            <a:off x="1388651" y="2037700"/>
            <a:ext cx="3448800" cy="0"/>
          </a:xfrm>
          <a:prstGeom prst="straightConnector1">
            <a:avLst/>
          </a:prstGeom>
          <a:noFill/>
          <a:ln w="127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0" name="Google Shape;490;g3a7c44efbea_0_787"/>
          <p:cNvSpPr txBox="1"/>
          <p:nvPr/>
        </p:nvSpPr>
        <p:spPr>
          <a:xfrm>
            <a:off x="2134928" y="1804773"/>
            <a:ext cx="1732500" cy="47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13375" tIns="113375" rIns="113375" bIns="11337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1" name="Google Shape;491;g3a7c44efbea_0_787"/>
          <p:cNvCxnSpPr>
            <a:stCxn id="489" idx="3"/>
            <a:endCxn id="492" idx="1"/>
          </p:cNvCxnSpPr>
          <p:nvPr/>
        </p:nvCxnSpPr>
        <p:spPr>
          <a:xfrm>
            <a:off x="7004724" y="2037700"/>
            <a:ext cx="3167400" cy="0"/>
          </a:xfrm>
          <a:prstGeom prst="straightConnector1">
            <a:avLst/>
          </a:prstGeom>
          <a:noFill/>
          <a:ln w="127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3" name="Google Shape;493;g3a7c44efbea_0_787"/>
          <p:cNvSpPr txBox="1"/>
          <p:nvPr/>
        </p:nvSpPr>
        <p:spPr>
          <a:xfrm>
            <a:off x="7609617" y="1804525"/>
            <a:ext cx="1732500" cy="47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13375" tIns="113375" rIns="113375" bIns="11337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g3a7c44efbea_0_787"/>
          <p:cNvSpPr/>
          <p:nvPr/>
        </p:nvSpPr>
        <p:spPr>
          <a:xfrm>
            <a:off x="460151" y="1794700"/>
            <a:ext cx="928500" cy="486000"/>
          </a:xfrm>
          <a:prstGeom prst="rect">
            <a:avLst/>
          </a:prstGeom>
          <a:solidFill>
            <a:srgbClr val="C8DAF7"/>
          </a:solidFill>
          <a:ln>
            <a:noFill/>
          </a:ln>
        </p:spPr>
        <p:txBody>
          <a:bodyPr spcFirstLastPara="1" wrap="square" lIns="113375" tIns="113375" rIns="113375" bIns="1133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IPVS 1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g3a7c44efbea_0_787"/>
          <p:cNvSpPr/>
          <p:nvPr/>
        </p:nvSpPr>
        <p:spPr>
          <a:xfrm>
            <a:off x="4837524" y="1794700"/>
            <a:ext cx="2167200" cy="486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113375" tIns="113375" rIns="113375" bIns="1133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Entre les activités de vaccination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g3a7c44efbea_0_787"/>
          <p:cNvSpPr/>
          <p:nvPr/>
        </p:nvSpPr>
        <p:spPr>
          <a:xfrm>
            <a:off x="10171993" y="1794700"/>
            <a:ext cx="928500" cy="486000"/>
          </a:xfrm>
          <a:prstGeom prst="rect">
            <a:avLst/>
          </a:prstGeom>
          <a:solidFill>
            <a:srgbClr val="C8DAF7"/>
          </a:solidFill>
          <a:ln>
            <a:noFill/>
          </a:ln>
        </p:spPr>
        <p:txBody>
          <a:bodyPr spcFirstLastPara="1" wrap="square" lIns="113375" tIns="113375" rIns="113375" bIns="1133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IPVS 2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4" name="Google Shape;494;g3a7c44efbea_0_787"/>
          <p:cNvCxnSpPr>
            <a:stCxn id="492" idx="3"/>
          </p:cNvCxnSpPr>
          <p:nvPr/>
        </p:nvCxnSpPr>
        <p:spPr>
          <a:xfrm rot="10800000" flipH="1">
            <a:off x="11100493" y="2035000"/>
            <a:ext cx="397500" cy="2700"/>
          </a:xfrm>
          <a:prstGeom prst="straightConnector1">
            <a:avLst/>
          </a:prstGeom>
          <a:noFill/>
          <a:ln w="127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5" name="Google Shape;495;g3a7c44efbea_0_787"/>
          <p:cNvGrpSpPr/>
          <p:nvPr/>
        </p:nvGrpSpPr>
        <p:grpSpPr>
          <a:xfrm>
            <a:off x="634790" y="1255309"/>
            <a:ext cx="627311" cy="488033"/>
            <a:chOff x="7950272" y="3483129"/>
            <a:chExt cx="378971" cy="322368"/>
          </a:xfrm>
        </p:grpSpPr>
        <p:sp>
          <p:nvSpPr>
            <p:cNvPr id="496" name="Google Shape;496;g3a7c44efbea_0_787"/>
            <p:cNvSpPr/>
            <p:nvPr/>
          </p:nvSpPr>
          <p:spPr>
            <a:xfrm>
              <a:off x="8094769" y="3715588"/>
              <a:ext cx="108560" cy="89909"/>
            </a:xfrm>
            <a:custGeom>
              <a:avLst/>
              <a:gdLst/>
              <a:ahLst/>
              <a:cxnLst/>
              <a:rect l="l" t="t" r="r" b="b"/>
              <a:pathLst>
                <a:path w="3178" h="2632" extrusionOk="0">
                  <a:moveTo>
                    <a:pt x="1391" y="1"/>
                  </a:moveTo>
                  <a:lnTo>
                    <a:pt x="915" y="453"/>
                  </a:lnTo>
                  <a:cubicBezTo>
                    <a:pt x="1" y="1367"/>
                    <a:pt x="841" y="2632"/>
                    <a:pt x="1819" y="2632"/>
                  </a:cubicBezTo>
                  <a:cubicBezTo>
                    <a:pt x="2115" y="2632"/>
                    <a:pt x="2424" y="2516"/>
                    <a:pt x="2701" y="2239"/>
                  </a:cubicBezTo>
                  <a:lnTo>
                    <a:pt x="3177" y="1787"/>
                  </a:lnTo>
                  <a:lnTo>
                    <a:pt x="1391" y="1"/>
                  </a:ln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a7c44efbea_0_787"/>
            <p:cNvSpPr/>
            <p:nvPr/>
          </p:nvSpPr>
          <p:spPr>
            <a:xfrm>
              <a:off x="8156906" y="3672068"/>
              <a:ext cx="107741" cy="89123"/>
            </a:xfrm>
            <a:custGeom>
              <a:avLst/>
              <a:gdLst/>
              <a:ahLst/>
              <a:cxnLst/>
              <a:rect l="l" t="t" r="r" b="b"/>
              <a:pathLst>
                <a:path w="3154" h="2609" extrusionOk="0">
                  <a:moveTo>
                    <a:pt x="1335" y="1"/>
                  </a:moveTo>
                  <a:cubicBezTo>
                    <a:pt x="1039" y="1"/>
                    <a:pt x="730" y="117"/>
                    <a:pt x="453" y="393"/>
                  </a:cubicBezTo>
                  <a:lnTo>
                    <a:pt x="1" y="822"/>
                  </a:lnTo>
                  <a:lnTo>
                    <a:pt x="1787" y="2608"/>
                  </a:lnTo>
                  <a:lnTo>
                    <a:pt x="2239" y="2180"/>
                  </a:lnTo>
                  <a:cubicBezTo>
                    <a:pt x="3153" y="1266"/>
                    <a:pt x="2313" y="1"/>
                    <a:pt x="1335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3a7c44efbea_0_787"/>
            <p:cNvSpPr/>
            <p:nvPr/>
          </p:nvSpPr>
          <p:spPr>
            <a:xfrm>
              <a:off x="8218940" y="3600640"/>
              <a:ext cx="77099" cy="65348"/>
            </a:xfrm>
            <a:custGeom>
              <a:avLst/>
              <a:gdLst/>
              <a:ahLst/>
              <a:cxnLst/>
              <a:rect l="l" t="t" r="r" b="b"/>
              <a:pathLst>
                <a:path w="2257" h="1913" extrusionOk="0">
                  <a:moveTo>
                    <a:pt x="1625" y="0"/>
                  </a:moveTo>
                  <a:cubicBezTo>
                    <a:pt x="732" y="0"/>
                    <a:pt x="1" y="1004"/>
                    <a:pt x="542" y="1913"/>
                  </a:cubicBezTo>
                  <a:lnTo>
                    <a:pt x="2257" y="174"/>
                  </a:lnTo>
                  <a:cubicBezTo>
                    <a:pt x="2047" y="54"/>
                    <a:pt x="1832" y="0"/>
                    <a:pt x="1625" y="0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3a7c44efbea_0_787"/>
            <p:cNvSpPr/>
            <p:nvPr/>
          </p:nvSpPr>
          <p:spPr>
            <a:xfrm>
              <a:off x="8252110" y="3622024"/>
              <a:ext cx="77133" cy="64938"/>
            </a:xfrm>
            <a:custGeom>
              <a:avLst/>
              <a:gdLst/>
              <a:ahLst/>
              <a:cxnLst/>
              <a:rect l="l" t="t" r="r" b="b"/>
              <a:pathLst>
                <a:path w="2258" h="1901" extrusionOk="0">
                  <a:moveTo>
                    <a:pt x="1738" y="1"/>
                  </a:moveTo>
                  <a:lnTo>
                    <a:pt x="0" y="1716"/>
                  </a:lnTo>
                  <a:cubicBezTo>
                    <a:pt x="216" y="1844"/>
                    <a:pt x="437" y="1901"/>
                    <a:pt x="649" y="1901"/>
                  </a:cubicBezTo>
                  <a:cubicBezTo>
                    <a:pt x="1535" y="1901"/>
                    <a:pt x="2258" y="904"/>
                    <a:pt x="1738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a7c44efbea_0_787"/>
            <p:cNvSpPr/>
            <p:nvPr/>
          </p:nvSpPr>
          <p:spPr>
            <a:xfrm>
              <a:off x="8022691" y="3483129"/>
              <a:ext cx="233518" cy="230853"/>
            </a:xfrm>
            <a:custGeom>
              <a:avLst/>
              <a:gdLst/>
              <a:ahLst/>
              <a:cxnLst/>
              <a:rect l="l" t="t" r="r" b="b"/>
              <a:pathLst>
                <a:path w="6836" h="6758" extrusionOk="0">
                  <a:moveTo>
                    <a:pt x="6475" y="1"/>
                  </a:moveTo>
                  <a:cubicBezTo>
                    <a:pt x="6395" y="1"/>
                    <a:pt x="6311" y="30"/>
                    <a:pt x="6240" y="90"/>
                  </a:cubicBezTo>
                  <a:lnTo>
                    <a:pt x="4692" y="1662"/>
                  </a:lnTo>
                  <a:lnTo>
                    <a:pt x="4454" y="1424"/>
                  </a:lnTo>
                  <a:cubicBezTo>
                    <a:pt x="4394" y="1364"/>
                    <a:pt x="4311" y="1334"/>
                    <a:pt x="4227" y="1334"/>
                  </a:cubicBezTo>
                  <a:cubicBezTo>
                    <a:pt x="4144" y="1334"/>
                    <a:pt x="4061" y="1364"/>
                    <a:pt x="4001" y="1424"/>
                  </a:cubicBezTo>
                  <a:lnTo>
                    <a:pt x="3334" y="2090"/>
                  </a:lnTo>
                  <a:lnTo>
                    <a:pt x="2882" y="1638"/>
                  </a:lnTo>
                  <a:cubicBezTo>
                    <a:pt x="2822" y="1578"/>
                    <a:pt x="2745" y="1549"/>
                    <a:pt x="2668" y="1549"/>
                  </a:cubicBezTo>
                  <a:cubicBezTo>
                    <a:pt x="2590" y="1549"/>
                    <a:pt x="2513" y="1578"/>
                    <a:pt x="2453" y="1638"/>
                  </a:cubicBezTo>
                  <a:lnTo>
                    <a:pt x="0" y="4067"/>
                  </a:lnTo>
                  <a:lnTo>
                    <a:pt x="2691" y="6758"/>
                  </a:lnTo>
                  <a:lnTo>
                    <a:pt x="3120" y="6329"/>
                  </a:lnTo>
                  <a:lnTo>
                    <a:pt x="2025" y="5210"/>
                  </a:lnTo>
                  <a:cubicBezTo>
                    <a:pt x="1905" y="5091"/>
                    <a:pt x="1905" y="4900"/>
                    <a:pt x="2025" y="4758"/>
                  </a:cubicBezTo>
                  <a:cubicBezTo>
                    <a:pt x="2084" y="4698"/>
                    <a:pt x="2162" y="4668"/>
                    <a:pt x="2239" y="4668"/>
                  </a:cubicBezTo>
                  <a:cubicBezTo>
                    <a:pt x="2316" y="4668"/>
                    <a:pt x="2394" y="4698"/>
                    <a:pt x="2453" y="4758"/>
                  </a:cubicBezTo>
                  <a:lnTo>
                    <a:pt x="3573" y="5901"/>
                  </a:lnTo>
                  <a:lnTo>
                    <a:pt x="4001" y="5448"/>
                  </a:lnTo>
                  <a:lnTo>
                    <a:pt x="2906" y="4329"/>
                  </a:lnTo>
                  <a:cubicBezTo>
                    <a:pt x="2670" y="4111"/>
                    <a:pt x="2877" y="3796"/>
                    <a:pt x="3115" y="3796"/>
                  </a:cubicBezTo>
                  <a:cubicBezTo>
                    <a:pt x="3189" y="3796"/>
                    <a:pt x="3266" y="3827"/>
                    <a:pt x="3334" y="3900"/>
                  </a:cubicBezTo>
                  <a:lnTo>
                    <a:pt x="4454" y="4996"/>
                  </a:lnTo>
                  <a:lnTo>
                    <a:pt x="5120" y="4329"/>
                  </a:lnTo>
                  <a:cubicBezTo>
                    <a:pt x="5240" y="4210"/>
                    <a:pt x="5240" y="4019"/>
                    <a:pt x="5120" y="3876"/>
                  </a:cubicBezTo>
                  <a:lnTo>
                    <a:pt x="4668" y="3424"/>
                  </a:lnTo>
                  <a:lnTo>
                    <a:pt x="5359" y="2757"/>
                  </a:lnTo>
                  <a:cubicBezTo>
                    <a:pt x="5478" y="2638"/>
                    <a:pt x="5478" y="2448"/>
                    <a:pt x="5359" y="2328"/>
                  </a:cubicBezTo>
                  <a:lnTo>
                    <a:pt x="5120" y="2090"/>
                  </a:lnTo>
                  <a:lnTo>
                    <a:pt x="6692" y="519"/>
                  </a:lnTo>
                  <a:cubicBezTo>
                    <a:pt x="6835" y="400"/>
                    <a:pt x="6835" y="209"/>
                    <a:pt x="6692" y="90"/>
                  </a:cubicBezTo>
                  <a:cubicBezTo>
                    <a:pt x="6633" y="30"/>
                    <a:pt x="6555" y="1"/>
                    <a:pt x="6475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3a7c44efbea_0_787"/>
            <p:cNvSpPr/>
            <p:nvPr/>
          </p:nvSpPr>
          <p:spPr>
            <a:xfrm>
              <a:off x="7950272" y="3637498"/>
              <a:ext cx="96024" cy="83829"/>
            </a:xfrm>
            <a:custGeom>
              <a:avLst/>
              <a:gdLst/>
              <a:ahLst/>
              <a:cxnLst/>
              <a:rect l="l" t="t" r="r" b="b"/>
              <a:pathLst>
                <a:path w="2811" h="2454" extrusionOk="0">
                  <a:moveTo>
                    <a:pt x="1692" y="0"/>
                  </a:moveTo>
                  <a:lnTo>
                    <a:pt x="787" y="905"/>
                  </a:lnTo>
                  <a:lnTo>
                    <a:pt x="572" y="667"/>
                  </a:lnTo>
                  <a:cubicBezTo>
                    <a:pt x="513" y="608"/>
                    <a:pt x="430" y="578"/>
                    <a:pt x="346" y="578"/>
                  </a:cubicBezTo>
                  <a:cubicBezTo>
                    <a:pt x="263" y="578"/>
                    <a:pt x="179" y="608"/>
                    <a:pt x="120" y="667"/>
                  </a:cubicBezTo>
                  <a:cubicBezTo>
                    <a:pt x="1" y="810"/>
                    <a:pt x="1" y="1001"/>
                    <a:pt x="120" y="1120"/>
                  </a:cubicBezTo>
                  <a:lnTo>
                    <a:pt x="1454" y="2453"/>
                  </a:lnTo>
                  <a:lnTo>
                    <a:pt x="2811" y="1120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3a7c44efbea_0_787"/>
            <p:cNvSpPr/>
            <p:nvPr/>
          </p:nvSpPr>
          <p:spPr>
            <a:xfrm>
              <a:off x="8015381" y="3691198"/>
              <a:ext cx="83794" cy="94794"/>
            </a:xfrm>
            <a:custGeom>
              <a:avLst/>
              <a:gdLst/>
              <a:ahLst/>
              <a:cxnLst/>
              <a:rect l="l" t="t" r="r" b="b"/>
              <a:pathLst>
                <a:path w="2453" h="2775" extrusionOk="0">
                  <a:moveTo>
                    <a:pt x="1334" y="0"/>
                  </a:moveTo>
                  <a:lnTo>
                    <a:pt x="0" y="1334"/>
                  </a:lnTo>
                  <a:lnTo>
                    <a:pt x="1334" y="2667"/>
                  </a:lnTo>
                  <a:cubicBezTo>
                    <a:pt x="1393" y="2739"/>
                    <a:pt x="1477" y="2775"/>
                    <a:pt x="1560" y="2775"/>
                  </a:cubicBezTo>
                  <a:cubicBezTo>
                    <a:pt x="1643" y="2775"/>
                    <a:pt x="1727" y="2739"/>
                    <a:pt x="1786" y="2667"/>
                  </a:cubicBezTo>
                  <a:cubicBezTo>
                    <a:pt x="1905" y="2548"/>
                    <a:pt x="1905" y="2358"/>
                    <a:pt x="1786" y="2239"/>
                  </a:cubicBezTo>
                  <a:lnTo>
                    <a:pt x="1572" y="2001"/>
                  </a:lnTo>
                  <a:lnTo>
                    <a:pt x="2453" y="1119"/>
                  </a:lnTo>
                  <a:lnTo>
                    <a:pt x="1334" y="0"/>
                  </a:ln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a7c44efbea_0_787"/>
            <p:cNvSpPr/>
            <p:nvPr/>
          </p:nvSpPr>
          <p:spPr>
            <a:xfrm>
              <a:off x="7950272" y="3718423"/>
              <a:ext cx="69208" cy="67773"/>
            </a:xfrm>
            <a:custGeom>
              <a:avLst/>
              <a:gdLst/>
              <a:ahLst/>
              <a:cxnLst/>
              <a:rect l="l" t="t" r="r" b="b"/>
              <a:pathLst>
                <a:path w="2026" h="1984" extrusionOk="0">
                  <a:moveTo>
                    <a:pt x="346" y="1"/>
                  </a:moveTo>
                  <a:cubicBezTo>
                    <a:pt x="263" y="1"/>
                    <a:pt x="179" y="37"/>
                    <a:pt x="120" y="108"/>
                  </a:cubicBezTo>
                  <a:cubicBezTo>
                    <a:pt x="1" y="227"/>
                    <a:pt x="1" y="418"/>
                    <a:pt x="120" y="561"/>
                  </a:cubicBezTo>
                  <a:lnTo>
                    <a:pt x="1454" y="1894"/>
                  </a:lnTo>
                  <a:cubicBezTo>
                    <a:pt x="1513" y="1954"/>
                    <a:pt x="1590" y="1983"/>
                    <a:pt x="1671" y="1983"/>
                  </a:cubicBezTo>
                  <a:cubicBezTo>
                    <a:pt x="1751" y="1983"/>
                    <a:pt x="1835" y="1954"/>
                    <a:pt x="1906" y="1894"/>
                  </a:cubicBezTo>
                  <a:cubicBezTo>
                    <a:pt x="2025" y="1751"/>
                    <a:pt x="2025" y="1561"/>
                    <a:pt x="1906" y="1442"/>
                  </a:cubicBezTo>
                  <a:lnTo>
                    <a:pt x="1454" y="989"/>
                  </a:lnTo>
                  <a:lnTo>
                    <a:pt x="1906" y="537"/>
                  </a:lnTo>
                  <a:lnTo>
                    <a:pt x="1454" y="84"/>
                  </a:lnTo>
                  <a:lnTo>
                    <a:pt x="1001" y="561"/>
                  </a:lnTo>
                  <a:lnTo>
                    <a:pt x="572" y="108"/>
                  </a:lnTo>
                  <a:cubicBezTo>
                    <a:pt x="513" y="37"/>
                    <a:pt x="430" y="1"/>
                    <a:pt x="346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" name="Google Shape;504;g3a7c44efbea_0_787"/>
          <p:cNvGrpSpPr/>
          <p:nvPr/>
        </p:nvGrpSpPr>
        <p:grpSpPr>
          <a:xfrm>
            <a:off x="5607318" y="1255309"/>
            <a:ext cx="627311" cy="488033"/>
            <a:chOff x="7950272" y="3483129"/>
            <a:chExt cx="378971" cy="322368"/>
          </a:xfrm>
        </p:grpSpPr>
        <p:sp>
          <p:nvSpPr>
            <p:cNvPr id="505" name="Google Shape;505;g3a7c44efbea_0_787"/>
            <p:cNvSpPr/>
            <p:nvPr/>
          </p:nvSpPr>
          <p:spPr>
            <a:xfrm>
              <a:off x="8094769" y="3715588"/>
              <a:ext cx="108560" cy="89909"/>
            </a:xfrm>
            <a:custGeom>
              <a:avLst/>
              <a:gdLst/>
              <a:ahLst/>
              <a:cxnLst/>
              <a:rect l="l" t="t" r="r" b="b"/>
              <a:pathLst>
                <a:path w="3178" h="2632" extrusionOk="0">
                  <a:moveTo>
                    <a:pt x="1391" y="1"/>
                  </a:moveTo>
                  <a:lnTo>
                    <a:pt x="915" y="453"/>
                  </a:lnTo>
                  <a:cubicBezTo>
                    <a:pt x="1" y="1367"/>
                    <a:pt x="841" y="2632"/>
                    <a:pt x="1819" y="2632"/>
                  </a:cubicBezTo>
                  <a:cubicBezTo>
                    <a:pt x="2115" y="2632"/>
                    <a:pt x="2424" y="2516"/>
                    <a:pt x="2701" y="2239"/>
                  </a:cubicBezTo>
                  <a:lnTo>
                    <a:pt x="3177" y="1787"/>
                  </a:lnTo>
                  <a:lnTo>
                    <a:pt x="1391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a7c44efbea_0_787"/>
            <p:cNvSpPr/>
            <p:nvPr/>
          </p:nvSpPr>
          <p:spPr>
            <a:xfrm>
              <a:off x="8156906" y="3672068"/>
              <a:ext cx="107741" cy="89123"/>
            </a:xfrm>
            <a:custGeom>
              <a:avLst/>
              <a:gdLst/>
              <a:ahLst/>
              <a:cxnLst/>
              <a:rect l="l" t="t" r="r" b="b"/>
              <a:pathLst>
                <a:path w="3154" h="2609" extrusionOk="0">
                  <a:moveTo>
                    <a:pt x="1335" y="1"/>
                  </a:moveTo>
                  <a:cubicBezTo>
                    <a:pt x="1039" y="1"/>
                    <a:pt x="730" y="117"/>
                    <a:pt x="453" y="393"/>
                  </a:cubicBezTo>
                  <a:lnTo>
                    <a:pt x="1" y="822"/>
                  </a:lnTo>
                  <a:lnTo>
                    <a:pt x="1787" y="2608"/>
                  </a:lnTo>
                  <a:lnTo>
                    <a:pt x="2239" y="2180"/>
                  </a:lnTo>
                  <a:cubicBezTo>
                    <a:pt x="3153" y="1266"/>
                    <a:pt x="2313" y="1"/>
                    <a:pt x="1335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a7c44efbea_0_787"/>
            <p:cNvSpPr/>
            <p:nvPr/>
          </p:nvSpPr>
          <p:spPr>
            <a:xfrm>
              <a:off x="8218940" y="3600640"/>
              <a:ext cx="77099" cy="65348"/>
            </a:xfrm>
            <a:custGeom>
              <a:avLst/>
              <a:gdLst/>
              <a:ahLst/>
              <a:cxnLst/>
              <a:rect l="l" t="t" r="r" b="b"/>
              <a:pathLst>
                <a:path w="2257" h="1913" extrusionOk="0">
                  <a:moveTo>
                    <a:pt x="1625" y="0"/>
                  </a:moveTo>
                  <a:cubicBezTo>
                    <a:pt x="732" y="0"/>
                    <a:pt x="1" y="1004"/>
                    <a:pt x="542" y="1913"/>
                  </a:cubicBezTo>
                  <a:lnTo>
                    <a:pt x="2257" y="174"/>
                  </a:lnTo>
                  <a:cubicBezTo>
                    <a:pt x="2047" y="54"/>
                    <a:pt x="1832" y="0"/>
                    <a:pt x="1625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a7c44efbea_0_787"/>
            <p:cNvSpPr/>
            <p:nvPr/>
          </p:nvSpPr>
          <p:spPr>
            <a:xfrm>
              <a:off x="8252110" y="3622024"/>
              <a:ext cx="77133" cy="64938"/>
            </a:xfrm>
            <a:custGeom>
              <a:avLst/>
              <a:gdLst/>
              <a:ahLst/>
              <a:cxnLst/>
              <a:rect l="l" t="t" r="r" b="b"/>
              <a:pathLst>
                <a:path w="2258" h="1901" extrusionOk="0">
                  <a:moveTo>
                    <a:pt x="1738" y="1"/>
                  </a:moveTo>
                  <a:lnTo>
                    <a:pt x="0" y="1716"/>
                  </a:lnTo>
                  <a:cubicBezTo>
                    <a:pt x="216" y="1844"/>
                    <a:pt x="437" y="1901"/>
                    <a:pt x="649" y="1901"/>
                  </a:cubicBezTo>
                  <a:cubicBezTo>
                    <a:pt x="1535" y="1901"/>
                    <a:pt x="2258" y="904"/>
                    <a:pt x="1738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a7c44efbea_0_787"/>
            <p:cNvSpPr/>
            <p:nvPr/>
          </p:nvSpPr>
          <p:spPr>
            <a:xfrm>
              <a:off x="8022691" y="3483129"/>
              <a:ext cx="233518" cy="230853"/>
            </a:xfrm>
            <a:custGeom>
              <a:avLst/>
              <a:gdLst/>
              <a:ahLst/>
              <a:cxnLst/>
              <a:rect l="l" t="t" r="r" b="b"/>
              <a:pathLst>
                <a:path w="6836" h="6758" extrusionOk="0">
                  <a:moveTo>
                    <a:pt x="6475" y="1"/>
                  </a:moveTo>
                  <a:cubicBezTo>
                    <a:pt x="6395" y="1"/>
                    <a:pt x="6311" y="30"/>
                    <a:pt x="6240" y="90"/>
                  </a:cubicBezTo>
                  <a:lnTo>
                    <a:pt x="4692" y="1662"/>
                  </a:lnTo>
                  <a:lnTo>
                    <a:pt x="4454" y="1424"/>
                  </a:lnTo>
                  <a:cubicBezTo>
                    <a:pt x="4394" y="1364"/>
                    <a:pt x="4311" y="1334"/>
                    <a:pt x="4227" y="1334"/>
                  </a:cubicBezTo>
                  <a:cubicBezTo>
                    <a:pt x="4144" y="1334"/>
                    <a:pt x="4061" y="1364"/>
                    <a:pt x="4001" y="1424"/>
                  </a:cubicBezTo>
                  <a:lnTo>
                    <a:pt x="3334" y="2090"/>
                  </a:lnTo>
                  <a:lnTo>
                    <a:pt x="2882" y="1638"/>
                  </a:lnTo>
                  <a:cubicBezTo>
                    <a:pt x="2822" y="1578"/>
                    <a:pt x="2745" y="1549"/>
                    <a:pt x="2668" y="1549"/>
                  </a:cubicBezTo>
                  <a:cubicBezTo>
                    <a:pt x="2590" y="1549"/>
                    <a:pt x="2513" y="1578"/>
                    <a:pt x="2453" y="1638"/>
                  </a:cubicBezTo>
                  <a:lnTo>
                    <a:pt x="0" y="4067"/>
                  </a:lnTo>
                  <a:lnTo>
                    <a:pt x="2691" y="6758"/>
                  </a:lnTo>
                  <a:lnTo>
                    <a:pt x="3120" y="6329"/>
                  </a:lnTo>
                  <a:lnTo>
                    <a:pt x="2025" y="5210"/>
                  </a:lnTo>
                  <a:cubicBezTo>
                    <a:pt x="1905" y="5091"/>
                    <a:pt x="1905" y="4900"/>
                    <a:pt x="2025" y="4758"/>
                  </a:cubicBezTo>
                  <a:cubicBezTo>
                    <a:pt x="2084" y="4698"/>
                    <a:pt x="2162" y="4668"/>
                    <a:pt x="2239" y="4668"/>
                  </a:cubicBezTo>
                  <a:cubicBezTo>
                    <a:pt x="2316" y="4668"/>
                    <a:pt x="2394" y="4698"/>
                    <a:pt x="2453" y="4758"/>
                  </a:cubicBezTo>
                  <a:lnTo>
                    <a:pt x="3573" y="5901"/>
                  </a:lnTo>
                  <a:lnTo>
                    <a:pt x="4001" y="5448"/>
                  </a:lnTo>
                  <a:lnTo>
                    <a:pt x="2906" y="4329"/>
                  </a:lnTo>
                  <a:cubicBezTo>
                    <a:pt x="2670" y="4111"/>
                    <a:pt x="2877" y="3796"/>
                    <a:pt x="3115" y="3796"/>
                  </a:cubicBezTo>
                  <a:cubicBezTo>
                    <a:pt x="3189" y="3796"/>
                    <a:pt x="3266" y="3827"/>
                    <a:pt x="3334" y="3900"/>
                  </a:cubicBezTo>
                  <a:lnTo>
                    <a:pt x="4454" y="4996"/>
                  </a:lnTo>
                  <a:lnTo>
                    <a:pt x="5120" y="4329"/>
                  </a:lnTo>
                  <a:cubicBezTo>
                    <a:pt x="5240" y="4210"/>
                    <a:pt x="5240" y="4019"/>
                    <a:pt x="5120" y="3876"/>
                  </a:cubicBezTo>
                  <a:lnTo>
                    <a:pt x="4668" y="3424"/>
                  </a:lnTo>
                  <a:lnTo>
                    <a:pt x="5359" y="2757"/>
                  </a:lnTo>
                  <a:cubicBezTo>
                    <a:pt x="5478" y="2638"/>
                    <a:pt x="5478" y="2448"/>
                    <a:pt x="5359" y="2328"/>
                  </a:cubicBezTo>
                  <a:lnTo>
                    <a:pt x="5120" y="2090"/>
                  </a:lnTo>
                  <a:lnTo>
                    <a:pt x="6692" y="519"/>
                  </a:lnTo>
                  <a:cubicBezTo>
                    <a:pt x="6835" y="400"/>
                    <a:pt x="6835" y="209"/>
                    <a:pt x="6692" y="90"/>
                  </a:cubicBezTo>
                  <a:cubicBezTo>
                    <a:pt x="6633" y="30"/>
                    <a:pt x="6555" y="1"/>
                    <a:pt x="6475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3a7c44efbea_0_787"/>
            <p:cNvSpPr/>
            <p:nvPr/>
          </p:nvSpPr>
          <p:spPr>
            <a:xfrm>
              <a:off x="7950272" y="3637498"/>
              <a:ext cx="96024" cy="83829"/>
            </a:xfrm>
            <a:custGeom>
              <a:avLst/>
              <a:gdLst/>
              <a:ahLst/>
              <a:cxnLst/>
              <a:rect l="l" t="t" r="r" b="b"/>
              <a:pathLst>
                <a:path w="2811" h="2454" extrusionOk="0">
                  <a:moveTo>
                    <a:pt x="1692" y="0"/>
                  </a:moveTo>
                  <a:lnTo>
                    <a:pt x="787" y="905"/>
                  </a:lnTo>
                  <a:lnTo>
                    <a:pt x="572" y="667"/>
                  </a:lnTo>
                  <a:cubicBezTo>
                    <a:pt x="513" y="608"/>
                    <a:pt x="430" y="578"/>
                    <a:pt x="346" y="578"/>
                  </a:cubicBezTo>
                  <a:cubicBezTo>
                    <a:pt x="263" y="578"/>
                    <a:pt x="179" y="608"/>
                    <a:pt x="120" y="667"/>
                  </a:cubicBezTo>
                  <a:cubicBezTo>
                    <a:pt x="1" y="810"/>
                    <a:pt x="1" y="1001"/>
                    <a:pt x="120" y="1120"/>
                  </a:cubicBezTo>
                  <a:lnTo>
                    <a:pt x="1454" y="2453"/>
                  </a:lnTo>
                  <a:lnTo>
                    <a:pt x="2811" y="1120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3a7c44efbea_0_787"/>
            <p:cNvSpPr/>
            <p:nvPr/>
          </p:nvSpPr>
          <p:spPr>
            <a:xfrm>
              <a:off x="8015381" y="3691198"/>
              <a:ext cx="83794" cy="94794"/>
            </a:xfrm>
            <a:custGeom>
              <a:avLst/>
              <a:gdLst/>
              <a:ahLst/>
              <a:cxnLst/>
              <a:rect l="l" t="t" r="r" b="b"/>
              <a:pathLst>
                <a:path w="2453" h="2775" extrusionOk="0">
                  <a:moveTo>
                    <a:pt x="1334" y="0"/>
                  </a:moveTo>
                  <a:lnTo>
                    <a:pt x="0" y="1334"/>
                  </a:lnTo>
                  <a:lnTo>
                    <a:pt x="1334" y="2667"/>
                  </a:lnTo>
                  <a:cubicBezTo>
                    <a:pt x="1393" y="2739"/>
                    <a:pt x="1477" y="2775"/>
                    <a:pt x="1560" y="2775"/>
                  </a:cubicBezTo>
                  <a:cubicBezTo>
                    <a:pt x="1643" y="2775"/>
                    <a:pt x="1727" y="2739"/>
                    <a:pt x="1786" y="2667"/>
                  </a:cubicBezTo>
                  <a:cubicBezTo>
                    <a:pt x="1905" y="2548"/>
                    <a:pt x="1905" y="2358"/>
                    <a:pt x="1786" y="2239"/>
                  </a:cubicBezTo>
                  <a:lnTo>
                    <a:pt x="1572" y="2001"/>
                  </a:lnTo>
                  <a:lnTo>
                    <a:pt x="2453" y="1119"/>
                  </a:lnTo>
                  <a:lnTo>
                    <a:pt x="1334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a7c44efbea_0_787"/>
            <p:cNvSpPr/>
            <p:nvPr/>
          </p:nvSpPr>
          <p:spPr>
            <a:xfrm>
              <a:off x="7950272" y="3718423"/>
              <a:ext cx="69208" cy="67773"/>
            </a:xfrm>
            <a:custGeom>
              <a:avLst/>
              <a:gdLst/>
              <a:ahLst/>
              <a:cxnLst/>
              <a:rect l="l" t="t" r="r" b="b"/>
              <a:pathLst>
                <a:path w="2026" h="1984" extrusionOk="0">
                  <a:moveTo>
                    <a:pt x="346" y="1"/>
                  </a:moveTo>
                  <a:cubicBezTo>
                    <a:pt x="263" y="1"/>
                    <a:pt x="179" y="37"/>
                    <a:pt x="120" y="108"/>
                  </a:cubicBezTo>
                  <a:cubicBezTo>
                    <a:pt x="1" y="227"/>
                    <a:pt x="1" y="418"/>
                    <a:pt x="120" y="561"/>
                  </a:cubicBezTo>
                  <a:lnTo>
                    <a:pt x="1454" y="1894"/>
                  </a:lnTo>
                  <a:cubicBezTo>
                    <a:pt x="1513" y="1954"/>
                    <a:pt x="1590" y="1983"/>
                    <a:pt x="1671" y="1983"/>
                  </a:cubicBezTo>
                  <a:cubicBezTo>
                    <a:pt x="1751" y="1983"/>
                    <a:pt x="1835" y="1954"/>
                    <a:pt x="1906" y="1894"/>
                  </a:cubicBezTo>
                  <a:cubicBezTo>
                    <a:pt x="2025" y="1751"/>
                    <a:pt x="2025" y="1561"/>
                    <a:pt x="1906" y="1442"/>
                  </a:cubicBezTo>
                  <a:lnTo>
                    <a:pt x="1454" y="989"/>
                  </a:lnTo>
                  <a:lnTo>
                    <a:pt x="1906" y="537"/>
                  </a:lnTo>
                  <a:lnTo>
                    <a:pt x="1454" y="84"/>
                  </a:lnTo>
                  <a:lnTo>
                    <a:pt x="1001" y="561"/>
                  </a:lnTo>
                  <a:lnTo>
                    <a:pt x="572" y="108"/>
                  </a:lnTo>
                  <a:cubicBezTo>
                    <a:pt x="513" y="37"/>
                    <a:pt x="430" y="1"/>
                    <a:pt x="346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" name="Google Shape;513;g3a7c44efbea_0_787"/>
          <p:cNvGrpSpPr/>
          <p:nvPr/>
        </p:nvGrpSpPr>
        <p:grpSpPr>
          <a:xfrm>
            <a:off x="10409660" y="1255309"/>
            <a:ext cx="627311" cy="488033"/>
            <a:chOff x="7950272" y="3483129"/>
            <a:chExt cx="378971" cy="322368"/>
          </a:xfrm>
        </p:grpSpPr>
        <p:sp>
          <p:nvSpPr>
            <p:cNvPr id="514" name="Google Shape;514;g3a7c44efbea_0_787"/>
            <p:cNvSpPr/>
            <p:nvPr/>
          </p:nvSpPr>
          <p:spPr>
            <a:xfrm>
              <a:off x="8094769" y="3715588"/>
              <a:ext cx="108560" cy="89909"/>
            </a:xfrm>
            <a:custGeom>
              <a:avLst/>
              <a:gdLst/>
              <a:ahLst/>
              <a:cxnLst/>
              <a:rect l="l" t="t" r="r" b="b"/>
              <a:pathLst>
                <a:path w="3178" h="2632" extrusionOk="0">
                  <a:moveTo>
                    <a:pt x="1391" y="1"/>
                  </a:moveTo>
                  <a:lnTo>
                    <a:pt x="915" y="453"/>
                  </a:lnTo>
                  <a:cubicBezTo>
                    <a:pt x="1" y="1367"/>
                    <a:pt x="841" y="2632"/>
                    <a:pt x="1819" y="2632"/>
                  </a:cubicBezTo>
                  <a:cubicBezTo>
                    <a:pt x="2115" y="2632"/>
                    <a:pt x="2424" y="2516"/>
                    <a:pt x="2701" y="2239"/>
                  </a:cubicBezTo>
                  <a:lnTo>
                    <a:pt x="3177" y="1787"/>
                  </a:lnTo>
                  <a:lnTo>
                    <a:pt x="1391" y="1"/>
                  </a:ln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a7c44efbea_0_787"/>
            <p:cNvSpPr/>
            <p:nvPr/>
          </p:nvSpPr>
          <p:spPr>
            <a:xfrm>
              <a:off x="8156906" y="3672068"/>
              <a:ext cx="107741" cy="89123"/>
            </a:xfrm>
            <a:custGeom>
              <a:avLst/>
              <a:gdLst/>
              <a:ahLst/>
              <a:cxnLst/>
              <a:rect l="l" t="t" r="r" b="b"/>
              <a:pathLst>
                <a:path w="3154" h="2609" extrusionOk="0">
                  <a:moveTo>
                    <a:pt x="1335" y="1"/>
                  </a:moveTo>
                  <a:cubicBezTo>
                    <a:pt x="1039" y="1"/>
                    <a:pt x="730" y="117"/>
                    <a:pt x="453" y="393"/>
                  </a:cubicBezTo>
                  <a:lnTo>
                    <a:pt x="1" y="822"/>
                  </a:lnTo>
                  <a:lnTo>
                    <a:pt x="1787" y="2608"/>
                  </a:lnTo>
                  <a:lnTo>
                    <a:pt x="2239" y="2180"/>
                  </a:lnTo>
                  <a:cubicBezTo>
                    <a:pt x="3153" y="1266"/>
                    <a:pt x="2313" y="1"/>
                    <a:pt x="1335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a7c44efbea_0_787"/>
            <p:cNvSpPr/>
            <p:nvPr/>
          </p:nvSpPr>
          <p:spPr>
            <a:xfrm>
              <a:off x="8218940" y="3600640"/>
              <a:ext cx="77099" cy="65348"/>
            </a:xfrm>
            <a:custGeom>
              <a:avLst/>
              <a:gdLst/>
              <a:ahLst/>
              <a:cxnLst/>
              <a:rect l="l" t="t" r="r" b="b"/>
              <a:pathLst>
                <a:path w="2257" h="1913" extrusionOk="0">
                  <a:moveTo>
                    <a:pt x="1625" y="0"/>
                  </a:moveTo>
                  <a:cubicBezTo>
                    <a:pt x="732" y="0"/>
                    <a:pt x="1" y="1004"/>
                    <a:pt x="542" y="1913"/>
                  </a:cubicBezTo>
                  <a:lnTo>
                    <a:pt x="2257" y="174"/>
                  </a:lnTo>
                  <a:cubicBezTo>
                    <a:pt x="2047" y="54"/>
                    <a:pt x="1832" y="0"/>
                    <a:pt x="1625" y="0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a7c44efbea_0_787"/>
            <p:cNvSpPr/>
            <p:nvPr/>
          </p:nvSpPr>
          <p:spPr>
            <a:xfrm>
              <a:off x="8252110" y="3622024"/>
              <a:ext cx="77133" cy="64938"/>
            </a:xfrm>
            <a:custGeom>
              <a:avLst/>
              <a:gdLst/>
              <a:ahLst/>
              <a:cxnLst/>
              <a:rect l="l" t="t" r="r" b="b"/>
              <a:pathLst>
                <a:path w="2258" h="1901" extrusionOk="0">
                  <a:moveTo>
                    <a:pt x="1738" y="1"/>
                  </a:moveTo>
                  <a:lnTo>
                    <a:pt x="0" y="1716"/>
                  </a:lnTo>
                  <a:cubicBezTo>
                    <a:pt x="216" y="1844"/>
                    <a:pt x="437" y="1901"/>
                    <a:pt x="649" y="1901"/>
                  </a:cubicBezTo>
                  <a:cubicBezTo>
                    <a:pt x="1535" y="1901"/>
                    <a:pt x="2258" y="904"/>
                    <a:pt x="1738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a7c44efbea_0_787"/>
            <p:cNvSpPr/>
            <p:nvPr/>
          </p:nvSpPr>
          <p:spPr>
            <a:xfrm>
              <a:off x="8022691" y="3483129"/>
              <a:ext cx="233518" cy="230853"/>
            </a:xfrm>
            <a:custGeom>
              <a:avLst/>
              <a:gdLst/>
              <a:ahLst/>
              <a:cxnLst/>
              <a:rect l="l" t="t" r="r" b="b"/>
              <a:pathLst>
                <a:path w="6836" h="6758" extrusionOk="0">
                  <a:moveTo>
                    <a:pt x="6475" y="1"/>
                  </a:moveTo>
                  <a:cubicBezTo>
                    <a:pt x="6395" y="1"/>
                    <a:pt x="6311" y="30"/>
                    <a:pt x="6240" y="90"/>
                  </a:cubicBezTo>
                  <a:lnTo>
                    <a:pt x="4692" y="1662"/>
                  </a:lnTo>
                  <a:lnTo>
                    <a:pt x="4454" y="1424"/>
                  </a:lnTo>
                  <a:cubicBezTo>
                    <a:pt x="4394" y="1364"/>
                    <a:pt x="4311" y="1334"/>
                    <a:pt x="4227" y="1334"/>
                  </a:cubicBezTo>
                  <a:cubicBezTo>
                    <a:pt x="4144" y="1334"/>
                    <a:pt x="4061" y="1364"/>
                    <a:pt x="4001" y="1424"/>
                  </a:cubicBezTo>
                  <a:lnTo>
                    <a:pt x="3334" y="2090"/>
                  </a:lnTo>
                  <a:lnTo>
                    <a:pt x="2882" y="1638"/>
                  </a:lnTo>
                  <a:cubicBezTo>
                    <a:pt x="2822" y="1578"/>
                    <a:pt x="2745" y="1549"/>
                    <a:pt x="2668" y="1549"/>
                  </a:cubicBezTo>
                  <a:cubicBezTo>
                    <a:pt x="2590" y="1549"/>
                    <a:pt x="2513" y="1578"/>
                    <a:pt x="2453" y="1638"/>
                  </a:cubicBezTo>
                  <a:lnTo>
                    <a:pt x="0" y="4067"/>
                  </a:lnTo>
                  <a:lnTo>
                    <a:pt x="2691" y="6758"/>
                  </a:lnTo>
                  <a:lnTo>
                    <a:pt x="3120" y="6329"/>
                  </a:lnTo>
                  <a:lnTo>
                    <a:pt x="2025" y="5210"/>
                  </a:lnTo>
                  <a:cubicBezTo>
                    <a:pt x="1905" y="5091"/>
                    <a:pt x="1905" y="4900"/>
                    <a:pt x="2025" y="4758"/>
                  </a:cubicBezTo>
                  <a:cubicBezTo>
                    <a:pt x="2084" y="4698"/>
                    <a:pt x="2162" y="4668"/>
                    <a:pt x="2239" y="4668"/>
                  </a:cubicBezTo>
                  <a:cubicBezTo>
                    <a:pt x="2316" y="4668"/>
                    <a:pt x="2394" y="4698"/>
                    <a:pt x="2453" y="4758"/>
                  </a:cubicBezTo>
                  <a:lnTo>
                    <a:pt x="3573" y="5901"/>
                  </a:lnTo>
                  <a:lnTo>
                    <a:pt x="4001" y="5448"/>
                  </a:lnTo>
                  <a:lnTo>
                    <a:pt x="2906" y="4329"/>
                  </a:lnTo>
                  <a:cubicBezTo>
                    <a:pt x="2670" y="4111"/>
                    <a:pt x="2877" y="3796"/>
                    <a:pt x="3115" y="3796"/>
                  </a:cubicBezTo>
                  <a:cubicBezTo>
                    <a:pt x="3189" y="3796"/>
                    <a:pt x="3266" y="3827"/>
                    <a:pt x="3334" y="3900"/>
                  </a:cubicBezTo>
                  <a:lnTo>
                    <a:pt x="4454" y="4996"/>
                  </a:lnTo>
                  <a:lnTo>
                    <a:pt x="5120" y="4329"/>
                  </a:lnTo>
                  <a:cubicBezTo>
                    <a:pt x="5240" y="4210"/>
                    <a:pt x="5240" y="4019"/>
                    <a:pt x="5120" y="3876"/>
                  </a:cubicBezTo>
                  <a:lnTo>
                    <a:pt x="4668" y="3424"/>
                  </a:lnTo>
                  <a:lnTo>
                    <a:pt x="5359" y="2757"/>
                  </a:lnTo>
                  <a:cubicBezTo>
                    <a:pt x="5478" y="2638"/>
                    <a:pt x="5478" y="2448"/>
                    <a:pt x="5359" y="2328"/>
                  </a:cubicBezTo>
                  <a:lnTo>
                    <a:pt x="5120" y="2090"/>
                  </a:lnTo>
                  <a:lnTo>
                    <a:pt x="6692" y="519"/>
                  </a:lnTo>
                  <a:cubicBezTo>
                    <a:pt x="6835" y="400"/>
                    <a:pt x="6835" y="209"/>
                    <a:pt x="6692" y="90"/>
                  </a:cubicBezTo>
                  <a:cubicBezTo>
                    <a:pt x="6633" y="30"/>
                    <a:pt x="6555" y="1"/>
                    <a:pt x="6475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a7c44efbea_0_787"/>
            <p:cNvSpPr/>
            <p:nvPr/>
          </p:nvSpPr>
          <p:spPr>
            <a:xfrm>
              <a:off x="7950272" y="3637498"/>
              <a:ext cx="96024" cy="83829"/>
            </a:xfrm>
            <a:custGeom>
              <a:avLst/>
              <a:gdLst/>
              <a:ahLst/>
              <a:cxnLst/>
              <a:rect l="l" t="t" r="r" b="b"/>
              <a:pathLst>
                <a:path w="2811" h="2454" extrusionOk="0">
                  <a:moveTo>
                    <a:pt x="1692" y="0"/>
                  </a:moveTo>
                  <a:lnTo>
                    <a:pt x="787" y="905"/>
                  </a:lnTo>
                  <a:lnTo>
                    <a:pt x="572" y="667"/>
                  </a:lnTo>
                  <a:cubicBezTo>
                    <a:pt x="513" y="608"/>
                    <a:pt x="430" y="578"/>
                    <a:pt x="346" y="578"/>
                  </a:cubicBezTo>
                  <a:cubicBezTo>
                    <a:pt x="263" y="578"/>
                    <a:pt x="179" y="608"/>
                    <a:pt x="120" y="667"/>
                  </a:cubicBezTo>
                  <a:cubicBezTo>
                    <a:pt x="1" y="810"/>
                    <a:pt x="1" y="1001"/>
                    <a:pt x="120" y="1120"/>
                  </a:cubicBezTo>
                  <a:lnTo>
                    <a:pt x="1454" y="2453"/>
                  </a:lnTo>
                  <a:lnTo>
                    <a:pt x="2811" y="1120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a7c44efbea_0_787"/>
            <p:cNvSpPr/>
            <p:nvPr/>
          </p:nvSpPr>
          <p:spPr>
            <a:xfrm>
              <a:off x="8015381" y="3691198"/>
              <a:ext cx="83794" cy="94794"/>
            </a:xfrm>
            <a:custGeom>
              <a:avLst/>
              <a:gdLst/>
              <a:ahLst/>
              <a:cxnLst/>
              <a:rect l="l" t="t" r="r" b="b"/>
              <a:pathLst>
                <a:path w="2453" h="2775" extrusionOk="0">
                  <a:moveTo>
                    <a:pt x="1334" y="0"/>
                  </a:moveTo>
                  <a:lnTo>
                    <a:pt x="0" y="1334"/>
                  </a:lnTo>
                  <a:lnTo>
                    <a:pt x="1334" y="2667"/>
                  </a:lnTo>
                  <a:cubicBezTo>
                    <a:pt x="1393" y="2739"/>
                    <a:pt x="1477" y="2775"/>
                    <a:pt x="1560" y="2775"/>
                  </a:cubicBezTo>
                  <a:cubicBezTo>
                    <a:pt x="1643" y="2775"/>
                    <a:pt x="1727" y="2739"/>
                    <a:pt x="1786" y="2667"/>
                  </a:cubicBezTo>
                  <a:cubicBezTo>
                    <a:pt x="1905" y="2548"/>
                    <a:pt x="1905" y="2358"/>
                    <a:pt x="1786" y="2239"/>
                  </a:cubicBezTo>
                  <a:lnTo>
                    <a:pt x="1572" y="2001"/>
                  </a:lnTo>
                  <a:lnTo>
                    <a:pt x="2453" y="1119"/>
                  </a:lnTo>
                  <a:lnTo>
                    <a:pt x="1334" y="0"/>
                  </a:ln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a7c44efbea_0_787"/>
            <p:cNvSpPr/>
            <p:nvPr/>
          </p:nvSpPr>
          <p:spPr>
            <a:xfrm>
              <a:off x="7950272" y="3718423"/>
              <a:ext cx="69208" cy="67773"/>
            </a:xfrm>
            <a:custGeom>
              <a:avLst/>
              <a:gdLst/>
              <a:ahLst/>
              <a:cxnLst/>
              <a:rect l="l" t="t" r="r" b="b"/>
              <a:pathLst>
                <a:path w="2026" h="1984" extrusionOk="0">
                  <a:moveTo>
                    <a:pt x="346" y="1"/>
                  </a:moveTo>
                  <a:cubicBezTo>
                    <a:pt x="263" y="1"/>
                    <a:pt x="179" y="37"/>
                    <a:pt x="120" y="108"/>
                  </a:cubicBezTo>
                  <a:cubicBezTo>
                    <a:pt x="1" y="227"/>
                    <a:pt x="1" y="418"/>
                    <a:pt x="120" y="561"/>
                  </a:cubicBezTo>
                  <a:lnTo>
                    <a:pt x="1454" y="1894"/>
                  </a:lnTo>
                  <a:cubicBezTo>
                    <a:pt x="1513" y="1954"/>
                    <a:pt x="1590" y="1983"/>
                    <a:pt x="1671" y="1983"/>
                  </a:cubicBezTo>
                  <a:cubicBezTo>
                    <a:pt x="1751" y="1983"/>
                    <a:pt x="1835" y="1954"/>
                    <a:pt x="1906" y="1894"/>
                  </a:cubicBezTo>
                  <a:cubicBezTo>
                    <a:pt x="2025" y="1751"/>
                    <a:pt x="2025" y="1561"/>
                    <a:pt x="1906" y="1442"/>
                  </a:cubicBezTo>
                  <a:lnTo>
                    <a:pt x="1454" y="989"/>
                  </a:lnTo>
                  <a:lnTo>
                    <a:pt x="1906" y="537"/>
                  </a:lnTo>
                  <a:lnTo>
                    <a:pt x="1454" y="84"/>
                  </a:lnTo>
                  <a:lnTo>
                    <a:pt x="1001" y="561"/>
                  </a:lnTo>
                  <a:lnTo>
                    <a:pt x="572" y="108"/>
                  </a:lnTo>
                  <a:cubicBezTo>
                    <a:pt x="513" y="37"/>
                    <a:pt x="430" y="1"/>
                    <a:pt x="346" y="1"/>
                  </a:cubicBezTo>
                  <a:close/>
                </a:path>
              </a:pathLst>
            </a:custGeom>
            <a:solidFill>
              <a:srgbClr val="3C78D7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" name="Google Shape;522;g3a7c44efbea_0_787"/>
          <p:cNvGrpSpPr/>
          <p:nvPr/>
        </p:nvGrpSpPr>
        <p:grpSpPr>
          <a:xfrm>
            <a:off x="2802300" y="1337366"/>
            <a:ext cx="397676" cy="460281"/>
            <a:chOff x="867091" y="4631994"/>
            <a:chExt cx="293509" cy="366904"/>
          </a:xfrm>
        </p:grpSpPr>
        <p:sp>
          <p:nvSpPr>
            <p:cNvPr id="523" name="Google Shape;523;g3a7c44efbea_0_787"/>
            <p:cNvSpPr/>
            <p:nvPr/>
          </p:nvSpPr>
          <p:spPr>
            <a:xfrm>
              <a:off x="1092101" y="4638532"/>
              <a:ext cx="62817" cy="69321"/>
            </a:xfrm>
            <a:custGeom>
              <a:avLst/>
              <a:gdLst/>
              <a:ahLst/>
              <a:cxnLst/>
              <a:rect l="l" t="t" r="r" b="b"/>
              <a:pathLst>
                <a:path w="1835" h="2025" extrusionOk="0">
                  <a:moveTo>
                    <a:pt x="0" y="0"/>
                  </a:moveTo>
                  <a:lnTo>
                    <a:pt x="0" y="2025"/>
                  </a:lnTo>
                  <a:lnTo>
                    <a:pt x="1834" y="2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a7c44efbea_0_787"/>
            <p:cNvSpPr/>
            <p:nvPr/>
          </p:nvSpPr>
          <p:spPr>
            <a:xfrm>
              <a:off x="867091" y="4631994"/>
              <a:ext cx="293509" cy="366904"/>
            </a:xfrm>
            <a:custGeom>
              <a:avLst/>
              <a:gdLst/>
              <a:ahLst/>
              <a:cxnLst/>
              <a:rect l="l" t="t" r="r" b="b"/>
              <a:pathLst>
                <a:path w="8574" h="10718" extrusionOk="0">
                  <a:moveTo>
                    <a:pt x="1482" y="1070"/>
                  </a:moveTo>
                  <a:cubicBezTo>
                    <a:pt x="1496" y="1070"/>
                    <a:pt x="1510" y="1071"/>
                    <a:pt x="1525" y="1073"/>
                  </a:cubicBezTo>
                  <a:lnTo>
                    <a:pt x="2501" y="1073"/>
                  </a:lnTo>
                  <a:cubicBezTo>
                    <a:pt x="2882" y="1096"/>
                    <a:pt x="2882" y="1644"/>
                    <a:pt x="2501" y="1692"/>
                  </a:cubicBezTo>
                  <a:lnTo>
                    <a:pt x="1525" y="1692"/>
                  </a:lnTo>
                  <a:cubicBezTo>
                    <a:pt x="1510" y="1693"/>
                    <a:pt x="1496" y="1694"/>
                    <a:pt x="1482" y="1694"/>
                  </a:cubicBezTo>
                  <a:cubicBezTo>
                    <a:pt x="1086" y="1694"/>
                    <a:pt x="1086" y="1070"/>
                    <a:pt x="1482" y="1070"/>
                  </a:cubicBezTo>
                  <a:close/>
                  <a:moveTo>
                    <a:pt x="3709" y="2142"/>
                  </a:moveTo>
                  <a:cubicBezTo>
                    <a:pt x="4107" y="2142"/>
                    <a:pt x="4107" y="2789"/>
                    <a:pt x="3709" y="2789"/>
                  </a:cubicBezTo>
                  <a:cubicBezTo>
                    <a:pt x="3696" y="2789"/>
                    <a:pt x="3682" y="2789"/>
                    <a:pt x="3668" y="2787"/>
                  </a:cubicBezTo>
                  <a:lnTo>
                    <a:pt x="1525" y="2787"/>
                  </a:lnTo>
                  <a:cubicBezTo>
                    <a:pt x="1511" y="2789"/>
                    <a:pt x="1497" y="2789"/>
                    <a:pt x="1484" y="2789"/>
                  </a:cubicBezTo>
                  <a:cubicBezTo>
                    <a:pt x="1086" y="2789"/>
                    <a:pt x="1086" y="2142"/>
                    <a:pt x="1484" y="2142"/>
                  </a:cubicBezTo>
                  <a:cubicBezTo>
                    <a:pt x="1497" y="2142"/>
                    <a:pt x="1511" y="2143"/>
                    <a:pt x="1525" y="2144"/>
                  </a:cubicBezTo>
                  <a:lnTo>
                    <a:pt x="3668" y="2144"/>
                  </a:lnTo>
                  <a:cubicBezTo>
                    <a:pt x="3682" y="2143"/>
                    <a:pt x="3696" y="2142"/>
                    <a:pt x="3709" y="2142"/>
                  </a:cubicBezTo>
                  <a:close/>
                  <a:moveTo>
                    <a:pt x="4830" y="4285"/>
                  </a:moveTo>
                  <a:cubicBezTo>
                    <a:pt x="5226" y="4285"/>
                    <a:pt x="5226" y="4909"/>
                    <a:pt x="4830" y="4909"/>
                  </a:cubicBezTo>
                  <a:cubicBezTo>
                    <a:pt x="4816" y="4909"/>
                    <a:pt x="4802" y="4908"/>
                    <a:pt x="4787" y="4907"/>
                  </a:cubicBezTo>
                  <a:lnTo>
                    <a:pt x="1549" y="4907"/>
                  </a:lnTo>
                  <a:cubicBezTo>
                    <a:pt x="1533" y="4908"/>
                    <a:pt x="1518" y="4909"/>
                    <a:pt x="1504" y="4909"/>
                  </a:cubicBezTo>
                  <a:cubicBezTo>
                    <a:pt x="1087" y="4909"/>
                    <a:pt x="1087" y="4285"/>
                    <a:pt x="1504" y="4285"/>
                  </a:cubicBezTo>
                  <a:cubicBezTo>
                    <a:pt x="1518" y="4285"/>
                    <a:pt x="1533" y="4286"/>
                    <a:pt x="1549" y="4287"/>
                  </a:cubicBezTo>
                  <a:lnTo>
                    <a:pt x="4787" y="4287"/>
                  </a:lnTo>
                  <a:cubicBezTo>
                    <a:pt x="4802" y="4286"/>
                    <a:pt x="4816" y="4285"/>
                    <a:pt x="4830" y="4285"/>
                  </a:cubicBezTo>
                  <a:close/>
                  <a:moveTo>
                    <a:pt x="7481" y="3775"/>
                  </a:moveTo>
                  <a:cubicBezTo>
                    <a:pt x="7562" y="3775"/>
                    <a:pt x="7645" y="3811"/>
                    <a:pt x="7716" y="3883"/>
                  </a:cubicBezTo>
                  <a:cubicBezTo>
                    <a:pt x="7836" y="4002"/>
                    <a:pt x="7836" y="4192"/>
                    <a:pt x="7716" y="4311"/>
                  </a:cubicBezTo>
                  <a:lnTo>
                    <a:pt x="6812" y="5192"/>
                  </a:lnTo>
                  <a:cubicBezTo>
                    <a:pt x="6764" y="5264"/>
                    <a:pt x="6669" y="5288"/>
                    <a:pt x="6597" y="5288"/>
                  </a:cubicBezTo>
                  <a:cubicBezTo>
                    <a:pt x="6502" y="5288"/>
                    <a:pt x="6430" y="5264"/>
                    <a:pt x="6383" y="5192"/>
                  </a:cubicBezTo>
                  <a:lnTo>
                    <a:pt x="5954" y="4788"/>
                  </a:lnTo>
                  <a:cubicBezTo>
                    <a:pt x="5835" y="4669"/>
                    <a:pt x="5835" y="4478"/>
                    <a:pt x="5954" y="4359"/>
                  </a:cubicBezTo>
                  <a:lnTo>
                    <a:pt x="6002" y="4335"/>
                  </a:lnTo>
                  <a:cubicBezTo>
                    <a:pt x="6061" y="4276"/>
                    <a:pt x="6139" y="4246"/>
                    <a:pt x="6216" y="4246"/>
                  </a:cubicBezTo>
                  <a:cubicBezTo>
                    <a:pt x="6294" y="4246"/>
                    <a:pt x="6371" y="4276"/>
                    <a:pt x="6430" y="4335"/>
                  </a:cubicBezTo>
                  <a:lnTo>
                    <a:pt x="6621" y="4526"/>
                  </a:lnTo>
                  <a:lnTo>
                    <a:pt x="7264" y="3883"/>
                  </a:lnTo>
                  <a:cubicBezTo>
                    <a:pt x="7324" y="3811"/>
                    <a:pt x="7401" y="3775"/>
                    <a:pt x="7481" y="3775"/>
                  </a:cubicBezTo>
                  <a:close/>
                  <a:moveTo>
                    <a:pt x="4828" y="6405"/>
                  </a:moveTo>
                  <a:cubicBezTo>
                    <a:pt x="5226" y="6405"/>
                    <a:pt x="5226" y="7052"/>
                    <a:pt x="4828" y="7052"/>
                  </a:cubicBezTo>
                  <a:cubicBezTo>
                    <a:pt x="4815" y="7052"/>
                    <a:pt x="4801" y="7051"/>
                    <a:pt x="4787" y="7050"/>
                  </a:cubicBezTo>
                  <a:lnTo>
                    <a:pt x="1549" y="7050"/>
                  </a:lnTo>
                  <a:cubicBezTo>
                    <a:pt x="1534" y="7051"/>
                    <a:pt x="1519" y="7052"/>
                    <a:pt x="1505" y="7052"/>
                  </a:cubicBezTo>
                  <a:cubicBezTo>
                    <a:pt x="1087" y="7052"/>
                    <a:pt x="1087" y="6405"/>
                    <a:pt x="1505" y="6405"/>
                  </a:cubicBezTo>
                  <a:cubicBezTo>
                    <a:pt x="1519" y="6405"/>
                    <a:pt x="1534" y="6405"/>
                    <a:pt x="1549" y="6407"/>
                  </a:cubicBezTo>
                  <a:lnTo>
                    <a:pt x="4787" y="6407"/>
                  </a:lnTo>
                  <a:cubicBezTo>
                    <a:pt x="4801" y="6405"/>
                    <a:pt x="4815" y="6405"/>
                    <a:pt x="4828" y="6405"/>
                  </a:cubicBezTo>
                  <a:close/>
                  <a:moveTo>
                    <a:pt x="7493" y="5895"/>
                  </a:moveTo>
                  <a:cubicBezTo>
                    <a:pt x="7574" y="5895"/>
                    <a:pt x="7657" y="5931"/>
                    <a:pt x="7716" y="6002"/>
                  </a:cubicBezTo>
                  <a:cubicBezTo>
                    <a:pt x="7836" y="6121"/>
                    <a:pt x="7836" y="6312"/>
                    <a:pt x="7716" y="6431"/>
                  </a:cubicBezTo>
                  <a:lnTo>
                    <a:pt x="6835" y="7336"/>
                  </a:lnTo>
                  <a:cubicBezTo>
                    <a:pt x="6764" y="7383"/>
                    <a:pt x="6692" y="7431"/>
                    <a:pt x="6597" y="7431"/>
                  </a:cubicBezTo>
                  <a:cubicBezTo>
                    <a:pt x="6526" y="7431"/>
                    <a:pt x="6454" y="7383"/>
                    <a:pt x="6383" y="7336"/>
                  </a:cubicBezTo>
                  <a:lnTo>
                    <a:pt x="5978" y="6931"/>
                  </a:lnTo>
                  <a:cubicBezTo>
                    <a:pt x="5859" y="6788"/>
                    <a:pt x="5859" y="6597"/>
                    <a:pt x="5978" y="6478"/>
                  </a:cubicBezTo>
                  <a:lnTo>
                    <a:pt x="6002" y="6478"/>
                  </a:lnTo>
                  <a:cubicBezTo>
                    <a:pt x="6061" y="6407"/>
                    <a:pt x="6139" y="6371"/>
                    <a:pt x="6216" y="6371"/>
                  </a:cubicBezTo>
                  <a:cubicBezTo>
                    <a:pt x="6294" y="6371"/>
                    <a:pt x="6371" y="6407"/>
                    <a:pt x="6430" y="6478"/>
                  </a:cubicBezTo>
                  <a:lnTo>
                    <a:pt x="6621" y="6645"/>
                  </a:lnTo>
                  <a:lnTo>
                    <a:pt x="7288" y="6002"/>
                  </a:lnTo>
                  <a:cubicBezTo>
                    <a:pt x="7335" y="5931"/>
                    <a:pt x="7413" y="5895"/>
                    <a:pt x="7493" y="5895"/>
                  </a:cubicBezTo>
                  <a:close/>
                  <a:moveTo>
                    <a:pt x="4830" y="8477"/>
                  </a:moveTo>
                  <a:cubicBezTo>
                    <a:pt x="5226" y="8477"/>
                    <a:pt x="5226" y="9100"/>
                    <a:pt x="4830" y="9100"/>
                  </a:cubicBezTo>
                  <a:cubicBezTo>
                    <a:pt x="4816" y="9100"/>
                    <a:pt x="4802" y="9100"/>
                    <a:pt x="4787" y="9098"/>
                  </a:cubicBezTo>
                  <a:lnTo>
                    <a:pt x="1549" y="9098"/>
                  </a:lnTo>
                  <a:cubicBezTo>
                    <a:pt x="1533" y="9100"/>
                    <a:pt x="1518" y="9100"/>
                    <a:pt x="1504" y="9100"/>
                  </a:cubicBezTo>
                  <a:cubicBezTo>
                    <a:pt x="1087" y="9100"/>
                    <a:pt x="1087" y="8477"/>
                    <a:pt x="1504" y="8477"/>
                  </a:cubicBezTo>
                  <a:cubicBezTo>
                    <a:pt x="1518" y="8477"/>
                    <a:pt x="1533" y="8477"/>
                    <a:pt x="1549" y="8479"/>
                  </a:cubicBezTo>
                  <a:lnTo>
                    <a:pt x="4787" y="8479"/>
                  </a:lnTo>
                  <a:cubicBezTo>
                    <a:pt x="4802" y="8477"/>
                    <a:pt x="4816" y="8477"/>
                    <a:pt x="4830" y="8477"/>
                  </a:cubicBezTo>
                  <a:close/>
                  <a:moveTo>
                    <a:pt x="7483" y="7970"/>
                  </a:moveTo>
                  <a:cubicBezTo>
                    <a:pt x="7722" y="7970"/>
                    <a:pt x="7929" y="8285"/>
                    <a:pt x="7693" y="8503"/>
                  </a:cubicBezTo>
                  <a:lnTo>
                    <a:pt x="7716" y="8503"/>
                  </a:lnTo>
                  <a:lnTo>
                    <a:pt x="6812" y="9384"/>
                  </a:lnTo>
                  <a:cubicBezTo>
                    <a:pt x="6764" y="9455"/>
                    <a:pt x="6669" y="9479"/>
                    <a:pt x="6597" y="9479"/>
                  </a:cubicBezTo>
                  <a:cubicBezTo>
                    <a:pt x="6502" y="9479"/>
                    <a:pt x="6430" y="9455"/>
                    <a:pt x="6383" y="9384"/>
                  </a:cubicBezTo>
                  <a:lnTo>
                    <a:pt x="5954" y="8979"/>
                  </a:lnTo>
                  <a:cubicBezTo>
                    <a:pt x="5835" y="8860"/>
                    <a:pt x="5835" y="8669"/>
                    <a:pt x="5954" y="8550"/>
                  </a:cubicBezTo>
                  <a:cubicBezTo>
                    <a:pt x="6014" y="8479"/>
                    <a:pt x="6097" y="8443"/>
                    <a:pt x="6180" y="8443"/>
                  </a:cubicBezTo>
                  <a:cubicBezTo>
                    <a:pt x="6264" y="8443"/>
                    <a:pt x="6347" y="8479"/>
                    <a:pt x="6407" y="8550"/>
                  </a:cubicBezTo>
                  <a:lnTo>
                    <a:pt x="6597" y="8717"/>
                  </a:lnTo>
                  <a:lnTo>
                    <a:pt x="7264" y="8074"/>
                  </a:lnTo>
                  <a:cubicBezTo>
                    <a:pt x="7332" y="8000"/>
                    <a:pt x="7409" y="7970"/>
                    <a:pt x="7483" y="7970"/>
                  </a:cubicBezTo>
                  <a:close/>
                  <a:moveTo>
                    <a:pt x="906" y="1"/>
                  </a:moveTo>
                  <a:cubicBezTo>
                    <a:pt x="405" y="1"/>
                    <a:pt x="1" y="406"/>
                    <a:pt x="1" y="906"/>
                  </a:cubicBezTo>
                  <a:lnTo>
                    <a:pt x="1" y="9836"/>
                  </a:lnTo>
                  <a:cubicBezTo>
                    <a:pt x="1" y="10313"/>
                    <a:pt x="405" y="10717"/>
                    <a:pt x="906" y="10717"/>
                  </a:cubicBezTo>
                  <a:lnTo>
                    <a:pt x="7669" y="10717"/>
                  </a:lnTo>
                  <a:cubicBezTo>
                    <a:pt x="8169" y="10717"/>
                    <a:pt x="8574" y="10313"/>
                    <a:pt x="8574" y="9836"/>
                  </a:cubicBezTo>
                  <a:lnTo>
                    <a:pt x="8574" y="2835"/>
                  </a:lnTo>
                  <a:lnTo>
                    <a:pt x="6264" y="2835"/>
                  </a:lnTo>
                  <a:cubicBezTo>
                    <a:pt x="6073" y="2835"/>
                    <a:pt x="5954" y="2692"/>
                    <a:pt x="5954" y="2525"/>
                  </a:cubicBezTo>
                  <a:lnTo>
                    <a:pt x="59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g3a7c44efbea_0_787"/>
          <p:cNvGrpSpPr/>
          <p:nvPr/>
        </p:nvGrpSpPr>
        <p:grpSpPr>
          <a:xfrm>
            <a:off x="8276989" y="1337366"/>
            <a:ext cx="397676" cy="460281"/>
            <a:chOff x="867091" y="4631994"/>
            <a:chExt cx="293509" cy="366904"/>
          </a:xfrm>
        </p:grpSpPr>
        <p:sp>
          <p:nvSpPr>
            <p:cNvPr id="526" name="Google Shape;526;g3a7c44efbea_0_787"/>
            <p:cNvSpPr/>
            <p:nvPr/>
          </p:nvSpPr>
          <p:spPr>
            <a:xfrm>
              <a:off x="1092101" y="4638532"/>
              <a:ext cx="62817" cy="69321"/>
            </a:xfrm>
            <a:custGeom>
              <a:avLst/>
              <a:gdLst/>
              <a:ahLst/>
              <a:cxnLst/>
              <a:rect l="l" t="t" r="r" b="b"/>
              <a:pathLst>
                <a:path w="1835" h="2025" extrusionOk="0">
                  <a:moveTo>
                    <a:pt x="0" y="0"/>
                  </a:moveTo>
                  <a:lnTo>
                    <a:pt x="0" y="2025"/>
                  </a:lnTo>
                  <a:lnTo>
                    <a:pt x="1834" y="2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a7c44efbea_0_787"/>
            <p:cNvSpPr/>
            <p:nvPr/>
          </p:nvSpPr>
          <p:spPr>
            <a:xfrm>
              <a:off x="867091" y="4631994"/>
              <a:ext cx="293509" cy="366904"/>
            </a:xfrm>
            <a:custGeom>
              <a:avLst/>
              <a:gdLst/>
              <a:ahLst/>
              <a:cxnLst/>
              <a:rect l="l" t="t" r="r" b="b"/>
              <a:pathLst>
                <a:path w="8574" h="10718" extrusionOk="0">
                  <a:moveTo>
                    <a:pt x="1482" y="1070"/>
                  </a:moveTo>
                  <a:cubicBezTo>
                    <a:pt x="1496" y="1070"/>
                    <a:pt x="1510" y="1071"/>
                    <a:pt x="1525" y="1073"/>
                  </a:cubicBezTo>
                  <a:lnTo>
                    <a:pt x="2501" y="1073"/>
                  </a:lnTo>
                  <a:cubicBezTo>
                    <a:pt x="2882" y="1096"/>
                    <a:pt x="2882" y="1644"/>
                    <a:pt x="2501" y="1692"/>
                  </a:cubicBezTo>
                  <a:lnTo>
                    <a:pt x="1525" y="1692"/>
                  </a:lnTo>
                  <a:cubicBezTo>
                    <a:pt x="1510" y="1693"/>
                    <a:pt x="1496" y="1694"/>
                    <a:pt x="1482" y="1694"/>
                  </a:cubicBezTo>
                  <a:cubicBezTo>
                    <a:pt x="1086" y="1694"/>
                    <a:pt x="1086" y="1070"/>
                    <a:pt x="1482" y="1070"/>
                  </a:cubicBezTo>
                  <a:close/>
                  <a:moveTo>
                    <a:pt x="3709" y="2142"/>
                  </a:moveTo>
                  <a:cubicBezTo>
                    <a:pt x="4107" y="2142"/>
                    <a:pt x="4107" y="2789"/>
                    <a:pt x="3709" y="2789"/>
                  </a:cubicBezTo>
                  <a:cubicBezTo>
                    <a:pt x="3696" y="2789"/>
                    <a:pt x="3682" y="2789"/>
                    <a:pt x="3668" y="2787"/>
                  </a:cubicBezTo>
                  <a:lnTo>
                    <a:pt x="1525" y="2787"/>
                  </a:lnTo>
                  <a:cubicBezTo>
                    <a:pt x="1511" y="2789"/>
                    <a:pt x="1497" y="2789"/>
                    <a:pt x="1484" y="2789"/>
                  </a:cubicBezTo>
                  <a:cubicBezTo>
                    <a:pt x="1086" y="2789"/>
                    <a:pt x="1086" y="2142"/>
                    <a:pt x="1484" y="2142"/>
                  </a:cubicBezTo>
                  <a:cubicBezTo>
                    <a:pt x="1497" y="2142"/>
                    <a:pt x="1511" y="2143"/>
                    <a:pt x="1525" y="2144"/>
                  </a:cubicBezTo>
                  <a:lnTo>
                    <a:pt x="3668" y="2144"/>
                  </a:lnTo>
                  <a:cubicBezTo>
                    <a:pt x="3682" y="2143"/>
                    <a:pt x="3696" y="2142"/>
                    <a:pt x="3709" y="2142"/>
                  </a:cubicBezTo>
                  <a:close/>
                  <a:moveTo>
                    <a:pt x="4830" y="4285"/>
                  </a:moveTo>
                  <a:cubicBezTo>
                    <a:pt x="5226" y="4285"/>
                    <a:pt x="5226" y="4909"/>
                    <a:pt x="4830" y="4909"/>
                  </a:cubicBezTo>
                  <a:cubicBezTo>
                    <a:pt x="4816" y="4909"/>
                    <a:pt x="4802" y="4908"/>
                    <a:pt x="4787" y="4907"/>
                  </a:cubicBezTo>
                  <a:lnTo>
                    <a:pt x="1549" y="4907"/>
                  </a:lnTo>
                  <a:cubicBezTo>
                    <a:pt x="1533" y="4908"/>
                    <a:pt x="1518" y="4909"/>
                    <a:pt x="1504" y="4909"/>
                  </a:cubicBezTo>
                  <a:cubicBezTo>
                    <a:pt x="1087" y="4909"/>
                    <a:pt x="1087" y="4285"/>
                    <a:pt x="1504" y="4285"/>
                  </a:cubicBezTo>
                  <a:cubicBezTo>
                    <a:pt x="1518" y="4285"/>
                    <a:pt x="1533" y="4286"/>
                    <a:pt x="1549" y="4287"/>
                  </a:cubicBezTo>
                  <a:lnTo>
                    <a:pt x="4787" y="4287"/>
                  </a:lnTo>
                  <a:cubicBezTo>
                    <a:pt x="4802" y="4286"/>
                    <a:pt x="4816" y="4285"/>
                    <a:pt x="4830" y="4285"/>
                  </a:cubicBezTo>
                  <a:close/>
                  <a:moveTo>
                    <a:pt x="7481" y="3775"/>
                  </a:moveTo>
                  <a:cubicBezTo>
                    <a:pt x="7562" y="3775"/>
                    <a:pt x="7645" y="3811"/>
                    <a:pt x="7716" y="3883"/>
                  </a:cubicBezTo>
                  <a:cubicBezTo>
                    <a:pt x="7836" y="4002"/>
                    <a:pt x="7836" y="4192"/>
                    <a:pt x="7716" y="4311"/>
                  </a:cubicBezTo>
                  <a:lnTo>
                    <a:pt x="6812" y="5192"/>
                  </a:lnTo>
                  <a:cubicBezTo>
                    <a:pt x="6764" y="5264"/>
                    <a:pt x="6669" y="5288"/>
                    <a:pt x="6597" y="5288"/>
                  </a:cubicBezTo>
                  <a:cubicBezTo>
                    <a:pt x="6502" y="5288"/>
                    <a:pt x="6430" y="5264"/>
                    <a:pt x="6383" y="5192"/>
                  </a:cubicBezTo>
                  <a:lnTo>
                    <a:pt x="5954" y="4788"/>
                  </a:lnTo>
                  <a:cubicBezTo>
                    <a:pt x="5835" y="4669"/>
                    <a:pt x="5835" y="4478"/>
                    <a:pt x="5954" y="4359"/>
                  </a:cubicBezTo>
                  <a:lnTo>
                    <a:pt x="6002" y="4335"/>
                  </a:lnTo>
                  <a:cubicBezTo>
                    <a:pt x="6061" y="4276"/>
                    <a:pt x="6139" y="4246"/>
                    <a:pt x="6216" y="4246"/>
                  </a:cubicBezTo>
                  <a:cubicBezTo>
                    <a:pt x="6294" y="4246"/>
                    <a:pt x="6371" y="4276"/>
                    <a:pt x="6430" y="4335"/>
                  </a:cubicBezTo>
                  <a:lnTo>
                    <a:pt x="6621" y="4526"/>
                  </a:lnTo>
                  <a:lnTo>
                    <a:pt x="7264" y="3883"/>
                  </a:lnTo>
                  <a:cubicBezTo>
                    <a:pt x="7324" y="3811"/>
                    <a:pt x="7401" y="3775"/>
                    <a:pt x="7481" y="3775"/>
                  </a:cubicBezTo>
                  <a:close/>
                  <a:moveTo>
                    <a:pt x="4828" y="6405"/>
                  </a:moveTo>
                  <a:cubicBezTo>
                    <a:pt x="5226" y="6405"/>
                    <a:pt x="5226" y="7052"/>
                    <a:pt x="4828" y="7052"/>
                  </a:cubicBezTo>
                  <a:cubicBezTo>
                    <a:pt x="4815" y="7052"/>
                    <a:pt x="4801" y="7051"/>
                    <a:pt x="4787" y="7050"/>
                  </a:cubicBezTo>
                  <a:lnTo>
                    <a:pt x="1549" y="7050"/>
                  </a:lnTo>
                  <a:cubicBezTo>
                    <a:pt x="1534" y="7051"/>
                    <a:pt x="1519" y="7052"/>
                    <a:pt x="1505" y="7052"/>
                  </a:cubicBezTo>
                  <a:cubicBezTo>
                    <a:pt x="1087" y="7052"/>
                    <a:pt x="1087" y="6405"/>
                    <a:pt x="1505" y="6405"/>
                  </a:cubicBezTo>
                  <a:cubicBezTo>
                    <a:pt x="1519" y="6405"/>
                    <a:pt x="1534" y="6405"/>
                    <a:pt x="1549" y="6407"/>
                  </a:cubicBezTo>
                  <a:lnTo>
                    <a:pt x="4787" y="6407"/>
                  </a:lnTo>
                  <a:cubicBezTo>
                    <a:pt x="4801" y="6405"/>
                    <a:pt x="4815" y="6405"/>
                    <a:pt x="4828" y="6405"/>
                  </a:cubicBezTo>
                  <a:close/>
                  <a:moveTo>
                    <a:pt x="7493" y="5895"/>
                  </a:moveTo>
                  <a:cubicBezTo>
                    <a:pt x="7574" y="5895"/>
                    <a:pt x="7657" y="5931"/>
                    <a:pt x="7716" y="6002"/>
                  </a:cubicBezTo>
                  <a:cubicBezTo>
                    <a:pt x="7836" y="6121"/>
                    <a:pt x="7836" y="6312"/>
                    <a:pt x="7716" y="6431"/>
                  </a:cubicBezTo>
                  <a:lnTo>
                    <a:pt x="6835" y="7336"/>
                  </a:lnTo>
                  <a:cubicBezTo>
                    <a:pt x="6764" y="7383"/>
                    <a:pt x="6692" y="7431"/>
                    <a:pt x="6597" y="7431"/>
                  </a:cubicBezTo>
                  <a:cubicBezTo>
                    <a:pt x="6526" y="7431"/>
                    <a:pt x="6454" y="7383"/>
                    <a:pt x="6383" y="7336"/>
                  </a:cubicBezTo>
                  <a:lnTo>
                    <a:pt x="5978" y="6931"/>
                  </a:lnTo>
                  <a:cubicBezTo>
                    <a:pt x="5859" y="6788"/>
                    <a:pt x="5859" y="6597"/>
                    <a:pt x="5978" y="6478"/>
                  </a:cubicBezTo>
                  <a:lnTo>
                    <a:pt x="6002" y="6478"/>
                  </a:lnTo>
                  <a:cubicBezTo>
                    <a:pt x="6061" y="6407"/>
                    <a:pt x="6139" y="6371"/>
                    <a:pt x="6216" y="6371"/>
                  </a:cubicBezTo>
                  <a:cubicBezTo>
                    <a:pt x="6294" y="6371"/>
                    <a:pt x="6371" y="6407"/>
                    <a:pt x="6430" y="6478"/>
                  </a:cubicBezTo>
                  <a:lnTo>
                    <a:pt x="6621" y="6645"/>
                  </a:lnTo>
                  <a:lnTo>
                    <a:pt x="7288" y="6002"/>
                  </a:lnTo>
                  <a:cubicBezTo>
                    <a:pt x="7335" y="5931"/>
                    <a:pt x="7413" y="5895"/>
                    <a:pt x="7493" y="5895"/>
                  </a:cubicBezTo>
                  <a:close/>
                  <a:moveTo>
                    <a:pt x="4830" y="8477"/>
                  </a:moveTo>
                  <a:cubicBezTo>
                    <a:pt x="5226" y="8477"/>
                    <a:pt x="5226" y="9100"/>
                    <a:pt x="4830" y="9100"/>
                  </a:cubicBezTo>
                  <a:cubicBezTo>
                    <a:pt x="4816" y="9100"/>
                    <a:pt x="4802" y="9100"/>
                    <a:pt x="4787" y="9098"/>
                  </a:cubicBezTo>
                  <a:lnTo>
                    <a:pt x="1549" y="9098"/>
                  </a:lnTo>
                  <a:cubicBezTo>
                    <a:pt x="1533" y="9100"/>
                    <a:pt x="1518" y="9100"/>
                    <a:pt x="1504" y="9100"/>
                  </a:cubicBezTo>
                  <a:cubicBezTo>
                    <a:pt x="1087" y="9100"/>
                    <a:pt x="1087" y="8477"/>
                    <a:pt x="1504" y="8477"/>
                  </a:cubicBezTo>
                  <a:cubicBezTo>
                    <a:pt x="1518" y="8477"/>
                    <a:pt x="1533" y="8477"/>
                    <a:pt x="1549" y="8479"/>
                  </a:cubicBezTo>
                  <a:lnTo>
                    <a:pt x="4787" y="8479"/>
                  </a:lnTo>
                  <a:cubicBezTo>
                    <a:pt x="4802" y="8477"/>
                    <a:pt x="4816" y="8477"/>
                    <a:pt x="4830" y="8477"/>
                  </a:cubicBezTo>
                  <a:close/>
                  <a:moveTo>
                    <a:pt x="7483" y="7970"/>
                  </a:moveTo>
                  <a:cubicBezTo>
                    <a:pt x="7722" y="7970"/>
                    <a:pt x="7929" y="8285"/>
                    <a:pt x="7693" y="8503"/>
                  </a:cubicBezTo>
                  <a:lnTo>
                    <a:pt x="7716" y="8503"/>
                  </a:lnTo>
                  <a:lnTo>
                    <a:pt x="6812" y="9384"/>
                  </a:lnTo>
                  <a:cubicBezTo>
                    <a:pt x="6764" y="9455"/>
                    <a:pt x="6669" y="9479"/>
                    <a:pt x="6597" y="9479"/>
                  </a:cubicBezTo>
                  <a:cubicBezTo>
                    <a:pt x="6502" y="9479"/>
                    <a:pt x="6430" y="9455"/>
                    <a:pt x="6383" y="9384"/>
                  </a:cubicBezTo>
                  <a:lnTo>
                    <a:pt x="5954" y="8979"/>
                  </a:lnTo>
                  <a:cubicBezTo>
                    <a:pt x="5835" y="8860"/>
                    <a:pt x="5835" y="8669"/>
                    <a:pt x="5954" y="8550"/>
                  </a:cubicBezTo>
                  <a:cubicBezTo>
                    <a:pt x="6014" y="8479"/>
                    <a:pt x="6097" y="8443"/>
                    <a:pt x="6180" y="8443"/>
                  </a:cubicBezTo>
                  <a:cubicBezTo>
                    <a:pt x="6264" y="8443"/>
                    <a:pt x="6347" y="8479"/>
                    <a:pt x="6407" y="8550"/>
                  </a:cubicBezTo>
                  <a:lnTo>
                    <a:pt x="6597" y="8717"/>
                  </a:lnTo>
                  <a:lnTo>
                    <a:pt x="7264" y="8074"/>
                  </a:lnTo>
                  <a:cubicBezTo>
                    <a:pt x="7332" y="8000"/>
                    <a:pt x="7409" y="7970"/>
                    <a:pt x="7483" y="7970"/>
                  </a:cubicBezTo>
                  <a:close/>
                  <a:moveTo>
                    <a:pt x="906" y="1"/>
                  </a:moveTo>
                  <a:cubicBezTo>
                    <a:pt x="405" y="1"/>
                    <a:pt x="1" y="406"/>
                    <a:pt x="1" y="906"/>
                  </a:cubicBezTo>
                  <a:lnTo>
                    <a:pt x="1" y="9836"/>
                  </a:lnTo>
                  <a:cubicBezTo>
                    <a:pt x="1" y="10313"/>
                    <a:pt x="405" y="10717"/>
                    <a:pt x="906" y="10717"/>
                  </a:cubicBezTo>
                  <a:lnTo>
                    <a:pt x="7669" y="10717"/>
                  </a:lnTo>
                  <a:cubicBezTo>
                    <a:pt x="8169" y="10717"/>
                    <a:pt x="8574" y="10313"/>
                    <a:pt x="8574" y="9836"/>
                  </a:cubicBezTo>
                  <a:lnTo>
                    <a:pt x="8574" y="2835"/>
                  </a:lnTo>
                  <a:lnTo>
                    <a:pt x="6264" y="2835"/>
                  </a:lnTo>
                  <a:cubicBezTo>
                    <a:pt x="6073" y="2835"/>
                    <a:pt x="5954" y="2692"/>
                    <a:pt x="5954" y="2525"/>
                  </a:cubicBezTo>
                  <a:lnTo>
                    <a:pt x="59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g3a7c44efbea_0_787"/>
          <p:cNvSpPr/>
          <p:nvPr/>
        </p:nvSpPr>
        <p:spPr>
          <a:xfrm>
            <a:off x="6360075" y="2612500"/>
            <a:ext cx="4276500" cy="4049400"/>
          </a:xfrm>
          <a:prstGeom prst="rect">
            <a:avLst/>
          </a:prstGeom>
          <a:solidFill>
            <a:srgbClr val="EFEFEF"/>
          </a:solidFill>
          <a:ln w="1270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  <a:effectLst>
            <a:outerShdw blurRad="70857" dist="23619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113375" tIns="156225" rIns="113375" bIns="11337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Fournir des données aux IPVS: 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Communautés RI manquantes à privilégier pour le prochain cycle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g3a7c44efbea_0_787"/>
          <p:cNvPicPr preferRelativeResize="0"/>
          <p:nvPr/>
        </p:nvPicPr>
        <p:blipFill rotWithShape="1">
          <a:blip r:embed="rId3">
            <a:alphaModFix/>
          </a:blip>
          <a:srcRect l="13564" r="20494"/>
          <a:stretch/>
        </p:blipFill>
        <p:spPr>
          <a:xfrm>
            <a:off x="6706783" y="2777552"/>
            <a:ext cx="3624607" cy="1916296"/>
          </a:xfrm>
          <a:prstGeom prst="rect">
            <a:avLst/>
          </a:prstGeom>
          <a:noFill/>
          <a:ln w="1270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  <a:effectLst>
            <a:outerShdw blurRad="70857" dist="70857" dir="2700000" algn="bl" rotWithShape="0">
              <a:srgbClr val="000000">
                <a:alpha val="50590"/>
              </a:srgbClr>
            </a:outerShdw>
          </a:effectLst>
        </p:spPr>
      </p:pic>
      <p:grpSp>
        <p:nvGrpSpPr>
          <p:cNvPr id="530" name="Google Shape;530;g3a7c44efbea_0_787"/>
          <p:cNvGrpSpPr/>
          <p:nvPr/>
        </p:nvGrpSpPr>
        <p:grpSpPr>
          <a:xfrm>
            <a:off x="2845357" y="2451328"/>
            <a:ext cx="463296" cy="219904"/>
            <a:chOff x="9118400" y="-834719"/>
            <a:chExt cx="1351900" cy="638700"/>
          </a:xfrm>
        </p:grpSpPr>
        <p:sp>
          <p:nvSpPr>
            <p:cNvPr id="531" name="Google Shape;531;g3a7c44efbea_0_787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a7c44efbea_0_787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g3a7c44efbea_0_787"/>
          <p:cNvGrpSpPr/>
          <p:nvPr/>
        </p:nvGrpSpPr>
        <p:grpSpPr>
          <a:xfrm>
            <a:off x="8253916" y="2465142"/>
            <a:ext cx="463296" cy="219904"/>
            <a:chOff x="9118400" y="-834719"/>
            <a:chExt cx="1351900" cy="638700"/>
          </a:xfrm>
        </p:grpSpPr>
        <p:sp>
          <p:nvSpPr>
            <p:cNvPr id="534" name="Google Shape;534;g3a7c44efbea_0_787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a7c44efbea_0_787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3375" tIns="113375" rIns="113375" bIns="1133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  <a:tabLst/>
                <a:defRPr/>
              </a:pPr>
              <a:endPara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6" name="Google Shape;536;g3a7c44efbea_0_787" title="Screenshot 2025-09-01 at 12.49.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1793" y="2784464"/>
            <a:ext cx="3095825" cy="1916297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  <a:effectLst>
            <a:outerShdw blurRad="70857" dist="70857" dir="2700000" algn="bl" rotWithShape="0">
              <a:srgbClr val="000000">
                <a:alpha val="50590"/>
              </a:srgbClr>
            </a:outerShdw>
          </a:effectLst>
        </p:spPr>
      </p:pic>
      <p:sp>
        <p:nvSpPr>
          <p:cNvPr id="537" name="Google Shape;537;g3a7c44efbea_0_787"/>
          <p:cNvSpPr/>
          <p:nvPr/>
        </p:nvSpPr>
        <p:spPr>
          <a:xfrm>
            <a:off x="2775427" y="0"/>
            <a:ext cx="2120400" cy="2691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Objectifs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a7c44efbea_0_787"/>
          <p:cNvSpPr/>
          <p:nvPr/>
        </p:nvSpPr>
        <p:spPr>
          <a:xfrm>
            <a:off x="5034279" y="0"/>
            <a:ext cx="2120400" cy="2691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Résultats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a7c44efbea_0_787"/>
          <p:cNvSpPr/>
          <p:nvPr/>
        </p:nvSpPr>
        <p:spPr>
          <a:xfrm>
            <a:off x="7296136" y="0"/>
            <a:ext cx="2120400" cy="26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Process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291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7c44efbea_0_847"/>
          <p:cNvSpPr txBox="1">
            <a:spLocks noGrp="1"/>
          </p:cNvSpPr>
          <p:nvPr>
            <p:ph type="title"/>
          </p:nvPr>
        </p:nvSpPr>
        <p:spPr>
          <a:xfrm>
            <a:off x="331200" y="201400"/>
            <a:ext cx="11576700" cy="1075500"/>
          </a:xfrm>
          <a:prstGeom prst="rect">
            <a:avLst/>
          </a:prstGeom>
        </p:spPr>
        <p:txBody>
          <a:bodyPr spcFirstLastPara="1" wrap="square" lIns="0" tIns="121900" rIns="121900" bIns="120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Bonne pratique supervision | </a:t>
            </a:r>
            <a:r>
              <a:rPr lang="en-US" sz="27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d’écran des rapports des zones de santé partagés pendant et après chaque passage des IPVS</a:t>
            </a:r>
            <a:endParaRPr sz="27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g3a7c44efbea_0_84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51F61"/>
                </a:solidFill>
                <a:effectLst/>
                <a:uLnTx/>
                <a:uFillTx/>
                <a:latin typeface="Source Serif Pro"/>
                <a:ea typeface="Source Serif Pro"/>
                <a:cs typeface="Source Serif Pro"/>
                <a:sym typeface="Source Serif Pr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51F61"/>
              </a:solidFill>
              <a:effectLst/>
              <a:uLnTx/>
              <a:uFillTx/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46" name="Google Shape;546;g3a7c44efbea_0_847"/>
          <p:cNvSpPr txBox="1"/>
          <p:nvPr/>
        </p:nvSpPr>
        <p:spPr>
          <a:xfrm>
            <a:off x="267700" y="6492842"/>
            <a:ext cx="11414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451F61"/>
              </a:solidFill>
              <a:effectLst/>
              <a:uLnTx/>
              <a:uFillTx/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47" name="Google Shape;547;g3a7c44efbea_0_847"/>
          <p:cNvSpPr txBox="1"/>
          <p:nvPr/>
        </p:nvSpPr>
        <p:spPr>
          <a:xfrm>
            <a:off x="267700" y="6492842"/>
            <a:ext cx="11414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451F61"/>
              </a:solidFill>
              <a:effectLst/>
              <a:uLnTx/>
              <a:uFillTx/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grpSp>
        <p:nvGrpSpPr>
          <p:cNvPr id="548" name="Google Shape;548;g3a7c44efbea_0_847"/>
          <p:cNvGrpSpPr/>
          <p:nvPr/>
        </p:nvGrpSpPr>
        <p:grpSpPr>
          <a:xfrm>
            <a:off x="6725133" y="2078740"/>
            <a:ext cx="4055137" cy="4136064"/>
            <a:chOff x="323180" y="1434623"/>
            <a:chExt cx="2052195" cy="2093150"/>
          </a:xfrm>
        </p:grpSpPr>
        <p:pic>
          <p:nvPicPr>
            <p:cNvPr id="549" name="Google Shape;549;g3a7c44efbea_0_847"/>
            <p:cNvPicPr preferRelativeResize="0"/>
            <p:nvPr/>
          </p:nvPicPr>
          <p:blipFill rotWithShape="1">
            <a:blip r:embed="rId3">
              <a:alphaModFix/>
            </a:blip>
            <a:srcRect l="1702" t="21093" r="51531" b="2896"/>
            <a:stretch/>
          </p:blipFill>
          <p:spPr>
            <a:xfrm>
              <a:off x="323180" y="1434623"/>
              <a:ext cx="2052195" cy="2093150"/>
            </a:xfrm>
            <a:prstGeom prst="rect">
              <a:avLst/>
            </a:prstGeom>
            <a:noFill/>
            <a:ln w="132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50" name="Google Shape;550;g3a7c44efbea_0_8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8558" y="3133937"/>
              <a:ext cx="723459" cy="344736"/>
            </a:xfrm>
            <a:prstGeom prst="rect">
              <a:avLst/>
            </a:prstGeom>
            <a:noFill/>
            <a:ln w="132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551" name="Google Shape;551;g3a7c44efbea_0_847"/>
          <p:cNvPicPr preferRelativeResize="0"/>
          <p:nvPr/>
        </p:nvPicPr>
        <p:blipFill rotWithShape="1">
          <a:blip r:embed="rId5">
            <a:alphaModFix/>
          </a:blip>
          <a:srcRect l="33532"/>
          <a:stretch/>
        </p:blipFill>
        <p:spPr>
          <a:xfrm>
            <a:off x="413426" y="2078740"/>
            <a:ext cx="4947340" cy="4136066"/>
          </a:xfrm>
          <a:prstGeom prst="rect">
            <a:avLst/>
          </a:prstGeom>
          <a:noFill/>
          <a:ln w="1270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52" name="Google Shape;552;g3a7c44efbea_0_847"/>
          <p:cNvSpPr txBox="1"/>
          <p:nvPr/>
        </p:nvSpPr>
        <p:spPr>
          <a:xfrm>
            <a:off x="6757638" y="1272260"/>
            <a:ext cx="4947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000" tIns="121900" rIns="240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Suivi de la couverture communautaire</a:t>
            </a:r>
            <a:endParaRPr kumimoji="0" sz="1700" b="0" i="1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3" name="Google Shape;553;g3a7c44efbea_0_847"/>
          <p:cNvSpPr txBox="1"/>
          <p:nvPr/>
        </p:nvSpPr>
        <p:spPr>
          <a:xfrm>
            <a:off x="363701" y="1307779"/>
            <a:ext cx="49971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Suivi des activités quotidienne de vaccination au niveau des  aires de santé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554" name="Google Shape;554;g3a7c44efbea_0_84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g3a7c44efbea_0_84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3166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7c44efbea_0_86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Défis rencontrés lors des IPVS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g3a7c44efbea_0_86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g3a7c44efbea_0_86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g3a7c44efbea_0_86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g3a7c44efbea_0_86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565" name="Google Shape;565;g3a7c44efbea_0_862"/>
          <p:cNvGraphicFramePr/>
          <p:nvPr/>
        </p:nvGraphicFramePr>
        <p:xfrm>
          <a:off x="665376" y="1334516"/>
          <a:ext cx="10619325" cy="1889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19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Défis rencontrés durant la mise en oeuvre</a:t>
                      </a:r>
                      <a:endParaRPr sz="19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Ruptures des outils de gestion (jetons de récupération etc.)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 identification (moins de 50% pour les trois passages des IPVS)</a:t>
                      </a:r>
                      <a:endParaRPr sz="1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Retards et problèmes de paiement pour les acteurs ne disposant pas de compte M-Pesa</a:t>
                      </a: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882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abc9d920d_0_43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6" name="Google Shape;256;g3aabc9d920d_0_43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7" name="Google Shape;257;g3aabc9d920d_0_4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8" name="Google Shape;258;g3aabc9d920d_0_43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59" name="Google Shape;259;g3aabc9d920d_0_43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60" name="Google Shape;260;g3aabc9d920d_0_437"/>
          <p:cNvGraphicFramePr/>
          <p:nvPr>
            <p:extLst/>
          </p:nvPr>
        </p:nvGraphicFramePr>
        <p:xfrm>
          <a:off x="230298" y="775051"/>
          <a:ext cx="11694001" cy="5797975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752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4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4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0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4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1. FAE</a:t>
                      </a:r>
                      <a:endParaRPr sz="1600" b="0" i="1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NA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NA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NA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NA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70"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2. IPVS</a:t>
                      </a:r>
                      <a:endParaRPr sz="1600" b="0" i="1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Disponibilité des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outils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et des intrants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Non satisfaction des commandes des vaccins et intrants passées pour les IPVS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Partenaires de mise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oeuvre AT et PF VR et dans certaines ZS AT OMS, Unicef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Insecurité liée à la presence des milices Mayi-Mayi dans certaines AS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497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Formations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cascades des differences categories des prestataires et acteurs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Paiement des fonds des couts operationnels apres les IPVS et directement aux supervieurs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Existence des CAC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fonctonnelles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dans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chaque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CAC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Persistence des prestataires impayés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497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Organisation des missions prospectives avant et d’accompagnements et supervision pendant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Faible utilization des coutils electroniques singulièrement au premier passage à la bse des discordances des donné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Chevauchement d’activités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303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Implication des CAC à travers la vaccination par CAC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ou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par village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Faible analyse des données (validations) et suivi des enfants vaccinés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3459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1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Organisation des enquêtes de couverture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Rupture en cartes de vaccination et jetons dans 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xAS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13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450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7c44efbea_0_105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Analyse FFOM (1/2)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g3a7c44efbea_0_105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g3a7c44efbea_0_105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g3a7c44efbea_0_105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g3a7c44efbea_0_105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585" name="Google Shape;585;g3a7c44efbea_0_1054"/>
          <p:cNvGraphicFramePr/>
          <p:nvPr>
            <p:extLst>
              <p:ext uri="{D42A27DB-BD31-4B8C-83A1-F6EECF244321}">
                <p14:modId xmlns:p14="http://schemas.microsoft.com/office/powerpoint/2010/main" val="2893780866"/>
              </p:ext>
            </p:extLst>
          </p:nvPr>
        </p:nvGraphicFramePr>
        <p:xfrm>
          <a:off x="458599" y="927452"/>
          <a:ext cx="11414725" cy="5443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2. IPVS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Coordination avec un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suivi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chronogramme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détaillée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, des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responsables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et actions 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Non-respect du chronogramme par certaines ZS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Harmoniser des agendas pour améliorer l’anticipation des activités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Chevauchements persistants pouvant retarder l’exécution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Suivi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hebdomadaire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des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activités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avec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une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reunion IPVS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hebdomadaire</a:t>
                      </a:r>
                      <a:endParaRPr sz="1600" dirty="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Temps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limité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pour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discuter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et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résoudre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tous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les points</a:t>
                      </a:r>
                      <a:endParaRPr sz="1600" dirty="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Optimiser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la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préparation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des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réunions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et le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suivi</a:t>
                      </a:r>
                      <a:r>
                        <a:rPr lang="en-US" sz="1600" dirty="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des actions</a:t>
                      </a:r>
                      <a:endParaRPr sz="1600" dirty="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46304" marR="0" lvl="0" indent="-8534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Indisponibilité de certaines équipes </a:t>
                      </a:r>
                      <a:endParaRPr sz="160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i="1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2880" lvl="0" indent="-12191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Microplans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avec des sites de vaccination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bien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défini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pour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permettre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une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meilleure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 couverture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communautaire</a:t>
                      </a:r>
                      <a:endParaRPr sz="1600" dirty="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Pas toujours adaptés aux réalités de terrain dans certaines localités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Améliorer les microplans avec des données géospatiales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Localités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difficiles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d’accès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pouvant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rester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sous-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couvertes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i="1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2880" lvl="0" indent="-12191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Suivi digitalisé des équipes de vaccination</a:t>
                      </a:r>
                      <a:endParaRPr sz="160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Dépendance au réseau </a:t>
                      </a:r>
                      <a:endParaRPr sz="160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Faible maîtrise des outils digitaux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Renforcer l’usage des outils digitaux et la formation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Coupures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réseau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pouvant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interrompre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le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suivi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en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temps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réel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i="1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2880" lvl="0" indent="-12191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Supervision digitalisée de l'activité d'identification </a:t>
                      </a:r>
                      <a:endParaRPr sz="160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Faible remontée des données</a:t>
                      </a:r>
                      <a:endParaRPr sz="160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Difficultés d’utilisation de l’outil chez certains acteurs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Améliorer les données et l’efficience des supervisions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Risque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problèmes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techniques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pouvant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perturber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le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suivi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i="1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2880" lvl="0" indent="-12191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Adaptation de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l'intervention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en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des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besoins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terrains (E.g.,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horaires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adaptés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pour les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communautés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champêtres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 dirty="0"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Difficulté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à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harmoniser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les adaptations entre AS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Optimiser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l’efficacité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dans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les zones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rurales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et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champêtres</a:t>
                      </a:r>
                      <a:endParaRPr sz="160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2191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Risque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 communication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insuffisante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réduisant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la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mobilisation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 des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communautés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753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319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Recommandations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1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1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1155C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1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605" name="Google Shape;605;p14"/>
          <p:cNvGraphicFramePr/>
          <p:nvPr>
            <p:extLst>
              <p:ext uri="{D42A27DB-BD31-4B8C-83A1-F6EECF244321}">
                <p14:modId xmlns:p14="http://schemas.microsoft.com/office/powerpoint/2010/main" val="375821068"/>
              </p:ext>
            </p:extLst>
          </p:nvPr>
        </p:nvGraphicFramePr>
        <p:xfrm>
          <a:off x="702711" y="1296954"/>
          <a:ext cx="10619325" cy="4005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5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1600" b="1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Recommandations</a:t>
                      </a:r>
                      <a:endParaRPr sz="1600" b="1" u="none" strike="noStrike" cap="none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8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Assurer la disponibilité et la distribution à temps des outils essentiels, en quantité suffisante, dans toutes les zones de santé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39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Insister et rappeler les acteurs à la remontée complète des données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8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Étendre le paiement mobile à d’autres opérateurs (Orange, Airtel, paiement cash…) afin d’accroître l’inclusion, et garantir la promptitude des paiements conformément au chronogramme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8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Constituer une base de données des prestataires qui peut être facilement mise à jour pour éviter des retards dans la remontée des contacts des acteurs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2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Prendre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compte</a:t>
                      </a:r>
                      <a:r>
                        <a:rPr lang="en-US" dirty="0"/>
                        <a:t> les </a:t>
                      </a:r>
                      <a:r>
                        <a:rPr lang="en-US" dirty="0" err="1"/>
                        <a:t>réalités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spécifiques</a:t>
                      </a:r>
                      <a:r>
                        <a:rPr lang="en-US" dirty="0"/>
                        <a:t> terrain pour le </a:t>
                      </a:r>
                      <a:r>
                        <a:rPr lang="en-US" dirty="0" err="1"/>
                        <a:t>paiement</a:t>
                      </a:r>
                      <a:r>
                        <a:rPr lang="en-US" dirty="0"/>
                        <a:t> de carburant des </a:t>
                      </a:r>
                      <a:r>
                        <a:rPr lang="en-US" dirty="0" err="1"/>
                        <a:t>acteurs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9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Mobiliser les ressources nécessaires pour le passage à l’échelle dans les ZS et AS des provinces prioritaires (au moins une fois par semestre)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00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573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2081</Words>
  <Application>Microsoft Office PowerPoint</Application>
  <PresentationFormat>Grand écran</PresentationFormat>
  <Paragraphs>600</Paragraphs>
  <Slides>19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19</vt:i4>
      </vt:variant>
    </vt:vector>
  </HeadingPairs>
  <TitlesOfParts>
    <vt:vector size="30" baseType="lpstr">
      <vt:lpstr>Play</vt:lpstr>
      <vt:lpstr>Times New Roman</vt:lpstr>
      <vt:lpstr>Arial</vt:lpstr>
      <vt:lpstr>Calibri</vt:lpstr>
      <vt:lpstr>Source Serif Pro</vt:lpstr>
      <vt:lpstr>Arial Narrow</vt:lpstr>
      <vt:lpstr>Calibri Light</vt:lpstr>
      <vt:lpstr>Thème Office</vt:lpstr>
      <vt:lpstr>Simple Light</vt:lpstr>
      <vt:lpstr>1_Simple Light</vt:lpstr>
      <vt:lpstr>1_Thème Office</vt:lpstr>
      <vt:lpstr>Présentation PowerPoint</vt:lpstr>
      <vt:lpstr>Présentation PowerPoint</vt:lpstr>
      <vt:lpstr>Présentation PowerPoint</vt:lpstr>
      <vt:lpstr>Présentation PowerPoint</vt:lpstr>
      <vt:lpstr>Resultats: Plus de trois sur les dix enfants vaccinés en 2025 ont bénéficié de la vaccination à l’occasion des IPVS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Bonne pratique supervision | Captures d’écran des rapports des zones de santé partagés pendant et après chaque passage des IPVS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Aimé CIKOMOLA</dc:creator>
  <cp:lastModifiedBy>Pacifique Kanku</cp:lastModifiedBy>
  <cp:revision>84</cp:revision>
  <dcterms:created xsi:type="dcterms:W3CDTF">2025-11-28T20:10:05Z</dcterms:created>
  <dcterms:modified xsi:type="dcterms:W3CDTF">2025-12-13T10:41:34Z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