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78" r:id="rId7"/>
    <p:sldId id="270" r:id="rId8"/>
    <p:sldId id="280" r:id="rId9"/>
    <p:sldId id="279" r:id="rId10"/>
    <p:sldId id="260" r:id="rId11"/>
    <p:sldId id="263" r:id="rId12"/>
    <p:sldId id="264" r:id="rId13"/>
    <p:sldId id="272" r:id="rId14"/>
    <p:sldId id="274" r:id="rId15"/>
    <p:sldId id="275" r:id="rId16"/>
    <p:sldId id="276" r:id="rId17"/>
    <p:sldId id="265" r:id="rId18"/>
    <p:sldId id="266" r:id="rId19"/>
    <p:sldId id="268" r:id="rId20"/>
    <p:sldId id="283" r:id="rId21"/>
    <p:sldId id="269" r:id="rId22"/>
  </p:sldIdLst>
  <p:sldSz cx="12192000" cy="6858000"/>
  <p:notesSz cx="6858000" cy="9144000"/>
  <p:embeddedFontLst>
    <p:embeddedFont>
      <p:font typeface="Play" charset="0"/>
      <p:regular r:id="rId24"/>
    </p:embeddedFont>
    <p:embeddedFont>
      <p:font typeface="Calibri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042B85-2813-40D6-8C08-B53CA402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28BBFD1-A734-4757-B910-67CC1CD159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6" autoAdjust="0"/>
    <p:restoredTop sz="94660"/>
  </p:normalViewPr>
  <p:slideViewPr>
    <p:cSldViewPr snapToGrid="0" showGuides="1">
      <p:cViewPr>
        <p:scale>
          <a:sx n="76" d="100"/>
          <a:sy n="76" d="100"/>
        </p:scale>
        <p:origin x="-252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827978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c9d920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5" name="Google Shape;145;g3aabc9d920d_0_19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428563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2928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aabc9d920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396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047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7643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1234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8263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8732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7783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0676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abc9d920d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aabc9d920d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4118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8718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5307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bc9d920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aabc9d920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456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bc9d920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aabc9d920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2362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c9d920d_0_27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4" name="Google Shape;94;g3aabc9d920d_0_27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5" name="Google Shape;95;g3aabc9d920d_0_2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c9d920d_0_2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c9d920d_0_2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c9d920d_0_28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c9d920d_0_28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c9d920d_0_28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abc9d920d_0_2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c9d920d_0_29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c9d920d_0_29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c9d920d_0_2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c9d920d_0_29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c9d920d_0_2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c9d920d_0_29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c9d920d_0_29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c9d920d_0_29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c9d920d_0_29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c9d920d_0_2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c9d920d_0_30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c9d920d_0_3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c9d920d_0_30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c9d920d_0_30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c9d920d_0_3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c9d920d_0_3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c9d920d_0_313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g3aabc9d920d_0_313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aabc9d920d_0_313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7" name="Google Shape;137;g3aabc9d920d_0_313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 fontScale="25000" lnSpcReduction="20000"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38" name="Google Shape;138;g3aabc9d920d_0_313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9d920d_0_31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c9d920d_0_3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c9d920d_0_31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c9d920d_0_2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c9d920d_0_2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c9d920d_0_26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c9d920d_0_191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570451" y="1516428"/>
            <a:ext cx="4355268" cy="383279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c9d920d_0_191"/>
          <p:cNvSpPr txBox="1"/>
          <p:nvPr/>
        </p:nvSpPr>
        <p:spPr>
          <a:xfrm>
            <a:off x="4555221" y="1516433"/>
            <a:ext cx="7415869" cy="2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4300" b="1" dirty="0">
              <a:solidFill>
                <a:srgbClr val="1155CC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400" i="1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provinces </a:t>
            </a:r>
            <a:r>
              <a:rPr lang="en-US" sz="2400" i="1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2400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organisés</a:t>
            </a:r>
            <a:r>
              <a:rPr lang="en-US" sz="2400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2400" i="1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2400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spécifiques</a:t>
            </a:r>
            <a:r>
              <a:rPr lang="en-US" sz="2400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</a:t>
            </a:r>
            <a:r>
              <a:rPr lang="en-US" sz="2400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approches</a:t>
            </a:r>
            <a:r>
              <a:rPr lang="en-US" sz="2400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innovantes</a:t>
            </a:r>
            <a:r>
              <a:rPr lang="en-US" sz="2400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FAE, IPVS</a:t>
            </a:r>
            <a:r>
              <a:rPr lang="" altLang="en-US" sz="2400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en-US" sz="2400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stratégies</a:t>
            </a:r>
            <a:r>
              <a:rPr lang="en-US" sz="2400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i="1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spéciales</a:t>
            </a:r>
            <a:r>
              <a:rPr lang="" altLang="en-US" sz="2400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introduction des nouveaux vaccins (VAP, RR, etc)</a:t>
            </a:r>
            <a:endParaRPr sz="2400" i="1" dirty="0">
              <a:solidFill>
                <a:srgbClr val="1155CC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" altLang="en-US" sz="4300" b="1" i="1" dirty="0">
              <a:solidFill>
                <a:srgbClr val="1155CC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" altLang="en-US" sz="4300" b="1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en-US" sz="4300" b="1" i="1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rovince</a:t>
            </a:r>
            <a:r>
              <a:rPr lang="" altLang="en-US" sz="4300" b="1" i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" altLang="en-US" sz="4300" b="1" i="1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du Kwango</a:t>
            </a:r>
            <a:endParaRPr lang="" altLang="en-US" sz="4300" b="1" i="1" dirty="0">
              <a:solidFill>
                <a:srgbClr val="1155CC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g3aabc9d920d_0_191"/>
          <p:cNvSpPr/>
          <p:nvPr/>
        </p:nvSpPr>
        <p:spPr>
          <a:xfrm>
            <a:off x="3753210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c9d920d_0_191"/>
          <p:cNvSpPr/>
          <p:nvPr/>
        </p:nvSpPr>
        <p:spPr>
          <a:xfrm>
            <a:off x="4126710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c9d920d_0_19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 dirty="0" err="1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Décembre</a:t>
            </a:r>
            <a:r>
              <a:rPr lang="en-US" sz="2000" b="1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b="1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2025</a:t>
            </a:r>
            <a:endParaRPr sz="2000" b="1" dirty="0">
              <a:solidFill>
                <a:srgbClr val="1155CC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566533" y="1550500"/>
            <a:ext cx="10714500" cy="490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r>
              <a:rPr lang="en-US" sz="2700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 la Province</a:t>
            </a:r>
            <a:endParaRPr sz="27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(zones </a:t>
            </a: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couvertes</a:t>
            </a: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impact </a:t>
            </a: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</a:t>
            </a: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 </a:t>
            </a: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</a:t>
            </a: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27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</a:t>
            </a: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</a:t>
            </a: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succès</a:t>
            </a:r>
            <a:endParaRPr sz="27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27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</a:t>
            </a: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pratiques</a:t>
            </a: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à </a:t>
            </a: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capitaliser</a:t>
            </a:r>
            <a:endParaRPr sz="27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27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r>
              <a:rPr lang="en-US" sz="27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27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/>
          <p:cNvSpPr txBox="1"/>
          <p:nvPr/>
        </p:nvSpPr>
        <p:spPr>
          <a:xfrm>
            <a:off x="458592" y="317941"/>
            <a:ext cx="11274900" cy="45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Profil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 la DPS </a:t>
            </a:r>
            <a:r>
              <a:rPr lang="en-US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Kwango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9" name="Google Shape;169;g3aabc9d920d_0_20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g3aabc9d920d_0_207"/>
          <p:cNvSpPr/>
          <p:nvPr/>
        </p:nvSpPr>
        <p:spPr>
          <a:xfrm>
            <a:off x="458600" y="1114516"/>
            <a:ext cx="5575200" cy="4974087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1" name="Google Shape;171;g3aabc9d920d_0_207"/>
          <p:cNvSpPr/>
          <p:nvPr/>
        </p:nvSpPr>
        <p:spPr>
          <a:xfrm>
            <a:off x="6158290" y="595618"/>
            <a:ext cx="5728610" cy="5816673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endParaRPr lang="en-US" sz="1500" dirty="0" smtClean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d’antennes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PEV	: 2 (</a:t>
            </a: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Kahemba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</a:t>
            </a: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enge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ZS		: 14 ZS , 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 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0 ZS</a:t>
            </a:r>
            <a:endParaRPr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d’AS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:Total : 361, 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 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0 ZS</a:t>
            </a:r>
            <a:endParaRPr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: 760 ETS</a:t>
            </a:r>
            <a:endParaRPr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qui </a:t>
            </a: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vaccinent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: 717(94%) Total , 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 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(0)</a:t>
            </a:r>
            <a:endParaRPr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323850">
              <a:lnSpc>
                <a:spcPct val="150000"/>
              </a:lnSpc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</a:t>
            </a: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totale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: </a:t>
            </a:r>
            <a:r>
              <a:rPr lang="fr-FR" dirty="0" smtClean="0">
                <a:solidFill>
                  <a:srgbClr val="002060"/>
                </a:solidFill>
                <a:latin typeface="+mn-lt"/>
              </a:rPr>
              <a:t>3.175.308 </a:t>
            </a:r>
            <a:r>
              <a:rPr lang="fr-FR" dirty="0" err="1" smtClean="0">
                <a:solidFill>
                  <a:srgbClr val="002060"/>
                </a:solidFill>
                <a:latin typeface="+mn-lt"/>
              </a:rPr>
              <a:t>hab</a:t>
            </a:r>
            <a:endParaRPr lang="fr-FR" dirty="0">
              <a:solidFill>
                <a:srgbClr val="002060"/>
              </a:solidFill>
              <a:latin typeface="+mn-lt"/>
            </a:endParaRPr>
          </a:p>
          <a:p>
            <a:pPr marL="457200" indent="-323850">
              <a:lnSpc>
                <a:spcPct val="150000"/>
              </a:lnSpc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fr-FR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</a:rPr>
              <a:t>Superficie		: 89.456 km²</a:t>
            </a:r>
          </a:p>
          <a:p>
            <a:pPr marL="457200" indent="-323850">
              <a:lnSpc>
                <a:spcPct val="150000"/>
              </a:lnSpc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fr-FR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</a:rPr>
              <a:t>Densité		: 36 </a:t>
            </a:r>
            <a:r>
              <a:rPr lang="fr-FR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</a:rPr>
              <a:t>hab</a:t>
            </a:r>
            <a:r>
              <a:rPr lang="fr-FR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</a:rPr>
              <a:t>/ km²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 0-11 </a:t>
            </a: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:110.818 </a:t>
            </a: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Enf</a:t>
            </a:r>
            <a:endParaRPr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12-23 </a:t>
            </a: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: 95.259 </a:t>
            </a: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Enf</a:t>
            </a:r>
            <a:endParaRPr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0-59 </a:t>
            </a: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		: 600.133 </a:t>
            </a:r>
            <a:r>
              <a:rPr lang="en-US" dirty="0" err="1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Enf</a:t>
            </a:r>
            <a:endParaRPr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en M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CF	: 84%</a:t>
            </a:r>
            <a:endParaRPr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Séances de vaccination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planifiées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fixe 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(15046/15466: </a:t>
            </a:r>
            <a:r>
              <a:rPr lang="en-US" b="1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97%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avancée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(9559/9929: </a:t>
            </a:r>
            <a:r>
              <a:rPr lang="en-US" b="1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96%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Mobile (69/87: </a:t>
            </a:r>
            <a:r>
              <a:rPr lang="en-US" b="1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79%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point de concentration (…), OVM 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(0)</a:t>
            </a:r>
            <a:endParaRPr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Existence du plan de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contextualisation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DPS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Non</a:t>
            </a:r>
            <a:endParaRPr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% des ZS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intégré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dans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 PAO </a:t>
            </a:r>
            <a:r>
              <a:rPr lang="en-US" dirty="0" smtClean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0%</a:t>
            </a:r>
            <a:endParaRPr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0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679507"/>
            <a:ext cx="5775702" cy="5732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92" y="134225"/>
            <a:ext cx="11274900" cy="49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3569494015"/>
              </p:ext>
            </p:extLst>
          </p:nvPr>
        </p:nvGraphicFramePr>
        <p:xfrm>
          <a:off x="407500" y="481597"/>
          <a:ext cx="11274900" cy="6196046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158765"/>
                <a:gridCol w="2726422"/>
                <a:gridCol w="4202885"/>
                <a:gridCol w="2186828"/>
              </a:tblGrid>
              <a:tr h="8107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err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4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r>
                        <a:rPr 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ou</a:t>
                      </a:r>
                      <a:r>
                        <a:rPr 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approches</a:t>
                      </a:r>
                      <a:r>
                        <a:rPr 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spéciale</a:t>
                      </a:r>
                      <a:r>
                        <a:rPr lang="" alt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14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14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</a:t>
                      </a:r>
                      <a:r>
                        <a:rPr 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d’intervention</a:t>
                      </a:r>
                      <a:endParaRPr sz="14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4413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Approche Enfant pour Enfant ( en sigle Epe+)</a:t>
                      </a: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Pour améliorer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la qualité de la </a:t>
                      </a: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vaccination de routine, AVS , recherche active des enfants ZD et ESV dans les ménages  de la province du Kwango</a:t>
                      </a: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Général</a:t>
                      </a: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: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Renforcer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le succès provincial pour la génération de la demande vaccinale par les populations du Kwango</a:t>
                      </a: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Communautaire, EPST/Ecoles, </a:t>
                      </a: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209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Spécifiques:</a:t>
                      </a: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sensibiliser 90% des enseignants , des parents et des enfants à l'âge scolaire pour le succès de la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génération de la demande vaccinale</a:t>
                      </a:r>
                      <a:endParaRPr lang="fr-FR" sz="1400" dirty="0" smtClean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Etablissements scolaires, ménages</a:t>
                      </a: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209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Créer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90¨% des points focaux au niveau des établissements scolaires pour la réception des informations des ménages en rapport avec la génération de la demande vaccinale</a:t>
                      </a: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Etablissements scolaires</a:t>
                      </a: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7621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Renforcer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la collaboration multisectorielle entre la santé, EPST, Taskforce communication , société civile,….</a:t>
                      </a: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Etablissements scolaires et ESS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, </a:t>
                      </a:r>
                      <a:r>
                        <a:rPr lang="fr-FR" sz="1400" baseline="0" dirty="0" err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Task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Force Communication et Société civile</a:t>
                      </a:r>
                      <a:endParaRPr lang="fr-FR"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0053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Sensibiliser 90%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organes de suivi à domicile (Enfants scolarisés, enseignants, Directeurs, …) </a:t>
                      </a:r>
                      <a:endParaRPr lang="fr-FR"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Etablissements scolaires</a:t>
                      </a:r>
                      <a:endParaRPr lang="fr-FR"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activités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1026563567"/>
              </p:ext>
            </p:extLst>
          </p:nvPr>
        </p:nvGraphicFramePr>
        <p:xfrm>
          <a:off x="83890" y="746619"/>
          <a:ext cx="11649610" cy="525151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2282516"/>
                <a:gridCol w="2357639"/>
                <a:gridCol w="4097052"/>
                <a:gridCol w="2912403"/>
              </a:tblGrid>
              <a:tr h="91419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r>
                        <a:rPr 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ou</a:t>
                      </a:r>
                      <a:r>
                        <a:rPr 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approches</a:t>
                      </a:r>
                      <a:r>
                        <a:rPr 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spéciale</a:t>
                      </a:r>
                      <a:r>
                        <a:rPr lang="" alt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14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14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</a:t>
                      </a:r>
                      <a:r>
                        <a:rPr lang="en-US" sz="14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4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d’intervention</a:t>
                      </a:r>
                      <a:endParaRPr sz="14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421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2. Implication des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leaders de la milice Mobondo dans les activités de la vaccination     ( BOKO et POPOKABAKA)</a:t>
                      </a: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Faciliter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 bon déroulement et le succès des activités de vaccination  dans les AS insecure de BOKO et POPOKABAKA.</a:t>
                      </a: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Général </a:t>
                      </a: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Atteindre tous les enfants cibles dans les 2 ZS insecure.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400" dirty="0" smtClean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r>
                        <a:rPr lang="fr-FR" sz="1400" b="1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: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Sensibiliser 100% des leaders de la milice MOBONDO,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Obtenir l’adhésion de 100% des leaders de la milice mobondo.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Impliquer 10% des acteurs de la milice mobondo dans les activités de la vaccination et de la communication.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Les AS insecure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</a:t>
                      </a:r>
                      <a:r>
                        <a:rPr lang="fr-FR" sz="1400" baseline="0" dirty="0" err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boko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et </a:t>
                      </a:r>
                      <a:r>
                        <a:rPr lang="fr-FR" sz="1400" baseline="0" dirty="0" err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popokabaka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) : IPONGI, DINGA ,KASINSI ,MUTOMBO ,TSAKALA MBEWA , KINGUNZI , IYIMBI YANGA , IBANDA NGOY…</a:t>
                      </a: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951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468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couverture </a:t>
            </a:r>
            <a:r>
              <a:rPr lang="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vaccinale de routine 2024 - 2025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60667"/>
              </p:ext>
            </p:extLst>
          </p:nvPr>
        </p:nvGraphicFramePr>
        <p:xfrm>
          <a:off x="159387" y="1191235"/>
          <a:ext cx="11299971" cy="388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738"/>
                <a:gridCol w="1089803"/>
                <a:gridCol w="1027270"/>
                <a:gridCol w="1027270"/>
                <a:gridCol w="1027270"/>
                <a:gridCol w="1027270"/>
                <a:gridCol w="1027270"/>
                <a:gridCol w="1027270"/>
                <a:gridCol w="1027270"/>
                <a:gridCol w="1027270"/>
                <a:gridCol w="1027270"/>
              </a:tblGrid>
              <a:tr h="655965">
                <a:tc rowSpan="2">
                  <a:txBody>
                    <a:bodyPr/>
                    <a:lstStyle/>
                    <a:p>
                      <a:r>
                        <a:rPr lang="fr-FR" dirty="0" smtClean="0"/>
                        <a:t>ANNEE</a:t>
                      </a:r>
                      <a:endParaRPr lang="fr-FR" dirty="0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Antigènes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972935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BCG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VPO0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VPO1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VPO3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Penta1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Penta3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PCV131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PCV133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VAA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VAR1</a:t>
                      </a:r>
                      <a:endParaRPr lang="fr-FR" dirty="0"/>
                    </a:p>
                  </a:txBody>
                  <a:tcPr/>
                </a:tc>
              </a:tr>
              <a:tr h="913072">
                <a:tc>
                  <a:txBody>
                    <a:bodyPr/>
                    <a:lstStyle/>
                    <a:p>
                      <a:r>
                        <a:rPr lang="fr-FR" dirty="0" smtClean="0"/>
                        <a:t>2024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112911</a:t>
                      </a:r>
                    </a:p>
                    <a:p>
                      <a:r>
                        <a:rPr lang="fr-FR" dirty="0" smtClean="0"/>
                        <a:t>(91,6%)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99446</a:t>
                      </a:r>
                    </a:p>
                    <a:p>
                      <a:r>
                        <a:rPr lang="fr-FR" dirty="0" smtClean="0"/>
                        <a:t>(92,4%)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102165</a:t>
                      </a:r>
                    </a:p>
                    <a:p>
                      <a:r>
                        <a:rPr lang="fr-FR" dirty="0" smtClean="0"/>
                        <a:t>(95%)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96756</a:t>
                      </a:r>
                    </a:p>
                    <a:p>
                      <a:r>
                        <a:rPr lang="fr-FR" dirty="0" smtClean="0"/>
                        <a:t>(90%)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104168</a:t>
                      </a:r>
                    </a:p>
                    <a:p>
                      <a:r>
                        <a:rPr lang="fr-FR" dirty="0" smtClean="0"/>
                        <a:t>(96%)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98687</a:t>
                      </a:r>
                    </a:p>
                    <a:p>
                      <a:r>
                        <a:rPr lang="fr-FR" dirty="0" smtClean="0"/>
                        <a:t>(91%)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103365</a:t>
                      </a:r>
                    </a:p>
                    <a:p>
                      <a:r>
                        <a:rPr lang="fr-FR" dirty="0" smtClean="0"/>
                        <a:t>(96,1%)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98277</a:t>
                      </a:r>
                    </a:p>
                    <a:p>
                      <a:r>
                        <a:rPr lang="fr-FR" dirty="0" smtClean="0"/>
                        <a:t>(94,4%)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96794</a:t>
                      </a:r>
                    </a:p>
                    <a:p>
                      <a:r>
                        <a:rPr lang="fr-FR" dirty="0" smtClean="0"/>
                        <a:t>(90%)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98943</a:t>
                      </a:r>
                    </a:p>
                    <a:p>
                      <a:r>
                        <a:rPr lang="fr-FR" dirty="0" smtClean="0"/>
                        <a:t>(92%)</a:t>
                      </a:r>
                      <a:endParaRPr lang="fr-FR" dirty="0"/>
                    </a:p>
                  </a:txBody>
                  <a:tcPr/>
                </a:tc>
              </a:tr>
              <a:tr h="1340132">
                <a:tc>
                  <a:txBody>
                    <a:bodyPr/>
                    <a:lstStyle/>
                    <a:p>
                      <a:r>
                        <a:rPr lang="fr-FR" dirty="0" smtClean="0"/>
                        <a:t>2025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103874</a:t>
                      </a:r>
                    </a:p>
                    <a:p>
                      <a:r>
                        <a:rPr lang="fr-FR" dirty="0" smtClean="0"/>
                        <a:t>(99%)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87576</a:t>
                      </a:r>
                    </a:p>
                    <a:p>
                      <a:r>
                        <a:rPr lang="fr-FR" dirty="0" smtClean="0"/>
                        <a:t>(96%)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93563</a:t>
                      </a:r>
                    </a:p>
                    <a:p>
                      <a:r>
                        <a:rPr lang="fr-FR" dirty="0" smtClean="0"/>
                        <a:t>(102)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88224</a:t>
                      </a:r>
                    </a:p>
                    <a:p>
                      <a:r>
                        <a:rPr lang="fr-FR" dirty="0" smtClean="0"/>
                        <a:t>(96%)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91558</a:t>
                      </a:r>
                    </a:p>
                    <a:p>
                      <a:r>
                        <a:rPr lang="fr-FR" dirty="0" smtClean="0"/>
                        <a:t>(100%)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86419</a:t>
                      </a:r>
                    </a:p>
                    <a:p>
                      <a:r>
                        <a:rPr lang="fr-FR" dirty="0" smtClean="0"/>
                        <a:t>(94%)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88767</a:t>
                      </a:r>
                    </a:p>
                    <a:p>
                      <a:r>
                        <a:rPr lang="fr-FR" dirty="0" smtClean="0"/>
                        <a:t>(98%)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85261</a:t>
                      </a:r>
                    </a:p>
                    <a:p>
                      <a:r>
                        <a:rPr lang="fr-FR" dirty="0" smtClean="0"/>
                        <a:t>(93%)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87501</a:t>
                      </a:r>
                    </a:p>
                    <a:p>
                      <a:r>
                        <a:rPr lang="fr-FR" dirty="0" smtClean="0"/>
                        <a:t>(96%)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87516</a:t>
                      </a:r>
                    </a:p>
                    <a:p>
                      <a:r>
                        <a:rPr lang="fr-FR" dirty="0" smtClean="0"/>
                        <a:t>(96%)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67701" y="5217952"/>
            <a:ext cx="11124550" cy="10654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fr-FR" dirty="0" smtClean="0"/>
              <a:t>Source : Plate-forme DHIS2</a:t>
            </a:r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</a:t>
            </a:r>
            <a:r>
              <a:rPr lang="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Identification et récupération des enfants perdus de vue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359851"/>
              </p:ext>
            </p:extLst>
          </p:nvPr>
        </p:nvGraphicFramePr>
        <p:xfrm>
          <a:off x="458592" y="1224792"/>
          <a:ext cx="11121705" cy="3095537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224341"/>
                <a:gridCol w="2224341"/>
                <a:gridCol w="2224341"/>
                <a:gridCol w="2224341"/>
                <a:gridCol w="2224341"/>
              </a:tblGrid>
              <a:tr h="679673">
                <a:tc gridSpan="3"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Identification</a:t>
                      </a:r>
                      <a:endParaRPr lang="fr-FR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Enfants récupérés</a:t>
                      </a:r>
                      <a:endParaRPr lang="fr-FR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935146">
                <a:tc>
                  <a:txBody>
                    <a:bodyPr/>
                    <a:lstStyle/>
                    <a:p>
                      <a:pPr algn="l"/>
                      <a:r>
                        <a:rPr lang="fr-FR" sz="1800" dirty="0" smtClean="0"/>
                        <a:t>ANNEE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Zéro dose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ESV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Zéro dose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ESV</a:t>
                      </a:r>
                      <a:endParaRPr lang="fr-FR" sz="1800" dirty="0"/>
                    </a:p>
                  </a:txBody>
                  <a:tcPr/>
                </a:tc>
              </a:tr>
              <a:tr h="740359">
                <a:tc>
                  <a:txBody>
                    <a:bodyPr/>
                    <a:lstStyle/>
                    <a:p>
                      <a:pPr algn="l"/>
                      <a:r>
                        <a:rPr lang="fr-FR" sz="1800" dirty="0" smtClean="0"/>
                        <a:t>2024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22.124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9.209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11.857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5.130</a:t>
                      </a:r>
                      <a:endParaRPr lang="fr-FR" sz="1800" dirty="0"/>
                    </a:p>
                  </a:txBody>
                  <a:tcPr/>
                </a:tc>
              </a:tr>
              <a:tr h="740359">
                <a:tc>
                  <a:txBody>
                    <a:bodyPr/>
                    <a:lstStyle/>
                    <a:p>
                      <a:pPr algn="l"/>
                      <a:r>
                        <a:rPr lang="fr-FR" sz="1800" dirty="0" smtClean="0"/>
                        <a:t>2025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663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5.139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309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4.152</a:t>
                      </a:r>
                      <a:endParaRPr lang="fr-FR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58593" y="4865616"/>
            <a:ext cx="11109826" cy="114929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fr-FR" sz="1800" b="1" dirty="0" smtClean="0"/>
              <a:t>Commentaire:</a:t>
            </a:r>
            <a:r>
              <a:rPr lang="fr-FR" sz="1800" dirty="0" smtClean="0"/>
              <a:t> La province </a:t>
            </a:r>
            <a:r>
              <a:rPr lang="fr-FR" sz="1800" dirty="0"/>
              <a:t>a</a:t>
            </a:r>
            <a:r>
              <a:rPr lang="fr-FR" sz="1800" dirty="0" smtClean="0"/>
              <a:t> </a:t>
            </a:r>
            <a:r>
              <a:rPr lang="fr-FR" sz="1800" dirty="0" smtClean="0"/>
              <a:t>récupérer </a:t>
            </a:r>
            <a:r>
              <a:rPr lang="fr-FR" sz="1800" dirty="0" smtClean="0"/>
              <a:t>11.857 </a:t>
            </a:r>
            <a:r>
              <a:rPr lang="fr-FR" sz="1800" dirty="0" smtClean="0"/>
              <a:t>enfants zéro dose </a:t>
            </a:r>
            <a:r>
              <a:rPr lang="fr-FR" sz="1800" dirty="0" smtClean="0"/>
              <a:t> sur 22.124 et 5.130 sur 9.209 </a:t>
            </a:r>
            <a:r>
              <a:rPr lang="fr-FR" sz="1800" dirty="0" smtClean="0"/>
              <a:t>enfants sous vaccinés </a:t>
            </a:r>
            <a:r>
              <a:rPr lang="fr-FR" sz="1800" dirty="0" smtClean="0"/>
              <a:t>en</a:t>
            </a:r>
            <a:r>
              <a:rPr lang="fr-FR" sz="1800" dirty="0" smtClean="0"/>
              <a:t> 2.024. En 2025  309 ZD contre 4.152 ESV sur 663 et 4.152 déjà récupérer pendant 10 mois.</a:t>
            </a:r>
            <a:endParaRPr lang="fr-FR" sz="1800" dirty="0" smtClean="0"/>
          </a:p>
          <a:p>
            <a:pPr algn="just"/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616582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500"/>
            </a:pPr>
            <a:r>
              <a:rPr lang="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</a:t>
            </a: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Identification </a:t>
            </a:r>
            <a:r>
              <a:rPr lang="fr-FR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et récupération des enfants perdus de vue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lnSpc>
                <a:spcPct val="200000"/>
              </a:lnSpc>
            </a:pPr>
            <a:r>
              <a:rPr lang="fr-FR" sz="1800" u="sng" dirty="0" smtClean="0">
                <a:latin typeface="+mn-lt"/>
              </a:rPr>
              <a:t>Autres </a:t>
            </a:r>
            <a:r>
              <a:rPr lang="fr-FR" sz="1800" u="sng" dirty="0">
                <a:latin typeface="+mn-lt"/>
              </a:rPr>
              <a:t>résultats de processus</a:t>
            </a:r>
            <a:endParaRPr lang="fr-FR" sz="1800" dirty="0">
              <a:latin typeface="+mn-lt"/>
            </a:endParaRPr>
          </a:p>
          <a:p>
            <a:pPr>
              <a:lnSpc>
                <a:spcPct val="200000"/>
              </a:lnSpc>
            </a:pPr>
            <a:r>
              <a:rPr lang="fr-FR" sz="1800" dirty="0">
                <a:latin typeface="+mn-lt"/>
              </a:rPr>
              <a:t> </a:t>
            </a:r>
            <a:r>
              <a:rPr lang="fr-FR" sz="1800" dirty="0" smtClean="0">
                <a:latin typeface="+mn-lt"/>
              </a:rPr>
              <a:t>1140 </a:t>
            </a:r>
            <a:r>
              <a:rPr lang="fr-FR" sz="1800" dirty="0">
                <a:latin typeface="+mn-lt"/>
              </a:rPr>
              <a:t>enseignants des provinces éducationnelles de </a:t>
            </a:r>
            <a:r>
              <a:rPr lang="fr-FR" sz="1800" dirty="0" err="1">
                <a:latin typeface="+mn-lt"/>
              </a:rPr>
              <a:t>Kenge</a:t>
            </a:r>
            <a:r>
              <a:rPr lang="fr-FR" sz="1800" dirty="0">
                <a:latin typeface="+mn-lt"/>
              </a:rPr>
              <a:t> 1 et </a:t>
            </a:r>
            <a:r>
              <a:rPr lang="fr-FR" sz="1800" dirty="0" smtClean="0">
                <a:latin typeface="+mn-lt"/>
              </a:rPr>
              <a:t>Popokabaka </a:t>
            </a:r>
            <a:r>
              <a:rPr lang="fr-FR" sz="1800" dirty="0">
                <a:latin typeface="+mn-lt"/>
              </a:rPr>
              <a:t>ont bénéficiés de la formation ;</a:t>
            </a:r>
          </a:p>
          <a:p>
            <a:pPr>
              <a:lnSpc>
                <a:spcPct val="200000"/>
              </a:lnSpc>
            </a:pPr>
            <a:r>
              <a:rPr lang="fr-FR" sz="1800" dirty="0">
                <a:latin typeface="+mn-lt"/>
              </a:rPr>
              <a:t>285 écoles ont été ciblées pour le </a:t>
            </a:r>
            <a:r>
              <a:rPr lang="fr-FR" sz="1800" dirty="0" smtClean="0">
                <a:latin typeface="+mn-lt"/>
              </a:rPr>
              <a:t>projet;</a:t>
            </a:r>
            <a:endParaRPr lang="fr-FR" sz="1800" dirty="0">
              <a:latin typeface="+mn-lt"/>
            </a:endParaRPr>
          </a:p>
          <a:p>
            <a:pPr>
              <a:lnSpc>
                <a:spcPct val="200000"/>
              </a:lnSpc>
            </a:pPr>
            <a:r>
              <a:rPr lang="fr-FR" sz="1800" dirty="0">
                <a:latin typeface="+mn-lt"/>
              </a:rPr>
              <a:t>55,451 élèves ont été sensibilisées dont 38 929 dans  </a:t>
            </a:r>
            <a:r>
              <a:rPr lang="fr-FR" sz="1800" dirty="0" err="1">
                <a:latin typeface="+mn-lt"/>
              </a:rPr>
              <a:t>Kenge</a:t>
            </a:r>
            <a:r>
              <a:rPr lang="fr-FR" sz="1800" dirty="0">
                <a:latin typeface="+mn-lt"/>
              </a:rPr>
              <a:t> et 16 522 élèves dans  </a:t>
            </a:r>
            <a:r>
              <a:rPr lang="fr-FR" sz="1800" dirty="0" err="1">
                <a:latin typeface="+mn-lt"/>
              </a:rPr>
              <a:t>Popo</a:t>
            </a:r>
            <a:r>
              <a:rPr lang="fr-FR" sz="1800" dirty="0">
                <a:latin typeface="+mn-lt"/>
              </a:rPr>
              <a:t> ;</a:t>
            </a:r>
          </a:p>
          <a:p>
            <a:pPr>
              <a:lnSpc>
                <a:spcPct val="200000"/>
              </a:lnSpc>
            </a:pPr>
            <a:r>
              <a:rPr lang="fr-FR" sz="1800" dirty="0">
                <a:latin typeface="+mn-lt"/>
              </a:rPr>
              <a:t>Ces élèves , dotés des supports , ont à leur tour sensibilisé leurs familles  sur la vaccination et son importance;</a:t>
            </a:r>
          </a:p>
          <a:p>
            <a:pPr>
              <a:lnSpc>
                <a:spcPct val="200000"/>
              </a:lnSpc>
            </a:pPr>
            <a:r>
              <a:rPr lang="fr-FR" sz="1800" dirty="0">
                <a:latin typeface="+mn-lt"/>
              </a:rPr>
              <a:t>Les ECZ dans les ZS ciblées (MCZ, IS et les AC) et tous les IT et ITA ont participé au projet ;</a:t>
            </a:r>
          </a:p>
          <a:p>
            <a:pPr>
              <a:lnSpc>
                <a:spcPct val="200000"/>
              </a:lnSpc>
            </a:pPr>
            <a:r>
              <a:rPr lang="fr-FR" sz="1800" dirty="0">
                <a:latin typeface="+mn-lt"/>
              </a:rPr>
              <a:t>Toutes les cellules d’animation communautaires ( CAC).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39195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lang="en-US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Approche</a:t>
            </a: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Enfant pour enfant</a:t>
            </a:r>
            <a:endParaRPr sz="27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c9d920d_0_3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c9d920d_0_39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91" name="Google Shape;191;g3aabc9d920d_0_390"/>
          <p:cNvGraphicFramePr/>
          <p:nvPr>
            <p:extLst>
              <p:ext uri="{D42A27DB-BD31-4B8C-83A1-F6EECF244321}">
                <p14:modId xmlns:p14="http://schemas.microsoft.com/office/powerpoint/2010/main" val="3765995315"/>
              </p:ext>
            </p:extLst>
          </p:nvPr>
        </p:nvGraphicFramePr>
        <p:xfrm>
          <a:off x="458600" y="1189100"/>
          <a:ext cx="11275000" cy="294124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1409375"/>
                <a:gridCol w="1409375"/>
                <a:gridCol w="1409375"/>
                <a:gridCol w="1409375"/>
                <a:gridCol w="1409375"/>
                <a:gridCol w="1409375"/>
                <a:gridCol w="1409375"/>
                <a:gridCol w="1409375"/>
              </a:tblGrid>
              <a:tr h="4115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  <a:endParaRPr sz="18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</a:t>
                      </a:r>
                      <a:r>
                        <a:rPr lang="en-US" sz="18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ZS </a:t>
                      </a:r>
                      <a:r>
                        <a:rPr lang="en-US" sz="1800" b="1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couvertes</a:t>
                      </a:r>
                      <a:endParaRPr sz="18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 u="none" strike="noStrike" cap="none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</a:t>
                      </a:r>
                      <a:r>
                        <a:rPr lang="en-US" sz="1800" b="1" u="none" strike="noStrike" cap="none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enfant </a:t>
                      </a:r>
                      <a:r>
                        <a:rPr lang="en-US" sz="1800" b="1" u="none" strike="noStrike" cap="none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identifié</a:t>
                      </a:r>
                      <a:endParaRPr sz="1800" b="1" u="none" strike="noStrike" cap="none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 u="none" strike="noStrike" cap="none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</a:t>
                      </a:r>
                      <a:r>
                        <a:rPr lang="en-US" sz="1800" b="1" u="none" strike="noStrike" cap="none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u="none" strike="noStrike" cap="none" dirty="0" err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d’Enfants</a:t>
                      </a:r>
                      <a:r>
                        <a:rPr lang="en-US" sz="1800" b="1" u="none" strike="noStrike" cap="none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u="none" strike="noStrike" cap="none" dirty="0" err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récupérés</a:t>
                      </a:r>
                      <a:endParaRPr sz="1800" b="1" u="none" strike="noStrike" cap="none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 u="none" strike="noStrike" cap="none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</a:t>
                      </a:r>
                      <a:r>
                        <a:rPr lang="en-US" sz="1800" b="1" u="none" strike="noStrike" cap="none" dirty="0" err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dans</a:t>
                      </a:r>
                      <a:r>
                        <a:rPr lang="en-US" sz="1800" b="1" u="none" strike="noStrike" cap="none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la CV</a:t>
                      </a:r>
                      <a:endParaRPr sz="1800" b="1" u="none" strike="noStrike" cap="none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810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 u="none" strike="noStrike" cap="none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1800" b="1" u="none" strike="noStrike" cap="none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 u="none" strike="noStrike" cap="none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1800" b="1" u="none" strike="noStrike" cap="none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 u="none" strike="noStrike" cap="none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1800" b="1" u="none" strike="noStrike" cap="none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 u="none" strike="noStrike" cap="none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1800" b="1" u="none" strike="noStrike" cap="none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 u="none" strike="noStrike" cap="none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DTC1</a:t>
                      </a:r>
                      <a:endParaRPr sz="1800" b="1" u="none" strike="noStrike" cap="none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1" u="none" strike="noStrike" cap="none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DTC3</a:t>
                      </a:r>
                      <a:endParaRPr sz="1800" b="1" u="none" strike="noStrike" cap="none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fr-FR" sz="1800" dirty="0" smtClean="0">
                          <a:latin typeface="+mn-lt"/>
                        </a:rPr>
                        <a:t>Approche Epe+</a:t>
                      </a:r>
                      <a:endParaRPr lang="fr-FR" sz="18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err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Kenge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latin typeface="+mn-lt"/>
                        </a:rPr>
                        <a:t>633</a:t>
                      </a:r>
                      <a:endParaRPr lang="fr-FR" sz="1800" dirty="0">
                        <a:latin typeface="+mn-lt"/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latin typeface="+mn-lt"/>
                        </a:rPr>
                        <a:t>635</a:t>
                      </a:r>
                      <a:endParaRPr lang="fr-FR" sz="1800" dirty="0">
                        <a:latin typeface="+mn-lt"/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latin typeface="+mn-lt"/>
                        </a:rPr>
                        <a:t>576</a:t>
                      </a:r>
                      <a:endParaRPr lang="fr-FR" sz="1800" dirty="0">
                        <a:latin typeface="+mn-lt"/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latin typeface="+mn-lt"/>
                        </a:rPr>
                        <a:t>559</a:t>
                      </a:r>
                      <a:endParaRPr lang="fr-FR" sz="1800" dirty="0">
                        <a:latin typeface="+mn-lt"/>
                      </a:endParaRPr>
                    </a:p>
                  </a:txBody>
                  <a:tcPr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91%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88%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fr-FR" sz="1800" dirty="0" smtClean="0">
                          <a:latin typeface="+mn-lt"/>
                        </a:rPr>
                        <a:t>Approche Epe+</a:t>
                      </a:r>
                      <a:endParaRPr lang="fr-FR" sz="18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Popokabaka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189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436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181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214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96%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49%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latin typeface="+mn-lt"/>
                        </a:rPr>
                        <a:t>Total</a:t>
                      </a:r>
                      <a:endParaRPr lang="fr-FR" sz="18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822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1071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757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773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92%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72%</a:t>
                      </a:r>
                      <a:endParaRPr sz="1800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458592" y="75501"/>
            <a:ext cx="11274900" cy="444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1800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1800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1800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lang="en-US" sz="1800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autres</a:t>
            </a:r>
            <a:r>
              <a:rPr lang="en-US" sz="1800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interventions </a:t>
            </a:r>
            <a:r>
              <a:rPr lang="en-US" sz="1800" dirty="0" err="1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spécifiques</a:t>
            </a:r>
            <a:r>
              <a:rPr lang="" altLang="en-US" sz="1800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" altLang="en-US" sz="1800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(stratégie spéciale, introduction des nouveaux vaccins)</a:t>
            </a:r>
            <a:endParaRPr sz="1800" dirty="0">
              <a:solidFill>
                <a:srgbClr val="1155CC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32200" y="7550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0" name="Google Shape;220;g3aabc9d920d_0_41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21" name="Google Shape;221;g3aabc9d920d_0_419"/>
          <p:cNvGraphicFramePr/>
          <p:nvPr>
            <p:extLst>
              <p:ext uri="{D42A27DB-BD31-4B8C-83A1-F6EECF244321}">
                <p14:modId xmlns:p14="http://schemas.microsoft.com/office/powerpoint/2010/main" val="1615740717"/>
              </p:ext>
            </p:extLst>
          </p:nvPr>
        </p:nvGraphicFramePr>
        <p:xfrm>
          <a:off x="377504" y="393407"/>
          <a:ext cx="11732592" cy="6034560"/>
        </p:xfrm>
        <a:graphic>
          <a:graphicData uri="http://schemas.openxmlformats.org/drawingml/2006/table">
            <a:tbl>
              <a:tblPr>
                <a:tableStyleId>{628BBFD1-A734-4757-B910-67CC1CD15934}</a:tableStyleId>
              </a:tblPr>
              <a:tblGrid>
                <a:gridCol w="1747289"/>
                <a:gridCol w="1425788"/>
                <a:gridCol w="1484497"/>
                <a:gridCol w="1450950"/>
                <a:gridCol w="1736107"/>
                <a:gridCol w="1793909"/>
                <a:gridCol w="2094052"/>
              </a:tblGrid>
              <a:tr h="53882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+mn-lt"/>
                          <a:sym typeface="Times New Roman" panose="02020603050405020304"/>
                        </a:rPr>
                        <a:t>Intervention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+mn-lt"/>
                          <a:sym typeface="Times New Roman" panose="02020603050405020304"/>
                        </a:rPr>
                        <a:t>Zone de santé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 smtClean="0">
                          <a:latin typeface="+mn-lt"/>
                          <a:sym typeface="Times New Roman" panose="02020603050405020304"/>
                        </a:rPr>
                        <a:t>Objectifs</a:t>
                      </a:r>
                      <a:r>
                        <a:rPr lang="en-US" sz="1200" dirty="0" smtClean="0">
                          <a:latin typeface="+mn-lt"/>
                          <a:sym typeface="Times New Roman" panose="02020603050405020304"/>
                        </a:rPr>
                        <a:t> </a:t>
                      </a:r>
                      <a:r>
                        <a:rPr lang="fr-FR" sz="1200" dirty="0" smtClean="0">
                          <a:latin typeface="+mn-lt"/>
                          <a:sym typeface="Times New Roman" panose="02020603050405020304"/>
                        </a:rPr>
                        <a:t>(70%)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 smtClean="0">
                          <a:latin typeface="+mn-lt"/>
                          <a:sym typeface="Times New Roman" panose="02020603050405020304"/>
                        </a:rPr>
                        <a:t>Résultats</a:t>
                      </a:r>
                      <a:r>
                        <a:rPr lang="en-US" sz="1200" dirty="0" smtClean="0">
                          <a:latin typeface="+mn-lt"/>
                          <a:sym typeface="Times New Roman" panose="02020603050405020304"/>
                        </a:rPr>
                        <a:t> </a:t>
                      </a:r>
                      <a:r>
                        <a:rPr lang="en-US" sz="1200" dirty="0" err="1" smtClean="0">
                          <a:latin typeface="+mn-lt"/>
                          <a:sym typeface="Times New Roman" panose="02020603050405020304"/>
                        </a:rPr>
                        <a:t>obtenus</a:t>
                      </a:r>
                      <a:r>
                        <a:rPr lang="en-US" sz="1200" dirty="0" smtClean="0">
                          <a:latin typeface="+mn-lt"/>
                          <a:sym typeface="Times New Roman" panose="02020603050405020304"/>
                        </a:rPr>
                        <a:t> VAP1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 smtClean="0">
                          <a:latin typeface="+mn-lt"/>
                          <a:sym typeface="Times New Roman" panose="02020603050405020304"/>
                        </a:rPr>
                        <a:t>Résultats</a:t>
                      </a:r>
                      <a:r>
                        <a:rPr lang="en-US" sz="1200" dirty="0" smtClean="0">
                          <a:latin typeface="+mn-lt"/>
                          <a:sym typeface="Times New Roman" panose="02020603050405020304"/>
                        </a:rPr>
                        <a:t> </a:t>
                      </a:r>
                      <a:r>
                        <a:rPr lang="en-US" sz="1200" dirty="0" err="1" smtClean="0">
                          <a:latin typeface="+mn-lt"/>
                          <a:sym typeface="Times New Roman" panose="02020603050405020304"/>
                        </a:rPr>
                        <a:t>obtenus</a:t>
                      </a:r>
                      <a:r>
                        <a:rPr lang="fr-FR" sz="1200" dirty="0" smtClean="0">
                          <a:latin typeface="+mn-lt"/>
                          <a:sym typeface="Times New Roman" panose="02020603050405020304"/>
                        </a:rPr>
                        <a:t> VAP2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+mn-lt"/>
                          <a:sym typeface="Times New Roman" panose="02020603050405020304"/>
                        </a:rPr>
                        <a:t>Résultats</a:t>
                      </a:r>
                      <a:r>
                        <a:rPr lang="en-US" sz="1200" dirty="0">
                          <a:latin typeface="+mn-lt"/>
                          <a:sym typeface="Times New Roman" panose="02020603050405020304"/>
                        </a:rPr>
                        <a:t> </a:t>
                      </a:r>
                      <a:r>
                        <a:rPr lang="en-US" sz="1200" dirty="0" err="1" smtClean="0">
                          <a:latin typeface="+mn-lt"/>
                          <a:sym typeface="Times New Roman" panose="02020603050405020304"/>
                        </a:rPr>
                        <a:t>obtenus</a:t>
                      </a:r>
                      <a:r>
                        <a:rPr lang="en-US" sz="1200" dirty="0" smtClean="0">
                          <a:latin typeface="+mn-lt"/>
                          <a:sym typeface="Times New Roman" panose="02020603050405020304"/>
                        </a:rPr>
                        <a:t> VAP3 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+mn-lt"/>
                          <a:sym typeface="Times New Roman" panose="02020603050405020304"/>
                        </a:rPr>
                        <a:t>Contribution </a:t>
                      </a:r>
                      <a:r>
                        <a:rPr lang="en-US" sz="1200" dirty="0" err="1">
                          <a:latin typeface="+mn-lt"/>
                          <a:sym typeface="Times New Roman" panose="02020603050405020304"/>
                        </a:rPr>
                        <a:t>dans</a:t>
                      </a:r>
                      <a:r>
                        <a:rPr lang="en-US" sz="1200" dirty="0">
                          <a:latin typeface="+mn-lt"/>
                          <a:sym typeface="Times New Roman" panose="02020603050405020304"/>
                        </a:rPr>
                        <a:t> la CV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BOKO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2832 (49%)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2185 (38%)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1588 (28%)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FESHI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1951( 49%)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1263 (32%)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700 (18%)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KAHEMBA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4868 (69%)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3617(51%)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2712(39%)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KAJIJI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2020 (48%)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1518 (17%)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991(24%)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KASONGO LUNDA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2453 (55%)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1674( 37%)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1009(23%)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KENGE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5407(71%)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3948</a:t>
                      </a:r>
                      <a:r>
                        <a:rPr lang="fr-FR" sz="1200" b="1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(52%)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2857 (38%)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KIMBAU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3800(69%)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2842 (51%)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1726 (31%)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KISANJI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2090 (65%)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1685 (52%)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1228 (38%)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KITENDA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2960 (70%)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2222( 53%)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1225 (29%)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MWELA LEMBWA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1716</a:t>
                      </a:r>
                      <a:r>
                        <a:rPr lang="fr-FR" sz="1200" b="1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(64%)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811(30%)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481 (18%)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PANZI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2514 (53%)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1799 (38%)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668 (14%)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POPOKABAKA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2555 (51%) 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1398 (28%)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606 (12%)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TEMBO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404 (15%)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169 (6%)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88 (3%)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Introduction du</a:t>
                      </a:r>
                      <a:r>
                        <a:rPr lang="fr-FR" sz="1200" b="1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VAP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WAMBA LUADI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1606 (53%)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1053 (34%)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614 (20%)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  <a:tr h="34427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F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  <a:r>
                        <a:rPr lang="fr-FR" sz="12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DPS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70%</a:t>
                      </a:r>
                      <a:endParaRPr lang="fr-FR"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37176 (58%)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26184 (41%)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16493 (26%)</a:t>
                      </a: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abc9d920d_0_217"/>
          <p:cNvSpPr txBox="1"/>
          <p:nvPr/>
        </p:nvSpPr>
        <p:spPr>
          <a:xfrm>
            <a:off x="458592" y="317940"/>
            <a:ext cx="11274900" cy="4715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en-US" sz="27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en-US"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en-US" sz="27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en-US"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en-US" sz="27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</a:t>
            </a:r>
            <a:r>
              <a:rPr lang="en-US" sz="2700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expliquant</a:t>
            </a:r>
            <a:r>
              <a:rPr lang="en-US" sz="2700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 performance (leadership, </a:t>
            </a:r>
            <a:r>
              <a:rPr lang="en-US" sz="2700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mobilisation</a:t>
            </a:r>
            <a:r>
              <a:rPr lang="en-US" sz="2700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communautaire</a:t>
            </a:r>
            <a:r>
              <a:rPr lang="en-US" sz="2700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sz="2700" dirty="0" err="1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intégration</a:t>
            </a:r>
            <a:r>
              <a:rPr lang="en-US" sz="2700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supervision)</a:t>
            </a:r>
            <a:endParaRPr sz="2700" b="0" i="0" u="none" strike="noStrike" cap="none" dirty="0">
              <a:solidFill>
                <a:srgbClr val="1155CC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7" name="Google Shape;227;g3aabc9d920d_0_21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8" name="Google Shape;228;g3aabc9d920d_0_21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9" name="Google Shape;229;g3aabc9d920d_0_21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30" name="Google Shape;230;g3aabc9d920d_0_21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01600" lvl="0">
              <a:buSzPts val="2000"/>
            </a:pPr>
            <a:r>
              <a:rPr lang="fr-FR" sz="2800" b="1" dirty="0"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Description de la bonne pratique, personnes </a:t>
            </a:r>
            <a:r>
              <a:rPr lang="fr-FR" sz="2800" b="1" dirty="0" smtClean="0"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impliqu</a:t>
            </a:r>
            <a:r>
              <a:rPr lang="fr-FR" altLang="en-US" sz="2800" b="1" dirty="0" smtClean="0"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ée</a:t>
            </a:r>
            <a:r>
              <a:rPr lang="fr-FR" sz="2800" b="1" dirty="0" smtClean="0"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</a:t>
            </a:r>
            <a:endParaRPr lang="fr-FR" sz="2800" b="1" dirty="0"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27839" y="1518407"/>
            <a:ext cx="11348460" cy="4573426"/>
          </a:xfrm>
        </p:spPr>
        <p:txBody>
          <a:bodyPr/>
          <a:lstStyle/>
          <a:p>
            <a:r>
              <a:rPr lang="fr-FR" dirty="0" smtClean="0">
                <a:latin typeface="+mn-lt"/>
              </a:rPr>
              <a:t>Implication et engageme</a:t>
            </a:r>
            <a:r>
              <a:rPr lang="fr-FR" dirty="0">
                <a:latin typeface="+mn-lt"/>
              </a:rPr>
              <a:t>n</a:t>
            </a:r>
            <a:r>
              <a:rPr lang="fr-FR" dirty="0" smtClean="0">
                <a:latin typeface="+mn-lt"/>
              </a:rPr>
              <a:t>t des APA, leaders communautaires et religieux dans les activités de la vaccination et communication;  </a:t>
            </a:r>
          </a:p>
          <a:p>
            <a:pPr lvl="0"/>
            <a:r>
              <a:rPr lang="fr-FR" dirty="0" smtClean="0"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Implication d’au moins </a:t>
            </a:r>
            <a:r>
              <a:rPr lang="fr-FR" dirty="0"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10% des acteurs de la milice mobondo dans les activités de la vaccination et de la </a:t>
            </a:r>
            <a:r>
              <a:rPr lang="fr-FR" dirty="0" smtClean="0"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communication;</a:t>
            </a:r>
            <a:endParaRPr lang="fr-FR" dirty="0"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fr-FR" dirty="0" smtClean="0">
                <a:latin typeface="+mn-lt"/>
              </a:rPr>
              <a:t>Implication des leaders réfractaires convertis dans les activités de vaccination a permis de réduire les refus et de rattraper les enfants(Chef spirituel des Eglise des noirs);</a:t>
            </a:r>
          </a:p>
          <a:p>
            <a:r>
              <a:rPr lang="fr-FR" dirty="0" smtClean="0">
                <a:latin typeface="+mn-lt"/>
              </a:rPr>
              <a:t>Implémentation de l’approche Enfant pour enfant;</a:t>
            </a:r>
          </a:p>
          <a:p>
            <a:r>
              <a:rPr lang="fr-FR" dirty="0" smtClean="0">
                <a:latin typeface="+mn-lt"/>
              </a:rPr>
              <a:t>Fidélisation de la cible par le monde communautaire( zone de santé de </a:t>
            </a:r>
            <a:r>
              <a:rPr lang="fr-FR" dirty="0" err="1" smtClean="0">
                <a:latin typeface="+mn-lt"/>
              </a:rPr>
              <a:t>Feshi</a:t>
            </a:r>
            <a:r>
              <a:rPr lang="fr-FR" dirty="0" smtClean="0">
                <a:latin typeface="+mn-lt"/>
              </a:rPr>
              <a:t>);</a:t>
            </a:r>
          </a:p>
          <a:p>
            <a:endParaRPr lang="fr-FR" dirty="0" smtClean="0">
              <a:latin typeface="+mn-lt"/>
            </a:endParaRPr>
          </a:p>
          <a:p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2145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Problèmes résolus par la bonne pratique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2000" dirty="0" smtClean="0"/>
              <a:t>Faible identification et récupération des enfants ZD et ESV;</a:t>
            </a:r>
          </a:p>
          <a:p>
            <a:pPr>
              <a:lnSpc>
                <a:spcPct val="200000"/>
              </a:lnSpc>
            </a:pPr>
            <a:r>
              <a:rPr lang="fr-FR" sz="2000" dirty="0" smtClean="0"/>
              <a:t>Nombre élevé d’enfants ZD(822) et ESV(1071);</a:t>
            </a:r>
          </a:p>
          <a:p>
            <a:pPr>
              <a:lnSpc>
                <a:spcPct val="200000"/>
              </a:lnSpc>
            </a:pPr>
            <a:r>
              <a:rPr lang="fr-FR" sz="2000" dirty="0" smtClean="0"/>
              <a:t>Difficulté d’accessibilité dans les zones de santé à sécurité compromise(</a:t>
            </a:r>
            <a:r>
              <a:rPr lang="fr-FR" sz="2000" dirty="0" err="1" smtClean="0"/>
              <a:t>Boko</a:t>
            </a:r>
            <a:r>
              <a:rPr lang="fr-FR" sz="2000" dirty="0" smtClean="0"/>
              <a:t> et Popokabaka); 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75820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4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bonne </a:t>
            </a:r>
            <a:r>
              <a:rPr lang="en-US" sz="4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fr-FR" dirty="0" smtClean="0"/>
              <a:t>Réduction de 92% des enfants ZD et réduction de 72% ESV dans les zones de santé d’intervention(Popokabaka et </a:t>
            </a:r>
            <a:r>
              <a:rPr lang="fr-FR" dirty="0" err="1" smtClean="0"/>
              <a:t>Kenge</a:t>
            </a:r>
            <a:r>
              <a:rPr lang="fr-FR" dirty="0" smtClean="0"/>
              <a:t>);</a:t>
            </a:r>
          </a:p>
          <a:p>
            <a:pPr>
              <a:lnSpc>
                <a:spcPct val="200000"/>
              </a:lnSpc>
            </a:pPr>
            <a:r>
              <a:rPr lang="fr-FR" dirty="0" smtClean="0"/>
              <a:t>Disponibilité en vaccin et autres intrants dans les zones de santé;</a:t>
            </a:r>
          </a:p>
          <a:p>
            <a:pPr>
              <a:lnSpc>
                <a:spcPct val="200000"/>
              </a:lnSpc>
            </a:pPr>
            <a:r>
              <a:rPr lang="fr-FR" dirty="0" smtClean="0"/>
              <a:t>Bonne couverture vaccinale dans les zones d’insécurité(</a:t>
            </a:r>
            <a:r>
              <a:rPr lang="fr-FR" dirty="0" err="1" smtClean="0"/>
              <a:t>Boko</a:t>
            </a:r>
            <a:r>
              <a:rPr lang="fr-FR" dirty="0" smtClean="0"/>
              <a:t> et Popokabaka/Citer les AS concernées/ZS);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6503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57200" lvl="0" indent="-355600">
              <a:buSzPts val="2000"/>
              <a:buFont typeface="Times New Roman" panose="02020603050405020304"/>
              <a:buAutoNum type="arabicPeriod"/>
            </a:pPr>
            <a:r>
              <a:rPr lang="en-US" sz="40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Recommendation </a:t>
            </a:r>
            <a:r>
              <a:rPr lang="en-US" sz="4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pour la replication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lvl="0" indent="-514350">
              <a:lnSpc>
                <a:spcPct val="200000"/>
              </a:lnSpc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FR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Pérenniser l’ approche innovante( </a:t>
            </a:r>
            <a:r>
              <a:rPr lang="fr-FR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Enfant pour enfant et fidélisation de la cible par le monde communautaire) dans </a:t>
            </a:r>
            <a:r>
              <a:rPr lang="fr-FR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les deux zones de santé;</a:t>
            </a:r>
            <a:endParaRPr lang="fr-FR" dirty="0">
              <a:solidFill>
                <a:srgbClr val="1155CC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lvl="0" indent="-514350">
              <a:lnSpc>
                <a:spcPct val="200000"/>
              </a:lnSpc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FR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Mobilisation des ressources en vue du passage à </a:t>
            </a:r>
            <a:r>
              <a:rPr lang="fr-FR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l’</a:t>
            </a:r>
            <a:r>
              <a:rPr lang="fr-FR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</a:t>
            </a:r>
            <a:r>
              <a:rPr lang="fr-FR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chelle de l’ approche innovante </a:t>
            </a:r>
            <a:r>
              <a:rPr lang="fr-FR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dans </a:t>
            </a:r>
            <a:r>
              <a:rPr lang="fr-FR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les 12 </a:t>
            </a:r>
            <a:r>
              <a:rPr lang="fr-FR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autres zones de santé</a:t>
            </a:r>
            <a:r>
              <a:rPr lang="fr-FR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;</a:t>
            </a:r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500"/>
              <a:buNone/>
            </a:pPr>
            <a:endParaRPr lang="fr-FR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lvl="0" indent="-514350">
              <a:lnSpc>
                <a:spcPct val="150000"/>
              </a:lnSpc>
              <a:buClr>
                <a:schemeClr val="dk1"/>
              </a:buClr>
              <a:buSzPts val="1500"/>
              <a:buFont typeface="+mj-lt"/>
              <a:buAutoNum type="arabicPeriod"/>
            </a:pPr>
            <a:endParaRPr lang="fr-FR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785884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endParaRPr lang="fr-FR" sz="27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arenR"/>
            </a:pPr>
            <a:r>
              <a:rPr lang="fr-FR" sz="2700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Financement sécurisé</a:t>
            </a:r>
            <a:r>
              <a:rPr lang="fr-FR" sz="2700" dirty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;</a:t>
            </a:r>
            <a:endParaRPr lang="fr-FR" sz="2700" dirty="0" smtClean="0">
              <a:solidFill>
                <a:srgbClr val="1155CC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arenR"/>
            </a:pPr>
            <a:r>
              <a:rPr lang="fr-FR" sz="2700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 en connectivité internet et téléphonique;</a:t>
            </a:r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arenR"/>
            </a:pPr>
            <a:r>
              <a:rPr lang="fr-FR" sz="2700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Etat de certaines routes;</a:t>
            </a:r>
          </a:p>
          <a:p>
            <a:pPr marL="514350" marR="0" lvl="0" indent="-514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arenR"/>
            </a:pPr>
            <a:r>
              <a:rPr lang="fr-FR" sz="2700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Mobilité (ECP, ECZ, …)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arenR"/>
            </a:pPr>
            <a:endParaRPr lang="fr-FR" sz="27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arenR"/>
            </a:pPr>
            <a:endParaRPr lang="fr-FR" sz="27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arenR"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/>
          <p:cNvGraphicFramePr/>
          <p:nvPr>
            <p:extLst>
              <p:ext uri="{D42A27DB-BD31-4B8C-83A1-F6EECF244321}">
                <p14:modId xmlns:p14="http://schemas.microsoft.com/office/powerpoint/2010/main" val="1012181446"/>
              </p:ext>
            </p:extLst>
          </p:nvPr>
        </p:nvGraphicFramePr>
        <p:xfrm>
          <a:off x="458586" y="1049652"/>
          <a:ext cx="11274925" cy="5520540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989675"/>
                <a:gridCol w="2796575"/>
                <a:gridCol w="2625350"/>
                <a:gridCol w="2066050"/>
                <a:gridCol w="1797275"/>
              </a:tblGrid>
              <a:tr h="53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</a:tr>
              <a:tr h="501100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i="1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</a:t>
                      </a:r>
                      <a:r>
                        <a:rPr lang="en-US" sz="1600" i="1" u="none" strike="noStrike" cap="none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.</a:t>
                      </a:r>
                      <a:r>
                        <a:rPr lang="fr-FR" sz="16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. Approche Enfant pour Enfant ( en sigle Epe+)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1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1600" b="0" i="0" u="none" strike="noStrike" cap="none" dirty="0" smtClean="0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Identification et récupération des enfants avec l’implication des enfants</a:t>
                      </a:r>
                      <a:r>
                        <a:rPr lang="fr-FR" sz="1600" b="0" i="0" u="none" strike="noStrike" cap="none" baseline="0" dirty="0" smtClean="0">
                          <a:solidFill>
                            <a:srgbClr val="000000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scolarisés</a:t>
                      </a:r>
                      <a:endParaRPr lang="fr-FR"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1600" b="0" i="0" u="none" strike="noStrike" cap="none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Non</a:t>
                      </a:r>
                      <a:r>
                        <a:rPr lang="fr-FR" sz="1600" b="0" i="0" u="none" strike="noStrike" cap="none" baseline="0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extension de l’approche dans les 12 autres zones de santé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Unicef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5011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Collaboration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multisectorielle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fr-FR" sz="1600" b="0" i="0" u="none" strike="noStrike" cap="none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(Santé, EPST, Taskforce communication, Société</a:t>
                      </a:r>
                      <a:r>
                        <a:rPr lang="fr-FR" sz="1600" b="0" i="0" u="none" strike="noStrike" cap="none" baseline="0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civile,..)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tenue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reunions du </a:t>
                      </a:r>
                      <a:r>
                        <a:rPr lang="en-US" sz="1600" b="0" i="0" u="none" strike="noStrike" cap="none" baseline="0" dirty="0" err="1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comité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provincial </a:t>
                      </a:r>
                      <a:r>
                        <a:rPr lang="en-US" sz="1600" b="0" i="0" u="none" strike="noStrike" cap="none" baseline="0" dirty="0" err="1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multisectoriel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5011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5011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50110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 u="none" strike="noStrike" cap="none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</a:t>
                      </a:r>
                      <a:r>
                        <a:rPr lang="fr-FR" sz="160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Implication des</a:t>
                      </a:r>
                      <a:r>
                        <a:rPr lang="fr-FR" sz="16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leaders de la milice Mobondo dans les activités de la vaccination     ( </a:t>
                      </a:r>
                      <a:r>
                        <a:rPr lang="fr-FR" sz="1400" baseline="0" dirty="0" smtClean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BOKO et POPOKABAKA)</a:t>
                      </a:r>
                      <a:endParaRPr sz="1600" i="1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i="0" u="none" strike="noStrike" cap="none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Amélioration</a:t>
                      </a:r>
                      <a:r>
                        <a:rPr lang="fr-FR" sz="1600" i="0" u="none" strike="noStrike" cap="none" baseline="0" dirty="0" smtClean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couvertures vaccinales dans les deux zones à sécurité compromise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011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bc9d920d_0_242"/>
          <p:cNvSpPr txBox="1"/>
          <p:nvPr/>
        </p:nvSpPr>
        <p:spPr>
          <a:xfrm>
            <a:off x="458592" y="317941"/>
            <a:ext cx="11274900" cy="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r>
              <a:rPr lang="en-US" sz="27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pour 2026</a:t>
            </a:r>
            <a:endParaRPr sz="27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FR" sz="2700" b="1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Niveau central: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fr-FR" sz="2700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Rendre disponible des fonds sécurisés;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fr-FR" sz="2700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Plaidoyer auprès des PTF pour passage à l’échelle de l’approche;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fr-FR" sz="2700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Doter la coordination Provinciale et les zones de santé en véhicules et moto;</a:t>
            </a:r>
            <a:endParaRPr lang="fr-FR" sz="2700" dirty="0">
              <a:solidFill>
                <a:srgbClr val="1155CC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FR" sz="2700" b="1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Niveau intermédiaire :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fr-FR" sz="2700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Pérenniser l’approche dans les deux zones de santé;</a:t>
            </a: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fr-FR" sz="2700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Implémenter l’approche dans les 12 autres zones de santé </a:t>
            </a:r>
            <a:r>
              <a:rPr lang="fr-FR" sz="2700" dirty="0" err="1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restatntes</a:t>
            </a:r>
            <a:r>
              <a:rPr lang="fr-FR" sz="2700" dirty="0" smtClean="0">
                <a:solidFill>
                  <a:srgbClr val="1155CC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;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6" name="Google Shape;266;g3aabc9d920d_0_24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7" name="Google Shape;267;g3aabc9d920d_0_24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g3aabc9d920d_0_24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9" name="Google Shape;269;g3aabc9d920d_0_24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700" cy="488813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400" dirty="0" smtClean="0"/>
              <a:t>Images d’illustration de l’approche Epe+</a:t>
            </a:r>
            <a:endParaRPr lang="fr-FR" sz="24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15600" y="1166070"/>
            <a:ext cx="5333100" cy="4925763"/>
          </a:xfrm>
        </p:spPr>
        <p:txBody>
          <a:bodyPr/>
          <a:lstStyle/>
          <a:p>
            <a:r>
              <a:rPr lang="fr-FR" dirty="0" smtClean="0"/>
              <a:t>Inauguration de la radio communautaire au marché </a:t>
            </a:r>
            <a:r>
              <a:rPr lang="fr-FR" dirty="0" err="1" smtClean="0"/>
              <a:t>Kenge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2"/>
          </p:nvPr>
        </p:nvSpPr>
        <p:spPr>
          <a:xfrm>
            <a:off x="6443200" y="1324386"/>
            <a:ext cx="5333100" cy="571526"/>
          </a:xfrm>
        </p:spPr>
        <p:txBody>
          <a:bodyPr>
            <a:normAutofit lnSpcReduction="10000"/>
          </a:bodyPr>
          <a:lstStyle/>
          <a:p>
            <a:pPr marL="107950" indent="0">
              <a:buNone/>
            </a:pPr>
            <a:r>
              <a:rPr lang="fr-FR" dirty="0" smtClean="0"/>
              <a:t>Sensibilisation des </a:t>
            </a:r>
            <a:r>
              <a:rPr lang="fr-FR" dirty="0" err="1" smtClean="0"/>
              <a:t>éleves</a:t>
            </a:r>
            <a:r>
              <a:rPr lang="fr-FR" dirty="0" smtClean="0"/>
              <a:t> à l’Ecole </a:t>
            </a:r>
            <a:r>
              <a:rPr lang="fr-FR" dirty="0" err="1" smtClean="0"/>
              <a:t>Lunungu</a:t>
            </a:r>
            <a:endParaRPr lang="fr-FR" dirty="0"/>
          </a:p>
        </p:txBody>
      </p:sp>
      <p:pic>
        <p:nvPicPr>
          <p:cNvPr id="5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15600" y="1979802"/>
            <a:ext cx="5333100" cy="4112032"/>
          </a:xfrm>
          <a:prstGeom prst="rect">
            <a:avLst/>
          </a:prstGeom>
        </p:spPr>
      </p:pic>
      <p:pic>
        <p:nvPicPr>
          <p:cNvPr id="6" name="Imag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443200" y="1979802"/>
            <a:ext cx="5748800" cy="411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107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bc9d920d_0_26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g3aabc9d920d_0_26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g3aabc9d920d_0_26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1384</Words>
  <Application>Microsoft Office PowerPoint</Application>
  <PresentationFormat>Personnalisé</PresentationFormat>
  <Paragraphs>408</Paragraphs>
  <Slides>20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20</vt:i4>
      </vt:variant>
    </vt:vector>
  </HeadingPairs>
  <TitlesOfParts>
    <vt:vector size="28" baseType="lpstr">
      <vt:lpstr>Arial</vt:lpstr>
      <vt:lpstr>Play</vt:lpstr>
      <vt:lpstr>Source Serif Pro</vt:lpstr>
      <vt:lpstr>Times New Roman</vt:lpstr>
      <vt:lpstr>Wingdings</vt:lpstr>
      <vt:lpstr>Calibri</vt:lpstr>
      <vt:lpstr>Thème Office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Description de la bonne pratique, personnes impliquées</vt:lpstr>
      <vt:lpstr>Problèmes résolus par la bonne pratique</vt:lpstr>
      <vt:lpstr>Résultats de la bonne pratique</vt:lpstr>
      <vt:lpstr>Recommendation pour la replication</vt:lpstr>
      <vt:lpstr>Présentation PowerPoint</vt:lpstr>
      <vt:lpstr>Présentation PowerPoint</vt:lpstr>
      <vt:lpstr>Présentation PowerPoint</vt:lpstr>
      <vt:lpstr>Images d’illustration de l’approche Epe+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Aimé CIKOMOLA</dc:creator>
  <cp:lastModifiedBy>DR LEON MAKAMBU</cp:lastModifiedBy>
  <cp:revision>102</cp:revision>
  <dcterms:created xsi:type="dcterms:W3CDTF">2025-11-28T20:10:05Z</dcterms:created>
  <dcterms:modified xsi:type="dcterms:W3CDTF">2025-12-09T13:34:16Z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93DF6B1B20AE4EE791A0860C13F9B9CC_13</vt:lpwstr>
  </property>
  <property fmtid="{D5CDD505-2E9C-101B-9397-08002B2CF9AE}" pid="3" name="KSOProductBuildVer">
    <vt:lpwstr>3084-12.2.0.23155</vt:lpwstr>
  </property>
</Properties>
</file>