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2BE_11C92A7C.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8"/>
  </p:notesMasterIdLst>
  <p:sldIdLst>
    <p:sldId id="256" r:id="rId3"/>
    <p:sldId id="352" r:id="rId4"/>
    <p:sldId id="700" r:id="rId5"/>
    <p:sldId id="701" r:id="rId6"/>
    <p:sldId id="703" r:id="rId7"/>
    <p:sldId id="263" r:id="rId8"/>
    <p:sldId id="698" r:id="rId9"/>
    <p:sldId id="262" r:id="rId10"/>
    <p:sldId id="261"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2" r:id="rId36"/>
    <p:sldId id="297" r:id="rId37"/>
    <p:sldId id="298" r:id="rId38"/>
    <p:sldId id="299" r:id="rId39"/>
    <p:sldId id="705" r:id="rId40"/>
    <p:sldId id="706" r:id="rId41"/>
    <p:sldId id="707" r:id="rId42"/>
    <p:sldId id="702" r:id="rId43"/>
    <p:sldId id="708" r:id="rId44"/>
    <p:sldId id="319" r:id="rId45"/>
    <p:sldId id="321" r:id="rId46"/>
    <p:sldId id="330"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047266-B50E-9007-DECD-1EF7F1304D16}" name="ICHESS RDC" initials="IR" userId="dc4b3c973ced6b37" providerId="Windows Live"/>
  <p188:author id="{74E6508D-B11F-15C6-C925-5D2CEA418B39}" name="Emmanuel tshisuyi" initials="Et" userId="53778654c82d2f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A82A92-C8C2-4546-8413-C120517F1526}" v="2" dt="2025-12-16T04:31:55.760"/>
  </p1510:revLst>
</p1510:revInfo>
</file>

<file path=ppt/tableStyles.xml><?xml version="1.0" encoding="utf-8"?>
<a:tblStyleLst xmlns:a="http://schemas.openxmlformats.org/drawingml/2006/main" def="{5C22544A-7EE6-4342-B048-85BDC9FD1C3A}">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95" d="100"/>
          <a:sy n="95"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CHESS RDC" userId="dc4b3c973ced6b37" providerId="LiveId" clId="{6E3AFFAE-3592-4473-920C-A1C87440A209}"/>
    <pc:docChg chg="custSel addSld delSld modSld">
      <pc:chgData name="ICHESS RDC" userId="dc4b3c973ced6b37" providerId="LiveId" clId="{6E3AFFAE-3592-4473-920C-A1C87440A209}" dt="2025-12-16T05:47:29.010" v="142" actId="6549"/>
      <pc:docMkLst>
        <pc:docMk/>
      </pc:docMkLst>
      <pc:sldChg chg="modSp mod">
        <pc:chgData name="ICHESS RDC" userId="dc4b3c973ced6b37" providerId="LiveId" clId="{6E3AFFAE-3592-4473-920C-A1C87440A209}" dt="2025-12-14T16:46:49.960" v="48" actId="20577"/>
        <pc:sldMkLst>
          <pc:docMk/>
          <pc:sldMk cId="120638240" sldId="256"/>
        </pc:sldMkLst>
        <pc:spChg chg="mod">
          <ac:chgData name="ICHESS RDC" userId="dc4b3c973ced6b37" providerId="LiveId" clId="{6E3AFFAE-3592-4473-920C-A1C87440A209}" dt="2025-12-14T16:46:49.960" v="48" actId="20577"/>
          <ac:spMkLst>
            <pc:docMk/>
            <pc:sldMk cId="120638240" sldId="256"/>
            <ac:spMk id="2" creationId="{04D0ECC7-533D-67B2-4B9D-AEDA84416DB9}"/>
          </ac:spMkLst>
        </pc:spChg>
        <pc:spChg chg="mod">
          <ac:chgData name="ICHESS RDC" userId="dc4b3c973ced6b37" providerId="LiveId" clId="{6E3AFFAE-3592-4473-920C-A1C87440A209}" dt="2025-12-14T16:33:13.855" v="12" actId="20577"/>
          <ac:spMkLst>
            <pc:docMk/>
            <pc:sldMk cId="120638240" sldId="256"/>
            <ac:spMk id="3" creationId="{481F28ED-BDF6-0FC5-ED99-C69C1026366B}"/>
          </ac:spMkLst>
        </pc:spChg>
      </pc:sldChg>
      <pc:sldChg chg="modSp add mod">
        <pc:chgData name="ICHESS RDC" userId="dc4b3c973ced6b37" providerId="LiveId" clId="{6E3AFFAE-3592-4473-920C-A1C87440A209}" dt="2025-12-16T03:27:09.474" v="103" actId="20577"/>
        <pc:sldMkLst>
          <pc:docMk/>
          <pc:sldMk cId="52733042" sldId="263"/>
        </pc:sldMkLst>
        <pc:graphicFrameChg chg="modGraphic">
          <ac:chgData name="ICHESS RDC" userId="dc4b3c973ced6b37" providerId="LiveId" clId="{6E3AFFAE-3592-4473-920C-A1C87440A209}" dt="2025-12-16T03:27:09.474" v="103" actId="20577"/>
          <ac:graphicFrameMkLst>
            <pc:docMk/>
            <pc:sldMk cId="52733042" sldId="263"/>
            <ac:graphicFrameMk id="4" creationId="{9D1B64E3-209E-E93A-09AB-E79CA1F93A2D}"/>
          </ac:graphicFrameMkLst>
        </pc:graphicFrameChg>
      </pc:sldChg>
      <pc:sldChg chg="del">
        <pc:chgData name="ICHESS RDC" userId="dc4b3c973ced6b37" providerId="LiveId" clId="{6E3AFFAE-3592-4473-920C-A1C87440A209}" dt="2025-12-16T04:34:22.991" v="137" actId="47"/>
        <pc:sldMkLst>
          <pc:docMk/>
          <pc:sldMk cId="1677898159" sldId="293"/>
        </pc:sldMkLst>
      </pc:sldChg>
      <pc:sldChg chg="del">
        <pc:chgData name="ICHESS RDC" userId="dc4b3c973ced6b37" providerId="LiveId" clId="{6E3AFFAE-3592-4473-920C-A1C87440A209}" dt="2025-12-16T04:34:26.479" v="138" actId="47"/>
        <pc:sldMkLst>
          <pc:docMk/>
          <pc:sldMk cId="3025847346" sldId="294"/>
        </pc:sldMkLst>
      </pc:sldChg>
      <pc:sldChg chg="del">
        <pc:chgData name="ICHESS RDC" userId="dc4b3c973ced6b37" providerId="LiveId" clId="{6E3AFFAE-3592-4473-920C-A1C87440A209}" dt="2025-12-16T04:34:33.760" v="139" actId="47"/>
        <pc:sldMkLst>
          <pc:docMk/>
          <pc:sldMk cId="3952583924" sldId="295"/>
        </pc:sldMkLst>
      </pc:sldChg>
      <pc:sldChg chg="del">
        <pc:chgData name="ICHESS RDC" userId="dc4b3c973ced6b37" providerId="LiveId" clId="{6E3AFFAE-3592-4473-920C-A1C87440A209}" dt="2025-12-16T04:34:39.837" v="140" actId="47"/>
        <pc:sldMkLst>
          <pc:docMk/>
          <pc:sldMk cId="2357318734" sldId="296"/>
        </pc:sldMkLst>
      </pc:sldChg>
      <pc:sldChg chg="del">
        <pc:chgData name="ICHESS RDC" userId="dc4b3c973ced6b37" providerId="LiveId" clId="{6E3AFFAE-3592-4473-920C-A1C87440A209}" dt="2025-12-16T04:35:51.433" v="141" actId="47"/>
        <pc:sldMkLst>
          <pc:docMk/>
          <pc:sldMk cId="2152636931" sldId="301"/>
        </pc:sldMkLst>
      </pc:sldChg>
      <pc:sldChg chg="modSp mod">
        <pc:chgData name="ICHESS RDC" userId="dc4b3c973ced6b37" providerId="LiveId" clId="{6E3AFFAE-3592-4473-920C-A1C87440A209}" dt="2025-12-16T05:47:29.010" v="142" actId="6549"/>
        <pc:sldMkLst>
          <pc:docMk/>
          <pc:sldMk cId="4009345417" sldId="319"/>
        </pc:sldMkLst>
        <pc:spChg chg="mod">
          <ac:chgData name="ICHESS RDC" userId="dc4b3c973ced6b37" providerId="LiveId" clId="{6E3AFFAE-3592-4473-920C-A1C87440A209}" dt="2025-12-16T05:47:29.010" v="142" actId="6549"/>
          <ac:spMkLst>
            <pc:docMk/>
            <pc:sldMk cId="4009345417" sldId="319"/>
            <ac:spMk id="3" creationId="{C077F6E7-7BE4-39CB-FE08-7F4C9557B17F}"/>
          </ac:spMkLst>
        </pc:spChg>
      </pc:sldChg>
      <pc:sldChg chg="modSp mod">
        <pc:chgData name="ICHESS RDC" userId="dc4b3c973ced6b37" providerId="LiveId" clId="{6E3AFFAE-3592-4473-920C-A1C87440A209}" dt="2025-12-16T04:31:59.297" v="136" actId="20577"/>
        <pc:sldMkLst>
          <pc:docMk/>
          <pc:sldMk cId="3068414403" sldId="321"/>
        </pc:sldMkLst>
        <pc:graphicFrameChg chg="mod modGraphic">
          <ac:chgData name="ICHESS RDC" userId="dc4b3c973ced6b37" providerId="LiveId" clId="{6E3AFFAE-3592-4473-920C-A1C87440A209}" dt="2025-12-16T04:31:59.297" v="136" actId="20577"/>
          <ac:graphicFrameMkLst>
            <pc:docMk/>
            <pc:sldMk cId="3068414403" sldId="321"/>
            <ac:graphicFrameMk id="5" creationId="{446919BC-CE8D-9E13-6501-5D93B773CEE4}"/>
          </ac:graphicFrameMkLst>
        </pc:graphicFrameChg>
      </pc:sldChg>
      <pc:sldChg chg="add">
        <pc:chgData name="ICHESS RDC" userId="dc4b3c973ced6b37" providerId="LiveId" clId="{6E3AFFAE-3592-4473-920C-A1C87440A209}" dt="2025-12-14T16:37:55.682" v="13"/>
        <pc:sldMkLst>
          <pc:docMk/>
          <pc:sldMk cId="2925436815" sldId="698"/>
        </pc:sldMkLst>
      </pc:sldChg>
      <pc:sldChg chg="modSp mod">
        <pc:chgData name="ICHESS RDC" userId="dc4b3c973ced6b37" providerId="LiveId" clId="{6E3AFFAE-3592-4473-920C-A1C87440A209}" dt="2025-12-14T16:49:55.514" v="88" actId="20577"/>
        <pc:sldMkLst>
          <pc:docMk/>
          <pc:sldMk cId="3576438325" sldId="701"/>
        </pc:sldMkLst>
        <pc:spChg chg="mod">
          <ac:chgData name="ICHESS RDC" userId="dc4b3c973ced6b37" providerId="LiveId" clId="{6E3AFFAE-3592-4473-920C-A1C87440A209}" dt="2025-12-14T16:49:55.514" v="88" actId="20577"/>
          <ac:spMkLst>
            <pc:docMk/>
            <pc:sldMk cId="3576438325" sldId="701"/>
            <ac:spMk id="140" creationId="{B5EBA297-D655-0761-5CD7-9B6FF7E38B06}"/>
          </ac:spMkLst>
        </pc:spChg>
      </pc:sldChg>
      <pc:sldChg chg="modSp mod">
        <pc:chgData name="ICHESS RDC" userId="dc4b3c973ced6b37" providerId="LiveId" clId="{6E3AFFAE-3592-4473-920C-A1C87440A209}" dt="2025-12-14T16:55:06.333" v="101" actId="20577"/>
        <pc:sldMkLst>
          <pc:docMk/>
          <pc:sldMk cId="3844721584" sldId="703"/>
        </pc:sldMkLst>
        <pc:spChg chg="mod">
          <ac:chgData name="ICHESS RDC" userId="dc4b3c973ced6b37" providerId="LiveId" clId="{6E3AFFAE-3592-4473-920C-A1C87440A209}" dt="2025-12-14T16:55:06.333" v="101" actId="20577"/>
          <ac:spMkLst>
            <pc:docMk/>
            <pc:sldMk cId="3844721584" sldId="703"/>
            <ac:spMk id="140" creationId="{A4B7662E-A363-1951-CA2F-5186CB59CB74}"/>
          </ac:spMkLst>
        </pc:spChg>
      </pc:sldChg>
    </pc:docChg>
  </pc:docChgLst>
</pc:chgInfo>
</file>

<file path=ppt/comments/modernComment_2BE_11C92A7C.xml><?xml version="1.0" encoding="utf-8"?>
<p188:cmLst xmlns:a="http://schemas.openxmlformats.org/drawingml/2006/main" xmlns:r="http://schemas.openxmlformats.org/officeDocument/2006/relationships" xmlns:p188="http://schemas.microsoft.com/office/powerpoint/2018/8/main">
  <p188:cm id="{3E0AA41C-98D9-4EEC-867A-A57A42F79BA7}" authorId="{74E6508D-B11F-15C6-C925-5D2CEA418B39}" created="2025-10-15T14:39:41.400">
    <pc:sldMkLst xmlns:pc="http://schemas.microsoft.com/office/powerpoint/2013/main/command">
      <pc:docMk/>
      <pc:sldMk cId="2163949639" sldId="351"/>
    </pc:sldMkLst>
    <p188:txBody>
      <a:bodyPr/>
      <a:lstStyle/>
      <a:p>
        <a:r>
          <a:rPr lang="en-UG"/>
          <a:t>Si ces recommendations peuvent fixer a chaque niveau (National, provincial zonce de sante, aire de sante...)</a:t>
        </a:r>
      </a:p>
    </p188:txBody>
  </p188:cm>
</p188:cmLst>
</file>

<file path=ppt/diagrams/_rels/data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F338A9-51C2-4E16-8555-8335DE990017}"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52ACB46A-23C8-4419-99EC-E50C7E08D9CC}">
      <dgm:prSet/>
      <dgm:spPr/>
      <dgm:t>
        <a:bodyPr/>
        <a:lstStyle/>
        <a:p>
          <a:r>
            <a:rPr lang="fr-FR"/>
            <a:t>Contexte et justification </a:t>
          </a:r>
          <a:endParaRPr lang="en-US"/>
        </a:p>
      </dgm:t>
    </dgm:pt>
    <dgm:pt modelId="{6BCFFE16-77AB-4AF8-94AA-BE444D297265}" type="parTrans" cxnId="{0FDA4210-735A-40A7-B263-0BF32A715966}">
      <dgm:prSet/>
      <dgm:spPr/>
      <dgm:t>
        <a:bodyPr/>
        <a:lstStyle/>
        <a:p>
          <a:endParaRPr lang="en-US"/>
        </a:p>
      </dgm:t>
    </dgm:pt>
    <dgm:pt modelId="{2926B5D7-7248-4393-BA45-DF0D3AEA011C}" type="sibTrans" cxnId="{0FDA4210-735A-40A7-B263-0BF32A715966}">
      <dgm:prSet/>
      <dgm:spPr/>
      <dgm:t>
        <a:bodyPr/>
        <a:lstStyle/>
        <a:p>
          <a:endParaRPr lang="en-US"/>
        </a:p>
      </dgm:t>
    </dgm:pt>
    <dgm:pt modelId="{1B5A9AC8-F850-40EE-A383-149A0B30BC6E}">
      <dgm:prSet/>
      <dgm:spPr/>
      <dgm:t>
        <a:bodyPr/>
        <a:lstStyle/>
        <a:p>
          <a:r>
            <a:rPr lang="fr-FR"/>
            <a:t>But et objectifs</a:t>
          </a:r>
          <a:endParaRPr lang="en-US"/>
        </a:p>
      </dgm:t>
    </dgm:pt>
    <dgm:pt modelId="{F18B2F60-AB8B-498E-BF5C-9716C436E9DD}" type="parTrans" cxnId="{0402E82F-F224-47CF-B914-617417F87E70}">
      <dgm:prSet/>
      <dgm:spPr/>
      <dgm:t>
        <a:bodyPr/>
        <a:lstStyle/>
        <a:p>
          <a:endParaRPr lang="en-US"/>
        </a:p>
      </dgm:t>
    </dgm:pt>
    <dgm:pt modelId="{B62FD741-F85A-4E9C-8648-617209854CD6}" type="sibTrans" cxnId="{0402E82F-F224-47CF-B914-617417F87E70}">
      <dgm:prSet/>
      <dgm:spPr/>
      <dgm:t>
        <a:bodyPr/>
        <a:lstStyle/>
        <a:p>
          <a:endParaRPr lang="en-US"/>
        </a:p>
      </dgm:t>
    </dgm:pt>
    <dgm:pt modelId="{4D7AE3CC-1753-413F-ADAA-E5D5A1D30F6C}">
      <dgm:prSet/>
      <dgm:spPr/>
      <dgm:t>
        <a:bodyPr/>
        <a:lstStyle/>
        <a:p>
          <a:r>
            <a:rPr lang="fr-FR"/>
            <a:t>Méthodologie et déroulement</a:t>
          </a:r>
          <a:endParaRPr lang="en-US"/>
        </a:p>
      </dgm:t>
    </dgm:pt>
    <dgm:pt modelId="{A094377A-0788-45BF-95CF-88CBE74A8B7A}" type="parTrans" cxnId="{58B6C254-FBD6-4F9C-B864-BA9E150C4B77}">
      <dgm:prSet/>
      <dgm:spPr/>
      <dgm:t>
        <a:bodyPr/>
        <a:lstStyle/>
        <a:p>
          <a:endParaRPr lang="en-US"/>
        </a:p>
      </dgm:t>
    </dgm:pt>
    <dgm:pt modelId="{78AE2B4C-3F44-4CA8-862A-FBF4BAFB6057}" type="sibTrans" cxnId="{58B6C254-FBD6-4F9C-B864-BA9E150C4B77}">
      <dgm:prSet/>
      <dgm:spPr/>
      <dgm:t>
        <a:bodyPr/>
        <a:lstStyle/>
        <a:p>
          <a:endParaRPr lang="en-US"/>
        </a:p>
      </dgm:t>
    </dgm:pt>
    <dgm:pt modelId="{6A18E3A6-1717-4BE9-8BEC-1D5284A0F889}">
      <dgm:prSet/>
      <dgm:spPr/>
      <dgm:t>
        <a:bodyPr/>
        <a:lstStyle/>
        <a:p>
          <a:r>
            <a:rPr lang="fr-FR"/>
            <a:t>Résultats</a:t>
          </a:r>
          <a:endParaRPr lang="en-US"/>
        </a:p>
      </dgm:t>
    </dgm:pt>
    <dgm:pt modelId="{7F8DE864-70CD-458D-9688-C7ADDF342475}" type="parTrans" cxnId="{15D5E839-E529-4A4E-B050-D28663FE91F8}">
      <dgm:prSet/>
      <dgm:spPr/>
      <dgm:t>
        <a:bodyPr/>
        <a:lstStyle/>
        <a:p>
          <a:endParaRPr lang="en-US"/>
        </a:p>
      </dgm:t>
    </dgm:pt>
    <dgm:pt modelId="{AA788831-E2F4-4705-859C-70ADDD878499}" type="sibTrans" cxnId="{15D5E839-E529-4A4E-B050-D28663FE91F8}">
      <dgm:prSet/>
      <dgm:spPr/>
      <dgm:t>
        <a:bodyPr/>
        <a:lstStyle/>
        <a:p>
          <a:endParaRPr lang="en-US"/>
        </a:p>
      </dgm:t>
    </dgm:pt>
    <dgm:pt modelId="{B5A82758-8729-4C7A-ABD9-C9CA336B5E14}">
      <dgm:prSet/>
      <dgm:spPr/>
      <dgm:t>
        <a:bodyPr/>
        <a:lstStyle/>
        <a:p>
          <a:r>
            <a:rPr lang="fr-FR"/>
            <a:t>Recommandations </a:t>
          </a:r>
          <a:endParaRPr lang="en-US"/>
        </a:p>
      </dgm:t>
    </dgm:pt>
    <dgm:pt modelId="{A480A551-1798-4633-A641-AEC10B60B6B2}" type="parTrans" cxnId="{5C44AAA2-FE83-485A-9734-47719E67DB92}">
      <dgm:prSet/>
      <dgm:spPr/>
      <dgm:t>
        <a:bodyPr/>
        <a:lstStyle/>
        <a:p>
          <a:endParaRPr lang="en-US"/>
        </a:p>
      </dgm:t>
    </dgm:pt>
    <dgm:pt modelId="{4533D9A9-310F-45EE-BFC7-A33B15DC009E}" type="sibTrans" cxnId="{5C44AAA2-FE83-485A-9734-47719E67DB92}">
      <dgm:prSet/>
      <dgm:spPr/>
      <dgm:t>
        <a:bodyPr/>
        <a:lstStyle/>
        <a:p>
          <a:endParaRPr lang="en-US"/>
        </a:p>
      </dgm:t>
    </dgm:pt>
    <dgm:pt modelId="{8E60C128-81C5-40A4-A4E6-848FA94AE930}">
      <dgm:prSet/>
      <dgm:spPr/>
      <dgm:t>
        <a:bodyPr/>
        <a:lstStyle/>
        <a:p>
          <a:r>
            <a:rPr lang="fr-FR"/>
            <a:t>Prochaines étapes.</a:t>
          </a:r>
          <a:endParaRPr lang="en-US"/>
        </a:p>
      </dgm:t>
    </dgm:pt>
    <dgm:pt modelId="{BB017F61-3A1B-471B-BDEF-9BDD2BE48942}" type="parTrans" cxnId="{180A5137-B292-41D8-BE31-0DF1E026C645}">
      <dgm:prSet/>
      <dgm:spPr/>
      <dgm:t>
        <a:bodyPr/>
        <a:lstStyle/>
        <a:p>
          <a:endParaRPr lang="en-US"/>
        </a:p>
      </dgm:t>
    </dgm:pt>
    <dgm:pt modelId="{5200B4BA-D86F-4ABC-A139-FDD50BB0CAAE}" type="sibTrans" cxnId="{180A5137-B292-41D8-BE31-0DF1E026C645}">
      <dgm:prSet/>
      <dgm:spPr/>
      <dgm:t>
        <a:bodyPr/>
        <a:lstStyle/>
        <a:p>
          <a:endParaRPr lang="en-US"/>
        </a:p>
      </dgm:t>
    </dgm:pt>
    <dgm:pt modelId="{D6C45E5D-4E3B-4B44-AA34-700FCF6B9A1C}" type="pres">
      <dgm:prSet presAssocID="{DDF338A9-51C2-4E16-8555-8335DE990017}" presName="Name0" presStyleCnt="0">
        <dgm:presLayoutVars>
          <dgm:dir/>
          <dgm:resizeHandles val="exact"/>
        </dgm:presLayoutVars>
      </dgm:prSet>
      <dgm:spPr/>
    </dgm:pt>
    <dgm:pt modelId="{858A71F6-C7F1-42BD-9BB6-0C2019A1A648}" type="pres">
      <dgm:prSet presAssocID="{52ACB46A-23C8-4419-99EC-E50C7E08D9CC}" presName="node" presStyleLbl="node1" presStyleIdx="0" presStyleCnt="6">
        <dgm:presLayoutVars>
          <dgm:bulletEnabled val="1"/>
        </dgm:presLayoutVars>
      </dgm:prSet>
      <dgm:spPr/>
    </dgm:pt>
    <dgm:pt modelId="{83A089D6-2643-4338-8060-4FEB29E924AE}" type="pres">
      <dgm:prSet presAssocID="{2926B5D7-7248-4393-BA45-DF0D3AEA011C}" presName="sibTrans" presStyleLbl="sibTrans1D1" presStyleIdx="0" presStyleCnt="5"/>
      <dgm:spPr/>
    </dgm:pt>
    <dgm:pt modelId="{EB90D172-589D-403C-800F-6993A1274BE7}" type="pres">
      <dgm:prSet presAssocID="{2926B5D7-7248-4393-BA45-DF0D3AEA011C}" presName="connectorText" presStyleLbl="sibTrans1D1" presStyleIdx="0" presStyleCnt="5"/>
      <dgm:spPr/>
    </dgm:pt>
    <dgm:pt modelId="{B28F9C54-0C01-49E1-832E-DE1870623E68}" type="pres">
      <dgm:prSet presAssocID="{1B5A9AC8-F850-40EE-A383-149A0B30BC6E}" presName="node" presStyleLbl="node1" presStyleIdx="1" presStyleCnt="6">
        <dgm:presLayoutVars>
          <dgm:bulletEnabled val="1"/>
        </dgm:presLayoutVars>
      </dgm:prSet>
      <dgm:spPr/>
    </dgm:pt>
    <dgm:pt modelId="{DBF8BDB9-F159-4C4B-96A8-6F5560C0B6CA}" type="pres">
      <dgm:prSet presAssocID="{B62FD741-F85A-4E9C-8648-617209854CD6}" presName="sibTrans" presStyleLbl="sibTrans1D1" presStyleIdx="1" presStyleCnt="5"/>
      <dgm:spPr/>
    </dgm:pt>
    <dgm:pt modelId="{307028C4-8011-49F4-8DBC-47C2E6C3E476}" type="pres">
      <dgm:prSet presAssocID="{B62FD741-F85A-4E9C-8648-617209854CD6}" presName="connectorText" presStyleLbl="sibTrans1D1" presStyleIdx="1" presStyleCnt="5"/>
      <dgm:spPr/>
    </dgm:pt>
    <dgm:pt modelId="{A95F198C-A440-45D7-A849-869F3C89C3D5}" type="pres">
      <dgm:prSet presAssocID="{4D7AE3CC-1753-413F-ADAA-E5D5A1D30F6C}" presName="node" presStyleLbl="node1" presStyleIdx="2" presStyleCnt="6">
        <dgm:presLayoutVars>
          <dgm:bulletEnabled val="1"/>
        </dgm:presLayoutVars>
      </dgm:prSet>
      <dgm:spPr/>
    </dgm:pt>
    <dgm:pt modelId="{AF3032B3-E041-43D1-A5F2-485D0D75B379}" type="pres">
      <dgm:prSet presAssocID="{78AE2B4C-3F44-4CA8-862A-FBF4BAFB6057}" presName="sibTrans" presStyleLbl="sibTrans1D1" presStyleIdx="2" presStyleCnt="5"/>
      <dgm:spPr/>
    </dgm:pt>
    <dgm:pt modelId="{A149AEDA-04EA-47DE-9CA2-411FE4541D87}" type="pres">
      <dgm:prSet presAssocID="{78AE2B4C-3F44-4CA8-862A-FBF4BAFB6057}" presName="connectorText" presStyleLbl="sibTrans1D1" presStyleIdx="2" presStyleCnt="5"/>
      <dgm:spPr/>
    </dgm:pt>
    <dgm:pt modelId="{6D47C5BF-BCC1-40F3-9A6E-0D6304872DC2}" type="pres">
      <dgm:prSet presAssocID="{6A18E3A6-1717-4BE9-8BEC-1D5284A0F889}" presName="node" presStyleLbl="node1" presStyleIdx="3" presStyleCnt="6">
        <dgm:presLayoutVars>
          <dgm:bulletEnabled val="1"/>
        </dgm:presLayoutVars>
      </dgm:prSet>
      <dgm:spPr/>
    </dgm:pt>
    <dgm:pt modelId="{32B99113-330A-461B-8FCC-8CF9DFF92C96}" type="pres">
      <dgm:prSet presAssocID="{AA788831-E2F4-4705-859C-70ADDD878499}" presName="sibTrans" presStyleLbl="sibTrans1D1" presStyleIdx="3" presStyleCnt="5"/>
      <dgm:spPr/>
    </dgm:pt>
    <dgm:pt modelId="{03C9769A-2659-4224-8F7F-F79BB767DD22}" type="pres">
      <dgm:prSet presAssocID="{AA788831-E2F4-4705-859C-70ADDD878499}" presName="connectorText" presStyleLbl="sibTrans1D1" presStyleIdx="3" presStyleCnt="5"/>
      <dgm:spPr/>
    </dgm:pt>
    <dgm:pt modelId="{88CE21DA-B425-409B-B3F1-E2BAAED3EE1C}" type="pres">
      <dgm:prSet presAssocID="{B5A82758-8729-4C7A-ABD9-C9CA336B5E14}" presName="node" presStyleLbl="node1" presStyleIdx="4" presStyleCnt="6">
        <dgm:presLayoutVars>
          <dgm:bulletEnabled val="1"/>
        </dgm:presLayoutVars>
      </dgm:prSet>
      <dgm:spPr/>
    </dgm:pt>
    <dgm:pt modelId="{06ACA6B3-11D9-48CA-804D-ACBAD4E5A26C}" type="pres">
      <dgm:prSet presAssocID="{4533D9A9-310F-45EE-BFC7-A33B15DC009E}" presName="sibTrans" presStyleLbl="sibTrans1D1" presStyleIdx="4" presStyleCnt="5"/>
      <dgm:spPr/>
    </dgm:pt>
    <dgm:pt modelId="{2E29CC39-07E6-4913-9A1F-10155C2F14D7}" type="pres">
      <dgm:prSet presAssocID="{4533D9A9-310F-45EE-BFC7-A33B15DC009E}" presName="connectorText" presStyleLbl="sibTrans1D1" presStyleIdx="4" presStyleCnt="5"/>
      <dgm:spPr/>
    </dgm:pt>
    <dgm:pt modelId="{574A9544-B331-470D-B281-9438DFC54FA1}" type="pres">
      <dgm:prSet presAssocID="{8E60C128-81C5-40A4-A4E6-848FA94AE930}" presName="node" presStyleLbl="node1" presStyleIdx="5" presStyleCnt="6">
        <dgm:presLayoutVars>
          <dgm:bulletEnabled val="1"/>
        </dgm:presLayoutVars>
      </dgm:prSet>
      <dgm:spPr/>
    </dgm:pt>
  </dgm:ptLst>
  <dgm:cxnLst>
    <dgm:cxn modelId="{250EAB03-0C92-4F6C-90A4-98CE75C7F411}" type="presOf" srcId="{8E60C128-81C5-40A4-A4E6-848FA94AE930}" destId="{574A9544-B331-470D-B281-9438DFC54FA1}" srcOrd="0" destOrd="0" presId="urn:microsoft.com/office/officeart/2016/7/layout/RepeatingBendingProcessNew"/>
    <dgm:cxn modelId="{0FDA4210-735A-40A7-B263-0BF32A715966}" srcId="{DDF338A9-51C2-4E16-8555-8335DE990017}" destId="{52ACB46A-23C8-4419-99EC-E50C7E08D9CC}" srcOrd="0" destOrd="0" parTransId="{6BCFFE16-77AB-4AF8-94AA-BE444D297265}" sibTransId="{2926B5D7-7248-4393-BA45-DF0D3AEA011C}"/>
    <dgm:cxn modelId="{3F842017-5F83-4FEF-9DE6-5FC401B1A931}" type="presOf" srcId="{B62FD741-F85A-4E9C-8648-617209854CD6}" destId="{DBF8BDB9-F159-4C4B-96A8-6F5560C0B6CA}" srcOrd="0" destOrd="0" presId="urn:microsoft.com/office/officeart/2016/7/layout/RepeatingBendingProcessNew"/>
    <dgm:cxn modelId="{ACDF7B20-FDFA-43EB-8242-6EED6165D285}" type="presOf" srcId="{AA788831-E2F4-4705-859C-70ADDD878499}" destId="{32B99113-330A-461B-8FCC-8CF9DFF92C96}" srcOrd="0" destOrd="0" presId="urn:microsoft.com/office/officeart/2016/7/layout/RepeatingBendingProcessNew"/>
    <dgm:cxn modelId="{97A66326-5529-492D-9BA1-F90CE1F3DB14}" type="presOf" srcId="{B5A82758-8729-4C7A-ABD9-C9CA336B5E14}" destId="{88CE21DA-B425-409B-B3F1-E2BAAED3EE1C}" srcOrd="0" destOrd="0" presId="urn:microsoft.com/office/officeart/2016/7/layout/RepeatingBendingProcessNew"/>
    <dgm:cxn modelId="{0402E82F-F224-47CF-B914-617417F87E70}" srcId="{DDF338A9-51C2-4E16-8555-8335DE990017}" destId="{1B5A9AC8-F850-40EE-A383-149A0B30BC6E}" srcOrd="1" destOrd="0" parTransId="{F18B2F60-AB8B-498E-BF5C-9716C436E9DD}" sibTransId="{B62FD741-F85A-4E9C-8648-617209854CD6}"/>
    <dgm:cxn modelId="{180A5137-B292-41D8-BE31-0DF1E026C645}" srcId="{DDF338A9-51C2-4E16-8555-8335DE990017}" destId="{8E60C128-81C5-40A4-A4E6-848FA94AE930}" srcOrd="5" destOrd="0" parTransId="{BB017F61-3A1B-471B-BDEF-9BDD2BE48942}" sibTransId="{5200B4BA-D86F-4ABC-A139-FDD50BB0CAAE}"/>
    <dgm:cxn modelId="{A2B8A438-96E5-49E2-AC8E-9EDD771F649D}" type="presOf" srcId="{DDF338A9-51C2-4E16-8555-8335DE990017}" destId="{D6C45E5D-4E3B-4B44-AA34-700FCF6B9A1C}" srcOrd="0" destOrd="0" presId="urn:microsoft.com/office/officeart/2016/7/layout/RepeatingBendingProcessNew"/>
    <dgm:cxn modelId="{15D5E839-E529-4A4E-B050-D28663FE91F8}" srcId="{DDF338A9-51C2-4E16-8555-8335DE990017}" destId="{6A18E3A6-1717-4BE9-8BEC-1D5284A0F889}" srcOrd="3" destOrd="0" parTransId="{7F8DE864-70CD-458D-9688-C7ADDF342475}" sibTransId="{AA788831-E2F4-4705-859C-70ADDD878499}"/>
    <dgm:cxn modelId="{8B62E142-3546-436C-BDC3-D9F6E34E5E35}" type="presOf" srcId="{52ACB46A-23C8-4419-99EC-E50C7E08D9CC}" destId="{858A71F6-C7F1-42BD-9BB6-0C2019A1A648}" srcOrd="0" destOrd="0" presId="urn:microsoft.com/office/officeart/2016/7/layout/RepeatingBendingProcessNew"/>
    <dgm:cxn modelId="{1407E849-728C-4A0A-A47D-54C458B6DCA5}" type="presOf" srcId="{78AE2B4C-3F44-4CA8-862A-FBF4BAFB6057}" destId="{AF3032B3-E041-43D1-A5F2-485D0D75B379}" srcOrd="0" destOrd="0" presId="urn:microsoft.com/office/officeart/2016/7/layout/RepeatingBendingProcessNew"/>
    <dgm:cxn modelId="{BBF58E53-273C-4AF4-BEDC-E1127AEAFE6A}" type="presOf" srcId="{4533D9A9-310F-45EE-BFC7-A33B15DC009E}" destId="{2E29CC39-07E6-4913-9A1F-10155C2F14D7}" srcOrd="1" destOrd="0" presId="urn:microsoft.com/office/officeart/2016/7/layout/RepeatingBendingProcessNew"/>
    <dgm:cxn modelId="{8DFC1C54-FFCA-4F38-9252-0A48E1EE5271}" type="presOf" srcId="{B62FD741-F85A-4E9C-8648-617209854CD6}" destId="{307028C4-8011-49F4-8DBC-47C2E6C3E476}" srcOrd="1" destOrd="0" presId="urn:microsoft.com/office/officeart/2016/7/layout/RepeatingBendingProcessNew"/>
    <dgm:cxn modelId="{58B6C254-FBD6-4F9C-B864-BA9E150C4B77}" srcId="{DDF338A9-51C2-4E16-8555-8335DE990017}" destId="{4D7AE3CC-1753-413F-ADAA-E5D5A1D30F6C}" srcOrd="2" destOrd="0" parTransId="{A094377A-0788-45BF-95CF-88CBE74A8B7A}" sibTransId="{78AE2B4C-3F44-4CA8-862A-FBF4BAFB6057}"/>
    <dgm:cxn modelId="{CDEFBE7C-9FB2-464E-94BB-307180387A8B}" type="presOf" srcId="{2926B5D7-7248-4393-BA45-DF0D3AEA011C}" destId="{EB90D172-589D-403C-800F-6993A1274BE7}" srcOrd="1" destOrd="0" presId="urn:microsoft.com/office/officeart/2016/7/layout/RepeatingBendingProcessNew"/>
    <dgm:cxn modelId="{CDFFC086-E07A-42DC-AEF6-DBD3260A26D2}" type="presOf" srcId="{2926B5D7-7248-4393-BA45-DF0D3AEA011C}" destId="{83A089D6-2643-4338-8060-4FEB29E924AE}" srcOrd="0" destOrd="0" presId="urn:microsoft.com/office/officeart/2016/7/layout/RepeatingBendingProcessNew"/>
    <dgm:cxn modelId="{FECF998D-DB3E-4C8C-A078-5AC620D30DB8}" type="presOf" srcId="{4533D9A9-310F-45EE-BFC7-A33B15DC009E}" destId="{06ACA6B3-11D9-48CA-804D-ACBAD4E5A26C}" srcOrd="0" destOrd="0" presId="urn:microsoft.com/office/officeart/2016/7/layout/RepeatingBendingProcessNew"/>
    <dgm:cxn modelId="{5C44AAA2-FE83-485A-9734-47719E67DB92}" srcId="{DDF338A9-51C2-4E16-8555-8335DE990017}" destId="{B5A82758-8729-4C7A-ABD9-C9CA336B5E14}" srcOrd="4" destOrd="0" parTransId="{A480A551-1798-4633-A641-AEC10B60B6B2}" sibTransId="{4533D9A9-310F-45EE-BFC7-A33B15DC009E}"/>
    <dgm:cxn modelId="{5BD497AC-D438-4D95-93B2-57C7386C4F15}" type="presOf" srcId="{AA788831-E2F4-4705-859C-70ADDD878499}" destId="{03C9769A-2659-4224-8F7F-F79BB767DD22}" srcOrd="1" destOrd="0" presId="urn:microsoft.com/office/officeart/2016/7/layout/RepeatingBendingProcessNew"/>
    <dgm:cxn modelId="{5428D5AE-5CCD-43A0-89F9-351DC4371CAD}" type="presOf" srcId="{4D7AE3CC-1753-413F-ADAA-E5D5A1D30F6C}" destId="{A95F198C-A440-45D7-A849-869F3C89C3D5}" srcOrd="0" destOrd="0" presId="urn:microsoft.com/office/officeart/2016/7/layout/RepeatingBendingProcessNew"/>
    <dgm:cxn modelId="{B95511B7-DD7D-4CD0-972A-ABD8DF411825}" type="presOf" srcId="{6A18E3A6-1717-4BE9-8BEC-1D5284A0F889}" destId="{6D47C5BF-BCC1-40F3-9A6E-0D6304872DC2}" srcOrd="0" destOrd="0" presId="urn:microsoft.com/office/officeart/2016/7/layout/RepeatingBendingProcessNew"/>
    <dgm:cxn modelId="{8956B7CD-95B3-4977-AFDE-623B9E0EC322}" type="presOf" srcId="{1B5A9AC8-F850-40EE-A383-149A0B30BC6E}" destId="{B28F9C54-0C01-49E1-832E-DE1870623E68}" srcOrd="0" destOrd="0" presId="urn:microsoft.com/office/officeart/2016/7/layout/RepeatingBendingProcessNew"/>
    <dgm:cxn modelId="{60BA69F8-EF1B-4F7C-ACDA-A9B226AF67AD}" type="presOf" srcId="{78AE2B4C-3F44-4CA8-862A-FBF4BAFB6057}" destId="{A149AEDA-04EA-47DE-9CA2-411FE4541D87}" srcOrd="1" destOrd="0" presId="urn:microsoft.com/office/officeart/2016/7/layout/RepeatingBendingProcessNew"/>
    <dgm:cxn modelId="{53595885-2F9E-498C-A030-B4488B2516CF}" type="presParOf" srcId="{D6C45E5D-4E3B-4B44-AA34-700FCF6B9A1C}" destId="{858A71F6-C7F1-42BD-9BB6-0C2019A1A648}" srcOrd="0" destOrd="0" presId="urn:microsoft.com/office/officeart/2016/7/layout/RepeatingBendingProcessNew"/>
    <dgm:cxn modelId="{A5E0BDCC-3620-435D-A2BF-9624A8FA8FA3}" type="presParOf" srcId="{D6C45E5D-4E3B-4B44-AA34-700FCF6B9A1C}" destId="{83A089D6-2643-4338-8060-4FEB29E924AE}" srcOrd="1" destOrd="0" presId="urn:microsoft.com/office/officeart/2016/7/layout/RepeatingBendingProcessNew"/>
    <dgm:cxn modelId="{F46585C2-604E-4710-B5CC-D4A8A9C6A010}" type="presParOf" srcId="{83A089D6-2643-4338-8060-4FEB29E924AE}" destId="{EB90D172-589D-403C-800F-6993A1274BE7}" srcOrd="0" destOrd="0" presId="urn:microsoft.com/office/officeart/2016/7/layout/RepeatingBendingProcessNew"/>
    <dgm:cxn modelId="{B2553E92-A68D-4C6D-8504-FEF26E23B5AA}" type="presParOf" srcId="{D6C45E5D-4E3B-4B44-AA34-700FCF6B9A1C}" destId="{B28F9C54-0C01-49E1-832E-DE1870623E68}" srcOrd="2" destOrd="0" presId="urn:microsoft.com/office/officeart/2016/7/layout/RepeatingBendingProcessNew"/>
    <dgm:cxn modelId="{06B8D9B7-B71B-4F6E-8363-2808A478818C}" type="presParOf" srcId="{D6C45E5D-4E3B-4B44-AA34-700FCF6B9A1C}" destId="{DBF8BDB9-F159-4C4B-96A8-6F5560C0B6CA}" srcOrd="3" destOrd="0" presId="urn:microsoft.com/office/officeart/2016/7/layout/RepeatingBendingProcessNew"/>
    <dgm:cxn modelId="{982C8EE4-67DE-45E6-A1AB-856DCE8C3319}" type="presParOf" srcId="{DBF8BDB9-F159-4C4B-96A8-6F5560C0B6CA}" destId="{307028C4-8011-49F4-8DBC-47C2E6C3E476}" srcOrd="0" destOrd="0" presId="urn:microsoft.com/office/officeart/2016/7/layout/RepeatingBendingProcessNew"/>
    <dgm:cxn modelId="{8B23E077-3704-4679-A9F4-7FB7A1BD2E4A}" type="presParOf" srcId="{D6C45E5D-4E3B-4B44-AA34-700FCF6B9A1C}" destId="{A95F198C-A440-45D7-A849-869F3C89C3D5}" srcOrd="4" destOrd="0" presId="urn:microsoft.com/office/officeart/2016/7/layout/RepeatingBendingProcessNew"/>
    <dgm:cxn modelId="{90D33C6F-00B1-4DA6-A839-0DE4B93E6A14}" type="presParOf" srcId="{D6C45E5D-4E3B-4B44-AA34-700FCF6B9A1C}" destId="{AF3032B3-E041-43D1-A5F2-485D0D75B379}" srcOrd="5" destOrd="0" presId="urn:microsoft.com/office/officeart/2016/7/layout/RepeatingBendingProcessNew"/>
    <dgm:cxn modelId="{4FD520C1-95BE-4708-ADF2-00A466ECC572}" type="presParOf" srcId="{AF3032B3-E041-43D1-A5F2-485D0D75B379}" destId="{A149AEDA-04EA-47DE-9CA2-411FE4541D87}" srcOrd="0" destOrd="0" presId="urn:microsoft.com/office/officeart/2016/7/layout/RepeatingBendingProcessNew"/>
    <dgm:cxn modelId="{774A5099-F80E-4DAD-8833-E21EDCD185DA}" type="presParOf" srcId="{D6C45E5D-4E3B-4B44-AA34-700FCF6B9A1C}" destId="{6D47C5BF-BCC1-40F3-9A6E-0D6304872DC2}" srcOrd="6" destOrd="0" presId="urn:microsoft.com/office/officeart/2016/7/layout/RepeatingBendingProcessNew"/>
    <dgm:cxn modelId="{EFAB52A5-A675-4194-B5D4-9D6F0AC0FA0A}" type="presParOf" srcId="{D6C45E5D-4E3B-4B44-AA34-700FCF6B9A1C}" destId="{32B99113-330A-461B-8FCC-8CF9DFF92C96}" srcOrd="7" destOrd="0" presId="urn:microsoft.com/office/officeart/2016/7/layout/RepeatingBendingProcessNew"/>
    <dgm:cxn modelId="{2E78BF37-9DE0-4C3E-AFD1-66D3F0462A76}" type="presParOf" srcId="{32B99113-330A-461B-8FCC-8CF9DFF92C96}" destId="{03C9769A-2659-4224-8F7F-F79BB767DD22}" srcOrd="0" destOrd="0" presId="urn:microsoft.com/office/officeart/2016/7/layout/RepeatingBendingProcessNew"/>
    <dgm:cxn modelId="{2996AB12-8A41-4958-A087-AB7773F6EFCE}" type="presParOf" srcId="{D6C45E5D-4E3B-4B44-AA34-700FCF6B9A1C}" destId="{88CE21DA-B425-409B-B3F1-E2BAAED3EE1C}" srcOrd="8" destOrd="0" presId="urn:microsoft.com/office/officeart/2016/7/layout/RepeatingBendingProcessNew"/>
    <dgm:cxn modelId="{F8422F4D-F9CE-4250-B9B9-96A2A486561E}" type="presParOf" srcId="{D6C45E5D-4E3B-4B44-AA34-700FCF6B9A1C}" destId="{06ACA6B3-11D9-48CA-804D-ACBAD4E5A26C}" srcOrd="9" destOrd="0" presId="urn:microsoft.com/office/officeart/2016/7/layout/RepeatingBendingProcessNew"/>
    <dgm:cxn modelId="{FC0BC5B7-01A1-4383-B498-E748FE32F4E4}" type="presParOf" srcId="{06ACA6B3-11D9-48CA-804D-ACBAD4E5A26C}" destId="{2E29CC39-07E6-4913-9A1F-10155C2F14D7}" srcOrd="0" destOrd="0" presId="urn:microsoft.com/office/officeart/2016/7/layout/RepeatingBendingProcessNew"/>
    <dgm:cxn modelId="{5DFC4E82-B880-4E05-8F8D-1B2A132A0BC2}" type="presParOf" srcId="{D6C45E5D-4E3B-4B44-AA34-700FCF6B9A1C}" destId="{574A9544-B331-470D-B281-9438DFC54FA1}"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dgm:spPr/>
      <dgm:t>
        <a:bodyPr/>
        <a:lstStyle/>
        <a:p>
          <a:endParaRPr lang="en-US"/>
        </a:p>
      </dgm:t>
    </dgm:pt>
    <dgm:pt modelId="{6CE4602D-23F6-4D05-9541-B73B75846F4F}">
      <dgm:prSet/>
      <dgm:spPr/>
      <dgm:t>
        <a:bodyPr/>
        <a:lstStyle/>
        <a:p>
          <a:r>
            <a:rPr lang="fr-FR" b="1" dirty="0"/>
            <a:t>Actualiser la cartographie des sites de vaccination</a:t>
          </a:r>
          <a:br>
            <a:rPr lang="fr-FR" dirty="0"/>
          </a:br>
          <a:r>
            <a:rPr lang="fr-FR" dirty="0"/>
            <a:t>Mettre à jour la carte des sites par aire de santé afin de garantir que chaque communauté, en particulier dans les zones avec un grand nombre d’enfants non vaccinés, ait accès à un point de vaccination situé à moins de cinq kilomètres du lieu de résidence.</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Renforcer les ressources humaines en vaccination</a:t>
          </a:r>
          <a:br>
            <a:rPr lang="fr-FR" dirty="0"/>
          </a:br>
          <a:r>
            <a:rPr lang="fr-FR"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Mettre en place un suivi rapproché des activités vaccinales</a:t>
          </a:r>
          <a:br>
            <a:rPr lang="fr-FR" dirty="0"/>
          </a:br>
          <a:r>
            <a:rPr lang="fr-FR" dirty="0"/>
            <a:t>Développer un système numérique permettant de suivre la tenue des séances de vaccination, la supervision formative par les aires de santé, et d’organiser des revues trimestrielles à tous les niveaux de la pyramide sanitaire.</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Installer un système électronique intégré de gestion des vaccins</a:t>
          </a:r>
          <a:br>
            <a:rPr lang="fr-FR" dirty="0"/>
          </a:br>
          <a:r>
            <a:rPr lang="fr-FR" dirty="0"/>
            <a:t>Déployer un dispositif numérique en temps réel pour suivre la disponibilité et l’utilisation des vaccins ainsi que des autres intrants. Ce système devra intégrer un mécanisme d’alerte fonctionnel à chaque niveau : province, antenne PEV, zone de santé et centre de santé.</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b="1" dirty="0"/>
            <a:t>Relancer les campagnes de sensibilisation</a:t>
          </a:r>
          <a:br>
            <a:rPr lang="fr-FR" dirty="0"/>
          </a:br>
          <a:r>
            <a:rPr lang="fr-FR" dirty="0"/>
            <a:t>Intensifier la communication sur la vaccination de routine en combinant deux approches :</a:t>
          </a:r>
          <a:endParaRPr lang="en-US"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04203D75-E545-4144-8AC6-AF29CDECEFA6}">
      <dgm:prSet/>
      <dgm:spPr/>
      <dgm:t>
        <a:bodyPr/>
        <a:lstStyle/>
        <a:p>
          <a:r>
            <a:rPr lang="fr-FR" dirty="0"/>
            <a:t>La communication de masse à travers les médias,</a:t>
          </a:r>
          <a:endParaRPr lang="en-US" dirty="0"/>
        </a:p>
      </dgm:t>
    </dgm:pt>
    <dgm:pt modelId="{A3D99EF8-64D5-4E91-9241-DC879F7F386B}" type="parTrans" cxnId="{E45466D1-59A0-443F-BAAB-7D238164FEA1}">
      <dgm:prSet/>
      <dgm:spPr/>
      <dgm:t>
        <a:bodyPr/>
        <a:lstStyle/>
        <a:p>
          <a:endParaRPr lang="en-US"/>
        </a:p>
      </dgm:t>
    </dgm:pt>
    <dgm:pt modelId="{3CAD8B40-6354-4FA1-84E1-F4C891DE0978}" type="sibTrans" cxnId="{E45466D1-59A0-443F-BAAB-7D238164FEA1}">
      <dgm:prSet/>
      <dgm:spPr/>
      <dgm:t>
        <a:bodyPr/>
        <a:lstStyle/>
        <a:p>
          <a:endParaRPr lang="en-US"/>
        </a:p>
      </dgm:t>
    </dgm:pt>
    <dgm:pt modelId="{51C471FC-1C25-462D-A9D8-B79B542F122B}">
      <dgm:prSet/>
      <dgm:spPr/>
      <dgm:t>
        <a:bodyPr/>
        <a:lstStyle/>
        <a:p>
          <a:r>
            <a:rPr lang="fr-FR" dirty="0"/>
            <a:t>La mobilisation communautaire de proximité par les cellules d’animation communautaires (CAC), les agents de santé communautaires (ASC) et les relais communautaires (RECO).</a:t>
          </a:r>
          <a:endParaRPr lang="en-US" dirty="0"/>
        </a:p>
      </dgm:t>
    </dgm:pt>
    <dgm:pt modelId="{8B9DD593-D36D-495F-A17B-84DF2E3C5430}" type="parTrans" cxnId="{576CFCC5-5AC3-495F-A445-03C1DD121B11}">
      <dgm:prSet/>
      <dgm:spPr/>
      <dgm:t>
        <a:bodyPr/>
        <a:lstStyle/>
        <a:p>
          <a:endParaRPr lang="en-US"/>
        </a:p>
      </dgm:t>
    </dgm:pt>
    <dgm:pt modelId="{64A174B4-9091-490E-8874-2142F63F4462}" type="sibTrans" cxnId="{576CFCC5-5AC3-495F-A445-03C1DD121B11}">
      <dgm:prSet/>
      <dgm:spPr/>
      <dgm:t>
        <a:bodyPr/>
        <a:lstStyle/>
        <a:p>
          <a:endParaRPr lang="en-US"/>
        </a:p>
      </dgm:t>
    </dgm:pt>
    <dgm:pt modelId="{06EC2764-DA00-4F18-B279-66BC42A21C3E}">
      <dgm:prSet/>
      <dgm:spPr/>
      <dgm:t>
        <a:bodyPr/>
        <a:lstStyle/>
        <a:p>
          <a:r>
            <a:rPr lang="fr-FR" b="1" dirty="0"/>
            <a:t>Mobiliser pleinement les acteurs de la santé communautaires en faveur de la vaccination</a:t>
          </a:r>
          <a:br>
            <a:rPr lang="fr-FR" dirty="0"/>
          </a:br>
          <a:r>
            <a:rPr lang="fr-FR" dirty="0"/>
            <a:t>Faire de la vaccination un axe prioritaire des activités des CAC, ASC et RECO. Cela implique leur formation et leur équipement pour identifier systématiquement les enfants en âge vaccinal et assurer un suivi individualisé par la communauté jusqu’à l’achèvement complet du calendrier vaccinal.</a:t>
          </a:r>
          <a:endParaRPr lang="en-US" dirty="0"/>
        </a:p>
      </dgm:t>
    </dgm:pt>
    <dgm:pt modelId="{C0D9E2D0-6516-4DDB-8D33-6416B9D95A12}" type="parTrans" cxnId="{6DBC74C5-3FE8-4005-9B60-2630CF8A6205}">
      <dgm:prSet/>
      <dgm:spPr/>
      <dgm:t>
        <a:bodyPr/>
        <a:lstStyle/>
        <a:p>
          <a:endParaRPr lang="en-US"/>
        </a:p>
      </dgm:t>
    </dgm:pt>
    <dgm:pt modelId="{55EC855D-8533-40F7-880A-A3F1D9043D85}" type="sibTrans" cxnId="{6DBC74C5-3FE8-4005-9B60-2630CF8A6205}">
      <dgm:prSet/>
      <dgm:spPr/>
      <dgm:t>
        <a:bodyPr/>
        <a:lstStyle/>
        <a:p>
          <a:endParaRPr lang="en-US"/>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6">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6">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6">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6">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6">
        <dgm:presLayoutVars>
          <dgm:bulletEnabled val="1"/>
        </dgm:presLayoutVars>
      </dgm:prSet>
      <dgm:spPr/>
    </dgm:pt>
    <dgm:pt modelId="{D2389038-4D94-4B95-BBD5-1DC7AD2F410C}" type="pres">
      <dgm:prSet presAssocID="{4AA556B5-B6B0-4DB3-A67E-9F11F1CAD948}" presName="sibTrans" presStyleCnt="0"/>
      <dgm:spPr/>
    </dgm:pt>
    <dgm:pt modelId="{187CEDC1-BBA1-46D0-8175-13D87C784038}" type="pres">
      <dgm:prSet presAssocID="{06EC2764-DA00-4F18-B279-66BC42A21C3E}" presName="node" presStyleLbl="node1" presStyleIdx="5" presStyleCnt="6">
        <dgm:presLayoutVars>
          <dgm:bulletEnabled val="1"/>
        </dgm:presLayoutVars>
      </dgm:prSet>
      <dgm:spPr/>
    </dgm:pt>
  </dgm:ptLst>
  <dgm:cxnLs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476A121E-B89B-45CC-BADB-0825B861F812}" srcId="{D991B4CC-8BB2-466E-BD0E-208D89F3BA71}" destId="{6077063F-FCAA-4A93-8970-19E35BFE8F63}" srcOrd="1" destOrd="0" parTransId="{78C604DC-1677-4C5C-A5DD-5AB5620C6B9F}" sibTransId="{AAC0F31A-333C-473F-BAED-8B9B89697355}"/>
    <dgm:cxn modelId="{46086E75-DAC4-47C7-AB62-8EBFE5D80FE7}" type="presOf" srcId="{D991B4CC-8BB2-466E-BD0E-208D89F3BA71}" destId="{25C6625D-3B6B-4C07-8CA9-18D96387A9D6}"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F35EA581-3C1E-45D0-9579-1B7865B5B58F}" type="presOf" srcId="{04203D75-E545-4144-8AC6-AF29CDECEFA6}" destId="{B4770224-D171-4A36-B74E-ABBECBB6F135}" srcOrd="0" destOrd="1" presId="urn:microsoft.com/office/officeart/2005/8/layout/default"/>
    <dgm:cxn modelId="{21CFAF86-9675-45CA-99EA-5E14C215A1CD}" type="presOf" srcId="{FFC75C7B-0BA5-49A4-8B68-A3B1EFA16C88}" destId="{A1809695-4A6C-4A59-BBBF-85C21CEC5019}" srcOrd="0" destOrd="0" presId="urn:microsoft.com/office/officeart/2005/8/layout/default"/>
    <dgm:cxn modelId="{9299F0A5-A9F4-4ABE-8270-E98507E84937}" type="presOf" srcId="{51C471FC-1C25-462D-A9D8-B79B542F122B}" destId="{B4770224-D171-4A36-B74E-ABBECBB6F135}" srcOrd="0" destOrd="2" presId="urn:microsoft.com/office/officeart/2005/8/layout/default"/>
    <dgm:cxn modelId="{608D61AC-C2A5-4A07-A0D4-28B60DA2EF2D}" type="presOf" srcId="{6077063F-FCAA-4A93-8970-19E35BFE8F63}" destId="{73D1CBD7-18B4-499D-9859-B2A0C8603314}" srcOrd="0" destOrd="0" presId="urn:microsoft.com/office/officeart/2005/8/layout/default"/>
    <dgm:cxn modelId="{51195EBA-7CAE-4860-966E-1A2564C6A170}" type="presOf" srcId="{06EC2764-DA00-4F18-B279-66BC42A21C3E}" destId="{187CEDC1-BBA1-46D0-8175-13D87C784038}" srcOrd="0" destOrd="0" presId="urn:microsoft.com/office/officeart/2005/8/layout/default"/>
    <dgm:cxn modelId="{6DBC74C5-3FE8-4005-9B60-2630CF8A6205}" srcId="{D991B4CC-8BB2-466E-BD0E-208D89F3BA71}" destId="{06EC2764-DA00-4F18-B279-66BC42A21C3E}" srcOrd="5" destOrd="0" parTransId="{C0D9E2D0-6516-4DDB-8D33-6416B9D95A12}" sibTransId="{55EC855D-8533-40F7-880A-A3F1D9043D85}"/>
    <dgm:cxn modelId="{576CFCC5-5AC3-495F-A445-03C1DD121B11}" srcId="{47FA2136-C2A0-4CB2-8E56-F4D4AD2BCF1E}" destId="{51C471FC-1C25-462D-A9D8-B79B542F122B}" srcOrd="1" destOrd="0" parTransId="{8B9DD593-D36D-495F-A17B-84DF2E3C5430}" sibTransId="{64A174B4-9091-490E-8874-2142F63F4462}"/>
    <dgm:cxn modelId="{E9E11ECB-C170-44D1-9AB8-88A01A713D0F}" type="presOf" srcId="{47FA2136-C2A0-4CB2-8E56-F4D4AD2BCF1E}" destId="{B4770224-D171-4A36-B74E-ABBECBB6F135}" srcOrd="0" destOrd="0" presId="urn:microsoft.com/office/officeart/2005/8/layout/default"/>
    <dgm:cxn modelId="{E45466D1-59A0-443F-BAAB-7D238164FEA1}" srcId="{47FA2136-C2A0-4CB2-8E56-F4D4AD2BCF1E}" destId="{04203D75-E545-4144-8AC6-AF29CDECEFA6}" srcOrd="0" destOrd="0" parTransId="{A3D99EF8-64D5-4E91-9241-DC879F7F386B}" sibTransId="{3CAD8B40-6354-4FA1-84E1-F4C891DE0978}"/>
    <dgm:cxn modelId="{831754ED-7774-400F-8002-488070944F7E}" type="presOf" srcId="{6CE4602D-23F6-4D05-9541-B73B75846F4F}" destId="{957A6E9D-9D71-4A44-83AE-2F08E50F8B0C}" srcOrd="0" destOrd="0" presId="urn:microsoft.com/office/officeart/2005/8/layout/default"/>
    <dgm:cxn modelId="{628854ED-BC31-46D2-9DA0-9E832709AF55}" type="presOf" srcId="{464CC11E-32E0-411D-A2AD-2AE33FC1F934}" destId="{6352FE89-A948-47C6-ADCD-7154E7086BA8}" srcOrd="0" destOrd="0"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181BBB0B-9359-4C27-B0E5-D90008AC3C85}" type="presParOf" srcId="{25C6625D-3B6B-4C07-8CA9-18D96387A9D6}" destId="{957A6E9D-9D71-4A44-83AE-2F08E50F8B0C}" srcOrd="0" destOrd="0" presId="urn:microsoft.com/office/officeart/2005/8/layout/default"/>
    <dgm:cxn modelId="{ECF22EE7-F3D5-429D-87DD-6C00407C72EE}" type="presParOf" srcId="{25C6625D-3B6B-4C07-8CA9-18D96387A9D6}" destId="{F125B320-927F-4C76-8F9E-0609E3100841}" srcOrd="1" destOrd="0" presId="urn:microsoft.com/office/officeart/2005/8/layout/default"/>
    <dgm:cxn modelId="{0FBAD79F-0BC0-4D44-8CEF-F80336A0DCBE}" type="presParOf" srcId="{25C6625D-3B6B-4C07-8CA9-18D96387A9D6}" destId="{73D1CBD7-18B4-499D-9859-B2A0C8603314}" srcOrd="2" destOrd="0" presId="urn:microsoft.com/office/officeart/2005/8/layout/default"/>
    <dgm:cxn modelId="{D4F552B2-0AF1-4A30-8890-AB5F630B4494}" type="presParOf" srcId="{25C6625D-3B6B-4C07-8CA9-18D96387A9D6}" destId="{653C982F-E68B-468D-A247-EE35ED6500E8}" srcOrd="3" destOrd="0" presId="urn:microsoft.com/office/officeart/2005/8/layout/default"/>
    <dgm:cxn modelId="{4C69E908-86B2-45BA-927C-43EB6374F698}" type="presParOf" srcId="{25C6625D-3B6B-4C07-8CA9-18D96387A9D6}" destId="{A1809695-4A6C-4A59-BBBF-85C21CEC5019}" srcOrd="4" destOrd="0" presId="urn:microsoft.com/office/officeart/2005/8/layout/default"/>
    <dgm:cxn modelId="{E5C6BF68-FA5F-4DD5-8CCB-DAB040262993}" type="presParOf" srcId="{25C6625D-3B6B-4C07-8CA9-18D96387A9D6}" destId="{63DA4C4C-4744-43A4-AFB6-BB1BE012AB70}" srcOrd="5" destOrd="0" presId="urn:microsoft.com/office/officeart/2005/8/layout/default"/>
    <dgm:cxn modelId="{AB5C3C43-60B2-4993-B493-956DD8D3E9AD}" type="presParOf" srcId="{25C6625D-3B6B-4C07-8CA9-18D96387A9D6}" destId="{6352FE89-A948-47C6-ADCD-7154E7086BA8}" srcOrd="6" destOrd="0" presId="urn:microsoft.com/office/officeart/2005/8/layout/default"/>
    <dgm:cxn modelId="{26368614-2415-4ECE-8437-EA60B4ACDF73}" type="presParOf" srcId="{25C6625D-3B6B-4C07-8CA9-18D96387A9D6}" destId="{E83A65A9-F23E-42AF-AD89-81A83D93482E}" srcOrd="7" destOrd="0" presId="urn:microsoft.com/office/officeart/2005/8/layout/default"/>
    <dgm:cxn modelId="{F8643F4D-A2D1-45BF-9885-79079FEF49F5}" type="presParOf" srcId="{25C6625D-3B6B-4C07-8CA9-18D96387A9D6}" destId="{B4770224-D171-4A36-B74E-ABBECBB6F135}" srcOrd="8" destOrd="0" presId="urn:microsoft.com/office/officeart/2005/8/layout/default"/>
    <dgm:cxn modelId="{BBCE7377-D097-4029-8432-635C96B021DB}" type="presParOf" srcId="{25C6625D-3B6B-4C07-8CA9-18D96387A9D6}" destId="{D2389038-4D94-4B95-BBD5-1DC7AD2F410C}" srcOrd="9" destOrd="0" presId="urn:microsoft.com/office/officeart/2005/8/layout/default"/>
    <dgm:cxn modelId="{1C3BA2E4-8E2E-4075-9B13-365BEEEF6FD3}" type="presParOf" srcId="{25C6625D-3B6B-4C07-8CA9-18D96387A9D6}" destId="{187CEDC1-BBA1-46D0-8175-13D87C784038}"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phldr="1"/>
      <dgm:spPr/>
      <dgm:t>
        <a:bodyPr/>
        <a:lstStyle/>
        <a:p>
          <a:endParaRPr lang="en-US"/>
        </a:p>
      </dgm:t>
    </dgm:pt>
    <dgm:pt modelId="{6CE4602D-23F6-4D05-9541-B73B75846F4F}">
      <dgm:prSet/>
      <dgm:spPr/>
      <dgm:t>
        <a:bodyPr/>
        <a:lstStyle/>
        <a:p>
          <a:r>
            <a:rPr lang="fr-FR" b="1" dirty="0"/>
            <a:t>Actualiser la cartographie nationale des sites de vaccination</a:t>
          </a:r>
          <a:endParaRPr lang="fr-FR" dirty="0"/>
        </a:p>
        <a:p>
          <a:pPr>
            <a:buFont typeface="Arial" panose="020B0604020202020204" pitchFamily="34" charset="0"/>
            <a:buChar char="•"/>
          </a:pPr>
          <a:r>
            <a:rPr lang="fr-FR" dirty="0"/>
            <a:t>Conduire un exercice national de mise à jour de la cartographie des sites fixes, avancés et mobiles de vaccination, par aire de santé.</a:t>
          </a:r>
        </a:p>
        <a:p>
          <a:pPr>
            <a:buFont typeface="Arial" panose="020B0604020202020204" pitchFamily="34" charset="0"/>
            <a:buChar char="•"/>
          </a:pPr>
          <a:r>
            <a:rPr lang="fr-FR" dirty="0"/>
            <a:t>Intégrer cette cartographie dans le Système National d’Information Sanitaire (SNIS DHIS2) pour garantir </a:t>
          </a:r>
          <a:r>
            <a:rPr lang="fr-FR" b="0" dirty="0"/>
            <a:t>toutes les communautés ont </a:t>
          </a:r>
          <a:r>
            <a:rPr lang="fr-FR" dirty="0"/>
            <a:t>une accessibilité équitable à moins de 5 km des ménages.</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Renforcer la politique nationale des ressources humaines pour la vaccination</a:t>
          </a:r>
          <a:br>
            <a:rPr lang="fr-FR" dirty="0"/>
          </a:br>
          <a:r>
            <a:rPr lang="fr-FR" dirty="0"/>
            <a:t>Intégrer la fonction des agents de santé communautaires (ASC) Comme vaccinateur dans les directives nationales, sur le modèle des bonnes pratiques régionales (ex. expérience éthiopienne).</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Institutionnaliser un système national de suivi numérique des activités vaccinales</a:t>
          </a:r>
          <a:br>
            <a:rPr lang="fr-FR" dirty="0"/>
          </a:br>
          <a:r>
            <a:rPr lang="fr-FR" dirty="0"/>
            <a:t>Développer et déployer / Renforcer une plateforme numérique nationale pour le suivi en temps réel de la tenue des séances, de la supervision formative et des revues trimestrielles.</a:t>
          </a:r>
        </a:p>
        <a:p>
          <a:r>
            <a:rPr lang="fr-FR" dirty="0"/>
            <a:t>Intégrer ce système au cadre de suivi du PEV et au tableau de bord national de performance.</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Mettre en place un système électronique intégré de gestion des vaccins (E-LMIS)</a:t>
          </a:r>
          <a:br>
            <a:rPr lang="fr-FR" dirty="0"/>
          </a:br>
          <a:r>
            <a:rPr lang="fr-FR" dirty="0"/>
            <a:t>Finaliser et généraliser l’implémentation d’un système national de gestion électronique des vaccins et intrants, avec mécanisme d’alerte automatique sur les ruptures et les excédents à chaque niveau.</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b="1" dirty="0"/>
            <a:t>Relancer la communication nationale sur la vaccination</a:t>
          </a:r>
          <a:br>
            <a:rPr lang="fr-FR" dirty="0"/>
          </a:br>
          <a:r>
            <a:rPr lang="fr-FR" dirty="0"/>
            <a:t>Élaborer et mettre en œuvre une stratégie nationale de communication de masse en synergie avec les médias publics et privés, axée sur la vaccination de routine et la lutte contre les rumeurs</a:t>
          </a:r>
          <a:endParaRPr lang="en-US"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06EC2764-DA00-4F18-B279-66BC42A21C3E}">
      <dgm:prSet/>
      <dgm:spPr/>
      <dgm:t>
        <a:bodyPr/>
        <a:lstStyle/>
        <a:p>
          <a:r>
            <a:rPr lang="fr-FR" b="1"/>
            <a:t>Renforcer l’intégration de la vaccination dans la santé communautaire</a:t>
          </a:r>
          <a:endParaRPr lang="en-US"/>
        </a:p>
        <a:p>
          <a:r>
            <a:rPr lang="fr-FR">
              <a:solidFill>
                <a:prstClr val="white"/>
              </a:solidFill>
              <a:latin typeface="Aptos" panose="02110004020202020204"/>
              <a:ea typeface="+mn-ea"/>
              <a:cs typeface="+mn-cs"/>
            </a:rPr>
            <a:t>Intégrer la vaccination comme axe prioritaire du Plan National de Santé Communautaire, en dotant les CAC, ASC et RECO de moyens et de formations nécessaires à l’identification et au suivi des enfants non vaccinés.</a:t>
          </a:r>
          <a:endParaRPr lang="en-US" dirty="0"/>
        </a:p>
      </dgm:t>
    </dgm:pt>
    <dgm:pt modelId="{C0D9E2D0-6516-4DDB-8D33-6416B9D95A12}" type="parTrans" cxnId="{6DBC74C5-3FE8-4005-9B60-2630CF8A6205}">
      <dgm:prSet/>
      <dgm:spPr/>
      <dgm:t>
        <a:bodyPr/>
        <a:lstStyle/>
        <a:p>
          <a:endParaRPr lang="en-US"/>
        </a:p>
      </dgm:t>
    </dgm:pt>
    <dgm:pt modelId="{55EC855D-8533-40F7-880A-A3F1D9043D85}" type="sibTrans" cxnId="{6DBC74C5-3FE8-4005-9B60-2630CF8A6205}">
      <dgm:prSet/>
      <dgm:spPr/>
      <dgm:t>
        <a:bodyPr/>
        <a:lstStyle/>
        <a:p>
          <a:endParaRPr lang="en-US"/>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6">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6">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6">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6">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6">
        <dgm:presLayoutVars>
          <dgm:bulletEnabled val="1"/>
        </dgm:presLayoutVars>
      </dgm:prSet>
      <dgm:spPr/>
    </dgm:pt>
    <dgm:pt modelId="{D2389038-4D94-4B95-BBD5-1DC7AD2F410C}" type="pres">
      <dgm:prSet presAssocID="{4AA556B5-B6B0-4DB3-A67E-9F11F1CAD948}" presName="sibTrans" presStyleCnt="0"/>
      <dgm:spPr/>
    </dgm:pt>
    <dgm:pt modelId="{187CEDC1-BBA1-46D0-8175-13D87C784038}" type="pres">
      <dgm:prSet presAssocID="{06EC2764-DA00-4F18-B279-66BC42A21C3E}" presName="node" presStyleLbl="node1" presStyleIdx="5" presStyleCnt="6">
        <dgm:presLayoutVars>
          <dgm:bulletEnabled val="1"/>
        </dgm:presLayoutVars>
      </dgm:prSet>
      <dgm:spPr/>
    </dgm:pt>
  </dgm:ptLst>
  <dgm:cxnLs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476A121E-B89B-45CC-BADB-0825B861F812}" srcId="{D991B4CC-8BB2-466E-BD0E-208D89F3BA71}" destId="{6077063F-FCAA-4A93-8970-19E35BFE8F63}" srcOrd="1" destOrd="0" parTransId="{78C604DC-1677-4C5C-A5DD-5AB5620C6B9F}" sibTransId="{AAC0F31A-333C-473F-BAED-8B9B89697355}"/>
    <dgm:cxn modelId="{F5FDD64F-213F-4193-8B6B-48ED33720FE0}" type="presOf" srcId="{47FA2136-C2A0-4CB2-8E56-F4D4AD2BCF1E}" destId="{B4770224-D171-4A36-B74E-ABBECBB6F135}"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BA3A4590-D7FA-4506-A80A-D78A7476D5DA}" type="presOf" srcId="{464CC11E-32E0-411D-A2AD-2AE33FC1F934}" destId="{6352FE89-A948-47C6-ADCD-7154E7086BA8}" srcOrd="0" destOrd="0" presId="urn:microsoft.com/office/officeart/2005/8/layout/default"/>
    <dgm:cxn modelId="{6DBC74C5-3FE8-4005-9B60-2630CF8A6205}" srcId="{D991B4CC-8BB2-466E-BD0E-208D89F3BA71}" destId="{06EC2764-DA00-4F18-B279-66BC42A21C3E}" srcOrd="5" destOrd="0" parTransId="{C0D9E2D0-6516-4DDB-8D33-6416B9D95A12}" sibTransId="{55EC855D-8533-40F7-880A-A3F1D9043D85}"/>
    <dgm:cxn modelId="{051F4BC8-6A2A-4922-B14D-526D883A767D}" type="presOf" srcId="{6CE4602D-23F6-4D05-9541-B73B75846F4F}" destId="{957A6E9D-9D71-4A44-83AE-2F08E50F8B0C}" srcOrd="0" destOrd="0" presId="urn:microsoft.com/office/officeart/2005/8/layout/default"/>
    <dgm:cxn modelId="{9B56A7CA-8FE0-4D28-9313-E1CFD2D373B5}" type="presOf" srcId="{6077063F-FCAA-4A93-8970-19E35BFE8F63}" destId="{73D1CBD7-18B4-499D-9859-B2A0C8603314}" srcOrd="0" destOrd="0" presId="urn:microsoft.com/office/officeart/2005/8/layout/default"/>
    <dgm:cxn modelId="{47CD76E1-B53F-4988-87BD-BE2FD29273DB}" type="presOf" srcId="{06EC2764-DA00-4F18-B279-66BC42A21C3E}" destId="{187CEDC1-BBA1-46D0-8175-13D87C784038}" srcOrd="0" destOrd="0" presId="urn:microsoft.com/office/officeart/2005/8/layout/default"/>
    <dgm:cxn modelId="{0E5FDDE4-D661-4DCD-9104-9E1A34C9A06D}" type="presOf" srcId="{D991B4CC-8BB2-466E-BD0E-208D89F3BA71}" destId="{25C6625D-3B6B-4C07-8CA9-18D96387A9D6}" srcOrd="0" destOrd="0"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A0B2AFF0-9A3E-4096-B989-A85E1F42D402}" type="presOf" srcId="{FFC75C7B-0BA5-49A4-8B68-A3B1EFA16C88}" destId="{A1809695-4A6C-4A59-BBBF-85C21CEC5019}" srcOrd="0" destOrd="0" presId="urn:microsoft.com/office/officeart/2005/8/layout/default"/>
    <dgm:cxn modelId="{14DE498D-AA2A-4F6B-9E37-76AD820D0DFE}" type="presParOf" srcId="{25C6625D-3B6B-4C07-8CA9-18D96387A9D6}" destId="{957A6E9D-9D71-4A44-83AE-2F08E50F8B0C}" srcOrd="0" destOrd="0" presId="urn:microsoft.com/office/officeart/2005/8/layout/default"/>
    <dgm:cxn modelId="{ED6EFD6B-A5AB-42CC-9E0B-59D1B0084C87}" type="presParOf" srcId="{25C6625D-3B6B-4C07-8CA9-18D96387A9D6}" destId="{F125B320-927F-4C76-8F9E-0609E3100841}" srcOrd="1" destOrd="0" presId="urn:microsoft.com/office/officeart/2005/8/layout/default"/>
    <dgm:cxn modelId="{2FC2C7EE-8AA0-457F-B8A6-6B4B17DC41F7}" type="presParOf" srcId="{25C6625D-3B6B-4C07-8CA9-18D96387A9D6}" destId="{73D1CBD7-18B4-499D-9859-B2A0C8603314}" srcOrd="2" destOrd="0" presId="urn:microsoft.com/office/officeart/2005/8/layout/default"/>
    <dgm:cxn modelId="{47DFF841-A290-48E6-A4EE-2ABDE42F74F7}" type="presParOf" srcId="{25C6625D-3B6B-4C07-8CA9-18D96387A9D6}" destId="{653C982F-E68B-468D-A247-EE35ED6500E8}" srcOrd="3" destOrd="0" presId="urn:microsoft.com/office/officeart/2005/8/layout/default"/>
    <dgm:cxn modelId="{4FAC5FA8-27E4-4D50-910F-0858F7CE86EA}" type="presParOf" srcId="{25C6625D-3B6B-4C07-8CA9-18D96387A9D6}" destId="{A1809695-4A6C-4A59-BBBF-85C21CEC5019}" srcOrd="4" destOrd="0" presId="urn:microsoft.com/office/officeart/2005/8/layout/default"/>
    <dgm:cxn modelId="{0EC2B316-6186-4F8C-A5FA-78CC4C781E0E}" type="presParOf" srcId="{25C6625D-3B6B-4C07-8CA9-18D96387A9D6}" destId="{63DA4C4C-4744-43A4-AFB6-BB1BE012AB70}" srcOrd="5" destOrd="0" presId="urn:microsoft.com/office/officeart/2005/8/layout/default"/>
    <dgm:cxn modelId="{C0DB1C79-0BF6-41C1-B2E5-03790B5E967A}" type="presParOf" srcId="{25C6625D-3B6B-4C07-8CA9-18D96387A9D6}" destId="{6352FE89-A948-47C6-ADCD-7154E7086BA8}" srcOrd="6" destOrd="0" presId="urn:microsoft.com/office/officeart/2005/8/layout/default"/>
    <dgm:cxn modelId="{C85D99F1-38DE-4369-92A9-A6CBFA9C554A}" type="presParOf" srcId="{25C6625D-3B6B-4C07-8CA9-18D96387A9D6}" destId="{E83A65A9-F23E-42AF-AD89-81A83D93482E}" srcOrd="7" destOrd="0" presId="urn:microsoft.com/office/officeart/2005/8/layout/default"/>
    <dgm:cxn modelId="{768BDBA1-007E-4609-95A2-4DCB8EC030A4}" type="presParOf" srcId="{25C6625D-3B6B-4C07-8CA9-18D96387A9D6}" destId="{B4770224-D171-4A36-B74E-ABBECBB6F135}" srcOrd="8" destOrd="0" presId="urn:microsoft.com/office/officeart/2005/8/layout/default"/>
    <dgm:cxn modelId="{5257B702-1E86-4D94-815A-3EFD13C98DDF}" type="presParOf" srcId="{25C6625D-3B6B-4C07-8CA9-18D96387A9D6}" destId="{D2389038-4D94-4B95-BBD5-1DC7AD2F410C}" srcOrd="9" destOrd="0" presId="urn:microsoft.com/office/officeart/2005/8/layout/default"/>
    <dgm:cxn modelId="{01A37014-8104-4BCC-8DCA-37D2DA086272}" type="presParOf" srcId="{25C6625D-3B6B-4C07-8CA9-18D96387A9D6}" destId="{187CEDC1-BBA1-46D0-8175-13D87C784038}"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phldr="1"/>
      <dgm:spPr/>
      <dgm:t>
        <a:bodyPr/>
        <a:lstStyle/>
        <a:p>
          <a:endParaRPr lang="en-US"/>
        </a:p>
      </dgm:t>
    </dgm:pt>
    <dgm:pt modelId="{6CE4602D-23F6-4D05-9541-B73B75846F4F}">
      <dgm:prSet/>
      <dgm:spPr/>
      <dgm:t>
        <a:bodyPr/>
        <a:lstStyle/>
        <a:p>
          <a:r>
            <a:rPr lang="fr-FR" b="1" dirty="0"/>
            <a:t>Actualiser la cartographie des sites de vaccination</a:t>
          </a:r>
          <a:br>
            <a:rPr lang="fr-FR" dirty="0"/>
          </a:br>
          <a:r>
            <a:rPr lang="fr-FR" dirty="0"/>
            <a:t>Superviser la mise à jour de la carte des sites par zone de santé et aire, en identifiant les zones non couvertes et en planifiant la création de nouveaux points de prestation</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Optimiser la dotation et la formation du personnel de vaccination</a:t>
          </a:r>
          <a:br>
            <a:rPr lang="fr-FR" dirty="0"/>
          </a:br>
          <a:r>
            <a:rPr lang="fr-FR" dirty="0"/>
            <a:t>Appuyer la formation continue et la supervision intégrée des infirmiers et ASC impliqués dans la vaccination.</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Assurer un suivi rapproché des performances vaccinales</a:t>
          </a:r>
          <a:br>
            <a:rPr lang="fr-FR" dirty="0"/>
          </a:br>
          <a:r>
            <a:rPr lang="fr-FR" dirty="0"/>
            <a:t>Mettre en place un tableau de bord provincial de suivi des activités vaccinales et des supervisions formatives.</a:t>
          </a:r>
        </a:p>
        <a:p>
          <a:pPr>
            <a:buSzPts val="1000"/>
            <a:buFont typeface="Courier New" panose="02070309020205020404" pitchFamily="49" charset="0"/>
            <a:buChar char="o"/>
          </a:pPr>
          <a:r>
            <a:rPr lang="fr-FR" dirty="0"/>
            <a:t>Organiser </a:t>
          </a:r>
          <a:r>
            <a:rPr lang="fr-FR" b="0" dirty="0"/>
            <a:t>des revues trimestrielles provinciales de performance </a:t>
          </a:r>
          <a:r>
            <a:rPr lang="fr-FR" dirty="0"/>
            <a:t>avec les zones de santé.</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Déployer le système électronique intégré de gestion des vaccins</a:t>
          </a:r>
          <a:br>
            <a:rPr lang="fr-FR" dirty="0"/>
          </a:br>
          <a:r>
            <a:rPr lang="fr-FR" dirty="0"/>
            <a:t>Accompagner les antennes PEV dans la saisie, le suivi et la gestion des stocks à travers l’outil numérique.</a:t>
          </a:r>
        </a:p>
        <a:p>
          <a:pPr>
            <a:buSzPts val="1000"/>
            <a:buFont typeface="Courier New" panose="02070309020205020404" pitchFamily="49" charset="0"/>
            <a:buChar char="o"/>
          </a:pPr>
          <a:r>
            <a:rPr lang="fr-FR" dirty="0"/>
            <a:t>Utiliser les données pour anticiper les ruptures et rationaliser la distribution.</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sz="1200" b="1" kern="1200"/>
            <a:t>Renforcer la communication et la mobilisation communautaire</a:t>
          </a:r>
          <a:endParaRPr lang="en-US" sz="1200" kern="1200"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04203D75-E545-4144-8AC6-AF29CDECEFA6}">
      <dgm:prSet custT="1"/>
      <dgm:spPr/>
      <dgm:t>
        <a:bodyPr/>
        <a:lstStyle/>
        <a:p>
          <a:r>
            <a:rPr lang="fr-FR" sz="1200" kern="1200">
              <a:solidFill>
                <a:prstClr val="white"/>
              </a:solidFill>
              <a:latin typeface="Aptos" panose="02110004020202020204"/>
              <a:ea typeface="+mn-ea"/>
              <a:cs typeface="+mn-cs"/>
            </a:rPr>
            <a:t>Diffuser des messages radiotélévisés et organiser des campagnes provinciales de sensibilisation sur la vaccination de routine.</a:t>
          </a:r>
          <a:endParaRPr lang="en-US" sz="1200" kern="1200" dirty="0">
            <a:solidFill>
              <a:prstClr val="white"/>
            </a:solidFill>
            <a:latin typeface="Aptos" panose="02110004020202020204"/>
            <a:ea typeface="+mn-ea"/>
            <a:cs typeface="+mn-cs"/>
          </a:endParaRPr>
        </a:p>
      </dgm:t>
    </dgm:pt>
    <dgm:pt modelId="{A3D99EF8-64D5-4E91-9241-DC879F7F386B}" type="parTrans" cxnId="{E45466D1-59A0-443F-BAAB-7D238164FEA1}">
      <dgm:prSet/>
      <dgm:spPr/>
      <dgm:t>
        <a:bodyPr/>
        <a:lstStyle/>
        <a:p>
          <a:endParaRPr lang="en-US"/>
        </a:p>
      </dgm:t>
    </dgm:pt>
    <dgm:pt modelId="{3CAD8B40-6354-4FA1-84E1-F4C891DE0978}" type="sibTrans" cxnId="{E45466D1-59A0-443F-BAAB-7D238164FEA1}">
      <dgm:prSet/>
      <dgm:spPr/>
      <dgm:t>
        <a:bodyPr/>
        <a:lstStyle/>
        <a:p>
          <a:endParaRPr lang="en-US"/>
        </a:p>
      </dgm:t>
    </dgm:pt>
    <dgm:pt modelId="{06EC2764-DA00-4F18-B279-66BC42A21C3E}">
      <dgm:prSet/>
      <dgm:spPr/>
      <dgm:t>
        <a:bodyPr/>
        <a:lstStyle/>
        <a:p>
          <a:r>
            <a:rPr lang="fr-FR" b="1" dirty="0"/>
            <a:t>Soutenir la mobilisation des acteurs communautaires</a:t>
          </a:r>
          <a:br>
            <a:rPr lang="fr-FR" dirty="0"/>
          </a:br>
          <a:r>
            <a:rPr lang="fr-FR" dirty="0"/>
            <a:t>Superviser la planification et la mise en œuvre des activités des CAC, ASC et RECO liées à la vaccination.</a:t>
          </a:r>
        </a:p>
        <a:p>
          <a:pPr>
            <a:buSzPts val="1000"/>
            <a:buFont typeface="Courier New" panose="02070309020205020404" pitchFamily="49" charset="0"/>
            <a:buChar char="o"/>
          </a:pPr>
          <a:r>
            <a:rPr lang="fr-FR" dirty="0"/>
            <a:t>Appuyer la coordination entre équipes cadres de zones et structures communautaires.</a:t>
          </a:r>
          <a:endParaRPr lang="en-US" dirty="0"/>
        </a:p>
      </dgm:t>
    </dgm:pt>
    <dgm:pt modelId="{C0D9E2D0-6516-4DDB-8D33-6416B9D95A12}" type="parTrans" cxnId="{6DBC74C5-3FE8-4005-9B60-2630CF8A6205}">
      <dgm:prSet/>
      <dgm:spPr/>
      <dgm:t>
        <a:bodyPr/>
        <a:lstStyle/>
        <a:p>
          <a:endParaRPr lang="en-US"/>
        </a:p>
      </dgm:t>
    </dgm:pt>
    <dgm:pt modelId="{55EC855D-8533-40F7-880A-A3F1D9043D85}" type="sibTrans" cxnId="{6DBC74C5-3FE8-4005-9B60-2630CF8A6205}">
      <dgm:prSet/>
      <dgm:spPr/>
      <dgm:t>
        <a:bodyPr/>
        <a:lstStyle/>
        <a:p>
          <a:endParaRPr lang="en-US"/>
        </a:p>
      </dgm:t>
    </dgm:pt>
    <dgm:pt modelId="{E54C5552-9446-4052-9292-EC35768AA7C1}">
      <dgm:prSet custT="1"/>
      <dgm:spPr/>
      <dgm:t>
        <a:bodyPr/>
        <a:lstStyle/>
        <a:p>
          <a:pPr>
            <a:buSzPts val="1000"/>
            <a:buFont typeface="Courier New" panose="02070309020205020404" pitchFamily="49" charset="0"/>
            <a:buChar char="o"/>
          </a:pPr>
          <a:r>
            <a:rPr lang="fr-FR" sz="1200" kern="1200">
              <a:solidFill>
                <a:prstClr val="white"/>
              </a:solidFill>
              <a:latin typeface="Aptos" panose="02110004020202020204"/>
              <a:ea typeface="+mn-ea"/>
              <a:cs typeface="+mn-cs"/>
            </a:rPr>
            <a:t>Soutenir les zones de santé dans la production de supports IEC adaptés aux réalités locales.</a:t>
          </a:r>
          <a:endParaRPr lang="fr-FR" sz="1200" kern="1200" dirty="0">
            <a:solidFill>
              <a:prstClr val="white"/>
            </a:solidFill>
            <a:latin typeface="Aptos" panose="02110004020202020204"/>
            <a:ea typeface="+mn-ea"/>
            <a:cs typeface="+mn-cs"/>
          </a:endParaRPr>
        </a:p>
      </dgm:t>
    </dgm:pt>
    <dgm:pt modelId="{E505A3E6-325B-40B6-A0FF-F77D5F7EFA4F}" type="parTrans" cxnId="{174FBFA5-B4F2-4D1A-8317-1C97E9A3424D}">
      <dgm:prSet/>
      <dgm:spPr/>
      <dgm:t>
        <a:bodyPr/>
        <a:lstStyle/>
        <a:p>
          <a:endParaRPr lang="fr-FR"/>
        </a:p>
      </dgm:t>
    </dgm:pt>
    <dgm:pt modelId="{A7DB061F-4BCA-496C-A232-B92505E28431}" type="sibTrans" cxnId="{174FBFA5-B4F2-4D1A-8317-1C97E9A3424D}">
      <dgm:prSet/>
      <dgm:spPr/>
      <dgm:t>
        <a:bodyPr/>
        <a:lstStyle/>
        <a:p>
          <a:endParaRPr lang="fr-FR"/>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6">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6">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6">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6">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6" custLinFactNeighborY="-1220">
        <dgm:presLayoutVars>
          <dgm:bulletEnabled val="1"/>
        </dgm:presLayoutVars>
      </dgm:prSet>
      <dgm:spPr/>
    </dgm:pt>
    <dgm:pt modelId="{D2389038-4D94-4B95-BBD5-1DC7AD2F410C}" type="pres">
      <dgm:prSet presAssocID="{4AA556B5-B6B0-4DB3-A67E-9F11F1CAD948}" presName="sibTrans" presStyleCnt="0"/>
      <dgm:spPr/>
    </dgm:pt>
    <dgm:pt modelId="{187CEDC1-BBA1-46D0-8175-13D87C784038}" type="pres">
      <dgm:prSet presAssocID="{06EC2764-DA00-4F18-B279-66BC42A21C3E}" presName="node" presStyleLbl="node1" presStyleIdx="5" presStyleCnt="6">
        <dgm:presLayoutVars>
          <dgm:bulletEnabled val="1"/>
        </dgm:presLayoutVars>
      </dgm:prSet>
      <dgm:spPr/>
    </dgm:pt>
  </dgm:ptLst>
  <dgm:cxnLs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D5E2791D-88E9-4880-90C7-66F782F91DD2}" type="presOf" srcId="{06EC2764-DA00-4F18-B279-66BC42A21C3E}" destId="{187CEDC1-BBA1-46D0-8175-13D87C784038}" srcOrd="0" destOrd="0" presId="urn:microsoft.com/office/officeart/2005/8/layout/default"/>
    <dgm:cxn modelId="{476A121E-B89B-45CC-BADB-0825B861F812}" srcId="{D991B4CC-8BB2-466E-BD0E-208D89F3BA71}" destId="{6077063F-FCAA-4A93-8970-19E35BFE8F63}" srcOrd="1" destOrd="0" parTransId="{78C604DC-1677-4C5C-A5DD-5AB5620C6B9F}" sibTransId="{AAC0F31A-333C-473F-BAED-8B9B89697355}"/>
    <dgm:cxn modelId="{94AF4B4B-4ED7-458E-8B13-69E5C4821F56}" type="presOf" srcId="{47FA2136-C2A0-4CB2-8E56-F4D4AD2BCF1E}" destId="{B4770224-D171-4A36-B74E-ABBECBB6F135}" srcOrd="0" destOrd="0" presId="urn:microsoft.com/office/officeart/2005/8/layout/default"/>
    <dgm:cxn modelId="{9279F04E-798E-48E0-80D1-D2F86A0E5FB9}" type="presOf" srcId="{464CC11E-32E0-411D-A2AD-2AE33FC1F934}" destId="{6352FE89-A948-47C6-ADCD-7154E7086BA8}" srcOrd="0" destOrd="0" presId="urn:microsoft.com/office/officeart/2005/8/layout/default"/>
    <dgm:cxn modelId="{E8026975-41AA-421B-9453-C170E82D5EC4}" type="presOf" srcId="{D991B4CC-8BB2-466E-BD0E-208D89F3BA71}" destId="{25C6625D-3B6B-4C07-8CA9-18D96387A9D6}"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B4EF3C7D-1869-4F55-913A-C6D7824343B8}" type="presOf" srcId="{6CE4602D-23F6-4D05-9541-B73B75846F4F}" destId="{957A6E9D-9D71-4A44-83AE-2F08E50F8B0C}" srcOrd="0" destOrd="0" presId="urn:microsoft.com/office/officeart/2005/8/layout/default"/>
    <dgm:cxn modelId="{4E200080-92EA-4FFA-B666-5907DA9EC042}" type="presOf" srcId="{E54C5552-9446-4052-9292-EC35768AA7C1}" destId="{B4770224-D171-4A36-B74E-ABBECBB6F135}" srcOrd="0" destOrd="2" presId="urn:microsoft.com/office/officeart/2005/8/layout/default"/>
    <dgm:cxn modelId="{B5BED78E-5227-41DD-8F09-6F2BCB65C4D0}" type="presOf" srcId="{FFC75C7B-0BA5-49A4-8B68-A3B1EFA16C88}" destId="{A1809695-4A6C-4A59-BBBF-85C21CEC5019}" srcOrd="0" destOrd="0" presId="urn:microsoft.com/office/officeart/2005/8/layout/default"/>
    <dgm:cxn modelId="{174FBFA5-B4F2-4D1A-8317-1C97E9A3424D}" srcId="{47FA2136-C2A0-4CB2-8E56-F4D4AD2BCF1E}" destId="{E54C5552-9446-4052-9292-EC35768AA7C1}" srcOrd="1" destOrd="0" parTransId="{E505A3E6-325B-40B6-A0FF-F77D5F7EFA4F}" sibTransId="{A7DB061F-4BCA-496C-A232-B92505E28431}"/>
    <dgm:cxn modelId="{6DBC74C5-3FE8-4005-9B60-2630CF8A6205}" srcId="{D991B4CC-8BB2-466E-BD0E-208D89F3BA71}" destId="{06EC2764-DA00-4F18-B279-66BC42A21C3E}" srcOrd="5" destOrd="0" parTransId="{C0D9E2D0-6516-4DDB-8D33-6416B9D95A12}" sibTransId="{55EC855D-8533-40F7-880A-A3F1D9043D85}"/>
    <dgm:cxn modelId="{E45466D1-59A0-443F-BAAB-7D238164FEA1}" srcId="{47FA2136-C2A0-4CB2-8E56-F4D4AD2BCF1E}" destId="{04203D75-E545-4144-8AC6-AF29CDECEFA6}" srcOrd="0" destOrd="0" parTransId="{A3D99EF8-64D5-4E91-9241-DC879F7F386B}" sibTransId="{3CAD8B40-6354-4FA1-84E1-F4C891DE0978}"/>
    <dgm:cxn modelId="{7D0255D2-CA26-4DF8-A348-F373AF84704D}" type="presOf" srcId="{6077063F-FCAA-4A93-8970-19E35BFE8F63}" destId="{73D1CBD7-18B4-499D-9859-B2A0C8603314}" srcOrd="0" destOrd="0" presId="urn:microsoft.com/office/officeart/2005/8/layout/default"/>
    <dgm:cxn modelId="{B11CD7E1-91AE-406B-9380-ACCE3385FEBD}" type="presOf" srcId="{04203D75-E545-4144-8AC6-AF29CDECEFA6}" destId="{B4770224-D171-4A36-B74E-ABBECBB6F135}" srcOrd="0" destOrd="1"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65B636C1-0041-4A1C-BDD1-631C27AA60F1}" type="presParOf" srcId="{25C6625D-3B6B-4C07-8CA9-18D96387A9D6}" destId="{957A6E9D-9D71-4A44-83AE-2F08E50F8B0C}" srcOrd="0" destOrd="0" presId="urn:microsoft.com/office/officeart/2005/8/layout/default"/>
    <dgm:cxn modelId="{04F5F961-A869-4F8D-BB62-030A3610CB1F}" type="presParOf" srcId="{25C6625D-3B6B-4C07-8CA9-18D96387A9D6}" destId="{F125B320-927F-4C76-8F9E-0609E3100841}" srcOrd="1" destOrd="0" presId="urn:microsoft.com/office/officeart/2005/8/layout/default"/>
    <dgm:cxn modelId="{257EFB9A-40E0-4B06-8C01-7AA547A60E91}" type="presParOf" srcId="{25C6625D-3B6B-4C07-8CA9-18D96387A9D6}" destId="{73D1CBD7-18B4-499D-9859-B2A0C8603314}" srcOrd="2" destOrd="0" presId="urn:microsoft.com/office/officeart/2005/8/layout/default"/>
    <dgm:cxn modelId="{07448911-E286-45D1-A47A-26C943FB89B1}" type="presParOf" srcId="{25C6625D-3B6B-4C07-8CA9-18D96387A9D6}" destId="{653C982F-E68B-468D-A247-EE35ED6500E8}" srcOrd="3" destOrd="0" presId="urn:microsoft.com/office/officeart/2005/8/layout/default"/>
    <dgm:cxn modelId="{85646BCE-8077-4573-B4A2-1D9791D430F7}" type="presParOf" srcId="{25C6625D-3B6B-4C07-8CA9-18D96387A9D6}" destId="{A1809695-4A6C-4A59-BBBF-85C21CEC5019}" srcOrd="4" destOrd="0" presId="urn:microsoft.com/office/officeart/2005/8/layout/default"/>
    <dgm:cxn modelId="{697EE40C-4BB9-433D-B5F5-36AEA468DD67}" type="presParOf" srcId="{25C6625D-3B6B-4C07-8CA9-18D96387A9D6}" destId="{63DA4C4C-4744-43A4-AFB6-BB1BE012AB70}" srcOrd="5" destOrd="0" presId="urn:microsoft.com/office/officeart/2005/8/layout/default"/>
    <dgm:cxn modelId="{FC296E89-68E6-4295-8006-EEEABE73D9FA}" type="presParOf" srcId="{25C6625D-3B6B-4C07-8CA9-18D96387A9D6}" destId="{6352FE89-A948-47C6-ADCD-7154E7086BA8}" srcOrd="6" destOrd="0" presId="urn:microsoft.com/office/officeart/2005/8/layout/default"/>
    <dgm:cxn modelId="{0CD71A45-2620-4F2B-86BD-BBA02D2F6554}" type="presParOf" srcId="{25C6625D-3B6B-4C07-8CA9-18D96387A9D6}" destId="{E83A65A9-F23E-42AF-AD89-81A83D93482E}" srcOrd="7" destOrd="0" presId="urn:microsoft.com/office/officeart/2005/8/layout/default"/>
    <dgm:cxn modelId="{516E34ED-F501-4148-8319-284AE8F0618D}" type="presParOf" srcId="{25C6625D-3B6B-4C07-8CA9-18D96387A9D6}" destId="{B4770224-D171-4A36-B74E-ABBECBB6F135}" srcOrd="8" destOrd="0" presId="urn:microsoft.com/office/officeart/2005/8/layout/default"/>
    <dgm:cxn modelId="{81A704A3-3B7B-4D13-8DC9-5C046CA17FC9}" type="presParOf" srcId="{25C6625D-3B6B-4C07-8CA9-18D96387A9D6}" destId="{D2389038-4D94-4B95-BBD5-1DC7AD2F410C}" srcOrd="9" destOrd="0" presId="urn:microsoft.com/office/officeart/2005/8/layout/default"/>
    <dgm:cxn modelId="{D533BEFF-1515-4729-9281-2E1ED8F2EBE1}" type="presParOf" srcId="{25C6625D-3B6B-4C07-8CA9-18D96387A9D6}" destId="{187CEDC1-BBA1-46D0-8175-13D87C784038}"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phldr="1"/>
      <dgm:spPr/>
      <dgm:t>
        <a:bodyPr/>
        <a:lstStyle/>
        <a:p>
          <a:endParaRPr lang="en-US"/>
        </a:p>
      </dgm:t>
    </dgm:pt>
    <dgm:pt modelId="{6CE4602D-23F6-4D05-9541-B73B75846F4F}">
      <dgm:prSet/>
      <dgm:spPr/>
      <dgm:t>
        <a:bodyPr/>
        <a:lstStyle/>
        <a:p>
          <a:r>
            <a:rPr lang="fr-FR" b="1" dirty="0"/>
            <a:t>Actualiser la cartographie des sites de vaccination</a:t>
          </a:r>
          <a:br>
            <a:rPr lang="fr-FR" dirty="0"/>
          </a:br>
          <a:r>
            <a:rPr lang="fr-FR" dirty="0"/>
            <a:t>Mettre à jour la carte des sites par aire de santé afin de garantir que chaque communauté, en particulier dans les zones avec un grand nombre d’enfants non vaccinés, ait accès à un point de vaccination situé à moins de cinq kilomètres du lieu de résidence. </a:t>
          </a:r>
        </a:p>
        <a:p>
          <a:r>
            <a:rPr lang="fr-FR" dirty="0"/>
            <a:t>Mettre à jour annuellement la carte opérationnelle avec les coordonnées GPS.</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Renforcer les ressources humaines en vaccination</a:t>
          </a:r>
          <a:br>
            <a:rPr lang="fr-FR" dirty="0"/>
          </a:br>
          <a:r>
            <a:rPr lang="fr-FR"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Mettre en place un suivi rapproché des activités vaccinales</a:t>
          </a:r>
          <a:br>
            <a:rPr lang="fr-FR" dirty="0"/>
          </a:br>
          <a:r>
            <a:rPr lang="fr-FR" dirty="0"/>
            <a:t>Utiliser des outils numériques ou tableaux de bord simples automatisé pour suivre la tenue des séances, les performances , la supervision et la consommation des vaccins.</a:t>
          </a:r>
        </a:p>
        <a:p>
          <a:pPr>
            <a:buNone/>
          </a:pPr>
          <a:r>
            <a:rPr lang="fr-FR" dirty="0"/>
            <a:t>Organiser des </a:t>
          </a:r>
          <a:r>
            <a:rPr lang="fr-FR" b="1" dirty="0"/>
            <a:t>revues mensuelles</a:t>
          </a:r>
          <a:r>
            <a:rPr lang="fr-FR" dirty="0"/>
            <a:t> avec les chefs d’aires de santé pour l’analyse des données et la prise de décision</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Assurer la gestion efficace des vaccins et intrants</a:t>
          </a:r>
          <a:endParaRPr lang="fr-FR" dirty="0"/>
        </a:p>
        <a:p>
          <a:pPr>
            <a:buSzPts val="1000"/>
            <a:buFont typeface="Courier New" panose="02070309020205020404" pitchFamily="49" charset="0"/>
            <a:buChar char="o"/>
          </a:pPr>
          <a:r>
            <a:rPr lang="fr-FR" dirty="0"/>
            <a:t>Utiliser le système électronique ou les fiches standardisées pour le suivi des stocks.</a:t>
          </a:r>
        </a:p>
        <a:p>
          <a:pPr>
            <a:buSzPts val="1000"/>
            <a:buFont typeface="Courier New" panose="02070309020205020404" pitchFamily="49" charset="0"/>
            <a:buChar char="o"/>
          </a:pPr>
          <a:r>
            <a:rPr lang="fr-FR" dirty="0"/>
            <a:t>Signaler rapidement les ruptures ou excédents au niveau provincial.</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b="1" dirty="0"/>
            <a:t>Intensifier la communication communautaire</a:t>
          </a:r>
          <a:endParaRPr lang="fr-FR" dirty="0"/>
        </a:p>
        <a:p>
          <a:pPr>
            <a:buSzPts val="1000"/>
            <a:buFont typeface="Courier New" panose="02070309020205020404" pitchFamily="49" charset="0"/>
            <a:buChar char="o"/>
          </a:pPr>
          <a:r>
            <a:rPr lang="fr-FR" dirty="0"/>
            <a:t>Mettre en œuvre des activités régulières de sensibilisation par les CAC, ASC et RECO.</a:t>
          </a:r>
        </a:p>
        <a:p>
          <a:pPr>
            <a:buSzPts val="1000"/>
            <a:buFont typeface="Courier New" panose="02070309020205020404" pitchFamily="49" charset="0"/>
            <a:buChar char="o"/>
          </a:pPr>
          <a:r>
            <a:rPr lang="fr-FR" dirty="0"/>
            <a:t>Planifier des actions de proximité dans les villages éloignés et les zones à faible couverture.</a:t>
          </a:r>
          <a:endParaRPr lang="en-US"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06EC2764-DA00-4F18-B279-66BC42A21C3E}">
      <dgm:prSet/>
      <dgm:spPr/>
      <dgm:t>
        <a:bodyPr/>
        <a:lstStyle/>
        <a:p>
          <a:r>
            <a:rPr lang="fr-FR" b="1" dirty="0"/>
            <a:t>Mobiliser les acteurs communautaires autour de la vaccination</a:t>
          </a:r>
          <a:endParaRPr lang="fr-FR" dirty="0"/>
        </a:p>
        <a:p>
          <a:pPr>
            <a:buSzPts val="1000"/>
            <a:buFont typeface="Courier New" panose="02070309020205020404" pitchFamily="49" charset="0"/>
            <a:buChar char="o"/>
          </a:pPr>
          <a:r>
            <a:rPr lang="fr-FR" dirty="0"/>
            <a:t>Faire de la vaccination un indicateur prioritaire du plan d’action communautaire.</a:t>
          </a:r>
        </a:p>
        <a:p>
          <a:pPr>
            <a:buSzPts val="1000"/>
            <a:buFont typeface="Courier New" panose="02070309020205020404" pitchFamily="49" charset="0"/>
            <a:buChar char="o"/>
          </a:pPr>
          <a:r>
            <a:rPr lang="fr-FR" dirty="0"/>
            <a:t>Tenir des réunions régulières entre le personnel de santé et les leaders communautaires pour le suivi des enfants non vaccinés.</a:t>
          </a:r>
          <a:endParaRPr lang="en-US" dirty="0"/>
        </a:p>
      </dgm:t>
    </dgm:pt>
    <dgm:pt modelId="{C0D9E2D0-6516-4DDB-8D33-6416B9D95A12}" type="parTrans" cxnId="{6DBC74C5-3FE8-4005-9B60-2630CF8A6205}">
      <dgm:prSet/>
      <dgm:spPr/>
      <dgm:t>
        <a:bodyPr/>
        <a:lstStyle/>
        <a:p>
          <a:endParaRPr lang="en-US"/>
        </a:p>
      </dgm:t>
    </dgm:pt>
    <dgm:pt modelId="{55EC855D-8533-40F7-880A-A3F1D9043D85}" type="sibTrans" cxnId="{6DBC74C5-3FE8-4005-9B60-2630CF8A6205}">
      <dgm:prSet/>
      <dgm:spPr/>
      <dgm:t>
        <a:bodyPr/>
        <a:lstStyle/>
        <a:p>
          <a:endParaRPr lang="en-US"/>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6">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6">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6">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6">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6">
        <dgm:presLayoutVars>
          <dgm:bulletEnabled val="1"/>
        </dgm:presLayoutVars>
      </dgm:prSet>
      <dgm:spPr/>
    </dgm:pt>
    <dgm:pt modelId="{D2389038-4D94-4B95-BBD5-1DC7AD2F410C}" type="pres">
      <dgm:prSet presAssocID="{4AA556B5-B6B0-4DB3-A67E-9F11F1CAD948}" presName="sibTrans" presStyleCnt="0"/>
      <dgm:spPr/>
    </dgm:pt>
    <dgm:pt modelId="{187CEDC1-BBA1-46D0-8175-13D87C784038}" type="pres">
      <dgm:prSet presAssocID="{06EC2764-DA00-4F18-B279-66BC42A21C3E}" presName="node" presStyleLbl="node1" presStyleIdx="5" presStyleCnt="6">
        <dgm:presLayoutVars>
          <dgm:bulletEnabled val="1"/>
        </dgm:presLayoutVars>
      </dgm:prSet>
      <dgm:spPr/>
    </dgm:pt>
  </dgm:ptLst>
  <dgm:cxnLst>
    <dgm:cxn modelId="{26A8C703-9694-425E-BDB4-639C5F5D3D47}" type="presOf" srcId="{47FA2136-C2A0-4CB2-8E56-F4D4AD2BCF1E}" destId="{B4770224-D171-4A36-B74E-ABBECBB6F135}" srcOrd="0" destOrd="0" presId="urn:microsoft.com/office/officeart/2005/8/layout/defaul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476A121E-B89B-45CC-BADB-0825B861F812}" srcId="{D991B4CC-8BB2-466E-BD0E-208D89F3BA71}" destId="{6077063F-FCAA-4A93-8970-19E35BFE8F63}" srcOrd="1" destOrd="0" parTransId="{78C604DC-1677-4C5C-A5DD-5AB5620C6B9F}" sibTransId="{AAC0F31A-333C-473F-BAED-8B9B89697355}"/>
    <dgm:cxn modelId="{9D01CA28-B56F-4714-B14E-072AAB04C437}" type="presOf" srcId="{D991B4CC-8BB2-466E-BD0E-208D89F3BA71}" destId="{25C6625D-3B6B-4C07-8CA9-18D96387A9D6}" srcOrd="0" destOrd="0" presId="urn:microsoft.com/office/officeart/2005/8/layout/default"/>
    <dgm:cxn modelId="{D3CEA96C-D756-4694-8017-04052AE99D59}" type="presOf" srcId="{FFC75C7B-0BA5-49A4-8B68-A3B1EFA16C88}" destId="{A1809695-4A6C-4A59-BBBF-85C21CEC5019}" srcOrd="0" destOrd="0" presId="urn:microsoft.com/office/officeart/2005/8/layout/default"/>
    <dgm:cxn modelId="{2740C950-F491-41CC-A6FD-C30A2E8D030F}" type="presOf" srcId="{06EC2764-DA00-4F18-B279-66BC42A21C3E}" destId="{187CEDC1-BBA1-46D0-8175-13D87C784038}"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D0DAC6B1-3DF2-42C6-94C8-CB8E44B18275}" type="presOf" srcId="{464CC11E-32E0-411D-A2AD-2AE33FC1F934}" destId="{6352FE89-A948-47C6-ADCD-7154E7086BA8}" srcOrd="0" destOrd="0" presId="urn:microsoft.com/office/officeart/2005/8/layout/default"/>
    <dgm:cxn modelId="{6DBC74C5-3FE8-4005-9B60-2630CF8A6205}" srcId="{D991B4CC-8BB2-466E-BD0E-208D89F3BA71}" destId="{06EC2764-DA00-4F18-B279-66BC42A21C3E}" srcOrd="5" destOrd="0" parTransId="{C0D9E2D0-6516-4DDB-8D33-6416B9D95A12}" sibTransId="{55EC855D-8533-40F7-880A-A3F1D9043D85}"/>
    <dgm:cxn modelId="{3D1AEDEA-293A-42FD-8F4E-3CC1DAFB5BB8}" type="presOf" srcId="{6CE4602D-23F6-4D05-9541-B73B75846F4F}" destId="{957A6E9D-9D71-4A44-83AE-2F08E50F8B0C}" srcOrd="0" destOrd="0"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AA04B2FD-FFFB-402C-B8DC-E5D1043D08CC}" type="presOf" srcId="{6077063F-FCAA-4A93-8970-19E35BFE8F63}" destId="{73D1CBD7-18B4-499D-9859-B2A0C8603314}" srcOrd="0" destOrd="0" presId="urn:microsoft.com/office/officeart/2005/8/layout/default"/>
    <dgm:cxn modelId="{4EA54687-2F30-4711-A17B-13ADE268EE48}" type="presParOf" srcId="{25C6625D-3B6B-4C07-8CA9-18D96387A9D6}" destId="{957A6E9D-9D71-4A44-83AE-2F08E50F8B0C}" srcOrd="0" destOrd="0" presId="urn:microsoft.com/office/officeart/2005/8/layout/default"/>
    <dgm:cxn modelId="{31EE4365-4585-4470-AE9D-617E7951B08F}" type="presParOf" srcId="{25C6625D-3B6B-4C07-8CA9-18D96387A9D6}" destId="{F125B320-927F-4C76-8F9E-0609E3100841}" srcOrd="1" destOrd="0" presId="urn:microsoft.com/office/officeart/2005/8/layout/default"/>
    <dgm:cxn modelId="{903C3FE1-2DB2-4264-8FA5-08AF3D25F33F}" type="presParOf" srcId="{25C6625D-3B6B-4C07-8CA9-18D96387A9D6}" destId="{73D1CBD7-18B4-499D-9859-B2A0C8603314}" srcOrd="2" destOrd="0" presId="urn:microsoft.com/office/officeart/2005/8/layout/default"/>
    <dgm:cxn modelId="{F8D4E0E6-1AB3-4137-B26F-C61CB034B4BC}" type="presParOf" srcId="{25C6625D-3B6B-4C07-8CA9-18D96387A9D6}" destId="{653C982F-E68B-468D-A247-EE35ED6500E8}" srcOrd="3" destOrd="0" presId="urn:microsoft.com/office/officeart/2005/8/layout/default"/>
    <dgm:cxn modelId="{0CBD6D3D-FE36-4B29-83F8-A6F7302B0215}" type="presParOf" srcId="{25C6625D-3B6B-4C07-8CA9-18D96387A9D6}" destId="{A1809695-4A6C-4A59-BBBF-85C21CEC5019}" srcOrd="4" destOrd="0" presId="urn:microsoft.com/office/officeart/2005/8/layout/default"/>
    <dgm:cxn modelId="{EDFE43A2-8A32-4B45-BEC1-BDED88232281}" type="presParOf" srcId="{25C6625D-3B6B-4C07-8CA9-18D96387A9D6}" destId="{63DA4C4C-4744-43A4-AFB6-BB1BE012AB70}" srcOrd="5" destOrd="0" presId="urn:microsoft.com/office/officeart/2005/8/layout/default"/>
    <dgm:cxn modelId="{ACB2A51E-6ED7-4BCA-A0BD-38DACE2DAC7A}" type="presParOf" srcId="{25C6625D-3B6B-4C07-8CA9-18D96387A9D6}" destId="{6352FE89-A948-47C6-ADCD-7154E7086BA8}" srcOrd="6" destOrd="0" presId="urn:microsoft.com/office/officeart/2005/8/layout/default"/>
    <dgm:cxn modelId="{265053B0-4F6B-47F4-AAAC-CB27C3622F1E}" type="presParOf" srcId="{25C6625D-3B6B-4C07-8CA9-18D96387A9D6}" destId="{E83A65A9-F23E-42AF-AD89-81A83D93482E}" srcOrd="7" destOrd="0" presId="urn:microsoft.com/office/officeart/2005/8/layout/default"/>
    <dgm:cxn modelId="{7F2B9075-7E7A-4839-AB93-4022945E90F3}" type="presParOf" srcId="{25C6625D-3B6B-4C07-8CA9-18D96387A9D6}" destId="{B4770224-D171-4A36-B74E-ABBECBB6F135}" srcOrd="8" destOrd="0" presId="urn:microsoft.com/office/officeart/2005/8/layout/default"/>
    <dgm:cxn modelId="{DAB62963-C925-4B64-96AA-3C2EC5643B5F}" type="presParOf" srcId="{25C6625D-3B6B-4C07-8CA9-18D96387A9D6}" destId="{D2389038-4D94-4B95-BBD5-1DC7AD2F410C}" srcOrd="9" destOrd="0" presId="urn:microsoft.com/office/officeart/2005/8/layout/default"/>
    <dgm:cxn modelId="{675A044E-9E06-415C-9A07-54B5EFB9FCFF}" type="presParOf" srcId="{25C6625D-3B6B-4C07-8CA9-18D96387A9D6}" destId="{187CEDC1-BBA1-46D0-8175-13D87C784038}"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991B4CC-8BB2-466E-BD0E-208D89F3BA71}" type="doc">
      <dgm:prSet loTypeId="urn:microsoft.com/office/officeart/2005/8/layout/default" loCatId="list" qsTypeId="urn:microsoft.com/office/officeart/2005/8/quickstyle/simple5" qsCatId="simple" csTypeId="urn:microsoft.com/office/officeart/2005/8/colors/accent3_2" csCatId="accent3" phldr="1"/>
      <dgm:spPr/>
      <dgm:t>
        <a:bodyPr/>
        <a:lstStyle/>
        <a:p>
          <a:endParaRPr lang="en-US"/>
        </a:p>
      </dgm:t>
    </dgm:pt>
    <dgm:pt modelId="{6CE4602D-23F6-4D05-9541-B73B75846F4F}">
      <dgm:prSet/>
      <dgm:spPr/>
      <dgm:t>
        <a:bodyPr/>
        <a:lstStyle/>
        <a:p>
          <a:r>
            <a:rPr lang="fr-FR" b="1" dirty="0"/>
            <a:t>Appuyer techniquement et financièrement la mise à jour de la cartographie </a:t>
          </a:r>
        </a:p>
        <a:p>
          <a:r>
            <a:rPr lang="fr-FR" dirty="0"/>
            <a:t>Fournir un appui logistique et technique pour la collecte géospatiale et l’intégration des données dans le DHIS2.</a:t>
          </a:r>
          <a:endParaRPr lang="en-US" dirty="0"/>
        </a:p>
      </dgm:t>
    </dgm:pt>
    <dgm:pt modelId="{927715C4-9A77-431F-AA9B-ECCC608D665F}" type="parTrans" cxnId="{E7EEBAEE-D89D-4F24-8E6D-D69FBF4B4882}">
      <dgm:prSet/>
      <dgm:spPr/>
      <dgm:t>
        <a:bodyPr/>
        <a:lstStyle/>
        <a:p>
          <a:endParaRPr lang="en-US"/>
        </a:p>
      </dgm:t>
    </dgm:pt>
    <dgm:pt modelId="{420616C1-758E-417D-8CAE-DB17B99D5CC8}" type="sibTrans" cxnId="{E7EEBAEE-D89D-4F24-8E6D-D69FBF4B4882}">
      <dgm:prSet/>
      <dgm:spPr/>
      <dgm:t>
        <a:bodyPr/>
        <a:lstStyle/>
        <a:p>
          <a:endParaRPr lang="en-US"/>
        </a:p>
      </dgm:t>
    </dgm:pt>
    <dgm:pt modelId="{6077063F-FCAA-4A93-8970-19E35BFE8F63}">
      <dgm:prSet/>
      <dgm:spPr/>
      <dgm:t>
        <a:bodyPr/>
        <a:lstStyle/>
        <a:p>
          <a:r>
            <a:rPr lang="fr-FR" b="1" dirty="0"/>
            <a:t>Renforcer les ressources humaines en vaccination</a:t>
          </a:r>
          <a:br>
            <a:rPr lang="fr-FR" dirty="0"/>
          </a:br>
          <a:r>
            <a:rPr lang="fr-FR" b="0" dirty="0"/>
            <a:t>Soutenir le renforcement des capacités en ressources humaines</a:t>
          </a:r>
        </a:p>
        <a:p>
          <a:pPr>
            <a:buSzPts val="1000"/>
            <a:buFont typeface="Courier New" panose="02070309020205020404" pitchFamily="49" charset="0"/>
            <a:buChar char="o"/>
          </a:pPr>
          <a:r>
            <a:rPr lang="fr-FR" dirty="0"/>
            <a:t>Financer la formation, la supervision et le déploiement d’ASC dans les zones à déficit de personnel.</a:t>
          </a:r>
          <a:endParaRPr lang="en-US" dirty="0"/>
        </a:p>
      </dgm:t>
    </dgm:pt>
    <dgm:pt modelId="{78C604DC-1677-4C5C-A5DD-5AB5620C6B9F}" type="parTrans" cxnId="{476A121E-B89B-45CC-BADB-0825B861F812}">
      <dgm:prSet/>
      <dgm:spPr/>
      <dgm:t>
        <a:bodyPr/>
        <a:lstStyle/>
        <a:p>
          <a:endParaRPr lang="en-US"/>
        </a:p>
      </dgm:t>
    </dgm:pt>
    <dgm:pt modelId="{AAC0F31A-333C-473F-BAED-8B9B89697355}" type="sibTrans" cxnId="{476A121E-B89B-45CC-BADB-0825B861F812}">
      <dgm:prSet/>
      <dgm:spPr/>
      <dgm:t>
        <a:bodyPr/>
        <a:lstStyle/>
        <a:p>
          <a:endParaRPr lang="en-US"/>
        </a:p>
      </dgm:t>
    </dgm:pt>
    <dgm:pt modelId="{FFC75C7B-0BA5-49A4-8B68-A3B1EFA16C88}">
      <dgm:prSet/>
      <dgm:spPr/>
      <dgm:t>
        <a:bodyPr/>
        <a:lstStyle/>
        <a:p>
          <a:r>
            <a:rPr lang="fr-FR" b="1" dirty="0"/>
            <a:t>Appuyer le développement et la maintenance du système numérique de suivi vaccinal et logistique</a:t>
          </a:r>
          <a:endParaRPr lang="fr-FR" dirty="0"/>
        </a:p>
        <a:p>
          <a:pPr>
            <a:buSzPts val="1000"/>
            <a:buFont typeface="Courier New" panose="02070309020205020404" pitchFamily="49" charset="0"/>
            <a:buChar char="o"/>
          </a:pPr>
          <a:r>
            <a:rPr lang="fr-FR" dirty="0"/>
            <a:t>Fournir un appui technique et financier  (infrastructure, connectivité, formation des utilisateurs) et contribuer au développement du système de gestion intégré des vaccins (E-LMIS).</a:t>
          </a:r>
          <a:endParaRPr lang="en-US" dirty="0"/>
        </a:p>
      </dgm:t>
    </dgm:pt>
    <dgm:pt modelId="{76646DA0-D986-4A16-A422-3AE6EC9E818B}" type="parTrans" cxnId="{6E4ED60B-45C0-4619-BE30-AE84D0472395}">
      <dgm:prSet/>
      <dgm:spPr/>
      <dgm:t>
        <a:bodyPr/>
        <a:lstStyle/>
        <a:p>
          <a:endParaRPr lang="en-US"/>
        </a:p>
      </dgm:t>
    </dgm:pt>
    <dgm:pt modelId="{312F4562-11C2-4F04-A1AE-BA4F2D7EF480}" type="sibTrans" cxnId="{6E4ED60B-45C0-4619-BE30-AE84D0472395}">
      <dgm:prSet/>
      <dgm:spPr/>
      <dgm:t>
        <a:bodyPr/>
        <a:lstStyle/>
        <a:p>
          <a:endParaRPr lang="en-US"/>
        </a:p>
      </dgm:t>
    </dgm:pt>
    <dgm:pt modelId="{464CC11E-32E0-411D-A2AD-2AE33FC1F934}">
      <dgm:prSet/>
      <dgm:spPr/>
      <dgm:t>
        <a:bodyPr/>
        <a:lstStyle/>
        <a:p>
          <a:r>
            <a:rPr lang="fr-FR" b="1" dirty="0"/>
            <a:t>Accompagner les initiatives de communication et de mobilisation communautaire</a:t>
          </a:r>
          <a:endParaRPr lang="fr-FR" dirty="0"/>
        </a:p>
        <a:p>
          <a:pPr>
            <a:buSzPts val="1000"/>
            <a:buFont typeface="Courier New" panose="02070309020205020404" pitchFamily="49" charset="0"/>
            <a:buChar char="o"/>
          </a:pPr>
          <a:r>
            <a:rPr lang="fr-FR" dirty="0"/>
            <a:t>Appuyer les campagnes médiatiques et les activités de sensibilisation communautaire en cohérence avec la stratégie nationale.</a:t>
          </a:r>
          <a:endParaRPr lang="en-US" dirty="0"/>
        </a:p>
      </dgm:t>
    </dgm:pt>
    <dgm:pt modelId="{61F1AAF1-15A9-4F68-87DD-D9B7927F0F23}" type="parTrans" cxnId="{8F3DE012-7D0B-467B-867A-EFEFD125D752}">
      <dgm:prSet/>
      <dgm:spPr/>
      <dgm:t>
        <a:bodyPr/>
        <a:lstStyle/>
        <a:p>
          <a:endParaRPr lang="en-US"/>
        </a:p>
      </dgm:t>
    </dgm:pt>
    <dgm:pt modelId="{BBDA024F-5D24-44B6-A3F1-85FC6AA659DA}" type="sibTrans" cxnId="{8F3DE012-7D0B-467B-867A-EFEFD125D752}">
      <dgm:prSet/>
      <dgm:spPr/>
      <dgm:t>
        <a:bodyPr/>
        <a:lstStyle/>
        <a:p>
          <a:endParaRPr lang="en-US"/>
        </a:p>
      </dgm:t>
    </dgm:pt>
    <dgm:pt modelId="{47FA2136-C2A0-4CB2-8E56-F4D4AD2BCF1E}">
      <dgm:prSet/>
      <dgm:spPr/>
      <dgm:t>
        <a:bodyPr/>
        <a:lstStyle/>
        <a:p>
          <a:r>
            <a:rPr lang="fr-FR" b="1" dirty="0"/>
            <a:t>Renforcer la coordination multisectorielle et l’alignement sur les priorités nationales</a:t>
          </a:r>
          <a:endParaRPr lang="fr-FR" dirty="0"/>
        </a:p>
        <a:p>
          <a:pPr>
            <a:buSzPts val="1000"/>
            <a:buFont typeface="Courier New" panose="02070309020205020404" pitchFamily="49" charset="0"/>
            <a:buChar char="o"/>
          </a:pPr>
          <a:r>
            <a:rPr lang="fr-FR" dirty="0"/>
            <a:t>S’assurer que les interventions des partenaires appuient les axes du plan national de vaccination et contribuent à la durabilité du système.</a:t>
          </a:r>
        </a:p>
        <a:p>
          <a:pPr>
            <a:buNone/>
          </a:pPr>
          <a:endParaRPr lang="fr-FR" dirty="0"/>
        </a:p>
        <a:p>
          <a:pPr>
            <a:buNone/>
          </a:pPr>
          <a:endParaRPr lang="fr-FR" dirty="0"/>
        </a:p>
        <a:p>
          <a:endParaRPr lang="en-US" dirty="0"/>
        </a:p>
      </dgm:t>
    </dgm:pt>
    <dgm:pt modelId="{F6A81F78-A056-446E-AD6F-BC8F45A47BEE}" type="parTrans" cxnId="{96B79258-8105-40A8-8F5B-BE1774F150A1}">
      <dgm:prSet/>
      <dgm:spPr/>
      <dgm:t>
        <a:bodyPr/>
        <a:lstStyle/>
        <a:p>
          <a:endParaRPr lang="en-US"/>
        </a:p>
      </dgm:t>
    </dgm:pt>
    <dgm:pt modelId="{4AA556B5-B6B0-4DB3-A67E-9F11F1CAD948}" type="sibTrans" cxnId="{96B79258-8105-40A8-8F5B-BE1774F150A1}">
      <dgm:prSet/>
      <dgm:spPr/>
      <dgm:t>
        <a:bodyPr/>
        <a:lstStyle/>
        <a:p>
          <a:endParaRPr lang="en-US"/>
        </a:p>
      </dgm:t>
    </dgm:pt>
    <dgm:pt modelId="{25C6625D-3B6B-4C07-8CA9-18D96387A9D6}" type="pres">
      <dgm:prSet presAssocID="{D991B4CC-8BB2-466E-BD0E-208D89F3BA71}" presName="diagram" presStyleCnt="0">
        <dgm:presLayoutVars>
          <dgm:dir/>
          <dgm:resizeHandles val="exact"/>
        </dgm:presLayoutVars>
      </dgm:prSet>
      <dgm:spPr/>
    </dgm:pt>
    <dgm:pt modelId="{957A6E9D-9D71-4A44-83AE-2F08E50F8B0C}" type="pres">
      <dgm:prSet presAssocID="{6CE4602D-23F6-4D05-9541-B73B75846F4F}" presName="node" presStyleLbl="node1" presStyleIdx="0" presStyleCnt="5">
        <dgm:presLayoutVars>
          <dgm:bulletEnabled val="1"/>
        </dgm:presLayoutVars>
      </dgm:prSet>
      <dgm:spPr/>
    </dgm:pt>
    <dgm:pt modelId="{F125B320-927F-4C76-8F9E-0609E3100841}" type="pres">
      <dgm:prSet presAssocID="{420616C1-758E-417D-8CAE-DB17B99D5CC8}" presName="sibTrans" presStyleCnt="0"/>
      <dgm:spPr/>
    </dgm:pt>
    <dgm:pt modelId="{73D1CBD7-18B4-499D-9859-B2A0C8603314}" type="pres">
      <dgm:prSet presAssocID="{6077063F-FCAA-4A93-8970-19E35BFE8F63}" presName="node" presStyleLbl="node1" presStyleIdx="1" presStyleCnt="5">
        <dgm:presLayoutVars>
          <dgm:bulletEnabled val="1"/>
        </dgm:presLayoutVars>
      </dgm:prSet>
      <dgm:spPr/>
    </dgm:pt>
    <dgm:pt modelId="{653C982F-E68B-468D-A247-EE35ED6500E8}" type="pres">
      <dgm:prSet presAssocID="{AAC0F31A-333C-473F-BAED-8B9B89697355}" presName="sibTrans" presStyleCnt="0"/>
      <dgm:spPr/>
    </dgm:pt>
    <dgm:pt modelId="{A1809695-4A6C-4A59-BBBF-85C21CEC5019}" type="pres">
      <dgm:prSet presAssocID="{FFC75C7B-0BA5-49A4-8B68-A3B1EFA16C88}" presName="node" presStyleLbl="node1" presStyleIdx="2" presStyleCnt="5">
        <dgm:presLayoutVars>
          <dgm:bulletEnabled val="1"/>
        </dgm:presLayoutVars>
      </dgm:prSet>
      <dgm:spPr/>
    </dgm:pt>
    <dgm:pt modelId="{63DA4C4C-4744-43A4-AFB6-BB1BE012AB70}" type="pres">
      <dgm:prSet presAssocID="{312F4562-11C2-4F04-A1AE-BA4F2D7EF480}" presName="sibTrans" presStyleCnt="0"/>
      <dgm:spPr/>
    </dgm:pt>
    <dgm:pt modelId="{6352FE89-A948-47C6-ADCD-7154E7086BA8}" type="pres">
      <dgm:prSet presAssocID="{464CC11E-32E0-411D-A2AD-2AE33FC1F934}" presName="node" presStyleLbl="node1" presStyleIdx="3" presStyleCnt="5">
        <dgm:presLayoutVars>
          <dgm:bulletEnabled val="1"/>
        </dgm:presLayoutVars>
      </dgm:prSet>
      <dgm:spPr/>
    </dgm:pt>
    <dgm:pt modelId="{E83A65A9-F23E-42AF-AD89-81A83D93482E}" type="pres">
      <dgm:prSet presAssocID="{BBDA024F-5D24-44B6-A3F1-85FC6AA659DA}" presName="sibTrans" presStyleCnt="0"/>
      <dgm:spPr/>
    </dgm:pt>
    <dgm:pt modelId="{B4770224-D171-4A36-B74E-ABBECBB6F135}" type="pres">
      <dgm:prSet presAssocID="{47FA2136-C2A0-4CB2-8E56-F4D4AD2BCF1E}" presName="node" presStyleLbl="node1" presStyleIdx="4" presStyleCnt="5">
        <dgm:presLayoutVars>
          <dgm:bulletEnabled val="1"/>
        </dgm:presLayoutVars>
      </dgm:prSet>
      <dgm:spPr/>
    </dgm:pt>
  </dgm:ptLst>
  <dgm:cxnLst>
    <dgm:cxn modelId="{26A8C703-9694-425E-BDB4-639C5F5D3D47}" type="presOf" srcId="{47FA2136-C2A0-4CB2-8E56-F4D4AD2BCF1E}" destId="{B4770224-D171-4A36-B74E-ABBECBB6F135}" srcOrd="0" destOrd="0" presId="urn:microsoft.com/office/officeart/2005/8/layout/default"/>
    <dgm:cxn modelId="{6E4ED60B-45C0-4619-BE30-AE84D0472395}" srcId="{D991B4CC-8BB2-466E-BD0E-208D89F3BA71}" destId="{FFC75C7B-0BA5-49A4-8B68-A3B1EFA16C88}" srcOrd="2" destOrd="0" parTransId="{76646DA0-D986-4A16-A422-3AE6EC9E818B}" sibTransId="{312F4562-11C2-4F04-A1AE-BA4F2D7EF480}"/>
    <dgm:cxn modelId="{8F3DE012-7D0B-467B-867A-EFEFD125D752}" srcId="{D991B4CC-8BB2-466E-BD0E-208D89F3BA71}" destId="{464CC11E-32E0-411D-A2AD-2AE33FC1F934}" srcOrd="3" destOrd="0" parTransId="{61F1AAF1-15A9-4F68-87DD-D9B7927F0F23}" sibTransId="{BBDA024F-5D24-44B6-A3F1-85FC6AA659DA}"/>
    <dgm:cxn modelId="{476A121E-B89B-45CC-BADB-0825B861F812}" srcId="{D991B4CC-8BB2-466E-BD0E-208D89F3BA71}" destId="{6077063F-FCAA-4A93-8970-19E35BFE8F63}" srcOrd="1" destOrd="0" parTransId="{78C604DC-1677-4C5C-A5DD-5AB5620C6B9F}" sibTransId="{AAC0F31A-333C-473F-BAED-8B9B89697355}"/>
    <dgm:cxn modelId="{9D01CA28-B56F-4714-B14E-072AAB04C437}" type="presOf" srcId="{D991B4CC-8BB2-466E-BD0E-208D89F3BA71}" destId="{25C6625D-3B6B-4C07-8CA9-18D96387A9D6}" srcOrd="0" destOrd="0" presId="urn:microsoft.com/office/officeart/2005/8/layout/default"/>
    <dgm:cxn modelId="{D3CEA96C-D756-4694-8017-04052AE99D59}" type="presOf" srcId="{FFC75C7B-0BA5-49A4-8B68-A3B1EFA16C88}" destId="{A1809695-4A6C-4A59-BBBF-85C21CEC5019}" srcOrd="0" destOrd="0" presId="urn:microsoft.com/office/officeart/2005/8/layout/default"/>
    <dgm:cxn modelId="{96B79258-8105-40A8-8F5B-BE1774F150A1}" srcId="{D991B4CC-8BB2-466E-BD0E-208D89F3BA71}" destId="{47FA2136-C2A0-4CB2-8E56-F4D4AD2BCF1E}" srcOrd="4" destOrd="0" parTransId="{F6A81F78-A056-446E-AD6F-BC8F45A47BEE}" sibTransId="{4AA556B5-B6B0-4DB3-A67E-9F11F1CAD948}"/>
    <dgm:cxn modelId="{D0DAC6B1-3DF2-42C6-94C8-CB8E44B18275}" type="presOf" srcId="{464CC11E-32E0-411D-A2AD-2AE33FC1F934}" destId="{6352FE89-A948-47C6-ADCD-7154E7086BA8}" srcOrd="0" destOrd="0" presId="urn:microsoft.com/office/officeart/2005/8/layout/default"/>
    <dgm:cxn modelId="{3D1AEDEA-293A-42FD-8F4E-3CC1DAFB5BB8}" type="presOf" srcId="{6CE4602D-23F6-4D05-9541-B73B75846F4F}" destId="{957A6E9D-9D71-4A44-83AE-2F08E50F8B0C}" srcOrd="0" destOrd="0" presId="urn:microsoft.com/office/officeart/2005/8/layout/default"/>
    <dgm:cxn modelId="{E7EEBAEE-D89D-4F24-8E6D-D69FBF4B4882}" srcId="{D991B4CC-8BB2-466E-BD0E-208D89F3BA71}" destId="{6CE4602D-23F6-4D05-9541-B73B75846F4F}" srcOrd="0" destOrd="0" parTransId="{927715C4-9A77-431F-AA9B-ECCC608D665F}" sibTransId="{420616C1-758E-417D-8CAE-DB17B99D5CC8}"/>
    <dgm:cxn modelId="{AA04B2FD-FFFB-402C-B8DC-E5D1043D08CC}" type="presOf" srcId="{6077063F-FCAA-4A93-8970-19E35BFE8F63}" destId="{73D1CBD7-18B4-499D-9859-B2A0C8603314}" srcOrd="0" destOrd="0" presId="urn:microsoft.com/office/officeart/2005/8/layout/default"/>
    <dgm:cxn modelId="{4EA54687-2F30-4711-A17B-13ADE268EE48}" type="presParOf" srcId="{25C6625D-3B6B-4C07-8CA9-18D96387A9D6}" destId="{957A6E9D-9D71-4A44-83AE-2F08E50F8B0C}" srcOrd="0" destOrd="0" presId="urn:microsoft.com/office/officeart/2005/8/layout/default"/>
    <dgm:cxn modelId="{31EE4365-4585-4470-AE9D-617E7951B08F}" type="presParOf" srcId="{25C6625D-3B6B-4C07-8CA9-18D96387A9D6}" destId="{F125B320-927F-4C76-8F9E-0609E3100841}" srcOrd="1" destOrd="0" presId="urn:microsoft.com/office/officeart/2005/8/layout/default"/>
    <dgm:cxn modelId="{903C3FE1-2DB2-4264-8FA5-08AF3D25F33F}" type="presParOf" srcId="{25C6625D-3B6B-4C07-8CA9-18D96387A9D6}" destId="{73D1CBD7-18B4-499D-9859-B2A0C8603314}" srcOrd="2" destOrd="0" presId="urn:microsoft.com/office/officeart/2005/8/layout/default"/>
    <dgm:cxn modelId="{F8D4E0E6-1AB3-4137-B26F-C61CB034B4BC}" type="presParOf" srcId="{25C6625D-3B6B-4C07-8CA9-18D96387A9D6}" destId="{653C982F-E68B-468D-A247-EE35ED6500E8}" srcOrd="3" destOrd="0" presId="urn:microsoft.com/office/officeart/2005/8/layout/default"/>
    <dgm:cxn modelId="{0CBD6D3D-FE36-4B29-83F8-A6F7302B0215}" type="presParOf" srcId="{25C6625D-3B6B-4C07-8CA9-18D96387A9D6}" destId="{A1809695-4A6C-4A59-BBBF-85C21CEC5019}" srcOrd="4" destOrd="0" presId="urn:microsoft.com/office/officeart/2005/8/layout/default"/>
    <dgm:cxn modelId="{EDFE43A2-8A32-4B45-BEC1-BDED88232281}" type="presParOf" srcId="{25C6625D-3B6B-4C07-8CA9-18D96387A9D6}" destId="{63DA4C4C-4744-43A4-AFB6-BB1BE012AB70}" srcOrd="5" destOrd="0" presId="urn:microsoft.com/office/officeart/2005/8/layout/default"/>
    <dgm:cxn modelId="{ACB2A51E-6ED7-4BCA-A0BD-38DACE2DAC7A}" type="presParOf" srcId="{25C6625D-3B6B-4C07-8CA9-18D96387A9D6}" destId="{6352FE89-A948-47C6-ADCD-7154E7086BA8}" srcOrd="6" destOrd="0" presId="urn:microsoft.com/office/officeart/2005/8/layout/default"/>
    <dgm:cxn modelId="{265053B0-4F6B-47F4-AAAC-CB27C3622F1E}" type="presParOf" srcId="{25C6625D-3B6B-4C07-8CA9-18D96387A9D6}" destId="{E83A65A9-F23E-42AF-AD89-81A83D93482E}" srcOrd="7" destOrd="0" presId="urn:microsoft.com/office/officeart/2005/8/layout/default"/>
    <dgm:cxn modelId="{7F2B9075-7E7A-4839-AB93-4022945E90F3}" type="presParOf" srcId="{25C6625D-3B6B-4C07-8CA9-18D96387A9D6}" destId="{B4770224-D171-4A36-B74E-ABBECBB6F135}"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2EA681D-4CCD-48B8-9841-FAC82CAC490F}" type="doc">
      <dgm:prSet loTypeId="urn:microsoft.com/office/officeart/2018/2/layout/IconCircleList" loCatId="icon" qsTypeId="urn:microsoft.com/office/officeart/2005/8/quickstyle/simple1" qsCatId="simple" csTypeId="urn:microsoft.com/office/officeart/2018/5/colors/Iconchunking_neutralbg_accent3_2" csCatId="accent3" phldr="1"/>
      <dgm:spPr/>
      <dgm:t>
        <a:bodyPr/>
        <a:lstStyle/>
        <a:p>
          <a:endParaRPr lang="en-US"/>
        </a:p>
      </dgm:t>
    </dgm:pt>
    <dgm:pt modelId="{0A397E96-EECF-477F-A822-CD0024352EC6}">
      <dgm:prSet custT="1"/>
      <dgm:spPr/>
      <dgm:t>
        <a:bodyPr/>
        <a:lstStyle/>
        <a:p>
          <a:pPr>
            <a:lnSpc>
              <a:spcPct val="100000"/>
            </a:lnSpc>
          </a:pPr>
          <a:r>
            <a:rPr lang="fr-FR" sz="1800" dirty="0"/>
            <a:t>Le développement d’un outil Excel pour l’analyse des données de routine selon le modèle de Tanahashi, en vue d’un suivi longitudinal des interventions de vaccination ;</a:t>
          </a:r>
          <a:endParaRPr lang="en-US" sz="1800" dirty="0"/>
        </a:p>
      </dgm:t>
    </dgm:pt>
    <dgm:pt modelId="{5069A521-A78E-4422-BE90-84F785747DA2}" type="parTrans" cxnId="{ECA548DC-3222-42DC-8BB4-A4FD379D9EE8}">
      <dgm:prSet/>
      <dgm:spPr/>
      <dgm:t>
        <a:bodyPr/>
        <a:lstStyle/>
        <a:p>
          <a:endParaRPr lang="en-US" sz="3200"/>
        </a:p>
      </dgm:t>
    </dgm:pt>
    <dgm:pt modelId="{30C4D87F-BC0E-4B61-92D3-01C06129FF9B}" type="sibTrans" cxnId="{ECA548DC-3222-42DC-8BB4-A4FD379D9EE8}">
      <dgm:prSet/>
      <dgm:spPr/>
      <dgm:t>
        <a:bodyPr/>
        <a:lstStyle/>
        <a:p>
          <a:pPr>
            <a:lnSpc>
              <a:spcPct val="100000"/>
            </a:lnSpc>
          </a:pPr>
          <a:endParaRPr lang="en-US" sz="3200"/>
        </a:p>
      </dgm:t>
    </dgm:pt>
    <dgm:pt modelId="{E91FBF61-72AF-4595-8739-47B2708BD739}">
      <dgm:prSet custT="1"/>
      <dgm:spPr/>
      <dgm:t>
        <a:bodyPr/>
        <a:lstStyle/>
        <a:p>
          <a:pPr>
            <a:lnSpc>
              <a:spcPct val="100000"/>
            </a:lnSpc>
          </a:pPr>
          <a:r>
            <a:rPr lang="fr-FR" sz="1800"/>
            <a:t>L’organisation d’une mission de restitution spécifique avec les quatre DPS concernées par l’évaluation et vulgarisation du progiciel Excel ;</a:t>
          </a:r>
          <a:endParaRPr lang="en-US" sz="1800"/>
        </a:p>
      </dgm:t>
    </dgm:pt>
    <dgm:pt modelId="{D1929E3C-6411-4B5C-9375-9DE6ECF09114}" type="parTrans" cxnId="{02013046-E5FA-4FBA-A009-3B12EBF939AD}">
      <dgm:prSet/>
      <dgm:spPr/>
      <dgm:t>
        <a:bodyPr/>
        <a:lstStyle/>
        <a:p>
          <a:endParaRPr lang="en-US" sz="3200"/>
        </a:p>
      </dgm:t>
    </dgm:pt>
    <dgm:pt modelId="{2E9A0624-A888-4A31-8CD4-C8693A40C4BE}" type="sibTrans" cxnId="{02013046-E5FA-4FBA-A009-3B12EBF939AD}">
      <dgm:prSet/>
      <dgm:spPr/>
      <dgm:t>
        <a:bodyPr/>
        <a:lstStyle/>
        <a:p>
          <a:pPr>
            <a:lnSpc>
              <a:spcPct val="100000"/>
            </a:lnSpc>
          </a:pPr>
          <a:endParaRPr lang="en-US" sz="3200"/>
        </a:p>
      </dgm:t>
    </dgm:pt>
    <dgm:pt modelId="{1DF02717-BCA0-4DCB-AC20-303DA6D5C604}">
      <dgm:prSet custT="1"/>
      <dgm:spPr/>
      <dgm:t>
        <a:bodyPr/>
        <a:lstStyle/>
        <a:p>
          <a:pPr>
            <a:lnSpc>
              <a:spcPct val="100000"/>
            </a:lnSpc>
          </a:pPr>
          <a:r>
            <a:rPr lang="fr-FR" sz="1800" dirty="0"/>
            <a:t>La réalisation de la deuxième session de monitorage, six mois après l’utilisation de l’outil excel </a:t>
          </a:r>
          <a:endParaRPr lang="en-US" sz="1800" dirty="0"/>
        </a:p>
      </dgm:t>
    </dgm:pt>
    <dgm:pt modelId="{B4150496-903B-425D-B6A8-40974A1133F3}" type="parTrans" cxnId="{D875DAE1-5A7B-4A1F-8C05-E06D25BA645D}">
      <dgm:prSet/>
      <dgm:spPr/>
      <dgm:t>
        <a:bodyPr/>
        <a:lstStyle/>
        <a:p>
          <a:endParaRPr lang="en-US" sz="3200"/>
        </a:p>
      </dgm:t>
    </dgm:pt>
    <dgm:pt modelId="{E2C9DA20-539F-4858-AD89-59C90F98BE54}" type="sibTrans" cxnId="{D875DAE1-5A7B-4A1F-8C05-E06D25BA645D}">
      <dgm:prSet/>
      <dgm:spPr/>
      <dgm:t>
        <a:bodyPr/>
        <a:lstStyle/>
        <a:p>
          <a:endParaRPr lang="en-US" sz="3200"/>
        </a:p>
      </dgm:t>
    </dgm:pt>
    <dgm:pt modelId="{0CF84C67-EC87-43BC-BC70-36B7CE7E1DF5}" type="pres">
      <dgm:prSet presAssocID="{92EA681D-4CCD-48B8-9841-FAC82CAC490F}" presName="root" presStyleCnt="0">
        <dgm:presLayoutVars>
          <dgm:dir/>
          <dgm:resizeHandles val="exact"/>
        </dgm:presLayoutVars>
      </dgm:prSet>
      <dgm:spPr/>
    </dgm:pt>
    <dgm:pt modelId="{C2B86E51-C06F-4B4D-8726-CE303C03C04F}" type="pres">
      <dgm:prSet presAssocID="{92EA681D-4CCD-48B8-9841-FAC82CAC490F}" presName="container" presStyleCnt="0">
        <dgm:presLayoutVars>
          <dgm:dir/>
          <dgm:resizeHandles val="exact"/>
        </dgm:presLayoutVars>
      </dgm:prSet>
      <dgm:spPr/>
    </dgm:pt>
    <dgm:pt modelId="{E69A02DE-2F49-4247-83B1-A363D58616D4}" type="pres">
      <dgm:prSet presAssocID="{0A397E96-EECF-477F-A822-CD0024352EC6}" presName="compNode" presStyleCnt="0"/>
      <dgm:spPr/>
    </dgm:pt>
    <dgm:pt modelId="{5B1E49B3-4BDE-4988-B593-EB3D03450D75}" type="pres">
      <dgm:prSet presAssocID="{0A397E96-EECF-477F-A822-CD0024352EC6}" presName="iconBgRect" presStyleLbl="bgShp" presStyleIdx="0" presStyleCnt="3"/>
      <dgm:spPr/>
    </dgm:pt>
    <dgm:pt modelId="{DA45E8A3-D09C-4CD0-BC6E-770056D7C21E}" type="pres">
      <dgm:prSet presAssocID="{0A397E96-EECF-477F-A822-CD0024352EC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B6DCA567-DB31-48E0-BD13-B14F8A32D098}" type="pres">
      <dgm:prSet presAssocID="{0A397E96-EECF-477F-A822-CD0024352EC6}" presName="spaceRect" presStyleCnt="0"/>
      <dgm:spPr/>
    </dgm:pt>
    <dgm:pt modelId="{746ADC53-B8EC-47E1-9601-5ED361E99433}" type="pres">
      <dgm:prSet presAssocID="{0A397E96-EECF-477F-A822-CD0024352EC6}" presName="textRect" presStyleLbl="revTx" presStyleIdx="0" presStyleCnt="3">
        <dgm:presLayoutVars>
          <dgm:chMax val="1"/>
          <dgm:chPref val="1"/>
        </dgm:presLayoutVars>
      </dgm:prSet>
      <dgm:spPr/>
    </dgm:pt>
    <dgm:pt modelId="{3C591305-2672-407D-9703-C1A65072AF5A}" type="pres">
      <dgm:prSet presAssocID="{30C4D87F-BC0E-4B61-92D3-01C06129FF9B}" presName="sibTrans" presStyleLbl="sibTrans2D1" presStyleIdx="0" presStyleCnt="0"/>
      <dgm:spPr/>
    </dgm:pt>
    <dgm:pt modelId="{032048C2-6F89-40DD-B40E-16CB485F6E5B}" type="pres">
      <dgm:prSet presAssocID="{E91FBF61-72AF-4595-8739-47B2708BD739}" presName="compNode" presStyleCnt="0"/>
      <dgm:spPr/>
    </dgm:pt>
    <dgm:pt modelId="{7D30BEF8-69AA-421A-AC3C-98F3C93CA26B}" type="pres">
      <dgm:prSet presAssocID="{E91FBF61-72AF-4595-8739-47B2708BD739}" presName="iconBgRect" presStyleLbl="bgShp" presStyleIdx="1" presStyleCnt="3"/>
      <dgm:spPr/>
    </dgm:pt>
    <dgm:pt modelId="{CD6085EB-6E22-44F3-B49F-22232D91150A}" type="pres">
      <dgm:prSet presAssocID="{E91FBF61-72AF-4595-8739-47B2708BD73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870C458B-77A8-4BBA-AD48-920FA7C612F6}" type="pres">
      <dgm:prSet presAssocID="{E91FBF61-72AF-4595-8739-47B2708BD739}" presName="spaceRect" presStyleCnt="0"/>
      <dgm:spPr/>
    </dgm:pt>
    <dgm:pt modelId="{59610EC6-35C5-402C-8D73-43F603A915DC}" type="pres">
      <dgm:prSet presAssocID="{E91FBF61-72AF-4595-8739-47B2708BD739}" presName="textRect" presStyleLbl="revTx" presStyleIdx="1" presStyleCnt="3">
        <dgm:presLayoutVars>
          <dgm:chMax val="1"/>
          <dgm:chPref val="1"/>
        </dgm:presLayoutVars>
      </dgm:prSet>
      <dgm:spPr/>
    </dgm:pt>
    <dgm:pt modelId="{906A81C0-62F9-474D-BCEC-2C1E24D6B9E5}" type="pres">
      <dgm:prSet presAssocID="{2E9A0624-A888-4A31-8CD4-C8693A40C4BE}" presName="sibTrans" presStyleLbl="sibTrans2D1" presStyleIdx="0" presStyleCnt="0"/>
      <dgm:spPr/>
    </dgm:pt>
    <dgm:pt modelId="{85AD1872-1AF0-49B1-986F-766D89FA39EA}" type="pres">
      <dgm:prSet presAssocID="{1DF02717-BCA0-4DCB-AC20-303DA6D5C604}" presName="compNode" presStyleCnt="0"/>
      <dgm:spPr/>
    </dgm:pt>
    <dgm:pt modelId="{D1FD2F00-E1CD-478D-82F1-57BA87BDE1BD}" type="pres">
      <dgm:prSet presAssocID="{1DF02717-BCA0-4DCB-AC20-303DA6D5C604}" presName="iconBgRect" presStyleLbl="bgShp" presStyleIdx="2" presStyleCnt="3"/>
      <dgm:spPr/>
    </dgm:pt>
    <dgm:pt modelId="{8D56BC26-18D6-4192-BE2A-94C5BC6F8D40}" type="pres">
      <dgm:prSet presAssocID="{1DF02717-BCA0-4DCB-AC20-303DA6D5C6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ronomètre"/>
        </a:ext>
      </dgm:extLst>
    </dgm:pt>
    <dgm:pt modelId="{00FC03A3-20A8-4C3D-8D14-0C56C19F0580}" type="pres">
      <dgm:prSet presAssocID="{1DF02717-BCA0-4DCB-AC20-303DA6D5C604}" presName="spaceRect" presStyleCnt="0"/>
      <dgm:spPr/>
    </dgm:pt>
    <dgm:pt modelId="{B898AE1B-0201-4BA7-8A14-151440384A69}" type="pres">
      <dgm:prSet presAssocID="{1DF02717-BCA0-4DCB-AC20-303DA6D5C604}" presName="textRect" presStyleLbl="revTx" presStyleIdx="2" presStyleCnt="3">
        <dgm:presLayoutVars>
          <dgm:chMax val="1"/>
          <dgm:chPref val="1"/>
        </dgm:presLayoutVars>
      </dgm:prSet>
      <dgm:spPr/>
    </dgm:pt>
  </dgm:ptLst>
  <dgm:cxnLst>
    <dgm:cxn modelId="{02013046-E5FA-4FBA-A009-3B12EBF939AD}" srcId="{92EA681D-4CCD-48B8-9841-FAC82CAC490F}" destId="{E91FBF61-72AF-4595-8739-47B2708BD739}" srcOrd="1" destOrd="0" parTransId="{D1929E3C-6411-4B5C-9375-9DE6ECF09114}" sibTransId="{2E9A0624-A888-4A31-8CD4-C8693A40C4BE}"/>
    <dgm:cxn modelId="{9512C453-FFC0-42D1-8C76-1F645334F8F5}" type="presOf" srcId="{0A397E96-EECF-477F-A822-CD0024352EC6}" destId="{746ADC53-B8EC-47E1-9601-5ED361E99433}" srcOrd="0" destOrd="0" presId="urn:microsoft.com/office/officeart/2018/2/layout/IconCircleList"/>
    <dgm:cxn modelId="{597E1586-1852-4B3A-A1E7-F2724EF68A60}" type="presOf" srcId="{1DF02717-BCA0-4DCB-AC20-303DA6D5C604}" destId="{B898AE1B-0201-4BA7-8A14-151440384A69}" srcOrd="0" destOrd="0" presId="urn:microsoft.com/office/officeart/2018/2/layout/IconCircleList"/>
    <dgm:cxn modelId="{9AF50A91-DD94-4CA4-AE46-3A6FBB86CF65}" type="presOf" srcId="{30C4D87F-BC0E-4B61-92D3-01C06129FF9B}" destId="{3C591305-2672-407D-9703-C1A65072AF5A}" srcOrd="0" destOrd="0" presId="urn:microsoft.com/office/officeart/2018/2/layout/IconCircleList"/>
    <dgm:cxn modelId="{4C890592-65AC-4D61-A759-F88CA72AFD70}" type="presOf" srcId="{E91FBF61-72AF-4595-8739-47B2708BD739}" destId="{59610EC6-35C5-402C-8D73-43F603A915DC}" srcOrd="0" destOrd="0" presId="urn:microsoft.com/office/officeart/2018/2/layout/IconCircleList"/>
    <dgm:cxn modelId="{37861EAC-F8C2-44B7-9443-FF032C8DE73B}" type="presOf" srcId="{2E9A0624-A888-4A31-8CD4-C8693A40C4BE}" destId="{906A81C0-62F9-474D-BCEC-2C1E24D6B9E5}" srcOrd="0" destOrd="0" presId="urn:microsoft.com/office/officeart/2018/2/layout/IconCircleList"/>
    <dgm:cxn modelId="{ECA548DC-3222-42DC-8BB4-A4FD379D9EE8}" srcId="{92EA681D-4CCD-48B8-9841-FAC82CAC490F}" destId="{0A397E96-EECF-477F-A822-CD0024352EC6}" srcOrd="0" destOrd="0" parTransId="{5069A521-A78E-4422-BE90-84F785747DA2}" sibTransId="{30C4D87F-BC0E-4B61-92D3-01C06129FF9B}"/>
    <dgm:cxn modelId="{B6FB3EE0-1CB6-42E4-BC18-916431B86EFE}" type="presOf" srcId="{92EA681D-4CCD-48B8-9841-FAC82CAC490F}" destId="{0CF84C67-EC87-43BC-BC70-36B7CE7E1DF5}" srcOrd="0" destOrd="0" presId="urn:microsoft.com/office/officeart/2018/2/layout/IconCircleList"/>
    <dgm:cxn modelId="{D875DAE1-5A7B-4A1F-8C05-E06D25BA645D}" srcId="{92EA681D-4CCD-48B8-9841-FAC82CAC490F}" destId="{1DF02717-BCA0-4DCB-AC20-303DA6D5C604}" srcOrd="2" destOrd="0" parTransId="{B4150496-903B-425D-B6A8-40974A1133F3}" sibTransId="{E2C9DA20-539F-4858-AD89-59C90F98BE54}"/>
    <dgm:cxn modelId="{0352A8EC-8225-47FC-A335-A48D58FFECC8}" type="presParOf" srcId="{0CF84C67-EC87-43BC-BC70-36B7CE7E1DF5}" destId="{C2B86E51-C06F-4B4D-8726-CE303C03C04F}" srcOrd="0" destOrd="0" presId="urn:microsoft.com/office/officeart/2018/2/layout/IconCircleList"/>
    <dgm:cxn modelId="{AE2D6097-087E-4CFE-A823-80DE8B4B6CFC}" type="presParOf" srcId="{C2B86E51-C06F-4B4D-8726-CE303C03C04F}" destId="{E69A02DE-2F49-4247-83B1-A363D58616D4}" srcOrd="0" destOrd="0" presId="urn:microsoft.com/office/officeart/2018/2/layout/IconCircleList"/>
    <dgm:cxn modelId="{5A7BF39C-71A3-4B0E-9F9A-4B38ED3AA482}" type="presParOf" srcId="{E69A02DE-2F49-4247-83B1-A363D58616D4}" destId="{5B1E49B3-4BDE-4988-B593-EB3D03450D75}" srcOrd="0" destOrd="0" presId="urn:microsoft.com/office/officeart/2018/2/layout/IconCircleList"/>
    <dgm:cxn modelId="{936B2B61-2786-433F-AA29-F8D9296BCA78}" type="presParOf" srcId="{E69A02DE-2F49-4247-83B1-A363D58616D4}" destId="{DA45E8A3-D09C-4CD0-BC6E-770056D7C21E}" srcOrd="1" destOrd="0" presId="urn:microsoft.com/office/officeart/2018/2/layout/IconCircleList"/>
    <dgm:cxn modelId="{3C939991-B88D-471E-871F-5B7A243EF2E7}" type="presParOf" srcId="{E69A02DE-2F49-4247-83B1-A363D58616D4}" destId="{B6DCA567-DB31-48E0-BD13-B14F8A32D098}" srcOrd="2" destOrd="0" presId="urn:microsoft.com/office/officeart/2018/2/layout/IconCircleList"/>
    <dgm:cxn modelId="{B8FBB3C3-1088-424C-9210-0B7224BBF7DA}" type="presParOf" srcId="{E69A02DE-2F49-4247-83B1-A363D58616D4}" destId="{746ADC53-B8EC-47E1-9601-5ED361E99433}" srcOrd="3" destOrd="0" presId="urn:microsoft.com/office/officeart/2018/2/layout/IconCircleList"/>
    <dgm:cxn modelId="{4602DE2D-5A54-409D-ABE4-6FBDB5DBAA28}" type="presParOf" srcId="{C2B86E51-C06F-4B4D-8726-CE303C03C04F}" destId="{3C591305-2672-407D-9703-C1A65072AF5A}" srcOrd="1" destOrd="0" presId="urn:microsoft.com/office/officeart/2018/2/layout/IconCircleList"/>
    <dgm:cxn modelId="{6823A780-0D0A-4269-8536-28F29B04E2F9}" type="presParOf" srcId="{C2B86E51-C06F-4B4D-8726-CE303C03C04F}" destId="{032048C2-6F89-40DD-B40E-16CB485F6E5B}" srcOrd="2" destOrd="0" presId="urn:microsoft.com/office/officeart/2018/2/layout/IconCircleList"/>
    <dgm:cxn modelId="{CE81B8D2-3D8D-400B-80DB-C1757F36E6BE}" type="presParOf" srcId="{032048C2-6F89-40DD-B40E-16CB485F6E5B}" destId="{7D30BEF8-69AA-421A-AC3C-98F3C93CA26B}" srcOrd="0" destOrd="0" presId="urn:microsoft.com/office/officeart/2018/2/layout/IconCircleList"/>
    <dgm:cxn modelId="{4EE9A7AC-473D-4C69-91EB-DB119268496B}" type="presParOf" srcId="{032048C2-6F89-40DD-B40E-16CB485F6E5B}" destId="{CD6085EB-6E22-44F3-B49F-22232D91150A}" srcOrd="1" destOrd="0" presId="urn:microsoft.com/office/officeart/2018/2/layout/IconCircleList"/>
    <dgm:cxn modelId="{C45251F4-F0FD-4C38-B822-CD00DE2607F4}" type="presParOf" srcId="{032048C2-6F89-40DD-B40E-16CB485F6E5B}" destId="{870C458B-77A8-4BBA-AD48-920FA7C612F6}" srcOrd="2" destOrd="0" presId="urn:microsoft.com/office/officeart/2018/2/layout/IconCircleList"/>
    <dgm:cxn modelId="{3A32FC0C-487B-4848-8C43-A85B7255D0F8}" type="presParOf" srcId="{032048C2-6F89-40DD-B40E-16CB485F6E5B}" destId="{59610EC6-35C5-402C-8D73-43F603A915DC}" srcOrd="3" destOrd="0" presId="urn:microsoft.com/office/officeart/2018/2/layout/IconCircleList"/>
    <dgm:cxn modelId="{CA67DC70-8C26-46EE-855A-00FA74EDD7E9}" type="presParOf" srcId="{C2B86E51-C06F-4B4D-8726-CE303C03C04F}" destId="{906A81C0-62F9-474D-BCEC-2C1E24D6B9E5}" srcOrd="3" destOrd="0" presId="urn:microsoft.com/office/officeart/2018/2/layout/IconCircleList"/>
    <dgm:cxn modelId="{FE6A12F5-45ED-4269-A9F5-9D2BDDA13D22}" type="presParOf" srcId="{C2B86E51-C06F-4B4D-8726-CE303C03C04F}" destId="{85AD1872-1AF0-49B1-986F-766D89FA39EA}" srcOrd="4" destOrd="0" presId="urn:microsoft.com/office/officeart/2018/2/layout/IconCircleList"/>
    <dgm:cxn modelId="{9B7E6F08-6C59-495E-B433-DC7A08996C66}" type="presParOf" srcId="{85AD1872-1AF0-49B1-986F-766D89FA39EA}" destId="{D1FD2F00-E1CD-478D-82F1-57BA87BDE1BD}" srcOrd="0" destOrd="0" presId="urn:microsoft.com/office/officeart/2018/2/layout/IconCircleList"/>
    <dgm:cxn modelId="{E0EA06BC-52C9-4ACA-BE4C-EC27DF3278DB}" type="presParOf" srcId="{85AD1872-1AF0-49B1-986F-766D89FA39EA}" destId="{8D56BC26-18D6-4192-BE2A-94C5BC6F8D40}" srcOrd="1" destOrd="0" presId="urn:microsoft.com/office/officeart/2018/2/layout/IconCircleList"/>
    <dgm:cxn modelId="{C8466595-446D-4B8F-A78B-5E4E405C3D8D}" type="presParOf" srcId="{85AD1872-1AF0-49B1-986F-766D89FA39EA}" destId="{00FC03A3-20A8-4C3D-8D14-0C56C19F0580}" srcOrd="2" destOrd="0" presId="urn:microsoft.com/office/officeart/2018/2/layout/IconCircleList"/>
    <dgm:cxn modelId="{A72DA9B0-C3DD-43E3-BD70-02EEFE4BBB2D}" type="presParOf" srcId="{85AD1872-1AF0-49B1-986F-766D89FA39EA}" destId="{B898AE1B-0201-4BA7-8A14-151440384A6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089D6-2643-4338-8060-4FEB29E924AE}">
      <dsp:nvSpPr>
        <dsp:cNvPr id="0" name=""/>
        <dsp:cNvSpPr/>
      </dsp:nvSpPr>
      <dsp:spPr>
        <a:xfrm>
          <a:off x="3243197"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827002"/>
        <a:ext cx="31708" cy="6341"/>
      </dsp:txXfrm>
    </dsp:sp>
    <dsp:sp modelId="{858A71F6-C7F1-42BD-9BB6-0C2019A1A648}">
      <dsp:nvSpPr>
        <dsp:cNvPr id="0" name=""/>
        <dsp:cNvSpPr/>
      </dsp:nvSpPr>
      <dsp:spPr>
        <a:xfrm>
          <a:off x="487732" y="2994"/>
          <a:ext cx="2757264" cy="16543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Contexte et justification </a:t>
          </a:r>
          <a:endParaRPr lang="en-US" sz="2300" kern="1200"/>
        </a:p>
      </dsp:txBody>
      <dsp:txXfrm>
        <a:off x="487732" y="2994"/>
        <a:ext cx="2757264" cy="1654358"/>
      </dsp:txXfrm>
    </dsp:sp>
    <dsp:sp modelId="{DBF8BDB9-F159-4C4B-96A8-6F5560C0B6CA}">
      <dsp:nvSpPr>
        <dsp:cNvPr id="0" name=""/>
        <dsp:cNvSpPr/>
      </dsp:nvSpPr>
      <dsp:spPr>
        <a:xfrm>
          <a:off x="6634632" y="784453"/>
          <a:ext cx="603570" cy="91440"/>
        </a:xfrm>
        <a:custGeom>
          <a:avLst/>
          <a:gdLst/>
          <a:ahLst/>
          <a:cxnLst/>
          <a:rect l="0" t="0" r="0" b="0"/>
          <a:pathLst>
            <a:path>
              <a:moveTo>
                <a:pt x="0" y="45720"/>
              </a:moveTo>
              <a:lnTo>
                <a:pt x="603570" y="45720"/>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827002"/>
        <a:ext cx="31708" cy="6341"/>
      </dsp:txXfrm>
    </dsp:sp>
    <dsp:sp modelId="{B28F9C54-0C01-49E1-832E-DE1870623E68}">
      <dsp:nvSpPr>
        <dsp:cNvPr id="0" name=""/>
        <dsp:cNvSpPr/>
      </dsp:nvSpPr>
      <dsp:spPr>
        <a:xfrm>
          <a:off x="3879167" y="2994"/>
          <a:ext cx="2757264" cy="1654358"/>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But et objectifs</a:t>
          </a:r>
          <a:endParaRPr lang="en-US" sz="2300" kern="1200"/>
        </a:p>
      </dsp:txBody>
      <dsp:txXfrm>
        <a:off x="3879167" y="2994"/>
        <a:ext cx="2757264" cy="1654358"/>
      </dsp:txXfrm>
    </dsp:sp>
    <dsp:sp modelId="{AF3032B3-E041-43D1-A5F2-485D0D75B379}">
      <dsp:nvSpPr>
        <dsp:cNvPr id="0" name=""/>
        <dsp:cNvSpPr/>
      </dsp:nvSpPr>
      <dsp:spPr>
        <a:xfrm>
          <a:off x="1866364" y="1655552"/>
          <a:ext cx="6782870" cy="603570"/>
        </a:xfrm>
        <a:custGeom>
          <a:avLst/>
          <a:gdLst/>
          <a:ahLst/>
          <a:cxnLst/>
          <a:rect l="0" t="0" r="0" b="0"/>
          <a:pathLst>
            <a:path>
              <a:moveTo>
                <a:pt x="6782870" y="0"/>
              </a:moveTo>
              <a:lnTo>
                <a:pt x="6782870" y="318885"/>
              </a:lnTo>
              <a:lnTo>
                <a:pt x="0" y="318885"/>
              </a:lnTo>
              <a:lnTo>
                <a:pt x="0" y="60357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7488" y="1954167"/>
        <a:ext cx="340622" cy="6341"/>
      </dsp:txXfrm>
    </dsp:sp>
    <dsp:sp modelId="{A95F198C-A440-45D7-A849-869F3C89C3D5}">
      <dsp:nvSpPr>
        <dsp:cNvPr id="0" name=""/>
        <dsp:cNvSpPr/>
      </dsp:nvSpPr>
      <dsp:spPr>
        <a:xfrm>
          <a:off x="7270602" y="2994"/>
          <a:ext cx="2757264" cy="1654358"/>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Méthodologie et déroulement</a:t>
          </a:r>
          <a:endParaRPr lang="en-US" sz="2300" kern="1200"/>
        </a:p>
      </dsp:txBody>
      <dsp:txXfrm>
        <a:off x="7270602" y="2994"/>
        <a:ext cx="2757264" cy="1654358"/>
      </dsp:txXfrm>
    </dsp:sp>
    <dsp:sp modelId="{32B99113-330A-461B-8FCC-8CF9DFF92C96}">
      <dsp:nvSpPr>
        <dsp:cNvPr id="0" name=""/>
        <dsp:cNvSpPr/>
      </dsp:nvSpPr>
      <dsp:spPr>
        <a:xfrm>
          <a:off x="3243197"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9128" y="3115531"/>
        <a:ext cx="31708" cy="6341"/>
      </dsp:txXfrm>
    </dsp:sp>
    <dsp:sp modelId="{6D47C5BF-BCC1-40F3-9A6E-0D6304872DC2}">
      <dsp:nvSpPr>
        <dsp:cNvPr id="0" name=""/>
        <dsp:cNvSpPr/>
      </dsp:nvSpPr>
      <dsp:spPr>
        <a:xfrm>
          <a:off x="487732" y="2291523"/>
          <a:ext cx="2757264" cy="1654358"/>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Résultats</a:t>
          </a:r>
          <a:endParaRPr lang="en-US" sz="2300" kern="1200"/>
        </a:p>
      </dsp:txBody>
      <dsp:txXfrm>
        <a:off x="487732" y="2291523"/>
        <a:ext cx="2757264" cy="1654358"/>
      </dsp:txXfrm>
    </dsp:sp>
    <dsp:sp modelId="{06ACA6B3-11D9-48CA-804D-ACBAD4E5A26C}">
      <dsp:nvSpPr>
        <dsp:cNvPr id="0" name=""/>
        <dsp:cNvSpPr/>
      </dsp:nvSpPr>
      <dsp:spPr>
        <a:xfrm>
          <a:off x="6634632" y="3072982"/>
          <a:ext cx="603570" cy="91440"/>
        </a:xfrm>
        <a:custGeom>
          <a:avLst/>
          <a:gdLst/>
          <a:ahLst/>
          <a:cxnLst/>
          <a:rect l="0" t="0" r="0" b="0"/>
          <a:pathLst>
            <a:path>
              <a:moveTo>
                <a:pt x="0" y="45720"/>
              </a:moveTo>
              <a:lnTo>
                <a:pt x="603570"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20563" y="3115531"/>
        <a:ext cx="31708" cy="6341"/>
      </dsp:txXfrm>
    </dsp:sp>
    <dsp:sp modelId="{88CE21DA-B425-409B-B3F1-E2BAAED3EE1C}">
      <dsp:nvSpPr>
        <dsp:cNvPr id="0" name=""/>
        <dsp:cNvSpPr/>
      </dsp:nvSpPr>
      <dsp:spPr>
        <a:xfrm>
          <a:off x="3879167" y="2291523"/>
          <a:ext cx="2757264" cy="1654358"/>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Recommandations </a:t>
          </a:r>
          <a:endParaRPr lang="en-US" sz="2300" kern="1200"/>
        </a:p>
      </dsp:txBody>
      <dsp:txXfrm>
        <a:off x="3879167" y="2291523"/>
        <a:ext cx="2757264" cy="1654358"/>
      </dsp:txXfrm>
    </dsp:sp>
    <dsp:sp modelId="{574A9544-B331-470D-B281-9438DFC54FA1}">
      <dsp:nvSpPr>
        <dsp:cNvPr id="0" name=""/>
        <dsp:cNvSpPr/>
      </dsp:nvSpPr>
      <dsp:spPr>
        <a:xfrm>
          <a:off x="7270602" y="2291523"/>
          <a:ext cx="2757264" cy="1654358"/>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08" tIns="141820" rIns="135108" bIns="141820" numCol="1" spcCol="1270" anchor="ctr" anchorCtr="0">
          <a:noAutofit/>
        </a:bodyPr>
        <a:lstStyle/>
        <a:p>
          <a:pPr marL="0" lvl="0" indent="0" algn="ctr" defTabSz="1022350">
            <a:lnSpc>
              <a:spcPct val="90000"/>
            </a:lnSpc>
            <a:spcBef>
              <a:spcPct val="0"/>
            </a:spcBef>
            <a:spcAft>
              <a:spcPct val="35000"/>
            </a:spcAft>
            <a:buNone/>
          </a:pPr>
          <a:r>
            <a:rPr lang="fr-FR" sz="2300" kern="1200"/>
            <a:t>Prochaines étapes.</a:t>
          </a:r>
          <a:endParaRPr lang="en-US" sz="2300" kern="1200"/>
        </a:p>
      </dsp:txBody>
      <dsp:txXfrm>
        <a:off x="7270602" y="2291523"/>
        <a:ext cx="2757264" cy="1654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Actualiser la cartographie des sites de vaccination</a:t>
          </a:r>
          <a:br>
            <a:rPr lang="fr-FR" sz="1200" kern="1200" dirty="0"/>
          </a:br>
          <a:r>
            <a:rPr lang="fr-FR" sz="1200" kern="1200" dirty="0"/>
            <a:t>Mettre à jour la carte des sites par aire de santé afin de garantir que chaque communauté, en particulier dans les zones avec un grand nombre d’enfants non vaccinés, ait accès à un point de vaccination situé à moins de cinq kilomètres du lieu de résidence.</a:t>
          </a:r>
          <a:endParaRPr lang="en-US" sz="12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les ressources humaines en vaccination</a:t>
          </a:r>
          <a:br>
            <a:rPr lang="fr-FR" sz="1200" kern="1200" dirty="0"/>
          </a:br>
          <a:r>
            <a:rPr lang="fr-FR" sz="1200" kern="1200"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sz="12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Mettre en place un suivi rapproché des activités vaccinales</a:t>
          </a:r>
          <a:br>
            <a:rPr lang="fr-FR" sz="1200" kern="1200" dirty="0"/>
          </a:br>
          <a:r>
            <a:rPr lang="fr-FR" sz="1200" kern="1200" dirty="0"/>
            <a:t>Développer un système numérique permettant de suivre la tenue des séances de vaccination, la supervision formative par les aires de santé, et d’organiser des revues trimestrielles à tous les niveaux de la pyramide sanitaire.</a:t>
          </a:r>
          <a:endParaRPr lang="en-US" sz="1200" kern="1200" dirty="0"/>
        </a:p>
      </dsp:txBody>
      <dsp:txXfrm>
        <a:off x="7229475" y="39687"/>
        <a:ext cx="3286125" cy="1971675"/>
      </dsp:txXfrm>
    </dsp:sp>
    <dsp:sp modelId="{6352FE89-A948-47C6-ADCD-7154E7086BA8}">
      <dsp:nvSpPr>
        <dsp:cNvPr id="0" name=""/>
        <dsp:cNvSpPr/>
      </dsp:nvSpPr>
      <dsp:spPr>
        <a:xfrm>
          <a:off x="0"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Installer un système électronique intégré de gestion des vaccins</a:t>
          </a:r>
          <a:br>
            <a:rPr lang="fr-FR" sz="1200" kern="1200" dirty="0"/>
          </a:br>
          <a:r>
            <a:rPr lang="fr-FR" sz="1200" kern="1200" dirty="0"/>
            <a:t>Déployer un dispositif numérique en temps réel pour suivre la disponibilité et l’utilisation des vaccins ainsi que des autres intrants. Ce système devra intégrer un mécanisme d’alerte fonctionnel à chaque niveau : province, antenne PEV, zone de santé et centre de santé.</a:t>
          </a:r>
          <a:endParaRPr lang="en-US" sz="1200" kern="1200" dirty="0"/>
        </a:p>
      </dsp:txBody>
      <dsp:txXfrm>
        <a:off x="0" y="2339975"/>
        <a:ext cx="3286125" cy="1971675"/>
      </dsp:txXfrm>
    </dsp:sp>
    <dsp:sp modelId="{B4770224-D171-4A36-B74E-ABBECBB6F135}">
      <dsp:nvSpPr>
        <dsp:cNvPr id="0" name=""/>
        <dsp:cNvSpPr/>
      </dsp:nvSpPr>
      <dsp:spPr>
        <a:xfrm>
          <a:off x="3614737"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fr-FR" sz="1200" b="1" kern="1200" dirty="0"/>
            <a:t>Relancer les campagnes de sensibilisation</a:t>
          </a:r>
          <a:br>
            <a:rPr lang="fr-FR" sz="1200" kern="1200" dirty="0"/>
          </a:br>
          <a:r>
            <a:rPr lang="fr-FR" sz="1200" kern="1200" dirty="0"/>
            <a:t>Intensifier la communication sur la vaccination de routine en combinant deux approches :</a:t>
          </a:r>
          <a:endParaRPr lang="en-US" sz="1200" kern="1200" dirty="0"/>
        </a:p>
        <a:p>
          <a:pPr marL="57150" lvl="1" indent="-57150" algn="l" defTabSz="400050">
            <a:lnSpc>
              <a:spcPct val="90000"/>
            </a:lnSpc>
            <a:spcBef>
              <a:spcPct val="0"/>
            </a:spcBef>
            <a:spcAft>
              <a:spcPct val="15000"/>
            </a:spcAft>
            <a:buChar char="•"/>
          </a:pPr>
          <a:r>
            <a:rPr lang="fr-FR" sz="900" kern="1200" dirty="0"/>
            <a:t>La communication de masse à travers les médias,</a:t>
          </a:r>
          <a:endParaRPr lang="en-US" sz="900" kern="1200" dirty="0"/>
        </a:p>
        <a:p>
          <a:pPr marL="57150" lvl="1" indent="-57150" algn="l" defTabSz="400050">
            <a:lnSpc>
              <a:spcPct val="90000"/>
            </a:lnSpc>
            <a:spcBef>
              <a:spcPct val="0"/>
            </a:spcBef>
            <a:spcAft>
              <a:spcPct val="15000"/>
            </a:spcAft>
            <a:buChar char="•"/>
          </a:pPr>
          <a:r>
            <a:rPr lang="fr-FR" sz="900" kern="1200" dirty="0"/>
            <a:t>La mobilisation communautaire de proximité par les cellules d’animation communautaires (CAC), les agents de santé communautaires (ASC) et les relais communautaires (RECO).</a:t>
          </a:r>
          <a:endParaRPr lang="en-US" sz="900" kern="1200" dirty="0"/>
        </a:p>
      </dsp:txBody>
      <dsp:txXfrm>
        <a:off x="3614737" y="2339975"/>
        <a:ext cx="3286125" cy="1971675"/>
      </dsp:txXfrm>
    </dsp:sp>
    <dsp:sp modelId="{187CEDC1-BBA1-46D0-8175-13D87C784038}">
      <dsp:nvSpPr>
        <dsp:cNvPr id="0" name=""/>
        <dsp:cNvSpPr/>
      </dsp:nvSpPr>
      <dsp:spPr>
        <a:xfrm>
          <a:off x="7229475"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Mobiliser pleinement les acteurs de la santé communautaires en faveur de la vaccination</a:t>
          </a:r>
          <a:br>
            <a:rPr lang="fr-FR" sz="1200" kern="1200" dirty="0"/>
          </a:br>
          <a:r>
            <a:rPr lang="fr-FR" sz="1200" kern="1200" dirty="0"/>
            <a:t>Faire de la vaccination un axe prioritaire des activités des CAC, ASC et RECO. Cela implique leur formation et leur équipement pour identifier systématiquement les enfants en âge vaccinal et assurer un suivi individualisé par la communauté jusqu’à l’achèvement complet du calendrier vaccinal.</a:t>
          </a:r>
          <a:endParaRPr lang="en-US" sz="1200" kern="1200" dirty="0"/>
        </a:p>
      </dsp:txBody>
      <dsp:txXfrm>
        <a:off x="7229475" y="2339975"/>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Actualiser la cartographie nationale des sites de vaccination</a:t>
          </a:r>
          <a:endParaRPr lang="fr-FR" sz="1200" kern="1200" dirty="0"/>
        </a:p>
        <a:p>
          <a:pPr marL="0" lvl="0" indent="0" algn="ctr" defTabSz="533400">
            <a:lnSpc>
              <a:spcPct val="90000"/>
            </a:lnSpc>
            <a:spcBef>
              <a:spcPct val="0"/>
            </a:spcBef>
            <a:spcAft>
              <a:spcPct val="35000"/>
            </a:spcAft>
            <a:buFont typeface="Arial" panose="020B0604020202020204" pitchFamily="34" charset="0"/>
            <a:buNone/>
          </a:pPr>
          <a:r>
            <a:rPr lang="fr-FR" sz="1200" kern="1200" dirty="0"/>
            <a:t>Conduire un exercice national de mise à jour de la cartographie des sites fixes, avancés et mobiles de vaccination, par aire de santé.</a:t>
          </a:r>
        </a:p>
        <a:p>
          <a:pPr marL="0" lvl="0" indent="0" algn="ctr" defTabSz="533400">
            <a:lnSpc>
              <a:spcPct val="90000"/>
            </a:lnSpc>
            <a:spcBef>
              <a:spcPct val="0"/>
            </a:spcBef>
            <a:spcAft>
              <a:spcPct val="35000"/>
            </a:spcAft>
            <a:buFont typeface="Arial" panose="020B0604020202020204" pitchFamily="34" charset="0"/>
            <a:buNone/>
          </a:pPr>
          <a:r>
            <a:rPr lang="fr-FR" sz="1200" kern="1200" dirty="0"/>
            <a:t>Intégrer cette cartographie dans le Système National d’Information Sanitaire (SNIS DHIS2) pour garantir </a:t>
          </a:r>
          <a:r>
            <a:rPr lang="fr-FR" sz="1200" b="0" kern="1200" dirty="0"/>
            <a:t>toutes les communautés ont </a:t>
          </a:r>
          <a:r>
            <a:rPr lang="fr-FR" sz="1200" kern="1200" dirty="0"/>
            <a:t>une accessibilité équitable à moins de 5 km des ménages.</a:t>
          </a:r>
          <a:endParaRPr lang="en-US" sz="12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la politique nationale des ressources humaines pour la vaccination</a:t>
          </a:r>
          <a:br>
            <a:rPr lang="fr-FR" sz="1200" kern="1200" dirty="0"/>
          </a:br>
          <a:r>
            <a:rPr lang="fr-FR" sz="1200" kern="1200" dirty="0"/>
            <a:t>Intégrer la fonction des agents de santé communautaires (ASC) Comme vaccinateur dans les directives nationales, sur le modèle des bonnes pratiques régionales (ex. expérience éthiopienne).</a:t>
          </a:r>
          <a:endParaRPr lang="en-US" sz="12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Institutionnaliser un système national de suivi numérique des activités vaccinales</a:t>
          </a:r>
          <a:br>
            <a:rPr lang="fr-FR" sz="1200" kern="1200" dirty="0"/>
          </a:br>
          <a:r>
            <a:rPr lang="fr-FR" sz="1200" kern="1200" dirty="0"/>
            <a:t>Développer et déployer / Renforcer une plateforme numérique nationale pour le suivi en temps réel de la tenue des séances, de la supervision formative et des revues trimestrielles.</a:t>
          </a:r>
        </a:p>
        <a:p>
          <a:pPr marL="0" lvl="0" indent="0" algn="ctr" defTabSz="533400">
            <a:lnSpc>
              <a:spcPct val="90000"/>
            </a:lnSpc>
            <a:spcBef>
              <a:spcPct val="0"/>
            </a:spcBef>
            <a:spcAft>
              <a:spcPct val="35000"/>
            </a:spcAft>
            <a:buNone/>
          </a:pPr>
          <a:r>
            <a:rPr lang="fr-FR" sz="1200" kern="1200" dirty="0"/>
            <a:t>Intégrer ce système au cadre de suivi du PEV et au tableau de bord national de performance.</a:t>
          </a:r>
          <a:endParaRPr lang="en-US" sz="1200" kern="1200" dirty="0"/>
        </a:p>
      </dsp:txBody>
      <dsp:txXfrm>
        <a:off x="7229475" y="39687"/>
        <a:ext cx="3286125" cy="1971675"/>
      </dsp:txXfrm>
    </dsp:sp>
    <dsp:sp modelId="{6352FE89-A948-47C6-ADCD-7154E7086BA8}">
      <dsp:nvSpPr>
        <dsp:cNvPr id="0" name=""/>
        <dsp:cNvSpPr/>
      </dsp:nvSpPr>
      <dsp:spPr>
        <a:xfrm>
          <a:off x="0"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Mettre en place un système électronique intégré de gestion des vaccins (E-LMIS)</a:t>
          </a:r>
          <a:br>
            <a:rPr lang="fr-FR" sz="1200" kern="1200" dirty="0"/>
          </a:br>
          <a:r>
            <a:rPr lang="fr-FR" sz="1200" kern="1200" dirty="0"/>
            <a:t>Finaliser et généraliser l’implémentation d’un système national de gestion électronique des vaccins et intrants, avec mécanisme d’alerte automatique sur les ruptures et les excédents à chaque niveau.</a:t>
          </a:r>
          <a:endParaRPr lang="en-US" sz="1200" kern="1200" dirty="0"/>
        </a:p>
      </dsp:txBody>
      <dsp:txXfrm>
        <a:off x="0" y="2339975"/>
        <a:ext cx="3286125" cy="1971675"/>
      </dsp:txXfrm>
    </dsp:sp>
    <dsp:sp modelId="{B4770224-D171-4A36-B74E-ABBECBB6F135}">
      <dsp:nvSpPr>
        <dsp:cNvPr id="0" name=""/>
        <dsp:cNvSpPr/>
      </dsp:nvSpPr>
      <dsp:spPr>
        <a:xfrm>
          <a:off x="3614737"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Relancer la communication nationale sur la vaccination</a:t>
          </a:r>
          <a:br>
            <a:rPr lang="fr-FR" sz="1200" kern="1200" dirty="0"/>
          </a:br>
          <a:r>
            <a:rPr lang="fr-FR" sz="1200" kern="1200" dirty="0"/>
            <a:t>Élaborer et mettre en œuvre une stratégie nationale de communication de masse en synergie avec les médias publics et privés, axée sur la vaccination de routine et la lutte contre les rumeurs</a:t>
          </a:r>
          <a:endParaRPr lang="en-US" sz="1200" kern="1200" dirty="0"/>
        </a:p>
      </dsp:txBody>
      <dsp:txXfrm>
        <a:off x="3614737" y="2339975"/>
        <a:ext cx="3286125" cy="1971675"/>
      </dsp:txXfrm>
    </dsp:sp>
    <dsp:sp modelId="{187CEDC1-BBA1-46D0-8175-13D87C784038}">
      <dsp:nvSpPr>
        <dsp:cNvPr id="0" name=""/>
        <dsp:cNvSpPr/>
      </dsp:nvSpPr>
      <dsp:spPr>
        <a:xfrm>
          <a:off x="7229475"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a:t>Renforcer l’intégration de la vaccination dans la santé communautaire</a:t>
          </a:r>
          <a:endParaRPr lang="en-US" sz="1200" kern="1200"/>
        </a:p>
        <a:p>
          <a:pPr marL="0" lvl="0" indent="0" algn="ctr" defTabSz="533400">
            <a:lnSpc>
              <a:spcPct val="90000"/>
            </a:lnSpc>
            <a:spcBef>
              <a:spcPct val="0"/>
            </a:spcBef>
            <a:spcAft>
              <a:spcPct val="35000"/>
            </a:spcAft>
            <a:buNone/>
          </a:pPr>
          <a:r>
            <a:rPr lang="fr-FR" sz="1200" kern="1200">
              <a:solidFill>
                <a:prstClr val="white"/>
              </a:solidFill>
              <a:latin typeface="Aptos" panose="02110004020202020204"/>
              <a:ea typeface="+mn-ea"/>
              <a:cs typeface="+mn-cs"/>
            </a:rPr>
            <a:t>Intégrer la vaccination comme axe prioritaire du Plan National de Santé Communautaire, en dotant les CAC, ASC et RECO de moyens et de formations nécessaires à l’identification et au suivi des enfants non vaccinés.</a:t>
          </a:r>
          <a:endParaRPr lang="en-US" sz="1200" kern="1200" dirty="0"/>
        </a:p>
      </dsp:txBody>
      <dsp:txXfrm>
        <a:off x="7229475" y="2339975"/>
        <a:ext cx="3286125" cy="19716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Actualiser la cartographie des sites de vaccination</a:t>
          </a:r>
          <a:br>
            <a:rPr lang="fr-FR" sz="1400" kern="1200" dirty="0"/>
          </a:br>
          <a:r>
            <a:rPr lang="fr-FR" sz="1400" kern="1200" dirty="0"/>
            <a:t>Superviser la mise à jour de la carte des sites par zone de santé et aire, en identifiant les zones non couvertes et en planifiant la création de nouveaux points de prestation</a:t>
          </a:r>
          <a:endParaRPr lang="en-US" sz="14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Optimiser la dotation et la formation du personnel de vaccination</a:t>
          </a:r>
          <a:br>
            <a:rPr lang="fr-FR" sz="1400" kern="1200" dirty="0"/>
          </a:br>
          <a:r>
            <a:rPr lang="fr-FR" sz="1400" kern="1200" dirty="0"/>
            <a:t>Appuyer la formation continue et la supervision intégrée des infirmiers et ASC impliqués dans la vaccination.</a:t>
          </a:r>
          <a:endParaRPr lang="en-US" sz="14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Assurer un suivi rapproché des performances vaccinales</a:t>
          </a:r>
          <a:br>
            <a:rPr lang="fr-FR" sz="1400" kern="1200" dirty="0"/>
          </a:br>
          <a:r>
            <a:rPr lang="fr-FR" sz="1400" kern="1200" dirty="0"/>
            <a:t>Mettre en place un tableau de bord provincial de suivi des activités vaccinales et des supervisions formatives.</a:t>
          </a:r>
        </a:p>
        <a:p>
          <a:pPr marL="0" lvl="0" indent="0" algn="ctr" defTabSz="622300">
            <a:lnSpc>
              <a:spcPct val="90000"/>
            </a:lnSpc>
            <a:spcBef>
              <a:spcPct val="0"/>
            </a:spcBef>
            <a:spcAft>
              <a:spcPct val="35000"/>
            </a:spcAft>
            <a:buSzPts val="1000"/>
            <a:buFont typeface="Courier New" panose="02070309020205020404" pitchFamily="49" charset="0"/>
            <a:buNone/>
          </a:pPr>
          <a:r>
            <a:rPr lang="fr-FR" sz="1400" kern="1200" dirty="0"/>
            <a:t>Organiser </a:t>
          </a:r>
          <a:r>
            <a:rPr lang="fr-FR" sz="1400" b="0" kern="1200" dirty="0"/>
            <a:t>des revues trimestrielles provinciales de performance </a:t>
          </a:r>
          <a:r>
            <a:rPr lang="fr-FR" sz="1400" kern="1200" dirty="0"/>
            <a:t>avec les zones de santé.</a:t>
          </a:r>
          <a:endParaRPr lang="en-US" sz="1400" kern="1200" dirty="0"/>
        </a:p>
      </dsp:txBody>
      <dsp:txXfrm>
        <a:off x="7229475" y="39687"/>
        <a:ext cx="3286125" cy="1971675"/>
      </dsp:txXfrm>
    </dsp:sp>
    <dsp:sp modelId="{6352FE89-A948-47C6-ADCD-7154E7086BA8}">
      <dsp:nvSpPr>
        <dsp:cNvPr id="0" name=""/>
        <dsp:cNvSpPr/>
      </dsp:nvSpPr>
      <dsp:spPr>
        <a:xfrm>
          <a:off x="0"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Déployer le système électronique intégré de gestion des vaccins</a:t>
          </a:r>
          <a:br>
            <a:rPr lang="fr-FR" sz="1400" kern="1200" dirty="0"/>
          </a:br>
          <a:r>
            <a:rPr lang="fr-FR" sz="1400" kern="1200" dirty="0"/>
            <a:t>Accompagner les antennes PEV dans la saisie, le suivi et la gestion des stocks à travers l’outil numérique.</a:t>
          </a:r>
        </a:p>
        <a:p>
          <a:pPr marL="0" lvl="0" indent="0" algn="ctr" defTabSz="622300">
            <a:lnSpc>
              <a:spcPct val="90000"/>
            </a:lnSpc>
            <a:spcBef>
              <a:spcPct val="0"/>
            </a:spcBef>
            <a:spcAft>
              <a:spcPct val="35000"/>
            </a:spcAft>
            <a:buSzPts val="1000"/>
            <a:buFont typeface="Courier New" panose="02070309020205020404" pitchFamily="49" charset="0"/>
            <a:buNone/>
          </a:pPr>
          <a:r>
            <a:rPr lang="fr-FR" sz="1400" kern="1200" dirty="0"/>
            <a:t>Utiliser les données pour anticiper les ruptures et rationaliser la distribution.</a:t>
          </a:r>
          <a:endParaRPr lang="en-US" sz="1400" kern="1200" dirty="0"/>
        </a:p>
      </dsp:txBody>
      <dsp:txXfrm>
        <a:off x="0" y="2339975"/>
        <a:ext cx="3286125" cy="1971675"/>
      </dsp:txXfrm>
    </dsp:sp>
    <dsp:sp modelId="{B4770224-D171-4A36-B74E-ABBECBB6F135}">
      <dsp:nvSpPr>
        <dsp:cNvPr id="0" name=""/>
        <dsp:cNvSpPr/>
      </dsp:nvSpPr>
      <dsp:spPr>
        <a:xfrm>
          <a:off x="3614737" y="2315920"/>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fr-FR" sz="1200" b="1" kern="1200"/>
            <a:t>Renforcer la communication et la mobilisation communautaire</a:t>
          </a:r>
          <a:endParaRPr lang="en-US" sz="1200" kern="1200" dirty="0"/>
        </a:p>
        <a:p>
          <a:pPr marL="114300" lvl="1" indent="-114300" algn="l" defTabSz="533400">
            <a:lnSpc>
              <a:spcPct val="90000"/>
            </a:lnSpc>
            <a:spcBef>
              <a:spcPct val="0"/>
            </a:spcBef>
            <a:spcAft>
              <a:spcPct val="15000"/>
            </a:spcAft>
            <a:buChar char="•"/>
          </a:pPr>
          <a:r>
            <a:rPr lang="fr-FR" sz="1200" kern="1200">
              <a:solidFill>
                <a:prstClr val="white"/>
              </a:solidFill>
              <a:latin typeface="Aptos" panose="02110004020202020204"/>
              <a:ea typeface="+mn-ea"/>
              <a:cs typeface="+mn-cs"/>
            </a:rPr>
            <a:t>Diffuser des messages radiotélévisés et organiser des campagnes provinciales de sensibilisation sur la vaccination de routine.</a:t>
          </a:r>
          <a:endParaRPr lang="en-US" sz="1200" kern="1200" dirty="0">
            <a:solidFill>
              <a:prstClr val="white"/>
            </a:solidFill>
            <a:latin typeface="Aptos" panose="02110004020202020204"/>
            <a:ea typeface="+mn-ea"/>
            <a:cs typeface="+mn-cs"/>
          </a:endParaRPr>
        </a:p>
        <a:p>
          <a:pPr marL="114300" lvl="1" indent="-114300" algn="l" defTabSz="533400">
            <a:lnSpc>
              <a:spcPct val="90000"/>
            </a:lnSpc>
            <a:spcBef>
              <a:spcPct val="0"/>
            </a:spcBef>
            <a:spcAft>
              <a:spcPct val="15000"/>
            </a:spcAft>
            <a:buSzPts val="1000"/>
            <a:buFont typeface="Courier New" panose="02070309020205020404" pitchFamily="49" charset="0"/>
            <a:buChar char="o"/>
          </a:pPr>
          <a:r>
            <a:rPr lang="fr-FR" sz="1200" kern="1200">
              <a:solidFill>
                <a:prstClr val="white"/>
              </a:solidFill>
              <a:latin typeface="Aptos" panose="02110004020202020204"/>
              <a:ea typeface="+mn-ea"/>
              <a:cs typeface="+mn-cs"/>
            </a:rPr>
            <a:t>Soutenir les zones de santé dans la production de supports IEC adaptés aux réalités locales.</a:t>
          </a:r>
          <a:endParaRPr lang="fr-FR" sz="1200" kern="1200" dirty="0">
            <a:solidFill>
              <a:prstClr val="white"/>
            </a:solidFill>
            <a:latin typeface="Aptos" panose="02110004020202020204"/>
            <a:ea typeface="+mn-ea"/>
            <a:cs typeface="+mn-cs"/>
          </a:endParaRPr>
        </a:p>
      </dsp:txBody>
      <dsp:txXfrm>
        <a:off x="3614737" y="2315920"/>
        <a:ext cx="3286125" cy="1971675"/>
      </dsp:txXfrm>
    </dsp:sp>
    <dsp:sp modelId="{187CEDC1-BBA1-46D0-8175-13D87C784038}">
      <dsp:nvSpPr>
        <dsp:cNvPr id="0" name=""/>
        <dsp:cNvSpPr/>
      </dsp:nvSpPr>
      <dsp:spPr>
        <a:xfrm>
          <a:off x="7229475"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Soutenir la mobilisation des acteurs communautaires</a:t>
          </a:r>
          <a:br>
            <a:rPr lang="fr-FR" sz="1400" kern="1200" dirty="0"/>
          </a:br>
          <a:r>
            <a:rPr lang="fr-FR" sz="1400" kern="1200" dirty="0"/>
            <a:t>Superviser la planification et la mise en œuvre des activités des CAC, ASC et RECO liées à la vaccination.</a:t>
          </a:r>
        </a:p>
        <a:p>
          <a:pPr marL="0" lvl="0" indent="0" algn="ctr" defTabSz="622300">
            <a:lnSpc>
              <a:spcPct val="90000"/>
            </a:lnSpc>
            <a:spcBef>
              <a:spcPct val="0"/>
            </a:spcBef>
            <a:spcAft>
              <a:spcPct val="35000"/>
            </a:spcAft>
            <a:buSzPts val="1000"/>
            <a:buFont typeface="Courier New" panose="02070309020205020404" pitchFamily="49" charset="0"/>
            <a:buNone/>
          </a:pPr>
          <a:r>
            <a:rPr lang="fr-FR" sz="1400" kern="1200" dirty="0"/>
            <a:t>Appuyer la coordination entre équipes cadres de zones et structures communautaires.</a:t>
          </a:r>
          <a:endParaRPr lang="en-US" sz="1400" kern="1200" dirty="0"/>
        </a:p>
      </dsp:txBody>
      <dsp:txXfrm>
        <a:off x="7229475" y="2339975"/>
        <a:ext cx="3286125" cy="1971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Actualiser la cartographie des sites de vaccination</a:t>
          </a:r>
          <a:br>
            <a:rPr lang="fr-FR" sz="1200" kern="1200" dirty="0"/>
          </a:br>
          <a:r>
            <a:rPr lang="fr-FR" sz="1200" kern="1200" dirty="0"/>
            <a:t>Mettre à jour la carte des sites par aire de santé afin de garantir que chaque communauté, en particulier dans les zones avec un grand nombre d’enfants non vaccinés, ait accès à un point de vaccination situé à moins de cinq kilomètres du lieu de résidence. </a:t>
          </a:r>
        </a:p>
        <a:p>
          <a:pPr marL="0" lvl="0" indent="0" algn="ctr" defTabSz="533400">
            <a:lnSpc>
              <a:spcPct val="90000"/>
            </a:lnSpc>
            <a:spcBef>
              <a:spcPct val="0"/>
            </a:spcBef>
            <a:spcAft>
              <a:spcPct val="35000"/>
            </a:spcAft>
            <a:buNone/>
          </a:pPr>
          <a:r>
            <a:rPr lang="fr-FR" sz="1200" kern="1200" dirty="0"/>
            <a:t>Mettre à jour annuellement la carte opérationnelle avec les coordonnées GPS.</a:t>
          </a:r>
          <a:endParaRPr lang="en-US" sz="12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les ressources humaines en vaccination</a:t>
          </a:r>
          <a:br>
            <a:rPr lang="fr-FR" sz="1200" kern="1200" dirty="0"/>
          </a:br>
          <a:r>
            <a:rPr lang="fr-FR" sz="1200" kern="1200" dirty="0"/>
            <a:t>Assurer la présence d’au moins trois infirmiers polyvalents formés et supervisés dans chaque centre de santé, en plus de l’Infirmier Titulaire (IT) et de l’Infirmier Titulaire Adjoint (ITA). Dans les centres où le nombre d’infirmiers est insuffisant, former et encadrer des agents de santé communautaires (ASC), à l’image de l’expérience éthiopienne, afin de disposer d’un effectif suffisant de vaccinateurs.</a:t>
          </a:r>
          <a:endParaRPr lang="en-US" sz="12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Mettre en place un suivi rapproché des activités vaccinales</a:t>
          </a:r>
          <a:br>
            <a:rPr lang="fr-FR" sz="1200" kern="1200" dirty="0"/>
          </a:br>
          <a:r>
            <a:rPr lang="fr-FR" sz="1200" kern="1200" dirty="0"/>
            <a:t>Utiliser des outils numériques ou tableaux de bord simples automatisé pour suivre la tenue des séances, les performances , la supervision et la consommation des vaccins.</a:t>
          </a:r>
        </a:p>
        <a:p>
          <a:pPr marL="0" lvl="0" indent="0" algn="ctr" defTabSz="533400">
            <a:lnSpc>
              <a:spcPct val="90000"/>
            </a:lnSpc>
            <a:spcBef>
              <a:spcPct val="0"/>
            </a:spcBef>
            <a:spcAft>
              <a:spcPct val="35000"/>
            </a:spcAft>
            <a:buNone/>
          </a:pPr>
          <a:r>
            <a:rPr lang="fr-FR" sz="1200" kern="1200" dirty="0"/>
            <a:t>Organiser des </a:t>
          </a:r>
          <a:r>
            <a:rPr lang="fr-FR" sz="1200" b="1" kern="1200" dirty="0"/>
            <a:t>revues mensuelles</a:t>
          </a:r>
          <a:r>
            <a:rPr lang="fr-FR" sz="1200" kern="1200" dirty="0"/>
            <a:t> avec les chefs d’aires de santé pour l’analyse des données et la prise de décision</a:t>
          </a:r>
          <a:endParaRPr lang="en-US" sz="1200" kern="1200" dirty="0"/>
        </a:p>
      </dsp:txBody>
      <dsp:txXfrm>
        <a:off x="7229475" y="39687"/>
        <a:ext cx="3286125" cy="1971675"/>
      </dsp:txXfrm>
    </dsp:sp>
    <dsp:sp modelId="{6352FE89-A948-47C6-ADCD-7154E7086BA8}">
      <dsp:nvSpPr>
        <dsp:cNvPr id="0" name=""/>
        <dsp:cNvSpPr/>
      </dsp:nvSpPr>
      <dsp:spPr>
        <a:xfrm>
          <a:off x="0"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Assurer la gestion efficace des vaccins et intrants</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Utiliser le système électronique ou les fiches standardisées pour le suivi des stocks.</a:t>
          </a:r>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Signaler rapidement les ruptures ou excédents au niveau provincial.</a:t>
          </a:r>
          <a:endParaRPr lang="en-US" sz="1200" kern="1200" dirty="0"/>
        </a:p>
      </dsp:txBody>
      <dsp:txXfrm>
        <a:off x="0" y="2339975"/>
        <a:ext cx="3286125" cy="1971675"/>
      </dsp:txXfrm>
    </dsp:sp>
    <dsp:sp modelId="{B4770224-D171-4A36-B74E-ABBECBB6F135}">
      <dsp:nvSpPr>
        <dsp:cNvPr id="0" name=""/>
        <dsp:cNvSpPr/>
      </dsp:nvSpPr>
      <dsp:spPr>
        <a:xfrm>
          <a:off x="3614737"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Intensifier la communication communautaire</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Mettre en œuvre des activités régulières de sensibilisation par les CAC, ASC et RECO.</a:t>
          </a:r>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Planifier des actions de proximité dans les villages éloignés et les zones à faible couverture.</a:t>
          </a:r>
          <a:endParaRPr lang="en-US" sz="1200" kern="1200" dirty="0"/>
        </a:p>
      </dsp:txBody>
      <dsp:txXfrm>
        <a:off x="3614737" y="2339975"/>
        <a:ext cx="3286125" cy="1971675"/>
      </dsp:txXfrm>
    </dsp:sp>
    <dsp:sp modelId="{187CEDC1-BBA1-46D0-8175-13D87C784038}">
      <dsp:nvSpPr>
        <dsp:cNvPr id="0" name=""/>
        <dsp:cNvSpPr/>
      </dsp:nvSpPr>
      <dsp:spPr>
        <a:xfrm>
          <a:off x="7229475"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Mobiliser les acteurs communautaires autour de la vaccination</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Faire de la vaccination un indicateur prioritaire du plan d’action communautaire.</a:t>
          </a:r>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Tenir des réunions régulières entre le personnel de santé et les leaders communautaires pour le suivi des enfants non vaccinés.</a:t>
          </a:r>
          <a:endParaRPr lang="en-US" sz="1200" kern="1200" dirty="0"/>
        </a:p>
      </dsp:txBody>
      <dsp:txXfrm>
        <a:off x="7229475" y="2339975"/>
        <a:ext cx="3286125" cy="1971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7A6E9D-9D71-4A44-83AE-2F08E50F8B0C}">
      <dsp:nvSpPr>
        <dsp:cNvPr id="0" name=""/>
        <dsp:cNvSpPr/>
      </dsp:nvSpPr>
      <dsp:spPr>
        <a:xfrm>
          <a:off x="0"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Appuyer techniquement et financièrement la mise à jour de la cartographie </a:t>
          </a:r>
        </a:p>
        <a:p>
          <a:pPr marL="0" lvl="0" indent="0" algn="ctr" defTabSz="533400">
            <a:lnSpc>
              <a:spcPct val="90000"/>
            </a:lnSpc>
            <a:spcBef>
              <a:spcPct val="0"/>
            </a:spcBef>
            <a:spcAft>
              <a:spcPct val="35000"/>
            </a:spcAft>
            <a:buNone/>
          </a:pPr>
          <a:r>
            <a:rPr lang="fr-FR" sz="1200" kern="1200" dirty="0"/>
            <a:t>Fournir un appui logistique et technique pour la collecte géospatiale et l’intégration des données dans le DHIS2.</a:t>
          </a:r>
          <a:endParaRPr lang="en-US" sz="1200" kern="1200" dirty="0"/>
        </a:p>
      </dsp:txBody>
      <dsp:txXfrm>
        <a:off x="0" y="39687"/>
        <a:ext cx="3286125" cy="1971675"/>
      </dsp:txXfrm>
    </dsp:sp>
    <dsp:sp modelId="{73D1CBD7-18B4-499D-9859-B2A0C8603314}">
      <dsp:nvSpPr>
        <dsp:cNvPr id="0" name=""/>
        <dsp:cNvSpPr/>
      </dsp:nvSpPr>
      <dsp:spPr>
        <a:xfrm>
          <a:off x="3614737"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les ressources humaines en vaccination</a:t>
          </a:r>
          <a:br>
            <a:rPr lang="fr-FR" sz="1200" kern="1200" dirty="0"/>
          </a:br>
          <a:r>
            <a:rPr lang="fr-FR" sz="1200" b="0" kern="1200" dirty="0"/>
            <a:t>Soutenir le renforcement des capacités en ressources humaines</a:t>
          </a:r>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Financer la formation, la supervision et le déploiement d’ASC dans les zones à déficit de personnel.</a:t>
          </a:r>
          <a:endParaRPr lang="en-US" sz="1200" kern="1200" dirty="0"/>
        </a:p>
      </dsp:txBody>
      <dsp:txXfrm>
        <a:off x="3614737" y="39687"/>
        <a:ext cx="3286125" cy="1971675"/>
      </dsp:txXfrm>
    </dsp:sp>
    <dsp:sp modelId="{A1809695-4A6C-4A59-BBBF-85C21CEC5019}">
      <dsp:nvSpPr>
        <dsp:cNvPr id="0" name=""/>
        <dsp:cNvSpPr/>
      </dsp:nvSpPr>
      <dsp:spPr>
        <a:xfrm>
          <a:off x="7229475" y="39687"/>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Appuyer le développement et la maintenance du système numérique de suivi vaccinal et logistique</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Fournir un appui technique et financier  (infrastructure, connectivité, formation des utilisateurs) et contribuer au développement du système de gestion intégré des vaccins (E-LMIS).</a:t>
          </a:r>
          <a:endParaRPr lang="en-US" sz="1200" kern="1200" dirty="0"/>
        </a:p>
      </dsp:txBody>
      <dsp:txXfrm>
        <a:off x="7229475" y="39687"/>
        <a:ext cx="3286125" cy="1971675"/>
      </dsp:txXfrm>
    </dsp:sp>
    <dsp:sp modelId="{6352FE89-A948-47C6-ADCD-7154E7086BA8}">
      <dsp:nvSpPr>
        <dsp:cNvPr id="0" name=""/>
        <dsp:cNvSpPr/>
      </dsp:nvSpPr>
      <dsp:spPr>
        <a:xfrm>
          <a:off x="1807368"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Accompagner les initiatives de communication et de mobilisation communautaire</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Appuyer les campagnes médiatiques et les activités de sensibilisation communautaire en cohérence avec la stratégie nationale.</a:t>
          </a:r>
          <a:endParaRPr lang="en-US" sz="1200" kern="1200" dirty="0"/>
        </a:p>
      </dsp:txBody>
      <dsp:txXfrm>
        <a:off x="1807368" y="2339975"/>
        <a:ext cx="3286125" cy="1971675"/>
      </dsp:txXfrm>
    </dsp:sp>
    <dsp:sp modelId="{B4770224-D171-4A36-B74E-ABBECBB6F135}">
      <dsp:nvSpPr>
        <dsp:cNvPr id="0" name=""/>
        <dsp:cNvSpPr/>
      </dsp:nvSpPr>
      <dsp:spPr>
        <a:xfrm>
          <a:off x="5422106" y="2339975"/>
          <a:ext cx="3286125" cy="197167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b="1" kern="1200" dirty="0"/>
            <a:t>Renforcer la coordination multisectorielle et l’alignement sur les priorités nationales</a:t>
          </a:r>
          <a:endParaRPr lang="fr-FR" sz="1200" kern="1200" dirty="0"/>
        </a:p>
        <a:p>
          <a:pPr marL="0" lvl="0" indent="0" algn="ctr" defTabSz="533400">
            <a:lnSpc>
              <a:spcPct val="90000"/>
            </a:lnSpc>
            <a:spcBef>
              <a:spcPct val="0"/>
            </a:spcBef>
            <a:spcAft>
              <a:spcPct val="35000"/>
            </a:spcAft>
            <a:buSzPts val="1000"/>
            <a:buFont typeface="Courier New" panose="02070309020205020404" pitchFamily="49" charset="0"/>
            <a:buNone/>
          </a:pPr>
          <a:r>
            <a:rPr lang="fr-FR" sz="1200" kern="1200" dirty="0"/>
            <a:t>S’assurer que les interventions des partenaires appuient les axes du plan national de vaccination et contribuent à la durabilité du système.</a:t>
          </a:r>
        </a:p>
        <a:p>
          <a:pPr marL="0" lvl="0" indent="0" algn="ctr" defTabSz="533400">
            <a:lnSpc>
              <a:spcPct val="90000"/>
            </a:lnSpc>
            <a:spcBef>
              <a:spcPct val="0"/>
            </a:spcBef>
            <a:spcAft>
              <a:spcPct val="35000"/>
            </a:spcAft>
            <a:buNone/>
          </a:pPr>
          <a:endParaRPr lang="fr-FR" sz="1200" kern="1200" dirty="0"/>
        </a:p>
        <a:p>
          <a:pPr marL="0" lvl="0" indent="0" algn="ctr" defTabSz="533400">
            <a:lnSpc>
              <a:spcPct val="90000"/>
            </a:lnSpc>
            <a:spcBef>
              <a:spcPct val="0"/>
            </a:spcBef>
            <a:spcAft>
              <a:spcPct val="35000"/>
            </a:spcAft>
            <a:buNone/>
          </a:pPr>
          <a:endParaRPr lang="fr-FR" sz="1200" kern="1200" dirty="0"/>
        </a:p>
        <a:p>
          <a:pPr marL="0" lvl="0" indent="0" algn="ctr" defTabSz="533400">
            <a:lnSpc>
              <a:spcPct val="90000"/>
            </a:lnSpc>
            <a:spcBef>
              <a:spcPct val="0"/>
            </a:spcBef>
            <a:spcAft>
              <a:spcPct val="35000"/>
            </a:spcAft>
            <a:buNone/>
          </a:pPr>
          <a:endParaRPr lang="en-US" sz="1200" kern="1200" dirty="0"/>
        </a:p>
      </dsp:txBody>
      <dsp:txXfrm>
        <a:off x="5422106" y="2339975"/>
        <a:ext cx="3286125" cy="1971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E49B3-4BDE-4988-B593-EB3D03450D75}">
      <dsp:nvSpPr>
        <dsp:cNvPr id="0" name=""/>
        <dsp:cNvSpPr/>
      </dsp:nvSpPr>
      <dsp:spPr>
        <a:xfrm>
          <a:off x="28876"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5E8A3-D09C-4CD0-BC6E-770056D7C21E}">
      <dsp:nvSpPr>
        <dsp:cNvPr id="0" name=""/>
        <dsp:cNvSpPr/>
      </dsp:nvSpPr>
      <dsp:spPr>
        <a:xfrm>
          <a:off x="215973" y="1774843"/>
          <a:ext cx="516743" cy="516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ADC53-B8EC-47E1-9601-5ED361E99433}">
      <dsp:nvSpPr>
        <dsp:cNvPr id="0" name=""/>
        <dsp:cNvSpPr/>
      </dsp:nvSpPr>
      <dsp:spPr>
        <a:xfrm>
          <a:off x="111072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dirty="0"/>
            <a:t>Le développement d’un outil Excel pour l’analyse des données de routine selon le modèle de Tanahashi, en vue d’un suivi longitudinal des interventions de vaccination ;</a:t>
          </a:r>
          <a:endParaRPr lang="en-US" sz="1800" kern="1200" dirty="0"/>
        </a:p>
      </dsp:txBody>
      <dsp:txXfrm>
        <a:off x="1110728" y="1587746"/>
        <a:ext cx="2100066" cy="890937"/>
      </dsp:txXfrm>
    </dsp:sp>
    <dsp:sp modelId="{7D30BEF8-69AA-421A-AC3C-98F3C93CA26B}">
      <dsp:nvSpPr>
        <dsp:cNvPr id="0" name=""/>
        <dsp:cNvSpPr/>
      </dsp:nvSpPr>
      <dsp:spPr>
        <a:xfrm>
          <a:off x="3576715"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6085EB-6E22-44F3-B49F-22232D91150A}">
      <dsp:nvSpPr>
        <dsp:cNvPr id="0" name=""/>
        <dsp:cNvSpPr/>
      </dsp:nvSpPr>
      <dsp:spPr>
        <a:xfrm>
          <a:off x="3763812" y="1774843"/>
          <a:ext cx="516743" cy="516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10EC6-35C5-402C-8D73-43F603A915DC}">
      <dsp:nvSpPr>
        <dsp:cNvPr id="0" name=""/>
        <dsp:cNvSpPr/>
      </dsp:nvSpPr>
      <dsp:spPr>
        <a:xfrm>
          <a:off x="4658568"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a:t>L’organisation d’une mission de restitution spécifique avec les quatre DPS concernées par l’évaluation et vulgarisation du progiciel Excel ;</a:t>
          </a:r>
          <a:endParaRPr lang="en-US" sz="1800" kern="1200"/>
        </a:p>
      </dsp:txBody>
      <dsp:txXfrm>
        <a:off x="4658568" y="1587746"/>
        <a:ext cx="2100066" cy="890937"/>
      </dsp:txXfrm>
    </dsp:sp>
    <dsp:sp modelId="{D1FD2F00-E1CD-478D-82F1-57BA87BDE1BD}">
      <dsp:nvSpPr>
        <dsp:cNvPr id="0" name=""/>
        <dsp:cNvSpPr/>
      </dsp:nvSpPr>
      <dsp:spPr>
        <a:xfrm>
          <a:off x="7124555" y="1587746"/>
          <a:ext cx="890937" cy="8909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56BC26-18D6-4192-BE2A-94C5BC6F8D40}">
      <dsp:nvSpPr>
        <dsp:cNvPr id="0" name=""/>
        <dsp:cNvSpPr/>
      </dsp:nvSpPr>
      <dsp:spPr>
        <a:xfrm>
          <a:off x="7311651" y="1774843"/>
          <a:ext cx="516743" cy="516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8AE1B-0201-4BA7-8A14-151440384A69}">
      <dsp:nvSpPr>
        <dsp:cNvPr id="0" name=""/>
        <dsp:cNvSpPr/>
      </dsp:nvSpPr>
      <dsp:spPr>
        <a:xfrm>
          <a:off x="8206407" y="1587746"/>
          <a:ext cx="2100066" cy="89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fr-FR" sz="1800" kern="1200" dirty="0"/>
            <a:t>La réalisation de la deuxième session de monitorage, six mois après l’utilisation de l’outil excel </a:t>
          </a:r>
          <a:endParaRPr lang="en-US" sz="1800" kern="1200" dirty="0"/>
        </a:p>
      </dsp:txBody>
      <dsp:txXfrm>
        <a:off x="8206407" y="1587746"/>
        <a:ext cx="2100066" cy="89093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CC8E9-49C9-4053-B536-AC63A630B070}" type="datetimeFigureOut">
              <a:rPr lang="fr-FR" smtClean="0"/>
              <a:t>16/12/2025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15B2D0-0E0F-440D-A7AC-B047FAC94476}" type="slidenum">
              <a:rPr lang="fr-FR" smtClean="0"/>
              <a:t>‹N°›</a:t>
            </a:fld>
            <a:endParaRPr lang="fr-FR"/>
          </a:p>
        </p:txBody>
      </p:sp>
    </p:spTree>
    <p:extLst>
      <p:ext uri="{BB962C8B-B14F-4D97-AF65-F5344CB8AC3E}">
        <p14:creationId xmlns:p14="http://schemas.microsoft.com/office/powerpoint/2010/main" val="4267435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CD"/>
          </a:p>
        </p:txBody>
      </p:sp>
      <p:sp>
        <p:nvSpPr>
          <p:cNvPr id="4" name="Espace réservé du numéro de diapositive 3"/>
          <p:cNvSpPr>
            <a:spLocks noGrp="1"/>
          </p:cNvSpPr>
          <p:nvPr>
            <p:ph type="sldNum" sz="quarter" idx="5"/>
          </p:nvPr>
        </p:nvSpPr>
        <p:spPr/>
        <p:txBody>
          <a:bodyPr/>
          <a:lstStyle/>
          <a:p>
            <a:fld id="{69C73775-E749-4A09-B78A-EA2FEFC95FAF}" type="slidenum">
              <a:rPr lang="fr-CD" smtClean="0"/>
              <a:t>7</a:t>
            </a:fld>
            <a:endParaRPr lang="fr-CD"/>
          </a:p>
        </p:txBody>
      </p:sp>
    </p:spTree>
    <p:extLst>
      <p:ext uri="{BB962C8B-B14F-4D97-AF65-F5344CB8AC3E}">
        <p14:creationId xmlns:p14="http://schemas.microsoft.com/office/powerpoint/2010/main" val="3506167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848C6C-4C9A-A553-846A-31A8D7ECE80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72B06D9-7867-DF06-E001-665625FA11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DB1584C-2950-CB7D-9394-D1CC11E74921}"/>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178166A4-0CD4-9290-D408-3C0DA33CEA9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7A2889-FC55-5F7D-F5C9-676088BFB955}"/>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71650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D864DF-0799-978D-D353-AD505338DFA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0E13D41-FB91-6342-1CAE-6EA55BCA77E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CC8206-8861-BDC8-73E5-84F42B8E9391}"/>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176E697B-3AC1-FDA6-1C4A-249DF9C4557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B5F839-940A-5D2D-4657-D74618829940}"/>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2985065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6AD1E3-8DC2-0F70-56CD-C03D2453206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C25CAA0-857E-FC02-4C42-D4F229508A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C808CA6-FC16-DA78-08FE-85A0B42F3566}"/>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6E28C485-7F66-EE89-EBFA-2BD140A79D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A53BE63-B0BA-9D2A-A548-0403123D882A}"/>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315553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A781DF-E8E5-6CB2-4C5C-612F2C18D0E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4205A9D-70A1-668B-06E8-D66E093C1F0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D000A77-E22E-415D-0CCE-E81D46D0D73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7CFCD9D-15C0-CC80-4CCB-4173F3DEDEB9}"/>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36292486-6BEA-0C65-40F9-53B7121F966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CF1C3F8-DAF5-4BD6-C1BE-DAD006B754FD}"/>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803398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7A4784-6102-12C9-9D73-692358F461E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DFB14C-64B6-53C6-DD49-FA02CA8A24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26B815E-C0A2-53CA-684A-C39AAD63D8F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77E5D50-0777-CC96-F428-9810D9A926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1AD164B-F70B-4F83-0AAD-D3E621A6926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37DCB5B-BF62-7E8F-4F94-474A03D3E7CC}"/>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8" name="Espace réservé du pied de page 7">
            <a:extLst>
              <a:ext uri="{FF2B5EF4-FFF2-40B4-BE49-F238E27FC236}">
                <a16:creationId xmlns:a16="http://schemas.microsoft.com/office/drawing/2014/main" id="{DFD3FCCC-36D3-F485-5CB7-ABAD27D808F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CAB675D-1D24-0205-3420-E10E06617A3B}"/>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874886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1C349B-B027-4613-CABE-DCFDDDF6065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089A63-D4E8-A3F7-1BBD-9E7583B539C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4" name="Espace réservé du pied de page 3">
            <a:extLst>
              <a:ext uri="{FF2B5EF4-FFF2-40B4-BE49-F238E27FC236}">
                <a16:creationId xmlns:a16="http://schemas.microsoft.com/office/drawing/2014/main" id="{D449B8B2-7EDC-AB6B-EDEC-B789FA50734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AB5E6F0-4DAA-ACBE-42E0-A9D072E86DEE}"/>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3854472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D9F3BBC-5005-BD23-837D-ED893CE42E5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3" name="Espace réservé du pied de page 2">
            <a:extLst>
              <a:ext uri="{FF2B5EF4-FFF2-40B4-BE49-F238E27FC236}">
                <a16:creationId xmlns:a16="http://schemas.microsoft.com/office/drawing/2014/main" id="{ED5CE329-A2A3-372C-5F6F-FF45085AC22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C228F14-6799-7663-F0B7-EB576F880EC2}"/>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737976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0E88A2-75F8-29BF-D013-951966C9BD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4019D0F-FA52-097D-4775-CFD66A9A05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A754977-651F-5DAA-9649-CB4801519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0AA4320-3B76-EB8E-96E8-F6F3DBEA4C9D}"/>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2292D6D2-8469-650D-83E0-DCFF8725136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16592E-74CC-4B78-E101-F24099FFD3E6}"/>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22770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8A7B53-A4E8-1586-128C-573C7A4CB0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10ED926-F720-B2B1-E4C9-22536797CE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4B45B62-C3A6-6DDA-68AA-ABFECEE09E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BA6274A-B2BB-AF62-C7BA-901D1AA7BEF6}"/>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6" name="Espace réservé du pied de page 5">
            <a:extLst>
              <a:ext uri="{FF2B5EF4-FFF2-40B4-BE49-F238E27FC236}">
                <a16:creationId xmlns:a16="http://schemas.microsoft.com/office/drawing/2014/main" id="{C601D3CE-95E8-DD78-B436-B5524E28ECA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75D394F-A057-0BDC-9596-F7709933BD85}"/>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247526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19CAD2-5D0E-A473-5DF7-647F1B6FAEC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8355C44-BFE0-2A83-318F-F410AB16D81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254176-B87D-500D-2367-9C3105DDDF54}"/>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5E1593E6-D00F-3850-B466-7D25F10E8DC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2F2201-17FC-CFDC-4AE2-19AF74CCE871}"/>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73927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0C5F7C2-0D5F-7B68-EE6D-E82EC8AE721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A736B71-D602-D4B5-208B-35F31F2C52C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362820-6AD6-26C4-8B7B-93D38D5E4BA3}"/>
              </a:ext>
            </a:extLst>
          </p:cNvPr>
          <p:cNvSpPr>
            <a:spLocks noGrp="1"/>
          </p:cNvSpPr>
          <p:nvPr>
            <p:ph type="dt" sz="half" idx="10"/>
          </p:nvPr>
        </p:nvSpPr>
        <p:spPr/>
        <p:txBody>
          <a:body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7A6AE2C9-450E-9EB0-2589-3CB406943B6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91CF0E-D8A8-BAE0-35EC-9E11077274ED}"/>
              </a:ext>
            </a:extLst>
          </p:cNvPr>
          <p:cNvSpPr>
            <a:spLocks noGrp="1"/>
          </p:cNvSpPr>
          <p:nvPr>
            <p:ph type="sldNum" sz="quarter" idx="12"/>
          </p:nvPr>
        </p:nvSpPr>
        <p:spPr/>
        <p:txBody>
          <a:bodyPr/>
          <a:lstStyle/>
          <a:p>
            <a:fld id="{3D4B42F0-3F6F-4ABE-9FE5-4539CDE96F50}" type="slidenum">
              <a:rPr lang="fr-FR" smtClean="0"/>
              <a:t>‹N°›</a:t>
            </a:fld>
            <a:endParaRPr lang="fr-FR"/>
          </a:p>
        </p:txBody>
      </p:sp>
    </p:spTree>
    <p:extLst>
      <p:ext uri="{BB962C8B-B14F-4D97-AF65-F5344CB8AC3E}">
        <p14:creationId xmlns:p14="http://schemas.microsoft.com/office/powerpoint/2010/main" val="1349358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6545-7180-409B-9FE7-78323476D4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EF19C7-ACC6-4503-BA4C-B0C9CB58D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A62410-75DF-41E2-B6BD-EC6F8555E084}"/>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3F61BC87-D58D-4045-A2F3-540543093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19367-0DD9-4292-96C8-E9B1AF088114}"/>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26483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E4AB-F98F-4D73-B089-693EF66551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9F33A6-BA54-4DD5-B4FF-170D72FBA1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4A4635-BAEE-430A-A1CB-0FE379249115}"/>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434898D4-E8F7-47A8-BCC6-DF6ED94A1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465977-7C7A-4395-B59D-8A7DF5BFCB09}"/>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536746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FBF7-5BF3-4B73-84A2-F028BF53D4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B6FBBF-8F24-4BDD-8E1B-717CEED240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57471-F558-4E88-8098-94438F0AF546}"/>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DA27CCC6-B94A-41E7-9564-2389FC9AB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6E6BBC-E11F-481C-8B2B-93CB32B81D86}"/>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252414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FFAEC-BEBA-45C8-B49F-4DF2928C3E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C7FED0-21E6-45A8-89A2-44EC8D611C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A965B2-0B9F-4252-A679-C5D8EFB48D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85B0E0-957E-4DB5-B60D-413B0ED37BFF}"/>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1C292205-4A06-4EEF-8C66-DBEF7F3026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AB0175-2143-45F6-B317-ABC8C04A45DD}"/>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81216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0FED6-7921-44CE-8DBB-6035DCB647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6A499A-647D-4F34-9756-E074BBEC46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F3C27-01B4-4E60-8757-EBEB512C93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D17008-E3FE-46AB-98CC-F6E021B8F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798832-ACB7-4972-94D4-41F2BC861E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43E815-CE6A-4233-B42D-646ADF97C003}"/>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8" name="Footer Placeholder 7">
            <a:extLst>
              <a:ext uri="{FF2B5EF4-FFF2-40B4-BE49-F238E27FC236}">
                <a16:creationId xmlns:a16="http://schemas.microsoft.com/office/drawing/2014/main" id="{E3853AD3-3350-4FC6-A94D-8DCE3BDFEC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3D98D5-D217-4449-ACE1-7BF55EA004A0}"/>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1208336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1D6F-1427-4A76-A63E-7D272CE34D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5E24DB-6CD1-49CE-9DAF-A0F3460639AE}"/>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4" name="Footer Placeholder 3">
            <a:extLst>
              <a:ext uri="{FF2B5EF4-FFF2-40B4-BE49-F238E27FC236}">
                <a16:creationId xmlns:a16="http://schemas.microsoft.com/office/drawing/2014/main" id="{4ED78AA2-182C-4200-8274-B7D9B1A3B4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69F173-35C2-4EB3-A279-4A7CDEFF2411}"/>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26261436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12DD4B-0940-4C7A-8F7D-76DBB0D7B515}"/>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3" name="Footer Placeholder 2">
            <a:extLst>
              <a:ext uri="{FF2B5EF4-FFF2-40B4-BE49-F238E27FC236}">
                <a16:creationId xmlns:a16="http://schemas.microsoft.com/office/drawing/2014/main" id="{9ECC177C-D607-43A7-8FC1-6249633C0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AEA6CA-83E1-406D-BE9D-E40CA83D41C0}"/>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1905478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A15EF-1632-4B7B-8D42-D418BE6577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003049-4736-45C0-8178-3534DAE97D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1F6E61-4A90-410E-9F4F-7E556825E0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C3E8BE-DCFE-42C8-86F1-C7B41B69D7AB}"/>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323B26DF-77F3-482E-ADB6-7C78778A2F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E29E07-52AC-46BF-9240-C53F85B4B88D}"/>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13696066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3CE6-5C19-4124-B826-FB22BF9CA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3F27BB-AC99-410B-A924-E892207970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A8A2AC-3BBE-4332-A9C6-E731C700A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899FE-474A-4BEC-BC0C-09344AEE8B94}"/>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6" name="Footer Placeholder 5">
            <a:extLst>
              <a:ext uri="{FF2B5EF4-FFF2-40B4-BE49-F238E27FC236}">
                <a16:creationId xmlns:a16="http://schemas.microsoft.com/office/drawing/2014/main" id="{814C7B36-717A-4122-B4AA-98565CC8CE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153416-AE25-419A-B1D2-FB1B09E375B4}"/>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6773971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57A5-B671-4190-98D9-5F5A759B52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45A464-886D-4BE5-BE99-51785D167A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BEA29-7D44-47EC-8E5D-E93575E3881C}"/>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AF0B672E-DA95-445A-9D57-99C60830F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D1057-5ACE-4EA0-9A7A-D0EF9E0F20BA}"/>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85201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D7DDDB-F566-4547-BB30-B8F54FD34A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3014BD-F304-497F-9D51-C029603E2C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4314D1-C720-4F4E-9D12-3931E3309718}"/>
              </a:ext>
            </a:extLst>
          </p:cNvPr>
          <p:cNvSpPr>
            <a:spLocks noGrp="1"/>
          </p:cNvSpPr>
          <p:nvPr>
            <p:ph type="dt" sz="half" idx="10"/>
          </p:nvPr>
        </p:nvSpPr>
        <p:spPr/>
        <p:txBody>
          <a:body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817C72CC-B37A-4B09-B4B0-4C07BD7EC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FD24F-B717-489E-9B04-A4E90E02B601}"/>
              </a:ext>
            </a:extLst>
          </p:cNvPr>
          <p:cNvSpPr>
            <a:spLocks noGrp="1"/>
          </p:cNvSpPr>
          <p:nvPr>
            <p:ph type="sldNum" sz="quarter" idx="12"/>
          </p:nvPr>
        </p:nvSpPr>
        <p:spPr/>
        <p:txBody>
          <a:bodyPr/>
          <a:lstStyle/>
          <a:p>
            <a:fld id="{EEBE7022-1FBC-4F20-95D1-A156E6A7EAD6}" type="slidenum">
              <a:rPr lang="en-US" smtClean="0"/>
              <a:t>‹N°›</a:t>
            </a:fld>
            <a:endParaRPr lang="en-US"/>
          </a:p>
        </p:txBody>
      </p:sp>
    </p:spTree>
    <p:extLst>
      <p:ext uri="{BB962C8B-B14F-4D97-AF65-F5344CB8AC3E}">
        <p14:creationId xmlns:p14="http://schemas.microsoft.com/office/powerpoint/2010/main" val="3874214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6520EB4-EB86-AFC5-4CE4-4BBDBB9157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6068ACD-96B3-E83A-DC92-C0325F8E90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FB9D51-4D69-A231-8344-C1DF8B2881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B43DB5-88D7-4D83-B8FB-9027B193453D}" type="datetimeFigureOut">
              <a:rPr lang="fr-FR" smtClean="0"/>
              <a:t>16/12/2025</a:t>
            </a:fld>
            <a:endParaRPr lang="fr-FR"/>
          </a:p>
        </p:txBody>
      </p:sp>
      <p:sp>
        <p:nvSpPr>
          <p:cNvPr id="5" name="Espace réservé du pied de page 4">
            <a:extLst>
              <a:ext uri="{FF2B5EF4-FFF2-40B4-BE49-F238E27FC236}">
                <a16:creationId xmlns:a16="http://schemas.microsoft.com/office/drawing/2014/main" id="{3F521F98-3279-E1E2-F5E2-64A0CAE429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30A9958-C8C5-6B19-2CEA-D9292E5E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4B42F0-3F6F-4ABE-9FE5-4539CDE96F50}" type="slidenum">
              <a:rPr lang="fr-FR" smtClean="0"/>
              <a:t>‹N°›</a:t>
            </a:fld>
            <a:endParaRPr lang="fr-FR"/>
          </a:p>
        </p:txBody>
      </p:sp>
    </p:spTree>
    <p:extLst>
      <p:ext uri="{BB962C8B-B14F-4D97-AF65-F5344CB8AC3E}">
        <p14:creationId xmlns:p14="http://schemas.microsoft.com/office/powerpoint/2010/main" val="3808812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411FB6-7FC2-401E-A654-883CB359C5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8AEE43-1F24-4A84-AF86-A6253AFE26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D691A-46A0-45E7-985D-505FFEBE06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4CD0CF-0378-4CF2-A707-909077D62FD8}" type="datetimeFigureOut">
              <a:rPr lang="en-US" smtClean="0"/>
              <a:t>12/16/2025</a:t>
            </a:fld>
            <a:endParaRPr lang="en-US"/>
          </a:p>
        </p:txBody>
      </p:sp>
      <p:sp>
        <p:nvSpPr>
          <p:cNvPr id="5" name="Footer Placeholder 4">
            <a:extLst>
              <a:ext uri="{FF2B5EF4-FFF2-40B4-BE49-F238E27FC236}">
                <a16:creationId xmlns:a16="http://schemas.microsoft.com/office/drawing/2014/main" id="{08E7AA9B-3118-47CE-B655-22E903B810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B80-3169-45B1-9833-204DB87FD7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BE7022-1FBC-4F20-95D1-A156E6A7EAD6}" type="slidenum">
              <a:rPr lang="en-US" smtClean="0"/>
              <a:t>‹N°›</a:t>
            </a:fld>
            <a:endParaRPr lang="en-US"/>
          </a:p>
        </p:txBody>
      </p:sp>
    </p:spTree>
    <p:extLst>
      <p:ext uri="{BB962C8B-B14F-4D97-AF65-F5344CB8AC3E}">
        <p14:creationId xmlns:p14="http://schemas.microsoft.com/office/powerpoint/2010/main" val="16458788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1.jpeg"/><Relationship Id="rId7" Type="http://schemas.openxmlformats.org/officeDocument/2006/relationships/diagramColors" Target="../diagrams/colors5.xml"/><Relationship Id="rId2" Type="http://schemas.microsoft.com/office/2018/10/relationships/comments" Target="../comments/modernComment_2BE_11C92A7C.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DA60C47-9F76-46D7-9D57-E0C7BA42B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4D0ECC7-533D-67B2-4B9D-AEDA84416DB9}"/>
              </a:ext>
            </a:extLst>
          </p:cNvPr>
          <p:cNvSpPr>
            <a:spLocks noGrp="1"/>
          </p:cNvSpPr>
          <p:nvPr>
            <p:ph type="ctrTitle"/>
          </p:nvPr>
        </p:nvSpPr>
        <p:spPr>
          <a:xfrm>
            <a:off x="7178596" y="679730"/>
            <a:ext cx="4475848" cy="3787041"/>
          </a:xfrm>
        </p:spPr>
        <p:txBody>
          <a:bodyPr>
            <a:normAutofit/>
          </a:bodyPr>
          <a:lstStyle/>
          <a:p>
            <a:pPr algn="l"/>
            <a:r>
              <a:rPr lang="fr-FR" sz="3300" dirty="0"/>
              <a:t>Monitorage indépendant de rattrapage des enfants zéro dose selon le modèle de Tanahashi dans les quatre provinces ayant le plus grand nombre d’enfants zéro dose en RDC </a:t>
            </a:r>
          </a:p>
        </p:txBody>
      </p:sp>
      <p:sp>
        <p:nvSpPr>
          <p:cNvPr id="3" name="Sous-titre 2">
            <a:extLst>
              <a:ext uri="{FF2B5EF4-FFF2-40B4-BE49-F238E27FC236}">
                <a16:creationId xmlns:a16="http://schemas.microsoft.com/office/drawing/2014/main" id="{481F28ED-BDF6-0FC5-ED99-C69C1026366B}"/>
              </a:ext>
            </a:extLst>
          </p:cNvPr>
          <p:cNvSpPr>
            <a:spLocks noGrp="1"/>
          </p:cNvSpPr>
          <p:nvPr>
            <p:ph type="subTitle" idx="1"/>
          </p:nvPr>
        </p:nvSpPr>
        <p:spPr>
          <a:xfrm>
            <a:off x="7178595" y="5045529"/>
            <a:ext cx="4475848" cy="1322614"/>
          </a:xfrm>
        </p:spPr>
        <p:txBody>
          <a:bodyPr>
            <a:normAutofit/>
          </a:bodyPr>
          <a:lstStyle/>
          <a:p>
            <a:pPr algn="l"/>
            <a:r>
              <a:rPr lang="fr-FR" dirty="0"/>
              <a:t>Ngashi Ngongo, PhD, MD, MPH</a:t>
            </a:r>
          </a:p>
          <a:p>
            <a:pPr algn="l"/>
            <a:r>
              <a:rPr lang="fr-FR" dirty="0"/>
              <a:t>Mireille Meta, MD, MPH</a:t>
            </a:r>
          </a:p>
        </p:txBody>
      </p:sp>
      <p:sp>
        <p:nvSpPr>
          <p:cNvPr id="48" name="Rectangle 4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5538" y="385757"/>
            <a:ext cx="1715478" cy="64465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413" y="269325"/>
            <a:ext cx="5591744"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descr="Une image contenant texte, Police, logo, capture d’écran&#10;&#10;Le contenu généré par l’IA peut être incorrect.">
            <a:extLst>
              <a:ext uri="{FF2B5EF4-FFF2-40B4-BE49-F238E27FC236}">
                <a16:creationId xmlns:a16="http://schemas.microsoft.com/office/drawing/2014/main" id="{DF530D28-4A40-FB06-D9B7-E08B23397183}"/>
              </a:ext>
            </a:extLst>
          </p:cNvPr>
          <p:cNvPicPr>
            <a:picLocks noChangeAspect="1"/>
          </p:cNvPicPr>
          <p:nvPr/>
        </p:nvPicPr>
        <p:blipFill>
          <a:blip r:embed="rId2"/>
          <a:stretch>
            <a:fillRect/>
          </a:stretch>
        </p:blipFill>
        <p:spPr>
          <a:xfrm>
            <a:off x="1174704" y="425052"/>
            <a:ext cx="4709161" cy="2825496"/>
          </a:xfrm>
          <a:prstGeom prst="rect">
            <a:avLst/>
          </a:prstGeom>
        </p:spPr>
      </p:pic>
      <p:pic>
        <p:nvPicPr>
          <p:cNvPr id="8" name="Image 7" descr="Une image contenant texte, Police, logo, Graphique&#10;&#10;Le contenu généré par l’IA peut être incorrect.">
            <a:extLst>
              <a:ext uri="{FF2B5EF4-FFF2-40B4-BE49-F238E27FC236}">
                <a16:creationId xmlns:a16="http://schemas.microsoft.com/office/drawing/2014/main" id="{E2DA6771-9729-6058-183F-755A6F0EBFDA}"/>
              </a:ext>
            </a:extLst>
          </p:cNvPr>
          <p:cNvPicPr>
            <a:picLocks noChangeAspect="1"/>
          </p:cNvPicPr>
          <p:nvPr/>
        </p:nvPicPr>
        <p:blipFill>
          <a:blip r:embed="rId3"/>
          <a:stretch>
            <a:fillRect/>
          </a:stretch>
        </p:blipFill>
        <p:spPr>
          <a:xfrm>
            <a:off x="968605" y="4356549"/>
            <a:ext cx="5127395" cy="987023"/>
          </a:xfrm>
          <a:prstGeom prst="rect">
            <a:avLst/>
          </a:prstGeom>
        </p:spPr>
      </p:pic>
      <p:sp>
        <p:nvSpPr>
          <p:cNvPr id="52" name="Rectangle 51">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0543"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638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4DA746-2762-8D99-C271-6F961524D63E}"/>
              </a:ext>
            </a:extLst>
          </p:cNvPr>
          <p:cNvSpPr>
            <a:spLocks noGrp="1"/>
          </p:cNvSpPr>
          <p:nvPr>
            <p:ph type="title"/>
          </p:nvPr>
        </p:nvSpPr>
        <p:spPr>
          <a:xfrm>
            <a:off x="838200" y="365125"/>
            <a:ext cx="10515600" cy="1325563"/>
          </a:xfrm>
        </p:spPr>
        <p:txBody>
          <a:bodyPr>
            <a:normAutofit/>
          </a:bodyPr>
          <a:lstStyle/>
          <a:p>
            <a:r>
              <a:rPr lang="en-US" sz="5400"/>
              <a:t>Plan de presentation</a:t>
            </a:r>
            <a:endParaRPr lang="fr-FR" sz="5400"/>
          </a:p>
        </p:txBody>
      </p:sp>
      <p:graphicFrame>
        <p:nvGraphicFramePr>
          <p:cNvPr id="172" name="Espace réservé du contenu 2">
            <a:extLst>
              <a:ext uri="{FF2B5EF4-FFF2-40B4-BE49-F238E27FC236}">
                <a16:creationId xmlns:a16="http://schemas.microsoft.com/office/drawing/2014/main" id="{135A7C4E-E267-354A-C95A-9DCF5831DDF9}"/>
              </a:ext>
            </a:extLst>
          </p:cNvPr>
          <p:cNvGraphicFramePr>
            <a:graphicFrameLocks noGrp="1"/>
          </p:cNvGraphicFramePr>
          <p:nvPr>
            <p:ph idx="1"/>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729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49646-98BA-A03A-1160-2107E9234CDF}"/>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2F8DECA-BE93-9C02-C42C-8170E51A90AE}"/>
              </a:ext>
            </a:extLst>
          </p:cNvPr>
          <p:cNvSpPr>
            <a:spLocks noGrp="1"/>
          </p:cNvSpPr>
          <p:nvPr>
            <p:ph type="title"/>
          </p:nvPr>
        </p:nvSpPr>
        <p:spPr>
          <a:xfrm>
            <a:off x="838200" y="365125"/>
            <a:ext cx="10515600" cy="1325563"/>
          </a:xfrm>
        </p:spPr>
        <p:txBody>
          <a:bodyPr>
            <a:normAutofit/>
          </a:bodyPr>
          <a:lstStyle/>
          <a:p>
            <a:r>
              <a:rPr lang="fr-FR" sz="5400"/>
              <a:t>Contexte et justification </a:t>
            </a:r>
          </a:p>
        </p:txBody>
      </p:sp>
      <p:sp>
        <p:nvSpPr>
          <p:cNvPr id="1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Espace réservé du contenu 2">
            <a:extLst>
              <a:ext uri="{FF2B5EF4-FFF2-40B4-BE49-F238E27FC236}">
                <a16:creationId xmlns:a16="http://schemas.microsoft.com/office/drawing/2014/main" id="{ED49FBCC-87A3-8739-1E47-AE33C9A2A897}"/>
              </a:ext>
            </a:extLst>
          </p:cNvPr>
          <p:cNvSpPr>
            <a:spLocks noGrp="1"/>
          </p:cNvSpPr>
          <p:nvPr>
            <p:ph idx="1"/>
          </p:nvPr>
        </p:nvSpPr>
        <p:spPr>
          <a:xfrm>
            <a:off x="838200" y="1929384"/>
            <a:ext cx="10515600" cy="4251960"/>
          </a:xfrm>
        </p:spPr>
        <p:txBody>
          <a:bodyPr>
            <a:normAutofit/>
          </a:bodyPr>
          <a:lstStyle/>
          <a:p>
            <a:r>
              <a:rPr lang="fr-FR" sz="2000" dirty="0"/>
              <a:t>La baisse continue de la couverture vaccinale en RDC demeure un défi majeur de santé publique avec le % d’enfants  complètement vaccinés baissant de 45% (EDS 2013-2014) a 21 % (EDS 2023-2024), révélant ainsi la fragilité persistante du système de vaccination de routine.</a:t>
            </a:r>
          </a:p>
          <a:p>
            <a:r>
              <a:rPr lang="fr-FR" sz="2000" dirty="0"/>
              <a:t>La situation est particulièrement alarmante dans les 4 provinces , où à peine 2 % des enfants ont reçu toutes les doses vaccinales recommandées, soit dix fois moins que la moyenne nationale (EDS 2023-2024).</a:t>
            </a:r>
          </a:p>
          <a:p>
            <a:r>
              <a:rPr lang="fr-FR" sz="2000" dirty="0"/>
              <a:t>Les provinces du Maniema,Tshopo,Kasai-Oriental et Mongala  comptent  une forte proportion d’enfants « zéro dose », avec plus de 50 % d’entre eux n’ayant reçu aucun vaccin depuis leur naissance (EDS 2023–2024).</a:t>
            </a:r>
          </a:p>
          <a:p>
            <a:r>
              <a:rPr lang="fr-FR" sz="2000" dirty="0"/>
              <a:t>Face à ce constat préoccupant, le PEV et l’UNICEF ont mandaté ICHESS pour conduire un monitorage ciblé pour identifier les obstacles spécifiques à la vaccination et orienter les interventions prioritaires pour améliorer la couverture.</a:t>
            </a:r>
          </a:p>
        </p:txBody>
      </p:sp>
    </p:spTree>
    <p:extLst>
      <p:ext uri="{BB962C8B-B14F-4D97-AF65-F5344CB8AC3E}">
        <p14:creationId xmlns:p14="http://schemas.microsoft.com/office/powerpoint/2010/main" val="403933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A9C03C-D00B-44EE-1157-B0613B3F50B6}"/>
            </a:ext>
          </a:extLst>
        </p:cNvPr>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39749D8-62BC-33F5-A8CC-51213C29FB6F}"/>
              </a:ext>
            </a:extLst>
          </p:cNvPr>
          <p:cNvSpPr>
            <a:spLocks noGrp="1"/>
          </p:cNvSpPr>
          <p:nvPr>
            <p:ph type="title"/>
          </p:nvPr>
        </p:nvSpPr>
        <p:spPr>
          <a:xfrm>
            <a:off x="838200" y="365125"/>
            <a:ext cx="10515600" cy="1325563"/>
          </a:xfrm>
        </p:spPr>
        <p:txBody>
          <a:bodyPr>
            <a:normAutofit/>
          </a:bodyPr>
          <a:lstStyle/>
          <a:p>
            <a:r>
              <a:rPr lang="fr-FR" sz="5400"/>
              <a:t>But et objectifs</a:t>
            </a:r>
          </a:p>
        </p:txBody>
      </p:sp>
      <p:sp>
        <p:nvSpPr>
          <p:cNvPr id="14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Espace réservé du contenu 2">
            <a:extLst>
              <a:ext uri="{FF2B5EF4-FFF2-40B4-BE49-F238E27FC236}">
                <a16:creationId xmlns:a16="http://schemas.microsoft.com/office/drawing/2014/main" id="{B5EBA297-D655-0761-5CD7-9B6FF7E38B06}"/>
              </a:ext>
            </a:extLst>
          </p:cNvPr>
          <p:cNvSpPr>
            <a:spLocks noGrp="1"/>
          </p:cNvSpPr>
          <p:nvPr>
            <p:ph idx="1"/>
          </p:nvPr>
        </p:nvSpPr>
        <p:spPr>
          <a:xfrm>
            <a:off x="838200" y="1929384"/>
            <a:ext cx="10515600" cy="4251960"/>
          </a:xfrm>
        </p:spPr>
        <p:txBody>
          <a:bodyPr>
            <a:normAutofit/>
          </a:bodyPr>
          <a:lstStyle/>
          <a:p>
            <a:pPr marL="0" indent="0">
              <a:buNone/>
            </a:pPr>
            <a:r>
              <a:rPr lang="fr-FR" sz="2000" b="1" u="sng" dirty="0"/>
              <a:t>But:</a:t>
            </a:r>
            <a:r>
              <a:rPr lang="fr-FR" sz="2000" dirty="0"/>
              <a:t> </a:t>
            </a:r>
          </a:p>
          <a:p>
            <a:r>
              <a:rPr lang="fr-FR" sz="2000" dirty="0"/>
              <a:t>Renforcer durablement la vaccination pour sauver des vies et prévenir les épidémies.</a:t>
            </a:r>
          </a:p>
          <a:p>
            <a:pPr marL="0" indent="0">
              <a:buNone/>
            </a:pPr>
            <a:r>
              <a:rPr lang="fr-FR" sz="2000" b="1" u="sng" dirty="0"/>
              <a:t>Objectif général</a:t>
            </a:r>
            <a:r>
              <a:rPr lang="fr-FR" sz="2000" dirty="0"/>
              <a:t>:</a:t>
            </a:r>
          </a:p>
          <a:p>
            <a:r>
              <a:rPr lang="fr-FR" sz="2000" dirty="0"/>
              <a:t>Comprendre les causes de la faible couverture vaccinale et du nombre élevé d'enfants non vaccinés dans les quatre provinces et proposer des mesures correctrices</a:t>
            </a:r>
            <a:endParaRPr lang="en-US" sz="2000" dirty="0"/>
          </a:p>
          <a:p>
            <a:pPr marL="0" indent="0">
              <a:spcBef>
                <a:spcPts val="1200"/>
              </a:spcBef>
              <a:spcAft>
                <a:spcPts val="1200"/>
              </a:spcAft>
              <a:buNone/>
            </a:pPr>
            <a:r>
              <a:rPr lang="fr-FR" sz="2000" b="1" u="sng" dirty="0"/>
              <a:t>Objectifs spécifiques: </a:t>
            </a:r>
          </a:p>
          <a:p>
            <a:pPr>
              <a:spcBef>
                <a:spcPts val="0"/>
              </a:spcBef>
            </a:pPr>
            <a:r>
              <a:rPr lang="fr-FR" sz="2000" dirty="0"/>
              <a:t>Analyser la performance de la vaccination selon les déterminants de Tanahashi </a:t>
            </a:r>
          </a:p>
          <a:p>
            <a:pPr>
              <a:spcBef>
                <a:spcPts val="0"/>
              </a:spcBef>
            </a:pPr>
            <a:r>
              <a:rPr lang="fr-FR" sz="2000" dirty="0"/>
              <a:t>Identifier les goulots d’étranglement critiques et en comprendre les causes profondes.</a:t>
            </a:r>
          </a:p>
          <a:p>
            <a:pPr>
              <a:spcBef>
                <a:spcPts val="0"/>
              </a:spcBef>
            </a:pPr>
            <a:r>
              <a:rPr lang="fr-FR" sz="2000" dirty="0"/>
              <a:t>Déterminer les stratégies et actions prioritaires pour lever ces obstacles et améliorer la performance.</a:t>
            </a:r>
          </a:p>
          <a:p>
            <a:pPr>
              <a:spcBef>
                <a:spcPts val="0"/>
              </a:spcBef>
            </a:pPr>
            <a:r>
              <a:rPr lang="fr-FR" sz="2000" dirty="0"/>
              <a:t>Formuler des recommandations opérationnelles pour renforcer durablement le PEV</a:t>
            </a:r>
          </a:p>
        </p:txBody>
      </p:sp>
    </p:spTree>
    <p:extLst>
      <p:ext uri="{BB962C8B-B14F-4D97-AF65-F5344CB8AC3E}">
        <p14:creationId xmlns:p14="http://schemas.microsoft.com/office/powerpoint/2010/main" val="357643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4AEE4-C6E7-DF8A-E2D7-6DC00959B964}"/>
            </a:ext>
          </a:extLst>
        </p:cNvPr>
        <p:cNvGrpSpPr/>
        <p:nvPr/>
      </p:nvGrpSpPr>
      <p:grpSpPr>
        <a:xfrm>
          <a:off x="0" y="0"/>
          <a:ext cx="0" cy="0"/>
          <a:chOff x="0" y="0"/>
          <a:chExt cx="0" cy="0"/>
        </a:xfrm>
      </p:grpSpPr>
      <p:sp useBgFill="1">
        <p:nvSpPr>
          <p:cNvPr id="146" name="Rectangle 14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Shape 14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D6165510-BCE5-0987-8BBC-0C80FD7F9E70}"/>
              </a:ext>
            </a:extLst>
          </p:cNvPr>
          <p:cNvSpPr>
            <a:spLocks noGrp="1"/>
          </p:cNvSpPr>
          <p:nvPr>
            <p:ph type="title"/>
          </p:nvPr>
        </p:nvSpPr>
        <p:spPr>
          <a:xfrm>
            <a:off x="838200" y="365125"/>
            <a:ext cx="10515600" cy="1325563"/>
          </a:xfrm>
        </p:spPr>
        <p:txBody>
          <a:bodyPr>
            <a:normAutofit/>
          </a:bodyPr>
          <a:lstStyle/>
          <a:p>
            <a:r>
              <a:rPr lang="fr-FR"/>
              <a:t>Méthodologie et déroulement</a:t>
            </a:r>
          </a:p>
        </p:txBody>
      </p:sp>
      <p:sp>
        <p:nvSpPr>
          <p:cNvPr id="149" name="Arc 14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0" name="Espace réservé du contenu 2">
            <a:extLst>
              <a:ext uri="{FF2B5EF4-FFF2-40B4-BE49-F238E27FC236}">
                <a16:creationId xmlns:a16="http://schemas.microsoft.com/office/drawing/2014/main" id="{A4B7662E-A363-1951-CA2F-5186CB59CB74}"/>
              </a:ext>
            </a:extLst>
          </p:cNvPr>
          <p:cNvSpPr>
            <a:spLocks noGrp="1"/>
          </p:cNvSpPr>
          <p:nvPr>
            <p:ph idx="1"/>
          </p:nvPr>
        </p:nvSpPr>
        <p:spPr>
          <a:xfrm>
            <a:off x="838200" y="1825625"/>
            <a:ext cx="10515600" cy="4351338"/>
          </a:xfrm>
        </p:spPr>
        <p:txBody>
          <a:bodyPr>
            <a:normAutofit/>
          </a:bodyPr>
          <a:lstStyle/>
          <a:p>
            <a:r>
              <a:rPr lang="fr-FR" sz="1500" b="1" dirty="0"/>
              <a:t>Cadre de monitorage</a:t>
            </a:r>
            <a:r>
              <a:rPr lang="fr-FR" sz="1500" dirty="0"/>
              <a:t>: Les déterminants de couverture de Tanahashi  analysant la couverture vaccinale à travers la disponibilité, l'accessibilité géographique et financière, l'acceptabilité socioculturelle, l'utilisation initiale et continue des services, ainsi que leur qualité. </a:t>
            </a:r>
          </a:p>
          <a:p>
            <a:r>
              <a:rPr lang="fr-FR" sz="1500" b="1" dirty="0"/>
              <a:t>Type d’ étude</a:t>
            </a:r>
            <a:r>
              <a:rPr lang="fr-FR" sz="1500" dirty="0"/>
              <a:t>: Mixte combinant les enquêtes LQAS en grappe auprès de </a:t>
            </a:r>
            <a:r>
              <a:rPr lang="fr-FR" sz="1500" u="sng" dirty="0"/>
              <a:t>12960 ménages </a:t>
            </a:r>
            <a:r>
              <a:rPr lang="fr-FR" sz="1500" dirty="0"/>
              <a:t>,soit </a:t>
            </a:r>
            <a:r>
              <a:rPr lang="fr-FR" sz="1500" u="sng" dirty="0"/>
              <a:t>2160 par ZS </a:t>
            </a:r>
            <a:r>
              <a:rPr lang="fr-FR" sz="1500" dirty="0"/>
              <a:t>avec les enquêtes quantitatives auprès </a:t>
            </a:r>
            <a:r>
              <a:rPr lang="fr-FR" sz="1500"/>
              <a:t>des </a:t>
            </a:r>
            <a:r>
              <a:rPr lang="fr-FR" sz="1500" u="sng"/>
              <a:t>864  </a:t>
            </a:r>
            <a:r>
              <a:rPr lang="fr-FR" sz="1500" u="sng" dirty="0"/>
              <a:t>centres de </a:t>
            </a:r>
            <a:r>
              <a:rPr lang="fr-FR" sz="1500" u="sng"/>
              <a:t>sante   </a:t>
            </a:r>
            <a:r>
              <a:rPr lang="fr-FR" sz="1500" dirty="0"/>
              <a:t>et des enquêtes qualitatives avec de discussions de groupe et d'entretiens. L'échantillonnage en grappes à plusieurs degrés avec la technique LQAS a été utilisé pour assurer la représentativité des ménages et le recensement de tous les établissements de santé offrant la vaccination dans les zones sélectionnées.</a:t>
            </a:r>
          </a:p>
          <a:p>
            <a:r>
              <a:rPr lang="fr-FR" sz="1500" b="1" dirty="0"/>
              <a:t>Période d’ étude</a:t>
            </a:r>
            <a:r>
              <a:rPr lang="fr-FR" sz="1500" dirty="0"/>
              <a:t>: Les données ont été recueillies entre février et mars 2025 et la période de monitorage s'étend sur six mois, d'août 2024 à janvier 2025.</a:t>
            </a:r>
          </a:p>
          <a:p>
            <a:r>
              <a:rPr lang="fr-FR" sz="1500" b="1" dirty="0"/>
              <a:t>Cible d’enquête </a:t>
            </a:r>
            <a:r>
              <a:rPr lang="fr-FR" sz="1500" dirty="0"/>
              <a:t>: Enfant âgé de 12-23 mois </a:t>
            </a:r>
          </a:p>
          <a:p>
            <a:r>
              <a:rPr lang="fr-FR" sz="1500" b="1" dirty="0"/>
              <a:t>L’analyse des données</a:t>
            </a:r>
            <a:r>
              <a:rPr lang="fr-FR" sz="1500" dirty="0"/>
              <a:t>: Les données quantitatives analysées à l'aide de statistiques descriptives, d'analyses de couverture. Les données qualitatives collectées auprès de 60 représentants </a:t>
            </a:r>
            <a:r>
              <a:rPr lang="fr-CD" sz="1500" dirty="0"/>
              <a:t>(B-DPS, BCZS et CODESA) et 14 de la communauté (RECO, pères) pour chaque ZS </a:t>
            </a:r>
            <a:r>
              <a:rPr lang="fr-FR" sz="1500" dirty="0"/>
              <a:t>ont été soumises à un codage thématique rigoureux pour comprendre les perceptions et expériences des acteurs clés. La triangulation des résultats a permis une interprétation approfondie, et une analyse de criticité des goulots d'étranglement. L’attention particulière a été accordée à l'assurance qualité des données, avec l'utilisation de Survey Solutions (</a:t>
            </a:r>
            <a:r>
              <a:rPr lang="fr-FR" sz="1500" dirty="0" err="1"/>
              <a:t>SuSo</a:t>
            </a:r>
            <a:r>
              <a:rPr lang="fr-FR" sz="1500" dirty="0"/>
              <a:t>). </a:t>
            </a:r>
          </a:p>
        </p:txBody>
      </p:sp>
    </p:spTree>
    <p:extLst>
      <p:ext uri="{BB962C8B-B14F-4D97-AF65-F5344CB8AC3E}">
        <p14:creationId xmlns:p14="http://schemas.microsoft.com/office/powerpoint/2010/main" val="384472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B094F3-BD54-8B34-B254-75E591F6CC00}"/>
              </a:ext>
            </a:extLst>
          </p:cNvPr>
          <p:cNvSpPr>
            <a:spLocks noGrp="1"/>
          </p:cNvSpPr>
          <p:nvPr>
            <p:ph type="title"/>
          </p:nvPr>
        </p:nvSpPr>
        <p:spPr>
          <a:xfrm>
            <a:off x="838200" y="365125"/>
            <a:ext cx="10515600" cy="1325563"/>
          </a:xfrm>
        </p:spPr>
        <p:txBody>
          <a:bodyPr>
            <a:normAutofit/>
          </a:bodyPr>
          <a:lstStyle/>
          <a:p>
            <a:pPr algn="ctr"/>
            <a:r>
              <a:rPr lang="fr-FR" dirty="0"/>
              <a:t>Définition opérationnelles et indicateurs de </a:t>
            </a:r>
            <a:r>
              <a:rPr lang="fr-FR" dirty="0" err="1"/>
              <a:t>Tanahashi</a:t>
            </a:r>
            <a:r>
              <a:rPr lang="fr-FR" dirty="0"/>
              <a:t> </a:t>
            </a:r>
          </a:p>
        </p:txBody>
      </p:sp>
      <p:graphicFrame>
        <p:nvGraphicFramePr>
          <p:cNvPr id="4" name="Espace réservé du contenu 3">
            <a:extLst>
              <a:ext uri="{FF2B5EF4-FFF2-40B4-BE49-F238E27FC236}">
                <a16:creationId xmlns:a16="http://schemas.microsoft.com/office/drawing/2014/main" id="{9D1B64E3-209E-E93A-09AB-E79CA1F93A2D}"/>
              </a:ext>
            </a:extLst>
          </p:cNvPr>
          <p:cNvGraphicFramePr>
            <a:graphicFrameLocks noGrp="1"/>
          </p:cNvGraphicFramePr>
          <p:nvPr>
            <p:ph idx="1"/>
            <p:extLst>
              <p:ext uri="{D42A27DB-BD31-4B8C-83A1-F6EECF244321}">
                <p14:modId xmlns:p14="http://schemas.microsoft.com/office/powerpoint/2010/main" val="3065708554"/>
              </p:ext>
            </p:extLst>
          </p:nvPr>
        </p:nvGraphicFramePr>
        <p:xfrm>
          <a:off x="1012153" y="1825625"/>
          <a:ext cx="10167694" cy="4501734"/>
        </p:xfrm>
        <a:graphic>
          <a:graphicData uri="http://schemas.openxmlformats.org/drawingml/2006/table">
            <a:tbl>
              <a:tblPr firstRow="1" firstCol="1" bandRow="1"/>
              <a:tblGrid>
                <a:gridCol w="4161452">
                  <a:extLst>
                    <a:ext uri="{9D8B030D-6E8A-4147-A177-3AD203B41FA5}">
                      <a16:colId xmlns:a16="http://schemas.microsoft.com/office/drawing/2014/main" val="1944288316"/>
                    </a:ext>
                  </a:extLst>
                </a:gridCol>
                <a:gridCol w="6006242">
                  <a:extLst>
                    <a:ext uri="{9D8B030D-6E8A-4147-A177-3AD203B41FA5}">
                      <a16:colId xmlns:a16="http://schemas.microsoft.com/office/drawing/2014/main" val="2351661013"/>
                    </a:ext>
                  </a:extLst>
                </a:gridCol>
              </a:tblGrid>
              <a:tr h="196817">
                <a:tc>
                  <a:txBody>
                    <a:bodyPr/>
                    <a:lstStyle/>
                    <a:p>
                      <a:pPr algn="ctr">
                        <a:lnSpc>
                          <a:spcPct val="115000"/>
                        </a:lnSpc>
                        <a:spcAft>
                          <a:spcPts val="800"/>
                        </a:spcAft>
                        <a:buNone/>
                      </a:pPr>
                      <a:r>
                        <a:rPr lang="fr-FR"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Déterminants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AE9F7"/>
                    </a:solidFill>
                  </a:tcPr>
                </a:tc>
                <a:tc>
                  <a:txBody>
                    <a:bodyPr/>
                    <a:lstStyle/>
                    <a:p>
                      <a:pPr algn="ctr">
                        <a:lnSpc>
                          <a:spcPct val="115000"/>
                        </a:lnSpc>
                        <a:spcAft>
                          <a:spcPts val="800"/>
                        </a:spcAft>
                        <a:buNone/>
                      </a:pPr>
                      <a:r>
                        <a:rPr lang="fr-FR"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Définitions opérationnelles et indicateurs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AE9F7"/>
                    </a:solidFill>
                  </a:tcPr>
                </a:tc>
                <a:extLst>
                  <a:ext uri="{0D108BD9-81ED-4DB2-BD59-A6C34878D82A}">
                    <a16:rowId xmlns:a16="http://schemas.microsoft.com/office/drawing/2014/main" val="3219885660"/>
                  </a:ext>
                </a:extLst>
              </a:tr>
              <a:tr h="196817">
                <a:tc gridSpan="2">
                  <a:txBody>
                    <a:bodyPr/>
                    <a:lstStyle/>
                    <a:p>
                      <a:pPr algn="l">
                        <a:lnSpc>
                          <a:spcPct val="115000"/>
                        </a:lnSpc>
                        <a:spcAft>
                          <a:spcPts val="800"/>
                        </a:spcAft>
                        <a:buNone/>
                      </a:pPr>
                      <a:r>
                        <a:rPr lang="fr-FR"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Offre des services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6C5AC"/>
                    </a:solidFill>
                  </a:tcPr>
                </a:tc>
                <a:tc hMerge="1">
                  <a:txBody>
                    <a:bodyPr/>
                    <a:lstStyle/>
                    <a:p>
                      <a:endParaRPr lang="fr-FR"/>
                    </a:p>
                  </a:txBody>
                  <a:tcPr/>
                </a:tc>
                <a:extLst>
                  <a:ext uri="{0D108BD9-81ED-4DB2-BD59-A6C34878D82A}">
                    <a16:rowId xmlns:a16="http://schemas.microsoft.com/office/drawing/2014/main" val="712870479"/>
                  </a:ext>
                </a:extLst>
              </a:tr>
              <a:tr h="805572">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Disponibilité des intrants et équipements fonctionnels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La présence en temps utile des produits essentiels nécessaires pour la vaccination (Nombre de jour de disponibilité des intrants traceurs sur la période monitorée : vaccins , diluants …)</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Présence en temps utile d’une chaine de froid fonctionnelle (CDF)pour la vaccination (Nombre de jours de bonne fonctionnalité de la CDF (Respect de la température, …)</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491738"/>
                  </a:ext>
                </a:extLst>
              </a:tr>
              <a:tr h="542013">
                <a:tc>
                  <a:txBody>
                    <a:bodyPr/>
                    <a:lstStyle/>
                    <a:p>
                      <a:pPr algn="l">
                        <a:lnSpc>
                          <a:spcPct val="115000"/>
                        </a:lnSpc>
                        <a:spcAft>
                          <a:spcPts val="800"/>
                        </a:spcAft>
                        <a:buNone/>
                      </a:pPr>
                      <a:r>
                        <a:rPr lang="fr-CD" sz="1000" b="1"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Disponibilité des ressources humaines (RH) pour la santé</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a:solidFill>
                            <a:srgbClr val="000000"/>
                          </a:solidFill>
                          <a:effectLst/>
                          <a:latin typeface="Aptos" panose="020B0004020202020204" pitchFamily="34" charset="0"/>
                          <a:ea typeface="Calibri" panose="020F0502020204030204" pitchFamily="34" charset="0"/>
                          <a:cs typeface="Calibri" panose="020F0502020204030204" pitchFamily="34" charset="0"/>
                        </a:rPr>
                        <a:t>La présence en temps utile de RH capables de fournir des services de vaccination, ainsi que des informations nécessaires y afférent (Nombre de jour (séance) de disponibilité d'au moins 1 prestataire qualifié, formé ou briefé /accompagné en vaccination durant la période monitorée)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2674967"/>
                  </a:ext>
                </a:extLst>
              </a:tr>
              <a:tr h="369415">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Accessibilité géographique (ou physique)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a:solidFill>
                            <a:srgbClr val="000000"/>
                          </a:solidFill>
                          <a:effectLst/>
                          <a:latin typeface="Aptos" panose="020B0004020202020204" pitchFamily="34" charset="0"/>
                          <a:ea typeface="Calibri" panose="020F0502020204030204" pitchFamily="34" charset="0"/>
                          <a:cs typeface="Calibri" panose="020F0502020204030204" pitchFamily="34" charset="0"/>
                        </a:rPr>
                        <a:t>La proximité géographique et physique des ESS avec les points de prestation de services (Population à moins de 5 Km d'un ESS offrant les services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8381320"/>
                  </a:ext>
                </a:extLst>
              </a:tr>
              <a:tr h="196817">
                <a:tc gridSpan="2">
                  <a:txBody>
                    <a:bodyPr/>
                    <a:lstStyle/>
                    <a:p>
                      <a:pPr algn="just">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Demande des services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C5AC"/>
                    </a:solidFill>
                  </a:tcPr>
                </a:tc>
                <a:tc hMerge="1">
                  <a:txBody>
                    <a:bodyPr/>
                    <a:lstStyle/>
                    <a:p>
                      <a:endParaRPr lang="fr-FR"/>
                    </a:p>
                  </a:txBody>
                  <a:tcPr/>
                </a:tc>
                <a:extLst>
                  <a:ext uri="{0D108BD9-81ED-4DB2-BD59-A6C34878D82A}">
                    <a16:rowId xmlns:a16="http://schemas.microsoft.com/office/drawing/2014/main" val="591192855"/>
                  </a:ext>
                </a:extLst>
              </a:tr>
              <a:tr h="369415">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Acceptabilité socio-culturelle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a:solidFill>
                            <a:srgbClr val="000000"/>
                          </a:solidFill>
                          <a:effectLst/>
                          <a:latin typeface="Aptos" panose="020B0004020202020204" pitchFamily="34" charset="0"/>
                          <a:ea typeface="Calibri" panose="020F0502020204030204" pitchFamily="34" charset="0"/>
                          <a:cs typeface="Calibri" panose="020F0502020204030204" pitchFamily="34" charset="0"/>
                        </a:rPr>
                        <a:t>L’acceptation et l’appropriation de la vaccination par les communautés locales sans hésitations vaccinales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0915789"/>
                  </a:ext>
                </a:extLst>
              </a:tr>
              <a:tr h="369415">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Abordabilité financière </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a:solidFill>
                            <a:srgbClr val="000000"/>
                          </a:solidFill>
                          <a:effectLst/>
                          <a:latin typeface="Aptos" panose="020B0004020202020204" pitchFamily="34" charset="0"/>
                          <a:ea typeface="Calibri" panose="020F0502020204030204" pitchFamily="34" charset="0"/>
                          <a:cs typeface="Calibri" panose="020F0502020204030204" pitchFamily="34" charset="0"/>
                        </a:rPr>
                        <a:t>Capacité à bénéficier des services de vaccination sans que cela n’accentue la paupérisation des communautés bénéficiaires et n’entrave l’accès équitable aux services de qualité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7656604"/>
                  </a:ext>
                </a:extLst>
              </a:tr>
              <a:tr h="369415">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Utilisation initiale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Le premier contact du bénéficiaire avec les services de vaccination (Proportion d’enfants de 0 a 23  mois révolus ayant bénéficié de DTC-Hep-Hib1 /Penta1)</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9155571"/>
                  </a:ext>
                </a:extLst>
              </a:tr>
              <a:tr h="196817">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Couverture adéquate/utilisation continue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Proportion d’enfants de 0 a 23  mois ayant bénéficié de DTC-Hep-Hib3 (Penta3)</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9657454"/>
                  </a:ext>
                </a:extLst>
              </a:tr>
              <a:tr h="196817">
                <a:tc gridSpan="2">
                  <a:txBody>
                    <a:bodyPr/>
                    <a:lstStyle/>
                    <a:p>
                      <a:pPr algn="just">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Qualité des services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C5AC"/>
                    </a:solidFill>
                  </a:tcPr>
                </a:tc>
                <a:tc hMerge="1">
                  <a:txBody>
                    <a:bodyPr/>
                    <a:lstStyle/>
                    <a:p>
                      <a:endParaRPr lang="fr-FR"/>
                    </a:p>
                  </a:txBody>
                  <a:tcPr/>
                </a:tc>
                <a:extLst>
                  <a:ext uri="{0D108BD9-81ED-4DB2-BD59-A6C34878D82A}">
                    <a16:rowId xmlns:a16="http://schemas.microsoft.com/office/drawing/2014/main" val="3093269501"/>
                  </a:ext>
                </a:extLst>
              </a:tr>
              <a:tr h="542013">
                <a:tc>
                  <a:txBody>
                    <a:bodyPr/>
                    <a:lstStyle/>
                    <a:p>
                      <a:pPr algn="l">
                        <a:lnSpc>
                          <a:spcPct val="115000"/>
                        </a:lnSpc>
                        <a:spcAft>
                          <a:spcPts val="800"/>
                        </a:spcAft>
                        <a:buNone/>
                      </a:pPr>
                      <a:r>
                        <a:rPr lang="fr-CD" sz="1000" b="1" kern="0">
                          <a:solidFill>
                            <a:srgbClr val="000000"/>
                          </a:solidFill>
                          <a:effectLst/>
                          <a:latin typeface="Aptos" panose="020B0004020202020204" pitchFamily="34" charset="0"/>
                          <a:ea typeface="Calibri" panose="020F0502020204030204" pitchFamily="34" charset="0"/>
                          <a:cs typeface="Calibri" panose="020F0502020204030204" pitchFamily="34" charset="0"/>
                        </a:rPr>
                        <a:t>Couverture effective/qualité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marL="342900" lvl="0" indent="-342900" algn="just">
                        <a:lnSpc>
                          <a:spcPct val="115000"/>
                        </a:lnSpc>
                        <a:spcAft>
                          <a:spcPts val="800"/>
                        </a:spcAft>
                        <a:buFont typeface="Wingdings" panose="05000000000000000000" pitchFamily="2" charset="2"/>
                        <a:buChar char=""/>
                      </a:pP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Le respect total par le prestataire et/ou le bénéficiaire du niveau de qualité recommandé pour obtenir les bienfaits escomptés de la vaccination. (Proportion d’enfants de 0 a 23  mois vacciné complètement selon les normes/calendrier), proxy considéré est : </a:t>
                      </a:r>
                      <a:r>
                        <a:rPr lang="fr-CD" sz="1000" kern="0" dirty="0">
                          <a:effectLst/>
                          <a:latin typeface="Aptos" panose="020B0004020202020204" pitchFamily="34" charset="0"/>
                          <a:ea typeface="Aptos" panose="020B0004020202020204" pitchFamily="34" charset="0"/>
                          <a:cs typeface="Times New Roman" panose="02020603050405020304" pitchFamily="18" charset="0"/>
                        </a:rPr>
                        <a:t> </a:t>
                      </a:r>
                      <a:r>
                        <a:rPr lang="fr-CD" sz="1000" kern="0" dirty="0">
                          <a:solidFill>
                            <a:srgbClr val="000000"/>
                          </a:solidFill>
                          <a:effectLst/>
                          <a:latin typeface="Aptos" panose="020B0004020202020204" pitchFamily="34" charset="0"/>
                          <a:ea typeface="Calibri" panose="020F0502020204030204" pitchFamily="34" charset="0"/>
                          <a:cs typeface="Calibri" panose="020F0502020204030204" pitchFamily="34" charset="0"/>
                        </a:rPr>
                        <a:t>VAR1(Rougeole) et VAA (Fièvre jaune) reçus à 9 mois.</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250" marR="33250" marT="0" marB="0" anchor="ctr">
                    <a:lnL>
                      <a:noFill/>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4733409"/>
                  </a:ext>
                </a:extLst>
              </a:tr>
            </a:tbl>
          </a:graphicData>
        </a:graphic>
      </p:graphicFrame>
    </p:spTree>
    <p:extLst>
      <p:ext uri="{BB962C8B-B14F-4D97-AF65-F5344CB8AC3E}">
        <p14:creationId xmlns:p14="http://schemas.microsoft.com/office/powerpoint/2010/main" val="52733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7AF3-2EC3-E58D-303D-168C322481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A017548-482E-6342-175F-7956DF7FF575}"/>
              </a:ext>
            </a:extLst>
          </p:cNvPr>
          <p:cNvSpPr>
            <a:spLocks noGrp="1"/>
          </p:cNvSpPr>
          <p:nvPr>
            <p:ph type="title"/>
          </p:nvPr>
        </p:nvSpPr>
        <p:spPr>
          <a:xfrm>
            <a:off x="838200" y="365125"/>
            <a:ext cx="10515600" cy="1325563"/>
          </a:xfrm>
        </p:spPr>
        <p:txBody>
          <a:bodyPr>
            <a:normAutofit/>
          </a:bodyPr>
          <a:lstStyle/>
          <a:p>
            <a:r>
              <a:rPr lang="fr-FR" sz="4200" b="1" dirty="0">
                <a:highlight>
                  <a:srgbClr val="808080"/>
                </a:highlight>
              </a:rPr>
              <a:t>Identification des goulots et leurs niveaux de criticité</a:t>
            </a:r>
            <a:endParaRPr lang="fr-CD" sz="4200" b="1" dirty="0">
              <a:highlight>
                <a:srgbClr val="808080"/>
              </a:highlight>
            </a:endParaRPr>
          </a:p>
        </p:txBody>
      </p:sp>
      <p:graphicFrame>
        <p:nvGraphicFramePr>
          <p:cNvPr id="9" name="Espace réservé du contenu 6">
            <a:extLst>
              <a:ext uri="{FF2B5EF4-FFF2-40B4-BE49-F238E27FC236}">
                <a16:creationId xmlns:a16="http://schemas.microsoft.com/office/drawing/2014/main" id="{BCA2C283-BC15-89EC-58FB-9CD384A5DCF7}"/>
              </a:ext>
            </a:extLst>
          </p:cNvPr>
          <p:cNvGraphicFramePr>
            <a:graphicFrameLocks noGrp="1"/>
          </p:cNvGraphicFramePr>
          <p:nvPr>
            <p:ph idx="1"/>
          </p:nvPr>
        </p:nvGraphicFramePr>
        <p:xfrm>
          <a:off x="1433311" y="2501060"/>
          <a:ext cx="9325380" cy="3576008"/>
        </p:xfrm>
        <a:graphic>
          <a:graphicData uri="http://schemas.openxmlformats.org/drawingml/2006/table">
            <a:tbl>
              <a:tblPr firstRow="1" firstCol="1" bandRow="1"/>
              <a:tblGrid>
                <a:gridCol w="2951029">
                  <a:extLst>
                    <a:ext uri="{9D8B030D-6E8A-4147-A177-3AD203B41FA5}">
                      <a16:colId xmlns:a16="http://schemas.microsoft.com/office/drawing/2014/main" val="4153314868"/>
                    </a:ext>
                  </a:extLst>
                </a:gridCol>
                <a:gridCol w="2774926">
                  <a:extLst>
                    <a:ext uri="{9D8B030D-6E8A-4147-A177-3AD203B41FA5}">
                      <a16:colId xmlns:a16="http://schemas.microsoft.com/office/drawing/2014/main" val="2020474311"/>
                    </a:ext>
                  </a:extLst>
                </a:gridCol>
                <a:gridCol w="3599425">
                  <a:extLst>
                    <a:ext uri="{9D8B030D-6E8A-4147-A177-3AD203B41FA5}">
                      <a16:colId xmlns:a16="http://schemas.microsoft.com/office/drawing/2014/main" val="2036120742"/>
                    </a:ext>
                  </a:extLst>
                </a:gridCol>
              </a:tblGrid>
              <a:tr h="1052264">
                <a:tc>
                  <a:txBody>
                    <a:bodyPr/>
                    <a:lstStyle/>
                    <a:p>
                      <a:pPr algn="ctr">
                        <a:lnSpc>
                          <a:spcPct val="100000"/>
                        </a:lnSpc>
                      </a:pPr>
                      <a:r>
                        <a:rPr lang="fr-CD" sz="33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Déterminants</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just">
                        <a:lnSpc>
                          <a:spcPct val="100000"/>
                        </a:lnSpc>
                      </a:pPr>
                      <a:r>
                        <a:rPr lang="fr-CD" sz="33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Niveau de criticité </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pPr>
                      <a:r>
                        <a:rPr lang="fr-CD" sz="33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93079535"/>
                  </a:ext>
                </a:extLst>
              </a:tr>
              <a:tr h="1169128">
                <a:tc rowSpan="3">
                  <a:txBody>
                    <a:bodyPr/>
                    <a:lstStyle/>
                    <a:p>
                      <a:pPr marL="180975" indent="0" algn="l" fontAlgn="ctr">
                        <a:lnSpc>
                          <a:spcPct val="115000"/>
                        </a:lnSpc>
                        <a:spcAft>
                          <a:spcPts val="1000"/>
                        </a:spcAft>
                      </a:pPr>
                      <a:r>
                        <a:rPr lang="fr-FR" sz="3600" b="1" i="0" u="none" strike="noStrike" kern="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Offre, Demande, Utilisation et Qualité</a:t>
                      </a:r>
                      <a:endParaRPr lang="fr-FR" sz="3600" b="1" i="0" u="none" strike="noStrike" dirty="0">
                        <a:effectLst/>
                        <a:latin typeface="Arial" panose="020B0604020202020204" pitchFamily="34" charset="0"/>
                      </a:endParaRPr>
                    </a:p>
                  </a:txBody>
                  <a:tcPr marL="56417" marR="5641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00000"/>
                        </a:lnSpc>
                      </a:pPr>
                      <a:r>
                        <a:rPr lang="fr-CD" sz="33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Goulot léger</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r>
                        <a:rPr lang="fr-FR" sz="3300" kern="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Supérieur ou égal à 95 %</a:t>
                      </a:r>
                      <a:endParaRPr lang="fr-FR" sz="3300" kern="100">
                        <a:effectLst/>
                        <a:latin typeface="Calibri" panose="020F0502020204030204" pitchFamily="34" charset="0"/>
                        <a:ea typeface="Calibri" panose="020F0502020204030204" pitchFamily="34" charset="0"/>
                        <a:cs typeface="Times New Roman" panose="02020603050405020304" pitchFamily="18" charset="0"/>
                      </a:endParaRPr>
                    </a:p>
                  </a:txBody>
                  <a:tcPr marL="56417" marR="5641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773029798"/>
                  </a:ext>
                </a:extLst>
              </a:tr>
              <a:tr h="590770">
                <a:tc vMerge="1">
                  <a:txBody>
                    <a:bodyPr/>
                    <a:lstStyle/>
                    <a:p>
                      <a:endParaRPr lang="fr-CD"/>
                    </a:p>
                  </a:txBody>
                  <a:tcPr/>
                </a:tc>
                <a:tc>
                  <a:txBody>
                    <a:bodyPr/>
                    <a:lstStyle/>
                    <a:p>
                      <a:pPr algn="l">
                        <a:lnSpc>
                          <a:spcPct val="100000"/>
                        </a:lnSpc>
                      </a:pPr>
                      <a:r>
                        <a:rPr lang="fr-CD" sz="33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Goulot modéré</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r>
                        <a:rPr lang="fr-FR" sz="3300" kern="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Entre 50% et </a:t>
                      </a:r>
                      <a:r>
                        <a:rPr lang="fr-FR" sz="3300" kern="100">
                          <a:solidFill>
                            <a:srgbClr val="000000"/>
                          </a:solidFill>
                          <a:effectLst/>
                          <a:latin typeface="Calibri" panose="020F0502020204030204" pitchFamily="34" charset="0"/>
                          <a:ea typeface="+mn-ea"/>
                          <a:cs typeface="Calibri" panose="020F0502020204030204" pitchFamily="34" charset="0"/>
                        </a:rPr>
                        <a:t>94,9</a:t>
                      </a:r>
                      <a:r>
                        <a:rPr lang="fr-FR" sz="3300" kern="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fr-FR" sz="3300" kern="10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6417" marR="5641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021832864"/>
                  </a:ext>
                </a:extLst>
              </a:tr>
              <a:tr h="590770">
                <a:tc vMerge="1">
                  <a:txBody>
                    <a:bodyPr/>
                    <a:lstStyle/>
                    <a:p>
                      <a:endParaRPr lang="fr-CD"/>
                    </a:p>
                  </a:txBody>
                  <a:tcPr/>
                </a:tc>
                <a:tc>
                  <a:txBody>
                    <a:bodyPr/>
                    <a:lstStyle/>
                    <a:p>
                      <a:pPr algn="l">
                        <a:lnSpc>
                          <a:spcPct val="100000"/>
                        </a:lnSpc>
                      </a:pPr>
                      <a:r>
                        <a:rPr lang="fr-CD" sz="33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Goulot majeur</a:t>
                      </a:r>
                      <a:endParaRPr lang="fr-FR" sz="3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6417" marR="5641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1000"/>
                        </a:spcAft>
                      </a:pPr>
                      <a:r>
                        <a:rPr lang="fr-FR" sz="3300" kern="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Inférieur à 50%</a:t>
                      </a:r>
                      <a:endParaRPr lang="fr-FR" sz="3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6417" marR="5641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512827703"/>
                  </a:ext>
                </a:extLst>
              </a:tr>
            </a:tbl>
          </a:graphicData>
        </a:graphic>
      </p:graphicFrame>
    </p:spTree>
    <p:extLst>
      <p:ext uri="{BB962C8B-B14F-4D97-AF65-F5344CB8AC3E}">
        <p14:creationId xmlns:p14="http://schemas.microsoft.com/office/powerpoint/2010/main" val="2925436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7"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18" name="Oval 17">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19"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1" name="Rectangle 20">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re 1">
            <a:extLst>
              <a:ext uri="{FF2B5EF4-FFF2-40B4-BE49-F238E27FC236}">
                <a16:creationId xmlns:a16="http://schemas.microsoft.com/office/drawing/2014/main" id="{EDE7B7DA-1F65-3627-8504-4F017CAAF392}"/>
              </a:ext>
            </a:extLst>
          </p:cNvPr>
          <p:cNvSpPr>
            <a:spLocks noGrp="1"/>
          </p:cNvSpPr>
          <p:nvPr>
            <p:ph type="title"/>
          </p:nvPr>
        </p:nvSpPr>
        <p:spPr>
          <a:xfrm>
            <a:off x="1524000" y="2776538"/>
            <a:ext cx="9144000" cy="1381188"/>
          </a:xfrm>
        </p:spPr>
        <p:txBody>
          <a:bodyPr vert="horz" lIns="91440" tIns="45720" rIns="91440" bIns="45720" rtlCol="0" anchor="ctr">
            <a:normAutofit fontScale="90000"/>
          </a:bodyPr>
          <a:lstStyle/>
          <a:p>
            <a:pPr algn="ctr"/>
            <a:r>
              <a:rPr lang="en-US" sz="9600" kern="1200" dirty="0">
                <a:solidFill>
                  <a:schemeClr val="bg2"/>
                </a:solidFill>
                <a:latin typeface="+mj-lt"/>
                <a:ea typeface="+mj-ea"/>
                <a:cs typeface="+mj-cs"/>
              </a:rPr>
              <a:t>Resultats</a:t>
            </a:r>
          </a:p>
        </p:txBody>
      </p:sp>
    </p:spTree>
    <p:extLst>
      <p:ext uri="{BB962C8B-B14F-4D97-AF65-F5344CB8AC3E}">
        <p14:creationId xmlns:p14="http://schemas.microsoft.com/office/powerpoint/2010/main" val="198029787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6DE7019-83EA-DB9C-D7BD-C4408706907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000" kern="1200">
                <a:solidFill>
                  <a:srgbClr val="FFFFFF"/>
                </a:solidFill>
                <a:latin typeface="+mj-lt"/>
                <a:ea typeface="+mj-ea"/>
                <a:cs typeface="+mj-cs"/>
              </a:rPr>
              <a:t>Caractéristiques socio-démographiques des ménages</a:t>
            </a:r>
          </a:p>
        </p:txBody>
      </p:sp>
      <p:pic>
        <p:nvPicPr>
          <p:cNvPr id="5" name="Image 4" descr="Une image contenant capture d’écran, noir&#10;&#10;Le contenu généré par l’IA peut être incorrect.">
            <a:extLst>
              <a:ext uri="{FF2B5EF4-FFF2-40B4-BE49-F238E27FC236}">
                <a16:creationId xmlns:a16="http://schemas.microsoft.com/office/drawing/2014/main" id="{57C7E33A-95F1-350E-4F98-DB01AB956C32}"/>
              </a:ext>
            </a:extLst>
          </p:cNvPr>
          <p:cNvPicPr>
            <a:picLocks noChangeAspect="1"/>
          </p:cNvPicPr>
          <p:nvPr/>
        </p:nvPicPr>
        <p:blipFill>
          <a:blip r:embed="rId2"/>
          <a:stretch>
            <a:fillRect/>
          </a:stretch>
        </p:blipFill>
        <p:spPr>
          <a:xfrm>
            <a:off x="3725333" y="262468"/>
            <a:ext cx="7950200" cy="6341532"/>
          </a:xfrm>
          <a:prstGeom prst="rect">
            <a:avLst/>
          </a:prstGeom>
        </p:spPr>
      </p:pic>
    </p:spTree>
    <p:extLst>
      <p:ext uri="{BB962C8B-B14F-4D97-AF65-F5344CB8AC3E}">
        <p14:creationId xmlns:p14="http://schemas.microsoft.com/office/powerpoint/2010/main" val="38951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F9143C7B-B4CA-FAC6-B62F-7D60ABC7A11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kern="1200" dirty="0" err="1">
                <a:solidFill>
                  <a:srgbClr val="FFFFFF"/>
                </a:solidFill>
                <a:latin typeface="+mj-lt"/>
                <a:ea typeface="+mj-ea"/>
                <a:cs typeface="+mj-cs"/>
              </a:rPr>
              <a:t>Fonctionnalité</a:t>
            </a:r>
            <a:r>
              <a:rPr lang="en-US" sz="3400" kern="1200" dirty="0">
                <a:solidFill>
                  <a:srgbClr val="FFFFFF"/>
                </a:solidFill>
                <a:latin typeface="+mj-lt"/>
                <a:ea typeface="+mj-ea"/>
                <a:cs typeface="+mj-cs"/>
              </a:rPr>
              <a:t> de la </a:t>
            </a:r>
            <a:r>
              <a:rPr lang="en-US" sz="3400" kern="1200" dirty="0" err="1">
                <a:solidFill>
                  <a:srgbClr val="FFFFFF"/>
                </a:solidFill>
                <a:latin typeface="+mj-lt"/>
                <a:ea typeface="+mj-ea"/>
                <a:cs typeface="+mj-cs"/>
              </a:rPr>
              <a:t>chaine</a:t>
            </a:r>
            <a:r>
              <a:rPr lang="en-US" sz="3400" kern="1200" dirty="0">
                <a:solidFill>
                  <a:srgbClr val="FFFFFF"/>
                </a:solidFill>
                <a:latin typeface="+mj-lt"/>
                <a:ea typeface="+mj-ea"/>
                <a:cs typeface="+mj-cs"/>
              </a:rPr>
              <a:t> du </a:t>
            </a:r>
            <a:r>
              <a:rPr lang="en-US" sz="3400" kern="1200" dirty="0">
                <a:solidFill>
                  <a:srgbClr val="FF0000"/>
                </a:solidFill>
                <a:latin typeface="+mj-lt"/>
                <a:ea typeface="+mj-ea"/>
                <a:cs typeface="+mj-cs"/>
              </a:rPr>
              <a:t> </a:t>
            </a:r>
            <a:r>
              <a:rPr lang="en-US" sz="3400" kern="1200" dirty="0" err="1">
                <a:solidFill>
                  <a:srgbClr val="FFFFFF"/>
                </a:solidFill>
                <a:latin typeface="+mj-lt"/>
                <a:ea typeface="+mj-ea"/>
                <a:cs typeface="+mj-cs"/>
              </a:rPr>
              <a:t>froid</a:t>
            </a:r>
            <a:endParaRPr lang="en-US" sz="3400" kern="1200" dirty="0">
              <a:solidFill>
                <a:srgbClr val="FFFFFF"/>
              </a:solidFill>
              <a:latin typeface="+mj-lt"/>
              <a:ea typeface="+mj-ea"/>
              <a:cs typeface="+mj-cs"/>
            </a:endParaRPr>
          </a:p>
        </p:txBody>
      </p:sp>
      <p:pic>
        <p:nvPicPr>
          <p:cNvPr id="6" name="Espace réservé du contenu 5">
            <a:extLst>
              <a:ext uri="{FF2B5EF4-FFF2-40B4-BE49-F238E27FC236}">
                <a16:creationId xmlns:a16="http://schemas.microsoft.com/office/drawing/2014/main" id="{0FAE1444-0A30-3AB4-AE4D-7303DD9AA039}"/>
              </a:ext>
            </a:extLst>
          </p:cNvPr>
          <p:cNvPicPr>
            <a:picLocks noGrp="1" noChangeAspect="1"/>
          </p:cNvPicPr>
          <p:nvPr>
            <p:ph idx="1"/>
          </p:nvPr>
        </p:nvPicPr>
        <p:blipFill>
          <a:blip r:embed="rId2"/>
          <a:srcRect r="37169" b="12648"/>
          <a:stretch/>
        </p:blipFill>
        <p:spPr>
          <a:xfrm>
            <a:off x="5584939" y="718957"/>
            <a:ext cx="4539972" cy="2494853"/>
          </a:xfrm>
          <a:prstGeom prst="rect">
            <a:avLst/>
          </a:prstGeom>
        </p:spPr>
      </p:pic>
      <p:pic>
        <p:nvPicPr>
          <p:cNvPr id="7" name="Image 6">
            <a:extLst>
              <a:ext uri="{FF2B5EF4-FFF2-40B4-BE49-F238E27FC236}">
                <a16:creationId xmlns:a16="http://schemas.microsoft.com/office/drawing/2014/main" id="{F59453CB-835A-8346-8879-42E48329BA04}"/>
              </a:ext>
            </a:extLst>
          </p:cNvPr>
          <p:cNvPicPr>
            <a:picLocks noChangeAspect="1"/>
          </p:cNvPicPr>
          <p:nvPr/>
        </p:nvPicPr>
        <p:blipFill>
          <a:blip r:embed="rId3"/>
          <a:srcRect r="43331" b="8701"/>
          <a:stretch/>
        </p:blipFill>
        <p:spPr>
          <a:xfrm>
            <a:off x="4555643" y="3634550"/>
            <a:ext cx="3467487" cy="2578240"/>
          </a:xfrm>
          <a:prstGeom prst="rect">
            <a:avLst/>
          </a:prstGeom>
        </p:spPr>
      </p:pic>
      <p:pic>
        <p:nvPicPr>
          <p:cNvPr id="8" name="Image 7">
            <a:extLst>
              <a:ext uri="{FF2B5EF4-FFF2-40B4-BE49-F238E27FC236}">
                <a16:creationId xmlns:a16="http://schemas.microsoft.com/office/drawing/2014/main" id="{4673C4B3-F84F-DC38-32C1-90C3F58BDBA6}"/>
              </a:ext>
            </a:extLst>
          </p:cNvPr>
          <p:cNvPicPr>
            <a:picLocks noChangeAspect="1"/>
          </p:cNvPicPr>
          <p:nvPr/>
        </p:nvPicPr>
        <p:blipFill>
          <a:blip r:embed="rId4"/>
          <a:srcRect r="44375" b="8752"/>
          <a:stretch/>
        </p:blipFill>
        <p:spPr>
          <a:xfrm>
            <a:off x="8196099" y="3583054"/>
            <a:ext cx="3403593" cy="2681232"/>
          </a:xfrm>
          <a:prstGeom prst="rect">
            <a:avLst/>
          </a:prstGeom>
        </p:spPr>
      </p:pic>
    </p:spTree>
    <p:extLst>
      <p:ext uri="{BB962C8B-B14F-4D97-AF65-F5344CB8AC3E}">
        <p14:creationId xmlns:p14="http://schemas.microsoft.com/office/powerpoint/2010/main" val="2319402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64F13AD-A9CC-B348-BEB1-0246FE8A62E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de </a:t>
            </a:r>
            <a:r>
              <a:rPr lang="en-US" sz="2200" kern="1200" dirty="0" err="1">
                <a:solidFill>
                  <a:schemeClr val="bg1"/>
                </a:solidFill>
                <a:latin typeface="+mj-lt"/>
                <a:ea typeface="+mj-ea"/>
                <a:cs typeface="+mj-cs"/>
              </a:rPr>
              <a:t>froid</a:t>
            </a:r>
            <a:endParaRPr lang="en-US" sz="2200" kern="1200" dirty="0">
              <a:solidFill>
                <a:schemeClr val="bg1"/>
              </a:solidFill>
              <a:latin typeface="+mj-lt"/>
              <a:ea typeface="+mj-ea"/>
              <a:cs typeface="+mj-cs"/>
            </a:endParaRPr>
          </a:p>
        </p:txBody>
      </p:sp>
      <p:pic>
        <p:nvPicPr>
          <p:cNvPr id="4" name="Espace réservé du contenu 3">
            <a:extLst>
              <a:ext uri="{FF2B5EF4-FFF2-40B4-BE49-F238E27FC236}">
                <a16:creationId xmlns:a16="http://schemas.microsoft.com/office/drawing/2014/main" id="{E7ADC728-2665-630F-614A-4E57B1795320}"/>
              </a:ext>
            </a:extLst>
          </p:cNvPr>
          <p:cNvPicPr>
            <a:picLocks noGrp="1" noChangeAspect="1"/>
          </p:cNvPicPr>
          <p:nvPr>
            <p:ph idx="1"/>
          </p:nvPr>
        </p:nvPicPr>
        <p:blipFill>
          <a:blip r:embed="rId2"/>
          <a:srcRect b="8715"/>
          <a:stretch/>
        </p:blipFill>
        <p:spPr>
          <a:xfrm>
            <a:off x="1837683" y="1675227"/>
            <a:ext cx="8516634" cy="4394199"/>
          </a:xfrm>
          <a:prstGeom prst="rect">
            <a:avLst/>
          </a:prstGeom>
        </p:spPr>
      </p:pic>
    </p:spTree>
    <p:extLst>
      <p:ext uri="{BB962C8B-B14F-4D97-AF65-F5344CB8AC3E}">
        <p14:creationId xmlns:p14="http://schemas.microsoft.com/office/powerpoint/2010/main" val="4048097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0C025F5-2121-123C-CEF8-5308000F747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traceurs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du  </a:t>
            </a:r>
            <a:r>
              <a:rPr lang="en-US" sz="2200" kern="1200" dirty="0" err="1">
                <a:solidFill>
                  <a:schemeClr val="bg1"/>
                </a:solidFill>
                <a:latin typeface="+mj-lt"/>
                <a:ea typeface="+mj-ea"/>
                <a:cs typeface="+mj-cs"/>
              </a:rPr>
              <a:t>froid</a:t>
            </a:r>
            <a:r>
              <a:rPr lang="en-US" sz="2200" kern="1200" dirty="0">
                <a:solidFill>
                  <a:schemeClr val="bg1"/>
                </a:solidFill>
                <a:latin typeface="+mj-lt"/>
                <a:ea typeface="+mj-ea"/>
                <a:cs typeface="+mj-cs"/>
              </a:rPr>
              <a:t> et selon les milieux de vie</a:t>
            </a:r>
          </a:p>
        </p:txBody>
      </p:sp>
      <p:graphicFrame>
        <p:nvGraphicFramePr>
          <p:cNvPr id="5" name="Espace réservé du contenu 4">
            <a:extLst>
              <a:ext uri="{FF2B5EF4-FFF2-40B4-BE49-F238E27FC236}">
                <a16:creationId xmlns:a16="http://schemas.microsoft.com/office/drawing/2014/main" id="{5087A4B3-8E61-EEAD-597F-9506D1CD67B1}"/>
              </a:ext>
            </a:extLst>
          </p:cNvPr>
          <p:cNvGraphicFramePr>
            <a:graphicFrameLocks noGrp="1"/>
          </p:cNvGraphicFramePr>
          <p:nvPr>
            <p:ph idx="1"/>
            <p:extLst>
              <p:ext uri="{D42A27DB-BD31-4B8C-83A1-F6EECF244321}">
                <p14:modId xmlns:p14="http://schemas.microsoft.com/office/powerpoint/2010/main" val="1745246641"/>
              </p:ext>
            </p:extLst>
          </p:nvPr>
        </p:nvGraphicFramePr>
        <p:xfrm>
          <a:off x="643467" y="1964533"/>
          <a:ext cx="10905074" cy="3815595"/>
        </p:xfrm>
        <a:graphic>
          <a:graphicData uri="http://schemas.openxmlformats.org/drawingml/2006/table">
            <a:tbl>
              <a:tblPr firstRow="1" firstCol="1" bandRow="1"/>
              <a:tblGrid>
                <a:gridCol w="2607734">
                  <a:extLst>
                    <a:ext uri="{9D8B030D-6E8A-4147-A177-3AD203B41FA5}">
                      <a16:colId xmlns:a16="http://schemas.microsoft.com/office/drawing/2014/main" val="486281796"/>
                    </a:ext>
                  </a:extLst>
                </a:gridCol>
                <a:gridCol w="829734">
                  <a:extLst>
                    <a:ext uri="{9D8B030D-6E8A-4147-A177-3AD203B41FA5}">
                      <a16:colId xmlns:a16="http://schemas.microsoft.com/office/drawing/2014/main" val="2713700563"/>
                    </a:ext>
                  </a:extLst>
                </a:gridCol>
                <a:gridCol w="829734">
                  <a:extLst>
                    <a:ext uri="{9D8B030D-6E8A-4147-A177-3AD203B41FA5}">
                      <a16:colId xmlns:a16="http://schemas.microsoft.com/office/drawing/2014/main" val="1382147354"/>
                    </a:ext>
                  </a:extLst>
                </a:gridCol>
                <a:gridCol w="829734">
                  <a:extLst>
                    <a:ext uri="{9D8B030D-6E8A-4147-A177-3AD203B41FA5}">
                      <a16:colId xmlns:a16="http://schemas.microsoft.com/office/drawing/2014/main" val="703928906"/>
                    </a:ext>
                  </a:extLst>
                </a:gridCol>
                <a:gridCol w="829734">
                  <a:extLst>
                    <a:ext uri="{9D8B030D-6E8A-4147-A177-3AD203B41FA5}">
                      <a16:colId xmlns:a16="http://schemas.microsoft.com/office/drawing/2014/main" val="4173505003"/>
                    </a:ext>
                  </a:extLst>
                </a:gridCol>
                <a:gridCol w="829734">
                  <a:extLst>
                    <a:ext uri="{9D8B030D-6E8A-4147-A177-3AD203B41FA5}">
                      <a16:colId xmlns:a16="http://schemas.microsoft.com/office/drawing/2014/main" val="3834337580"/>
                    </a:ext>
                  </a:extLst>
                </a:gridCol>
                <a:gridCol w="829734">
                  <a:extLst>
                    <a:ext uri="{9D8B030D-6E8A-4147-A177-3AD203B41FA5}">
                      <a16:colId xmlns:a16="http://schemas.microsoft.com/office/drawing/2014/main" val="956617828"/>
                    </a:ext>
                  </a:extLst>
                </a:gridCol>
                <a:gridCol w="829734">
                  <a:extLst>
                    <a:ext uri="{9D8B030D-6E8A-4147-A177-3AD203B41FA5}">
                      <a16:colId xmlns:a16="http://schemas.microsoft.com/office/drawing/2014/main" val="961246273"/>
                    </a:ext>
                  </a:extLst>
                </a:gridCol>
                <a:gridCol w="829734">
                  <a:extLst>
                    <a:ext uri="{9D8B030D-6E8A-4147-A177-3AD203B41FA5}">
                      <a16:colId xmlns:a16="http://schemas.microsoft.com/office/drawing/2014/main" val="4065169040"/>
                    </a:ext>
                  </a:extLst>
                </a:gridCol>
                <a:gridCol w="829734">
                  <a:extLst>
                    <a:ext uri="{9D8B030D-6E8A-4147-A177-3AD203B41FA5}">
                      <a16:colId xmlns:a16="http://schemas.microsoft.com/office/drawing/2014/main" val="2263058708"/>
                    </a:ext>
                  </a:extLst>
                </a:gridCol>
                <a:gridCol w="829734">
                  <a:extLst>
                    <a:ext uri="{9D8B030D-6E8A-4147-A177-3AD203B41FA5}">
                      <a16:colId xmlns:a16="http://schemas.microsoft.com/office/drawing/2014/main" val="214440505"/>
                    </a:ext>
                  </a:extLst>
                </a:gridCol>
              </a:tblGrid>
              <a:tr h="256477">
                <a:tc rowSpan="2">
                  <a:txBody>
                    <a:bodyPr/>
                    <a:lstStyle/>
                    <a:p>
                      <a:pP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Antigène et diluant</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gridSpan="3">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Kasaï-Oriental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hMerge="1">
                  <a:txBody>
                    <a:bodyPr/>
                    <a:lstStyle/>
                    <a:p>
                      <a:endParaRPr lang="fr-FR"/>
                    </a:p>
                  </a:txBody>
                  <a:tcPr/>
                </a:tc>
                <a:tc gridSpan="2">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Maniema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Mongala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3">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Tshopo</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940482472"/>
                  </a:ext>
                </a:extLst>
              </a:tr>
              <a:tr h="481394">
                <a:tc vMerge="1">
                  <a:txBody>
                    <a:bodyPr/>
                    <a:lstStyle/>
                    <a:p>
                      <a:endParaRPr lang="fr-FR"/>
                    </a:p>
                  </a:txBody>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Rural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Urbain</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Urbano Rurale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1419657989"/>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BCG</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086678859"/>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VAR</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34,0%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72,1%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85,1%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675483545"/>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2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16,3%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17733166"/>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5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022740400"/>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PCV 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69,4%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152708398"/>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0,5ml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36,8%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77,5%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86,3%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37,0%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641017505"/>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BCG 0,05 ml</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72,6%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12,8%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276030082"/>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VAA</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79,6%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804544380"/>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Pentavalent (DTC-Hep-Hib)</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67,7%</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81,0%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85,6%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60,1%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606551962"/>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Injectable (VPI)</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29,2%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73,5%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79,2%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83,6%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491917171"/>
                  </a:ext>
                </a:extLst>
              </a:tr>
              <a:tr h="256477">
                <a:tc>
                  <a:txBody>
                    <a:bodyPr/>
                    <a:lstStyle/>
                    <a:p>
                      <a:pP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Oral (VPO)</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39,0%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22,9%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65,3%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27,9%</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64,1%</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45,5%</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846663921"/>
                  </a:ext>
                </a:extLst>
              </a:tr>
              <a:tr h="256477">
                <a:tc>
                  <a:txBody>
                    <a:bodyPr/>
                    <a:lstStyle/>
                    <a:p>
                      <a:pP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X̄ intrants traceurs par province</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31,8%</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35,2%</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66,0%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57,4%</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69,3%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57,0%</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3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46,6%</a:t>
                      </a:r>
                      <a:endParaRPr lang="fr-FR" sz="1400" kern="100">
                        <a:effectLst/>
                        <a:latin typeface="Aptos" panose="020B0004020202020204" pitchFamily="34" charset="0"/>
                        <a:ea typeface="Aptos" panose="020B0004020202020204" pitchFamily="34" charset="0"/>
                        <a:cs typeface="Times New Roman" panose="02020603050405020304" pitchFamily="18" charset="0"/>
                      </a:endParaRPr>
                    </a:p>
                  </a:txBody>
                  <a:tcPr marL="51858" marR="51858"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341267641"/>
                  </a:ext>
                </a:extLst>
              </a:tr>
            </a:tbl>
          </a:graphicData>
        </a:graphic>
      </p:graphicFrame>
    </p:spTree>
    <p:extLst>
      <p:ext uri="{BB962C8B-B14F-4D97-AF65-F5344CB8AC3E}">
        <p14:creationId xmlns:p14="http://schemas.microsoft.com/office/powerpoint/2010/main" val="3950903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367857F-1D0D-74A1-0C32-66163EF160E6}"/>
              </a:ext>
            </a:extLst>
          </p:cNvPr>
          <p:cNvSpPr>
            <a:spLocks noGrp="1"/>
          </p:cNvSpPr>
          <p:nvPr>
            <p:ph type="title"/>
          </p:nvPr>
        </p:nvSpPr>
        <p:spPr>
          <a:xfrm>
            <a:off x="580595" y="643467"/>
            <a:ext cx="11210925" cy="744836"/>
          </a:xfrm>
        </p:spPr>
        <p:txBody>
          <a:bodyPr vert="horz" lIns="91440" tIns="45720" rIns="91440" bIns="45720" rtlCol="0" anchor="ctr">
            <a:normAutofit/>
          </a:bodyPr>
          <a:lstStyle/>
          <a:p>
            <a:pPr algn="ctr"/>
            <a:r>
              <a:rPr lang="en-US" sz="2200" kern="1200" dirty="0">
                <a:solidFill>
                  <a:schemeClr val="bg1"/>
                </a:solidFill>
                <a:latin typeface="+mj-lt"/>
                <a:ea typeface="+mj-ea"/>
                <a:cs typeface="+mj-cs"/>
              </a:rPr>
              <a:t>Disponibilité des </a:t>
            </a:r>
            <a:r>
              <a:rPr lang="en-US" sz="2200" kern="1200" dirty="0" err="1">
                <a:solidFill>
                  <a:schemeClr val="bg1"/>
                </a:solidFill>
                <a:latin typeface="+mj-lt"/>
                <a:ea typeface="+mj-ea"/>
                <a:cs typeface="+mj-cs"/>
              </a:rPr>
              <a:t>vaccins</a:t>
            </a:r>
            <a:r>
              <a:rPr lang="en-US" sz="2200" kern="1200" dirty="0">
                <a:solidFill>
                  <a:schemeClr val="bg1"/>
                </a:solidFill>
                <a:latin typeface="+mj-lt"/>
                <a:ea typeface="+mj-ea"/>
                <a:cs typeface="+mj-cs"/>
              </a:rPr>
              <a:t> et autres intrants traceurs </a:t>
            </a:r>
            <a:r>
              <a:rPr lang="en-US" sz="2200" kern="1200" dirty="0" err="1">
                <a:solidFill>
                  <a:schemeClr val="bg1"/>
                </a:solidFill>
                <a:latin typeface="+mj-lt"/>
                <a:ea typeface="+mj-ea"/>
                <a:cs typeface="+mj-cs"/>
              </a:rPr>
              <a:t>corrigée</a:t>
            </a:r>
            <a:r>
              <a:rPr lang="en-US" sz="2200" kern="1200" dirty="0">
                <a:solidFill>
                  <a:schemeClr val="bg1"/>
                </a:solidFill>
                <a:latin typeface="+mj-lt"/>
                <a:ea typeface="+mj-ea"/>
                <a:cs typeface="+mj-cs"/>
              </a:rPr>
              <a:t> en </a:t>
            </a:r>
            <a:r>
              <a:rPr lang="en-US" sz="2200" kern="1200" dirty="0" err="1">
                <a:solidFill>
                  <a:schemeClr val="bg1"/>
                </a:solidFill>
                <a:latin typeface="+mj-lt"/>
                <a:ea typeface="+mj-ea"/>
                <a:cs typeface="+mj-cs"/>
              </a:rPr>
              <a:t>fonction</a:t>
            </a:r>
            <a:r>
              <a:rPr lang="en-US" sz="2200" kern="1200" dirty="0">
                <a:solidFill>
                  <a:schemeClr val="bg1"/>
                </a:solidFill>
                <a:latin typeface="+mj-lt"/>
                <a:ea typeface="+mj-ea"/>
                <a:cs typeface="+mj-cs"/>
              </a:rPr>
              <a:t> du bon </a:t>
            </a:r>
            <a:r>
              <a:rPr lang="en-US" sz="2200" kern="1200" dirty="0" err="1">
                <a:solidFill>
                  <a:schemeClr val="bg1"/>
                </a:solidFill>
                <a:latin typeface="+mj-lt"/>
                <a:ea typeface="+mj-ea"/>
                <a:cs typeface="+mj-cs"/>
              </a:rPr>
              <a:t>fonctionnement</a:t>
            </a:r>
            <a:r>
              <a:rPr lang="en-US" sz="2200" kern="1200" dirty="0">
                <a:solidFill>
                  <a:schemeClr val="bg1"/>
                </a:solidFill>
                <a:latin typeface="+mj-lt"/>
                <a:ea typeface="+mj-ea"/>
                <a:cs typeface="+mj-cs"/>
              </a:rPr>
              <a:t> de la </a:t>
            </a:r>
            <a:r>
              <a:rPr lang="en-US" sz="2200" kern="1200" dirty="0" err="1">
                <a:solidFill>
                  <a:schemeClr val="bg1"/>
                </a:solidFill>
                <a:latin typeface="+mj-lt"/>
                <a:ea typeface="+mj-ea"/>
                <a:cs typeface="+mj-cs"/>
              </a:rPr>
              <a:t>chaine</a:t>
            </a:r>
            <a:r>
              <a:rPr lang="en-US" sz="2200" kern="1200" dirty="0">
                <a:solidFill>
                  <a:schemeClr val="bg1"/>
                </a:solidFill>
                <a:latin typeface="+mj-lt"/>
                <a:ea typeface="+mj-ea"/>
                <a:cs typeface="+mj-cs"/>
              </a:rPr>
              <a:t> du </a:t>
            </a:r>
            <a:r>
              <a:rPr lang="en-US" sz="2200" kern="1200" dirty="0" err="1">
                <a:solidFill>
                  <a:schemeClr val="bg1"/>
                </a:solidFill>
                <a:latin typeface="+mj-lt"/>
                <a:ea typeface="+mj-ea"/>
                <a:cs typeface="+mj-cs"/>
              </a:rPr>
              <a:t>froid</a:t>
            </a:r>
            <a:r>
              <a:rPr lang="en-US" sz="2200" kern="1200" dirty="0">
                <a:solidFill>
                  <a:schemeClr val="bg1"/>
                </a:solidFill>
                <a:latin typeface="+mj-lt"/>
                <a:ea typeface="+mj-ea"/>
                <a:cs typeface="+mj-cs"/>
              </a:rPr>
              <a:t> et selon les </a:t>
            </a:r>
            <a:r>
              <a:rPr lang="en-US" sz="2200" kern="1200" dirty="0" err="1">
                <a:solidFill>
                  <a:schemeClr val="bg1"/>
                </a:solidFill>
                <a:latin typeface="+mj-lt"/>
                <a:ea typeface="+mj-ea"/>
                <a:cs typeface="+mj-cs"/>
              </a:rPr>
              <a:t>appuis</a:t>
            </a:r>
            <a:r>
              <a:rPr lang="en-US" sz="2200" kern="1200" dirty="0">
                <a:solidFill>
                  <a:schemeClr val="bg1"/>
                </a:solidFill>
                <a:latin typeface="+mj-lt"/>
                <a:ea typeface="+mj-ea"/>
                <a:cs typeface="+mj-cs"/>
              </a:rPr>
              <a:t> FAE</a:t>
            </a:r>
          </a:p>
        </p:txBody>
      </p:sp>
      <p:graphicFrame>
        <p:nvGraphicFramePr>
          <p:cNvPr id="4" name="Espace réservé du contenu 3">
            <a:extLst>
              <a:ext uri="{FF2B5EF4-FFF2-40B4-BE49-F238E27FC236}">
                <a16:creationId xmlns:a16="http://schemas.microsoft.com/office/drawing/2014/main" id="{34EB4F63-D9EF-4F5F-C026-038718B966F4}"/>
              </a:ext>
            </a:extLst>
          </p:cNvPr>
          <p:cNvGraphicFramePr>
            <a:graphicFrameLocks noGrp="1"/>
          </p:cNvGraphicFramePr>
          <p:nvPr>
            <p:ph idx="1"/>
            <p:extLst>
              <p:ext uri="{D42A27DB-BD31-4B8C-83A1-F6EECF244321}">
                <p14:modId xmlns:p14="http://schemas.microsoft.com/office/powerpoint/2010/main" val="729179957"/>
              </p:ext>
            </p:extLst>
          </p:nvPr>
        </p:nvGraphicFramePr>
        <p:xfrm>
          <a:off x="889516" y="1675227"/>
          <a:ext cx="10412969" cy="4394208"/>
        </p:xfrm>
        <a:graphic>
          <a:graphicData uri="http://schemas.openxmlformats.org/drawingml/2006/table">
            <a:tbl>
              <a:tblPr firstRow="1" firstCol="1" bandRow="1"/>
              <a:tblGrid>
                <a:gridCol w="3014961">
                  <a:extLst>
                    <a:ext uri="{9D8B030D-6E8A-4147-A177-3AD203B41FA5}">
                      <a16:colId xmlns:a16="http://schemas.microsoft.com/office/drawing/2014/main" val="232201504"/>
                    </a:ext>
                  </a:extLst>
                </a:gridCol>
                <a:gridCol w="924751">
                  <a:extLst>
                    <a:ext uri="{9D8B030D-6E8A-4147-A177-3AD203B41FA5}">
                      <a16:colId xmlns:a16="http://schemas.microsoft.com/office/drawing/2014/main" val="1933067866"/>
                    </a:ext>
                  </a:extLst>
                </a:gridCol>
                <a:gridCol w="924751">
                  <a:extLst>
                    <a:ext uri="{9D8B030D-6E8A-4147-A177-3AD203B41FA5}">
                      <a16:colId xmlns:a16="http://schemas.microsoft.com/office/drawing/2014/main" val="2241175498"/>
                    </a:ext>
                  </a:extLst>
                </a:gridCol>
                <a:gridCol w="924751">
                  <a:extLst>
                    <a:ext uri="{9D8B030D-6E8A-4147-A177-3AD203B41FA5}">
                      <a16:colId xmlns:a16="http://schemas.microsoft.com/office/drawing/2014/main" val="3145652700"/>
                    </a:ext>
                  </a:extLst>
                </a:gridCol>
                <a:gridCol w="924751">
                  <a:extLst>
                    <a:ext uri="{9D8B030D-6E8A-4147-A177-3AD203B41FA5}">
                      <a16:colId xmlns:a16="http://schemas.microsoft.com/office/drawing/2014/main" val="3275268191"/>
                    </a:ext>
                  </a:extLst>
                </a:gridCol>
                <a:gridCol w="924751">
                  <a:extLst>
                    <a:ext uri="{9D8B030D-6E8A-4147-A177-3AD203B41FA5}">
                      <a16:colId xmlns:a16="http://schemas.microsoft.com/office/drawing/2014/main" val="1177230177"/>
                    </a:ext>
                  </a:extLst>
                </a:gridCol>
                <a:gridCol w="924751">
                  <a:extLst>
                    <a:ext uri="{9D8B030D-6E8A-4147-A177-3AD203B41FA5}">
                      <a16:colId xmlns:a16="http://schemas.microsoft.com/office/drawing/2014/main" val="111053901"/>
                    </a:ext>
                  </a:extLst>
                </a:gridCol>
                <a:gridCol w="924751">
                  <a:extLst>
                    <a:ext uri="{9D8B030D-6E8A-4147-A177-3AD203B41FA5}">
                      <a16:colId xmlns:a16="http://schemas.microsoft.com/office/drawing/2014/main" val="619150691"/>
                    </a:ext>
                  </a:extLst>
                </a:gridCol>
                <a:gridCol w="924751">
                  <a:extLst>
                    <a:ext uri="{9D8B030D-6E8A-4147-A177-3AD203B41FA5}">
                      <a16:colId xmlns:a16="http://schemas.microsoft.com/office/drawing/2014/main" val="260523385"/>
                    </a:ext>
                  </a:extLst>
                </a:gridCol>
              </a:tblGrid>
              <a:tr h="313872">
                <a:tc rowSpan="2">
                  <a:txBody>
                    <a:bodyPr/>
                    <a:lstStyle/>
                    <a:p>
                      <a:pP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Antigène et diluant</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Kasaï-Oriental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Maniema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Mongala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Tshopo</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hMerge="1">
                  <a:txBody>
                    <a:bodyPr/>
                    <a:lstStyle/>
                    <a:p>
                      <a:endParaRPr lang="fr-FR"/>
                    </a:p>
                  </a:txBody>
                  <a:tcPr/>
                </a:tc>
                <a:extLst>
                  <a:ext uri="{0D108BD9-81ED-4DB2-BD59-A6C34878D82A}">
                    <a16:rowId xmlns:a16="http://schemas.microsoft.com/office/drawing/2014/main" val="3584033612"/>
                  </a:ext>
                </a:extLst>
              </a:tr>
              <a:tr h="313872">
                <a:tc vMerge="1">
                  <a:txBody>
                    <a:bodyPr/>
                    <a:lstStyle/>
                    <a:p>
                      <a:endParaRPr lang="fr-FR"/>
                    </a:p>
                  </a:txBody>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Oui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Non</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136410155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BCG</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24,4%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19,7%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1704233763"/>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Diluant VAR</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14,2%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71,2%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242008648"/>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2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15,5%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40,6%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21,4%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545252629"/>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Dilution 5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29,4%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49,7%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9,5%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58,3%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90050278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PCV 13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56,2%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23,6%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75,7%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864425799"/>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0,5ml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26,9%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70,4%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50,2%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84,0%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30,5%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834728130"/>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SAB BCG 0,05 ml</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40,8%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28,5%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43,3%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20,5%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402988011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VAA</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67,1%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48,7%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64,2%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76,5%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61,7%</a:t>
                      </a:r>
                      <a:endParaRPr lang="fr-FR"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60843277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Pentavalent (DTC-Hep-Hib)</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45,1%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78,2%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63,1%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52,7%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616772003"/>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Injectable (VPI)</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35,4%</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54,9%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46,1%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77,0%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59,2%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54,7%</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1061023666"/>
                  </a:ext>
                </a:extLst>
              </a:tr>
              <a:tr h="313872">
                <a:tc>
                  <a:txBody>
                    <a:bodyPr/>
                    <a:lstStyle/>
                    <a:p>
                      <a:pP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Vaccin Polio Oral (VPO)</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31,9%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17,0%</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27,3%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68,9%</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47,8%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34,6%</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87360912"/>
                  </a:ext>
                </a:extLst>
              </a:tr>
              <a:tr h="313872">
                <a:tc>
                  <a:txBody>
                    <a:bodyPr/>
                    <a:lstStyle/>
                    <a:p>
                      <a:pP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X̄ intrants traceurs par province</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38,8%</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33,1%</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35,3%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41,5%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32,2%</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68,3%</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44,5%</a:t>
                      </a:r>
                      <a:endParaRPr lang="fr-FR" sz="1700" kern="10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dirty="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38,5%</a:t>
                      </a:r>
                      <a:endParaRPr lang="fr-FR" sz="1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3463" marR="6346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4007871035"/>
                  </a:ext>
                </a:extLst>
              </a:tr>
            </a:tbl>
          </a:graphicData>
        </a:graphic>
      </p:graphicFrame>
    </p:spTree>
    <p:extLst>
      <p:ext uri="{BB962C8B-B14F-4D97-AF65-F5344CB8AC3E}">
        <p14:creationId xmlns:p14="http://schemas.microsoft.com/office/powerpoint/2010/main" val="595830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re 1">
            <a:extLst>
              <a:ext uri="{FF2B5EF4-FFF2-40B4-BE49-F238E27FC236}">
                <a16:creationId xmlns:a16="http://schemas.microsoft.com/office/drawing/2014/main" id="{1D25AFC6-0EFB-E272-F050-342E62DB4B2B}"/>
              </a:ext>
            </a:extLst>
          </p:cNvPr>
          <p:cNvSpPr>
            <a:spLocks noGrp="1"/>
          </p:cNvSpPr>
          <p:nvPr>
            <p:ph type="title"/>
          </p:nvPr>
        </p:nvSpPr>
        <p:spPr>
          <a:xfrm>
            <a:off x="836676" y="127647"/>
            <a:ext cx="10515600" cy="514038"/>
          </a:xfrm>
        </p:spPr>
        <p:txBody>
          <a:bodyPr>
            <a:normAutofit fontScale="90000"/>
          </a:bodyPr>
          <a:lstStyle/>
          <a:p>
            <a:r>
              <a:rPr lang="fr-FR" sz="2800" dirty="0"/>
              <a:t>Tableau synthèse des verbatims : Disponibilité des vaccins et autres intrants traceurs</a:t>
            </a:r>
          </a:p>
        </p:txBody>
      </p:sp>
      <p:graphicFrame>
        <p:nvGraphicFramePr>
          <p:cNvPr id="4" name="Espace réservé du contenu 3">
            <a:extLst>
              <a:ext uri="{FF2B5EF4-FFF2-40B4-BE49-F238E27FC236}">
                <a16:creationId xmlns:a16="http://schemas.microsoft.com/office/drawing/2014/main" id="{C1F96A02-679E-C783-1914-EC03F8D876A1}"/>
              </a:ext>
            </a:extLst>
          </p:cNvPr>
          <p:cNvGraphicFramePr>
            <a:graphicFrameLocks noGrp="1"/>
          </p:cNvGraphicFramePr>
          <p:nvPr>
            <p:ph idx="1"/>
            <p:extLst>
              <p:ext uri="{D42A27DB-BD31-4B8C-83A1-F6EECF244321}">
                <p14:modId xmlns:p14="http://schemas.microsoft.com/office/powerpoint/2010/main" val="2277806716"/>
              </p:ext>
            </p:extLst>
          </p:nvPr>
        </p:nvGraphicFramePr>
        <p:xfrm>
          <a:off x="836676" y="641685"/>
          <a:ext cx="10390335" cy="6132454"/>
        </p:xfrm>
        <a:graphic>
          <a:graphicData uri="http://schemas.openxmlformats.org/drawingml/2006/table">
            <a:tbl>
              <a:tblPr firstRow="1" firstCol="1" bandRow="1"/>
              <a:tblGrid>
                <a:gridCol w="2586136">
                  <a:extLst>
                    <a:ext uri="{9D8B030D-6E8A-4147-A177-3AD203B41FA5}">
                      <a16:colId xmlns:a16="http://schemas.microsoft.com/office/drawing/2014/main" val="1465629375"/>
                    </a:ext>
                  </a:extLst>
                </a:gridCol>
                <a:gridCol w="2393809">
                  <a:extLst>
                    <a:ext uri="{9D8B030D-6E8A-4147-A177-3AD203B41FA5}">
                      <a16:colId xmlns:a16="http://schemas.microsoft.com/office/drawing/2014/main" val="2401570227"/>
                    </a:ext>
                  </a:extLst>
                </a:gridCol>
                <a:gridCol w="1298723">
                  <a:extLst>
                    <a:ext uri="{9D8B030D-6E8A-4147-A177-3AD203B41FA5}">
                      <a16:colId xmlns:a16="http://schemas.microsoft.com/office/drawing/2014/main" val="426653637"/>
                    </a:ext>
                  </a:extLst>
                </a:gridCol>
                <a:gridCol w="4111667">
                  <a:extLst>
                    <a:ext uri="{9D8B030D-6E8A-4147-A177-3AD203B41FA5}">
                      <a16:colId xmlns:a16="http://schemas.microsoft.com/office/drawing/2014/main" val="1270919560"/>
                    </a:ext>
                  </a:extLst>
                </a:gridCol>
              </a:tblGrid>
              <a:tr h="130844">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57244251"/>
                  </a:ext>
                </a:extLst>
              </a:tr>
              <a:tr h="487394">
                <a:tc>
                  <a:txBody>
                    <a:bodyPr/>
                    <a:lstStyle/>
                    <a:p>
                      <a:pPr>
                        <a:lnSpc>
                          <a:spcPct val="115000"/>
                        </a:lnSpc>
                        <a:spcAft>
                          <a:spcPts val="800"/>
                        </a:spcAft>
                        <a:buNone/>
                      </a:pP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fréquentes de vaccins (BCG, Penta, VAR, etc.)</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incomplètes ou annulées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Régression de la confiance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ECP, 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ruptures ne touchent pas tous les antigènes de la même façon. Les vaccins en fin de calendrier (VAR, Rota2) sont souvent plus touchés. Ce phénomène crée un écart entre planification théorique et mise en œuvre, particulièrement dans les zones rurales. Le problème est aggravé par le manque d’information préalable sur la disponibilité des intrants.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53156034"/>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Mauvais alignement entre approvisionnement et planification des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Annulations à la dernière minute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Démobilisation des RECO</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communautaire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Cela révèle un dysfonctionnement dans la communication entre les niveaux logistiques. Le manque de visibilité sur les plannings d’approvisionnement empêche une mobilisation communautaire efficace. Il souligne un défaut structurel dans la gouvernance de la chaîne logistique.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6914848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Quantités insuffisantes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Priorisation des zones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Couverture inéquitable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potentiels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distribution selon la quantité disponible, plutôt que selon les besoins réels, entraîne une fragmentation de l'accès au service. Cela nuit à l'équité et provoque une saturation dans certaines aires pendant que d'autres sont ignorées.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65445202"/>
                  </a:ext>
                </a:extLst>
              </a:tr>
              <a:tr h="3091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Retards de livraison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journées planifiées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Dégradation de l'efficacité des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retards sont parfois dus à l’indisponibilité de carburant, à la lenteur des validations logistiques ou à l’absence de coordination inter-niveaux. Cette lenteur renforce la perception d’un système peu fiable.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2414807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Chaîne du froid fragile ou partiellement opérationnelle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Glacières vétustes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Frigos non maintenus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Vaccins potentiellement inefficaces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Pères, PTF</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dysfonctionnement n’est pas uniforme : certains sites ont une chaîne du froid fonctionnelle mais manquent de dispositifs mobiles (porte-vaccins), limitant la couverture dans les zones éloignées. Cela illustre une logistique partielle, souvent pilotée sans réelle prise en compte des contraintes géographiques.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13873528"/>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ou mauvaise gestion des carnets de vaccination et registres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traçabilité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suivre les enfants vaccinés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Bien que ces éléments soient considérés comme basiques, ils sont souvent absents ou gérés de manière artisanale. Cela révèle un problème de priorisation dans les achats ou de faiblesse dans les budgets logistiques. Le déficit de régularité perturbe la confiance dans l’ensemble du processus.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59509346"/>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Risque de péremption ou de mauvaise conservation des vaccins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Vaccins périmés ou détériorés observés sur site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Doute sur la qualité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Défiance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point suggère non seulement des défaillances dans la logistique, mais également un manque de supervision ou d’audit qualité en bout de chaîne. Il alimente les résistances communautaires, y compris sur le plan symbolique.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99305606"/>
                  </a:ext>
                </a:extLst>
              </a:tr>
              <a:tr h="48739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Stockage et gestion manuelle sans traçabilité électronique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Erreurs fréquentes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prévoir les ruptures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d’alerte précoce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Cette limitation empêche une gestion prévisionnelle efficace. L’absence d’un système de gestion logistique électronique (ex : </a:t>
                      </a:r>
                      <a:r>
                        <a:rPr lang="fr-FR" sz="900" kern="0" dirty="0" err="1">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eLMIS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opérationnel au niveau local est un goulot d’étranglement systémique. Elle accentue la dépendance à l’expertise individuelle plutôt qu’aux processus formalisés.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27334878"/>
                  </a:ext>
                </a:extLst>
              </a:tr>
              <a:tr h="3091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Inégalités dans la dotation selon les zones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Certaines ZS sur-approvisionnées, d'autres sous-dotées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potentiels entre structures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déséquilibre met en lumière un problème d’identification des besoins réels au niveau local. Il reflète aussi le déficit de supervision active des stocks et de coordination entre les directions provinciales et les ZS.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039" marR="130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103682"/>
                  </a:ext>
                </a:extLst>
              </a:tr>
            </a:tbl>
          </a:graphicData>
        </a:graphic>
      </p:graphicFrame>
    </p:spTree>
    <p:extLst>
      <p:ext uri="{BB962C8B-B14F-4D97-AF65-F5344CB8AC3E}">
        <p14:creationId xmlns:p14="http://schemas.microsoft.com/office/powerpoint/2010/main" val="275071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D8B5ED8-25A5-067A-0873-07D1CEB71EEA}"/>
              </a:ext>
            </a:extLst>
          </p:cNvPr>
          <p:cNvSpPr>
            <a:spLocks noGrp="1"/>
          </p:cNvSpPr>
          <p:nvPr>
            <p:ph type="title"/>
          </p:nvPr>
        </p:nvSpPr>
        <p:spPr>
          <a:xfrm>
            <a:off x="1383564" y="348865"/>
            <a:ext cx="9718111" cy="1576446"/>
          </a:xfrm>
        </p:spPr>
        <p:txBody>
          <a:bodyPr anchor="ctr">
            <a:normAutofit/>
          </a:bodyPr>
          <a:lstStyle/>
          <a:p>
            <a:r>
              <a:rPr lang="fr-FR" sz="4000">
                <a:solidFill>
                  <a:srgbClr val="FFFFFF"/>
                </a:solidFill>
              </a:rPr>
              <a:t>Disponibilité des ressources humaines</a:t>
            </a:r>
          </a:p>
        </p:txBody>
      </p:sp>
      <p:graphicFrame>
        <p:nvGraphicFramePr>
          <p:cNvPr id="4" name="Espace réservé du contenu 3">
            <a:extLst>
              <a:ext uri="{FF2B5EF4-FFF2-40B4-BE49-F238E27FC236}">
                <a16:creationId xmlns:a16="http://schemas.microsoft.com/office/drawing/2014/main" id="{37405FD1-B670-6AE1-54FF-19F15E7AACAA}"/>
              </a:ext>
            </a:extLst>
          </p:cNvPr>
          <p:cNvGraphicFramePr>
            <a:graphicFrameLocks noGrp="1"/>
          </p:cNvGraphicFramePr>
          <p:nvPr>
            <p:ph idx="1"/>
            <p:extLst>
              <p:ext uri="{D42A27DB-BD31-4B8C-83A1-F6EECF244321}">
                <p14:modId xmlns:p14="http://schemas.microsoft.com/office/powerpoint/2010/main" val="1168795243"/>
              </p:ext>
            </p:extLst>
          </p:nvPr>
        </p:nvGraphicFramePr>
        <p:xfrm>
          <a:off x="646510" y="2615979"/>
          <a:ext cx="10922923" cy="3689408"/>
        </p:xfrm>
        <a:graphic>
          <a:graphicData uri="http://schemas.openxmlformats.org/drawingml/2006/table">
            <a:tbl>
              <a:tblPr firstRow="1" firstCol="1" bandRow="1"/>
              <a:tblGrid>
                <a:gridCol w="4566576">
                  <a:extLst>
                    <a:ext uri="{9D8B030D-6E8A-4147-A177-3AD203B41FA5}">
                      <a16:colId xmlns:a16="http://schemas.microsoft.com/office/drawing/2014/main" val="3016139150"/>
                    </a:ext>
                  </a:extLst>
                </a:gridCol>
                <a:gridCol w="1269631">
                  <a:extLst>
                    <a:ext uri="{9D8B030D-6E8A-4147-A177-3AD203B41FA5}">
                      <a16:colId xmlns:a16="http://schemas.microsoft.com/office/drawing/2014/main" val="1122439863"/>
                    </a:ext>
                  </a:extLst>
                </a:gridCol>
                <a:gridCol w="1277823">
                  <a:extLst>
                    <a:ext uri="{9D8B030D-6E8A-4147-A177-3AD203B41FA5}">
                      <a16:colId xmlns:a16="http://schemas.microsoft.com/office/drawing/2014/main" val="188183105"/>
                    </a:ext>
                  </a:extLst>
                </a:gridCol>
                <a:gridCol w="1269631">
                  <a:extLst>
                    <a:ext uri="{9D8B030D-6E8A-4147-A177-3AD203B41FA5}">
                      <a16:colId xmlns:a16="http://schemas.microsoft.com/office/drawing/2014/main" val="1392250083"/>
                    </a:ext>
                  </a:extLst>
                </a:gridCol>
                <a:gridCol w="1269631">
                  <a:extLst>
                    <a:ext uri="{9D8B030D-6E8A-4147-A177-3AD203B41FA5}">
                      <a16:colId xmlns:a16="http://schemas.microsoft.com/office/drawing/2014/main" val="1577303771"/>
                    </a:ext>
                  </a:extLst>
                </a:gridCol>
                <a:gridCol w="1269631">
                  <a:extLst>
                    <a:ext uri="{9D8B030D-6E8A-4147-A177-3AD203B41FA5}">
                      <a16:colId xmlns:a16="http://schemas.microsoft.com/office/drawing/2014/main" val="4052779364"/>
                    </a:ext>
                  </a:extLst>
                </a:gridCol>
              </a:tblGrid>
              <a:tr h="719698">
                <a:tc>
                  <a:txBody>
                    <a:bodyPr/>
                    <a:lstStyle/>
                    <a:p>
                      <a:pP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9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009658232"/>
                  </a:ext>
                </a:extLst>
              </a:tr>
              <a:tr h="664714">
                <a:tc>
                  <a:txBody>
                    <a:bodyPr/>
                    <a:lstStyle/>
                    <a:p>
                      <a:pPr>
                        <a:lnSpc>
                          <a:spcPct val="115000"/>
                        </a:lnSpc>
                        <a:spcAft>
                          <a:spcPts val="800"/>
                        </a:spcAft>
                        <a:buNone/>
                      </a:pP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a:t>
                      </a:r>
                      <a:r>
                        <a:rPr lang="fr-FR" sz="1800" kern="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du</a:t>
                      </a: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personnel chargé de vaccination dans l'ESS</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78143274"/>
                  </a:ext>
                </a:extLst>
              </a:tr>
              <a:tr h="664714">
                <a:tc>
                  <a:txBody>
                    <a:bodyPr/>
                    <a:lstStyle/>
                    <a:p>
                      <a:pPr>
                        <a:lnSpc>
                          <a:spcPct val="115000"/>
                        </a:lnSpc>
                        <a:spcAft>
                          <a:spcPts val="800"/>
                        </a:spcAft>
                        <a:buNone/>
                      </a:pP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a:t>
                      </a:r>
                      <a:r>
                        <a:rPr lang="fr-FR" sz="1800" kern="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du</a:t>
                      </a:r>
                      <a:r>
                        <a:rPr lang="fr-FR" sz="18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personnel qualifié parmi ceux chargés de vaccination</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6372257"/>
                  </a:ext>
                </a:extLst>
              </a:tr>
              <a:tr h="664714">
                <a:tc>
                  <a:txBody>
                    <a:bodyPr/>
                    <a:lstStyle/>
                    <a:p>
                      <a:pP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26926337"/>
                  </a:ext>
                </a:extLst>
              </a:tr>
              <a:tr h="975568">
                <a:tc>
                  <a:txBody>
                    <a:bodyPr/>
                    <a:lstStyle/>
                    <a:p>
                      <a:pP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et/ou formé/briefé/accompagné lors d'une séance de vaccination dans l'ESS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67,3%</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68,0%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8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70,8%</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1673" marR="71673"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72261462"/>
                  </a:ext>
                </a:extLst>
              </a:tr>
            </a:tbl>
          </a:graphicData>
        </a:graphic>
      </p:graphicFrame>
    </p:spTree>
    <p:extLst>
      <p:ext uri="{BB962C8B-B14F-4D97-AF65-F5344CB8AC3E}">
        <p14:creationId xmlns:p14="http://schemas.microsoft.com/office/powerpoint/2010/main" val="2939000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A5789FC-5BDA-B42E-A07A-1FF3698D1FB2}"/>
              </a:ext>
            </a:extLst>
          </p:cNvPr>
          <p:cNvSpPr>
            <a:spLocks noGrp="1"/>
          </p:cNvSpPr>
          <p:nvPr>
            <p:ph type="title"/>
          </p:nvPr>
        </p:nvSpPr>
        <p:spPr>
          <a:xfrm>
            <a:off x="1371597" y="348865"/>
            <a:ext cx="10044023" cy="877729"/>
          </a:xfrm>
        </p:spPr>
        <p:txBody>
          <a:bodyPr anchor="ctr">
            <a:normAutofit/>
          </a:bodyPr>
          <a:lstStyle/>
          <a:p>
            <a:r>
              <a:rPr lang="fr-FR" sz="3100">
                <a:solidFill>
                  <a:srgbClr val="FFFFFF"/>
                </a:solidFill>
              </a:rPr>
              <a:t>Disponibilité des ressources humaines selon les milieux de vie</a:t>
            </a:r>
          </a:p>
        </p:txBody>
      </p:sp>
      <p:graphicFrame>
        <p:nvGraphicFramePr>
          <p:cNvPr id="4" name="Espace réservé du contenu 3">
            <a:extLst>
              <a:ext uri="{FF2B5EF4-FFF2-40B4-BE49-F238E27FC236}">
                <a16:creationId xmlns:a16="http://schemas.microsoft.com/office/drawing/2014/main" id="{B4AE2388-D3B0-8801-358B-8A5784B1D386}"/>
              </a:ext>
            </a:extLst>
          </p:cNvPr>
          <p:cNvGraphicFramePr>
            <a:graphicFrameLocks noGrp="1"/>
          </p:cNvGraphicFramePr>
          <p:nvPr>
            <p:ph idx="1"/>
            <p:extLst>
              <p:ext uri="{D42A27DB-BD31-4B8C-83A1-F6EECF244321}">
                <p14:modId xmlns:p14="http://schemas.microsoft.com/office/powerpoint/2010/main" val="1913431457"/>
              </p:ext>
            </p:extLst>
          </p:nvPr>
        </p:nvGraphicFramePr>
        <p:xfrm>
          <a:off x="644056" y="2255458"/>
          <a:ext cx="10927833" cy="3907052"/>
        </p:xfrm>
        <a:graphic>
          <a:graphicData uri="http://schemas.openxmlformats.org/drawingml/2006/table">
            <a:tbl>
              <a:tblPr firstRow="1" firstCol="1" bandRow="1"/>
              <a:tblGrid>
                <a:gridCol w="3068002">
                  <a:extLst>
                    <a:ext uri="{9D8B030D-6E8A-4147-A177-3AD203B41FA5}">
                      <a16:colId xmlns:a16="http://schemas.microsoft.com/office/drawing/2014/main" val="3048568933"/>
                    </a:ext>
                  </a:extLst>
                </a:gridCol>
                <a:gridCol w="735869">
                  <a:extLst>
                    <a:ext uri="{9D8B030D-6E8A-4147-A177-3AD203B41FA5}">
                      <a16:colId xmlns:a16="http://schemas.microsoft.com/office/drawing/2014/main" val="3502989138"/>
                    </a:ext>
                  </a:extLst>
                </a:gridCol>
                <a:gridCol w="790106">
                  <a:extLst>
                    <a:ext uri="{9D8B030D-6E8A-4147-A177-3AD203B41FA5}">
                      <a16:colId xmlns:a16="http://schemas.microsoft.com/office/drawing/2014/main" val="1867253053"/>
                    </a:ext>
                  </a:extLst>
                </a:gridCol>
                <a:gridCol w="848679">
                  <a:extLst>
                    <a:ext uri="{9D8B030D-6E8A-4147-A177-3AD203B41FA5}">
                      <a16:colId xmlns:a16="http://schemas.microsoft.com/office/drawing/2014/main" val="1178228179"/>
                    </a:ext>
                  </a:extLst>
                </a:gridCol>
                <a:gridCol w="735869">
                  <a:extLst>
                    <a:ext uri="{9D8B030D-6E8A-4147-A177-3AD203B41FA5}">
                      <a16:colId xmlns:a16="http://schemas.microsoft.com/office/drawing/2014/main" val="1772850168"/>
                    </a:ext>
                  </a:extLst>
                </a:gridCol>
                <a:gridCol w="790106">
                  <a:extLst>
                    <a:ext uri="{9D8B030D-6E8A-4147-A177-3AD203B41FA5}">
                      <a16:colId xmlns:a16="http://schemas.microsoft.com/office/drawing/2014/main" val="2843178468"/>
                    </a:ext>
                  </a:extLst>
                </a:gridCol>
                <a:gridCol w="735869">
                  <a:extLst>
                    <a:ext uri="{9D8B030D-6E8A-4147-A177-3AD203B41FA5}">
                      <a16:colId xmlns:a16="http://schemas.microsoft.com/office/drawing/2014/main" val="740125842"/>
                    </a:ext>
                  </a:extLst>
                </a:gridCol>
                <a:gridCol w="848679">
                  <a:extLst>
                    <a:ext uri="{9D8B030D-6E8A-4147-A177-3AD203B41FA5}">
                      <a16:colId xmlns:a16="http://schemas.microsoft.com/office/drawing/2014/main" val="1807412946"/>
                    </a:ext>
                  </a:extLst>
                </a:gridCol>
                <a:gridCol w="735869">
                  <a:extLst>
                    <a:ext uri="{9D8B030D-6E8A-4147-A177-3AD203B41FA5}">
                      <a16:colId xmlns:a16="http://schemas.microsoft.com/office/drawing/2014/main" val="769213993"/>
                    </a:ext>
                  </a:extLst>
                </a:gridCol>
                <a:gridCol w="790106">
                  <a:extLst>
                    <a:ext uri="{9D8B030D-6E8A-4147-A177-3AD203B41FA5}">
                      <a16:colId xmlns:a16="http://schemas.microsoft.com/office/drawing/2014/main" val="3258889828"/>
                    </a:ext>
                  </a:extLst>
                </a:gridCol>
                <a:gridCol w="848679">
                  <a:extLst>
                    <a:ext uri="{9D8B030D-6E8A-4147-A177-3AD203B41FA5}">
                      <a16:colId xmlns:a16="http://schemas.microsoft.com/office/drawing/2014/main" val="2603647574"/>
                    </a:ext>
                  </a:extLst>
                </a:gridCol>
              </a:tblGrid>
              <a:tr h="299902">
                <a:tc rowSpan="2">
                  <a:txBody>
                    <a:bodyPr/>
                    <a:lstStyle/>
                    <a:p>
                      <a:pP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gridSpan="3">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hMerge="1">
                  <a:txBody>
                    <a:bodyPr/>
                    <a:lstStyle/>
                    <a:p>
                      <a:endParaRPr lang="fr-FR"/>
                    </a:p>
                  </a:txBody>
                  <a:tcPr/>
                </a:tc>
                <a:tc gridSpan="2">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3">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240854916"/>
                  </a:ext>
                </a:extLst>
              </a:tr>
              <a:tr h="563357">
                <a:tc vMerge="1">
                  <a:txBody>
                    <a:bodyPr/>
                    <a:lstStyle/>
                    <a:p>
                      <a:endParaRPr lang="fr-FR"/>
                    </a:p>
                  </a:txBody>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Rural</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Urbain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Urbano Rurale</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38251412"/>
                  </a:ext>
                </a:extLst>
              </a:tr>
              <a:tr h="563357">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de personnel chargé de vaccination dans l'ESS</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3,9</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06265844"/>
                  </a:ext>
                </a:extLst>
              </a:tr>
              <a:tr h="563357">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de personnel qualifié parmi ceux chargés de vaccination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45653722"/>
                  </a:ext>
                </a:extLst>
              </a:tr>
              <a:tr h="826812">
                <a:tc>
                  <a:txBody>
                    <a:bodyPr/>
                    <a:lstStyle/>
                    <a:p>
                      <a:pP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5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47542495"/>
                  </a:ext>
                </a:extLst>
              </a:tr>
              <a:tr h="1090267">
                <a:tc>
                  <a:txBody>
                    <a:bodyPr/>
                    <a:lstStyle/>
                    <a:p>
                      <a:pP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 formé/briefé/accompagné lors d'une séance de vaccination dans l'ESS</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53,1%</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77,3%</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90,8%</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69,7%</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85,0%</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62,5%</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72,6%</a:t>
                      </a:r>
                      <a:endParaRPr lang="fr-FR" sz="1600" kern="10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5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70,9%</a:t>
                      </a:r>
                      <a:endParaRPr lang="fr-F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744" marR="6074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096506700"/>
                  </a:ext>
                </a:extLst>
              </a:tr>
            </a:tbl>
          </a:graphicData>
        </a:graphic>
      </p:graphicFrame>
    </p:spTree>
    <p:extLst>
      <p:ext uri="{BB962C8B-B14F-4D97-AF65-F5344CB8AC3E}">
        <p14:creationId xmlns:p14="http://schemas.microsoft.com/office/powerpoint/2010/main" val="14859247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89CEF6A-4974-F61D-7517-13F1A804648C}"/>
              </a:ext>
            </a:extLst>
          </p:cNvPr>
          <p:cNvSpPr>
            <a:spLocks noGrp="1"/>
          </p:cNvSpPr>
          <p:nvPr>
            <p:ph type="title"/>
          </p:nvPr>
        </p:nvSpPr>
        <p:spPr>
          <a:xfrm>
            <a:off x="1371597" y="348865"/>
            <a:ext cx="10044023" cy="877729"/>
          </a:xfrm>
        </p:spPr>
        <p:txBody>
          <a:bodyPr anchor="ctr">
            <a:normAutofit/>
          </a:bodyPr>
          <a:lstStyle/>
          <a:p>
            <a:r>
              <a:rPr lang="fr-FR" sz="3100">
                <a:solidFill>
                  <a:srgbClr val="FFFFFF"/>
                </a:solidFill>
              </a:rPr>
              <a:t>Disponibilité des ressources humaines selon les appuis FAE</a:t>
            </a:r>
          </a:p>
        </p:txBody>
      </p:sp>
      <p:graphicFrame>
        <p:nvGraphicFramePr>
          <p:cNvPr id="4" name="Espace réservé du contenu 3">
            <a:extLst>
              <a:ext uri="{FF2B5EF4-FFF2-40B4-BE49-F238E27FC236}">
                <a16:creationId xmlns:a16="http://schemas.microsoft.com/office/drawing/2014/main" id="{073DD7F2-37BA-D2E1-0835-5A849966F62C}"/>
              </a:ext>
            </a:extLst>
          </p:cNvPr>
          <p:cNvGraphicFramePr>
            <a:graphicFrameLocks noGrp="1"/>
          </p:cNvGraphicFramePr>
          <p:nvPr>
            <p:ph idx="1"/>
            <p:extLst>
              <p:ext uri="{D42A27DB-BD31-4B8C-83A1-F6EECF244321}">
                <p14:modId xmlns:p14="http://schemas.microsoft.com/office/powerpoint/2010/main" val="2273861481"/>
              </p:ext>
            </p:extLst>
          </p:nvPr>
        </p:nvGraphicFramePr>
        <p:xfrm>
          <a:off x="644056" y="2505419"/>
          <a:ext cx="10927833" cy="3407130"/>
        </p:xfrm>
        <a:graphic>
          <a:graphicData uri="http://schemas.openxmlformats.org/drawingml/2006/table">
            <a:tbl>
              <a:tblPr firstRow="1" firstCol="1" bandRow="1"/>
              <a:tblGrid>
                <a:gridCol w="4492273">
                  <a:extLst>
                    <a:ext uri="{9D8B030D-6E8A-4147-A177-3AD203B41FA5}">
                      <a16:colId xmlns:a16="http://schemas.microsoft.com/office/drawing/2014/main" val="267683849"/>
                    </a:ext>
                  </a:extLst>
                </a:gridCol>
                <a:gridCol w="804445">
                  <a:extLst>
                    <a:ext uri="{9D8B030D-6E8A-4147-A177-3AD203B41FA5}">
                      <a16:colId xmlns:a16="http://schemas.microsoft.com/office/drawing/2014/main" val="2660064507"/>
                    </a:ext>
                  </a:extLst>
                </a:gridCol>
                <a:gridCol w="804445">
                  <a:extLst>
                    <a:ext uri="{9D8B030D-6E8A-4147-A177-3AD203B41FA5}">
                      <a16:colId xmlns:a16="http://schemas.microsoft.com/office/drawing/2014/main" val="638476505"/>
                    </a:ext>
                  </a:extLst>
                </a:gridCol>
                <a:gridCol w="804445">
                  <a:extLst>
                    <a:ext uri="{9D8B030D-6E8A-4147-A177-3AD203B41FA5}">
                      <a16:colId xmlns:a16="http://schemas.microsoft.com/office/drawing/2014/main" val="2170159408"/>
                    </a:ext>
                  </a:extLst>
                </a:gridCol>
                <a:gridCol w="804445">
                  <a:extLst>
                    <a:ext uri="{9D8B030D-6E8A-4147-A177-3AD203B41FA5}">
                      <a16:colId xmlns:a16="http://schemas.microsoft.com/office/drawing/2014/main" val="536932597"/>
                    </a:ext>
                  </a:extLst>
                </a:gridCol>
                <a:gridCol w="804445">
                  <a:extLst>
                    <a:ext uri="{9D8B030D-6E8A-4147-A177-3AD203B41FA5}">
                      <a16:colId xmlns:a16="http://schemas.microsoft.com/office/drawing/2014/main" val="2392553053"/>
                    </a:ext>
                  </a:extLst>
                </a:gridCol>
                <a:gridCol w="804445">
                  <a:extLst>
                    <a:ext uri="{9D8B030D-6E8A-4147-A177-3AD203B41FA5}">
                      <a16:colId xmlns:a16="http://schemas.microsoft.com/office/drawing/2014/main" val="2933557966"/>
                    </a:ext>
                  </a:extLst>
                </a:gridCol>
                <a:gridCol w="804445">
                  <a:extLst>
                    <a:ext uri="{9D8B030D-6E8A-4147-A177-3AD203B41FA5}">
                      <a16:colId xmlns:a16="http://schemas.microsoft.com/office/drawing/2014/main" val="3214130542"/>
                    </a:ext>
                  </a:extLst>
                </a:gridCol>
                <a:gridCol w="804445">
                  <a:extLst>
                    <a:ext uri="{9D8B030D-6E8A-4147-A177-3AD203B41FA5}">
                      <a16:colId xmlns:a16="http://schemas.microsoft.com/office/drawing/2014/main" val="270118871"/>
                    </a:ext>
                  </a:extLst>
                </a:gridCol>
              </a:tblGrid>
              <a:tr h="327850">
                <a:tc rowSpan="2">
                  <a:txBody>
                    <a:bodyPr/>
                    <a:lstStyle/>
                    <a:p>
                      <a:pP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tc gridSpan="2">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hMerge="1">
                  <a:txBody>
                    <a:bodyPr/>
                    <a:lstStyle/>
                    <a:p>
                      <a:endParaRPr lang="fr-FR"/>
                    </a:p>
                  </a:txBody>
                  <a:tcPr/>
                </a:tc>
                <a:extLst>
                  <a:ext uri="{0D108BD9-81ED-4DB2-BD59-A6C34878D82A}">
                    <a16:rowId xmlns:a16="http://schemas.microsoft.com/office/drawing/2014/main" val="3736659526"/>
                  </a:ext>
                </a:extLst>
              </a:tr>
              <a:tr h="327850">
                <a:tc vMerge="1">
                  <a:txBody>
                    <a:bodyPr/>
                    <a:lstStyle/>
                    <a:p>
                      <a:endParaRPr lang="fr-FR"/>
                    </a:p>
                  </a:txBody>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Oui</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818341031"/>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total de personnel chargé de vaccination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72474390"/>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de personnel qualifié parmi ceux chargés de vaccination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13158019"/>
                  </a:ext>
                </a:extLst>
              </a:tr>
              <a:tr h="615856">
                <a:tc>
                  <a:txBody>
                    <a:bodyPr/>
                    <a:lstStyle/>
                    <a:p>
                      <a:pP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Nombre moyen personnel qualifié et formé/briefé/accompagné en vaccination</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21526590"/>
                  </a:ext>
                </a:extLst>
              </a:tr>
              <a:tr h="903862">
                <a:tc>
                  <a:txBody>
                    <a:bodyPr/>
                    <a:lstStyle/>
                    <a:p>
                      <a:pP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Présence d'au moins un personnel qualifié et formé/briefé/accompagné lors d'une séance de vaccination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34,3%</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6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6405" marR="6640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931455093"/>
                  </a:ext>
                </a:extLst>
              </a:tr>
            </a:tbl>
          </a:graphicData>
        </a:graphic>
      </p:graphicFrame>
    </p:spTree>
    <p:extLst>
      <p:ext uri="{BB962C8B-B14F-4D97-AF65-F5344CB8AC3E}">
        <p14:creationId xmlns:p14="http://schemas.microsoft.com/office/powerpoint/2010/main" val="3753845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89DA00A-8F41-6DD5-74AA-F3DFCF0C2C15}"/>
              </a:ext>
            </a:extLst>
          </p:cNvPr>
          <p:cNvSpPr>
            <a:spLocks noGrp="1"/>
          </p:cNvSpPr>
          <p:nvPr>
            <p:ph type="title"/>
          </p:nvPr>
        </p:nvSpPr>
        <p:spPr>
          <a:xfrm>
            <a:off x="921458" y="197727"/>
            <a:ext cx="10509504" cy="347145"/>
          </a:xfrm>
        </p:spPr>
        <p:txBody>
          <a:bodyPr anchor="ctr">
            <a:noAutofit/>
          </a:bodyPr>
          <a:lstStyle/>
          <a:p>
            <a:r>
              <a:rPr lang="fr-FR" sz="2000" dirty="0"/>
              <a:t>Tableau synthèse des verbatims : Disponibilité et gestion des ressources humaines en vaccination</a:t>
            </a:r>
          </a:p>
        </p:txBody>
      </p:sp>
      <p:sp>
        <p:nvSpPr>
          <p:cNvPr id="18" name="Rectangle 17">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Espace réservé du contenu 3">
            <a:extLst>
              <a:ext uri="{FF2B5EF4-FFF2-40B4-BE49-F238E27FC236}">
                <a16:creationId xmlns:a16="http://schemas.microsoft.com/office/drawing/2014/main" id="{8049CA81-4FD8-143F-F44E-18E9146EF9D5}"/>
              </a:ext>
            </a:extLst>
          </p:cNvPr>
          <p:cNvGraphicFramePr>
            <a:graphicFrameLocks noGrp="1"/>
          </p:cNvGraphicFramePr>
          <p:nvPr>
            <p:ph idx="1"/>
            <p:extLst>
              <p:ext uri="{D42A27DB-BD31-4B8C-83A1-F6EECF244321}">
                <p14:modId xmlns:p14="http://schemas.microsoft.com/office/powerpoint/2010/main" val="21719275"/>
              </p:ext>
            </p:extLst>
          </p:nvPr>
        </p:nvGraphicFramePr>
        <p:xfrm>
          <a:off x="435624" y="554807"/>
          <a:ext cx="11317704" cy="6051196"/>
        </p:xfrm>
        <a:graphic>
          <a:graphicData uri="http://schemas.openxmlformats.org/drawingml/2006/table">
            <a:tbl>
              <a:tblPr firstRow="1" firstCol="1" bandRow="1"/>
              <a:tblGrid>
                <a:gridCol w="2644854">
                  <a:extLst>
                    <a:ext uri="{9D8B030D-6E8A-4147-A177-3AD203B41FA5}">
                      <a16:colId xmlns:a16="http://schemas.microsoft.com/office/drawing/2014/main" val="3130736234"/>
                    </a:ext>
                  </a:extLst>
                </a:gridCol>
                <a:gridCol w="2903734">
                  <a:extLst>
                    <a:ext uri="{9D8B030D-6E8A-4147-A177-3AD203B41FA5}">
                      <a16:colId xmlns:a16="http://schemas.microsoft.com/office/drawing/2014/main" val="4266114648"/>
                    </a:ext>
                  </a:extLst>
                </a:gridCol>
                <a:gridCol w="1507974">
                  <a:extLst>
                    <a:ext uri="{9D8B030D-6E8A-4147-A177-3AD203B41FA5}">
                      <a16:colId xmlns:a16="http://schemas.microsoft.com/office/drawing/2014/main" val="276266504"/>
                    </a:ext>
                  </a:extLst>
                </a:gridCol>
                <a:gridCol w="4261142">
                  <a:extLst>
                    <a:ext uri="{9D8B030D-6E8A-4147-A177-3AD203B41FA5}">
                      <a16:colId xmlns:a16="http://schemas.microsoft.com/office/drawing/2014/main" val="1606509660"/>
                    </a:ext>
                  </a:extLst>
                </a:gridCol>
              </a:tblGrid>
              <a:tr h="1535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09353472"/>
                  </a:ext>
                </a:extLst>
              </a:tr>
              <a:tr h="82538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Insuffisance de personnel dédié à la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 seul infirmier polyvalent pour tout le paquet d’activités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relève pendant les pics de charge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annulées ou reportées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RECO, Pères,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déficit quantitatif de personnel est un obstacle majeur. Il est particulièrement aigu dans les zones rurales, où un personnel réduit doit gérer simultanément la curative, la maternité et la vaccination. Cela diminue la régularité et la qualité des services, créant une surcharge chronique et affectant la performance du PEV.</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24275103"/>
                  </a:ext>
                </a:extLst>
              </a:tr>
              <a:tr h="79963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formation continue et initiale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d’agents formés au PEV</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briefings lors des affectations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maîtrise des protocoles vaccinaux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ECP,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majorité des prestataires en charge de la vaccination n’ont pas bénéficié de formations récentes. Le problème réside à la fois dans la qualité de la formation initiale et dans l’insuffisance des mises à jour. Cela engendre des erreurs pratiques, une faible capacité de sensibilisation, et une perte de crédibilité auprès des communautés.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86001503"/>
                  </a:ext>
                </a:extLst>
              </a:tr>
              <a:tr h="63811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Turn-over élevé et absence de remplacement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formés souvent mutés ou absents sans relève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Suspension des séances dans certains cas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de mécanismes de remplacement rend les acquis fragiles. Cela fragilise aussi les effets des investissements en renforcement de capacités. Les zones de santé ne disposent pas toujours de personnel de réserve pour prendre le relais en cas de mutation ou congé.</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9176658"/>
                  </a:ext>
                </a:extLst>
              </a:tr>
              <a:tr h="82538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Motivation faible et dépendance aux primes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reconnaissance institutionnelle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Motivation centrée sur les primes pendant les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Désengagement hors des activités financées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IT,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motivation est conditionnelle. En l’absence de motivation financière (per diem, primes de campagne), la disponibilité du personnel est compromise. Cette situation crée une routine « sous régime », où seuls les moments de financement ponctuel permettent une performance acceptable.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16479067"/>
                  </a:ext>
                </a:extLst>
              </a:tr>
              <a:tr h="66386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Supervision formative limitée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carburant pour les supervisions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Erreurs non corrigées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isolés sans accompagnement technique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PTF,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déficit de supervision ne permet pas de corriger les erreurs techniques, ni de soutenir les agents dans leur travail quotidien. Cela engendre une routine non conforme aux normes, et un sentiment d’abandon chez les prestataires.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54881358"/>
                  </a:ext>
                </a:extLst>
              </a:tr>
              <a:tr h="66386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intégration des RECO dans les stratégies vaccinales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Mobilisés sans coordination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informés des plannings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Non associés aux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relais communautaires sont souvent marginalisés dans la stratégie vaccinale alors qu’ils pourraient jouer un rôle clé dans la mobilisation et le soutien logistique. Leur meilleure intégration permettrait de compenser le manque de personnel soignant, à condition qu’ils soient encadrés.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5277800"/>
                  </a:ext>
                </a:extLst>
              </a:tr>
              <a:tr h="79963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comportement et d’accueil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Fatigue du personnel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Retards dans les séances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Attitudes négatives perçues par les usagers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aspects nuisent à la confiance des familles et à la fréquentation des services. Même lorsque le personnel est présent, la surcharge de travail et la démotivation peuvent affecter l’expérience vécue par les parents. Ce facteur, souvent négligé, influence directement l’adhésion aux services de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07652805"/>
                  </a:ext>
                </a:extLst>
              </a:tr>
              <a:tr h="67041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planification RH au niveau provincial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Formations irrégulières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vision à long terme sur les besoins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Inégalités entre zones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problème est aussi structurel : la planification des ressources humaines n’est pas systématique. Les formations ne sont ni planifiées ni adaptées aux besoins spécifiques des zones. Le renforcement de capacités reste réactif et non anticipé.</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018" marR="1601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3159815"/>
                  </a:ext>
                </a:extLst>
              </a:tr>
            </a:tbl>
          </a:graphicData>
        </a:graphic>
      </p:graphicFrame>
    </p:spTree>
    <p:extLst>
      <p:ext uri="{BB962C8B-B14F-4D97-AF65-F5344CB8AC3E}">
        <p14:creationId xmlns:p14="http://schemas.microsoft.com/office/powerpoint/2010/main" val="1896072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05A3D7B-139C-C9AB-5226-67DADB16063D}"/>
              </a:ext>
            </a:extLst>
          </p:cNvPr>
          <p:cNvSpPr>
            <a:spLocks noGrp="1"/>
          </p:cNvSpPr>
          <p:nvPr>
            <p:ph type="title"/>
          </p:nvPr>
        </p:nvSpPr>
        <p:spPr>
          <a:xfrm>
            <a:off x="1043631" y="809898"/>
            <a:ext cx="10173010" cy="1554480"/>
          </a:xfrm>
        </p:spPr>
        <p:txBody>
          <a:bodyPr anchor="ctr">
            <a:normAutofit/>
          </a:bodyPr>
          <a:lstStyle/>
          <a:p>
            <a:r>
              <a:rPr lang="fr-FR" sz="4800"/>
              <a:t>Accessibilité géographique aux ESS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Espace réservé du contenu 3">
            <a:extLst>
              <a:ext uri="{FF2B5EF4-FFF2-40B4-BE49-F238E27FC236}">
                <a16:creationId xmlns:a16="http://schemas.microsoft.com/office/drawing/2014/main" id="{B8CF9BE4-81A2-A09C-CF51-3F7B9D659796}"/>
              </a:ext>
            </a:extLst>
          </p:cNvPr>
          <p:cNvGraphicFramePr>
            <a:graphicFrameLocks noGrp="1"/>
          </p:cNvGraphicFramePr>
          <p:nvPr>
            <p:ph idx="1"/>
            <p:extLst>
              <p:ext uri="{D42A27DB-BD31-4B8C-83A1-F6EECF244321}">
                <p14:modId xmlns:p14="http://schemas.microsoft.com/office/powerpoint/2010/main" val="1089197988"/>
              </p:ext>
            </p:extLst>
          </p:nvPr>
        </p:nvGraphicFramePr>
        <p:xfrm>
          <a:off x="904602" y="3263892"/>
          <a:ext cx="10378444" cy="2717159"/>
        </p:xfrm>
        <a:graphic>
          <a:graphicData uri="http://schemas.openxmlformats.org/drawingml/2006/table">
            <a:tbl>
              <a:tblPr firstRow="1" firstCol="1" bandRow="1"/>
              <a:tblGrid>
                <a:gridCol w="4191294">
                  <a:extLst>
                    <a:ext uri="{9D8B030D-6E8A-4147-A177-3AD203B41FA5}">
                      <a16:colId xmlns:a16="http://schemas.microsoft.com/office/drawing/2014/main" val="843107277"/>
                    </a:ext>
                  </a:extLst>
                </a:gridCol>
                <a:gridCol w="1237430">
                  <a:extLst>
                    <a:ext uri="{9D8B030D-6E8A-4147-A177-3AD203B41FA5}">
                      <a16:colId xmlns:a16="http://schemas.microsoft.com/office/drawing/2014/main" val="1621311885"/>
                    </a:ext>
                  </a:extLst>
                </a:gridCol>
                <a:gridCol w="1237430">
                  <a:extLst>
                    <a:ext uri="{9D8B030D-6E8A-4147-A177-3AD203B41FA5}">
                      <a16:colId xmlns:a16="http://schemas.microsoft.com/office/drawing/2014/main" val="1092096012"/>
                    </a:ext>
                  </a:extLst>
                </a:gridCol>
                <a:gridCol w="1237430">
                  <a:extLst>
                    <a:ext uri="{9D8B030D-6E8A-4147-A177-3AD203B41FA5}">
                      <a16:colId xmlns:a16="http://schemas.microsoft.com/office/drawing/2014/main" val="354268401"/>
                    </a:ext>
                  </a:extLst>
                </a:gridCol>
                <a:gridCol w="1237430">
                  <a:extLst>
                    <a:ext uri="{9D8B030D-6E8A-4147-A177-3AD203B41FA5}">
                      <a16:colId xmlns:a16="http://schemas.microsoft.com/office/drawing/2014/main" val="108036747"/>
                    </a:ext>
                  </a:extLst>
                </a:gridCol>
                <a:gridCol w="1237430">
                  <a:extLst>
                    <a:ext uri="{9D8B030D-6E8A-4147-A177-3AD203B41FA5}">
                      <a16:colId xmlns:a16="http://schemas.microsoft.com/office/drawing/2014/main" val="2052574719"/>
                    </a:ext>
                  </a:extLst>
                </a:gridCol>
              </a:tblGrid>
              <a:tr h="647855">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Temps pour arriver à l'ESS la plus proche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177680232"/>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de 30 minutes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65,8%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60,4%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54,8%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13853584"/>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30 minutes et 1 heure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27432015"/>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1 heure et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02652224"/>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Plus de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68885398"/>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Ne sait pas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0761193"/>
                  </a:ext>
                </a:extLst>
              </a:tr>
              <a:tr h="344884">
                <a:tc>
                  <a:txBody>
                    <a:bodyPr/>
                    <a:lstStyle/>
                    <a:p>
                      <a:pPr>
                        <a:lnSpc>
                          <a:spcPct val="115000"/>
                        </a:lnSpc>
                        <a:spcAft>
                          <a:spcPts val="800"/>
                        </a:spcAft>
                        <a:buNone/>
                      </a:pPr>
                      <a:r>
                        <a:rPr lang="fr-FR" sz="17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d'1 heure </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82,5%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89,3%</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85,2%</a:t>
                      </a:r>
                      <a:endParaRPr lang="fr-FR" sz="1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7585168"/>
                  </a:ext>
                </a:extLst>
              </a:tr>
            </a:tbl>
          </a:graphicData>
        </a:graphic>
      </p:graphicFrame>
    </p:spTree>
    <p:extLst>
      <p:ext uri="{BB962C8B-B14F-4D97-AF65-F5344CB8AC3E}">
        <p14:creationId xmlns:p14="http://schemas.microsoft.com/office/powerpoint/2010/main" val="1729427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00762AD-5A79-DA3F-14AC-811248AC2624}"/>
              </a:ext>
            </a:extLst>
          </p:cNvPr>
          <p:cNvSpPr>
            <a:spLocks noGrp="1"/>
          </p:cNvSpPr>
          <p:nvPr>
            <p:ph type="title"/>
          </p:nvPr>
        </p:nvSpPr>
        <p:spPr>
          <a:xfrm>
            <a:off x="1043631" y="809898"/>
            <a:ext cx="10173010" cy="1554480"/>
          </a:xfrm>
        </p:spPr>
        <p:txBody>
          <a:bodyPr anchor="ctr">
            <a:normAutofit/>
          </a:bodyPr>
          <a:lstStyle/>
          <a:p>
            <a:r>
              <a:rPr lang="fr-FR" sz="4800"/>
              <a:t>Accessibilité géographique aux ESS avec service de vaccination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Espace réservé du contenu 3">
            <a:extLst>
              <a:ext uri="{FF2B5EF4-FFF2-40B4-BE49-F238E27FC236}">
                <a16:creationId xmlns:a16="http://schemas.microsoft.com/office/drawing/2014/main" id="{0D4FC6FE-D9CB-B9A5-BFC3-17D858FA881D}"/>
              </a:ext>
            </a:extLst>
          </p:cNvPr>
          <p:cNvGraphicFramePr>
            <a:graphicFrameLocks noGrp="1"/>
          </p:cNvGraphicFramePr>
          <p:nvPr>
            <p:ph idx="1"/>
            <p:extLst>
              <p:ext uri="{D42A27DB-BD31-4B8C-83A1-F6EECF244321}">
                <p14:modId xmlns:p14="http://schemas.microsoft.com/office/powerpoint/2010/main" val="2831929129"/>
              </p:ext>
            </p:extLst>
          </p:nvPr>
        </p:nvGraphicFramePr>
        <p:xfrm>
          <a:off x="904602" y="3263892"/>
          <a:ext cx="10378444" cy="2717159"/>
        </p:xfrm>
        <a:graphic>
          <a:graphicData uri="http://schemas.openxmlformats.org/drawingml/2006/table">
            <a:tbl>
              <a:tblPr firstRow="1" firstCol="1" bandRow="1"/>
              <a:tblGrid>
                <a:gridCol w="4191294">
                  <a:extLst>
                    <a:ext uri="{9D8B030D-6E8A-4147-A177-3AD203B41FA5}">
                      <a16:colId xmlns:a16="http://schemas.microsoft.com/office/drawing/2014/main" val="3643534533"/>
                    </a:ext>
                  </a:extLst>
                </a:gridCol>
                <a:gridCol w="1237430">
                  <a:extLst>
                    <a:ext uri="{9D8B030D-6E8A-4147-A177-3AD203B41FA5}">
                      <a16:colId xmlns:a16="http://schemas.microsoft.com/office/drawing/2014/main" val="61799114"/>
                    </a:ext>
                  </a:extLst>
                </a:gridCol>
                <a:gridCol w="1237430">
                  <a:extLst>
                    <a:ext uri="{9D8B030D-6E8A-4147-A177-3AD203B41FA5}">
                      <a16:colId xmlns:a16="http://schemas.microsoft.com/office/drawing/2014/main" val="3606439268"/>
                    </a:ext>
                  </a:extLst>
                </a:gridCol>
                <a:gridCol w="1237430">
                  <a:extLst>
                    <a:ext uri="{9D8B030D-6E8A-4147-A177-3AD203B41FA5}">
                      <a16:colId xmlns:a16="http://schemas.microsoft.com/office/drawing/2014/main" val="732565175"/>
                    </a:ext>
                  </a:extLst>
                </a:gridCol>
                <a:gridCol w="1237430">
                  <a:extLst>
                    <a:ext uri="{9D8B030D-6E8A-4147-A177-3AD203B41FA5}">
                      <a16:colId xmlns:a16="http://schemas.microsoft.com/office/drawing/2014/main" val="3255707770"/>
                    </a:ext>
                  </a:extLst>
                </a:gridCol>
                <a:gridCol w="1237430">
                  <a:extLst>
                    <a:ext uri="{9D8B030D-6E8A-4147-A177-3AD203B41FA5}">
                      <a16:colId xmlns:a16="http://schemas.microsoft.com/office/drawing/2014/main" val="941712353"/>
                    </a:ext>
                  </a:extLst>
                </a:gridCol>
              </a:tblGrid>
              <a:tr h="647855">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Temps pour arriver à l'ESS avec offre des services de vaccination la plus proche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605875680"/>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de 30 minutes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65,8%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54,9%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564691189"/>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30 minutes et 1 heure</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11089566"/>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Entre 1 heure et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14,4%</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11354646"/>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Plus de 2 heures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99263201"/>
                  </a:ext>
                </a:extLst>
              </a:tr>
              <a:tr h="344884">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Ne sait pas</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8669606"/>
                  </a:ext>
                </a:extLst>
              </a:tr>
              <a:tr h="344884">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Moins d'1 heure </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93,7%</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76,1%</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83,8%</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82,2%</a:t>
                      </a:r>
                      <a:endParaRPr lang="fr-FR" sz="1900" kern="100">
                        <a:effectLst/>
                        <a:latin typeface="Aptos" panose="020B0004020202020204" pitchFamily="34" charset="0"/>
                        <a:ea typeface="Aptos" panose="020B0004020202020204" pitchFamily="34" charset="0"/>
                        <a:cs typeface="Times New Roman" panose="02020603050405020304" pitchFamily="18" charset="0"/>
                      </a:endParaRPr>
                    </a:p>
                  </a:txBody>
                  <a:tcPr marL="69855" marR="6985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85350031"/>
                  </a:ext>
                </a:extLst>
              </a:tr>
            </a:tbl>
          </a:graphicData>
        </a:graphic>
      </p:graphicFrame>
    </p:spTree>
    <p:extLst>
      <p:ext uri="{BB962C8B-B14F-4D97-AF65-F5344CB8AC3E}">
        <p14:creationId xmlns:p14="http://schemas.microsoft.com/office/powerpoint/2010/main" val="3021942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8C6C8B6-B06E-0AA9-9B07-D00268035A5F}"/>
              </a:ext>
            </a:extLst>
          </p:cNvPr>
          <p:cNvSpPr>
            <a:spLocks noGrp="1"/>
          </p:cNvSpPr>
          <p:nvPr>
            <p:ph type="title"/>
          </p:nvPr>
        </p:nvSpPr>
        <p:spPr>
          <a:xfrm>
            <a:off x="1043631" y="809898"/>
            <a:ext cx="10173010" cy="1554480"/>
          </a:xfrm>
        </p:spPr>
        <p:txBody>
          <a:bodyPr anchor="ctr">
            <a:normAutofit/>
          </a:bodyPr>
          <a:lstStyle/>
          <a:p>
            <a:r>
              <a:rPr lang="fr-FR" sz="4800"/>
              <a:t>Existence des obstacles naturels pour accéder au site de vaccination</a:t>
            </a: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Espace réservé du contenu 4">
            <a:extLst>
              <a:ext uri="{FF2B5EF4-FFF2-40B4-BE49-F238E27FC236}">
                <a16:creationId xmlns:a16="http://schemas.microsoft.com/office/drawing/2014/main" id="{499C42AE-878E-6E28-E524-CB53F1264005}"/>
              </a:ext>
            </a:extLst>
          </p:cNvPr>
          <p:cNvGraphicFramePr>
            <a:graphicFrameLocks noGrp="1"/>
          </p:cNvGraphicFramePr>
          <p:nvPr>
            <p:ph idx="1"/>
            <p:extLst>
              <p:ext uri="{D42A27DB-BD31-4B8C-83A1-F6EECF244321}">
                <p14:modId xmlns:p14="http://schemas.microsoft.com/office/powerpoint/2010/main" val="2726205323"/>
              </p:ext>
            </p:extLst>
          </p:nvPr>
        </p:nvGraphicFramePr>
        <p:xfrm>
          <a:off x="942147" y="3017519"/>
          <a:ext cx="10303351" cy="3209907"/>
        </p:xfrm>
        <a:graphic>
          <a:graphicData uri="http://schemas.openxmlformats.org/drawingml/2006/table">
            <a:tbl>
              <a:tblPr firstRow="1" firstCol="1" bandRow="1"/>
              <a:tblGrid>
                <a:gridCol w="4368102">
                  <a:extLst>
                    <a:ext uri="{9D8B030D-6E8A-4147-A177-3AD203B41FA5}">
                      <a16:colId xmlns:a16="http://schemas.microsoft.com/office/drawing/2014/main" val="1237634511"/>
                    </a:ext>
                  </a:extLst>
                </a:gridCol>
                <a:gridCol w="5935249">
                  <a:extLst>
                    <a:ext uri="{9D8B030D-6E8A-4147-A177-3AD203B41FA5}">
                      <a16:colId xmlns:a16="http://schemas.microsoft.com/office/drawing/2014/main" val="1215547031"/>
                    </a:ext>
                  </a:extLst>
                </a:gridCol>
              </a:tblGrid>
              <a:tr h="876607">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Province</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Existence des obstacles naturels pour accéder au site de vaccination</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846251844"/>
                  </a:ext>
                </a:extLst>
              </a:tr>
              <a:tr h="466660">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8,0%</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00180236"/>
                  </a:ext>
                </a:extLst>
              </a:tr>
              <a:tr h="466660">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4,3%</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664053913"/>
                  </a:ext>
                </a:extLst>
              </a:tr>
              <a:tr h="466660">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6,3%</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81621851"/>
                  </a:ext>
                </a:extLst>
              </a:tr>
              <a:tr h="466660">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7,8%</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5240830"/>
                  </a:ext>
                </a:extLst>
              </a:tr>
              <a:tr h="466660">
                <a:tc>
                  <a:txBody>
                    <a:bodyPr/>
                    <a:lstStyle/>
                    <a:p>
                      <a:pP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4520" marR="9452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6844223"/>
                  </a:ext>
                </a:extLst>
              </a:tr>
            </a:tbl>
          </a:graphicData>
        </a:graphic>
      </p:graphicFrame>
    </p:spTree>
    <p:extLst>
      <p:ext uri="{BB962C8B-B14F-4D97-AF65-F5344CB8AC3E}">
        <p14:creationId xmlns:p14="http://schemas.microsoft.com/office/powerpoint/2010/main" val="2201795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10">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2" name="Rectangle 2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EEC1AF7-EF75-CEF9-1493-5EA187E2AA4A}"/>
              </a:ext>
            </a:extLst>
          </p:cNvPr>
          <p:cNvSpPr>
            <a:spLocks noGrp="1"/>
          </p:cNvSpPr>
          <p:nvPr>
            <p:ph type="title"/>
          </p:nvPr>
        </p:nvSpPr>
        <p:spPr>
          <a:xfrm>
            <a:off x="1347313" y="108164"/>
            <a:ext cx="9849751" cy="376990"/>
          </a:xfrm>
        </p:spPr>
        <p:txBody>
          <a:bodyPr anchor="b">
            <a:normAutofit/>
          </a:bodyPr>
          <a:lstStyle/>
          <a:p>
            <a:r>
              <a:rPr lang="fr-FR" sz="2000" dirty="0"/>
              <a:t>Tableau synthèse des verbatims : Accessibilité géographique aux services de vaccination</a:t>
            </a:r>
          </a:p>
        </p:txBody>
      </p:sp>
      <p:graphicFrame>
        <p:nvGraphicFramePr>
          <p:cNvPr id="4" name="Espace réservé du contenu 3">
            <a:extLst>
              <a:ext uri="{FF2B5EF4-FFF2-40B4-BE49-F238E27FC236}">
                <a16:creationId xmlns:a16="http://schemas.microsoft.com/office/drawing/2014/main" id="{E41A49DB-5FF1-F7D7-F470-783B8046A316}"/>
              </a:ext>
            </a:extLst>
          </p:cNvPr>
          <p:cNvGraphicFramePr>
            <a:graphicFrameLocks noGrp="1"/>
          </p:cNvGraphicFramePr>
          <p:nvPr>
            <p:ph idx="1"/>
            <p:extLst>
              <p:ext uri="{D42A27DB-BD31-4B8C-83A1-F6EECF244321}">
                <p14:modId xmlns:p14="http://schemas.microsoft.com/office/powerpoint/2010/main" val="3949467283"/>
              </p:ext>
            </p:extLst>
          </p:nvPr>
        </p:nvGraphicFramePr>
        <p:xfrm>
          <a:off x="579528" y="511897"/>
          <a:ext cx="11286423" cy="6049323"/>
        </p:xfrm>
        <a:graphic>
          <a:graphicData uri="http://schemas.openxmlformats.org/drawingml/2006/table">
            <a:tbl>
              <a:tblPr firstRow="1" firstCol="1" bandRow="1"/>
              <a:tblGrid>
                <a:gridCol w="2488621">
                  <a:extLst>
                    <a:ext uri="{9D8B030D-6E8A-4147-A177-3AD203B41FA5}">
                      <a16:colId xmlns:a16="http://schemas.microsoft.com/office/drawing/2014/main" val="2760627375"/>
                    </a:ext>
                  </a:extLst>
                </a:gridCol>
                <a:gridCol w="2653599">
                  <a:extLst>
                    <a:ext uri="{9D8B030D-6E8A-4147-A177-3AD203B41FA5}">
                      <a16:colId xmlns:a16="http://schemas.microsoft.com/office/drawing/2014/main" val="1364939224"/>
                    </a:ext>
                  </a:extLst>
                </a:gridCol>
                <a:gridCol w="1541570">
                  <a:extLst>
                    <a:ext uri="{9D8B030D-6E8A-4147-A177-3AD203B41FA5}">
                      <a16:colId xmlns:a16="http://schemas.microsoft.com/office/drawing/2014/main" val="2479758388"/>
                    </a:ext>
                  </a:extLst>
                </a:gridCol>
                <a:gridCol w="4602633">
                  <a:extLst>
                    <a:ext uri="{9D8B030D-6E8A-4147-A177-3AD203B41FA5}">
                      <a16:colId xmlns:a16="http://schemas.microsoft.com/office/drawing/2014/main" val="1670826217"/>
                    </a:ext>
                  </a:extLst>
                </a:gridCol>
              </a:tblGrid>
              <a:tr h="15983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7191505"/>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Isolement physique des communautés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Zones éloignées des centres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Villages enclavés, difficilement accessibles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Familles doivent parcourir de longues distances à pied</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IT, RECO, Pères, PTF</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L’éloignement géographique constitue un obstacle majeur et structurel à la vaccination de routine. De nombreuses communautés restent hors d’atteinte du système classique. Cet isolement contribue directement à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couverture vaccinale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surtout chez les enfants vivant dans des zones rurales dispersées ou dans des environnements topographiquement difficiles (collines, rivières, forêts).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55332866"/>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Infrastructures et routes dégradées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Pistes impraticables pendant la saison des pluies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Retards logistiques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Inaccessibilité par motos ou véhicules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mauvais état des infrastructures routières accentue la désorganisation logistique (retards, ruptures de stock), limite les supervisions et entrave les séances avancées ou mobiles. L’infrastructure constitue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déterminant indirect mais décisif</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la performance du programme.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99930900"/>
                  </a:ext>
                </a:extLst>
              </a:tr>
              <a:tr h="102722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Charge physique et psychosociale pour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Marches longues, souvent sous la pluie ou en plein soleil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Découragement récurrent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Décision d’abandonner la vaccination malgré la volonté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L’effort exigé des familles est disproportionné, surtout pour les femmes seules, en post-partum, ou avec plusieurs enfants. Ce contexte crée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barrière comportementale induite par la géographie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entraînant des abandons ou des non-recours par fatigue, insécurité ou lassitude.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64556261"/>
                  </a:ext>
                </a:extLst>
              </a:tr>
              <a:tr h="76164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planification adaptée à la géographie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micro-planification tenant compte du terrain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Stratégies génériques inadaptées aux réalités locales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ECZS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stratégies de vaccination restent centrées sur le modèle statique des formations sanitaires, sans intégration systématique des spécificités géographiques. Les villages les plus éloignés sont ainsi exclus par défaut, faute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logistique ciblée ou d’adaptation contextuelle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743623683"/>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services mobiles et avancés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 séances de proximité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points temporaires dans les villages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Services inégalement distribués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prestations mobiles (stratégies avancées, séances communautaires, points relais) sont sous-utilisées alors qu’elles sont cruciales pour garantir l’équité. Leur absence contribue à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injustice géographique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où seuls les enfants proches des centres accèdent régulièrement aux vaccins.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70645035"/>
                  </a:ext>
                </a:extLst>
              </a:tr>
              <a:tr h="66418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moyens logistiques pour les agents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motos, carburant ou bateaux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et agents de santé souvent contraints de marcher sur de longues distances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ECP,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de moyens de déplacement pour les agents sanitaires et communautaires limite drastiquement leur couverture territoriale. Même les relais communautaires, censés être les plus proches des populations, ne peuvent opérer efficacement. Cela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affaiblit l’ancrage communautaire du PEV</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5246447"/>
                  </a:ext>
                </a:extLst>
              </a:tr>
              <a:tr h="85910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Conséquences sur la couverture et l’équité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mêmes villages restent systématiquement non couverts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Inégalités territoriales normalisées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Exclusion des plus vulnérables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ECZS,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d’accessibilité géographique produit une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fracture de santé publique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entre les zones centrales et périphériques. Cette exclusion silencieuse crée une routine de sous-vaccination chronique, surtout dans les milieux pauvres et éloignés, avec un risque accru d’épidémies localisées.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39" marR="1353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0762043"/>
                  </a:ext>
                </a:extLst>
              </a:tr>
            </a:tbl>
          </a:graphicData>
        </a:graphic>
      </p:graphicFrame>
    </p:spTree>
    <p:extLst>
      <p:ext uri="{BB962C8B-B14F-4D97-AF65-F5344CB8AC3E}">
        <p14:creationId xmlns:p14="http://schemas.microsoft.com/office/powerpoint/2010/main" val="2067673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4D00F8-39E7-4123-8564-BDFDAA1FD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87D440-5561-4781-8085-0624A1A13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3803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A8AFE96-9D09-3CAA-C55D-FF8D252D6AC4}"/>
              </a:ext>
            </a:extLst>
          </p:cNvPr>
          <p:cNvSpPr>
            <a:spLocks noGrp="1"/>
          </p:cNvSpPr>
          <p:nvPr>
            <p:ph type="title"/>
          </p:nvPr>
        </p:nvSpPr>
        <p:spPr>
          <a:xfrm>
            <a:off x="731520" y="1254408"/>
            <a:ext cx="10274898" cy="1775663"/>
          </a:xfrm>
        </p:spPr>
        <p:txBody>
          <a:bodyPr anchor="b">
            <a:normAutofit/>
          </a:bodyPr>
          <a:lstStyle/>
          <a:p>
            <a:r>
              <a:rPr lang="fr-FR" sz="5400">
                <a:solidFill>
                  <a:schemeClr val="tx2"/>
                </a:solidFill>
              </a:rPr>
              <a:t>Abordabilité financière</a:t>
            </a:r>
          </a:p>
        </p:txBody>
      </p:sp>
      <p:cxnSp>
        <p:nvCxnSpPr>
          <p:cNvPr id="13" name="Straight Connector 12">
            <a:extLst>
              <a:ext uri="{FF2B5EF4-FFF2-40B4-BE49-F238E27FC236}">
                <a16:creationId xmlns:a16="http://schemas.microsoft.com/office/drawing/2014/main" id="{61F82DD2-CBE5-4F14-9CBD-705523516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08D7D4-BE9E-4F60-9CD9-E84D57E898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98FE0A0E-6A24-40EA-B007-CD4E0F5F8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8" name="Straight Connector 17">
              <a:extLst>
                <a:ext uri="{FF2B5EF4-FFF2-40B4-BE49-F238E27FC236}">
                  <a16:creationId xmlns:a16="http://schemas.microsoft.com/office/drawing/2014/main" id="{9F16762F-94A9-48A5-90A5-02953158CC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CE1E0D-DA5F-4EA4-BD67-EA8D9EAF38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4" name="Espace réservé du contenu 3">
            <a:extLst>
              <a:ext uri="{FF2B5EF4-FFF2-40B4-BE49-F238E27FC236}">
                <a16:creationId xmlns:a16="http://schemas.microsoft.com/office/drawing/2014/main" id="{C51FF308-1C4B-C040-34A8-C1F9BC3F180F}"/>
              </a:ext>
            </a:extLst>
          </p:cNvPr>
          <p:cNvGraphicFramePr>
            <a:graphicFrameLocks noGrp="1"/>
          </p:cNvGraphicFramePr>
          <p:nvPr>
            <p:ph idx="1"/>
            <p:extLst>
              <p:ext uri="{D42A27DB-BD31-4B8C-83A1-F6EECF244321}">
                <p14:modId xmlns:p14="http://schemas.microsoft.com/office/powerpoint/2010/main" val="459516279"/>
              </p:ext>
            </p:extLst>
          </p:nvPr>
        </p:nvGraphicFramePr>
        <p:xfrm>
          <a:off x="838200" y="3316664"/>
          <a:ext cx="10515602" cy="2820237"/>
        </p:xfrm>
        <a:graphic>
          <a:graphicData uri="http://schemas.openxmlformats.org/drawingml/2006/table">
            <a:tbl>
              <a:tblPr firstRow="1" firstCol="1" bandRow="1"/>
              <a:tblGrid>
                <a:gridCol w="5153515">
                  <a:extLst>
                    <a:ext uri="{9D8B030D-6E8A-4147-A177-3AD203B41FA5}">
                      <a16:colId xmlns:a16="http://schemas.microsoft.com/office/drawing/2014/main" val="2582261860"/>
                    </a:ext>
                  </a:extLst>
                </a:gridCol>
                <a:gridCol w="1014173">
                  <a:extLst>
                    <a:ext uri="{9D8B030D-6E8A-4147-A177-3AD203B41FA5}">
                      <a16:colId xmlns:a16="http://schemas.microsoft.com/office/drawing/2014/main" val="2782950814"/>
                    </a:ext>
                  </a:extLst>
                </a:gridCol>
                <a:gridCol w="1130857">
                  <a:extLst>
                    <a:ext uri="{9D8B030D-6E8A-4147-A177-3AD203B41FA5}">
                      <a16:colId xmlns:a16="http://schemas.microsoft.com/office/drawing/2014/main" val="2020455621"/>
                    </a:ext>
                  </a:extLst>
                </a:gridCol>
                <a:gridCol w="1065221">
                  <a:extLst>
                    <a:ext uri="{9D8B030D-6E8A-4147-A177-3AD203B41FA5}">
                      <a16:colId xmlns:a16="http://schemas.microsoft.com/office/drawing/2014/main" val="309860631"/>
                    </a:ext>
                  </a:extLst>
                </a:gridCol>
                <a:gridCol w="1011256">
                  <a:extLst>
                    <a:ext uri="{9D8B030D-6E8A-4147-A177-3AD203B41FA5}">
                      <a16:colId xmlns:a16="http://schemas.microsoft.com/office/drawing/2014/main" val="3381925236"/>
                    </a:ext>
                  </a:extLst>
                </a:gridCol>
                <a:gridCol w="1140580">
                  <a:extLst>
                    <a:ext uri="{9D8B030D-6E8A-4147-A177-3AD203B41FA5}">
                      <a16:colId xmlns:a16="http://schemas.microsoft.com/office/drawing/2014/main" val="996258548"/>
                    </a:ext>
                  </a:extLst>
                </a:gridCol>
              </a:tblGrid>
              <a:tr h="631257">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523048564"/>
                  </a:ext>
                </a:extLst>
              </a:tr>
              <a:tr h="631257">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Est au courant que les services de vaccination sont gratuits dans l'ESS</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86,9%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92,1%</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92,6%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4881210"/>
                  </a:ext>
                </a:extLst>
              </a:tr>
              <a:tr h="631257">
                <a:tc>
                  <a:txBody>
                    <a:bodyPr/>
                    <a:lstStyle/>
                    <a:p>
                      <a:pP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 déjà payé l'argent pour bénéficier des services de vaccination pour son enfant</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7681054"/>
                  </a:ext>
                </a:extLst>
              </a:tr>
              <a:tr h="926466">
                <a:tc>
                  <a:txBody>
                    <a:bodyPr/>
                    <a:lstStyle/>
                    <a:p>
                      <a:pP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Est au courant que les services de vaccination sont gratuits dans l'ESS et n'a jamais payé l'argent pour bénéficier des services de vaccination pour son enfant</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96,4%</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86,9%</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95,0%</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lnSpc>
                          <a:spcPct val="115000"/>
                        </a:lnSpc>
                        <a:spcAft>
                          <a:spcPts val="800"/>
                        </a:spcAft>
                        <a:buNone/>
                      </a:pPr>
                      <a:r>
                        <a:rPr lang="fr-FR" sz="17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88,6%</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7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91,7%</a:t>
                      </a:r>
                      <a:endParaRPr lang="fr-FR" sz="1800" kern="100">
                        <a:effectLst/>
                        <a:latin typeface="Aptos" panose="020B0004020202020204" pitchFamily="34" charset="0"/>
                        <a:ea typeface="Aptos" panose="020B0004020202020204" pitchFamily="34" charset="0"/>
                        <a:cs typeface="Times New Roman" panose="02020603050405020304" pitchFamily="18" charset="0"/>
                      </a:endParaRPr>
                    </a:p>
                  </a:txBody>
                  <a:tcPr marL="68065" marR="68065"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85140103"/>
                  </a:ext>
                </a:extLst>
              </a:tr>
            </a:tbl>
          </a:graphicData>
        </a:graphic>
      </p:graphicFrame>
    </p:spTree>
    <p:extLst>
      <p:ext uri="{BB962C8B-B14F-4D97-AF65-F5344CB8AC3E}">
        <p14:creationId xmlns:p14="http://schemas.microsoft.com/office/powerpoint/2010/main" val="1723281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9B036516-8BD3-0590-1C68-A22C3CE91577}"/>
              </a:ext>
            </a:extLst>
          </p:cNvPr>
          <p:cNvSpPr>
            <a:spLocks noGrp="1"/>
          </p:cNvSpPr>
          <p:nvPr>
            <p:ph type="title"/>
          </p:nvPr>
        </p:nvSpPr>
        <p:spPr>
          <a:xfrm>
            <a:off x="806043" y="210455"/>
            <a:ext cx="10579608" cy="312821"/>
          </a:xfrm>
        </p:spPr>
        <p:txBody>
          <a:bodyPr>
            <a:normAutofit fontScale="90000"/>
          </a:bodyPr>
          <a:lstStyle/>
          <a:p>
            <a:r>
              <a:rPr lang="fr-FR" sz="2400">
                <a:solidFill>
                  <a:schemeClr val="tx2"/>
                </a:solidFill>
              </a:rPr>
              <a:t>Tableau synthèse des verbatims : Abordabilité financière des services de vaccination</a:t>
            </a:r>
          </a:p>
        </p:txBody>
      </p:sp>
      <p:grpSp>
        <p:nvGrpSpPr>
          <p:cNvPr id="13" name="Group 12">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Espace réservé du contenu 3">
            <a:extLst>
              <a:ext uri="{FF2B5EF4-FFF2-40B4-BE49-F238E27FC236}">
                <a16:creationId xmlns:a16="http://schemas.microsoft.com/office/drawing/2014/main" id="{75419ACF-41FC-77E0-A8A1-685473A8CC43}"/>
              </a:ext>
            </a:extLst>
          </p:cNvPr>
          <p:cNvGraphicFramePr>
            <a:graphicFrameLocks noGrp="1"/>
          </p:cNvGraphicFramePr>
          <p:nvPr>
            <p:ph idx="1"/>
            <p:extLst>
              <p:ext uri="{D42A27DB-BD31-4B8C-83A1-F6EECF244321}">
                <p14:modId xmlns:p14="http://schemas.microsoft.com/office/powerpoint/2010/main" val="409854472"/>
              </p:ext>
            </p:extLst>
          </p:nvPr>
        </p:nvGraphicFramePr>
        <p:xfrm>
          <a:off x="549289" y="793353"/>
          <a:ext cx="11093116" cy="5854192"/>
        </p:xfrm>
        <a:graphic>
          <a:graphicData uri="http://schemas.openxmlformats.org/drawingml/2006/table">
            <a:tbl>
              <a:tblPr firstRow="1" firstCol="1" bandRow="1"/>
              <a:tblGrid>
                <a:gridCol w="2463178">
                  <a:extLst>
                    <a:ext uri="{9D8B030D-6E8A-4147-A177-3AD203B41FA5}">
                      <a16:colId xmlns:a16="http://schemas.microsoft.com/office/drawing/2014/main" val="1490963940"/>
                    </a:ext>
                  </a:extLst>
                </a:gridCol>
                <a:gridCol w="3244819">
                  <a:extLst>
                    <a:ext uri="{9D8B030D-6E8A-4147-A177-3AD203B41FA5}">
                      <a16:colId xmlns:a16="http://schemas.microsoft.com/office/drawing/2014/main" val="1742214338"/>
                    </a:ext>
                  </a:extLst>
                </a:gridCol>
                <a:gridCol w="1500778">
                  <a:extLst>
                    <a:ext uri="{9D8B030D-6E8A-4147-A177-3AD203B41FA5}">
                      <a16:colId xmlns:a16="http://schemas.microsoft.com/office/drawing/2014/main" val="3123739972"/>
                    </a:ext>
                  </a:extLst>
                </a:gridCol>
                <a:gridCol w="3884341">
                  <a:extLst>
                    <a:ext uri="{9D8B030D-6E8A-4147-A177-3AD203B41FA5}">
                      <a16:colId xmlns:a16="http://schemas.microsoft.com/office/drawing/2014/main" val="3715966294"/>
                    </a:ext>
                  </a:extLst>
                </a:gridCol>
              </a:tblGrid>
              <a:tr h="12828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649815210"/>
                  </a:ext>
                </a:extLst>
              </a:tr>
              <a:tr h="588481">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Coûts informels associés à la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Frais non officiels exigés lors des séances (carnets, “motivation” du personnel)</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Contributions perçues comme obligatoires</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reçus ou justification</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ECZS, ECP, RECO, Pères,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pratique de frais “officieux” brouille la perception de gratuité. Ces coûts, souvent faibles individuellement, deviennent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cumulativement dissuasifs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les familles pauvres. Ils alimentent un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climat de méfiance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vis-à-vis du système de santé et sapent les efforts de communication sur la gratuité.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89183032"/>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Frais indirects supportés par les familles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Transport, repas, perte de revenus journaliers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Médicaments post-vaccination (non fournis)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Temps d’attente non anticipé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Même sans frais directs, les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coûts d’opportunité</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associés à la vaccination (notamment pour les pères de famille et mères seules) pèsent lourdement sur les ménages précaires. Cela pousse certains à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attendre les campagnes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perçues comme plus accessibles ou moins contraignantes.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80748719"/>
                  </a:ext>
                </a:extLst>
              </a:tr>
              <a:tr h="460202">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Dissonance entre le discours de gratuité et la réalité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Écart entre la communication officielle et la pratique quotidienne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entretenue entre consultation, carnet, matériel, et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IT, PTF, RECO, Pères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L’écart entre la théorie (vaccination gratuite) et la pratique (paiements fréquents) crée une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perte de crédibilité institutionnelle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de transparence alimente les rumeurs (“on paie pour avoir un bon vaccin”) et les théories de manipulation, particulièrement dans des contextes de défiance.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94997527"/>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Faiblesse de la gouvernance financière et de la traçabilité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Primes irrégulières ou incomplètes pour le personnel</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Fonds PEV filtrés ou mal acheminés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mécanismes de reddition de comptes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chaîne de financement opaque</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une gouvernance défaillante favorisent les abus à la base. Lorsque les fonds ne sont pas correctement alloués ou arrivent en retard, le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poids financier est reporté sur les usagers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souvent sans justification ni contrôle.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62157864"/>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moyens pour les RECO et personnel de terrain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d’indemnité pour les RECO</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Carnets, fiches, outils de sensibilisation à leurs frais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Récupération indirecte auprès des familles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ECP</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et agents, non appuyés, se retrouvent à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autofinancer leur implication</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ou à chercher des compensations auprès des communautés. Cela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fragilise leur légitimité</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transforme un service public en une prestation quasi-marchande.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13876491"/>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Inégalités et effets sur les plus vulnérables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familles les plus pauvres renoncent à la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Suspensions de vaccination faute de pouvoir payer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Préférence croissante pour les campagnes, perçues comme plus justes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L'introduction de frais, même minimes,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exclut les plus défavorisés</a:t>
                      </a: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compromet les objectifs d’équité et de couverture universelle. Cela aggrave les écarts entre zones urbaines et rurales, riches et pauvres. </a:t>
                      </a: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L’effet est aussi psychosocial : sentiment d’humiliation, de rejet.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95120685"/>
                  </a:ext>
                </a:extLst>
              </a:tr>
              <a:tr h="477840">
                <a:tc>
                  <a:txBody>
                    <a:bodyPr/>
                    <a:lstStyle/>
                    <a:p>
                      <a:pPr>
                        <a:lnSpc>
                          <a:spcPct val="115000"/>
                        </a:lnSpc>
                        <a:spcAft>
                          <a:spcPts val="800"/>
                        </a:spcAft>
                        <a:buNone/>
                      </a:pPr>
                      <a:r>
                        <a:rPr lang="fr-FR" sz="10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cadre clair sur la gratuité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Communication institutionnelle floue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affichage des tarifs ou des droits des usagers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Interprétations divergentes entre centres de santé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IT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manque de </a:t>
                      </a:r>
                      <a:r>
                        <a:rPr lang="fr-FR" sz="10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normes visibles et contrôlables</a:t>
                      </a: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 la gratuité laisse place à des pratiques arbitraires. L’absence de mécanismes de recours ou de dénonciation renforce un </a:t>
                      </a:r>
                      <a:r>
                        <a:rPr lang="fr-FR" sz="10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climat d’impunité</a:t>
                      </a:r>
                      <a:r>
                        <a:rPr lang="fr-FR" sz="10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local, difficile à corriger sans une action systémique.</a:t>
                      </a:r>
                      <a:endParaRPr lang="fr-FR"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6368" marR="16368"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563054"/>
                  </a:ext>
                </a:extLst>
              </a:tr>
            </a:tbl>
          </a:graphicData>
        </a:graphic>
      </p:graphicFrame>
    </p:spTree>
    <p:extLst>
      <p:ext uri="{BB962C8B-B14F-4D97-AF65-F5344CB8AC3E}">
        <p14:creationId xmlns:p14="http://schemas.microsoft.com/office/powerpoint/2010/main" val="376865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07FAFAD-4CC1-E726-5A9E-A3BAEAF6968F}"/>
              </a:ext>
            </a:extLst>
          </p:cNvPr>
          <p:cNvSpPr>
            <a:spLocks noGrp="1"/>
          </p:cNvSpPr>
          <p:nvPr>
            <p:ph type="title"/>
          </p:nvPr>
        </p:nvSpPr>
        <p:spPr>
          <a:xfrm>
            <a:off x="621792" y="1161288"/>
            <a:ext cx="3602736" cy="4526280"/>
          </a:xfrm>
        </p:spPr>
        <p:txBody>
          <a:bodyPr>
            <a:normAutofit/>
          </a:bodyPr>
          <a:lstStyle/>
          <a:p>
            <a:r>
              <a:rPr lang="fr-FR" sz="4000"/>
              <a:t>Acceptabilité socio-culturelle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Espace réservé du contenu 3">
            <a:extLst>
              <a:ext uri="{FF2B5EF4-FFF2-40B4-BE49-F238E27FC236}">
                <a16:creationId xmlns:a16="http://schemas.microsoft.com/office/drawing/2014/main" id="{A167EA73-3601-F237-54BC-F828C21EE417}"/>
              </a:ext>
            </a:extLst>
          </p:cNvPr>
          <p:cNvGraphicFramePr>
            <a:graphicFrameLocks noGrp="1"/>
          </p:cNvGraphicFramePr>
          <p:nvPr>
            <p:ph idx="1"/>
            <p:extLst>
              <p:ext uri="{D42A27DB-BD31-4B8C-83A1-F6EECF244321}">
                <p14:modId xmlns:p14="http://schemas.microsoft.com/office/powerpoint/2010/main" val="1231233960"/>
              </p:ext>
            </p:extLst>
          </p:nvPr>
        </p:nvGraphicFramePr>
        <p:xfrm>
          <a:off x="5303520" y="890592"/>
          <a:ext cx="6364227" cy="5085972"/>
        </p:xfrm>
        <a:graphic>
          <a:graphicData uri="http://schemas.openxmlformats.org/drawingml/2006/table">
            <a:tbl>
              <a:tblPr firstRow="1" firstCol="1" bandRow="1"/>
              <a:tblGrid>
                <a:gridCol w="3394062">
                  <a:extLst>
                    <a:ext uri="{9D8B030D-6E8A-4147-A177-3AD203B41FA5}">
                      <a16:colId xmlns:a16="http://schemas.microsoft.com/office/drawing/2014/main" val="2445557599"/>
                    </a:ext>
                  </a:extLst>
                </a:gridCol>
                <a:gridCol w="568359">
                  <a:extLst>
                    <a:ext uri="{9D8B030D-6E8A-4147-A177-3AD203B41FA5}">
                      <a16:colId xmlns:a16="http://schemas.microsoft.com/office/drawing/2014/main" val="382388829"/>
                    </a:ext>
                  </a:extLst>
                </a:gridCol>
                <a:gridCol w="635601">
                  <a:extLst>
                    <a:ext uri="{9D8B030D-6E8A-4147-A177-3AD203B41FA5}">
                      <a16:colId xmlns:a16="http://schemas.microsoft.com/office/drawing/2014/main" val="4150392473"/>
                    </a:ext>
                  </a:extLst>
                </a:gridCol>
                <a:gridCol w="598923">
                  <a:extLst>
                    <a:ext uri="{9D8B030D-6E8A-4147-A177-3AD203B41FA5}">
                      <a16:colId xmlns:a16="http://schemas.microsoft.com/office/drawing/2014/main" val="857845884"/>
                    </a:ext>
                  </a:extLst>
                </a:gridCol>
                <a:gridCol w="525568">
                  <a:extLst>
                    <a:ext uri="{9D8B030D-6E8A-4147-A177-3AD203B41FA5}">
                      <a16:colId xmlns:a16="http://schemas.microsoft.com/office/drawing/2014/main" val="2354533810"/>
                    </a:ext>
                  </a:extLst>
                </a:gridCol>
                <a:gridCol w="641714">
                  <a:extLst>
                    <a:ext uri="{9D8B030D-6E8A-4147-A177-3AD203B41FA5}">
                      <a16:colId xmlns:a16="http://schemas.microsoft.com/office/drawing/2014/main" val="1453943533"/>
                    </a:ext>
                  </a:extLst>
                </a:gridCol>
              </a:tblGrid>
              <a:tr h="363964">
                <a:tc>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6808456"/>
                  </a:ext>
                </a:extLst>
              </a:tr>
              <a:tr h="195248">
                <a:tc>
                  <a:txBody>
                    <a:bodyPr/>
                    <a:lstStyle/>
                    <a:p>
                      <a:pPr>
                        <a:lnSpc>
                          <a:spcPct val="115000"/>
                        </a:lnSpc>
                        <a:spcAft>
                          <a:spcPts val="800"/>
                        </a:spcAft>
                        <a:buNone/>
                      </a:pPr>
                      <a:r>
                        <a:rPr lang="fr-FR" sz="1000" kern="0">
                          <a:effectLst/>
                          <a:latin typeface="Calibri" panose="020F0502020204030204" pitchFamily="34" charset="0"/>
                          <a:ea typeface="Times New Roman" panose="02020603050405020304" pitchFamily="18" charset="0"/>
                          <a:cs typeface="Times New Roman" panose="02020603050405020304" pitchFamily="18" charset="0"/>
                        </a:rPr>
                        <a:t>Hésite parfois à faire vacciner l'enfant</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629408654"/>
                  </a:ext>
                </a:extLst>
              </a:tr>
              <a:tr h="195248">
                <a:tc gridSpan="6">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Raisons de l’hésitation vaccinale parmi les hésitants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DDD9C4"/>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98333522"/>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pense pas que la vaccination soit nécessaire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126360890"/>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Le vaccin n’est pas sûr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30,3%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77625277"/>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Ce vaccin n’est pas utile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19,5%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92181311"/>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Quelqu’un m’a dit que ce vaccin était dangereux</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66597329"/>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eu une mauvaise expérience/réaction avec un vaccin dans le passé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419098360"/>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Quelqu’un m’a dit que son enfant a fait une mauvaise réaction à un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40311301"/>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crains les aiguilles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1528496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des doutes sur l’efficacité des vaccins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38731275"/>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entendu ou lu des informations négatives à son sujet dans les médias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10,1%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4248978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Autres à préciser</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98567893"/>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savais pas où trouver une information claire et fiable sur ce vaccin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02348787"/>
                  </a:ext>
                </a:extLst>
              </a:tr>
              <a:tr h="363964">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J’ai eu une mauvaise expérience avec un personnel de santé du centre de vaccination</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40440786"/>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pense que vacciner son enfant est un péché</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3,1%</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96026792"/>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Ne sait pas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1,8%</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2,9%</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39736508"/>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pouvais pas quitter mon travail (mon domicile ou autre)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1,3%</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13518650"/>
                  </a:ext>
                </a:extLst>
              </a:tr>
              <a:tr h="195248">
                <a:tc>
                  <a:txBody>
                    <a:bodyPr/>
                    <a:lstStyle/>
                    <a:p>
                      <a:pP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Je ne sais pas où aller pour faire vacciner mes enfants</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0,7%</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387587"/>
                  </a:ext>
                </a:extLst>
              </a:tr>
              <a:tr h="363964">
                <a:tc>
                  <a:txBody>
                    <a:bodyPr/>
                    <a:lstStyle/>
                    <a:p>
                      <a:pP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Acceptabilité socio-culturelle</a:t>
                      </a:r>
                      <a:b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b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(sans hésitation vaccinale)</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87,2%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89,0%</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72,5%</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1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81,2%</a:t>
                      </a:r>
                      <a:endParaRPr lang="fr-FR" sz="1100" kern="100">
                        <a:effectLst/>
                        <a:latin typeface="Aptos" panose="020B0004020202020204" pitchFamily="34" charset="0"/>
                        <a:ea typeface="Aptos" panose="020B0004020202020204" pitchFamily="34" charset="0"/>
                        <a:cs typeface="Times New Roman" panose="02020603050405020304" pitchFamily="18" charset="0"/>
                      </a:endParaRPr>
                    </a:p>
                  </a:txBody>
                  <a:tcPr marL="31104" marR="31104"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94281018"/>
                  </a:ext>
                </a:extLst>
              </a:tr>
            </a:tbl>
          </a:graphicData>
        </a:graphic>
      </p:graphicFrame>
    </p:spTree>
    <p:extLst>
      <p:ext uri="{BB962C8B-B14F-4D97-AF65-F5344CB8AC3E}">
        <p14:creationId xmlns:p14="http://schemas.microsoft.com/office/powerpoint/2010/main" val="1321843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7E9D0BE-CE0A-4974-7D5E-10D222B66CD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400" kern="1200">
                <a:solidFill>
                  <a:srgbClr val="FFFFFF"/>
                </a:solidFill>
                <a:latin typeface="+mj-lt"/>
                <a:ea typeface="+mj-ea"/>
                <a:cs typeface="+mj-cs"/>
              </a:rPr>
              <a:t>Appropriation des mères</a:t>
            </a:r>
          </a:p>
        </p:txBody>
      </p:sp>
      <p:pic>
        <p:nvPicPr>
          <p:cNvPr id="4" name="Espace réservé du contenu 3" descr="Une image contenant texte, capture d’écran, nombre, Police&#10;&#10;Le contenu généré par l’IA peut être incorrect.">
            <a:extLst>
              <a:ext uri="{FF2B5EF4-FFF2-40B4-BE49-F238E27FC236}">
                <a16:creationId xmlns:a16="http://schemas.microsoft.com/office/drawing/2014/main" id="{42531F9A-490D-8D6F-DFA3-C28B881D09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038600" y="1267022"/>
            <a:ext cx="7188199" cy="4320567"/>
          </a:xfrm>
          <a:prstGeom prst="rect">
            <a:avLst/>
          </a:prstGeom>
          <a:noFill/>
        </p:spPr>
      </p:pic>
    </p:spTree>
    <p:extLst>
      <p:ext uri="{BB962C8B-B14F-4D97-AF65-F5344CB8AC3E}">
        <p14:creationId xmlns:p14="http://schemas.microsoft.com/office/powerpoint/2010/main" val="793257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A320C9-9735-4D13-8279-C1C674841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7126"/>
            <a:ext cx="11167447" cy="2018806"/>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E44E0AB-0795-AB10-3E27-CC0C633493CF}"/>
              </a:ext>
            </a:extLst>
          </p:cNvPr>
          <p:cNvSpPr>
            <a:spLocks noGrp="1"/>
          </p:cNvSpPr>
          <p:nvPr>
            <p:ph type="title"/>
          </p:nvPr>
        </p:nvSpPr>
        <p:spPr>
          <a:xfrm>
            <a:off x="1195779" y="203735"/>
            <a:ext cx="10168128" cy="357739"/>
          </a:xfrm>
        </p:spPr>
        <p:txBody>
          <a:bodyPr>
            <a:normAutofit fontScale="90000"/>
          </a:bodyPr>
          <a:lstStyle/>
          <a:p>
            <a:r>
              <a:rPr lang="fr-FR" sz="2000" dirty="0"/>
              <a:t>Tableau de synthèse des verbatims : Acceptabilité socio-culturelle de la vaccination</a:t>
            </a:r>
          </a:p>
        </p:txBody>
      </p:sp>
      <p:sp>
        <p:nvSpPr>
          <p:cNvPr id="15" name="Rectangle 14">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Espace réservé du contenu 3">
            <a:extLst>
              <a:ext uri="{FF2B5EF4-FFF2-40B4-BE49-F238E27FC236}">
                <a16:creationId xmlns:a16="http://schemas.microsoft.com/office/drawing/2014/main" id="{1E509E0D-A7C7-F698-BAD5-B9EE77A0CA36}"/>
              </a:ext>
            </a:extLst>
          </p:cNvPr>
          <p:cNvGraphicFramePr>
            <a:graphicFrameLocks noGrp="1"/>
          </p:cNvGraphicFramePr>
          <p:nvPr>
            <p:ph idx="1"/>
            <p:extLst>
              <p:ext uri="{D42A27DB-BD31-4B8C-83A1-F6EECF244321}">
                <p14:modId xmlns:p14="http://schemas.microsoft.com/office/powerpoint/2010/main" val="842920611"/>
              </p:ext>
            </p:extLst>
          </p:nvPr>
        </p:nvGraphicFramePr>
        <p:xfrm>
          <a:off x="286564" y="629354"/>
          <a:ext cx="11710736" cy="5939885"/>
        </p:xfrm>
        <a:graphic>
          <a:graphicData uri="http://schemas.openxmlformats.org/drawingml/2006/table">
            <a:tbl>
              <a:tblPr firstRow="1" firstCol="1" bandRow="1"/>
              <a:tblGrid>
                <a:gridCol w="2500797">
                  <a:extLst>
                    <a:ext uri="{9D8B030D-6E8A-4147-A177-3AD203B41FA5}">
                      <a16:colId xmlns:a16="http://schemas.microsoft.com/office/drawing/2014/main" val="1283775049"/>
                    </a:ext>
                  </a:extLst>
                </a:gridCol>
                <a:gridCol w="3537667">
                  <a:extLst>
                    <a:ext uri="{9D8B030D-6E8A-4147-A177-3AD203B41FA5}">
                      <a16:colId xmlns:a16="http://schemas.microsoft.com/office/drawing/2014/main" val="885568555"/>
                    </a:ext>
                  </a:extLst>
                </a:gridCol>
                <a:gridCol w="1477340">
                  <a:extLst>
                    <a:ext uri="{9D8B030D-6E8A-4147-A177-3AD203B41FA5}">
                      <a16:colId xmlns:a16="http://schemas.microsoft.com/office/drawing/2014/main" val="1582508408"/>
                    </a:ext>
                  </a:extLst>
                </a:gridCol>
                <a:gridCol w="4194932">
                  <a:extLst>
                    <a:ext uri="{9D8B030D-6E8A-4147-A177-3AD203B41FA5}">
                      <a16:colId xmlns:a16="http://schemas.microsoft.com/office/drawing/2014/main" val="4294689636"/>
                    </a:ext>
                  </a:extLst>
                </a:gridCol>
              </a:tblGrid>
              <a:tr h="16792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21804713"/>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Influence des leaders religieux et coutumiers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Opposition ouverte ou passive des chefs coutumiers/religieux</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Leurs discours déterminent l’adhésion ou le refus communautaire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absence dans les campagnes affaiblit la mobilisation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ECP, PTF, Pères, RECO</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leaders locaux agissent comme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gardiens de la norme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opposition même implicite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peut neutraliser les efforts logistiques. L’exclusion de ces figures dans la planification ou la communication est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stratégique majeur</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implication proactive est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levier prioritaire d’acceptabilité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44883697"/>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Pouvoir de décisions genré et familial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père ou les aînés masculins détiennent le dernier mot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femmes n’ont pas toujours la latitude d’amener leurs enfants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Craintes de sanctions sociales ou familiales (violence, réprobation)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ECP</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pouvoir décisionnel masculin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 obstacle structurel à la vaccination, notamment dans les zones où les normes patriarcales sont fortes. La santé infantile, souvent perçue comme une affaire “de femmes”, nécessite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revalorisation du rôle des hommes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les programmes de sensibilisation.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304162108"/>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Perceptions culturelles de la maladie et de la vaccination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Rougeole et autres maladies vues comme “passages naturels”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Vacciner trop tôt perçu comme dangereux</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vaccins interprétés comme expérimentations ou pratiques étrangères</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ECZS, RECO, Pères, IT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L’efficacité technique des vaccins entre en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tension avec les représentations traditionnelles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la maladie. Les croyances selon lesquelles la maladie forge la santé (ex : rougeole) reflètent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vision initiatique de l’enfance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vaccination est parfois perçue comme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anti-naturelle ou intrusive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nécessitant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repositionnement culturel du message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02683915"/>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Rumeurs, peurs et récits alternatifs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Rumeurs de stérilité, décès post-vaccin, expérimentation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Panique après effets secondaires ou incidents isolés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Méfiance vis-à-vis des vaccinateurs perçus comme étrangers ou opportunistes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 ECZS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récits fonctionnent comme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contre-narratifs puissants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efficacité repose sur l’émotion, la proximité, et la méfiance structurelle. La communication actuelle (verticale, technique) échoue à les désamorcer. Une approche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bottom-up, basée sur les récits locaux et la preuve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nécessaire.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62407509"/>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ancrage communautaire des interventions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Campagnes perçues comme extérieures ou descendantes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dialogue structuré avec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vus comme agents du système, pas comme voisins ou alliés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L’approche top-down crée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distance symbolique et relationnelle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non-implication des communautés dans la co-construction des messages nuit à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légitimité perçue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des interventions. L’efficacité repose non sur l’information seule, mais sur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co-confiance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réciprocité du lien social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96716625"/>
                  </a:ext>
                </a:extLst>
              </a:tr>
              <a:tr h="74885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d’outils et de préparation des agents communautaires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Messages peu adaptés aux croyances locales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formation au dialogue interculturel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Frustration des RECO face à leur impuissance argumentative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sont souvent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dépassés par la complexité des résistances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outillage est limité à la transmission unidirectionnelle. Il est nécessaire de leur fournir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outils narratifs, des espaces de formation sur la médiation culturelle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des moyens pour adapter les messages aux contextes vécus.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14946285"/>
                  </a:ext>
                </a:extLst>
              </a:tr>
              <a:tr h="9255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Méfiance structurelle envers le système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Interprétations selon lesquelles les vaccins seraient imposés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Perception d’un agenda caché (contrôle des naissances, enrichissement des agents)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Désengagement citoyen latent, voire actif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refus du vaccin est souvent le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symptôme d’un rejet plus large du système de santé</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perçu comme inégal, opaque ou corrompu. La restauration de la confiance passe par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mécanismes de redevabilité locale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valorisation des prestataires communautaires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formes de médiation symbolique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4889" marR="14889"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885466"/>
                  </a:ext>
                </a:extLst>
              </a:tr>
            </a:tbl>
          </a:graphicData>
        </a:graphic>
      </p:graphicFrame>
    </p:spTree>
    <p:extLst>
      <p:ext uri="{BB962C8B-B14F-4D97-AF65-F5344CB8AC3E}">
        <p14:creationId xmlns:p14="http://schemas.microsoft.com/office/powerpoint/2010/main" val="123654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35F51F2-D6A8-1DE5-C509-67B53CD7632A}"/>
              </a:ext>
            </a:extLst>
          </p:cNvPr>
          <p:cNvSpPr>
            <a:spLocks noGrp="1"/>
          </p:cNvSpPr>
          <p:nvPr>
            <p:ph type="title"/>
          </p:nvPr>
        </p:nvSpPr>
        <p:spPr>
          <a:xfrm>
            <a:off x="1043631" y="809898"/>
            <a:ext cx="10173010" cy="1554480"/>
          </a:xfrm>
        </p:spPr>
        <p:txBody>
          <a:bodyPr anchor="ctr">
            <a:normAutofit/>
          </a:bodyPr>
          <a:lstStyle/>
          <a:p>
            <a:r>
              <a:rPr lang="fr-FR" sz="4800"/>
              <a:t>Utilisation initiale</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Espace réservé du contenu 3">
            <a:extLst>
              <a:ext uri="{FF2B5EF4-FFF2-40B4-BE49-F238E27FC236}">
                <a16:creationId xmlns:a16="http://schemas.microsoft.com/office/drawing/2014/main" id="{0DC9DE60-26E7-B262-E885-C7212503E46B}"/>
              </a:ext>
            </a:extLst>
          </p:cNvPr>
          <p:cNvGraphicFramePr>
            <a:graphicFrameLocks noGrp="1"/>
          </p:cNvGraphicFramePr>
          <p:nvPr>
            <p:ph idx="1"/>
            <p:extLst>
              <p:ext uri="{D42A27DB-BD31-4B8C-83A1-F6EECF244321}">
                <p14:modId xmlns:p14="http://schemas.microsoft.com/office/powerpoint/2010/main" val="1207149430"/>
              </p:ext>
            </p:extLst>
          </p:nvPr>
        </p:nvGraphicFramePr>
        <p:xfrm>
          <a:off x="904602" y="3174629"/>
          <a:ext cx="10378441" cy="2895684"/>
        </p:xfrm>
        <a:graphic>
          <a:graphicData uri="http://schemas.openxmlformats.org/drawingml/2006/table">
            <a:tbl>
              <a:tblPr firstRow="1" firstCol="1" bandRow="1"/>
              <a:tblGrid>
                <a:gridCol w="5136284">
                  <a:extLst>
                    <a:ext uri="{9D8B030D-6E8A-4147-A177-3AD203B41FA5}">
                      <a16:colId xmlns:a16="http://schemas.microsoft.com/office/drawing/2014/main" val="2250280414"/>
                    </a:ext>
                  </a:extLst>
                </a:gridCol>
                <a:gridCol w="5242157">
                  <a:extLst>
                    <a:ext uri="{9D8B030D-6E8A-4147-A177-3AD203B41FA5}">
                      <a16:colId xmlns:a16="http://schemas.microsoft.com/office/drawing/2014/main" val="3125074584"/>
                    </a:ext>
                  </a:extLst>
                </a:gridCol>
              </a:tblGrid>
              <a:tr h="482614">
                <a:tc>
                  <a:txBody>
                    <a:bodyPr/>
                    <a:lstStyle/>
                    <a:p>
                      <a:pPr>
                        <a:lnSpc>
                          <a:spcPct val="115000"/>
                        </a:lnSpc>
                        <a:spcAft>
                          <a:spcPts val="800"/>
                        </a:spcAft>
                        <a:buNone/>
                      </a:pPr>
                      <a:r>
                        <a:rPr lang="fr-FR" sz="24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Province</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4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VPO1(Polio), Penta1 à 6 semaines</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120863926"/>
                  </a:ext>
                </a:extLst>
              </a:tr>
              <a:tr h="482614">
                <a:tc>
                  <a:txBody>
                    <a:bodyPr/>
                    <a:lstStyle/>
                    <a:p>
                      <a:pP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76,7%</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4184005675"/>
                  </a:ext>
                </a:extLst>
              </a:tr>
              <a:tr h="482614">
                <a:tc>
                  <a:txBody>
                    <a:bodyPr/>
                    <a:lstStyle/>
                    <a:p>
                      <a:pP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814127385"/>
                  </a:ext>
                </a:extLst>
              </a:tr>
              <a:tr h="482614">
                <a:tc>
                  <a:txBody>
                    <a:bodyPr/>
                    <a:lstStyle/>
                    <a:p>
                      <a:pP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66,7%</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309316027"/>
                  </a:ext>
                </a:extLst>
              </a:tr>
              <a:tr h="482614">
                <a:tc>
                  <a:txBody>
                    <a:bodyPr/>
                    <a:lstStyle/>
                    <a:p>
                      <a:pP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4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72,8%</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6496127"/>
                  </a:ext>
                </a:extLst>
              </a:tr>
              <a:tr h="482614">
                <a:tc>
                  <a:txBody>
                    <a:bodyPr/>
                    <a:lstStyle/>
                    <a:p>
                      <a:pPr>
                        <a:lnSpc>
                          <a:spcPct val="115000"/>
                        </a:lnSpc>
                        <a:spcAft>
                          <a:spcPts val="800"/>
                        </a:spcAft>
                        <a:buNone/>
                      </a:pPr>
                      <a:r>
                        <a:rPr lang="fr-FR" sz="24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4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66,9%</a:t>
                      </a:r>
                      <a:endParaRPr lang="fr-FR" sz="2600" kern="100">
                        <a:effectLst/>
                        <a:latin typeface="Aptos" panose="020B0004020202020204" pitchFamily="34" charset="0"/>
                        <a:ea typeface="Aptos" panose="020B0004020202020204" pitchFamily="34" charset="0"/>
                        <a:cs typeface="Times New Roman" panose="02020603050405020304" pitchFamily="18" charset="0"/>
                      </a:endParaRPr>
                    </a:p>
                  </a:txBody>
                  <a:tcPr marL="97752" marR="9775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183602140"/>
                  </a:ext>
                </a:extLst>
              </a:tr>
            </a:tbl>
          </a:graphicData>
        </a:graphic>
      </p:graphicFrame>
    </p:spTree>
    <p:extLst>
      <p:ext uri="{BB962C8B-B14F-4D97-AF65-F5344CB8AC3E}">
        <p14:creationId xmlns:p14="http://schemas.microsoft.com/office/powerpoint/2010/main" val="2244883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80EFB7-FCCB-F947-73CD-4B430C8FA3F6}"/>
              </a:ext>
            </a:extLst>
          </p:cNvPr>
          <p:cNvSpPr>
            <a:spLocks noGrp="1"/>
          </p:cNvSpPr>
          <p:nvPr>
            <p:ph type="title"/>
          </p:nvPr>
        </p:nvSpPr>
        <p:spPr>
          <a:xfrm>
            <a:off x="838200" y="214444"/>
            <a:ext cx="10515600" cy="434975"/>
          </a:xfrm>
        </p:spPr>
        <p:txBody>
          <a:bodyPr>
            <a:noAutofit/>
          </a:bodyPr>
          <a:lstStyle/>
          <a:p>
            <a:r>
              <a:rPr lang="fr-FR" sz="2400" dirty="0"/>
              <a:t>Tableau synthèse des verbatims : Utilisation initiale de la vaccination (Penta 1)</a:t>
            </a:r>
          </a:p>
        </p:txBody>
      </p:sp>
      <p:graphicFrame>
        <p:nvGraphicFramePr>
          <p:cNvPr id="4" name="Espace réservé du contenu 3">
            <a:extLst>
              <a:ext uri="{FF2B5EF4-FFF2-40B4-BE49-F238E27FC236}">
                <a16:creationId xmlns:a16="http://schemas.microsoft.com/office/drawing/2014/main" id="{95CC7838-6CAF-5225-3D77-0B7EEFD829D5}"/>
              </a:ext>
            </a:extLst>
          </p:cNvPr>
          <p:cNvGraphicFramePr>
            <a:graphicFrameLocks noGrp="1"/>
          </p:cNvGraphicFramePr>
          <p:nvPr>
            <p:ph idx="1"/>
            <p:extLst>
              <p:ext uri="{D42A27DB-BD31-4B8C-83A1-F6EECF244321}">
                <p14:modId xmlns:p14="http://schemas.microsoft.com/office/powerpoint/2010/main" val="1399365982"/>
              </p:ext>
            </p:extLst>
          </p:nvPr>
        </p:nvGraphicFramePr>
        <p:xfrm>
          <a:off x="400050" y="649419"/>
          <a:ext cx="11421836" cy="6030102"/>
        </p:xfrm>
        <a:graphic>
          <a:graphicData uri="http://schemas.openxmlformats.org/drawingml/2006/table">
            <a:tbl>
              <a:tblPr firstRow="1" firstCol="1" bandRow="1"/>
              <a:tblGrid>
                <a:gridCol w="1531498">
                  <a:extLst>
                    <a:ext uri="{9D8B030D-6E8A-4147-A177-3AD203B41FA5}">
                      <a16:colId xmlns:a16="http://schemas.microsoft.com/office/drawing/2014/main" val="2624494589"/>
                    </a:ext>
                  </a:extLst>
                </a:gridCol>
                <a:gridCol w="4064915">
                  <a:extLst>
                    <a:ext uri="{9D8B030D-6E8A-4147-A177-3AD203B41FA5}">
                      <a16:colId xmlns:a16="http://schemas.microsoft.com/office/drawing/2014/main" val="4060589927"/>
                    </a:ext>
                  </a:extLst>
                </a:gridCol>
                <a:gridCol w="1760508">
                  <a:extLst>
                    <a:ext uri="{9D8B030D-6E8A-4147-A177-3AD203B41FA5}">
                      <a16:colId xmlns:a16="http://schemas.microsoft.com/office/drawing/2014/main" val="572709306"/>
                    </a:ext>
                  </a:extLst>
                </a:gridCol>
                <a:gridCol w="4064915">
                  <a:extLst>
                    <a:ext uri="{9D8B030D-6E8A-4147-A177-3AD203B41FA5}">
                      <a16:colId xmlns:a16="http://schemas.microsoft.com/office/drawing/2014/main" val="2003258671"/>
                    </a:ext>
                  </a:extLst>
                </a:gridCol>
              </a:tblGrid>
              <a:tr h="126337">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87777393"/>
                  </a:ext>
                </a:extLst>
              </a:tr>
              <a:tr h="76080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Méconnaissance du calendrier vaccinal et confusion campagne/routine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parents ignorent que la vaccination commence tôt</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Confusion entre vaccination de routine et campagnes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système de rappel</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d’information claire et anticipée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 frein majeur. Sans calendrier vulgarisé ni système de relance post-natale, beaucoup d’enfants ratent la première dose. Cela indique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faiblesse structurelle de la continuité entre accouchement et entrée dans le programme vaccinal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71941283"/>
                  </a:ext>
                </a:extLst>
              </a:tr>
              <a:tr h="85232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Influence sociale sur la décision d’initier</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rôle du père, des aînés ou du chef coutumier est déterminant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L'avis de la communauté précède souvent la décision individuelle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 pression des pairs peut jouer en faveur ou contre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décision de commencer la vaccination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rarement individuelle ou immédiate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Elle repose sur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mécanismes collectifs d’approbation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(voisinage, famille élargie, figures d’autorité). L’utilisation initiale ne peut être stimulée sans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activation des relais d’influence locaux</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294305698"/>
                  </a:ext>
                </a:extLst>
              </a:tr>
              <a:tr h="6329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Rumeurs et peurs liées à la première dose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Craintes des effets secondaires (fièvre, maladie)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Rumeurs persistantes (stérilité, décès)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d’explication avant la première injection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communication ciblée avant 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alimente des peurs spontanées, souvent basées sur des expériences isolées ou déformées. Il faut renforcer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l’accompagnement explicatif précoce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avec des réponses rassurantes sur les effets secondaires.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56852679"/>
                  </a:ext>
                </a:extLst>
              </a:tr>
              <a:tr h="6329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d’accueil, de qualité du premier contact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Personnel peu accueillant, non empathique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Longues attentes ou frais non annoncés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Premiers contacts décisifs pour le retour ou non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 Pères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L’expérience de la première visite conditionne toute la suite.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interactions brutales ou distantes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peuvent dissuader durablement. Le système mise trop sur la disponibilité technique et pas assez sur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l’aspect relationnel-clé du premier contact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43199750"/>
                  </a:ext>
                </a:extLst>
              </a:tr>
              <a:tr h="767713">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de confiance dues à des échecs antérieurs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Stock-</a:t>
                      </a:r>
                      <a:r>
                        <a:rPr lang="fr-FR" sz="900" kern="0" dirty="0" err="1">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ou absences de personnel lors de visites précédentes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Promesses non tenues</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Expériences négatives partagées au sein de la communauté</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mémoire communautaire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longue : une rupture passée peut invalider l’effort actuel. Pour reconstruire la confiance, il faut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reconnaître les failles antérieures et montrer une amélioration visible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notamment via la régularité et l’anticipation.</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22584190"/>
                  </a:ext>
                </a:extLst>
              </a:tr>
              <a:tr h="63985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Obstacles pratiques et logistiques à la première venue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Distance au centre, manque de transport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Conflits d’emploi du temps (travail, marché)</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Coûts imprévus (même si le service est censé être gratuit)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première visite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soumise à des arbitrages économiques et temporels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Elle doit être facilitée par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solutions de proximité (stratégies avancées), des horaires flexibles, et la garantie de gratuité réelle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13081312"/>
                  </a:ext>
                </a:extLst>
              </a:tr>
              <a:tr h="760805">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accompagnement des RECO entre naissance et Penta 1</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Période post-natale peu couverte par les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briefing et de moyens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d’enregistrements systématiques à la naissance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système de vaccination est souvent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aveugle entre l’accouchement et la première dose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Sans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mécanisme d'enregistrement et de suivi actif dès la naissance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de nombreux enfants échappent au circuit. L’action communautaire doit commencer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immédiatement après l’accouchement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32314361"/>
                  </a:ext>
                </a:extLst>
              </a:tr>
              <a:tr h="732759">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de légitimité et d’engagement des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peu formés, mal équipés, perçus comme peu crédibles</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 soutien ou d’encadrement opérationnel</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 à générer la confiance pour la première dose</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a:t>
                      </a:r>
                      <a:endParaRPr lang="fr-FR" sz="1000" kern="10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acteurs clés de la vaccination initiale, sont souvent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laissés sans soutien structuré</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Leur impact dépend de leur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capacité à convaincre, informer et rassurer dès le premier contact avec les familles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 qui nécessite renforcement, formation et valorisation locale.</a:t>
                      </a:r>
                      <a:endParaRPr lang="fr-FR"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033" marR="22033"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1997591"/>
                  </a:ext>
                </a:extLst>
              </a:tr>
            </a:tbl>
          </a:graphicData>
        </a:graphic>
      </p:graphicFrame>
    </p:spTree>
    <p:extLst>
      <p:ext uri="{BB962C8B-B14F-4D97-AF65-F5344CB8AC3E}">
        <p14:creationId xmlns:p14="http://schemas.microsoft.com/office/powerpoint/2010/main" val="5729018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3F318F6-254D-8D4F-5704-7511F4CEA9BF}"/>
              </a:ext>
            </a:extLst>
          </p:cNvPr>
          <p:cNvSpPr>
            <a:spLocks noGrp="1"/>
          </p:cNvSpPr>
          <p:nvPr>
            <p:ph type="title"/>
          </p:nvPr>
        </p:nvSpPr>
        <p:spPr>
          <a:xfrm>
            <a:off x="612648" y="548640"/>
            <a:ext cx="10945037" cy="1133856"/>
          </a:xfrm>
        </p:spPr>
        <p:txBody>
          <a:bodyPr anchor="t">
            <a:normAutofit/>
          </a:bodyPr>
          <a:lstStyle/>
          <a:p>
            <a:r>
              <a:rPr lang="fr-FR" dirty="0"/>
              <a:t>Utilisation continue</a:t>
            </a:r>
          </a:p>
        </p:txBody>
      </p:sp>
      <p:graphicFrame>
        <p:nvGraphicFramePr>
          <p:cNvPr id="4" name="Espace réservé du contenu 3">
            <a:extLst>
              <a:ext uri="{FF2B5EF4-FFF2-40B4-BE49-F238E27FC236}">
                <a16:creationId xmlns:a16="http://schemas.microsoft.com/office/drawing/2014/main" id="{5337B300-4CDB-5BF8-C4D0-6D9046B6ED63}"/>
              </a:ext>
            </a:extLst>
          </p:cNvPr>
          <p:cNvGraphicFramePr>
            <a:graphicFrameLocks noGrp="1"/>
          </p:cNvGraphicFramePr>
          <p:nvPr>
            <p:ph idx="1"/>
            <p:extLst>
              <p:ext uri="{D42A27DB-BD31-4B8C-83A1-F6EECF244321}">
                <p14:modId xmlns:p14="http://schemas.microsoft.com/office/powerpoint/2010/main" val="3258207777"/>
              </p:ext>
            </p:extLst>
          </p:nvPr>
        </p:nvGraphicFramePr>
        <p:xfrm>
          <a:off x="729708" y="1881051"/>
          <a:ext cx="10710918" cy="4414356"/>
        </p:xfrm>
        <a:graphic>
          <a:graphicData uri="http://schemas.openxmlformats.org/drawingml/2006/table">
            <a:tbl>
              <a:tblPr firstRow="1" firstCol="1" bandRow="1"/>
              <a:tblGrid>
                <a:gridCol w="5199475">
                  <a:extLst>
                    <a:ext uri="{9D8B030D-6E8A-4147-A177-3AD203B41FA5}">
                      <a16:colId xmlns:a16="http://schemas.microsoft.com/office/drawing/2014/main" val="545872586"/>
                    </a:ext>
                  </a:extLst>
                </a:gridCol>
                <a:gridCol w="5511443">
                  <a:extLst>
                    <a:ext uri="{9D8B030D-6E8A-4147-A177-3AD203B41FA5}">
                      <a16:colId xmlns:a16="http://schemas.microsoft.com/office/drawing/2014/main" val="2332276940"/>
                    </a:ext>
                  </a:extLst>
                </a:gridCol>
              </a:tblGrid>
              <a:tr h="1205536">
                <a:tc>
                  <a:txBody>
                    <a:bodyPr/>
                    <a:lstStyle/>
                    <a:p>
                      <a:pPr>
                        <a:lnSpc>
                          <a:spcPct val="115000"/>
                        </a:lnSpc>
                        <a:spcAft>
                          <a:spcPts val="800"/>
                        </a:spcAft>
                        <a:buNone/>
                      </a:pPr>
                      <a:r>
                        <a:rPr lang="fr-FR" sz="3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Province</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3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VPO3(Polio), Penta3 a reçu à 14 semaines</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969374474"/>
                  </a:ext>
                </a:extLst>
              </a:tr>
              <a:tr h="641764">
                <a:tc>
                  <a:txBody>
                    <a:bodyPr/>
                    <a:lstStyle/>
                    <a:p>
                      <a:pP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48,0%</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152344734"/>
                  </a:ext>
                </a:extLst>
              </a:tr>
              <a:tr h="641764">
                <a:tc>
                  <a:txBody>
                    <a:bodyPr/>
                    <a:lstStyle/>
                    <a:p>
                      <a:pP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26,5%</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158417436"/>
                  </a:ext>
                </a:extLst>
              </a:tr>
              <a:tr h="641764">
                <a:tc>
                  <a:txBody>
                    <a:bodyPr/>
                    <a:lstStyle/>
                    <a:p>
                      <a:pP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47,2%</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662818707"/>
                  </a:ext>
                </a:extLst>
              </a:tr>
              <a:tr h="641764">
                <a:tc>
                  <a:txBody>
                    <a:bodyPr/>
                    <a:lstStyle/>
                    <a:p>
                      <a:pP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49,8%</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930260067"/>
                  </a:ext>
                </a:extLst>
              </a:tr>
              <a:tr h="641764">
                <a:tc>
                  <a:txBody>
                    <a:bodyPr/>
                    <a:lstStyle/>
                    <a:p>
                      <a:pPr>
                        <a:lnSpc>
                          <a:spcPct val="115000"/>
                        </a:lnSpc>
                        <a:spcAft>
                          <a:spcPts val="800"/>
                        </a:spcAft>
                        <a:buNone/>
                      </a:pPr>
                      <a:r>
                        <a:rPr lang="fr-FR" sz="3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3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42,9%</a:t>
                      </a:r>
                      <a:endParaRPr lang="fr-FR" sz="3500" kern="100">
                        <a:effectLst/>
                        <a:latin typeface="Aptos" panose="020B0004020202020204" pitchFamily="34" charset="0"/>
                        <a:ea typeface="Aptos" panose="020B0004020202020204" pitchFamily="34" charset="0"/>
                        <a:cs typeface="Times New Roman" panose="02020603050405020304" pitchFamily="18" charset="0"/>
                      </a:endParaRPr>
                    </a:p>
                  </a:txBody>
                  <a:tcPr marL="129987" marR="129987"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776219697"/>
                  </a:ext>
                </a:extLst>
              </a:tr>
            </a:tbl>
          </a:graphicData>
        </a:graphic>
      </p:graphicFrame>
    </p:spTree>
    <p:extLst>
      <p:ext uri="{BB962C8B-B14F-4D97-AF65-F5344CB8AC3E}">
        <p14:creationId xmlns:p14="http://schemas.microsoft.com/office/powerpoint/2010/main" val="265640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6AA499-A064-38FE-6DAB-B33EA741175D}"/>
              </a:ext>
            </a:extLst>
          </p:cNvPr>
          <p:cNvSpPr>
            <a:spLocks noGrp="1"/>
          </p:cNvSpPr>
          <p:nvPr>
            <p:ph type="title"/>
          </p:nvPr>
        </p:nvSpPr>
        <p:spPr>
          <a:xfrm>
            <a:off x="260684" y="195931"/>
            <a:ext cx="11670631" cy="349502"/>
          </a:xfrm>
        </p:spPr>
        <p:txBody>
          <a:bodyPr>
            <a:normAutofit fontScale="90000"/>
          </a:bodyPr>
          <a:lstStyle/>
          <a:p>
            <a:r>
              <a:rPr lang="fr-FR" sz="2000" dirty="0"/>
              <a:t>Tableau de synthèse des verbatims : Utilisation continue des services de vaccination (De Penta 1 à Penta 3)</a:t>
            </a:r>
          </a:p>
        </p:txBody>
      </p:sp>
      <p:graphicFrame>
        <p:nvGraphicFramePr>
          <p:cNvPr id="4" name="Espace réservé du contenu 3">
            <a:extLst>
              <a:ext uri="{FF2B5EF4-FFF2-40B4-BE49-F238E27FC236}">
                <a16:creationId xmlns:a16="http://schemas.microsoft.com/office/drawing/2014/main" id="{C701366B-0599-CF9C-BDDB-A5929CF735DC}"/>
              </a:ext>
            </a:extLst>
          </p:cNvPr>
          <p:cNvGraphicFramePr>
            <a:graphicFrameLocks noGrp="1"/>
          </p:cNvGraphicFramePr>
          <p:nvPr>
            <p:ph idx="1"/>
            <p:extLst>
              <p:ext uri="{D42A27DB-BD31-4B8C-83A1-F6EECF244321}">
                <p14:modId xmlns:p14="http://schemas.microsoft.com/office/powerpoint/2010/main" val="935848396"/>
              </p:ext>
            </p:extLst>
          </p:nvPr>
        </p:nvGraphicFramePr>
        <p:xfrm>
          <a:off x="260684" y="545433"/>
          <a:ext cx="11670631" cy="6167252"/>
        </p:xfrm>
        <a:graphic>
          <a:graphicData uri="http://schemas.openxmlformats.org/drawingml/2006/table">
            <a:tbl>
              <a:tblPr firstRow="1" firstCol="1" bandRow="1"/>
              <a:tblGrid>
                <a:gridCol w="1564859">
                  <a:extLst>
                    <a:ext uri="{9D8B030D-6E8A-4147-A177-3AD203B41FA5}">
                      <a16:colId xmlns:a16="http://schemas.microsoft.com/office/drawing/2014/main" val="4192422491"/>
                    </a:ext>
                  </a:extLst>
                </a:gridCol>
                <a:gridCol w="4153457">
                  <a:extLst>
                    <a:ext uri="{9D8B030D-6E8A-4147-A177-3AD203B41FA5}">
                      <a16:colId xmlns:a16="http://schemas.microsoft.com/office/drawing/2014/main" val="2380242359"/>
                    </a:ext>
                  </a:extLst>
                </a:gridCol>
                <a:gridCol w="1798858">
                  <a:extLst>
                    <a:ext uri="{9D8B030D-6E8A-4147-A177-3AD203B41FA5}">
                      <a16:colId xmlns:a16="http://schemas.microsoft.com/office/drawing/2014/main" val="2603059023"/>
                    </a:ext>
                  </a:extLst>
                </a:gridCol>
                <a:gridCol w="4153457">
                  <a:extLst>
                    <a:ext uri="{9D8B030D-6E8A-4147-A177-3AD203B41FA5}">
                      <a16:colId xmlns:a16="http://schemas.microsoft.com/office/drawing/2014/main" val="2984501565"/>
                    </a:ext>
                  </a:extLst>
                </a:gridCol>
              </a:tblGrid>
              <a:tr h="13839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3704824"/>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Déperdition entre Penta 1 et Penta 3</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Taux de complétion faible malgré un bon démarrage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pensent que 1 ou 2 doses suffisent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rappel actif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vaccination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perçue comme ponctuelle et non comme un cycle à compléter</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outils de rappel et d’éducation continue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fragilise la continuité. Il faut mettre en place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structuré de relance et de suivi vaccinal post-Penta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91457468"/>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explication du calendrier et des bénéfices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agents n'expliquent pas bien le rôle de chaque dose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RECO ne sont pas assez formés pour répondre aux questions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mal informés des échéances suivantes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communication lacunaire dès le début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crée des incompréhensions. Il est essentiel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expliquer clairement le schéma vaccinal</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dès Penta 1, en particulier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rôle spécifique de chaque dose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encourager la complétion.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65404119"/>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de stock et mauvaise expérience en centre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vaccins lors de la 2e ou 3e visite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Files d’attente, accueil peu bienveillant, ou stigmatisation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Mauvais souvenir décourage la reprise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fidélité au programme vaccinal dépend fortement de la qualité du service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Une rupture ou un mauvais accueil peut briser la chaîne. Il est crucial de garantir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disponibilité des intrants et un accueil de qualité à chaque visite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85823642"/>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mécanismes de suivi et de rappel structurés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système d’alerte ou de notification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de suivi automatisé ou de liste claire à disposition des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Rappel dépend de la mémoire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L’abandon vaccinal s’explique en grande partie par l’</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système de rappel intégré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technologies simples (SMS, carnet bien utilisé, fiches de suivi) peuvent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prévenir les pertes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si elles sont bien gérées et suivies.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77230661"/>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Problèmes liés à la mobilité et à l’éloignement géographique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Familles déménagent entre deux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Centres trop éloignés pour certaines mères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Séances avancées rares ou mal planifiées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mobilité des familles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n’est pas prise en compte dans les plans. Il faut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adapter la micro-planification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inclure des séances mobiles, interconnecter les données entre zones,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tracer la continuité même en cas de migration locale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0211608"/>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Désengagement progressif du personnel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Agents peu formés à la rétention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Manque de motivation et conditions de travail difficiles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Communication interpersonnelle négligée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qualité du suivi dépend aussi de la posture du personnel de santé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formation continue en communication et fidélisation</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indispensable. Le personnel doit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valorisé et outillé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 assurer le suivi entre les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418432260"/>
                  </a:ext>
                </a:extLst>
              </a:tr>
              <a:tr h="66391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Sous-utilisation des RECO dans la phase de rappel</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Les RECO sont mobilisés principalement pour Penta 1 ou en campagne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encadrement et absence de listes complètes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crédibilité faute de moyens ou de réponses adaptées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RECO sont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acteurs de proximité essentiels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mais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mal intégrés dans la stratégie de suivi</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faut formaliser leur rôle, renforcer leurs capacités, et les impliquer dès la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conception des plans de relance entre les doses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621459350"/>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Poids des effets secondaires réels ou perçus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Réactions bénignes mal expliquées (fièvre, pleurs)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Génèrent des craintes d’effets cumulatifs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Peu d’encadrement après injection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 post-vaccinale proactive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favorise l’abandon. Il faut mettre en place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messages rassurants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offrir un suivi simple après chaque dose,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préparer les familles aux réactions courantes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42622050"/>
                  </a:ext>
                </a:extLst>
              </a:tr>
              <a:tr h="617160">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Charge mentale, économique et sociale des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Difficultés à répéter les déplacements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Perte de temps ou de revenus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Absence de rappels = oubli</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répétition des visites sans incitatif ni rappel</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érode la motivation des familles.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stratégies incitatives, de proximité ou combinées à d’autres services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pourraient atténuer la charge perçue.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61" marR="22361"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0955264"/>
                  </a:ext>
                </a:extLst>
              </a:tr>
            </a:tbl>
          </a:graphicData>
        </a:graphic>
      </p:graphicFrame>
    </p:spTree>
    <p:extLst>
      <p:ext uri="{BB962C8B-B14F-4D97-AF65-F5344CB8AC3E}">
        <p14:creationId xmlns:p14="http://schemas.microsoft.com/office/powerpoint/2010/main" val="189427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6957E9-CF76-9095-92C4-ECC7204F6AFD}"/>
              </a:ext>
            </a:extLst>
          </p:cNvPr>
          <p:cNvSpPr>
            <a:spLocks noGrp="1"/>
          </p:cNvSpPr>
          <p:nvPr>
            <p:ph type="title"/>
          </p:nvPr>
        </p:nvSpPr>
        <p:spPr>
          <a:xfrm>
            <a:off x="1524000" y="548640"/>
            <a:ext cx="9160475" cy="1132258"/>
          </a:xfrm>
        </p:spPr>
        <p:txBody>
          <a:bodyPr anchor="ctr">
            <a:normAutofit/>
          </a:bodyPr>
          <a:lstStyle/>
          <a:p>
            <a:pPr algn="ctr"/>
            <a:r>
              <a:rPr lang="fr-FR" dirty="0"/>
              <a:t>Continuum des services de vaccination</a:t>
            </a:r>
            <a:endParaRPr lang="fr-FR"/>
          </a:p>
        </p:txBody>
      </p:sp>
      <p:graphicFrame>
        <p:nvGraphicFramePr>
          <p:cNvPr id="4" name="Espace réservé du contenu 3">
            <a:extLst>
              <a:ext uri="{FF2B5EF4-FFF2-40B4-BE49-F238E27FC236}">
                <a16:creationId xmlns:a16="http://schemas.microsoft.com/office/drawing/2014/main" id="{026B9C01-EE9A-6929-7EF0-48D5FF24E6D5}"/>
              </a:ext>
            </a:extLst>
          </p:cNvPr>
          <p:cNvGraphicFramePr>
            <a:graphicFrameLocks noGrp="1"/>
          </p:cNvGraphicFramePr>
          <p:nvPr>
            <p:ph idx="1"/>
            <p:extLst>
              <p:ext uri="{D42A27DB-BD31-4B8C-83A1-F6EECF244321}">
                <p14:modId xmlns:p14="http://schemas.microsoft.com/office/powerpoint/2010/main" val="2988078133"/>
              </p:ext>
            </p:extLst>
          </p:nvPr>
        </p:nvGraphicFramePr>
        <p:xfrm>
          <a:off x="930876" y="2340287"/>
          <a:ext cx="10335352" cy="3461472"/>
        </p:xfrm>
        <a:graphic>
          <a:graphicData uri="http://schemas.openxmlformats.org/drawingml/2006/table">
            <a:tbl>
              <a:tblPr firstRow="1" firstCol="1" bandRow="1"/>
              <a:tblGrid>
                <a:gridCol w="3941563">
                  <a:extLst>
                    <a:ext uri="{9D8B030D-6E8A-4147-A177-3AD203B41FA5}">
                      <a16:colId xmlns:a16="http://schemas.microsoft.com/office/drawing/2014/main" val="2363732028"/>
                    </a:ext>
                  </a:extLst>
                </a:gridCol>
                <a:gridCol w="1226996">
                  <a:extLst>
                    <a:ext uri="{9D8B030D-6E8A-4147-A177-3AD203B41FA5}">
                      <a16:colId xmlns:a16="http://schemas.microsoft.com/office/drawing/2014/main" val="4065653171"/>
                    </a:ext>
                  </a:extLst>
                </a:gridCol>
                <a:gridCol w="1368165">
                  <a:extLst>
                    <a:ext uri="{9D8B030D-6E8A-4147-A177-3AD203B41FA5}">
                      <a16:colId xmlns:a16="http://schemas.microsoft.com/office/drawing/2014/main" val="1496753165"/>
                    </a:ext>
                  </a:extLst>
                </a:gridCol>
                <a:gridCol w="1288757">
                  <a:extLst>
                    <a:ext uri="{9D8B030D-6E8A-4147-A177-3AD203B41FA5}">
                      <a16:colId xmlns:a16="http://schemas.microsoft.com/office/drawing/2014/main" val="2818531865"/>
                    </a:ext>
                  </a:extLst>
                </a:gridCol>
                <a:gridCol w="1129941">
                  <a:extLst>
                    <a:ext uri="{9D8B030D-6E8A-4147-A177-3AD203B41FA5}">
                      <a16:colId xmlns:a16="http://schemas.microsoft.com/office/drawing/2014/main" val="1634771702"/>
                    </a:ext>
                  </a:extLst>
                </a:gridCol>
                <a:gridCol w="1379930">
                  <a:extLst>
                    <a:ext uri="{9D8B030D-6E8A-4147-A177-3AD203B41FA5}">
                      <a16:colId xmlns:a16="http://schemas.microsoft.com/office/drawing/2014/main" val="2794225360"/>
                    </a:ext>
                  </a:extLst>
                </a:gridCol>
              </a:tblGrid>
              <a:tr h="763726">
                <a:tc>
                  <a:txBody>
                    <a:bodyPr/>
                    <a:lstStyle/>
                    <a:p>
                      <a:pP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651256062"/>
                  </a:ext>
                </a:extLst>
              </a:tr>
              <a:tr h="406568">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VPO1(Polio), Penta1 à 6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76,7%</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66,7%</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3721704775"/>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VPO2(Polio), Penta2 a reçu à 10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62,2%</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37,0%</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58,3%</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59,0%</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54,1%</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932738508"/>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VPO3(Polio), Penta3 a reçu à 14 semaines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48,0%</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26,5%</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47,2%</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0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3782446701"/>
                  </a:ext>
                </a:extLst>
              </a:tr>
              <a:tr h="763726">
                <a:tc>
                  <a:txBody>
                    <a:bodyPr/>
                    <a:lstStyle/>
                    <a:p>
                      <a:pP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VAR1(Rougeole) et VAA (Fièvre jaune) reçus à 9 mois</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26,1%</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14,6%</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24,9%</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2200" kern="10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0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23,6%</a:t>
                      </a:r>
                      <a:endParaRPr lang="fr-FR" sz="2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2349" marR="82349"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975704898"/>
                  </a:ext>
                </a:extLst>
              </a:tr>
            </a:tbl>
          </a:graphicData>
        </a:graphic>
      </p:graphicFrame>
    </p:spTree>
    <p:extLst>
      <p:ext uri="{BB962C8B-B14F-4D97-AF65-F5344CB8AC3E}">
        <p14:creationId xmlns:p14="http://schemas.microsoft.com/office/powerpoint/2010/main" val="42821778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1C3576-5889-B500-09CD-457D9AB31F22}"/>
              </a:ext>
            </a:extLst>
          </p:cNvPr>
          <p:cNvSpPr>
            <a:spLocks noGrp="1"/>
          </p:cNvSpPr>
          <p:nvPr>
            <p:ph type="title"/>
          </p:nvPr>
        </p:nvSpPr>
        <p:spPr>
          <a:xfrm>
            <a:off x="838200" y="170021"/>
            <a:ext cx="10515600" cy="276558"/>
          </a:xfrm>
        </p:spPr>
        <p:txBody>
          <a:bodyPr>
            <a:noAutofit/>
          </a:bodyPr>
          <a:lstStyle/>
          <a:p>
            <a:r>
              <a:rPr lang="fr-FR" sz="1600" dirty="0"/>
              <a:t>Tableau de synthèse des verbatims : Couverture effective vaccinale (achèvement du calendrier, notamment à 9 mois)</a:t>
            </a:r>
          </a:p>
        </p:txBody>
      </p:sp>
      <p:graphicFrame>
        <p:nvGraphicFramePr>
          <p:cNvPr id="4" name="Espace réservé du contenu 3">
            <a:extLst>
              <a:ext uri="{FF2B5EF4-FFF2-40B4-BE49-F238E27FC236}">
                <a16:creationId xmlns:a16="http://schemas.microsoft.com/office/drawing/2014/main" id="{F7B845BC-13F0-B6D6-6FF1-9482E847B21A}"/>
              </a:ext>
            </a:extLst>
          </p:cNvPr>
          <p:cNvGraphicFramePr>
            <a:graphicFrameLocks noGrp="1"/>
          </p:cNvGraphicFramePr>
          <p:nvPr>
            <p:ph idx="1"/>
            <p:extLst>
              <p:ext uri="{D42A27DB-BD31-4B8C-83A1-F6EECF244321}">
                <p14:modId xmlns:p14="http://schemas.microsoft.com/office/powerpoint/2010/main" val="812008766"/>
              </p:ext>
            </p:extLst>
          </p:nvPr>
        </p:nvGraphicFramePr>
        <p:xfrm>
          <a:off x="376989" y="551705"/>
          <a:ext cx="11438022" cy="6136274"/>
        </p:xfrm>
        <a:graphic>
          <a:graphicData uri="http://schemas.openxmlformats.org/drawingml/2006/table">
            <a:tbl>
              <a:tblPr firstRow="1" firstCol="1" bandRow="1"/>
              <a:tblGrid>
                <a:gridCol w="1533670">
                  <a:extLst>
                    <a:ext uri="{9D8B030D-6E8A-4147-A177-3AD203B41FA5}">
                      <a16:colId xmlns:a16="http://schemas.microsoft.com/office/drawing/2014/main" val="669843395"/>
                    </a:ext>
                  </a:extLst>
                </a:gridCol>
                <a:gridCol w="4070674">
                  <a:extLst>
                    <a:ext uri="{9D8B030D-6E8A-4147-A177-3AD203B41FA5}">
                      <a16:colId xmlns:a16="http://schemas.microsoft.com/office/drawing/2014/main" val="602465505"/>
                    </a:ext>
                  </a:extLst>
                </a:gridCol>
                <a:gridCol w="1763004">
                  <a:extLst>
                    <a:ext uri="{9D8B030D-6E8A-4147-A177-3AD203B41FA5}">
                      <a16:colId xmlns:a16="http://schemas.microsoft.com/office/drawing/2014/main" val="1509519357"/>
                    </a:ext>
                  </a:extLst>
                </a:gridCol>
                <a:gridCol w="4070674">
                  <a:extLst>
                    <a:ext uri="{9D8B030D-6E8A-4147-A177-3AD203B41FA5}">
                      <a16:colId xmlns:a16="http://schemas.microsoft.com/office/drawing/2014/main" val="3408289363"/>
                    </a:ext>
                  </a:extLst>
                </a:gridCol>
              </a:tblGrid>
              <a:tr h="145218">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Thématique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Constats récurrents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Sources (profils)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Analyse critique et implications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080649556"/>
                  </a:ext>
                </a:extLst>
              </a:tr>
              <a:tr h="759754">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Forte déperdition entre Penta 3 et les vaccins de 9 mois (VAR/VAA)</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neuvième mois marque une chute importante de fréquentation vaccinale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croient souvent que la vaccination est terminée après Penta 3</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Pas de mécanisme de rappel structuré à cette étape</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passage entre Penta 3 et VAR/VAA constitue un maillon faible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L’absence de contact entre les structures de santé et les familles sur plusieurs mois explique en grande partie cette chute.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de rappel intermédiaire (à 6 mois, 8 mois...)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nécessaire.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32399794"/>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Long intervalle entre Penta 3 et VAR/VAA = relâchement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délai crée une perte d’engagement des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suivi communautaire s’estompe avant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oublient ou perdent la motivation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manque de continuité dans la mobilisation sociale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structurel. Il faut instaurer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suivi régulier entre 14 semaines et 9 mois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avec un soutien actif des RECO, des SMS ou des rappels physiques.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35125826"/>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Ruptures fréquentes de VAR/VAA au moment critique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Centres ne veulent pas ouvrir un flacon pour un seul enfant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sont renvoyés, puis abandonnent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Gestion de stock inadéquate ou mal anticipée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 PTF,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Ces ruptures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détruisent la confiance des familles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faut adopter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logistique plus souple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appuyer l’approvisionnement de ces antigènes critiques, et envisager des stratégies de “mini-journées” de vaccination anticipée selon les flux d’enfants.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46308336"/>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Faible lisibilité du calendrier vaccinal pour les familles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Le carnet de vaccination est mal expliqué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Certains n’ont pas de carnet ou le perdent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Beaucoup ignorent la date des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Pères, RECO,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carnet est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un outil sous-utilisé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 doit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systématiquement distribué, expliqué et valorisé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comme repère familial. L’usage de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pictogrammes simples et de messages clés dès Penta 1</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est une piste d’amélioration.</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125749087"/>
                  </a:ext>
                </a:extLst>
              </a:tr>
              <a:tr h="546452">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Confusion entre campagne de masse et vaccination de routine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pensent que la rougeole est couverte uniquement lors des campagnes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Ils attendent les véhicules de sensibilisation au lieu de venir d’eux-mêmes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 Gestionnaires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Ce flou est dû à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communication communautaire mal articulée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entre interventions de masse et routine. Il faut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harmonisation claire des messages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stratégie de pédagogie vaccinale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dès les premières doses.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56759122"/>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Réticence liée aux effets secondaires réels ou supposés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craignent des réactions à VAR/VAA (fièvre)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Certaines croyances circulent sur la “force” des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Influence sociale négative (villageois, anciens)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L’absence d’</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encadrement rassurant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après les doses antérieures nourrit les refus. Il faut systématiser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messages rassurants sur les effets attendus</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créer des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groupes de témoignage positif</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et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impliquer les leaders locaux</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la promotion de VAR/VAA.</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39981072"/>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Désinformation ou sous-information chez les agents de santé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Faible insistance sur les vaccins de 9 mois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Mauvaise attribution des dates ou erreurs dans les explications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Supervisions incomplètes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Gestionnaires, RECO</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personnel de santé doit être renforcé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 le volet “achèvement du calendrier”. Une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formation continue ciblée sur VAR/VAA</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intégrant communication et planification, est essentielle.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40545274"/>
                  </a:ext>
                </a:extLst>
              </a:tr>
              <a:tr h="649371">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Absence de mécanismes de rappel et de suivi différencié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SMS ou appel pour rappeler les parents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RECO non mobilisés à cette étape</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Aucun outil numérique ou papier pour repérer les absents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 suivi vaccinal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s'arrête trop tôt</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dans le cycle de vie de l'enfant. Il faut instaurer un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système intelligent de suivi inter-doses prolongé</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surtout entre 4 mois et 9 mois. Cela peut être </a:t>
                      </a: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technologique, communautaire ou hybride</a:t>
                      </a: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80137217"/>
                  </a:ext>
                </a:extLst>
              </a:tr>
              <a:tr h="647606">
                <a:tc>
                  <a:txBody>
                    <a:bodyPr/>
                    <a:lstStyle/>
                    <a:p>
                      <a:pPr>
                        <a:lnSpc>
                          <a:spcPct val="115000"/>
                        </a:lnSpc>
                        <a:spcAft>
                          <a:spcPts val="800"/>
                        </a:spcAft>
                        <a:buNone/>
                      </a:pPr>
                      <a:r>
                        <a:rPr lang="fr-FR" sz="900" b="1"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Zones rurales particulièrement affectées par les abandons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Distance, coût du transport, isolement</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Parents découragés après un ou deux échecs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Couverture effective très basse en milieu isolé</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PTF, Gestionnaires, RECO, Pères</a:t>
                      </a:r>
                      <a:endParaRPr lang="fr-FR" sz="900" kern="10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Les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barrières géographiques et économiques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rendent l’accès irrégulier. Des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séances avancées ciblées à 9 mois</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accompagnées de </a:t>
                      </a:r>
                      <a:r>
                        <a:rPr lang="fr-FR" sz="900" b="1"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mobilisation active</a:t>
                      </a:r>
                      <a:r>
                        <a:rPr lang="fr-FR" sz="900" kern="0" dirty="0">
                          <a:solidFill>
                            <a:srgbClr val="000000"/>
                          </a:solidFill>
                          <a:effectLst/>
                          <a:latin typeface="Aptos" panose="020B0004020202020204" pitchFamily="34" charset="0"/>
                          <a:ea typeface="Times New Roman" panose="02020603050405020304" pitchFamily="18" charset="0"/>
                          <a:cs typeface="Calibri" panose="020F0502020204030204" pitchFamily="34" charset="0"/>
                        </a:rPr>
                        <a:t>, pourraient réduire cet écart.</a:t>
                      </a:r>
                      <a:endParaRPr lang="fr-FR"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22334" marR="22334" marT="0" marB="0" anchor="ctr">
                    <a:lnL>
                      <a:noFill/>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9440706"/>
                  </a:ext>
                </a:extLst>
              </a:tr>
            </a:tbl>
          </a:graphicData>
        </a:graphic>
      </p:graphicFrame>
    </p:spTree>
    <p:extLst>
      <p:ext uri="{BB962C8B-B14F-4D97-AF65-F5344CB8AC3E}">
        <p14:creationId xmlns:p14="http://schemas.microsoft.com/office/powerpoint/2010/main" val="1608170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8C21E8A-C5D0-8B00-26D1-C7C9CC8EDED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Connaissance des RECO</a:t>
            </a:r>
          </a:p>
        </p:txBody>
      </p:sp>
      <p:pic>
        <p:nvPicPr>
          <p:cNvPr id="4" name="Espace réservé du contenu 3" descr="Une image contenant texte, capture d’écran, Police, Parallèle&#10;&#10;Le contenu généré par l’IA peut être incorrect.">
            <a:extLst>
              <a:ext uri="{FF2B5EF4-FFF2-40B4-BE49-F238E27FC236}">
                <a16:creationId xmlns:a16="http://schemas.microsoft.com/office/drawing/2014/main" id="{E8EA795B-1E4F-6892-4A7E-5D41640F3F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40649" y="1675227"/>
            <a:ext cx="7310701" cy="4394199"/>
          </a:xfrm>
          <a:prstGeom prst="rect">
            <a:avLst/>
          </a:prstGeom>
          <a:noFill/>
        </p:spPr>
      </p:pic>
    </p:spTree>
    <p:extLst>
      <p:ext uri="{BB962C8B-B14F-4D97-AF65-F5344CB8AC3E}">
        <p14:creationId xmlns:p14="http://schemas.microsoft.com/office/powerpoint/2010/main" val="1598772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4F4354D-98A0-AD10-FA2C-606E95AF5B29}"/>
              </a:ext>
            </a:extLst>
          </p:cNvPr>
          <p:cNvSpPr>
            <a:spLocks noGrp="1"/>
          </p:cNvSpPr>
          <p:nvPr>
            <p:ph type="title"/>
          </p:nvPr>
        </p:nvSpPr>
        <p:spPr>
          <a:xfrm>
            <a:off x="742950" y="742951"/>
            <a:ext cx="3476625" cy="4962524"/>
          </a:xfrm>
          <a:prstGeom prst="ellipse">
            <a:avLst/>
          </a:prstGeom>
        </p:spPr>
        <p:txBody>
          <a:bodyPr vert="horz" lIns="91440" tIns="45720" rIns="91440" bIns="45720" rtlCol="0" anchor="ctr">
            <a:normAutofit/>
          </a:bodyPr>
          <a:lstStyle/>
          <a:p>
            <a:pPr algn="ctr"/>
            <a:r>
              <a:rPr lang="en-US" sz="4100" kern="1200">
                <a:solidFill>
                  <a:srgbClr val="FFFFFF"/>
                </a:solidFill>
                <a:latin typeface="+mj-lt"/>
                <a:ea typeface="+mj-ea"/>
                <a:cs typeface="+mj-cs"/>
              </a:rPr>
              <a:t>Analyse Tanahashi de la moyenne des 4 provinces</a:t>
            </a:r>
          </a:p>
        </p:txBody>
      </p:sp>
      <p:pic>
        <p:nvPicPr>
          <p:cNvPr id="4" name="Espace réservé du contenu 3" descr="Une image contenant texte, capture d’écran, Police, nombre&#10;&#10;Le contenu généré par l’IA peut être incorrect.">
            <a:extLst>
              <a:ext uri="{FF2B5EF4-FFF2-40B4-BE49-F238E27FC236}">
                <a16:creationId xmlns:a16="http://schemas.microsoft.com/office/drawing/2014/main" id="{53B222D9-FCD2-E88A-3702-523E3207C9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153822" y="1463421"/>
            <a:ext cx="6553545" cy="3939099"/>
          </a:xfrm>
          <a:prstGeom prst="rect">
            <a:avLst/>
          </a:prstGeom>
          <a:noFill/>
        </p:spPr>
      </p:pic>
      <p:graphicFrame>
        <p:nvGraphicFramePr>
          <p:cNvPr id="5" name="Tableau 4">
            <a:extLst>
              <a:ext uri="{FF2B5EF4-FFF2-40B4-BE49-F238E27FC236}">
                <a16:creationId xmlns:a16="http://schemas.microsoft.com/office/drawing/2014/main" id="{8CF5B188-83D0-DC8F-8994-6266F9CF5927}"/>
              </a:ext>
            </a:extLst>
          </p:cNvPr>
          <p:cNvGraphicFramePr>
            <a:graphicFrameLocks noGrp="1"/>
          </p:cNvGraphicFramePr>
          <p:nvPr>
            <p:extLst>
              <p:ext uri="{D42A27DB-BD31-4B8C-83A1-F6EECF244321}">
                <p14:modId xmlns:p14="http://schemas.microsoft.com/office/powerpoint/2010/main" val="3029631462"/>
              </p:ext>
            </p:extLst>
          </p:nvPr>
        </p:nvGraphicFramePr>
        <p:xfrm>
          <a:off x="7039944" y="5558701"/>
          <a:ext cx="2781300" cy="751332"/>
        </p:xfrm>
        <a:graphic>
          <a:graphicData uri="http://schemas.openxmlformats.org/drawingml/2006/table">
            <a:tbl>
              <a:tblPr firstRow="1" firstCol="1" bandRow="1"/>
              <a:tblGrid>
                <a:gridCol w="1151632">
                  <a:extLst>
                    <a:ext uri="{9D8B030D-6E8A-4147-A177-3AD203B41FA5}">
                      <a16:colId xmlns:a16="http://schemas.microsoft.com/office/drawing/2014/main" val="2830526190"/>
                    </a:ext>
                  </a:extLst>
                </a:gridCol>
                <a:gridCol w="1151632">
                  <a:extLst>
                    <a:ext uri="{9D8B030D-6E8A-4147-A177-3AD203B41FA5}">
                      <a16:colId xmlns:a16="http://schemas.microsoft.com/office/drawing/2014/main" val="1142767923"/>
                    </a:ext>
                  </a:extLst>
                </a:gridCol>
                <a:gridCol w="478036">
                  <a:extLst>
                    <a:ext uri="{9D8B030D-6E8A-4147-A177-3AD203B41FA5}">
                      <a16:colId xmlns:a16="http://schemas.microsoft.com/office/drawing/2014/main" val="2171840416"/>
                    </a:ext>
                  </a:extLst>
                </a:gridCol>
              </a:tblGrid>
              <a:tr h="182880">
                <a:tc rowSpan="2">
                  <a:txBody>
                    <a:bodyPr/>
                    <a:lstStyle/>
                    <a:p>
                      <a:pPr>
                        <a:lnSpc>
                          <a:spcPct val="115000"/>
                        </a:lnSpc>
                        <a:spcAft>
                          <a:spcPts val="800"/>
                        </a:spcAft>
                        <a:buNone/>
                      </a:pPr>
                      <a:r>
                        <a:rPr lang="fr-FR" sz="11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Goulot relatif</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800"/>
                        </a:spcAft>
                        <a:buNone/>
                      </a:pPr>
                      <a:r>
                        <a:rPr lang="fr-FR" sz="11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adéquate</a:t>
                      </a:r>
                      <a:endParaRPr lang="fr-FR" sz="1200" kern="10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35,9%</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2537039"/>
                  </a:ext>
                </a:extLst>
              </a:tr>
              <a:tr h="182880">
                <a:tc vMerge="1">
                  <a:txBody>
                    <a:bodyPr/>
                    <a:lstStyle/>
                    <a:p>
                      <a:endParaRPr lang="fr-FR"/>
                    </a:p>
                  </a:txBody>
                  <a:tcPr/>
                </a:tc>
                <a:tc>
                  <a:txBody>
                    <a:bodyPr/>
                    <a:lstStyle/>
                    <a:p>
                      <a:pP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effective</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11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45,0%</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602418"/>
                  </a:ext>
                </a:extLst>
              </a:tr>
            </a:tbl>
          </a:graphicData>
        </a:graphic>
      </p:graphicFrame>
    </p:spTree>
    <p:extLst>
      <p:ext uri="{BB962C8B-B14F-4D97-AF65-F5344CB8AC3E}">
        <p14:creationId xmlns:p14="http://schemas.microsoft.com/office/powerpoint/2010/main" val="2255877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F34119D-E0CC-9314-A459-DA04228A72EC}"/>
              </a:ext>
            </a:extLst>
          </p:cNvPr>
          <p:cNvSpPr>
            <a:spLocks noGrp="1"/>
          </p:cNvSpPr>
          <p:nvPr>
            <p:ph type="title"/>
          </p:nvPr>
        </p:nvSpPr>
        <p:spPr>
          <a:xfrm>
            <a:off x="1524000" y="548640"/>
            <a:ext cx="9160475" cy="1132258"/>
          </a:xfrm>
        </p:spPr>
        <p:txBody>
          <a:bodyPr anchor="ctr">
            <a:normAutofit/>
          </a:bodyPr>
          <a:lstStyle/>
          <a:p>
            <a:pPr algn="ctr"/>
            <a:r>
              <a:rPr lang="fr-FR" sz="3700"/>
              <a:t>Tableau de bord d'analyse Tanahashi consolidé</a:t>
            </a:r>
          </a:p>
        </p:txBody>
      </p:sp>
      <p:graphicFrame>
        <p:nvGraphicFramePr>
          <p:cNvPr id="4" name="Espace réservé du contenu 3">
            <a:extLst>
              <a:ext uri="{FF2B5EF4-FFF2-40B4-BE49-F238E27FC236}">
                <a16:creationId xmlns:a16="http://schemas.microsoft.com/office/drawing/2014/main" id="{13903F16-E50A-AD00-2EEA-4613B008BAE2}"/>
              </a:ext>
            </a:extLst>
          </p:cNvPr>
          <p:cNvGraphicFramePr>
            <a:graphicFrameLocks noGrp="1"/>
          </p:cNvGraphicFramePr>
          <p:nvPr>
            <p:ph idx="1"/>
            <p:extLst>
              <p:ext uri="{D42A27DB-BD31-4B8C-83A1-F6EECF244321}">
                <p14:modId xmlns:p14="http://schemas.microsoft.com/office/powerpoint/2010/main" val="3871609812"/>
              </p:ext>
            </p:extLst>
          </p:nvPr>
        </p:nvGraphicFramePr>
        <p:xfrm>
          <a:off x="930876" y="2140344"/>
          <a:ext cx="10335353" cy="3861358"/>
        </p:xfrm>
        <a:graphic>
          <a:graphicData uri="http://schemas.openxmlformats.org/drawingml/2006/table">
            <a:tbl>
              <a:tblPr firstRow="1" firstCol="1" bandRow="1"/>
              <a:tblGrid>
                <a:gridCol w="3400888">
                  <a:extLst>
                    <a:ext uri="{9D8B030D-6E8A-4147-A177-3AD203B41FA5}">
                      <a16:colId xmlns:a16="http://schemas.microsoft.com/office/drawing/2014/main" val="917500378"/>
                    </a:ext>
                  </a:extLst>
                </a:gridCol>
                <a:gridCol w="1330754">
                  <a:extLst>
                    <a:ext uri="{9D8B030D-6E8A-4147-A177-3AD203B41FA5}">
                      <a16:colId xmlns:a16="http://schemas.microsoft.com/office/drawing/2014/main" val="2566000279"/>
                    </a:ext>
                  </a:extLst>
                </a:gridCol>
                <a:gridCol w="1483861">
                  <a:extLst>
                    <a:ext uri="{9D8B030D-6E8A-4147-A177-3AD203B41FA5}">
                      <a16:colId xmlns:a16="http://schemas.microsoft.com/office/drawing/2014/main" val="534070745"/>
                    </a:ext>
                  </a:extLst>
                </a:gridCol>
                <a:gridCol w="1397738">
                  <a:extLst>
                    <a:ext uri="{9D8B030D-6E8A-4147-A177-3AD203B41FA5}">
                      <a16:colId xmlns:a16="http://schemas.microsoft.com/office/drawing/2014/main" val="3300684579"/>
                    </a:ext>
                  </a:extLst>
                </a:gridCol>
                <a:gridCol w="1225492">
                  <a:extLst>
                    <a:ext uri="{9D8B030D-6E8A-4147-A177-3AD203B41FA5}">
                      <a16:colId xmlns:a16="http://schemas.microsoft.com/office/drawing/2014/main" val="3899473016"/>
                    </a:ext>
                  </a:extLst>
                </a:gridCol>
                <a:gridCol w="1496620">
                  <a:extLst>
                    <a:ext uri="{9D8B030D-6E8A-4147-A177-3AD203B41FA5}">
                      <a16:colId xmlns:a16="http://schemas.microsoft.com/office/drawing/2014/main" val="805522736"/>
                    </a:ext>
                  </a:extLst>
                </a:gridCol>
              </a:tblGrid>
              <a:tr h="828309">
                <a:tc>
                  <a:txBody>
                    <a:bodyPr/>
                    <a:lstStyle/>
                    <a:p>
                      <a:pP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3139898114"/>
                  </a:ext>
                </a:extLst>
              </a:tr>
              <a:tr h="828309">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Disponibilité des intrants traceurs</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34,4%</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61,7%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40,9%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44,4%</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58557284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Disponibilité des RH</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73,2%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67,3%</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74,8%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68,0%</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70,8%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1376469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Accessibilité géographique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93,7%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76,1%</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75,2%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83,8%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82,2%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23716510"/>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Utilisation initiale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76,7%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66,7%</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72,8%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66,9%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solidFill>
                      <a:srgbClr val="FFFF00"/>
                    </a:solidFill>
                  </a:tcPr>
                </a:tc>
                <a:extLst>
                  <a:ext uri="{0D108BD9-81ED-4DB2-BD59-A6C34878D82A}">
                    <a16:rowId xmlns:a16="http://schemas.microsoft.com/office/drawing/2014/main" val="2815643238"/>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Utilisation continue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48,0%</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26,5%</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47,2%</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49,8%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tc>
                  <a:txBody>
                    <a:bodyPr/>
                    <a:lstStyle/>
                    <a:p>
                      <a:pPr algn="ctr">
                        <a:lnSpc>
                          <a:spcPct val="115000"/>
                        </a:lnSpc>
                        <a:spcAft>
                          <a:spcPts val="800"/>
                        </a:spcAft>
                        <a:buNone/>
                      </a:pPr>
                      <a:r>
                        <a:rPr lang="fr-FR" sz="22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solidFill>
                      <a:srgbClr val="FF0000"/>
                    </a:solidFill>
                  </a:tcPr>
                </a:tc>
                <a:extLst>
                  <a:ext uri="{0D108BD9-81ED-4DB2-BD59-A6C34878D82A}">
                    <a16:rowId xmlns:a16="http://schemas.microsoft.com/office/drawing/2014/main" val="2843409034"/>
                  </a:ext>
                </a:extLst>
              </a:tr>
              <a:tr h="440948">
                <a:tc>
                  <a:txBody>
                    <a:bodyPr/>
                    <a:lstStyle/>
                    <a:p>
                      <a:pP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Couverture effective</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26,1%</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14,6%</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24,9%</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28,8%</a:t>
                      </a:r>
                      <a:endParaRPr lang="fr-FR" sz="2400" kern="10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a:lnSpc>
                          <a:spcPct val="115000"/>
                        </a:lnSpc>
                        <a:spcAft>
                          <a:spcPts val="800"/>
                        </a:spcAft>
                        <a:buNone/>
                      </a:pPr>
                      <a:r>
                        <a:rPr lang="fr-FR" sz="22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23,6%</a:t>
                      </a:r>
                      <a:endParaRPr lang="fr-FR"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89312" marR="89312"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474078052"/>
                  </a:ext>
                </a:extLst>
              </a:tr>
            </a:tbl>
          </a:graphicData>
        </a:graphic>
      </p:graphicFrame>
    </p:spTree>
    <p:extLst>
      <p:ext uri="{BB962C8B-B14F-4D97-AF65-F5344CB8AC3E}">
        <p14:creationId xmlns:p14="http://schemas.microsoft.com/office/powerpoint/2010/main" val="1500141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2DBA24A-AA26-BD82-593E-A564DFA299A9}"/>
              </a:ext>
            </a:extLst>
          </p:cNvPr>
          <p:cNvSpPr>
            <a:spLocks noGrp="1"/>
          </p:cNvSpPr>
          <p:nvPr>
            <p:ph type="title"/>
          </p:nvPr>
        </p:nvSpPr>
        <p:spPr>
          <a:xfrm>
            <a:off x="841248" y="256032"/>
            <a:ext cx="10506456" cy="1014984"/>
          </a:xfrm>
        </p:spPr>
        <p:txBody>
          <a:bodyPr anchor="b">
            <a:normAutofit/>
          </a:bodyPr>
          <a:lstStyle/>
          <a:p>
            <a:r>
              <a:rPr lang="fr-FR"/>
              <a:t>Enfants zéro dose</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Espace réservé du contenu 6">
            <a:extLst>
              <a:ext uri="{FF2B5EF4-FFF2-40B4-BE49-F238E27FC236}">
                <a16:creationId xmlns:a16="http://schemas.microsoft.com/office/drawing/2014/main" id="{38F1BB9B-3E5C-35FC-E59C-76A150E96F83}"/>
              </a:ext>
            </a:extLst>
          </p:cNvPr>
          <p:cNvGraphicFramePr>
            <a:graphicFrameLocks noGrp="1"/>
          </p:cNvGraphicFramePr>
          <p:nvPr>
            <p:ph idx="1"/>
            <p:extLst>
              <p:ext uri="{D42A27DB-BD31-4B8C-83A1-F6EECF244321}">
                <p14:modId xmlns:p14="http://schemas.microsoft.com/office/powerpoint/2010/main" val="1675676932"/>
              </p:ext>
            </p:extLst>
          </p:nvPr>
        </p:nvGraphicFramePr>
        <p:xfrm>
          <a:off x="1600200" y="2129924"/>
          <a:ext cx="8991600" cy="3950208"/>
        </p:xfrm>
        <a:graphic>
          <a:graphicData uri="http://schemas.openxmlformats.org/drawingml/2006/table">
            <a:tbl>
              <a:tblPr firstRow="1" firstCol="1" bandRow="1"/>
              <a:tblGrid>
                <a:gridCol w="4495800">
                  <a:extLst>
                    <a:ext uri="{9D8B030D-6E8A-4147-A177-3AD203B41FA5}">
                      <a16:colId xmlns:a16="http://schemas.microsoft.com/office/drawing/2014/main" val="2299696068"/>
                    </a:ext>
                  </a:extLst>
                </a:gridCol>
                <a:gridCol w="4495800">
                  <a:extLst>
                    <a:ext uri="{9D8B030D-6E8A-4147-A177-3AD203B41FA5}">
                      <a16:colId xmlns:a16="http://schemas.microsoft.com/office/drawing/2014/main" val="4141108199"/>
                    </a:ext>
                  </a:extLst>
                </a:gridCol>
              </a:tblGrid>
              <a:tr h="658368">
                <a:tc>
                  <a:txBody>
                    <a:bodyPr/>
                    <a:lstStyle/>
                    <a:p>
                      <a:pP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Province</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tc>
                  <a:txBody>
                    <a:bodyPr/>
                    <a:lstStyle/>
                    <a:p>
                      <a:pPr algn="ct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Enfant zéro dose</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CF8"/>
                    </a:solidFill>
                  </a:tcPr>
                </a:tc>
                <a:extLst>
                  <a:ext uri="{0D108BD9-81ED-4DB2-BD59-A6C34878D82A}">
                    <a16:rowId xmlns:a16="http://schemas.microsoft.com/office/drawing/2014/main" val="2316373188"/>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Kasaï-Oriental</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23,3%</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57573209"/>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Maniema</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48,6%</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74639729"/>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Mongala</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33,3%</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01595303"/>
                  </a:ext>
                </a:extLst>
              </a:tr>
              <a:tr h="658368">
                <a:tc>
                  <a:txBody>
                    <a:bodyPr/>
                    <a:lstStyle/>
                    <a:p>
                      <a:pP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Tshopo</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noFill/>
                  </a:tcPr>
                </a:tc>
                <a:tc>
                  <a:txBody>
                    <a:bodyPr/>
                    <a:lstStyle/>
                    <a:p>
                      <a:pPr algn="ctr">
                        <a:lnSpc>
                          <a:spcPct val="115000"/>
                        </a:lnSpc>
                        <a:spcAft>
                          <a:spcPts val="800"/>
                        </a:spcAft>
                        <a:buNone/>
                      </a:pPr>
                      <a:r>
                        <a:rPr lang="fr-FR" sz="33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27,2%</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4561304"/>
                  </a:ext>
                </a:extLst>
              </a:tr>
              <a:tr h="658368">
                <a:tc>
                  <a:txBody>
                    <a:bodyPr/>
                    <a:lstStyle/>
                    <a:p>
                      <a:pPr>
                        <a:lnSpc>
                          <a:spcPct val="115000"/>
                        </a:lnSpc>
                        <a:spcAft>
                          <a:spcPts val="800"/>
                        </a:spcAft>
                        <a:buNone/>
                      </a:pPr>
                      <a:r>
                        <a:rPr lang="fr-FR" sz="3300" b="1"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X̄ des 4 provinces</a:t>
                      </a:r>
                      <a:endParaRPr lang="fr-FR" sz="3600" kern="10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b">
                    <a:lnL>
                      <a:noFill/>
                    </a:lnL>
                    <a:lnR w="12700" cap="flat" cmpd="sng" algn="ctr">
                      <a:solidFill>
                        <a:srgbClr val="000000"/>
                      </a:solidFill>
                      <a:prstDash val="dot"/>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buNone/>
                      </a:pPr>
                      <a:r>
                        <a:rPr lang="fr-FR" sz="3300" b="1"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33,1%</a:t>
                      </a:r>
                      <a:endParaRPr lang="fr-FR" sz="3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3350" marR="133350" marT="0" marB="0" anchor="ctr">
                    <a:lnL w="1270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3728365"/>
                  </a:ext>
                </a:extLst>
              </a:tr>
            </a:tbl>
          </a:graphicData>
        </a:graphic>
      </p:graphicFrame>
    </p:spTree>
    <p:extLst>
      <p:ext uri="{BB962C8B-B14F-4D97-AF65-F5344CB8AC3E}">
        <p14:creationId xmlns:p14="http://schemas.microsoft.com/office/powerpoint/2010/main" val="1640353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5">
            <a:extLst>
              <a:ext uri="{FF2B5EF4-FFF2-40B4-BE49-F238E27FC236}">
                <a16:creationId xmlns:a16="http://schemas.microsoft.com/office/drawing/2014/main" id="{7120F476-FC90-DC0A-5058-FD0B648B77C3}"/>
              </a:ext>
            </a:extLst>
          </p:cNvPr>
          <p:cNvPicPr>
            <a:picLocks noChangeAspect="1"/>
          </p:cNvPicPr>
          <p:nvPr/>
        </p:nvPicPr>
        <p:blipFill>
          <a:blip r:embed="rId2">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FC20B1D9-99FA-A4A0-FAA7-56697ACAA7FE}"/>
              </a:ext>
            </a:extLst>
          </p:cNvPr>
          <p:cNvSpPr>
            <a:spLocks noGrp="1"/>
          </p:cNvSpPr>
          <p:nvPr>
            <p:ph type="title"/>
          </p:nvPr>
        </p:nvSpPr>
        <p:spPr>
          <a:xfrm>
            <a:off x="838200" y="365125"/>
            <a:ext cx="10515600" cy="1325563"/>
          </a:xfrm>
        </p:spPr>
        <p:txBody>
          <a:bodyPr>
            <a:normAutofit/>
          </a:bodyPr>
          <a:lstStyle/>
          <a:p>
            <a:r>
              <a:rPr lang="fr-FR" dirty="0"/>
              <a:t>Recommandations générales </a:t>
            </a:r>
          </a:p>
        </p:txBody>
      </p:sp>
      <p:graphicFrame>
        <p:nvGraphicFramePr>
          <p:cNvPr id="18" name="Espace réservé du contenu 2">
            <a:extLst>
              <a:ext uri="{FF2B5EF4-FFF2-40B4-BE49-F238E27FC236}">
                <a16:creationId xmlns:a16="http://schemas.microsoft.com/office/drawing/2014/main" id="{BA75D1A8-DBBA-1357-9FEB-B2819ED5384A}"/>
              </a:ext>
            </a:extLst>
          </p:cNvPr>
          <p:cNvGraphicFramePr>
            <a:graphicFrameLocks noGrp="1"/>
          </p:cNvGraphicFramePr>
          <p:nvPr>
            <p:ph idx="1"/>
            <p:extLst>
              <p:ext uri="{D42A27DB-BD31-4B8C-83A1-F6EECF244321}">
                <p14:modId xmlns:p14="http://schemas.microsoft.com/office/powerpoint/2010/main" val="22645955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6977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B1F3-A3CE-F22F-60C4-C5961C87CF3A}"/>
            </a:ext>
          </a:extLst>
        </p:cNvPr>
        <p:cNvGrpSpPr/>
        <p:nvPr/>
      </p:nvGrpSpPr>
      <p:grpSpPr>
        <a:xfrm>
          <a:off x="0" y="0"/>
          <a:ext cx="0" cy="0"/>
          <a:chOff x="0" y="0"/>
          <a:chExt cx="0" cy="0"/>
        </a:xfrm>
      </p:grpSpPr>
      <p:pic>
        <p:nvPicPr>
          <p:cNvPr id="17" name="Picture 5">
            <a:extLst>
              <a:ext uri="{FF2B5EF4-FFF2-40B4-BE49-F238E27FC236}">
                <a16:creationId xmlns:a16="http://schemas.microsoft.com/office/drawing/2014/main" id="{6FF6236D-F2EE-107E-8A51-0104E235D2E9}"/>
              </a:ext>
            </a:extLst>
          </p:cNvPr>
          <p:cNvPicPr>
            <a:picLocks noChangeAspect="1"/>
          </p:cNvPicPr>
          <p:nvPr/>
        </p:nvPicPr>
        <p:blipFill>
          <a:blip r:embed="rId2">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E88B06D9-9A84-A6DB-0EAC-3F787376552C}"/>
              </a:ext>
            </a:extLst>
          </p:cNvPr>
          <p:cNvSpPr>
            <a:spLocks noGrp="1"/>
          </p:cNvSpPr>
          <p:nvPr>
            <p:ph type="title"/>
          </p:nvPr>
        </p:nvSpPr>
        <p:spPr>
          <a:xfrm>
            <a:off x="838200" y="365125"/>
            <a:ext cx="10515600" cy="1325563"/>
          </a:xfrm>
        </p:spPr>
        <p:txBody>
          <a:bodyPr>
            <a:normAutofit/>
          </a:bodyPr>
          <a:lstStyle/>
          <a:p>
            <a:r>
              <a:rPr lang="fr-FR"/>
              <a:t>Recommandations:</a:t>
            </a:r>
            <a:r>
              <a:rPr lang="fr-FR" b="1"/>
              <a:t> Niveau National</a:t>
            </a:r>
            <a:r>
              <a:rPr lang="fr-FR"/>
              <a:t> </a:t>
            </a:r>
            <a:endParaRPr lang="fr-FR" dirty="0"/>
          </a:p>
        </p:txBody>
      </p:sp>
      <p:graphicFrame>
        <p:nvGraphicFramePr>
          <p:cNvPr id="18" name="Espace réservé du contenu 2">
            <a:extLst>
              <a:ext uri="{FF2B5EF4-FFF2-40B4-BE49-F238E27FC236}">
                <a16:creationId xmlns:a16="http://schemas.microsoft.com/office/drawing/2014/main" id="{4725CC76-0D68-BE14-4DF4-DE84FBAEB767}"/>
              </a:ext>
            </a:extLst>
          </p:cNvPr>
          <p:cNvGraphicFramePr>
            <a:graphicFrameLocks noGrp="1"/>
          </p:cNvGraphicFramePr>
          <p:nvPr>
            <p:ph idx="1"/>
            <p:extLst>
              <p:ext uri="{D42A27DB-BD31-4B8C-83A1-F6EECF244321}">
                <p14:modId xmlns:p14="http://schemas.microsoft.com/office/powerpoint/2010/main" val="21338572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2752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AC19-9503-718C-BB3A-F3EE2D842262}"/>
            </a:ext>
          </a:extLst>
        </p:cNvPr>
        <p:cNvGrpSpPr/>
        <p:nvPr/>
      </p:nvGrpSpPr>
      <p:grpSpPr>
        <a:xfrm>
          <a:off x="0" y="0"/>
          <a:ext cx="0" cy="0"/>
          <a:chOff x="0" y="0"/>
          <a:chExt cx="0" cy="0"/>
        </a:xfrm>
      </p:grpSpPr>
      <p:pic>
        <p:nvPicPr>
          <p:cNvPr id="17" name="Picture 5">
            <a:extLst>
              <a:ext uri="{FF2B5EF4-FFF2-40B4-BE49-F238E27FC236}">
                <a16:creationId xmlns:a16="http://schemas.microsoft.com/office/drawing/2014/main" id="{BC4DC627-EA61-2D91-4420-824827378352}"/>
              </a:ext>
            </a:extLst>
          </p:cNvPr>
          <p:cNvPicPr>
            <a:picLocks noChangeAspect="1"/>
          </p:cNvPicPr>
          <p:nvPr/>
        </p:nvPicPr>
        <p:blipFill>
          <a:blip r:embed="rId2">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7279CED7-BE10-7C9C-38E4-2AC64EB7A153}"/>
              </a:ext>
            </a:extLst>
          </p:cNvPr>
          <p:cNvSpPr>
            <a:spLocks noGrp="1"/>
          </p:cNvSpPr>
          <p:nvPr>
            <p:ph type="title"/>
          </p:nvPr>
        </p:nvSpPr>
        <p:spPr>
          <a:xfrm>
            <a:off x="838200" y="365125"/>
            <a:ext cx="10515600" cy="1325563"/>
          </a:xfrm>
        </p:spPr>
        <p:txBody>
          <a:bodyPr>
            <a:normAutofit/>
          </a:bodyPr>
          <a:lstStyle/>
          <a:p>
            <a:r>
              <a:rPr lang="fr-FR" dirty="0"/>
              <a:t>Recommandations: </a:t>
            </a:r>
            <a:r>
              <a:rPr lang="fr-FR" b="1" dirty="0"/>
              <a:t>Niveau Provincial (DPS)</a:t>
            </a:r>
            <a:br>
              <a:rPr lang="fr-FR" dirty="0"/>
            </a:br>
            <a:endParaRPr lang="fr-FR" dirty="0"/>
          </a:p>
        </p:txBody>
      </p:sp>
      <p:graphicFrame>
        <p:nvGraphicFramePr>
          <p:cNvPr id="18" name="Espace réservé du contenu 2">
            <a:extLst>
              <a:ext uri="{FF2B5EF4-FFF2-40B4-BE49-F238E27FC236}">
                <a16:creationId xmlns:a16="http://schemas.microsoft.com/office/drawing/2014/main" id="{589F6F07-CC5F-26A5-C2DB-09172D497DE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3898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F5E6-AEA8-1CC5-AD99-16B724F49BDF}"/>
            </a:ext>
          </a:extLst>
        </p:cNvPr>
        <p:cNvGrpSpPr/>
        <p:nvPr/>
      </p:nvGrpSpPr>
      <p:grpSpPr>
        <a:xfrm>
          <a:off x="0" y="0"/>
          <a:ext cx="0" cy="0"/>
          <a:chOff x="0" y="0"/>
          <a:chExt cx="0" cy="0"/>
        </a:xfrm>
      </p:grpSpPr>
      <p:pic>
        <p:nvPicPr>
          <p:cNvPr id="17" name="Picture 5">
            <a:extLst>
              <a:ext uri="{FF2B5EF4-FFF2-40B4-BE49-F238E27FC236}">
                <a16:creationId xmlns:a16="http://schemas.microsoft.com/office/drawing/2014/main" id="{E7CFE4CF-07ED-25F2-3A37-2A36DD916072}"/>
              </a:ext>
            </a:extLst>
          </p:cNvPr>
          <p:cNvPicPr>
            <a:picLocks noChangeAspect="1"/>
          </p:cNvPicPr>
          <p:nvPr/>
        </p:nvPicPr>
        <p:blipFill>
          <a:blip r:embed="rId3">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100E42A2-25C6-5F4A-DCBE-9FE526438BA8}"/>
              </a:ext>
            </a:extLst>
          </p:cNvPr>
          <p:cNvSpPr>
            <a:spLocks noGrp="1"/>
          </p:cNvSpPr>
          <p:nvPr>
            <p:ph type="title"/>
          </p:nvPr>
        </p:nvSpPr>
        <p:spPr>
          <a:xfrm>
            <a:off x="838200" y="365125"/>
            <a:ext cx="10515600" cy="1325563"/>
          </a:xfrm>
        </p:spPr>
        <p:txBody>
          <a:bodyPr>
            <a:normAutofit/>
          </a:bodyPr>
          <a:lstStyle/>
          <a:p>
            <a:r>
              <a:rPr lang="fr-FR" dirty="0"/>
              <a:t>Recommandations: </a:t>
            </a:r>
            <a:r>
              <a:rPr lang="fr-FR" b="1" dirty="0"/>
              <a:t>Niveau Zone de Santé</a:t>
            </a:r>
            <a:br>
              <a:rPr lang="fr-FR" dirty="0"/>
            </a:br>
            <a:endParaRPr lang="fr-FR" dirty="0"/>
          </a:p>
        </p:txBody>
      </p:sp>
      <p:graphicFrame>
        <p:nvGraphicFramePr>
          <p:cNvPr id="18" name="Espace réservé du contenu 2">
            <a:extLst>
              <a:ext uri="{FF2B5EF4-FFF2-40B4-BE49-F238E27FC236}">
                <a16:creationId xmlns:a16="http://schemas.microsoft.com/office/drawing/2014/main" id="{A71A4971-178D-BD82-99D6-90C20BFF9224}"/>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8396284"/>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9AA6A-5D96-284B-1157-F13A21C8D53F}"/>
            </a:ext>
          </a:extLst>
        </p:cNvPr>
        <p:cNvGrpSpPr/>
        <p:nvPr/>
      </p:nvGrpSpPr>
      <p:grpSpPr>
        <a:xfrm>
          <a:off x="0" y="0"/>
          <a:ext cx="0" cy="0"/>
          <a:chOff x="0" y="0"/>
          <a:chExt cx="0" cy="0"/>
        </a:xfrm>
      </p:grpSpPr>
      <p:pic>
        <p:nvPicPr>
          <p:cNvPr id="17" name="Picture 5">
            <a:extLst>
              <a:ext uri="{FF2B5EF4-FFF2-40B4-BE49-F238E27FC236}">
                <a16:creationId xmlns:a16="http://schemas.microsoft.com/office/drawing/2014/main" id="{42AE1C76-EE25-949E-34AD-E15A98BEF4D6}"/>
              </a:ext>
            </a:extLst>
          </p:cNvPr>
          <p:cNvPicPr>
            <a:picLocks noChangeAspect="1"/>
          </p:cNvPicPr>
          <p:nvPr/>
        </p:nvPicPr>
        <p:blipFill>
          <a:blip r:embed="rId2">
            <a:duotone>
              <a:schemeClr val="bg2">
                <a:shade val="45000"/>
                <a:satMod val="135000"/>
              </a:schemeClr>
              <a:prstClr val="white"/>
            </a:duotone>
          </a:blip>
          <a:srcRect t="15697" r="9091" b="7694"/>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6C1FAEF6-7002-D0E4-F90E-3315DBD276AB}"/>
              </a:ext>
            </a:extLst>
          </p:cNvPr>
          <p:cNvSpPr>
            <a:spLocks noGrp="1"/>
          </p:cNvSpPr>
          <p:nvPr>
            <p:ph type="title"/>
          </p:nvPr>
        </p:nvSpPr>
        <p:spPr>
          <a:xfrm>
            <a:off x="838200" y="365125"/>
            <a:ext cx="10515600" cy="1325563"/>
          </a:xfrm>
        </p:spPr>
        <p:txBody>
          <a:bodyPr>
            <a:normAutofit fontScale="90000"/>
          </a:bodyPr>
          <a:lstStyle/>
          <a:p>
            <a:r>
              <a:rPr lang="fr-FR" dirty="0"/>
              <a:t>Recommandations: </a:t>
            </a:r>
            <a:r>
              <a:rPr lang="fr-FR" b="1" dirty="0"/>
              <a:t>Partenaires Techniques et Financiers (PTF)</a:t>
            </a:r>
            <a:br>
              <a:rPr lang="fr-FR" dirty="0"/>
            </a:br>
            <a:endParaRPr lang="fr-FR" dirty="0"/>
          </a:p>
        </p:txBody>
      </p:sp>
      <p:graphicFrame>
        <p:nvGraphicFramePr>
          <p:cNvPr id="18" name="Espace réservé du contenu 2">
            <a:extLst>
              <a:ext uri="{FF2B5EF4-FFF2-40B4-BE49-F238E27FC236}">
                <a16:creationId xmlns:a16="http://schemas.microsoft.com/office/drawing/2014/main" id="{087A3F7A-9FDE-905D-5A4B-69AAD1569AD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5932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899D69-4661-A590-3D6D-B7D35D9E38CC}"/>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FBB5C58-6CEA-F802-B286-1AB42A2A3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9CEE6DC3-0F5A-2F3C-0942-D9F77EBC07D4}"/>
              </a:ext>
            </a:extLst>
          </p:cNvPr>
          <p:cNvSpPr>
            <a:spLocks noGrp="1"/>
          </p:cNvSpPr>
          <p:nvPr>
            <p:ph type="title"/>
          </p:nvPr>
        </p:nvSpPr>
        <p:spPr>
          <a:xfrm>
            <a:off x="1156851" y="637762"/>
            <a:ext cx="9888496" cy="900131"/>
          </a:xfrm>
        </p:spPr>
        <p:txBody>
          <a:bodyPr anchor="t">
            <a:normAutofit/>
          </a:bodyPr>
          <a:lstStyle/>
          <a:p>
            <a:r>
              <a:rPr lang="fr-FR" sz="4000" dirty="0">
                <a:solidFill>
                  <a:schemeClr val="bg1"/>
                </a:solidFill>
              </a:rPr>
              <a:t>Conclusion</a:t>
            </a:r>
          </a:p>
        </p:txBody>
      </p:sp>
      <p:sp>
        <p:nvSpPr>
          <p:cNvPr id="21" name="Rectangle 20">
            <a:extLst>
              <a:ext uri="{FF2B5EF4-FFF2-40B4-BE49-F238E27FC236}">
                <a16:creationId xmlns:a16="http://schemas.microsoft.com/office/drawing/2014/main" id="{31CA4A85-919D-94E6-3800-1BE1536F5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AB12DE56-3CE4-D843-A552-F22B24D1C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Espace réservé du contenu 2">
            <a:extLst>
              <a:ext uri="{FF2B5EF4-FFF2-40B4-BE49-F238E27FC236}">
                <a16:creationId xmlns:a16="http://schemas.microsoft.com/office/drawing/2014/main" id="{C077F6E7-7BE4-39CB-FE08-7F4C9557B17F}"/>
              </a:ext>
            </a:extLst>
          </p:cNvPr>
          <p:cNvSpPr>
            <a:spLocks noGrp="1"/>
          </p:cNvSpPr>
          <p:nvPr>
            <p:ph idx="1"/>
          </p:nvPr>
        </p:nvSpPr>
        <p:spPr>
          <a:xfrm>
            <a:off x="1155548" y="2217343"/>
            <a:ext cx="9880893" cy="3959619"/>
          </a:xfrm>
        </p:spPr>
        <p:txBody>
          <a:bodyPr>
            <a:normAutofit fontScale="92500" lnSpcReduction="10000"/>
          </a:bodyPr>
          <a:lstStyle/>
          <a:p>
            <a:pPr marL="0" indent="0" algn="just">
              <a:buNone/>
            </a:pPr>
            <a:r>
              <a:rPr lang="fr-FR" sz="2000" dirty="0"/>
              <a:t>L'évaluation dans quatre provinces de la RDC révèle un système vaccinal contrasté avec des avancées isolées masquant des défis systémiques profonds, où une chaîne de valeur vulnérable à chaque étape (ruptures, logistique, formation, adhésion irrégulière, abandon élevé) conduit à une couverture effective alarmante, inférieure à 30% et reflétant une crise de performance et d'équité sociale. </a:t>
            </a:r>
          </a:p>
          <a:p>
            <a:pPr marL="0" indent="0" algn="just">
              <a:buNone/>
            </a:pPr>
            <a:r>
              <a:rPr lang="fr-FR" sz="2000" dirty="0"/>
              <a:t>Cette situation résulte d'un manque </a:t>
            </a:r>
            <a:r>
              <a:rPr lang="fr-FR" sz="2000"/>
              <a:t>de coordination et </a:t>
            </a:r>
            <a:r>
              <a:rPr lang="fr-FR" sz="2000" dirty="0"/>
              <a:t>d'une inadéquation des interventions aux réalités locales, nécessitant une transformation structurelle et systémique. L'étude plaide pour une réorientation stratégique du PEV fondée sur une gouvernance renforcée et inclusive, une mobilisation intersectorielle et communautaire, un engagement fort des partenaires, et un recentrage sur l'équité et la qualité pour les plus vulnérables. </a:t>
            </a:r>
          </a:p>
          <a:p>
            <a:pPr marL="0" indent="0" algn="just">
              <a:buNone/>
            </a:pPr>
            <a:r>
              <a:rPr lang="fr-FR" sz="2000" dirty="0"/>
              <a:t>La mise en œuvre des recommandations exige un changement de paradigme vers une logique de transformation où chaque acteur local s'approprie la performance vaccinale, avec un État garant de l'équité et des PTF investissant durablement dans le renforcement du système, faisant de la vaccination un indicateur clé de la gouvernance sociale et territoriale vers la couverture sanitaire universelle.</a:t>
            </a:r>
          </a:p>
        </p:txBody>
      </p:sp>
    </p:spTree>
    <p:extLst>
      <p:ext uri="{BB962C8B-B14F-4D97-AF65-F5344CB8AC3E}">
        <p14:creationId xmlns:p14="http://schemas.microsoft.com/office/powerpoint/2010/main" val="4009345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D48EA17-F2CF-2F98-FC06-DBB6A2AEC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7" name="Rectangle 16">
            <a:extLst>
              <a:ext uri="{FF2B5EF4-FFF2-40B4-BE49-F238E27FC236}">
                <a16:creationId xmlns:a16="http://schemas.microsoft.com/office/drawing/2014/main" id="{4D3D4267-6754-E656-C65D-257297D4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re 1">
            <a:extLst>
              <a:ext uri="{FF2B5EF4-FFF2-40B4-BE49-F238E27FC236}">
                <a16:creationId xmlns:a16="http://schemas.microsoft.com/office/drawing/2014/main" id="{FD6744A0-6A1A-F57C-8167-5109AB37EB47}"/>
              </a:ext>
            </a:extLst>
          </p:cNvPr>
          <p:cNvSpPr>
            <a:spLocks noGrp="1"/>
          </p:cNvSpPr>
          <p:nvPr>
            <p:ph type="title"/>
          </p:nvPr>
        </p:nvSpPr>
        <p:spPr>
          <a:xfrm>
            <a:off x="1524000" y="548640"/>
            <a:ext cx="9160475" cy="1132258"/>
          </a:xfrm>
        </p:spPr>
        <p:txBody>
          <a:bodyPr anchor="ctr">
            <a:normAutofit/>
          </a:bodyPr>
          <a:lstStyle/>
          <a:p>
            <a:pPr algn="ctr"/>
            <a:r>
              <a:rPr lang="fr-FR" u="sng" dirty="0"/>
              <a:t>Prochaines étapes</a:t>
            </a:r>
          </a:p>
        </p:txBody>
      </p:sp>
      <p:graphicFrame>
        <p:nvGraphicFramePr>
          <p:cNvPr id="5" name="Espace réservé du contenu 2">
            <a:extLst>
              <a:ext uri="{FF2B5EF4-FFF2-40B4-BE49-F238E27FC236}">
                <a16:creationId xmlns:a16="http://schemas.microsoft.com/office/drawing/2014/main" id="{446919BC-CE8D-9E13-6501-5D93B773CEE4}"/>
              </a:ext>
            </a:extLst>
          </p:cNvPr>
          <p:cNvGraphicFramePr>
            <a:graphicFrameLocks noGrp="1"/>
          </p:cNvGraphicFramePr>
          <p:nvPr>
            <p:ph idx="1"/>
            <p:extLst>
              <p:ext uri="{D42A27DB-BD31-4B8C-83A1-F6EECF244321}">
                <p14:modId xmlns:p14="http://schemas.microsoft.com/office/powerpoint/2010/main" val="1338161265"/>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84144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2" name="Groupe 11">
            <a:extLst>
              <a:ext uri="{FF2B5EF4-FFF2-40B4-BE49-F238E27FC236}">
                <a16:creationId xmlns:a16="http://schemas.microsoft.com/office/drawing/2014/main" id="{AC34EBEA-F11F-4B1D-8000-E1B4A1326E0E}"/>
              </a:ext>
            </a:extLst>
          </p:cNvPr>
          <p:cNvGrpSpPr/>
          <p:nvPr/>
        </p:nvGrpSpPr>
        <p:grpSpPr>
          <a:xfrm>
            <a:off x="1743075" y="643466"/>
            <a:ext cx="8458200" cy="5571066"/>
            <a:chOff x="2669463" y="1423581"/>
            <a:chExt cx="7262328" cy="4010836"/>
          </a:xfrm>
        </p:grpSpPr>
        <p:pic>
          <p:nvPicPr>
            <p:cNvPr id="14" name="Image 13" descr="Une image contenant texte, reçu&#10;&#10;Description générée automatiquement">
              <a:extLst>
                <a:ext uri="{FF2B5EF4-FFF2-40B4-BE49-F238E27FC236}">
                  <a16:creationId xmlns:a16="http://schemas.microsoft.com/office/drawing/2014/main" id="{F777815D-5773-4175-AD13-AEA1DEF4D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411" y="1423581"/>
              <a:ext cx="6853074" cy="4010836"/>
            </a:xfrm>
            <a:prstGeom prst="rect">
              <a:avLst/>
            </a:prstGeom>
          </p:spPr>
        </p:pic>
        <p:sp>
          <p:nvSpPr>
            <p:cNvPr id="15" name="ZoneTexte 14">
              <a:extLst>
                <a:ext uri="{FF2B5EF4-FFF2-40B4-BE49-F238E27FC236}">
                  <a16:creationId xmlns:a16="http://schemas.microsoft.com/office/drawing/2014/main" id="{535267E2-B9B9-4EF9-BD52-9F51AA1F8807}"/>
                </a:ext>
              </a:extLst>
            </p:cNvPr>
            <p:cNvSpPr txBox="1"/>
            <p:nvPr/>
          </p:nvSpPr>
          <p:spPr>
            <a:xfrm>
              <a:off x="2669463" y="3043671"/>
              <a:ext cx="2165369" cy="523220"/>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3500" b="0" i="0" u="none" strike="noStrike" kern="1200" cap="none" spc="0" normalizeH="0" baseline="0" noProof="0" dirty="0">
                  <a:ln>
                    <a:noFill/>
                  </a:ln>
                  <a:solidFill>
                    <a:srgbClr val="000000"/>
                  </a:solidFill>
                  <a:effectLst/>
                  <a:uLnTx/>
                  <a:uFillTx/>
                  <a:latin typeface="Bauhaus 93" panose="04030905020B02020C02" pitchFamily="82" charset="0"/>
                  <a:ea typeface="+mn-ea"/>
                  <a:cs typeface="+mn-cs"/>
                </a:rPr>
                <a:t>Matondo</a:t>
              </a:r>
            </a:p>
          </p:txBody>
        </p:sp>
        <p:sp>
          <p:nvSpPr>
            <p:cNvPr id="16" name="ZoneTexte 15">
              <a:extLst>
                <a:ext uri="{FF2B5EF4-FFF2-40B4-BE49-F238E27FC236}">
                  <a16:creationId xmlns:a16="http://schemas.microsoft.com/office/drawing/2014/main" id="{B2853296-6F0B-4103-B9B4-DC8E40D98366}"/>
                </a:ext>
              </a:extLst>
            </p:cNvPr>
            <p:cNvSpPr txBox="1"/>
            <p:nvPr/>
          </p:nvSpPr>
          <p:spPr>
            <a:xfrm>
              <a:off x="7766422" y="2854459"/>
              <a:ext cx="2165369" cy="461665"/>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2400" b="0" i="0" u="none" strike="noStrike" kern="1200" cap="none" spc="0" normalizeH="0" baseline="0" noProof="0" dirty="0">
                  <a:ln>
                    <a:noFill/>
                  </a:ln>
                  <a:solidFill>
                    <a:srgbClr val="000000"/>
                  </a:solidFill>
                  <a:effectLst/>
                  <a:uLnTx/>
                  <a:uFillTx/>
                  <a:latin typeface="Aharoni" panose="02010803020104030203" pitchFamily="2" charset="-79"/>
                  <a:ea typeface="+mn-ea"/>
                  <a:cs typeface="Aharoni" panose="02010803020104030203" pitchFamily="2" charset="-79"/>
                </a:rPr>
                <a:t>Twasakidila</a:t>
              </a:r>
            </a:p>
          </p:txBody>
        </p:sp>
        <p:sp>
          <p:nvSpPr>
            <p:cNvPr id="17" name="ZoneTexte 16">
              <a:extLst>
                <a:ext uri="{FF2B5EF4-FFF2-40B4-BE49-F238E27FC236}">
                  <a16:creationId xmlns:a16="http://schemas.microsoft.com/office/drawing/2014/main" id="{340FEBD9-8DA0-41FA-8B42-B60467776847}"/>
                </a:ext>
              </a:extLst>
            </p:cNvPr>
            <p:cNvSpPr txBox="1"/>
            <p:nvPr/>
          </p:nvSpPr>
          <p:spPr>
            <a:xfrm>
              <a:off x="7918820" y="3198167"/>
              <a:ext cx="1603717" cy="461665"/>
            </a:xfrm>
            <a:prstGeom prst="rect">
              <a:avLst/>
            </a:prstGeom>
            <a:noFill/>
          </p:spPr>
          <p:txBody>
            <a:bodyPr wrap="square" rtlCol="0">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fr-FR" sz="2400" b="0" i="0" u="none" strike="noStrike" kern="1200" cap="none" spc="0" normalizeH="0" baseline="0" noProof="0" dirty="0">
                  <a:ln>
                    <a:noFill/>
                  </a:ln>
                  <a:solidFill>
                    <a:srgbClr val="000000"/>
                  </a:solidFill>
                  <a:effectLst/>
                  <a:uLnTx/>
                  <a:uFillTx/>
                  <a:latin typeface="Algerian" panose="04020705040A02060702" pitchFamily="82" charset="0"/>
                  <a:ea typeface="+mn-ea"/>
                  <a:cs typeface="+mn-cs"/>
                </a:rPr>
                <a:t>Aksanti</a:t>
              </a:r>
            </a:p>
          </p:txBody>
        </p:sp>
      </p:grpSp>
      <p:sp>
        <p:nvSpPr>
          <p:cNvPr id="10" name="TextBox 9">
            <a:extLst>
              <a:ext uri="{FF2B5EF4-FFF2-40B4-BE49-F238E27FC236}">
                <a16:creationId xmlns:a16="http://schemas.microsoft.com/office/drawing/2014/main" id="{18341945-A3E2-4CEA-A07C-BB6A13F1422E}"/>
              </a:ext>
            </a:extLst>
          </p:cNvPr>
          <p:cNvSpPr txBox="1"/>
          <p:nvPr/>
        </p:nvSpPr>
        <p:spPr>
          <a:xfrm>
            <a:off x="5435112" y="2688007"/>
            <a:ext cx="173560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Choukran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37244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3350</TotalTime>
  <Words>9761</Words>
  <Application>Microsoft Office PowerPoint</Application>
  <PresentationFormat>Grand écran</PresentationFormat>
  <Paragraphs>1330</Paragraphs>
  <Slides>45</Slides>
  <Notes>1</Notes>
  <HiddenSlides>0</HiddenSlides>
  <MMClips>0</MMClips>
  <ScaleCrop>false</ScaleCrop>
  <HeadingPairs>
    <vt:vector size="6" baseType="variant">
      <vt:variant>
        <vt:lpstr>Polices utilisées</vt:lpstr>
      </vt:variant>
      <vt:variant>
        <vt:i4>14</vt:i4>
      </vt:variant>
      <vt:variant>
        <vt:lpstr>Thème</vt:lpstr>
      </vt:variant>
      <vt:variant>
        <vt:i4>2</vt:i4>
      </vt:variant>
      <vt:variant>
        <vt:lpstr>Titres des diapositives</vt:lpstr>
      </vt:variant>
      <vt:variant>
        <vt:i4>45</vt:i4>
      </vt:variant>
    </vt:vector>
  </HeadingPairs>
  <TitlesOfParts>
    <vt:vector size="61" baseType="lpstr">
      <vt:lpstr>Aharoni</vt:lpstr>
      <vt:lpstr>Algerian</vt:lpstr>
      <vt:lpstr>Aptos</vt:lpstr>
      <vt:lpstr>Aptos Display</vt:lpstr>
      <vt:lpstr>Aptos Narrow</vt:lpstr>
      <vt:lpstr>Arial</vt:lpstr>
      <vt:lpstr>Arial</vt:lpstr>
      <vt:lpstr>Bauhaus 93</vt:lpstr>
      <vt:lpstr>Calibri</vt:lpstr>
      <vt:lpstr>Calibri Light</vt:lpstr>
      <vt:lpstr>Courier New</vt:lpstr>
      <vt:lpstr>Neue Haas Grotesk Text Pro</vt:lpstr>
      <vt:lpstr>Times New Roman</vt:lpstr>
      <vt:lpstr>Wingdings</vt:lpstr>
      <vt:lpstr>Thème Office</vt:lpstr>
      <vt:lpstr>Office Theme</vt:lpstr>
      <vt:lpstr>Monitorage indépendant de rattrapage des enfants zéro dose selon le modèle de Tanahashi dans les quatre provinces ayant le plus grand nombre d’enfants zéro dose en RDC </vt:lpstr>
      <vt:lpstr>Plan de presentation</vt:lpstr>
      <vt:lpstr>Contexte et justification </vt:lpstr>
      <vt:lpstr>But et objectifs</vt:lpstr>
      <vt:lpstr>Méthodologie et déroulement</vt:lpstr>
      <vt:lpstr>Définition opérationnelles et indicateurs de Tanahashi </vt:lpstr>
      <vt:lpstr>Identification des goulots et leurs niveaux de criticité</vt:lpstr>
      <vt:lpstr>Resultats</vt:lpstr>
      <vt:lpstr>Caractéristiques socio-démographiques des ménages</vt:lpstr>
      <vt:lpstr>Fonctionnalité de la chaine du  froid</vt:lpstr>
      <vt:lpstr>Disponibilité des vaccins et autres intrants corrigée en fonction du bon fonctionnement de la chaine de froid</vt:lpstr>
      <vt:lpstr>Disponibilité des vaccins et autres intrants traceurs corrigée en fonction du bon fonctionnement de la chaine du  froid et selon les milieux de vie</vt:lpstr>
      <vt:lpstr>Disponibilité des vaccins et autres intrants traceurs corrigée en fonction du bon fonctionnement de la chaine du froid et selon les appuis FAE</vt:lpstr>
      <vt:lpstr>Tableau synthèse des verbatims : Disponibilité des vaccins et autres intrants traceurs</vt:lpstr>
      <vt:lpstr>Disponibilité des ressources humaines</vt:lpstr>
      <vt:lpstr>Disponibilité des ressources humaines selon les milieux de vie</vt:lpstr>
      <vt:lpstr>Disponibilité des ressources humaines selon les appuis FAE</vt:lpstr>
      <vt:lpstr>Tableau synthèse des verbatims : Disponibilité et gestion des ressources humaines en vaccination</vt:lpstr>
      <vt:lpstr>Accessibilité géographique aux ESS</vt:lpstr>
      <vt:lpstr>Accessibilité géographique aux ESS avec service de vaccination</vt:lpstr>
      <vt:lpstr>Existence des obstacles naturels pour accéder au site de vaccination</vt:lpstr>
      <vt:lpstr>Tableau synthèse des verbatims : Accessibilité géographique aux services de vaccination</vt:lpstr>
      <vt:lpstr>Abordabilité financière</vt:lpstr>
      <vt:lpstr>Tableau synthèse des verbatims : Abordabilité financière des services de vaccination</vt:lpstr>
      <vt:lpstr>Acceptabilité socio-culturelle</vt:lpstr>
      <vt:lpstr>Appropriation des mères</vt:lpstr>
      <vt:lpstr>Tableau de synthèse des verbatims : Acceptabilité socio-culturelle de la vaccination</vt:lpstr>
      <vt:lpstr>Utilisation initiale</vt:lpstr>
      <vt:lpstr>Tableau synthèse des verbatims : Utilisation initiale de la vaccination (Penta 1)</vt:lpstr>
      <vt:lpstr>Utilisation continue</vt:lpstr>
      <vt:lpstr>Tableau de synthèse des verbatims : Utilisation continue des services de vaccination (De Penta 1 à Penta 3)</vt:lpstr>
      <vt:lpstr>Continuum des services de vaccination</vt:lpstr>
      <vt:lpstr>Tableau de synthèse des verbatims : Couverture effective vaccinale (achèvement du calendrier, notamment à 9 mois)</vt:lpstr>
      <vt:lpstr>Connaissance des RECO</vt:lpstr>
      <vt:lpstr>Analyse Tanahashi de la moyenne des 4 provinces</vt:lpstr>
      <vt:lpstr>Tableau de bord d'analyse Tanahashi consolidé</vt:lpstr>
      <vt:lpstr>Enfants zéro dose</vt:lpstr>
      <vt:lpstr>Recommandations générales </vt:lpstr>
      <vt:lpstr>Recommandations: Niveau National </vt:lpstr>
      <vt:lpstr>Recommandations: Niveau Provincial (DPS) </vt:lpstr>
      <vt:lpstr>Recommandations: Niveau Zone de Santé </vt:lpstr>
      <vt:lpstr>Recommandations: Partenaires Techniques et Financiers (PTF) </vt:lpstr>
      <vt:lpstr>Conclusion</vt:lpstr>
      <vt:lpstr>Prochaines étapes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ICHESS RDC</dc:creator>
  <cp:lastModifiedBy>ICHESS RDC</cp:lastModifiedBy>
  <cp:revision>24</cp:revision>
  <dcterms:created xsi:type="dcterms:W3CDTF">2025-05-20T20:22:43Z</dcterms:created>
  <dcterms:modified xsi:type="dcterms:W3CDTF">2025-12-16T05:47:32Z</dcterms:modified>
</cp:coreProperties>
</file>