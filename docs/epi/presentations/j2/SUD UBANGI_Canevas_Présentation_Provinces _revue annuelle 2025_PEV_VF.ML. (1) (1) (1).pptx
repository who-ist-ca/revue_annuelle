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7"/>
  </p:notesMasterIdLst>
  <p:sldIdLst>
    <p:sldId id="256" r:id="rId3"/>
    <p:sldId id="257" r:id="rId4"/>
    <p:sldId id="258" r:id="rId5"/>
    <p:sldId id="288" r:id="rId6"/>
    <p:sldId id="281" r:id="rId7"/>
    <p:sldId id="282" r:id="rId8"/>
    <p:sldId id="259" r:id="rId9"/>
    <p:sldId id="271" r:id="rId10"/>
    <p:sldId id="283" r:id="rId11"/>
    <p:sldId id="284" r:id="rId12"/>
    <p:sldId id="270" r:id="rId13"/>
    <p:sldId id="275" r:id="rId14"/>
    <p:sldId id="285" r:id="rId15"/>
    <p:sldId id="286" r:id="rId16"/>
    <p:sldId id="260" r:id="rId17"/>
    <p:sldId id="261" r:id="rId18"/>
    <p:sldId id="262" r:id="rId19"/>
    <p:sldId id="263" r:id="rId20"/>
    <p:sldId id="274" r:id="rId21"/>
    <p:sldId id="289" r:id="rId22"/>
    <p:sldId id="290" r:id="rId23"/>
    <p:sldId id="264" r:id="rId24"/>
    <p:sldId id="272" r:id="rId25"/>
    <p:sldId id="280" r:id="rId26"/>
    <p:sldId id="279" r:id="rId27"/>
    <p:sldId id="265" r:id="rId28"/>
    <p:sldId id="266" r:id="rId29"/>
    <p:sldId id="273" r:id="rId30"/>
    <p:sldId id="276" r:id="rId31"/>
    <p:sldId id="277" r:id="rId32"/>
    <p:sldId id="278" r:id="rId33"/>
    <p:sldId id="268" r:id="rId34"/>
    <p:sldId id="287" r:id="rId35"/>
    <p:sldId id="269" r:id="rId36"/>
  </p:sldIdLst>
  <p:sldSz cx="12192000" cy="6858000"/>
  <p:notesSz cx="6858000" cy="9144000"/>
  <p:embeddedFontLst>
    <p:embeddedFont>
      <p:font typeface="Arial Narrow" panose="020B0606020202030204" pitchFamily="34" charset="0"/>
      <p:regular r:id="rId38"/>
      <p:bold r:id="rId39"/>
      <p:italic r:id="rId40"/>
      <p:bold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Play" panose="020B0604020202020204" charset="0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0" y="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241730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59591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93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r>
              <a:rPr lang="fr-FR" sz="1200" b="0" i="0" u="none" strike="noStrike" cap="none" dirty="0" smtClean="0">
                <a:solidFill>
                  <a:schemeClr val="dk1"/>
                </a:solidFill>
                <a:effectLst/>
                <a:latin typeface="Arial" panose="020B0604020202020204"/>
                <a:cs typeface="Arial" panose="020B0604020202020204"/>
                <a:sym typeface="Arial" panose="020B0604020202020204"/>
              </a:rPr>
              <a:t>41%</a:t>
            </a:r>
            <a:r>
              <a:rPr lang="fr-FR" sz="1200" b="0" i="0" u="none" strike="noStrike" cap="none" baseline="0" dirty="0" smtClean="0">
                <a:solidFill>
                  <a:schemeClr val="dk1"/>
                </a:solidFill>
                <a:effectLst/>
                <a:latin typeface="Arial" panose="020B0604020202020204"/>
                <a:cs typeface="Arial" panose="020B0604020202020204"/>
                <a:sym typeface="Arial" panose="020B0604020202020204"/>
              </a:rPr>
              <a:t> STRATEGIE AVANCEE ET 57% FIXE ET 2% MOBILE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5518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32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064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442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33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161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r>
              <a:rPr lang="fr-FR" smtClean="0"/>
              <a:t>81,5%=CAT1</a:t>
            </a:r>
            <a:r>
              <a:rPr lang="fr-FR" baseline="0" smtClean="0"/>
              <a:t>   6,25% CAT 2    12,5%  CAT 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686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cap="none" dirty="0" smtClean="0">
                <a:solidFill>
                  <a:schemeClr val="dk1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861868</a:t>
            </a:r>
            <a:r>
              <a:rPr lang="fr-FR" dirty="0" smtClean="0"/>
              <a:t> </a:t>
            </a:r>
            <a:r>
              <a:rPr lang="fr-FR" sz="1200" b="0" i="0" u="none" strike="noStrike" cap="none" dirty="0" smtClean="0">
                <a:solidFill>
                  <a:schemeClr val="dk1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856903</a:t>
            </a:r>
            <a:r>
              <a:rPr lang="fr-FR" dirty="0" smtClean="0"/>
              <a:t> </a:t>
            </a:r>
            <a:r>
              <a:rPr lang="fr-FR" sz="1200" b="0" i="0" u="none" strike="noStrike" cap="none" dirty="0" smtClean="0">
                <a:solidFill>
                  <a:schemeClr val="dk1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4965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78076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417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967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bc9d920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aabc9d920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601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940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r>
              <a:rPr lang="fr-FR" dirty="0" smtClean="0"/>
              <a:t>On observe une forte</a:t>
            </a:r>
            <a:r>
              <a:rPr lang="fr-FR" baseline="0" dirty="0" smtClean="0"/>
              <a:t> déperdition des cibles depuis le VAP1 à l’</a:t>
            </a:r>
            <a:r>
              <a:rPr lang="fr-FR" baseline="0" dirty="0" err="1" smtClean="0"/>
              <a:t>enrolement</a:t>
            </a:r>
            <a:r>
              <a:rPr lang="fr-FR" baseline="0" dirty="0" smtClean="0"/>
              <a:t> à la 3</a:t>
            </a:r>
            <a:r>
              <a:rPr lang="fr-FR" baseline="30000" dirty="0" smtClean="0"/>
              <a:t>ème</a:t>
            </a:r>
            <a:r>
              <a:rPr lang="fr-FR" baseline="0" dirty="0" smtClean="0"/>
              <a:t> dose 74000 à 33000 soit plus de 54%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1120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>
            <a:extLst>
              <a:ext uri="{FF2B5EF4-FFF2-40B4-BE49-F238E27FC236}">
                <a16:creationId xmlns:a16="http://schemas.microsoft.com/office/drawing/2014/main" xmlns="" id="{F8963012-3435-23D7-0052-9C30A6528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89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Espace réservé des commentaires 2">
            <a:extLst>
              <a:ext uri="{FF2B5EF4-FFF2-40B4-BE49-F238E27FC236}">
                <a16:creationId xmlns:a16="http://schemas.microsoft.com/office/drawing/2014/main" xmlns="" id="{F8F417AD-EAAA-EF7E-203A-9F02E5C03A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BE" altLang="fr-FR"/>
          </a:p>
        </p:txBody>
      </p:sp>
      <p:sp>
        <p:nvSpPr>
          <p:cNvPr id="48132" name="Espace réservé du numéro de diapositive 3">
            <a:extLst>
              <a:ext uri="{FF2B5EF4-FFF2-40B4-BE49-F238E27FC236}">
                <a16:creationId xmlns:a16="http://schemas.microsoft.com/office/drawing/2014/main" xmlns="" id="{17B5CF68-F423-FCA4-4F69-1DA4482E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DFF03A6-7CF0-4636-AD5F-9870BF7A9562}" type="slidenum">
              <a:rPr lang="fr-FR" altLang="en-US" smtClean="0">
                <a:latin typeface="Calibri" panose="020F0502020204030204" pitchFamily="34" charset="0"/>
              </a:rPr>
              <a:pPr/>
              <a:t>21</a:t>
            </a:fld>
            <a:endParaRPr lang="fr-FR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92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bc9d920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abc9d920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780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50603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80781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51881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557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985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3171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014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3685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3154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73282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127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4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aneva</a:t>
            </a:r>
            <a:r>
              <a:rPr lang="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provinces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spécifiques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approches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spéciales</a:t>
            </a:r>
            <a:r>
              <a:rPr lang="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vaccins (VAP, RR, etc)</a:t>
            </a:r>
            <a:endParaRPr sz="2400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SUD UBANGI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 PEV de Gemena</a:t>
            </a: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de succès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capitaliser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pour 2026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 des antennes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g3aabc9d920d_0_207"/>
          <p:cNvSpPr/>
          <p:nvPr/>
        </p:nvSpPr>
        <p:spPr>
          <a:xfrm>
            <a:off x="45860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 de la province avec les antennes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c9d920d_0_207"/>
          <p:cNvSpPr/>
          <p:nvPr/>
        </p:nvSpPr>
        <p:spPr>
          <a:xfrm>
            <a:off x="5768503" y="1323702"/>
            <a:ext cx="6332706" cy="5353941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Tableau avec les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éléments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suivants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PEV:01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ZS: Total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(16),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(14)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(…), FAE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(229)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(…), FAE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(229)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18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sz="1800" dirty="0"/>
              <a:t>152893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18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sz="1800" dirty="0"/>
              <a:t>607748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mois:760641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en ECF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71%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planifiées: fixe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fr-FR" sz="1800" dirty="0">
                <a:solidFill>
                  <a:schemeClr val="dk1"/>
                </a:solidFill>
              </a:rPr>
              <a:t>15 890</a:t>
            </a:r>
            <a:r>
              <a:rPr lang="fr-FR" sz="1800" dirty="0"/>
              <a:t>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fr-FR" sz="1800" dirty="0" smtClean="0">
                <a:solidFill>
                  <a:schemeClr val="dk1"/>
                </a:solidFill>
              </a:rPr>
              <a:t>11342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(768),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point de concentration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(768),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OVM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(1536)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18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DPS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O</a:t>
            </a:r>
            <a:r>
              <a:rPr lang="fr-FR" sz="18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ui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dans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 PAO 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:87,5%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4" y="1196751"/>
            <a:ext cx="5926796" cy="5480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SITUATION SPECIFIQUE DE LA PROVINCE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735818" cy="5196676"/>
          </a:xfrm>
        </p:spPr>
        <p:txBody>
          <a:bodyPr>
            <a:normAutofit/>
          </a:bodyPr>
          <a:lstStyle/>
          <a:p>
            <a:r>
              <a:rPr lang="fr-FR" sz="3200" dirty="0" smtClean="0">
                <a:latin typeface="Arial Narrow" panose="020B0606020202030204" pitchFamily="34" charset="0"/>
              </a:rPr>
              <a:t>Tensions/affrontements récurrents occasionnant des déplacements des habitants;</a:t>
            </a:r>
          </a:p>
          <a:p>
            <a:r>
              <a:rPr lang="fr-FR" sz="3200" dirty="0" smtClean="0">
                <a:latin typeface="Arial Narrow" panose="020B0606020202030204" pitchFamily="34" charset="0"/>
              </a:rPr>
              <a:t>Exploitations minières artisanales créant de nouvelles localités;</a:t>
            </a:r>
          </a:p>
          <a:p>
            <a:r>
              <a:rPr lang="fr-FR" sz="3200" dirty="0" smtClean="0">
                <a:latin typeface="Arial Narrow" panose="020B0606020202030204" pitchFamily="34" charset="0"/>
              </a:rPr>
              <a:t>Les réfugies </a:t>
            </a:r>
            <a:r>
              <a:rPr lang="fr-FR" sz="3200" dirty="0" err="1" smtClean="0">
                <a:latin typeface="Arial Narrow" panose="020B0606020202030204" pitchFamily="34" charset="0"/>
              </a:rPr>
              <a:t>abritantés</a:t>
            </a:r>
            <a:r>
              <a:rPr lang="fr-FR" sz="3200" dirty="0" smtClean="0">
                <a:latin typeface="Arial Narrow" panose="020B0606020202030204" pitchFamily="34" charset="0"/>
              </a:rPr>
              <a:t> dans trois camps dans deux Zones de santé;</a:t>
            </a:r>
          </a:p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2"/>
          </p:nvPr>
        </p:nvSpPr>
        <p:spPr>
          <a:xfrm>
            <a:off x="5953991" y="1536633"/>
            <a:ext cx="6057899" cy="5196676"/>
          </a:xfrm>
        </p:spPr>
        <p:txBody>
          <a:bodyPr>
            <a:normAutofit fontScale="92500"/>
          </a:bodyPr>
          <a:lstStyle/>
          <a:p>
            <a:r>
              <a:rPr lang="fr-FR" sz="3200" dirty="0" smtClean="0">
                <a:latin typeface="Arial Narrow" panose="020B0606020202030204" pitchFamily="34" charset="0"/>
              </a:rPr>
              <a:t>Les épidémies en cours: </a:t>
            </a:r>
          </a:p>
          <a:p>
            <a:pPr marL="107950" indent="0">
              <a:buNone/>
            </a:pPr>
            <a:r>
              <a:rPr lang="fr-FR" sz="3200" dirty="0">
                <a:latin typeface="Arial Narrow" panose="020B0606020202030204" pitchFamily="34" charset="0"/>
              </a:rPr>
              <a:t> </a:t>
            </a:r>
            <a:r>
              <a:rPr lang="fr-FR" sz="3200" dirty="0" smtClean="0">
                <a:latin typeface="Arial Narrow" panose="020B0606020202030204" pitchFamily="34" charset="0"/>
              </a:rPr>
              <a:t>     1. Rougeole(</a:t>
            </a:r>
            <a:r>
              <a:rPr lang="fr-FR" sz="3200" dirty="0" err="1" smtClean="0">
                <a:latin typeface="Arial Narrow" panose="020B0606020202030204" pitchFamily="34" charset="0"/>
              </a:rPr>
              <a:t>Bangabola</a:t>
            </a:r>
            <a:r>
              <a:rPr lang="fr-FR" sz="3200" dirty="0" smtClean="0">
                <a:latin typeface="Arial Narrow" panose="020B0606020202030204" pitchFamily="34" charset="0"/>
              </a:rPr>
              <a:t>, </a:t>
            </a:r>
            <a:r>
              <a:rPr lang="fr-FR" sz="3200" smtClean="0">
                <a:latin typeface="Arial Narrow" panose="020B0606020202030204" pitchFamily="34" charset="0"/>
              </a:rPr>
              <a:t>Ndage </a:t>
            </a:r>
            <a:r>
              <a:rPr lang="fr-FR" sz="3200" dirty="0" smtClean="0">
                <a:latin typeface="Arial Narrow" panose="020B0606020202030204" pitchFamily="34" charset="0"/>
              </a:rPr>
              <a:t>et 	</a:t>
            </a:r>
            <a:r>
              <a:rPr lang="fr-FR" sz="3200" dirty="0" err="1" smtClean="0">
                <a:latin typeface="Arial Narrow" panose="020B0606020202030204" pitchFamily="34" charset="0"/>
              </a:rPr>
              <a:t>Budjala</a:t>
            </a:r>
            <a:r>
              <a:rPr lang="fr-FR" sz="3200" dirty="0" smtClean="0">
                <a:latin typeface="Arial Narrow" panose="020B0606020202030204" pitchFamily="34" charset="0"/>
              </a:rPr>
              <a:t>;</a:t>
            </a:r>
          </a:p>
          <a:p>
            <a:pPr marL="107950" indent="0">
              <a:buNone/>
            </a:pPr>
            <a:r>
              <a:rPr lang="fr-FR" sz="3200" dirty="0">
                <a:latin typeface="Arial Narrow" panose="020B0606020202030204" pitchFamily="34" charset="0"/>
              </a:rPr>
              <a:t> </a:t>
            </a:r>
            <a:r>
              <a:rPr lang="fr-FR" sz="3200" dirty="0" smtClean="0">
                <a:latin typeface="Arial Narrow" panose="020B0606020202030204" pitchFamily="34" charset="0"/>
              </a:rPr>
              <a:t>     2. M’POX(Gemena, </a:t>
            </a:r>
            <a:r>
              <a:rPr lang="fr-FR" sz="3200" dirty="0" err="1" smtClean="0">
                <a:latin typeface="Arial Narrow" panose="020B0606020202030204" pitchFamily="34" charset="0"/>
              </a:rPr>
              <a:t>Bominenge</a:t>
            </a:r>
            <a:r>
              <a:rPr lang="fr-FR" sz="3200" dirty="0" smtClean="0">
                <a:latin typeface="Arial Narrow" panose="020B0606020202030204" pitchFamily="34" charset="0"/>
              </a:rPr>
              <a:t>,     	</a:t>
            </a:r>
            <a:r>
              <a:rPr lang="fr-FR" sz="3200" dirty="0" err="1" smtClean="0">
                <a:latin typeface="Arial Narrow" panose="020B0606020202030204" pitchFamily="34" charset="0"/>
              </a:rPr>
              <a:t>Libenge</a:t>
            </a:r>
            <a:r>
              <a:rPr lang="fr-FR" sz="3200" dirty="0" smtClean="0">
                <a:latin typeface="Arial Narrow" panose="020B0606020202030204" pitchFamily="34" charset="0"/>
              </a:rPr>
              <a:t>, </a:t>
            </a:r>
            <a:r>
              <a:rPr lang="fr-FR" sz="3200" dirty="0" err="1" smtClean="0">
                <a:latin typeface="Arial Narrow" panose="020B0606020202030204" pitchFamily="34" charset="0"/>
              </a:rPr>
              <a:t>Zongo</a:t>
            </a:r>
            <a:r>
              <a:rPr lang="fr-FR" sz="3200" dirty="0" smtClean="0">
                <a:latin typeface="Arial Narrow" panose="020B0606020202030204" pitchFamily="34" charset="0"/>
              </a:rPr>
              <a:t>, </a:t>
            </a:r>
            <a:r>
              <a:rPr lang="fr-FR" sz="3200" dirty="0" err="1" smtClean="0">
                <a:latin typeface="Arial Narrow" panose="020B0606020202030204" pitchFamily="34" charset="0"/>
              </a:rPr>
              <a:t>Bulu</a:t>
            </a:r>
            <a:r>
              <a:rPr lang="fr-FR" sz="3200" dirty="0" smtClean="0">
                <a:latin typeface="Arial Narrow" panose="020B0606020202030204" pitchFamily="34" charset="0"/>
              </a:rPr>
              <a:t> et 	</a:t>
            </a:r>
            <a:r>
              <a:rPr lang="fr-FR" sz="3200" dirty="0" err="1" smtClean="0">
                <a:latin typeface="Arial Narrow" panose="020B0606020202030204" pitchFamily="34" charset="0"/>
              </a:rPr>
              <a:t>Bangabola</a:t>
            </a:r>
            <a:r>
              <a:rPr lang="fr-FR" sz="3200" dirty="0" smtClean="0">
                <a:latin typeface="Arial Narrow" panose="020B0606020202030204" pitchFamily="34" charset="0"/>
              </a:rPr>
              <a:t>)</a:t>
            </a:r>
          </a:p>
          <a:p>
            <a:pPr marL="107950" indent="0">
              <a:buNone/>
            </a:pPr>
            <a:r>
              <a:rPr lang="fr-FR" sz="3200" dirty="0">
                <a:latin typeface="Arial Narrow" panose="020B0606020202030204" pitchFamily="34" charset="0"/>
              </a:rPr>
              <a:t> </a:t>
            </a:r>
            <a:r>
              <a:rPr lang="fr-FR" sz="3200" dirty="0" smtClean="0">
                <a:latin typeface="Arial Narrow" panose="020B0606020202030204" pitchFamily="34" charset="0"/>
              </a:rPr>
              <a:t>     Les ripostes en cours contre: </a:t>
            </a:r>
          </a:p>
          <a:p>
            <a:pPr marL="107950" indent="0">
              <a:buNone/>
            </a:pPr>
            <a:r>
              <a:rPr lang="fr-FR" sz="3200" dirty="0" smtClean="0">
                <a:latin typeface="Arial Narrow" panose="020B0606020202030204" pitchFamily="34" charset="0"/>
              </a:rPr>
              <a:t>     1. M’POX dans l’ensemble de la DPS</a:t>
            </a:r>
          </a:p>
          <a:p>
            <a:pPr marL="107950" indent="0">
              <a:buNone/>
            </a:pPr>
            <a:r>
              <a:rPr lang="fr-FR" sz="3200" dirty="0">
                <a:latin typeface="Arial Narrow" panose="020B0606020202030204" pitchFamily="34" charset="0"/>
              </a:rPr>
              <a:t> </a:t>
            </a:r>
            <a:r>
              <a:rPr lang="fr-FR" sz="3200" dirty="0" smtClean="0">
                <a:latin typeface="Arial Narrow" panose="020B0606020202030204" pitchFamily="34" charset="0"/>
              </a:rPr>
              <a:t>     2. Rougeole à </a:t>
            </a:r>
            <a:r>
              <a:rPr lang="fr-FR" sz="3200" dirty="0" err="1" smtClean="0">
                <a:latin typeface="Arial Narrow" panose="020B0606020202030204" pitchFamily="34" charset="0"/>
              </a:rPr>
              <a:t>Budjala</a:t>
            </a:r>
            <a:endParaRPr lang="fr-FR" sz="3200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45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4124804594"/>
              </p:ext>
            </p:extLst>
          </p:nvPr>
        </p:nvGraphicFramePr>
        <p:xfrm>
          <a:off x="233464" y="1189100"/>
          <a:ext cx="11751012" cy="5516558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3920247"/>
                <a:gridCol w="4455268"/>
                <a:gridCol w="1624519"/>
                <a:gridCol w="1750978"/>
              </a:tblGrid>
              <a:tr h="11176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2400" b="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2400" b="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2400" b="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2400" b="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364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CD" sz="2400" dirty="0" smtClean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Installation/Redynamisation des CAC dans 14 ZS de la DPS (là où elles manquent) pour réaliser les campagnes porte à porte d'identification et récupération des enfants zéro dose et sous vaccinés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 briefing des ECZS de 14ZS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Suivi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consultations des communautés pour la désignation des relais communautaires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Sensibilisation et plaidoyer des APA locales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Désignation et installation des CAC lors d’un processus très participatif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Briefing de relais communautaire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Renouveller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au moins 70% des CAC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229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AS sur 322 soit 71%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48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0400" y="146969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2666112079"/>
              </p:ext>
            </p:extLst>
          </p:nvPr>
        </p:nvGraphicFramePr>
        <p:xfrm>
          <a:off x="233464" y="878669"/>
          <a:ext cx="11751012" cy="5614174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3579779"/>
                <a:gridCol w="4328808"/>
                <a:gridCol w="1926077"/>
                <a:gridCol w="1916348"/>
              </a:tblGrid>
              <a:tr h="121039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d’intervention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37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Assurer l’identification et le suivi de la récupération des enfants Zéro Dose et Sous Vaccinés dans les communautés et dans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les établissements des soins  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Sur base des visites à domicile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relais communautaires recherche les enfants </a:t>
                      </a:r>
                      <a:r>
                        <a:rPr lang="fr-FR" sz="2400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zero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dose et sous vaccinés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cliniciens recherchent selon les antécédents de l’enfant,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ceux qui sont Zéro Dose et sous vaccinés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Moyennant le jeton remis à l’enfant , suit la récupération 90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 90% d’enfants identifiés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Zéro Dose et Sous Vaccinés sont récupérés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229 AS sur 322 soit 71%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 ZS sur 16 soit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87,5%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62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97850" y="137242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1523382679"/>
              </p:ext>
            </p:extLst>
          </p:nvPr>
        </p:nvGraphicFramePr>
        <p:xfrm>
          <a:off x="117751" y="599841"/>
          <a:ext cx="11917348" cy="6046972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705323"/>
                <a:gridCol w="5460728"/>
                <a:gridCol w="2561398"/>
                <a:gridCol w="2189899"/>
              </a:tblGrid>
              <a:tr h="84657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lang="" altLang="en-US"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829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Vaccination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les lieux de concentration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lieux de marchés, ports ont été ciblés pour servir de lieux de vaccination, les marchés transfrontaliers en particuliers et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trans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provinciaux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Collaboration avec les chefs des marchés et relais communautaires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Atteindre au moins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80% d’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Zéro dose et sous vaccinés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identifiés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14/16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soit 87.5%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Dongo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Elaka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Akula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 LIKIMI, BOKILIO, IMESE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96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Occasions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Manquées de Vaccination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enfants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 contacts avec le système leurs statuts vaccinaux sont viés par l’identification puis récupération moyennant des jetons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séances sont programmés en fonction de la concentration des enfants identifiés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Atteindre au moins 90% d’enfants Zéro dose ayant fréquenté les établissements de soins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2/16 soit 12.5%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les établissements publics et privés y compris les sites de soins communautaires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07500" y="103932"/>
            <a:ext cx="11274900" cy="5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2027576703"/>
              </p:ext>
            </p:extLst>
          </p:nvPr>
        </p:nvGraphicFramePr>
        <p:xfrm>
          <a:off x="233464" y="836579"/>
          <a:ext cx="11751012" cy="603495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266545"/>
                <a:gridCol w="4591455"/>
                <a:gridCol w="2334638"/>
                <a:gridCol w="2558374"/>
              </a:tblGrid>
              <a:tr h="856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endParaRPr lang="" altLang="en-US"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82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Vaccination sur horaire adapté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Relais conviennent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avec les parents du meilleur moment pour la vaccination des enfants identifiés zéro dose ou sous vaccinés du fait de l’indisponibilité des parents aux villages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Atteindre au moins 60%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d’enfants sur horaire convenu avec les parents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16/16 soit 100%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Habituellement le consensus fixait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pour la vaccination le samedi et le dimanche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Intégration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avec les AVS polio ou riposte M’POX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Prévoir des vaccins et érigés des sites de récupération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plus près de sites de ripostes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Atteindre au moins 80% des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cibles rencontrées dans les sites, identifiés zéro dose ou insuffisamment vaccinés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16/16 soit 100%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0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126460"/>
            <a:ext cx="11360700" cy="123040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Couvertures vaccinales par </a:t>
            </a:r>
            <a:r>
              <a:rPr lang="fr-FR" dirty="0" err="1" smtClean="0"/>
              <a:t>antigenes</a:t>
            </a:r>
            <a:r>
              <a:rPr lang="fr-FR" dirty="0" smtClean="0"/>
              <a:t> janvier à novembre 2025 des Zones de Santé, DPS SUD UABNGI.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256904"/>
              </p:ext>
            </p:extLst>
          </p:nvPr>
        </p:nvGraphicFramePr>
        <p:xfrm>
          <a:off x="87551" y="1624338"/>
          <a:ext cx="11994201" cy="4902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42"/>
                <a:gridCol w="1038336"/>
                <a:gridCol w="1332689"/>
                <a:gridCol w="1332689"/>
                <a:gridCol w="1332689"/>
                <a:gridCol w="1332689"/>
                <a:gridCol w="1332689"/>
                <a:gridCol w="1332689"/>
                <a:gridCol w="1332689"/>
              </a:tblGrid>
              <a:tr h="802149"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BCG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i="0" u="none" strike="noStrike">
                          <a:effectLst/>
                          <a:latin typeface="Arial" panose="020B0604020202020204" pitchFamily="34" charset="0"/>
                        </a:rPr>
                        <a:t>DTC3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i="0" u="none" strike="noStrike">
                          <a:effectLst/>
                          <a:latin typeface="Arial" panose="020B0604020202020204" pitchFamily="34" charset="0"/>
                        </a:rPr>
                        <a:t>PCV13_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i="0" u="none" strike="noStrike">
                          <a:effectLst/>
                          <a:latin typeface="Arial" panose="020B0604020202020204" pitchFamily="34" charset="0"/>
                        </a:rPr>
                        <a:t>Rota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VPO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VAA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VAR 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ECV</a:t>
                      </a:r>
                    </a:p>
                  </a:txBody>
                  <a:tcPr marL="6350" marR="6350" marT="6350" marB="0" anchor="b"/>
                </a:tc>
              </a:tr>
              <a:tr h="404526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DPS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65%</a:t>
                      </a:r>
                    </a:p>
                  </a:txBody>
                  <a:tcPr marL="6350" marR="6350" marT="6350" marB="0" anchor="b"/>
                </a:tc>
              </a:tr>
              <a:tr h="43265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 smtClean="0">
                          <a:effectLst/>
                          <a:latin typeface="Arial" panose="020B0604020202020204" pitchFamily="34" charset="0"/>
                        </a:rPr>
                        <a:t>Bngab</a:t>
                      </a:r>
                      <a:r>
                        <a:rPr lang="fr-FR" sz="24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66%</a:t>
                      </a:r>
                    </a:p>
                  </a:txBody>
                  <a:tcPr marL="6350" marR="6350" marT="6350" marB="0" anchor="b"/>
                </a:tc>
              </a:tr>
              <a:tr h="404526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 smtClean="0">
                          <a:effectLst/>
                          <a:latin typeface="Arial" panose="020B0604020202020204" pitchFamily="34" charset="0"/>
                        </a:rPr>
                        <a:t>Bogose</a:t>
                      </a:r>
                      <a:r>
                        <a:rPr lang="fr-FR" sz="24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117%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58%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b"/>
                </a:tc>
              </a:tr>
              <a:tr h="404526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effectLst/>
                          <a:latin typeface="Arial" panose="020B0604020202020204" pitchFamily="34" charset="0"/>
                        </a:rPr>
                        <a:t>Bokonzi</a:t>
                      </a:r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b"/>
                </a:tc>
              </a:tr>
              <a:tr h="438807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 smtClean="0">
                          <a:effectLst/>
                          <a:latin typeface="Arial" panose="020B0604020202020204" pitchFamily="34" charset="0"/>
                        </a:rPr>
                        <a:t>Bominge</a:t>
                      </a:r>
                      <a:r>
                        <a:rPr lang="fr-FR" sz="24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64%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65%</a:t>
                      </a:r>
                    </a:p>
                  </a:txBody>
                  <a:tcPr marL="6350" marR="6350" marT="6350" marB="0" anchor="b"/>
                </a:tc>
              </a:tr>
              <a:tr h="404526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Boto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78%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b"/>
                </a:tc>
              </a:tr>
              <a:tr h="404526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effectLst/>
                          <a:latin typeface="Arial" panose="020B0604020202020204" pitchFamily="34" charset="0"/>
                        </a:rPr>
                        <a:t>Budjala</a:t>
                      </a:r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158%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84%</a:t>
                      </a:r>
                    </a:p>
                  </a:txBody>
                  <a:tcPr marL="6350" marR="6350" marT="6350" marB="0" anchor="b"/>
                </a:tc>
              </a:tr>
              <a:tr h="404526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effectLst/>
                          <a:latin typeface="Arial" panose="020B0604020202020204" pitchFamily="34" charset="0"/>
                        </a:rPr>
                        <a:t>Bulu</a:t>
                      </a:r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120%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64%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62%</a:t>
                      </a:r>
                    </a:p>
                  </a:txBody>
                  <a:tcPr marL="6350" marR="6350" marT="6350" marB="0" anchor="b"/>
                </a:tc>
              </a:tr>
              <a:tr h="802149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2400" b="0" i="0" u="none" strike="noStrike" dirty="0" err="1" smtClean="0">
                          <a:effectLst/>
                          <a:latin typeface="Arial" panose="020B0604020202020204" pitchFamily="34" charset="0"/>
                        </a:rPr>
                        <a:t>Bwamanda</a:t>
                      </a:r>
                      <a:r>
                        <a:rPr lang="fr-FR" sz="24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97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126460"/>
            <a:ext cx="11360700" cy="123040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Couvertures vaccinales par </a:t>
            </a:r>
            <a:r>
              <a:rPr lang="fr-FR" dirty="0" err="1" smtClean="0"/>
              <a:t>antigenes</a:t>
            </a:r>
            <a:r>
              <a:rPr lang="fr-FR" dirty="0" smtClean="0"/>
              <a:t> janvier à novembre 2025 des Zones de Santé, DPS SUD UABNGI.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202675"/>
              </p:ext>
            </p:extLst>
          </p:nvPr>
        </p:nvGraphicFramePr>
        <p:xfrm>
          <a:off x="330739" y="1624338"/>
          <a:ext cx="11445561" cy="4941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729"/>
                <a:gridCol w="1271729"/>
                <a:gridCol w="1271729"/>
                <a:gridCol w="1271729"/>
                <a:gridCol w="1271729"/>
                <a:gridCol w="1271729"/>
                <a:gridCol w="1271729"/>
                <a:gridCol w="1271729"/>
                <a:gridCol w="1271729"/>
              </a:tblGrid>
              <a:tr h="544882"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BCG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i="0" u="none" strike="noStrike">
                          <a:effectLst/>
                          <a:latin typeface="Arial Narrow" panose="020B0606020202030204" pitchFamily="34" charset="0"/>
                        </a:rPr>
                        <a:t>DTC3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i="0" u="none" strike="noStrike">
                          <a:effectLst/>
                          <a:latin typeface="Arial Narrow" panose="020B0606020202030204" pitchFamily="34" charset="0"/>
                        </a:rPr>
                        <a:t>PCV13_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i="0" u="none" strike="noStrike">
                          <a:effectLst/>
                          <a:latin typeface="Arial Narrow" panose="020B0606020202030204" pitchFamily="34" charset="0"/>
                        </a:rPr>
                        <a:t>Rota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VPO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VAA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VAR 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ECV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Gemena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130%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111%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61%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59%</a:t>
                      </a:r>
                    </a:p>
                  </a:txBody>
                  <a:tcPr marL="6350" marR="6350" marT="6350" marB="0" anchor="b"/>
                </a:tc>
              </a:tr>
              <a:tr h="58277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Kungu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87%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76%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69%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Libenge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84%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55%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Mawuya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90%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Mbaya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85%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85%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Ndage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77%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70%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Tandala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62%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49%</a:t>
                      </a:r>
                    </a:p>
                  </a:txBody>
                  <a:tcPr marL="6350" marR="6350" marT="6350" marB="0" anchor="b"/>
                </a:tc>
              </a:tr>
              <a:tr h="54488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Zongo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101%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99%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67%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85%</a:t>
                      </a: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80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</a:t>
            </a:r>
            <a:r>
              <a:rPr lang="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Catégorisation des Zones de Santé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133337"/>
              </p:ext>
            </p:extLst>
          </p:nvPr>
        </p:nvGraphicFramePr>
        <p:xfrm>
          <a:off x="165368" y="927442"/>
          <a:ext cx="11721534" cy="5565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847"/>
                <a:gridCol w="2929594"/>
                <a:gridCol w="1896893"/>
                <a:gridCol w="1566153"/>
                <a:gridCol w="1332690"/>
                <a:gridCol w="1536970"/>
                <a:gridCol w="1225387"/>
              </a:tblGrid>
              <a:tr h="496978">
                <a:tc gridSpan="2">
                  <a:txBody>
                    <a:bodyPr/>
                    <a:lstStyle/>
                    <a:p>
                      <a:pPr algn="ctr" fontAlgn="b"/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DTC1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DTC3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CV1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TX AB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CAT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13757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r>
                        <a:rPr lang="fr-FR" sz="2400" u="none" strike="noStrike" dirty="0" smtClean="0">
                          <a:effectLst/>
                        </a:rPr>
                        <a:t>DPS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127 909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119 307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97%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7%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r>
                        <a:rPr lang="fr-FR" sz="2400" u="none" strike="noStrike" dirty="0" err="1">
                          <a:effectLst/>
                        </a:rPr>
                        <a:t>Bangabola</a:t>
                      </a:r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6 201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5 706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94%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8%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Bogosenubea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6 958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6 483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91%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7%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78844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Bokonzi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9 613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9 005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91%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Bominenge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6 327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5 953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87%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 smtClean="0">
                          <a:effectLst/>
                          <a:latin typeface="+mn-lt"/>
                        </a:rPr>
                        <a:t>3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Boto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6 975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6 555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84%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 smtClean="0">
                          <a:effectLst/>
                        </a:rPr>
                        <a:t>3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Budjala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6 914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6 494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111%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Bulu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6 639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6 253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108%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Bwamanda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10 577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9 824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99%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7%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49697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r>
                        <a:rPr lang="fr-FR" sz="2400" u="none" strike="noStrike" dirty="0" err="1">
                          <a:effectLst/>
                        </a:rPr>
                        <a:t>Zongo</a:t>
                      </a:r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3 693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3 474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101%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vaccinale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609937"/>
              </p:ext>
            </p:extLst>
          </p:nvPr>
        </p:nvGraphicFramePr>
        <p:xfrm>
          <a:off x="535020" y="927440"/>
          <a:ext cx="10528164" cy="5356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6154"/>
                <a:gridCol w="1792402"/>
                <a:gridCol w="1792402"/>
                <a:gridCol w="1792402"/>
                <a:gridCol w="1792402"/>
                <a:gridCol w="1792402"/>
              </a:tblGrid>
              <a:tr h="998575"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u="none" strike="noStrike" dirty="0">
                          <a:effectLst/>
                        </a:rPr>
                        <a:t>Zones de Santé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DTC1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DTC3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CV1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TX AB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CAT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8621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r>
                        <a:rPr lang="fr-FR" sz="2400" u="none" strike="noStrike" dirty="0" smtClean="0">
                          <a:effectLst/>
                        </a:rPr>
                        <a:t>Gemena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17 704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16 574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108%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0330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Kungu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9 502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8 391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95%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12%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2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8621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Libenge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9 063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8 558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93%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8621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r>
                        <a:rPr lang="fr-FR" sz="2400" u="none" strike="noStrike" dirty="0" err="1" smtClean="0">
                          <a:effectLst/>
                        </a:rPr>
                        <a:t>Mawuya</a:t>
                      </a:r>
                      <a:r>
                        <a:rPr lang="fr-FR" sz="2400" u="none" strike="noStrike" dirty="0" smtClean="0">
                          <a:effectLst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6 503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6 147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92%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5%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0330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Mbaya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3 032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2 818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98%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7%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0330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Ndage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5 830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5 532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94%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5%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8621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 dirty="0">
                          <a:effectLst/>
                        </a:rPr>
                        <a:t> </a:t>
                      </a:r>
                      <a:r>
                        <a:rPr lang="fr-FR" sz="2400" u="none" strike="noStrike" dirty="0" err="1" smtClean="0">
                          <a:effectLst/>
                        </a:rPr>
                        <a:t>Tandala</a:t>
                      </a:r>
                      <a:r>
                        <a:rPr lang="fr-FR" sz="2400" u="none" strike="noStrike" dirty="0" smtClean="0">
                          <a:effectLst/>
                        </a:rPr>
                        <a:t> 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12 378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11 540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96%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7%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  <a:tr h="503302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u="none" strike="noStrike">
                          <a:effectLst/>
                        </a:rPr>
                        <a:t> Zongo 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3 693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3 474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101%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>
                          <a:effectLst/>
                        </a:rPr>
                        <a:t>6%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u="none" strike="noStrike" dirty="0">
                          <a:effectLst/>
                        </a:rPr>
                        <a:t>1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30" marR="5930" marT="593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95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6733" y="165350"/>
            <a:ext cx="11984476" cy="763500"/>
          </a:xfrm>
        </p:spPr>
        <p:txBody>
          <a:bodyPr>
            <a:noAutofit/>
          </a:bodyPr>
          <a:lstStyle/>
          <a:p>
            <a:r>
              <a:rPr lang="fr-FR" sz="2400" dirty="0" smtClean="0"/>
              <a:t>COUVERTURES DES RIPOSTES CONTRE LA POLIO, Aout et Novembre 2025 SUD UBANGI</a:t>
            </a:r>
            <a:endParaRPr lang="fr-FR" sz="24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089532"/>
              </p:ext>
            </p:extLst>
          </p:nvPr>
        </p:nvGraphicFramePr>
        <p:xfrm>
          <a:off x="415599" y="1147865"/>
          <a:ext cx="11360700" cy="5544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450"/>
                <a:gridCol w="1893450"/>
                <a:gridCol w="1893450"/>
                <a:gridCol w="1893450"/>
                <a:gridCol w="1893450"/>
                <a:gridCol w="1893450"/>
              </a:tblGrid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ZSO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CV AOUT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LQAS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CVNOV nVPO2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 nOPV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LQAS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ZS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 AOUT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LQAS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CVNOV nVPO2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 nOPV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Bangabola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109,2%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100,80%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100,8%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Bogosenubea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81,5%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82,90%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81,6%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Bokonzi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95,1%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100,00%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Bominenge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102,5%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108,20%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72,4%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Boto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102,1%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100,50%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100,5%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Budjala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109,9%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105,60%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105,6%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Bulu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94,3%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112,00%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112,0%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72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6733" y="165350"/>
            <a:ext cx="11984476" cy="763500"/>
          </a:xfrm>
        </p:spPr>
        <p:txBody>
          <a:bodyPr>
            <a:noAutofit/>
          </a:bodyPr>
          <a:lstStyle/>
          <a:p>
            <a:r>
              <a:rPr lang="fr-FR" sz="2400" dirty="0" smtClean="0"/>
              <a:t>COUVERTURES DES RIPOSTES CONTRE LA POLIO, Aout et Novembre 2025 SUD UBANGI</a:t>
            </a:r>
            <a:endParaRPr lang="fr-FR" sz="24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602280"/>
              </p:ext>
            </p:extLst>
          </p:nvPr>
        </p:nvGraphicFramePr>
        <p:xfrm>
          <a:off x="415599" y="1147865"/>
          <a:ext cx="11360700" cy="5544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450"/>
                <a:gridCol w="1893450"/>
                <a:gridCol w="1893450"/>
                <a:gridCol w="1893450"/>
                <a:gridCol w="1893450"/>
                <a:gridCol w="1893450"/>
              </a:tblGrid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ZSO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CV AOUT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LQAS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CVNOV nVPO2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CV nOPV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LQAS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Gemena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109,8%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104,40%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100,9%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Kungu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100,9%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109,80%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109,0%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Libenge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92,4%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104,70%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104,7%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Mawuya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101,0%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102,60%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102,6%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Mbaya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98,6%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103,60%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103,6%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Ndage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119,7%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112,20%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110,9%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NR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Tandala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110,7%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102,30%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102,3%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  <a:tr h="616085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 Zongo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99,4%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effectLst/>
                          <a:latin typeface="Arial Narrow" panose="020B0606020202030204" pitchFamily="34" charset="0"/>
                        </a:rPr>
                        <a:t>114,30%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114,3%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acceptée</a:t>
                      </a: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80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2024-2025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91" name="Google Shape;191;g3aabc9d920d_0_390"/>
          <p:cNvGraphicFramePr/>
          <p:nvPr>
            <p:extLst>
              <p:ext uri="{D42A27DB-BD31-4B8C-83A1-F6EECF244321}">
                <p14:modId xmlns:p14="http://schemas.microsoft.com/office/powerpoint/2010/main" val="4185151558"/>
              </p:ext>
            </p:extLst>
          </p:nvPr>
        </p:nvGraphicFramePr>
        <p:xfrm>
          <a:off x="126459" y="927441"/>
          <a:ext cx="11896928" cy="587067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750979"/>
                <a:gridCol w="1383268"/>
                <a:gridCol w="1327101"/>
                <a:gridCol w="1487116"/>
                <a:gridCol w="1487116"/>
                <a:gridCol w="1487116"/>
                <a:gridCol w="1487116"/>
                <a:gridCol w="1487116"/>
              </a:tblGrid>
              <a:tr h="452826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ZS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couvertes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5586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2400" b="1" u="none" strike="noStrike" cap="none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24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37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D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13449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10972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10614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8732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8%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61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23536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19201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18574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15281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15%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61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</a:t>
                      </a:r>
                      <a:r>
                        <a:rPr lang="en-US" sz="240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adapté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30261</a:t>
                      </a:r>
                      <a:endParaRPr lang="fr-FR" sz="24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24687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23881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19647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19%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16%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3786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OMV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02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3678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5489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3357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3962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3%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3%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37869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TOTAL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70924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60349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56426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effectLst/>
                          <a:latin typeface="Arial Narrow" panose="020B0606020202030204" pitchFamily="34" charset="0"/>
                        </a:rPr>
                        <a:t>47622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44%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40%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01" name="Google Shape;201;g3aabc9d920d_0_401"/>
          <p:cNvGraphicFramePr/>
          <p:nvPr/>
        </p:nvGraphicFramePr>
        <p:xfrm>
          <a:off x="458600" y="1189100"/>
          <a:ext cx="11275000" cy="505935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</a:tblGrid>
              <a:tr h="4115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Cibles 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identifiés 12 - 23 mois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recuperés 12 - 23 mois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81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2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3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2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2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abc9d920d_0_41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c9d920d_0_4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8" name="Google Shape;208;g3aabc9d920d_0_4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9" name="Google Shape;209;g3aabc9d920d_0_4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10" name="Google Shape;210;g3aabc9d920d_0_41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11" name="Google Shape;211;g3aabc9d920d_0_410"/>
          <p:cNvGraphicFramePr/>
          <p:nvPr/>
        </p:nvGraphicFramePr>
        <p:xfrm>
          <a:off x="458600" y="1189100"/>
          <a:ext cx="11275000" cy="505935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  <a:gridCol w="1127500"/>
              </a:tblGrid>
              <a:tr h="4115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Cibles 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identifiés 24 - 59 mois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recuperés 24 - 59 mois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81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2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3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2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2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autres interventions specifiques</a:t>
            </a:r>
            <a:r>
              <a:rPr lang="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(stratégie spéciale, introduction des nouveaux vaccins)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21" name="Google Shape;221;g3aabc9d920d_0_419"/>
          <p:cNvGraphicFramePr/>
          <p:nvPr>
            <p:extLst>
              <p:ext uri="{D42A27DB-BD31-4B8C-83A1-F6EECF244321}">
                <p14:modId xmlns:p14="http://schemas.microsoft.com/office/powerpoint/2010/main" val="2912980556"/>
              </p:ext>
            </p:extLst>
          </p:nvPr>
        </p:nvGraphicFramePr>
        <p:xfrm>
          <a:off x="0" y="1189100"/>
          <a:ext cx="12026899" cy="5488542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577478"/>
                <a:gridCol w="2125695"/>
                <a:gridCol w="2223050"/>
                <a:gridCol w="2550338"/>
                <a:gridCol w="2550338"/>
              </a:tblGrid>
              <a:tr h="9463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Résultats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obtenus</a:t>
                      </a:r>
                      <a:r>
                        <a:rPr lang="en-US" sz="2400" b="1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3ème dose 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VAP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Bangabola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Bogose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nubea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Bokonzi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Bominenge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Boto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Budjala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Bulu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7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Bwamanda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33%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autres interventions specifiques</a:t>
            </a:r>
            <a:r>
              <a:rPr lang="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(stratégie spéciale, introduction des nouveaux vaccins)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21" name="Google Shape;221;g3aabc9d920d_0_419"/>
          <p:cNvGraphicFramePr/>
          <p:nvPr>
            <p:extLst>
              <p:ext uri="{D42A27DB-BD31-4B8C-83A1-F6EECF244321}">
                <p14:modId xmlns:p14="http://schemas.microsoft.com/office/powerpoint/2010/main" val="2218039529"/>
              </p:ext>
            </p:extLst>
          </p:nvPr>
        </p:nvGraphicFramePr>
        <p:xfrm>
          <a:off x="203201" y="1189100"/>
          <a:ext cx="11823698" cy="5579998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655375"/>
                <a:gridCol w="1968335"/>
                <a:gridCol w="2185490"/>
                <a:gridCol w="2507249"/>
                <a:gridCol w="2507249"/>
              </a:tblGrid>
              <a:tr h="96208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Résultats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obtenus</a:t>
                      </a:r>
                      <a:r>
                        <a:rPr lang="en-US" sz="24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VAP3</a:t>
                      </a:r>
                      <a:endParaRPr sz="24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VAP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Gemena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Kungu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49%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Libenge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59%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Mawuya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34%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Mbaya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Ndage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34%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Tandala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31%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2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Zongo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46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FC651E2B-69FE-277C-629A-CA12333F8C31}"/>
              </a:ext>
            </a:extLst>
          </p:cNvPr>
          <p:cNvSpPr txBox="1"/>
          <p:nvPr/>
        </p:nvSpPr>
        <p:spPr>
          <a:xfrm>
            <a:off x="501713" y="275785"/>
            <a:ext cx="11188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D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Performances de la surveillance des PFA par Zone de santé dans la DPS Sud Ubangi au </a:t>
            </a:r>
            <a:r>
              <a:rPr lang="fr-CD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07 déc</a:t>
            </a:r>
            <a:r>
              <a:rPr lang="fr-CD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embre 2025</a:t>
            </a:r>
            <a:endParaRPr lang="x-none" sz="2000" b="1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xmlns="" id="{BE75D8DA-2118-8FC1-381D-F0EBE6529B0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3359" y="864296"/>
          <a:ext cx="11188576" cy="5491411"/>
        </p:xfrm>
        <a:graphic>
          <a:graphicData uri="http://schemas.openxmlformats.org/drawingml/2006/table">
            <a:tbl>
              <a:tblPr firstRow="1" firstCol="1" bandRow="1"/>
              <a:tblGrid>
                <a:gridCol w="1086336">
                  <a:extLst>
                    <a:ext uri="{9D8B030D-6E8A-4147-A177-3AD203B41FA5}">
                      <a16:colId xmlns:a16="http://schemas.microsoft.com/office/drawing/2014/main" xmlns="" val="2378708898"/>
                    </a:ext>
                  </a:extLst>
                </a:gridCol>
                <a:gridCol w="737205">
                  <a:extLst>
                    <a:ext uri="{9D8B030D-6E8A-4147-A177-3AD203B41FA5}">
                      <a16:colId xmlns:a16="http://schemas.microsoft.com/office/drawing/2014/main" xmlns="" val="1613280487"/>
                    </a:ext>
                  </a:extLst>
                </a:gridCol>
                <a:gridCol w="603293">
                  <a:extLst>
                    <a:ext uri="{9D8B030D-6E8A-4147-A177-3AD203B41FA5}">
                      <a16:colId xmlns:a16="http://schemas.microsoft.com/office/drawing/2014/main" xmlns="" val="1710882688"/>
                    </a:ext>
                  </a:extLst>
                </a:gridCol>
                <a:gridCol w="528819">
                  <a:extLst>
                    <a:ext uri="{9D8B030D-6E8A-4147-A177-3AD203B41FA5}">
                      <a16:colId xmlns:a16="http://schemas.microsoft.com/office/drawing/2014/main" xmlns="" val="438430278"/>
                    </a:ext>
                  </a:extLst>
                </a:gridCol>
                <a:gridCol w="708509">
                  <a:extLst>
                    <a:ext uri="{9D8B030D-6E8A-4147-A177-3AD203B41FA5}">
                      <a16:colId xmlns:a16="http://schemas.microsoft.com/office/drawing/2014/main" xmlns="" val="3180767333"/>
                    </a:ext>
                  </a:extLst>
                </a:gridCol>
                <a:gridCol w="708509">
                  <a:extLst>
                    <a:ext uri="{9D8B030D-6E8A-4147-A177-3AD203B41FA5}">
                      <a16:colId xmlns:a16="http://schemas.microsoft.com/office/drawing/2014/main" xmlns="" val="2911091826"/>
                    </a:ext>
                  </a:extLst>
                </a:gridCol>
                <a:gridCol w="297205">
                  <a:extLst>
                    <a:ext uri="{9D8B030D-6E8A-4147-A177-3AD203B41FA5}">
                      <a16:colId xmlns:a16="http://schemas.microsoft.com/office/drawing/2014/main" xmlns="" val="1751561891"/>
                    </a:ext>
                  </a:extLst>
                </a:gridCol>
                <a:gridCol w="753603">
                  <a:extLst>
                    <a:ext uri="{9D8B030D-6E8A-4147-A177-3AD203B41FA5}">
                      <a16:colId xmlns:a16="http://schemas.microsoft.com/office/drawing/2014/main" xmlns="" val="2060995232"/>
                    </a:ext>
                  </a:extLst>
                </a:gridCol>
                <a:gridCol w="528819">
                  <a:extLst>
                    <a:ext uri="{9D8B030D-6E8A-4147-A177-3AD203B41FA5}">
                      <a16:colId xmlns:a16="http://schemas.microsoft.com/office/drawing/2014/main" xmlns="" val="3474470229"/>
                    </a:ext>
                  </a:extLst>
                </a:gridCol>
                <a:gridCol w="558200">
                  <a:extLst>
                    <a:ext uri="{9D8B030D-6E8A-4147-A177-3AD203B41FA5}">
                      <a16:colId xmlns:a16="http://schemas.microsoft.com/office/drawing/2014/main" xmlns="" val="2080414424"/>
                    </a:ext>
                  </a:extLst>
                </a:gridCol>
                <a:gridCol w="596460">
                  <a:extLst>
                    <a:ext uri="{9D8B030D-6E8A-4147-A177-3AD203B41FA5}">
                      <a16:colId xmlns:a16="http://schemas.microsoft.com/office/drawing/2014/main" xmlns="" val="1838180648"/>
                    </a:ext>
                  </a:extLst>
                </a:gridCol>
                <a:gridCol w="383292">
                  <a:extLst>
                    <a:ext uri="{9D8B030D-6E8A-4147-A177-3AD203B41FA5}">
                      <a16:colId xmlns:a16="http://schemas.microsoft.com/office/drawing/2014/main" xmlns="" val="1301611410"/>
                    </a:ext>
                  </a:extLst>
                </a:gridCol>
                <a:gridCol w="596460">
                  <a:extLst>
                    <a:ext uri="{9D8B030D-6E8A-4147-A177-3AD203B41FA5}">
                      <a16:colId xmlns:a16="http://schemas.microsoft.com/office/drawing/2014/main" xmlns="" val="1932054896"/>
                    </a:ext>
                  </a:extLst>
                </a:gridCol>
                <a:gridCol w="528819">
                  <a:extLst>
                    <a:ext uri="{9D8B030D-6E8A-4147-A177-3AD203B41FA5}">
                      <a16:colId xmlns:a16="http://schemas.microsoft.com/office/drawing/2014/main" xmlns="" val="1776340218"/>
                    </a:ext>
                  </a:extLst>
                </a:gridCol>
                <a:gridCol w="613541">
                  <a:extLst>
                    <a:ext uri="{9D8B030D-6E8A-4147-A177-3AD203B41FA5}">
                      <a16:colId xmlns:a16="http://schemas.microsoft.com/office/drawing/2014/main" xmlns="" val="296224065"/>
                    </a:ext>
                  </a:extLst>
                </a:gridCol>
                <a:gridCol w="573231">
                  <a:extLst>
                    <a:ext uri="{9D8B030D-6E8A-4147-A177-3AD203B41FA5}">
                      <a16:colId xmlns:a16="http://schemas.microsoft.com/office/drawing/2014/main" xmlns="" val="2694863941"/>
                    </a:ext>
                  </a:extLst>
                </a:gridCol>
                <a:gridCol w="753603">
                  <a:extLst>
                    <a:ext uri="{9D8B030D-6E8A-4147-A177-3AD203B41FA5}">
                      <a16:colId xmlns:a16="http://schemas.microsoft.com/office/drawing/2014/main" xmlns="" val="3965460999"/>
                    </a:ext>
                  </a:extLst>
                </a:gridCol>
                <a:gridCol w="632672">
                  <a:extLst>
                    <a:ext uri="{9D8B030D-6E8A-4147-A177-3AD203B41FA5}">
                      <a16:colId xmlns:a16="http://schemas.microsoft.com/office/drawing/2014/main" xmlns="" val="4059509514"/>
                    </a:ext>
                  </a:extLst>
                </a:gridCol>
              </a:tblGrid>
              <a:tr h="676881">
                <a:tc rowSpan="2">
                  <a:txBody>
                    <a:bodyPr/>
                    <a:lstStyle/>
                    <a:p>
                      <a:pPr algn="ctr"/>
                      <a:r>
                        <a:rPr lang="fr-CD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 de la Zone de Santé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Pop&lt; 15 ans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cas à notifier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cas de PFA &lt; 15 ans notifiés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1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PVS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VDPV (VDPDV+aVDPV+cVDPV)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Compatibles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Tx PFA NP annualisé pop&lt;15ans (&gt;=3/100000)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cas avec selles prélevés dans les 14 jours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d'échantillons reçus au Labo dans de mauvaises conditions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% des selles adéquates (&gt;80%)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Nbre de cas investigués dans les 48h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%cas des investigués dans les 48h après notification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cas avec selles prélevés dans les 7 jours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%cas PFA avec 2 échantillons prélevés&lt;=7jrs du début de paralysie (&gt;=80%)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cas avec selles prélevés entre le 2ème et le 11 jours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%cas PFA avec 2 échantillons prélevés&gt;=24h ET&lt;=11jrsdu débute paralysie (&gt;=80%)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Atteinte des 2 indicateurs majeurs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0749679"/>
                  </a:ext>
                </a:extLst>
              </a:tr>
              <a:tr h="751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1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(n)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1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(n)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1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(n)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57696030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Bangabola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93 176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4,6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3973518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Bogose Nubea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107 792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3,0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51929389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Bokonzi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148 876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3,6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83631887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Bominenge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102 576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10,3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29740521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Boto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118 252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8,1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89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89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4834686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Budjala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88 255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8,4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71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03435520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Bulu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87 403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3,6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04536863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Bwamanda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151 621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8,4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53040389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Gemena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231 539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8,3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40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84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26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58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1459234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Kungu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141 856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11,2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73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47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87350172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Libenge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138 618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10,0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92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69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3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18747895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Mawuya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100 110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4,2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3038121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Mbaya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43 976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7,2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74485114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Ndage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87 981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3,6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537458"/>
                  </a:ext>
                </a:extLst>
              </a:tr>
              <a:tr h="204035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Tandala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182 994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5,2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22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89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1616051"/>
                  </a:ext>
                </a:extLst>
              </a:tr>
              <a:tr h="213752">
                <a:tc>
                  <a:txBody>
                    <a:bodyPr/>
                    <a:lstStyle/>
                    <a:p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Zongo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52 039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8,2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99770479"/>
                  </a:ext>
                </a:extLst>
              </a:tr>
              <a:tr h="373094"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SUD-UBANGI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877</a:t>
                      </a:r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064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123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6,9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108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88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112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91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93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76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E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D" sz="1200" b="1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Oui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92" marR="586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7168432"/>
                  </a:ext>
                </a:extLst>
              </a:tr>
            </a:tbl>
          </a:graphicData>
        </a:graphic>
      </p:graphicFrame>
      <p:sp>
        <p:nvSpPr>
          <p:cNvPr id="4" name="Arc 3"/>
          <p:cNvSpPr/>
          <p:nvPr/>
        </p:nvSpPr>
        <p:spPr>
          <a:xfrm>
            <a:off x="5008419" y="5860472"/>
            <a:ext cx="914400" cy="914400"/>
          </a:xfrm>
          <a:prstGeom prst="arc">
            <a:avLst>
              <a:gd name="adj1" fmla="val 420080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c 4"/>
          <p:cNvSpPr/>
          <p:nvPr/>
        </p:nvSpPr>
        <p:spPr>
          <a:xfrm>
            <a:off x="6854537" y="5943600"/>
            <a:ext cx="914400" cy="914400"/>
          </a:xfrm>
          <a:prstGeom prst="arc">
            <a:avLst>
              <a:gd name="adj1" fmla="val 420080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42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xmlns="" id="{1A94F8CA-DF8A-0095-308B-871B055F1C6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541462" y="165099"/>
            <a:ext cx="9109075" cy="555625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fr-FR" altLang="fr-FR" sz="1800" b="1" dirty="0">
                <a:solidFill>
                  <a:schemeClr val="bg1"/>
                </a:solidFill>
              </a:rPr>
              <a:t>NOTIFICATIONS COMPAREES DES CAS SUSPECTS DE ROUGEOLE, FJ, TMN DE SURVEILLANCE CAS PAR CAS ET SURVEILLANCE INTEGREE, S1-S49/2025 QU SUD-UBANGI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xmlns="" id="{8EBB21CF-2E9C-2566-BA35-4F7473AA3E1D}"/>
              </a:ext>
            </a:extLst>
          </p:cNvPr>
          <p:cNvGraphicFramePr>
            <a:graphicFrameLocks noGrp="1"/>
          </p:cNvGraphicFramePr>
          <p:nvPr/>
        </p:nvGraphicFramePr>
        <p:xfrm>
          <a:off x="2927350" y="6092826"/>
          <a:ext cx="2908300" cy="6000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 par car égal à SIMR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 par car supérieur à SIMR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 par car inférieur à SIMR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9DC370A2-E7FF-D68D-53A5-D42A11495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1358"/>
              </p:ext>
            </p:extLst>
          </p:nvPr>
        </p:nvGraphicFramePr>
        <p:xfrm>
          <a:off x="388307" y="1102289"/>
          <a:ext cx="11010375" cy="4872221"/>
        </p:xfrm>
        <a:graphic>
          <a:graphicData uri="http://schemas.openxmlformats.org/drawingml/2006/table">
            <a:tbl>
              <a:tblPr/>
              <a:tblGrid>
                <a:gridCol w="1442739">
                  <a:extLst>
                    <a:ext uri="{9D8B030D-6E8A-4147-A177-3AD203B41FA5}">
                      <a16:colId xmlns:a16="http://schemas.microsoft.com/office/drawing/2014/main" xmlns="" val="3316943403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1848040846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1233976462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3353358711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2772117408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669702716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1223225214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2764187162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2904705550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3858950563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1420252837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3133704468"/>
                    </a:ext>
                  </a:extLst>
                </a:gridCol>
                <a:gridCol w="797303">
                  <a:extLst>
                    <a:ext uri="{9D8B030D-6E8A-4147-A177-3AD203B41FA5}">
                      <a16:colId xmlns:a16="http://schemas.microsoft.com/office/drawing/2014/main" xmlns="" val="2004288798"/>
                    </a:ext>
                  </a:extLst>
                </a:gridCol>
              </a:tblGrid>
              <a:tr h="2485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ZONE DE SANTE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PFA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Rougeole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Fièvre jaune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9827853"/>
                  </a:ext>
                </a:extLst>
              </a:tr>
              <a:tr h="261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Cas/ cas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Cas/ cas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Cas/ cas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Cas/ cas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81198495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Bangabola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-537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8076813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Bogose Nubea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04268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Bokonzi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66440805"/>
                  </a:ext>
                </a:extLst>
              </a:tr>
              <a:tr h="261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Bominenge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78345432"/>
                  </a:ext>
                </a:extLst>
              </a:tr>
              <a:tr h="261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06905325"/>
                  </a:ext>
                </a:extLst>
              </a:tr>
              <a:tr h="261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Budjala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-1280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58582942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Bulu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5606487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Bwamanda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4188930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Gemena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056666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Kungu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9664087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Libenge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5730085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Mawuya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3857115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Mbaya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56636570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Ndage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96898733"/>
                  </a:ext>
                </a:extLst>
              </a:tr>
              <a:tr h="24857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Tandala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2344824"/>
                  </a:ext>
                </a:extLst>
              </a:tr>
              <a:tr h="261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Zongo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5234"/>
                  </a:ext>
                </a:extLst>
              </a:tr>
              <a:tr h="2734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SUD-UBANGI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92051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3033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c9d920d_0_21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expliquant la performance (leadership, mobilisation communautaire, intégration, supervision)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g3aabc9d920d_0_2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8" name="Google Shape;228;g3aabc9d920d_0_2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g3aabc9d920d_0_2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g3aabc9d920d_0_2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g3aabc9d920d_0_217"/>
          <p:cNvSpPr/>
          <p:nvPr/>
        </p:nvSpPr>
        <p:spPr>
          <a:xfrm>
            <a:off x="458600" y="1323700"/>
            <a:ext cx="113565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chaque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facture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mettre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évidence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pratiques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Problème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résolu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par la bonne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Description de la bonne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personnes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impliqu</a:t>
            </a:r>
            <a:r>
              <a:rPr lang="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bonne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la replication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46263" y="3275112"/>
            <a:ext cx="5099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Bonjour </a:t>
            </a:r>
            <a:r>
              <a:rPr lang="fr-FR" dirty="0" err="1"/>
              <a:t>Coordon</a:t>
            </a:r>
            <a:r>
              <a:rPr lang="fr-FR" dirty="0"/>
              <a:t>, besoin du rapport OVM avec les </a:t>
            </a:r>
            <a:r>
              <a:rPr lang="fr-FR" dirty="0" err="1"/>
              <a:t>statistques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175099"/>
            <a:ext cx="11360700" cy="69066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FACTEURS DE SUCCES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840928"/>
              </p:ext>
            </p:extLst>
          </p:nvPr>
        </p:nvGraphicFramePr>
        <p:xfrm>
          <a:off x="145918" y="1079770"/>
          <a:ext cx="11507820" cy="588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564"/>
                <a:gridCol w="2301564"/>
                <a:gridCol w="2301564"/>
                <a:gridCol w="2301564"/>
                <a:gridCol w="2301564"/>
              </a:tblGrid>
              <a:tr h="628246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FACTEURS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</a:rPr>
                        <a:t> DE SUCCES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Times New Roman" panose="02020603050405020304"/>
                        <a:buNone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pratique</a:t>
                      </a:r>
                      <a:endParaRPr lang="fr-FR" sz="1400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Problème résolu par la bonne pratique</a:t>
                      </a: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Résultats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</a:rPr>
                        <a:t> obtenus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Recommandations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49984">
                <a:tc>
                  <a:txBody>
                    <a:bodyPr/>
                    <a:lstStyle/>
                    <a:p>
                      <a:r>
                        <a:rPr lang="fr-FR" sz="2400" b="1" dirty="0" smtClean="0"/>
                        <a:t>Intégration</a:t>
                      </a:r>
                      <a:r>
                        <a:rPr lang="fr-FR" sz="2400" b="1" baseline="0" dirty="0" smtClean="0"/>
                        <a:t> de la recherche et récupération des Enfants Zéro dose et sous vaccinés dans les sites de soins communautaires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Les</a:t>
                      </a:r>
                      <a:r>
                        <a:rPr lang="fr-FR" sz="2000" baseline="0" dirty="0" smtClean="0"/>
                        <a:t> agents formés;</a:t>
                      </a:r>
                    </a:p>
                    <a:p>
                      <a:r>
                        <a:rPr lang="fr-FR" sz="2000" baseline="0" dirty="0" smtClean="0"/>
                        <a:t>Les outils partagés, jetons</a:t>
                      </a:r>
                    </a:p>
                    <a:p>
                      <a:r>
                        <a:rPr lang="fr-FR" sz="2000" baseline="0" dirty="0" smtClean="0"/>
                        <a:t>Chaque enfant ayant consulté selon le protocole a présenté son calendrier </a:t>
                      </a:r>
                    </a:p>
                    <a:p>
                      <a:r>
                        <a:rPr lang="fr-FR" sz="2000" baseline="0" dirty="0" smtClean="0"/>
                        <a:t>Un RDV au site de soins communautaire pour la vaccination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/>
                        <a:t>Equité</a:t>
                      </a:r>
                      <a:r>
                        <a:rPr lang="fr-FR" sz="2000" dirty="0" smtClean="0"/>
                        <a:t>: L’accès aux populations des localités, ilots enclavés mal desservis</a:t>
                      </a:r>
                    </a:p>
                    <a:p>
                      <a:r>
                        <a:rPr lang="fr-FR" sz="2000" dirty="0" smtClean="0"/>
                        <a:t>Réduction des OVM</a:t>
                      </a:r>
                    </a:p>
                    <a:p>
                      <a:r>
                        <a:rPr lang="fr-FR" sz="2000" b="1" dirty="0" smtClean="0"/>
                        <a:t>Intégration des intervention</a:t>
                      </a:r>
                      <a:r>
                        <a:rPr lang="fr-FR" sz="2000" dirty="0" smtClean="0"/>
                        <a:t>: Généralement les intrants de nutrition, soins ou PEC </a:t>
                      </a:r>
                    </a:p>
                    <a:p>
                      <a:endParaRPr lang="fr-FR" sz="2000" dirty="0" smtClean="0"/>
                    </a:p>
                    <a:p>
                      <a:endParaRPr lang="fr-FR" sz="2000" dirty="0" smtClean="0"/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38% d’enfants récupérés</a:t>
                      </a:r>
                      <a:r>
                        <a:rPr lang="fr-FR" sz="2000" baseline="0" smtClean="0"/>
                        <a:t> dans le cadre de la réduction des OVM dans le deux ZS ciblées, l’ont été surtout dans les sites de soins communautaires à Bominenge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Former les acteurs </a:t>
                      </a:r>
                    </a:p>
                    <a:p>
                      <a:r>
                        <a:rPr lang="fr-FR" sz="2000" dirty="0" smtClean="0"/>
                        <a:t>Monter</a:t>
                      </a:r>
                      <a:r>
                        <a:rPr lang="fr-FR" sz="2000" baseline="0" dirty="0" smtClean="0"/>
                        <a:t> les équipes mobiles outillées</a:t>
                      </a:r>
                    </a:p>
                    <a:p>
                      <a:r>
                        <a:rPr lang="fr-FR" sz="2000" baseline="0" dirty="0" smtClean="0"/>
                        <a:t>Disposer des kits MAPI</a:t>
                      </a:r>
                    </a:p>
                    <a:p>
                      <a:r>
                        <a:rPr lang="fr-FR" sz="2000" baseline="0" dirty="0" smtClean="0"/>
                        <a:t>Respecter l’heure du RDV</a:t>
                      </a:r>
                    </a:p>
                    <a:p>
                      <a:r>
                        <a:rPr lang="fr-FR" sz="2000" baseline="0" dirty="0" smtClean="0"/>
                        <a:t>Disposer d’autres intrants en plus de vaccins</a:t>
                      </a:r>
                    </a:p>
                    <a:p>
                      <a:r>
                        <a:rPr lang="fr-FR" sz="2000" baseline="0" dirty="0" smtClean="0"/>
                        <a:t>Meilleure indication;: sites ruraux </a:t>
                      </a:r>
                      <a:endParaRPr lang="fr-FR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FACTEURS DE SUCCES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765671"/>
              </p:ext>
            </p:extLst>
          </p:nvPr>
        </p:nvGraphicFramePr>
        <p:xfrm>
          <a:off x="415602" y="1536632"/>
          <a:ext cx="11228405" cy="5239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1"/>
                <a:gridCol w="2245681"/>
                <a:gridCol w="2245681"/>
                <a:gridCol w="2245681"/>
                <a:gridCol w="2245681"/>
              </a:tblGrid>
              <a:tr h="759258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FACTEURS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</a:rPr>
                        <a:t> DE SUCCES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Times New Roman" panose="02020603050405020304"/>
                        <a:buNone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pratique</a:t>
                      </a:r>
                      <a:endParaRPr lang="fr-FR" sz="1400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Problème résolu par la bonne pratique</a:t>
                      </a: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Résultats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</a:rPr>
                        <a:t> obtenus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Recommandations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1048">
                <a:tc>
                  <a:txBody>
                    <a:bodyPr/>
                    <a:lstStyle/>
                    <a:p>
                      <a:r>
                        <a:rPr lang="fr-FR" sz="2400" b="1" dirty="0" smtClean="0"/>
                        <a:t>Activités</a:t>
                      </a:r>
                      <a:r>
                        <a:rPr lang="fr-FR" sz="2400" b="1" baseline="0" dirty="0" smtClean="0"/>
                        <a:t> Génératrices des revenus des CAC:</a:t>
                      </a:r>
                    </a:p>
                    <a:p>
                      <a:r>
                        <a:rPr lang="fr-FR" sz="2400" b="1" dirty="0" smtClean="0"/>
                        <a:t>Chaises</a:t>
                      </a:r>
                      <a:r>
                        <a:rPr lang="fr-FR" sz="2400" b="1" baseline="0" dirty="0" smtClean="0"/>
                        <a:t> de location</a:t>
                      </a:r>
                    </a:p>
                    <a:p>
                      <a:r>
                        <a:rPr lang="fr-FR" sz="2400" b="1" baseline="0" dirty="0" smtClean="0"/>
                        <a:t>Bétails</a:t>
                      </a:r>
                    </a:p>
                    <a:p>
                      <a:r>
                        <a:rPr lang="fr-FR" sz="2400" b="1" baseline="0" dirty="0" smtClean="0"/>
                        <a:t>Champs collectifs</a:t>
                      </a:r>
                    </a:p>
                    <a:p>
                      <a:r>
                        <a:rPr lang="fr-FR" sz="2400" b="1" baseline="0" dirty="0" smtClean="0"/>
                        <a:t>Source d’Eau aménagée </a:t>
                      </a:r>
                      <a:endParaRPr lang="fr-FR" sz="2400" b="1" dirty="0" smtClean="0"/>
                    </a:p>
                    <a:p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Des fonds remis</a:t>
                      </a:r>
                      <a:r>
                        <a:rPr lang="fr-FR" sz="2400" baseline="0" dirty="0" smtClean="0"/>
                        <a:t> aux Comités de Santé après un diagnostic communautaire ayant débouché à un Plan d’Action Communautaire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Dépendance</a:t>
                      </a:r>
                      <a:r>
                        <a:rPr lang="fr-FR" sz="2400" baseline="0" dirty="0" smtClean="0"/>
                        <a:t> financière auprès du CS</a:t>
                      </a:r>
                    </a:p>
                    <a:p>
                      <a:r>
                        <a:rPr lang="fr-FR" sz="2400" baseline="0" dirty="0" smtClean="0"/>
                        <a:t>Vision centrée sur les activités soutenues par AGR 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smtClean="0"/>
                        <a:t>Cohésion et attachement</a:t>
                      </a:r>
                      <a:r>
                        <a:rPr lang="fr-FR" sz="2400" baseline="0" smtClean="0"/>
                        <a:t> autour de l’IT</a:t>
                      </a:r>
                    </a:p>
                    <a:p>
                      <a:r>
                        <a:rPr lang="fr-FR" sz="2400" baseline="0" smtClean="0"/>
                        <a:t>Compétence sur les AGR</a:t>
                      </a:r>
                    </a:p>
                    <a:p>
                      <a:r>
                        <a:rPr lang="fr-FR" sz="2400" baseline="0" smtClean="0"/>
                        <a:t>Attention détournée sur le monnayage des activités communautaires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Bien recruter les</a:t>
                      </a:r>
                      <a:r>
                        <a:rPr lang="fr-FR" sz="2400" baseline="0" dirty="0" smtClean="0"/>
                        <a:t> relais communautaire</a:t>
                      </a:r>
                    </a:p>
                    <a:p>
                      <a:r>
                        <a:rPr lang="fr-FR" sz="2400" baseline="0" dirty="0" smtClean="0"/>
                        <a:t>Former les acteurs</a:t>
                      </a:r>
                    </a:p>
                    <a:p>
                      <a:r>
                        <a:rPr lang="fr-FR" sz="2400" baseline="0" dirty="0" smtClean="0"/>
                        <a:t>Plan d’action Communautaire </a:t>
                      </a:r>
                    </a:p>
                    <a:p>
                      <a:r>
                        <a:rPr lang="fr-FR" sz="2400" baseline="0" dirty="0" smtClean="0"/>
                        <a:t>Suivi de la MEO </a:t>
                      </a:r>
                      <a:endParaRPr lang="fr-FR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01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FACTEURS DE SUCCES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939177"/>
              </p:ext>
            </p:extLst>
          </p:nvPr>
        </p:nvGraphicFramePr>
        <p:xfrm>
          <a:off x="415602" y="1536632"/>
          <a:ext cx="1122840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1"/>
                <a:gridCol w="2757023"/>
                <a:gridCol w="2188724"/>
                <a:gridCol w="2101174"/>
                <a:gridCol w="1935803"/>
              </a:tblGrid>
              <a:tr h="648130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FACTEURS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</a:rPr>
                        <a:t> DE SUCCES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Times New Roman" panose="02020603050405020304"/>
                        <a:buNone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pratique</a:t>
                      </a:r>
                      <a:endParaRPr lang="fr-FR" sz="1400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Problème résolu par la bonne pratique</a:t>
                      </a: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Résultats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</a:rPr>
                        <a:t> obtenus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Recommandations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293859">
                <a:tc>
                  <a:txBody>
                    <a:bodyPr/>
                    <a:lstStyle/>
                    <a:p>
                      <a:r>
                        <a:rPr lang="fr-FR" sz="2400" b="1" dirty="0" smtClean="0"/>
                        <a:t>Accompagnement des CAC </a:t>
                      </a:r>
                      <a:r>
                        <a:rPr lang="fr-FR" sz="2400" b="1" dirty="0" smtClean="0"/>
                        <a:t>par les OAC à </a:t>
                      </a:r>
                      <a:r>
                        <a:rPr lang="fr-FR" sz="2400" b="1" dirty="0" smtClean="0"/>
                        <a:t>l’identification et suivi de l’identification des EZD</a:t>
                      </a:r>
                      <a:r>
                        <a:rPr lang="fr-FR" sz="2400" b="1" baseline="0" dirty="0" smtClean="0"/>
                        <a:t> et SV et la saisie des données 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Les OAC sélectionnées</a:t>
                      </a:r>
                      <a:r>
                        <a:rPr lang="fr-FR" sz="2400" baseline="0" dirty="0" smtClean="0"/>
                        <a:t> ont suivi le processus et ont toujours participé aux briefing et réunion à l’ECZS pour </a:t>
                      </a:r>
                      <a:r>
                        <a:rPr lang="fr-FR" sz="2400" baseline="0" dirty="0" smtClean="0"/>
                        <a:t>répercuter  </a:t>
                      </a:r>
                      <a:r>
                        <a:rPr lang="fr-FR" sz="2400" baseline="0" dirty="0" smtClean="0"/>
                        <a:t>avec les CAC lors de leurs tournées de suivi supervision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Suivi</a:t>
                      </a:r>
                      <a:r>
                        <a:rPr lang="fr-FR" sz="2400" baseline="0" dirty="0" smtClean="0"/>
                        <a:t> de proximité sur les instructions </a:t>
                      </a:r>
                    </a:p>
                    <a:p>
                      <a:r>
                        <a:rPr lang="fr-FR" sz="2400" baseline="0" dirty="0" smtClean="0"/>
                        <a:t>Saisie des données </a:t>
                      </a:r>
                    </a:p>
                    <a:p>
                      <a:r>
                        <a:rPr lang="fr-FR" sz="2400" baseline="0" dirty="0" smtClean="0"/>
                        <a:t>Remontée des données vers le CS puis BCZS;</a:t>
                      </a:r>
                    </a:p>
                    <a:p>
                      <a:r>
                        <a:rPr lang="fr-FR" sz="2400" baseline="0" dirty="0" smtClean="0"/>
                        <a:t>Gestion des AGR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Clarifications des instructions</a:t>
                      </a:r>
                    </a:p>
                    <a:p>
                      <a:r>
                        <a:rPr lang="fr-FR" sz="2400" dirty="0" smtClean="0"/>
                        <a:t>75% de données encodées par les CAC étaient assurées</a:t>
                      </a:r>
                      <a:r>
                        <a:rPr lang="fr-FR" sz="2400" baseline="0" dirty="0" smtClean="0"/>
                        <a:t> ou assistées par les data des OAC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Bonne sélection des OAC</a:t>
                      </a:r>
                    </a:p>
                    <a:p>
                      <a:r>
                        <a:rPr lang="fr-FR" sz="2400" dirty="0" smtClean="0"/>
                        <a:t>Formation régulière</a:t>
                      </a:r>
                    </a:p>
                    <a:p>
                      <a:r>
                        <a:rPr lang="fr-FR" sz="2400" dirty="0" smtClean="0"/>
                        <a:t>Participation aux réunions</a:t>
                      </a:r>
                    </a:p>
                    <a:p>
                      <a:r>
                        <a:rPr lang="fr-FR" sz="2400" dirty="0" smtClean="0"/>
                        <a:t>Financer</a:t>
                      </a:r>
                      <a:r>
                        <a:rPr lang="fr-FR" sz="2400" baseline="0" dirty="0" smtClean="0"/>
                        <a:t> les OAC</a:t>
                      </a:r>
                      <a:endParaRPr lang="fr-FR" sz="2400" dirty="0" smtClean="0"/>
                    </a:p>
                    <a:p>
                      <a:endParaRPr lang="fr-FR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93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chemeClr val="dk1"/>
              </a:buClr>
              <a:buSzPts val="1500"/>
            </a:pP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 disponibilité des données sur des canaux de </a:t>
            </a:r>
            <a:r>
              <a:rPr lang="fr-FR" sz="32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diffusion connue(le DHIS2 </a:t>
            </a:r>
            <a:r>
              <a:rPr lang="fr-FR" sz="32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Tracker</a:t>
            </a: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</a:p>
          <a:p>
            <a:pPr lvl="0">
              <a:buClr>
                <a:schemeClr val="dk1"/>
              </a:buClr>
              <a:buSzPts val="1500"/>
            </a:pP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 couverture en ressources humaines suffisantes, </a:t>
            </a:r>
            <a:r>
              <a:rPr lang="fr-FR" sz="32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formées sur la </a:t>
            </a: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vaccination et </a:t>
            </a:r>
            <a:r>
              <a:rPr lang="fr-FR" sz="32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bien réparties;</a:t>
            </a:r>
            <a:endParaRPr lang="fr-FR" sz="32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 moyens logistiques adaptés pour la mobilité des équipes (matériels roulants);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 fonctionnement optimal des  matériels de matériels de chaine de froid;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 maitrise du circuit de transport et les conditions d’installation des réfrigérateurs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3945841755"/>
              </p:ext>
            </p:extLst>
          </p:nvPr>
        </p:nvGraphicFramePr>
        <p:xfrm>
          <a:off x="458586" y="1049652"/>
          <a:ext cx="11274925" cy="5274948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913014"/>
                <a:gridCol w="3093396"/>
                <a:gridCol w="3405190"/>
                <a:gridCol w="2066050"/>
                <a:gridCol w="1797275"/>
              </a:tblGrid>
              <a:tr h="9977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42771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24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Implication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leaders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réalisation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certaine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endParaRPr lang="en-US" sz="2400" b="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Réalisation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missions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conjointes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PR SR DPS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Forte generation de la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demande</a:t>
                      </a:r>
                      <a:endParaRPr lang="en-US" sz="2400" b="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                                                                                                                                                                                                 Formation en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gestion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PEV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outils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collecte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de rapportage au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niveau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ESS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Reatard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decaissement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fonds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par le PR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Chevauchement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au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niveau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AS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proportion de supervision des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membres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ECZ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vers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les ESS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Génératrices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revenue au 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niveau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AS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Arret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du 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financement</a:t>
                      </a:r>
                      <a:endParaRPr lang="en-US" sz="2400" b="0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L’épidemie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Mpox</a:t>
                      </a:r>
                      <a:endParaRPr lang="en-US" sz="2400" b="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1789836108"/>
              </p:ext>
            </p:extLst>
          </p:nvPr>
        </p:nvGraphicFramePr>
        <p:xfrm>
          <a:off x="107004" y="1049652"/>
          <a:ext cx="11626507" cy="5845683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951516"/>
                <a:gridCol w="3983982"/>
                <a:gridCol w="2707215"/>
                <a:gridCol w="2130475"/>
                <a:gridCol w="1853319"/>
              </a:tblGrid>
              <a:tr h="10534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 err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2400" b="1" i="0" u="none" strike="noStrike" cap="none" dirty="0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1" i="0" u="none" strike="noStrike" cap="none" dirty="0" err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2400" b="1" i="0" u="none" strike="noStrike" cap="none" dirty="0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2400" b="1" i="0" u="none" strike="noStrike" cap="none" dirty="0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24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24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24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1108316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1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2400" i="1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Bonne collaboration entre la DPS , SR et OAC et BCZ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2400" b="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Financement de la surveillance: transport des échantillons)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FHI 360 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intéressé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par les questions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surveillance 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63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Redynamisation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CAC et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plateformes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usagers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communauté</a:t>
                      </a:r>
                      <a:endParaRPr lang="en-US" sz="2400" i="0" u="none" strike="noStrike" cap="none" baseline="0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Appui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au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financement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AGR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niveau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connaissance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du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calendrier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révisé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par les parents et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certains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relais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communautaire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i="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47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MEO de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plusieurs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 innovantes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numérisation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données en cours est lente 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Saisie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accélérée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données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Faible connectivité internet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19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2449928159"/>
              </p:ext>
            </p:extLst>
          </p:nvPr>
        </p:nvGraphicFramePr>
        <p:xfrm>
          <a:off x="107004" y="1049652"/>
          <a:ext cx="11626507" cy="5655512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951516"/>
                <a:gridCol w="3357837"/>
                <a:gridCol w="3333360"/>
                <a:gridCol w="2130475"/>
                <a:gridCol w="1853319"/>
              </a:tblGrid>
              <a:tr h="87963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969365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24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Disponibilité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vaccins</a:t>
                      </a:r>
                      <a:endParaRPr lang="en-US" sz="240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feuille</a:t>
                      </a:r>
                      <a:r>
                        <a:rPr lang="fr-FR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route des intervenants non respectée et Agendas variés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Organisation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Assise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Communautaire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4450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Redynamisation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CAC et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plateformes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usagers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communauté</a:t>
                      </a:r>
                      <a:endParaRPr lang="en-US" sz="240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Appui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au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financement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AGR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Chaine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commandement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(PR) non en phase avec le plan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d’action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executants(SR)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313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encadrée et réussie du VAP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prestataires non ciblés pour le briefing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supervisions ou suivi des activité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Ignorance du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calendrier et confusion des périodes de RDV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87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2884804857"/>
              </p:ext>
            </p:extLst>
          </p:nvPr>
        </p:nvGraphicFramePr>
        <p:xfrm>
          <a:off x="107004" y="1049650"/>
          <a:ext cx="11906655" cy="5612316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14991"/>
                <a:gridCol w="3739431"/>
                <a:gridCol w="2772447"/>
                <a:gridCol w="2181810"/>
                <a:gridCol w="1897976"/>
              </a:tblGrid>
              <a:tr h="9234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1543325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1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Transports</a:t>
                      </a:r>
                      <a:r>
                        <a:rPr lang="en-US" sz="2400" i="1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i="1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vaccins</a:t>
                      </a:r>
                      <a:r>
                        <a:rPr lang="en-US" sz="2400" i="1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aux </a:t>
                      </a:r>
                      <a:r>
                        <a:rPr lang="en-US" sz="2400" i="1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derniers</a:t>
                      </a:r>
                      <a:r>
                        <a:rPr lang="en-US" sz="2400" i="1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1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kilomètres</a:t>
                      </a:r>
                      <a:endParaRPr sz="24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Commandes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régulières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approvisionnement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garanti</a:t>
                      </a:r>
                      <a:endParaRPr lang="en-US" sz="2400" b="0" i="0" u="none" strike="noStrike" cap="none" baseline="0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feuille</a:t>
                      </a:r>
                      <a:r>
                        <a:rPr lang="fr-FR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route des intervenants non respectée et Agendas variés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Possibilité</a:t>
                      </a: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avec </a:t>
                      </a:r>
                      <a:r>
                        <a:rPr lang="en-US" sz="2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Enabel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Fin 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projet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avec PAM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8617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Définition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du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plan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approvi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sionnement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visant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sites de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stockage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secondaires</a:t>
                      </a:r>
                      <a:endParaRPr lang="en-US" sz="2400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Chaine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commandement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(PR) non en phase avec le plan </a:t>
                      </a:r>
                      <a:r>
                        <a:rPr lang="en-US" sz="240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d’action</a:t>
                      </a:r>
                      <a:r>
                        <a:rPr lang="en-US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executants(SR)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24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5933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Construction d’un dépôt sec avec travaux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à 75% de la fin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Lente </a:t>
                      </a: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numérisation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 données en cours </a:t>
                      </a: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est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Saisie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accélérée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240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données</a:t>
                      </a:r>
                      <a:r>
                        <a:rPr lang="en-US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Faible connectivité internet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57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21495"/>
              </p:ext>
            </p:extLst>
          </p:nvPr>
        </p:nvGraphicFramePr>
        <p:xfrm>
          <a:off x="267701" y="416344"/>
          <a:ext cx="1161919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533"/>
                <a:gridCol w="2027298"/>
                <a:gridCol w="2821021"/>
                <a:gridCol w="1682885"/>
                <a:gridCol w="1507788"/>
                <a:gridCol w="1643673"/>
              </a:tblGrid>
              <a:tr h="775066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                                                                                                                                                                                                              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Problèmes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Facteurs en cause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recommandations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responsable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échéances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Observation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  <a:tr h="1464013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55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matériels de chaine de froid en panne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Manques de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pièces de rechange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Décentraliser les dépôts des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pièces de rechange</a:t>
                      </a:r>
                      <a:endParaRPr lang="fr-FR" sz="2400" dirty="0" smtClean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Directeur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PEV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2026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Les </a:t>
                      </a:r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maintenanciers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 peinent à agir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  <a:tr h="1808486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Incertitudes sur les approvisionnements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en 2026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Fin projet SLL avec PAM pour le transport </a:t>
                      </a:r>
                    </a:p>
                    <a:p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Négocier d’autres opportunités de financement pour le transport des vaccins aux derniers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kilomètres</a:t>
                      </a:r>
                      <a:endParaRPr lang="fr-FR" sz="2400" dirty="0" smtClean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Directeur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PEV</a:t>
                      </a:r>
                      <a:endParaRPr lang="fr-FR" sz="2400" dirty="0" smtClean="0">
                        <a:latin typeface="Arial Narrow" panose="020B0606020202030204" pitchFamily="34" charset="0"/>
                      </a:endParaRPr>
                    </a:p>
                    <a:p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2026</a:t>
                      </a:r>
                    </a:p>
                    <a:p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Enabel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 peut nous appuis avec de petits stocks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  <a:tr h="1808486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Les micro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plans intégrés des aires de santé peu financés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Les activités alignées non en phase avec les activités visés par les projets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Elaborer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les micro plans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</a:rPr>
                        <a:t>géoréférencés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adaptés au financement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IT&amp;MCZS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D’ici fin 2025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Pertinence et efficacité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49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807285"/>
              </p:ext>
            </p:extLst>
          </p:nvPr>
        </p:nvGraphicFramePr>
        <p:xfrm>
          <a:off x="155644" y="904672"/>
          <a:ext cx="11752356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203"/>
                <a:gridCol w="1926506"/>
                <a:gridCol w="2656568"/>
                <a:gridCol w="1131502"/>
                <a:gridCol w="1525067"/>
                <a:gridCol w="1662510"/>
              </a:tblGrid>
              <a:tr h="787940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                                                                                                                                                                                                              </a:t>
                      </a:r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Problemes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Facteurs en cause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recommandations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responsable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Echéances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Observation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  <a:tr h="1488332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Besoin d’un appui communautaire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Démotivation des relais communautaire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Institutionnaliser un financement communautaire visant les 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PTFs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Permanent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Focalise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l’attention sur l’</a:t>
                      </a:r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intéret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collectif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  <a:tr h="1474714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Le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budget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</a:rPr>
                        <a:t>standar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</a:rPr>
                        <a:t>disé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ne tenant compte de la taille et différence entre ZS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Budget préparé )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2400" baseline="0" dirty="0" err="1" smtClean="0">
                          <a:latin typeface="Arial Narrow" panose="020B0606020202030204" pitchFamily="34" charset="0"/>
                        </a:rPr>
                        <a:t>Kin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Associer les exécutant (SR) au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processus de  budgétisation</a:t>
                      </a:r>
                      <a:endParaRPr lang="fr-FR" sz="2400" dirty="0" smtClean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PTFs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Prochaine écriture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Budget inadapté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  <a:tr h="1838528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Besoin d’accompagnement des CAC par les OAC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Appuyer les OAC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</a:rPr>
                        <a:t> pour suivre et encadrer les interventions communautaires</a:t>
                      </a:r>
                      <a:endParaRPr lang="fr-FR" sz="2400" dirty="0" smtClean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err="1" smtClean="0">
                          <a:latin typeface="Arial Narrow" panose="020B0606020202030204" pitchFamily="34" charset="0"/>
                        </a:rPr>
                        <a:t>PTFs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Permanent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Arial Narrow" panose="020B0606020202030204" pitchFamily="34" charset="0"/>
                        </a:rPr>
                        <a:t>Appui disponible </a:t>
                      </a:r>
                      <a:endParaRPr lang="fr-FR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122816"/>
            <a:ext cx="11360700" cy="7635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CHANTIER DE DEPOT SEC AVEC UNOPS.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415601" y="1356868"/>
            <a:ext cx="5642300" cy="4669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99" y="886316"/>
            <a:ext cx="5985201" cy="57430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83927" y="696191"/>
            <a:ext cx="5413664" cy="59643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063" y="593366"/>
            <a:ext cx="5663045" cy="60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54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8630</TotalTime>
  <Words>3439</Words>
  <Application>Microsoft Office PowerPoint</Application>
  <PresentationFormat>Grand écran</PresentationFormat>
  <Paragraphs>1508</Paragraphs>
  <Slides>34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34</vt:i4>
      </vt:variant>
    </vt:vector>
  </HeadingPairs>
  <TitlesOfParts>
    <vt:vector size="42" baseType="lpstr">
      <vt:lpstr>Times New Roman</vt:lpstr>
      <vt:lpstr>Arial Narrow</vt:lpstr>
      <vt:lpstr>Arial</vt:lpstr>
      <vt:lpstr>Calibri</vt:lpstr>
      <vt:lpstr>Play</vt:lpstr>
      <vt:lpstr>Source Serif Pro</vt:lpstr>
      <vt:lpstr>Thème Office</vt:lpstr>
      <vt:lpstr>Simple Light</vt:lpstr>
      <vt:lpstr>Présentation PowerPoint</vt:lpstr>
      <vt:lpstr>Présentation PowerPoint</vt:lpstr>
      <vt:lpstr>Présentation PowerPoint</vt:lpstr>
      <vt:lpstr>SITUATION SPECIFIQUE DE LA PROVINCE</vt:lpstr>
      <vt:lpstr>Présentation PowerPoint</vt:lpstr>
      <vt:lpstr>Présentation PowerPoint</vt:lpstr>
      <vt:lpstr>Présentation PowerPoint</vt:lpstr>
      <vt:lpstr>Présentation PowerPoint</vt:lpstr>
      <vt:lpstr>Couvertures vaccinales par antigenes janvier à novembre 2025 des Zones de Santé, DPS SUD UABNGI.</vt:lpstr>
      <vt:lpstr>Couvertures vaccinales par antigenes janvier à novembre 2025 des Zones de Santé, DPS SUD UABNGI.</vt:lpstr>
      <vt:lpstr>Présentation PowerPoint</vt:lpstr>
      <vt:lpstr>Présentation PowerPoint</vt:lpstr>
      <vt:lpstr>COUVERTURES DES RIPOSTES CONTRE LA POLIO, Aout et Novembre 2025 SUD UBANGI</vt:lpstr>
      <vt:lpstr>COUVERTURES DES RIPOSTES CONTRE LA POLIO, Aout et Novembre 2025 SUD UBANGI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NOTIFICATIONS COMPAREES DES CAS SUSPECTS DE ROUGEOLE, FJ, TMN DE SURVEILLANCE CAS PAR CAS ET SURVEILLANCE INTEGREE, S1-S49/2025 QU SUD-UBANGI</vt:lpstr>
      <vt:lpstr>Présentation PowerPoint</vt:lpstr>
      <vt:lpstr>FACTEURS DE SUCCES</vt:lpstr>
      <vt:lpstr>FACTEURS DE SUCCES</vt:lpstr>
      <vt:lpstr>FACTEURS DE SUCCES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CHANTIER DE DEPOT SEC AVEC UNOPS.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Hp</cp:lastModifiedBy>
  <cp:revision>82</cp:revision>
  <dcterms:created xsi:type="dcterms:W3CDTF">2025-11-28T20:10:05Z</dcterms:created>
  <dcterms:modified xsi:type="dcterms:W3CDTF">2025-12-13T20:38:47Z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