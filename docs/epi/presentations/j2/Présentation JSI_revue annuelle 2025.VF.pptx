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Lst>
  <p:sldSz cx="12192000" cy="6858000"/>
  <p:notesSz cx="7103745" cy="1023429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9" userDrawn="1">
          <p15:clr>
            <a:srgbClr val="A4A3A4"/>
          </p15:clr>
        </p15:guide>
        <p15:guide id="2" pos="38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5970542-76E6-49A8-9C28-9961083C0C40}"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Style>
        <a:tcBdr/>
        <a:fill>
          <a:solidFill>
            <a:srgbClr val="D0DEEF"/>
          </a:solidFill>
        </a:fill>
      </a:tcStyle>
    </a:band1H>
    <a:band2H>
      <a:tcStyle>
        <a:tcBdr/>
      </a:tcStyle>
    </a:band2H>
    <a:band1V>
      <a:tcStyle>
        <a:tcBdr/>
        <a:fill>
          <a:solidFill>
            <a:srgbClr val="D0DEEF"/>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5" d="100"/>
          <a:sy n="65" d="100"/>
        </p:scale>
        <p:origin x="912" y="78"/>
      </p:cViewPr>
      <p:guideLst>
        <p:guide orient="horz" pos="2159"/>
        <p:guide pos="38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163" cy="51276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1pPr>
            <a:lvl2pPr marR="0" lvl="1"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2pPr>
            <a:lvl3pPr marR="0" lvl="2"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3pPr>
            <a:lvl4pPr marR="0" lvl="3"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4pPr>
            <a:lvl5pPr marR="0" lvl="4"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5pPr>
            <a:lvl6pPr marR="0" lvl="5"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6pPr>
            <a:lvl7pPr marR="0" lvl="6"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7pPr>
            <a:lvl8pPr marR="0" lvl="7"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8pPr>
            <a:lvl9pPr marR="0" lvl="8"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9pPr>
          </a:lstStyle>
          <a:p/>
        </p:txBody>
      </p:sp>
      <p:sp>
        <p:nvSpPr>
          <p:cNvPr id="4" name="Google Shape;4;n"/>
          <p:cNvSpPr txBox="1">
            <a:spLocks noGrp="1"/>
          </p:cNvSpPr>
          <p:nvPr>
            <p:ph type="dt" idx="10"/>
          </p:nvPr>
        </p:nvSpPr>
        <p:spPr>
          <a:xfrm>
            <a:off x="4024313" y="0"/>
            <a:ext cx="3078162" cy="51276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1pPr>
            <a:lvl2pPr marR="0" lvl="1"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2pPr>
            <a:lvl3pPr marR="0" lvl="2"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3pPr>
            <a:lvl4pPr marR="0" lvl="3"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4pPr>
            <a:lvl5pPr marR="0" lvl="4"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5pPr>
            <a:lvl6pPr marR="0" lvl="5"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6pPr>
            <a:lvl7pPr marR="0" lvl="6"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7pPr>
            <a:lvl8pPr marR="0" lvl="7"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8pPr>
            <a:lvl9pPr marR="0" lvl="8"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9pPr>
          </a:lstStyle>
          <a:p/>
        </p:txBody>
      </p:sp>
      <p:sp>
        <p:nvSpPr>
          <p:cNvPr id="5" name="Google Shape;5;n"/>
          <p:cNvSpPr>
            <a:spLocks noGrp="1" noRot="1" noChangeAspect="1"/>
          </p:cNvSpPr>
          <p:nvPr>
            <p:ph type="sldImg" idx="3"/>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1200" y="4926013"/>
            <a:ext cx="5683250" cy="402907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1pPr>
            <a:lvl2pPr marL="914400" marR="0" lvl="1"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2pPr>
            <a:lvl3pPr marL="1371600" marR="0" lvl="2"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3pPr>
            <a:lvl4pPr marL="1828800" marR="0" lvl="3"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4pPr>
            <a:lvl5pPr marL="2286000" marR="0" lvl="4"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5pPr>
            <a:lvl6pPr marL="2743200" marR="0" lvl="5"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6pPr>
            <a:lvl7pPr marL="3200400" marR="0" lvl="6"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7pPr>
            <a:lvl8pPr marL="3657600" marR="0" lvl="7"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8pPr>
            <a:lvl9pPr marL="4114800" marR="0" lvl="8" indent="-22860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9pPr>
          </a:lstStyle>
          <a:p/>
        </p:txBody>
      </p:sp>
      <p:sp>
        <p:nvSpPr>
          <p:cNvPr id="7" name="Google Shape;7;n"/>
          <p:cNvSpPr txBox="1">
            <a:spLocks noGrp="1"/>
          </p:cNvSpPr>
          <p:nvPr>
            <p:ph type="ftr" idx="11"/>
          </p:nvPr>
        </p:nvSpPr>
        <p:spPr>
          <a:xfrm>
            <a:off x="0" y="9721850"/>
            <a:ext cx="3078163" cy="51276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1pPr>
            <a:lvl2pPr marR="0" lvl="1"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2pPr>
            <a:lvl3pPr marR="0" lvl="2"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3pPr>
            <a:lvl4pPr marR="0" lvl="3"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4pPr>
            <a:lvl5pPr marR="0" lvl="4"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5pPr>
            <a:lvl6pPr marR="0" lvl="5"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6pPr>
            <a:lvl7pPr marR="0" lvl="6"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7pPr>
            <a:lvl8pPr marR="0" lvl="7"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8pPr>
            <a:lvl9pPr marR="0" lvl="8" algn="l" rtl="0">
              <a:spcBef>
                <a:spcPts val="0"/>
              </a:spcBef>
              <a:spcAft>
                <a:spcPts val="0"/>
              </a:spcAft>
              <a:buSzPts val="1400"/>
              <a:buNone/>
              <a:defRPr sz="18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defRPr>
            </a:lvl9pPr>
          </a:lstStyle>
          <a:p/>
        </p:txBody>
      </p:sp>
      <p:sp>
        <p:nvSpPr>
          <p:cNvPr id="8" name="Google Shape;8;n"/>
          <p:cNvSpPr txBox="1">
            <a:spLocks noGrp="1"/>
          </p:cNvSpPr>
          <p:nvPr>
            <p:ph type="sldNum" idx="12"/>
          </p:nvPr>
        </p:nvSpPr>
        <p:spPr>
          <a:xfrm>
            <a:off x="4024313" y="9721850"/>
            <a:ext cx="3078162" cy="51276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rPr>
            </a:fld>
            <a:endParaRPr sz="1200" b="0" i="0" u="none" strike="noStrike" cap="none">
              <a:solidFill>
                <a:schemeClr val="dk1"/>
              </a:solidFill>
              <a:latin typeface="Microsoft YaHei" panose="020B0503020204020204" charset="-122"/>
              <a:ea typeface="Microsoft YaHei" panose="020B0503020204020204" charset="-122"/>
              <a:cs typeface="Microsoft YaHei" panose="020B0503020204020204" charset="-122"/>
              <a:sym typeface="Microsoft YaHei" panose="020B0503020204020204" charset="-122"/>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sp>
      <p:sp>
        <p:nvSpPr>
          <p:cNvPr id="82" name="Google Shape;82;p1: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711200" y="4926013"/>
            <a:ext cx="5683250" cy="402907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4: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Google Shape;135;p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7: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4"/>
        <p:cNvGrpSpPr/>
        <p:nvPr/>
      </p:nvGrpSpPr>
      <p:grpSpPr>
        <a:xfrm>
          <a:off x="0" y="0"/>
          <a:ext cx="0" cy="0"/>
          <a:chOff x="0" y="0"/>
          <a:chExt cx="0" cy="0"/>
        </a:xfrm>
      </p:grpSpPr>
      <p:sp>
        <p:nvSpPr>
          <p:cNvPr id="155" name="Google Shape;155;p9: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9: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4"/>
        <p:cNvGrpSpPr/>
        <p:nvPr/>
      </p:nvGrpSpPr>
      <p:grpSpPr>
        <a:xfrm>
          <a:off x="0" y="0"/>
          <a:ext cx="0" cy="0"/>
          <a:chOff x="0" y="0"/>
          <a:chExt cx="0" cy="0"/>
        </a:xfrm>
      </p:grpSpPr>
      <p:sp>
        <p:nvSpPr>
          <p:cNvPr id="165" name="Google Shape;165;p1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4"/>
        <p:cNvGrpSpPr/>
        <p:nvPr/>
      </p:nvGrpSpPr>
      <p:grpSpPr>
        <a:xfrm>
          <a:off x="0" y="0"/>
          <a:ext cx="0" cy="0"/>
          <a:chOff x="0" y="0"/>
          <a:chExt cx="0" cy="0"/>
        </a:xfrm>
      </p:grpSpPr>
      <p:sp>
        <p:nvSpPr>
          <p:cNvPr id="175" name="Google Shape;175;p1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11: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4"/>
        <p:cNvGrpSpPr/>
        <p:nvPr/>
      </p:nvGrpSpPr>
      <p:grpSpPr>
        <a:xfrm>
          <a:off x="0" y="0"/>
          <a:ext cx="0" cy="0"/>
          <a:chOff x="0" y="0"/>
          <a:chExt cx="0" cy="0"/>
        </a:xfrm>
      </p:grpSpPr>
      <p:sp>
        <p:nvSpPr>
          <p:cNvPr id="185" name="Google Shape;185;p1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2: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4"/>
        <p:cNvGrpSpPr/>
        <p:nvPr/>
      </p:nvGrpSpPr>
      <p:grpSpPr>
        <a:xfrm>
          <a:off x="0" y="0"/>
          <a:ext cx="0" cy="0"/>
          <a:chOff x="0" y="0"/>
          <a:chExt cx="0" cy="0"/>
        </a:xfrm>
      </p:grpSpPr>
      <p:sp>
        <p:nvSpPr>
          <p:cNvPr id="205" name="Google Shape;205;p14:notes"/>
          <p:cNvSpPr>
            <a:spLocks noGrp="1" noRot="1" noChangeAspect="1"/>
          </p:cNvSpPr>
          <p:nvPr>
            <p:ph type="sldImg" idx="2"/>
          </p:nvPr>
        </p:nvSpPr>
        <p:spPr>
          <a:xfrm>
            <a:off x="382588"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6" name="Google Shape;206;p14: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100"/>
              <a:buFont typeface="Microsoft YaHei" panose="020B0503020204020204" charset="-122"/>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4"/>
        <p:cNvGrpSpPr/>
        <p:nvPr/>
      </p:nvGrpSpPr>
      <p:grpSpPr>
        <a:xfrm>
          <a:off x="0" y="0"/>
          <a:ext cx="0" cy="0"/>
          <a:chOff x="0" y="0"/>
          <a:chExt cx="0" cy="0"/>
        </a:xfrm>
      </p:grpSpPr>
      <p:sp>
        <p:nvSpPr>
          <p:cNvPr id="195" name="Google Shape;195;p13: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3: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16"/>
          <p:cNvSpPr txBox="1">
            <a:spLocks noGrp="1"/>
          </p:cNvSpPr>
          <p:nvPr>
            <p:ph type="ctrTitle"/>
          </p:nvPr>
        </p:nvSpPr>
        <p:spPr>
          <a:xfrm>
            <a:off x="1524000" y="1322962"/>
            <a:ext cx="9144000" cy="2187001"/>
          </a:xfrm>
          <a:prstGeom prst="rect">
            <a:avLst/>
          </a:prstGeom>
          <a:noFill/>
          <a:ln>
            <a:noFill/>
          </a:ln>
        </p:spPr>
        <p:txBody>
          <a:bodyPr spcFirstLastPara="1" wrap="square" lIns="91425" tIns="45700" rIns="91425" bIns="45700" anchor="b" anchorCtr="0">
            <a:normAutofit/>
          </a:bodyPr>
          <a:lstStyle>
            <a:lvl1pPr lvl="0" algn="ctr">
              <a:lnSpc>
                <a:spcPct val="130000"/>
              </a:lnSpc>
              <a:spcBef>
                <a:spcPts val="0"/>
              </a:spcBef>
              <a:spcAft>
                <a:spcPts val="0"/>
              </a:spcAft>
              <a:buClr>
                <a:schemeClr val="dk1"/>
              </a:buClr>
              <a:buSzPts val="6000"/>
              <a:buFont typeface="Calibri" panose="020F0502020204030204"/>
              <a:buNone/>
              <a:defRPr sz="6000">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
        <p:nvSpPr>
          <p:cNvPr id="20" name="Google Shape;20;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3F3F3F"/>
              </a:buClr>
              <a:buSzPts val="2400"/>
              <a:buNone/>
              <a:defRPr sz="2400">
                <a:solidFill>
                  <a:srgbClr val="3F3F3F"/>
                </a:solidFill>
                <a:latin typeface="Calibri" panose="020F0502020204030204"/>
                <a:ea typeface="Calibri" panose="020F0502020204030204"/>
                <a:cs typeface="Calibri" panose="020F0502020204030204"/>
                <a:sym typeface="Calibri" panose="020F0502020204030204"/>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21"/>
        <p:cNvGrpSpPr/>
        <p:nvPr/>
      </p:nvGrpSpPr>
      <p:grpSpPr>
        <a:xfrm>
          <a:off x="0" y="0"/>
          <a:ext cx="0" cy="0"/>
          <a:chOff x="0" y="0"/>
          <a:chExt cx="0" cy="0"/>
        </a:xfrm>
      </p:grpSpPr>
      <p:sp>
        <p:nvSpPr>
          <p:cNvPr id="22" name="Google Shape;22;p17"/>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Clr>
                <a:schemeClr val="dk1"/>
              </a:buClr>
              <a:buSzPts val="3700"/>
              <a:buFont typeface="Calibri" panose="020F0502020204030204"/>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 name="Google Shape;23;p17"/>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Clr>
                <a:schemeClr val="dk1"/>
              </a:buClr>
              <a:buSzPts val="2400"/>
              <a:buChar char="●"/>
              <a:defRPr/>
            </a:lvl1pPr>
            <a:lvl2pPr marL="914400" lvl="1" indent="-349250" algn="l">
              <a:lnSpc>
                <a:spcPct val="115000"/>
              </a:lnSpc>
              <a:spcBef>
                <a:spcPts val="0"/>
              </a:spcBef>
              <a:spcAft>
                <a:spcPts val="0"/>
              </a:spcAft>
              <a:buClr>
                <a:schemeClr val="dk1"/>
              </a:buClr>
              <a:buSzPts val="1900"/>
              <a:buChar char="○"/>
              <a:defRPr/>
            </a:lvl2pPr>
            <a:lvl3pPr marL="1371600" lvl="2" indent="-349250" algn="l">
              <a:lnSpc>
                <a:spcPct val="115000"/>
              </a:lnSpc>
              <a:spcBef>
                <a:spcPts val="0"/>
              </a:spcBef>
              <a:spcAft>
                <a:spcPts val="0"/>
              </a:spcAft>
              <a:buClr>
                <a:schemeClr val="dk1"/>
              </a:buClr>
              <a:buSzPts val="1900"/>
              <a:buChar char="■"/>
              <a:defRPr/>
            </a:lvl3pPr>
            <a:lvl4pPr marL="1828800" lvl="3" indent="-349250" algn="l">
              <a:lnSpc>
                <a:spcPct val="115000"/>
              </a:lnSpc>
              <a:spcBef>
                <a:spcPts val="0"/>
              </a:spcBef>
              <a:spcAft>
                <a:spcPts val="0"/>
              </a:spcAft>
              <a:buClr>
                <a:schemeClr val="dk1"/>
              </a:buClr>
              <a:buSzPts val="1900"/>
              <a:buChar char="●"/>
              <a:defRPr/>
            </a:lvl4pPr>
            <a:lvl5pPr marL="2286000" lvl="4" indent="-349250" algn="l">
              <a:lnSpc>
                <a:spcPct val="115000"/>
              </a:lnSpc>
              <a:spcBef>
                <a:spcPts val="0"/>
              </a:spcBef>
              <a:spcAft>
                <a:spcPts val="0"/>
              </a:spcAft>
              <a:buClr>
                <a:schemeClr val="dk1"/>
              </a:buClr>
              <a:buSzPts val="1900"/>
              <a:buChar char="○"/>
              <a:defRPr/>
            </a:lvl5pPr>
            <a:lvl6pPr marL="2743200" lvl="5" indent="-349250" algn="l">
              <a:lnSpc>
                <a:spcPct val="115000"/>
              </a:lnSpc>
              <a:spcBef>
                <a:spcPts val="0"/>
              </a:spcBef>
              <a:spcAft>
                <a:spcPts val="0"/>
              </a:spcAft>
              <a:buClr>
                <a:schemeClr val="dk1"/>
              </a:buClr>
              <a:buSzPts val="1900"/>
              <a:buChar char="■"/>
              <a:defRPr/>
            </a:lvl6pPr>
            <a:lvl7pPr marL="3200400" lvl="6" indent="-349250" algn="l">
              <a:lnSpc>
                <a:spcPct val="115000"/>
              </a:lnSpc>
              <a:spcBef>
                <a:spcPts val="0"/>
              </a:spcBef>
              <a:spcAft>
                <a:spcPts val="0"/>
              </a:spcAft>
              <a:buClr>
                <a:schemeClr val="dk1"/>
              </a:buClr>
              <a:buSzPts val="1900"/>
              <a:buChar char="●"/>
              <a:defRPr/>
            </a:lvl7pPr>
            <a:lvl8pPr marL="3657600" lvl="7" indent="-349250" algn="l">
              <a:lnSpc>
                <a:spcPct val="115000"/>
              </a:lnSpc>
              <a:spcBef>
                <a:spcPts val="0"/>
              </a:spcBef>
              <a:spcAft>
                <a:spcPts val="0"/>
              </a:spcAft>
              <a:buClr>
                <a:schemeClr val="dk1"/>
              </a:buClr>
              <a:buSzPts val="1900"/>
              <a:buChar char="○"/>
              <a:defRPr/>
            </a:lvl8pPr>
            <a:lvl9pPr marL="4114800" lvl="8" indent="-349250" algn="l">
              <a:lnSpc>
                <a:spcPct val="115000"/>
              </a:lnSpc>
              <a:spcBef>
                <a:spcPts val="0"/>
              </a:spcBef>
              <a:spcAft>
                <a:spcPts val="0"/>
              </a:spcAft>
              <a:buClr>
                <a:schemeClr val="dk1"/>
              </a:buClr>
              <a:buSzPts val="1900"/>
              <a:buChar char="■"/>
              <a:defRPr/>
            </a:lvl9pPr>
          </a:lstStyle>
          <a:p/>
        </p:txBody>
      </p:sp>
      <p:sp>
        <p:nvSpPr>
          <p:cNvPr id="24" name="Google Shape;24;p17"/>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5"/>
        <p:cNvGrpSpPr/>
        <p:nvPr/>
      </p:nvGrpSpPr>
      <p:grpSpPr>
        <a:xfrm>
          <a:off x="0" y="0"/>
          <a:ext cx="0" cy="0"/>
          <a:chOff x="0" y="0"/>
          <a:chExt cx="0" cy="0"/>
        </a:xfrm>
      </p:grpSpPr>
      <p:sp>
        <p:nvSpPr>
          <p:cNvPr id="26" name="Google Shape;26;p18"/>
          <p:cNvSpPr txBox="1">
            <a:spLocks noGrp="1"/>
          </p:cNvSpPr>
          <p:nvPr>
            <p:ph type="title"/>
          </p:nvPr>
        </p:nvSpPr>
        <p:spPr>
          <a:xfrm>
            <a:off x="647700" y="25844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panose="020F0502020204030204"/>
              <a:buNone/>
              <a:defRPr sz="4400" b="1">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8"/>
          <p:cNvSpPr txBox="1">
            <a:spLocks noGrp="1"/>
          </p:cNvSpPr>
          <p:nvPr>
            <p:ph type="body" idx="1"/>
          </p:nvPr>
        </p:nvSpPr>
        <p:spPr>
          <a:xfrm>
            <a:off x="6477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3F3F3F"/>
              </a:buClr>
              <a:buSzPts val="2800"/>
              <a:buNone/>
              <a:defRPr sz="2800">
                <a:solidFill>
                  <a:srgbClr val="3F3F3F"/>
                </a:solidFill>
                <a:latin typeface="Calibri" panose="020F0502020204030204"/>
                <a:ea typeface="Calibri" panose="020F0502020204030204"/>
                <a:cs typeface="Calibri" panose="020F0502020204030204"/>
                <a:sym typeface="Calibri" panose="020F0502020204030204"/>
              </a:defRPr>
            </a:lvl1pPr>
            <a:lvl2pPr marL="914400" lvl="1" indent="-381000" algn="l">
              <a:lnSpc>
                <a:spcPct val="90000"/>
              </a:lnSpc>
              <a:spcBef>
                <a:spcPts val="500"/>
              </a:spcBef>
              <a:spcAft>
                <a:spcPts val="0"/>
              </a:spcAft>
              <a:buClr>
                <a:srgbClr val="3F3F3F"/>
              </a:buClr>
              <a:buSzPts val="2400"/>
              <a:buChar char="•"/>
              <a:defRPr sz="2400">
                <a:solidFill>
                  <a:srgbClr val="3F3F3F"/>
                </a:solidFill>
                <a:latin typeface="Calibri" panose="020F0502020204030204"/>
                <a:ea typeface="Calibri" panose="020F0502020204030204"/>
                <a:cs typeface="Calibri" panose="020F0502020204030204"/>
                <a:sym typeface="Calibri" panose="020F0502020204030204"/>
              </a:defRPr>
            </a:lvl2pPr>
            <a:lvl3pPr marL="1371600" lvl="2" indent="-355600" algn="l">
              <a:lnSpc>
                <a:spcPct val="90000"/>
              </a:lnSpc>
              <a:spcBef>
                <a:spcPts val="500"/>
              </a:spcBef>
              <a:spcAft>
                <a:spcPts val="0"/>
              </a:spcAft>
              <a:buClr>
                <a:srgbClr val="3F3F3F"/>
              </a:buClr>
              <a:buSzPts val="2000"/>
              <a:buChar char="•"/>
              <a:defRPr sz="2000">
                <a:solidFill>
                  <a:srgbClr val="3F3F3F"/>
                </a:solidFill>
                <a:latin typeface="Calibri" panose="020F0502020204030204"/>
                <a:ea typeface="Calibri" panose="020F0502020204030204"/>
                <a:cs typeface="Calibri" panose="020F0502020204030204"/>
                <a:sym typeface="Calibri" panose="020F0502020204030204"/>
              </a:defRPr>
            </a:lvl3pPr>
            <a:lvl4pPr marL="1828800" lvl="3" indent="-342900" algn="l">
              <a:lnSpc>
                <a:spcPct val="90000"/>
              </a:lnSpc>
              <a:spcBef>
                <a:spcPts val="500"/>
              </a:spcBef>
              <a:spcAft>
                <a:spcPts val="0"/>
              </a:spcAft>
              <a:buClr>
                <a:srgbClr val="3F3F3F"/>
              </a:buClr>
              <a:buSzPts val="1800"/>
              <a:buChar char="•"/>
              <a:defRPr sz="1800">
                <a:solidFill>
                  <a:srgbClr val="3F3F3F"/>
                </a:solidFill>
                <a:latin typeface="Calibri" panose="020F0502020204030204"/>
                <a:ea typeface="Calibri" panose="020F0502020204030204"/>
                <a:cs typeface="Calibri" panose="020F0502020204030204"/>
                <a:sym typeface="Calibri" panose="020F0502020204030204"/>
              </a:defRPr>
            </a:lvl4pPr>
            <a:lvl5pPr marL="2286000" lvl="4" indent="-342900" algn="l">
              <a:lnSpc>
                <a:spcPct val="90000"/>
              </a:lnSpc>
              <a:spcBef>
                <a:spcPts val="500"/>
              </a:spcBef>
              <a:spcAft>
                <a:spcPts val="0"/>
              </a:spcAft>
              <a:buClr>
                <a:srgbClr val="3F3F3F"/>
              </a:buClr>
              <a:buSzPts val="1800"/>
              <a:buChar char="•"/>
              <a:defRPr sz="1800">
                <a:solidFill>
                  <a:srgbClr val="3F3F3F"/>
                </a:solidFill>
                <a:latin typeface="Calibri" panose="020F0502020204030204"/>
                <a:ea typeface="Calibri" panose="020F0502020204030204"/>
                <a:cs typeface="Calibri" panose="020F0502020204030204"/>
                <a:sym typeface="Calibri" panose="020F0502020204030204"/>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8" name="Google Shape;2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1"/>
        <p:cNvGrpSpPr/>
        <p:nvPr/>
      </p:nvGrpSpPr>
      <p:grpSpPr>
        <a:xfrm>
          <a:off x="0" y="0"/>
          <a:ext cx="0" cy="0"/>
          <a:chOff x="0" y="0"/>
          <a:chExt cx="0" cy="0"/>
        </a:xfrm>
      </p:grpSpPr>
      <p:sp>
        <p:nvSpPr>
          <p:cNvPr id="32" name="Google Shape;32;p19"/>
          <p:cNvSpPr txBox="1">
            <a:spLocks noGrp="1"/>
          </p:cNvSpPr>
          <p:nvPr>
            <p:ph type="title"/>
          </p:nvPr>
        </p:nvSpPr>
        <p:spPr>
          <a:xfrm>
            <a:off x="831850" y="3750945"/>
            <a:ext cx="9843135" cy="81153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9"/>
          <p:cNvSpPr txBox="1">
            <a:spLocks noGrp="1"/>
          </p:cNvSpPr>
          <p:nvPr>
            <p:ph type="body" idx="1"/>
          </p:nvPr>
        </p:nvSpPr>
        <p:spPr>
          <a:xfrm>
            <a:off x="831850" y="4610028"/>
            <a:ext cx="7321550" cy="64755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F7F7F"/>
              </a:buClr>
              <a:buSzPts val="2400"/>
              <a:buNone/>
              <a:defRPr sz="2400">
                <a:solidFill>
                  <a:srgbClr val="7F7F7F"/>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7"/>
        <p:cNvGrpSpPr/>
        <p:nvPr/>
      </p:nvGrpSpPr>
      <p:grpSpPr>
        <a:xfrm>
          <a:off x="0" y="0"/>
          <a:ext cx="0" cy="0"/>
          <a:chOff x="0" y="0"/>
          <a:chExt cx="0" cy="0"/>
        </a:xfrm>
      </p:grpSpPr>
      <p:sp>
        <p:nvSpPr>
          <p:cNvPr id="38" name="Google Shape;38;p20"/>
          <p:cNvSpPr txBox="1">
            <a:spLocks noGrp="1"/>
          </p:cNvSpPr>
          <p:nvPr>
            <p:ph type="title"/>
          </p:nvPr>
        </p:nvSpPr>
        <p:spPr>
          <a:xfrm>
            <a:off x="647700" y="25844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panose="020F0502020204030204"/>
              <a:buNone/>
              <a:defRPr sz="4400"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0"/>
          <p:cNvSpPr txBox="1">
            <a:spLocks noGrp="1"/>
          </p:cNvSpPr>
          <p:nvPr>
            <p:ph type="body" idx="1"/>
          </p:nvPr>
        </p:nvSpPr>
        <p:spPr>
          <a:xfrm>
            <a:off x="647700" y="1825625"/>
            <a:ext cx="5181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3F3F3F"/>
              </a:buClr>
              <a:buSzPts val="2800"/>
              <a:buNone/>
              <a:defRPr sz="2800">
                <a:solidFill>
                  <a:srgbClr val="3F3F3F"/>
                </a:solidFill>
                <a:latin typeface="Calibri" panose="020F0502020204030204"/>
                <a:ea typeface="Calibri" panose="020F0502020204030204"/>
                <a:cs typeface="Calibri" panose="020F0502020204030204"/>
                <a:sym typeface="Calibri" panose="020F0502020204030204"/>
              </a:defRPr>
            </a:lvl1pPr>
            <a:lvl2pPr marL="914400" lvl="1" indent="-381000" algn="l">
              <a:lnSpc>
                <a:spcPct val="150000"/>
              </a:lnSpc>
              <a:spcBef>
                <a:spcPts val="500"/>
              </a:spcBef>
              <a:spcAft>
                <a:spcPts val="0"/>
              </a:spcAft>
              <a:buClr>
                <a:srgbClr val="3F3F3F"/>
              </a:buClr>
              <a:buSzPts val="2400"/>
              <a:buChar char="•"/>
              <a:defRPr sz="2400">
                <a:solidFill>
                  <a:srgbClr val="3F3F3F"/>
                </a:solidFill>
                <a:latin typeface="Calibri" panose="020F0502020204030204"/>
                <a:ea typeface="Calibri" panose="020F0502020204030204"/>
                <a:cs typeface="Calibri" panose="020F0502020204030204"/>
                <a:sym typeface="Calibri" panose="020F0502020204030204"/>
              </a:defRPr>
            </a:lvl2pPr>
            <a:lvl3pPr marL="1371600" lvl="2" indent="-355600" algn="l">
              <a:lnSpc>
                <a:spcPct val="150000"/>
              </a:lnSpc>
              <a:spcBef>
                <a:spcPts val="500"/>
              </a:spcBef>
              <a:spcAft>
                <a:spcPts val="0"/>
              </a:spcAft>
              <a:buClr>
                <a:srgbClr val="3F3F3F"/>
              </a:buClr>
              <a:buSzPts val="2000"/>
              <a:buChar char="•"/>
              <a:defRPr sz="2000">
                <a:solidFill>
                  <a:srgbClr val="3F3F3F"/>
                </a:solidFill>
                <a:latin typeface="Calibri" panose="020F0502020204030204"/>
                <a:ea typeface="Calibri" panose="020F0502020204030204"/>
                <a:cs typeface="Calibri" panose="020F0502020204030204"/>
                <a:sym typeface="Calibri" panose="020F0502020204030204"/>
              </a:defRPr>
            </a:lvl3pPr>
            <a:lvl4pPr marL="1828800" lvl="3" indent="-342900" algn="l">
              <a:lnSpc>
                <a:spcPct val="150000"/>
              </a:lnSpc>
              <a:spcBef>
                <a:spcPts val="500"/>
              </a:spcBef>
              <a:spcAft>
                <a:spcPts val="0"/>
              </a:spcAft>
              <a:buClr>
                <a:srgbClr val="3F3F3F"/>
              </a:buClr>
              <a:buSzPts val="1800"/>
              <a:buChar char="•"/>
              <a:defRPr sz="1800">
                <a:solidFill>
                  <a:srgbClr val="3F3F3F"/>
                </a:solidFill>
                <a:latin typeface="Calibri" panose="020F0502020204030204"/>
                <a:ea typeface="Calibri" panose="020F0502020204030204"/>
                <a:cs typeface="Calibri" panose="020F0502020204030204"/>
                <a:sym typeface="Calibri" panose="020F0502020204030204"/>
              </a:defRPr>
            </a:lvl4pPr>
            <a:lvl5pPr marL="2286000" lvl="4" indent="-342900" algn="l">
              <a:lnSpc>
                <a:spcPct val="150000"/>
              </a:lnSpc>
              <a:spcBef>
                <a:spcPts val="500"/>
              </a:spcBef>
              <a:spcAft>
                <a:spcPts val="0"/>
              </a:spcAft>
              <a:buClr>
                <a:srgbClr val="3F3F3F"/>
              </a:buClr>
              <a:buSzPts val="1800"/>
              <a:buChar char="•"/>
              <a:defRPr sz="1800">
                <a:solidFill>
                  <a:srgbClr val="3F3F3F"/>
                </a:solidFill>
                <a:latin typeface="Calibri" panose="020F0502020204030204"/>
                <a:ea typeface="Calibri" panose="020F0502020204030204"/>
                <a:cs typeface="Calibri" panose="020F0502020204030204"/>
                <a:sym typeface="Calibri" panose="020F0502020204030204"/>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0"/>
          <p:cNvSpPr txBox="1">
            <a:spLocks noGrp="1"/>
          </p:cNvSpPr>
          <p:nvPr>
            <p:ph type="body" idx="2"/>
          </p:nvPr>
        </p:nvSpPr>
        <p:spPr>
          <a:xfrm>
            <a:off x="5981700" y="1825625"/>
            <a:ext cx="5181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rgbClr val="3F3F3F"/>
              </a:buClr>
              <a:buSzPts val="2800"/>
              <a:buNone/>
              <a:defRPr sz="2800" b="0" i="0" u="none" strike="noStrike" cap="none">
                <a:solidFill>
                  <a:srgbClr val="3F3F3F"/>
                </a:solidFill>
                <a:latin typeface="Calibri" panose="020F0502020204030204"/>
                <a:ea typeface="Calibri" panose="020F0502020204030204"/>
                <a:cs typeface="Calibri" panose="020F0502020204030204"/>
                <a:sym typeface="Calibri" panose="020F0502020204030204"/>
              </a:defRPr>
            </a:lvl1pPr>
            <a:lvl2pPr marL="914400" lvl="1" indent="-381000" algn="l">
              <a:lnSpc>
                <a:spcPct val="150000"/>
              </a:lnSpc>
              <a:spcBef>
                <a:spcPts val="500"/>
              </a:spcBef>
              <a:spcAft>
                <a:spcPts val="0"/>
              </a:spcAft>
              <a:buClr>
                <a:srgbClr val="3F3F3F"/>
              </a:buClr>
              <a:buSzPts val="2400"/>
              <a:buChar char="•"/>
              <a:defRPr sz="2400">
                <a:solidFill>
                  <a:srgbClr val="3F3F3F"/>
                </a:solidFill>
              </a:defRPr>
            </a:lvl2pPr>
            <a:lvl3pPr marL="1371600" lvl="2" indent="-355600" algn="l">
              <a:lnSpc>
                <a:spcPct val="150000"/>
              </a:lnSpc>
              <a:spcBef>
                <a:spcPts val="500"/>
              </a:spcBef>
              <a:spcAft>
                <a:spcPts val="0"/>
              </a:spcAft>
              <a:buClr>
                <a:srgbClr val="3F3F3F"/>
              </a:buClr>
              <a:buSzPts val="2000"/>
              <a:buChar char="•"/>
              <a:defRPr sz="2000">
                <a:solidFill>
                  <a:srgbClr val="3F3F3F"/>
                </a:solidFill>
              </a:defRPr>
            </a:lvl3pPr>
            <a:lvl4pPr marL="1828800" lvl="3" indent="-355600" algn="l">
              <a:lnSpc>
                <a:spcPct val="150000"/>
              </a:lnSpc>
              <a:spcBef>
                <a:spcPts val="500"/>
              </a:spcBef>
              <a:spcAft>
                <a:spcPts val="0"/>
              </a:spcAft>
              <a:buClr>
                <a:srgbClr val="3F3F3F"/>
              </a:buClr>
              <a:buSzPts val="2000"/>
              <a:buChar char="•"/>
              <a:defRPr sz="2000">
                <a:solidFill>
                  <a:srgbClr val="3F3F3F"/>
                </a:solidFill>
              </a:defRPr>
            </a:lvl4pPr>
            <a:lvl5pPr marL="2286000" lvl="4" indent="-355600" algn="l">
              <a:lnSpc>
                <a:spcPct val="150000"/>
              </a:lnSpc>
              <a:spcBef>
                <a:spcPts val="500"/>
              </a:spcBef>
              <a:spcAft>
                <a:spcPts val="0"/>
              </a:spcAft>
              <a:buClr>
                <a:srgbClr val="3F3F3F"/>
              </a:buClr>
              <a:buSzPts val="2000"/>
              <a:buChar char="•"/>
              <a:defRPr sz="20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1" name="Google Shape;4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panose="020F0502020204030204"/>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1"/>
          <p:cNvSpPr txBox="1">
            <a:spLocks noGrp="1"/>
          </p:cNvSpPr>
          <p:nvPr>
            <p:ph type="body" idx="1"/>
          </p:nvPr>
        </p:nvSpPr>
        <p:spPr>
          <a:xfrm>
            <a:off x="839788" y="1744961"/>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alibri" panose="020F0502020204030204"/>
                <a:ea typeface="Calibri" panose="020F0502020204030204"/>
                <a:cs typeface="Calibri" panose="020F0502020204030204"/>
                <a:sym typeface="Calibri" panose="020F0502020204030204"/>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21"/>
          <p:cNvSpPr txBox="1">
            <a:spLocks noGrp="1"/>
          </p:cNvSpPr>
          <p:nvPr>
            <p:ph type="body" idx="2"/>
          </p:nvPr>
        </p:nvSpPr>
        <p:spPr>
          <a:xfrm>
            <a:off x="839788" y="2615609"/>
            <a:ext cx="5157787" cy="35740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21"/>
          <p:cNvSpPr txBox="1">
            <a:spLocks noGrp="1"/>
          </p:cNvSpPr>
          <p:nvPr>
            <p:ph type="body" idx="3"/>
          </p:nvPr>
        </p:nvSpPr>
        <p:spPr>
          <a:xfrm>
            <a:off x="6172200" y="1744961"/>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atin typeface="Calibri" panose="020F0502020204030204"/>
                <a:ea typeface="Calibri" panose="020F0502020204030204"/>
                <a:cs typeface="Calibri" panose="020F0502020204030204"/>
                <a:sym typeface="Calibri" panose="020F0502020204030204"/>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21"/>
          <p:cNvSpPr txBox="1">
            <a:spLocks noGrp="1"/>
          </p:cNvSpPr>
          <p:nvPr>
            <p:ph type="body" idx="4"/>
          </p:nvPr>
        </p:nvSpPr>
        <p:spPr>
          <a:xfrm>
            <a:off x="6172200" y="2615609"/>
            <a:ext cx="5183188" cy="357405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22"/>
          <p:cNvSpPr txBox="1">
            <a:spLocks noGrp="1"/>
          </p:cNvSpPr>
          <p:nvPr>
            <p:ph type="title"/>
          </p:nvPr>
        </p:nvSpPr>
        <p:spPr>
          <a:xfrm>
            <a:off x="838200" y="2766219"/>
            <a:ext cx="10515600"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400"/>
              <a:buFont typeface="Calibri" panose="020F0502020204030204"/>
              <a:buNone/>
              <a:defRPr sz="4400" b="0">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8"/>
        <p:cNvGrpSpPr/>
        <p:nvPr/>
      </p:nvGrpSpPr>
      <p:grpSpPr>
        <a:xfrm>
          <a:off x="0" y="0"/>
          <a:ext cx="0" cy="0"/>
          <a:chOff x="0" y="0"/>
          <a:chExt cx="0" cy="0"/>
        </a:xfrm>
      </p:grpSpPr>
      <p:sp>
        <p:nvSpPr>
          <p:cNvPr id="59" name="Google Shape;5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2"/>
        <p:cNvGrpSpPr/>
        <p:nvPr/>
      </p:nvGrpSpPr>
      <p:grpSpPr>
        <a:xfrm>
          <a:off x="0" y="0"/>
          <a:ext cx="0" cy="0"/>
          <a:chOff x="0" y="0"/>
          <a:chExt cx="0" cy="0"/>
        </a:xfrm>
      </p:grpSpPr>
      <p:sp>
        <p:nvSpPr>
          <p:cNvPr id="63" name="Google Shape;63;p24"/>
          <p:cNvSpPr txBox="1">
            <a:spLocks noGrp="1"/>
          </p:cNvSpPr>
          <p:nvPr>
            <p:ph type="title"/>
          </p:nvPr>
        </p:nvSpPr>
        <p:spPr>
          <a:xfrm>
            <a:off x="646747" y="127000"/>
            <a:ext cx="4165200" cy="1600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200"/>
              <a:buFont typeface="Calibri" panose="020F0502020204030204"/>
              <a:buNone/>
              <a:defRPr sz="3200" b="0">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4"/>
          <p:cNvSpPr>
            <a:spLocks noGrp="1"/>
          </p:cNvSpPr>
          <p:nvPr>
            <p:ph type="pic" idx="2"/>
          </p:nvPr>
        </p:nvSpPr>
        <p:spPr>
          <a:xfrm>
            <a:off x="5184000" y="766354"/>
            <a:ext cx="5817375" cy="5094446"/>
          </a:xfrm>
          <a:prstGeom prst="rect">
            <a:avLst/>
          </a:prstGeom>
          <a:noFill/>
          <a:ln>
            <a:noFill/>
          </a:ln>
        </p:spPr>
      </p:sp>
      <p:sp>
        <p:nvSpPr>
          <p:cNvPr id="65" name="Google Shape;65;p24"/>
          <p:cNvSpPr txBox="1">
            <a:spLocks noGrp="1"/>
          </p:cNvSpPr>
          <p:nvPr>
            <p:ph type="body" idx="1"/>
          </p:nvPr>
        </p:nvSpPr>
        <p:spPr>
          <a:xfrm>
            <a:off x="651827" y="2057400"/>
            <a:ext cx="4165200"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5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6" name="Google Shape;6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69"/>
        <p:cNvGrpSpPr/>
        <p:nvPr/>
      </p:nvGrpSpPr>
      <p:grpSpPr>
        <a:xfrm>
          <a:off x="0" y="0"/>
          <a:ext cx="0" cy="0"/>
          <a:chOff x="0" y="0"/>
          <a:chExt cx="0" cy="0"/>
        </a:xfrm>
      </p:grpSpPr>
      <p:sp>
        <p:nvSpPr>
          <p:cNvPr id="70" name="Google Shape;70;p25"/>
          <p:cNvSpPr txBox="1">
            <a:spLocks noGrp="1"/>
          </p:cNvSpPr>
          <p:nvPr>
            <p:ph type="title"/>
          </p:nvPr>
        </p:nvSpPr>
        <p:spPr>
          <a:xfrm rot="5400000">
            <a:off x="7683223" y="2506386"/>
            <a:ext cx="5811838" cy="152931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Calibri" panose="020F0502020204030204"/>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25"/>
          <p:cNvSpPr txBox="1">
            <a:spLocks noGrp="1"/>
          </p:cNvSpPr>
          <p:nvPr>
            <p:ph type="body" idx="1"/>
          </p:nvPr>
        </p:nvSpPr>
        <p:spPr>
          <a:xfrm rot="5400000">
            <a:off x="2372260" y="-1168935"/>
            <a:ext cx="5811838" cy="887995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2" name="Google Shape;7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75"/>
        <p:cNvGrpSpPr/>
        <p:nvPr/>
      </p:nvGrpSpPr>
      <p:grpSpPr>
        <a:xfrm>
          <a:off x="0" y="0"/>
          <a:ext cx="0" cy="0"/>
          <a:chOff x="0" y="0"/>
          <a:chExt cx="0" cy="0"/>
        </a:xfrm>
      </p:grpSpPr>
      <p:sp>
        <p:nvSpPr>
          <p:cNvPr id="76" name="Google Shape;7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fld>
            <a:endParaRPr lang="fr-FR"/>
          </a:p>
        </p:txBody>
      </p:sp>
      <p:sp>
        <p:nvSpPr>
          <p:cNvPr id="79" name="Google Shape;79;p26"/>
          <p:cNvSpPr txBox="1">
            <a:spLocks noGrp="1"/>
          </p:cNvSpPr>
          <p:nvPr>
            <p:ph type="body" idx="1"/>
          </p:nvPr>
        </p:nvSpPr>
        <p:spPr>
          <a:xfrm>
            <a:off x="838200" y="551543"/>
            <a:ext cx="10515600" cy="555897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Calibri" panose="020F0502020204030204"/>
              <a:buNone/>
              <a:defRPr sz="4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fr-FR"/>
            </a:fld>
            <a:endParaRPr lang="fr-F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1"/>
          <a:srcRect l="-17785"/>
          <a:stretch>
            <a:fillRect/>
          </a:stretch>
        </p:blipFill>
        <p:spPr>
          <a:xfrm>
            <a:off x="-681739" y="1646127"/>
            <a:ext cx="4525279" cy="3703095"/>
          </a:xfrm>
          <a:prstGeom prst="rect">
            <a:avLst/>
          </a:prstGeom>
          <a:noFill/>
          <a:ln>
            <a:noFill/>
          </a:ln>
        </p:spPr>
      </p:pic>
      <p:sp>
        <p:nvSpPr>
          <p:cNvPr id="85" name="Google Shape;85;p1"/>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fr-FR" sz="4300" b="1" i="0" u="none" strike="noStrike" cap="none" dirty="0">
                <a:solidFill>
                  <a:srgbClr val="1155CC"/>
                </a:solidFill>
                <a:latin typeface="Arial" panose="020B0604020202020204"/>
                <a:ea typeface="Arial" panose="020B0604020202020204"/>
                <a:cs typeface="Arial" panose="020B0604020202020204"/>
                <a:sym typeface="Arial" panose="020B0604020202020204"/>
              </a:rPr>
              <a:t>Revue annuelle 2025</a:t>
            </a:r>
            <a:endParaRPr dirty="0"/>
          </a:p>
          <a:p>
            <a:pPr marL="0" marR="0" lvl="0" indent="0" algn="ctr" rtl="0">
              <a:lnSpc>
                <a:spcPct val="100000"/>
              </a:lnSpc>
              <a:spcBef>
                <a:spcPts val="0"/>
              </a:spcBef>
              <a:spcAft>
                <a:spcPts val="0"/>
              </a:spcAft>
              <a:buClr>
                <a:srgbClr val="000000"/>
              </a:buClr>
              <a:buSzPts val="3200"/>
              <a:buFont typeface="Arial" panose="020B0604020202020204"/>
              <a:buNone/>
            </a:pPr>
            <a:r>
              <a:rPr lang="fr-FR" sz="4300" b="1" i="0" u="none" strike="noStrike" cap="none" dirty="0">
                <a:solidFill>
                  <a:srgbClr val="1155CC"/>
                </a:solidFill>
                <a:latin typeface="Arial" panose="020B0604020202020204"/>
                <a:ea typeface="Arial" panose="020B0604020202020204"/>
                <a:cs typeface="Arial" panose="020B0604020202020204"/>
                <a:sym typeface="Arial" panose="020B0604020202020204"/>
              </a:rPr>
              <a:t>Canevas de présentation des PTF en appui à la vaccination</a:t>
            </a:r>
            <a:endParaRPr sz="4300" b="1" i="0" u="none" strike="noStrike" cap="none" dirty="0">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3200"/>
              <a:buFont typeface="Arial" panose="020B0604020202020204"/>
              <a:buNone/>
            </a:pPr>
            <a:endParaRPr sz="4300" b="1" i="0" u="none" strike="noStrike" cap="none" dirty="0">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3200"/>
              <a:buFont typeface="Arial" panose="020B0604020202020204"/>
              <a:buNone/>
            </a:pPr>
            <a:r>
              <a:rPr lang="fr-FR" sz="4300" b="1" i="0" u="none" strike="noStrike" cap="none" dirty="0">
                <a:solidFill>
                  <a:srgbClr val="1155CC"/>
                </a:solidFill>
                <a:latin typeface="Arial" panose="020B0604020202020204"/>
                <a:ea typeface="Arial" panose="020B0604020202020204"/>
                <a:cs typeface="Arial" panose="020B0604020202020204"/>
                <a:sym typeface="Arial" panose="020B0604020202020204"/>
              </a:rPr>
              <a:t>Nom du PTF:</a:t>
            </a:r>
            <a:r>
              <a:rPr lang="fr-FR" sz="4300" b="1" dirty="0">
                <a:solidFill>
                  <a:srgbClr val="1155CC"/>
                </a:solidFill>
              </a:rPr>
              <a:t> </a:t>
            </a:r>
            <a:r>
              <a:rPr lang="fr-FR" sz="4300" b="1" dirty="0">
                <a:solidFill>
                  <a:srgbClr val="7030A0"/>
                </a:solidFill>
              </a:rPr>
              <a:t>John Snow Inc</a:t>
            </a:r>
            <a:r>
              <a:rPr lang="fr-FR" sz="4300" b="1" dirty="0">
                <a:solidFill>
                  <a:srgbClr val="1155CC"/>
                </a:solidFill>
              </a:rPr>
              <a:t>.</a:t>
            </a:r>
            <a:endParaRPr dirty="0"/>
          </a:p>
        </p:txBody>
      </p:sp>
      <p:sp>
        <p:nvSpPr>
          <p:cNvPr id="86" name="Google Shape;86;p1"/>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7" name="Google Shape;87;p1"/>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8" name="Google Shape;88;p1"/>
          <p:cNvSpPr txBox="1"/>
          <p:nvPr/>
        </p:nvSpPr>
        <p:spPr>
          <a:xfrm>
            <a:off x="5181899" y="6148553"/>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fr-FR" sz="2000" b="1" i="0" u="none" strike="noStrike" cap="none">
                <a:solidFill>
                  <a:srgbClr val="1155CC"/>
                </a:solidFill>
                <a:latin typeface="Arial" panose="020B0604020202020204"/>
                <a:ea typeface="Arial" panose="020B0604020202020204"/>
                <a:cs typeface="Arial" panose="020B0604020202020204"/>
                <a:sym typeface="Arial" panose="020B0604020202020204"/>
              </a:rPr>
              <a:t>Décembre 2025</a:t>
            </a:r>
            <a:endParaRPr sz="2000" b="1"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3200" b="1" i="0" u="none" strike="noStrike" cap="none">
                <a:solidFill>
                  <a:srgbClr val="1155CC"/>
                </a:solidFill>
                <a:latin typeface="Arial" panose="020B0604020202020204"/>
                <a:ea typeface="Arial" panose="020B0604020202020204"/>
                <a:cs typeface="Arial" panose="020B0604020202020204"/>
                <a:sym typeface="Arial" panose="020B0604020202020204"/>
              </a:rPr>
              <a:t>Agenda</a:t>
            </a:r>
            <a:endParaRPr sz="3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94" name="Google Shape;94;p2"/>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6" name="Google Shape;96;p2"/>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97" name="Google Shape;97;p2"/>
          <p:cNvSpPr txBox="1"/>
          <p:nvPr/>
        </p:nvSpPr>
        <p:spPr>
          <a:xfrm>
            <a:off x="337600" y="927461"/>
            <a:ext cx="11274900" cy="5661900"/>
          </a:xfrm>
          <a:prstGeom prst="rect">
            <a:avLst/>
          </a:prstGeom>
          <a:noFill/>
          <a:ln>
            <a:noFill/>
          </a:ln>
        </p:spPr>
        <p:txBody>
          <a:bodyPr spcFirstLastPara="1" wrap="square" lIns="121900" tIns="121900" rIns="121900" bIns="121900" anchor="t" anchorCtr="0">
            <a:spAutoFit/>
          </a:bodyPr>
          <a:lstStyle/>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Présentation de l’organisation</a:t>
            </a:r>
            <a:endParaRPr sz="2400"/>
          </a:p>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Axe d’appui au PEV</a:t>
            </a:r>
            <a:endParaRPr sz="2400"/>
          </a:p>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Redevabilité financière</a:t>
            </a:r>
            <a:endParaRPr sz="2400"/>
          </a:p>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Réalisations majeurs de l’année</a:t>
            </a:r>
            <a:endParaRPr sz="2400"/>
          </a:p>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Défis rencontrés</a:t>
            </a:r>
            <a:endParaRPr sz="2400"/>
          </a:p>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Valeurs ajoutées, innovations et bonnes pratiques</a:t>
            </a:r>
            <a:endParaRPr sz="2400"/>
          </a:p>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Priorités et engagement pour 2026 </a:t>
            </a:r>
            <a:endParaRPr sz="2400"/>
          </a:p>
          <a:p>
            <a:pPr marL="609600" marR="0" lvl="0" indent="-457200" algn="l" rtl="0">
              <a:lnSpc>
                <a:spcPct val="150000"/>
              </a:lnSpc>
              <a:spcBef>
                <a:spcPts val="1300"/>
              </a:spcBef>
              <a:spcAft>
                <a:spcPts val="0"/>
              </a:spcAft>
              <a:buClr>
                <a:schemeClr val="dk1"/>
              </a:buClr>
              <a:buSzPts val="2400"/>
              <a:buAutoNum type="arabicPeriod"/>
            </a:pPr>
            <a:r>
              <a:rPr lang="fr-FR" sz="2400" i="0" u="none" strike="noStrike" cap="none">
                <a:solidFill>
                  <a:schemeClr val="dk1"/>
                </a:solidFill>
              </a:rPr>
              <a:t>Recommandations à la direction du PEV</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p:nvPr/>
        </p:nvSpPr>
        <p:spPr>
          <a:xfrm>
            <a:off x="497850" y="2722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3200" b="1" i="0" u="none" strike="noStrike" cap="none">
                <a:solidFill>
                  <a:srgbClr val="1155CC"/>
                </a:solidFill>
                <a:latin typeface="Arial" panose="020B0604020202020204"/>
                <a:ea typeface="Arial" panose="020B0604020202020204"/>
                <a:cs typeface="Arial" panose="020B0604020202020204"/>
                <a:sym typeface="Arial" panose="020B0604020202020204"/>
              </a:rPr>
              <a:t>1. Présentation de l’organisation</a:t>
            </a:r>
            <a:endParaRPr sz="3200"/>
          </a:p>
          <a:p>
            <a:pPr marL="0" marR="0" lvl="0" indent="0" algn="l" rtl="0">
              <a:lnSpc>
                <a:spcPct val="100000"/>
              </a:lnSpc>
              <a:spcBef>
                <a:spcPts val="0"/>
              </a:spcBef>
              <a:spcAft>
                <a:spcPts val="0"/>
              </a:spcAft>
              <a:buClr>
                <a:schemeClr val="dk1"/>
              </a:buClr>
              <a:buSzPts val="1500"/>
              <a:buFont typeface="Arial" panose="020B0604020202020204"/>
              <a:buNone/>
            </a:pPr>
            <a:endParaRPr sz="3200" b="1"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03" name="Google Shape;103;p3"/>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 name="Google Shape;104;p3"/>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5" name="Google Shape;105;p3"/>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06" name="Google Shape;106;p3"/>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07" name="Google Shape;107;p3"/>
          <p:cNvSpPr txBox="1"/>
          <p:nvPr/>
        </p:nvSpPr>
        <p:spPr>
          <a:xfrm>
            <a:off x="497850" y="1003941"/>
            <a:ext cx="11160750" cy="5503800"/>
          </a:xfrm>
          <a:prstGeom prst="rect">
            <a:avLst/>
          </a:prstGeom>
          <a:noFill/>
          <a:ln>
            <a:noFill/>
          </a:ln>
        </p:spPr>
        <p:txBody>
          <a:bodyPr spcFirstLastPara="1" wrap="square" lIns="91425" tIns="45700" rIns="91425" bIns="45700" anchor="t" anchorCtr="0">
            <a:noAutofit/>
          </a:bodyPr>
          <a:lstStyle/>
          <a:p>
            <a:pPr marL="285750" marR="0" lvl="0" indent="-285750" algn="l" rtl="0">
              <a:lnSpc>
                <a:spcPct val="115000"/>
              </a:lnSpc>
              <a:spcBef>
                <a:spcPts val="0"/>
              </a:spcBef>
              <a:spcAft>
                <a:spcPts val="0"/>
              </a:spcAft>
              <a:buClr>
                <a:schemeClr val="dk1"/>
              </a:buClr>
              <a:buSzPts val="2800"/>
              <a:buFont typeface="Arial" panose="020B0604020202020204"/>
              <a:buChar char="•"/>
            </a:pP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Année création de l’organisation :</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1978 (47 ans)</a:t>
            </a:r>
            <a:endParaRPr dirty="0"/>
          </a:p>
          <a:p>
            <a:pPr marL="285750" marR="0" lvl="0" indent="-285750" algn="just" rtl="0">
              <a:lnSpc>
                <a:spcPct val="115000"/>
              </a:lnSpc>
              <a:spcBef>
                <a:spcPts val="0"/>
              </a:spcBef>
              <a:spcAft>
                <a:spcPts val="0"/>
              </a:spcAft>
              <a:buClr>
                <a:schemeClr val="dk1"/>
              </a:buClr>
              <a:buSzPts val="2800"/>
              <a:buFont typeface="Arial" panose="020B0604020202020204"/>
              <a:buChar char="•"/>
            </a:pP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Mandat/</a:t>
            </a:r>
            <a:r>
              <a:rPr lang="fr-FR" sz="2800" b="1" dirty="0">
                <a:solidFill>
                  <a:schemeClr val="dk1"/>
                </a:solidFill>
                <a:latin typeface="Calibri" panose="020F0502020204030204"/>
                <a:ea typeface="Calibri" panose="020F0502020204030204"/>
                <a:cs typeface="Calibri" panose="020F0502020204030204"/>
                <a:sym typeface="Calibri" panose="020F0502020204030204"/>
              </a:rPr>
              <a:t>m</a:t>
            </a: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ission :</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fr-FR" sz="2800" dirty="0">
                <a:solidFill>
                  <a:schemeClr val="dk1"/>
                </a:solidFill>
                <a:latin typeface="Calibri" panose="020F0502020204030204"/>
                <a:ea typeface="Calibri" panose="020F0502020204030204"/>
                <a:cs typeface="Calibri" panose="020F0502020204030204"/>
                <a:sym typeface="Calibri" panose="020F0502020204030204"/>
              </a:rPr>
              <a:t>Améliorer la vie des individus et des communautés grâce à de meilleurs résultats en matière de santé et d’éducation, et offrir un environnement où les personnes passionnées peuvent poursuivre cette cause.</a:t>
            </a:r>
            <a:endParaRPr dirty="0"/>
          </a:p>
          <a:p>
            <a:pPr marL="285750" marR="0" lvl="0" indent="-285750" algn="l" rtl="0">
              <a:lnSpc>
                <a:spcPct val="115000"/>
              </a:lnSpc>
              <a:spcBef>
                <a:spcPts val="0"/>
              </a:spcBef>
              <a:spcAft>
                <a:spcPts val="0"/>
              </a:spcAft>
              <a:buClr>
                <a:schemeClr val="dk1"/>
              </a:buClr>
              <a:buSzPts val="2800"/>
              <a:buFont typeface="Arial" panose="020B0604020202020204"/>
              <a:buChar char="•"/>
            </a:pP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Nombre d’année présence en RDC :  </a:t>
            </a:r>
            <a:r>
              <a:rPr lang="fr-FR" sz="2800" dirty="0">
                <a:solidFill>
                  <a:schemeClr val="dk1"/>
                </a:solidFill>
                <a:latin typeface="Calibri" panose="020F0502020204030204"/>
                <a:ea typeface="Calibri" panose="020F0502020204030204"/>
                <a:cs typeface="Calibri" panose="020F0502020204030204"/>
                <a:sym typeface="Calibri" panose="020F0502020204030204"/>
              </a:rPr>
              <a:t>D</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epuis 1993</a:t>
            </a: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soit 32 ans </a:t>
            </a:r>
            <a:endParaRPr dirty="0"/>
          </a:p>
          <a:p>
            <a:pPr marL="285750" marR="0" lvl="0" indent="-285750" algn="l" rtl="0">
              <a:lnSpc>
                <a:spcPct val="115000"/>
              </a:lnSpc>
              <a:spcBef>
                <a:spcPts val="0"/>
              </a:spcBef>
              <a:spcAft>
                <a:spcPts val="0"/>
              </a:spcAft>
              <a:buClr>
                <a:schemeClr val="dk1"/>
              </a:buClr>
              <a:buSzPts val="2800"/>
              <a:buFont typeface="Arial" panose="020B0604020202020204"/>
              <a:buChar char="•"/>
            </a:pP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Nombre d’année appui au PEV : </a:t>
            </a:r>
            <a:r>
              <a:rPr lang="fr-FR" sz="2800" dirty="0">
                <a:solidFill>
                  <a:schemeClr val="dk1"/>
                </a:solidFill>
                <a:latin typeface="Calibri" panose="020F0502020204030204"/>
                <a:ea typeface="Calibri" panose="020F0502020204030204"/>
                <a:cs typeface="Calibri" panose="020F0502020204030204"/>
                <a:sym typeface="Calibri" panose="020F0502020204030204"/>
              </a:rPr>
              <a:t>P</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lus de 25 ans </a:t>
            </a:r>
            <a:endParaRPr dirty="0"/>
          </a:p>
          <a:p>
            <a:pPr marL="285750" marR="0" lvl="0" indent="-285750" algn="just" rtl="0">
              <a:lnSpc>
                <a:spcPct val="115000"/>
              </a:lnSpc>
              <a:spcBef>
                <a:spcPts val="0"/>
              </a:spcBef>
              <a:spcAft>
                <a:spcPts val="0"/>
              </a:spcAft>
              <a:buClr>
                <a:schemeClr val="dk1"/>
              </a:buClr>
              <a:buSzPts val="2800"/>
              <a:buFont typeface="Arial" panose="020B0604020202020204"/>
              <a:buChar char="•"/>
            </a:pP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Zone d’intervention en RDC :</a:t>
            </a:r>
            <a:r>
              <a:rPr lang="fr-FR" sz="28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Appui à la direction du PEV et 1</a:t>
            </a:r>
            <a:r>
              <a:rPr lang="fr-FR" sz="2800" dirty="0">
                <a:solidFill>
                  <a:schemeClr val="dk1"/>
                </a:solidFill>
                <a:latin typeface="Calibri" panose="020F0502020204030204"/>
                <a:ea typeface="Calibri" panose="020F0502020204030204"/>
                <a:cs typeface="Calibri" panose="020F0502020204030204"/>
                <a:sym typeface="Calibri" panose="020F0502020204030204"/>
              </a:rPr>
              <a:t>1</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province</a:t>
            </a:r>
            <a:r>
              <a:rPr lang="fr-FR" sz="2800" dirty="0">
                <a:solidFill>
                  <a:schemeClr val="dk1"/>
                </a:solidFill>
                <a:latin typeface="Calibri" panose="020F0502020204030204"/>
                <a:ea typeface="Calibri" panose="020F0502020204030204"/>
                <a:cs typeface="Calibri" panose="020F0502020204030204"/>
                <a:sym typeface="Calibri" panose="020F0502020204030204"/>
              </a:rPr>
              <a:t>s (Kinshasa, Kasaï Oriental, </a:t>
            </a:r>
            <a:r>
              <a:rPr lang="fr-FR" sz="2800" dirty="0" err="1">
                <a:solidFill>
                  <a:schemeClr val="dk1"/>
                </a:solidFill>
                <a:latin typeface="Calibri" panose="020F0502020204030204"/>
                <a:ea typeface="Calibri" panose="020F0502020204030204"/>
                <a:cs typeface="Calibri" panose="020F0502020204030204"/>
                <a:sym typeface="Calibri" panose="020F0502020204030204"/>
              </a:rPr>
              <a:t>Lomami</a:t>
            </a:r>
            <a:r>
              <a:rPr lang="fr-FR" sz="2800" dirty="0">
                <a:solidFill>
                  <a:schemeClr val="dk1"/>
                </a:solidFill>
                <a:latin typeface="Calibri" panose="020F0502020204030204"/>
                <a:ea typeface="Calibri" panose="020F0502020204030204"/>
                <a:cs typeface="Calibri" panose="020F0502020204030204"/>
                <a:sym typeface="Calibri" panose="020F0502020204030204"/>
              </a:rPr>
              <a:t>, Kasaï Central, Kwilu, Kwango, Kongo Central, Equateur, Lualaba, Haut </a:t>
            </a:r>
            <a:r>
              <a:rPr lang="fr-FR" sz="2800" dirty="0" err="1">
                <a:solidFill>
                  <a:schemeClr val="dk1"/>
                </a:solidFill>
                <a:latin typeface="Calibri" panose="020F0502020204030204"/>
                <a:ea typeface="Calibri" panose="020F0502020204030204"/>
                <a:cs typeface="Calibri" panose="020F0502020204030204"/>
                <a:sym typeface="Calibri" panose="020F0502020204030204"/>
              </a:rPr>
              <a:t>Lomami</a:t>
            </a:r>
            <a:r>
              <a:rPr lang="fr-FR" sz="2800" dirty="0">
                <a:solidFill>
                  <a:schemeClr val="dk1"/>
                </a:solidFill>
                <a:latin typeface="Calibri" panose="020F0502020204030204"/>
                <a:ea typeface="Calibri" panose="020F0502020204030204"/>
                <a:cs typeface="Calibri" panose="020F0502020204030204"/>
                <a:sym typeface="Calibri" panose="020F0502020204030204"/>
              </a:rPr>
              <a:t> et Haut Katanga)</a:t>
            </a:r>
            <a:r>
              <a:rPr lang="fr-FR"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endParaRPr dirty="0"/>
          </a:p>
          <a:p>
            <a:pPr marL="0" marR="0" lvl="0" indent="0" algn="l" rtl="0">
              <a:spcBef>
                <a:spcPts val="0"/>
              </a:spcBef>
              <a:spcAft>
                <a:spcPts val="0"/>
              </a:spcAft>
              <a:buNone/>
            </a:pPr>
            <a:endParaRPr sz="2800"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415220" y="126640"/>
            <a:ext cx="11361559" cy="787760"/>
          </a:xfrm>
          <a:prstGeom prst="rect">
            <a:avLst/>
          </a:prstGeom>
          <a:noFill/>
          <a:ln>
            <a:noFill/>
          </a:ln>
        </p:spPr>
        <p:txBody>
          <a:bodyPr spcFirstLastPara="1" wrap="square" lIns="121900" tIns="121900" rIns="121900" bIns="121900" anchor="t" anchorCtr="0">
            <a:normAutofit/>
          </a:bodyPr>
          <a:lstStyle/>
          <a:p>
            <a:pPr marL="0" lvl="0" indent="0" algn="l" rtl="0">
              <a:lnSpc>
                <a:spcPct val="100000"/>
              </a:lnSpc>
              <a:spcBef>
                <a:spcPts val="0"/>
              </a:spcBef>
              <a:spcAft>
                <a:spcPts val="0"/>
              </a:spcAft>
              <a:buClr>
                <a:srgbClr val="145ABE"/>
              </a:buClr>
              <a:buSzPct val="128000"/>
              <a:buFont typeface="Arial" panose="020B0604020202020204"/>
              <a:buNone/>
            </a:pPr>
            <a:r>
              <a:rPr lang="fr-FR" sz="3200" b="1" dirty="0">
                <a:solidFill>
                  <a:srgbClr val="145ABE"/>
                </a:solidFill>
                <a:latin typeface="Arial" panose="020B0604020202020204"/>
                <a:ea typeface="Arial" panose="020B0604020202020204"/>
                <a:cs typeface="Arial" panose="020B0604020202020204"/>
                <a:sym typeface="Arial" panose="020B0604020202020204"/>
              </a:rPr>
              <a:t>I. </a:t>
            </a:r>
            <a:r>
              <a:rPr lang="fr-FR" sz="3200" b="1" i="0" u="none" strike="noStrike" cap="none" dirty="0">
                <a:solidFill>
                  <a:srgbClr val="1155CC"/>
                </a:solidFill>
                <a:latin typeface="Arial" panose="020B0604020202020204"/>
                <a:ea typeface="Arial" panose="020B0604020202020204"/>
                <a:cs typeface="Arial" panose="020B0604020202020204"/>
                <a:sym typeface="Arial" panose="020B0604020202020204"/>
              </a:rPr>
              <a:t>Cartographie </a:t>
            </a:r>
            <a:r>
              <a:rPr lang="fr-FR" sz="3200" b="1" dirty="0">
                <a:solidFill>
                  <a:srgbClr val="1155CC"/>
                </a:solidFill>
                <a:latin typeface="Arial" panose="020B0604020202020204"/>
                <a:ea typeface="Arial" panose="020B0604020202020204"/>
                <a:cs typeface="Arial" panose="020B0604020202020204"/>
                <a:sym typeface="Arial" panose="020B0604020202020204"/>
              </a:rPr>
              <a:t>i</a:t>
            </a:r>
            <a:r>
              <a:rPr lang="fr-FR" sz="3200" b="1" i="0" u="none" strike="noStrike" cap="none" dirty="0">
                <a:solidFill>
                  <a:srgbClr val="1155CC"/>
                </a:solidFill>
                <a:latin typeface="Arial" panose="020B0604020202020204"/>
                <a:ea typeface="Arial" panose="020B0604020202020204"/>
                <a:cs typeface="Arial" panose="020B0604020202020204"/>
                <a:sym typeface="Arial" panose="020B0604020202020204"/>
              </a:rPr>
              <a:t>ntervention et Présence sur terrain </a:t>
            </a:r>
            <a:endParaRPr sz="3200" b="1" dirty="0">
              <a:latin typeface="Arial" panose="020B0604020202020204"/>
              <a:ea typeface="Arial" panose="020B0604020202020204"/>
              <a:cs typeface="Arial" panose="020B0604020202020204"/>
              <a:sym typeface="Arial" panose="020B0604020202020204"/>
            </a:endParaRPr>
          </a:p>
        </p:txBody>
      </p:sp>
      <p:sp>
        <p:nvSpPr>
          <p:cNvPr id="113" name="Google Shape;113;p4"/>
          <p:cNvSpPr txBox="1">
            <a:spLocks noGrp="1"/>
          </p:cNvSpPr>
          <p:nvPr>
            <p:ph type="body" idx="1"/>
          </p:nvPr>
        </p:nvSpPr>
        <p:spPr>
          <a:xfrm>
            <a:off x="415220" y="791293"/>
            <a:ext cx="11155200" cy="5940067"/>
          </a:xfrm>
          <a:prstGeom prst="rect">
            <a:avLst/>
          </a:prstGeom>
          <a:noFill/>
          <a:ln>
            <a:noFill/>
          </a:ln>
        </p:spPr>
        <p:txBody>
          <a:bodyPr spcFirstLastPara="1" wrap="square" lIns="121900" tIns="60950" rIns="121900" bIns="60950" anchor="ctr" anchorCtr="0">
            <a:spAutoFit/>
          </a:bodyPr>
          <a:lstStyle/>
          <a:p>
            <a:pPr marL="381000" lvl="0" indent="-381000" algn="l" rtl="0">
              <a:lnSpc>
                <a:spcPct val="150000"/>
              </a:lnSpc>
              <a:spcBef>
                <a:spcPts val="0"/>
              </a:spcBef>
              <a:spcAft>
                <a:spcPts val="0"/>
              </a:spcAft>
              <a:buClr>
                <a:schemeClr val="dk1"/>
              </a:buClr>
              <a:buSzPts val="2800"/>
              <a:buChar char="●"/>
            </a:pPr>
            <a:r>
              <a:rPr lang="fr-FR" b="1" dirty="0">
                <a:latin typeface="Arial" panose="020B0604020202020204"/>
                <a:ea typeface="Arial" panose="020B0604020202020204"/>
                <a:cs typeface="Arial" panose="020B0604020202020204"/>
                <a:sym typeface="Arial" panose="020B0604020202020204"/>
              </a:rPr>
              <a:t>Architecture institutionnelle</a:t>
            </a:r>
            <a:endParaRPr dirty="0">
              <a:latin typeface="Arial" panose="020B0604020202020204"/>
              <a:ea typeface="Arial" panose="020B0604020202020204"/>
              <a:cs typeface="Arial" panose="020B0604020202020204"/>
              <a:sym typeface="Arial" panose="020B0604020202020204"/>
            </a:endParaRPr>
          </a:p>
          <a:p>
            <a:pPr marL="990600" lvl="1" indent="-381000" algn="just" rtl="0">
              <a:lnSpc>
                <a:spcPct val="150000"/>
              </a:lnSpc>
              <a:spcBef>
                <a:spcPts val="0"/>
              </a:spcBef>
              <a:spcAft>
                <a:spcPts val="0"/>
              </a:spcAft>
              <a:buClr>
                <a:schemeClr val="dk1"/>
              </a:buClr>
              <a:buSzPts val="2500"/>
              <a:buChar char="○"/>
            </a:pPr>
            <a:r>
              <a:rPr lang="fr-FR" sz="2500" dirty="0">
                <a:latin typeface="Arial" panose="020B0604020202020204"/>
                <a:ea typeface="Arial" panose="020B0604020202020204"/>
                <a:cs typeface="Arial" panose="020B0604020202020204"/>
                <a:sym typeface="Arial" panose="020B0604020202020204"/>
              </a:rPr>
              <a:t>É</a:t>
            </a:r>
            <a:r>
              <a:rPr lang="fr-FR" sz="2500" dirty="0">
                <a:latin typeface="Arial" panose="020B0604020202020204"/>
                <a:ea typeface="Arial" panose="020B0604020202020204"/>
                <a:cs typeface="Arial" panose="020B0604020202020204"/>
                <a:sym typeface="Arial" panose="020B0604020202020204"/>
              </a:rPr>
              <a:t>quipe de JSI basée au niveau national (direction du PEV) </a:t>
            </a:r>
            <a:r>
              <a:rPr lang="fr-FR" sz="2500" dirty="0">
                <a:latin typeface="Arial" panose="020B0604020202020204"/>
                <a:ea typeface="Arial" panose="020B0604020202020204"/>
                <a:cs typeface="Arial" panose="020B0604020202020204"/>
                <a:sym typeface="Arial" panose="020B0604020202020204"/>
              </a:rPr>
              <a:t>apportant un appui ciblé aux provinces en collaboration avec la direction du PEV </a:t>
            </a:r>
            <a:endParaRPr dirty="0"/>
          </a:p>
          <a:p>
            <a:pPr marL="990600" lvl="1" indent="-381000" algn="just" rtl="0">
              <a:lnSpc>
                <a:spcPct val="150000"/>
              </a:lnSpc>
              <a:spcBef>
                <a:spcPts val="0"/>
              </a:spcBef>
              <a:spcAft>
                <a:spcPts val="0"/>
              </a:spcAft>
              <a:buClr>
                <a:schemeClr val="dk1"/>
              </a:buClr>
              <a:buSzPts val="2500"/>
              <a:buChar char="○"/>
            </a:pPr>
            <a:r>
              <a:rPr lang="fr-FR" sz="2500" dirty="0">
                <a:latin typeface="Arial" panose="020B0604020202020204"/>
                <a:ea typeface="Arial" panose="020B0604020202020204"/>
                <a:cs typeface="Arial" panose="020B0604020202020204"/>
                <a:sym typeface="Arial" panose="020B0604020202020204"/>
              </a:rPr>
              <a:t>P</a:t>
            </a:r>
            <a:r>
              <a:rPr lang="fr-FR" sz="2500" dirty="0">
                <a:latin typeface="Arial" panose="020B0604020202020204"/>
                <a:ea typeface="Arial" panose="020B0604020202020204"/>
                <a:cs typeface="Arial" panose="020B0604020202020204"/>
                <a:sym typeface="Arial" panose="020B0604020202020204"/>
              </a:rPr>
              <a:t>résence au niveau des provinces du Haut Katanga et </a:t>
            </a:r>
            <a:r>
              <a:rPr lang="fr-FR" sz="2500" dirty="0">
                <a:latin typeface="Arial" panose="020B0604020202020204"/>
                <a:ea typeface="Arial" panose="020B0604020202020204"/>
                <a:cs typeface="Arial" panose="020B0604020202020204"/>
                <a:sym typeface="Arial" panose="020B0604020202020204"/>
              </a:rPr>
              <a:t>Kasaï</a:t>
            </a:r>
            <a:r>
              <a:rPr lang="fr-FR" sz="2500" dirty="0">
                <a:latin typeface="Arial" panose="020B0604020202020204"/>
                <a:ea typeface="Arial" panose="020B0604020202020204"/>
                <a:cs typeface="Arial" panose="020B0604020202020204"/>
                <a:sym typeface="Arial" panose="020B0604020202020204"/>
              </a:rPr>
              <a:t> Oriental (sous M-RITE) </a:t>
            </a:r>
            <a:endParaRPr dirty="0"/>
          </a:p>
          <a:p>
            <a:pPr marL="381000" lvl="0" indent="-381000" algn="l" rtl="0">
              <a:lnSpc>
                <a:spcPct val="150000"/>
              </a:lnSpc>
              <a:spcBef>
                <a:spcPts val="0"/>
              </a:spcBef>
              <a:spcAft>
                <a:spcPts val="0"/>
              </a:spcAft>
              <a:buClr>
                <a:schemeClr val="dk1"/>
              </a:buClr>
              <a:buSzPts val="2800"/>
              <a:buChar char="●"/>
            </a:pPr>
            <a:r>
              <a:rPr lang="fr-FR" b="1" dirty="0">
                <a:latin typeface="Arial" panose="020B0604020202020204"/>
                <a:ea typeface="Arial" panose="020B0604020202020204"/>
                <a:cs typeface="Arial" panose="020B0604020202020204"/>
                <a:sym typeface="Arial" panose="020B0604020202020204"/>
              </a:rPr>
              <a:t>Domaines d’intervention et interventions actuelles</a:t>
            </a:r>
            <a:endParaRPr dirty="0"/>
          </a:p>
          <a:p>
            <a:pPr marL="1447800" lvl="2" indent="-381000" algn="l" rtl="0">
              <a:lnSpc>
                <a:spcPct val="150000"/>
              </a:lnSpc>
              <a:spcBef>
                <a:spcPts val="0"/>
              </a:spcBef>
              <a:spcAft>
                <a:spcPts val="0"/>
              </a:spcAft>
              <a:buClr>
                <a:schemeClr val="dk1"/>
              </a:buClr>
              <a:buSzPts val="2500"/>
              <a:buChar char="■"/>
            </a:pPr>
            <a:r>
              <a:rPr lang="fr-FR" sz="2500" dirty="0">
                <a:latin typeface="Arial" panose="020B0604020202020204"/>
                <a:ea typeface="Arial" panose="020B0604020202020204"/>
                <a:cs typeface="Arial" panose="020B0604020202020204"/>
                <a:sym typeface="Arial" panose="020B0604020202020204"/>
              </a:rPr>
              <a:t>Renforcement de la vaccination de routine </a:t>
            </a:r>
            <a:endParaRPr dirty="0"/>
          </a:p>
          <a:p>
            <a:pPr marL="1447800" lvl="2" indent="-381000" algn="l" rtl="0">
              <a:lnSpc>
                <a:spcPct val="150000"/>
              </a:lnSpc>
              <a:spcBef>
                <a:spcPts val="0"/>
              </a:spcBef>
              <a:spcAft>
                <a:spcPts val="0"/>
              </a:spcAft>
              <a:buClr>
                <a:schemeClr val="dk1"/>
              </a:buClr>
              <a:buSzPts val="2500"/>
              <a:buChar char="■"/>
            </a:pPr>
            <a:r>
              <a:rPr lang="fr-FR" sz="2500" dirty="0">
                <a:latin typeface="Arial" panose="020B0604020202020204"/>
                <a:ea typeface="Arial" panose="020B0604020202020204"/>
                <a:cs typeface="Arial" panose="020B0604020202020204"/>
                <a:sym typeface="Arial" panose="020B0604020202020204"/>
              </a:rPr>
              <a:t>Introduction des nouveaux vaccins :</a:t>
            </a:r>
            <a:endParaRPr dirty="0"/>
          </a:p>
          <a:p>
            <a:pPr marL="1905000" lvl="3" indent="-381000" algn="l" rtl="0">
              <a:lnSpc>
                <a:spcPct val="150000"/>
              </a:lnSpc>
              <a:spcBef>
                <a:spcPts val="0"/>
              </a:spcBef>
              <a:spcAft>
                <a:spcPts val="0"/>
              </a:spcAft>
              <a:buClr>
                <a:schemeClr val="dk1"/>
              </a:buClr>
              <a:buSzPts val="2300"/>
              <a:buChar char="●"/>
            </a:pPr>
            <a:r>
              <a:rPr lang="fr-FR" sz="2300" dirty="0">
                <a:latin typeface="Arial" panose="020B0604020202020204"/>
                <a:ea typeface="Arial" panose="020B0604020202020204"/>
                <a:cs typeface="Arial" panose="020B0604020202020204"/>
                <a:sym typeface="Arial" panose="020B0604020202020204"/>
              </a:rPr>
              <a:t>Appui à la préparation pour l’introduction du vaccin anti VPH </a:t>
            </a:r>
            <a:endParaRPr dirty="0"/>
          </a:p>
          <a:p>
            <a:pPr marL="1905000" lvl="3" indent="-381000" algn="l" rtl="0">
              <a:lnSpc>
                <a:spcPct val="150000"/>
              </a:lnSpc>
              <a:spcBef>
                <a:spcPts val="0"/>
              </a:spcBef>
              <a:spcAft>
                <a:spcPts val="0"/>
              </a:spcAft>
              <a:buClr>
                <a:schemeClr val="dk1"/>
              </a:buClr>
              <a:buSzPts val="2300"/>
              <a:buChar char="●"/>
            </a:pPr>
            <a:r>
              <a:rPr lang="fr-FR" sz="2300" dirty="0">
                <a:latin typeface="Arial" panose="020B0604020202020204"/>
                <a:ea typeface="Arial" panose="020B0604020202020204"/>
                <a:cs typeface="Arial" panose="020B0604020202020204"/>
                <a:sym typeface="Arial" panose="020B0604020202020204"/>
              </a:rPr>
              <a:t>Appui au switch du vaccin anti rotavirus (</a:t>
            </a:r>
            <a:r>
              <a:rPr lang="fr-FR" sz="2300" dirty="0" err="1">
                <a:latin typeface="Arial" panose="020B0604020202020204"/>
                <a:ea typeface="Arial" panose="020B0604020202020204"/>
                <a:cs typeface="Arial" panose="020B0604020202020204"/>
                <a:sym typeface="Arial" panose="020B0604020202020204"/>
              </a:rPr>
              <a:t>Rotasiil</a:t>
            </a:r>
            <a:r>
              <a:rPr lang="fr-FR" sz="2300" dirty="0">
                <a:latin typeface="Arial" panose="020B0604020202020204"/>
                <a:ea typeface="Arial" panose="020B0604020202020204"/>
                <a:cs typeface="Arial" panose="020B0604020202020204"/>
                <a:sym typeface="Arial" panose="020B0604020202020204"/>
              </a:rPr>
              <a:t> au </a:t>
            </a:r>
            <a:r>
              <a:rPr lang="fr-FR" sz="2300" dirty="0" err="1">
                <a:latin typeface="Arial" panose="020B0604020202020204"/>
                <a:ea typeface="Arial" panose="020B0604020202020204"/>
                <a:cs typeface="Arial" panose="020B0604020202020204"/>
                <a:sym typeface="Arial" panose="020B0604020202020204"/>
              </a:rPr>
              <a:t>Rotarix</a:t>
            </a:r>
            <a:r>
              <a:rPr lang="fr-FR" sz="2300" dirty="0">
                <a:latin typeface="Arial" panose="020B0604020202020204"/>
                <a:ea typeface="Arial" panose="020B0604020202020204"/>
                <a:cs typeface="Arial" panose="020B0604020202020204"/>
                <a:sym typeface="Arial" panose="020B0604020202020204"/>
              </a:rPr>
              <a:t>)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p:nvPr/>
        </p:nvSpPr>
        <p:spPr>
          <a:xfrm>
            <a:off x="380999" y="180357"/>
            <a:ext cx="11640299" cy="54187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Autres réalisations majeures non planifiées dans le PAO du PEV: Introduire les nouveaux vac</a:t>
            </a:r>
            <a:endParaRP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5"/>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0" name="Google Shape;120;p5"/>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1" name="Google Shape;121;p5"/>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22" name="Google Shape;122;p5"/>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123" name="Google Shape;123;p5"/>
          <p:cNvGraphicFramePr/>
          <p:nvPr/>
        </p:nvGraphicFramePr>
        <p:xfrm>
          <a:off x="305100" y="598601"/>
          <a:ext cx="11716200" cy="6172860"/>
        </p:xfrm>
        <a:graphic>
          <a:graphicData uri="http://schemas.openxmlformats.org/drawingml/2006/table">
            <a:tbl>
              <a:tblPr firstRow="1" bandRow="1">
                <a:noFill/>
                <a:tableStyleId>{E5970542-76E6-49A8-9C28-9961083C0C40}</a:tableStyleId>
              </a:tblPr>
              <a:tblGrid>
                <a:gridCol w="2421350"/>
                <a:gridCol w="3114800"/>
                <a:gridCol w="2906975"/>
                <a:gridCol w="3273075"/>
              </a:tblGrid>
              <a:tr h="960750">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dirty="0">
                          <a:latin typeface="Arial" panose="020B0604020202020204"/>
                          <a:ea typeface="Arial" panose="020B0604020202020204"/>
                          <a:cs typeface="Arial" panose="020B0604020202020204"/>
                          <a:sym typeface="Arial" panose="020B0604020202020204"/>
                        </a:rPr>
                        <a:t>Activité prévu dans le PAO du PEV en 2025</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dirty="0">
                          <a:latin typeface="Arial" panose="020B0604020202020204"/>
                          <a:ea typeface="Arial" panose="020B0604020202020204"/>
                          <a:cs typeface="Arial" panose="020B0604020202020204"/>
                          <a:sym typeface="Arial" panose="020B0604020202020204"/>
                        </a:rPr>
                        <a:t>Niveau de réalisation</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dirty="0">
                          <a:latin typeface="Arial" panose="020B0604020202020204"/>
                          <a:ea typeface="Arial" panose="020B0604020202020204"/>
                          <a:cs typeface="Arial" panose="020B0604020202020204"/>
                          <a:sym typeface="Arial" panose="020B0604020202020204"/>
                        </a:rPr>
                        <a:t>Output</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dirty="0" err="1">
                          <a:latin typeface="Arial" panose="020B0604020202020204"/>
                          <a:ea typeface="Arial" panose="020B0604020202020204"/>
                          <a:cs typeface="Arial" panose="020B0604020202020204"/>
                          <a:sym typeface="Arial" panose="020B0604020202020204"/>
                        </a:rPr>
                        <a:t>Outcome</a:t>
                      </a:r>
                      <a:endParaRPr dirty="0"/>
                    </a:p>
                  </a:txBody>
                  <a:tcPr marL="91450" marR="91450" marT="45725" marB="45725"/>
                </a:tc>
              </a:tr>
              <a:tr h="395600">
                <a:tc rowSpan="3">
                  <a:txBody>
                    <a:bodyPr/>
                    <a:lstStyle/>
                    <a:p>
                      <a:pPr marL="0" lvl="0" indent="0" algn="l" rtl="0">
                        <a:spcBef>
                          <a:spcPts val="0"/>
                        </a:spcBef>
                        <a:spcAft>
                          <a:spcPts val="0"/>
                        </a:spcAft>
                        <a:buNone/>
                      </a:pPr>
                      <a:r>
                        <a:rPr lang="fr-FR" sz="1800">
                          <a:solidFill>
                            <a:schemeClr val="dk1"/>
                          </a:solidFill>
                          <a:latin typeface="Arial" panose="020B0604020202020204"/>
                          <a:ea typeface="Arial" panose="020B0604020202020204"/>
                          <a:cs typeface="Arial" panose="020B0604020202020204"/>
                          <a:sym typeface="Arial" panose="020B0604020202020204"/>
                        </a:rPr>
                        <a:t>Introduire les nouveaux vaccins (RR</a:t>
                      </a:r>
                      <a:r>
                        <a:rPr lang="" altLang="fr-FR" sz="1800">
                          <a:solidFill>
                            <a:schemeClr val="dk1"/>
                          </a:solidFill>
                          <a:latin typeface="Arial" panose="020B0604020202020204"/>
                          <a:ea typeface="Arial" panose="020B0604020202020204"/>
                          <a:cs typeface="Arial" panose="020B0604020202020204"/>
                          <a:sym typeface="Arial" panose="020B0604020202020204"/>
                        </a:rPr>
                        <a:t>, Switch Rota</a:t>
                      </a:r>
                      <a:r>
                        <a:rPr lang="fr-FR" sz="1800">
                          <a:solidFill>
                            <a:schemeClr val="dk1"/>
                          </a:solidFill>
                          <a:latin typeface="Arial" panose="020B0604020202020204"/>
                          <a:ea typeface="Arial" panose="020B0604020202020204"/>
                          <a:cs typeface="Arial" panose="020B0604020202020204"/>
                          <a:sym typeface="Arial" panose="020B0604020202020204"/>
                        </a:rPr>
                        <a:t> &amp; VAP)</a:t>
                      </a:r>
                      <a:endParaRPr sz="180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Appui technique et financier à l’élaboration du plan de communication VPH </a:t>
                      </a:r>
                      <a:endParaRP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Un plan national de communication VPH élaboré et en attente de validation</a:t>
                      </a:r>
                      <a:endParaRP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panose="020B0604020202020204"/>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Augmentation de l’acceptabilité du vaccin contre le cancer du col de l’utérus </a:t>
                      </a:r>
                      <a:endParaRPr sz="180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r>
              <a:tr h="395600">
                <a:tc vMerge="1">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Appui à l’élaboration du document décrivant les rôles et responsabilités des parties prenantes VPH </a:t>
                      </a:r>
                      <a:endParaRP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Document décrivant les rôles et responsabilités des parties prenantes </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Meilleure coordination et collaboration entre les acteurs impliqués dans la vaccination contre le cancer du col</a:t>
                      </a:r>
                      <a:endParaRP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r>
              <a:tr h="394975">
                <a:tc vMerge="1">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Appui à l’élaboration/ adaptation de tous les autres livrables attendus (Plans de travail des sous commissions</a:t>
                      </a:r>
                      <a:r>
                        <a:rPr lang="fr-FR" sz="1800">
                          <a:latin typeface="Arial" panose="020B0604020202020204"/>
                          <a:ea typeface="Arial" panose="020B0604020202020204"/>
                          <a:cs typeface="Arial" panose="020B0604020202020204"/>
                          <a:sym typeface="Arial" panose="020B0604020202020204"/>
                        </a:rPr>
                        <a:t> et</a:t>
                      </a:r>
                      <a:r>
                        <a:rPr lang="fr-FR" sz="1800" u="none" strike="noStrike" cap="none">
                          <a:latin typeface="Arial" panose="020B0604020202020204"/>
                          <a:ea typeface="Arial" panose="020B0604020202020204"/>
                          <a:cs typeface="Arial" panose="020B0604020202020204"/>
                          <a:sym typeface="Arial" panose="020B0604020202020204"/>
                        </a:rPr>
                        <a:t> canevas microplan)</a:t>
                      </a:r>
                      <a:endParaRP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285750" marR="0" lvl="0" indent="-285750" algn="l" rtl="0">
                        <a:spcBef>
                          <a:spcPts val="0"/>
                        </a:spcBef>
                        <a:spcAft>
                          <a:spcPts val="0"/>
                        </a:spcAft>
                        <a:buClr>
                          <a:schemeClr val="dk1"/>
                        </a:buClr>
                        <a:buSzPts val="1800"/>
                        <a:buChar char="•"/>
                      </a:pPr>
                      <a:r>
                        <a:rPr lang="fr-FR" sz="1800" u="none" strike="noStrike" cap="none">
                          <a:latin typeface="Arial" panose="020B0604020202020204"/>
                          <a:ea typeface="Arial" panose="020B0604020202020204"/>
                          <a:cs typeface="Arial" panose="020B0604020202020204"/>
                          <a:sym typeface="Arial" panose="020B0604020202020204"/>
                        </a:rPr>
                        <a:t>Draft des termes de référence et plans de travail des sous commissions CCPeV en attente de validation </a:t>
                      </a:r>
                      <a:endParaRPr sz="1800">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Char char="•"/>
                      </a:pPr>
                      <a:r>
                        <a:rPr lang="fr-FR" sz="1800" u="none" strike="noStrike" cap="none">
                          <a:latin typeface="Arial" panose="020B0604020202020204"/>
                          <a:ea typeface="Arial" panose="020B0604020202020204"/>
                          <a:cs typeface="Arial" panose="020B0604020202020204"/>
                          <a:sym typeface="Arial" panose="020B0604020202020204"/>
                        </a:rPr>
                        <a:t>Drafts des canevas de microplan adaptés (intégrant la vaccination VPH) en attente de validation </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285750" marR="0" lvl="0" indent="-285750" algn="l" rtl="0">
                        <a:spcBef>
                          <a:spcPts val="0"/>
                        </a:spcBef>
                        <a:spcAft>
                          <a:spcPts val="0"/>
                        </a:spcAft>
                        <a:buClr>
                          <a:schemeClr val="dk1"/>
                        </a:buClr>
                        <a:buSzPts val="1800"/>
                        <a:buChar char="•"/>
                      </a:pPr>
                      <a:r>
                        <a:rPr lang="fr-FR" sz="1800" u="none" strike="noStrike" cap="none" dirty="0">
                          <a:solidFill>
                            <a:schemeClr val="dk1"/>
                          </a:solidFill>
                          <a:latin typeface="Arial" panose="020B0604020202020204"/>
                          <a:ea typeface="Arial" panose="020B0604020202020204"/>
                          <a:cs typeface="Arial" panose="020B0604020202020204"/>
                          <a:sym typeface="Arial" panose="020B0604020202020204"/>
                        </a:rPr>
                        <a:t>Amélioration de la planification opérationnelle pour l’introduction du vaccin HPV</a:t>
                      </a:r>
                      <a:endParaRPr sz="1800" dirty="0">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Char char="•"/>
                      </a:pPr>
                      <a:r>
                        <a:rPr lang="fr-FR" sz="1800" u="none" strike="noStrike" cap="none" dirty="0">
                          <a:latin typeface="Arial" panose="020B0604020202020204"/>
                          <a:ea typeface="Arial" panose="020B0604020202020204"/>
                          <a:cs typeface="Arial" panose="020B0604020202020204"/>
                          <a:sym typeface="Arial" panose="020B0604020202020204"/>
                        </a:rPr>
                        <a:t>Meilleure préparation opérationnelle des zones de santé pour le déploiement du vaccin VPH</a:t>
                      </a:r>
                      <a:endParaRPr sz="1800" u="none" strike="noStrike" cap="none" dirty="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Autres réalisations majeures non planifiées dans le PAO du PEV</a:t>
            </a:r>
            <a:endParaRP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9" name="Google Shape;129;p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0" name="Google Shape;130;p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Google Shape;131;p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32" name="Google Shape;132;p6"/>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133" name="Google Shape;133;p6"/>
          <p:cNvGraphicFramePr/>
          <p:nvPr/>
        </p:nvGraphicFramePr>
        <p:xfrm>
          <a:off x="381000" y="803978"/>
          <a:ext cx="11527000" cy="5807090"/>
        </p:xfrm>
        <a:graphic>
          <a:graphicData uri="http://schemas.openxmlformats.org/drawingml/2006/table">
            <a:tbl>
              <a:tblPr firstRow="1" bandRow="1">
                <a:noFill/>
                <a:tableStyleId>{E5970542-76E6-49A8-9C28-9961083C0C40}</a:tableStyleId>
              </a:tblPr>
              <a:tblGrid>
                <a:gridCol w="2616225"/>
                <a:gridCol w="2953200"/>
                <a:gridCol w="3303825"/>
                <a:gridCol w="2653750"/>
              </a:tblGrid>
              <a:tr h="960750">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Activité prévu dans le PAO du PEV en 2025</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Niveau de réalisation</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Output</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Outcome</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r>
              <a:tr h="395600">
                <a:tc rowSpan="2">
                  <a:txBody>
                    <a:bodyPr/>
                    <a:lstStyle/>
                    <a:p>
                      <a:pPr marL="0" lvl="0" indent="0" algn="l" rtl="0">
                        <a:spcBef>
                          <a:spcPts val="0"/>
                        </a:spcBef>
                        <a:spcAft>
                          <a:spcPts val="0"/>
                        </a:spcAft>
                        <a:buNone/>
                      </a:pPr>
                      <a:r>
                        <a:rPr lang="fr-FR" sz="1800">
                          <a:solidFill>
                            <a:schemeClr val="dk1"/>
                          </a:solidFill>
                          <a:latin typeface="Arial" panose="020B0604020202020204"/>
                          <a:ea typeface="Arial" panose="020B0604020202020204"/>
                          <a:cs typeface="Arial" panose="020B0604020202020204"/>
                          <a:sym typeface="Arial" panose="020B0604020202020204"/>
                        </a:rPr>
                        <a:t>Introduire les nouveaux vaccins </a:t>
                      </a:r>
                      <a:r>
                        <a:rPr lang="fr-FR" sz="1800">
                          <a:sym typeface="Arial" panose="020B0604020202020204"/>
                        </a:rPr>
                        <a:t>(RR</a:t>
                      </a:r>
                      <a:r>
                        <a:rPr lang="en-US" altLang="fr-FR" sz="1800">
                          <a:sym typeface="Arial" panose="020B0604020202020204"/>
                        </a:rPr>
                        <a:t>, Switch Rota</a:t>
                      </a:r>
                      <a:r>
                        <a:rPr lang="fr-FR" sz="1800">
                          <a:sym typeface="Arial" panose="020B0604020202020204"/>
                        </a:rPr>
                        <a:t> &amp; VAP)</a:t>
                      </a:r>
                      <a:r>
                        <a:rPr lang="fr-FR" sz="1800">
                          <a:solidFill>
                            <a:schemeClr val="dk1"/>
                          </a:solidFill>
                          <a:latin typeface="Arial" panose="020B0604020202020204"/>
                          <a:ea typeface="Arial" panose="020B0604020202020204"/>
                          <a:cs typeface="Arial" panose="020B0604020202020204"/>
                          <a:sym typeface="Arial" panose="020B0604020202020204"/>
                        </a:rPr>
                        <a:t>(cont.)</a:t>
                      </a:r>
                      <a:endParaRPr sz="180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fr-FR" sz="1800" i="0" u="none" strike="noStrike" cap="none">
                          <a:solidFill>
                            <a:schemeClr val="dk1"/>
                          </a:solidFill>
                          <a:latin typeface="Arial" panose="020B0604020202020204"/>
                          <a:ea typeface="Arial" panose="020B0604020202020204"/>
                          <a:cs typeface="Arial" panose="020B0604020202020204"/>
                          <a:sym typeface="Arial" panose="020B0604020202020204"/>
                        </a:rPr>
                        <a:t>Appui technique au renforcement de la coordination multisectorielle  au niveau national et provincial avec la CNCSU</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dirty="0">
                          <a:latin typeface="Arial" panose="020B0604020202020204"/>
                          <a:ea typeface="Arial" panose="020B0604020202020204"/>
                          <a:cs typeface="Arial" panose="020B0604020202020204"/>
                          <a:sym typeface="Arial" panose="020B0604020202020204"/>
                        </a:rPr>
                        <a:t>Mécanisme formalisé de coordination multisectorielle renforcé avec clarification des rôles entre CNCSU, PEV, Ministère de l’Éducation, Affaires sociales, Communication, etc. dans l’introduction du vaccin VPH</a:t>
                      </a:r>
                      <a:endParaRPr sz="18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Amélioration de la collaboration entre les secteurs clés impliqués dans l’introduction du vaccin (santé, éducation, communication, affaires sociale</a:t>
                      </a:r>
                      <a:r>
                        <a:rPr lang="fr-FR" sz="1800">
                          <a:latin typeface="Arial" panose="020B0604020202020204"/>
                          <a:ea typeface="Arial" panose="020B0604020202020204"/>
                          <a:cs typeface="Arial" panose="020B0604020202020204"/>
                          <a:sym typeface="Arial" panose="020B0604020202020204"/>
                        </a:rPr>
                        <a:t>s, etc.</a:t>
                      </a:r>
                      <a:r>
                        <a:rPr lang="fr-FR" sz="1800" u="none" strike="noStrike" cap="none">
                          <a:latin typeface="Arial" panose="020B0604020202020204"/>
                          <a:ea typeface="Arial" panose="020B0604020202020204"/>
                          <a:cs typeface="Arial" panose="020B0604020202020204"/>
                          <a:sym typeface="Arial" panose="020B0604020202020204"/>
                        </a:rPr>
                        <a:t>)</a:t>
                      </a:r>
                      <a:endParaRP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r>
              <a:tr h="395600">
                <a:tc vMerge="1">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fr-FR" sz="1800" i="0" u="none" strike="noStrike" cap="none">
                          <a:solidFill>
                            <a:schemeClr val="dk1"/>
                          </a:solidFill>
                          <a:latin typeface="Arial" panose="020B0604020202020204"/>
                          <a:ea typeface="Arial" panose="020B0604020202020204"/>
                          <a:cs typeface="Arial" panose="020B0604020202020204"/>
                          <a:sym typeface="Arial" panose="020B0604020202020204"/>
                        </a:rPr>
                        <a:t>Appui technique au PNSR dans l’élaboration et validation des documents normatifs de lutte contre les cancers du sein et du col de l'utérus</a:t>
                      </a:r>
                      <a:endParaRPr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Documents normatifs élaborés et finalisés, incluant :</a:t>
                      </a:r>
                      <a:endParaRPr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Char char="•"/>
                      </a:pPr>
                      <a:r>
                        <a:rPr lang="fr-FR" sz="1800" i="0" u="none" strike="noStrike" cap="none">
                          <a:solidFill>
                            <a:schemeClr val="dk1"/>
                          </a:solidFill>
                          <a:latin typeface="Arial" panose="020B0604020202020204"/>
                          <a:ea typeface="Arial" panose="020B0604020202020204"/>
                          <a:cs typeface="Arial" panose="020B0604020202020204"/>
                          <a:sym typeface="Arial" panose="020B0604020202020204"/>
                        </a:rPr>
                        <a:t>Le plan stratégique 2025-2029, </a:t>
                      </a:r>
                      <a:endParaRPr sz="1800">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Char char="•"/>
                      </a:pPr>
                      <a:r>
                        <a:rPr lang="fr-FR" sz="1800" i="0" u="none" strike="noStrike" cap="none">
                          <a:solidFill>
                            <a:schemeClr val="dk1"/>
                          </a:solidFill>
                          <a:latin typeface="Arial" panose="020B0604020202020204"/>
                          <a:ea typeface="Arial" panose="020B0604020202020204"/>
                          <a:cs typeface="Arial" panose="020B0604020202020204"/>
                          <a:sym typeface="Arial" panose="020B0604020202020204"/>
                        </a:rPr>
                        <a:t>Les normes et directives de lutte contre les cancers du sein et du col de l'utérus, et </a:t>
                      </a:r>
                      <a:endParaRPr sz="1800">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Char char="•"/>
                      </a:pPr>
                      <a:r>
                        <a:rPr lang="fr-FR" sz="1800" i="0" u="none" strike="noStrike" cap="none">
                          <a:solidFill>
                            <a:schemeClr val="dk1"/>
                          </a:solidFill>
                          <a:latin typeface="Arial" panose="020B0604020202020204"/>
                          <a:ea typeface="Arial" panose="020B0604020202020204"/>
                          <a:cs typeface="Arial" panose="020B0604020202020204"/>
                          <a:sym typeface="Arial" panose="020B0604020202020204"/>
                        </a:rPr>
                        <a:t>Le guide de dépistage des lésions </a:t>
                      </a:r>
                      <a:r>
                        <a:rPr lang="fr-FR" sz="1800">
                          <a:latin typeface="Arial" panose="020B0604020202020204"/>
                          <a:ea typeface="Arial" panose="020B0604020202020204"/>
                          <a:cs typeface="Arial" panose="020B0604020202020204"/>
                          <a:sym typeface="Arial" panose="020B0604020202020204"/>
                        </a:rPr>
                        <a:t>précancéreuses</a:t>
                      </a:r>
                      <a:endParaRPr sz="1800" i="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dirty="0">
                          <a:latin typeface="Arial" panose="020B0604020202020204"/>
                          <a:ea typeface="Arial" panose="020B0604020202020204"/>
                          <a:cs typeface="Arial" panose="020B0604020202020204"/>
                          <a:sym typeface="Arial" panose="020B0604020202020204"/>
                        </a:rPr>
                        <a:t>Le PNSR et les prestataires disposent de référentiels harmonisés pour la prévention, le dépistage et la prise en charge des cancers du sein et du col de l’utérus</a:t>
                      </a:r>
                      <a:endParaRPr sz="18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Autres réalisations majeures non planifiées dans le PAO du PEV</a:t>
            </a:r>
            <a:endParaRP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7"/>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Google Shape;140;p7"/>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1" name="Google Shape;141;p7"/>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42" name="Google Shape;142;p7"/>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143" name="Google Shape;143;p7"/>
          <p:cNvGraphicFramePr/>
          <p:nvPr/>
        </p:nvGraphicFramePr>
        <p:xfrm>
          <a:off x="359899" y="898909"/>
          <a:ext cx="11527025" cy="5532770"/>
        </p:xfrm>
        <a:graphic>
          <a:graphicData uri="http://schemas.openxmlformats.org/drawingml/2006/table">
            <a:tbl>
              <a:tblPr firstRow="1" bandRow="1">
                <a:noFill/>
                <a:tableStyleId>{E5970542-76E6-49A8-9C28-9961083C0C40}</a:tableStyleId>
              </a:tblPr>
              <a:tblGrid>
                <a:gridCol w="2280325"/>
                <a:gridCol w="3275475"/>
                <a:gridCol w="3220875"/>
                <a:gridCol w="2750350"/>
              </a:tblGrid>
              <a:tr h="960750">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Activité prévu dans le PAO du PEV en 2025</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Niveau de réalisation</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Output</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Outcome</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r>
              <a:tr h="395600">
                <a:tc rowSpan="2">
                  <a:txBody>
                    <a:bodyPr/>
                    <a:lstStyle/>
                    <a:p>
                      <a:pPr marL="0" lvl="0" indent="0" algn="l" rtl="0">
                        <a:spcBef>
                          <a:spcPts val="0"/>
                        </a:spcBef>
                        <a:spcAft>
                          <a:spcPts val="0"/>
                        </a:spcAft>
                        <a:buNone/>
                      </a:pPr>
                      <a:r>
                        <a:rPr lang="fr-FR" sz="1800">
                          <a:solidFill>
                            <a:schemeClr val="dk1"/>
                          </a:solidFill>
                          <a:latin typeface="Arial" panose="020B0604020202020204"/>
                          <a:ea typeface="Arial" panose="020B0604020202020204"/>
                          <a:cs typeface="Arial" panose="020B0604020202020204"/>
                          <a:sym typeface="Arial" panose="020B0604020202020204"/>
                        </a:rPr>
                        <a:t>Introduire les nouveaux vaccins </a:t>
                      </a:r>
                      <a:r>
                        <a:rPr lang="fr-FR" sz="1800">
                          <a:sym typeface="Arial" panose="020B0604020202020204"/>
                        </a:rPr>
                        <a:t>(RR</a:t>
                      </a:r>
                      <a:r>
                        <a:rPr lang="en-US" altLang="fr-FR" sz="1800">
                          <a:sym typeface="Arial" panose="020B0604020202020204"/>
                        </a:rPr>
                        <a:t>, Switch Rota</a:t>
                      </a:r>
                      <a:r>
                        <a:rPr lang="fr-FR" sz="1800">
                          <a:sym typeface="Arial" panose="020B0604020202020204"/>
                        </a:rPr>
                        <a:t> &amp; VAP)</a:t>
                      </a:r>
                      <a:r>
                        <a:rPr lang="fr-FR" sz="1800">
                          <a:solidFill>
                            <a:schemeClr val="dk1"/>
                          </a:solidFill>
                          <a:latin typeface="Arial" panose="020B0604020202020204"/>
                          <a:ea typeface="Arial" panose="020B0604020202020204"/>
                          <a:cs typeface="Arial" panose="020B0604020202020204"/>
                          <a:sym typeface="Arial" panose="020B0604020202020204"/>
                        </a:rPr>
                        <a:t> (cont.)</a:t>
                      </a:r>
                      <a:endParaRPr sz="180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Apporter l’appui technique et financier à  l’élaboration de la cartographie des organisations qui luttent contre les cancers du sein et du col de l'utérus dans les 26 provinces</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Liste exhaustive ou quasi exhaustive des organisations (ONG locales, internationales, structures publiques, associations communautaires, réseaux religieux, etc.) impliquées dans la lutte contre le cancer du col disponible</a:t>
                      </a:r>
                      <a:endParaRPr sz="180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Les organisations identifiées peuvent collaborer plus efficacement dans l’appui à l’acceptation de la vaccination </a:t>
                      </a:r>
                      <a:r>
                        <a:rPr lang="fr-FR" sz="1800">
                          <a:latin typeface="Arial" panose="020B0604020202020204"/>
                          <a:ea typeface="Arial" panose="020B0604020202020204"/>
                          <a:cs typeface="Arial" panose="020B0604020202020204"/>
                          <a:sym typeface="Arial" panose="020B0604020202020204"/>
                        </a:rPr>
                        <a:t>contre le </a:t>
                      </a: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VPH </a:t>
                      </a:r>
                      <a:endParaRPr sz="180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r>
              <a:tr h="395600">
                <a:tc vMerge="1">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fr-FR" sz="1800" i="0" u="none" strike="noStrike" cap="none">
                          <a:solidFill>
                            <a:schemeClr val="dk1"/>
                          </a:solidFill>
                          <a:latin typeface="Arial" panose="020B0604020202020204"/>
                          <a:ea typeface="Arial" panose="020B0604020202020204"/>
                          <a:cs typeface="Arial" panose="020B0604020202020204"/>
                          <a:sym typeface="Arial" panose="020B0604020202020204"/>
                        </a:rPr>
                        <a:t>Apporter un appui technique à la tenue du Forum national de l'élimination du cancer du sein et du col de l'utérus</a:t>
                      </a:r>
                      <a:endParaRPr sz="1800">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200"/>
                        <a:buFont typeface="Arial" panose="020B0604020202020204"/>
                        <a:buNone/>
                      </a:pPr>
                      <a:endParaRPr sz="1800"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Documents techniques préparés pour le Forum: </a:t>
                      </a:r>
                      <a:endParaRPr sz="1800">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Char char="•"/>
                      </a:pPr>
                      <a:r>
                        <a:rPr lang="fr-FR" sz="1800" u="none" strike="noStrike" cap="none">
                          <a:latin typeface="Arial" panose="020B0604020202020204"/>
                          <a:ea typeface="Arial" panose="020B0604020202020204"/>
                          <a:cs typeface="Arial" panose="020B0604020202020204"/>
                          <a:sym typeface="Arial" panose="020B0604020202020204"/>
                        </a:rPr>
                        <a:t>Notes conceptuelles et termes de référence</a:t>
                      </a:r>
                      <a:endParaRPr sz="1800">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Char char="•"/>
                      </a:pPr>
                      <a:r>
                        <a:rPr lang="fr-FR" sz="1800" u="none" strike="noStrike" cap="none">
                          <a:latin typeface="Arial" panose="020B0604020202020204"/>
                          <a:ea typeface="Arial" panose="020B0604020202020204"/>
                          <a:cs typeface="Arial" panose="020B0604020202020204"/>
                          <a:sym typeface="Arial" panose="020B0604020202020204"/>
                        </a:rPr>
                        <a:t>Agenda détaillé, sessions techniques, panels et thématiques</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panose="020B0604020202020204"/>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Le Ministère de la Santé et le PNSR disposent d’une plateforme nationale d’engagement pour piloter l’élimination des cancers du sein et du col de l’utérus</a:t>
                      </a:r>
                      <a:endParaRPr sz="180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8"/>
          <p:cNvSpPr txBox="1"/>
          <p:nvPr/>
        </p:nvSpPr>
        <p:spPr>
          <a:xfrm>
            <a:off x="359899" y="180357"/>
            <a:ext cx="11274900" cy="44053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Autres réalisations majeures non planifiées dans le PAO du PEV</a:t>
            </a:r>
            <a:endParaRP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8"/>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8"/>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8"/>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52" name="Google Shape;152;p8"/>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153" name="Google Shape;153;p8"/>
          <p:cNvGraphicFramePr/>
          <p:nvPr/>
        </p:nvGraphicFramePr>
        <p:xfrm>
          <a:off x="359899" y="748781"/>
          <a:ext cx="11640325" cy="5624220"/>
        </p:xfrm>
        <a:graphic>
          <a:graphicData uri="http://schemas.openxmlformats.org/drawingml/2006/table">
            <a:tbl>
              <a:tblPr firstRow="1" bandRow="1">
                <a:noFill/>
                <a:tableStyleId>{E5970542-76E6-49A8-9C28-9961083C0C40}</a:tableStyleId>
              </a:tblPr>
              <a:tblGrid>
                <a:gridCol w="2302725"/>
                <a:gridCol w="3028500"/>
                <a:gridCol w="2961575"/>
                <a:gridCol w="3347525"/>
              </a:tblGrid>
              <a:tr h="960750">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Activité prévu dans le PAO du PEV en 2025</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Niveau de réalisation</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Output</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Outcome</a:t>
                      </a:r>
                      <a:endParaRPr lang="fr-F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tc>
              </a:tr>
              <a:tr h="395600">
                <a:tc rowSpan="3">
                  <a:txBody>
                    <a:bodyPr/>
                    <a:lstStyle/>
                    <a:p>
                      <a:pPr marL="0" lvl="0" indent="0" algn="l" rtl="0">
                        <a:spcBef>
                          <a:spcPts val="0"/>
                        </a:spcBef>
                        <a:spcAft>
                          <a:spcPts val="0"/>
                        </a:spcAft>
                        <a:buNone/>
                      </a:pPr>
                      <a:r>
                        <a:rPr lang="fr-FR" sz="1800">
                          <a:solidFill>
                            <a:schemeClr val="dk1"/>
                          </a:solidFill>
                          <a:latin typeface="Arial" panose="020B0604020202020204"/>
                          <a:ea typeface="Arial" panose="020B0604020202020204"/>
                          <a:cs typeface="Arial" panose="020B0604020202020204"/>
                          <a:sym typeface="Arial" panose="020B0604020202020204"/>
                        </a:rPr>
                        <a:t>Introduire les nouveaux vaccins </a:t>
                      </a:r>
                      <a:r>
                        <a:rPr lang="fr-FR" sz="1800">
                          <a:sym typeface="Arial" panose="020B0604020202020204"/>
                        </a:rPr>
                        <a:t>(RR</a:t>
                      </a:r>
                      <a:r>
                        <a:rPr lang="en-US" altLang="fr-FR" sz="1800">
                          <a:sym typeface="Arial" panose="020B0604020202020204"/>
                        </a:rPr>
                        <a:t>, Switch Rota</a:t>
                      </a:r>
                      <a:r>
                        <a:rPr lang="fr-FR" sz="1800">
                          <a:sym typeface="Arial" panose="020B0604020202020204"/>
                        </a:rPr>
                        <a:t> &amp; VAP)</a:t>
                      </a:r>
                      <a:r>
                        <a:rPr lang="fr-FR" sz="1800">
                          <a:solidFill>
                            <a:schemeClr val="dk1"/>
                          </a:solidFill>
                          <a:latin typeface="Arial" panose="020B0604020202020204"/>
                          <a:ea typeface="Arial" panose="020B0604020202020204"/>
                          <a:cs typeface="Arial" panose="020B0604020202020204"/>
                          <a:sym typeface="Arial" panose="020B0604020202020204"/>
                        </a:rPr>
                        <a:t> (cont.)</a:t>
                      </a:r>
                      <a:endParaRPr sz="180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None/>
                      </a:pPr>
                      <a:r>
                        <a:rPr lang="fr-FR" sz="1800" dirty="0">
                          <a:latin typeface="Arial" panose="020B0604020202020204"/>
                          <a:ea typeface="Arial" panose="020B0604020202020204"/>
                          <a:cs typeface="Arial" panose="020B0604020202020204"/>
                          <a:sym typeface="Arial" panose="020B0604020202020204"/>
                        </a:rPr>
                        <a:t>É</a:t>
                      </a:r>
                      <a:r>
                        <a:rPr lang="fr-FR" sz="1800" u="none" strike="noStrike" cap="none" dirty="0">
                          <a:solidFill>
                            <a:schemeClr val="dk1"/>
                          </a:solidFill>
                          <a:latin typeface="Arial" panose="020B0604020202020204"/>
                          <a:ea typeface="Arial" panose="020B0604020202020204"/>
                          <a:cs typeface="Arial" panose="020B0604020202020204"/>
                          <a:sym typeface="Arial" panose="020B0604020202020204"/>
                        </a:rPr>
                        <a:t>laboration de la demande pour le switch du vaccin </a:t>
                      </a:r>
                      <a:r>
                        <a:rPr lang="fr-FR" sz="1800" dirty="0">
                          <a:latin typeface="Arial" panose="020B0604020202020204"/>
                          <a:ea typeface="Arial" panose="020B0604020202020204"/>
                          <a:cs typeface="Arial" panose="020B0604020202020204"/>
                          <a:sym typeface="Arial" panose="020B0604020202020204"/>
                        </a:rPr>
                        <a:t>contre le </a:t>
                      </a:r>
                      <a:r>
                        <a:rPr lang="fr-FR" sz="1800" u="none" strike="noStrike" cap="none" dirty="0">
                          <a:solidFill>
                            <a:schemeClr val="dk1"/>
                          </a:solidFill>
                          <a:latin typeface="Arial" panose="020B0604020202020204"/>
                          <a:ea typeface="Arial" panose="020B0604020202020204"/>
                          <a:cs typeface="Arial" panose="020B0604020202020204"/>
                          <a:sym typeface="Arial" panose="020B0604020202020204"/>
                        </a:rPr>
                        <a:t>rotavirus </a:t>
                      </a:r>
                      <a:endParaRPr sz="1800" u="none" strike="noStrike" cap="none" dirty="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dirty="0">
                          <a:solidFill>
                            <a:schemeClr val="dk1"/>
                          </a:solidFill>
                          <a:latin typeface="Arial" panose="020B0604020202020204"/>
                          <a:ea typeface="Arial" panose="020B0604020202020204"/>
                          <a:cs typeface="Arial" panose="020B0604020202020204"/>
                          <a:sym typeface="Arial" panose="020B0604020202020204"/>
                        </a:rPr>
                        <a:t>Dossier de demande de switch (changement de vaccin) élaboré et soumis </a:t>
                      </a:r>
                      <a:endParaRPr sz="1800" u="none" strike="noStrike" cap="none" dirty="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L’existence d’un dossier validé permettant une mise en œuvre plus rapide, mieux planifiée et soutenue financièrement</a:t>
                      </a:r>
                      <a:endParaRPr sz="180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r>
              <a:tr h="395600">
                <a:tc vMerge="1">
                  <a:tcPr/>
                </a:tc>
                <a:tc>
                  <a:txBody>
                    <a:bodyPr/>
                    <a:lstStyle/>
                    <a:p>
                      <a:pPr marL="0" marR="0" lvl="0" indent="0" algn="l" rtl="0">
                        <a:spcBef>
                          <a:spcPts val="0"/>
                        </a:spcBef>
                        <a:spcAft>
                          <a:spcPts val="0"/>
                        </a:spcAft>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Préparation des fiches techniques pour la formation des prestataire </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Fiches techniques élaborées et validées </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None/>
                      </a:pPr>
                      <a:r>
                        <a:rPr lang="fr-FR" sz="1800" u="none" strike="noStrike" cap="none">
                          <a:solidFill>
                            <a:schemeClr val="dk1"/>
                          </a:solidFill>
                          <a:latin typeface="Arial" panose="020B0604020202020204"/>
                          <a:ea typeface="Arial" panose="020B0604020202020204"/>
                          <a:cs typeface="Arial" panose="020B0604020202020204"/>
                          <a:sym typeface="Arial" panose="020B0604020202020204"/>
                        </a:rPr>
                        <a:t>Amélioration des compétences des prestataires. Les prestataires disposent d’outils pédagogiques standardisés, clairs et faciles à utiliser pour le switch Rota</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r>
              <a:tr h="395600">
                <a:tc vMerge="1">
                  <a:tcPr/>
                </a:tc>
                <a:tc>
                  <a:txBody>
                    <a:bodyPr/>
                    <a:lstStyle/>
                    <a:p>
                      <a:pPr marL="0" marR="0" lvl="0" indent="0" algn="l" rtl="0">
                        <a:spcBef>
                          <a:spcPts val="0"/>
                        </a:spcBef>
                        <a:spcAft>
                          <a:spcPts val="0"/>
                        </a:spcAft>
                        <a:buNone/>
                      </a:pPr>
                      <a:r>
                        <a:rPr lang="fr-FR" sz="1800">
                          <a:solidFill>
                            <a:schemeClr val="dk1"/>
                          </a:solidFill>
                          <a:latin typeface="Arial" panose="020B0604020202020204"/>
                          <a:ea typeface="Arial" panose="020B0604020202020204"/>
                          <a:cs typeface="Arial" panose="020B0604020202020204"/>
                          <a:sym typeface="Arial" panose="020B0604020202020204"/>
                        </a:rPr>
                        <a:t>Appui à la formation des formateurs des niveaux intermédiaire et opérationnel</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spcBef>
                          <a:spcPts val="0"/>
                        </a:spcBef>
                        <a:spcAft>
                          <a:spcPts val="0"/>
                        </a:spcAft>
                        <a:buClr>
                          <a:schemeClr val="dk1"/>
                        </a:buClr>
                        <a:buSzPts val="1800"/>
                        <a:buFont typeface="Arial" panose="020B0604020202020204"/>
                        <a:buNone/>
                      </a:pPr>
                      <a:r>
                        <a:rPr lang="fr-FR" sz="1800">
                          <a:solidFill>
                            <a:schemeClr val="dk1"/>
                          </a:solidFill>
                          <a:latin typeface="Arial" panose="020B0604020202020204"/>
                          <a:ea typeface="Arial" panose="020B0604020202020204"/>
                          <a:cs typeface="Arial" panose="020B0604020202020204"/>
                          <a:sym typeface="Arial" panose="020B0604020202020204"/>
                        </a:rPr>
                        <a:t>Formateurs du niveau intermédiaire et opérationnel ayant acquis les connaissances et compétences techniques pour le switch Rota</a:t>
                      </a:r>
                      <a:endParaRPr sz="1800">
                        <a:latin typeface="Arial" panose="020B0604020202020204"/>
                        <a:ea typeface="Arial" panose="020B0604020202020204"/>
                        <a:cs typeface="Arial" panose="020B0604020202020204"/>
                        <a:sym typeface="Arial" panose="020B0604020202020204"/>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Arial" panose="020B0604020202020204"/>
                        <a:buNone/>
                      </a:pPr>
                      <a:r>
                        <a:rPr lang="fr-FR" sz="1800" dirty="0">
                          <a:solidFill>
                            <a:schemeClr val="dk1"/>
                          </a:solidFill>
                          <a:latin typeface="Arial" panose="020B0604020202020204"/>
                          <a:ea typeface="Arial" panose="020B0604020202020204"/>
                          <a:cs typeface="Arial" panose="020B0604020202020204"/>
                          <a:sym typeface="Arial" panose="020B0604020202020204"/>
                        </a:rPr>
                        <a:t>Renforcement des compétences techniques des formateurs. Formateurs capables de transmettre correctement les procédures du switch aux prestataires</a:t>
                      </a:r>
                      <a:endParaRPr sz="1800" dirty="0">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p:nvPr/>
        </p:nvSpPr>
        <p:spPr>
          <a:xfrm>
            <a:off x="417075" y="295102"/>
            <a:ext cx="11640300" cy="668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Redevabilités financières en 2025</a:t>
            </a:r>
            <a:endPar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59" name="Google Shape;159;p9"/>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0" name="Google Shape;160;p9"/>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1" name="Google Shape;161;p9"/>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62" name="Google Shape;162;p9"/>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163" name="Google Shape;163;p9"/>
          <p:cNvGraphicFramePr/>
          <p:nvPr/>
        </p:nvGraphicFramePr>
        <p:xfrm>
          <a:off x="117750" y="840910"/>
          <a:ext cx="11908600" cy="5819350"/>
        </p:xfrm>
        <a:graphic>
          <a:graphicData uri="http://schemas.openxmlformats.org/drawingml/2006/table">
            <a:tbl>
              <a:tblPr firstRow="1" bandRow="1">
                <a:noFill/>
                <a:tableStyleId>{E5970542-76E6-49A8-9C28-9961083C0C40}</a:tableStyleId>
              </a:tblPr>
              <a:tblGrid>
                <a:gridCol w="2575525"/>
                <a:gridCol w="1806100"/>
                <a:gridCol w="1806100"/>
                <a:gridCol w="1961600"/>
                <a:gridCol w="1795325"/>
                <a:gridCol w="1963950"/>
              </a:tblGrid>
              <a:tr h="727825">
                <a:tc>
                  <a:txBody>
                    <a:bodyPr/>
                    <a:lstStyle/>
                    <a:p>
                      <a:pPr marL="0" marR="0" lvl="0" indent="0" algn="l" rtl="0">
                        <a:spcBef>
                          <a:spcPts val="0"/>
                        </a:spcBef>
                        <a:spcAft>
                          <a:spcPts val="0"/>
                        </a:spcAft>
                        <a:buClr>
                          <a:schemeClr val="dk1"/>
                        </a:buClr>
                        <a:buSzPts val="1800"/>
                        <a:buFont typeface="Arial" panose="020B0604020202020204"/>
                        <a:buNone/>
                      </a:pPr>
                      <a:r>
                        <a:rPr lang="fr-FR" sz="1800">
                          <a:latin typeface="Arial" panose="020B0604020202020204"/>
                          <a:ea typeface="Arial" panose="020B0604020202020204"/>
                          <a:cs typeface="Arial" panose="020B0604020202020204"/>
                          <a:sym typeface="Arial" panose="020B0604020202020204"/>
                        </a:rPr>
                        <a:t>Activités </a:t>
                      </a:r>
                      <a:endParaRPr lang="fr-FR" sz="1800">
                        <a:latin typeface="Arial" panose="020B0604020202020204"/>
                        <a:ea typeface="Arial" panose="020B0604020202020204"/>
                        <a:cs typeface="Arial" panose="020B0604020202020204"/>
                        <a:sym typeface="Arial" panose="020B0604020202020204"/>
                      </a:endParaRPr>
                    </a:p>
                  </a:txBody>
                  <a:tcPr marL="91450" marR="91450" marT="45725" marB="45725">
                    <a:lnB w="12700" cap="flat" cmpd="sng">
                      <a:solidFill>
                        <a:srgbClr val="FFFFFF"/>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100"/>
                        <a:buFont typeface="Arial" panose="020B0604020202020204"/>
                        <a:buNone/>
                      </a:pPr>
                      <a:r>
                        <a:rPr lang="fr-FR" sz="1800">
                          <a:latin typeface="Arial" panose="020B0604020202020204"/>
                          <a:ea typeface="Arial" panose="020B0604020202020204"/>
                          <a:cs typeface="Arial" panose="020B0604020202020204"/>
                          <a:sym typeface="Arial" panose="020B0604020202020204"/>
                        </a:rPr>
                        <a:t>Période de performance</a:t>
                      </a:r>
                      <a:endParaRPr sz="1800">
                        <a:latin typeface="Arial" panose="020B0604020202020204"/>
                        <a:ea typeface="Arial" panose="020B0604020202020204"/>
                        <a:cs typeface="Arial" panose="020B0604020202020204"/>
                        <a:sym typeface="Arial" panose="020B0604020202020204"/>
                      </a:endParaRPr>
                    </a:p>
                  </a:txBody>
                  <a:tcPr marL="91450" marR="91450" marT="45725" marB="45725">
                    <a:lnB w="12700" cap="flat" cmpd="sng">
                      <a:solidFill>
                        <a:srgbClr val="FFFFFF"/>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fr-FR" sz="1800">
                          <a:latin typeface="Arial" panose="020B0604020202020204"/>
                          <a:ea typeface="Arial" panose="020B0604020202020204"/>
                          <a:cs typeface="Arial" panose="020B0604020202020204"/>
                          <a:sym typeface="Arial" panose="020B0604020202020204"/>
                        </a:rPr>
                        <a:t>Budget Prévu </a:t>
                      </a:r>
                      <a:endParaRPr lang="fr-FR" sz="1800">
                        <a:latin typeface="Arial" panose="020B0604020202020204"/>
                        <a:ea typeface="Arial" panose="020B0604020202020204"/>
                        <a:cs typeface="Arial" panose="020B0604020202020204"/>
                        <a:sym typeface="Arial" panose="020B0604020202020204"/>
                      </a:endParaRPr>
                    </a:p>
                  </a:txBody>
                  <a:tcPr marL="91450" marR="91450" marT="45725" marB="45725">
                    <a:lnB w="12700" cap="flat" cmpd="sng">
                      <a:solidFill>
                        <a:srgbClr val="FFFFFF"/>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fr-FR" sz="1800">
                          <a:latin typeface="Arial" panose="020B0604020202020204"/>
                          <a:ea typeface="Arial" panose="020B0604020202020204"/>
                          <a:cs typeface="Arial" panose="020B0604020202020204"/>
                          <a:sym typeface="Arial" panose="020B0604020202020204"/>
                        </a:rPr>
                        <a:t>Budget décaissé </a:t>
                      </a:r>
                      <a:endParaRPr lang="fr-FR" sz="1800">
                        <a:latin typeface="Arial" panose="020B0604020202020204"/>
                        <a:ea typeface="Arial" panose="020B0604020202020204"/>
                        <a:cs typeface="Arial" panose="020B0604020202020204"/>
                        <a:sym typeface="Arial" panose="020B0604020202020204"/>
                      </a:endParaRPr>
                    </a:p>
                  </a:txBody>
                  <a:tcPr marL="91450" marR="91450" marT="45725" marB="45725">
                    <a:lnB w="12700" cap="flat" cmpd="sng">
                      <a:solidFill>
                        <a:srgbClr val="FFFFFF"/>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fr-FR" sz="1800">
                          <a:latin typeface="Arial" panose="020B0604020202020204"/>
                          <a:ea typeface="Arial" panose="020B0604020202020204"/>
                          <a:cs typeface="Arial" panose="020B0604020202020204"/>
                          <a:sym typeface="Arial" panose="020B0604020202020204"/>
                        </a:rPr>
                        <a:t>Taux de décaissement </a:t>
                      </a:r>
                      <a:endParaRPr lang="fr-FR" sz="1800">
                        <a:latin typeface="Arial" panose="020B0604020202020204"/>
                        <a:ea typeface="Arial" panose="020B0604020202020204"/>
                        <a:cs typeface="Arial" panose="020B0604020202020204"/>
                        <a:sym typeface="Arial" panose="020B0604020202020204"/>
                      </a:endParaRPr>
                    </a:p>
                  </a:txBody>
                  <a:tcPr marL="91450" marR="91450" marT="45725" marB="45725">
                    <a:lnB w="12700" cap="flat" cmpd="sng">
                      <a:solidFill>
                        <a:srgbClr val="FFFFFF"/>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1800"/>
                        <a:buFont typeface="Arial" panose="020B0604020202020204"/>
                        <a:buNone/>
                      </a:pPr>
                      <a:r>
                        <a:rPr lang="fr-FR" sz="1800">
                          <a:latin typeface="Arial" panose="020B0604020202020204"/>
                          <a:ea typeface="Arial" panose="020B0604020202020204"/>
                          <a:cs typeface="Arial" panose="020B0604020202020204"/>
                          <a:sym typeface="Arial" panose="020B0604020202020204"/>
                        </a:rPr>
                        <a:t>Source de financement </a:t>
                      </a:r>
                      <a:endParaRPr lang="fr-FR" sz="1800">
                        <a:latin typeface="Arial" panose="020B0604020202020204"/>
                        <a:ea typeface="Arial" panose="020B0604020202020204"/>
                        <a:cs typeface="Arial" panose="020B0604020202020204"/>
                        <a:sym typeface="Arial" panose="020B0604020202020204"/>
                      </a:endParaRPr>
                    </a:p>
                  </a:txBody>
                  <a:tcPr marL="91450" marR="91450" marT="45725" marB="45725">
                    <a:lnB w="12700" cap="flat" cmpd="sng">
                      <a:solidFill>
                        <a:srgbClr val="FFFFFF"/>
                      </a:solidFill>
                      <a:prstDash val="solid"/>
                      <a:round/>
                      <a:headEnd type="none" w="sm" len="sm"/>
                      <a:tailEnd type="none" w="sm" len="sm"/>
                    </a:lnB>
                  </a:tcPr>
                </a:tc>
              </a:tr>
              <a:tr h="1012175">
                <a:tc>
                  <a:txBody>
                    <a:bodyPr/>
                    <a:lstStyle/>
                    <a:p>
                      <a:pPr marL="0" marR="0" lvl="0" indent="0" algn="l" rtl="0">
                        <a:lnSpc>
                          <a:spcPct val="100000"/>
                        </a:lnSpc>
                        <a:spcBef>
                          <a:spcPts val="0"/>
                        </a:spcBef>
                        <a:spcAft>
                          <a:spcPts val="0"/>
                        </a:spcAft>
                        <a:buNone/>
                      </a:pPr>
                      <a:r>
                        <a:rPr lang="fr-FR" sz="1500" dirty="0">
                          <a:latin typeface="Arial" panose="020B0604020202020204"/>
                          <a:ea typeface="Arial" panose="020B0604020202020204"/>
                          <a:cs typeface="Arial" panose="020B0604020202020204"/>
                          <a:sym typeface="Arial" panose="020B0604020202020204"/>
                        </a:rPr>
                        <a:t>Appuyer le PEV pour surmonter les obstacles à la vaccination de routine (M-RITE)</a:t>
                      </a:r>
                      <a:endParaRPr sz="15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Juillet 2024 - Avril 2025</a:t>
                      </a:r>
                      <a:endParaRPr sz="1600">
                        <a:solidFill>
                          <a:srgbClr val="FF0000"/>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$1,460,200</a:t>
                      </a:r>
                      <a:endParaRPr sz="1600" u="none" strike="noStrike" cap="none">
                        <a:solidFill>
                          <a:srgbClr val="FF0000"/>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$1,774,950</a:t>
                      </a:r>
                      <a:endParaRPr sz="1600" u="none" strike="noStrike" cap="none">
                        <a:solidFill>
                          <a:srgbClr val="FF0000"/>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121%</a:t>
                      </a:r>
                      <a:endParaRPr sz="1600">
                        <a:solidFill>
                          <a:srgbClr val="FF0000"/>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USAID</a:t>
                      </a:r>
                      <a:endParaRPr sz="16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r>
              <a:tr h="1242200">
                <a:tc>
                  <a:txBody>
                    <a:bodyPr/>
                    <a:lstStyle/>
                    <a:p>
                      <a:pPr marL="0" marR="0" lvl="0" indent="0" algn="l" rtl="0">
                        <a:lnSpc>
                          <a:spcPct val="100000"/>
                        </a:lnSpc>
                        <a:spcBef>
                          <a:spcPts val="0"/>
                        </a:spcBef>
                        <a:spcAft>
                          <a:spcPts val="0"/>
                        </a:spcAft>
                        <a:buNone/>
                      </a:pPr>
                      <a:r>
                        <a:rPr lang="fr-FR" sz="1500" dirty="0">
                          <a:latin typeface="Arial" panose="020B0604020202020204"/>
                          <a:ea typeface="Arial" panose="020B0604020202020204"/>
                          <a:cs typeface="Arial" panose="020B0604020202020204"/>
                          <a:sym typeface="Arial" panose="020B0604020202020204"/>
                        </a:rPr>
                        <a:t>Fournir un soutien stratégique et technique au niveau national et provincial en matière d’éradication de la polio (M-RITE)</a:t>
                      </a:r>
                      <a:endParaRPr sz="15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Juillet 2024 - Avril 2025</a:t>
                      </a:r>
                      <a:endParaRPr sz="1600">
                        <a:solidFill>
                          <a:srgbClr val="FF0000"/>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$533,400</a:t>
                      </a:r>
                      <a:endParaRPr sz="16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$455,645</a:t>
                      </a:r>
                      <a:endParaRPr sz="16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85%</a:t>
                      </a:r>
                      <a:endParaRPr sz="1600">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USAID</a:t>
                      </a:r>
                      <a:endParaRPr sz="16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r>
              <a:tr h="5827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fr-FR" sz="1500" u="none" strike="noStrike" cap="none" dirty="0">
                          <a:latin typeface="Arial" panose="020B0604020202020204"/>
                          <a:ea typeface="Arial" panose="020B0604020202020204"/>
                          <a:cs typeface="Arial" panose="020B0604020202020204"/>
                          <a:sym typeface="Arial" panose="020B0604020202020204"/>
                        </a:rPr>
                        <a:t>Appuyer techniquement le PEV pour le switch du </a:t>
                      </a:r>
                      <a:r>
                        <a:rPr lang="fr-FR" sz="1500" dirty="0">
                          <a:latin typeface="Arial" panose="020B0604020202020204"/>
                          <a:ea typeface="Arial" panose="020B0604020202020204"/>
                          <a:cs typeface="Arial" panose="020B0604020202020204"/>
                          <a:sym typeface="Arial" panose="020B0604020202020204"/>
                        </a:rPr>
                        <a:t>RVV</a:t>
                      </a:r>
                      <a:endParaRPr sz="11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Octobre 2024 - Avril 2026</a:t>
                      </a:r>
                      <a:endParaRPr sz="1600" u="none" strike="noStrike" cap="none">
                        <a:solidFill>
                          <a:srgbClr val="FF0000"/>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u="none" strike="noStrike" cap="none">
                          <a:latin typeface="Arial" panose="020B0604020202020204"/>
                          <a:ea typeface="Arial" panose="020B0604020202020204"/>
                          <a:cs typeface="Arial" panose="020B0604020202020204"/>
                          <a:sym typeface="Arial" panose="020B0604020202020204"/>
                        </a:rPr>
                        <a:t>$</a:t>
                      </a:r>
                      <a:r>
                        <a:rPr lang="fr-FR" sz="1600">
                          <a:latin typeface="Arial" panose="020B0604020202020204"/>
                          <a:ea typeface="Arial" panose="020B0604020202020204"/>
                          <a:cs typeface="Arial" panose="020B0604020202020204"/>
                          <a:sym typeface="Arial" panose="020B0604020202020204"/>
                        </a:rPr>
                        <a:t>482,525</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u="none" strike="noStrike" cap="none">
                          <a:latin typeface="Arial" panose="020B0604020202020204"/>
                          <a:ea typeface="Arial" panose="020B0604020202020204"/>
                          <a:cs typeface="Arial" panose="020B0604020202020204"/>
                          <a:sym typeface="Arial" panose="020B0604020202020204"/>
                        </a:rPr>
                        <a:t>$</a:t>
                      </a:r>
                      <a:r>
                        <a:rPr lang="fr-FR" sz="1600">
                          <a:latin typeface="Arial" panose="020B0604020202020204"/>
                          <a:ea typeface="Arial" panose="020B0604020202020204"/>
                          <a:cs typeface="Arial" panose="020B0604020202020204"/>
                          <a:sym typeface="Arial" panose="020B0604020202020204"/>
                        </a:rPr>
                        <a:t>480,838</a:t>
                      </a:r>
                      <a:endParaRPr sz="16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a:latin typeface="Arial" panose="020B0604020202020204"/>
                          <a:ea typeface="Arial" panose="020B0604020202020204"/>
                          <a:cs typeface="Arial" panose="020B0604020202020204"/>
                          <a:sym typeface="Arial" panose="020B0604020202020204"/>
                        </a:rPr>
                        <a:t>99.6%</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a:latin typeface="Arial" panose="020B0604020202020204"/>
                          <a:ea typeface="Arial" panose="020B0604020202020204"/>
                          <a:cs typeface="Arial" panose="020B0604020202020204"/>
                          <a:sym typeface="Arial" panose="020B0604020202020204"/>
                        </a:rPr>
                        <a:t>Fondation Gates</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r>
              <a:tr h="124220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fr-FR" sz="1500" u="none" strike="noStrike" cap="none" dirty="0">
                          <a:latin typeface="Arial" panose="020B0604020202020204"/>
                          <a:ea typeface="Arial" panose="020B0604020202020204"/>
                          <a:cs typeface="Arial" panose="020B0604020202020204"/>
                          <a:sym typeface="Arial" panose="020B0604020202020204"/>
                        </a:rPr>
                        <a:t>Appuyer techniquement le </a:t>
                      </a:r>
                      <a:r>
                        <a:rPr lang="fr-FR" sz="1500" dirty="0">
                          <a:latin typeface="Arial" panose="020B0604020202020204"/>
                          <a:ea typeface="Arial" panose="020B0604020202020204"/>
                          <a:cs typeface="Arial" panose="020B0604020202020204"/>
                          <a:sym typeface="Arial" panose="020B0604020202020204"/>
                        </a:rPr>
                        <a:t>M</a:t>
                      </a:r>
                      <a:r>
                        <a:rPr lang="fr-FR" sz="1500" u="none" strike="noStrike" cap="none" dirty="0">
                          <a:latin typeface="Arial" panose="020B0604020202020204"/>
                          <a:ea typeface="Arial" panose="020B0604020202020204"/>
                          <a:cs typeface="Arial" panose="020B0604020202020204"/>
                          <a:sym typeface="Arial" panose="020B0604020202020204"/>
                        </a:rPr>
                        <a:t>inistère de la santé</a:t>
                      </a:r>
                      <a:r>
                        <a:rPr lang="fr-FR" sz="1500" dirty="0">
                          <a:latin typeface="Arial" panose="020B0604020202020204"/>
                          <a:ea typeface="Arial" panose="020B0604020202020204"/>
                          <a:cs typeface="Arial" panose="020B0604020202020204"/>
                          <a:sym typeface="Arial" panose="020B0604020202020204"/>
                        </a:rPr>
                        <a:t>, </a:t>
                      </a:r>
                      <a:r>
                        <a:rPr lang="fr-FR" sz="1500" u="none" strike="noStrike" cap="none" dirty="0">
                          <a:latin typeface="Arial" panose="020B0604020202020204"/>
                          <a:ea typeface="Arial" panose="020B0604020202020204"/>
                          <a:cs typeface="Arial" panose="020B0604020202020204"/>
                          <a:sym typeface="Arial" panose="020B0604020202020204"/>
                        </a:rPr>
                        <a:t>le PNSR et le PEV dans la préparation à l’introduction du vaccin </a:t>
                      </a:r>
                      <a:r>
                        <a:rPr lang="fr-FR" sz="1500" dirty="0">
                          <a:latin typeface="Arial" panose="020B0604020202020204"/>
                          <a:ea typeface="Arial" panose="020B0604020202020204"/>
                          <a:cs typeface="Arial" panose="020B0604020202020204"/>
                          <a:sym typeface="Arial" panose="020B0604020202020204"/>
                        </a:rPr>
                        <a:t>contre le </a:t>
                      </a:r>
                      <a:r>
                        <a:rPr lang="fr-FR" sz="1500" u="none" strike="noStrike" cap="none" dirty="0">
                          <a:latin typeface="Arial" panose="020B0604020202020204"/>
                          <a:ea typeface="Arial" panose="020B0604020202020204"/>
                          <a:cs typeface="Arial" panose="020B0604020202020204"/>
                          <a:sym typeface="Arial" panose="020B0604020202020204"/>
                        </a:rPr>
                        <a:t>VPH </a:t>
                      </a:r>
                      <a:endParaRPr sz="11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600">
                          <a:latin typeface="Arial" panose="020B0604020202020204"/>
                          <a:ea typeface="Arial" panose="020B0604020202020204"/>
                          <a:cs typeface="Arial" panose="020B0604020202020204"/>
                          <a:sym typeface="Arial" panose="020B0604020202020204"/>
                        </a:rPr>
                        <a:t>Mars - Juin 2025</a:t>
                      </a:r>
                      <a:endParaRPr sz="1600" u="none" strike="noStrike" cap="none">
                        <a:solidFill>
                          <a:srgbClr val="FF0000"/>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u="none" strike="noStrike" cap="none">
                          <a:latin typeface="Arial" panose="020B0604020202020204"/>
                          <a:ea typeface="Arial" panose="020B0604020202020204"/>
                          <a:cs typeface="Arial" panose="020B0604020202020204"/>
                          <a:sym typeface="Arial" panose="020B0604020202020204"/>
                        </a:rPr>
                        <a:t>$85,697</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u="none" strike="noStrike" cap="none">
                          <a:latin typeface="Arial" panose="020B0604020202020204"/>
                          <a:ea typeface="Arial" panose="020B0604020202020204"/>
                          <a:cs typeface="Arial" panose="020B0604020202020204"/>
                          <a:sym typeface="Arial" panose="020B0604020202020204"/>
                        </a:rPr>
                        <a:t>$85,697</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a:latin typeface="Arial" panose="020B0604020202020204"/>
                          <a:ea typeface="Arial" panose="020B0604020202020204"/>
                          <a:cs typeface="Arial" panose="020B0604020202020204"/>
                          <a:sym typeface="Arial" panose="020B0604020202020204"/>
                        </a:rPr>
                        <a:t>100%</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600">
                          <a:latin typeface="Arial" panose="020B0604020202020204"/>
                          <a:ea typeface="Arial" panose="020B0604020202020204"/>
                          <a:cs typeface="Arial" panose="020B0604020202020204"/>
                          <a:sym typeface="Arial" panose="020B0604020202020204"/>
                        </a:rPr>
                        <a:t>Fondation Gates</a:t>
                      </a:r>
                      <a:endParaRPr sz="16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r>
              <a:tr h="10121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fr-FR" sz="1500" dirty="0">
                          <a:latin typeface="Arial" panose="020B0604020202020204"/>
                          <a:ea typeface="Arial" panose="020B0604020202020204"/>
                          <a:cs typeface="Arial" panose="020B0604020202020204"/>
                          <a:sym typeface="Arial" panose="020B0604020202020204"/>
                        </a:rPr>
                        <a:t>Appuyer techniquement le PEV dans la préparation à l’introduction du vaccin contre le VPH</a:t>
                      </a:r>
                      <a:endParaRPr sz="14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fr-FR" sz="1800">
                          <a:latin typeface="Arial" panose="020B0604020202020204"/>
                          <a:ea typeface="Arial" panose="020B0604020202020204"/>
                          <a:cs typeface="Arial" panose="020B0604020202020204"/>
                          <a:sym typeface="Arial" panose="020B0604020202020204"/>
                        </a:rPr>
                        <a:t>Juin 2025 - Février 2026 </a:t>
                      </a:r>
                      <a:endParaRPr sz="18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800" u="none" strike="noStrike" cap="none">
                          <a:latin typeface="Arial" panose="020B0604020202020204"/>
                          <a:ea typeface="Arial" panose="020B0604020202020204"/>
                          <a:cs typeface="Arial" panose="020B0604020202020204"/>
                          <a:sym typeface="Arial" panose="020B0604020202020204"/>
                        </a:rPr>
                        <a:t>$569,460</a:t>
                      </a:r>
                      <a:endParaRPr sz="14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800">
                          <a:latin typeface="Arial" panose="020B0604020202020204"/>
                          <a:ea typeface="Arial" panose="020B0604020202020204"/>
                          <a:cs typeface="Arial" panose="020B0604020202020204"/>
                          <a:sym typeface="Arial" panose="020B0604020202020204"/>
                        </a:rPr>
                        <a:t>$564,455</a:t>
                      </a:r>
                      <a:endParaRPr sz="1800">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CAD1D8"/>
                    </a:solidFill>
                  </a:tcPr>
                </a:tc>
                <a:tc>
                  <a:txBody>
                    <a:bodyPr/>
                    <a:lstStyle/>
                    <a:p>
                      <a:pPr marL="0" marR="0" lvl="0" indent="0" algn="ctr" rtl="0">
                        <a:lnSpc>
                          <a:spcPct val="100000"/>
                        </a:lnSpc>
                        <a:spcBef>
                          <a:spcPts val="0"/>
                        </a:spcBef>
                        <a:spcAft>
                          <a:spcPts val="0"/>
                        </a:spcAft>
                        <a:buNone/>
                      </a:pPr>
                      <a:r>
                        <a:rPr lang="fr-FR" sz="1800">
                          <a:latin typeface="Arial" panose="020B0604020202020204"/>
                          <a:ea typeface="Arial" panose="020B0604020202020204"/>
                          <a:cs typeface="Arial" panose="020B0604020202020204"/>
                          <a:sym typeface="Arial" panose="020B0604020202020204"/>
                        </a:rPr>
                        <a:t>99.1%</a:t>
                      </a:r>
                      <a:endParaRPr sz="1600">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fr-FR" sz="1800" dirty="0" err="1">
                          <a:latin typeface="Arial" panose="020B0604020202020204"/>
                          <a:ea typeface="Arial" panose="020B0604020202020204"/>
                          <a:cs typeface="Arial" panose="020B0604020202020204"/>
                          <a:sym typeface="Arial" panose="020B0604020202020204"/>
                        </a:rPr>
                        <a:t>Gavi</a:t>
                      </a:r>
                      <a:endParaRPr sz="1400" u="none" strike="noStrike" cap="none" dirty="0">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a:solidFill>
                  <a:srgbClr val="1155CC"/>
                </a:solidFill>
                <a:latin typeface="Arial" panose="020B0604020202020204"/>
                <a:ea typeface="Arial" panose="020B0604020202020204"/>
                <a:cs typeface="Arial" panose="020B0604020202020204"/>
                <a:sym typeface="Arial" panose="020B0604020202020204"/>
              </a:rPr>
              <a:t>Valeur ajoutée - Innovations - Bonnes pratiques</a:t>
            </a:r>
            <a:endParaRP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9" name="Google Shape;169;p1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0" name="Google Shape;170;p1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1" name="Google Shape;171;p1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72" name="Google Shape;172;p1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73" name="Google Shape;173;p10"/>
          <p:cNvSpPr/>
          <p:nvPr/>
        </p:nvSpPr>
        <p:spPr>
          <a:xfrm>
            <a:off x="417750" y="927442"/>
            <a:ext cx="11356500" cy="5612618"/>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marR="0" lvl="0" indent="-190500" algn="l" rtl="0">
              <a:spcBef>
                <a:spcPts val="0"/>
              </a:spcBef>
              <a:spcAft>
                <a:spcPts val="0"/>
              </a:spcAft>
              <a:buClr>
                <a:schemeClr val="dk1"/>
              </a:buClr>
              <a:buSzPts val="2400"/>
              <a:buFont typeface="Arial" panose="020B0604020202020204"/>
              <a:buNone/>
            </a:pPr>
            <a:endParaRPr sz="2400">
              <a:solidFill>
                <a:schemeClr val="dk1"/>
              </a:solidFill>
              <a:latin typeface="Arial" panose="020B0604020202020204"/>
              <a:ea typeface="Arial" panose="020B0604020202020204"/>
              <a:cs typeface="Arial" panose="020B0604020202020204"/>
              <a:sym typeface="Arial" panose="020B0604020202020204"/>
            </a:endParaRPr>
          </a:p>
          <a:p>
            <a:pPr marL="342900" marR="0" lvl="0" indent="-228600" algn="l" rtl="0">
              <a:lnSpc>
                <a:spcPct val="150000"/>
              </a:lnSpc>
              <a:spcBef>
                <a:spcPts val="0"/>
              </a:spcBef>
              <a:spcAft>
                <a:spcPts val="0"/>
              </a:spcAft>
              <a:buClr>
                <a:schemeClr val="dk1"/>
              </a:buClr>
              <a:buSzPts val="1800"/>
              <a:buFont typeface="Arial" panose="020B0604020202020204"/>
              <a:buNone/>
            </a:pPr>
            <a:endParaRPr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200000"/>
              </a:lnSpc>
              <a:spcBef>
                <a:spcPts val="0"/>
              </a:spcBef>
              <a:spcAft>
                <a:spcPts val="0"/>
              </a:spcAft>
              <a:buNone/>
            </a:pPr>
            <a:endParaRPr sz="200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200000"/>
              </a:lnSpc>
              <a:spcBef>
                <a:spcPts val="0"/>
              </a:spcBef>
              <a:spcAft>
                <a:spcPts val="0"/>
              </a:spcAft>
              <a:buNone/>
            </a:pPr>
            <a:endParaRPr sz="20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200000"/>
              </a:lnSpc>
              <a:spcBef>
                <a:spcPts val="0"/>
              </a:spcBef>
              <a:spcAft>
                <a:spcPts val="0"/>
              </a:spcAft>
              <a:buClr>
                <a:schemeClr val="dk1"/>
              </a:buClr>
              <a:buSzPts val="2200"/>
              <a:buFont typeface="Arial" panose="020B0604020202020204"/>
              <a:buChar char="•"/>
            </a:pPr>
            <a:r>
              <a:rPr lang="fr-FR" sz="2200">
                <a:solidFill>
                  <a:schemeClr val="dk1"/>
                </a:solidFill>
                <a:latin typeface="Arial" panose="020B0604020202020204"/>
                <a:ea typeface="Arial" panose="020B0604020202020204"/>
                <a:cs typeface="Arial" panose="020B0604020202020204"/>
                <a:sym typeface="Arial" panose="020B0604020202020204"/>
              </a:rPr>
              <a:t>L’implication des cadres du PEV comme leads dans la phase de rédaction de la proposition VPH soumise à Gavi, facilite le </a:t>
            </a:r>
            <a:r>
              <a:rPr lang="fr-FR" sz="2200" b="1">
                <a:solidFill>
                  <a:schemeClr val="dk1"/>
                </a:solidFill>
                <a:latin typeface="Arial" panose="020B0604020202020204"/>
                <a:ea typeface="Arial" panose="020B0604020202020204"/>
                <a:cs typeface="Arial" panose="020B0604020202020204"/>
                <a:sym typeface="Arial" panose="020B0604020202020204"/>
              </a:rPr>
              <a:t>transfert des compétences </a:t>
            </a:r>
            <a:r>
              <a:rPr lang="fr-FR" sz="2200">
                <a:solidFill>
                  <a:schemeClr val="dk1"/>
                </a:solidFill>
                <a:latin typeface="Arial" panose="020B0604020202020204"/>
                <a:ea typeface="Arial" panose="020B0604020202020204"/>
                <a:cs typeface="Arial" panose="020B0604020202020204"/>
                <a:sym typeface="Arial" panose="020B0604020202020204"/>
              </a:rPr>
              <a:t>aux cadres du PEV</a:t>
            </a:r>
            <a:r>
              <a:rPr lang="fr-FR" sz="2200">
                <a:solidFill>
                  <a:schemeClr val="dk1"/>
                </a:solidFill>
              </a:rPr>
              <a:t>.</a:t>
            </a:r>
            <a:endParaRPr lang="fr-FR" sz="2200">
              <a:solidFill>
                <a:schemeClr val="dk1"/>
              </a:solidFill>
            </a:endParaRPr>
          </a:p>
          <a:p>
            <a:pPr marL="342900" marR="0" lvl="0" indent="-342900" algn="just" rtl="0">
              <a:lnSpc>
                <a:spcPct val="200000"/>
              </a:lnSpc>
              <a:spcBef>
                <a:spcPts val="0"/>
              </a:spcBef>
              <a:spcAft>
                <a:spcPts val="0"/>
              </a:spcAft>
              <a:buClr>
                <a:schemeClr val="dk1"/>
              </a:buClr>
              <a:buSzPts val="2200"/>
              <a:buFont typeface="Arial" panose="020B0604020202020204"/>
              <a:buChar char="•"/>
            </a:pPr>
            <a:r>
              <a:rPr lang="fr-FR" sz="2200">
                <a:solidFill>
                  <a:schemeClr val="dk1"/>
                </a:solidFill>
                <a:latin typeface="Arial" panose="020B0604020202020204"/>
                <a:ea typeface="Arial" panose="020B0604020202020204"/>
                <a:cs typeface="Arial" panose="020B0604020202020204"/>
                <a:sym typeface="Arial" panose="020B0604020202020204"/>
              </a:rPr>
              <a:t>Le renforcement de la </a:t>
            </a:r>
            <a:r>
              <a:rPr lang="fr-FR" sz="2200" b="1">
                <a:solidFill>
                  <a:schemeClr val="dk1"/>
                </a:solidFill>
                <a:latin typeface="Arial" panose="020B0604020202020204"/>
                <a:ea typeface="Arial" panose="020B0604020202020204"/>
                <a:cs typeface="Arial" panose="020B0604020202020204"/>
                <a:sym typeface="Arial" panose="020B0604020202020204"/>
              </a:rPr>
              <a:t>coordination </a:t>
            </a:r>
            <a:r>
              <a:rPr lang="fr-FR" sz="2200" b="1">
                <a:solidFill>
                  <a:schemeClr val="dk1"/>
                </a:solidFill>
              </a:rPr>
              <a:t>multisectorielle</a:t>
            </a:r>
            <a:r>
              <a:rPr lang="fr-FR" sz="2200" b="1">
                <a:solidFill>
                  <a:schemeClr val="dk1"/>
                </a:solidFill>
                <a:latin typeface="Arial" panose="020B0604020202020204"/>
                <a:ea typeface="Arial" panose="020B0604020202020204"/>
                <a:cs typeface="Arial" panose="020B0604020202020204"/>
                <a:sym typeface="Arial" panose="020B0604020202020204"/>
              </a:rPr>
              <a:t> </a:t>
            </a:r>
            <a:r>
              <a:rPr lang="fr-FR" sz="2200">
                <a:solidFill>
                  <a:schemeClr val="dk1"/>
                </a:solidFill>
                <a:latin typeface="Arial" panose="020B0604020202020204"/>
                <a:ea typeface="Arial" panose="020B0604020202020204"/>
                <a:cs typeface="Arial" panose="020B0604020202020204"/>
                <a:sym typeface="Arial" panose="020B0604020202020204"/>
              </a:rPr>
              <a:t>entre les </a:t>
            </a:r>
            <a:r>
              <a:rPr lang="fr-FR" sz="2200">
                <a:solidFill>
                  <a:schemeClr val="dk1"/>
                </a:solidFill>
              </a:rPr>
              <a:t>M</a:t>
            </a:r>
            <a:r>
              <a:rPr lang="fr-FR" sz="2200">
                <a:solidFill>
                  <a:schemeClr val="dk1"/>
                </a:solidFill>
                <a:latin typeface="Arial" panose="020B0604020202020204"/>
                <a:ea typeface="Arial" panose="020B0604020202020204"/>
                <a:cs typeface="Arial" panose="020B0604020202020204"/>
                <a:sym typeface="Arial" panose="020B0604020202020204"/>
              </a:rPr>
              <a:t>inistères de la santé, éducation, intérieur, finances, budget, plannification, etc. ainsi que la coordination des différents programmes du Ministère de la santé permet le partage des responsabilités, renforce l’appropriation nécessaires pour assurer la pérennité des actions et le financement durable l’introduction des nouveaux vaccins. </a:t>
            </a:r>
            <a:endParaRPr lang="fr-FR" sz="2200">
              <a:solidFill>
                <a:schemeClr val="dk1"/>
              </a:solidFill>
              <a:latin typeface="Arial" panose="020B0604020202020204"/>
              <a:ea typeface="Arial" panose="020B0604020202020204"/>
              <a:cs typeface="Arial" panose="020B0604020202020204"/>
              <a:sym typeface="Arial" panose="020B0604020202020204"/>
            </a:endParaRPr>
          </a:p>
          <a:p>
            <a:pPr marL="342900" marR="0" lvl="0" indent="-228600" algn="just" rtl="0">
              <a:lnSpc>
                <a:spcPct val="150000"/>
              </a:lnSpc>
              <a:spcBef>
                <a:spcPts val="0"/>
              </a:spcBef>
              <a:spcAft>
                <a:spcPts val="0"/>
              </a:spcAft>
              <a:buClr>
                <a:schemeClr val="dk1"/>
              </a:buClr>
              <a:buSzPts val="1800"/>
              <a:buFont typeface="Arial" panose="020B0604020202020204"/>
              <a:buNone/>
            </a:pPr>
            <a:endParaRPr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just" rtl="0">
              <a:lnSpc>
                <a:spcPct val="150000"/>
              </a:lnSpc>
              <a:spcBef>
                <a:spcPts val="0"/>
              </a:spcBef>
              <a:spcAft>
                <a:spcPts val="0"/>
              </a:spcAft>
              <a:buNone/>
            </a:pPr>
            <a:r>
              <a:rPr lang="fr-FR" sz="1600">
                <a:solidFill>
                  <a:schemeClr val="dk1"/>
                </a:solidFill>
                <a:latin typeface="Arial" panose="020B0604020202020204"/>
                <a:ea typeface="Arial" panose="020B0604020202020204"/>
                <a:cs typeface="Arial" panose="020B0604020202020204"/>
                <a:sym typeface="Arial" panose="020B0604020202020204"/>
              </a:rPr>
              <a:t> </a:t>
            </a:r>
            <a:endParaRPr lang="fr-FR" sz="1600">
              <a:solidFill>
                <a:schemeClr val="dk1"/>
              </a:solidFill>
              <a:latin typeface="Arial" panose="020B0604020202020204"/>
              <a:ea typeface="Arial" panose="020B0604020202020204"/>
              <a:cs typeface="Arial" panose="020B0604020202020204"/>
              <a:sym typeface="Arial" panose="020B0604020202020204"/>
            </a:endParaRPr>
          </a:p>
          <a:p>
            <a:pPr marL="342900" marR="0" lvl="0" indent="-209550" algn="just" rtl="0">
              <a:lnSpc>
                <a:spcPct val="150000"/>
              </a:lnSpc>
              <a:spcBef>
                <a:spcPts val="0"/>
              </a:spcBef>
              <a:spcAft>
                <a:spcPts val="0"/>
              </a:spcAft>
              <a:buClr>
                <a:schemeClr val="dk1"/>
              </a:buClr>
              <a:buSzPts val="2100"/>
              <a:buFont typeface="Arial" panose="020B0604020202020204"/>
              <a:buNone/>
            </a:pPr>
            <a:endParaRPr sz="2100">
              <a:solidFill>
                <a:schemeClr val="dk1"/>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Clr>
                <a:schemeClr val="dk1"/>
              </a:buClr>
              <a:buSzPts val="2000"/>
              <a:buFont typeface="Calibri" panose="020F0502020204030204"/>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Clr>
                <a:schemeClr val="dk1"/>
              </a:buClr>
              <a:buSzPts val="2000"/>
              <a:buFont typeface="Calibri" panose="020F0502020204030204"/>
              <a:buNone/>
            </a:pPr>
            <a:endParaRPr sz="20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1"/>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Défis rencontrés</a:t>
            </a:r>
            <a:endPar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p11"/>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0" name="Google Shape;180;p11"/>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1" name="Google Shape;181;p11"/>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2" name="Google Shape;182;p11"/>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3" name="Google Shape;183;p11"/>
          <p:cNvSpPr/>
          <p:nvPr/>
        </p:nvSpPr>
        <p:spPr>
          <a:xfrm>
            <a:off x="376908" y="1046550"/>
            <a:ext cx="11356500" cy="47649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marR="0" lvl="0" indent="-342900" algn="just" rtl="0">
              <a:lnSpc>
                <a:spcPct val="150000"/>
              </a:lnSpc>
              <a:spcBef>
                <a:spcPts val="0"/>
              </a:spcBef>
              <a:spcAft>
                <a:spcPts val="0"/>
              </a:spcAft>
              <a:buClr>
                <a:schemeClr val="dk1"/>
              </a:buClr>
              <a:buSzPts val="2400"/>
              <a:buFont typeface="Arial" panose="020B0604020202020204"/>
              <a:buChar char="•"/>
            </a:pPr>
            <a:r>
              <a:rPr lang="fr-FR" sz="2400">
                <a:solidFill>
                  <a:schemeClr val="dk1"/>
                </a:solidFill>
                <a:latin typeface="Arial" panose="020B0604020202020204"/>
                <a:ea typeface="Arial" panose="020B0604020202020204"/>
                <a:cs typeface="Arial" panose="020B0604020202020204"/>
                <a:sym typeface="Arial" panose="020B0604020202020204"/>
              </a:rPr>
              <a:t>L’appui apporté par JSI dans la préparation à l’introduction du vaccin </a:t>
            </a:r>
            <a:r>
              <a:rPr lang="fr-FR" sz="2400">
                <a:solidFill>
                  <a:schemeClr val="dk1"/>
                </a:solidFill>
              </a:rPr>
              <a:t>contre le </a:t>
            </a:r>
            <a:r>
              <a:rPr lang="fr-FR" sz="2400">
                <a:solidFill>
                  <a:schemeClr val="dk1"/>
                </a:solidFill>
                <a:latin typeface="Arial" panose="020B0604020202020204"/>
                <a:ea typeface="Arial" panose="020B0604020202020204"/>
                <a:cs typeface="Arial" panose="020B0604020202020204"/>
                <a:sym typeface="Arial" panose="020B0604020202020204"/>
              </a:rPr>
              <a:t>VPH s’est trouvé confronté à l’indisponibilité du personnel PEV, </a:t>
            </a:r>
            <a:r>
              <a:rPr lang="fr-FR" sz="2400" b="1">
                <a:solidFill>
                  <a:schemeClr val="dk1"/>
                </a:solidFill>
                <a:latin typeface="Arial" panose="020B0604020202020204"/>
                <a:ea typeface="Arial" panose="020B0604020202020204"/>
                <a:cs typeface="Arial" panose="020B0604020202020204"/>
                <a:sym typeface="Arial" panose="020B0604020202020204"/>
              </a:rPr>
              <a:t>absorbé par d’autres priorités</a:t>
            </a:r>
            <a:r>
              <a:rPr lang="fr-FR" sz="2400">
                <a:solidFill>
                  <a:schemeClr val="dk1"/>
                </a:solidFill>
                <a:latin typeface="Arial" panose="020B0604020202020204"/>
                <a:ea typeface="Arial" panose="020B0604020202020204"/>
                <a:cs typeface="Arial" panose="020B0604020202020204"/>
                <a:sym typeface="Arial" panose="020B0604020202020204"/>
              </a:rPr>
              <a:t> (campagnes de vaccination et autres urgences). Ceci a eu comme conséquence de ne pas rendre à temps les livrables attendus</a:t>
            </a:r>
            <a:r>
              <a:rPr lang="fr-FR" sz="2400">
                <a:solidFill>
                  <a:schemeClr val="dk1"/>
                </a:solidFill>
              </a:rPr>
              <a:t>.</a:t>
            </a:r>
            <a:endParaRPr lang="fr-FR" sz="2400">
              <a:solidFill>
                <a:schemeClr val="dk1"/>
              </a:solidFill>
            </a:endParaRPr>
          </a:p>
          <a:p>
            <a:pPr marL="342900" marR="0" lvl="0" indent="-342900" algn="just" rtl="0">
              <a:lnSpc>
                <a:spcPct val="150000"/>
              </a:lnSpc>
              <a:spcBef>
                <a:spcPts val="0"/>
              </a:spcBef>
              <a:spcAft>
                <a:spcPts val="0"/>
              </a:spcAft>
              <a:buClr>
                <a:schemeClr val="dk1"/>
              </a:buClr>
              <a:buSzPts val="2400"/>
              <a:buFont typeface="Arial" panose="020B0604020202020204"/>
              <a:buChar char="•"/>
            </a:pPr>
            <a:r>
              <a:rPr lang="fr-FR" sz="2400">
                <a:solidFill>
                  <a:schemeClr val="dk1"/>
                </a:solidFill>
                <a:latin typeface="Arial" panose="020B0604020202020204"/>
                <a:ea typeface="Arial" panose="020B0604020202020204"/>
                <a:cs typeface="Arial" panose="020B0604020202020204"/>
                <a:sym typeface="Arial" panose="020B0604020202020204"/>
              </a:rPr>
              <a:t>Le retard mis dans l’obtention de toutes les signatures requises des membres du gouvernement pour la proposition VPH a fait </a:t>
            </a:r>
            <a:r>
              <a:rPr lang="fr-FR" sz="2400">
                <a:solidFill>
                  <a:schemeClr val="dk1"/>
                </a:solidFill>
              </a:rPr>
              <a:t>naître</a:t>
            </a:r>
            <a:r>
              <a:rPr lang="fr-FR" sz="2400">
                <a:solidFill>
                  <a:schemeClr val="dk1"/>
                </a:solidFill>
                <a:latin typeface="Arial" panose="020B0604020202020204"/>
                <a:ea typeface="Arial" panose="020B0604020202020204"/>
                <a:cs typeface="Arial" panose="020B0604020202020204"/>
                <a:sym typeface="Arial" panose="020B0604020202020204"/>
              </a:rPr>
              <a:t> </a:t>
            </a:r>
            <a:r>
              <a:rPr lang="fr-FR" sz="2400" b="1">
                <a:solidFill>
                  <a:schemeClr val="dk1"/>
                </a:solidFill>
                <a:latin typeface="Arial" panose="020B0604020202020204"/>
                <a:ea typeface="Arial" panose="020B0604020202020204"/>
                <a:cs typeface="Arial" panose="020B0604020202020204"/>
                <a:sym typeface="Arial" panose="020B0604020202020204"/>
              </a:rPr>
              <a:t>une incertitude et une baisse de l’engouement du PEV </a:t>
            </a:r>
            <a:r>
              <a:rPr lang="fr-FR" sz="2400">
                <a:solidFill>
                  <a:schemeClr val="dk1"/>
                </a:solidFill>
                <a:latin typeface="Arial" panose="020B0604020202020204"/>
                <a:ea typeface="Arial" panose="020B0604020202020204"/>
                <a:cs typeface="Arial" panose="020B0604020202020204"/>
                <a:sym typeface="Arial" panose="020B0604020202020204"/>
              </a:rPr>
              <a:t>dans la mise en œuvre des activités préparatoires à l’introduction du vaccin </a:t>
            </a:r>
            <a:r>
              <a:rPr lang="fr-FR" sz="2400">
                <a:solidFill>
                  <a:schemeClr val="dk1"/>
                </a:solidFill>
              </a:rPr>
              <a:t>contre le </a:t>
            </a:r>
            <a:r>
              <a:rPr lang="fr-FR" sz="2400">
                <a:solidFill>
                  <a:schemeClr val="dk1"/>
                </a:solidFill>
                <a:latin typeface="Arial" panose="020B0604020202020204"/>
                <a:ea typeface="Arial" panose="020B0604020202020204"/>
                <a:cs typeface="Arial" panose="020B0604020202020204"/>
                <a:sym typeface="Arial" panose="020B0604020202020204"/>
              </a:rPr>
              <a:t>VPH</a:t>
            </a:r>
            <a:r>
              <a:rPr lang="fr-FR" sz="2400">
                <a:solidFill>
                  <a:schemeClr val="dk1"/>
                </a:solidFill>
              </a:rPr>
              <a:t>.</a:t>
            </a:r>
            <a:endParaRPr lang="fr-FR" sz="2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2"/>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Priorités et engagements pour 2026</a:t>
            </a:r>
            <a:endPar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9" name="Google Shape;189;p12"/>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0" name="Google Shape;190;p12"/>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1" name="Google Shape;191;p12"/>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92" name="Google Shape;192;p12"/>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93" name="Google Shape;193;p12"/>
          <p:cNvSpPr/>
          <p:nvPr/>
        </p:nvSpPr>
        <p:spPr>
          <a:xfrm>
            <a:off x="458600" y="927450"/>
            <a:ext cx="11356500" cy="516120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marR="0" lvl="0" indent="-342900" algn="just" rtl="0">
              <a:lnSpc>
                <a:spcPct val="150000"/>
              </a:lnSpc>
              <a:spcBef>
                <a:spcPts val="0"/>
              </a:spcBef>
              <a:spcAft>
                <a:spcPts val="0"/>
              </a:spcAft>
              <a:buClr>
                <a:schemeClr val="dk1"/>
              </a:buClr>
              <a:buSzPts val="2400"/>
              <a:buFont typeface="Arial" panose="020B0604020202020204"/>
              <a:buChar char="•"/>
            </a:pPr>
            <a:r>
              <a:rPr lang="fr-FR" sz="2400">
                <a:solidFill>
                  <a:schemeClr val="dk1"/>
                </a:solidFill>
                <a:latin typeface="Arial" panose="020B0604020202020204"/>
                <a:ea typeface="Arial" panose="020B0604020202020204"/>
                <a:cs typeface="Arial" panose="020B0604020202020204"/>
                <a:sym typeface="Arial" panose="020B0604020202020204"/>
              </a:rPr>
              <a:t>Renforcer le transfert des compétences au PEV dans l’exercice d’élaboration des propositions de financement pour l’introduction des nouveaux vaccins</a:t>
            </a:r>
            <a:r>
              <a:rPr lang="fr-FR" sz="2400">
                <a:solidFill>
                  <a:schemeClr val="dk1"/>
                </a:solidFill>
              </a:rPr>
              <a:t>.</a:t>
            </a:r>
            <a:r>
              <a:rPr lang="fr-FR" sz="2400">
                <a:solidFill>
                  <a:schemeClr val="dk1"/>
                </a:solidFill>
                <a:latin typeface="Arial" panose="020B0604020202020204"/>
                <a:ea typeface="Arial" panose="020B0604020202020204"/>
                <a:cs typeface="Arial" panose="020B0604020202020204"/>
                <a:sym typeface="Arial" panose="020B0604020202020204"/>
              </a:rPr>
              <a:t> </a:t>
            </a:r>
            <a:endParaRPr sz="24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just" rtl="0">
              <a:lnSpc>
                <a:spcPct val="150000"/>
              </a:lnSpc>
              <a:spcBef>
                <a:spcPts val="0"/>
              </a:spcBef>
              <a:spcAft>
                <a:spcPts val="0"/>
              </a:spcAft>
              <a:buClr>
                <a:schemeClr val="dk1"/>
              </a:buClr>
              <a:buSzPts val="2400"/>
              <a:buChar char="•"/>
            </a:pPr>
            <a:r>
              <a:rPr lang="fr-FR" sz="2400">
                <a:solidFill>
                  <a:schemeClr val="dk1"/>
                </a:solidFill>
              </a:rPr>
              <a:t>Appuyer l</a:t>
            </a:r>
            <a:r>
              <a:rPr lang="" altLang="fr-FR" sz="2400">
                <a:solidFill>
                  <a:schemeClr val="dk1"/>
                </a:solidFill>
              </a:rPr>
              <a:t>e GTCV</a:t>
            </a:r>
            <a:r>
              <a:rPr lang="fr-FR" sz="2400">
                <a:solidFill>
                  <a:schemeClr val="dk1"/>
                </a:solidFill>
              </a:rPr>
              <a:t> </a:t>
            </a:r>
            <a:r>
              <a:rPr lang="" altLang="fr-FR" sz="2400">
                <a:solidFill>
                  <a:schemeClr val="dk1"/>
                </a:solidFill>
              </a:rPr>
              <a:t>dans la révision de la priorisation des vaccins à introduire d’ici 2030</a:t>
            </a:r>
            <a:r>
              <a:rPr lang="fr-FR" sz="2400">
                <a:solidFill>
                  <a:schemeClr val="dk1"/>
                </a:solidFill>
              </a:rPr>
              <a:t>.</a:t>
            </a:r>
            <a:endParaRPr sz="2400">
              <a:solidFill>
                <a:schemeClr val="dk1"/>
              </a:solidFill>
            </a:endParaRPr>
          </a:p>
          <a:p>
            <a:pPr marL="342900" marR="0" lvl="0" indent="-342900" algn="just" rtl="0">
              <a:lnSpc>
                <a:spcPct val="150000"/>
              </a:lnSpc>
              <a:spcBef>
                <a:spcPts val="0"/>
              </a:spcBef>
              <a:spcAft>
                <a:spcPts val="0"/>
              </a:spcAft>
              <a:buClr>
                <a:schemeClr val="dk1"/>
              </a:buClr>
              <a:buSzPts val="2400"/>
              <a:buFont typeface="Arial" panose="020B0604020202020204"/>
              <a:buChar char="•"/>
            </a:pPr>
            <a:r>
              <a:rPr lang="fr-FR" sz="2400">
                <a:solidFill>
                  <a:schemeClr val="dk1"/>
                </a:solidFill>
                <a:latin typeface="Arial" panose="020B0604020202020204"/>
                <a:ea typeface="Arial" panose="020B0604020202020204"/>
                <a:cs typeface="Arial" panose="020B0604020202020204"/>
                <a:sym typeface="Arial" panose="020B0604020202020204"/>
              </a:rPr>
              <a:t>Apporter un appui technique aux processus d’introduction des nouveaux vaccins (VPH, Switch Rota, RR etc.)</a:t>
            </a:r>
            <a:r>
              <a:rPr lang="fr-FR" sz="2400">
                <a:solidFill>
                  <a:schemeClr val="dk1"/>
                </a:solidFill>
              </a:rPr>
              <a:t> ainsi que les évaluations internes et externes post introduction des nouveaux vaccins </a:t>
            </a:r>
            <a:endParaRPr sz="2400">
              <a:solidFill>
                <a:schemeClr val="dk1"/>
              </a:solidFill>
            </a:endParaRPr>
          </a:p>
          <a:p>
            <a:pPr marL="342900" marR="0" lvl="0" indent="-342900" algn="just" rtl="0">
              <a:lnSpc>
                <a:spcPct val="150000"/>
              </a:lnSpc>
              <a:spcBef>
                <a:spcPts val="0"/>
              </a:spcBef>
              <a:spcAft>
                <a:spcPts val="0"/>
              </a:spcAft>
              <a:buClr>
                <a:schemeClr val="dk1"/>
              </a:buClr>
              <a:buSzPts val="2400"/>
              <a:buFont typeface="Arial" panose="020B0604020202020204"/>
              <a:buChar char="•"/>
            </a:pPr>
            <a:r>
              <a:rPr lang="fr-FR" sz="2400">
                <a:solidFill>
                  <a:schemeClr val="dk1"/>
                </a:solidFill>
                <a:latin typeface="Arial" panose="020B0604020202020204"/>
                <a:ea typeface="Arial" panose="020B0604020202020204"/>
                <a:cs typeface="Arial" panose="020B0604020202020204"/>
                <a:sym typeface="Arial" panose="020B0604020202020204"/>
              </a:rPr>
              <a:t>Poursuivre l’appui au renforcement de la coordination </a:t>
            </a:r>
            <a:r>
              <a:rPr lang="fr-FR" sz="2400">
                <a:solidFill>
                  <a:schemeClr val="dk1"/>
                </a:solidFill>
              </a:rPr>
              <a:t>multisectorielle</a:t>
            </a:r>
            <a:r>
              <a:rPr lang="fr-FR" sz="2400">
                <a:solidFill>
                  <a:schemeClr val="dk1"/>
                </a:solidFill>
                <a:latin typeface="Arial" panose="020B0604020202020204"/>
                <a:ea typeface="Arial" panose="020B0604020202020204"/>
                <a:cs typeface="Arial" panose="020B0604020202020204"/>
                <a:sym typeface="Arial" panose="020B0604020202020204"/>
              </a:rPr>
              <a:t> dans les provinces en appui à l’introduction du vaccin </a:t>
            </a:r>
            <a:r>
              <a:rPr lang="fr-FR" sz="2400">
                <a:solidFill>
                  <a:schemeClr val="dk1"/>
                </a:solidFill>
              </a:rPr>
              <a:t>contre le </a:t>
            </a:r>
            <a:r>
              <a:rPr lang="fr-FR" sz="2400">
                <a:solidFill>
                  <a:schemeClr val="dk1"/>
                </a:solidFill>
                <a:latin typeface="Arial" panose="020B0604020202020204"/>
                <a:ea typeface="Arial" panose="020B0604020202020204"/>
                <a:cs typeface="Arial" panose="020B0604020202020204"/>
                <a:sym typeface="Arial" panose="020B0604020202020204"/>
              </a:rPr>
              <a:t>VPH</a:t>
            </a:r>
            <a:r>
              <a:rPr lang="fr-FR" sz="2400">
                <a:solidFill>
                  <a:schemeClr val="dk1"/>
                </a:solidFill>
              </a:rPr>
              <a:t>.</a:t>
            </a:r>
            <a:endParaRPr lang="fr-FR" sz="2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4"/>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fr-FR" sz="3200" b="1" i="0" u="none" strike="noStrike" cap="none">
                <a:solidFill>
                  <a:srgbClr val="0070C0"/>
                </a:solidFill>
                <a:latin typeface="Arial" panose="020B0604020202020204"/>
                <a:ea typeface="Arial" panose="020B0604020202020204"/>
                <a:cs typeface="Arial" panose="020B0604020202020204"/>
                <a:sym typeface="Arial" panose="020B0604020202020204"/>
              </a:rPr>
              <a:t>Merci</a:t>
            </a:r>
            <a:endParaRPr sz="3200" b="1" i="0" u="none" strike="noStrike" cap="none">
              <a:solidFill>
                <a:srgbClr val="0070C0"/>
              </a:solidFill>
              <a:latin typeface="Arial" panose="020B0604020202020204"/>
              <a:ea typeface="Arial" panose="020B0604020202020204"/>
              <a:cs typeface="Arial" panose="020B0604020202020204"/>
              <a:sym typeface="Arial" panose="020B0604020202020204"/>
            </a:endParaRPr>
          </a:p>
        </p:txBody>
      </p:sp>
      <p:sp>
        <p:nvSpPr>
          <p:cNvPr id="209" name="Google Shape;209;p14"/>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 name="Google Shape;210;p14"/>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1" i="0" u="none" strike="noStrike" cap="none">
                <a:solidFill>
                  <a:srgbClr val="1155CC"/>
                </a:solidFill>
                <a:latin typeface="Arial" panose="020B0604020202020204"/>
                <a:ea typeface="Arial" panose="020B0604020202020204"/>
                <a:cs typeface="Arial" panose="020B0604020202020204"/>
                <a:sym typeface="Arial" panose="020B0604020202020204"/>
              </a:rPr>
              <a:t>Recommandations</a:t>
            </a: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fr-FR" sz="2700" b="1">
                <a:solidFill>
                  <a:srgbClr val="1155CC"/>
                </a:solidFill>
                <a:latin typeface="Arial" panose="020B0604020202020204"/>
                <a:ea typeface="Arial" panose="020B0604020202020204"/>
                <a:cs typeface="Arial" panose="020B0604020202020204"/>
                <a:sym typeface="Arial" panose="020B0604020202020204"/>
              </a:rPr>
              <a:t>à la direction du PEV</a:t>
            </a:r>
            <a:endParaRPr lang="fr-FR" sz="2700" b="1">
              <a:solidFill>
                <a:srgbClr val="1155CC"/>
              </a:solidFill>
              <a:latin typeface="Arial" panose="020B0604020202020204"/>
              <a:ea typeface="Arial" panose="020B0604020202020204"/>
              <a:cs typeface="Arial" panose="020B0604020202020204"/>
              <a:sym typeface="Arial" panose="020B0604020202020204"/>
            </a:endParaRPr>
          </a:p>
        </p:txBody>
      </p:sp>
      <p:sp>
        <p:nvSpPr>
          <p:cNvPr id="199" name="Google Shape;199;p13"/>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 name="Google Shape;200;p13"/>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1" name="Google Shape;201;p13"/>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fr-FR" sz="1200" b="0" i="0" u="none" strike="noStrike" cap="none">
                <a:solidFill>
                  <a:srgbClr val="1155CC"/>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202" name="Google Shape;202;p13"/>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03" name="Google Shape;203;p13"/>
          <p:cNvSpPr/>
          <p:nvPr/>
        </p:nvSpPr>
        <p:spPr>
          <a:xfrm>
            <a:off x="417750" y="1114516"/>
            <a:ext cx="11356500" cy="4974084"/>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marR="0" lvl="0" indent="0" algn="just" rtl="0">
              <a:lnSpc>
                <a:spcPct val="150000"/>
              </a:lnSpc>
              <a:spcBef>
                <a:spcPts val="0"/>
              </a:spcBef>
              <a:spcAft>
                <a:spcPts val="0"/>
              </a:spcAft>
              <a:buNone/>
            </a:pPr>
            <a:r>
              <a:rPr lang="fr-FR" sz="2200" b="1" dirty="0">
                <a:solidFill>
                  <a:schemeClr val="dk1"/>
                </a:solidFill>
                <a:latin typeface="Arial" panose="020B0604020202020204"/>
                <a:ea typeface="Arial" panose="020B0604020202020204"/>
                <a:cs typeface="Arial" panose="020B0604020202020204"/>
                <a:sym typeface="Arial" panose="020B0604020202020204"/>
              </a:rPr>
              <a:t>En rapport avec la gouvernance, coordination et planification stratégique :</a:t>
            </a:r>
            <a:endParaRPr dirty="0"/>
          </a:p>
          <a:p>
            <a:pPr marL="800100" marR="0" lvl="1" indent="-342900" algn="just" rtl="0">
              <a:lnSpc>
                <a:spcPct val="150000"/>
              </a:lnSpc>
              <a:spcBef>
                <a:spcPts val="0"/>
              </a:spcBef>
              <a:spcAft>
                <a:spcPts val="0"/>
              </a:spcAft>
              <a:buClr>
                <a:schemeClr val="dk1"/>
              </a:buClr>
              <a:buSzPts val="2200"/>
              <a:buFont typeface="Arial" panose="020B0604020202020204"/>
              <a:buChar char="•"/>
            </a:pPr>
            <a:r>
              <a:rPr lang="fr-FR" sz="2200" b="0" i="0" u="none" strike="noStrike" cap="none" dirty="0">
                <a:solidFill>
                  <a:schemeClr val="dk1"/>
                </a:solidFill>
                <a:latin typeface="Arial" panose="020B0604020202020204"/>
                <a:ea typeface="Arial" panose="020B0604020202020204"/>
                <a:cs typeface="Arial" panose="020B0604020202020204"/>
                <a:sym typeface="Arial" panose="020B0604020202020204"/>
              </a:rPr>
              <a:t>Mettre en place un comité national d’introduction des vaccins présidé par la direction du PEV et chargé de piloter les processus d’introduction des nouveaux vaccins, développer</a:t>
            </a:r>
            <a:r>
              <a:rPr lang="fr-FR" sz="2200" dirty="0">
                <a:solidFill>
                  <a:schemeClr val="dk1"/>
                </a:solidFill>
              </a:rPr>
              <a:t> et </a:t>
            </a:r>
            <a:r>
              <a:rPr lang="fr-FR" sz="2200" b="0" i="0" u="none" strike="noStrike" cap="none" dirty="0">
                <a:solidFill>
                  <a:schemeClr val="dk1"/>
                </a:solidFill>
                <a:latin typeface="Arial" panose="020B0604020202020204"/>
                <a:ea typeface="Arial" panose="020B0604020202020204"/>
                <a:cs typeface="Arial" panose="020B0604020202020204"/>
                <a:sym typeface="Arial" panose="020B0604020202020204"/>
              </a:rPr>
              <a:t>adapter les plans d’introduction et assurer un alignement des partenaires en harmonisant l’appui technique des partenaires.</a:t>
            </a:r>
            <a:endParaRPr dirty="0"/>
          </a:p>
          <a:p>
            <a:pPr marL="800100" marR="0" lvl="1" indent="-342900" algn="just" rtl="0">
              <a:lnSpc>
                <a:spcPct val="150000"/>
              </a:lnSpc>
              <a:spcBef>
                <a:spcPts val="0"/>
              </a:spcBef>
              <a:spcAft>
                <a:spcPts val="0"/>
              </a:spcAft>
              <a:buClr>
                <a:schemeClr val="dk1"/>
              </a:buClr>
              <a:buSzPts val="2200"/>
              <a:buFont typeface="Arial" panose="020B0604020202020204"/>
              <a:buChar char="•"/>
            </a:pPr>
            <a:r>
              <a:rPr lang="fr-FR" sz="2200" b="0" i="0" u="none" strike="noStrike" cap="none" dirty="0">
                <a:solidFill>
                  <a:schemeClr val="dk1"/>
                </a:solidFill>
                <a:latin typeface="Arial" panose="020B0604020202020204"/>
                <a:ea typeface="Arial" panose="020B0604020202020204"/>
                <a:cs typeface="Arial" panose="020B0604020202020204"/>
                <a:sym typeface="Arial" panose="020B0604020202020204"/>
              </a:rPr>
              <a:t>Ce comité devrait être actif même en dehors de processus d’introduction des vaccins  pour notamment mener des analyses situationnelles préalables et développer des directives techniques spécifiques en rapport avec l’intégration des nouveaux vaccins dans le calendrier et les stratégies éventuelles de rattrapage  </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9932</Words>
  <Application>WPS Presentation</Application>
  <PresentationFormat>Widescreen</PresentationFormat>
  <Paragraphs>303</Paragraphs>
  <Slides>14</Slides>
  <Notes>14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Arial</vt:lpstr>
      <vt:lpstr>Calibri</vt:lpstr>
      <vt:lpstr>Microsoft YaHei</vt:lpstr>
      <vt:lpstr>Times New Roman</vt:lpstr>
      <vt:lpstr>Arial Unicode MS</vt:lpstr>
      <vt:lpstr>Office Theme</vt:lpstr>
      <vt:lpstr>PowerPoint 演示文稿</vt:lpstr>
      <vt:lpstr>PowerPoint 演示文稿</vt:lpstr>
      <vt:lpstr>PowerPoint 演示文稿</vt:lpstr>
      <vt:lpstr>I. Cartographie intervention et Présence sur terrain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 Tonda</dc:creator>
  <cp:lastModifiedBy>Mymy MWIKA</cp:lastModifiedBy>
  <cp:revision>10</cp:revision>
  <dcterms:created xsi:type="dcterms:W3CDTF">2025-07-23T00:59:00Z</dcterms:created>
  <dcterms:modified xsi:type="dcterms:W3CDTF">2025-12-16T06:36:54Z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3084-12.2.0.23155</vt:lpwstr>
  </property>
  <property fmtid="{D5CDD505-2E9C-101B-9397-08002B2CF9AE}" pid="3" name="ICV">
    <vt:lpwstr>092815AB3C2D4F2588ED6B0776D669CE_13</vt:lpwstr>
  </property>
</Properties>
</file>